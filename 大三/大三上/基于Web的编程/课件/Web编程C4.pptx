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2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3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8"/>
  </p:notesMasterIdLst>
  <p:handoutMasterIdLst>
    <p:handoutMasterId r:id="rId249"/>
  </p:handoutMasterIdLst>
  <p:sldIdLst>
    <p:sldId id="256" r:id="rId2"/>
    <p:sldId id="951" r:id="rId3"/>
    <p:sldId id="952" r:id="rId4"/>
    <p:sldId id="953" r:id="rId5"/>
    <p:sldId id="954" r:id="rId6"/>
    <p:sldId id="955" r:id="rId7"/>
    <p:sldId id="956" r:id="rId8"/>
    <p:sldId id="957" r:id="rId9"/>
    <p:sldId id="958" r:id="rId10"/>
    <p:sldId id="959" r:id="rId11"/>
    <p:sldId id="960" r:id="rId12"/>
    <p:sldId id="961" r:id="rId13"/>
    <p:sldId id="962" r:id="rId14"/>
    <p:sldId id="963" r:id="rId15"/>
    <p:sldId id="964" r:id="rId16"/>
    <p:sldId id="966" r:id="rId17"/>
    <p:sldId id="967" r:id="rId18"/>
    <p:sldId id="969" r:id="rId19"/>
    <p:sldId id="970" r:id="rId20"/>
    <p:sldId id="972" r:id="rId21"/>
    <p:sldId id="973" r:id="rId22"/>
    <p:sldId id="974" r:id="rId23"/>
    <p:sldId id="975" r:id="rId24"/>
    <p:sldId id="1374" r:id="rId25"/>
    <p:sldId id="976" r:id="rId26"/>
    <p:sldId id="977" r:id="rId27"/>
    <p:sldId id="978" r:id="rId28"/>
    <p:sldId id="979" r:id="rId29"/>
    <p:sldId id="980" r:id="rId30"/>
    <p:sldId id="981" r:id="rId31"/>
    <p:sldId id="982" r:id="rId32"/>
    <p:sldId id="983" r:id="rId33"/>
    <p:sldId id="984" r:id="rId34"/>
    <p:sldId id="985" r:id="rId35"/>
    <p:sldId id="986" r:id="rId36"/>
    <p:sldId id="987" r:id="rId37"/>
    <p:sldId id="988" r:id="rId38"/>
    <p:sldId id="989" r:id="rId39"/>
    <p:sldId id="990" r:id="rId40"/>
    <p:sldId id="991" r:id="rId41"/>
    <p:sldId id="992" r:id="rId42"/>
    <p:sldId id="993" r:id="rId43"/>
    <p:sldId id="994" r:id="rId44"/>
    <p:sldId id="995" r:id="rId45"/>
    <p:sldId id="996" r:id="rId46"/>
    <p:sldId id="997" r:id="rId47"/>
    <p:sldId id="998" r:id="rId48"/>
    <p:sldId id="999" r:id="rId49"/>
    <p:sldId id="1000" r:id="rId50"/>
    <p:sldId id="1001" r:id="rId51"/>
    <p:sldId id="1002" r:id="rId52"/>
    <p:sldId id="1375" r:id="rId53"/>
    <p:sldId id="1003" r:id="rId54"/>
    <p:sldId id="1005" r:id="rId55"/>
    <p:sldId id="1006" r:id="rId56"/>
    <p:sldId id="1007" r:id="rId57"/>
    <p:sldId id="1008" r:id="rId58"/>
    <p:sldId id="1009" r:id="rId59"/>
    <p:sldId id="1010" r:id="rId60"/>
    <p:sldId id="1011" r:id="rId61"/>
    <p:sldId id="1012" r:id="rId62"/>
    <p:sldId id="1013" r:id="rId63"/>
    <p:sldId id="1014" r:id="rId64"/>
    <p:sldId id="1015" r:id="rId65"/>
    <p:sldId id="1039" r:id="rId66"/>
    <p:sldId id="1040" r:id="rId67"/>
    <p:sldId id="1041" r:id="rId68"/>
    <p:sldId id="1042" r:id="rId69"/>
    <p:sldId id="1043" r:id="rId70"/>
    <p:sldId id="1044" r:id="rId71"/>
    <p:sldId id="1045" r:id="rId72"/>
    <p:sldId id="1046" r:id="rId73"/>
    <p:sldId id="1047" r:id="rId74"/>
    <p:sldId id="1565" r:id="rId75"/>
    <p:sldId id="1564" r:id="rId76"/>
    <p:sldId id="1049" r:id="rId77"/>
    <p:sldId id="1566" r:id="rId78"/>
    <p:sldId id="1567" r:id="rId79"/>
    <p:sldId id="1571" r:id="rId80"/>
    <p:sldId id="1568" r:id="rId81"/>
    <p:sldId id="1569" r:id="rId82"/>
    <p:sldId id="1570" r:id="rId83"/>
    <p:sldId id="1050" r:id="rId84"/>
    <p:sldId id="1051" r:id="rId85"/>
    <p:sldId id="1052" r:id="rId86"/>
    <p:sldId id="1053" r:id="rId87"/>
    <p:sldId id="1054" r:id="rId88"/>
    <p:sldId id="1055" r:id="rId89"/>
    <p:sldId id="1057" r:id="rId90"/>
    <p:sldId id="1058" r:id="rId91"/>
    <p:sldId id="1064" r:id="rId92"/>
    <p:sldId id="1813" r:id="rId93"/>
    <p:sldId id="1814" r:id="rId94"/>
    <p:sldId id="1815" r:id="rId95"/>
    <p:sldId id="1816" r:id="rId96"/>
    <p:sldId id="1817" r:id="rId97"/>
    <p:sldId id="1818" r:id="rId98"/>
    <p:sldId id="1819" r:id="rId99"/>
    <p:sldId id="1820" r:id="rId100"/>
    <p:sldId id="1821" r:id="rId101"/>
    <p:sldId id="1822" r:id="rId102"/>
    <p:sldId id="1823" r:id="rId103"/>
    <p:sldId id="1824" r:id="rId104"/>
    <p:sldId id="1825" r:id="rId105"/>
    <p:sldId id="1826" r:id="rId106"/>
    <p:sldId id="1827" r:id="rId107"/>
    <p:sldId id="1828" r:id="rId108"/>
    <p:sldId id="1829" r:id="rId109"/>
    <p:sldId id="1830" r:id="rId110"/>
    <p:sldId id="1831" r:id="rId111"/>
    <p:sldId id="1832" r:id="rId112"/>
    <p:sldId id="1833" r:id="rId113"/>
    <p:sldId id="1834" r:id="rId114"/>
    <p:sldId id="1835" r:id="rId115"/>
    <p:sldId id="1836" r:id="rId116"/>
    <p:sldId id="1837" r:id="rId117"/>
    <p:sldId id="1838" r:id="rId118"/>
    <p:sldId id="1839" r:id="rId119"/>
    <p:sldId id="1840" r:id="rId120"/>
    <p:sldId id="1841" r:id="rId121"/>
    <p:sldId id="1842" r:id="rId122"/>
    <p:sldId id="1843" r:id="rId123"/>
    <p:sldId id="1844" r:id="rId124"/>
    <p:sldId id="1845" r:id="rId125"/>
    <p:sldId id="1846" r:id="rId126"/>
    <p:sldId id="1847" r:id="rId127"/>
    <p:sldId id="1848" r:id="rId128"/>
    <p:sldId id="1849" r:id="rId129"/>
    <p:sldId id="1850" r:id="rId130"/>
    <p:sldId id="1851" r:id="rId131"/>
    <p:sldId id="1852" r:id="rId132"/>
    <p:sldId id="1853" r:id="rId133"/>
    <p:sldId id="1854" r:id="rId134"/>
    <p:sldId id="1855" r:id="rId135"/>
    <p:sldId id="1856" r:id="rId136"/>
    <p:sldId id="1857" r:id="rId137"/>
    <p:sldId id="1858" r:id="rId138"/>
    <p:sldId id="1859" r:id="rId139"/>
    <p:sldId id="1860" r:id="rId140"/>
    <p:sldId id="1861" r:id="rId141"/>
    <p:sldId id="1862" r:id="rId142"/>
    <p:sldId id="1863" r:id="rId143"/>
    <p:sldId id="1864" r:id="rId144"/>
    <p:sldId id="1865" r:id="rId145"/>
    <p:sldId id="1866" r:id="rId146"/>
    <p:sldId id="1867" r:id="rId147"/>
    <p:sldId id="1868" r:id="rId148"/>
    <p:sldId id="1869" r:id="rId149"/>
    <p:sldId id="1870" r:id="rId150"/>
    <p:sldId id="1871" r:id="rId151"/>
    <p:sldId id="1872" r:id="rId152"/>
    <p:sldId id="1873" r:id="rId153"/>
    <p:sldId id="1928" r:id="rId154"/>
    <p:sldId id="1929" r:id="rId155"/>
    <p:sldId id="1930" r:id="rId156"/>
    <p:sldId id="1931" r:id="rId157"/>
    <p:sldId id="1932" r:id="rId158"/>
    <p:sldId id="1933" r:id="rId159"/>
    <p:sldId id="1934" r:id="rId160"/>
    <p:sldId id="1935" r:id="rId161"/>
    <p:sldId id="1936" r:id="rId162"/>
    <p:sldId id="1937" r:id="rId163"/>
    <p:sldId id="1938" r:id="rId164"/>
    <p:sldId id="1939" r:id="rId165"/>
    <p:sldId id="1940" r:id="rId166"/>
    <p:sldId id="1941" r:id="rId167"/>
    <p:sldId id="1942" r:id="rId168"/>
    <p:sldId id="1943" r:id="rId169"/>
    <p:sldId id="1944" r:id="rId170"/>
    <p:sldId id="1945" r:id="rId171"/>
    <p:sldId id="1946" r:id="rId172"/>
    <p:sldId id="1947" r:id="rId173"/>
    <p:sldId id="1948" r:id="rId174"/>
    <p:sldId id="1949" r:id="rId175"/>
    <p:sldId id="1950" r:id="rId176"/>
    <p:sldId id="1951" r:id="rId177"/>
    <p:sldId id="1952" r:id="rId178"/>
    <p:sldId id="1953" r:id="rId179"/>
    <p:sldId id="1954" r:id="rId180"/>
    <p:sldId id="1955" r:id="rId181"/>
    <p:sldId id="1956" r:id="rId182"/>
    <p:sldId id="1957" r:id="rId183"/>
    <p:sldId id="1958" r:id="rId184"/>
    <p:sldId id="1959" r:id="rId185"/>
    <p:sldId id="1960" r:id="rId186"/>
    <p:sldId id="1961" r:id="rId187"/>
    <p:sldId id="1962" r:id="rId188"/>
    <p:sldId id="1963" r:id="rId189"/>
    <p:sldId id="1964" r:id="rId190"/>
    <p:sldId id="1965" r:id="rId191"/>
    <p:sldId id="1966" r:id="rId192"/>
    <p:sldId id="1967" r:id="rId193"/>
    <p:sldId id="1968" r:id="rId194"/>
    <p:sldId id="1969" r:id="rId195"/>
    <p:sldId id="1970" r:id="rId196"/>
    <p:sldId id="1971" r:id="rId197"/>
    <p:sldId id="1972" r:id="rId198"/>
    <p:sldId id="1973" r:id="rId199"/>
    <p:sldId id="1974" r:id="rId200"/>
    <p:sldId id="1975" r:id="rId201"/>
    <p:sldId id="1976" r:id="rId202"/>
    <p:sldId id="1977" r:id="rId203"/>
    <p:sldId id="1978" r:id="rId204"/>
    <p:sldId id="1979" r:id="rId205"/>
    <p:sldId id="1980" r:id="rId206"/>
    <p:sldId id="1981" r:id="rId207"/>
    <p:sldId id="1982" r:id="rId208"/>
    <p:sldId id="1983" r:id="rId209"/>
    <p:sldId id="1984" r:id="rId210"/>
    <p:sldId id="1985" r:id="rId211"/>
    <p:sldId id="1986" r:id="rId212"/>
    <p:sldId id="1987" r:id="rId213"/>
    <p:sldId id="1988" r:id="rId214"/>
    <p:sldId id="1989" r:id="rId215"/>
    <p:sldId id="1990" r:id="rId216"/>
    <p:sldId id="1991" r:id="rId217"/>
    <p:sldId id="1992" r:id="rId218"/>
    <p:sldId id="1993" r:id="rId219"/>
    <p:sldId id="1994" r:id="rId220"/>
    <p:sldId id="1995" r:id="rId221"/>
    <p:sldId id="1996" r:id="rId222"/>
    <p:sldId id="1997" r:id="rId223"/>
    <p:sldId id="1998" r:id="rId224"/>
    <p:sldId id="1999" r:id="rId225"/>
    <p:sldId id="2000" r:id="rId226"/>
    <p:sldId id="2001" r:id="rId227"/>
    <p:sldId id="2002" r:id="rId228"/>
    <p:sldId id="2003" r:id="rId229"/>
    <p:sldId id="2004" r:id="rId230"/>
    <p:sldId id="2005" r:id="rId231"/>
    <p:sldId id="2006" r:id="rId232"/>
    <p:sldId id="2007" r:id="rId233"/>
    <p:sldId id="2008" r:id="rId234"/>
    <p:sldId id="2009" r:id="rId235"/>
    <p:sldId id="2010" r:id="rId236"/>
    <p:sldId id="2011" r:id="rId237"/>
    <p:sldId id="2012" r:id="rId238"/>
    <p:sldId id="2013" r:id="rId239"/>
    <p:sldId id="2014" r:id="rId240"/>
    <p:sldId id="2015" r:id="rId241"/>
    <p:sldId id="2016" r:id="rId242"/>
    <p:sldId id="2017" r:id="rId243"/>
    <p:sldId id="2018" r:id="rId244"/>
    <p:sldId id="2019" r:id="rId245"/>
    <p:sldId id="2020" r:id="rId246"/>
    <p:sldId id="2021" r:id="rId247"/>
  </p:sldIdLst>
  <p:sldSz cx="9144000" cy="6858000" type="screen4x3"/>
  <p:notesSz cx="6858000" cy="9144000"/>
  <p:custDataLst>
    <p:tags r:id="rId2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Cai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1267" y="48"/>
      </p:cViewPr>
      <p:guideLst>
        <p:guide orient="horz" pos="2231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tags" Target="tags/tag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commentAuthors" Target="commentAuthor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presProps" Target="pres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theme" Target="theme/theme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tableStyles" Target="tableStyles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2024/12/5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image" Target="../media/image3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2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6.png"/><Relationship Id="rId5" Type="http://schemas.openxmlformats.org/officeDocument/2006/relationships/tags" Target="../tags/tag36.xml"/><Relationship Id="rId10" Type="http://schemas.openxmlformats.org/officeDocument/2006/relationships/image" Target="../media/image5.pn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5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7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9.png"/><Relationship Id="rId4" Type="http://schemas.openxmlformats.org/officeDocument/2006/relationships/tags" Target="../tags/tag74.xml"/><Relationship Id="rId9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1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1.png"/><Relationship Id="rId5" Type="http://schemas.openxmlformats.org/officeDocument/2006/relationships/tags" Target="../tags/tag8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2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image" Target="../media/image9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9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10" Type="http://schemas.openxmlformats.org/officeDocument/2006/relationships/image" Target="../media/image14.png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image" Target="../media/image15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image" Target="../media/image17.png"/><Relationship Id="rId5" Type="http://schemas.openxmlformats.org/officeDocument/2006/relationships/tags" Target="../tags/tag142.xml"/><Relationship Id="rId10" Type="http://schemas.openxmlformats.org/officeDocument/2006/relationships/image" Target="../media/image16.png"/><Relationship Id="rId4" Type="http://schemas.openxmlformats.org/officeDocument/2006/relationships/tags" Target="../tags/tag141.xml"/><Relationship Id="rId9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9144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662589" y="3503930"/>
            <a:ext cx="5819299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5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662351" y="2292046"/>
            <a:ext cx="5819299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5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3383279" y="4490846"/>
            <a:ext cx="1037320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572000" y="4490846"/>
            <a:ext cx="1037319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9144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38615" y="2681555"/>
            <a:ext cx="2682787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33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3938615" y="3459937"/>
            <a:ext cx="2682788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79158" y="952508"/>
            <a:ext cx="3962432" cy="5388907"/>
          </a:xfrm>
        </p:spPr>
        <p:txBody>
          <a:bodyPr lIns="90000" tIns="46800" rIns="90000" bIns="46800">
            <a:norm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02448" y="952508"/>
            <a:ext cx="396243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15482"/>
            <a:ext cx="2737007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 rot="10800000">
            <a:off x="6406993" y="15483"/>
            <a:ext cx="2737007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7"/>
            </p:custDataLst>
          </p:nvPr>
        </p:nvSpPr>
        <p:spPr>
          <a:xfrm>
            <a:off x="4228624" y="1484173"/>
            <a:ext cx="6858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2024/12/5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rot="5400000">
            <a:off x="-2534087" y="2809615"/>
            <a:ext cx="51435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9144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9144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344229" y="2421777"/>
            <a:ext cx="445554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9144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3474527" y="4417887"/>
            <a:ext cx="976576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4692899" y="4417887"/>
            <a:ext cx="976577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9144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14789" y="273050"/>
            <a:ext cx="8712041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5304452" y="4933186"/>
            <a:ext cx="3622376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3617595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/>
          <a:lstStyle>
            <a:lvl1pPr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3825900" y="769938"/>
            <a:ext cx="4860000" cy="5087937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858" y="0"/>
            <a:ext cx="9144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/>
          <a:lstStyle>
            <a:lvl1pPr algn="ctr"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9144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37600"/>
            <a:ext cx="8278200" cy="441964"/>
          </a:xfrm>
        </p:spPr>
        <p:txBody>
          <a:bodyPr>
            <a:normAutofit/>
          </a:bodyPr>
          <a:lstStyle>
            <a:lvl1pPr>
              <a:defRPr sz="2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34700" y="1663200"/>
            <a:ext cx="40068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1663200"/>
            <a:ext cx="40257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816800"/>
            <a:ext cx="40068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813200"/>
            <a:ext cx="40257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9144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321812" y="4917233"/>
            <a:ext cx="2822188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3535204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031" y="98455"/>
            <a:ext cx="7761287" cy="7572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0875" y="1081089"/>
            <a:ext cx="4102100" cy="5056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5375" y="1081089"/>
            <a:ext cx="4102100" cy="5056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031" y="98448"/>
            <a:ext cx="7761287" cy="7572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50875" y="1081089"/>
            <a:ext cx="8356600" cy="50561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4.xml"/><Relationship Id="rId30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502412" y="952508"/>
            <a:ext cx="8139178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1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tags" Target="../tags/tag158.xml"/><Relationship Id="rId7" Type="http://schemas.openxmlformats.org/officeDocument/2006/relationships/image" Target="../media/image56.png"/><Relationship Id="rId2" Type="http://schemas.openxmlformats.org/officeDocument/2006/relationships/tags" Target="../tags/tag15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11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5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4" Type="http://schemas.openxmlformats.org/officeDocument/2006/relationships/image" Target="../media/image6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4" Type="http://schemas.openxmlformats.org/officeDocument/2006/relationships/image" Target="../media/image6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4" Type="http://schemas.openxmlformats.org/officeDocument/2006/relationships/image" Target="../media/image6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4" Type="http://schemas.openxmlformats.org/officeDocument/2006/relationships/image" Target="../media/image6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4" Type="http://schemas.openxmlformats.org/officeDocument/2006/relationships/image" Target="../media/image6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78.jpeg"/><Relationship Id="rId4" Type="http://schemas.openxmlformats.org/officeDocument/2006/relationships/image" Target="../media/image77.emf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7" Type="http://schemas.openxmlformats.org/officeDocument/2006/relationships/image" Target="../media/image80.png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image" Target="../media/image7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GIF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tags" Target="../tags/tag190.xml"/><Relationship Id="rId7" Type="http://schemas.openxmlformats.org/officeDocument/2006/relationships/image" Target="../media/image91.png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2.xml"/><Relationship Id="rId4" Type="http://schemas.openxmlformats.org/officeDocument/2006/relationships/tags" Target="../tags/tag19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4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97.emf"/><Relationship Id="rId4" Type="http://schemas.openxmlformats.org/officeDocument/2006/relationships/oleObject" Target="../embeddings/oleObject14.bin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00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00.emf"/><Relationship Id="rId4" Type="http://schemas.openxmlformats.org/officeDocument/2006/relationships/oleObject" Target="../embeddings/oleObject15.bin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02.emf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4" Type="http://schemas.openxmlformats.org/officeDocument/2006/relationships/image" Target="../media/image104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4" Type="http://schemas.openxmlformats.org/officeDocument/2006/relationships/image" Target="../media/image105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4" Type="http://schemas.openxmlformats.org/officeDocument/2006/relationships/image" Target="../media/image10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4" Type="http://schemas.openxmlformats.org/officeDocument/2006/relationships/image" Target="../media/image107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4" Type="http://schemas.openxmlformats.org/officeDocument/2006/relationships/image" Target="../media/image108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4" Type="http://schemas.openxmlformats.org/officeDocument/2006/relationships/image" Target="../media/image109.png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5" Type="http://schemas.openxmlformats.org/officeDocument/2006/relationships/image" Target="../media/image110.png"/><Relationship Id="rId4" Type="http://schemas.openxmlformats.org/officeDocument/2006/relationships/notesSlide" Target="../notesSlides/notesSlide3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4" Type="http://schemas.openxmlformats.org/officeDocument/2006/relationships/image" Target="../media/image11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image" Target="../media/image112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tags" Target="../tags/tag221.xml"/><Relationship Id="rId7" Type="http://schemas.openxmlformats.org/officeDocument/2006/relationships/image" Target="../media/image114.png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image" Target="../media/image11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3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5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17.png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18.emf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19.emf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20.emf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21.emf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22.emf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3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25.png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4" Type="http://schemas.openxmlformats.org/officeDocument/2006/relationships/image" Target="../media/image128.png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8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9.xml"/><Relationship Id="rId4" Type="http://schemas.openxmlformats.org/officeDocument/2006/relationships/image" Target="../media/image131.jpeg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0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3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hyperlink" Target="http://jquery.com/download/" TargetMode="Externa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8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9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0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3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Web</a:t>
            </a:r>
            <a:r>
              <a:rPr lang="zh-CN" altLang="en-US"/>
              <a:t>编程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——</a:t>
            </a:r>
            <a:r>
              <a:rPr lang="zh-CN" altLang="en-US"/>
              <a:t>前端开发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蔡树彬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2023.4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概述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3143250" y="1513840"/>
            <a:ext cx="5048250" cy="257937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JavaScript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最初由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Netscape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公司的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Brendan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Eich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（布兰登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﹒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艾奇）设计</a:t>
            </a:r>
          </a:p>
          <a:p>
            <a:pPr marL="0" indent="0">
              <a:buNone/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需求：需要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看上去与Java足够相似，但是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更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简单，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能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很快上手 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（背景：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95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年，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WORA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</a:p>
          <a:p>
            <a:pPr marL="0" indent="0">
              <a:buNone/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设计：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的语法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+Java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的数据类型和内存管理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+Scheme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的函数式编程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+Self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的原型继承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7075" y="1583690"/>
            <a:ext cx="2095500" cy="2095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7075" y="4354830"/>
            <a:ext cx="78587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基于对象和事件驱动并具有相对安全性的轻量级、解释型、弱类型客户端脚本语言。</a:t>
            </a:r>
          </a:p>
          <a:p>
            <a:pPr marL="0" indent="0"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广泛用于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Web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开发中，给网页添加动态功能，决定页面行为，响应用户操作，具有客户端数据验证、用户交互等功能。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第一个</a:t>
            </a:r>
            <a:r>
              <a:rPr lang="en-US" altLang="zh-CN" dirty="0"/>
              <a:t>JavaScript</a:t>
            </a:r>
            <a:r>
              <a:rPr lang="zh-CN" altLang="en-US" dirty="0"/>
              <a:t>程序 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501650" y="2987675"/>
            <a:ext cx="4998720" cy="227139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sz="1600" dirty="0"/>
              <a:t>&lt;html&gt;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   &lt;head&gt;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	&lt;title&gt;</a:t>
            </a:r>
            <a:r>
              <a:rPr lang="zh-CN" altLang="en-US" sz="1600" dirty="0"/>
              <a:t>第一个</a:t>
            </a:r>
            <a:r>
              <a:rPr lang="en-US" altLang="zh-CN" sz="1600" dirty="0"/>
              <a:t>JavaScript</a:t>
            </a:r>
            <a:r>
              <a:rPr lang="zh-CN" altLang="en-US" sz="1600" dirty="0"/>
              <a:t>实例</a:t>
            </a:r>
            <a:r>
              <a:rPr lang="en-US" altLang="zh-CN" sz="1600" dirty="0"/>
              <a:t>&lt;/title&gt;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   &lt;/head&gt;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   </a:t>
            </a:r>
            <a:r>
              <a:rPr lang="en-US" altLang="zh-CN" sz="1600" dirty="0">
                <a:solidFill>
                  <a:srgbClr val="FF0000"/>
                </a:solidFill>
              </a:rPr>
              <a:t>&lt;body&gt;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        &lt;script type="text/</a:t>
            </a:r>
            <a:r>
              <a:rPr lang="en-US" altLang="zh-CN" sz="1600" dirty="0" err="1"/>
              <a:t>javascript</a:t>
            </a:r>
            <a:r>
              <a:rPr lang="en-US" altLang="zh-CN" sz="1600" dirty="0"/>
              <a:t>"&gt;</a:t>
            </a:r>
          </a:p>
          <a:p>
            <a:pPr>
              <a:lnSpc>
                <a:spcPts val="1700"/>
              </a:lnSpc>
            </a:pPr>
            <a:r>
              <a:rPr lang="en-US" altLang="zh-CN" sz="1600" dirty="0" err="1"/>
              <a:t>  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document.write</a:t>
            </a:r>
            <a:r>
              <a:rPr lang="en-US" altLang="zh-CN" sz="1600" dirty="0">
                <a:solidFill>
                  <a:srgbClr val="FF0000"/>
                </a:solidFill>
              </a:rPr>
              <a:t>("</a:t>
            </a:r>
            <a:r>
              <a:rPr lang="zh-CN" altLang="en-US" sz="1600" dirty="0">
                <a:solidFill>
                  <a:srgbClr val="FF0000"/>
                </a:solidFill>
              </a:rPr>
              <a:t>第一个</a:t>
            </a:r>
            <a:r>
              <a:rPr lang="en-US" altLang="zh-CN" sz="1600" dirty="0">
                <a:solidFill>
                  <a:srgbClr val="FF0000"/>
                </a:solidFill>
              </a:rPr>
              <a:t>JavaScript</a:t>
            </a:r>
            <a:r>
              <a:rPr lang="zh-CN" altLang="en-US" sz="1600" dirty="0">
                <a:solidFill>
                  <a:srgbClr val="FF0000"/>
                </a:solidFill>
              </a:rPr>
              <a:t>实例</a:t>
            </a:r>
            <a:r>
              <a:rPr lang="en-US" altLang="zh-CN" sz="1600" dirty="0">
                <a:solidFill>
                  <a:srgbClr val="FF0000"/>
                </a:solidFill>
              </a:rPr>
              <a:t>!");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        &lt;/script&gt;		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   </a:t>
            </a:r>
            <a:r>
              <a:rPr lang="en-US" altLang="zh-CN" sz="1600" dirty="0">
                <a:solidFill>
                  <a:srgbClr val="FF0000"/>
                </a:solidFill>
              </a:rPr>
              <a:t>&lt;/body&gt;</a:t>
            </a:r>
          </a:p>
          <a:p>
            <a:pPr>
              <a:lnSpc>
                <a:spcPts val="1700"/>
              </a:lnSpc>
            </a:pPr>
            <a:r>
              <a:rPr lang="en-US" altLang="zh-CN" sz="1600" dirty="0"/>
              <a:t>&lt;/html&gt;</a:t>
            </a:r>
            <a:endParaRPr lang="zh-CN" altLang="en-US" sz="1600" dirty="0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533400" y="1696641"/>
            <a:ext cx="8534400" cy="9220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基本语法：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&lt;script type=“text/</a:t>
            </a:r>
            <a:r>
              <a:rPr lang="en-US" altLang="zh-CN" sz="1800" dirty="0" err="1">
                <a:solidFill>
                  <a:schemeClr val="tx1"/>
                </a:solidFill>
              </a:rPr>
              <a:t>javascript</a:t>
            </a:r>
            <a:r>
              <a:rPr lang="en-US" altLang="zh-CN" sz="1800" dirty="0">
                <a:solidFill>
                  <a:schemeClr val="tx1"/>
                </a:solidFill>
              </a:rPr>
              <a:t> [</a:t>
            </a:r>
            <a:r>
              <a:rPr lang="en-US" altLang="zh-CN" sz="1800" dirty="0" err="1">
                <a:solidFill>
                  <a:schemeClr val="tx1"/>
                </a:solidFill>
              </a:rPr>
              <a:t>src</a:t>
            </a:r>
            <a:r>
              <a:rPr lang="en-US" altLang="zh-CN" sz="1800" dirty="0">
                <a:solidFill>
                  <a:schemeClr val="tx1"/>
                </a:solidFill>
              </a:rPr>
              <a:t>=“</a:t>
            </a:r>
            <a:r>
              <a:rPr lang="zh-CN" altLang="en-US" sz="1800" dirty="0">
                <a:solidFill>
                  <a:schemeClr val="tx1"/>
                </a:solidFill>
              </a:rPr>
              <a:t>外部</a:t>
            </a:r>
            <a:r>
              <a:rPr lang="en-US" altLang="zh-CN" sz="1800" dirty="0">
                <a:solidFill>
                  <a:schemeClr val="tx1"/>
                </a:solidFill>
              </a:rPr>
              <a:t>JS</a:t>
            </a:r>
            <a:r>
              <a:rPr lang="zh-CN" altLang="en-US" sz="1800" dirty="0">
                <a:solidFill>
                  <a:schemeClr val="tx1"/>
                </a:solidFill>
              </a:rPr>
              <a:t>文件”</a:t>
            </a:r>
            <a:r>
              <a:rPr lang="en-US" altLang="zh-CN" sz="1800" dirty="0">
                <a:solidFill>
                  <a:schemeClr val="tx1"/>
                </a:solidFill>
              </a:rPr>
              <a:t>]&gt;</a:t>
            </a:r>
            <a:r>
              <a:rPr lang="en-US" altLang="zh-CN" sz="1800" dirty="0" err="1">
                <a:solidFill>
                  <a:schemeClr val="tx1"/>
                </a:solidFill>
              </a:rPr>
              <a:t>js</a:t>
            </a:r>
            <a:r>
              <a:rPr lang="zh-CN" altLang="en-US" sz="1800" dirty="0">
                <a:solidFill>
                  <a:schemeClr val="tx1"/>
                </a:solidFill>
              </a:rPr>
              <a:t>语句块</a:t>
            </a:r>
            <a:r>
              <a:rPr lang="en-US" altLang="zh-CN" sz="1800" dirty="0">
                <a:solidFill>
                  <a:schemeClr val="tx1"/>
                </a:solidFill>
              </a:rPr>
              <a:t>;&lt;/script&gt;	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&lt;script language=“</a:t>
            </a:r>
            <a:r>
              <a:rPr lang="en-US" altLang="zh-CN" sz="1800" dirty="0" err="1">
                <a:solidFill>
                  <a:schemeClr val="tx1"/>
                </a:solidFill>
              </a:rPr>
              <a:t>javascript</a:t>
            </a:r>
            <a:r>
              <a:rPr lang="en-US" altLang="zh-CN" sz="1800" dirty="0">
                <a:solidFill>
                  <a:schemeClr val="tx1"/>
                </a:solidFill>
              </a:rPr>
              <a:t> [</a:t>
            </a:r>
            <a:r>
              <a:rPr lang="en-US" altLang="zh-CN" sz="1800" dirty="0" err="1">
                <a:solidFill>
                  <a:schemeClr val="tx1"/>
                </a:solidFill>
              </a:rPr>
              <a:t>src</a:t>
            </a:r>
            <a:r>
              <a:rPr lang="en-US" altLang="zh-CN" sz="1800" dirty="0">
                <a:solidFill>
                  <a:schemeClr val="tx1"/>
                </a:solidFill>
              </a:rPr>
              <a:t>=“</a:t>
            </a:r>
            <a:r>
              <a:rPr lang="zh-CN" altLang="en-US" sz="1800" dirty="0">
                <a:solidFill>
                  <a:schemeClr val="tx1"/>
                </a:solidFill>
              </a:rPr>
              <a:t>外部</a:t>
            </a:r>
            <a:r>
              <a:rPr lang="en-US" altLang="zh-CN" sz="1800" dirty="0">
                <a:solidFill>
                  <a:schemeClr val="tx1"/>
                </a:solidFill>
              </a:rPr>
              <a:t>JS</a:t>
            </a:r>
            <a:r>
              <a:rPr lang="zh-CN" altLang="en-US" sz="1800" dirty="0">
                <a:solidFill>
                  <a:schemeClr val="tx1"/>
                </a:solidFill>
              </a:rPr>
              <a:t>文件”</a:t>
            </a:r>
            <a:r>
              <a:rPr lang="en-US" altLang="zh-CN" sz="1800" dirty="0">
                <a:solidFill>
                  <a:schemeClr val="tx1"/>
                </a:solidFill>
              </a:rPr>
              <a:t>]&gt;</a:t>
            </a:r>
            <a:r>
              <a:rPr lang="en-US" altLang="zh-CN" sz="1800" dirty="0" err="1">
                <a:solidFill>
                  <a:schemeClr val="tx1"/>
                </a:solidFill>
              </a:rPr>
              <a:t>js</a:t>
            </a:r>
            <a:r>
              <a:rPr lang="zh-CN" altLang="en-US" sz="1800" dirty="0">
                <a:solidFill>
                  <a:schemeClr val="tx1"/>
                </a:solidFill>
              </a:rPr>
              <a:t>语句块</a:t>
            </a:r>
            <a:r>
              <a:rPr lang="en-US" altLang="zh-CN" sz="1800" dirty="0">
                <a:solidFill>
                  <a:schemeClr val="tx1"/>
                </a:solidFill>
              </a:rPr>
              <a:t>;&lt;/script&gt;</a:t>
            </a:r>
            <a:r>
              <a:rPr lang="zh-CN" altLang="en-US" sz="1800" dirty="0">
                <a:solidFill>
                  <a:srgbClr val="FF0000"/>
                </a:solidFill>
              </a:rPr>
              <a:t>	</a:t>
            </a:r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0395" y="3666490"/>
            <a:ext cx="2922587" cy="113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放置</a:t>
            </a:r>
            <a:r>
              <a:rPr lang="zh-CN" altLang="zh-CN" dirty="0"/>
              <a:t>的位置</a:t>
            </a:r>
            <a:endParaRPr lang="zh-CN" altLang="en-US" dirty="0"/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16990"/>
            <a:ext cx="7887970" cy="490537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JavaScript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代码放置的位置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(1)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头部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(2)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主体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(3)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单独的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js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文件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(4)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直接在事件处理代码中。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JavaScript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程序依附于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HTML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代码，经浏览器解释执行。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可将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JavaScript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函数写成一个独立的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</a:rPr>
              <a:t>js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文件，在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HTML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文档中引用该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</a:rPr>
              <a:t>js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文件，引用时必须使用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</a:rPr>
              <a:t>src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属性。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JavaScript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文件的扩展名为*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.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</a:rPr>
              <a:t>js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。格式如下：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&lt;script type=“text/</a:t>
            </a:r>
            <a:r>
              <a:rPr lang="en-US" altLang="zh-CN" sz="16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javascript</a:t>
            </a:r>
            <a:r>
              <a:rPr lang="en-US" altLang="zh-CN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src</a:t>
            </a:r>
            <a:r>
              <a:rPr lang="en-US" altLang="zh-CN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=“</a:t>
            </a:r>
            <a:r>
              <a:rPr lang="zh-CN" altLang="en-US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外部</a:t>
            </a:r>
            <a:r>
              <a:rPr lang="en-US" altLang="zh-CN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JS</a:t>
            </a:r>
            <a:r>
              <a:rPr lang="zh-CN" altLang="en-US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文件”</a:t>
            </a:r>
            <a:r>
              <a:rPr lang="en-US" altLang="zh-CN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&gt;&lt;/script&gt;</a:t>
            </a:r>
            <a:endParaRPr lang="zh-CN" altLang="en-US" sz="18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注：</a:t>
            </a:r>
            <a:r>
              <a:rPr lang="zh-CN" altLang="en-US" sz="1600" dirty="0">
                <a:latin typeface="+mj-ea"/>
                <a:ea typeface="+mj-ea"/>
              </a:rPr>
              <a:t>此时在</a:t>
            </a:r>
            <a:r>
              <a:rPr lang="en-US" altLang="zh-CN" sz="1600" dirty="0">
                <a:latin typeface="+mj-ea"/>
                <a:ea typeface="+mj-ea"/>
              </a:rPr>
              <a:t>&lt;script&gt;&lt;/script&gt;</a:t>
            </a:r>
            <a:r>
              <a:rPr lang="zh-CN" altLang="en-US" sz="1600" dirty="0">
                <a:latin typeface="+mj-ea"/>
                <a:ea typeface="+mj-ea"/>
              </a:rPr>
              <a:t>标记之间的所有</a:t>
            </a:r>
            <a:r>
              <a:rPr lang="en-US" altLang="zh-CN" sz="1600" dirty="0">
                <a:latin typeface="+mj-ea"/>
                <a:ea typeface="+mj-ea"/>
              </a:rPr>
              <a:t>JS</a:t>
            </a:r>
            <a:r>
              <a:rPr lang="zh-CN" altLang="en-US" sz="1600" dirty="0">
                <a:latin typeface="+mj-ea"/>
                <a:ea typeface="+mj-ea"/>
              </a:rPr>
              <a:t>语句都被忽略，不会执行。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放置</a:t>
            </a:r>
            <a:r>
              <a:rPr lang="en-US" altLang="zh-CN" dirty="0"/>
              <a:t>-</a:t>
            </a:r>
            <a:r>
              <a:rPr lang="zh-CN" altLang="en-US" dirty="0"/>
              <a:t>头部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49885" y="1096010"/>
            <a:ext cx="8444230" cy="330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</a:pPr>
            <a:r>
              <a:rPr lang="en-US" altLang="zh-CN" sz="1400" dirty="0"/>
              <a:t>  &lt;head&gt;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    &lt;title&gt;</a:t>
            </a:r>
            <a:r>
              <a:rPr lang="zh-CN" altLang="en-US" sz="1400" dirty="0"/>
              <a:t>调用</a:t>
            </a:r>
            <a:r>
              <a:rPr lang="en-US" altLang="zh-CN" sz="1400" dirty="0"/>
              <a:t>head</a:t>
            </a:r>
            <a:r>
              <a:rPr lang="zh-CN" altLang="en-US" sz="1400" dirty="0"/>
              <a:t>中定义的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函数</a:t>
            </a:r>
            <a:r>
              <a:rPr lang="en-US" altLang="zh-CN" sz="1400" dirty="0"/>
              <a:t>&lt;/title&gt;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&lt;script type="text/javascript"&gt;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  function message(){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    alert("调用JS函数！sum(100,200)="+sum(100,200));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  }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  function sum(x,y) {return x+y; } //返回函数计算结果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&lt;/script&gt;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&lt;/head&gt;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&lt;body&gt;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&lt;h4&gt;head标记内定义两个JS函数&lt;/h4&gt;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&lt;p&gt;无返回值函数：message()&lt;/p&gt;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&lt;p&gt;有返回值函数：sum(x,y)&lt;/p&gt;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&lt;form&gt;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  &lt;input name="btnCallJS" type="button" </a:t>
            </a:r>
            <a:r>
              <a:rPr lang="en-US" altLang="zh-CN" sz="1400" b="1">
                <a:solidFill>
                  <a:srgbClr val="FF0000"/>
                </a:solidFill>
              </a:rPr>
              <a:t>onclick="message();</a:t>
            </a:r>
            <a:r>
              <a:rPr lang="en-US" altLang="zh-CN" sz="1400"/>
              <a:t>" value="计算并显示两个数的和"&gt;</a:t>
            </a:r>
          </a:p>
          <a:p>
            <a:pPr>
              <a:lnSpc>
                <a:spcPts val="1400"/>
              </a:lnSpc>
            </a:pPr>
            <a:r>
              <a:rPr lang="en-US" altLang="zh-CN" sz="1400"/>
              <a:t>    &lt;/form&gt;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  &lt;/body&gt;</a:t>
            </a:r>
            <a:endParaRPr lang="zh-CN" altLang="en-US" sz="1400" dirty="0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05130" y="4362589"/>
            <a:ext cx="8458200" cy="64516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注：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脚本插入在头部时，通常定义为函数格式：</a:t>
            </a:r>
          </a:p>
          <a:p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 function 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函数名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参数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1,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参数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2,…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，参数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n){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函数体语句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;}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673" name="Picture 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 cstate="print"/>
          <a:srcRect t="24444"/>
          <a:stretch>
            <a:fillRect/>
          </a:stretch>
        </p:blipFill>
        <p:spPr bwMode="auto">
          <a:xfrm>
            <a:off x="958215" y="5184775"/>
            <a:ext cx="4592320" cy="129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462395" y="5625465"/>
          <a:ext cx="11239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r:id="rId5" imgW="1123950" imgH="542925" progId="Package">
                  <p:embed/>
                </p:oleObj>
              </mc:Choice>
              <mc:Fallback>
                <p:oleObj r:id="rId5" imgW="1123950" imgH="542925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62395" y="5625465"/>
                        <a:ext cx="11239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ChangeArrowheads="1"/>
          </p:cNvSpPr>
          <p:nvPr/>
        </p:nvSpPr>
        <p:spPr bwMode="auto">
          <a:xfrm>
            <a:off x="384810" y="448706"/>
            <a:ext cx="7761288" cy="56792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90488" tIns="44450" rIns="90488" bIns="44450" anchor="ctr"/>
          <a:lstStyle/>
          <a:p>
            <a:pPr algn="l" defTabSz="463550" eaLnBrk="0" hangingPunct="0"/>
            <a:r>
              <a:rPr lang="en-US" altLang="zh-CN" b="1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JavaScript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放置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主体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971550" y="1364615"/>
            <a:ext cx="7200900" cy="2861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&lt;html&gt;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&lt;head&gt;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&lt;title&gt;</a:t>
            </a:r>
            <a:r>
              <a:rPr lang="zh-CN" altLang="en-US" dirty="0"/>
              <a:t>主体部分</a:t>
            </a:r>
            <a:r>
              <a:rPr lang="en-US" altLang="zh-CN" dirty="0"/>
              <a:t>JavaScript&lt;/title&gt;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/>
              <a:t>  &lt;/head&gt;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&lt;body&gt;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 &lt;script type="text/</a:t>
            </a:r>
            <a:r>
              <a:rPr lang="en-US" altLang="zh-CN" dirty="0" err="1">
                <a:solidFill>
                  <a:srgbClr val="FF0000"/>
                </a:solidFill>
              </a:rPr>
              <a:t>javascript</a:t>
            </a:r>
            <a:r>
              <a:rPr lang="en-US" altLang="zh-CN" dirty="0">
                <a:solidFill>
                  <a:srgbClr val="FF0000"/>
                </a:solidFill>
              </a:rPr>
              <a:t>" &gt;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   alert(“JS</a:t>
            </a:r>
            <a:r>
              <a:rPr lang="zh-CN" altLang="en-US" dirty="0">
                <a:solidFill>
                  <a:srgbClr val="FF0000"/>
                </a:solidFill>
              </a:rPr>
              <a:t>放置在主体中，直接运行！</a:t>
            </a:r>
            <a:r>
              <a:rPr lang="en-US" altLang="zh-CN" dirty="0">
                <a:solidFill>
                  <a:srgbClr val="FF0000"/>
                </a:solidFill>
              </a:rPr>
              <a:t>”);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 &lt;/script&gt;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&lt;/body&gt;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&lt;/html&gt;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737235" y="4326255"/>
            <a:ext cx="7660005" cy="64516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注：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脚本插入在主体时，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JavaScript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语句能够被立即执行。</a:t>
            </a: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也可以定义成函数，但必须引用才能执行。</a:t>
            </a: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78530" y="5730875"/>
          <a:ext cx="12668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r:id="rId3" imgW="1266825" imgH="542925" progId="Package">
                  <p:embed/>
                </p:oleObj>
              </mc:Choice>
              <mc:Fallback>
                <p:oleObj r:id="rId3" imgW="1266825" imgH="542925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8530" y="5730875"/>
                        <a:ext cx="126682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ChangeArrowheads="1"/>
          </p:cNvSpPr>
          <p:nvPr/>
        </p:nvSpPr>
        <p:spPr bwMode="auto">
          <a:xfrm>
            <a:off x="335915" y="481091"/>
            <a:ext cx="7761288" cy="56792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90488" tIns="44450" rIns="90488" bIns="44450" anchor="ctr"/>
          <a:lstStyle/>
          <a:p>
            <a:pPr algn="l" defTabSz="463550" eaLnBrk="0" hangingPunct="0"/>
            <a:r>
              <a:rPr lang="en-US" altLang="zh-CN" b="1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JavaScript</a:t>
            </a:r>
            <a:r>
              <a:rPr lang="zh-CN" altLang="en-US" b="1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放置</a:t>
            </a:r>
            <a:r>
              <a:rPr lang="en-US" altLang="zh-CN" b="1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外部</a:t>
            </a:r>
            <a:r>
              <a:rPr lang="en-US" altLang="zh-CN" b="1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JS</a:t>
            </a:r>
          </a:p>
        </p:txBody>
      </p:sp>
      <p:sp>
        <p:nvSpPr>
          <p:cNvPr id="87043" name="Rectangle 5"/>
          <p:cNvSpPr>
            <a:spLocks noChangeArrowheads="1"/>
          </p:cNvSpPr>
          <p:nvPr/>
        </p:nvSpPr>
        <p:spPr bwMode="auto">
          <a:xfrm>
            <a:off x="485140" y="1169035"/>
            <a:ext cx="7279005" cy="341503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&lt;html&gt;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&lt;head&gt;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&lt;title&gt;</a:t>
            </a:r>
            <a:r>
              <a:rPr lang="zh-CN" altLang="en-US" dirty="0"/>
              <a:t>调用外部</a:t>
            </a:r>
            <a:r>
              <a:rPr lang="en-US" altLang="zh-CN" dirty="0" err="1"/>
              <a:t>js</a:t>
            </a:r>
            <a:r>
              <a:rPr lang="zh-CN" altLang="en-US" dirty="0"/>
              <a:t>文件的</a:t>
            </a:r>
            <a:r>
              <a:rPr lang="en-US" altLang="zh-CN" dirty="0"/>
              <a:t>JavaScript</a:t>
            </a:r>
            <a:r>
              <a:rPr lang="zh-CN" altLang="en-US" dirty="0"/>
              <a:t>函数</a:t>
            </a:r>
            <a:r>
              <a:rPr lang="en-US" altLang="zh-CN" dirty="0"/>
              <a:t>&lt;/title&gt;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 &lt;script type="text/</a:t>
            </a:r>
            <a:r>
              <a:rPr lang="en-US" altLang="zh-CN" dirty="0" err="1">
                <a:solidFill>
                  <a:srgbClr val="FF0000"/>
                </a:solidFill>
              </a:rPr>
              <a:t>javascript</a:t>
            </a:r>
            <a:r>
              <a:rPr lang="en-US" altLang="zh-CN" dirty="0">
                <a:solidFill>
                  <a:srgbClr val="FF0000"/>
                </a:solidFill>
              </a:rPr>
              <a:t>" </a:t>
            </a:r>
            <a:r>
              <a:rPr lang="en-US" altLang="zh-CN" dirty="0" err="1">
                <a:solidFill>
                  <a:srgbClr val="FF0000"/>
                </a:solidFill>
              </a:rPr>
              <a:t>src</a:t>
            </a:r>
            <a:r>
              <a:rPr lang="en-US" altLang="zh-CN" dirty="0">
                <a:solidFill>
                  <a:srgbClr val="FF0000"/>
                </a:solidFill>
              </a:rPr>
              <a:t>="demo.js"&gt;&lt;/script&gt;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&lt;/head&gt;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&lt;body&gt;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&lt;form&gt;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 &lt;input name=“</a:t>
            </a:r>
            <a:r>
              <a:rPr lang="en-US" altLang="zh-CN" dirty="0" err="1"/>
              <a:t>btnCallJS</a:t>
            </a:r>
            <a:r>
              <a:rPr lang="en-US" altLang="zh-CN" dirty="0"/>
              <a:t>” type=“button” </a:t>
            </a:r>
            <a:r>
              <a:rPr lang="en-US" altLang="zh-CN" dirty="0" err="1"/>
              <a:t>onclick</a:t>
            </a:r>
            <a:r>
              <a:rPr lang="en-US" altLang="zh-CN" dirty="0">
                <a:solidFill>
                  <a:srgbClr val="FF0000"/>
                </a:solidFill>
              </a:rPr>
              <a:t>=“message();"</a:t>
            </a:r>
            <a:r>
              <a:rPr lang="en-US" altLang="zh-CN" dirty="0"/>
              <a:t> value="</a:t>
            </a:r>
            <a:r>
              <a:rPr lang="zh-CN" altLang="en-US" dirty="0"/>
              <a:t>调用外部</a:t>
            </a:r>
            <a:r>
              <a:rPr lang="en-US" altLang="zh-CN" dirty="0" err="1"/>
              <a:t>js</a:t>
            </a:r>
            <a:r>
              <a:rPr lang="zh-CN" altLang="en-US" dirty="0"/>
              <a:t>文件的</a:t>
            </a:r>
            <a:r>
              <a:rPr lang="en-US" altLang="zh-CN" dirty="0"/>
              <a:t>JavaScript</a:t>
            </a:r>
            <a:r>
              <a:rPr lang="zh-CN" altLang="en-US" dirty="0"/>
              <a:t>函数</a:t>
            </a:r>
            <a:r>
              <a:rPr lang="en-US" altLang="zh-CN" dirty="0"/>
              <a:t>"&gt;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&lt;/form&gt;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&lt;/body&gt;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&lt;/html&gt;</a:t>
            </a:r>
          </a:p>
        </p:txBody>
      </p:sp>
      <p:sp>
        <p:nvSpPr>
          <p:cNvPr id="87044" name="Rectangle 6"/>
          <p:cNvSpPr>
            <a:spLocks noChangeArrowheads="1"/>
          </p:cNvSpPr>
          <p:nvPr/>
        </p:nvSpPr>
        <p:spPr bwMode="auto">
          <a:xfrm>
            <a:off x="485140" y="5221605"/>
            <a:ext cx="8534400" cy="64516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注：外部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JS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文件需要引用到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文件中才能被执行。编写外部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JS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文件时不需要使用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&lt;script&gt;&lt;/script&gt;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标记</a:t>
            </a:r>
            <a:r>
              <a:rPr lang="zh-CN" altLang="en-US" b="0" dirty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4420870" y="4022725"/>
            <a:ext cx="4366260" cy="119888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/*-- </a:t>
            </a:r>
            <a:r>
              <a:rPr lang="en-US" altLang="zh-CN" sz="18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demo.js</a:t>
            </a:r>
            <a:r>
              <a:rPr lang="en-US" altLang="zh-CN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*/</a:t>
            </a:r>
          </a:p>
          <a:p>
            <a:r>
              <a:rPr lang="en-US" altLang="zh-CN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function message() {</a:t>
            </a:r>
          </a:p>
          <a:p>
            <a:r>
              <a:rPr lang="en-US" altLang="zh-CN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alert("</a:t>
            </a:r>
            <a:r>
              <a:rPr lang="zh-CN" altLang="en-US" sz="1800" b="0" dirty="0">
                <a:latin typeface="Verdana" panose="020B0604030504040204" pitchFamily="34" charset="0"/>
                <a:cs typeface="Verdana" panose="020B0604030504040204" pitchFamily="34" charset="0"/>
              </a:rPr>
              <a:t>调用外部</a:t>
            </a:r>
            <a:r>
              <a:rPr lang="en-US" altLang="zh-CN" sz="18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js</a:t>
            </a:r>
            <a:r>
              <a:rPr lang="zh-CN" altLang="en-US" sz="1800" b="0" dirty="0">
                <a:latin typeface="Verdana" panose="020B0604030504040204" pitchFamily="34" charset="0"/>
                <a:cs typeface="Verdana" panose="020B0604030504040204" pitchFamily="34" charset="0"/>
              </a:rPr>
              <a:t>文件中的函数！</a:t>
            </a:r>
            <a:r>
              <a:rPr lang="en-US" altLang="zh-CN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</a:t>
            </a:r>
          </a:p>
          <a:p>
            <a:r>
              <a:rPr lang="en-US" altLang="zh-CN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  <a:endParaRPr lang="zh-CN" altLang="en-US" sz="1800" b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58185" y="6064250"/>
          <a:ext cx="561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r:id="rId3" imgW="561975" imgH="542925" progId="Package">
                  <p:embed/>
                </p:oleObj>
              </mc:Choice>
              <mc:Fallback>
                <p:oleObj r:id="rId3" imgW="561975" imgH="542925" progId="Package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8185" y="6064250"/>
                        <a:ext cx="56197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84325" y="6064250"/>
          <a:ext cx="11239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r:id="rId5" imgW="1123950" imgH="542925" progId="Package">
                  <p:embed/>
                </p:oleObj>
              </mc:Choice>
              <mc:Fallback>
                <p:oleObj r:id="rId5" imgW="1123950" imgH="542925" progId="Package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4325" y="6064250"/>
                        <a:ext cx="11239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484" y="382905"/>
            <a:ext cx="7761287" cy="567929"/>
          </a:xfrm>
        </p:spPr>
        <p:txBody>
          <a:bodyPr/>
          <a:lstStyle/>
          <a:p>
            <a:r>
              <a:rPr lang="en-US" altLang="zh-CN" kern="1200" dirty="0">
                <a:solidFill>
                  <a:schemeClr val="tx1"/>
                </a:solidFill>
                <a:latin typeface="+mj-lt"/>
                <a:cs typeface="+mj-lt"/>
              </a:rPr>
              <a:t>JavaScript</a:t>
            </a:r>
            <a:r>
              <a:rPr lang="zh-CN" altLang="en-US" dirty="0">
                <a:solidFill>
                  <a:schemeClr val="tx1"/>
                </a:solidFill>
                <a:latin typeface="+mj-lt"/>
                <a:cs typeface="+mj-lt"/>
              </a:rPr>
              <a:t>放置</a:t>
            </a:r>
            <a:r>
              <a:rPr lang="en-US" altLang="zh-CN" dirty="0">
                <a:solidFill>
                  <a:schemeClr val="tx1"/>
                </a:solidFill>
                <a:latin typeface="+mj-lt"/>
                <a:cs typeface="+mj-lt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+mj-lt"/>
                <a:cs typeface="+mj-lt"/>
              </a:rPr>
              <a:t>事件处理代码</a:t>
            </a:r>
          </a:p>
        </p:txBody>
      </p:sp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378460" y="1079500"/>
            <a:ext cx="8174355" cy="23482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600" dirty="0"/>
              <a:t>&lt;html&gt;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 &lt;head&gt;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   &lt;title&gt;</a:t>
            </a:r>
            <a:r>
              <a:rPr lang="zh-CN" altLang="en-US" sz="1600" dirty="0"/>
              <a:t>直接在事件处理代码中加入</a:t>
            </a:r>
            <a:r>
              <a:rPr lang="en-US" altLang="zh-CN" sz="1600" dirty="0"/>
              <a:t>JavaScript</a:t>
            </a:r>
            <a:r>
              <a:rPr lang="zh-CN" altLang="en-US" sz="1600" dirty="0"/>
              <a:t>代码</a:t>
            </a:r>
            <a:r>
              <a:rPr lang="en-US" altLang="zh-CN" sz="1600" dirty="0"/>
              <a:t>&lt;/title&gt;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&lt;/head&gt;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&lt;body&gt;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  &lt;form&gt;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    &lt;input type="button" </a:t>
            </a:r>
            <a:r>
              <a:rPr lang="en-US" altLang="zh-CN" sz="1600" dirty="0" err="1">
                <a:solidFill>
                  <a:srgbClr val="FF0000"/>
                </a:solidFill>
              </a:rPr>
              <a:t>onclick</a:t>
            </a:r>
            <a:r>
              <a:rPr lang="en-US" altLang="zh-CN" sz="1600" dirty="0">
                <a:solidFill>
                  <a:srgbClr val="FF0000"/>
                </a:solidFill>
              </a:rPr>
              <a:t>="alert('</a:t>
            </a:r>
            <a:r>
              <a:rPr lang="zh-CN" altLang="en-US" sz="1600" dirty="0">
                <a:solidFill>
                  <a:srgbClr val="FF0000"/>
                </a:solidFill>
              </a:rPr>
              <a:t>直接在事件处理代码中加入</a:t>
            </a:r>
            <a:r>
              <a:rPr lang="en-US" altLang="zh-CN" sz="1600" dirty="0">
                <a:solidFill>
                  <a:srgbClr val="FF0000"/>
                </a:solidFill>
              </a:rPr>
              <a:t>JavaScript</a:t>
            </a:r>
            <a:r>
              <a:rPr lang="zh-CN" altLang="en-US" sz="1600" dirty="0">
                <a:solidFill>
                  <a:srgbClr val="FF0000"/>
                </a:solidFill>
              </a:rPr>
              <a:t>代码</a:t>
            </a:r>
            <a:r>
              <a:rPr lang="en-US" altLang="zh-CN" sz="1600" dirty="0">
                <a:solidFill>
                  <a:srgbClr val="FF0000"/>
                </a:solidFill>
              </a:rPr>
              <a:t>')"</a:t>
            </a:r>
            <a:r>
              <a:rPr lang="en-US" altLang="zh-CN" sz="1600" dirty="0"/>
              <a:t> value="</a:t>
            </a:r>
            <a:r>
              <a:rPr lang="zh-CN" altLang="en-US" sz="1600" dirty="0"/>
              <a:t>直接调用</a:t>
            </a:r>
            <a:r>
              <a:rPr lang="en-US" altLang="zh-CN" sz="1600" dirty="0"/>
              <a:t>JavaScript</a:t>
            </a:r>
            <a:r>
              <a:rPr lang="zh-CN" altLang="en-US" sz="1600" dirty="0"/>
              <a:t>代码</a:t>
            </a:r>
            <a:r>
              <a:rPr lang="en-US" altLang="zh-CN" sz="1600" dirty="0"/>
              <a:t>"&gt;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    &lt;/form&gt;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   &lt;/body&gt;</a:t>
            </a:r>
          </a:p>
          <a:p>
            <a:pPr>
              <a:lnSpc>
                <a:spcPts val="1600"/>
              </a:lnSpc>
            </a:pPr>
            <a:r>
              <a:rPr lang="en-US" altLang="zh-CN" sz="1600" dirty="0"/>
              <a:t>&lt;/html&gt;</a:t>
            </a:r>
            <a:endParaRPr lang="zh-CN" altLang="en-US" sz="1600" dirty="0"/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378460" y="3717290"/>
            <a:ext cx="8534400" cy="64516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square">
            <a:spAutoFit/>
          </a:bodyPr>
          <a:lstStyle/>
          <a:p>
            <a:pPr marL="447675" indent="-447675">
              <a:tabLst>
                <a:tab pos="447675" algn="l"/>
                <a:tab pos="536575" algn="l"/>
              </a:tabLst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注：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JS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代码直接放置在事件处理的代码中，可以直接运行。也可以加上“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javascript:alert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(‘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信息’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);”</a:t>
            </a:r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3" cstate="print"/>
          <a:srcRect t="35995"/>
          <a:stretch>
            <a:fillRect/>
          </a:stretch>
        </p:blipFill>
        <p:spPr bwMode="auto">
          <a:xfrm>
            <a:off x="574040" y="4728210"/>
            <a:ext cx="6311900" cy="1202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310755" y="5474970"/>
          <a:ext cx="11239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r:id="rId4" imgW="1123950" imgH="542925" progId="Package">
                  <p:embed/>
                </p:oleObj>
              </mc:Choice>
              <mc:Fallback>
                <p:oleObj r:id="rId4" imgW="1123950" imgH="542925" progId="Package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10755" y="5474970"/>
                        <a:ext cx="11239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360680" y="402353"/>
            <a:ext cx="7761288" cy="567928"/>
          </a:xfrm>
        </p:spPr>
        <p:txBody>
          <a:bodyPr>
            <a:normAutofit/>
          </a:bodyPr>
          <a:lstStyle/>
          <a:p>
            <a:r>
              <a:rPr lang="en-US" altLang="zh-CN" kern="1200" dirty="0">
                <a:solidFill>
                  <a:schemeClr val="tx1"/>
                </a:solidFill>
                <a:latin typeface="+mj-lt"/>
                <a:cs typeface="+mj-lt"/>
              </a:rPr>
              <a:t>JavaScript</a:t>
            </a:r>
            <a:r>
              <a:rPr lang="zh-CN" altLang="en-US" dirty="0">
                <a:solidFill>
                  <a:schemeClr val="tx1"/>
                </a:solidFill>
                <a:latin typeface="+mj-lt"/>
                <a:cs typeface="+mj-lt"/>
              </a:rPr>
              <a:t>程序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82395"/>
            <a:ext cx="7993380" cy="410400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800" dirty="0"/>
              <a:t>  JavaScript</a:t>
            </a:r>
            <a:r>
              <a:rPr lang="zh-CN" altLang="zh-CN" sz="1800" dirty="0"/>
              <a:t>程序由语句、语句块、函数、对象、方法、属性等构成，通过顺序、分支和循环三种基本程序控制结构来进行编程。</a:t>
            </a:r>
            <a:endParaRPr lang="en-US" altLang="zh-CN" sz="1800" dirty="0"/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1800" dirty="0"/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dirty="0"/>
              <a:t>语句和语句块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800" dirty="0"/>
              <a:t>JavaScript</a:t>
            </a:r>
            <a:r>
              <a:rPr lang="zh-CN" altLang="en-US" sz="1800" dirty="0"/>
              <a:t>语句是发送给浏览器的命令，这些命令的作用是告诉浏览器要做的事情。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alert(“</a:t>
            </a:r>
            <a:r>
              <a:rPr lang="zh-CN" altLang="en-US" sz="1800" dirty="0">
                <a:solidFill>
                  <a:srgbClr val="FF0000"/>
                </a:solidFill>
              </a:rPr>
              <a:t>这是告警消息框</a:t>
            </a:r>
            <a:r>
              <a:rPr lang="en-US" altLang="zh-CN" sz="1800" dirty="0">
                <a:solidFill>
                  <a:srgbClr val="FF0000"/>
                </a:solidFill>
              </a:rPr>
              <a:t>!”); //</a:t>
            </a:r>
            <a:r>
              <a:rPr lang="zh-CN" altLang="en-US" sz="1800" dirty="0">
                <a:solidFill>
                  <a:srgbClr val="FF0000"/>
                </a:solidFill>
              </a:rPr>
              <a:t>弹出告警消息框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800" dirty="0"/>
              <a:t>JavaScript</a:t>
            </a:r>
            <a:r>
              <a:rPr lang="zh-CN" altLang="en-US" sz="1800" dirty="0"/>
              <a:t>语句可以分批组合起来形成语句块，语句块以左花括号“</a:t>
            </a:r>
            <a:r>
              <a:rPr lang="en-US" altLang="zh-CN" sz="1800" dirty="0">
                <a:solidFill>
                  <a:srgbClr val="FF0000"/>
                </a:solidFill>
              </a:rPr>
              <a:t>{</a:t>
            </a:r>
            <a:r>
              <a:rPr lang="en-US" altLang="zh-CN" sz="1800" dirty="0"/>
              <a:t>”</a:t>
            </a:r>
            <a:r>
              <a:rPr lang="zh-CN" altLang="en-US" sz="1800" dirty="0"/>
              <a:t>开始，以右花括号“</a:t>
            </a:r>
            <a:r>
              <a:rPr lang="en-US" altLang="zh-CN" sz="1800" dirty="0">
                <a:solidFill>
                  <a:srgbClr val="FF0000"/>
                </a:solidFill>
              </a:rPr>
              <a:t>}</a:t>
            </a:r>
            <a:r>
              <a:rPr lang="en-US" altLang="zh-CN" sz="1800" dirty="0"/>
              <a:t>”</a:t>
            </a:r>
            <a:r>
              <a:rPr lang="zh-CN" altLang="en-US" sz="1800" dirty="0"/>
              <a:t>束。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{</a:t>
            </a:r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s=0;document.write(“S</a:t>
            </a:r>
            <a:r>
              <a:rPr lang="zh-CN" altLang="en-US" sz="1800" dirty="0">
                <a:solidFill>
                  <a:srgbClr val="FF0000"/>
                </a:solidFill>
              </a:rPr>
              <a:t>的值</a:t>
            </a:r>
            <a:r>
              <a:rPr lang="en-US" altLang="zh-CN" sz="1800" dirty="0">
                <a:solidFill>
                  <a:srgbClr val="FF0000"/>
                </a:solidFill>
              </a:rPr>
              <a:t>=”+s);}   //</a:t>
            </a:r>
            <a:r>
              <a:rPr lang="zh-CN" altLang="en-US" sz="1800" dirty="0">
                <a:solidFill>
                  <a:srgbClr val="FF0000"/>
                </a:solidFill>
              </a:rPr>
              <a:t>赋值，并输出到页面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8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324610"/>
            <a:ext cx="7117080" cy="381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JavaScript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代码是由若干条语句或语句块构成的执行体。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&lt;script type="text/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javascript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"&gt;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var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color="red";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if(color=="red")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{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document.write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("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颜色是红色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!"); 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alert("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颜色是红色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!");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}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&lt;/script&gt;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latin typeface="+mj-lt"/>
                <a:cs typeface="+mj-lt"/>
              </a:rPr>
              <a:t>消息对话框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910590" y="1610995"/>
            <a:ext cx="7322820" cy="3810000"/>
          </a:xfrm>
        </p:spPr>
        <p:txBody>
          <a:bodyPr/>
          <a:lstStyle/>
          <a:p>
            <a:pPr indent="351155">
              <a:buFont typeface="Wingdings" panose="05000000000000000000" pitchFamily="2" charset="2"/>
              <a:buNone/>
            </a:pPr>
            <a:r>
              <a:rPr lang="en-US" altLang="zh-CN" sz="1800" dirty="0"/>
              <a:t>JavaScript</a:t>
            </a:r>
            <a:r>
              <a:rPr lang="zh-CN" altLang="en-US" sz="1800" dirty="0"/>
              <a:t>中的消息对话框分为告警框、确认框和提示框。</a:t>
            </a:r>
            <a:endParaRPr lang="en-US" altLang="zh-CN" sz="18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/>
              <a:t>1.</a:t>
            </a:r>
            <a:r>
              <a:rPr sz="1800" dirty="0">
                <a:sym typeface="+mn-ea"/>
              </a:rPr>
              <a:t>告</a:t>
            </a:r>
            <a:r>
              <a:rPr lang="zh-CN" altLang="en-US" sz="1800" dirty="0"/>
              <a:t>警框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highlight>
                  <a:srgbClr val="FFFF00"/>
                </a:highlight>
              </a:rPr>
              <a:t>   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alert (message) 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/>
              <a:t>2.</a:t>
            </a:r>
            <a:r>
              <a:rPr lang="zh-CN" altLang="en-US" sz="1800" dirty="0"/>
              <a:t>确认框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</a:rPr>
              <a:t>      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</a:rPr>
              <a:t>yn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=confirm (message);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/>
              <a:t>3.</a:t>
            </a:r>
            <a:r>
              <a:rPr lang="zh-CN" altLang="en-US" sz="1800" dirty="0"/>
              <a:t>提示框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highlight>
                  <a:srgbClr val="FFFF00"/>
                </a:highlight>
              </a:rPr>
              <a:t>     </a:t>
            </a:r>
            <a:r>
              <a:rPr lang="en-US" altLang="zh-CN" sz="1800" dirty="0" err="1">
                <a:highlight>
                  <a:srgbClr val="FFFF00"/>
                </a:highlight>
              </a:rPr>
              <a:t>var</a:t>
            </a:r>
            <a:r>
              <a:rPr lang="en-US" altLang="zh-CN" sz="1800" dirty="0">
                <a:highlight>
                  <a:srgbClr val="FFFF00"/>
                </a:highlight>
              </a:rPr>
              <a:t> s1=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prompt (text, 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</a:rPr>
              <a:t>defaultText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消息对话框</a:t>
            </a:r>
            <a:r>
              <a:rPr lang="en-US" altLang="zh-CN" dirty="0"/>
              <a:t>-</a:t>
            </a:r>
            <a:r>
              <a:rPr lang="zh-CN" altLang="en-US" dirty="0"/>
              <a:t>告警框</a:t>
            </a:r>
          </a:p>
        </p:txBody>
      </p:sp>
      <p:sp>
        <p:nvSpPr>
          <p:cNvPr id="1740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03350"/>
            <a:ext cx="4114800" cy="28575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&lt;html&gt;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&lt;head&gt;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&lt;title&gt;</a:t>
            </a:r>
            <a:r>
              <a:rPr lang="zh-CN" altLang="en-US" sz="1600" dirty="0">
                <a:ea typeface="宋体" panose="02010600030101010101" pitchFamily="2" charset="-122"/>
              </a:rPr>
              <a:t>告警消息框使用实例</a:t>
            </a:r>
            <a:r>
              <a:rPr lang="en-US" altLang="zh-CN" sz="1600" dirty="0">
                <a:ea typeface="宋体" panose="02010600030101010101" pitchFamily="2" charset="-122"/>
              </a:rPr>
              <a:t>&lt;/title&gt;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&lt;/head&gt;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&lt;body&gt;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&lt;script type="text/</a:t>
            </a:r>
            <a:r>
              <a:rPr lang="en-US" altLang="zh-CN" sz="1600" dirty="0" err="1">
                <a:ea typeface="宋体" panose="02010600030101010101" pitchFamily="2" charset="-122"/>
              </a:rPr>
              <a:t>javascript</a:t>
            </a:r>
            <a:r>
              <a:rPr lang="en-US" altLang="zh-CN" sz="1600" dirty="0">
                <a:ea typeface="宋体" panose="02010600030101010101" pitchFamily="2" charset="-122"/>
              </a:rPr>
              <a:t>"&gt;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alert("</a:t>
            </a:r>
            <a:r>
              <a:rPr lang="zh-CN" altLang="en-US" sz="1600" dirty="0">
                <a:ea typeface="宋体" panose="02010600030101010101" pitchFamily="2" charset="-122"/>
              </a:rPr>
              <a:t>这是告警消息框！</a:t>
            </a:r>
            <a:r>
              <a:rPr lang="en-US" altLang="zh-CN" sz="1600" dirty="0">
                <a:ea typeface="宋体" panose="02010600030101010101" pitchFamily="2" charset="-122"/>
              </a:rPr>
              <a:t>");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&lt;/script&gt;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&lt;/body&gt;</a:t>
            </a:r>
          </a:p>
          <a:p>
            <a:pPr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&lt;/html&gt;</a:t>
            </a:r>
          </a:p>
        </p:txBody>
      </p:sp>
      <p:sp>
        <p:nvSpPr>
          <p:cNvPr id="17411" name="Rectangle 9"/>
          <p:cNvSpPr>
            <a:spLocks noChangeArrowheads="1"/>
          </p:cNvSpPr>
          <p:nvPr/>
        </p:nvSpPr>
        <p:spPr bwMode="auto">
          <a:xfrm>
            <a:off x="0" y="2730501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2" name="Rectangle 13"/>
          <p:cNvSpPr>
            <a:spLocks noChangeArrowheads="1"/>
          </p:cNvSpPr>
          <p:nvPr/>
        </p:nvSpPr>
        <p:spPr bwMode="auto">
          <a:xfrm>
            <a:off x="0" y="2730501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8" name="Rectangle 16"/>
          <p:cNvSpPr>
            <a:spLocks noChangeArrowheads="1"/>
          </p:cNvSpPr>
          <p:nvPr/>
        </p:nvSpPr>
        <p:spPr bwMode="auto">
          <a:xfrm>
            <a:off x="518160" y="4988560"/>
            <a:ext cx="810768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536575" indent="-536575" eaLnBrk="0" hangingPunct="0"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注：确定按钮必须响应，否则屏蔽一切操作。告警信息为纯文本信息或字符串，不能含有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标记。</a:t>
            </a:r>
          </a:p>
        </p:txBody>
      </p:sp>
      <p:grpSp>
        <p:nvGrpSpPr>
          <p:cNvPr id="17429" name="Group 21"/>
          <p:cNvGrpSpPr/>
          <p:nvPr/>
        </p:nvGrpSpPr>
        <p:grpSpPr bwMode="auto">
          <a:xfrm>
            <a:off x="4320540" y="2027318"/>
            <a:ext cx="4229100" cy="2006203"/>
            <a:chOff x="2856" y="672"/>
            <a:chExt cx="2904" cy="1685"/>
          </a:xfrm>
        </p:grpSpPr>
        <p:sp>
          <p:nvSpPr>
            <p:cNvPr id="17415" name="AutoShape 15"/>
            <p:cNvSpPr/>
            <p:nvPr/>
          </p:nvSpPr>
          <p:spPr bwMode="auto">
            <a:xfrm>
              <a:off x="4824" y="672"/>
              <a:ext cx="936" cy="288"/>
            </a:xfrm>
            <a:prstGeom prst="callout2">
              <a:avLst>
                <a:gd name="adj1" fmla="val 25000"/>
                <a:gd name="adj2" fmla="val -5130"/>
                <a:gd name="adj3" fmla="val 25000"/>
                <a:gd name="adj4" fmla="val -21903"/>
                <a:gd name="adj5" fmla="val 244792"/>
                <a:gd name="adj6" fmla="val -3899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>
                <a:lnSpc>
                  <a:spcPct val="96000"/>
                </a:lnSpc>
              </a:pPr>
              <a:r>
                <a:rPr lang="zh-CN" altLang="en-US" sz="1800" b="0">
                  <a:latin typeface="Times New Roman" panose="02020603050405020304" pitchFamily="18" charset="0"/>
                </a:rPr>
                <a:t>这是</a:t>
              </a:r>
              <a:r>
                <a:rPr lang="en-US" altLang="zh-CN" sz="1800" b="0">
                  <a:latin typeface="Times New Roman" panose="02020603050405020304" pitchFamily="18" charset="0"/>
                </a:rPr>
                <a:t>message</a:t>
              </a:r>
              <a:endParaRPr lang="en-US" altLang="zh-CN" sz="3800"/>
            </a:p>
          </p:txBody>
        </p:sp>
        <p:sp>
          <p:nvSpPr>
            <p:cNvPr id="17416" name="AutoShape 6"/>
            <p:cNvSpPr/>
            <p:nvPr/>
          </p:nvSpPr>
          <p:spPr bwMode="auto">
            <a:xfrm>
              <a:off x="4872" y="2160"/>
              <a:ext cx="792" cy="197"/>
            </a:xfrm>
            <a:prstGeom prst="callout2">
              <a:avLst>
                <a:gd name="adj1" fmla="val 36546"/>
                <a:gd name="adj2" fmla="val -6060"/>
                <a:gd name="adj3" fmla="val 36546"/>
                <a:gd name="adj4" fmla="val -21843"/>
                <a:gd name="adj5" fmla="val -112690"/>
                <a:gd name="adj6" fmla="val -3813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r>
                <a:rPr lang="zh-CN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这是按钮</a:t>
              </a:r>
              <a:endParaRPr lang="zh-CN" altLang="en-US" sz="3800"/>
            </a:p>
          </p:txBody>
        </p:sp>
        <p:pic>
          <p:nvPicPr>
            <p:cNvPr id="1741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13" y="1190"/>
              <a:ext cx="1211" cy="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AutoShape 7"/>
            <p:cNvSpPr/>
            <p:nvPr/>
          </p:nvSpPr>
          <p:spPr bwMode="auto">
            <a:xfrm>
              <a:off x="2856" y="864"/>
              <a:ext cx="672" cy="336"/>
            </a:xfrm>
            <a:prstGeom prst="callout2">
              <a:avLst>
                <a:gd name="adj1" fmla="val 21431"/>
                <a:gd name="adj2" fmla="val 107144"/>
                <a:gd name="adj3" fmla="val 21431"/>
                <a:gd name="adj4" fmla="val 132144"/>
                <a:gd name="adj5" fmla="val 156250"/>
                <a:gd name="adj6" fmla="val 157292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r"/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这是图标</a:t>
              </a:r>
              <a:endParaRPr lang="zh-CN" altLang="en-US" sz="34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4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2677" y="1606550"/>
            <a:ext cx="1762125" cy="87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4" name="Picture 5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5877" y="2635250"/>
            <a:ext cx="1628775" cy="864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Line 52"/>
          <p:cNvSpPr>
            <a:spLocks noChangeShapeType="1"/>
          </p:cNvSpPr>
          <p:nvPr/>
        </p:nvSpPr>
        <p:spPr bwMode="auto">
          <a:xfrm flipH="1">
            <a:off x="6106476" y="2406650"/>
            <a:ext cx="1066800" cy="8001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消息对话框</a:t>
            </a:r>
            <a:r>
              <a:rPr lang="en-US" altLang="zh-CN" kern="1200" dirty="0">
                <a:solidFill>
                  <a:schemeClr val="tx1"/>
                </a:solidFill>
                <a:cs typeface="+mn-cs"/>
              </a:rPr>
              <a:t>-</a:t>
            </a:r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确认框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09880" y="1289685"/>
            <a:ext cx="8109585" cy="3810000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&lt;html&gt;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&lt;head&gt;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&lt;title&gt;</a:t>
            </a:r>
            <a:r>
              <a:rPr lang="zh-CN" altLang="en-US" sz="1600" dirty="0">
                <a:ea typeface="宋体" panose="02010600030101010101" pitchFamily="2" charset="-122"/>
              </a:rPr>
              <a:t>确认框使用实例</a:t>
            </a:r>
            <a:r>
              <a:rPr lang="en-US" altLang="zh-CN" sz="1600" dirty="0">
                <a:ea typeface="宋体" panose="02010600030101010101" pitchFamily="2" charset="-122"/>
              </a:rPr>
              <a:t>&lt;/title&gt;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&lt;script type="text/</a:t>
            </a:r>
            <a:r>
              <a:rPr lang="en-US" altLang="zh-CN" sz="1600" dirty="0" err="1">
                <a:ea typeface="宋体" panose="02010600030101010101" pitchFamily="2" charset="-122"/>
              </a:rPr>
              <a:t>javascript</a:t>
            </a:r>
            <a:r>
              <a:rPr lang="en-US" altLang="zh-CN" sz="1600" dirty="0">
                <a:ea typeface="宋体" panose="02010600030101010101" pitchFamily="2" charset="-122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function </a:t>
            </a:r>
            <a:r>
              <a:rPr lang="en-US" altLang="zh-CN" sz="1600" dirty="0" err="1">
                <a:ea typeface="宋体" panose="02010600030101010101" pitchFamily="2" charset="-122"/>
              </a:rPr>
              <a:t>show_confirm</a:t>
            </a:r>
            <a:r>
              <a:rPr lang="en-US" altLang="zh-CN" sz="1600" dirty="0">
                <a:ea typeface="宋体" panose="02010600030101010101" pitchFamily="2" charset="-122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 err="1">
                <a:ea typeface="宋体" panose="02010600030101010101" pitchFamily="2" charset="-122"/>
              </a:rPr>
              <a:t>        var</a:t>
            </a:r>
            <a:r>
              <a:rPr lang="en-US" altLang="zh-CN" sz="1600" dirty="0">
                <a:ea typeface="宋体" panose="02010600030101010101" pitchFamily="2" charset="-122"/>
              </a:rPr>
              <a:t> r=confirm("</a:t>
            </a:r>
            <a:r>
              <a:rPr lang="zh-CN" altLang="en-US" sz="1600" dirty="0">
                <a:ea typeface="宋体" panose="02010600030101010101" pitchFamily="2" charset="-122"/>
              </a:rPr>
              <a:t>请选择按钮</a:t>
            </a:r>
            <a:r>
              <a:rPr lang="en-US" altLang="zh-CN" sz="1600" dirty="0">
                <a:ea typeface="宋体" panose="02010600030101010101" pitchFamily="2" charset="-122"/>
              </a:rPr>
              <a:t>!");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if (r==true) {alert("</a:t>
            </a:r>
            <a:r>
              <a:rPr lang="zh-CN" altLang="en-US" sz="1600" dirty="0">
                <a:ea typeface="宋体" panose="02010600030101010101" pitchFamily="2" charset="-122"/>
              </a:rPr>
              <a:t>您按了确定按钮！</a:t>
            </a:r>
            <a:r>
              <a:rPr lang="en-US" altLang="zh-CN" sz="1600" dirty="0">
                <a:ea typeface="宋体" panose="02010600030101010101" pitchFamily="2" charset="-122"/>
              </a:rPr>
              <a:t>");}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else{alert("</a:t>
            </a:r>
            <a:r>
              <a:rPr lang="zh-CN" altLang="en-US" sz="1600" dirty="0">
                <a:ea typeface="宋体" panose="02010600030101010101" pitchFamily="2" charset="-122"/>
              </a:rPr>
              <a:t>您按了取消按钮！</a:t>
            </a:r>
            <a:r>
              <a:rPr lang="en-US" altLang="zh-CN" sz="1600" dirty="0">
                <a:ea typeface="宋体" panose="02010600030101010101" pitchFamily="2" charset="-122"/>
              </a:rPr>
              <a:t>");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&lt;/head&gt;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&lt;input type="button" 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show_confirm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 value="</a:t>
            </a:r>
            <a:r>
              <a:rPr lang="zh-CN" altLang="en-US" sz="1600" dirty="0">
                <a:latin typeface="Verdana" panose="020B0604030504040204" pitchFamily="34" charset="0"/>
                <a:cs typeface="Verdana" panose="020B0604030504040204" pitchFamily="34" charset="0"/>
              </a:rPr>
              <a:t>显示确认框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&lt;/body&gt;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&lt;/html&gt;</a:t>
            </a:r>
            <a:endParaRPr lang="zh-CN" altLang="en-US" sz="160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</p:txBody>
      </p:sp>
      <p:sp>
        <p:nvSpPr>
          <p:cNvPr id="18439" name="Rectangle 12"/>
          <p:cNvSpPr>
            <a:spLocks noChangeArrowheads="1"/>
          </p:cNvSpPr>
          <p:nvPr/>
        </p:nvSpPr>
        <p:spPr bwMode="auto">
          <a:xfrm>
            <a:off x="0" y="1767286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40" name="Rectangle 13"/>
          <p:cNvSpPr>
            <a:spLocks noChangeArrowheads="1"/>
          </p:cNvSpPr>
          <p:nvPr/>
        </p:nvSpPr>
        <p:spPr bwMode="auto">
          <a:xfrm>
            <a:off x="0" y="1758951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41" name="Rectangle 14"/>
          <p:cNvSpPr>
            <a:spLocks noChangeArrowheads="1"/>
          </p:cNvSpPr>
          <p:nvPr/>
        </p:nvSpPr>
        <p:spPr bwMode="auto">
          <a:xfrm>
            <a:off x="0" y="2792096"/>
            <a:ext cx="309880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lang="zh-CN" altLang="en-US" sz="100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/>
          </a:p>
        </p:txBody>
      </p:sp>
      <p:sp>
        <p:nvSpPr>
          <p:cNvPr id="18442" name="Rectangle 15"/>
          <p:cNvSpPr>
            <a:spLocks noChangeArrowheads="1"/>
          </p:cNvSpPr>
          <p:nvPr/>
        </p:nvSpPr>
        <p:spPr bwMode="auto">
          <a:xfrm>
            <a:off x="0" y="3841512"/>
            <a:ext cx="309880" cy="2298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lang="zh-CN" altLang="en-US" sz="90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/>
          </a:p>
        </p:txBody>
      </p:sp>
      <p:sp>
        <p:nvSpPr>
          <p:cNvPr id="18443" name="Rectangle 16"/>
          <p:cNvSpPr>
            <a:spLocks noChangeArrowheads="1"/>
          </p:cNvSpPr>
          <p:nvPr/>
        </p:nvSpPr>
        <p:spPr bwMode="auto">
          <a:xfrm>
            <a:off x="0" y="4731346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502285" y="5434965"/>
            <a:ext cx="7409815" cy="3683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注：确认按钮的返回值，类型为逻辑值，确定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，取消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false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8445" name="Picture 6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25677" y="2635250"/>
            <a:ext cx="1630363" cy="864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6" name="Line 49"/>
          <p:cNvSpPr>
            <a:spLocks noChangeShapeType="1"/>
          </p:cNvSpPr>
          <p:nvPr/>
        </p:nvSpPr>
        <p:spPr bwMode="auto">
          <a:xfrm>
            <a:off x="7630476" y="2349500"/>
            <a:ext cx="381000" cy="857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消息对话框</a:t>
            </a:r>
            <a:r>
              <a:rPr lang="en-US" altLang="zh-CN" kern="1200" dirty="0">
                <a:solidFill>
                  <a:schemeClr val="tx1"/>
                </a:solidFill>
                <a:cs typeface="+mn-cs"/>
              </a:rPr>
              <a:t>-</a:t>
            </a:r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提示框</a:t>
            </a:r>
          </a:p>
        </p:txBody>
      </p:sp>
      <p:sp>
        <p:nvSpPr>
          <p:cNvPr id="19457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202055"/>
            <a:ext cx="8221980" cy="2821940"/>
          </a:xfrm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&lt;html&gt;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&lt;head&gt;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&lt;title&gt;</a:t>
            </a:r>
            <a:r>
              <a:rPr lang="zh-CN" altLang="en-US" sz="1600" dirty="0">
                <a:ea typeface="宋体" panose="02010600030101010101" pitchFamily="2" charset="-122"/>
              </a:rPr>
              <a:t>提示框使用实例</a:t>
            </a:r>
            <a:r>
              <a:rPr lang="en-US" altLang="zh-CN" sz="1600" dirty="0">
                <a:ea typeface="宋体" panose="02010600030101010101" pitchFamily="2" charset="-122"/>
              </a:rPr>
              <a:t>&lt;/title&gt;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&lt;script type="text/</a:t>
            </a:r>
            <a:r>
              <a:rPr lang="en-US" altLang="zh-CN" sz="1600" dirty="0" err="1">
                <a:ea typeface="宋体" panose="02010600030101010101" pitchFamily="2" charset="-122"/>
              </a:rPr>
              <a:t>javascript</a:t>
            </a:r>
            <a:r>
              <a:rPr lang="en-US" altLang="zh-CN" sz="1600" dirty="0">
                <a:ea typeface="宋体" panose="02010600030101010101" pitchFamily="2" charset="-122"/>
              </a:rPr>
              <a:t>"&gt;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function </a:t>
            </a:r>
            <a:r>
              <a:rPr lang="en-US" altLang="zh-CN" sz="1600" dirty="0" err="1">
                <a:ea typeface="宋体" panose="02010600030101010101" pitchFamily="2" charset="-122"/>
              </a:rPr>
              <a:t>disp_prompt</a:t>
            </a:r>
            <a:r>
              <a:rPr lang="en-US" altLang="zh-CN" sz="1600" dirty="0">
                <a:ea typeface="宋体" panose="02010600030101010101" pitchFamily="2" charset="-122"/>
              </a:rPr>
              <a:t>() {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</a:t>
            </a:r>
            <a:r>
              <a:rPr lang="en-US" altLang="zh-CN" sz="1600" dirty="0" err="1">
                <a:ea typeface="宋体" panose="02010600030101010101" pitchFamily="2" charset="-122"/>
              </a:rPr>
              <a:t>var</a:t>
            </a:r>
            <a:r>
              <a:rPr lang="en-US" altLang="zh-CN" sz="1600" dirty="0"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name=prompt("</a:t>
            </a:r>
            <a:r>
              <a:rPr lang="zh-CN" altLang="en-US" sz="1600" dirty="0">
                <a:solidFill>
                  <a:srgbClr val="FF0000"/>
                </a:solidFill>
                <a:ea typeface="宋体" panose="02010600030101010101" pitchFamily="2" charset="-122"/>
              </a:rPr>
              <a:t>请输入您的姓名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","</a:t>
            </a:r>
            <a:r>
              <a:rPr lang="zh-CN" altLang="en-US" sz="1600" dirty="0">
                <a:solidFill>
                  <a:srgbClr val="FF0000"/>
                </a:solidFill>
                <a:ea typeface="宋体" panose="02010600030101010101" pitchFamily="2" charset="-122"/>
              </a:rPr>
              <a:t>李大为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");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if (name!=null &amp;&amp; name!="") {</a:t>
            </a:r>
            <a:r>
              <a:rPr lang="en-US" altLang="zh-CN" sz="16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600" dirty="0">
                <a:ea typeface="宋体" panose="02010600030101010101" pitchFamily="2" charset="-122"/>
              </a:rPr>
              <a:t>("</a:t>
            </a:r>
            <a:r>
              <a:rPr lang="zh-CN" altLang="en-US" sz="1600" dirty="0">
                <a:ea typeface="宋体" panose="02010600030101010101" pitchFamily="2" charset="-122"/>
              </a:rPr>
              <a:t>您好，</a:t>
            </a:r>
            <a:r>
              <a:rPr lang="en-US" altLang="zh-CN" sz="1600" dirty="0">
                <a:ea typeface="宋体" panose="02010600030101010101" pitchFamily="2" charset="-122"/>
              </a:rPr>
              <a:t>" + name + "!"); }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}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&lt;/script&gt;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&lt;/head&gt;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&lt;body&gt;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&lt;input type="button" </a:t>
            </a:r>
            <a:r>
              <a:rPr lang="en-US" altLang="zh-CN" sz="1600" dirty="0" err="1">
                <a:ea typeface="宋体" panose="02010600030101010101" pitchFamily="2" charset="-122"/>
              </a:rPr>
              <a:t>onclick</a:t>
            </a:r>
            <a:r>
              <a:rPr lang="en-US" altLang="zh-CN" sz="1600" dirty="0">
                <a:ea typeface="宋体" panose="02010600030101010101" pitchFamily="2" charset="-122"/>
              </a:rPr>
              <a:t>="</a:t>
            </a:r>
            <a:r>
              <a:rPr lang="en-US" altLang="zh-CN" sz="1600" dirty="0" err="1">
                <a:ea typeface="宋体" panose="02010600030101010101" pitchFamily="2" charset="-122"/>
              </a:rPr>
              <a:t>disp_prompt</a:t>
            </a:r>
            <a:r>
              <a:rPr lang="en-US" altLang="zh-CN" sz="1600" dirty="0">
                <a:ea typeface="宋体" panose="02010600030101010101" pitchFamily="2" charset="-122"/>
              </a:rPr>
              <a:t>()" value="</a:t>
            </a:r>
            <a:r>
              <a:rPr lang="zh-CN" altLang="en-US" sz="1600" dirty="0">
                <a:ea typeface="宋体" panose="02010600030101010101" pitchFamily="2" charset="-122"/>
              </a:rPr>
              <a:t>单击显示提示框</a:t>
            </a:r>
            <a:r>
              <a:rPr lang="en-US" altLang="zh-CN" sz="1600" dirty="0">
                <a:ea typeface="宋体" panose="02010600030101010101" pitchFamily="2" charset="-122"/>
              </a:rPr>
              <a:t>" /&gt;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&lt;/body&gt;</a:t>
            </a:r>
          </a:p>
          <a:p>
            <a:pPr marL="228600" indent="-22860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&lt;/html&gt;</a:t>
            </a:r>
            <a:endParaRPr lang="zh-CN" altLang="en-US" sz="1600" dirty="0">
              <a:ea typeface="宋体" panose="02010600030101010101" pitchFamily="2" charset="-122"/>
            </a:endParaRPr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502285" y="4221480"/>
            <a:ext cx="8221980" cy="339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square">
            <a:spAutoFit/>
          </a:bodyPr>
          <a:lstStyle/>
          <a:p>
            <a:pPr marL="179705"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注：选择“确定”返回输入的值，选择“取消”返回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null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b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 t="32172"/>
          <a:stretch>
            <a:fillRect/>
          </a:stretch>
        </p:blipFill>
        <p:spPr bwMode="auto">
          <a:xfrm>
            <a:off x="569595" y="5073650"/>
            <a:ext cx="392938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835" y="4966970"/>
            <a:ext cx="3510280" cy="1525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327660" y="416321"/>
            <a:ext cx="7761288" cy="567929"/>
          </a:xfrm>
        </p:spPr>
        <p:txBody>
          <a:bodyPr/>
          <a:lstStyle/>
          <a:p>
            <a:r>
              <a:rPr lang="en-US" altLang="zh-CN" kern="1200" dirty="0">
                <a:solidFill>
                  <a:schemeClr val="tx1"/>
                </a:solidFill>
                <a:latin typeface="+mj-lt"/>
                <a:cs typeface="+mj-lt"/>
              </a:rPr>
              <a:t>JavaScript</a:t>
            </a:r>
            <a:r>
              <a:rPr lang="zh-CN" altLang="en-US" kern="1200" dirty="0">
                <a:solidFill>
                  <a:schemeClr val="tx1"/>
                </a:solidFill>
                <a:latin typeface="+mj-lt"/>
                <a:cs typeface="+mj-lt"/>
              </a:rPr>
              <a:t>注释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419100" y="1174750"/>
            <a:ext cx="8420100" cy="2152650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JavaScript</a:t>
            </a:r>
            <a:r>
              <a:rPr lang="zh-CN" altLang="en-US" sz="1800" dirty="0"/>
              <a:t>注释：单行注释和多行注释。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单行注释：使用“</a:t>
            </a:r>
            <a:r>
              <a:rPr lang="en-US" altLang="zh-CN" sz="1800" dirty="0"/>
              <a:t>//”</a:t>
            </a:r>
            <a:r>
              <a:rPr lang="zh-CN" altLang="en-US" sz="1800" dirty="0"/>
              <a:t>作为注释标记，可以单独一行或跟在代码末尾，放在同一行中，“</a:t>
            </a:r>
            <a:r>
              <a:rPr lang="en-US" altLang="zh-CN" sz="1800" dirty="0"/>
              <a:t>//”</a:t>
            </a:r>
            <a:r>
              <a:rPr lang="zh-CN" altLang="en-US" sz="1800" dirty="0"/>
              <a:t>后为注释内容部分。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多行注释：以“</a:t>
            </a:r>
            <a:r>
              <a:rPr lang="en-US" altLang="zh-CN" sz="1800" dirty="0"/>
              <a:t>/*”</a:t>
            </a:r>
            <a:r>
              <a:rPr lang="zh-CN" altLang="en-US" sz="1800" dirty="0"/>
              <a:t>标记开始，以“*</a:t>
            </a:r>
            <a:r>
              <a:rPr lang="en-US" altLang="zh-CN" sz="1800" dirty="0"/>
              <a:t>/”</a:t>
            </a:r>
            <a:r>
              <a:rPr lang="zh-CN" altLang="en-US" sz="1800" dirty="0"/>
              <a:t>标记结束，两个标记之间所有的内容都是注释文本。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使用注释防止代码执行</a:t>
            </a:r>
            <a:r>
              <a:rPr lang="en-US" altLang="zh-CN" sz="1800" dirty="0"/>
              <a:t>--</a:t>
            </a:r>
            <a:r>
              <a:rPr lang="zh-CN" altLang="en-US" sz="1800" dirty="0"/>
              <a:t>屏蔽某些语句行的执行。</a:t>
            </a:r>
            <a:r>
              <a:rPr lang="en-US" altLang="zh-CN" sz="1800" dirty="0"/>
              <a:t>  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688975" y="3707130"/>
            <a:ext cx="7569200" cy="230695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&lt;script type="text/</a:t>
            </a:r>
            <a:r>
              <a:rPr lang="en-US" altLang="zh-CN" dirty="0" err="1"/>
              <a:t>javascript</a:t>
            </a:r>
            <a:r>
              <a:rPr lang="en-US" altLang="zh-CN" dirty="0"/>
              <a:t>"&gt;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//</a:t>
            </a:r>
            <a:r>
              <a:rPr lang="zh-CN" altLang="en-US" dirty="0"/>
              <a:t>这是单行注释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/*</a:t>
            </a:r>
            <a:r>
              <a:rPr lang="zh-CN" altLang="en-US" dirty="0"/>
              <a:t>这是多行注释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    可以包含多行内容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 *</a:t>
            </a:r>
            <a:r>
              <a:rPr lang="en-US" altLang="zh-CN" dirty="0"/>
              <a:t>/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//alert("</a:t>
            </a:r>
            <a:r>
              <a:rPr lang="zh-CN" altLang="en-US" dirty="0"/>
              <a:t>此语句不执行！</a:t>
            </a:r>
            <a:r>
              <a:rPr lang="en-US" altLang="zh-CN" dirty="0"/>
              <a:t>");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alert(“</a:t>
            </a:r>
            <a:r>
              <a:rPr lang="zh-CN" altLang="en-US" dirty="0"/>
              <a:t>此语句执行了！</a:t>
            </a:r>
            <a:r>
              <a:rPr lang="en-US" altLang="zh-CN" dirty="0"/>
              <a:t>”);//</a:t>
            </a:r>
            <a:r>
              <a:rPr lang="zh-CN" altLang="en-US" dirty="0"/>
              <a:t>执行时弹出告警消息框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&lt;/script&gt;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43230" y="1624330"/>
            <a:ext cx="8325485" cy="39319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1.</a:t>
            </a:r>
            <a:r>
              <a:rPr lang="zh-CN" altLang="en-US" sz="1800" dirty="0"/>
              <a:t>标识符命名规范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   标识符是用来表示变量名、函数名等的</a:t>
            </a:r>
            <a:r>
              <a:rPr lang="zh-CN" altLang="en-US" sz="1800" u="sng" dirty="0">
                <a:solidFill>
                  <a:srgbClr val="FF0000"/>
                </a:solidFill>
              </a:rPr>
              <a:t>有效字符序列</a:t>
            </a:r>
            <a:r>
              <a:rPr lang="zh-CN" altLang="en-US" sz="1800" dirty="0"/>
              <a:t>，</a:t>
            </a:r>
            <a:r>
              <a:rPr lang="en-US" altLang="zh-CN" sz="1800" dirty="0"/>
              <a:t>JavaScript</a:t>
            </a:r>
            <a:r>
              <a:rPr lang="zh-CN" altLang="en-US" sz="1800" dirty="0"/>
              <a:t>关于标识符的规定如下：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dirty="0"/>
          </a:p>
          <a:p>
            <a:pPr marL="525145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(1)</a:t>
            </a:r>
            <a:r>
              <a:rPr lang="zh-CN" altLang="en-US" sz="1800" dirty="0"/>
              <a:t>必须</a:t>
            </a:r>
            <a:r>
              <a:rPr lang="zh-CN" altLang="en-US" sz="1800" dirty="0">
                <a:highlight>
                  <a:srgbClr val="FFFF00"/>
                </a:highlight>
              </a:rPr>
              <a:t>使用字母或者下划线和</a:t>
            </a:r>
            <a:r>
              <a:rPr lang="en-US" altLang="zh-CN" sz="1800" dirty="0">
                <a:highlight>
                  <a:srgbClr val="FFFF00"/>
                </a:highlight>
              </a:rPr>
              <a:t>$</a:t>
            </a:r>
            <a:r>
              <a:rPr lang="zh-CN" altLang="en-US" sz="1800" dirty="0">
                <a:highlight>
                  <a:srgbClr val="FFFF00"/>
                </a:highlight>
              </a:rPr>
              <a:t>开始。</a:t>
            </a:r>
          </a:p>
          <a:p>
            <a:pPr marL="525145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(2)</a:t>
            </a:r>
            <a:r>
              <a:rPr lang="zh-CN" altLang="en-US" sz="1800" dirty="0"/>
              <a:t>必须使用</a:t>
            </a:r>
            <a:r>
              <a:rPr lang="zh-CN" altLang="en-US" sz="1800" dirty="0">
                <a:highlight>
                  <a:srgbClr val="FFFF00"/>
                </a:highlight>
              </a:rPr>
              <a:t>英文字母、数字、下划线</a:t>
            </a:r>
            <a:r>
              <a:rPr lang="zh-CN" altLang="en-US" sz="1800" dirty="0"/>
              <a:t>组成，不能出现空格或制表符。</a:t>
            </a:r>
          </a:p>
          <a:p>
            <a:pPr marL="525145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(3)</a:t>
            </a:r>
            <a:r>
              <a:rPr lang="zh-CN" altLang="en-US" sz="1800" dirty="0"/>
              <a:t>不能使用</a:t>
            </a:r>
            <a:r>
              <a:rPr lang="en-US" altLang="zh-CN" sz="1800" dirty="0"/>
              <a:t>JavaScript</a:t>
            </a:r>
            <a:r>
              <a:rPr sz="1800" dirty="0">
                <a:sym typeface="+mn-ea"/>
              </a:rPr>
              <a:t>保留、</a:t>
            </a:r>
            <a:r>
              <a:rPr lang="zh-CN" altLang="en-US" sz="1800" dirty="0"/>
              <a:t>关键字。</a:t>
            </a:r>
          </a:p>
          <a:p>
            <a:pPr marL="525145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(4)</a:t>
            </a:r>
            <a:r>
              <a:rPr lang="zh-CN" altLang="en-US" sz="1800" dirty="0"/>
              <a:t>不能使用</a:t>
            </a:r>
            <a:r>
              <a:rPr lang="en-US" altLang="zh-CN" sz="1800" dirty="0"/>
              <a:t>JavaScript</a:t>
            </a:r>
            <a:r>
              <a:rPr lang="zh-CN" altLang="en-US" sz="1800" dirty="0"/>
              <a:t>语言内部的单词，比如</a:t>
            </a:r>
            <a:r>
              <a:rPr lang="en-US" altLang="zh-CN" sz="1800" dirty="0"/>
              <a:t>Infinity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NaN</a:t>
            </a:r>
            <a:r>
              <a:rPr lang="zh-CN" altLang="en-US" sz="1800" dirty="0"/>
              <a:t>，</a:t>
            </a:r>
            <a:r>
              <a:rPr lang="en-US" altLang="zh-CN" sz="1800" dirty="0"/>
              <a:t>undefined</a:t>
            </a:r>
            <a:r>
              <a:rPr lang="zh-CN" altLang="en-US" sz="1800" dirty="0"/>
              <a:t>等。</a:t>
            </a:r>
          </a:p>
          <a:p>
            <a:pPr marL="525145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(5)</a:t>
            </a:r>
            <a:r>
              <a:rPr lang="zh-CN" altLang="en-US" sz="1800" dirty="0"/>
              <a:t>大小写敏感，如</a:t>
            </a:r>
            <a:r>
              <a:rPr lang="en-US" altLang="zh-CN" sz="1800" dirty="0"/>
              <a:t>name</a:t>
            </a:r>
            <a:r>
              <a:rPr lang="zh-CN" altLang="en-US" sz="1800" dirty="0"/>
              <a:t>和</a:t>
            </a:r>
            <a:r>
              <a:rPr lang="en-US" altLang="zh-CN" sz="1800" dirty="0"/>
              <a:t>Name</a:t>
            </a:r>
            <a:r>
              <a:rPr lang="zh-CN" altLang="en-US" sz="1800" dirty="0"/>
              <a:t>是不同的两个标识符。 </a:t>
            </a:r>
          </a:p>
        </p:txBody>
      </p:sp>
      <p:sp>
        <p:nvSpPr>
          <p:cNvPr id="14337" name="Rectangle 2"/>
          <p:cNvSpPr>
            <a:spLocks noGrp="1" noChangeArrowheads="1"/>
          </p:cNvSpPr>
          <p:nvPr/>
        </p:nvSpPr>
        <p:spPr>
          <a:xfrm>
            <a:off x="629412" y="570234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/>
              <a:t>标识符和变量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  <a:sym typeface="+mn-ea"/>
              </a:rPr>
              <a:t>命名规范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4405" y="1592580"/>
            <a:ext cx="505269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abstract	arguments	boolean	break	byte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case	catch	char	class	const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continue	debugger	default	delete	do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double	else	enum	eval	export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extends	false	final	finally	float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for	function	goto	if	implements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import	in	instanceof	int	interface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let	long	native	new	null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package	private	protected	public	return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short	static	super	switch	synchronized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this	throw	throws	transient	true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try	typeof	var	void	volatile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+mj-lt"/>
                <a:cs typeface="+mj-lt"/>
              </a:rPr>
              <a:t>while	with	yield		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0705" y="1127760"/>
            <a:ext cx="80143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dirty="0">
                <a:sym typeface="+mn-ea"/>
              </a:rPr>
              <a:t>保留关键字：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54405" y="5153025"/>
            <a:ext cx="535559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 err="1"/>
              <a:t>Ar</a:t>
            </a:r>
            <a:r>
              <a:rPr lang="zh-CN" altLang="en-US" sz="1400" dirty="0"/>
              <a:t>ray	Date	</a:t>
            </a:r>
            <a:r>
              <a:rPr lang="zh-CN" altLang="en-US" sz="1400" b="1" dirty="0">
                <a:solidFill>
                  <a:srgbClr val="FF0000"/>
                </a:solidFill>
              </a:rPr>
              <a:t>eval</a:t>
            </a:r>
            <a:r>
              <a:rPr lang="zh-CN" altLang="en-US" sz="1400" dirty="0"/>
              <a:t>	function	hasOwnProperty</a:t>
            </a:r>
          </a:p>
          <a:p>
            <a:r>
              <a:rPr lang="zh-CN" altLang="en-US" sz="1400" dirty="0"/>
              <a:t>Infinity	isFinite	isNaN	isPrototypeOf	length</a:t>
            </a:r>
          </a:p>
          <a:p>
            <a:r>
              <a:rPr lang="zh-CN" altLang="en-US" sz="1400" dirty="0"/>
              <a:t>Math	NaN	name	Number	Object</a:t>
            </a:r>
          </a:p>
          <a:p>
            <a:r>
              <a:rPr lang="zh-CN" altLang="en-US" sz="1400" dirty="0"/>
              <a:t>prototype	String	toString	undefined	valueOf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60705" y="4716780"/>
            <a:ext cx="2697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sym typeface="+mn-ea"/>
              </a:rPr>
              <a:t>内置对象、属性和方法：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07680" cy="38100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JavaScript</a:t>
            </a:r>
            <a:r>
              <a:rPr lang="zh-CN" altLang="en-US" sz="1800" dirty="0"/>
              <a:t>中的数据类型分为</a:t>
            </a:r>
            <a:r>
              <a:rPr lang="zh-CN" altLang="en-US" sz="1800" dirty="0">
                <a:solidFill>
                  <a:srgbClr val="FF0000"/>
                </a:solidFill>
              </a:rPr>
              <a:t>字符型、数值型、布尔型、</a:t>
            </a:r>
            <a:r>
              <a:rPr lang="en-US" altLang="zh-CN" sz="1800" dirty="0">
                <a:solidFill>
                  <a:srgbClr val="FF0000"/>
                </a:solidFill>
              </a:rPr>
              <a:t>Null</a:t>
            </a:r>
            <a:r>
              <a:rPr lang="zh-CN" altLang="en-US" sz="1800" dirty="0">
                <a:solidFill>
                  <a:srgbClr val="FF0000"/>
                </a:solidFill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</a:rPr>
              <a:t>Undefined</a:t>
            </a:r>
            <a:r>
              <a:rPr lang="zh-CN" altLang="en-US" sz="1800" dirty="0">
                <a:solidFill>
                  <a:srgbClr val="FF0000"/>
                </a:solidFill>
              </a:rPr>
              <a:t>和对象</a:t>
            </a:r>
            <a:r>
              <a:rPr lang="zh-CN" altLang="en-US" sz="1800" dirty="0"/>
              <a:t>六种类型。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800" dirty="0"/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1.</a:t>
            </a:r>
            <a:r>
              <a:rPr lang="zh-CN" altLang="en-US" sz="1800" dirty="0"/>
              <a:t>字符型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   字符型数据又称为字符串，由若干个字符组成，并且用单引号或双引号封装起来，如</a:t>
            </a:r>
            <a:r>
              <a:rPr lang="en-US" altLang="zh-CN" sz="1800" dirty="0">
                <a:solidFill>
                  <a:srgbClr val="FF0000"/>
                </a:solidFill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</a:rPr>
              <a:t>你好！</a:t>
            </a:r>
            <a:r>
              <a:rPr lang="en-US" altLang="zh-CN" sz="1800" dirty="0">
                <a:solidFill>
                  <a:srgbClr val="FF0000"/>
                </a:solidFill>
              </a:rPr>
              <a:t>”</a:t>
            </a:r>
            <a:r>
              <a:rPr lang="zh-CN" altLang="en-US" sz="1800" dirty="0">
                <a:solidFill>
                  <a:srgbClr val="FF0000"/>
                </a:solidFill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</a:rPr>
              <a:t>‘</a:t>
            </a:r>
            <a:r>
              <a:rPr lang="zh-CN" altLang="en-US" sz="1800" dirty="0">
                <a:solidFill>
                  <a:srgbClr val="FF0000"/>
                </a:solidFill>
              </a:rPr>
              <a:t>你好！</a:t>
            </a:r>
            <a:r>
              <a:rPr lang="en-US" altLang="zh-CN" sz="1800" dirty="0">
                <a:solidFill>
                  <a:srgbClr val="FF0000"/>
                </a:solidFill>
              </a:rPr>
              <a:t>’</a:t>
            </a:r>
            <a:r>
              <a:rPr lang="zh-CN" altLang="en-US" sz="1800" dirty="0">
                <a:solidFill>
                  <a:srgbClr val="FF0000"/>
                </a:solidFill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</a:rPr>
              <a:t>学习</a:t>
            </a:r>
            <a:r>
              <a:rPr lang="en-US" altLang="zh-CN" sz="1800" dirty="0">
                <a:solidFill>
                  <a:srgbClr val="FF0000"/>
                </a:solidFill>
              </a:rPr>
              <a:t>‘</a:t>
            </a:r>
            <a:r>
              <a:rPr lang="zh-CN" altLang="en-US" sz="1800" dirty="0">
                <a:solidFill>
                  <a:srgbClr val="FF0000"/>
                </a:solidFill>
              </a:rPr>
              <a:t>语言</a:t>
            </a:r>
            <a:r>
              <a:rPr lang="en-US" altLang="zh-CN" sz="1800" dirty="0">
                <a:solidFill>
                  <a:srgbClr val="FF0000"/>
                </a:solidFill>
              </a:rPr>
              <a:t>’”</a:t>
            </a:r>
            <a:r>
              <a:rPr lang="zh-CN" altLang="zh-CN" sz="1800" dirty="0"/>
              <a:t>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在使用字符串的过程中，需要</a:t>
            </a:r>
            <a:r>
              <a:rPr lang="zh-CN" altLang="en-US" sz="1800" dirty="0">
                <a:highlight>
                  <a:srgbClr val="FFFF00"/>
                </a:highlight>
              </a:rPr>
              <a:t>注意单引号、双引号必须成对使用相互包含，但不能交叉。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/>
              <a:t>    </a:t>
            </a:r>
            <a:r>
              <a:rPr lang="zh-CN" sz="1800" dirty="0"/>
              <a:t>如：</a:t>
            </a:r>
            <a:r>
              <a:rPr lang="en-US" altLang="zh-CN" sz="1800" dirty="0">
                <a:solidFill>
                  <a:srgbClr val="FF0000"/>
                </a:solidFill>
              </a:rPr>
              <a:t>“</a:t>
            </a:r>
            <a:r>
              <a:rPr lang="zh-CN" altLang="en-US" sz="1800" dirty="0"/>
              <a:t>学习不是一件</a:t>
            </a:r>
            <a:r>
              <a:rPr lang="en-US" altLang="zh-CN" sz="1800" dirty="0"/>
              <a:t>‘</a:t>
            </a:r>
            <a:r>
              <a:rPr lang="zh-CN" altLang="en-US" sz="1800" dirty="0"/>
              <a:t>容易</a:t>
            </a:r>
            <a:r>
              <a:rPr lang="en-US" altLang="zh-CN" sz="1800" dirty="0">
                <a:solidFill>
                  <a:srgbClr val="FF0000"/>
                </a:solidFill>
              </a:rPr>
              <a:t>”</a:t>
            </a:r>
            <a:r>
              <a:rPr lang="zh-CN" altLang="en-US" sz="1800" dirty="0"/>
              <a:t>的事件</a:t>
            </a:r>
            <a:r>
              <a:rPr lang="en-US" altLang="zh-CN" sz="1800" dirty="0"/>
              <a:t>’(</a:t>
            </a:r>
            <a:r>
              <a:rPr lang="zh-CN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×</a:t>
            </a:r>
            <a:r>
              <a:rPr lang="zh-CN" altLang="en-US" sz="1800" dirty="0">
                <a:cs typeface="Arial" panose="020B0604020202020204" pitchFamily="34" charset="0"/>
              </a:rPr>
              <a:t>，</a:t>
            </a:r>
            <a:r>
              <a:rPr lang="zh-CN" altLang="en-US" sz="1800" dirty="0"/>
              <a:t>交叉错误</a:t>
            </a:r>
            <a:r>
              <a:rPr lang="en-US" altLang="zh-CN" sz="1800" dirty="0"/>
              <a:t>)</a:t>
            </a:r>
            <a:r>
              <a:rPr lang="zh-CN" altLang="zh-CN" sz="1800" dirty="0"/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数据类型</a:t>
            </a:r>
            <a:r>
              <a:rPr lang="en-US" altLang="zh-CN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-</a:t>
            </a:r>
            <a:r>
              <a:rPr lang="zh-CN" altLang="en-US" kern="1200" dirty="0">
                <a:solidFill>
                  <a:schemeClr val="tx1"/>
                </a:solidFill>
                <a:latin typeface="+mj-lt"/>
                <a:cs typeface="+mj-lt"/>
              </a:rPr>
              <a:t>数值型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485900"/>
            <a:ext cx="8107680" cy="3886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</a:rPr>
              <a:t>2.</a:t>
            </a:r>
            <a:r>
              <a:rPr lang="zh-CN" altLang="zh-CN" sz="1800" dirty="0">
                <a:latin typeface="+mj-ea"/>
                <a:ea typeface="+mj-ea"/>
                <a:cs typeface="+mj-ea"/>
              </a:rPr>
              <a:t>数值型：又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分为整型、浮点型、内部常量以及特殊值。</a:t>
            </a: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zh-CN" altLang="en-US" sz="1800" dirty="0">
                <a:latin typeface="+mj-ea"/>
                <a:ea typeface="+mj-ea"/>
                <a:cs typeface="+mj-ea"/>
              </a:rPr>
              <a:t>整型数值即整数，例如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100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、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-3500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、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0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等都是整数。</a:t>
            </a: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整数表示方法有十进制表示、八进制和十六进制的方式表示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highlight>
                  <a:srgbClr val="FFFF00"/>
                </a:highlight>
                <a:latin typeface="+mj-ea"/>
                <a:ea typeface="+mj-ea"/>
                <a:cs typeface="+mj-ea"/>
              </a:rPr>
              <a:t>使用</a:t>
            </a:r>
            <a:r>
              <a:rPr lang="en-US" altLang="zh-CN" sz="1800" dirty="0">
                <a:highlight>
                  <a:srgbClr val="FFFF00"/>
                </a:highlight>
                <a:latin typeface="+mj-ea"/>
                <a:ea typeface="+mj-ea"/>
                <a:cs typeface="+mj-ea"/>
              </a:rPr>
              <a:t>0</a:t>
            </a:r>
            <a:r>
              <a:rPr lang="zh-CN" altLang="en-US" sz="1800" dirty="0">
                <a:highlight>
                  <a:srgbClr val="FFFF00"/>
                </a:highlight>
                <a:latin typeface="+mj-ea"/>
                <a:ea typeface="+mj-ea"/>
                <a:cs typeface="+mj-ea"/>
              </a:rPr>
              <a:t>打头的整数是八进制整数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，如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017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，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-035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等都是合法的八进制整数。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latin typeface="+mj-ea"/>
                <a:ea typeface="+mj-ea"/>
                <a:cs typeface="+mj-ea"/>
              </a:rPr>
              <a:t>使用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0x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后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0X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打头的整数是十六进制整数，如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0x16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，</a:t>
            </a:r>
            <a:r>
              <a:rPr lang="en-US" altLang="zh-CN" sz="1800" dirty="0">
                <a:latin typeface="+mj-ea"/>
                <a:ea typeface="+mj-ea"/>
                <a:cs typeface="+mj-ea"/>
              </a:rPr>
              <a:t>0X3A89</a:t>
            </a:r>
            <a:r>
              <a:rPr lang="zh-CN" altLang="en-US" sz="1800" dirty="0">
                <a:latin typeface="+mj-ea"/>
                <a:ea typeface="+mj-ea"/>
                <a:cs typeface="+mj-ea"/>
              </a:rPr>
              <a:t>等都是合法的十六进制整数。</a:t>
            </a:r>
          </a:p>
          <a:p>
            <a:pPr>
              <a:lnSpc>
                <a:spcPct val="90000"/>
              </a:lnSpc>
            </a:pPr>
            <a:endParaRPr lang="zh-CN" altLang="en-US" sz="1800" dirty="0">
              <a:latin typeface="+mj-ea"/>
              <a:ea typeface="+mj-ea"/>
              <a:cs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502285" y="4065270"/>
            <a:ext cx="7813040" cy="18624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浮点数，例如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3.53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、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-534.87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等都是浮点型数值。浮点数还可以采用科学计数法进行表示，如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3.5E15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表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示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3.5×10</a:t>
            </a:r>
            <a:r>
              <a:rPr lang="en-US" altLang="zh-CN" sz="1800" baseline="30000" dirty="0">
                <a:solidFill>
                  <a:schemeClr val="tx1"/>
                </a:solidFill>
                <a:uFillTx/>
                <a:latin typeface="+mj-ea"/>
                <a:ea typeface="+mj-ea"/>
                <a:cs typeface="+mj-ea"/>
                <a:sym typeface="+mn-ea"/>
              </a:rPr>
              <a:t>15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。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sz="1800" dirty="0"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内部常量：</a:t>
            </a:r>
            <a:r>
              <a:rPr lang="en-US" altLang="zh-CN" sz="1800" dirty="0" err="1">
                <a:latin typeface="+mj-ea"/>
                <a:ea typeface="+mj-ea"/>
                <a:cs typeface="+mj-ea"/>
                <a:sym typeface="+mn-ea"/>
              </a:rPr>
              <a:t>Math.E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(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自然对数的底数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e)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、</a:t>
            </a:r>
            <a:r>
              <a:rPr lang="en-US" altLang="zh-CN" sz="1800" dirty="0" err="1">
                <a:latin typeface="+mj-ea"/>
                <a:ea typeface="+mj-ea"/>
                <a:cs typeface="+mj-ea"/>
                <a:sym typeface="+mn-ea"/>
              </a:rPr>
              <a:t>Math.PI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等。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特殊值：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  <a:cs typeface="+mj-ea"/>
                <a:sym typeface="+mn-ea"/>
              </a:rPr>
              <a:t>Infinity</a:t>
            </a: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  <a:cs typeface="+mj-ea"/>
                <a:sym typeface="+mn-ea"/>
              </a:rPr>
              <a:t>（</a:t>
            </a:r>
            <a:r>
              <a:rPr lang="zh-CN" altLang="en-US" sz="1800" dirty="0">
                <a:highlight>
                  <a:srgbClr val="FFFF00"/>
                </a:highlight>
                <a:latin typeface="+mj-ea"/>
                <a:ea typeface="+mj-ea"/>
                <a:cs typeface="+mj-ea"/>
                <a:sym typeface="+mn-ea"/>
              </a:rPr>
              <a:t>∞</a:t>
            </a: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  <a:cs typeface="+mj-ea"/>
                <a:sym typeface="+mn-ea"/>
              </a:rPr>
              <a:t>）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、</a:t>
            </a:r>
            <a:r>
              <a:rPr lang="en-US" altLang="zh-CN" sz="1800" dirty="0" err="1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NaN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(Not a Number)</a:t>
            </a:r>
            <a:r>
              <a:rPr lang="zh-CN" altLang="en-US" sz="1800" dirty="0">
                <a:latin typeface="+mj-lt"/>
                <a:cs typeface="+mj-lt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idx="1"/>
          </p:nvPr>
        </p:nvSpPr>
        <p:spPr>
          <a:xfrm>
            <a:off x="533400" y="1381125"/>
            <a:ext cx="8458200" cy="38862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&lt;body&gt;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&lt;script type="text/</a:t>
            </a:r>
            <a:r>
              <a:rPr lang="en-US" altLang="zh-CN" sz="1800" dirty="0" err="1"/>
              <a:t>javascript</a:t>
            </a:r>
            <a:r>
              <a:rPr lang="en-US" altLang="zh-CN" sz="1800" dirty="0"/>
              <a:t>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var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3500,f = 3.5,s = 3.5e3;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var</a:t>
            </a:r>
            <a:r>
              <a:rPr lang="en-US" altLang="zh-CN" sz="1800" dirty="0"/>
              <a:t> o = 012,h = 0x12;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document.write</a:t>
            </a:r>
            <a:r>
              <a:rPr lang="en-US" altLang="zh-CN" sz="1800" dirty="0"/>
              <a:t>("</a:t>
            </a:r>
            <a:r>
              <a:rPr lang="zh-CN" altLang="en-US" sz="1800" dirty="0"/>
              <a:t>十进制整型数</a:t>
            </a:r>
            <a:r>
              <a:rPr lang="en-US" altLang="zh-CN" sz="1800" dirty="0"/>
              <a:t>"+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+"</a:t>
            </a:r>
            <a:r>
              <a:rPr lang="zh-CN" altLang="en-US" sz="1800" dirty="0"/>
              <a:t>的输出结果：</a:t>
            </a:r>
            <a:r>
              <a:rPr lang="en-US" altLang="zh-CN" sz="1800" dirty="0"/>
              <a:t>"+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+"&lt;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document.write</a:t>
            </a:r>
            <a:r>
              <a:rPr lang="en-US" altLang="zh-CN" sz="1800" dirty="0"/>
              <a:t>("</a:t>
            </a:r>
            <a:r>
              <a:rPr lang="zh-CN" altLang="en-US" sz="1800" dirty="0"/>
              <a:t>十进制浮点型数</a:t>
            </a:r>
            <a:r>
              <a:rPr lang="en-US" altLang="zh-CN" sz="1800" dirty="0"/>
              <a:t>"+f+"</a:t>
            </a:r>
            <a:r>
              <a:rPr lang="zh-CN" altLang="en-US" sz="1800" dirty="0"/>
              <a:t>的输出结果：</a:t>
            </a:r>
            <a:r>
              <a:rPr lang="en-US" altLang="zh-CN" sz="1800" dirty="0"/>
              <a:t>"+f+"&lt;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document.write</a:t>
            </a:r>
            <a:r>
              <a:rPr lang="en-US" altLang="zh-CN" sz="1800" dirty="0"/>
              <a:t>("</a:t>
            </a:r>
            <a:r>
              <a:rPr lang="zh-CN" altLang="en-US" sz="1800" dirty="0"/>
              <a:t>十进制数科学计数法</a:t>
            </a:r>
            <a:r>
              <a:rPr lang="en-US" altLang="zh-CN" sz="1800" dirty="0"/>
              <a:t>3.5e3</a:t>
            </a:r>
            <a:r>
              <a:rPr lang="zh-CN" altLang="en-US" sz="1800" dirty="0"/>
              <a:t>的输出结果：</a:t>
            </a:r>
            <a:r>
              <a:rPr lang="en-US" altLang="zh-CN" sz="1800" dirty="0"/>
              <a:t>"+s+"&lt;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document.write</a:t>
            </a:r>
            <a:r>
              <a:rPr lang="en-US" altLang="zh-CN" sz="1800" dirty="0"/>
              <a:t>("</a:t>
            </a:r>
            <a:r>
              <a:rPr lang="zh-CN" altLang="en-US" sz="1800" dirty="0"/>
              <a:t>八进制整型数</a:t>
            </a:r>
            <a:r>
              <a:rPr lang="en-US" altLang="zh-CN" sz="1800" dirty="0"/>
              <a:t>012</a:t>
            </a:r>
            <a:r>
              <a:rPr lang="zh-CN" altLang="en-US" sz="1800" dirty="0"/>
              <a:t>的输出结果：</a:t>
            </a:r>
            <a:r>
              <a:rPr lang="en-US" altLang="zh-CN" sz="1800" dirty="0"/>
              <a:t>"+o+"&lt;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document.write</a:t>
            </a:r>
            <a:r>
              <a:rPr lang="en-US" altLang="zh-CN" sz="1800" dirty="0"/>
              <a:t>("</a:t>
            </a:r>
            <a:r>
              <a:rPr lang="zh-CN" altLang="en-US" sz="1800" dirty="0"/>
              <a:t>十六进制整型数</a:t>
            </a:r>
            <a:r>
              <a:rPr lang="en-US" altLang="zh-CN" sz="1800" dirty="0"/>
              <a:t>0x12</a:t>
            </a:r>
            <a:r>
              <a:rPr lang="zh-CN" altLang="en-US" sz="1800" dirty="0"/>
              <a:t>的输出结果：</a:t>
            </a:r>
            <a:r>
              <a:rPr lang="en-US" altLang="zh-CN" sz="1800" dirty="0"/>
              <a:t>"+h+"&lt;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&lt;/script&gt;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&lt;/body&gt;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1800" dirty="0"/>
          </a:p>
        </p:txBody>
      </p:sp>
      <p:sp>
        <p:nvSpPr>
          <p:cNvPr id="18433" name="Rectangle 2"/>
          <p:cNvSpPr>
            <a:spLocks noGrp="1" noChangeArrowheads="1"/>
          </p:cNvSpPr>
          <p:nvPr/>
        </p:nvSpPr>
        <p:spPr>
          <a:xfrm>
            <a:off x="533400" y="523240"/>
            <a:ext cx="7761288" cy="56792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0488" tIns="44450" rIns="90488" bIns="44450" numCol="1" anchor="ctr" anchorCtr="0" compatLnSpc="1"/>
          <a:lstStyle>
            <a:lvl1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4572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9144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3716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18288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a typeface="微软雅黑" panose="020B0503020204020204" charset="-122"/>
                <a:cs typeface="+mj-lt"/>
                <a:sym typeface="+mn-ea"/>
              </a:rPr>
              <a:t>数据类型例子</a:t>
            </a:r>
            <a:endParaRPr lang="en-US" altLang="zh-CN" sz="1800" dirty="0">
              <a:solidFill>
                <a:schemeClr val="tx1"/>
              </a:solidFill>
              <a:ea typeface="微软雅黑" panose="020B0503020204020204" charset="-122"/>
              <a:cs typeface="+mj-lt"/>
              <a:sym typeface="+mn-ea"/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 t="25590"/>
          <a:stretch>
            <a:fillRect/>
          </a:stretch>
        </p:blipFill>
        <p:spPr bwMode="auto">
          <a:xfrm>
            <a:off x="2041525" y="4525010"/>
            <a:ext cx="6253480" cy="1877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  <a:sym typeface="+mn-ea"/>
              </a:rPr>
              <a:t>数据类型</a:t>
            </a:r>
            <a:r>
              <a:rPr lang="en-US" altLang="zh-CN" kern="1200" dirty="0">
                <a:solidFill>
                  <a:schemeClr val="tx1"/>
                </a:solidFill>
                <a:cs typeface="+mn-cs"/>
                <a:sym typeface="+mn-ea"/>
              </a:rPr>
              <a:t>-</a:t>
            </a:r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布尔型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00810"/>
            <a:ext cx="8108950" cy="45231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3.Boolean</a:t>
            </a:r>
            <a:r>
              <a:rPr lang="zh-CN" altLang="zh-CN" sz="1800" dirty="0"/>
              <a:t>（</a:t>
            </a:r>
            <a:r>
              <a:rPr lang="zh-CN" altLang="en-US" sz="1800" dirty="0"/>
              <a:t>布尔型）是只含有</a:t>
            </a:r>
            <a:r>
              <a:rPr lang="en-US" altLang="zh-CN" sz="1800" dirty="0"/>
              <a:t>true</a:t>
            </a:r>
            <a:r>
              <a:rPr lang="zh-CN" altLang="en-US" sz="1800" dirty="0"/>
              <a:t>和</a:t>
            </a:r>
            <a:r>
              <a:rPr lang="en-US" altLang="zh-CN" sz="1800" dirty="0"/>
              <a:t>false</a:t>
            </a:r>
            <a:r>
              <a:rPr lang="zh-CN" altLang="en-US" sz="1800" dirty="0"/>
              <a:t>这两个值的数据类型，表示“真”或“假”。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布尔型数据常用在关系、逻辑等运算中，运算的结果往往就是</a:t>
            </a:r>
            <a:r>
              <a:rPr lang="en-US" altLang="zh-CN" sz="1800" dirty="0"/>
              <a:t>true</a:t>
            </a:r>
            <a:r>
              <a:rPr lang="zh-CN" altLang="en-US" sz="1800" dirty="0"/>
              <a:t>或者</a:t>
            </a:r>
            <a:r>
              <a:rPr lang="en-US" altLang="zh-CN" sz="1800" dirty="0"/>
              <a:t>false</a:t>
            </a:r>
            <a:r>
              <a:rPr lang="zh-CN" altLang="en-US" sz="1800" dirty="0"/>
              <a:t>。例如</a:t>
            </a:r>
            <a:r>
              <a:rPr lang="en-US" altLang="zh-CN" sz="1800" dirty="0"/>
              <a:t>1&lt;2</a:t>
            </a:r>
            <a:r>
              <a:rPr lang="zh-CN" altLang="en-US" sz="1800" dirty="0"/>
              <a:t>的比较结果是</a:t>
            </a:r>
            <a:r>
              <a:rPr lang="en-US" altLang="zh-CN" sz="1800" dirty="0"/>
              <a:t>true</a:t>
            </a:r>
            <a:r>
              <a:rPr lang="zh-CN" altLang="en-US" sz="1800" dirty="0"/>
              <a:t>，而</a:t>
            </a:r>
            <a:r>
              <a:rPr lang="en-US" altLang="zh-CN" sz="1800" dirty="0"/>
              <a:t>3==4</a:t>
            </a:r>
            <a:r>
              <a:rPr lang="zh-CN" altLang="en-US" sz="1800" dirty="0"/>
              <a:t>的比较结果是</a:t>
            </a:r>
            <a:r>
              <a:rPr lang="en-US" altLang="zh-CN" sz="1800" dirty="0"/>
              <a:t>false</a:t>
            </a:r>
            <a:r>
              <a:rPr lang="zh-CN" altLang="en-US" sz="1800" dirty="0"/>
              <a:t>。此外，布尔型变量还常用在控制结构的语句中，如</a:t>
            </a:r>
            <a:r>
              <a:rPr lang="en-US" altLang="zh-CN" sz="1800" dirty="0"/>
              <a:t>if</a:t>
            </a:r>
            <a:r>
              <a:rPr lang="zh-CN" altLang="en-US" sz="1800" dirty="0"/>
              <a:t>语句等。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JavaScript</a:t>
            </a:r>
            <a:r>
              <a:rPr lang="zh-CN" altLang="en-US" sz="1800" dirty="0"/>
              <a:t>中，通常采用</a:t>
            </a:r>
            <a:r>
              <a:rPr lang="en-US" altLang="zh-CN" sz="1800" dirty="0"/>
              <a:t>true</a:t>
            </a:r>
            <a:r>
              <a:rPr lang="zh-CN" altLang="en-US" sz="1800" dirty="0"/>
              <a:t>和</a:t>
            </a:r>
            <a:r>
              <a:rPr lang="en-US" altLang="zh-CN" sz="1800" dirty="0"/>
              <a:t>false</a:t>
            </a:r>
            <a:r>
              <a:rPr lang="zh-CN" altLang="en-US" sz="1800" dirty="0"/>
              <a:t>表示布尔型数据，但也可将他们转换为其他类型的数据，</a:t>
            </a:r>
            <a:r>
              <a:rPr lang="zh-CN" altLang="en-US" sz="1800" dirty="0">
                <a:highlight>
                  <a:srgbClr val="FFFF00"/>
                </a:highlight>
              </a:rPr>
              <a:t>例如可将值为</a:t>
            </a:r>
            <a:r>
              <a:rPr lang="en-US" altLang="zh-CN" sz="1800" dirty="0">
                <a:highlight>
                  <a:srgbClr val="FFFF00"/>
                </a:highlight>
              </a:rPr>
              <a:t>true</a:t>
            </a:r>
            <a:r>
              <a:rPr lang="zh-CN" altLang="en-US" sz="1800" dirty="0">
                <a:highlight>
                  <a:srgbClr val="FFFF00"/>
                </a:highlight>
              </a:rPr>
              <a:t>的布尔型数据转换为整数</a:t>
            </a:r>
            <a:r>
              <a:rPr lang="en-US" altLang="zh-CN" sz="1800" dirty="0">
                <a:highlight>
                  <a:srgbClr val="FFFF00"/>
                </a:highlight>
              </a:rPr>
              <a:t>1</a:t>
            </a:r>
            <a:r>
              <a:rPr lang="zh-CN" altLang="en-US" sz="1800" dirty="0">
                <a:highlight>
                  <a:srgbClr val="FFFF00"/>
                </a:highlight>
              </a:rPr>
              <a:t>，而将值为</a:t>
            </a:r>
            <a:r>
              <a:rPr lang="en-US" altLang="zh-CN" sz="1800" dirty="0">
                <a:highlight>
                  <a:srgbClr val="FFFF00"/>
                </a:highlight>
              </a:rPr>
              <a:t>false</a:t>
            </a:r>
            <a:r>
              <a:rPr lang="zh-CN" altLang="en-US" sz="1800" dirty="0">
                <a:highlight>
                  <a:srgbClr val="FFFF00"/>
                </a:highlight>
              </a:rPr>
              <a:t>的布尔型数据转换为整数</a:t>
            </a:r>
            <a:r>
              <a:rPr lang="en-US" altLang="zh-CN" sz="1800" dirty="0">
                <a:highlight>
                  <a:srgbClr val="FFFF00"/>
                </a:highlight>
              </a:rPr>
              <a:t>0</a:t>
            </a:r>
            <a:r>
              <a:rPr lang="zh-CN" altLang="en-US" sz="1800" dirty="0">
                <a:highlight>
                  <a:srgbClr val="FFFF00"/>
                </a:highlight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  <a:sym typeface="+mn-ea"/>
              </a:rPr>
              <a:t>数据类型</a:t>
            </a:r>
            <a:r>
              <a:rPr lang="en-US" altLang="zh-CN" kern="1200" dirty="0">
                <a:solidFill>
                  <a:schemeClr val="tx1"/>
                </a:solidFill>
                <a:cs typeface="+mn-cs"/>
                <a:sym typeface="+mn-ea"/>
              </a:rPr>
              <a:t>-</a:t>
            </a:r>
            <a:r>
              <a:rPr lang="zh-CN" altLang="en-US" kern="1200" dirty="0">
                <a:solidFill>
                  <a:schemeClr val="tx1"/>
                </a:solidFill>
                <a:cs typeface="+mn-cs"/>
                <a:sym typeface="+mn-ea"/>
              </a:rPr>
              <a:t>其它类型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45444"/>
            <a:ext cx="8509000" cy="3896678"/>
          </a:xfrm>
        </p:spPr>
        <p:txBody>
          <a:bodyPr>
            <a:normAutofit/>
          </a:bodyPr>
          <a:lstStyle/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4.Null </a:t>
            </a:r>
            <a:r>
              <a:rPr lang="en-US" altLang="zh-CN" sz="1800" kern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+mj-lt"/>
                <a:sym typeface="+mn-ea"/>
              </a:rPr>
              <a:t>: </a:t>
            </a:r>
            <a:r>
              <a:rPr lang="en-US" altLang="zh-CN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null,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表示空</a:t>
            </a:r>
            <a:r>
              <a:rPr lang="en-US" altLang="zh-CN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,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不是</a:t>
            </a:r>
            <a:r>
              <a:rPr lang="en-US" altLang="zh-CN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0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，</a:t>
            </a:r>
            <a:r>
              <a:rPr lang="en-US" altLang="zh-CN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0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是有值的。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5.Undefined</a:t>
            </a:r>
            <a:r>
              <a:rPr lang="zh-CN" altLang="en-US" sz="1800" kern="1200" dirty="0">
                <a:solidFill>
                  <a:schemeClr val="accent1"/>
                </a:solidFill>
                <a:latin typeface="+mj-lt"/>
                <a:cs typeface="+mj-lt"/>
                <a:sym typeface="+mn-ea"/>
              </a:rPr>
              <a:t>：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变量创建后</a:t>
            </a:r>
            <a:r>
              <a:rPr lang="zh-CN" altLang="en-US" sz="1800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cs typeface="+mj-lt"/>
                <a:sym typeface="+mn-ea"/>
              </a:rPr>
              <a:t>未赋值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（数字：</a:t>
            </a:r>
            <a:r>
              <a:rPr lang="en-US" altLang="zh-CN" sz="1800" kern="1200" dirty="0" err="1">
                <a:solidFill>
                  <a:schemeClr val="tx1"/>
                </a:solidFill>
                <a:latin typeface="+mj-lt"/>
                <a:cs typeface="+mj-lt"/>
                <a:sym typeface="+mn-ea"/>
              </a:rPr>
              <a:t>NaN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；字符串：</a:t>
            </a:r>
            <a:r>
              <a:rPr lang="en-US" altLang="zh-CN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Undefined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；</a:t>
            </a:r>
            <a:r>
              <a:rPr lang="en-US" altLang="zh-CN" sz="1800" kern="1200" dirty="0" err="1">
                <a:solidFill>
                  <a:schemeClr val="tx1"/>
                </a:solidFill>
                <a:latin typeface="+mj-lt"/>
                <a:cs typeface="+mj-lt"/>
                <a:sym typeface="+mn-ea"/>
              </a:rPr>
              <a:t>Boolean:false</a:t>
            </a:r>
            <a:r>
              <a:rPr lang="zh-CN" altLang="en-US" sz="1800" kern="12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） 。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6.Object</a:t>
            </a:r>
            <a:r>
              <a:rPr lang="en-US" altLang="zh-CN" sz="1800" kern="1200" dirty="0">
                <a:solidFill>
                  <a:schemeClr val="accent1"/>
                </a:solidFill>
                <a:latin typeface="+mj-lt"/>
                <a:cs typeface="+mj-lt"/>
                <a:sym typeface="+mn-ea"/>
              </a:rPr>
              <a:t>:</a:t>
            </a:r>
            <a:r>
              <a:rPr lang="zh-CN" altLang="en-US" sz="1800" kern="1200" dirty="0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对象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也是</a:t>
            </a:r>
            <a:r>
              <a:rPr lang="en-US" altLang="zh-CN" sz="1800" kern="1200" dirty="0">
                <a:latin typeface="+mj-lt"/>
                <a:cs typeface="+mj-lt"/>
                <a:sym typeface="+mn-ea"/>
              </a:rPr>
              <a:t>JS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的重要组成部分，如</a:t>
            </a:r>
            <a:r>
              <a:rPr lang="en-US" altLang="zh-CN" sz="1800" kern="1200" dirty="0">
                <a:latin typeface="+mj-lt"/>
                <a:cs typeface="+mj-lt"/>
                <a:sym typeface="+mn-ea"/>
              </a:rPr>
              <a:t>date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、</a:t>
            </a:r>
            <a:r>
              <a:rPr lang="en-US" altLang="zh-CN" sz="1800" kern="1200" dirty="0">
                <a:latin typeface="+mj-lt"/>
                <a:cs typeface="+mj-lt"/>
                <a:sym typeface="+mn-ea"/>
              </a:rPr>
              <a:t>window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、</a:t>
            </a:r>
            <a:r>
              <a:rPr lang="en-US" altLang="zh-CN" sz="1800" kern="1200" dirty="0">
                <a:latin typeface="+mj-lt"/>
                <a:cs typeface="+mj-lt"/>
                <a:sym typeface="+mn-ea"/>
              </a:rPr>
              <a:t>document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等等。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kern="1200" dirty="0">
              <a:latin typeface="+mj-lt"/>
              <a:cs typeface="+mj-lt"/>
              <a:sym typeface="+mn-ea"/>
            </a:endParaRP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kern="1200" dirty="0">
                <a:latin typeface="+mj-lt"/>
                <a:cs typeface="+mj-lt"/>
                <a:sym typeface="+mn-ea"/>
              </a:rPr>
              <a:t>    数据类型之间可以通过函数进行转换。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kern="1200" dirty="0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转换函数如下： 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800" kern="1200" dirty="0" err="1">
                <a:latin typeface="+mj-lt"/>
                <a:cs typeface="+mj-lt"/>
                <a:sym typeface="+mn-ea"/>
              </a:rPr>
              <a:t>Number</a:t>
            </a:r>
            <a:r>
              <a:rPr lang="en-US" altLang="zh-CN" sz="1800" kern="1200" dirty="0">
                <a:latin typeface="+mj-lt"/>
                <a:cs typeface="+mj-lt"/>
                <a:sym typeface="+mn-ea"/>
              </a:rPr>
              <a:t>(value):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把值转换成数字（整型或浮点数）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800" kern="1200" dirty="0">
                <a:latin typeface="+mj-lt"/>
                <a:cs typeface="+mj-lt"/>
                <a:sym typeface="+mn-ea"/>
              </a:rPr>
              <a:t>String(value):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把值转换成字符串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800" kern="1200" dirty="0">
                <a:latin typeface="+mj-lt"/>
                <a:cs typeface="+mj-lt"/>
                <a:sym typeface="+mn-ea"/>
              </a:rPr>
              <a:t>Boolean(value):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把值转换成</a:t>
            </a:r>
            <a:r>
              <a:rPr lang="en-US" altLang="zh-CN" sz="1800" kern="1200" dirty="0">
                <a:latin typeface="+mj-lt"/>
                <a:cs typeface="+mj-lt"/>
                <a:sym typeface="+mn-ea"/>
              </a:rPr>
              <a:t>Boolean</a:t>
            </a:r>
            <a:r>
              <a:rPr lang="zh-CN" altLang="en-US" sz="1800" kern="1200" dirty="0">
                <a:latin typeface="+mj-lt"/>
                <a:cs typeface="+mj-lt"/>
                <a:sym typeface="+mn-ea"/>
              </a:rPr>
              <a:t>类型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变量 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298450" y="1400175"/>
            <a:ext cx="8712835" cy="4495800"/>
          </a:xfrm>
        </p:spPr>
        <p:txBody>
          <a:bodyPr>
            <a:noAutofit/>
          </a:bodyPr>
          <a:lstStyle/>
          <a:p>
            <a:pPr marL="1249680" lvl="1" indent="-993775" defTabSz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None/>
              <a:tabLst>
                <a:tab pos="0" algn="l"/>
                <a:tab pos="900430" algn="l"/>
                <a:tab pos="1259205" algn="l"/>
                <a:tab pos="1341755" algn="l"/>
                <a:tab pos="2698750" algn="l"/>
              </a:tabLst>
            </a:pPr>
            <a:r>
              <a:rPr lang="zh-CN" altLang="en-US" sz="1700" dirty="0">
                <a:solidFill>
                  <a:schemeClr val="tx1"/>
                </a:solidFill>
                <a:sym typeface="+mn-ea"/>
              </a:rPr>
              <a:t>变量：</a:t>
            </a:r>
            <a:r>
              <a:rPr lang="zh-CN" altLang="en-US" sz="1700" b="0" dirty="0">
                <a:solidFill>
                  <a:schemeClr val="tx1"/>
                </a:solidFill>
                <a:sym typeface="+mn-ea"/>
              </a:rPr>
              <a:t>可以保存执行时变化的值的名字，称为“变量”，变量是存储信息的</a:t>
            </a:r>
            <a:r>
              <a:rPr lang="zh-CN" altLang="en-US" sz="1700" b="0" u="sng" dirty="0">
                <a:solidFill>
                  <a:schemeClr val="tx1"/>
                </a:solidFill>
                <a:sym typeface="+mn-ea"/>
              </a:rPr>
              <a:t>容器</a:t>
            </a:r>
            <a:r>
              <a:rPr lang="zh-CN" altLang="en-US" sz="1700" b="0" dirty="0">
                <a:solidFill>
                  <a:schemeClr val="tx1"/>
                </a:solidFill>
                <a:sym typeface="+mn-ea"/>
              </a:rPr>
              <a:t>。</a:t>
            </a:r>
          </a:p>
          <a:p>
            <a:pPr marL="1249680" lvl="1" indent="-993775" defTabSz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None/>
              <a:tabLst>
                <a:tab pos="0" algn="l"/>
                <a:tab pos="900430" algn="l"/>
                <a:tab pos="1259205" algn="l"/>
                <a:tab pos="1341755" algn="l"/>
                <a:tab pos="2698750" algn="l"/>
              </a:tabLst>
            </a:pPr>
            <a:r>
              <a:rPr lang="zh-CN" altLang="en-US" sz="1700" dirty="0">
                <a:solidFill>
                  <a:schemeClr val="tx1"/>
                </a:solidFill>
                <a:sym typeface="+mn-ea"/>
              </a:rPr>
              <a:t>格式： </a:t>
            </a:r>
            <a:r>
              <a:rPr lang="en-US" altLang="zh-CN" sz="1700" b="0" dirty="0" err="1">
                <a:solidFill>
                  <a:srgbClr val="FF0000"/>
                </a:solidFill>
                <a:sym typeface="+mn-ea"/>
              </a:rPr>
              <a:t>var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变量名 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[=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初值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][,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变量名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[=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初值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] …] 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；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7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dirty="0"/>
              <a:t>   </a:t>
            </a:r>
            <a:r>
              <a:rPr lang="en-US" altLang="zh-CN" sz="1700" dirty="0" err="1">
                <a:solidFill>
                  <a:schemeClr val="tx1"/>
                </a:solidFill>
                <a:sym typeface="+mn-ea"/>
              </a:rPr>
              <a:t>var</a:t>
            </a:r>
            <a:r>
              <a:rPr lang="zh-CN" altLang="en-US" sz="1700" dirty="0">
                <a:solidFill>
                  <a:schemeClr val="tx1"/>
                </a:solidFill>
                <a:sym typeface="+mn-ea"/>
              </a:rPr>
              <a:t>作用</a:t>
            </a:r>
            <a:r>
              <a:rPr lang="zh-CN" altLang="en-US" sz="1700" b="0" dirty="0">
                <a:solidFill>
                  <a:schemeClr val="tx1"/>
                </a:solidFill>
                <a:sym typeface="+mn-ea"/>
              </a:rPr>
              <a:t>：声明或</a:t>
            </a:r>
            <a:r>
              <a:rPr lang="zh-CN" altLang="en-US" sz="1700" dirty="0">
                <a:solidFill>
                  <a:schemeClr val="tx1"/>
                </a:solidFill>
                <a:sym typeface="+mn-ea"/>
              </a:rPr>
              <a:t>创建变量</a:t>
            </a:r>
            <a:r>
              <a:rPr lang="zh-CN" altLang="en-US" sz="1700" dirty="0">
                <a:solidFill>
                  <a:srgbClr val="003399"/>
                </a:solidFill>
                <a:sym typeface="+mn-ea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dirty="0">
                <a:solidFill>
                  <a:schemeClr val="accent1"/>
                </a:solidFill>
                <a:sym typeface="+mn-ea"/>
              </a:rPr>
              <a:t>  </a:t>
            </a:r>
            <a:r>
              <a:rPr lang="zh-CN" altLang="en-US" sz="1700" dirty="0">
                <a:solidFill>
                  <a:schemeClr val="tx1"/>
                </a:solidFill>
                <a:sym typeface="+mn-ea"/>
              </a:rPr>
              <a:t> 具有良好编程习惯的程序员应该“</a:t>
            </a:r>
            <a:r>
              <a:rPr lang="zh-CN" altLang="en-US" sz="1700" dirty="0">
                <a:solidFill>
                  <a:srgbClr val="FF0000"/>
                </a:solidFill>
                <a:sym typeface="+mn-ea"/>
              </a:rPr>
              <a:t>先声明变量再使用</a:t>
            </a:r>
            <a:r>
              <a:rPr lang="zh-CN" altLang="en-US" sz="17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1700" dirty="0">
                <a:sym typeface="+mn-ea"/>
              </a:rPr>
              <a:t>。</a:t>
            </a:r>
            <a:r>
              <a:rPr lang="zh-CN" altLang="en-US" sz="1700" dirty="0">
                <a:solidFill>
                  <a:schemeClr val="tx2"/>
                </a:solidFill>
                <a:sym typeface="+mn-ea"/>
              </a:rPr>
              <a:t>例如：</a:t>
            </a:r>
            <a:endParaRPr lang="zh-CN" altLang="en-US" sz="1700" dirty="0">
              <a:solidFill>
                <a:schemeClr val="tx1"/>
              </a:solidFill>
              <a:sym typeface="+mn-ea"/>
            </a:endParaRPr>
          </a:p>
          <a:p>
            <a:pPr marL="365125" lvl="1" indent="0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en-US" sz="1700" b="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en-US" altLang="en-US" sz="1700" b="0" dirty="0" err="1">
                <a:solidFill>
                  <a:srgbClr val="FF0000"/>
                </a:solidFill>
                <a:sym typeface="+mn-ea"/>
              </a:rPr>
              <a:t>var</a:t>
            </a:r>
            <a:r>
              <a:rPr lang="en-US" altLang="en-US" sz="1700" b="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US" sz="1700" b="0" dirty="0" err="1">
                <a:solidFill>
                  <a:srgbClr val="FF0000"/>
                </a:solidFill>
                <a:sym typeface="+mn-ea"/>
              </a:rPr>
              <a:t>userName</a:t>
            </a:r>
            <a:r>
              <a:rPr lang="en-US" altLang="en-US" sz="1700" b="0" dirty="0">
                <a:solidFill>
                  <a:srgbClr val="FF0000"/>
                </a:solidFill>
                <a:sym typeface="+mn-ea"/>
              </a:rPr>
              <a:t> =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““</a:t>
            </a:r>
            <a:r>
              <a:rPr lang="en-US" altLang="en-US" sz="1700" b="0" dirty="0">
                <a:solidFill>
                  <a:srgbClr val="FF0000"/>
                </a:solidFill>
                <a:sym typeface="+mn-ea"/>
              </a:rPr>
              <a:t> ; </a:t>
            </a:r>
            <a:endParaRPr lang="en-US" altLang="zh-CN" sz="1700" b="0" dirty="0">
              <a:solidFill>
                <a:srgbClr val="FF0000"/>
              </a:solidFill>
            </a:endParaRPr>
          </a:p>
          <a:p>
            <a:pPr lvl="1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en-US" altLang="zh-CN" sz="1700" b="0" dirty="0" err="1">
                <a:solidFill>
                  <a:srgbClr val="FF0000"/>
                </a:solidFill>
                <a:sym typeface="+mn-ea"/>
              </a:rPr>
              <a:t>var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x=0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y=2,str1=“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欢迎你学习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JS”;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  </a:t>
            </a:r>
            <a:endParaRPr lang="en-US" altLang="en-US" sz="1700" b="0" dirty="0">
              <a:solidFill>
                <a:srgbClr val="FF0000"/>
              </a:solidFill>
            </a:endParaRPr>
          </a:p>
          <a:p>
            <a:pPr lvl="1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en-US" altLang="zh-CN" sz="1700" b="0" dirty="0" err="1">
                <a:solidFill>
                  <a:srgbClr val="FF0000"/>
                </a:solidFill>
                <a:sym typeface="+mn-ea"/>
              </a:rPr>
              <a:t>var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status = true; </a:t>
            </a:r>
            <a:endParaRPr lang="en-US" altLang="zh-CN" sz="1700" b="0" dirty="0">
              <a:solidFill>
                <a:srgbClr val="FF0000"/>
              </a:solidFill>
            </a:endParaRPr>
          </a:p>
          <a:p>
            <a:pPr lvl="1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en-US" altLang="zh-CN" sz="1700" b="0" dirty="0" err="1">
                <a:solidFill>
                  <a:srgbClr val="FF0000"/>
                </a:solidFill>
                <a:sym typeface="+mn-ea"/>
              </a:rPr>
              <a:t>var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1700" b="0" dirty="0" err="1">
                <a:solidFill>
                  <a:srgbClr val="FF0000"/>
                </a:solidFill>
                <a:sym typeface="+mn-ea"/>
              </a:rPr>
              <a:t>a,b,c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;</a:t>
            </a:r>
          </a:p>
          <a:p>
            <a:pPr lvl="1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en-US" altLang="zh-CN" sz="1700" b="0" dirty="0" err="1">
                <a:solidFill>
                  <a:srgbClr val="FF0000"/>
                </a:solidFill>
                <a:sym typeface="+mn-ea"/>
              </a:rPr>
              <a:t>str_name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=“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张为民</a:t>
            </a:r>
            <a:r>
              <a:rPr lang="en-US" altLang="zh-CN" sz="1700" b="0" dirty="0">
                <a:solidFill>
                  <a:srgbClr val="FF0000"/>
                </a:solidFill>
                <a:sym typeface="+mn-ea"/>
              </a:rPr>
              <a:t>";   //</a:t>
            </a:r>
            <a:r>
              <a:rPr lang="zh-CN" altLang="en-US" sz="1700" b="0" dirty="0">
                <a:solidFill>
                  <a:srgbClr val="FF0000"/>
                </a:solidFill>
                <a:sym typeface="+mn-ea"/>
              </a:rPr>
              <a:t>向未声明的变量赋值</a:t>
            </a:r>
            <a:endParaRPr lang="zh-CN" altLang="en-US" sz="17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1500" dirty="0">
              <a:sym typeface="+mn-ea"/>
            </a:endParaRPr>
          </a:p>
          <a:p>
            <a:pPr marL="0" indent="0">
              <a:buNone/>
            </a:pPr>
            <a:r>
              <a:rPr lang="en-US" altLang="zh-CN" sz="1500" dirty="0">
                <a:sym typeface="+mn-ea"/>
              </a:rPr>
              <a:t>JavaScript</a:t>
            </a:r>
            <a:r>
              <a:rPr sz="1500" dirty="0">
                <a:sym typeface="+mn-ea"/>
              </a:rPr>
              <a:t>是弱类型的脚本语言，变量声明时可以不指定变量类型，而且在使用的过程中也可以随时更改变量的类型。</a:t>
            </a:r>
          </a:p>
          <a:p>
            <a:pPr marL="0" indent="0">
              <a:buNone/>
            </a:pPr>
            <a:endParaRPr lang="zh-CN" altLang="en-US" sz="1500" b="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变量的</a:t>
            </a:r>
            <a:r>
              <a:rPr>
                <a:sym typeface="+mn-ea"/>
              </a:rPr>
              <a:t>作用域</a:t>
            </a:r>
            <a:endParaRPr lang="en-US" altLang="zh-CN" kern="12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298450" y="1400175"/>
            <a:ext cx="8712835" cy="4495800"/>
          </a:xfrm>
        </p:spPr>
        <p:txBody>
          <a:bodyPr>
            <a:no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500" dirty="0">
                <a:sym typeface="+mn-ea"/>
              </a:rPr>
              <a:t>变量的作用域指的是变量的有效范围，</a:t>
            </a:r>
            <a:r>
              <a:rPr lang="en-US" altLang="zh-CN" sz="1500" dirty="0">
                <a:sym typeface="+mn-ea"/>
              </a:rPr>
              <a:t>JavaScript</a:t>
            </a:r>
            <a:r>
              <a:rPr sz="1500" dirty="0">
                <a:sym typeface="+mn-ea"/>
              </a:rPr>
              <a:t>中的变量分为全局变量和局部变量。</a:t>
            </a:r>
            <a:endParaRPr lang="zh-CN" altLang="en-US" sz="15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sz="1500" dirty="0">
              <a:sym typeface="+mn-ea"/>
            </a:endParaRP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500" dirty="0">
                <a:sym typeface="+mn-ea"/>
              </a:rPr>
              <a:t>（</a:t>
            </a:r>
            <a:r>
              <a:rPr lang="en-US" altLang="zh-CN" sz="1500" dirty="0">
                <a:sym typeface="+mn-ea"/>
              </a:rPr>
              <a:t>1</a:t>
            </a:r>
            <a:r>
              <a:rPr sz="1500" dirty="0">
                <a:sym typeface="+mn-ea"/>
              </a:rPr>
              <a:t>）全局变量</a:t>
            </a:r>
            <a:endParaRPr lang="zh-CN" altLang="en-US" sz="15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500" dirty="0">
                <a:highlight>
                  <a:srgbClr val="FFFF00"/>
                </a:highlight>
                <a:sym typeface="+mn-ea"/>
              </a:rPr>
              <a:t>全局变量指的是在函数之外声明的变量</a:t>
            </a:r>
            <a:r>
              <a:rPr sz="1500" dirty="0">
                <a:sym typeface="+mn-ea"/>
              </a:rPr>
              <a:t>，其作用范围是从变量定义之处开始，直至全部的脚本结束，包括其后的文档，函数，脚本等。 </a:t>
            </a:r>
            <a:endParaRPr lang="zh-CN" altLang="en-US" sz="15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sz="1500" dirty="0">
              <a:sym typeface="+mn-ea"/>
            </a:endParaRP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500" dirty="0">
                <a:sym typeface="+mn-ea"/>
              </a:rPr>
              <a:t>（</a:t>
            </a:r>
            <a:r>
              <a:rPr lang="en-US" altLang="zh-CN" sz="1500" dirty="0">
                <a:sym typeface="+mn-ea"/>
              </a:rPr>
              <a:t>2</a:t>
            </a:r>
            <a:r>
              <a:rPr sz="1500" dirty="0">
                <a:sym typeface="+mn-ea"/>
              </a:rPr>
              <a:t>）局部变量</a:t>
            </a:r>
            <a:endParaRPr lang="zh-CN" altLang="en-US" sz="15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500" dirty="0">
                <a:sym typeface="+mn-ea"/>
              </a:rPr>
              <a:t>局部变量指的是在</a:t>
            </a:r>
            <a:r>
              <a:rPr sz="1500" dirty="0">
                <a:highlight>
                  <a:srgbClr val="FFFF00"/>
                </a:highlight>
                <a:sym typeface="+mn-ea"/>
              </a:rPr>
              <a:t>函数内部声明的</a:t>
            </a:r>
            <a:r>
              <a:rPr sz="1500" dirty="0">
                <a:sym typeface="+mn-ea"/>
              </a:rPr>
              <a:t>变量，其作用范围是从声明之处开始，至本函数结束。</a:t>
            </a:r>
            <a:endParaRPr lang="zh-CN" altLang="en-US" sz="15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500" dirty="0">
                <a:sym typeface="+mn-ea"/>
              </a:rPr>
              <a:t>如果在函数内部的局部变量和函数外部的全局变量重名，那么函数内使用变量时，会优先使用局部变量，</a:t>
            </a:r>
            <a:r>
              <a:rPr sz="1500" dirty="0">
                <a:highlight>
                  <a:srgbClr val="FFFF00"/>
                </a:highlight>
                <a:sym typeface="+mn-ea"/>
              </a:rPr>
              <a:t>即在函数内部，局部变量的优先级要高于同名的全局变量</a:t>
            </a:r>
            <a:r>
              <a:rPr sz="1500" dirty="0">
                <a:sym typeface="+mn-ea"/>
              </a:rPr>
              <a:t>。</a:t>
            </a:r>
            <a:endParaRPr lang="zh-CN" altLang="en-US" sz="1500" dirty="0"/>
          </a:p>
          <a:p>
            <a:pPr marL="0" indent="0">
              <a:buNone/>
            </a:pPr>
            <a:endParaRPr lang="zh-CN" altLang="en-US" sz="1500" b="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cs typeface="+mn-cs"/>
              </a:rPr>
              <a:t>转义字符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383030"/>
            <a:ext cx="8509000" cy="913130"/>
          </a:xfrm>
        </p:spPr>
        <p:txBody>
          <a:bodyPr>
            <a:normAutofit fontScale="75000" lnSpcReduction="20000"/>
          </a:bodyPr>
          <a:lstStyle/>
          <a:p>
            <a:pPr marL="0" indent="0">
              <a:buNone/>
            </a:pPr>
            <a:r>
              <a:rPr lang="en-US" altLang="zh-CN" sz="3300" dirty="0">
                <a:ea typeface="宋体" panose="02010600030101010101" pitchFamily="2" charset="-122"/>
              </a:rPr>
              <a:t>       </a:t>
            </a:r>
            <a:r>
              <a:rPr lang="zh-CN" altLang="en-US" sz="3300" dirty="0"/>
              <a:t>如果在字符串中涉及到一些特殊字符如“</a:t>
            </a:r>
            <a:r>
              <a:rPr lang="en-US" altLang="zh-CN" sz="3300" dirty="0"/>
              <a:t>\”</a:t>
            </a:r>
            <a:r>
              <a:rPr lang="zh-CN" altLang="en-US" sz="3300" dirty="0"/>
              <a:t>、“</a:t>
            </a:r>
            <a:r>
              <a:rPr lang="en-US" altLang="zh-CN" sz="3300" dirty="0"/>
              <a:t>"”</a:t>
            </a:r>
            <a:r>
              <a:rPr lang="zh-CN" altLang="en-US" sz="3300" dirty="0"/>
              <a:t>、</a:t>
            </a:r>
            <a:r>
              <a:rPr lang="en-US" altLang="zh-CN" sz="3300" dirty="0"/>
              <a:t>'”</a:t>
            </a:r>
            <a:r>
              <a:rPr lang="zh-CN" altLang="en-US" sz="3300" dirty="0"/>
              <a:t>等，</a:t>
            </a:r>
            <a:r>
              <a:rPr lang="zh-CN" altLang="en-US" sz="3300" dirty="0">
                <a:solidFill>
                  <a:srgbClr val="FF0000"/>
                </a:solidFill>
              </a:rPr>
              <a:t>这些字符无法直接使用</a:t>
            </a:r>
            <a:r>
              <a:rPr lang="zh-CN" altLang="en-US" sz="3300" dirty="0"/>
              <a:t>，需要采用</a:t>
            </a:r>
            <a:r>
              <a:rPr lang="zh-CN" altLang="en-US" sz="3300" dirty="0">
                <a:solidFill>
                  <a:srgbClr val="FF0000"/>
                </a:solidFill>
              </a:rPr>
              <a:t>转义字符</a:t>
            </a:r>
            <a:r>
              <a:rPr lang="zh-CN" altLang="en-US" sz="3300" dirty="0"/>
              <a:t>的方式。</a:t>
            </a:r>
            <a:endParaRPr sz="2800" dirty="0">
              <a:latin typeface="+mj-lt"/>
              <a:ea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371600" y="2533650"/>
          <a:ext cx="6780530" cy="160020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69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8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转义字符</a:t>
                      </a:r>
                      <a:endParaRPr lang="zh-CN" altLang="en-US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代表含义</a:t>
                      </a:r>
                      <a:endParaRPr lang="zh-CN" altLang="en-US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转义字符</a:t>
                      </a:r>
                      <a:endParaRPr lang="zh-CN" altLang="en-US" sz="1600" b="0" u="none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代表含义</a:t>
                      </a:r>
                      <a:endParaRPr lang="zh-CN" altLang="en-US" sz="1600" b="0" u="none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\b</a:t>
                      </a:r>
                      <a:endParaRPr lang="en-US" altLang="zh-CN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退格符</a:t>
                      </a:r>
                      <a:endParaRPr lang="zh-CN" altLang="en-US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\t</a:t>
                      </a:r>
                      <a:endParaRPr lang="en-US" altLang="zh-CN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水平制表符</a:t>
                      </a:r>
                      <a:endParaRPr lang="zh-CN" altLang="en-US" sz="1600" b="0" u="none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\f</a:t>
                      </a:r>
                      <a:endParaRPr lang="en-US" altLang="zh-CN" sz="1600" b="0" u="none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换页符</a:t>
                      </a:r>
                      <a:endParaRPr lang="zh-CN" altLang="en-US" sz="1600" b="0" u="none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\'</a:t>
                      </a:r>
                      <a:endParaRPr lang="en-US" altLang="zh-CN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单引号</a:t>
                      </a:r>
                      <a:endParaRPr lang="zh-CN" altLang="en-US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\n</a:t>
                      </a:r>
                      <a:endParaRPr lang="en-US" altLang="zh-CN" sz="1600" b="0" u="none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换行符</a:t>
                      </a:r>
                      <a:endParaRPr lang="zh-CN" altLang="en-US" sz="1600" b="0" u="none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\"</a:t>
                      </a:r>
                      <a:endParaRPr lang="en-US" altLang="zh-CN" sz="1600" b="0" u="none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双引号</a:t>
                      </a:r>
                      <a:endParaRPr lang="zh-CN" altLang="en-US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\r</a:t>
                      </a:r>
                      <a:endParaRPr lang="en-US" altLang="zh-CN" sz="1600" b="0" u="none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回车符</a:t>
                      </a:r>
                      <a:endParaRPr lang="zh-CN" altLang="en-US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1600" u="none">
                          <a:latin typeface="微软雅黑" panose="020B0503020204020204" charset="-122"/>
                          <a:ea typeface="微软雅黑" panose="020B0503020204020204" charset="-122"/>
                        </a:rPr>
                        <a:t>\\</a:t>
                      </a:r>
                      <a:endParaRPr lang="en-US" altLang="zh-CN" sz="1600" b="0" u="none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600" u="none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反斜线</a:t>
                      </a:r>
                      <a:endParaRPr lang="zh-CN" altLang="en-US" sz="1600" b="0" u="none" dirty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400800" y="4572000"/>
            <a:ext cx="2459355" cy="1207294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4" name="文本框 3"/>
          <p:cNvSpPr txBox="1"/>
          <p:nvPr/>
        </p:nvSpPr>
        <p:spPr>
          <a:xfrm>
            <a:off x="533400" y="4572000"/>
            <a:ext cx="58674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例如：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alert("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姓名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王大有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\n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班级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:11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班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\r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专业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计科系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");</a:t>
            </a:r>
            <a:endParaRPr lang="zh-CN" altLang="en-US" sz="1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cs typeface="+mn-cs"/>
              </a:rPr>
              <a:t>运算符和表达式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08950" cy="3916045"/>
          </a:xfrm>
        </p:spPr>
        <p:txBody>
          <a:bodyPr>
            <a:normAutofit/>
          </a:bodyPr>
          <a:lstStyle/>
          <a:p>
            <a:pPr marL="0" lvl="1" indent="536575">
              <a:buNone/>
            </a:pPr>
            <a:r>
              <a:rPr lang="en-US" altLang="zh-CN" sz="1800" b="0" dirty="0">
                <a:latin typeface="+mj-lt"/>
                <a:cs typeface="+mj-lt"/>
              </a:rPr>
              <a:t>JavaScript</a:t>
            </a:r>
            <a:r>
              <a:rPr lang="zh-CN" altLang="en-US" sz="1800" b="0" u="sng" dirty="0">
                <a:solidFill>
                  <a:srgbClr val="FF0000"/>
                </a:solidFill>
                <a:latin typeface="+mj-lt"/>
                <a:cs typeface="+mj-lt"/>
              </a:rPr>
              <a:t>运算符</a:t>
            </a:r>
            <a:r>
              <a:rPr lang="zh-CN" altLang="en-US" sz="1800" b="0" dirty="0">
                <a:latin typeface="+mj-lt"/>
                <a:cs typeface="+mj-lt"/>
              </a:rPr>
              <a:t>主要有：算术运算符、关系运算符、逻辑运算符、赋值运算符、自增自减运算符、逗号运算符和位运算符等。</a:t>
            </a:r>
          </a:p>
          <a:p>
            <a:pPr marL="0" lvl="1" indent="709295">
              <a:buNone/>
            </a:pPr>
            <a:r>
              <a:rPr lang="zh-CN" altLang="en-US" sz="1800" b="0" dirty="0">
                <a:latin typeface="+mj-lt"/>
                <a:cs typeface="+mj-lt"/>
              </a:rPr>
              <a:t>根据操作数的个数，将运算符分为</a:t>
            </a:r>
            <a:r>
              <a:rPr lang="zh-CN" altLang="en-US" sz="1800" b="0" u="sng" dirty="0">
                <a:solidFill>
                  <a:srgbClr val="FF0000"/>
                </a:solidFill>
                <a:latin typeface="+mj-lt"/>
                <a:cs typeface="+mj-lt"/>
              </a:rPr>
              <a:t>一元运算符、二元运算符和三元运算符</a:t>
            </a:r>
            <a:r>
              <a:rPr lang="zh-CN" altLang="en-US" sz="1800" b="0" dirty="0">
                <a:latin typeface="+mj-lt"/>
                <a:cs typeface="+mj-lt"/>
              </a:rPr>
              <a:t>。</a:t>
            </a:r>
          </a:p>
          <a:p>
            <a:pPr marL="0" indent="0">
              <a:buNone/>
            </a:pPr>
            <a:r>
              <a:rPr lang="zh-CN" altLang="en-US" sz="1800" dirty="0">
                <a:latin typeface="+mj-lt"/>
                <a:cs typeface="+mj-lt"/>
              </a:rPr>
              <a:t>       由操作数（变量、常量、函数调用等）和运算符结合在一起构成的式子称为“</a:t>
            </a:r>
            <a:r>
              <a:rPr lang="zh-CN" altLang="en-US" sz="1800" u="sng" dirty="0">
                <a:solidFill>
                  <a:srgbClr val="FF0000"/>
                </a:solidFill>
                <a:latin typeface="+mj-lt"/>
                <a:cs typeface="+mj-lt"/>
              </a:rPr>
              <a:t>表达式</a:t>
            </a:r>
            <a:r>
              <a:rPr lang="zh-CN" altLang="en-US" sz="1800" dirty="0">
                <a:latin typeface="+mj-lt"/>
                <a:cs typeface="+mj-lt"/>
              </a:rPr>
              <a:t>”，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cs typeface="+mj-lt"/>
              </a:rPr>
              <a:t>最简单的表达式可以是常量名称。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+mj-lt"/>
                <a:cs typeface="+mj-lt"/>
                <a:sym typeface="+mn-ea"/>
              </a:rPr>
              <a:t>       </a:t>
            </a:r>
            <a:r>
              <a:rPr lang="zh-CN" altLang="en-US" sz="1800" dirty="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对应的表达式包括：算术表达式、关系表达式、逻辑表达式、赋值表达式、自增、自减表达式、逗号表达式、条件表达式、位表达式。 </a:t>
            </a:r>
          </a:p>
          <a:p>
            <a:pPr marL="0" indent="0">
              <a:buNone/>
            </a:pPr>
            <a:endParaRPr lang="zh-CN" altLang="en-US" sz="1800" b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黑体" panose="02010609060101010101" charset="-122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算术运算符和表达式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502285" y="1234440"/>
            <a:ext cx="8139430" cy="1631950"/>
          </a:xfrm>
          <a:ln w="9525">
            <a:noFill/>
            <a:miter/>
          </a:ln>
        </p:spPr>
        <p:txBody>
          <a:bodyPr>
            <a:no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altLang="zh-CN" sz="1800" kern="1200" dirty="0">
                <a:latin typeface="+mj-ea"/>
                <a:ea typeface="+mj-ea"/>
                <a:cs typeface="+mj-ea"/>
              </a:rPr>
              <a:t>       </a:t>
            </a:r>
            <a:r>
              <a:rPr lang="zh-CN" altLang="en-US" sz="1800" kern="1200" dirty="0">
                <a:latin typeface="+mj-ea"/>
                <a:ea typeface="+mj-ea"/>
                <a:cs typeface="+mj-ea"/>
              </a:rPr>
              <a:t>算术运算符负责算术运算，用算术运算符和运算对象</a:t>
            </a:r>
            <a:r>
              <a:rPr lang="en-US" altLang="zh-CN" sz="1800" kern="1200" dirty="0">
                <a:latin typeface="+mj-ea"/>
                <a:ea typeface="+mj-ea"/>
                <a:cs typeface="+mj-ea"/>
              </a:rPr>
              <a:t>(</a:t>
            </a:r>
            <a:r>
              <a:rPr lang="zh-CN" altLang="en-US" sz="1800" kern="1200" dirty="0">
                <a:latin typeface="+mj-ea"/>
                <a:ea typeface="+mj-ea"/>
                <a:cs typeface="+mj-ea"/>
              </a:rPr>
              <a:t>操作数</a:t>
            </a:r>
            <a:r>
              <a:rPr lang="en-US" altLang="zh-CN" sz="1800" kern="1200" dirty="0">
                <a:latin typeface="+mj-ea"/>
                <a:ea typeface="+mj-ea"/>
                <a:cs typeface="+mj-ea"/>
              </a:rPr>
              <a:t>)</a:t>
            </a:r>
            <a:r>
              <a:rPr lang="zh-CN" altLang="en-US" sz="1800" kern="1200" dirty="0">
                <a:latin typeface="+mj-ea"/>
                <a:ea typeface="+mj-ea"/>
                <a:cs typeface="+mj-ea"/>
              </a:rPr>
              <a:t>连接起来符合规则的式子，称为算术表达式。</a:t>
            </a:r>
          </a:p>
          <a:p>
            <a:pPr marL="525780" indent="-342900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双元运算符（</a:t>
            </a:r>
            <a:r>
              <a:rPr lang="en-US" altLang="zh-CN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op1 operator op2</a:t>
            </a:r>
            <a:r>
              <a:rPr lang="zh-CN" altLang="en-US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）</a:t>
            </a:r>
          </a:p>
          <a:p>
            <a:pPr marL="525780" indent="-342900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单元运算符（</a:t>
            </a:r>
            <a:r>
              <a:rPr lang="en-US" altLang="zh-CN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op operator</a:t>
            </a:r>
            <a:r>
              <a:rPr lang="zh-CN" altLang="en-US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或</a:t>
            </a:r>
            <a:r>
              <a:rPr lang="en-US" altLang="zh-CN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operator op 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04850" y="2992755"/>
          <a:ext cx="8028940" cy="305752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725"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表</a:t>
                      </a: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14-6  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算术运算符</a:t>
                      </a:r>
                    </a:p>
                  </a:txBody>
                  <a:tcPr marL="0" marT="34290" marB="3429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运算符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例子（假定</a:t>
                      </a: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 = 2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+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加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a+2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4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减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a -1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1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*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乘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b = a * 2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4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除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b = a / 2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1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endParaRPr lang="en-US" altLang="zh-CN" sz="1600" b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取模</a:t>
                      </a:r>
                      <a:endParaRPr lang="zh-CN" altLang="en-US" sz="1600" b="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b = a%2</a:t>
                      </a:r>
                      <a:endParaRPr lang="en-US" altLang="zh-CN" sz="16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0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++</a:t>
                      </a:r>
                      <a:endParaRPr lang="en-US" altLang="zh-CN" sz="1600" b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自增</a:t>
                      </a:r>
                      <a:endParaRPr lang="zh-CN" altLang="en-US" sz="1600" b="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b = a++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（后置，先使用再运算）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2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--</a:t>
                      </a:r>
                      <a:endParaRPr lang="en-US" altLang="zh-CN" sz="1600" b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自减</a:t>
                      </a:r>
                      <a:endParaRPr lang="zh-CN" altLang="en-US" sz="1600" b="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b = - -a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（前置，先运算再使用）</a:t>
                      </a:r>
                    </a:p>
                  </a:txBody>
                  <a:tcPr marL="0" marT="34290" marB="34290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 = 1</a:t>
                      </a:r>
                    </a:p>
                  </a:txBody>
                  <a:tcPr marL="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cs typeface="+mn-cs"/>
              </a:rPr>
              <a:t>关系运算符和表达式</a:t>
            </a:r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76250" y="2276475"/>
          <a:ext cx="8345805" cy="239204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11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4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运算符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&gt;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&gt;=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!=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===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!==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大于</a:t>
                      </a:r>
                    </a:p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或等于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小于</a:t>
                      </a:r>
                    </a:p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或等于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不等于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全等于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非全等于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表达式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6&gt;5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6&lt;5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6&gt;=5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6&lt;=5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6!=5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6==5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5==="5"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5!=="5"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判断内容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数值与类型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数值与类型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07390" y="5142558"/>
            <a:ext cx="8249920" cy="368300"/>
          </a:xfrm>
          <a:prstGeom prst="rect">
            <a:avLst/>
          </a:prstGeom>
          <a:solidFill>
            <a:srgbClr val="0000CC"/>
          </a:solidFill>
          <a:ln w="38100">
            <a:noFill/>
            <a:miter/>
          </a:ln>
          <a:effectLst>
            <a:outerShdw dist="107763" dir="2699999" algn="ctr" rotWithShape="0">
              <a:srgbClr val="808080">
                <a:alpha val="50000"/>
              </a:srgbClr>
            </a:outerShdw>
          </a:effectLst>
        </p:spPr>
        <p:txBody>
          <a:bodyPr wrap="square" anchor="ctr">
            <a:spAutoFit/>
          </a:bodyPr>
          <a:lstStyle/>
          <a:p>
            <a:pPr lvl="0" latinLnBrk="0"/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==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的区别：    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是赋值运算符，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==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是等于运算符 </a:t>
            </a:r>
          </a:p>
        </p:txBody>
      </p:sp>
      <p:sp>
        <p:nvSpPr>
          <p:cNvPr id="5" name="矩形 4"/>
          <p:cNvSpPr/>
          <p:nvPr/>
        </p:nvSpPr>
        <p:spPr>
          <a:xfrm>
            <a:off x="707390" y="5715000"/>
            <a:ext cx="8257540" cy="368300"/>
          </a:xfrm>
          <a:prstGeom prst="rect">
            <a:avLst/>
          </a:prstGeom>
          <a:solidFill>
            <a:srgbClr val="0000CC"/>
          </a:solidFill>
          <a:ln w="38100">
            <a:noFill/>
            <a:miter/>
          </a:ln>
          <a:effectLst>
            <a:outerShdw dist="107763" dir="2699999" algn="ctr" rotWithShape="0">
              <a:srgbClr val="808080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lvl="0" latinLnBrk="1">
              <a:buClr>
                <a:srgbClr val="000000"/>
              </a:buClr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===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!==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===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全等于，不仅判断数值，而且判断类型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109595" y="1876425"/>
            <a:ext cx="2924810" cy="337185"/>
          </a:xfrm>
          <a:prstGeom prst="rect">
            <a:avLst/>
          </a:prstGeom>
          <a:noFill/>
          <a:ln w="38100">
            <a:noFill/>
            <a:miter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lvl="0" latinLnBrk="1">
              <a:spcBef>
                <a:spcPct val="50000"/>
              </a:spcBef>
              <a:buClr>
                <a:srgbClr val="000000"/>
              </a:buClr>
            </a:pPr>
            <a:r>
              <a:rPr lang="zh-CN" altLang="en-US" sz="1600" b="1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表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14-7  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关系运算符和表达式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/>
        </p:nvSpPr>
        <p:spPr>
          <a:xfrm>
            <a:off x="342900" y="457200"/>
            <a:ext cx="7761288" cy="56792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0488" tIns="44450" rIns="90488" bIns="44450" numCol="1" anchor="ctr" anchorCtr="0" compatLnSpc="1"/>
          <a:lstStyle>
            <a:lvl1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4572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9144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3716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18288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关系运算符和表达式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1570039"/>
              </p:ext>
            </p:extLst>
          </p:nvPr>
        </p:nvGraphicFramePr>
        <p:xfrm>
          <a:off x="581025" y="2599828"/>
          <a:ext cx="8150860" cy="230568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4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6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3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3540">
                <a:tc gridSpan="6"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相等性判断的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特殊情况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一览表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表达式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表达式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表达式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null== undefined</a:t>
                      </a:r>
                      <a:endParaRPr lang="en-US" altLang="zh-CN" sz="1600" b="1" i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"</a:t>
                      </a:r>
                      <a:r>
                        <a:rPr lang="en-US" altLang="zh-CN" sz="16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NaN</a:t>
                      </a: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" == </a:t>
                      </a:r>
                      <a:r>
                        <a:rPr lang="en-US" altLang="zh-CN" sz="16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NaN</a:t>
                      </a:r>
                      <a:endParaRPr lang="en-US" altLang="zh-CN" sz="1600" b="1" i="1" dirty="0" err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false == 0</a:t>
                      </a:r>
                      <a:endParaRPr lang="en-US" altLang="zh-CN" sz="1600" b="1" i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null == 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err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NaN</a:t>
                      </a: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!= </a:t>
                      </a:r>
                      <a:r>
                        <a:rPr lang="en-US" altLang="zh-CN" sz="1600" b="1" err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NaN</a:t>
                      </a:r>
                      <a:endParaRPr lang="en-US" altLang="zh-CN" sz="1600" b="1" i="1" err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true == 1</a:t>
                      </a:r>
                      <a:endParaRPr lang="en-US" altLang="zh-CN" sz="1600" b="1" i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undefined == 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NaN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 == 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NaN</a:t>
                      </a:r>
                      <a:endParaRPr lang="en-US" altLang="zh-CN" sz="1600" b="1" i="1" dirty="0" err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 == 2</a:t>
                      </a: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10 == </a:t>
                      </a:r>
                      <a:r>
                        <a:rPr lang="en-US" altLang="zh-CN" sz="16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NaN</a:t>
                      </a:r>
                      <a:endParaRPr lang="en-US" altLang="zh-CN" sz="1600" b="1" dirty="0" err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“999" == 999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dirty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dirty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38555" y="1671320"/>
            <a:ext cx="6867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关系运算符中有些特殊比较运算，在实际使用时需要注意。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逻辑运算符和表达式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836930" y="1775460"/>
          <a:ext cx="7483475" cy="2057340"/>
        </p:xfrm>
        <a:graphic>
          <a:graphicData uri="http://schemas.openxmlformats.org/drawingml/2006/table">
            <a:tbl>
              <a:tblPr/>
              <a:tblGrid>
                <a:gridCol w="144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840">
                <a:tc gridSpan="5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表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14-8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逻辑运算符</a:t>
                      </a:r>
                    </a:p>
                  </a:txBody>
                  <a:tcPr marL="0" marT="34290" marB="34290">
                    <a:lnL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6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a</a:t>
                      </a:r>
                    </a:p>
                  </a:txBody>
                  <a:tcPr marL="0" marT="34290" marB="34290">
                    <a:lnL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b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!a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（非）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a||b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或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err="1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a&amp;&amp;b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与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1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1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1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true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微软雅黑" panose="020B0503020204020204" charset="-122"/>
                        </a:rPr>
                        <a:t>false</a:t>
                      </a:r>
                    </a:p>
                  </a:txBody>
                  <a:tcPr marL="0" marT="34290" marB="3429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3348038"/>
          <a:ext cx="91440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r:id="rId4" imgW="2743200" imgH="5181600" progId="">
                  <p:embed/>
                </p:oleObj>
              </mc:Choice>
              <mc:Fallback>
                <p:oleObj r:id="rId4" imgW="2743200" imgH="5181600" progId="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4800" y="3348038"/>
                        <a:ext cx="914400" cy="161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赋值运算符和表达式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733425" y="1254125"/>
            <a:ext cx="7155815" cy="917575"/>
          </a:xfrm>
          <a:ln w="9525">
            <a:noFill/>
            <a:miter/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kern="1200" dirty="0">
                <a:solidFill>
                  <a:schemeClr val="tx1"/>
                </a:solidFill>
                <a:effectLst/>
              </a:rPr>
              <a:t>基本语法：</a:t>
            </a:r>
          </a:p>
          <a:p>
            <a:pPr marL="179705" lvl="1" indent="0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kern="1200" dirty="0">
                <a:solidFill>
                  <a:srgbClr val="FF0000"/>
                </a:solidFill>
                <a:effectLst/>
              </a:rPr>
              <a:t>简单赋值运算：</a:t>
            </a:r>
            <a:r>
              <a:rPr lang="en-US" altLang="zh-CN" sz="1800" b="0" kern="1200" dirty="0">
                <a:solidFill>
                  <a:srgbClr val="FF0000"/>
                </a:solidFill>
                <a:effectLst/>
              </a:rPr>
              <a:t>&lt;</a:t>
            </a:r>
            <a:r>
              <a:rPr lang="zh-CN" altLang="en-US" sz="1800" b="0" kern="1200" dirty="0">
                <a:solidFill>
                  <a:srgbClr val="FF0000"/>
                </a:solidFill>
                <a:effectLst/>
              </a:rPr>
              <a:t>变量</a:t>
            </a:r>
            <a:r>
              <a:rPr lang="en-US" altLang="zh-CN" sz="1800" b="0" kern="1200" dirty="0">
                <a:solidFill>
                  <a:srgbClr val="FF0000"/>
                </a:solidFill>
                <a:effectLst/>
              </a:rPr>
              <a:t>&gt; = &lt;</a:t>
            </a:r>
            <a:r>
              <a:rPr lang="zh-CN" altLang="en-US" sz="1800" b="0" kern="1200" dirty="0">
                <a:solidFill>
                  <a:srgbClr val="FF0000"/>
                </a:solidFill>
                <a:effectLst/>
              </a:rPr>
              <a:t>变量</a:t>
            </a:r>
            <a:r>
              <a:rPr lang="en-US" altLang="zh-CN" sz="1800" b="0" kern="1200" dirty="0">
                <a:solidFill>
                  <a:srgbClr val="FF0000"/>
                </a:solidFill>
                <a:effectLst/>
              </a:rPr>
              <a:t>&gt; operator &lt;</a:t>
            </a:r>
            <a:r>
              <a:rPr lang="zh-CN" altLang="en-US" sz="1800" b="0" kern="1200" dirty="0">
                <a:solidFill>
                  <a:srgbClr val="FF0000"/>
                </a:solidFill>
                <a:effectLst/>
              </a:rPr>
              <a:t>表达式</a:t>
            </a:r>
            <a:r>
              <a:rPr lang="en-US" altLang="zh-CN" sz="1800" b="0" kern="1200" dirty="0">
                <a:solidFill>
                  <a:srgbClr val="FF0000"/>
                </a:solidFill>
                <a:effectLst/>
              </a:rPr>
              <a:t>&gt;</a:t>
            </a:r>
          </a:p>
          <a:p>
            <a:pPr marL="179705" lvl="1" indent="0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kern="1200" dirty="0">
                <a:solidFill>
                  <a:srgbClr val="FF0000"/>
                </a:solidFill>
                <a:effectLst/>
              </a:rPr>
              <a:t>复合赋值运算：</a:t>
            </a:r>
            <a:r>
              <a:rPr lang="en-US" altLang="zh-CN" sz="1800" b="0" kern="1200" dirty="0">
                <a:solidFill>
                  <a:srgbClr val="FF0000"/>
                </a:solidFill>
                <a:effectLst/>
              </a:rPr>
              <a:t>&lt;</a:t>
            </a:r>
            <a:r>
              <a:rPr lang="zh-CN" altLang="en-US" sz="1800" b="0" kern="1200" dirty="0">
                <a:solidFill>
                  <a:srgbClr val="FF0000"/>
                </a:solidFill>
                <a:effectLst/>
              </a:rPr>
              <a:t>变量</a:t>
            </a:r>
            <a:r>
              <a:rPr lang="en-US" altLang="zh-CN" sz="1800" b="0" kern="1200" dirty="0">
                <a:solidFill>
                  <a:srgbClr val="FF0000"/>
                </a:solidFill>
                <a:effectLst/>
              </a:rPr>
              <a:t>&gt; operator = &lt;</a:t>
            </a:r>
            <a:r>
              <a:rPr lang="zh-CN" altLang="en-US" sz="1800" b="0" kern="1200" dirty="0">
                <a:solidFill>
                  <a:srgbClr val="FF0000"/>
                </a:solidFill>
                <a:effectLst/>
              </a:rPr>
              <a:t>表达式</a:t>
            </a:r>
            <a:r>
              <a:rPr lang="en-US" altLang="zh-CN" sz="1800" b="0" kern="1200" dirty="0">
                <a:solidFill>
                  <a:srgbClr val="FF0000"/>
                </a:solidFill>
                <a:effectLst/>
              </a:rPr>
              <a:t>&gt;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90575" y="2733198"/>
          <a:ext cx="7820025" cy="275272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83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81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运算符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*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/=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%=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赋值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加法赋值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减法赋值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乘法赋值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除法赋值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模赋值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求余赋值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表达式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=6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i*=5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i/=5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i%=5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7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示例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var i=6;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+=5;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-=5;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*=5;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i/=5;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i%=5;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的结果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1.2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等价于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i=i+5;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i=i-5;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*5;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=i/5;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i=i%5;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35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移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sym typeface="+mn-ea"/>
                        </a:rPr>
                        <a:t>位</a:t>
                      </a:r>
                      <a:endParaRPr lang="zh-CN" altLang="en-US" sz="1200" b="1" i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a=4</a:t>
                      </a:r>
                      <a:endParaRPr lang="en-US" altLang="zh-CN" sz="1200" i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&lt;&lt;=</a:t>
                      </a:r>
                      <a:endParaRPr lang="en-US" altLang="zh-CN" sz="1200" i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&gt;&gt;=</a:t>
                      </a:r>
                      <a:endParaRPr lang="en-US" altLang="zh-CN" sz="1200" i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&gt;&gt;&gt;=</a:t>
                      </a:r>
                      <a:endParaRPr lang="en-US" altLang="zh-CN" sz="1200" i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en-US" altLang="zh-CN" sz="1200" i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82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表达式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a&lt;&lt;=1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a&gt;&gt;=1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a&gt;&gt;&gt;=1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en-US" altLang="zh-CN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1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a=8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a=2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a=2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en-US" altLang="zh-CN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rgbClr val="003399"/>
                          </a:solidFill>
                          <a:latin typeface="微软雅黑" panose="020B0503020204020204" charset="-122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buClr>
                          <a:schemeClr val="tx1"/>
                        </a:buClr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buClr>
                          <a:schemeClr val="accent2"/>
                        </a:buClr>
                        <a:defRPr sz="2000" kern="1200"/>
                      </a:lvl3pPr>
                      <a:lvl4pPr marL="1600200" lvl="3" indent="-228600">
                        <a:buClr>
                          <a:schemeClr val="tx1"/>
                        </a:buClr>
                        <a:defRPr sz="1800" kern="1200"/>
                      </a:lvl4pPr>
                      <a:lvl5pPr marL="2057400" lvl="4" indent="-228600">
                        <a:buClr>
                          <a:schemeClr val="hlink"/>
                        </a:buClr>
                        <a:defRPr sz="1800" kern="1200">
                          <a:solidFill>
                            <a:srgbClr val="008080"/>
                          </a:solidFill>
                        </a:defRPr>
                      </a:lvl5pPr>
                    </a:lstStyle>
                    <a:p>
                      <a:pPr lvl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solidFill>
                  <a:schemeClr val="tx1"/>
                </a:solidFill>
                <a:cs typeface="+mn-cs"/>
              </a:rPr>
              <a:t>位运算符和表达式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645160" y="1301750"/>
            <a:ext cx="8219440" cy="20574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80" dirty="0"/>
              <a:t>      </a:t>
            </a:r>
            <a:r>
              <a:rPr lang="zh-CN" altLang="en-US" sz="1780" dirty="0"/>
              <a:t>位运算符是对二进制表示的整数进行按位操作的运算符。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80" dirty="0"/>
              <a:t>      如果操作数是十进制或者其他进制表示的整数，运算前先将这些整数转换成</a:t>
            </a:r>
            <a:r>
              <a:rPr lang="en-US" altLang="zh-CN" sz="1780" dirty="0"/>
              <a:t>32</a:t>
            </a:r>
            <a:r>
              <a:rPr lang="zh-CN" altLang="en-US" sz="1780" dirty="0"/>
              <a:t>位的二进制数字，如果操作数无法转换成</a:t>
            </a:r>
            <a:r>
              <a:rPr lang="en-US" altLang="zh-CN" sz="1780" dirty="0"/>
              <a:t>32</a:t>
            </a:r>
            <a:r>
              <a:rPr lang="zh-CN" altLang="en-US" sz="1780" dirty="0"/>
              <a:t>位的二进制数表示，位运算的结果为</a:t>
            </a:r>
            <a:r>
              <a:rPr lang="en-US" altLang="zh-CN" sz="1780" dirty="0" err="1"/>
              <a:t>NaN</a:t>
            </a:r>
            <a:r>
              <a:rPr lang="zh-CN" altLang="en-US" sz="1780" dirty="0"/>
              <a:t>。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</a:t>
            </a:r>
            <a:r>
              <a:rPr lang="zh-CN" altLang="en-US" sz="1800" dirty="0">
                <a:solidFill>
                  <a:srgbClr val="FF0000"/>
                </a:solidFill>
              </a:rPr>
              <a:t>位运算符：</a:t>
            </a:r>
            <a:r>
              <a:rPr lang="en-US" altLang="zh-CN" sz="1800" dirty="0">
                <a:solidFill>
                  <a:srgbClr val="FF0000"/>
                </a:solidFill>
              </a:rPr>
              <a:t>&amp;-</a:t>
            </a:r>
            <a:r>
              <a:rPr lang="zh-CN" altLang="en-US" sz="1800" dirty="0">
                <a:solidFill>
                  <a:srgbClr val="FF0000"/>
                </a:solidFill>
              </a:rPr>
              <a:t>按位与；</a:t>
            </a:r>
            <a:r>
              <a:rPr lang="en-US" altLang="zh-CN" sz="1800" dirty="0">
                <a:solidFill>
                  <a:srgbClr val="FF0000"/>
                </a:solidFill>
              </a:rPr>
              <a:t>~ -</a:t>
            </a:r>
            <a:r>
              <a:rPr lang="zh-CN" altLang="en-US" sz="1800" dirty="0">
                <a:solidFill>
                  <a:srgbClr val="FF0000"/>
                </a:solidFill>
              </a:rPr>
              <a:t>按位非；</a:t>
            </a:r>
            <a:r>
              <a:rPr lang="en-US" altLang="zh-CN" sz="1800" dirty="0">
                <a:solidFill>
                  <a:srgbClr val="FF0000"/>
                </a:solidFill>
              </a:rPr>
              <a:t>|-</a:t>
            </a:r>
            <a:r>
              <a:rPr lang="zh-CN" altLang="en-US" sz="1800" dirty="0">
                <a:solidFill>
                  <a:srgbClr val="FF0000"/>
                </a:solidFill>
              </a:rPr>
              <a:t>按位或；</a:t>
            </a:r>
            <a:r>
              <a:rPr lang="en-US" altLang="zh-CN" sz="1800" dirty="0">
                <a:solidFill>
                  <a:srgbClr val="FF0000"/>
                </a:solidFill>
              </a:rPr>
              <a:t>^-</a:t>
            </a:r>
            <a:r>
              <a:rPr lang="zh-CN" altLang="en-US" sz="1800" dirty="0">
                <a:solidFill>
                  <a:srgbClr val="FF0000"/>
                </a:solidFill>
              </a:rPr>
              <a:t>按位异或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3810000"/>
            <a:ext cx="2540000" cy="1476375"/>
          </a:xfrm>
          <a:prstGeom prst="rect">
            <a:avLst/>
          </a:prstGeom>
          <a:noFill/>
          <a:ln>
            <a:solidFill>
              <a:srgbClr val="0000FA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例如：</a:t>
            </a: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10&amp;78=10   </a:t>
            </a: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   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00001010    </a:t>
            </a: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&amp; 01001110                  ------------------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00001010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56000" y="3776008"/>
            <a:ext cx="2540000" cy="1476375"/>
          </a:xfrm>
          <a:prstGeom prst="rect">
            <a:avLst/>
          </a:prstGeom>
          <a:noFill/>
          <a:ln>
            <a:solidFill>
              <a:srgbClr val="0000FA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例如：</a:t>
            </a: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81|16=81</a:t>
            </a: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endParaRPr lang="en-US" altLang="zh-CN" sz="1800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 01010001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| 00010000</a:t>
            </a: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-----------------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 01010001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81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24600" y="3776008"/>
            <a:ext cx="2540000" cy="1476375"/>
          </a:xfrm>
          <a:prstGeom prst="rect">
            <a:avLst/>
          </a:prstGeom>
          <a:noFill/>
          <a:ln>
            <a:solidFill>
              <a:srgbClr val="0000FA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例如：</a:t>
            </a: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10^30=20 </a:t>
            </a: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       </a:t>
            </a: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 00001010  </a:t>
            </a: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^   00011110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-------------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  <a:p>
            <a:pPr>
              <a:lnSpc>
                <a:spcPts val="18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 00010100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20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200" dirty="0">
                <a:cs typeface="+mn-cs"/>
              </a:rPr>
              <a:t>条件运算符和表达式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619125" y="1390650"/>
            <a:ext cx="8107680" cy="39497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ffectLst/>
                <a:latin typeface="+mj-lt"/>
                <a:ea typeface="+mj-lt"/>
              </a:rPr>
              <a:t>    </a:t>
            </a:r>
            <a:r>
              <a:rPr lang="zh-CN" altLang="en-US" sz="1800" dirty="0">
                <a:effectLst/>
              </a:rPr>
              <a:t>条件运算符是一个</a:t>
            </a:r>
            <a:r>
              <a:rPr lang="en-US" altLang="zh-CN" sz="1800" dirty="0">
                <a:effectLst/>
              </a:rPr>
              <a:t>3</a:t>
            </a:r>
            <a:r>
              <a:rPr lang="zh-CN" altLang="en-US" sz="1800" dirty="0">
                <a:effectLst/>
              </a:rPr>
              <a:t>元运算符，也就是该运算涉及</a:t>
            </a:r>
            <a:r>
              <a:rPr lang="en-US" altLang="zh-CN" sz="1800" dirty="0">
                <a:effectLst/>
              </a:rPr>
              <a:t>3</a:t>
            </a:r>
            <a:r>
              <a:rPr lang="zh-CN" altLang="en-US" sz="1800" dirty="0">
                <a:effectLst/>
              </a:rPr>
              <a:t>个操作数。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800" dirty="0">
              <a:effectLst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effectLst/>
              </a:rPr>
              <a:t>基本语法：</a:t>
            </a:r>
          </a:p>
          <a:p>
            <a:pPr marL="365125" lvl="1" indent="0" latinLnBrk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 sz="1800" dirty="0">
                <a:effectLst/>
              </a:rPr>
              <a:t>变量</a:t>
            </a:r>
            <a:r>
              <a:rPr lang="en-US" altLang="zh-CN" sz="1800" dirty="0">
                <a:effectLst/>
              </a:rPr>
              <a:t>=</a:t>
            </a:r>
            <a:r>
              <a:rPr lang="zh-CN" altLang="en-US" sz="1800" dirty="0">
                <a:effectLst/>
              </a:rPr>
              <a:t>布尔表达式</a:t>
            </a:r>
            <a:r>
              <a:rPr lang="en-US" altLang="zh-CN" sz="1800" dirty="0">
                <a:effectLst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?</a:t>
            </a:r>
            <a:r>
              <a:rPr lang="en-US" altLang="zh-CN" sz="1800" dirty="0">
                <a:effectLst/>
              </a:rPr>
              <a:t> </a:t>
            </a:r>
            <a:r>
              <a:rPr lang="zh-CN" altLang="zh-CN" sz="1800" dirty="0">
                <a:effectLst/>
              </a:rPr>
              <a:t>真值</a:t>
            </a:r>
            <a:r>
              <a:rPr lang="zh-CN" altLang="en-US" sz="1800" dirty="0">
                <a:effectLst/>
              </a:rPr>
              <a:t>表达式</a:t>
            </a:r>
            <a:r>
              <a:rPr lang="en-US" altLang="zh-CN" sz="1800" dirty="0">
                <a:effectLst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:</a:t>
            </a:r>
            <a:r>
              <a:rPr lang="en-US" altLang="zh-CN" sz="1800" dirty="0">
                <a:effectLst/>
              </a:rPr>
              <a:t> </a:t>
            </a:r>
            <a:r>
              <a:rPr lang="zh-CN" altLang="en-US" sz="1800" dirty="0">
                <a:effectLst/>
              </a:rPr>
              <a:t>假值表达式</a:t>
            </a:r>
          </a:p>
          <a:p>
            <a:pPr marL="365125" lvl="1" indent="0" latinLnBrk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zh-CN" sz="1800" b="0" dirty="0" err="1">
                <a:solidFill>
                  <a:srgbClr val="FF0000"/>
                </a:solidFill>
                <a:effectLst/>
                <a:sym typeface="+mn-ea"/>
              </a:rPr>
              <a:t>var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 variable = </a:t>
            </a:r>
            <a:r>
              <a:rPr lang="en-US" altLang="zh-CN" sz="1800" b="0" dirty="0" err="1">
                <a:solidFill>
                  <a:srgbClr val="FF0000"/>
                </a:solidFill>
                <a:effectLst/>
                <a:sym typeface="+mn-ea"/>
              </a:rPr>
              <a:t>boolean_expression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 ? </a:t>
            </a:r>
            <a:r>
              <a:rPr lang="en-US" altLang="zh-CN" sz="1800" b="0" dirty="0" err="1">
                <a:solidFill>
                  <a:srgbClr val="FF0000"/>
                </a:solidFill>
                <a:effectLst/>
                <a:sym typeface="+mn-ea"/>
              </a:rPr>
              <a:t>true_value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 : </a:t>
            </a:r>
            <a:r>
              <a:rPr lang="en-US" altLang="zh-CN" sz="1800" b="0" dirty="0" err="1">
                <a:solidFill>
                  <a:srgbClr val="FF0000"/>
                </a:solidFill>
                <a:effectLst/>
                <a:sym typeface="+mn-ea"/>
              </a:rPr>
              <a:t>false_value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; </a:t>
            </a:r>
          </a:p>
          <a:p>
            <a:pPr marL="0" lvl="1" indent="0" latinLnBrk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 sz="1800" b="0" dirty="0">
                <a:solidFill>
                  <a:schemeClr val="tx1"/>
                </a:solidFill>
                <a:effectLst/>
                <a:sym typeface="+mn-ea"/>
              </a:rPr>
              <a:t>例如：</a:t>
            </a:r>
          </a:p>
          <a:p>
            <a:pPr marL="0" lvl="1" indent="0" latinLnBrk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 sz="1800" b="0" dirty="0">
                <a:solidFill>
                  <a:srgbClr val="FF0000"/>
                </a:solidFill>
                <a:effectLst/>
                <a:sym typeface="+mn-ea"/>
              </a:rPr>
              <a:t>      </a:t>
            </a:r>
            <a:r>
              <a:rPr lang="en-US" altLang="zh-CN" sz="1800" b="0" dirty="0" err="1">
                <a:solidFill>
                  <a:srgbClr val="FF0000"/>
                </a:solidFill>
                <a:effectLst/>
                <a:sym typeface="+mn-ea"/>
              </a:rPr>
              <a:t>var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 v1=300,v2=-100;</a:t>
            </a:r>
          </a:p>
          <a:p>
            <a:pPr marL="0" lvl="1" indent="0" latinLnBrk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 sz="1800" b="0" dirty="0">
                <a:solidFill>
                  <a:srgbClr val="FF0000"/>
                </a:solidFill>
                <a:effectLst/>
                <a:sym typeface="+mn-ea"/>
              </a:rPr>
              <a:t>      </a:t>
            </a:r>
            <a:r>
              <a:rPr lang="nb-NO" altLang="zh-CN" sz="1800" b="0" dirty="0">
                <a:solidFill>
                  <a:srgbClr val="FF0000"/>
                </a:solidFill>
                <a:effectLst/>
                <a:sym typeface="+mn-ea"/>
              </a:rPr>
              <a:t>var max = (v1 &gt;v2) ? v1 : v2;   </a:t>
            </a:r>
            <a:r>
              <a:rPr lang="en-US" altLang="nb-NO" sz="1800" b="0" dirty="0">
                <a:solidFill>
                  <a:srgbClr val="FF0000"/>
                </a:solidFill>
                <a:effectLst/>
                <a:sym typeface="+mn-ea"/>
              </a:rPr>
              <a:t>//</a:t>
            </a:r>
            <a:r>
              <a:rPr lang="zh-CN" altLang="en-US" sz="1800" b="0" dirty="0">
                <a:solidFill>
                  <a:srgbClr val="FF0000"/>
                </a:solidFill>
                <a:effectLst/>
                <a:sym typeface="+mn-ea"/>
              </a:rPr>
              <a:t>由于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v1&gt;v2</a:t>
            </a:r>
            <a:r>
              <a:rPr lang="zh-CN" altLang="zh-CN" sz="1800" b="0" dirty="0">
                <a:solidFill>
                  <a:srgbClr val="FF0000"/>
                </a:solidFill>
                <a:effectLst/>
                <a:sym typeface="+mn-ea"/>
              </a:rPr>
              <a:t>，条件为</a:t>
            </a:r>
            <a:r>
              <a:rPr lang="zh-CN" altLang="en-US" sz="1800" b="0" dirty="0">
                <a:solidFill>
                  <a:srgbClr val="FF0000"/>
                </a:solidFill>
                <a:effectLst/>
                <a:sym typeface="+mn-ea"/>
              </a:rPr>
              <a:t>真</a:t>
            </a:r>
            <a:r>
              <a:rPr lang="zh-CN" altLang="zh-CN" sz="1800" b="0" dirty="0">
                <a:solidFill>
                  <a:srgbClr val="FF0000"/>
                </a:solidFill>
                <a:effectLst/>
                <a:sym typeface="+mn-ea"/>
              </a:rPr>
              <a:t>值，所以将真值表达式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v1</a:t>
            </a:r>
            <a:r>
              <a:rPr lang="zh-CN" altLang="zh-CN" sz="1800" b="0" dirty="0">
                <a:solidFill>
                  <a:srgbClr val="FF0000"/>
                </a:solidFill>
                <a:effectLst/>
                <a:sym typeface="+mn-ea"/>
              </a:rPr>
              <a:t>的值赋给</a:t>
            </a:r>
            <a:r>
              <a:rPr lang="en-US" altLang="nb-NO" sz="1800" b="0" dirty="0">
                <a:solidFill>
                  <a:srgbClr val="FF0000"/>
                </a:solidFill>
                <a:effectLst/>
                <a:sym typeface="+mn-ea"/>
              </a:rPr>
              <a:t>max</a:t>
            </a:r>
            <a:r>
              <a:rPr lang="zh-CN" altLang="en-US" sz="1800" b="0" dirty="0">
                <a:solidFill>
                  <a:srgbClr val="FF0000"/>
                </a:solidFill>
                <a:effectLst/>
                <a:sym typeface="+mn-ea"/>
              </a:rPr>
              <a:t>，</a:t>
            </a:r>
            <a:r>
              <a:rPr lang="en-US" altLang="zh-CN" sz="1800" b="0" dirty="0">
                <a:solidFill>
                  <a:srgbClr val="FF0000"/>
                </a:solidFill>
                <a:effectLst/>
                <a:sym typeface="+mn-ea"/>
              </a:rPr>
              <a:t>max</a:t>
            </a:r>
            <a:r>
              <a:rPr lang="zh-CN" altLang="zh-CN" sz="1800" b="0" dirty="0">
                <a:solidFill>
                  <a:srgbClr val="FF0000"/>
                </a:solidFill>
                <a:effectLst/>
                <a:sym typeface="+mn-ea"/>
              </a:rPr>
              <a:t>的值为</a:t>
            </a:r>
            <a:r>
              <a:rPr lang="en-US" altLang="nb-NO" sz="1800" b="0" dirty="0">
                <a:solidFill>
                  <a:srgbClr val="FF0000"/>
                </a:solidFill>
                <a:effectLst/>
                <a:sym typeface="+mn-ea"/>
              </a:rPr>
              <a:t>300</a:t>
            </a:r>
            <a:r>
              <a:rPr lang="nb-NO" altLang="zh-CN" sz="1800" dirty="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nb-NO" sz="1800" dirty="0">
                <a:solidFill>
                  <a:srgbClr val="FF0000"/>
                </a:solidFill>
                <a:effectLst/>
                <a:sym typeface="+mn-ea"/>
              </a:rPr>
              <a:t>,</a:t>
            </a:r>
            <a:r>
              <a:rPr lang="zh-CN" altLang="nb-NO" sz="1800" dirty="0">
                <a:solidFill>
                  <a:srgbClr val="FF0000"/>
                </a:solidFill>
                <a:effectLst/>
                <a:sym typeface="+mn-ea"/>
              </a:rPr>
              <a:t>比用</a:t>
            </a:r>
            <a:r>
              <a:rPr lang="en-US" altLang="zh-CN" sz="1800" dirty="0">
                <a:solidFill>
                  <a:srgbClr val="FF0000"/>
                </a:solidFill>
                <a:effectLst/>
                <a:sym typeface="+mn-ea"/>
              </a:rPr>
              <a:t>if</a:t>
            </a:r>
            <a:r>
              <a:rPr lang="zh-CN" altLang="zh-CN" sz="1800" dirty="0">
                <a:solidFill>
                  <a:srgbClr val="FF0000"/>
                </a:solidFill>
                <a:effectLst/>
                <a:sym typeface="+mn-ea"/>
              </a:rPr>
              <a:t>语句来得简单些。</a:t>
            </a:r>
            <a:r>
              <a:rPr lang="nb-NO" altLang="zh-CN" sz="1800" dirty="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nb-NO" altLang="zh-CN" sz="1800" dirty="0">
                <a:solidFill>
                  <a:srgbClr val="FF0000"/>
                </a:solidFill>
                <a:sym typeface="+mn-ea"/>
              </a:rPr>
              <a:t>     </a:t>
            </a:r>
            <a:endParaRPr lang="nb-NO" altLang="zh-CN" sz="18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其它运算符和表达式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08315" cy="38862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1.</a:t>
            </a:r>
            <a:r>
              <a:rPr lang="zh-CN" altLang="en-US" sz="1800" dirty="0"/>
              <a:t>逗号运算符（</a:t>
            </a:r>
            <a:r>
              <a:rPr lang="en-US" altLang="zh-CN" sz="1800" dirty="0"/>
              <a:t>,</a:t>
            </a:r>
            <a:r>
              <a:rPr lang="zh-CN" altLang="en-US" sz="1800" dirty="0"/>
              <a:t>）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fr-FR" altLang="zh-CN" sz="1800" dirty="0">
                <a:solidFill>
                  <a:srgbClr val="FF0000"/>
                </a:solidFill>
                <a:sym typeface="+mn-ea"/>
              </a:rPr>
              <a:t>        var x=1 , y=2 , z=3;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fr-FR" altLang="zh-CN" sz="1800" dirty="0">
                <a:solidFill>
                  <a:srgbClr val="FF0000"/>
                </a:solidFill>
                <a:sym typeface="+mn-ea"/>
              </a:rPr>
              <a:t>       </a:t>
            </a:r>
            <a:r>
              <a:rPr lang="zh-CN" altLang="fr-FR" sz="1800" dirty="0">
                <a:solidFill>
                  <a:srgbClr val="FF0000"/>
                </a:solidFill>
                <a:sym typeface="+mn-ea"/>
              </a:rPr>
              <a:t> </a:t>
            </a:r>
            <a:r>
              <a:rPr lang="fr-FR" altLang="zh-CN" sz="1800" dirty="0">
                <a:solidFill>
                  <a:srgbClr val="FF0000"/>
                </a:solidFill>
                <a:sym typeface="+mn-ea"/>
              </a:rPr>
              <a:t>x=y+z , y=x+z;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2.</a:t>
            </a:r>
            <a:r>
              <a:rPr lang="zh-CN" altLang="en-US" sz="1800" dirty="0"/>
              <a:t>新建对象运算符（</a:t>
            </a:r>
            <a:r>
              <a:rPr lang="en-US" altLang="zh-CN" sz="1800" dirty="0"/>
              <a:t>new</a:t>
            </a:r>
            <a:r>
              <a:rPr lang="zh-CN" altLang="en-US" sz="1800" dirty="0"/>
              <a:t>）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    </a:t>
            </a:r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str1=new String();</a:t>
            </a:r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stu</a:t>
            </a:r>
            <a:r>
              <a:rPr lang="en-US" altLang="zh-CN" sz="1800" dirty="0">
                <a:solidFill>
                  <a:srgbClr val="FF0000"/>
                </a:solidFill>
              </a:rPr>
              <a:t>=new Array();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3.</a:t>
            </a:r>
            <a:r>
              <a:rPr lang="zh-CN" altLang="en-US" sz="1800" dirty="0"/>
              <a:t>删除运算符（</a:t>
            </a:r>
            <a:r>
              <a:rPr lang="en-US" altLang="zh-CN" sz="1800" dirty="0"/>
              <a:t>delete</a:t>
            </a:r>
            <a:r>
              <a:rPr lang="zh-CN" altLang="en-US" sz="1800" dirty="0"/>
              <a:t>）：是一个一元运算符，用于删除一个对象的属性或某个数组的元素。</a:t>
            </a:r>
            <a:endParaRPr lang="en-US" altLang="zh-CN" sz="1800" dirty="0"/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      delete array[30],delete 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</a:rPr>
              <a:t>object.height</a:t>
            </a:r>
            <a:endParaRPr lang="en-US" altLang="zh-CN" sz="18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dirty="0"/>
              <a:t>4.</a:t>
            </a:r>
            <a:r>
              <a:rPr lang="zh-CN" altLang="en-US" sz="1800" dirty="0"/>
              <a:t>类型运算符（</a:t>
            </a:r>
            <a:r>
              <a:rPr lang="en-US" altLang="zh-CN" sz="1800" dirty="0" err="1"/>
              <a:t>typeof</a:t>
            </a:r>
            <a:r>
              <a:rPr lang="zh-CN" altLang="en-US" sz="1800" dirty="0"/>
              <a:t>）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sz="1800" dirty="0">
                <a:solidFill>
                  <a:srgbClr val="FF0000"/>
                </a:solidFill>
              </a:rPr>
              <a:t>   </a:t>
            </a:r>
            <a:r>
              <a:rPr lang="en-US" sz="1800" dirty="0" err="1">
                <a:solidFill>
                  <a:srgbClr val="FF0000"/>
                </a:solidFill>
              </a:rPr>
              <a:t>typeof</a:t>
            </a:r>
            <a:r>
              <a:rPr lang="en-US" sz="1800" dirty="0">
                <a:solidFill>
                  <a:srgbClr val="FF0000"/>
                </a:solidFill>
              </a:rPr>
              <a:t>(300),</a:t>
            </a:r>
            <a:r>
              <a:rPr lang="en-US" sz="1800" dirty="0" err="1">
                <a:solidFill>
                  <a:srgbClr val="FF0000"/>
                </a:solidFill>
              </a:rPr>
              <a:t>typeof</a:t>
            </a:r>
            <a:r>
              <a:rPr lang="en-US" sz="1800" dirty="0">
                <a:solidFill>
                  <a:srgbClr val="FF0000"/>
                </a:solidFill>
              </a:rPr>
              <a:t>("Welcome to You!")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程序控制结构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70875" cy="3810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ea typeface="+mj-lt"/>
                <a:cs typeface="Arial" panose="020B0604020202020204" pitchFamily="34" charset="0"/>
              </a:rPr>
              <a:t>    </a:t>
            </a:r>
            <a:r>
              <a:rPr lang="zh-CN" altLang="en-US" sz="1800" dirty="0">
                <a:cs typeface="Arial" panose="020B0604020202020204" pitchFamily="34" charset="0"/>
              </a:rPr>
              <a:t>在网页设计中</a:t>
            </a:r>
            <a:r>
              <a:rPr lang="en-US" altLang="zh-CN" sz="1800" dirty="0">
                <a:cs typeface="Arial" panose="020B0604020202020204" pitchFamily="34" charset="0"/>
              </a:rPr>
              <a:t>JavaScript</a:t>
            </a:r>
            <a:r>
              <a:rPr lang="zh-CN" altLang="en-US" sz="1800" dirty="0">
                <a:cs typeface="Arial" panose="020B0604020202020204" pitchFamily="34" charset="0"/>
              </a:rPr>
              <a:t>的主要作用是实现内容与行为的分离，而要实现交互式的页面必须编写相应的脚本程序。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1800" dirty="0">
              <a:cs typeface="Arial" panose="020B0604020202020204" pitchFamily="34" charset="0"/>
            </a:endParaRPr>
          </a:p>
          <a:p>
            <a:pPr marL="679450" indent="-236855">
              <a:lnSpc>
                <a:spcPct val="150000"/>
              </a:lnSpc>
            </a:pPr>
            <a:r>
              <a:rPr lang="en-US" altLang="zh-CN" sz="1800" dirty="0">
                <a:cs typeface="Arial" panose="020B0604020202020204" pitchFamily="34" charset="0"/>
              </a:rPr>
              <a:t>JavaScript</a:t>
            </a:r>
            <a:r>
              <a:rPr lang="zh-CN" altLang="en-US" sz="1800" dirty="0">
                <a:cs typeface="Arial" panose="020B0604020202020204" pitchFamily="34" charset="0"/>
              </a:rPr>
              <a:t>程序设计分为两种</a:t>
            </a:r>
            <a:r>
              <a:rPr lang="en-US" altLang="zh-CN" sz="1800" dirty="0">
                <a:cs typeface="Arial" panose="020B0604020202020204" pitchFamily="34" charset="0"/>
              </a:rPr>
              <a:t>:</a:t>
            </a:r>
          </a:p>
          <a:p>
            <a:pPr marL="679450" indent="-236855">
              <a:lnSpc>
                <a:spcPct val="150000"/>
              </a:lnSpc>
              <a:buNone/>
            </a:pPr>
            <a:r>
              <a:rPr lang="zh-CN" altLang="en-US" sz="1800" dirty="0">
                <a:cs typeface="Arial" panose="020B0604020202020204" pitchFamily="34" charset="0"/>
              </a:rPr>
              <a:t>面向过程和面向对象的程序设计。</a:t>
            </a:r>
          </a:p>
          <a:p>
            <a:pPr marL="679450" indent="-236855">
              <a:lnSpc>
                <a:spcPct val="150000"/>
              </a:lnSpc>
            </a:pPr>
            <a:r>
              <a:rPr lang="zh-CN" altLang="en-US" sz="1800" dirty="0">
                <a:cs typeface="Arial" panose="020B0604020202020204" pitchFamily="34" charset="0"/>
              </a:rPr>
              <a:t>程序控制结构：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marL="679450" indent="-236855">
              <a:lnSpc>
                <a:spcPct val="150000"/>
              </a:lnSpc>
              <a:buNone/>
            </a:pPr>
            <a:r>
              <a:rPr lang="zh-CN" altLang="en-US" sz="1800" dirty="0">
                <a:cs typeface="Arial" panose="020B0604020202020204" pitchFamily="34" charset="0"/>
              </a:rPr>
              <a:t>顺序结构、分支结构和循环结构。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顺序结构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55445"/>
            <a:ext cx="8258810" cy="8591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800" dirty="0"/>
              <a:t>       顺序结构是最常用的一种程序结构，是按照语句出现的顺序，从第一条语句开始一步一步逐条执行，直至最后一条语句。</a:t>
            </a:r>
          </a:p>
          <a:p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400" y="2590800"/>
            <a:ext cx="6400165" cy="2966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dirty="0"/>
              <a:t>&lt;html&gt;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&lt;head&gt;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&lt;title&gt;顺序结构使用实例&lt;/title&gt;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&lt;/head&gt;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&lt;body&gt;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&lt;script type="text/javascript"&gt;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var radius = 6;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var circumference = 2 * Math.PI * radius;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var area = Math.PI * radius * radius;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alert("圆的周长为" + circumference+"\n"+"圆的面积为" + area);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&lt;/script&gt;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&lt;/body&gt;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&lt;/html&gt;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839460" y="3281680"/>
            <a:ext cx="2333625" cy="87868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顺序结构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练习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440430" y="1677670"/>
            <a:ext cx="4783455" cy="3808730"/>
          </a:xfr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</a:extLst>
        </p:spPr>
        <p:txBody>
          <a:bodyPr/>
          <a:lstStyle/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&lt;html&gt;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&lt;body&gt;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&lt;script type="text/</a:t>
            </a:r>
            <a:r>
              <a:rPr lang="en-US" altLang="zh-CN" sz="1600" dirty="0" err="1">
                <a:solidFill>
                  <a:schemeClr val="tx1"/>
                </a:solidFill>
              </a:rPr>
              <a:t>javascript</a:t>
            </a:r>
            <a:r>
              <a:rPr lang="en-US" altLang="zh-CN" sz="1600" dirty="0">
                <a:solidFill>
                  <a:schemeClr val="tx1"/>
                </a:solidFill>
              </a:rPr>
              <a:t>"&gt;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//</a:t>
            </a:r>
            <a:r>
              <a:rPr lang="zh-CN" altLang="en-US" sz="1600" dirty="0">
                <a:solidFill>
                  <a:schemeClr val="tx1"/>
                </a:solidFill>
              </a:rPr>
              <a:t>计算三个数的平均值</a:t>
            </a:r>
          </a:p>
          <a:p>
            <a:pPr>
              <a:lnSpc>
                <a:spcPts val="17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	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x=200,y=300,z=400;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	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average=(</a:t>
            </a:r>
            <a:r>
              <a:rPr lang="en-US" altLang="zh-CN" sz="1600" dirty="0" err="1">
                <a:solidFill>
                  <a:schemeClr val="tx1"/>
                </a:solidFill>
              </a:rPr>
              <a:t>x+y+z</a:t>
            </a:r>
            <a:r>
              <a:rPr lang="en-US" altLang="zh-CN" sz="1600" dirty="0">
                <a:solidFill>
                  <a:schemeClr val="tx1"/>
                </a:solidFill>
              </a:rPr>
              <a:t>)/3;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</a:t>
            </a:r>
            <a:r>
              <a:rPr lang="en-US" altLang="zh-CN" sz="1600" dirty="0" err="1">
                <a:solidFill>
                  <a:schemeClr val="tx1"/>
                </a:solidFill>
              </a:rPr>
              <a:t>document.write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avrage</a:t>
            </a:r>
            <a:r>
              <a:rPr lang="en-US" altLang="zh-CN" sz="1600" dirty="0">
                <a:solidFill>
                  <a:schemeClr val="tx1"/>
                </a:solidFill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	   alert(</a:t>
            </a:r>
            <a:r>
              <a:rPr lang="en-US" altLang="zh-CN" sz="1600" dirty="0" err="1">
                <a:solidFill>
                  <a:schemeClr val="tx1"/>
                </a:solidFill>
              </a:rPr>
              <a:t>avrage</a:t>
            </a:r>
            <a:r>
              <a:rPr lang="en-US" altLang="zh-CN" sz="1600" dirty="0">
                <a:solidFill>
                  <a:schemeClr val="tx1"/>
                </a:solidFill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&lt;/script&gt;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&lt;/body&gt;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&lt;/html&gt;</a:t>
            </a:r>
          </a:p>
        </p:txBody>
      </p:sp>
      <p:sp>
        <p:nvSpPr>
          <p:cNvPr id="5" name="矩形 4"/>
          <p:cNvSpPr/>
          <p:nvPr/>
        </p:nvSpPr>
        <p:spPr>
          <a:xfrm>
            <a:off x="713104" y="2634496"/>
            <a:ext cx="2563495" cy="1198880"/>
          </a:xfrm>
          <a:prstGeom prst="rect">
            <a:avLst/>
          </a:prstGeom>
          <a:solidFill>
            <a:schemeClr val="bg1"/>
          </a:solidFill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lvl="0" latinLnBrk="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写一段代码，定义三个整数变量并任意赋初值，求它们的平均值并用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alert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语句输出。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 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57350"/>
            <a:ext cx="7823835" cy="3792220"/>
          </a:xfrm>
        </p:spPr>
        <p:txBody>
          <a:bodyPr/>
          <a:lstStyle/>
          <a:p>
            <a:pPr marL="447675" indent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     在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JavaScript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中，可以使用下面几种条件语句：</a:t>
            </a:r>
          </a:p>
          <a:p>
            <a:pPr marL="447675" indent="0">
              <a:lnSpc>
                <a:spcPct val="100000"/>
              </a:lnSpc>
              <a:buNone/>
            </a:pPr>
            <a:endParaRPr lang="zh-CN" altLang="en-US" sz="1800" dirty="0">
              <a:solidFill>
                <a:schemeClr val="tx1"/>
              </a:solidFill>
              <a:sym typeface="+mn-ea"/>
            </a:endParaRPr>
          </a:p>
          <a:p>
            <a:pPr lvl="1" indent="0">
              <a:lnSpc>
                <a:spcPct val="100000"/>
              </a:lnSpc>
              <a:buClr>
                <a:schemeClr val="accent2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if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语句（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单条件单分支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）：在一个指定的条件成立时执行代码。</a:t>
            </a:r>
          </a:p>
          <a:p>
            <a:pPr lvl="1" indent="0">
              <a:lnSpc>
                <a:spcPct val="100000"/>
              </a:lnSpc>
              <a:buClr>
                <a:schemeClr val="accent2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if...else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语句（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单条件双分支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）：在指定的条件成立时执行代码，当条件不成立时执行另外的代码。</a:t>
            </a:r>
          </a:p>
          <a:p>
            <a:pPr lvl="1" indent="0">
              <a:lnSpc>
                <a:spcPct val="100000"/>
              </a:lnSpc>
              <a:buClr>
                <a:schemeClr val="accent2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if...else if....else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语句（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多条件多分支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）：使用这个语句可以选择执行若干块代码中的一个。</a:t>
            </a:r>
          </a:p>
          <a:p>
            <a:pPr lvl="1" indent="0">
              <a:lnSpc>
                <a:spcPct val="100000"/>
              </a:lnSpc>
              <a:buClr>
                <a:schemeClr val="accent2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switch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语句（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单条件多分支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）：使用这个语句可以选择执行</a:t>
            </a:r>
            <a:r>
              <a:rPr lang="zh-CN" altLang="en-US" sz="1800" u="sng" dirty="0">
                <a:solidFill>
                  <a:schemeClr val="tx1"/>
                </a:solidFill>
                <a:sym typeface="+mn-ea"/>
              </a:rPr>
              <a:t>若干块代码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中的一个。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分支结构</a:t>
            </a:r>
            <a:r>
              <a:rPr lang="en-US" altLang="zh-CN" dirty="0">
                <a:sym typeface="+mn-ea"/>
              </a:rPr>
              <a:t>-if</a:t>
            </a:r>
            <a:r>
              <a:rPr lang="zh-CN" altLang="zh-CN" dirty="0">
                <a:sym typeface="+mn-ea"/>
              </a:rPr>
              <a:t>语句</a:t>
            </a:r>
            <a:r>
              <a:rPr lang="en-US" altLang="zh-CN" dirty="0">
                <a:sym typeface="+mn-ea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idx="1"/>
          </p:nvPr>
        </p:nvSpPr>
        <p:spPr>
          <a:xfrm>
            <a:off x="371475" y="2678430"/>
            <a:ext cx="4641215" cy="2219325"/>
          </a:xfr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normAutofit/>
          </a:bodyPr>
          <a:lstStyle/>
          <a:p>
            <a:pPr marL="533400" indent="-533400">
              <a:buNone/>
            </a:pPr>
            <a:r>
              <a:rPr lang="en-US" altLang="zh-CN" sz="1600" dirty="0">
                <a:latin typeface="+mn-lt"/>
                <a:cs typeface="+mn-lt"/>
              </a:rPr>
              <a:t>&lt;script type="text/</a:t>
            </a:r>
            <a:r>
              <a:rPr lang="en-US" altLang="zh-CN" sz="1600" dirty="0" err="1">
                <a:latin typeface="+mn-lt"/>
                <a:cs typeface="+mn-lt"/>
              </a:rPr>
              <a:t>javascript</a:t>
            </a:r>
            <a:r>
              <a:rPr lang="en-US" altLang="zh-CN" sz="1600" dirty="0">
                <a:latin typeface="+mn-lt"/>
                <a:cs typeface="+mn-lt"/>
              </a:rPr>
              <a:t>"&gt;</a:t>
            </a:r>
          </a:p>
          <a:p>
            <a:pPr marL="533400" indent="-533400">
              <a:buNone/>
            </a:pPr>
            <a:r>
              <a:rPr lang="en-US" altLang="zh-CN" sz="1600" dirty="0">
                <a:latin typeface="+mn-lt"/>
                <a:cs typeface="+mn-lt"/>
              </a:rPr>
              <a:t>       </a:t>
            </a:r>
            <a:r>
              <a:rPr lang="en-US" altLang="zh-CN" sz="1600" dirty="0" err="1">
                <a:latin typeface="+mn-lt"/>
                <a:cs typeface="+mn-lt"/>
              </a:rPr>
              <a:t>var</a:t>
            </a:r>
            <a:r>
              <a:rPr lang="en-US" altLang="zh-CN" sz="1600" dirty="0">
                <a:latin typeface="+mn-lt"/>
                <a:cs typeface="+mn-lt"/>
              </a:rPr>
              <a:t> x=78</a:t>
            </a:r>
            <a:r>
              <a:rPr lang="zh-CN" altLang="en-US" sz="1600" dirty="0">
                <a:latin typeface="+mn-lt"/>
                <a:cs typeface="+mn-lt"/>
              </a:rPr>
              <a:t>；</a:t>
            </a:r>
          </a:p>
          <a:p>
            <a:pPr marL="533400" indent="-533400">
              <a:buNone/>
            </a:pPr>
            <a:r>
              <a:rPr lang="zh-CN" altLang="en-US" sz="1600" dirty="0">
                <a:latin typeface="+mn-lt"/>
                <a:cs typeface="+mn-lt"/>
              </a:rPr>
              <a:t>       </a:t>
            </a:r>
            <a:r>
              <a:rPr lang="en-US" altLang="zh-CN" sz="1600" dirty="0">
                <a:latin typeface="+mn-lt"/>
                <a:cs typeface="+mn-lt"/>
              </a:rPr>
              <a:t>if (x&gt;=60)  {alert(“1-</a:t>
            </a:r>
            <a:r>
              <a:rPr lang="zh-CN" altLang="en-US" sz="1600" dirty="0">
                <a:latin typeface="+mn-lt"/>
                <a:cs typeface="+mn-lt"/>
              </a:rPr>
              <a:t>通过考试！</a:t>
            </a:r>
            <a:r>
              <a:rPr lang="en-US" altLang="zh-CN" sz="1600" dirty="0">
                <a:latin typeface="+mn-lt"/>
                <a:cs typeface="+mn-lt"/>
              </a:rPr>
              <a:t>");}</a:t>
            </a:r>
          </a:p>
          <a:p>
            <a:pPr marL="533400" indent="-533400">
              <a:buNone/>
            </a:pPr>
            <a:r>
              <a:rPr lang="en-US" altLang="zh-CN" sz="1600" dirty="0">
                <a:latin typeface="+mn-lt"/>
                <a:cs typeface="+mn-lt"/>
              </a:rPr>
              <a:t>	alert(“2-</a:t>
            </a:r>
            <a:r>
              <a:rPr lang="zh-CN" altLang="en-US" sz="1600" dirty="0">
                <a:latin typeface="+mn-lt"/>
                <a:cs typeface="+mn-lt"/>
              </a:rPr>
              <a:t>程序结束！</a:t>
            </a:r>
            <a:r>
              <a:rPr lang="en-US" altLang="zh-CN" sz="1600" dirty="0">
                <a:latin typeface="+mn-lt"/>
                <a:cs typeface="+mn-lt"/>
              </a:rPr>
              <a:t>");</a:t>
            </a:r>
          </a:p>
          <a:p>
            <a:pPr marL="533400" indent="-533400">
              <a:buNone/>
            </a:pPr>
            <a:r>
              <a:rPr lang="en-US" altLang="zh-CN" sz="1600" dirty="0">
                <a:latin typeface="+mn-lt"/>
                <a:cs typeface="+mn-lt"/>
              </a:rPr>
              <a:t> &lt;/script&gt;</a:t>
            </a:r>
          </a:p>
        </p:txBody>
      </p:sp>
      <p:sp>
        <p:nvSpPr>
          <p:cNvPr id="4" name="矩形 3"/>
          <p:cNvSpPr/>
          <p:nvPr/>
        </p:nvSpPr>
        <p:spPr>
          <a:xfrm>
            <a:off x="533400" y="1657350"/>
            <a:ext cx="4565015" cy="645160"/>
          </a:xfrm>
          <a:prstGeom prst="rect">
            <a:avLst/>
          </a:prstGeom>
          <a:solidFill>
            <a:schemeClr val="bg1"/>
          </a:solidFill>
          <a:ln w="38100">
            <a:noFill/>
            <a:miter/>
          </a:ln>
          <a:effectLst/>
        </p:spPr>
        <p:txBody>
          <a:bodyPr wrap="square" anchor="t">
            <a:spAutoFit/>
          </a:bodyPr>
          <a:lstStyle/>
          <a:p>
            <a:pPr lvl="0" latinLnBrk="1">
              <a:buClr>
                <a:srgbClr val="000000"/>
              </a:buClr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1.if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条件为真执行代码。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If 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条件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 {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语句块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}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486400" y="1782604"/>
            <a:ext cx="3201035" cy="2103596"/>
            <a:chOff x="3333" y="709"/>
            <a:chExt cx="2269" cy="2404"/>
          </a:xfrm>
        </p:grpSpPr>
        <p:sp>
          <p:nvSpPr>
            <p:cNvPr id="10" name="流程图: 决策 9"/>
            <p:cNvSpPr/>
            <p:nvPr/>
          </p:nvSpPr>
          <p:spPr>
            <a:xfrm>
              <a:off x="3333" y="1161"/>
              <a:ext cx="1225" cy="545"/>
            </a:xfrm>
            <a:prstGeom prst="flowChartDecision">
              <a:avLst/>
            </a:prstGeom>
            <a:solidFill>
              <a:srgbClr val="0000FA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表达式为真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606" y="709"/>
              <a:ext cx="1996" cy="2404"/>
              <a:chOff x="3606" y="935"/>
              <a:chExt cx="1996" cy="2449"/>
            </a:xfrm>
          </p:grpSpPr>
          <p:sp>
            <p:nvSpPr>
              <p:cNvPr id="12" name="直接连接符 11"/>
              <p:cNvSpPr/>
              <p:nvPr/>
            </p:nvSpPr>
            <p:spPr>
              <a:xfrm>
                <a:off x="3923" y="935"/>
                <a:ext cx="0" cy="40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4876" y="1434"/>
                <a:ext cx="726" cy="408"/>
              </a:xfrm>
              <a:prstGeom prst="rect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lvl="0" algn="ctr" latinLnBrk="1">
                  <a:buClr>
                    <a:srgbClr val="000000"/>
                  </a:buClr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语句组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3606" y="2477"/>
                <a:ext cx="726" cy="408"/>
              </a:xfrm>
              <a:prstGeom prst="rect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lvl="0" algn="ctr" latinLnBrk="1">
                  <a:buClr>
                    <a:srgbClr val="000000"/>
                  </a:buClr>
                </a:pPr>
                <a:r>
                  <a:rPr lang="zh-CN" altLang="en-US" sz="18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后续语句</a:t>
                </a:r>
              </a:p>
            </p:txBody>
          </p:sp>
          <p:sp>
            <p:nvSpPr>
              <p:cNvPr id="15" name="直接连接符 14"/>
              <p:cNvSpPr/>
              <p:nvPr/>
            </p:nvSpPr>
            <p:spPr>
              <a:xfrm>
                <a:off x="4514" y="1661"/>
                <a:ext cx="362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直接连接符 15"/>
              <p:cNvSpPr/>
              <p:nvPr/>
            </p:nvSpPr>
            <p:spPr>
              <a:xfrm>
                <a:off x="3969" y="1978"/>
                <a:ext cx="0" cy="499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直接连接符 16"/>
              <p:cNvSpPr/>
              <p:nvPr/>
            </p:nvSpPr>
            <p:spPr>
              <a:xfrm>
                <a:off x="3969" y="2885"/>
                <a:ext cx="0" cy="499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8" name="肘形连接符 17"/>
              <p:cNvCxnSpPr>
                <a:stCxn id="13" idx="2"/>
              </p:cNvCxnSpPr>
              <p:nvPr/>
            </p:nvCxnSpPr>
            <p:spPr>
              <a:xfrm rot="5400000">
                <a:off x="4406" y="1463"/>
                <a:ext cx="442" cy="1224"/>
              </a:xfrm>
              <a:prstGeom prst="bentConnector2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</p:cxnSp>
          <p:sp>
            <p:nvSpPr>
              <p:cNvPr id="20" name="直接连接符 19"/>
              <p:cNvSpPr/>
              <p:nvPr/>
            </p:nvSpPr>
            <p:spPr>
              <a:xfrm>
                <a:off x="3923" y="935"/>
                <a:ext cx="0" cy="40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4876" y="1434"/>
                <a:ext cx="726" cy="408"/>
              </a:xfrm>
              <a:prstGeom prst="rect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lvl="0" algn="ctr" latinLnBrk="1">
                  <a:buClr>
                    <a:srgbClr val="000000"/>
                  </a:buClr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语句组</a:t>
                </a: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606" y="2477"/>
                <a:ext cx="726" cy="408"/>
              </a:xfrm>
              <a:prstGeom prst="rect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lvl="0" algn="ctr" latinLnBrk="1">
                  <a:buClr>
                    <a:srgbClr val="000000"/>
                  </a:buClr>
                </a:pPr>
                <a:r>
                  <a:rPr lang="zh-CN" altLang="en-US" sz="18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后续语句</a:t>
                </a:r>
              </a:p>
            </p:txBody>
          </p:sp>
          <p:sp>
            <p:nvSpPr>
              <p:cNvPr id="23" name="直接连接符 22"/>
              <p:cNvSpPr/>
              <p:nvPr/>
            </p:nvSpPr>
            <p:spPr>
              <a:xfrm>
                <a:off x="4514" y="1661"/>
                <a:ext cx="362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直接连接符 23"/>
              <p:cNvSpPr/>
              <p:nvPr/>
            </p:nvSpPr>
            <p:spPr>
              <a:xfrm>
                <a:off x="3969" y="1978"/>
                <a:ext cx="0" cy="499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直接连接符 24"/>
              <p:cNvSpPr/>
              <p:nvPr/>
            </p:nvSpPr>
            <p:spPr>
              <a:xfrm>
                <a:off x="3969" y="2885"/>
                <a:ext cx="0" cy="499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26" name="肘形连接符 25"/>
              <p:cNvCxnSpPr>
                <a:stCxn id="21" idx="2"/>
              </p:cNvCxnSpPr>
              <p:nvPr/>
            </p:nvCxnSpPr>
            <p:spPr>
              <a:xfrm rot="5400000">
                <a:off x="4406" y="1463"/>
                <a:ext cx="442" cy="1224"/>
              </a:xfrm>
              <a:prstGeom prst="bentConnector2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triangle" w="med" len="med"/>
              </a:ln>
              <a:effectLst>
                <a:outerShdw dist="107763" dir="2699999" algn="ctr" rotWithShape="0">
                  <a:srgbClr val="808080">
                    <a:alpha val="50000"/>
                  </a:srgbClr>
                </a:outerShdw>
              </a:effectLst>
            </p:spPr>
          </p:cxnSp>
          <p:sp>
            <p:nvSpPr>
              <p:cNvPr id="27" name="文本框 26"/>
              <p:cNvSpPr txBox="1"/>
              <p:nvPr/>
            </p:nvSpPr>
            <p:spPr>
              <a:xfrm>
                <a:off x="4514" y="1389"/>
                <a:ext cx="272" cy="536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spAutoFit/>
              </a:bodyPr>
              <a:lstStyle/>
              <a:p>
                <a:pPr lvl="0" latinLnBrk="1">
                  <a:spcBef>
                    <a:spcPct val="50000"/>
                  </a:spcBef>
                  <a:buClr>
                    <a:srgbClr val="000000"/>
                  </a:buClr>
                </a:pPr>
                <a:endParaRPr lang="zh-CN" alt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28" name="直接连接符 27"/>
            <p:cNvSpPr/>
            <p:nvPr/>
          </p:nvSpPr>
          <p:spPr>
            <a:xfrm>
              <a:off x="3923" y="709"/>
              <a:ext cx="0" cy="401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4876" y="1199"/>
              <a:ext cx="726" cy="400"/>
            </a:xfrm>
            <a:prstGeom prst="rect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5400000" scaled="1"/>
              <a:tileRect/>
            </a:gra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2000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语句组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3606" y="2223"/>
              <a:ext cx="726" cy="400"/>
            </a:xfrm>
            <a:prstGeom prst="rect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5400000" scaled="1"/>
              <a:tileRect/>
            </a:gra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后续语句</a:t>
              </a:r>
            </a:p>
          </p:txBody>
        </p:sp>
        <p:sp>
          <p:nvSpPr>
            <p:cNvPr id="31" name="直接连接符 30"/>
            <p:cNvSpPr/>
            <p:nvPr/>
          </p:nvSpPr>
          <p:spPr>
            <a:xfrm>
              <a:off x="4514" y="1422"/>
              <a:ext cx="36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直接连接符 31"/>
            <p:cNvSpPr/>
            <p:nvPr/>
          </p:nvSpPr>
          <p:spPr>
            <a:xfrm>
              <a:off x="3969" y="1733"/>
              <a:ext cx="0" cy="49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" name="肘形连接符 33"/>
            <p:cNvCxnSpPr>
              <a:stCxn id="29" idx="2"/>
            </p:cNvCxnSpPr>
            <p:nvPr/>
          </p:nvCxnSpPr>
          <p:spPr>
            <a:xfrm rot="5400000">
              <a:off x="4410" y="1216"/>
              <a:ext cx="434" cy="1224"/>
            </a:xfrm>
            <a:prstGeom prst="bentConnector2">
              <a:avLst/>
            </a:prstGeom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</p:cxnSp>
        <p:sp>
          <p:nvSpPr>
            <p:cNvPr id="36" name="直接连接符 35"/>
            <p:cNvSpPr/>
            <p:nvPr/>
          </p:nvSpPr>
          <p:spPr>
            <a:xfrm>
              <a:off x="3923" y="709"/>
              <a:ext cx="0" cy="401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4876" y="1199"/>
              <a:ext cx="726" cy="400"/>
            </a:xfrm>
            <a:prstGeom prst="rect">
              <a:avLst/>
            </a:prstGeom>
            <a:solidFill>
              <a:srgbClr val="0000FA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语句块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3606" y="2223"/>
              <a:ext cx="726" cy="400"/>
            </a:xfrm>
            <a:prstGeom prst="rect">
              <a:avLst/>
            </a:prstGeom>
            <a:solidFill>
              <a:srgbClr val="0000FA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后续语句</a:t>
              </a:r>
            </a:p>
          </p:txBody>
        </p:sp>
        <p:sp>
          <p:nvSpPr>
            <p:cNvPr id="39" name="直接连接符 38"/>
            <p:cNvSpPr/>
            <p:nvPr/>
          </p:nvSpPr>
          <p:spPr>
            <a:xfrm>
              <a:off x="4514" y="1422"/>
              <a:ext cx="36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直接连接符 39"/>
            <p:cNvSpPr/>
            <p:nvPr/>
          </p:nvSpPr>
          <p:spPr>
            <a:xfrm>
              <a:off x="3969" y="1733"/>
              <a:ext cx="0" cy="49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2" name="肘形连接符 41"/>
            <p:cNvCxnSpPr>
              <a:stCxn id="37" idx="2"/>
            </p:cNvCxnSpPr>
            <p:nvPr/>
          </p:nvCxnSpPr>
          <p:spPr>
            <a:xfrm rot="5400000">
              <a:off x="4410" y="1216"/>
              <a:ext cx="434" cy="1224"/>
            </a:xfrm>
            <a:prstGeom prst="bentConnector2">
              <a:avLst/>
            </a:prstGeom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</p:cxnSp>
        <p:sp>
          <p:nvSpPr>
            <p:cNvPr id="43" name="文本框 42"/>
            <p:cNvSpPr txBox="1"/>
            <p:nvPr/>
          </p:nvSpPr>
          <p:spPr>
            <a:xfrm>
              <a:off x="4521" y="954"/>
              <a:ext cx="272" cy="421"/>
            </a:xfrm>
            <a:prstGeom prst="rect">
              <a:avLst/>
            </a:prstGeom>
            <a:noFill/>
            <a:ln w="38100">
              <a:noFill/>
              <a:miter/>
            </a:ln>
          </p:spPr>
          <p:txBody>
            <a:bodyPr>
              <a:spAutoFit/>
            </a:bodyPr>
            <a:lstStyle/>
            <a:p>
              <a:pPr lvl="0" latinLnBrk="1">
                <a:spcBef>
                  <a:spcPct val="50000"/>
                </a:spcBef>
                <a:buClr>
                  <a:srgbClr val="000000"/>
                </a:buClr>
              </a:pPr>
              <a:r>
                <a:rPr lang="zh-CN" altLang="en-US" sz="1800" b="1" dirty="0">
                  <a:solidFill>
                    <a:srgbClr val="3333FF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是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267200" y="4114800"/>
            <a:ext cx="1924050" cy="1321594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7005956" y="4114801"/>
            <a:ext cx="1857375" cy="1335881"/>
          </a:xfrm>
          <a:prstGeom prst="rect">
            <a:avLst/>
          </a:prstGeom>
          <a:noFill/>
          <a:ln w="38100">
            <a:noFill/>
            <a:miter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分支结构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/>
              <a:t>if-else</a:t>
            </a:r>
            <a:r>
              <a:rPr lang="zh-CN" altLang="en-US" dirty="0"/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325120" y="2286000"/>
            <a:ext cx="5902960" cy="2892425"/>
          </a:xfr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normAutofit fontScale="90000"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&lt;script type="text/</a:t>
            </a:r>
            <a:r>
              <a:rPr lang="en-US" altLang="zh-CN" sz="1800" dirty="0" err="1">
                <a:latin typeface="Verdana" panose="020B0604030504040204" pitchFamily="34" charset="0"/>
              </a:rPr>
              <a:t>javascript</a:t>
            </a:r>
            <a:r>
              <a:rPr lang="en-US" altLang="zh-CN" sz="1800" dirty="0">
                <a:latin typeface="Verdana" panose="020B0604030504040204" pitchFamily="34" charset="0"/>
              </a:rPr>
              <a:t>"&gt;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//</a:t>
            </a:r>
            <a:r>
              <a:rPr lang="zh-CN" altLang="en-US" sz="1800" dirty="0">
                <a:latin typeface="Verdana" panose="020B0604030504040204" pitchFamily="34" charset="0"/>
              </a:rPr>
              <a:t>判断成绩是否通过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   </a:t>
            </a:r>
            <a:r>
              <a:rPr lang="en-US" altLang="zh-CN" sz="1800" dirty="0" err="1">
                <a:latin typeface="Verdana" panose="020B0604030504040204" pitchFamily="34" charset="0"/>
              </a:rPr>
              <a:t>var</a:t>
            </a:r>
            <a:r>
              <a:rPr lang="en-US" altLang="zh-CN" sz="1800" dirty="0">
                <a:latin typeface="Verdana" panose="020B0604030504040204" pitchFamily="34" charset="0"/>
              </a:rPr>
              <a:t> x=55;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Verdana" panose="020B0604030504040204" pitchFamily="34" charset="0"/>
              </a:rPr>
              <a:t>   </a:t>
            </a:r>
            <a:r>
              <a:rPr lang="en-US" altLang="zh-CN" sz="1800" dirty="0">
                <a:latin typeface="Verdana" panose="020B0604030504040204" pitchFamily="34" charset="0"/>
              </a:rPr>
              <a:t>if (x&gt;=60)</a:t>
            </a:r>
            <a:r>
              <a:rPr lang="en-US" altLang="zh-CN" sz="1800" dirty="0">
                <a:latin typeface="Verdana" panose="020B0604030504040204" pitchFamily="34" charset="0"/>
                <a:sym typeface="+mn-ea"/>
              </a:rPr>
              <a:t>{</a:t>
            </a:r>
            <a:endParaRPr lang="en-US" altLang="zh-CN" sz="1800" dirty="0">
              <a:latin typeface="Verdana" panose="020B060403050404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       alert("1--</a:t>
            </a:r>
            <a:r>
              <a:rPr lang="zh-CN" altLang="en-US" sz="1800" dirty="0">
                <a:latin typeface="Verdana" panose="020B0604030504040204" pitchFamily="34" charset="0"/>
              </a:rPr>
              <a:t>考试通过！</a:t>
            </a:r>
            <a:r>
              <a:rPr lang="en-US" altLang="zh-CN" sz="1800" dirty="0">
                <a:latin typeface="Verdana" panose="020B0604030504040204" pitchFamily="34" charset="0"/>
              </a:rPr>
              <a:t>");}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   else{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      alert("2--55</a:t>
            </a:r>
            <a:r>
              <a:rPr lang="zh-CN" altLang="en-US" sz="1800" dirty="0">
                <a:latin typeface="Verdana" panose="020B0604030504040204" pitchFamily="34" charset="0"/>
              </a:rPr>
              <a:t>分</a:t>
            </a:r>
            <a:r>
              <a:rPr lang="en-US" altLang="zh-CN" sz="1800" dirty="0">
                <a:latin typeface="Verdana" panose="020B0604030504040204" pitchFamily="34" charset="0"/>
              </a:rPr>
              <a:t>\n\r</a:t>
            </a:r>
            <a:r>
              <a:rPr lang="zh-CN" altLang="en-US" sz="1800" dirty="0">
                <a:latin typeface="Verdana" panose="020B0604030504040204" pitchFamily="34" charset="0"/>
              </a:rPr>
              <a:t>考试未通过！</a:t>
            </a:r>
            <a:r>
              <a:rPr lang="en-US" altLang="zh-CN" sz="1800" dirty="0">
                <a:latin typeface="Verdana" panose="020B0604030504040204" pitchFamily="34" charset="0"/>
              </a:rPr>
              <a:t>");}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   alert("3--</a:t>
            </a:r>
            <a:r>
              <a:rPr lang="zh-CN" altLang="en-US" sz="1800" dirty="0">
                <a:latin typeface="Verdana" panose="020B0604030504040204" pitchFamily="34" charset="0"/>
              </a:rPr>
              <a:t>程序结束！</a:t>
            </a:r>
            <a:r>
              <a:rPr lang="en-US" altLang="zh-CN" sz="1800" dirty="0">
                <a:latin typeface="Verdana" panose="020B0604030504040204" pitchFamily="34" charset="0"/>
              </a:rPr>
              <a:t>");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&lt;/script&gt;</a:t>
            </a:r>
          </a:p>
        </p:txBody>
      </p:sp>
      <p:sp>
        <p:nvSpPr>
          <p:cNvPr id="4" name="矩形 3"/>
          <p:cNvSpPr/>
          <p:nvPr/>
        </p:nvSpPr>
        <p:spPr>
          <a:xfrm>
            <a:off x="325120" y="1359535"/>
            <a:ext cx="5457825" cy="368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/>
          </a:ln>
          <a:effectLst/>
        </p:spPr>
        <p:txBody>
          <a:bodyPr wrap="square">
            <a:spAutoFit/>
          </a:bodyPr>
          <a:lstStyle/>
          <a:p>
            <a:pPr lvl="1" latinLnBrk="1">
              <a:buClr>
                <a:srgbClr val="000000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if (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条件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){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 真条件语句块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;}else{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 假条件语句块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; }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800600" y="2286000"/>
            <a:ext cx="4038601" cy="1959769"/>
            <a:chOff x="793" y="1253"/>
            <a:chExt cx="3358" cy="2404"/>
          </a:xfrm>
        </p:grpSpPr>
        <p:sp>
          <p:nvSpPr>
            <p:cNvPr id="7" name="流程图: 决策 6"/>
            <p:cNvSpPr/>
            <p:nvPr/>
          </p:nvSpPr>
          <p:spPr>
            <a:xfrm>
              <a:off x="1882" y="1706"/>
              <a:ext cx="1225" cy="545"/>
            </a:xfrm>
            <a:prstGeom prst="flowChartDecision">
              <a:avLst/>
            </a:prstGeom>
            <a:solidFill>
              <a:srgbClr val="0000FA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表达式为真</a:t>
              </a:r>
            </a:p>
          </p:txBody>
        </p:sp>
        <p:sp>
          <p:nvSpPr>
            <p:cNvPr id="8" name="直接连接符 7"/>
            <p:cNvSpPr/>
            <p:nvPr/>
          </p:nvSpPr>
          <p:spPr>
            <a:xfrm>
              <a:off x="2472" y="1253"/>
              <a:ext cx="0" cy="401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425" y="1743"/>
              <a:ext cx="726" cy="400"/>
            </a:xfrm>
            <a:prstGeom prst="rect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5400000" scaled="1"/>
              <a:tileRect/>
            </a:gra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2000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语句组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155" y="2767"/>
              <a:ext cx="726" cy="400"/>
            </a:xfrm>
            <a:prstGeom prst="rect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5400000" scaled="1"/>
              <a:tileRect/>
            </a:gra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后续语句</a:t>
              </a:r>
            </a:p>
          </p:txBody>
        </p:sp>
        <p:sp>
          <p:nvSpPr>
            <p:cNvPr id="11" name="直接连接符 10"/>
            <p:cNvSpPr/>
            <p:nvPr/>
          </p:nvSpPr>
          <p:spPr>
            <a:xfrm>
              <a:off x="3063" y="1966"/>
              <a:ext cx="36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11"/>
            <p:cNvSpPr/>
            <p:nvPr/>
          </p:nvSpPr>
          <p:spPr>
            <a:xfrm>
              <a:off x="2518" y="3167"/>
              <a:ext cx="0" cy="49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" name="肘形连接符 12"/>
            <p:cNvCxnSpPr>
              <a:stCxn id="9" idx="2"/>
            </p:cNvCxnSpPr>
            <p:nvPr/>
          </p:nvCxnSpPr>
          <p:spPr>
            <a:xfrm rot="5400000">
              <a:off x="2959" y="1760"/>
              <a:ext cx="434" cy="1224"/>
            </a:xfrm>
            <a:prstGeom prst="bentConnector2">
              <a:avLst/>
            </a:prstGeom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</p:cxnSp>
        <p:sp>
          <p:nvSpPr>
            <p:cNvPr id="15" name="直接连接符 14"/>
            <p:cNvSpPr/>
            <p:nvPr/>
          </p:nvSpPr>
          <p:spPr>
            <a:xfrm>
              <a:off x="2472" y="1253"/>
              <a:ext cx="0" cy="401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425" y="1743"/>
              <a:ext cx="726" cy="400"/>
            </a:xfrm>
            <a:prstGeom prst="rect">
              <a:avLst/>
            </a:prstGeom>
            <a:solidFill>
              <a:srgbClr val="0000FA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语句块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2155" y="2767"/>
              <a:ext cx="726" cy="400"/>
            </a:xfrm>
            <a:prstGeom prst="rect">
              <a:avLst/>
            </a:prstGeom>
            <a:solidFill>
              <a:srgbClr val="0000FA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后续语句</a:t>
              </a:r>
            </a:p>
          </p:txBody>
        </p:sp>
        <p:sp>
          <p:nvSpPr>
            <p:cNvPr id="18" name="直接连接符 17"/>
            <p:cNvSpPr/>
            <p:nvPr/>
          </p:nvSpPr>
          <p:spPr>
            <a:xfrm>
              <a:off x="3063" y="1966"/>
              <a:ext cx="36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直接连接符 18"/>
            <p:cNvSpPr/>
            <p:nvPr/>
          </p:nvSpPr>
          <p:spPr>
            <a:xfrm>
              <a:off x="2517" y="3158"/>
              <a:ext cx="0" cy="49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0" name="肘形连接符 19"/>
            <p:cNvCxnSpPr/>
            <p:nvPr/>
          </p:nvCxnSpPr>
          <p:spPr>
            <a:xfrm rot="5400000">
              <a:off x="2957" y="1765"/>
              <a:ext cx="434" cy="1224"/>
            </a:xfrm>
            <a:prstGeom prst="bentConnector2">
              <a:avLst/>
            </a:prstGeom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</p:cxnSp>
        <p:sp>
          <p:nvSpPr>
            <p:cNvPr id="21" name="文本框 20"/>
            <p:cNvSpPr txBox="1"/>
            <p:nvPr/>
          </p:nvSpPr>
          <p:spPr>
            <a:xfrm>
              <a:off x="3063" y="1405"/>
              <a:ext cx="272" cy="489"/>
            </a:xfrm>
            <a:prstGeom prst="rect">
              <a:avLst/>
            </a:prstGeom>
            <a:noFill/>
            <a:ln w="38100">
              <a:noFill/>
              <a:miter/>
            </a:ln>
          </p:spPr>
          <p:txBody>
            <a:bodyPr>
              <a:spAutoFit/>
            </a:bodyPr>
            <a:lstStyle/>
            <a:p>
              <a:pPr lvl="0" latinLnBrk="1">
                <a:spcBef>
                  <a:spcPct val="50000"/>
                </a:spcBef>
                <a:buClr>
                  <a:srgbClr val="000000"/>
                </a:buClr>
              </a:pPr>
              <a:r>
                <a:rPr lang="zh-CN" altLang="en-US" sz="2000" b="1" dirty="0">
                  <a:solidFill>
                    <a:srgbClr val="0000FA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是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793" y="1797"/>
              <a:ext cx="726" cy="400"/>
            </a:xfrm>
            <a:prstGeom prst="rect">
              <a:avLst/>
            </a:prstGeom>
            <a:solidFill>
              <a:srgbClr val="0000FA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lvl="0" algn="ctr" latinLnBrk="1">
                <a:buClr>
                  <a:srgbClr val="000000"/>
                </a:buClr>
              </a:pPr>
              <a:r>
                <a:rPr lang="zh-CN" altLang="en-US" sz="1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语句块</a:t>
              </a:r>
            </a:p>
          </p:txBody>
        </p:sp>
        <p:sp>
          <p:nvSpPr>
            <p:cNvPr id="23" name="直接连接符 22"/>
            <p:cNvSpPr/>
            <p:nvPr/>
          </p:nvSpPr>
          <p:spPr>
            <a:xfrm flipH="1">
              <a:off x="1565" y="1979"/>
              <a:ext cx="317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10" y="1405"/>
              <a:ext cx="272" cy="489"/>
            </a:xfrm>
            <a:prstGeom prst="rect">
              <a:avLst/>
            </a:prstGeom>
            <a:noFill/>
            <a:ln w="38100">
              <a:noFill/>
              <a:miter/>
            </a:ln>
          </p:spPr>
          <p:txBody>
            <a:bodyPr>
              <a:spAutoFit/>
            </a:bodyPr>
            <a:lstStyle/>
            <a:p>
              <a:pPr lvl="0" latinLnBrk="1">
                <a:spcBef>
                  <a:spcPct val="50000"/>
                </a:spcBef>
                <a:buClr>
                  <a:srgbClr val="000000"/>
                </a:buClr>
              </a:pPr>
              <a:r>
                <a:rPr lang="zh-CN" altLang="en-US" sz="2000" b="1" dirty="0">
                  <a:solidFill>
                    <a:srgbClr val="0000FA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否</a:t>
              </a:r>
            </a:p>
          </p:txBody>
        </p:sp>
        <p:cxnSp>
          <p:nvCxnSpPr>
            <p:cNvPr id="25" name="肘形连接符 24"/>
            <p:cNvCxnSpPr>
              <a:stCxn id="22" idx="2"/>
            </p:cNvCxnSpPr>
            <p:nvPr/>
          </p:nvCxnSpPr>
          <p:spPr>
            <a:xfrm rot="-5400000" flipH="1">
              <a:off x="1656" y="1708"/>
              <a:ext cx="405" cy="1406"/>
            </a:xfrm>
            <a:prstGeom prst="bentConnector2">
              <a:avLst/>
            </a:prstGeom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</p:cxnSp>
        <p:sp>
          <p:nvSpPr>
            <p:cNvPr id="26" name="直接连接符 25"/>
            <p:cNvSpPr/>
            <p:nvPr/>
          </p:nvSpPr>
          <p:spPr>
            <a:xfrm>
              <a:off x="2562" y="2568"/>
              <a:ext cx="0" cy="18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437381" y="4799236"/>
            <a:ext cx="1600199" cy="1156587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7117715" y="4908544"/>
            <a:ext cx="1524000" cy="1047279"/>
          </a:xfrm>
          <a:prstGeom prst="rect">
            <a:avLst/>
          </a:prstGeom>
          <a:noFill/>
          <a:ln w="38100">
            <a:noFill/>
            <a:miter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分支结构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/>
              <a:t>if-else </a:t>
            </a:r>
            <a:r>
              <a:rPr lang="en-US" altLang="zh-CN" dirty="0" err="1"/>
              <a:t>if-else</a:t>
            </a:r>
            <a:r>
              <a:rPr lang="zh-CN" altLang="en-US" dirty="0"/>
              <a:t>语句 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00050" y="1676400"/>
            <a:ext cx="3594100" cy="3810000"/>
          </a:xfrm>
          <a:prstGeom prst="roundRect">
            <a:avLst>
              <a:gd name="adj" fmla="val 4639"/>
            </a:avLst>
          </a:prstGeom>
          <a:solidFill>
            <a:schemeClr val="bg1"/>
          </a:solidFill>
          <a:ln w="190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lIns="0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3399"/>
                </a:solidFill>
                <a:latin typeface="微软雅黑" panose="020B0503020204020204" charset="-122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if (</a:t>
            </a: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条件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1){</a:t>
            </a:r>
          </a:p>
          <a:p>
            <a:pPr lvl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    条件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真语句块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;</a:t>
            </a:r>
          </a:p>
          <a:p>
            <a:pPr lvl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} else if (</a:t>
            </a: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条件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2){</a:t>
            </a:r>
          </a:p>
          <a:p>
            <a:pPr lvl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   条件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真语句块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;</a:t>
            </a:r>
          </a:p>
          <a:p>
            <a:pPr lvl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}</a:t>
            </a:r>
          </a:p>
          <a:p>
            <a:pPr lvl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……</a:t>
            </a:r>
          </a:p>
          <a:p>
            <a:pPr lvl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else if(</a:t>
            </a: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条件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x){</a:t>
            </a:r>
          </a:p>
          <a:p>
            <a:pPr lvl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     条件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x</a:t>
            </a: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真语句块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;</a:t>
            </a:r>
          </a:p>
          <a:p>
            <a:pPr lvl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}else{</a:t>
            </a:r>
          </a:p>
          <a:p>
            <a:pPr lvl="0"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微软雅黑" panose="020B0503020204020204" charset="-122"/>
              </a:rPr>
              <a:t>    所有条件假语句块</a:t>
            </a:r>
            <a:r>
              <a:rPr lang="en-US" altLang="zh-CN" sz="2000" b="0" dirty="0">
                <a:solidFill>
                  <a:schemeClr val="tx1"/>
                </a:solidFill>
                <a:ea typeface="微软雅黑" panose="020B0503020204020204" charset="-122"/>
              </a:rPr>
              <a:t>;}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552825" y="1584960"/>
          <a:ext cx="5292725" cy="3688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r:id="rId3" imgW="9832340" imgH="4526915" progId="">
                  <p:embed/>
                </p:oleObj>
              </mc:Choice>
              <mc:Fallback>
                <p:oleObj r:id="rId3" imgW="9832340" imgH="4526915" progId="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2825" y="1584960"/>
                        <a:ext cx="5292725" cy="368899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3400" y="1668780"/>
            <a:ext cx="6815455" cy="3656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 defTabSz="914400">
              <a:lnSpc>
                <a:spcPts val="18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//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五级制成绩判定法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&lt;script type=“text/</a:t>
            </a:r>
            <a:r>
              <a:rPr lang="en-US" altLang="zh-CN" sz="1800" dirty="0" err="1">
                <a:latin typeface="+mj-ea"/>
                <a:ea typeface="+mj-ea"/>
                <a:cs typeface="+mj-ea"/>
                <a:sym typeface="+mn-ea"/>
              </a:rPr>
              <a:t>javascript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”&gt;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    </a:t>
            </a:r>
            <a:r>
              <a:rPr lang="en-US" altLang="zh-CN" sz="1800" dirty="0" err="1">
                <a:latin typeface="+mj-ea"/>
                <a:ea typeface="+mj-ea"/>
                <a:cs typeface="+mj-ea"/>
                <a:sym typeface="+mn-ea"/>
              </a:rPr>
              <a:t>var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x=85; 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if (x&gt;=85) 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     {alert("1--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成绩为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优秀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！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");}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else if (x&gt;=75)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    {alert("2--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成绩为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良好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！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");}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else if (x&gt;=65)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   {alert("3--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成绩为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中等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！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");}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else if (x&gt;=60)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  {alert("4--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成绩为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合格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！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");}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else{alert("5--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成绩为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不及格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\"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！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");}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      alert("6--</a:t>
            </a:r>
            <a:r>
              <a:rPr lang="zh-CN" altLang="en-US" sz="1800" dirty="0">
                <a:latin typeface="+mj-ea"/>
                <a:ea typeface="+mj-ea"/>
                <a:cs typeface="+mj-ea"/>
                <a:sym typeface="+mn-ea"/>
              </a:rPr>
              <a:t>程序结束！</a:t>
            </a: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");</a:t>
            </a:r>
          </a:p>
          <a:p>
            <a:pPr marL="342900" indent="-342900" algn="l" defTabSz="914400">
              <a:lnSpc>
                <a:spcPts val="2000"/>
              </a:lnSpc>
              <a:spcBef>
                <a:spcPts val="0"/>
              </a:spcBef>
              <a:buClr>
                <a:srgbClr val="202AAE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j-ea"/>
                <a:ea typeface="+mj-ea"/>
                <a:cs typeface="+mj-ea"/>
                <a:sym typeface="+mn-ea"/>
              </a:rPr>
              <a:t>&lt;/script&gt;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400" y="942975"/>
            <a:ext cx="35991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dirty="0">
                <a:latin typeface="+mj-lt"/>
                <a:ea typeface="+mj-ea"/>
                <a:cs typeface="+mj-cs"/>
                <a:sym typeface="+mn-ea"/>
              </a:rPr>
              <a:t>if-else </a:t>
            </a:r>
            <a:r>
              <a:rPr lang="en-US" altLang="zh-CN" sz="2800" dirty="0" err="1">
                <a:latin typeface="+mj-lt"/>
                <a:ea typeface="+mj-ea"/>
                <a:cs typeface="+mj-cs"/>
                <a:sym typeface="+mn-ea"/>
              </a:rPr>
              <a:t>if-else</a:t>
            </a:r>
            <a:r>
              <a:rPr lang="zh-CN" altLang="en-US" sz="2800" dirty="0">
                <a:latin typeface="+mj-lt"/>
                <a:ea typeface="+mj-ea"/>
                <a:cs typeface="+mj-cs"/>
                <a:sym typeface="+mn-ea"/>
              </a:rPr>
              <a:t>语句例子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lt"/>
                <a:cs typeface="+mj-lt"/>
                <a:sym typeface="+mn-ea"/>
              </a:rPr>
              <a:t>分支结构</a:t>
            </a:r>
            <a:r>
              <a:rPr lang="en-US" altLang="zh-CN" dirty="0">
                <a:latin typeface="+mj-lt"/>
                <a:cs typeface="+mj-lt"/>
                <a:sym typeface="+mn-ea"/>
              </a:rPr>
              <a:t>-</a:t>
            </a:r>
            <a:r>
              <a:rPr lang="en-US" altLang="zh-CN" dirty="0">
                <a:latin typeface="+mj-lt"/>
                <a:cs typeface="+mj-lt"/>
              </a:rPr>
              <a:t>switch</a:t>
            </a:r>
            <a:r>
              <a:rPr lang="zh-CN" altLang="en-US" dirty="0">
                <a:latin typeface="+mj-lt"/>
                <a:cs typeface="+mj-lt"/>
              </a:rPr>
              <a:t>语句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02285" y="1543050"/>
            <a:ext cx="4387850" cy="3365500"/>
          </a:xfrm>
          <a:prstGeom prst="roundRect">
            <a:avLst>
              <a:gd name="adj" fmla="val 4639"/>
            </a:avLst>
          </a:prstGeom>
          <a:solidFill>
            <a:schemeClr val="bg1"/>
          </a:solidFill>
          <a:ln w="190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lIns="0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rgbClr val="003399"/>
                </a:solidFill>
                <a:latin typeface="微软雅黑" panose="020B0503020204020204" charset="-122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switch(</a:t>
            </a:r>
            <a:r>
              <a:rPr lang="zh-CN" altLang="en-US" sz="1800" b="0" dirty="0">
                <a:solidFill>
                  <a:schemeClr val="tx1"/>
                </a:solidFill>
              </a:rPr>
              <a:t>变量或表达式</a:t>
            </a:r>
            <a:r>
              <a:rPr lang="en-US" altLang="zh-CN" sz="1800" b="0" dirty="0">
                <a:solidFill>
                  <a:schemeClr val="tx1"/>
                </a:solidFill>
              </a:rPr>
              <a:t>) {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case </a:t>
            </a:r>
            <a:r>
              <a:rPr lang="zh-CN" altLang="en-US" sz="1800" b="0" dirty="0">
                <a:solidFill>
                  <a:schemeClr val="tx1"/>
                </a:solidFill>
              </a:rPr>
              <a:t>常量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  { </a:t>
            </a:r>
            <a:r>
              <a:rPr lang="zh-CN" altLang="en-US" sz="1800" b="0" dirty="0">
                <a:solidFill>
                  <a:schemeClr val="tx1"/>
                </a:solidFill>
              </a:rPr>
              <a:t>语句</a:t>
            </a:r>
            <a:r>
              <a:rPr lang="en-US" altLang="zh-CN" sz="1800" b="0" dirty="0">
                <a:solidFill>
                  <a:schemeClr val="tx1"/>
                </a:solidFill>
              </a:rPr>
              <a:t>a; 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    </a:t>
            </a:r>
            <a:r>
              <a:rPr lang="en-US" altLang="zh-CN" sz="2400" b="0" u="sng" dirty="0">
                <a:solidFill>
                  <a:schemeClr val="tx1"/>
                </a:solidFill>
                <a:latin typeface="+mj-lt"/>
                <a:ea typeface="+mj-lt"/>
              </a:rPr>
              <a:t>break; </a:t>
            </a:r>
            <a:r>
              <a:rPr lang="en-US" altLang="zh-CN" sz="2400" b="0" dirty="0">
                <a:solidFill>
                  <a:schemeClr val="tx1"/>
                </a:solidFill>
                <a:sym typeface="+mn-ea"/>
              </a:rPr>
              <a:t>}</a:t>
            </a:r>
            <a:endParaRPr lang="en-US" altLang="zh-CN" sz="2400" b="0" u="sng" dirty="0">
              <a:solidFill>
                <a:schemeClr val="tx1"/>
              </a:solidFill>
              <a:latin typeface="+mj-lt"/>
              <a:ea typeface="+mj-lt"/>
            </a:endParaRP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case </a:t>
            </a:r>
            <a:r>
              <a:rPr lang="zh-CN" altLang="en-US" sz="1800" b="0" dirty="0">
                <a:solidFill>
                  <a:schemeClr val="tx1"/>
                </a:solidFill>
              </a:rPr>
              <a:t>常量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    { </a:t>
            </a:r>
            <a:r>
              <a:rPr lang="zh-CN" altLang="en-US" sz="1800" b="0" dirty="0">
                <a:solidFill>
                  <a:schemeClr val="tx1"/>
                </a:solidFill>
              </a:rPr>
              <a:t>语句</a:t>
            </a:r>
            <a:r>
              <a:rPr lang="en-US" altLang="zh-CN" sz="1800" b="0" dirty="0">
                <a:solidFill>
                  <a:schemeClr val="tx1"/>
                </a:solidFill>
              </a:rPr>
              <a:t>f; 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   </a:t>
            </a:r>
            <a:r>
              <a:rPr lang="en-US" altLang="zh-CN" sz="2400" b="0" u="sng" dirty="0">
                <a:solidFill>
                  <a:schemeClr val="tx1"/>
                </a:solidFill>
              </a:rPr>
              <a:t> break;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sym typeface="+mn-ea"/>
              </a:rPr>
              <a:t>}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   ...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default: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     { </a:t>
            </a:r>
            <a:r>
              <a:rPr lang="zh-CN" altLang="en-US" sz="1800" b="0" dirty="0">
                <a:solidFill>
                  <a:schemeClr val="tx1"/>
                </a:solidFill>
              </a:rPr>
              <a:t>语句</a:t>
            </a:r>
            <a:r>
              <a:rPr lang="en-US" altLang="zh-CN" sz="1800" b="0" dirty="0">
                <a:solidFill>
                  <a:schemeClr val="tx1"/>
                </a:solidFill>
              </a:rPr>
              <a:t>n; }</a:t>
            </a:r>
          </a:p>
          <a:p>
            <a:pPr lvl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90925" y="1543050"/>
            <a:ext cx="5238750" cy="33229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lvl="0">
              <a:lnSpc>
                <a:spcPts val="1800"/>
              </a:lnSpc>
              <a:buNone/>
            </a:pPr>
            <a:r>
              <a:rPr lang="en-US" altLang="en-US" sz="1400" dirty="0">
                <a:latin typeface="Verdana" panose="020B0604030504040204" pitchFamily="34" charset="0"/>
                <a:sym typeface="+mn-ea"/>
              </a:rPr>
              <a:t>&lt;script type="text/</a:t>
            </a:r>
            <a:r>
              <a:rPr lang="en-US" altLang="en-US" sz="1400" dirty="0" err="1">
                <a:latin typeface="Verdana" panose="020B0604030504040204" pitchFamily="34" charset="0"/>
                <a:sym typeface="+mn-ea"/>
              </a:rPr>
              <a:t>javascript</a:t>
            </a:r>
            <a:r>
              <a:rPr lang="en-US" altLang="en-US" sz="1400" dirty="0">
                <a:latin typeface="Verdana" panose="020B0604030504040204" pitchFamily="34" charset="0"/>
                <a:sym typeface="+mn-ea"/>
              </a:rPr>
              <a:t>"&gt;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var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x=80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；</a:t>
            </a:r>
            <a:endParaRPr lang="zh-CN" altLang="en-US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if (x&gt;=90){level=1};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if (x&lt;90 &amp;&amp; x&gt;=80){level=2};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if (x&lt;80 &amp;&amp; x&gt;=70){level=3};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if (x&lt;70 &amp;&amp; x&gt;=60){level=4};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if (x&lt;60){level=5};</a:t>
            </a:r>
          </a:p>
          <a:p>
            <a:pPr lvl="0">
              <a:lnSpc>
                <a:spcPts val="1800"/>
              </a:lnSpc>
              <a:buNone/>
            </a:pP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switch (level)  {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case 1:{alert("1--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成绩为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优秀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！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");break;}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case 2:{alert("2--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成绩为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良好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！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");break;}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case 3:{alert("3--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成绩为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中等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！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");break;}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case 4:{alert("4--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成绩为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合格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！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");break;}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default:{alert("5--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成绩为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不及格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\"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！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");}   }</a:t>
            </a:r>
            <a:endParaRPr lang="en-US" altLang="zh-CN" sz="1600" dirty="0">
              <a:solidFill>
                <a:schemeClr val="tx1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 lvl="0">
              <a:lnSpc>
                <a:spcPts val="1800"/>
              </a:lnSpc>
              <a:buNone/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&lt;/script&gt;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5105400"/>
            <a:ext cx="8421370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注意：将多条件多分支转换为单条件多分支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</a:t>
            </a:r>
            <a:r>
              <a:rPr lang="en-US" altLang="zh-CN" dirty="0"/>
              <a:t>-for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502285" y="1346200"/>
            <a:ext cx="6697980" cy="1160780"/>
          </a:xfrm>
          <a:solidFill>
            <a:schemeClr val="bg1"/>
          </a:solidFill>
          <a:ln w="9525">
            <a:solidFill>
              <a:schemeClr val="bg1"/>
            </a:solidFill>
            <a:miter/>
          </a:ln>
          <a:effectLst/>
        </p:spPr>
        <p:txBody>
          <a:bodyPr>
            <a:noAutofit/>
          </a:bodyPr>
          <a:lstStyle/>
          <a:p>
            <a:pPr marL="533400" indent="-53340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kern="1200" dirty="0">
                <a:solidFill>
                  <a:srgbClr val="FF0000"/>
                </a:solidFill>
              </a:rPr>
              <a:t>for (</a:t>
            </a:r>
            <a:r>
              <a:rPr lang="zh-CN" altLang="en-US" sz="1600" kern="1200" dirty="0">
                <a:solidFill>
                  <a:srgbClr val="FF0000"/>
                </a:solidFill>
              </a:rPr>
              <a:t>初始化表达式</a:t>
            </a:r>
            <a:r>
              <a:rPr lang="en-US" altLang="zh-CN" sz="1600" kern="1200" dirty="0">
                <a:solidFill>
                  <a:srgbClr val="FF0000"/>
                </a:solidFill>
              </a:rPr>
              <a:t>;</a:t>
            </a:r>
            <a:r>
              <a:rPr lang="zh-CN" altLang="en-US" sz="1600" kern="1200" dirty="0">
                <a:solidFill>
                  <a:srgbClr val="FF0000"/>
                </a:solidFill>
              </a:rPr>
              <a:t>判断表达式</a:t>
            </a:r>
            <a:r>
              <a:rPr lang="en-US" altLang="zh-CN" sz="1600" kern="1200" dirty="0">
                <a:solidFill>
                  <a:srgbClr val="FF0000"/>
                </a:solidFill>
              </a:rPr>
              <a:t>;</a:t>
            </a:r>
            <a:r>
              <a:rPr lang="zh-CN" altLang="en-US" sz="1600" kern="1200" dirty="0">
                <a:solidFill>
                  <a:srgbClr val="FF0000"/>
                </a:solidFill>
              </a:rPr>
              <a:t>循环表达式</a:t>
            </a:r>
            <a:r>
              <a:rPr lang="en-US" altLang="zh-CN" sz="1600" kern="1200" dirty="0">
                <a:solidFill>
                  <a:srgbClr val="FF0000"/>
                </a:solidFill>
              </a:rPr>
              <a:t>){  </a:t>
            </a:r>
            <a:r>
              <a:rPr lang="en-US" altLang="zh-CN" sz="1600" kern="1200" dirty="0">
                <a:solidFill>
                  <a:srgbClr val="FF0000"/>
                </a:solidFill>
                <a:sym typeface="+mn-ea"/>
              </a:rPr>
              <a:t> </a:t>
            </a:r>
          </a:p>
          <a:p>
            <a:pPr marL="533400" indent="-53340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1600" kern="1200" dirty="0">
                <a:solidFill>
                  <a:srgbClr val="FF0000"/>
                </a:solidFill>
                <a:sym typeface="+mn-ea"/>
              </a:rPr>
              <a:t>  需循环执行的代码</a:t>
            </a:r>
            <a:endParaRPr lang="en-US" altLang="zh-CN" sz="1600" kern="1200" dirty="0">
              <a:solidFill>
                <a:srgbClr val="FF0000"/>
              </a:solidFill>
              <a:sym typeface="+mn-ea"/>
            </a:endParaRPr>
          </a:p>
          <a:p>
            <a:pPr marL="533400" indent="-53340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kern="1200" dirty="0">
                <a:solidFill>
                  <a:srgbClr val="FF0000"/>
                </a:solidFill>
              </a:rPr>
              <a:t> }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0995" y="2914600"/>
          <a:ext cx="3436621" cy="2507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r:id="rId3" imgW="2506345" imgH="3883660" progId="">
                  <p:embed/>
                </p:oleObj>
              </mc:Choice>
              <mc:Fallback>
                <p:oleObj r:id="rId3" imgW="2506345" imgH="3883660" progId="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0995" y="2914600"/>
                        <a:ext cx="3436621" cy="250734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097020" y="2506980"/>
            <a:ext cx="4544695" cy="3322955"/>
          </a:xfrm>
          <a:prstGeom prst="rect">
            <a:avLst/>
          </a:prstGeom>
          <a:noFill/>
          <a:ln w="38100">
            <a:noFill/>
            <a:miter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&lt;script type="text/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javascript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"&gt;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//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计算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1+2+...+n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的和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n=prompt("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输入整数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",1);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//sum=0;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if (n!=null)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{  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for (</a:t>
            </a:r>
            <a:r>
              <a:rPr lang="en-US" altLang="zh-CN" sz="1800" b="1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sum=0,i=1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;i&lt;=n ;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++ )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{ 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sum=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sum+i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document.</a:t>
            </a:r>
            <a:r>
              <a:rPr lang="en-US" altLang="zh-CN" sz="1800" b="1" dirty="0" err="1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write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("&lt;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&gt;"+sum);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}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}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alert("1+2+...+N="+sum);</a:t>
            </a:r>
          </a:p>
          <a:p>
            <a:pPr lvl="0" latinLnBrk="1">
              <a:lnSpc>
                <a:spcPts val="18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&lt;/script&gt;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循环结构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/>
              <a:t>while</a:t>
            </a:r>
            <a:r>
              <a:rPr lang="zh-CN" altLang="en-US" dirty="0"/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533400" y="1351915"/>
            <a:ext cx="3764280" cy="1315085"/>
          </a:xfr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normAutofit/>
          </a:bodyPr>
          <a:lstStyle/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rgbClr val="FF0000"/>
                </a:solidFill>
              </a:rPr>
              <a:t>while(</a:t>
            </a:r>
            <a:r>
              <a:rPr lang="zh-CN" altLang="en-US" sz="1800" kern="1200" dirty="0">
                <a:solidFill>
                  <a:srgbClr val="FF0000"/>
                </a:solidFill>
              </a:rPr>
              <a:t>表达式</a:t>
            </a:r>
            <a:r>
              <a:rPr lang="en-US" altLang="zh-CN" sz="1800" kern="1200" dirty="0">
                <a:solidFill>
                  <a:srgbClr val="FF0000"/>
                </a:solidFill>
              </a:rPr>
              <a:t>) {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kern="1200" dirty="0">
                <a:solidFill>
                  <a:srgbClr val="FF0000"/>
                </a:solidFill>
              </a:rPr>
              <a:t>   需执行的代码</a:t>
            </a:r>
            <a:r>
              <a:rPr lang="en-US" altLang="zh-CN" sz="1800" kern="1200" dirty="0">
                <a:solidFill>
                  <a:srgbClr val="FF0000"/>
                </a:solidFill>
              </a:rPr>
              <a:t>; 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rgbClr val="FF0000"/>
                </a:solidFill>
              </a:rPr>
              <a:t>}</a:t>
            </a:r>
          </a:p>
        </p:txBody>
      </p:sp>
      <p:graphicFrame>
        <p:nvGraphicFramePr>
          <p:cNvPr id="5" name="对象 4"/>
          <p:cNvGraphicFramePr>
            <a:graphicFrameLocks noGrp="1"/>
          </p:cNvGraphicFramePr>
          <p:nvPr/>
        </p:nvGraphicFramePr>
        <p:xfrm>
          <a:off x="447675" y="2792730"/>
          <a:ext cx="3200399" cy="2767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r:id="rId3" imgW="2370455" imgH="2472055" progId="">
                  <p:embed/>
                </p:oleObj>
              </mc:Choice>
              <mc:Fallback>
                <p:oleObj r:id="rId3" imgW="2370455" imgH="2472055" progId="">
                  <p:embed/>
                  <p:pic>
                    <p:nvPicPr>
                      <p:cNvPr id="0" name="图片 4096"/>
                      <p:cNvPicPr>
                        <a:picLocks noGrp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7675" y="2792730"/>
                        <a:ext cx="3200399" cy="276748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150360" y="1673067"/>
            <a:ext cx="4988560" cy="3744595"/>
          </a:xfrm>
          <a:prstGeom prst="rect">
            <a:avLst/>
          </a:prstGeom>
          <a:noFill/>
          <a:ln w="38100">
            <a:noFill/>
            <a:miter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t">
            <a:spAutoFit/>
          </a:bodyPr>
          <a:lstStyle/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&lt;script type="text/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javascript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"&gt;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//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计算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1+2+...+n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的和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n=prompt("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请输入整数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N",1);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=1,sum=0;  //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逗号运算符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(n!=null)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{  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while (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&lt;=n)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{  sum=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sum+i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++;	}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alert("1+2+...+N="+sum);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}</a:t>
            </a:r>
          </a:p>
          <a:p>
            <a:pPr lvl="0" latinLnBrk="1">
              <a:lnSpc>
                <a:spcPct val="120000"/>
              </a:lnSpc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&lt;/script&gt;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循环结构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/>
              <a:t>do-while</a:t>
            </a:r>
            <a:r>
              <a:rPr lang="zh-CN" altLang="en-US" dirty="0"/>
              <a:t>语句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533400" y="1411605"/>
            <a:ext cx="4060190" cy="1722120"/>
          </a:xfrm>
          <a:ln w="9525">
            <a:noFill/>
            <a:miter/>
          </a:ln>
        </p:spPr>
        <p:txBody>
          <a:bodyPr anchor="t">
            <a:noAutofit/>
          </a:bodyPr>
          <a:lstStyle/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do… while</a:t>
            </a:r>
            <a:r>
              <a:rPr lang="zh-CN" altLang="en-US" sz="1800" kern="120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循环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do{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    需执行的代码</a:t>
            </a:r>
            <a:r>
              <a:rPr lang="en-US" altLang="zh-CN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;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  }while(</a:t>
            </a:r>
            <a:r>
              <a:rPr lang="zh-CN" altLang="en-US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表达式</a:t>
            </a:r>
            <a:r>
              <a:rPr lang="en-US" altLang="zh-CN" sz="18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)</a:t>
            </a:r>
          </a:p>
        </p:txBody>
      </p:sp>
      <p:graphicFrame>
        <p:nvGraphicFramePr>
          <p:cNvPr id="4" name="对象 3"/>
          <p:cNvGraphicFramePr>
            <a:graphicFrameLocks noGrp="1"/>
          </p:cNvGraphicFramePr>
          <p:nvPr/>
        </p:nvGraphicFramePr>
        <p:xfrm>
          <a:off x="533400" y="3342005"/>
          <a:ext cx="3657599" cy="230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r:id="rId3" imgW="1998345" imgH="2122170" progId="">
                  <p:embed/>
                </p:oleObj>
              </mc:Choice>
              <mc:Fallback>
                <p:oleObj r:id="rId3" imgW="1998345" imgH="2122170" progId="">
                  <p:embed/>
                  <p:pic>
                    <p:nvPicPr>
                      <p:cNvPr id="0" name="图片 5120"/>
                      <p:cNvPicPr>
                        <a:picLocks noGrp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3342005"/>
                        <a:ext cx="3657599" cy="2309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682490" y="1583055"/>
            <a:ext cx="3959225" cy="3692525"/>
          </a:xfrm>
          <a:prstGeom prst="rect">
            <a:avLst/>
          </a:prstGeom>
          <a:noFill/>
          <a:ln w="38100">
            <a:noFill/>
            <a:miter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t">
            <a:spAutoFit/>
          </a:bodyPr>
          <a:lstStyle/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&lt;script type="text/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javascript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"&gt;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//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计算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1+2+...+n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的和</a:t>
            </a:r>
          </a:p>
          <a:p>
            <a:pPr lvl="0" latinLnBrk="1">
              <a:buClr>
                <a:srgbClr val="000000"/>
              </a:buClr>
            </a:pP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n=prompt("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输入整数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N",1);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 u="sng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 u="sng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b="1" u="sng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 u="sng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b="1" u="sng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=1,sum=0;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//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逗号运算符</a:t>
            </a:r>
          </a:p>
          <a:p>
            <a:pPr lvl="0" latinLnBrk="1">
              <a:buClr>
                <a:srgbClr val="000000"/>
              </a:buClr>
            </a:pP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(n!=null)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{  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do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{ 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sum=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sum+i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  <a:r>
              <a:rPr lang="en-US" altLang="zh-CN" sz="1800" b="1" u="sng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b="1" u="sng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++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	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}while(</a:t>
            </a:r>
            <a:r>
              <a:rPr lang="en-US" altLang="zh-CN" sz="18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&lt;=n)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alert("1+2+...+N="+sum);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}</a:t>
            </a:r>
          </a:p>
          <a:p>
            <a:pPr lvl="0" latinLnBrk="1">
              <a:buClr>
                <a:srgbClr val="000000"/>
              </a:buClr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&lt;/script&gt;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sym typeface="+mn-ea"/>
              </a:rPr>
              <a:t>循环结构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/>
              <a:t>for-in</a:t>
            </a:r>
            <a:r>
              <a:rPr lang="zh-CN" altLang="en-US" dirty="0"/>
              <a:t>循环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33400" y="1132840"/>
            <a:ext cx="7620000" cy="1286510"/>
          </a:xfrm>
          <a:ln w="9525">
            <a:noFill/>
            <a:miter/>
          </a:ln>
        </p:spPr>
        <p:txBody>
          <a:bodyPr anchor="t">
            <a:normAutofit/>
          </a:bodyPr>
          <a:lstStyle/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基本语法：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6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for (</a:t>
            </a:r>
            <a:r>
              <a:rPr lang="zh-CN" altLang="en-US" sz="16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变量 </a:t>
            </a:r>
            <a:r>
              <a:rPr lang="en-US" altLang="zh-CN" sz="16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in </a:t>
            </a:r>
            <a:r>
              <a:rPr lang="zh-CN" altLang="en-US" sz="16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对象</a:t>
            </a:r>
            <a:r>
              <a:rPr lang="en-US" altLang="zh-CN" sz="16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){  </a:t>
            </a:r>
            <a:r>
              <a:rPr lang="zh-CN" altLang="en-US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执行代码； </a:t>
            </a:r>
            <a:r>
              <a:rPr lang="en-US" altLang="zh-CN" sz="1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}</a:t>
            </a: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</a:t>
            </a:r>
            <a:r>
              <a:rPr sz="1600">
                <a:solidFill>
                  <a:schemeClr val="tx1"/>
                </a:solidFill>
                <a:sym typeface="+mn-ea"/>
              </a:rPr>
              <a:t>该循环用来对数组或对象的属性进行操作的。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533400" indent="-53340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3400" y="2857501"/>
            <a:ext cx="8535670" cy="429895"/>
          </a:xfrm>
          <a:prstGeom prst="rect">
            <a:avLst/>
          </a:prstGeom>
          <a:noFill/>
          <a:ln w="38100">
            <a:noFill/>
            <a:miter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t">
            <a:spAutoFit/>
          </a:bodyPr>
          <a:lstStyle/>
          <a:p>
            <a:pPr lvl="0" latinLnBrk="1">
              <a:lnSpc>
                <a:spcPct val="110000"/>
              </a:lnSpc>
              <a:buClr>
                <a:srgbClr val="000000"/>
              </a:buClr>
            </a:pPr>
            <a:r>
              <a:rPr lang="en-US" altLang="zh-CN" sz="20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394970" y="2238276"/>
            <a:ext cx="8534400" cy="4271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600" dirty="0"/>
              <a:t>&lt;body&gt;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&lt;script type="text/</a:t>
            </a:r>
            <a:r>
              <a:rPr lang="en-US" altLang="zh-CN" sz="1600" dirty="0" err="1"/>
              <a:t>javascript</a:t>
            </a:r>
            <a:r>
              <a:rPr lang="en-US" altLang="zh-CN" sz="1600" dirty="0"/>
              <a:t>"&gt;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 </a:t>
            </a:r>
            <a:r>
              <a:rPr lang="en-US" altLang="zh-CN" sz="1600" dirty="0" err="1"/>
              <a:t>var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1;  //</a:t>
            </a:r>
            <a:r>
              <a:rPr lang="zh-CN" altLang="en-US" sz="1600" dirty="0"/>
              <a:t>定义计数器变量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 </a:t>
            </a:r>
            <a:r>
              <a:rPr lang="en-US" altLang="zh-CN" sz="1600" dirty="0" err="1"/>
              <a:t>document.write</a:t>
            </a:r>
            <a:r>
              <a:rPr lang="en-US" altLang="zh-CN" sz="1600" dirty="0"/>
              <a:t>("&lt;h3&gt;screen</a:t>
            </a:r>
            <a:r>
              <a:rPr lang="zh-CN" altLang="en-US" sz="1600" dirty="0"/>
              <a:t>对象所有属性名称</a:t>
            </a:r>
            <a:r>
              <a:rPr lang="en-US" altLang="zh-CN" sz="1600" dirty="0"/>
              <a:t>/</a:t>
            </a:r>
            <a:r>
              <a:rPr lang="zh-CN" altLang="en-US" sz="1600" dirty="0"/>
              <a:t>属性值：</a:t>
            </a:r>
            <a:r>
              <a:rPr lang="en-US" altLang="zh-CN" sz="1600" dirty="0"/>
              <a:t>&lt;/h3&gt;");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  //1.</a:t>
            </a:r>
            <a:r>
              <a:rPr lang="zh-CN" altLang="en-US" sz="1600" dirty="0">
                <a:solidFill>
                  <a:srgbClr val="FF0000"/>
                </a:solidFill>
              </a:rPr>
              <a:t>遍历</a:t>
            </a:r>
            <a:r>
              <a:rPr lang="en-US" altLang="zh-CN" sz="1600" dirty="0"/>
              <a:t>screen</a:t>
            </a:r>
            <a:r>
              <a:rPr lang="zh-CN" altLang="en-US" sz="1600" dirty="0"/>
              <a:t>对象的</a:t>
            </a:r>
            <a:r>
              <a:rPr lang="zh-CN" altLang="en-US" sz="1600" dirty="0">
                <a:solidFill>
                  <a:srgbClr val="FF0000"/>
                </a:solidFill>
              </a:rPr>
              <a:t>所有属性</a:t>
            </a:r>
            <a:endParaRPr lang="zh-CN" altLang="en-US" sz="1600" dirty="0"/>
          </a:p>
          <a:p>
            <a:pPr>
              <a:lnSpc>
                <a:spcPts val="1400"/>
              </a:lnSpc>
            </a:pPr>
            <a:r>
              <a:rPr lang="en-US" altLang="zh-CN" sz="1600" dirty="0"/>
              <a:t>   for (</a:t>
            </a:r>
            <a:r>
              <a:rPr lang="en-US" altLang="zh-CN" sz="1600" dirty="0" err="1"/>
              <a:t>var</a:t>
            </a:r>
            <a:r>
              <a:rPr lang="en-US" altLang="zh-CN" sz="1600" dirty="0"/>
              <a:t> property in </a:t>
            </a:r>
            <a:r>
              <a:rPr lang="en-US" altLang="zh-CN" sz="1600" b="1" dirty="0">
                <a:solidFill>
                  <a:srgbClr val="FF0000"/>
                </a:solidFill>
              </a:rPr>
              <a:t>screen</a:t>
            </a:r>
            <a:r>
              <a:rPr lang="en-US" altLang="zh-CN" sz="1600" dirty="0"/>
              <a:t>) {   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document.write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+"."+property+"/"+screen[property]+"&amp;</a:t>
            </a:r>
            <a:r>
              <a:rPr lang="en-US" altLang="zh-CN" sz="1600" dirty="0" err="1"/>
              <a:t>nbsp;&amp;nbsp</a:t>
            </a:r>
            <a:r>
              <a:rPr lang="en-US" altLang="zh-CN" sz="1600" dirty="0"/>
              <a:t>;");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   if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% 2 ==0) {</a:t>
            </a:r>
            <a:r>
              <a:rPr lang="en-US" altLang="zh-CN" sz="1600" dirty="0" err="1"/>
              <a:t>document.write</a:t>
            </a:r>
            <a:r>
              <a:rPr lang="en-US" altLang="zh-CN" sz="1600" dirty="0"/>
              <a:t>("&lt;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/&gt;");} //</a:t>
            </a:r>
            <a:r>
              <a:rPr lang="zh-CN" altLang="en-US" sz="1600" dirty="0"/>
              <a:t>每行输出两对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++;</a:t>
            </a:r>
          </a:p>
          <a:p>
            <a:pPr>
              <a:lnSpc>
                <a:spcPts val="1400"/>
              </a:lnSpc>
            </a:pPr>
            <a:r>
              <a:rPr lang="en-US" altLang="zh-CN" sz="1600" dirty="0"/>
              <a:t>    }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//2.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遍历</a:t>
            </a:r>
            <a:r>
              <a:rPr lang="en-US" altLang="zh-CN" sz="1600" dirty="0" err="1">
                <a:sym typeface="+mn-ea"/>
              </a:rPr>
              <a:t>stu</a:t>
            </a:r>
            <a:r>
              <a:rPr lang="zh-CN" altLang="en-US" sz="1600" dirty="0">
                <a:sym typeface="+mn-ea"/>
              </a:rPr>
              <a:t>数组对象的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所有元素</a:t>
            </a:r>
            <a:endParaRPr lang="zh-CN" altLang="en-US" sz="1600" dirty="0">
              <a:solidFill>
                <a:srgbClr val="FF0000"/>
              </a:solidFill>
            </a:endParaRP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>
                <a:sym typeface="+mn-ea"/>
              </a:rPr>
              <a:t>    var</a:t>
            </a:r>
            <a:r>
              <a:rPr lang="en-US" altLang="zh-CN" sz="1600" dirty="0">
                <a:sym typeface="+mn-ea"/>
              </a:rPr>
              <a:t> </a:t>
            </a:r>
            <a:r>
              <a:rPr lang="en-US" altLang="zh-CN" sz="1600" dirty="0" err="1">
                <a:sym typeface="+mn-ea"/>
              </a:rPr>
              <a:t>stu</a:t>
            </a:r>
            <a:r>
              <a:rPr lang="en-US" altLang="zh-CN" sz="1600" dirty="0">
                <a:sym typeface="+mn-ea"/>
              </a:rPr>
              <a:t>=new Array("</a:t>
            </a:r>
            <a:r>
              <a:rPr lang="zh-CN" altLang="en-US" sz="1600" dirty="0">
                <a:sym typeface="+mn-ea"/>
              </a:rPr>
              <a:t>王春平</a:t>
            </a:r>
            <a:r>
              <a:rPr lang="en-US" altLang="zh-CN" sz="1600" dirty="0">
                <a:sym typeface="+mn-ea"/>
              </a:rPr>
              <a:t>","</a:t>
            </a:r>
            <a:r>
              <a:rPr lang="zh-CN" altLang="en-US" sz="1600" dirty="0">
                <a:sym typeface="+mn-ea"/>
              </a:rPr>
              <a:t>张宏伟</a:t>
            </a:r>
            <a:r>
              <a:rPr lang="en-US" altLang="zh-CN" sz="1600" dirty="0">
                <a:sym typeface="+mn-ea"/>
              </a:rPr>
              <a:t>","</a:t>
            </a:r>
            <a:r>
              <a:rPr lang="zh-CN" altLang="en-US" sz="1600" dirty="0">
                <a:sym typeface="+mn-ea"/>
              </a:rPr>
              <a:t>金一鑫</a:t>
            </a:r>
            <a:r>
              <a:rPr lang="en-US" altLang="zh-CN" sz="1600" dirty="0">
                <a:sym typeface="+mn-ea"/>
              </a:rPr>
              <a:t>","</a:t>
            </a:r>
            <a:r>
              <a:rPr lang="zh-CN" altLang="en-US" sz="1600" dirty="0">
                <a:sym typeface="+mn-ea"/>
              </a:rPr>
              <a:t>李大为</a:t>
            </a:r>
            <a:r>
              <a:rPr lang="en-US" altLang="zh-CN" sz="1600" dirty="0">
                <a:sym typeface="+mn-ea"/>
              </a:rPr>
              <a:t>","</a:t>
            </a:r>
            <a:r>
              <a:rPr lang="zh-CN" altLang="en-US" sz="1600" dirty="0">
                <a:sym typeface="+mn-ea"/>
              </a:rPr>
              <a:t>任小月</a:t>
            </a:r>
            <a:r>
              <a:rPr lang="en-US" altLang="zh-CN" sz="1600" dirty="0">
                <a:sym typeface="+mn-ea"/>
              </a:rPr>
              <a:t>","</a:t>
            </a:r>
            <a:r>
              <a:rPr lang="zh-CN" altLang="en-US" sz="1600" dirty="0">
                <a:sym typeface="+mn-ea"/>
              </a:rPr>
              <a:t>储忠庆</a:t>
            </a:r>
            <a:r>
              <a:rPr lang="en-US" altLang="zh-CN" sz="1600" dirty="0">
                <a:sym typeface="+mn-ea"/>
              </a:rPr>
              <a:t>");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>
                <a:sym typeface="+mn-ea"/>
              </a:rPr>
              <a:t>    var</a:t>
            </a:r>
            <a:r>
              <a:rPr lang="en-US" altLang="zh-CN" sz="1600" dirty="0">
                <a:sym typeface="+mn-ea"/>
              </a:rPr>
              <a:t> j=1;//</a:t>
            </a:r>
            <a:r>
              <a:rPr lang="zh-CN" altLang="en-US" sz="1600" dirty="0">
                <a:sym typeface="+mn-ea"/>
              </a:rPr>
              <a:t>定义计数器</a:t>
            </a:r>
            <a:r>
              <a:rPr lang="en-US" altLang="zh-CN" sz="1600" dirty="0">
                <a:sym typeface="+mn-ea"/>
              </a:rPr>
              <a:t>j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>
                <a:sym typeface="+mn-ea"/>
              </a:rPr>
              <a:t>    document.write</a:t>
            </a:r>
            <a:r>
              <a:rPr lang="en-US" altLang="zh-CN" sz="1600" dirty="0">
                <a:sym typeface="+mn-ea"/>
              </a:rPr>
              <a:t>("&lt;h3&gt;</a:t>
            </a:r>
            <a:r>
              <a:rPr lang="zh-CN" altLang="en-US" sz="1600" dirty="0">
                <a:sym typeface="+mn-ea"/>
              </a:rPr>
              <a:t>数组的元素分别为：</a:t>
            </a:r>
            <a:r>
              <a:rPr lang="en-US" altLang="zh-CN" sz="1600" dirty="0">
                <a:sym typeface="+mn-ea"/>
              </a:rPr>
              <a:t>&lt;/h3&gt;");	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for (</a:t>
            </a:r>
            <a:r>
              <a:rPr lang="en-US" altLang="zh-CN" sz="1600" dirty="0" err="1">
                <a:sym typeface="+mn-ea"/>
              </a:rPr>
              <a:t>var</a:t>
            </a:r>
            <a:r>
              <a:rPr lang="en-US" altLang="zh-CN" sz="1600" dirty="0">
                <a:sym typeface="+mn-ea"/>
              </a:rPr>
              <a:t> student in </a:t>
            </a:r>
            <a:r>
              <a:rPr lang="en-US" altLang="zh-CN" sz="1600" dirty="0" err="1">
                <a:sym typeface="+mn-ea"/>
              </a:rPr>
              <a:t>stu</a:t>
            </a:r>
            <a:r>
              <a:rPr lang="en-US" altLang="zh-CN" sz="1600" dirty="0">
                <a:sym typeface="+mn-ea"/>
              </a:rPr>
              <a:t>){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 </a:t>
            </a:r>
            <a:r>
              <a:rPr lang="en-US" altLang="zh-CN" sz="1600" dirty="0" err="1">
                <a:sym typeface="+mn-ea"/>
              </a:rPr>
              <a:t>document.write</a:t>
            </a:r>
            <a:r>
              <a:rPr lang="en-US" altLang="zh-CN" sz="1600" dirty="0">
                <a:sym typeface="+mn-ea"/>
              </a:rPr>
              <a:t>(j+"."+</a:t>
            </a:r>
            <a:r>
              <a:rPr lang="en-US" altLang="zh-CN" sz="1600" dirty="0" err="1">
                <a:sym typeface="+mn-ea"/>
              </a:rPr>
              <a:t>stu</a:t>
            </a:r>
            <a:r>
              <a:rPr lang="en-US" altLang="zh-CN" sz="1600" dirty="0">
                <a:sym typeface="+mn-ea"/>
              </a:rPr>
              <a:t>[student]+"&amp;</a:t>
            </a:r>
            <a:r>
              <a:rPr lang="en-US" altLang="zh-CN" sz="1600" dirty="0" err="1">
                <a:sym typeface="+mn-ea"/>
              </a:rPr>
              <a:t>nbsp;&amp;nbsp</a:t>
            </a:r>
            <a:r>
              <a:rPr lang="en-US" altLang="zh-CN" sz="1600" dirty="0">
                <a:sym typeface="+mn-ea"/>
              </a:rPr>
              <a:t>;");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 if (j % 2 ==0) {</a:t>
            </a:r>
            <a:r>
              <a:rPr lang="en-US" altLang="zh-CN" sz="1600" dirty="0" err="1">
                <a:sym typeface="+mn-ea"/>
              </a:rPr>
              <a:t>document.write</a:t>
            </a:r>
            <a:r>
              <a:rPr lang="en-US" altLang="zh-CN" sz="1600" dirty="0">
                <a:sym typeface="+mn-ea"/>
              </a:rPr>
              <a:t>("&lt;</a:t>
            </a:r>
            <a:r>
              <a:rPr lang="en-US" altLang="zh-CN" sz="1600" dirty="0" err="1">
                <a:sym typeface="+mn-ea"/>
              </a:rPr>
              <a:t>br</a:t>
            </a:r>
            <a:r>
              <a:rPr lang="en-US" altLang="zh-CN" sz="1600" dirty="0">
                <a:sym typeface="+mn-ea"/>
              </a:rPr>
              <a:t>/&gt;");} //</a:t>
            </a:r>
            <a:r>
              <a:rPr lang="zh-CN" altLang="en-US" sz="1600" dirty="0">
                <a:sym typeface="+mn-ea"/>
              </a:rPr>
              <a:t>每行输出两对</a:t>
            </a:r>
            <a:endParaRPr lang="zh-CN" altLang="en-US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 j++;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}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&lt;/script&gt;</a:t>
            </a:r>
            <a:endParaRPr lang="en-US" altLang="zh-CN" sz="1600" dirty="0"/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&lt;/body&gt;</a:t>
            </a:r>
            <a:endParaRPr lang="en-US" altLang="zh-CN" sz="1600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 cstate="print"/>
          <a:srcRect t="24037"/>
          <a:stretch>
            <a:fillRect/>
          </a:stretch>
        </p:blipFill>
        <p:spPr bwMode="auto">
          <a:xfrm>
            <a:off x="6447155" y="4897120"/>
            <a:ext cx="2335530" cy="193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循环结构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/>
              <a:t>循环的嵌套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8305"/>
            <a:ext cx="3200400" cy="1369695"/>
          </a:xfrm>
          <a:noFill/>
          <a:ln w="9525">
            <a:solidFill>
              <a:schemeClr val="bg1"/>
            </a:solidFill>
            <a:miter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循环的嵌套：一个循环内又包含着另一个完整的循环结构，称为循环的嵌套。</a:t>
            </a:r>
          </a:p>
        </p:txBody>
      </p:sp>
      <p:sp>
        <p:nvSpPr>
          <p:cNvPr id="5" name="矩形 4"/>
          <p:cNvSpPr/>
          <p:nvPr/>
        </p:nvSpPr>
        <p:spPr>
          <a:xfrm>
            <a:off x="533400" y="3581400"/>
            <a:ext cx="8515985" cy="1938020"/>
          </a:xfrm>
          <a:prstGeom prst="rect">
            <a:avLst/>
          </a:prstGeom>
          <a:noFill/>
          <a:ln w="38100">
            <a:noFill/>
            <a:miter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t">
            <a:spAutoFit/>
          </a:bodyPr>
          <a:lstStyle/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&lt;script type="text/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javascript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"&gt;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document.write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("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九九乘法表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&gt;");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=1,j=1;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for (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=1;i&lt;=9 ;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++ )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{   // for (j=1;j&lt;=9 ;j++ )  //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九九方阵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 (j=1;j&lt;=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;j++ )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{   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document.write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(j+"*"+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+"="+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j+"&amp;nbsp;&amp;nbsp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;"); }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document.write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("&lt;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&gt;"); }</a:t>
            </a:r>
          </a:p>
          <a:p>
            <a:pPr lvl="0" latinLnBrk="1">
              <a:lnSpc>
                <a:spcPts val="1600"/>
              </a:lnSpc>
              <a:buClr>
                <a:srgbClr val="000000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&lt;/script&gt;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733800" y="1836488"/>
            <a:ext cx="5177156" cy="1668712"/>
          </a:xfrm>
          <a:prstGeom prst="rect">
            <a:avLst/>
          </a:prstGeom>
          <a:noFill/>
          <a:ln w="38100">
            <a:noFill/>
            <a:miter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/>
        </p:nvSpPr>
        <p:spPr>
          <a:xfrm>
            <a:off x="533400" y="504825"/>
            <a:ext cx="7761288" cy="56792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0488" tIns="44450" rIns="90488" bIns="44450" numCol="1" anchor="ctr" anchorCtr="0" compatLnSpc="1"/>
          <a:lstStyle>
            <a:lvl1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4572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9144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3716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18288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循环</a:t>
            </a:r>
            <a:r>
              <a:rPr lang="zh-CN" altLang="zh-CN" sz="1800" dirty="0">
                <a:solidFill>
                  <a:schemeClr val="tx1"/>
                </a:solidFill>
                <a:ea typeface="微软雅黑" panose="020B0503020204020204" charset="-122"/>
              </a:rPr>
              <a:t>循环中断与继续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904865" y="2240498"/>
            <a:ext cx="2895600" cy="20300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marL="533400" indent="-533400"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break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作用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立即结束循环并转到循环后续语句执行。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33400" indent="-533400"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continue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作用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结束本次循环，其后的语句本次不再执行，开始下一次的循环。 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7675" y="1304925"/>
            <a:ext cx="5334000" cy="50774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&lt;script type="text/javascript"&gt;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document.write("计算部分∑N!的和&lt;br/&gt;");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var n = prompt("请输入整数N：",20);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for (i=1,sum=0;i&lt;=n ;i++ )</a:t>
            </a:r>
            <a:r>
              <a:rPr lang="zh-CN" altLang="en-US" dirty="0">
                <a:sym typeface="+mn-ea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if (i&gt;15) {break;}  //第1</a:t>
            </a:r>
            <a:r>
              <a:rPr lang="en-US" altLang="zh-CN" dirty="0"/>
              <a:t>6</a:t>
            </a:r>
            <a:r>
              <a:rPr lang="zh-CN" altLang="en-US" dirty="0"/>
              <a:t>次时跳出循环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//当i为1-5之间的数时结束本次循环进入下1次循环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if (i&gt;=1 &amp;&amp; i&lt;5){     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   continue;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}else{    //当i大于等于5时执行循环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for (j=1,cj=1;j&lt;=i ;j++ )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{   cj=cj*j;      //计算阶乘 </a:t>
            </a:r>
            <a:r>
              <a:rPr lang="zh-CN" altLang="en-US" dirty="0">
                <a:sym typeface="+mn-ea"/>
              </a:rPr>
              <a:t>}</a:t>
            </a:r>
            <a:r>
              <a:rPr lang="zh-CN" altLang="en-US" dirty="0"/>
              <a:t> 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    document.write(i+"!="+cj+"&lt;br/&gt;");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    sum=sum+cj;    //累加阶乘之和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   }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}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i=i-1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document.write("∑"+i+"!="+sum);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&lt;/script&gt;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函数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7928610" cy="38862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1800" dirty="0"/>
              <a:t>JavaScript</a:t>
            </a:r>
            <a:r>
              <a:rPr lang="zh-CN" altLang="en-US" sz="1800" dirty="0"/>
              <a:t>函数分为系统内部函数、系统对象定义的函数及用户自定义函数。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1800" dirty="0"/>
              <a:t>函数是完成一个特定功能的程序代码。函数只需要定义一次，可以多次使用，</a:t>
            </a:r>
            <a:r>
              <a:rPr sz="1800" dirty="0">
                <a:sym typeface="+mn-ea"/>
              </a:rPr>
              <a:t>降低代码重复率，</a:t>
            </a:r>
            <a:r>
              <a:rPr lang="zh-CN" altLang="en-US" sz="1800" dirty="0"/>
              <a:t>提高代码复用率，减轻开发负担。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1800" dirty="0"/>
              <a:t>函数需要先定义后使用，</a:t>
            </a:r>
            <a:r>
              <a:rPr lang="en-US" altLang="zh-CN" sz="1800" dirty="0"/>
              <a:t>JavaScript</a:t>
            </a:r>
            <a:r>
              <a:rPr lang="zh-CN" altLang="en-US" sz="1800" dirty="0"/>
              <a:t>函数一般定义在</a:t>
            </a:r>
            <a:r>
              <a:rPr lang="en-US" altLang="zh-CN" sz="1800" dirty="0"/>
              <a:t>HTML</a:t>
            </a:r>
            <a:r>
              <a:rPr lang="zh-CN" altLang="en-US" sz="1800" dirty="0"/>
              <a:t>文件的头部</a:t>
            </a:r>
            <a:r>
              <a:rPr lang="en-US" altLang="zh-CN" sz="1800" dirty="0"/>
              <a:t>head</a:t>
            </a:r>
            <a:r>
              <a:rPr lang="zh-CN" altLang="en-US" sz="1800" dirty="0"/>
              <a:t>标记或外部</a:t>
            </a:r>
            <a:r>
              <a:rPr lang="en-US" altLang="zh-CN" sz="1800" dirty="0"/>
              <a:t>JS</a:t>
            </a:r>
            <a:r>
              <a:rPr lang="zh-CN" altLang="en-US" sz="1800" dirty="0"/>
              <a:t>文件中，而函数的调用可以在</a:t>
            </a:r>
            <a:r>
              <a:rPr lang="en-US" altLang="zh-CN" sz="1800" dirty="0"/>
              <a:t>HTML</a:t>
            </a:r>
            <a:r>
              <a:rPr lang="zh-CN" altLang="en-US" sz="1800" dirty="0"/>
              <a:t>文件的主体</a:t>
            </a:r>
            <a:r>
              <a:rPr lang="en-US" altLang="zh-CN" sz="1800" dirty="0"/>
              <a:t>body</a:t>
            </a:r>
            <a:r>
              <a:rPr lang="zh-CN" altLang="en-US" sz="1800" dirty="0"/>
              <a:t>标记中任何位置。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zh-CN" sz="1800" dirty="0"/>
              <a:t>常用系统函数分全局函数和对象定义的函数。全局函数它不属于任何一个内置对象，使用不需要加任何对象名称，直接使用。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常用函数列表</a:t>
            </a:r>
          </a:p>
        </p:txBody>
      </p:sp>
      <p:graphicFrame>
        <p:nvGraphicFramePr>
          <p:cNvPr id="362624" name="Group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690693"/>
              </p:ext>
            </p:extLst>
          </p:nvPr>
        </p:nvGraphicFramePr>
        <p:xfrm>
          <a:off x="867713" y="1410383"/>
          <a:ext cx="6322377" cy="351758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2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函数名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alert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显示一个警告对话框，包括一个</a:t>
                      </a: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OK</a:t>
                      </a: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按钮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69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confirm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显示一个确认对话框，包括</a:t>
                      </a: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OK</a:t>
                      </a: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Cancel</a:t>
                      </a: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按钮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9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prompt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显示一输入对话框，提示等待用户输入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9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eval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计算表达式的结果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9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isNaN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判断参数是否不是数字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69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parseFloat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将字符串转换在浮点型数值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parseInt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将字符串转换成整形数值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unescape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解码由</a:t>
                      </a:r>
                      <a:r>
                        <a:rPr kumimoji="0" lang="en-US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escape</a:t>
                      </a: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函数编码的字符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常用系统函数</a:t>
            </a:r>
            <a:r>
              <a:rPr lang="en-US" altLang="zh-CN" dirty="0"/>
              <a:t>-</a:t>
            </a:r>
            <a:r>
              <a:rPr lang="zh-CN" altLang="zh-CN" dirty="0"/>
              <a:t>全局函数</a:t>
            </a:r>
            <a:endParaRPr lang="zh-CN" altLang="en-US" dirty="0"/>
          </a:p>
        </p:txBody>
      </p:sp>
      <p:sp>
        <p:nvSpPr>
          <p:cNvPr id="73730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381125"/>
            <a:ext cx="8509000" cy="70485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dirty="0">
                <a:sym typeface="+mn-ea"/>
              </a:rPr>
              <a:t>1.</a:t>
            </a:r>
            <a:r>
              <a:rPr lang="zh-CN" altLang="zh-CN" sz="1700" dirty="0"/>
              <a:t> 计算表达式的结果函数</a:t>
            </a:r>
            <a:r>
              <a:rPr lang="zh-CN" altLang="en-US" sz="1700" dirty="0"/>
              <a:t>：</a:t>
            </a:r>
            <a:r>
              <a:rPr lang="en-US" altLang="zh-CN" sz="1700" dirty="0" err="1">
                <a:solidFill>
                  <a:srgbClr val="FF0000"/>
                </a:solidFill>
                <a:sym typeface="+mn-ea"/>
              </a:rPr>
              <a:t>eval</a:t>
            </a:r>
            <a:r>
              <a:rPr lang="zh-CN" altLang="en-US" sz="1700" dirty="0">
                <a:solidFill>
                  <a:srgbClr val="FF0000"/>
                </a:solidFill>
                <a:sym typeface="+mn-ea"/>
              </a:rPr>
              <a:t>（字符串表达式）</a:t>
            </a:r>
            <a:endParaRPr lang="en-US" altLang="zh-CN" sz="1700" dirty="0">
              <a:solidFill>
                <a:srgbClr val="FF0000"/>
              </a:solidFill>
              <a:sym typeface="+mn-ea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dirty="0">
                <a:latin typeface="黑体" panose="02010609060101010101" charset="-122"/>
                <a:ea typeface="黑体" panose="02010609060101010101" charset="-122"/>
                <a:sym typeface="+mn-ea"/>
              </a:rPr>
              <a:t>    </a:t>
            </a:r>
            <a:r>
              <a:rPr lang="zh-CN" altLang="en-US" sz="1700" dirty="0"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17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返回值：表达式的值或“</a:t>
            </a:r>
            <a:r>
              <a:rPr lang="en-US" altLang="zh-CN" sz="17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undefined”</a:t>
            </a:r>
            <a:r>
              <a:rPr lang="zh-CN" altLang="en-US" sz="17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。</a:t>
            </a:r>
          </a:p>
          <a:p>
            <a:pPr marL="533400" indent="-533400">
              <a:lnSpc>
                <a:spcPct val="80000"/>
              </a:lnSpc>
              <a:buNone/>
            </a:pPr>
            <a:endParaRPr lang="zh-CN" altLang="en-US" sz="1100" b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401" y="2438400"/>
            <a:ext cx="8534399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/>
              <a:t>&lt;script type="text/javascript"&gt;</a:t>
            </a:r>
          </a:p>
          <a:p>
            <a:pPr indent="271780">
              <a:lnSpc>
                <a:spcPct val="100000"/>
              </a:lnSpc>
            </a:pPr>
            <a:r>
              <a:rPr lang="zh-CN" altLang="en-US" sz="1600" dirty="0">
                <a:highlight>
                  <a:srgbClr val="FFFF00"/>
                </a:highlight>
              </a:rPr>
              <a:t>eval("x=20;y=30;document.write('x为'+x+',y为'+y+',x*y的值为'+x*y)")</a:t>
            </a:r>
            <a:r>
              <a:rPr lang="zh-CN" altLang="en-US" sz="1600" dirty="0"/>
              <a:t>;</a:t>
            </a:r>
          </a:p>
          <a:p>
            <a:pPr indent="271780">
              <a:lnSpc>
                <a:spcPct val="100000"/>
              </a:lnSpc>
            </a:pPr>
            <a:r>
              <a:rPr lang="zh-CN" altLang="en-US" sz="1600" dirty="0"/>
              <a:t>document.write("&lt;br/&gt;");</a:t>
            </a:r>
          </a:p>
          <a:p>
            <a:pPr indent="271780">
              <a:lnSpc>
                <a:spcPct val="100000"/>
              </a:lnSpc>
            </a:pPr>
            <a:r>
              <a:rPr lang="zh-CN" altLang="en-US" sz="1600" dirty="0"/>
              <a:t>document.write("2+2的值为"+eval("2+2"));</a:t>
            </a:r>
          </a:p>
          <a:p>
            <a:pPr indent="271780">
              <a:lnSpc>
                <a:spcPct val="100000"/>
              </a:lnSpc>
            </a:pPr>
            <a:r>
              <a:rPr lang="zh-CN" altLang="en-US" sz="1600" dirty="0"/>
              <a:t>var abce;  //声明变量未赋值</a:t>
            </a:r>
          </a:p>
          <a:p>
            <a:pPr indent="271780">
              <a:lnSpc>
                <a:spcPct val="100000"/>
              </a:lnSpc>
            </a:pPr>
            <a:r>
              <a:rPr lang="zh-CN" altLang="en-US" sz="1600" dirty="0"/>
              <a:t>document.write("&lt;br/&gt;abce的值为"+eval(abce));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&lt;/script&gt;</a:t>
            </a: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 t="34084"/>
          <a:stretch>
            <a:fillRect/>
          </a:stretch>
        </p:blipFill>
        <p:spPr bwMode="auto">
          <a:xfrm>
            <a:off x="2025650" y="4827905"/>
            <a:ext cx="3726180" cy="1522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5278" y="590550"/>
            <a:ext cx="7761287" cy="567929"/>
          </a:xfrm>
        </p:spPr>
        <p:txBody>
          <a:bodyPr/>
          <a:lstStyle/>
          <a:p>
            <a:r>
              <a:rPr lang="zh-CN" altLang="en-US" dirty="0"/>
              <a:t>常用系统函数</a:t>
            </a:r>
            <a:r>
              <a:rPr lang="en-US" altLang="zh-CN" dirty="0"/>
              <a:t>-</a:t>
            </a:r>
            <a:r>
              <a:rPr lang="zh-CN" altLang="zh-CN" dirty="0"/>
              <a:t>全局函数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47675" y="1409700"/>
            <a:ext cx="85598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33400" lvl="0" indent="-533400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编码函数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encodeURI()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encodeURIComponent(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）和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escape()</a:t>
            </a:r>
          </a:p>
          <a:p>
            <a:pPr marL="533400" lvl="0" indent="-533400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URI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字符集，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33400" lvl="0" indent="-533400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escape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将字符串编码为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URI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，但不对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*/@+-._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进行编码；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已废弃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33400" lvl="0" indent="-533400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encodeURIComponent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但不对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!’()*-._~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进行编码</a:t>
            </a: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encodeURI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：但不对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!#$&amp;’()*+,/:;=?@-._~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62w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进行编码；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encodeURI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是指编码成完整的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URI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，所以一些分割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URI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组件的符号不进行编码；</a:t>
            </a: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如果只是编码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URI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中部分组件，可以使用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encodeURIComponent</a:t>
            </a: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URI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组件指如协议、主机名、路径、查询字符串和片段标识符（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#id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）等</a:t>
            </a:r>
          </a:p>
          <a:p>
            <a:pPr marL="0" lvl="1" indent="457200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https://</a:t>
            </a:r>
            <a:r>
              <a:rPr lang="en-US" altLang="zh-CN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www1.szu.edu.cn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/board/view.asp</a:t>
            </a:r>
            <a:r>
              <a:rPr lang="en-US" altLang="zh-CN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?id=492590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编码时，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字符集中其他字符，使用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%+2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个十六进制数字表示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码的形式，最常见如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%20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表示空格；</a:t>
            </a: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非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字符，使用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UTF-8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，转换为若干个（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%+2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个十六进制数）</a:t>
            </a: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algn="l" defTabSz="1158875" eaLnBrk="0" hangingPunct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3.</a:t>
            </a:r>
            <a:r>
              <a:rPr lang="zh-CN" altLang="zh-CN" dirty="0">
                <a:sym typeface="+mn-ea"/>
              </a:rPr>
              <a:t> </a:t>
            </a:r>
            <a:r>
              <a:rPr lang="en-US" altLang="zh-CN" dirty="0" err="1">
                <a:latin typeface="微软雅黑" panose="020B0503020204020204" charset="-122"/>
                <a:sym typeface="+mn-ea"/>
              </a:rPr>
              <a:t>decodeURI</a:t>
            </a:r>
            <a:r>
              <a:rPr lang="en-US" altLang="zh-CN" dirty="0">
                <a:latin typeface="微软雅黑" panose="020B0503020204020204" charset="-122"/>
                <a:sym typeface="+mn-ea"/>
              </a:rPr>
              <a:t>()</a:t>
            </a:r>
            <a:r>
              <a:rPr dirty="0">
                <a:latin typeface="微软雅黑" panose="020B0503020204020204" charset="-122"/>
                <a:sym typeface="+mn-ea"/>
              </a:rPr>
              <a:t>、</a:t>
            </a:r>
            <a:r>
              <a:rPr lang="en-US" altLang="zh-CN" dirty="0" err="1">
                <a:latin typeface="微软雅黑" panose="020B0503020204020204" charset="-122"/>
                <a:sym typeface="+mn-ea"/>
              </a:rPr>
              <a:t>decodeURIComponent</a:t>
            </a:r>
            <a:r>
              <a:rPr lang="en-US" altLang="zh-CN" dirty="0">
                <a:latin typeface="微软雅黑" panose="020B0503020204020204" charset="-122"/>
                <a:sym typeface="+mn-ea"/>
              </a:rPr>
              <a:t>(</a:t>
            </a:r>
            <a:r>
              <a:rPr dirty="0">
                <a:latin typeface="微软雅黑" panose="020B0503020204020204" charset="-122"/>
                <a:sym typeface="+mn-ea"/>
              </a:rPr>
              <a:t>）</a:t>
            </a:r>
            <a:r>
              <a:rPr dirty="0" err="1">
                <a:latin typeface="微软雅黑" panose="020B0503020204020204" charset="-122"/>
                <a:sym typeface="+mn-ea"/>
              </a:rPr>
              <a:t>和</a:t>
            </a:r>
            <a:r>
              <a:rPr lang="en-US" altLang="zh-CN" dirty="0" err="1">
                <a:latin typeface="微软雅黑" panose="020B0503020204020204" charset="-122"/>
                <a:sym typeface="+mn-ea"/>
              </a:rPr>
              <a:t>unescape</a:t>
            </a:r>
            <a:r>
              <a:rPr lang="en-US" altLang="zh-CN" dirty="0">
                <a:latin typeface="微软雅黑" panose="020B0503020204020204" charset="-122"/>
                <a:sym typeface="+mn-ea"/>
              </a:rPr>
              <a:t>()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85775"/>
            <a:ext cx="7761287" cy="567929"/>
          </a:xfrm>
        </p:spPr>
        <p:txBody>
          <a:bodyPr/>
          <a:lstStyle/>
          <a:p>
            <a:r>
              <a:rPr lang="zh-CN" altLang="en-US" dirty="0"/>
              <a:t>常用系统函数</a:t>
            </a:r>
            <a:r>
              <a:rPr lang="en-US" altLang="zh-CN" dirty="0"/>
              <a:t>-</a:t>
            </a:r>
            <a:r>
              <a:rPr lang="zh-CN" altLang="zh-CN" dirty="0"/>
              <a:t>全局函数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3400" y="1352550"/>
            <a:ext cx="8534399" cy="395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>
              <a:lnSpc>
                <a:spcPct val="110000"/>
              </a:lnSpc>
              <a:buClr>
                <a:srgbClr val="000000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字符型转换成数值型函数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parseFloat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(string)</a:t>
            </a:r>
            <a:endParaRPr lang="zh-CN" altLang="en-US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3400" y="1994535"/>
            <a:ext cx="83597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600" dirty="0"/>
              <a:t>&lt;script type="text/javascript"&gt;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  document.write("\"100\"转换后为："+parseFloat("100")+"&lt;br/&gt;");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  document.write("\"100.00\"转换后为："+parseFloat("100.00")+"&lt;br/&gt;");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  document.write("\"100.88\"转换后为："+parseFloat("100.88")+"&lt;br/&gt;");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  document.write("\"12 34 56\"转换后为："+parseFloat("12 34 56")+"&lt;br/&gt;");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  document.write("\" 60 \"转换后为："+parseFloat(" 60 ")+"&lt;br/&gt;");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  document.write("\"40 years\"转换后为："+parseFloat("40 years")+"&lt;br/&gt;");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  document.write("\"这件衣服100元\"转换后为："+parseFloat("这件衣服100元")+"&lt;br/&gt;");</a:t>
            </a:r>
          </a:p>
          <a:p>
            <a:pPr>
              <a:lnSpc>
                <a:spcPts val="1600"/>
              </a:lnSpc>
            </a:pPr>
            <a:r>
              <a:rPr lang="zh-CN" altLang="en-US" sz="1600" dirty="0"/>
              <a:t>&lt;/script&gt;</a:t>
            </a: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 t="23898"/>
          <a:stretch>
            <a:fillRect/>
          </a:stretch>
        </p:blipFill>
        <p:spPr bwMode="auto">
          <a:xfrm>
            <a:off x="2360930" y="4032250"/>
            <a:ext cx="3916680" cy="2483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72428" y="476250"/>
            <a:ext cx="7761287" cy="567929"/>
          </a:xfrm>
        </p:spPr>
        <p:txBody>
          <a:bodyPr/>
          <a:lstStyle/>
          <a:p>
            <a:r>
              <a:rPr lang="zh-CN" altLang="en-US" dirty="0"/>
              <a:t>常用系统函数</a:t>
            </a:r>
            <a:r>
              <a:rPr lang="en-US" altLang="zh-CN" dirty="0"/>
              <a:t>-</a:t>
            </a:r>
            <a:r>
              <a:rPr lang="zh-CN" altLang="zh-CN" dirty="0"/>
              <a:t>全局函数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9601" y="1285875"/>
            <a:ext cx="8534399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>
              <a:buClr>
                <a:srgbClr val="000000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5.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字符型转换成数值型函数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parseInt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numbestring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, radix);</a:t>
            </a:r>
            <a:endParaRPr lang="en-US" altLang="zh-CN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defTabSz="914400" latinLnBrk="1">
              <a:buClr>
                <a:srgbClr val="000000"/>
              </a:buClr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以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“0x”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-16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进制；以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“0“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--8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进制；其他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--10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进制。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2106295"/>
            <a:ext cx="875538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dirty="0"/>
              <a:t>&lt;body&gt;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&lt;script type="text/javascript"&gt;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  document.write("\"10\"转换为整数结果为："+parseInt("10")+"&lt;br /&gt;");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  document.write("十进制\"63\"转换为整数结果为："+parseInt("63",10)+"&lt;br /&gt;");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  document.write("二进制\"11\"转换为整数结果为："+parseInt("11",2)+"&lt;br /&gt;");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  document.write("八进制\"15\"转换为整数结果为："+parseInt("15",8)+"&lt;br /&gt;");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  document.write("十六进制\"1f\"转换为整数结果为："+parseInt("1f",16)+"&lt;br /&gt;");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  document.write("\"010\"转换为整数结果为："+parseInt("010")+"&lt;br /&gt;");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    document.write("\"这本书定价为30元\"转换为整数结果为："+parseInt("这本书定价为30元")+"&lt;br /&gt;");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ym typeface="+mn-ea"/>
              </a:rPr>
              <a:t>  &lt;/script&gt;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&lt;/body&gt;</a:t>
            </a: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 t="21594"/>
          <a:stretch>
            <a:fillRect/>
          </a:stretch>
        </p:blipFill>
        <p:spPr bwMode="auto">
          <a:xfrm>
            <a:off x="2630170" y="4757420"/>
            <a:ext cx="3246120" cy="1871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5438" y="371475"/>
            <a:ext cx="7761287" cy="567929"/>
          </a:xfrm>
        </p:spPr>
        <p:txBody>
          <a:bodyPr/>
          <a:lstStyle/>
          <a:p>
            <a:r>
              <a:rPr lang="zh-CN" altLang="en-US" dirty="0"/>
              <a:t>常用系统函数</a:t>
            </a:r>
            <a:r>
              <a:rPr lang="en-US" altLang="zh-CN" dirty="0"/>
              <a:t>-</a:t>
            </a:r>
            <a:r>
              <a:rPr lang="zh-CN" altLang="zh-CN" dirty="0"/>
              <a:t>全局函数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1970" y="1238251"/>
            <a:ext cx="85344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latinLnBrk="1">
              <a:buClr>
                <a:srgbClr val="000000"/>
              </a:buClr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6.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判断是否是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NaN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()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isNaN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testValue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</a:t>
            </a:r>
          </a:p>
          <a:p>
            <a:pPr lvl="2" indent="0" latinLnBrk="1">
              <a:buClr>
                <a:srgbClr val="000000"/>
              </a:buClr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NaN:not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 Number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注意大小写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37515" y="2047875"/>
            <a:ext cx="826897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dirty="0"/>
              <a:t>&lt;script type="text/</a:t>
            </a:r>
            <a:r>
              <a:rPr lang="en-US" altLang="zh-CN" sz="1600" dirty="0" err="1"/>
              <a:t>javascript</a:t>
            </a:r>
            <a:r>
              <a:rPr lang="en-US" altLang="zh-CN" sz="1600" dirty="0"/>
              <a:t>"&gt;</a:t>
            </a:r>
          </a:p>
          <a:p>
            <a:pPr>
              <a:lnSpc>
                <a:spcPct val="100000"/>
              </a:lnSpc>
            </a:pPr>
            <a:r>
              <a:rPr lang="en-US" altLang="zh-CN" sz="1600" dirty="0" err="1"/>
              <a:t>  document.write</a:t>
            </a:r>
            <a:r>
              <a:rPr lang="en-US" altLang="zh-CN" sz="1600" dirty="0"/>
              <a:t>("\"40\"</a:t>
            </a:r>
            <a:r>
              <a:rPr lang="zh-CN" altLang="en-US" sz="1600" dirty="0"/>
              <a:t>是否是非数值</a:t>
            </a:r>
            <a:r>
              <a:rPr lang="en-US" altLang="zh-CN" sz="1600" dirty="0"/>
              <a:t>:"+</a:t>
            </a:r>
            <a:r>
              <a:rPr lang="en-US" altLang="zh-CN" sz="1600" dirty="0" err="1"/>
              <a:t>isNaN</a:t>
            </a:r>
            <a:r>
              <a:rPr lang="en-US" altLang="zh-CN" sz="1600" dirty="0"/>
              <a:t>(40)+"&lt;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&gt;"); </a:t>
            </a:r>
          </a:p>
          <a:p>
            <a:pPr>
              <a:lnSpc>
                <a:spcPct val="100000"/>
              </a:lnSpc>
            </a:pPr>
            <a:r>
              <a:rPr lang="en-US" altLang="zh-CN" sz="1600" dirty="0" err="1"/>
              <a:t>  document.write</a:t>
            </a:r>
            <a:r>
              <a:rPr lang="en-US" altLang="zh-CN" sz="1600" dirty="0"/>
              <a:t>("\"3*30\"</a:t>
            </a:r>
            <a:r>
              <a:rPr lang="zh-CN" altLang="en-US" sz="1600" dirty="0"/>
              <a:t>是否是非数值</a:t>
            </a:r>
            <a:r>
              <a:rPr lang="en-US" altLang="zh-CN" sz="1600" dirty="0"/>
              <a:t>:"+</a:t>
            </a:r>
            <a:r>
              <a:rPr lang="en-US" altLang="zh-CN" sz="1600" dirty="0" err="1"/>
              <a:t>isNaN</a:t>
            </a:r>
            <a:r>
              <a:rPr lang="en-US" altLang="zh-CN" sz="1600" dirty="0"/>
              <a:t>(3*30)+"&lt;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&gt;"); 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  </a:t>
            </a:r>
            <a:r>
              <a:rPr lang="en-US" altLang="zh-CN" sz="1600" dirty="0" err="1"/>
              <a:t>document.write</a:t>
            </a:r>
            <a:r>
              <a:rPr lang="en-US" altLang="zh-CN" sz="1600" dirty="0"/>
              <a:t>("\"JavaScript\"</a:t>
            </a:r>
            <a:r>
              <a:rPr lang="zh-CN" altLang="en-US" sz="1600" dirty="0"/>
              <a:t>是否是非数值</a:t>
            </a:r>
            <a:r>
              <a:rPr lang="en-US" altLang="zh-CN" sz="1600" dirty="0"/>
              <a:t>:"+</a:t>
            </a:r>
            <a:r>
              <a:rPr lang="en-US" altLang="zh-CN" sz="1600" dirty="0" err="1"/>
              <a:t>isNaN</a:t>
            </a:r>
            <a:r>
              <a:rPr lang="en-US" altLang="zh-CN" sz="1600" dirty="0"/>
              <a:t>("JavaScript"));		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&lt;/script&gt;</a:t>
            </a:r>
          </a:p>
          <a:p>
            <a:pPr>
              <a:lnSpc>
                <a:spcPct val="100000"/>
              </a:lnSpc>
            </a:pPr>
            <a:endParaRPr lang="en-US" altLang="zh-CN" sz="1600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 t="26062"/>
          <a:stretch>
            <a:fillRect/>
          </a:stretch>
        </p:blipFill>
        <p:spPr bwMode="auto">
          <a:xfrm>
            <a:off x="1688465" y="3812540"/>
            <a:ext cx="4577080" cy="2142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457200"/>
            <a:ext cx="7761287" cy="567929"/>
          </a:xfrm>
        </p:spPr>
        <p:txBody>
          <a:bodyPr/>
          <a:lstStyle/>
          <a:p>
            <a:pPr lvl="0"/>
            <a:r>
              <a:rPr lang="zh-CN" altLang="en-US" dirty="0"/>
              <a:t>常用系统函数</a:t>
            </a:r>
            <a:r>
              <a:rPr lang="en-US" altLang="zh-CN" dirty="0"/>
              <a:t>-</a:t>
            </a:r>
            <a:r>
              <a:rPr lang="zh-CN" altLang="zh-CN" dirty="0"/>
              <a:t>常用的对象函数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9580" y="1476375"/>
            <a:ext cx="8244840" cy="3100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latinLnBrk="1">
              <a:lnSpc>
                <a:spcPct val="110000"/>
              </a:lnSpc>
              <a:buClr>
                <a:srgbClr val="000000"/>
              </a:buClr>
            </a:pPr>
            <a:r>
              <a:rPr lang="en-US" altLang="zh-CN" sz="2400" dirty="0"/>
              <a:t>   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b="0" dirty="0" err="1"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(radix)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Number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型数据转换为字符型数据，并返回指定的基数的结果。其中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radix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范围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～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36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，若省略该参数，则使用基数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latinLnBrk="1">
              <a:lnSpc>
                <a:spcPct val="110000"/>
              </a:lnSpc>
              <a:buClr>
                <a:srgbClr val="000000"/>
              </a:buClr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a = 12;alert(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a.toString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(2)); //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告警框输出结果为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1100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（二进制）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latinLnBrk="1">
              <a:lnSpc>
                <a:spcPct val="110000"/>
              </a:lnSpc>
              <a:buClr>
                <a:srgbClr val="000000"/>
              </a:buClr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alert(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a.toString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()); //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告警框输出结果为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12(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默认的十进制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lvl="0" latinLnBrk="1">
              <a:lnSpc>
                <a:spcPct val="110000"/>
              </a:lnSpc>
              <a:buClr>
                <a:srgbClr val="000000"/>
              </a:buClr>
            </a:pP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da-DK" altLang="zh-CN" b="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da-DK" altLang="zh-CN" b="0" dirty="0">
                <a:latin typeface="微软雅黑" panose="020B0503020204020204" charset="-122"/>
                <a:ea typeface="微软雅黑" panose="020B0503020204020204" charset="-122"/>
              </a:rPr>
              <a:t>toFixed(n)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。将浮点数转换为固定小数点位数的数字。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是整数，设置小数的位数，如果省略了该参数，将用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代替。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例如：</a:t>
            </a:r>
          </a:p>
          <a:p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a = 2016.1567;alert(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a.toFixed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(2)); //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保留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位小数，结果为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2016.16</a:t>
            </a:r>
          </a:p>
          <a:p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alert(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a.toFixed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(5)); //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保留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位小数，告警框输出结果为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2016.15670 </a:t>
            </a:r>
            <a:endParaRPr lang="zh-CN" altLang="en-US" sz="1800" b="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70296"/>
            <a:ext cx="7761287" cy="567929"/>
          </a:xfrm>
        </p:spPr>
        <p:txBody>
          <a:bodyPr/>
          <a:lstStyle/>
          <a:p>
            <a:r>
              <a:rPr lang="zh-CN" altLang="en-US" dirty="0"/>
              <a:t>常用系统函数</a:t>
            </a:r>
            <a:r>
              <a:rPr lang="en-US" altLang="zh-CN" dirty="0"/>
              <a:t>-</a:t>
            </a:r>
            <a:r>
              <a:rPr lang="zh-CN" altLang="zh-CN" dirty="0"/>
              <a:t>常用的对象函数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400" y="1686581"/>
            <a:ext cx="8534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nb-NO" altLang="zh-CN" b="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）字符串查找和提取常用函数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2162175"/>
          <a:ext cx="8147050" cy="18084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{E8B1032C-EA38-4F05-BA0D-38AFFFC7BED3}</a:tableStyleId>
              </a:tblPr>
              <a:tblGrid>
                <a:gridCol w="34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  <a:endParaRPr lang="zh-CN" sz="14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4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400" dirty="0" err="1"/>
                        <a:t>indexOf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searchvalue,fromindex</a:t>
                      </a:r>
                      <a:r>
                        <a:rPr lang="en-US" sz="1400" dirty="0"/>
                        <a:t>)</a:t>
                      </a:r>
                      <a:endParaRPr 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587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</a:t>
                      </a:r>
                      <a:r>
                        <a:rPr 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从前向后搜索字符串。返回某个指定的字符串值在字符串中首次出现的位置</a:t>
                      </a:r>
                      <a:r>
                        <a:rPr 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</a:t>
                      </a:r>
                      <a:r>
                        <a:rPr 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如果没有发现，返回</a:t>
                      </a:r>
                      <a:r>
                        <a:rPr 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-1</a:t>
                      </a:r>
                      <a:endParaRPr 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/>
                        <a:t>lastIndexOf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searchvalue,fromindex</a:t>
                      </a:r>
                      <a:r>
                        <a:rPr lang="en-US" sz="1400" dirty="0"/>
                        <a:t>)</a:t>
                      </a:r>
                      <a:endParaRPr 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587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</a:t>
                      </a:r>
                      <a:r>
                        <a:rPr 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从后向前搜索字符串。返回一个指定的字符串值最后出现的位置，如果没有发现，返回</a:t>
                      </a:r>
                      <a:r>
                        <a:rPr 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-1</a:t>
                      </a:r>
                      <a:endParaRPr 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400" dirty="0" err="1"/>
                        <a:t>charAt</a:t>
                      </a:r>
                      <a:r>
                        <a:rPr lang="en-US" sz="1400" dirty="0"/>
                        <a:t>(index)</a:t>
                      </a:r>
                      <a:endParaRPr 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587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返回在指定位置的字符</a:t>
                      </a:r>
                      <a:endParaRPr 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/>
                        <a:t>substring(</a:t>
                      </a:r>
                      <a:r>
                        <a:rPr lang="en-US" sz="1400" dirty="0" err="1"/>
                        <a:t>start,stop</a:t>
                      </a:r>
                      <a:r>
                        <a:rPr lang="en-US" sz="1400" dirty="0"/>
                        <a:t>)</a:t>
                      </a:r>
                      <a:endParaRPr 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714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用于提取字符串中介于两个指定下标之间的字符</a:t>
                      </a:r>
                      <a:endParaRPr 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33400" y="4312920"/>
            <a:ext cx="85344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str</a:t>
            </a:r>
            <a:r>
              <a:rPr lang="en-US" altLang="zh-CN" sz="1800" dirty="0">
                <a:solidFill>
                  <a:srgbClr val="FF0000"/>
                </a:solidFill>
              </a:rPr>
              <a:t>="Welcome to you!";</a:t>
            </a:r>
            <a:endParaRPr lang="zh-CN" altLang="zh-CN" sz="1800" dirty="0">
              <a:solidFill>
                <a:srgbClr val="FF0000"/>
              </a:solidFill>
            </a:endParaRPr>
          </a:p>
          <a:p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substr</a:t>
            </a:r>
            <a:r>
              <a:rPr lang="en-US" altLang="zh-CN" sz="1800" dirty="0">
                <a:solidFill>
                  <a:srgbClr val="FF0000"/>
                </a:solidFill>
              </a:rPr>
              <a:t>=</a:t>
            </a:r>
            <a:r>
              <a:rPr lang="en-US" altLang="zh-CN" sz="1800" dirty="0" err="1">
                <a:solidFill>
                  <a:srgbClr val="FF0000"/>
                </a:solidFill>
              </a:rPr>
              <a:t>str.substring</a:t>
            </a:r>
            <a:r>
              <a:rPr lang="en-US" altLang="zh-CN" sz="1800" dirty="0">
                <a:solidFill>
                  <a:srgbClr val="FF0000"/>
                </a:solidFill>
              </a:rPr>
              <a:t>(3,6); //</a:t>
            </a:r>
            <a:r>
              <a:rPr lang="zh-CN" altLang="zh-CN" sz="1800" dirty="0">
                <a:solidFill>
                  <a:schemeClr val="accent2"/>
                </a:solidFill>
              </a:rPr>
              <a:t>从第</a:t>
            </a:r>
            <a:r>
              <a:rPr lang="en-US" altLang="zh-CN" sz="1800" dirty="0">
                <a:solidFill>
                  <a:schemeClr val="accent2"/>
                </a:solidFill>
              </a:rPr>
              <a:t>0</a:t>
            </a:r>
            <a:r>
              <a:rPr lang="zh-CN" altLang="zh-CN" sz="1800" dirty="0">
                <a:solidFill>
                  <a:schemeClr val="accent2"/>
                </a:solidFill>
              </a:rPr>
              <a:t>个字符</a:t>
            </a:r>
            <a:r>
              <a:rPr lang="zh-CN" altLang="en-US" sz="1800" dirty="0">
                <a:solidFill>
                  <a:schemeClr val="accent2"/>
                </a:solidFill>
              </a:rPr>
              <a:t>起</a:t>
            </a:r>
            <a:r>
              <a:rPr lang="zh-CN" altLang="zh-CN" sz="1800" dirty="0">
                <a:solidFill>
                  <a:schemeClr val="accent2"/>
                </a:solidFill>
              </a:rPr>
              <a:t>，第</a:t>
            </a:r>
            <a:r>
              <a:rPr lang="en-US" altLang="zh-CN" sz="1800" dirty="0">
                <a:solidFill>
                  <a:schemeClr val="accent2"/>
                </a:solidFill>
              </a:rPr>
              <a:t>3</a:t>
            </a:r>
            <a:r>
              <a:rPr lang="zh-CN" altLang="zh-CN" sz="1800" dirty="0">
                <a:solidFill>
                  <a:schemeClr val="accent2"/>
                </a:solidFill>
              </a:rPr>
              <a:t>个</a:t>
            </a:r>
            <a:r>
              <a:rPr lang="en-US" altLang="zh-CN" sz="1800" dirty="0">
                <a:solidFill>
                  <a:schemeClr val="accent2"/>
                </a:solidFill>
              </a:rPr>
              <a:t>-6</a:t>
            </a:r>
            <a:r>
              <a:rPr lang="zh-CN" altLang="zh-CN" sz="1800" dirty="0">
                <a:solidFill>
                  <a:schemeClr val="accent2"/>
                </a:solidFill>
              </a:rPr>
              <a:t>个之间字符为</a:t>
            </a:r>
            <a:r>
              <a:rPr lang="en-US" altLang="zh-CN" sz="1800" dirty="0">
                <a:solidFill>
                  <a:schemeClr val="accent2"/>
                </a:solidFill>
              </a:rPr>
              <a:t>"com"</a:t>
            </a:r>
            <a:endParaRPr lang="zh-CN" altLang="zh-CN" sz="1800" dirty="0">
              <a:solidFill>
                <a:schemeClr val="accent2"/>
              </a:solidFill>
            </a:endParaRPr>
          </a:p>
          <a:p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somestr</a:t>
            </a:r>
            <a:r>
              <a:rPr lang="en-US" altLang="zh-CN" sz="1800" dirty="0">
                <a:solidFill>
                  <a:srgbClr val="FF0000"/>
                </a:solidFill>
              </a:rPr>
              <a:t>=</a:t>
            </a:r>
            <a:r>
              <a:rPr lang="en-US" altLang="zh-CN" sz="1800" dirty="0" err="1">
                <a:solidFill>
                  <a:srgbClr val="FF0000"/>
                </a:solidFill>
              </a:rPr>
              <a:t>str.charAt</a:t>
            </a:r>
            <a:r>
              <a:rPr lang="en-US" altLang="zh-CN" sz="1800" dirty="0">
                <a:solidFill>
                  <a:srgbClr val="FF0000"/>
                </a:solidFill>
              </a:rPr>
              <a:t>(4);    //</a:t>
            </a:r>
            <a:r>
              <a:rPr lang="zh-CN" altLang="zh-CN" sz="1800" dirty="0">
                <a:solidFill>
                  <a:schemeClr val="accent2"/>
                </a:solidFill>
              </a:rPr>
              <a:t>从第</a:t>
            </a:r>
            <a:r>
              <a:rPr lang="en-US" altLang="zh-CN" sz="1800" dirty="0">
                <a:solidFill>
                  <a:schemeClr val="accent2"/>
                </a:solidFill>
              </a:rPr>
              <a:t>0</a:t>
            </a:r>
            <a:r>
              <a:rPr lang="zh-CN" altLang="zh-CN" sz="1800" dirty="0">
                <a:solidFill>
                  <a:schemeClr val="accent2"/>
                </a:solidFill>
              </a:rPr>
              <a:t>个字符开始数，取第</a:t>
            </a:r>
            <a:r>
              <a:rPr lang="en-US" altLang="zh-CN" sz="1800" dirty="0">
                <a:solidFill>
                  <a:schemeClr val="accent2"/>
                </a:solidFill>
              </a:rPr>
              <a:t>4</a:t>
            </a:r>
            <a:r>
              <a:rPr lang="zh-CN" altLang="zh-CN" sz="1800" dirty="0">
                <a:solidFill>
                  <a:schemeClr val="accent2"/>
                </a:solidFill>
              </a:rPr>
              <a:t>个字符结果是</a:t>
            </a:r>
            <a:r>
              <a:rPr lang="en-US" altLang="zh-CN" sz="1800" dirty="0">
                <a:solidFill>
                  <a:schemeClr val="accent2"/>
                </a:solidFill>
              </a:rPr>
              <a:t>"o"</a:t>
            </a:r>
          </a:p>
          <a:p>
            <a:r>
              <a:rPr lang="zh-CN" altLang="en-US" sz="1800" dirty="0">
                <a:solidFill>
                  <a:srgbClr val="FF0000"/>
                </a:solidFill>
              </a:rPr>
              <a:t>   </a:t>
            </a:r>
            <a:r>
              <a:rPr lang="zh-CN" altLang="en-US" sz="1800" dirty="0">
                <a:solidFill>
                  <a:srgbClr val="FF0000"/>
                </a:solidFill>
                <a:latin typeface="+mj-ea"/>
                <a:ea typeface="+mj-ea"/>
              </a:rPr>
              <a:t>其它参照案例</a:t>
            </a:r>
            <a:r>
              <a:rPr lang="nl-NL" altLang="zh-CN" sz="1800" dirty="0">
                <a:solidFill>
                  <a:srgbClr val="FF0000"/>
                </a:solidFill>
                <a:latin typeface="+mj-ea"/>
                <a:ea typeface="+mj-ea"/>
              </a:rPr>
              <a:t>edu_14_6_7.html</a:t>
            </a:r>
            <a:endParaRPr lang="zh-CN" altLang="zh-CN" sz="1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自定义函数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5446"/>
            <a:ext cx="8509000" cy="3820954"/>
          </a:xfrm>
        </p:spPr>
        <p:txBody>
          <a:bodyPr>
            <a:normAutofit/>
          </a:bodyPr>
          <a:lstStyle/>
          <a:p>
            <a:pPr lvl="0" latinLnBrk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基本语法：</a:t>
            </a:r>
          </a:p>
          <a:p>
            <a:pPr marL="0" lvl="0" indent="0" latinLnBrk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function </a:t>
            </a:r>
            <a:r>
              <a:rPr lang="en-US" altLang="zh-CN" sz="1600" dirty="0" err="1">
                <a:solidFill>
                  <a:srgbClr val="FF0000"/>
                </a:solidFill>
              </a:rPr>
              <a:t>functionname</a:t>
            </a:r>
            <a:r>
              <a:rPr lang="en-US" altLang="zh-CN" sz="1600" dirty="0">
                <a:solidFill>
                  <a:srgbClr val="FF0000"/>
                </a:solidFill>
              </a:rPr>
              <a:t>(argument1,argument2,..., </a:t>
            </a:r>
            <a:r>
              <a:rPr lang="en-US" altLang="zh-CN" sz="1600" dirty="0" err="1">
                <a:solidFill>
                  <a:srgbClr val="FF0000"/>
                </a:solidFill>
              </a:rPr>
              <a:t>argumentn</a:t>
            </a:r>
            <a:r>
              <a:rPr lang="en-US" altLang="zh-CN" sz="1600" dirty="0">
                <a:solidFill>
                  <a:srgbClr val="FF0000"/>
                </a:solidFill>
              </a:rPr>
              <a:t>){</a:t>
            </a:r>
            <a:r>
              <a:rPr lang="zh-CN" altLang="en-US" sz="1600" dirty="0">
                <a:solidFill>
                  <a:srgbClr val="FF0000"/>
                </a:solidFill>
              </a:rPr>
              <a:t>函数体；</a:t>
            </a:r>
            <a:r>
              <a:rPr lang="en-US" altLang="zh-CN" sz="1600" dirty="0">
                <a:solidFill>
                  <a:srgbClr val="FF0000"/>
                </a:solidFill>
              </a:rPr>
              <a:t>}</a:t>
            </a:r>
          </a:p>
          <a:p>
            <a:pPr marL="0" lvl="0" indent="0" latinLnBrk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语法说明：</a:t>
            </a:r>
          </a:p>
          <a:p>
            <a:pPr marL="541655" lvl="0">
              <a:spcBef>
                <a:spcPts val="600"/>
              </a:spcBef>
              <a:spcAft>
                <a:spcPts val="0"/>
              </a:spcAft>
            </a:pPr>
            <a:r>
              <a:rPr lang="zh-CN" altLang="zh-CN" sz="1600" dirty="0"/>
              <a:t>函数就是包裹在花括号中的代码块，使用关键词</a:t>
            </a:r>
            <a:r>
              <a:rPr lang="en-US" altLang="zh-CN" sz="1600" dirty="0"/>
              <a:t>function</a:t>
            </a:r>
            <a:r>
              <a:rPr lang="zh-CN" altLang="zh-CN" sz="1600" dirty="0"/>
              <a:t>来定义。当调用该函数时，会执行函数内的代码。</a:t>
            </a:r>
          </a:p>
          <a:p>
            <a:pPr marL="541655" lvl="0">
              <a:spcBef>
                <a:spcPts val="600"/>
              </a:spcBef>
              <a:spcAft>
                <a:spcPts val="0"/>
              </a:spcAft>
            </a:pPr>
            <a:r>
              <a:rPr lang="zh-CN" altLang="zh-CN" sz="1600" dirty="0"/>
              <a:t>在调用函数时，可以向其传递值，这些值被称为参数。这些参数可以在函数中使用。可以发送任意多的参数，参数之间用由逗号分隔。也可以没有参数，但括号不能省略，</a:t>
            </a:r>
            <a:r>
              <a:rPr lang="zh-CN" altLang="zh-CN" sz="1600" dirty="0">
                <a:solidFill>
                  <a:srgbClr val="FF0000"/>
                </a:solidFill>
              </a:rPr>
              <a:t>参数类型不需要给定</a:t>
            </a:r>
            <a:r>
              <a:rPr lang="zh-CN" altLang="zh-CN" sz="1600" dirty="0"/>
              <a:t>。</a:t>
            </a:r>
          </a:p>
          <a:p>
            <a:pPr marL="541655" lvl="0">
              <a:spcBef>
                <a:spcPts val="600"/>
              </a:spcBef>
              <a:spcAft>
                <a:spcPts val="0"/>
              </a:spcAft>
            </a:pPr>
            <a:r>
              <a:rPr lang="zh-CN" altLang="zh-CN" sz="1600" dirty="0">
                <a:highlight>
                  <a:srgbClr val="FFFF00"/>
                </a:highlight>
              </a:rPr>
              <a:t>函数如果有返回值，使用return语句返回，如果没有return语句，函数将返回一个undefined值；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3400" y="1676400"/>
            <a:ext cx="8153400" cy="2749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8775" inden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zh-CN" dirty="0">
                <a:latin typeface="+mj-ea"/>
                <a:ea typeface="+mj-ea"/>
              </a:rPr>
              <a:t>函数体必须写在“</a:t>
            </a:r>
            <a:r>
              <a:rPr lang="en-US" altLang="zh-CN" dirty="0">
                <a:latin typeface="+mj-ea"/>
                <a:ea typeface="+mj-ea"/>
              </a:rPr>
              <a:t>{</a:t>
            </a:r>
            <a:r>
              <a:rPr lang="zh-CN" altLang="zh-CN" dirty="0">
                <a:latin typeface="+mj-ea"/>
                <a:ea typeface="+mj-ea"/>
              </a:rPr>
              <a:t>”和“</a:t>
            </a:r>
            <a:r>
              <a:rPr lang="en-US" altLang="zh-CN" dirty="0">
                <a:latin typeface="+mj-ea"/>
                <a:ea typeface="+mj-ea"/>
              </a:rPr>
              <a:t>}</a:t>
            </a:r>
            <a:r>
              <a:rPr lang="zh-CN" altLang="zh-CN" dirty="0">
                <a:latin typeface="+mj-ea"/>
                <a:ea typeface="+mj-ea"/>
              </a:rPr>
              <a:t>”内，“</a:t>
            </a:r>
            <a:r>
              <a:rPr lang="en-US" altLang="zh-CN" dirty="0">
                <a:latin typeface="+mj-ea"/>
                <a:ea typeface="+mj-ea"/>
              </a:rPr>
              <a:t>{</a:t>
            </a:r>
            <a:r>
              <a:rPr lang="zh-CN" altLang="zh-CN" dirty="0">
                <a:latin typeface="+mj-ea"/>
                <a:ea typeface="+mj-ea"/>
              </a:rPr>
              <a:t>”、“</a:t>
            </a:r>
            <a:r>
              <a:rPr lang="en-US" altLang="zh-CN" dirty="0">
                <a:latin typeface="+mj-ea"/>
                <a:ea typeface="+mj-ea"/>
              </a:rPr>
              <a:t>}</a:t>
            </a:r>
            <a:r>
              <a:rPr lang="zh-CN" altLang="zh-CN" dirty="0">
                <a:latin typeface="+mj-ea"/>
                <a:ea typeface="+mj-ea"/>
              </a:rPr>
              <a:t>”定义了函数的开始和结束</a:t>
            </a:r>
          </a:p>
          <a:p>
            <a:pPr marL="358775" indent="0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zh-CN" dirty="0">
              <a:latin typeface="+mj-ea"/>
              <a:ea typeface="+mj-ea"/>
            </a:endParaRPr>
          </a:p>
          <a:p>
            <a:pPr marL="358775" inden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j-ea"/>
                <a:ea typeface="+mj-ea"/>
              </a:rPr>
              <a:t>JavaScript</a:t>
            </a:r>
            <a:r>
              <a:rPr lang="zh-CN" altLang="zh-CN" dirty="0">
                <a:latin typeface="+mj-ea"/>
                <a:ea typeface="+mj-ea"/>
              </a:rPr>
              <a:t>中区分字母大小写，因此“</a:t>
            </a:r>
            <a:r>
              <a:rPr lang="en-US" altLang="zh-CN" dirty="0">
                <a:latin typeface="+mj-ea"/>
                <a:ea typeface="+mj-ea"/>
              </a:rPr>
              <a:t>function</a:t>
            </a:r>
            <a:r>
              <a:rPr lang="zh-CN" altLang="zh-CN" dirty="0">
                <a:latin typeface="+mj-ea"/>
                <a:ea typeface="+mj-ea"/>
              </a:rPr>
              <a:t>”这个词必须是全部字母小写的，否则程序就会出错。另外需要注意的是，必须使用大小写完全相同的函数名来调用函数。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例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如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:</a:t>
            </a:r>
          </a:p>
          <a:p>
            <a:pPr marL="514350" lvl="0" indent="-155575">
              <a:buClr>
                <a:schemeClr val="accent2"/>
              </a:buClr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function sum(x,y){return x*y;}</a:t>
            </a:r>
          </a:p>
          <a:p>
            <a:pPr marL="0" indent="696595" algn="l" defTabSz="914400">
              <a:spcBef>
                <a:spcPct val="20000"/>
              </a:spcBef>
              <a:buClr>
                <a:srgbClr val="202AAE"/>
              </a:buClr>
              <a:buSzPct val="80000"/>
              <a:buFont typeface="+mj-ea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 function </a:t>
            </a:r>
            <a:r>
              <a:rPr lang="en-US" altLang="zh-CN" sz="18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showMessage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(mess){</a:t>
            </a:r>
          </a:p>
          <a:p>
            <a:pPr marL="0" indent="696595" algn="l" defTabSz="914400">
              <a:spcBef>
                <a:spcPct val="20000"/>
              </a:spcBef>
              <a:buClr>
                <a:srgbClr val="202AAE"/>
              </a:buClr>
              <a:buSzPct val="80000"/>
              <a:buFont typeface="+mj-ea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   alert(mess);</a:t>
            </a:r>
          </a:p>
          <a:p>
            <a:pPr marL="0" indent="696595" algn="l" defTabSz="914400">
              <a:spcBef>
                <a:spcPct val="20000"/>
              </a:spcBef>
              <a:buClr>
                <a:srgbClr val="202AAE"/>
              </a:buClr>
              <a:buSzPct val="80000"/>
              <a:buFont typeface="+mj-ea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}</a:t>
            </a:r>
          </a:p>
        </p:txBody>
      </p:sp>
      <p:sp>
        <p:nvSpPr>
          <p:cNvPr id="808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083" y="542925"/>
            <a:ext cx="7761287" cy="567929"/>
          </a:xfrm>
        </p:spPr>
        <p:txBody>
          <a:bodyPr/>
          <a:lstStyle/>
          <a:p>
            <a:r>
              <a:rPr lang="zh-CN" altLang="en-US" dirty="0"/>
              <a:t>自定义函数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idx="1"/>
          </p:nvPr>
        </p:nvSpPr>
        <p:spPr>
          <a:xfrm>
            <a:off x="342900" y="1329690"/>
            <a:ext cx="8361680" cy="37947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&lt;html&gt;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&lt;head&gt;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&lt;title&gt;自定义函数的应用&lt;/title&gt;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&lt;script type="text/javascript"&gt;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</a:rPr>
              <a:t>      function area(a,b,c)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{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</a:rPr>
              <a:t>        s=(parseInt(a.value)+parseInt(b.value))/2*c.value;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</a:rPr>
              <a:t>        alert("梯形的面积为"+s);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</a:rPr>
              <a:t>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&lt;/script&gt;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&lt;/head&gt;</a:t>
            </a:r>
            <a:endParaRPr lang="en-US" altLang="zh-CN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ym typeface="+mn-ea"/>
              </a:rPr>
              <a:t>  &lt;body&gt;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ym typeface="+mn-ea"/>
              </a:rPr>
              <a:t>    &lt;form&gt;</a:t>
            </a:r>
            <a:endParaRPr lang="zh-CN" alt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+mn-lt"/>
                <a:ea typeface="+mn-ea"/>
                <a:sym typeface="+mn-ea"/>
              </a:rPr>
              <a:t>     上底:&lt;input type="text" name="a"&gt;&lt;br/&gt;</a:t>
            </a:r>
            <a:endParaRPr lang="zh-CN" alt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+mn-lt"/>
                <a:ea typeface="+mn-ea"/>
                <a:sym typeface="+mn-ea"/>
              </a:rPr>
              <a:t>     下底:&lt;input type="text" name="b"&gt;&lt;br/&gt;</a:t>
            </a:r>
            <a:endParaRPr lang="zh-CN" alt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+mn-lt"/>
                <a:ea typeface="+mn-ea"/>
                <a:sym typeface="+mn-ea"/>
              </a:rPr>
              <a:t>     高度:&lt;input type="text" name="c"&gt;&lt;br/&gt;</a:t>
            </a:r>
            <a:endParaRPr lang="zh-CN" alt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     &lt;input type="button" onclick="area(a,b,c)" value="求面积"&gt;&lt;br/&gt;</a:t>
            </a:r>
            <a:endParaRPr lang="zh-CN" alt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+mn-lt"/>
                <a:ea typeface="+mn-ea"/>
                <a:sym typeface="+mn-ea"/>
              </a:rPr>
              <a:t>    &lt;/form&gt;</a:t>
            </a:r>
            <a:endParaRPr lang="zh-CN" alt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+mn-lt"/>
                <a:ea typeface="+mn-ea"/>
                <a:sym typeface="+mn-ea"/>
              </a:rPr>
              <a:t>  &lt;/body&gt;</a:t>
            </a:r>
            <a:endParaRPr lang="zh-CN" alt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+mn-lt"/>
                <a:ea typeface="+mn-ea"/>
                <a:sym typeface="+mn-ea"/>
              </a:rPr>
              <a:t>&lt;/html&gt;</a:t>
            </a:r>
            <a:endParaRPr lang="zh-CN" altLang="en-US" sz="16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dirty="0"/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>
          <a:xfrm>
            <a:off x="342900" y="460771"/>
            <a:ext cx="7761288" cy="567929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0488" tIns="44450" rIns="90488" bIns="44450" numCol="1" anchor="ctr" anchorCtr="0" compatLnSpc="1"/>
          <a:lstStyle>
            <a:lvl1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4572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9144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3716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1828800" algn="ctr" defTabSz="463550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自定义函数</a:t>
            </a: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 t="35054"/>
          <a:stretch>
            <a:fillRect/>
          </a:stretch>
        </p:blipFill>
        <p:spPr bwMode="auto">
          <a:xfrm>
            <a:off x="3672205" y="3013075"/>
            <a:ext cx="5368925" cy="121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带参数返回的</a:t>
            </a:r>
            <a:r>
              <a:rPr lang="en-US" altLang="zh-CN" dirty="0"/>
              <a:t>return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idx="1"/>
          </p:nvPr>
        </p:nvSpPr>
        <p:spPr>
          <a:xfrm>
            <a:off x="533400" y="1714500"/>
            <a:ext cx="8305165" cy="3771900"/>
          </a:xfrm>
        </p:spPr>
        <p:txBody>
          <a:bodyPr/>
          <a:lstStyle/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&lt;head&gt;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&lt;title&gt;return语句返回计算结果&lt;/title&gt;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&lt;script type="text/javascript"&gt;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     function plus(a,b,c)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{</a:t>
            </a:r>
            <a:endParaRPr lang="en-US" altLang="zh-CN" sz="180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    </a:t>
            </a:r>
            <a:r>
              <a:rPr lang="zh-CN" altLang="en-US" sz="1800" dirty="0">
                <a:solidFill>
                  <a:srgbClr val="FF0000"/>
                </a:solidFill>
              </a:rPr>
              <a:t>return a+b+c;  //返回累加和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sym typeface="+mn-ea"/>
              </a:rPr>
              <a:t>     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}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&lt;/script&gt;</a:t>
            </a:r>
          </a:p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&lt;/head&gt;</a:t>
            </a:r>
            <a:endParaRPr lang="en-US" altLang="zh-CN" sz="1800" dirty="0"/>
          </a:p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00"/>
                </a:solidFill>
                <a:latin typeface="Arial" panose="020B0604020202020204"/>
                <a:ea typeface="+mn-ea"/>
              </a:rPr>
              <a:t>&lt;body&gt;</a:t>
            </a:r>
          </a:p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00"/>
                </a:solidFill>
                <a:latin typeface="Arial" panose="020B0604020202020204"/>
                <a:ea typeface="+mn-ea"/>
              </a:rPr>
              <a:t>  &lt;script type="text/javascript"&gt;</a:t>
            </a:r>
          </a:p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00"/>
                </a:solidFill>
                <a:latin typeface="Arial" panose="020B0604020202020204"/>
                <a:ea typeface="+mn-ea"/>
              </a:rPr>
              <a:t>   document.write("3+4+5结果为："+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/>
                <a:ea typeface="+mn-ea"/>
              </a:rPr>
              <a:t>plus(3,4,5)</a:t>
            </a:r>
            <a:r>
              <a:rPr lang="zh-CN" altLang="en-US" sz="1800" dirty="0">
                <a:solidFill>
                  <a:srgbClr val="000000"/>
                </a:solidFill>
                <a:latin typeface="Arial" panose="020B0604020202020204"/>
                <a:ea typeface="+mn-ea"/>
              </a:rPr>
              <a:t>);</a:t>
            </a:r>
          </a:p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00"/>
                </a:solidFill>
                <a:latin typeface="Arial" panose="020B0604020202020204"/>
                <a:ea typeface="+mn-ea"/>
              </a:rPr>
              <a:t>  &lt;/script&gt;</a:t>
            </a:r>
          </a:p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00"/>
                </a:solidFill>
                <a:latin typeface="Arial" panose="020B0604020202020204"/>
                <a:ea typeface="+mn-ea"/>
              </a:rPr>
              <a:t>&lt;/body&gt;</a:t>
            </a:r>
          </a:p>
          <a:p>
            <a:pPr marL="0" indent="0">
              <a:lnSpc>
                <a:spcPct val="80000"/>
              </a:lnSpc>
              <a:buNone/>
            </a:pPr>
            <a:endParaRPr lang="zh-CN" altLang="en-US" sz="1400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 t="34662"/>
          <a:stretch>
            <a:fillRect/>
          </a:stretch>
        </p:blipFill>
        <p:spPr bwMode="auto">
          <a:xfrm>
            <a:off x="2332355" y="4345940"/>
            <a:ext cx="503872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函数变量的作用域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80" dirty="0">
                <a:solidFill>
                  <a:srgbClr val="FF0000"/>
                </a:solidFill>
              </a:rPr>
              <a:t>变量分为局部变量和全局变量</a:t>
            </a:r>
            <a:r>
              <a:rPr lang="zh-CN" altLang="en-US" sz="1780" dirty="0"/>
              <a:t>。</a:t>
            </a:r>
          </a:p>
          <a:p>
            <a:pPr marL="0" indent="541655">
              <a:spcBef>
                <a:spcPts val="0"/>
              </a:spcBef>
              <a:spcAft>
                <a:spcPts val="0"/>
              </a:spcAft>
            </a:pPr>
            <a:r>
              <a:rPr lang="zh-CN" altLang="en-US" sz="1780" dirty="0">
                <a:solidFill>
                  <a:srgbClr val="FF0000"/>
                </a:solidFill>
              </a:rPr>
              <a:t>局部变量</a:t>
            </a:r>
            <a:r>
              <a:rPr lang="zh-CN" altLang="en-US" sz="1780" dirty="0"/>
              <a:t>是指在函数内部声明的变量，只在一段程序中起作用的变量；</a:t>
            </a:r>
            <a:r>
              <a:rPr lang="zh-CN" altLang="en-US" sz="1780" dirty="0">
                <a:solidFill>
                  <a:srgbClr val="FF0000"/>
                </a:solidFill>
              </a:rPr>
              <a:t>全局变量</a:t>
            </a:r>
            <a:r>
              <a:rPr lang="zh-CN" altLang="en-US" sz="1780" dirty="0"/>
              <a:t>是指在函数之外声明的变量，在整个</a:t>
            </a:r>
            <a:r>
              <a:rPr lang="en-US" altLang="zh-CN" sz="1780" dirty="0"/>
              <a:t>JavaScript</a:t>
            </a:r>
            <a:r>
              <a:rPr lang="zh-CN" altLang="en-US" sz="1780" dirty="0"/>
              <a:t>代码中都可起作用的变量，全局变量的生命周期从声明开始，在页面关闭时结束。</a:t>
            </a:r>
          </a:p>
          <a:p>
            <a:pPr marL="0" indent="541655">
              <a:spcBef>
                <a:spcPts val="0"/>
              </a:spcBef>
              <a:spcAft>
                <a:spcPts val="0"/>
              </a:spcAft>
            </a:pPr>
            <a:r>
              <a:rPr lang="zh-CN" altLang="en-US" sz="1780" dirty="0"/>
              <a:t>局部变量和全局变量可以重名。即在函数体外声明了一个变量，在函数体内再声明一个同名的变量。在函数体内部，局部变量的优先级高于全局变量，即在函数体内，同名的全局变量被隐藏了。</a:t>
            </a:r>
          </a:p>
          <a:p>
            <a:pPr marL="0" indent="541655">
              <a:spcBef>
                <a:spcPts val="0"/>
              </a:spcBef>
              <a:spcAft>
                <a:spcPts val="0"/>
              </a:spcAft>
            </a:pPr>
            <a:r>
              <a:rPr lang="zh-CN" altLang="en-US" sz="1780" dirty="0">
                <a:highlight>
                  <a:srgbClr val="FFFF00"/>
                </a:highlight>
              </a:rPr>
              <a:t>需要注意到是：专用于函数体内部的变量一定要用</a:t>
            </a:r>
            <a:r>
              <a:rPr lang="en-US" altLang="zh-CN" sz="1780" dirty="0" err="1">
                <a:solidFill>
                  <a:srgbClr val="FF0000"/>
                </a:solidFill>
                <a:highlight>
                  <a:srgbClr val="FFFF00"/>
                </a:highlight>
              </a:rPr>
              <a:t>var</a:t>
            </a:r>
            <a:r>
              <a:rPr lang="zh-CN" altLang="en-US" sz="1780" dirty="0">
                <a:solidFill>
                  <a:srgbClr val="FF0000"/>
                </a:solidFill>
                <a:highlight>
                  <a:srgbClr val="FFFF00"/>
                </a:highlight>
              </a:rPr>
              <a:t>关键字声明</a:t>
            </a:r>
            <a:r>
              <a:rPr lang="zh-CN" altLang="en-US" sz="1780" dirty="0">
                <a:highlight>
                  <a:srgbClr val="FFFF00"/>
                </a:highlight>
              </a:rPr>
              <a:t>，否则该变量将被定义成全局变量，</a:t>
            </a:r>
            <a:r>
              <a:rPr lang="zh-CN" altLang="en-US" sz="1780" b="1" dirty="0">
                <a:solidFill>
                  <a:srgbClr val="FF0000"/>
                </a:solidFill>
                <a:highlight>
                  <a:srgbClr val="FFFF00"/>
                </a:highlight>
              </a:rPr>
              <a:t>如果函数体外部有同名的变量，可能导致该全局变量被修改。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函数变量的作用域案例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385445" y="1176020"/>
            <a:ext cx="7913370" cy="3868420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&lt;script type="text/javascript"&gt;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</a:t>
            </a:r>
            <a:r>
              <a:rPr lang="zh-CN" altLang="en-US" sz="1800" dirty="0">
                <a:solidFill>
                  <a:srgbClr val="FF0000"/>
                </a:solidFill>
              </a:rPr>
              <a:t>var test1 = 100;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  var test2 = 100;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function checkScope( )</a:t>
            </a:r>
            <a:r>
              <a:rPr lang="zh-CN" altLang="en-US" sz="1800" dirty="0">
                <a:sym typeface="+mn-ea"/>
              </a:rPr>
              <a:t>{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var test1 = 200; </a:t>
            </a:r>
            <a:r>
              <a:rPr lang="en-US" altLang="zh-CN" sz="1800" dirty="0"/>
              <a:t>//</a:t>
            </a:r>
            <a:r>
              <a:rPr lang="zh-CN" altLang="zh-CN" sz="1800" dirty="0">
                <a:ea typeface="宋体" panose="02010600030101010101" pitchFamily="2" charset="-122"/>
              </a:rPr>
              <a:t>同名局部变量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</a:t>
            </a:r>
            <a:r>
              <a:rPr lang="zh-CN" altLang="en-US" sz="1800" dirty="0">
                <a:solidFill>
                  <a:srgbClr val="FF0000"/>
                </a:solidFill>
              </a:rPr>
              <a:t>test2 = 200;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ym typeface="+mn-ea"/>
              </a:rPr>
              <a:t>    document.write("局部变量test1的值为"+test1);</a:t>
            </a:r>
            <a:endParaRPr lang="zh-CN" altLang="en-US" sz="1800" dirty="0">
              <a:latin typeface="+mn-lt"/>
              <a:ea typeface="+mn-ea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Verdana" panose="020B0604030504040204" pitchFamily="34" charset="0"/>
                <a:ea typeface="+mn-ea"/>
                <a:cs typeface="Verdana" panose="020B0604030504040204" pitchFamily="34" charset="0"/>
                <a:sym typeface="+mn-ea"/>
              </a:rPr>
              <a:t>   document.write("&lt;br/&gt;");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Verdana" panose="020B0604030504040204" pitchFamily="34" charset="0"/>
                <a:ea typeface="+mn-ea"/>
                <a:cs typeface="Verdana" panose="020B0604030504040204" pitchFamily="34" charset="0"/>
                <a:sym typeface="+mn-ea"/>
              </a:rPr>
              <a:t>  }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Verdana" panose="020B0604030504040204" pitchFamily="34" charset="0"/>
                <a:ea typeface="+mn-ea"/>
                <a:cs typeface="Verdana" panose="020B0604030504040204" pitchFamily="34" charset="0"/>
                <a:sym typeface="+mn-ea"/>
              </a:rPr>
              <a:t>  checkScope( );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Verdana" panose="020B0604030504040204" pitchFamily="34" charset="0"/>
                <a:ea typeface="+mn-ea"/>
                <a:cs typeface="Verdana" panose="020B0604030504040204" pitchFamily="34" charset="0"/>
                <a:sym typeface="+mn-ea"/>
              </a:rPr>
              <a:t>  document.write("全局变量test1的值为"+test1);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Verdana" panose="020B0604030504040204" pitchFamily="34" charset="0"/>
                <a:ea typeface="+mn-ea"/>
                <a:cs typeface="Verdana" panose="020B0604030504040204" pitchFamily="34" charset="0"/>
                <a:sym typeface="+mn-ea"/>
              </a:rPr>
              <a:t>  document.write("&lt;br/&gt;");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Verdana" panose="020B0604030504040204" pitchFamily="34" charset="0"/>
                <a:ea typeface="+mn-ea"/>
                <a:cs typeface="Verdana" panose="020B0604030504040204" pitchFamily="34" charset="0"/>
                <a:sym typeface="+mn-ea"/>
              </a:rPr>
              <a:t>  document.write("全局变量test2的值为"+test2);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Verdana" panose="020B0604030504040204" pitchFamily="34" charset="0"/>
                <a:ea typeface="+mn-ea"/>
                <a:cs typeface="Verdana" panose="020B0604030504040204" pitchFamily="34" charset="0"/>
                <a:sym typeface="+mn-ea"/>
              </a:rPr>
              <a:t>&lt;/script&gt;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endParaRPr lang="zh-CN" altLang="en-US" sz="1600" dirty="0">
              <a:latin typeface="Verdana" panose="020B0604030504040204" pitchFamily="34" charset="0"/>
              <a:ea typeface="+mn-ea"/>
              <a:cs typeface="Verdana" panose="020B0604030504040204" pitchFamily="34" charset="0"/>
              <a:sym typeface="+mn-ea"/>
            </a:endParaRP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dirty="0">
              <a:solidFill>
                <a:srgbClr val="FF0000"/>
              </a:solidFill>
            </a:endParaRPr>
          </a:p>
          <a:p>
            <a:pPr marL="228600" indent="-228600">
              <a:lnSpc>
                <a:spcPct val="100000"/>
              </a:lnSpc>
              <a:buAutoNum type="arabicPeriod"/>
            </a:pPr>
            <a:endParaRPr lang="zh-CN" altLang="en-US" sz="1600" dirty="0">
              <a:solidFill>
                <a:srgbClr val="FF0000"/>
              </a:solidFill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 t="30000"/>
          <a:stretch>
            <a:fillRect/>
          </a:stretch>
        </p:blipFill>
        <p:spPr bwMode="auto">
          <a:xfrm>
            <a:off x="4531360" y="4620895"/>
            <a:ext cx="461264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ECMASCIPT</a:t>
            </a:r>
            <a:r>
              <a:t>、</a:t>
            </a:r>
            <a:r>
              <a:rPr lang="en-US" altLang="zh-CN"/>
              <a:t>DOM</a:t>
            </a:r>
            <a:r>
              <a:rPr lang="zh-CN" altLang="en-US"/>
              <a:t>和</a:t>
            </a:r>
            <a:r>
              <a:rPr lang="en-US" altLang="zh-CN"/>
              <a:t>BOM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1800"/>
              <a:t>JavaScript</a:t>
            </a:r>
            <a:r>
              <a:rPr lang="zh-CN" altLang="en-US" sz="1800"/>
              <a:t>由三个部分组成</a:t>
            </a:r>
          </a:p>
          <a:p>
            <a:pPr lvl="1"/>
            <a:r>
              <a:rPr lang="zh-CN" altLang="en-US" sz="1800"/>
              <a:t>核心</a:t>
            </a:r>
            <a:r>
              <a:rPr lang="en-US" altLang="zh-CN" sz="1800"/>
              <a:t>ECMAScript</a:t>
            </a:r>
          </a:p>
          <a:p>
            <a:pPr lvl="2"/>
            <a:r>
              <a:rPr sz="1800"/>
              <a:t>标准：语言定义</a:t>
            </a:r>
            <a:endParaRPr lang="en-US" altLang="zh-CN" sz="1800"/>
          </a:p>
          <a:p>
            <a:pPr lvl="2"/>
            <a:endParaRPr lang="en-US" altLang="zh-CN" sz="1800"/>
          </a:p>
          <a:p>
            <a:pPr lvl="2"/>
            <a:r>
              <a:rPr lang="en-US" altLang="zh-CN" sz="1800"/>
              <a:t>ES2009/ES5</a:t>
            </a:r>
            <a:r>
              <a:rPr sz="1800"/>
              <a:t>，</a:t>
            </a:r>
            <a:r>
              <a:rPr lang="en-US" altLang="zh-CN" sz="1800"/>
              <a:t>ES2015</a:t>
            </a:r>
            <a:r>
              <a:rPr lang="en-US" altLang="zh-CN" sz="1800" b="1">
                <a:solidFill>
                  <a:srgbClr val="FF0000"/>
                </a:solidFill>
              </a:rPr>
              <a:t>/ES6</a:t>
            </a:r>
            <a:r>
              <a:rPr sz="1800"/>
              <a:t>，年度更新，</a:t>
            </a:r>
            <a:r>
              <a:rPr lang="en-US" altLang="zh-CN" sz="1800"/>
              <a:t>ES2023</a:t>
            </a:r>
            <a:r>
              <a:rPr sz="1800"/>
              <a:t>又称</a:t>
            </a:r>
            <a:r>
              <a:rPr lang="en-US" altLang="zh-CN" sz="1800"/>
              <a:t>ES14</a:t>
            </a:r>
          </a:p>
          <a:p>
            <a:pPr lvl="2"/>
            <a:r>
              <a:rPr lang="en-US" altLang="zh-CN" sz="1800"/>
              <a:t>ES2024/ES15</a:t>
            </a:r>
            <a:r>
              <a:rPr sz="1800"/>
              <a:t>（https://tc39.es/ecma262/2024/）</a:t>
            </a:r>
          </a:p>
          <a:p>
            <a:pPr lvl="2"/>
            <a:r>
              <a:rPr lang="en-US" altLang="zh-CN" sz="1800"/>
              <a:t>ES2025</a:t>
            </a:r>
            <a:r>
              <a:rPr sz="1800"/>
              <a:t>草案启动</a:t>
            </a:r>
            <a:endParaRPr lang="en-US" altLang="zh-CN" sz="1800"/>
          </a:p>
          <a:p>
            <a:pPr lvl="3"/>
            <a:r>
              <a:rPr sz="1800"/>
              <a:t>郭纾宇，谷歌，</a:t>
            </a:r>
            <a:r>
              <a:rPr lang="en-US" altLang="zh-CN" sz="1800"/>
              <a:t>V8</a:t>
            </a:r>
            <a:r>
              <a:rPr sz="1800"/>
              <a:t>引擎</a:t>
            </a:r>
          </a:p>
          <a:p>
            <a:pPr lvl="3"/>
            <a:r>
              <a:rPr sz="1800"/>
              <a:t>https://github.com/tc39/ecma262，</a:t>
            </a:r>
            <a:r>
              <a:rPr lang="en-US" altLang="zh-CN" sz="1800"/>
              <a:t>PR</a:t>
            </a:r>
            <a:endParaRPr sz="1800"/>
          </a:p>
          <a:p>
            <a:pPr lvl="2"/>
            <a:r>
              <a:rPr sz="1800"/>
              <a:t>实现：</a:t>
            </a:r>
            <a:r>
              <a:rPr lang="en-US" altLang="zh-CN" sz="1800"/>
              <a:t>JavaScript</a:t>
            </a:r>
            <a:r>
              <a:rPr sz="1800"/>
              <a:t>和</a:t>
            </a:r>
            <a:r>
              <a:rPr lang="en-US" altLang="zh-CN" sz="1800"/>
              <a:t>JScript</a:t>
            </a:r>
            <a:r>
              <a:rPr sz="1800"/>
              <a:t>（微软、</a:t>
            </a:r>
            <a:r>
              <a:rPr lang="en-US" altLang="zh-CN" sz="1800"/>
              <a:t>IE</a:t>
            </a:r>
            <a:r>
              <a:rPr sz="1800"/>
              <a:t>、被废弃）</a:t>
            </a:r>
            <a:endParaRPr lang="zh-CN" altLang="en-US" sz="1800"/>
          </a:p>
          <a:p>
            <a:pPr lvl="1"/>
            <a:r>
              <a:rPr lang="zh-CN" altLang="en-US" sz="1800"/>
              <a:t>文档对象模型</a:t>
            </a:r>
            <a:r>
              <a:rPr lang="en-US" altLang="zh-CN" sz="1800"/>
              <a:t>DOM</a:t>
            </a:r>
            <a:r>
              <a:rPr sz="1800"/>
              <a:t>，访问和操作 HTML 页面内容</a:t>
            </a:r>
          </a:p>
          <a:p>
            <a:pPr lvl="1"/>
            <a:r>
              <a:rPr lang="zh-CN" altLang="en-US" sz="1800"/>
              <a:t>浏览器对象模型</a:t>
            </a:r>
            <a:r>
              <a:rPr lang="en-US" altLang="zh-CN" sz="1800"/>
              <a:t>BOM</a:t>
            </a:r>
            <a:r>
              <a:rPr sz="1800"/>
              <a:t>，访问和操作浏览器窗口</a:t>
            </a: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176260" y="6118225"/>
          <a:ext cx="626745" cy="6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showAsIcon="1" r:id="rId5" imgW="971550" imgH="952500" progId="Package">
                  <p:embed/>
                </p:oleObj>
              </mc:Choice>
              <mc:Fallback>
                <p:oleObj showAsIcon="1" r:id="rId5" imgW="971550" imgH="952500" progId="Package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76260" y="6118225"/>
                        <a:ext cx="626745" cy="614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21200" y="3594100"/>
            <a:ext cx="3726815" cy="1003935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73170" y="1899920"/>
          <a:ext cx="3513455" cy="68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r:id="rId8" imgW="3599180" imgH="696595" progId="Package">
                  <p:embed/>
                </p:oleObj>
              </mc:Choice>
              <mc:Fallback>
                <p:oleObj r:id="rId8" imgW="3599180" imgH="696595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73170" y="1899920"/>
                        <a:ext cx="3513455" cy="680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常用对象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145"/>
            <a:ext cx="7926070" cy="379222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/>
              <a:t>JavaScript</a:t>
            </a:r>
            <a:r>
              <a:rPr lang="zh-CN" altLang="en-US" sz="1600" dirty="0"/>
              <a:t>的对象类型（</a:t>
            </a:r>
            <a:r>
              <a:rPr lang="en-US" altLang="zh-CN" sz="1600" dirty="0"/>
              <a:t>4</a:t>
            </a:r>
            <a:r>
              <a:rPr lang="zh-CN" altLang="en-US" sz="1600" dirty="0"/>
              <a:t>类）：原生对象、内置对象、宿主对象、自定义对象。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/>
              <a:t>       (1)</a:t>
            </a:r>
            <a:r>
              <a:rPr lang="zh-CN" altLang="zh-CN" sz="1600" dirty="0"/>
              <a:t>原生对象</a:t>
            </a:r>
            <a:r>
              <a:rPr lang="en-US" altLang="zh-CN" sz="1600" dirty="0"/>
              <a:t>(native object)</a:t>
            </a:r>
            <a:r>
              <a:rPr lang="zh-CN" altLang="zh-CN" sz="1600" dirty="0"/>
              <a:t>，</a:t>
            </a:r>
            <a:r>
              <a:rPr lang="en-US" altLang="zh-CN" sz="1600" dirty="0"/>
              <a:t>ECMA-262</a:t>
            </a:r>
            <a:r>
              <a:rPr lang="zh-CN" altLang="zh-CN" sz="1600" dirty="0"/>
              <a:t>定义为“独立于宿主环境的</a:t>
            </a:r>
            <a:r>
              <a:rPr lang="en-US" altLang="zh-CN" sz="1600" dirty="0" err="1"/>
              <a:t>ECMAScript</a:t>
            </a:r>
            <a:r>
              <a:rPr lang="zh-CN" altLang="zh-CN" sz="1600" dirty="0"/>
              <a:t>实现提供的对象”。换句话说，本地对象就是</a:t>
            </a:r>
            <a:r>
              <a:rPr lang="en-US" altLang="zh-CN" sz="1600" dirty="0"/>
              <a:t>ECMA-262</a:t>
            </a:r>
            <a:r>
              <a:rPr lang="zh-CN" altLang="zh-CN" sz="1600" dirty="0"/>
              <a:t>定义的类（</a:t>
            </a:r>
            <a:r>
              <a:rPr lang="zh-CN" altLang="zh-CN" sz="1600" dirty="0">
                <a:solidFill>
                  <a:srgbClr val="FF0000"/>
                </a:solidFill>
              </a:rPr>
              <a:t>引用类型</a:t>
            </a:r>
            <a:r>
              <a:rPr lang="zh-CN" altLang="zh-CN" sz="1600" dirty="0"/>
              <a:t>）。</a:t>
            </a:r>
            <a:endParaRPr lang="en-US" altLang="zh-C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/>
              <a:t>       </a:t>
            </a:r>
            <a:r>
              <a:rPr lang="zh-CN" altLang="zh-CN" sz="1600" dirty="0"/>
              <a:t>它们包括：</a:t>
            </a:r>
            <a:r>
              <a:rPr lang="en-US" altLang="zh-CN" sz="1600" dirty="0"/>
              <a:t>Object</a:t>
            </a:r>
            <a:r>
              <a:rPr lang="zh-CN" altLang="zh-CN" sz="1600" dirty="0"/>
              <a:t>、</a:t>
            </a:r>
            <a:r>
              <a:rPr lang="en-US" altLang="zh-CN" sz="1600" dirty="0"/>
              <a:t>Function</a:t>
            </a:r>
            <a:r>
              <a:rPr lang="zh-CN" altLang="zh-CN" sz="1600" dirty="0"/>
              <a:t>、</a:t>
            </a:r>
            <a:r>
              <a:rPr lang="en-US" altLang="zh-CN" sz="1600" dirty="0"/>
              <a:t>Array</a:t>
            </a:r>
            <a:r>
              <a:rPr lang="zh-CN" altLang="zh-CN" sz="1600" dirty="0"/>
              <a:t>、</a:t>
            </a:r>
            <a:r>
              <a:rPr lang="en-US" altLang="zh-CN" sz="1600" dirty="0"/>
              <a:t>String</a:t>
            </a:r>
            <a:r>
              <a:rPr lang="zh-CN" altLang="zh-CN" sz="1600" dirty="0"/>
              <a:t>、</a:t>
            </a:r>
            <a:r>
              <a:rPr lang="en-US" altLang="zh-CN" sz="1600" dirty="0"/>
              <a:t>Boolean</a:t>
            </a:r>
            <a:r>
              <a:rPr lang="zh-CN" altLang="zh-CN" sz="1600" dirty="0"/>
              <a:t>、</a:t>
            </a:r>
            <a:r>
              <a:rPr lang="en-US" altLang="zh-CN" sz="1600" dirty="0"/>
              <a:t>Number</a:t>
            </a:r>
            <a:r>
              <a:rPr lang="zh-CN" altLang="zh-CN" sz="1600" dirty="0"/>
              <a:t>、</a:t>
            </a:r>
            <a:r>
              <a:rPr lang="en-US" altLang="zh-CN" sz="1600" dirty="0"/>
              <a:t>Date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RegExp</a:t>
            </a:r>
            <a:r>
              <a:rPr lang="zh-CN" altLang="zh-CN" sz="1600" dirty="0"/>
              <a:t>、</a:t>
            </a:r>
            <a:r>
              <a:rPr lang="en-US" altLang="zh-CN" sz="1600" dirty="0"/>
              <a:t>Error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EvalError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RangeError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ReferenceError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SyntaxErro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TypeError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URIError</a:t>
            </a:r>
            <a:r>
              <a:rPr lang="zh-CN" altLang="zh-CN" sz="1600" dirty="0"/>
              <a:t>等。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1600" dirty="0"/>
              <a:t> </a:t>
            </a:r>
            <a:r>
              <a:rPr lang="en-US" altLang="zh-CN" sz="1600" dirty="0"/>
              <a:t>      </a:t>
            </a:r>
            <a:r>
              <a:rPr lang="zh-CN" altLang="zh-CN" sz="1600" dirty="0"/>
              <a:t>这些对象独立于宿主环境（如浏览器），先定义对象，实例化后再通过对象名来使用。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zh-CN" sz="1600" dirty="0"/>
          </a:p>
          <a:p>
            <a:endParaRPr lang="zh-CN" altLang="zh-CN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常用对象</a:t>
            </a:r>
            <a:r>
              <a:rPr lang="en-US" altLang="zh-CN" dirty="0"/>
              <a:t>-</a:t>
            </a:r>
            <a:r>
              <a:rPr lang="zh-CN" altLang="en-US" dirty="0"/>
              <a:t>续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145"/>
            <a:ext cx="8346440" cy="37922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>
                <a:latin typeface="+mj-ea"/>
                <a:ea typeface="+mj-ea"/>
              </a:rPr>
              <a:t>    </a:t>
            </a:r>
            <a:r>
              <a:rPr lang="en-US" altLang="zh-CN" sz="1600" dirty="0"/>
              <a:t>(2)</a:t>
            </a:r>
            <a:r>
              <a:rPr lang="zh-CN" altLang="zh-CN" sz="1600" dirty="0"/>
              <a:t>内置对象</a:t>
            </a:r>
            <a:r>
              <a:rPr lang="en-US" altLang="zh-CN" sz="1600" dirty="0"/>
              <a:t>(built-in object)</a:t>
            </a:r>
            <a:r>
              <a:rPr lang="zh-CN" altLang="zh-CN" sz="1600" dirty="0"/>
              <a:t>。由</a:t>
            </a:r>
            <a:r>
              <a:rPr lang="en-US" altLang="zh-CN" sz="1600" dirty="0" err="1"/>
              <a:t>ECMAScript</a:t>
            </a:r>
            <a:r>
              <a:rPr lang="zh-CN" altLang="zh-CN" sz="1600" dirty="0"/>
              <a:t>实现提供的、不依赖宿主环境的对象，在</a:t>
            </a:r>
            <a:r>
              <a:rPr lang="en-US" altLang="zh-CN" sz="1600" dirty="0" err="1"/>
              <a:t>ECMAScript</a:t>
            </a:r>
            <a:r>
              <a:rPr lang="zh-CN" altLang="zh-CN" sz="1600" dirty="0"/>
              <a:t>运行之前就已经创建好的对象就叫做内置对象。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zh-CN" altLang="zh-CN" sz="1600" dirty="0"/>
              <a:t>这意味着开发者不必明确实例化内置对象，它已被实例化了。</a:t>
            </a:r>
            <a:r>
              <a:rPr lang="zh-CN" altLang="zh-CN" sz="1600" dirty="0">
                <a:highlight>
                  <a:srgbClr val="FFFF00"/>
                </a:highlight>
              </a:rPr>
              <a:t>常见的有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Global</a:t>
            </a:r>
            <a:r>
              <a:rPr lang="zh-CN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Math</a:t>
            </a:r>
            <a:r>
              <a:rPr lang="zh-CN" altLang="zh-CN" sz="1600" dirty="0">
                <a:highlight>
                  <a:srgbClr val="FFFF00"/>
                </a:highlight>
              </a:rPr>
              <a:t>。</a:t>
            </a:r>
            <a:r>
              <a:rPr lang="en-US" altLang="zh-CN" sz="1600" dirty="0">
                <a:highlight>
                  <a:srgbClr val="FFFF00"/>
                </a:highlight>
              </a:rPr>
              <a:t>Global</a:t>
            </a:r>
            <a:r>
              <a:rPr lang="zh-CN" altLang="zh-CN" sz="1600" dirty="0">
                <a:highlight>
                  <a:srgbClr val="FFFF00"/>
                </a:highlight>
              </a:rPr>
              <a:t>是全局对象，全局对象只是一个对象，而不是类。</a:t>
            </a:r>
            <a:r>
              <a:rPr lang="zh-CN" altLang="zh-CN" sz="1600" dirty="0"/>
              <a:t>既没有构造函数，也无法实例化一个新的全局对象。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zh-CN" altLang="zh-CN" sz="1600" dirty="0"/>
              <a:t>例如</a:t>
            </a:r>
            <a:r>
              <a:rPr lang="en-US" altLang="zh-CN" sz="1600" dirty="0" err="1"/>
              <a:t>isNaN</a:t>
            </a:r>
            <a:r>
              <a:rPr lang="en-US" altLang="zh-CN" sz="1600" dirty="0"/>
              <a:t>(),</a:t>
            </a:r>
            <a:r>
              <a:rPr lang="en-US" altLang="zh-CN" sz="1600" dirty="0" err="1"/>
              <a:t>isFinite</a:t>
            </a:r>
            <a:r>
              <a:rPr lang="en-US" altLang="zh-CN" sz="1600" dirty="0"/>
              <a:t>(),</a:t>
            </a:r>
            <a:r>
              <a:rPr lang="en-US" altLang="zh-CN" sz="1600" dirty="0" err="1"/>
              <a:t>parseInt</a:t>
            </a:r>
            <a:r>
              <a:rPr lang="en-US" altLang="zh-CN" sz="1600" dirty="0"/>
              <a:t>()</a:t>
            </a:r>
            <a:r>
              <a:rPr lang="zh-CN" altLang="zh-CN" sz="1600" dirty="0"/>
              <a:t>和</a:t>
            </a:r>
            <a:r>
              <a:rPr lang="en-US" altLang="zh-CN" sz="1600" dirty="0" err="1"/>
              <a:t>parseFloat</a:t>
            </a:r>
            <a:r>
              <a:rPr lang="en-US" altLang="zh-CN" sz="1600" dirty="0"/>
              <a:t>()</a:t>
            </a:r>
            <a:r>
              <a:rPr lang="zh-CN" altLang="zh-CN" sz="1600" dirty="0"/>
              <a:t>等，都是</a:t>
            </a:r>
            <a:r>
              <a:rPr lang="en-US" altLang="zh-CN" sz="1600" dirty="0"/>
              <a:t>Global</a:t>
            </a:r>
            <a:r>
              <a:rPr lang="zh-CN" altLang="zh-CN" sz="1600" dirty="0"/>
              <a:t>对象的方法。</a:t>
            </a:r>
            <a:r>
              <a:rPr lang="en-US" altLang="zh-CN" sz="1600" dirty="0"/>
              <a:t>Math</a:t>
            </a:r>
            <a:r>
              <a:rPr lang="zh-CN" altLang="zh-CN" sz="1600" dirty="0"/>
              <a:t>对象直接使用，如</a:t>
            </a:r>
            <a:r>
              <a:rPr lang="en-US" altLang="zh-CN" sz="1600" dirty="0" err="1"/>
              <a:t>Math.Random</a:t>
            </a:r>
            <a:r>
              <a:rPr lang="en-US" altLang="zh-CN" sz="1600" dirty="0"/>
              <a:t>()</a:t>
            </a:r>
            <a:r>
              <a:rPr lang="zh-CN" altLang="zh-CN" sz="1600" dirty="0"/>
              <a:t>、</a:t>
            </a:r>
            <a:r>
              <a:rPr lang="en-US" altLang="zh-CN" sz="1600" dirty="0" err="1"/>
              <a:t>Math.round</a:t>
            </a:r>
            <a:r>
              <a:rPr lang="en-US" altLang="zh-CN" sz="1600" dirty="0"/>
              <a:t>(20.5)</a:t>
            </a:r>
            <a:r>
              <a:rPr lang="zh-CN" altLang="zh-CN" sz="1600" dirty="0"/>
              <a:t>等。</a:t>
            </a:r>
          </a:p>
          <a:p>
            <a:endParaRPr lang="zh-CN" altLang="zh-CN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常用对象</a:t>
            </a:r>
            <a:r>
              <a:rPr lang="en-US" altLang="zh-CN" dirty="0"/>
              <a:t>-</a:t>
            </a:r>
            <a:r>
              <a:rPr lang="zh-CN" altLang="en-US" dirty="0"/>
              <a:t>续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145"/>
            <a:ext cx="8248650" cy="42951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(3)</a:t>
            </a:r>
            <a:r>
              <a:rPr lang="zh-CN" altLang="zh-CN" sz="1800" dirty="0"/>
              <a:t>宿主对象</a:t>
            </a:r>
            <a:r>
              <a:rPr lang="en-US" altLang="zh-CN" sz="1800" dirty="0"/>
              <a:t>(host object)</a:t>
            </a:r>
            <a:r>
              <a:rPr lang="zh-CN" altLang="zh-CN" sz="1800" dirty="0"/>
              <a:t>。</a:t>
            </a:r>
            <a:r>
              <a:rPr lang="en-US" altLang="zh-CN" sz="1800" dirty="0" err="1"/>
              <a:t>ECMAScript</a:t>
            </a:r>
            <a:r>
              <a:rPr lang="zh-CN" altLang="zh-CN" sz="1800" dirty="0"/>
              <a:t>实现的宿主环境提供的对象。所有</a:t>
            </a:r>
            <a:r>
              <a:rPr lang="en-US" altLang="zh-CN" sz="1800" dirty="0"/>
              <a:t>BOM</a:t>
            </a:r>
            <a:r>
              <a:rPr lang="zh-CN" altLang="zh-CN" sz="1800" dirty="0"/>
              <a:t>和</a:t>
            </a:r>
            <a:r>
              <a:rPr lang="en-US" altLang="zh-CN" sz="1800" dirty="0"/>
              <a:t>DOM</a:t>
            </a:r>
            <a:r>
              <a:rPr lang="zh-CN" altLang="zh-CN" sz="1800" dirty="0"/>
              <a:t>对象都是宿主对象。通过它可以与文档和浏览器环境进行交互，如</a:t>
            </a:r>
            <a:r>
              <a:rPr lang="en-US" altLang="zh-CN" sz="1800" dirty="0"/>
              <a:t>document</a:t>
            </a:r>
            <a:r>
              <a:rPr lang="zh-CN" altLang="zh-CN" sz="1800" dirty="0"/>
              <a:t>、</a:t>
            </a:r>
            <a:r>
              <a:rPr lang="en-US" altLang="zh-CN" sz="1800" dirty="0"/>
              <a:t>window</a:t>
            </a:r>
            <a:r>
              <a:rPr lang="zh-CN" altLang="zh-CN" sz="1800" dirty="0"/>
              <a:t>和</a:t>
            </a:r>
            <a:r>
              <a:rPr lang="en-US" altLang="zh-CN" sz="1800" dirty="0"/>
              <a:t>frames</a:t>
            </a:r>
            <a:r>
              <a:rPr lang="zh-CN" altLang="zh-CN" sz="1800" dirty="0"/>
              <a:t>等。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dirty="0"/>
              <a:t>     (4)</a:t>
            </a:r>
            <a:r>
              <a:rPr lang="zh-CN" altLang="zh-CN" sz="1800" dirty="0"/>
              <a:t>自定义对象。根据程序设计需要，由编程人员自行定义的对象。例如定义一个</a:t>
            </a:r>
            <a:r>
              <a:rPr lang="en-US" altLang="zh-CN" sz="1800" dirty="0"/>
              <a:t>person</a:t>
            </a:r>
            <a:r>
              <a:rPr lang="zh-CN" altLang="zh-CN" sz="1800" dirty="0"/>
              <a:t>对象，它有</a:t>
            </a:r>
            <a:r>
              <a:rPr lang="en-US" altLang="zh-CN" sz="1800" dirty="0"/>
              <a:t>4</a:t>
            </a:r>
            <a:r>
              <a:rPr lang="zh-CN" altLang="zh-CN" sz="1800" dirty="0"/>
              <a:t>个属性分别是</a:t>
            </a:r>
            <a:r>
              <a:rPr lang="en-US" altLang="zh-CN" sz="1800" dirty="0" err="1"/>
              <a:t>firstName</a:t>
            </a:r>
            <a:r>
              <a:rPr lang="zh-CN" altLang="zh-CN" sz="1800" dirty="0"/>
              <a:t>、</a:t>
            </a:r>
            <a:r>
              <a:rPr lang="en-US" altLang="zh-CN" sz="1800" dirty="0" err="1"/>
              <a:t>lastName</a:t>
            </a:r>
            <a:r>
              <a:rPr lang="zh-CN" altLang="zh-CN" sz="1800" dirty="0"/>
              <a:t>、</a:t>
            </a:r>
            <a:r>
              <a:rPr lang="en-US" altLang="zh-CN" sz="1800" dirty="0"/>
              <a:t>age</a:t>
            </a:r>
            <a:r>
              <a:rPr lang="zh-CN" altLang="zh-CN" sz="1800" dirty="0"/>
              <a:t>、</a:t>
            </a:r>
            <a:r>
              <a:rPr lang="en-US" altLang="zh-CN" sz="1800" dirty="0" err="1"/>
              <a:t>eyeColor</a:t>
            </a:r>
            <a:r>
              <a:rPr lang="zh-CN" altLang="zh-CN" sz="1800" dirty="0"/>
              <a:t>，同时给属性赋值。定义格式如下：</a:t>
            </a:r>
          </a:p>
          <a:p>
            <a:pPr marL="0" indent="2654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person=new Object();   /* </a:t>
            </a:r>
            <a:r>
              <a:rPr lang="zh-CN" altLang="zh-CN" sz="180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这是一种方法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*/</a:t>
            </a:r>
            <a:endParaRPr lang="zh-CN" altLang="zh-CN" sz="180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0" indent="2654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person.name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="Zhangsan";</a:t>
            </a:r>
            <a:endParaRPr lang="zh-CN" altLang="zh-CN" sz="180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0" indent="2654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person.age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=56;</a:t>
            </a:r>
            <a:endParaRPr lang="zh-CN" altLang="zh-CN" sz="180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0" indent="2654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person.eyecolor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="black";</a:t>
            </a:r>
            <a:endParaRPr lang="zh-CN" altLang="zh-CN" sz="180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0" indent="2654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person={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:"Lisi", age:50,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eyeColor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:"black"};/*</a:t>
            </a:r>
            <a:r>
              <a:rPr lang="zh-CN" altLang="zh-CN" sz="180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另一方法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*/</a:t>
            </a:r>
            <a:endParaRPr lang="zh-CN" altLang="zh-CN" sz="180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endParaRPr lang="zh-CN" altLang="zh-CN" sz="180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00150"/>
            <a:ext cx="8189595" cy="516953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Array</a:t>
            </a:r>
            <a:r>
              <a:rPr lang="zh-CN" altLang="zh-CN" sz="1800" dirty="0"/>
              <a:t>对象用于在单个的变量中存储多个相同类型的值，</a:t>
            </a:r>
            <a:r>
              <a:rPr lang="zh-CN" altLang="zh-CN" sz="1800" dirty="0">
                <a:highlight>
                  <a:srgbClr val="FFFF00"/>
                </a:highlight>
              </a:rPr>
              <a:t>其值可以是字符串、数值型、布尔型等，但由于</a:t>
            </a:r>
            <a:r>
              <a:rPr lang="en-US" altLang="zh-CN" sz="1800" dirty="0">
                <a:highlight>
                  <a:srgbClr val="FFFF00"/>
                </a:highlight>
              </a:rPr>
              <a:t>JavaScript</a:t>
            </a:r>
            <a:r>
              <a:rPr lang="zh-CN" altLang="zh-CN" sz="1800" dirty="0">
                <a:highlight>
                  <a:srgbClr val="FFFF00"/>
                </a:highlight>
              </a:rPr>
              <a:t>是弱类型的脚本语言主，所以</a:t>
            </a:r>
            <a:r>
              <a:rPr lang="zh-CN" altLang="zh-CN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数组元素也可以不一致</a:t>
            </a:r>
            <a:r>
              <a:rPr lang="zh-CN" altLang="zh-CN" sz="1800" dirty="0">
                <a:highlight>
                  <a:srgbClr val="FFFF00"/>
                </a:highlight>
              </a:rPr>
              <a:t>。</a:t>
            </a:r>
            <a:r>
              <a:rPr lang="zh-CN" altLang="zh-CN" sz="1800" dirty="0"/>
              <a:t>通过声明一个数组，将相关的数据存入数组，使用循环等结构对数组中的每个元素进行操作。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1.</a:t>
            </a:r>
            <a:r>
              <a:rPr lang="zh-CN" altLang="zh-CN" sz="1800" dirty="0"/>
              <a:t>创建</a:t>
            </a:r>
            <a:r>
              <a:rPr lang="en-US" altLang="zh-CN" sz="1800" dirty="0"/>
              <a:t>Array</a:t>
            </a:r>
            <a:r>
              <a:rPr lang="zh-CN" altLang="zh-CN" sz="1800" dirty="0"/>
              <a:t>对象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 1)</a:t>
            </a:r>
            <a:r>
              <a:rPr lang="zh-CN" altLang="zh-CN" sz="1800" dirty="0"/>
              <a:t>基本语法</a:t>
            </a:r>
          </a:p>
          <a:p>
            <a:pPr marL="447675" indent="952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stu1=new Array();</a:t>
            </a:r>
            <a:endParaRPr lang="zh-CN" altLang="zh-CN" sz="1800" dirty="0">
              <a:solidFill>
                <a:schemeClr val="tx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447675" indent="952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stu2=new Array(size);  //</a:t>
            </a:r>
            <a:r>
              <a:rPr sz="1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创建大小为</a:t>
            </a:r>
            <a:r>
              <a:rPr lang="en-US" altLang="zh-CN" sz="1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size</a:t>
            </a:r>
            <a:r>
              <a:rPr sz="1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的数组</a:t>
            </a:r>
            <a:endParaRPr lang="zh-CN" altLang="zh-CN" sz="1800" dirty="0">
              <a:solidFill>
                <a:schemeClr val="tx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447675" indent="952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stu3=new Array(element0, element1, ..., </a:t>
            </a:r>
            <a:r>
              <a:rPr lang="en-US" altLang="zh-CN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elementn</a:t>
            </a:r>
            <a:r>
              <a:rPr lang="en-US" altLang="zh-CN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);</a:t>
            </a:r>
            <a:endParaRPr lang="zh-CN" altLang="zh-CN" sz="1800" dirty="0">
              <a:solidFill>
                <a:schemeClr val="tx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marL="365125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str4=[“C++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程序设计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”,“HTML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开发基础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”,“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数据库原理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”];</a:t>
            </a:r>
          </a:p>
          <a:p>
            <a:pPr marL="365125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2)</a:t>
            </a:r>
            <a:r>
              <a:rPr lang="zh-CN" altLang="zh-CN" sz="1800" dirty="0"/>
              <a:t>参数说明</a:t>
            </a:r>
            <a:endParaRPr lang="en-US" altLang="zh-CN" sz="1800" dirty="0"/>
          </a:p>
          <a:p>
            <a:pPr marL="365125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zh-CN" sz="1800" dirty="0"/>
              <a:t>参数</a:t>
            </a:r>
            <a:r>
              <a:rPr lang="en-US" altLang="zh-CN" sz="1800" dirty="0"/>
              <a:t>size</a:t>
            </a:r>
            <a:r>
              <a:rPr lang="zh-CN" altLang="zh-CN" sz="1800" dirty="0"/>
              <a:t>定义数组元素的个数。返回的数组的长度</a:t>
            </a:r>
            <a:r>
              <a:rPr lang="en-US" altLang="zh-CN" sz="1800" dirty="0"/>
              <a:t>stu2.length</a:t>
            </a:r>
            <a:r>
              <a:rPr lang="zh-CN" altLang="zh-CN" sz="1800" dirty="0"/>
              <a:t>等于</a:t>
            </a:r>
            <a:r>
              <a:rPr lang="en-US" altLang="zh-CN" sz="1800" dirty="0"/>
              <a:t>size</a:t>
            </a:r>
            <a:r>
              <a:rPr lang="zh-CN" altLang="zh-CN" sz="1800" dirty="0"/>
              <a:t>。</a:t>
            </a:r>
          </a:p>
          <a:p>
            <a:pPr marL="365125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altLang="zh-CN" sz="1800" dirty="0">
                <a:sym typeface="+mn-ea"/>
              </a:rPr>
              <a:t>参数</a:t>
            </a:r>
            <a:r>
              <a:rPr lang="en-US" altLang="zh-CN" sz="1800" dirty="0">
                <a:sym typeface="+mn-ea"/>
              </a:rPr>
              <a:t>element0</a:t>
            </a:r>
            <a:r>
              <a:rPr altLang="zh-CN" sz="1800" dirty="0">
                <a:sym typeface="+mn-ea"/>
              </a:rPr>
              <a:t>、</a:t>
            </a:r>
            <a:r>
              <a:rPr lang="en-US" altLang="zh-CN" sz="1800" dirty="0">
                <a:sym typeface="+mn-ea"/>
              </a:rPr>
              <a:t>…</a:t>
            </a:r>
            <a:r>
              <a:rPr altLang="zh-CN" sz="1800" dirty="0">
                <a:sym typeface="+mn-ea"/>
              </a:rPr>
              <a:t>、</a:t>
            </a:r>
            <a:r>
              <a:rPr lang="en-US" altLang="zh-CN" sz="1800" dirty="0" err="1">
                <a:sym typeface="+mn-ea"/>
              </a:rPr>
              <a:t>elementn</a:t>
            </a:r>
            <a:r>
              <a:rPr altLang="zh-CN" sz="1800" dirty="0">
                <a:sym typeface="+mn-ea"/>
              </a:rPr>
              <a:t>是参数列表。当使用这些参数来调用构造函数</a:t>
            </a:r>
            <a:r>
              <a:rPr lang="en-US" altLang="zh-CN" sz="1800" dirty="0">
                <a:sym typeface="+mn-ea"/>
              </a:rPr>
              <a:t>Array()</a:t>
            </a:r>
            <a:r>
              <a:rPr altLang="zh-CN" sz="1800" dirty="0">
                <a:sym typeface="+mn-ea"/>
              </a:rPr>
              <a:t>时，新创建的数组的元素就会被初始化为这些值。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sz="1800" b="1" dirty="0">
                <a:solidFill>
                  <a:srgbClr val="FF0000"/>
                </a:solidFill>
                <a:sym typeface="+mn-ea"/>
              </a:rPr>
              <a:t>数组的长度是可变的</a:t>
            </a:r>
            <a:r>
              <a:rPr sz="1800" dirty="0">
                <a:sym typeface="+mn-ea"/>
              </a:rPr>
              <a:t>，即使创建了固定长度的数组，仍然可以在长度之外存储元素，数组的长度会随之改变。</a:t>
            </a:r>
            <a:endParaRPr lang="en-US" altLang="zh-CN" sz="1800" b="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509000" cy="3886199"/>
          </a:xfrm>
        </p:spPr>
        <p:txBody>
          <a:bodyPr>
            <a:normAutofit/>
          </a:bodyPr>
          <a:lstStyle/>
          <a:p>
            <a:pPr marL="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/>
              <a:t>2.</a:t>
            </a:r>
            <a:r>
              <a:rPr lang="zh-CN" altLang="zh-CN" sz="1800" b="0" dirty="0"/>
              <a:t>数组的返回值</a:t>
            </a:r>
            <a:endParaRPr lang="en-US" altLang="zh-CN" sz="1800" b="0" dirty="0"/>
          </a:p>
          <a:p>
            <a:pPr marL="0" lvl="1" indent="0"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altLang="zh-CN" sz="1800" b="0" dirty="0"/>
              <a:t>      </a:t>
            </a:r>
            <a:r>
              <a:rPr lang="zh-CN" altLang="zh-CN" sz="1800" b="0" dirty="0"/>
              <a:t>数组变量</a:t>
            </a:r>
            <a:r>
              <a:rPr lang="en-US" altLang="zh-CN" sz="1800" b="0" dirty="0"/>
              <a:t>stu1</a:t>
            </a:r>
            <a:r>
              <a:rPr lang="zh-CN" altLang="zh-CN" sz="1800" b="0" dirty="0"/>
              <a:t>、</a:t>
            </a:r>
            <a:r>
              <a:rPr lang="en-US" altLang="zh-CN" sz="1800" b="0" dirty="0"/>
              <a:t>stu2</a:t>
            </a:r>
            <a:r>
              <a:rPr lang="zh-CN" altLang="zh-CN" sz="1800" b="0" dirty="0"/>
              <a:t>、</a:t>
            </a:r>
            <a:r>
              <a:rPr lang="en-US" altLang="zh-CN" sz="1800" b="0" dirty="0"/>
              <a:t>stu3</a:t>
            </a:r>
            <a:r>
              <a:rPr lang="zh-CN" altLang="zh-CN" sz="1800" b="0" dirty="0"/>
              <a:t>返回新创建并被初始化了的数组。如果调用构造函数</a:t>
            </a:r>
            <a:r>
              <a:rPr lang="en-US" altLang="zh-CN" sz="1800" b="0" dirty="0"/>
              <a:t>Array()</a:t>
            </a:r>
            <a:r>
              <a:rPr lang="zh-CN" altLang="zh-CN" sz="1800" b="0" dirty="0"/>
              <a:t>时没有使用参数，那么</a:t>
            </a:r>
            <a:r>
              <a:rPr lang="zh-CN" altLang="zh-CN" sz="1800" b="0" dirty="0">
                <a:highlight>
                  <a:srgbClr val="FFFF00"/>
                </a:highlight>
              </a:rPr>
              <a:t>返回的数组为空，数组的</a:t>
            </a:r>
            <a:r>
              <a:rPr lang="en-US" altLang="zh-CN" sz="1800" b="0" dirty="0">
                <a:highlight>
                  <a:srgbClr val="FFFF00"/>
                </a:highlight>
              </a:rPr>
              <a:t>length</a:t>
            </a:r>
            <a:r>
              <a:rPr lang="zh-CN" altLang="zh-CN" sz="1800" b="0" dirty="0">
                <a:highlight>
                  <a:srgbClr val="FFFF00"/>
                </a:highlight>
              </a:rPr>
              <a:t>为</a:t>
            </a:r>
            <a:r>
              <a:rPr lang="en-US" altLang="zh-CN" sz="1800" b="0" dirty="0">
                <a:highlight>
                  <a:srgbClr val="FFFF00"/>
                </a:highlight>
              </a:rPr>
              <a:t>0</a:t>
            </a:r>
            <a:r>
              <a:rPr lang="zh-CN" altLang="zh-CN" sz="1800" b="0" dirty="0"/>
              <a:t>。</a:t>
            </a:r>
            <a:endParaRPr lang="en-US" altLang="zh-CN" sz="1800" b="0" dirty="0"/>
          </a:p>
          <a:p>
            <a:pPr marL="635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dirty="0"/>
          </a:p>
          <a:p>
            <a:pPr marL="63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/>
              <a:t>3.</a:t>
            </a:r>
            <a:r>
              <a:rPr lang="zh-CN" altLang="zh-CN" sz="1800" b="0" dirty="0"/>
              <a:t>数组元素初始化与修改指定数组元素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new Array();         /*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先定义数组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*/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[0] = "</a:t>
            </a:r>
            <a:r>
              <a:rPr sz="1800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基于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Web</a:t>
            </a:r>
            <a:r>
              <a:rPr sz="1800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的编程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";      /*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给数组元素赋值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*/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[1] = "Java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程序设计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";       /*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给数组元素赋值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*/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len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stu.length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            /*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len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的值为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2*/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[1] = "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创新创业教育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";     /* 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修改数组中第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zh-CN" altLang="zh-CN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个元素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*/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965201"/>
            <a:ext cx="8509000" cy="3810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4.</a:t>
            </a:r>
            <a:r>
              <a:rPr lang="zh-CN" altLang="zh-CN" sz="1800" dirty="0"/>
              <a:t>数组对象的属性和方法</a:t>
            </a:r>
          </a:p>
          <a:p>
            <a:pPr lvl="1">
              <a:buClr>
                <a:schemeClr val="accent2"/>
              </a:buClr>
            </a:pPr>
            <a:r>
              <a:rPr lang="zh-CN" altLang="en-US" sz="1800" b="0" dirty="0"/>
              <a:t>数组的下标从</a:t>
            </a:r>
            <a:r>
              <a:rPr lang="en-US" altLang="zh-CN" sz="1800" b="0" dirty="0"/>
              <a:t>0</a:t>
            </a:r>
            <a:r>
              <a:rPr lang="zh-CN" altLang="en-US" sz="1800" b="0" dirty="0"/>
              <a:t>开始，到数组的长度</a:t>
            </a:r>
            <a:r>
              <a:rPr lang="en-US" altLang="zh-CN" sz="1800" b="0" dirty="0"/>
              <a:t>length-1</a:t>
            </a:r>
            <a:r>
              <a:rPr lang="zh-CN" altLang="en-US" sz="1800" b="0" dirty="0"/>
              <a:t>为止。</a:t>
            </a:r>
            <a:endParaRPr lang="en-US" altLang="zh-CN" sz="1800" b="0" dirty="0"/>
          </a:p>
          <a:p>
            <a:pPr lvl="1">
              <a:buClr>
                <a:schemeClr val="accent2"/>
              </a:buClr>
            </a:pPr>
            <a:r>
              <a:rPr lang="zh-CN" altLang="en-US" sz="1800" b="0" dirty="0"/>
              <a:t>数组下标可以用变量替代，但变量取值范围必须符合数组下标的边界，否则返回</a:t>
            </a:r>
            <a:r>
              <a:rPr lang="en-US" altLang="zh-CN" sz="1800" b="0" i="1" dirty="0">
                <a:solidFill>
                  <a:srgbClr val="FF0000"/>
                </a:solidFill>
              </a:rPr>
              <a:t>undefined </a:t>
            </a:r>
            <a:r>
              <a:rPr lang="zh-CN" altLang="en-US" sz="1800" b="0" dirty="0"/>
              <a:t>。例如：</a:t>
            </a:r>
            <a:r>
              <a:rPr lang="da-DK" altLang="zh-CN" sz="1800" b="0" dirty="0"/>
              <a:t>var i = 3;var cn = </a:t>
            </a:r>
            <a:r>
              <a:rPr lang="en-US" altLang="zh-CN" sz="1800" b="0" dirty="0" err="1"/>
              <a:t>stu</a:t>
            </a:r>
            <a:r>
              <a:rPr lang="en-US" altLang="zh-CN" sz="1800" b="0" dirty="0"/>
              <a:t>[i];</a:t>
            </a:r>
          </a:p>
          <a:p>
            <a:pPr lvl="1"/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97159" name="Group 199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507570"/>
              </p:ext>
            </p:extLst>
          </p:nvPr>
        </p:nvGraphicFramePr>
        <p:xfrm>
          <a:off x="1614805" y="2740025"/>
          <a:ext cx="6572885" cy="392418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6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常用方法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concat()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连接两个或更多的数组，并返回结果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join()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通过指定的分隔符进行分隔，将数组所有的元素连接成一个字符串</a:t>
                      </a: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pop()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删除并返回数组的最后一个元素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push()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向数组的末尾添加一个或多个元素，并返回新的长度</a:t>
                      </a: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reverse()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颠倒数组中元素的顺序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shift()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删除并返回数组中的第一个元素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slice()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在现有数组中选择从</a:t>
                      </a: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beginIndex</a:t>
                      </a: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到</a:t>
                      </a: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EndIndex</a:t>
                      </a: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的元素组成新</a:t>
                      </a:r>
                      <a:r>
                        <a:rPr lang="zh-CN" altLang="en-US" sz="1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sym typeface="+mn-ea"/>
                        </a:rPr>
                        <a:t>的</a:t>
                      </a: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数组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sort()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对数组的元素进行排序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splice()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插入、删除或者替换数组中的元素并返回删除的元素数组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toSource()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返回该对象的源代码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toString()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将数组转换成字符串，并返回结果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toLocaleString()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将数组转换成本地数组，并返回结果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unshift()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向数组的开头添加一个或更多元素，并返回新的长度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valueOf</a:t>
                      </a:r>
                      <a:r>
                        <a:rPr kumimoji="0" lang="en-US" altLang="zh-CN" sz="11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返回数组对象的原始值</a:t>
                      </a: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3400" y="944245"/>
            <a:ext cx="8239760" cy="404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3400" indent="-533400"/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使用数组对象的属性和方法</a:t>
            </a:r>
          </a:p>
          <a:p>
            <a:pPr marL="914400" lvl="1" indent="-457200">
              <a:buSz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：数组对象长度；</a:t>
            </a:r>
          </a:p>
          <a:p>
            <a:pPr marL="914400" lvl="1" indent="-457200">
              <a:buSz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join(separator)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：把数组各个项用某个字符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串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连接起来，但并不修改原来的数组，默认用逗号分隔。</a:t>
            </a:r>
          </a:p>
          <a:p>
            <a:pPr marL="914400" lvl="1" indent="-457200">
              <a:buSzTx/>
              <a:buFont typeface="Arial" panose="020B0604020202020204" pitchFamily="34" charset="0"/>
              <a:buNone/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endParaRPr lang="zh-CN" altLang="fr-FR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371600" lvl="2" indent="-457200">
              <a:buSzTx/>
            </a:pPr>
            <a:r>
              <a:rPr lang="fr-FR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 cn=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stu1</a:t>
            </a:r>
            <a:r>
              <a:rPr lang="fr-FR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.join('-');  //</a:t>
            </a:r>
            <a:r>
              <a:rPr lang="zh-CN" altLang="fr-FR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短横线作为分隔符</a:t>
            </a:r>
          </a:p>
          <a:p>
            <a:pPr marL="1371600" lvl="2" indent="-457200">
              <a:buSzTx/>
            </a:pPr>
            <a:r>
              <a:rPr lang="en-US" altLang="fr-FR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fr-FR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fr-FR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的值为“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张有为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蒋丽娟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王一新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李大为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</a:p>
          <a:p>
            <a:pPr marL="1371600" lvl="2" indent="-457200">
              <a:buSzTx/>
            </a:pPr>
            <a:endParaRPr lang="zh-CN" altLang="en-US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14400" lvl="1" indent="-457200">
              <a:buSz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pop()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：删除并返回数组的最后一个元素。</a:t>
            </a:r>
          </a:p>
          <a:p>
            <a:pPr marL="914400" lvl="1" indent="-457200" fontAlgn="auto">
              <a:spcAft>
                <a:spcPts val="600"/>
              </a:spcAft>
              <a:buSzTx/>
              <a:buFont typeface="Arial" panose="020B0604020202020204" pitchFamily="34" charset="0"/>
              <a:buNone/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例如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:  </a:t>
            </a:r>
            <a:r>
              <a:rPr lang="fr-FR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 cn=stu.pop();</a:t>
            </a:r>
            <a:r>
              <a:rPr lang="en-US" altLang="fr-FR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fr-FR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则变量</a:t>
            </a:r>
            <a:r>
              <a:rPr lang="fr-FR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cn</a:t>
            </a:r>
            <a:r>
              <a:rPr lang="zh-CN" altLang="fr-FR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获得的值是“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李大为</a:t>
            </a:r>
            <a:r>
              <a:rPr lang="zh-CN" altLang="fr-FR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  <a:p>
            <a:pPr marL="179705" lvl="1" indent="0" fontAlgn="auto">
              <a:lnSpc>
                <a:spcPct val="100000"/>
              </a:lnSpc>
              <a:spcBef>
                <a:spcPts val="0"/>
              </a:spcBef>
            </a:pP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9705" lvl="1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push(newelement1,.,newelementX):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可向数组的末尾添加一个或多个元素，并返回新的长度。例如：</a:t>
            </a:r>
            <a:r>
              <a:rPr lang="fr-FR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var length=stu.push(“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张丽丽</a:t>
            </a:r>
            <a:r>
              <a:rPr lang="fr-FR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”,“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付天舒</a:t>
            </a:r>
            <a:r>
              <a:rPr lang="fr-FR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");</a:t>
            </a:r>
            <a:r>
              <a:rPr lang="en-US" altLang="fr-FR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fr-FR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则变量</a:t>
            </a:r>
            <a:r>
              <a:rPr lang="fr-FR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length</a:t>
            </a:r>
            <a:r>
              <a:rPr lang="zh-CN" altLang="fr-FR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的值为</a:t>
            </a:r>
            <a:r>
              <a:rPr lang="fr-FR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fr-FR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35610" y="1018699"/>
            <a:ext cx="8534400" cy="535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shift()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：用于把数组的第一个元素从其中删除，并返回第一个元素的值。</a:t>
            </a:r>
          </a:p>
          <a:p>
            <a:pPr marL="179705"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ss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stu.shift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();</a:t>
            </a:r>
            <a:endParaRPr lang="en-US" altLang="zh-CN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9705"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unshift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(newelement1,newelement2,....,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newelementX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 向数组的开头添加一个或更多元素，并返回新的长度。 </a:t>
            </a:r>
          </a:p>
          <a:p>
            <a:pPr marL="179705"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s=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stu.unshift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(“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储国王”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s=5</a:t>
            </a:r>
          </a:p>
          <a:p>
            <a:pPr marL="179705" lvl="1">
              <a:lnSpc>
                <a:spcPct val="150000"/>
              </a:lnSpc>
              <a:spcBef>
                <a:spcPts val="0"/>
              </a:spcBef>
            </a:pPr>
            <a:endParaRPr lang="en-US" altLang="zh-CN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9705"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slice(begin, end)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选择从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beginIndex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（包括）到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EndIndex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（不包括）的元素组成新的数组返回。</a:t>
            </a: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 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  </a:t>
            </a: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  splice(index, n, item1,...,itemx)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，从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index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开始（可用负数表示倒数），删除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n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数量的项目（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0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则不删，默认则是从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index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到结束），并（可选）在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index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插入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item1...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到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itemx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，返回删除的内容（可为空）。</a:t>
            </a: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35610" y="1018699"/>
            <a:ext cx="8534400" cy="517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>
              <a:lnSpc>
                <a:spcPct val="100000"/>
              </a:lnSpc>
              <a:spcBef>
                <a:spcPts val="0"/>
              </a:spcBef>
            </a:pP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sort()</a:t>
            </a:r>
            <a:r>
              <a:rPr lang="zh-CN" altLang="en-US" dirty="0">
                <a:sym typeface="+mn-ea"/>
              </a:rPr>
              <a:t>方法无参时是按照字符编码的升序对数组中的元素进行排序，即使是整型的数据，也按照字符的编码顺序排序。</a:t>
            </a: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lang="zh-CN" altLang="en-US" dirty="0">
              <a:sym typeface="+mn-ea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>
                <a:sym typeface="+mn-ea"/>
              </a:rPr>
              <a:t>可传入比较函数进行排序。如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array.sort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sortNumberAsc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endParaRPr kumimoji="0" lang="zh-CN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function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sortNumberAsc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){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	  if(a&lt;b){      return -1;     }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	  else if(a==b){    return 0;     }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	  else{   return 1;     }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 }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 </a:t>
            </a:r>
          </a:p>
          <a:p>
            <a:pPr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None/>
            </a:pPr>
            <a:endParaRPr lang="zh-CN" altLang="it-IT" dirty="0">
              <a:sym typeface="+mn-ea"/>
            </a:endParaRPr>
          </a:p>
          <a:p>
            <a:pPr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None/>
            </a:pPr>
            <a:r>
              <a:rPr lang="zh-CN" altLang="it-IT" dirty="0">
                <a:highlight>
                  <a:srgbClr val="FFFF00"/>
                </a:highlight>
                <a:sym typeface="+mn-ea"/>
              </a:rPr>
              <a:t>在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JavaScript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中只有一维数组，不能直接定义多维数组，</a:t>
            </a:r>
            <a:endParaRPr lang="zh-CN" altLang="en-US" dirty="0">
              <a:highlight>
                <a:srgbClr val="FFFF00"/>
              </a:highlight>
            </a:endParaRPr>
          </a:p>
          <a:p>
            <a:pPr marL="0" indent="45720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en-US" altLang="zh-CN" dirty="0">
                <a:sym typeface="+mn-ea"/>
              </a:rPr>
              <a:t>var array=new Array(2,3)</a:t>
            </a:r>
            <a:r>
              <a:rPr lang="zh-CN" altLang="en-US" dirty="0">
                <a:sym typeface="+mn-ea"/>
              </a:rPr>
              <a:t>会出错。</a:t>
            </a:r>
            <a:endParaRPr lang="en-US" altLang="zh-CN" dirty="0"/>
          </a:p>
          <a:p>
            <a:pPr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None/>
            </a:pPr>
            <a:r>
              <a:rPr lang="zh-CN" altLang="en-US" dirty="0">
                <a:sym typeface="+mn-ea"/>
              </a:rPr>
              <a:t>但是可以通过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一维数组的嵌套定义</a:t>
            </a:r>
            <a:r>
              <a:rPr lang="zh-CN" altLang="en-US" dirty="0">
                <a:sym typeface="+mn-ea"/>
              </a:rPr>
              <a:t>来实现。例如：</a:t>
            </a:r>
            <a:endParaRPr lang="zh-CN" altLang="en-US" dirty="0"/>
          </a:p>
          <a:p>
            <a:pPr lvl="1"/>
            <a:r>
              <a:rPr lang="en-US" altLang="zh-CN" dirty="0">
                <a:sym typeface="+mn-ea"/>
              </a:rPr>
              <a:t>var array=new Array((1,2,3),(4,5,6));//</a:t>
            </a:r>
            <a:r>
              <a:rPr lang="zh-CN" altLang="en-US" dirty="0">
                <a:sym typeface="+mn-ea"/>
              </a:rPr>
              <a:t>定义二维数组</a:t>
            </a:r>
            <a:endParaRPr lang="zh-CN" altLang="en-US" dirty="0"/>
          </a:p>
          <a:p>
            <a:pPr lvl="1"/>
            <a:r>
              <a:rPr lang="en-US" altLang="zh-CN" dirty="0">
                <a:sym typeface="+mn-ea"/>
              </a:rPr>
              <a:t>alert(array[1][1]);//</a:t>
            </a:r>
            <a:r>
              <a:rPr lang="zh-CN" altLang="en-US" dirty="0">
                <a:sym typeface="+mn-ea"/>
              </a:rPr>
              <a:t>显示元素</a:t>
            </a:r>
            <a:r>
              <a:rPr lang="en-US" altLang="zh-CN" dirty="0">
                <a:sym typeface="+mn-ea"/>
              </a:rPr>
              <a:t>5</a:t>
            </a:r>
            <a:endParaRPr lang="zh-CN" altLang="en-US" dirty="0"/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endParaRPr kumimoji="0" lang="zh-CN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35610" y="1066165"/>
            <a:ext cx="8534400" cy="50069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9705"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prototype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属性：</a:t>
            </a:r>
          </a:p>
          <a:p>
            <a:pPr marL="285750" indent="-285750">
              <a:spcBef>
                <a:spcPts val="0"/>
              </a:spcBef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prototype</a:t>
            </a:r>
            <a:r>
              <a:rPr lang="zh-CN" altLang="en-US" dirty="0">
                <a:sym typeface="+mn-ea"/>
              </a:rPr>
              <a:t>属性是所有</a:t>
            </a:r>
            <a:r>
              <a:rPr lang="en-US" altLang="zh-CN" dirty="0">
                <a:sym typeface="+mn-ea"/>
              </a:rPr>
              <a:t>JavaScript</a:t>
            </a:r>
            <a:r>
              <a:rPr lang="zh-CN" altLang="en-US" dirty="0">
                <a:sym typeface="+mn-ea"/>
              </a:rPr>
              <a:t>对象共有的属性，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可用于将新定义的属性或者方法添加到对象中，</a:t>
            </a:r>
            <a:r>
              <a:rPr lang="zh-CN" altLang="en-US" dirty="0">
                <a:sym typeface="+mn-ea"/>
              </a:rPr>
              <a:t>此后该对象的实例可以直接调用添加的新属性或方法。</a:t>
            </a:r>
          </a:p>
          <a:p>
            <a:pPr marL="285750" indent="-285750">
              <a:spcBef>
                <a:spcPts val="0"/>
              </a:spcBef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dirty="0">
              <a:sym typeface="+mn-ea"/>
            </a:endParaRPr>
          </a:p>
          <a:p>
            <a:pPr marL="285750" indent="-285750">
              <a:spcBef>
                <a:spcPts val="0"/>
              </a:spcBef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dirty="0">
                <a:sym typeface="+mn-ea"/>
              </a:rPr>
              <a:t>为对象添加方法的语法如下：</a:t>
            </a:r>
            <a:endParaRPr lang="zh-CN" altLang="en-US" dirty="0"/>
          </a:p>
          <a:p>
            <a:pPr lvl="1">
              <a:spcBef>
                <a:spcPts val="0"/>
              </a:spcBef>
            </a:pPr>
            <a:r>
              <a:rPr lang="en-US" altLang="zh-CN" dirty="0" err="1">
                <a:sym typeface="+mn-ea"/>
              </a:rPr>
              <a:t>Array.prototype.methodName</a:t>
            </a:r>
            <a:r>
              <a:rPr lang="en-US" altLang="zh-CN" dirty="0">
                <a:sym typeface="+mn-ea"/>
              </a:rPr>
              <a:t>=</a:t>
            </a:r>
            <a:r>
              <a:rPr lang="en-US" altLang="zh-CN" dirty="0" err="1">
                <a:sym typeface="+mn-ea"/>
              </a:rPr>
              <a:t>functionName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>
                <a:sym typeface="+mn-ea"/>
              </a:rPr>
              <a:t>或者：</a:t>
            </a:r>
            <a:endParaRPr lang="zh-CN" altLang="en-US" dirty="0"/>
          </a:p>
          <a:p>
            <a:pPr lvl="1">
              <a:spcBef>
                <a:spcPts val="0"/>
              </a:spcBef>
            </a:pPr>
            <a:r>
              <a:rPr lang="en-US" altLang="zh-CN" dirty="0" err="1">
                <a:sym typeface="+mn-ea"/>
              </a:rPr>
              <a:t>Array.prototype.methodName</a:t>
            </a:r>
            <a:r>
              <a:rPr lang="en-US" altLang="zh-CN" dirty="0">
                <a:sym typeface="+mn-ea"/>
              </a:rPr>
              <a:t>=function([param1][,param2]…){ ... }</a:t>
            </a:r>
            <a:endParaRPr lang="en-US" altLang="zh-CN" dirty="0"/>
          </a:p>
          <a:p>
            <a:pPr marL="285750" indent="-285750">
              <a:spcBef>
                <a:spcPts val="0"/>
              </a:spcBef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dirty="0">
              <a:sym typeface="+mn-ea"/>
            </a:endParaRPr>
          </a:p>
          <a:p>
            <a:pPr marL="285750" indent="-285750">
              <a:spcBef>
                <a:spcPts val="0"/>
              </a:spcBef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dirty="0">
                <a:sym typeface="+mn-ea"/>
              </a:rPr>
              <a:t>为对象添加属性的语法如下：</a:t>
            </a:r>
            <a:endParaRPr lang="zh-CN" altLang="en-US" dirty="0"/>
          </a:p>
          <a:p>
            <a:pPr lvl="1">
              <a:spcBef>
                <a:spcPts val="0"/>
              </a:spcBef>
            </a:pPr>
            <a:r>
              <a:rPr lang="en-US" altLang="zh-CN" dirty="0" err="1">
                <a:sym typeface="+mn-ea"/>
              </a:rPr>
              <a:t>Array.prototype.property</a:t>
            </a:r>
            <a:r>
              <a:rPr lang="en-US" altLang="zh-CN" dirty="0">
                <a:sym typeface="+mn-ea"/>
              </a:rPr>
              <a:t>=</a:t>
            </a:r>
            <a:r>
              <a:rPr lang="en-US" altLang="zh-CN" dirty="0" err="1">
                <a:sym typeface="+mn-ea"/>
              </a:rPr>
              <a:t>propertyName</a:t>
            </a:r>
            <a:r>
              <a:rPr lang="en-US" altLang="zh-CN" dirty="0">
                <a:sym typeface="+mn-ea"/>
              </a:rPr>
              <a:t>;</a:t>
            </a:r>
            <a:endParaRPr lang="zh-CN" altLang="en-US" dirty="0"/>
          </a:p>
          <a:p>
            <a:pPr marL="179705" lvl="1">
              <a:lnSpc>
                <a:spcPct val="150000"/>
              </a:lnSpc>
              <a:spcBef>
                <a:spcPts val="0"/>
              </a:spcBef>
            </a:pP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9705" lvl="1">
              <a:lnSpc>
                <a:spcPct val="150000"/>
              </a:lnSpc>
              <a:spcBef>
                <a:spcPts val="0"/>
              </a:spcBef>
            </a:pP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3" name="Rectangle 5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46785" y="4432935"/>
            <a:ext cx="7244080" cy="1920240"/>
          </a:xfrm>
          <a:solidFill>
            <a:schemeClr val="bg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function array_print(){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	  for(var i=0;i&lt;this.length;i++){  document.write(this[i]+"&amp;nbsp;");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	  document.write("&lt;br/&gt;");  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} 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宋体" panose="02010600030101010101" pitchFamily="2" charset="-122"/>
              </a:rPr>
              <a:t>Array.prototype.print=array_print;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  <a:sym typeface="+mn-ea"/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  <a:sym typeface="+mn-ea"/>
              </a:rPr>
              <a:t>将</a:t>
            </a:r>
            <a:r>
              <a:rPr lang="en-US" altLang="zh-CN" sz="1400" dirty="0" err="1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  <a:sym typeface="+mn-ea"/>
              </a:rPr>
              <a:t>array_print</a:t>
            </a:r>
            <a:r>
              <a:rPr lang="zh-CN" altLang="en-US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  <a:sym typeface="+mn-ea"/>
              </a:rPr>
              <a:t>方法添加到</a:t>
            </a: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  <a:sym typeface="+mn-ea"/>
              </a:rPr>
              <a:t>Array</a:t>
            </a:r>
            <a:r>
              <a:rPr lang="zh-CN" altLang="en-US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  <a:sym typeface="+mn-ea"/>
              </a:rPr>
              <a:t>对象</a:t>
            </a:r>
            <a:endParaRPr lang="en-US" altLang="zh-CN" sz="1400" dirty="0">
              <a:solidFill>
                <a:srgbClr val="000000"/>
              </a:solidFill>
              <a:latin typeface="华文楷体" panose="0201060004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var array=new Array(32,8,-12,156,78);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document.write</a:t>
            </a: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("</a:t>
            </a:r>
            <a:r>
              <a:rPr lang="zh-CN" altLang="en-US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数组元素值为：</a:t>
            </a:r>
            <a:r>
              <a:rPr lang="en-US" altLang="zh-CN" sz="1400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");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array.print();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BC7968-9A1A-48CC-B549-AB3B4E5DB7BB}"/>
              </a:ext>
            </a:extLst>
          </p:cNvPr>
          <p:cNvSpPr/>
          <p:nvPr/>
        </p:nvSpPr>
        <p:spPr>
          <a:xfrm>
            <a:off x="3047999" y="6073140"/>
            <a:ext cx="4939553" cy="784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.prototype</a:t>
            </a:r>
            <a:r>
              <a:rPr lang="zh-CN" altLang="en-US" dirty="0"/>
              <a:t>的后面属性也是自主命名的函数名字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Array-</a:t>
            </a:r>
            <a:r>
              <a:rPr lang="zh-CN" altLang="en-US" dirty="0"/>
              <a:t>案例 </a:t>
            </a:r>
          </a:p>
        </p:txBody>
      </p:sp>
      <p:sp>
        <p:nvSpPr>
          <p:cNvPr id="3" name="矩形 2"/>
          <p:cNvSpPr/>
          <p:nvPr/>
        </p:nvSpPr>
        <p:spPr>
          <a:xfrm>
            <a:off x="290830" y="1254125"/>
            <a:ext cx="6253480" cy="4759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 &lt;script type="text/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javascript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"&gt;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var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 stu1 = new Array("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张有为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","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蒋丽娟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","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王一新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","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李大为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");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var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 stu2 =["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张祥雨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","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姜进步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","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王新力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","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刘大山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"];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("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数组中的元素：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&lt;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&gt;");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//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访问数组中的元素</a:t>
            </a:r>
            <a:endParaRPr lang="zh-CN" altLang="en-US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for (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var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 i=0;i&lt;=stu1.length-1;i++ ){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   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(i+"-"+stu1[i]+"&amp;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nbsp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;&amp;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nbsp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;");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}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("&lt;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&gt;&lt;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&gt;");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//join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方法的使用</a:t>
            </a:r>
            <a:endParaRPr lang="zh-CN" altLang="en-US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(stu2.join("-")+"&lt;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&gt;");//"-"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分隔</a:t>
            </a:r>
            <a:endParaRPr lang="zh-CN" altLang="en-US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(stu2.join("+")+"&lt;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&gt;");//"+"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分隔</a:t>
            </a:r>
            <a:endParaRPr lang="zh-CN" altLang="en-US" sz="1400" dirty="0">
              <a:ea typeface="宋体" panose="02010600030101010101" pitchFamily="2" charset="-122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(stu2.join()+"&lt;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&gt;");  //</a:t>
            </a:r>
            <a:r>
              <a:rPr lang="zh-CN" altLang="en-US" sz="1400" dirty="0">
                <a:ea typeface="宋体" panose="02010600030101010101" pitchFamily="2" charset="-122"/>
                <a:sym typeface="+mn-ea"/>
              </a:rPr>
              <a:t>默认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pop,push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方法的使用</a:t>
            </a: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删除数组最后元素是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"+stu2.pop());</a:t>
            </a:r>
          </a:p>
          <a:p>
            <a:pPr indent="26860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s=stu2.push("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沈通达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","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高学衡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数组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的长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="+s);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stu1 = new Array ("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张有为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","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蒋丽娟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","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王一新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","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李大为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shift,unshift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方法的使用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ss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=stu1.shift();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删除数组第一个元素是：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"+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ss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);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在数组开始处插入新元素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s=stu1.unshift("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徐丽丽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");//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在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IE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中显示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undefined</a:t>
            </a:r>
          </a:p>
          <a:p>
            <a:pPr indent="26543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数组元素分别：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"+stu1+"&lt;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数组的长度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="+s); //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在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IE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中用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stu1.length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代替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&lt;/script&gt;</a:t>
            </a:r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 t="21732" r="17750"/>
          <a:stretch>
            <a:fillRect/>
          </a:stretch>
        </p:blipFill>
        <p:spPr bwMode="auto">
          <a:xfrm>
            <a:off x="6141720" y="1652905"/>
            <a:ext cx="2849245" cy="2675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986076"/>
            <a:ext cx="8534400" cy="387548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da-DK" altLang="zh-CN" sz="1800" dirty="0"/>
              <a:t>       String</a:t>
            </a:r>
            <a:r>
              <a:rPr lang="zh-CN" altLang="zh-CN" sz="1800" dirty="0"/>
              <a:t>对象是</a:t>
            </a:r>
            <a:r>
              <a:rPr lang="da-DK" altLang="zh-CN" sz="1800" dirty="0"/>
              <a:t>JavaScript</a:t>
            </a:r>
            <a:r>
              <a:rPr lang="zh-CN" altLang="zh-CN" sz="1800" dirty="0"/>
              <a:t>核心对象</a:t>
            </a:r>
            <a:r>
              <a:rPr lang="zh-CN" altLang="en-US" sz="1800" dirty="0"/>
              <a:t>。</a:t>
            </a:r>
            <a:r>
              <a:rPr lang="da-DK" altLang="zh-CN" sz="1800" dirty="0">
                <a:solidFill>
                  <a:schemeClr val="tx1"/>
                </a:solidFill>
              </a:rPr>
              <a:t>String</a:t>
            </a:r>
            <a:r>
              <a:rPr lang="zh-CN" altLang="zh-CN" sz="1800" dirty="0">
                <a:solidFill>
                  <a:schemeClr val="tx1"/>
                </a:solidFill>
              </a:rPr>
              <a:t>对象</a:t>
            </a:r>
            <a:r>
              <a:rPr lang="zh-CN" altLang="en-US" sz="1800" dirty="0">
                <a:solidFill>
                  <a:schemeClr val="tx1"/>
                </a:solidFill>
              </a:rPr>
              <a:t>创建</a:t>
            </a:r>
            <a:r>
              <a:rPr altLang="da-DK" sz="1800" dirty="0">
                <a:solidFill>
                  <a:schemeClr val="tx1"/>
                </a:solidFill>
              </a:rPr>
              <a:t>后不可变，</a:t>
            </a:r>
            <a:r>
              <a:rPr lang="en-US" altLang="zh-CN" sz="1800" dirty="0">
                <a:solidFill>
                  <a:schemeClr val="tx1"/>
                </a:solidFill>
              </a:rPr>
              <a:t>String</a:t>
            </a:r>
            <a:r>
              <a:rPr sz="1800" dirty="0">
                <a:solidFill>
                  <a:schemeClr val="tx1"/>
                </a:solidFill>
              </a:rPr>
              <a:t>对象上的各种操作，通常返回新的</a:t>
            </a:r>
            <a:r>
              <a:rPr lang="en-US" altLang="zh-CN" sz="1800" dirty="0">
                <a:solidFill>
                  <a:schemeClr val="tx1"/>
                </a:solidFill>
              </a:rPr>
              <a:t>String</a:t>
            </a:r>
            <a:r>
              <a:rPr sz="1800" dirty="0">
                <a:solidFill>
                  <a:schemeClr val="tx1"/>
                </a:solidFill>
              </a:rPr>
              <a:t>对象。</a:t>
            </a:r>
            <a:r>
              <a:rPr lang="en-US" altLang="zh-CN" sz="1800" dirty="0">
                <a:solidFill>
                  <a:schemeClr val="tx1"/>
                </a:solidFill>
              </a:rPr>
              <a:t>String</a:t>
            </a:r>
            <a:r>
              <a:rPr sz="1800" dirty="0">
                <a:solidFill>
                  <a:schemeClr val="tx1"/>
                </a:solidFill>
              </a:rPr>
              <a:t>对象的创建方法如下：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179705" lvl="1" indent="544830"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 s1 = "Welcome to you!";  //</a:t>
            </a:r>
            <a:r>
              <a:rPr sz="1800" dirty="0">
                <a:solidFill>
                  <a:schemeClr val="tx1"/>
                </a:solidFill>
              </a:rPr>
              <a:t>单双引号均可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179705" lvl="1" indent="544830"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 s2 = new String("Welcome to you!"); //new</a:t>
            </a:r>
            <a:r>
              <a:rPr sz="1800" dirty="0">
                <a:solidFill>
                  <a:schemeClr val="tx1"/>
                </a:solidFill>
              </a:rPr>
              <a:t>也可省略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endParaRPr lang="zh-CN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800" dirty="0">
                <a:solidFill>
                  <a:schemeClr val="tx1"/>
                </a:solidFill>
              </a:rPr>
              <a:t>强制类型转换</a:t>
            </a:r>
            <a:r>
              <a:rPr lang="en-US" altLang="zh-CN" sz="1800" dirty="0">
                <a:solidFill>
                  <a:schemeClr val="tx1"/>
                </a:solidFill>
              </a:rPr>
              <a:t>String(value)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s1=String("100")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返回值为字符串</a:t>
            </a:r>
            <a:r>
              <a:rPr lang="en-US" altLang="zh-CN" sz="1800" dirty="0">
                <a:solidFill>
                  <a:schemeClr val="tx1"/>
                </a:solidFill>
              </a:rPr>
              <a:t>100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s1=String("</a:t>
            </a:r>
            <a:r>
              <a:rPr lang="en-US" altLang="zh-CN" sz="1800" dirty="0" err="1">
                <a:solidFill>
                  <a:schemeClr val="tx1"/>
                </a:solidFill>
              </a:rPr>
              <a:t>acdd</a:t>
            </a:r>
            <a:r>
              <a:rPr lang="en-US" altLang="zh-CN" sz="1800" dirty="0">
                <a:solidFill>
                  <a:schemeClr val="tx1"/>
                </a:solidFill>
              </a:rPr>
              <a:t>")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返回值为字符串</a:t>
            </a:r>
            <a:r>
              <a:rPr lang="en-US" altLang="zh-CN" sz="1800" dirty="0" err="1">
                <a:solidFill>
                  <a:schemeClr val="tx1"/>
                </a:solidFill>
              </a:rPr>
              <a:t>acdd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s1=String("false")       //</a:t>
            </a:r>
            <a:r>
              <a:rPr lang="zh-CN" altLang="zh-CN" sz="1800" dirty="0">
                <a:solidFill>
                  <a:srgbClr val="FF0000"/>
                </a:solidFill>
              </a:rPr>
              <a:t>返回值为字符串</a:t>
            </a:r>
            <a:r>
              <a:rPr lang="en-US" altLang="zh-CN" sz="1800" dirty="0">
                <a:solidFill>
                  <a:srgbClr val="FF0000"/>
                </a:solidFill>
              </a:rPr>
              <a:t>false</a:t>
            </a:r>
            <a:endParaRPr lang="zh-CN" altLang="zh-CN" sz="1800" dirty="0">
              <a:solidFill>
                <a:srgbClr val="FF0000"/>
              </a:solidFill>
            </a:endParaRP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s1=String(true)          //</a:t>
            </a:r>
            <a:r>
              <a:rPr lang="zh-CN" altLang="zh-CN" sz="1800" dirty="0">
                <a:solidFill>
                  <a:srgbClr val="FF0000"/>
                </a:solidFill>
              </a:rPr>
              <a:t>返回值为字符串</a:t>
            </a:r>
            <a:r>
              <a:rPr lang="en-US" altLang="zh-CN" sz="1800" dirty="0">
                <a:solidFill>
                  <a:srgbClr val="FF0000"/>
                </a:solidFill>
              </a:rPr>
              <a:t>true </a:t>
            </a:r>
            <a:endParaRPr lang="zh-CN" altLang="zh-CN" sz="1800" dirty="0">
              <a:solidFill>
                <a:srgbClr val="FF0000"/>
              </a:solidFill>
            </a:endParaRP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s1=String(null)          //</a:t>
            </a:r>
            <a:r>
              <a:rPr lang="zh-CN" altLang="zh-CN" sz="1800" dirty="0">
                <a:solidFill>
                  <a:srgbClr val="FF0000"/>
                </a:solidFill>
              </a:rPr>
              <a:t>返回值为字符串</a:t>
            </a:r>
            <a:r>
              <a:rPr lang="en-US" altLang="zh-CN" sz="1800" dirty="0">
                <a:solidFill>
                  <a:srgbClr val="FF0000"/>
                </a:solidFill>
              </a:rPr>
              <a:t>null</a:t>
            </a:r>
            <a:endParaRPr lang="zh-CN" altLang="zh-CN" sz="1800" dirty="0">
              <a:solidFill>
                <a:srgbClr val="FF0000"/>
              </a:solidFill>
            </a:endParaRP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s1=new Array("111","222","333");String(s1)   </a:t>
            </a: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>
                <a:solidFill>
                  <a:schemeClr val="tx1"/>
                </a:solidFill>
              </a:rPr>
              <a:t>111,222,333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26543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s1=String(new Object())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返回值为字符串</a:t>
            </a:r>
            <a:r>
              <a:rPr lang="en-US" altLang="zh-CN" sz="1800" dirty="0">
                <a:solidFill>
                  <a:schemeClr val="tx1"/>
                </a:solidFill>
              </a:rPr>
              <a:t>[</a:t>
            </a:r>
            <a:r>
              <a:rPr lang="en-US" altLang="zh-CN" sz="1800" dirty="0" err="1">
                <a:solidFill>
                  <a:schemeClr val="tx1"/>
                </a:solidFill>
              </a:rPr>
              <a:t>object,Object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63855" y="1189991"/>
            <a:ext cx="853440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获取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对象长度属性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      String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对象常用的属性有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r>
              <a:rPr lang="zh-CN" altLang="zh-CN" b="0" dirty="0">
                <a:latin typeface="微软雅黑" panose="020B0503020204020204" charset="-122"/>
                <a:ea typeface="微软雅黑" panose="020B0503020204020204" charset="-122"/>
              </a:rPr>
              <a:t>，返回目标字符串中字符数目。</a:t>
            </a:r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s1 = "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hello,world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";</a:t>
            </a:r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len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= s1.length; //s1.length</a:t>
            </a:r>
            <a:r>
              <a:rPr lang="zh-CN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s1</a:t>
            </a:r>
            <a:r>
              <a:rPr lang="zh-CN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所指向的字符串有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个字符</a:t>
            </a:r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是字符数目，不是编码长度，一个汉字一个字符（不管编码为几个字节）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08358" name="Group 134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0502391"/>
              </p:ext>
            </p:extLst>
          </p:nvPr>
        </p:nvGraphicFramePr>
        <p:xfrm>
          <a:off x="972820" y="2882900"/>
          <a:ext cx="7064375" cy="3429060"/>
        </p:xfrm>
        <a:graphic>
          <a:graphicData uri="http://schemas.openxmlformats.org/drawingml/2006/table">
            <a:tbl>
              <a:tblPr/>
              <a:tblGrid>
                <a:gridCol w="2120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91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方法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1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chartAt()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返回指定位置的字符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91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concat()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连接字符串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72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indexOf()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检索子串的位置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25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split()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按照指定的分割符，将字符串分割成字符串数组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91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substring()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按照索引号取子串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toLowerCase()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将字符串转换成小写并返回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68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toUpperCase()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将字符串转换成大写并返回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91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replace()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替换字符串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29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anchor()</a:t>
                      </a:r>
                    </a:p>
                  </a:txBody>
                  <a:tcPr marL="68580" marR="68580" marT="34293" marB="3429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创建锚点</a:t>
                      </a: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3400" y="1351916"/>
            <a:ext cx="8534400" cy="5042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None/>
            </a:pPr>
            <a:r>
              <a:rPr lang="en-US" altLang="zh-CN" dirty="0" err="1">
                <a:sym typeface="+mn-ea"/>
              </a:rPr>
              <a:t>charAt</a:t>
            </a:r>
            <a:r>
              <a:rPr lang="en-US" altLang="zh-CN" dirty="0">
                <a:sym typeface="+mn-ea"/>
              </a:rPr>
              <a:t>()</a:t>
            </a:r>
            <a:r>
              <a:rPr lang="zh-CN" altLang="en-US" dirty="0">
                <a:sym typeface="+mn-ea"/>
              </a:rPr>
              <a:t>是根据索引号返回字符串中的一个字符，语法格式为：</a:t>
            </a:r>
            <a:endParaRPr lang="zh-CN" altLang="en-US" dirty="0"/>
          </a:p>
          <a:p>
            <a:pPr lvl="1"/>
            <a:r>
              <a:rPr lang="en-US" altLang="zh-CN" dirty="0" err="1">
                <a:sym typeface="+mn-ea"/>
              </a:rPr>
              <a:t>string.charAt</a:t>
            </a:r>
            <a:r>
              <a:rPr lang="en-US" altLang="zh-CN" dirty="0">
                <a:sym typeface="+mn-ea"/>
              </a:rPr>
              <a:t>(index);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//index</a:t>
            </a:r>
            <a:r>
              <a:rPr lang="zh-CN" altLang="en-US" dirty="0">
                <a:sym typeface="+mn-ea"/>
              </a:rPr>
              <a:t>为索引号，有效值为</a:t>
            </a:r>
            <a:r>
              <a:rPr lang="en-US" altLang="zh-CN" dirty="0">
                <a:sym typeface="+mn-ea"/>
              </a:rPr>
              <a:t>0~length-1</a:t>
            </a:r>
            <a:r>
              <a:rPr lang="zh-CN" altLang="en-US" dirty="0">
                <a:sym typeface="+mn-ea"/>
              </a:rPr>
              <a:t>，汉字作为一个字符来处理</a:t>
            </a:r>
            <a:endParaRPr lang="zh-CN" altLang="en-US" dirty="0"/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endParaRPr lang="en-US" altLang="zh-CN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concat()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连接两个（多个）字符串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 String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对象的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concat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 )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方法能将作为参数传入的字符串加入到调用该方法的字符串的末尾，并将结果返回给新的字符串。</a:t>
            </a:r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targetString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=new String("Welcome to ");</a:t>
            </a:r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strToBeAdded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=new String("the world!"); </a:t>
            </a:r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r>
              <a:rPr lang="nb-NO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 </a:t>
            </a:r>
            <a:r>
              <a:rPr lang="nb-NO" altLang="zh-CN" sz="1800" b="0" dirty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</a:rPr>
              <a:t>finalString</a:t>
            </a:r>
            <a:r>
              <a:rPr lang="nb-NO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nb-NO" altLang="zh-CN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targetString.concat(strToBeAdded</a:t>
            </a:r>
            <a:r>
              <a:rPr lang="nb-NO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); </a:t>
            </a:r>
          </a:p>
          <a:p>
            <a:pPr indent="450850">
              <a:lnSpc>
                <a:spcPct val="100000"/>
              </a:lnSpc>
              <a:spcBef>
                <a:spcPts val="0"/>
              </a:spcBef>
            </a:pP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None/>
            </a:pPr>
            <a:r>
              <a:rPr lang="en-US" altLang="zh-CN" dirty="0" err="1">
                <a:sym typeface="+mn-ea"/>
              </a:rPr>
              <a:t>indexOf</a:t>
            </a:r>
            <a:r>
              <a:rPr lang="en-US" altLang="zh-CN" dirty="0">
                <a:sym typeface="+mn-ea"/>
              </a:rPr>
              <a:t>()</a:t>
            </a:r>
            <a:r>
              <a:rPr lang="zh-CN" altLang="en-US" dirty="0">
                <a:sym typeface="+mn-ea"/>
              </a:rPr>
              <a:t>方法是查询子串在字符串中出现的位置索引，有效值为</a:t>
            </a:r>
            <a:r>
              <a:rPr lang="en-US" altLang="zh-CN" dirty="0">
                <a:sym typeface="+mn-ea"/>
              </a:rPr>
              <a:t>0~length-1, length</a:t>
            </a:r>
            <a:r>
              <a:rPr lang="zh-CN" altLang="en-US" dirty="0">
                <a:sym typeface="+mn-ea"/>
              </a:rPr>
              <a:t>为字符串的长度；如果不存在子串，则返回</a:t>
            </a:r>
            <a:r>
              <a:rPr lang="en-US" altLang="zh-CN" dirty="0">
                <a:sym typeface="+mn-ea"/>
              </a:rPr>
              <a:t>-1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  <a:p>
            <a:pPr lvl="1"/>
            <a:r>
              <a:rPr lang="en-US" altLang="zh-CN" dirty="0" err="1">
                <a:sym typeface="+mn-ea"/>
              </a:rPr>
              <a:t>string.indexOf</a:t>
            </a:r>
            <a:r>
              <a:rPr lang="en-US" altLang="zh-CN" dirty="0">
                <a:sym typeface="+mn-ea"/>
              </a:rPr>
              <a:t>(substring, </a:t>
            </a:r>
            <a:r>
              <a:rPr lang="en-US" altLang="zh-CN" dirty="0" err="1">
                <a:sym typeface="+mn-ea"/>
              </a:rPr>
              <a:t>startpos</a:t>
            </a:r>
            <a:r>
              <a:rPr lang="en-US" altLang="zh-CN" dirty="0">
                <a:sym typeface="+mn-ea"/>
              </a:rPr>
              <a:t>);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//</a:t>
            </a:r>
            <a:r>
              <a:rPr lang="zh-CN" altLang="en-US" dirty="0">
                <a:sym typeface="+mn-ea"/>
              </a:rPr>
              <a:t>查找</a:t>
            </a:r>
            <a:r>
              <a:rPr lang="en-US" altLang="zh-CN" dirty="0">
                <a:sym typeface="+mn-ea"/>
              </a:rPr>
              <a:t>string</a:t>
            </a:r>
            <a:r>
              <a:rPr lang="zh-CN" altLang="en-US" dirty="0">
                <a:sym typeface="+mn-ea"/>
              </a:rPr>
              <a:t>中</a:t>
            </a:r>
            <a:r>
              <a:rPr lang="en-US" altLang="zh-CN" dirty="0">
                <a:sym typeface="+mn-ea"/>
              </a:rPr>
              <a:t>substring</a:t>
            </a:r>
            <a:r>
              <a:rPr lang="zh-CN" altLang="en-US" dirty="0">
                <a:sym typeface="+mn-ea"/>
              </a:rPr>
              <a:t>在</a:t>
            </a:r>
            <a:r>
              <a:rPr lang="en-US" altLang="zh-CN" dirty="0" err="1">
                <a:sym typeface="+mn-ea"/>
              </a:rPr>
              <a:t>startpos</a:t>
            </a:r>
            <a:r>
              <a:rPr lang="zh-CN" altLang="en-US" dirty="0">
                <a:sym typeface="+mn-ea"/>
              </a:rPr>
              <a:t>之后第一次出现的位置，</a:t>
            </a:r>
            <a:r>
              <a:rPr lang="en-US" altLang="zh-CN" dirty="0">
                <a:sym typeface="+mn-ea"/>
              </a:rPr>
              <a:t>startpos</a:t>
            </a:r>
            <a:r>
              <a:rPr lang="zh-CN" altLang="en-US" dirty="0">
                <a:sym typeface="+mn-ea"/>
              </a:rPr>
              <a:t>默认为</a:t>
            </a:r>
            <a:r>
              <a:rPr lang="en-US" altLang="zh-CN" dirty="0">
                <a:sym typeface="+mn-ea"/>
              </a:rPr>
              <a:t>0</a:t>
            </a:r>
            <a:endParaRPr lang="zh-CN" altLang="en-US" dirty="0"/>
          </a:p>
          <a:p>
            <a:pPr indent="0">
              <a:lnSpc>
                <a:spcPct val="100000"/>
              </a:lnSpc>
              <a:spcBef>
                <a:spcPts val="0"/>
              </a:spcBef>
            </a:pP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ym typeface="+mn-ea"/>
              </a:rPr>
              <a:t>substring(beg,end)</a:t>
            </a:r>
            <a:r>
              <a:rPr lang="zh-CN" altLang="en-US" dirty="0">
                <a:sym typeface="+mn-ea"/>
              </a:rPr>
              <a:t>用于返回指定的两个下标之间的字符串，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若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beg&gt;end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会自动对调</a:t>
            </a:r>
            <a:endParaRPr lang="zh-CN" altLang="en-US" b="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434975" y="1341120"/>
            <a:ext cx="8509000" cy="4973955"/>
          </a:xfrm>
        </p:spPr>
        <p:txBody>
          <a:bodyPr>
            <a:normAutofit fontScale="950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charset="-122"/>
                <a:sym typeface="+mn-ea"/>
              </a:rPr>
              <a:t>3.</a:t>
            </a:r>
            <a:r>
              <a:rPr altLang="zh-CN" sz="1800" dirty="0">
                <a:latin typeface="微软雅黑" panose="020B0503020204020204" charset="-122"/>
                <a:sym typeface="+mn-ea"/>
              </a:rPr>
              <a:t>把字符串按入参指定的分隔符（或</a:t>
            </a:r>
            <a:r>
              <a:rPr altLang="zh-CN" sz="1800" b="1" dirty="0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正则式</a:t>
            </a:r>
            <a:r>
              <a:rPr altLang="zh-CN" sz="1800" dirty="0">
                <a:latin typeface="微软雅黑" panose="020B0503020204020204" charset="-122"/>
                <a:sym typeface="+mn-ea"/>
              </a:rPr>
              <a:t>）分割为字符串数组</a:t>
            </a: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      split()</a:t>
            </a:r>
            <a:r>
              <a:rPr altLang="zh-CN" sz="1800" dirty="0">
                <a:highlight>
                  <a:srgbClr val="FFFF00"/>
                </a:highlight>
                <a:latin typeface="微软雅黑" panose="020B0503020204020204" charset="-122"/>
                <a:sym typeface="+mn-ea"/>
              </a:rPr>
              <a:t>方法可以把字符串分割成字符串数组。</a:t>
            </a:r>
            <a:endParaRPr lang="zh-CN" altLang="en-US" sz="1800" b="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solidFill>
                  <a:schemeClr val="tx1"/>
                </a:solidFill>
              </a:rPr>
              <a:t>&lt;script type=text/</a:t>
            </a:r>
            <a:r>
              <a:rPr lang="en-US" altLang="zh-CN" sz="1800" dirty="0" err="1">
                <a:solidFill>
                  <a:schemeClr val="tx1"/>
                </a:solidFill>
              </a:rPr>
              <a:t>javascript</a:t>
            </a:r>
            <a:r>
              <a:rPr lang="en-US" altLang="zh-CN" sz="1800" dirty="0">
                <a:solidFill>
                  <a:schemeClr val="tx1"/>
                </a:solidFill>
              </a:rPr>
              <a:t>&gt; </a:t>
            </a:r>
          </a:p>
          <a:p>
            <a:pPr marL="0" indent="357505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str1 = " How are you doing today?”</a:t>
            </a:r>
          </a:p>
          <a:p>
            <a:pPr marL="0" indent="357505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subarray</a:t>
            </a:r>
            <a:r>
              <a:rPr lang="en-US" altLang="zh-CN" sz="1800" dirty="0">
                <a:solidFill>
                  <a:schemeClr val="tx1"/>
                </a:solidFill>
              </a:rPr>
              <a:t> =str1.split(" ");  //</a:t>
            </a:r>
            <a:r>
              <a:rPr lang="en-US" altLang="zh-CN" sz="1800" dirty="0" err="1">
                <a:solidFill>
                  <a:schemeClr val="tx1"/>
                </a:solidFill>
              </a:rPr>
              <a:t>subarray</a:t>
            </a:r>
            <a:r>
              <a:rPr lang="zh-CN" altLang="zh-CN" sz="1800" dirty="0">
                <a:solidFill>
                  <a:schemeClr val="tx1"/>
                </a:solidFill>
              </a:rPr>
              <a:t>是一个数组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indent="357505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solidFill>
                  <a:schemeClr val="tx1"/>
                </a:solidFill>
              </a:rPr>
              <a:t>for(</a:t>
            </a: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i=0;i&lt;</a:t>
            </a:r>
            <a:r>
              <a:rPr lang="en-US" altLang="zh-CN" sz="1800" dirty="0" err="1">
                <a:solidFill>
                  <a:schemeClr val="tx1"/>
                </a:solidFill>
              </a:rPr>
              <a:t>subarray.length;i</a:t>
            </a:r>
            <a:r>
              <a:rPr lang="en-US" altLang="zh-CN" sz="1800" dirty="0">
                <a:solidFill>
                  <a:schemeClr val="tx1"/>
                </a:solidFill>
              </a:rPr>
              <a:t>++)</a:t>
            </a:r>
          </a:p>
          <a:p>
            <a:pPr marL="0" indent="357505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solidFill>
                  <a:schemeClr val="tx1"/>
                </a:solidFill>
              </a:rPr>
              <a:t>{     </a:t>
            </a:r>
            <a:r>
              <a:rPr lang="en-US" altLang="zh-CN" sz="1800" dirty="0" err="1">
                <a:solidFill>
                  <a:schemeClr val="tx1"/>
                </a:solidFill>
              </a:rPr>
              <a:t>document.write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subarray</a:t>
            </a:r>
            <a:r>
              <a:rPr lang="en-US" altLang="zh-CN" sz="1800" dirty="0">
                <a:solidFill>
                  <a:schemeClr val="tx1"/>
                </a:solidFill>
              </a:rPr>
              <a:t> [i]);</a:t>
            </a:r>
          </a:p>
          <a:p>
            <a:pPr marL="0" indent="357505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document.write</a:t>
            </a:r>
            <a:r>
              <a:rPr lang="en-US" altLang="zh-CN" sz="1800" dirty="0">
                <a:solidFill>
                  <a:schemeClr val="tx1"/>
                </a:solidFill>
              </a:rPr>
              <a:t>("&lt;</a:t>
            </a:r>
            <a:r>
              <a:rPr lang="en-US" altLang="zh-CN" sz="1800" dirty="0" err="1">
                <a:solidFill>
                  <a:schemeClr val="tx1"/>
                </a:solidFill>
              </a:rPr>
              <a:t>br</a:t>
            </a:r>
            <a:r>
              <a:rPr lang="en-US" altLang="zh-CN" sz="1800" dirty="0">
                <a:solidFill>
                  <a:schemeClr val="tx1"/>
                </a:solidFill>
              </a:rPr>
              <a:t>&gt;");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solidFill>
                  <a:schemeClr val="tx1"/>
                </a:solidFill>
              </a:rPr>
              <a:t> &lt;/script&gt;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SzTx/>
              <a:buNone/>
              <a:tabLst>
                <a:tab pos="0" algn="l"/>
                <a:tab pos="715645" algn="l"/>
              </a:tabLst>
            </a:pP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Split()</a:t>
            </a:r>
            <a:r>
              <a:rPr lang="zh-CN" altLang="zh-CN" sz="1600" dirty="0">
                <a:solidFill>
                  <a:schemeClr val="tx1"/>
                </a:solidFill>
              </a:rPr>
              <a:t>方法的返回值是字符串数组。可用</a:t>
            </a:r>
            <a:r>
              <a:rPr lang="en-US" altLang="zh-CN" sz="1600" dirty="0">
                <a:solidFill>
                  <a:schemeClr val="tx1"/>
                </a:solidFill>
              </a:rPr>
              <a:t>Array</a:t>
            </a:r>
            <a:r>
              <a:rPr lang="zh-CN" altLang="zh-CN" sz="1600" dirty="0">
                <a:solidFill>
                  <a:schemeClr val="tx1"/>
                </a:solidFill>
              </a:rPr>
              <a:t>对象的方法访问字符串数组中的元素。</a:t>
            </a:r>
            <a:r>
              <a:rPr lang="en-US" altLang="zh-CN" sz="1600" dirty="0">
                <a:solidFill>
                  <a:schemeClr val="tx1"/>
                </a:solidFill>
              </a:rPr>
              <a:t>Split()</a:t>
            </a:r>
            <a:r>
              <a:rPr lang="zh-CN" altLang="zh-CN" sz="1600" dirty="0">
                <a:solidFill>
                  <a:schemeClr val="tx1"/>
                </a:solidFill>
              </a:rPr>
              <a:t>方法分割方法还有很多。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</a:t>
            </a: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sub1 = str1.split(""); //</a:t>
            </a:r>
            <a:r>
              <a:rPr lang="zh-CN" altLang="zh-CN" sz="1800" dirty="0">
                <a:solidFill>
                  <a:schemeClr val="tx1"/>
                </a:solidFill>
              </a:rPr>
              <a:t>把字符串按字符分割，返回数组</a:t>
            </a:r>
            <a:r>
              <a:rPr lang="en-US" altLang="zh-CN" sz="1800" dirty="0">
                <a:solidFill>
                  <a:schemeClr val="tx1"/>
                </a:solidFill>
              </a:rPr>
              <a:t>["</a:t>
            </a:r>
            <a:r>
              <a:rPr lang="en-US" altLang="zh-CN" sz="1800" dirty="0" err="1">
                <a:solidFill>
                  <a:schemeClr val="tx1"/>
                </a:solidFill>
              </a:rPr>
              <a:t>H","o","w</a:t>
            </a:r>
            <a:r>
              <a:rPr lang="en-US" altLang="zh-CN" sz="1800" dirty="0">
                <a:solidFill>
                  <a:schemeClr val="tx1"/>
                </a:solidFill>
              </a:rPr>
              <a:t>",…]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</a:t>
            </a: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sub2 = str1.split("o"); //</a:t>
            </a:r>
            <a:r>
              <a:rPr lang="zh-CN" altLang="zh-CN" sz="1800" dirty="0">
                <a:solidFill>
                  <a:schemeClr val="tx1"/>
                </a:solidFill>
              </a:rPr>
              <a:t>把字符串按字符</a:t>
            </a:r>
            <a:r>
              <a:rPr lang="en-US" altLang="zh-CN" sz="1800" dirty="0">
                <a:solidFill>
                  <a:schemeClr val="tx1"/>
                </a:solidFill>
              </a:rPr>
              <a:t>o</a:t>
            </a:r>
            <a:r>
              <a:rPr lang="zh-CN" altLang="zh-CN" sz="1800" dirty="0">
                <a:solidFill>
                  <a:schemeClr val="tx1"/>
                </a:solidFill>
              </a:rPr>
              <a:t>分割，返回数组</a:t>
            </a:r>
            <a:r>
              <a:rPr lang="en-US" altLang="zh-CN" sz="1800" dirty="0">
                <a:solidFill>
                  <a:schemeClr val="tx1"/>
                </a:solidFill>
              </a:rPr>
              <a:t>["</a:t>
            </a:r>
            <a:r>
              <a:rPr lang="en-US" altLang="zh-CN" sz="1800" dirty="0" err="1">
                <a:solidFill>
                  <a:schemeClr val="tx1"/>
                </a:solidFill>
              </a:rPr>
              <a:t>H","w</a:t>
            </a:r>
            <a:r>
              <a:rPr lang="en-US" altLang="zh-CN" sz="1800" dirty="0">
                <a:solidFill>
                  <a:schemeClr val="tx1"/>
                </a:solidFill>
              </a:rPr>
              <a:t> are </a:t>
            </a:r>
            <a:r>
              <a:rPr lang="en-US" altLang="zh-CN" sz="1800" dirty="0" err="1">
                <a:solidFill>
                  <a:schemeClr val="tx1"/>
                </a:solidFill>
              </a:rPr>
              <a:t>y","u</a:t>
            </a:r>
            <a:r>
              <a:rPr lang="en-US" altLang="zh-CN" sz="1800" dirty="0">
                <a:solidFill>
                  <a:schemeClr val="tx1"/>
                </a:solidFill>
              </a:rPr>
              <a:t> d","</a:t>
            </a:r>
            <a:r>
              <a:rPr lang="en-US" altLang="zh-CN" sz="1800" dirty="0" err="1">
                <a:solidFill>
                  <a:schemeClr val="tx1"/>
                </a:solidFill>
              </a:rPr>
              <a:t>ing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t","day</a:t>
            </a:r>
            <a:r>
              <a:rPr lang="en-US" altLang="zh-CN" sz="1800" dirty="0">
                <a:solidFill>
                  <a:schemeClr val="tx1"/>
                </a:solidFill>
              </a:rPr>
              <a:t>?"]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4.String</a:t>
            </a:r>
            <a:r>
              <a:rPr lang="zh-CN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对象的显示风格方法（少用）</a:t>
            </a:r>
          </a:p>
          <a:p>
            <a:pPr marL="182880" lvl="1" indent="360680">
              <a:lnSpc>
                <a:spcPct val="90000"/>
              </a:lnSpc>
              <a:buSzTx/>
              <a:buFont typeface="Arial" panose="020B0604020202020204" pitchFamily="34" charset="0"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big() 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：变大些  ；         </a:t>
            </a: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small()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：变小些 ； </a:t>
            </a:r>
          </a:p>
          <a:p>
            <a:pPr marL="182880" lvl="1" indent="360680">
              <a:lnSpc>
                <a:spcPct val="90000"/>
              </a:lnSpc>
              <a:buSzTx/>
              <a:buFont typeface="Arial" panose="020B0604020202020204" pitchFamily="34" charset="0"/>
              <a:buNone/>
              <a:tabLst>
                <a:tab pos="0" algn="l"/>
                <a:tab pos="715645" algn="l"/>
              </a:tabLst>
            </a:pPr>
            <a:r>
              <a:rPr lang="en-US" altLang="zh-CN" sz="1800" dirty="0" err="1">
                <a:highlight>
                  <a:srgbClr val="FFFF00"/>
                </a:highlight>
                <a:cs typeface="Arial" panose="020B0604020202020204" pitchFamily="34" charset="0"/>
              </a:rPr>
              <a:t>fontsize</a:t>
            </a: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()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：字体大小； </a:t>
            </a:r>
            <a:r>
              <a:rPr lang="en-US" altLang="zh-CN" sz="1800" dirty="0" err="1">
                <a:highlight>
                  <a:srgbClr val="FFFF00"/>
                </a:highlight>
                <a:cs typeface="Arial" panose="020B0604020202020204" pitchFamily="34" charset="0"/>
              </a:rPr>
              <a:t>fontcolor</a:t>
            </a: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()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：字体颜色；</a:t>
            </a:r>
          </a:p>
          <a:p>
            <a:pPr marL="182880" lvl="1" indent="360680">
              <a:lnSpc>
                <a:spcPct val="90000"/>
              </a:lnSpc>
              <a:buSzTx/>
              <a:buFont typeface="Arial" panose="020B0604020202020204" pitchFamily="34" charset="0"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bold() 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：变粗些          ；</a:t>
            </a: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italics()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：斜体；</a:t>
            </a:r>
          </a:p>
          <a:p>
            <a:pPr marL="182880" lvl="1" indent="360680">
              <a:lnSpc>
                <a:spcPct val="90000"/>
              </a:lnSpc>
              <a:buSzTx/>
              <a:buFont typeface="Arial" panose="020B0604020202020204" pitchFamily="34" charset="0"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sub()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：下标     ；           </a:t>
            </a:r>
            <a:r>
              <a:rPr lang="en-US" altLang="zh-CN" sz="1800" dirty="0">
                <a:highlight>
                  <a:srgbClr val="FFFF00"/>
                </a:highlight>
                <a:cs typeface="Arial" panose="020B0604020202020204" pitchFamily="34" charset="0"/>
              </a:rPr>
              <a:t>sup()</a:t>
            </a:r>
            <a:r>
              <a:rPr lang="zh-CN" altLang="en-US" sz="1800" dirty="0">
                <a:highlight>
                  <a:srgbClr val="FFFF00"/>
                </a:highlight>
                <a:cs typeface="Arial" panose="020B0604020202020204" pitchFamily="34" charset="0"/>
              </a:rPr>
              <a:t>：上标</a:t>
            </a:r>
          </a:p>
          <a:p>
            <a:pPr marL="0" indent="0">
              <a:buNone/>
            </a:pPr>
            <a:endParaRPr lang="en-US" altLang="zh-CN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cs typeface="Arial" panose="020B0604020202020204" pitchFamily="34" charset="0"/>
              </a:rPr>
              <a:t>5.</a:t>
            </a:r>
            <a:r>
              <a:rPr lang="zh-CN" altLang="zh-CN" sz="1800" dirty="0">
                <a:cs typeface="Arial" panose="020B0604020202020204" pitchFamily="34" charset="0"/>
              </a:rPr>
              <a:t>字符串的大小写转换，注意是得到</a:t>
            </a:r>
            <a:r>
              <a:rPr lang="en-US" altLang="zh-CN" sz="1800" dirty="0">
                <a:cs typeface="Arial" panose="020B0604020202020204" pitchFamily="34" charset="0"/>
              </a:rPr>
              <a:t>“</a:t>
            </a:r>
            <a:r>
              <a:rPr sz="1800" dirty="0">
                <a:cs typeface="Arial" panose="020B0604020202020204" pitchFamily="34" charset="0"/>
              </a:rPr>
              <a:t>新串</a:t>
            </a:r>
            <a:r>
              <a:rPr lang="en-US" altLang="zh-CN" sz="1800" dirty="0">
                <a:cs typeface="Arial" panose="020B0604020202020204" pitchFamily="34" charset="0"/>
              </a:rPr>
              <a:t>”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marL="0" lvl="2" indent="542925">
              <a:lnSpc>
                <a:spcPct val="90000"/>
              </a:lnSpc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cs typeface="Arial" panose="020B0604020202020204" pitchFamily="34" charset="0"/>
              </a:rPr>
              <a:t>   </a:t>
            </a:r>
            <a:r>
              <a:rPr lang="en-US" altLang="zh-CN" sz="1800" dirty="0" err="1">
                <a:cs typeface="Arial" panose="020B0604020202020204" pitchFamily="34" charset="0"/>
              </a:rPr>
              <a:t>toLowerCase</a:t>
            </a:r>
            <a:r>
              <a:rPr lang="en-US" altLang="zh-CN" sz="1800" dirty="0">
                <a:cs typeface="Arial" panose="020B0604020202020204" pitchFamily="34" charset="0"/>
              </a:rPr>
              <a:t>()</a:t>
            </a:r>
            <a:r>
              <a:rPr lang="zh-CN" altLang="en-US" sz="1800" dirty="0">
                <a:cs typeface="Arial" panose="020B0604020202020204" pitchFamily="34" charset="0"/>
              </a:rPr>
              <a:t>：把字符串转换为小写</a:t>
            </a:r>
          </a:p>
          <a:p>
            <a:pPr marL="0" lvl="2" indent="542925">
              <a:lnSpc>
                <a:spcPct val="90000"/>
              </a:lnSpc>
              <a:buSzTx/>
              <a:buNone/>
              <a:tabLst>
                <a:tab pos="0" algn="l"/>
                <a:tab pos="715645" algn="l"/>
              </a:tabLst>
            </a:pPr>
            <a:r>
              <a:rPr lang="en-US" altLang="zh-CN" sz="1800" dirty="0">
                <a:cs typeface="Arial" panose="020B0604020202020204" pitchFamily="34" charset="0"/>
              </a:rPr>
              <a:t>   </a:t>
            </a:r>
            <a:r>
              <a:rPr lang="en-US" altLang="zh-CN" sz="1800" dirty="0" err="1">
                <a:cs typeface="Arial" panose="020B0604020202020204" pitchFamily="34" charset="0"/>
              </a:rPr>
              <a:t>toUpperCase</a:t>
            </a:r>
            <a:r>
              <a:rPr lang="en-US" altLang="zh-CN" sz="1800" dirty="0">
                <a:cs typeface="Arial" panose="020B0604020202020204" pitchFamily="34" charset="0"/>
              </a:rPr>
              <a:t>()</a:t>
            </a:r>
            <a:r>
              <a:rPr lang="zh-CN" altLang="en-US" sz="1800" dirty="0">
                <a:cs typeface="Arial" panose="020B0604020202020204" pitchFamily="34" charset="0"/>
              </a:rPr>
              <a:t>：把字符串转换为大写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zh-CN" sz="1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String-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353695" y="885190"/>
            <a:ext cx="8287385" cy="5685790"/>
          </a:xfrm>
        </p:spPr>
        <p:txBody>
          <a:bodyPr>
            <a:normAutofit/>
          </a:bodyPr>
          <a:lstStyle/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endParaRPr lang="en-US" altLang="zh-CN" sz="1400" dirty="0">
              <a:ea typeface="宋体" panose="02010600030101010101" pitchFamily="2" charset="-122"/>
            </a:endParaRP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&lt;script type="text/</a:t>
            </a:r>
            <a:r>
              <a:rPr lang="en-US" altLang="zh-CN" sz="1400" dirty="0" err="1">
                <a:ea typeface="宋体" panose="02010600030101010101" pitchFamily="2" charset="-122"/>
              </a:rPr>
              <a:t>javascript</a:t>
            </a:r>
            <a:r>
              <a:rPr lang="en-US" altLang="zh-CN" sz="1400" dirty="0">
                <a:ea typeface="宋体" panose="02010600030101010101" pitchFamily="2" charset="-122"/>
              </a:rPr>
              <a:t>"&gt; 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  var</a:t>
            </a:r>
            <a:r>
              <a:rPr lang="en-US" altLang="zh-CN" sz="1400" dirty="0">
                <a:ea typeface="宋体" panose="02010600030101010101" pitchFamily="2" charset="-122"/>
              </a:rPr>
              <a:t> </a:t>
            </a:r>
            <a:r>
              <a:rPr lang="en-US" altLang="zh-CN" sz="1400" dirty="0" err="1">
                <a:ea typeface="宋体" panose="02010600030101010101" pitchFamily="2" charset="-122"/>
              </a:rPr>
              <a:t>MyString</a:t>
            </a:r>
            <a:r>
              <a:rPr lang="en-US" altLang="zh-CN" sz="1400" dirty="0">
                <a:ea typeface="宋体" panose="02010600030101010101" pitchFamily="2" charset="-122"/>
              </a:rPr>
              <a:t>=new String("How Are You?");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  document.write</a:t>
            </a:r>
            <a:r>
              <a:rPr lang="en-US" altLang="zh-CN" sz="1400" dirty="0">
                <a:ea typeface="宋体" panose="02010600030101010101" pitchFamily="2" charset="-122"/>
              </a:rPr>
              <a:t>("</a:t>
            </a:r>
            <a:r>
              <a:rPr lang="zh-CN" altLang="en-US" sz="1400" dirty="0">
                <a:ea typeface="宋体" panose="02010600030101010101" pitchFamily="2" charset="-122"/>
              </a:rPr>
              <a:t>原始字符串：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MyString</a:t>
            </a:r>
            <a:r>
              <a:rPr lang="en-US" altLang="zh-CN" sz="1400" dirty="0">
                <a:ea typeface="宋体" panose="02010600030101010101" pitchFamily="2" charset="-122"/>
              </a:rPr>
              <a:t>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&gt;&lt;</a:t>
            </a:r>
            <a:r>
              <a:rPr lang="en-US" altLang="zh-CN" sz="1400" dirty="0" err="1">
                <a:ea typeface="宋体" panose="02010600030101010101" pitchFamily="2" charset="-122"/>
              </a:rPr>
              <a:t>hr</a:t>
            </a:r>
            <a:r>
              <a:rPr lang="en-US" altLang="zh-CN" sz="1400" dirty="0">
                <a:ea typeface="宋体" panose="02010600030101010101" pitchFamily="2" charset="-122"/>
              </a:rPr>
              <a:t>&gt;");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  document.write</a:t>
            </a:r>
            <a:r>
              <a:rPr lang="en-US" altLang="zh-CN" sz="1400" dirty="0">
                <a:ea typeface="宋体" panose="02010600030101010101" pitchFamily="2" charset="-122"/>
              </a:rPr>
              <a:t>("big()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MyString.big</a:t>
            </a:r>
            <a:r>
              <a:rPr lang="en-US" altLang="zh-CN" sz="1400" dirty="0">
                <a:ea typeface="宋体" panose="02010600030101010101" pitchFamily="2" charset="-122"/>
              </a:rPr>
              <a:t>()+"&lt;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  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  document.write</a:t>
            </a:r>
            <a:r>
              <a:rPr lang="en-US" altLang="zh-CN" sz="1400" dirty="0">
                <a:ea typeface="宋体" panose="02010600030101010101" pitchFamily="2" charset="-122"/>
              </a:rPr>
              <a:t>("</a:t>
            </a:r>
            <a:r>
              <a:rPr lang="en-US" altLang="zh-CN" sz="1400" dirty="0" err="1">
                <a:ea typeface="宋体" panose="02010600030101010101" pitchFamily="2" charset="-122"/>
              </a:rPr>
              <a:t>smal</a:t>
            </a:r>
            <a:r>
              <a:rPr lang="en-US" altLang="zh-CN" sz="1400" dirty="0">
                <a:ea typeface="宋体" panose="02010600030101010101" pitchFamily="2" charset="-122"/>
              </a:rPr>
              <a:t> ()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800" dirty="0" err="1">
                <a:cs typeface="Arial" panose="020B0604020202020204" pitchFamily="34" charset="0"/>
              </a:rPr>
              <a:t>MyString</a:t>
            </a:r>
            <a:r>
              <a:rPr lang="en-US" altLang="zh-CN" sz="1400" dirty="0" err="1">
                <a:ea typeface="宋体" panose="02010600030101010101" pitchFamily="2" charset="-122"/>
              </a:rPr>
              <a:t>.small</a:t>
            </a:r>
            <a:r>
              <a:rPr lang="en-US" altLang="zh-CN" sz="1400" dirty="0">
                <a:ea typeface="宋体" panose="02010600030101010101" pitchFamily="2" charset="-122"/>
              </a:rPr>
              <a:t>()+"&lt;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  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  document.write</a:t>
            </a:r>
            <a:r>
              <a:rPr lang="en-US" altLang="zh-CN" sz="1400" dirty="0">
                <a:ea typeface="宋体" panose="02010600030101010101" pitchFamily="2" charset="-122"/>
              </a:rPr>
              <a:t>("bold()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MyString.bold</a:t>
            </a:r>
            <a:r>
              <a:rPr lang="en-US" altLang="zh-CN" sz="1400" dirty="0">
                <a:ea typeface="宋体" panose="02010600030101010101" pitchFamily="2" charset="-122"/>
              </a:rPr>
              <a:t>()+"&lt;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  document.write</a:t>
            </a:r>
            <a:r>
              <a:rPr lang="en-US" altLang="zh-CN" sz="1400" dirty="0">
                <a:ea typeface="宋体" panose="02010600030101010101" pitchFamily="2" charset="-122"/>
              </a:rPr>
              <a:t>("</a:t>
            </a:r>
            <a:r>
              <a:rPr lang="en-US" altLang="zh-CN" sz="1400" dirty="0" err="1">
                <a:ea typeface="宋体" panose="02010600030101010101" pitchFamily="2" charset="-122"/>
              </a:rPr>
              <a:t>fontcolor</a:t>
            </a:r>
            <a:r>
              <a:rPr lang="en-US" altLang="zh-CN" sz="1400" dirty="0">
                <a:ea typeface="宋体" panose="02010600030101010101" pitchFamily="2" charset="-122"/>
              </a:rPr>
              <a:t>('ff0000')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	"+</a:t>
            </a:r>
            <a:r>
              <a:rPr lang="en-US" altLang="zh-CN" sz="1400" dirty="0" err="1">
                <a:ea typeface="宋体" panose="02010600030101010101" pitchFamily="2" charset="-122"/>
              </a:rPr>
              <a:t>MyString.fontcolor</a:t>
            </a:r>
            <a:r>
              <a:rPr lang="en-US" altLang="zh-CN" sz="1400" dirty="0">
                <a:ea typeface="宋体" panose="02010600030101010101" pitchFamily="2" charset="-122"/>
              </a:rPr>
              <a:t>('ff0000')+"&lt;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</a:rPr>
              <a:t>("</a:t>
            </a:r>
            <a:r>
              <a:rPr lang="en-US" altLang="zh-CN" sz="1400" dirty="0" err="1">
                <a:ea typeface="宋体" panose="02010600030101010101" pitchFamily="2" charset="-122"/>
              </a:rPr>
              <a:t>fontsize</a:t>
            </a:r>
            <a:r>
              <a:rPr lang="en-US" altLang="zh-CN" sz="1400" dirty="0">
                <a:ea typeface="宋体" panose="02010600030101010101" pitchFamily="2" charset="-122"/>
              </a:rPr>
              <a:t>(5)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MyString.fontsize</a:t>
            </a:r>
            <a:r>
              <a:rPr lang="en-US" altLang="zh-CN" sz="1400" dirty="0">
                <a:ea typeface="宋体" panose="02010600030101010101" pitchFamily="2" charset="-122"/>
              </a:rPr>
              <a:t>(5)+"&lt;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</a:rPr>
              <a:t>("italics()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MyString.italics</a:t>
            </a:r>
            <a:r>
              <a:rPr lang="en-US" altLang="zh-CN" sz="1400" dirty="0">
                <a:ea typeface="宋体" panose="02010600030101010101" pitchFamily="2" charset="-122"/>
              </a:rPr>
              <a:t>()+"&lt;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highlight>
                  <a:srgbClr val="FFFF00"/>
                </a:highlight>
                <a:ea typeface="宋体" panose="02010600030101010101" pitchFamily="2" charset="-122"/>
              </a:rPr>
              <a:t>document.write</a:t>
            </a:r>
            <a:r>
              <a:rPr lang="en-US" altLang="zh-CN" sz="1400" dirty="0">
                <a:highlight>
                  <a:srgbClr val="FFFF00"/>
                </a:highlight>
                <a:ea typeface="宋体" panose="02010600030101010101" pitchFamily="2" charset="-122"/>
              </a:rPr>
              <a:t>("strike()</a:t>
            </a:r>
            <a:r>
              <a:rPr lang="zh-CN" altLang="en-US" sz="1400" dirty="0">
                <a:highlight>
                  <a:srgbClr val="FFFF00"/>
                </a:highlight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highlight>
                  <a:srgbClr val="FFFF00"/>
                </a:highlight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highlight>
                  <a:srgbClr val="FFFF00"/>
                </a:highlight>
                <a:ea typeface="宋体" panose="02010600030101010101" pitchFamily="2" charset="-122"/>
              </a:rPr>
              <a:t>MyString.strike</a:t>
            </a:r>
            <a:r>
              <a:rPr lang="en-US" altLang="zh-CN" sz="1400" dirty="0">
                <a:highlight>
                  <a:srgbClr val="FFFF00"/>
                </a:highlight>
                <a:ea typeface="宋体" panose="02010600030101010101" pitchFamily="2" charset="-122"/>
              </a:rPr>
              <a:t>()+"&lt;</a:t>
            </a:r>
            <a:r>
              <a:rPr lang="en-US" altLang="zh-CN" sz="1400" dirty="0" err="1">
                <a:highlight>
                  <a:srgbClr val="FFFF00"/>
                </a:highlight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highlight>
                  <a:srgbClr val="FFFF00"/>
                </a:highlight>
                <a:ea typeface="宋体" panose="02010600030101010101" pitchFamily="2" charset="-122"/>
              </a:rPr>
              <a:t>&gt;");  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</a:rPr>
              <a:t>("sub()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MyString.sub</a:t>
            </a:r>
            <a:r>
              <a:rPr lang="en-US" altLang="zh-CN" sz="1400" dirty="0">
                <a:ea typeface="宋体" panose="02010600030101010101" pitchFamily="2" charset="-122"/>
              </a:rPr>
              <a:t>()+"&lt;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  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400" dirty="0">
                <a:ea typeface="宋体" panose="02010600030101010101" pitchFamily="2" charset="-122"/>
              </a:rPr>
              <a:t>("sup()</a:t>
            </a:r>
            <a:r>
              <a:rPr lang="zh-CN" altLang="en-US" sz="1400" dirty="0">
                <a:ea typeface="宋体" panose="02010600030101010101" pitchFamily="2" charset="-122"/>
              </a:rPr>
              <a:t>方法：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MyString.sup</a:t>
            </a:r>
            <a:r>
              <a:rPr lang="en-US" altLang="zh-CN" sz="1400" dirty="0">
                <a:ea typeface="宋体" panose="02010600030101010101" pitchFamily="2" charset="-122"/>
              </a:rPr>
              <a:t>()+"&lt;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&gt;");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&lt;/script&gt;</a:t>
            </a:r>
          </a:p>
          <a:p>
            <a:pPr marL="0" lvl="1" indent="0">
              <a:lnSpc>
                <a:spcPts val="1400"/>
              </a:lnSpc>
              <a:spcBef>
                <a:spcPts val="0"/>
              </a:spcBef>
              <a:buNone/>
            </a:pPr>
            <a:endParaRPr lang="en-US" altLang="zh-CN" sz="1400" dirty="0">
              <a:ea typeface="宋体" panose="02010600030101010101" pitchFamily="2" charset="-122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 t="22329"/>
          <a:stretch>
            <a:fillRect/>
          </a:stretch>
        </p:blipFill>
        <p:spPr bwMode="auto">
          <a:xfrm>
            <a:off x="6332855" y="4008755"/>
            <a:ext cx="2608580" cy="2215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Date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443230" y="1184910"/>
            <a:ext cx="8534400" cy="394335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JavaScript</a:t>
            </a:r>
            <a:r>
              <a:rPr lang="zh-CN" altLang="zh-CN" sz="1800" dirty="0"/>
              <a:t>脚本内置对象</a:t>
            </a:r>
            <a:r>
              <a:rPr lang="en-US" altLang="zh-CN" sz="1800" dirty="0"/>
              <a:t>Date</a:t>
            </a:r>
            <a:r>
              <a:rPr lang="zh-CN" altLang="zh-CN" sz="1800" dirty="0"/>
              <a:t>用于处理日期和时间。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1.</a:t>
            </a:r>
            <a:r>
              <a:rPr lang="zh-CN" altLang="en-US" sz="1800" dirty="0"/>
              <a:t>创建日期对象 </a:t>
            </a:r>
          </a:p>
          <a:p>
            <a:pPr marL="525780" indent="-33972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today=new Date();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525780" indent="-33972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today=new Date(</a:t>
            </a:r>
            <a:r>
              <a:rPr lang="zh-CN" altLang="zh-CN" sz="1800" dirty="0">
                <a:solidFill>
                  <a:schemeClr val="tx1"/>
                </a:solidFill>
              </a:rPr>
              <a:t>毫秒数</a:t>
            </a:r>
            <a:r>
              <a:rPr lang="en-US" altLang="zh-CN" sz="1800" dirty="0">
                <a:solidFill>
                  <a:schemeClr val="tx1"/>
                </a:solidFill>
              </a:rPr>
              <a:t>);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525780" indent="-33972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today=new Date(</a:t>
            </a:r>
            <a:r>
              <a:rPr lang="zh-CN" altLang="zh-CN" sz="1800" dirty="0">
                <a:solidFill>
                  <a:schemeClr val="tx1"/>
                </a:solidFill>
              </a:rPr>
              <a:t>标准时间格式字符串</a:t>
            </a:r>
            <a:r>
              <a:rPr lang="en-US" altLang="zh-CN" sz="1800" dirty="0">
                <a:solidFill>
                  <a:schemeClr val="tx1"/>
                </a:solidFill>
              </a:rPr>
              <a:t>);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525780" indent="-33972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today=new Date(</a:t>
            </a:r>
            <a:r>
              <a:rPr lang="zh-CN" altLang="zh-CN" sz="1800" dirty="0">
                <a:solidFill>
                  <a:schemeClr val="tx1"/>
                </a:solidFill>
              </a:rPr>
              <a:t>年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zh-CN" sz="1800" dirty="0">
                <a:solidFill>
                  <a:schemeClr val="tx1"/>
                </a:solidFill>
              </a:rPr>
              <a:t>月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zh-CN" sz="1800" dirty="0">
                <a:solidFill>
                  <a:schemeClr val="tx1"/>
                </a:solidFill>
              </a:rPr>
              <a:t>日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zh-CN" sz="1800" dirty="0">
                <a:solidFill>
                  <a:schemeClr val="tx1"/>
                </a:solidFill>
              </a:rPr>
              <a:t>时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zh-CN" sz="1800" dirty="0">
                <a:solidFill>
                  <a:schemeClr val="tx1"/>
                </a:solidFill>
              </a:rPr>
              <a:t>分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zh-CN" sz="1800" dirty="0">
                <a:solidFill>
                  <a:schemeClr val="tx1"/>
                </a:solidFill>
              </a:rPr>
              <a:t>秒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zh-CN" sz="1800" dirty="0">
                <a:solidFill>
                  <a:schemeClr val="tx1"/>
                </a:solidFill>
              </a:rPr>
              <a:t>毫秒</a:t>
            </a:r>
            <a:r>
              <a:rPr lang="en-US" altLang="zh-CN" sz="1800" dirty="0">
                <a:solidFill>
                  <a:schemeClr val="tx1"/>
                </a:solidFill>
              </a:rPr>
              <a:t>); 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chemeClr val="tx1"/>
                </a:solidFill>
              </a:rPr>
              <a:t>应用举例</a:t>
            </a:r>
          </a:p>
          <a:p>
            <a:pPr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today=new Date();        //</a:t>
            </a:r>
            <a:r>
              <a:rPr lang="zh-CN" altLang="zh-CN" sz="1800" dirty="0">
                <a:solidFill>
                  <a:schemeClr val="tx1"/>
                </a:solidFill>
              </a:rPr>
              <a:t>自动使用当前的日期和时间</a:t>
            </a:r>
          </a:p>
          <a:p>
            <a:pPr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today=new Date(3000);   //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0000"/>
                </a:highlight>
              </a:rPr>
              <a:t>1970年1月1日，0</a:t>
            </a:r>
            <a:r>
              <a:rPr lang="zh-CN" altLang="zh-CN" sz="1800" dirty="0">
                <a:solidFill>
                  <a:schemeClr val="tx1"/>
                </a:solidFill>
                <a:highlight>
                  <a:srgbClr val="FF0000"/>
                </a:highlight>
              </a:rPr>
              <a:t>时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0000"/>
                </a:highlight>
              </a:rPr>
              <a:t>0</a:t>
            </a:r>
            <a:r>
              <a:rPr lang="zh-CN" altLang="zh-CN" sz="1800" dirty="0">
                <a:solidFill>
                  <a:schemeClr val="tx1"/>
                </a:solidFill>
                <a:highlight>
                  <a:srgbClr val="FF0000"/>
                </a:highlight>
              </a:rPr>
              <a:t>分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0000"/>
                </a:highlight>
              </a:rPr>
              <a:t>3</a:t>
            </a:r>
            <a:r>
              <a:rPr lang="zh-CN" altLang="zh-CN" sz="1800" dirty="0">
                <a:solidFill>
                  <a:schemeClr val="tx1"/>
                </a:solidFill>
                <a:highlight>
                  <a:srgbClr val="FF0000"/>
                </a:highlight>
              </a:rPr>
              <a:t>秒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today=new Date(“Nov 11,2019 11:00:00”);// 2019</a:t>
            </a:r>
            <a:r>
              <a:rPr lang="zh-CN" altLang="zh-CN" sz="1800" dirty="0">
                <a:solidFill>
                  <a:schemeClr val="tx1"/>
                </a:solidFill>
              </a:rPr>
              <a:t>年</a:t>
            </a:r>
            <a:r>
              <a:rPr lang="en-US" altLang="zh-CN" sz="1800" dirty="0">
                <a:solidFill>
                  <a:schemeClr val="tx1"/>
                </a:solidFill>
              </a:rPr>
              <a:t>11</a:t>
            </a:r>
            <a:r>
              <a:rPr lang="zh-CN" altLang="zh-CN" sz="1800" dirty="0">
                <a:solidFill>
                  <a:schemeClr val="tx1"/>
                </a:solidFill>
              </a:rPr>
              <a:t>月</a:t>
            </a:r>
            <a:r>
              <a:rPr lang="en-US" altLang="zh-CN" sz="1800" dirty="0">
                <a:solidFill>
                  <a:schemeClr val="tx1"/>
                </a:solidFill>
              </a:rPr>
              <a:t>11</a:t>
            </a:r>
            <a:r>
              <a:rPr lang="zh-CN" altLang="zh-CN" sz="1800" dirty="0">
                <a:solidFill>
                  <a:schemeClr val="tx1"/>
                </a:solidFill>
              </a:rPr>
              <a:t>日</a:t>
            </a:r>
            <a:r>
              <a:rPr lang="en-US" altLang="zh-CN" sz="1800" dirty="0">
                <a:solidFill>
                  <a:schemeClr val="tx1"/>
                </a:solidFill>
              </a:rPr>
              <a:t>11:00:0</a:t>
            </a:r>
          </a:p>
          <a:p>
            <a:pPr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var today=new Date(2019,11,10,11,00,00,50);// </a:t>
            </a:r>
            <a:r>
              <a:rPr lang="zh-CN" altLang="zh-CN" sz="1800" dirty="0">
                <a:solidFill>
                  <a:schemeClr val="tx1"/>
                </a:solidFill>
              </a:rPr>
              <a:t>201</a:t>
            </a:r>
            <a:r>
              <a:rPr lang="en-US" altLang="zh-CN" sz="1800" dirty="0">
                <a:solidFill>
                  <a:schemeClr val="tx1"/>
                </a:solidFill>
              </a:rPr>
              <a:t>9</a:t>
            </a:r>
            <a:r>
              <a:rPr lang="zh-CN" altLang="zh-CN" sz="1800" dirty="0">
                <a:solidFill>
                  <a:schemeClr val="tx1"/>
                </a:solidFill>
              </a:rPr>
              <a:t>年</a:t>
            </a:r>
            <a:r>
              <a:rPr lang="en-US" altLang="zh-CN" sz="1800" dirty="0">
                <a:solidFill>
                  <a:schemeClr val="tx1"/>
                </a:solidFill>
              </a:rPr>
              <a:t>11</a:t>
            </a:r>
            <a:r>
              <a:rPr lang="zh-CN" altLang="zh-CN" sz="1800" dirty="0">
                <a:solidFill>
                  <a:schemeClr val="tx1"/>
                </a:solidFill>
              </a:rPr>
              <a:t>月</a:t>
            </a:r>
            <a:r>
              <a:rPr lang="en-US" altLang="zh-CN" sz="1800" dirty="0">
                <a:solidFill>
                  <a:schemeClr val="tx1"/>
                </a:solidFill>
              </a:rPr>
              <a:t>10</a:t>
            </a:r>
            <a:r>
              <a:rPr lang="zh-CN" altLang="zh-CN" sz="1800" dirty="0">
                <a:solidFill>
                  <a:schemeClr val="tx1"/>
                </a:solidFill>
              </a:rPr>
              <a:t>日1</a:t>
            </a:r>
            <a:r>
              <a:rPr lang="en-US" altLang="zh-CN" sz="1800" dirty="0">
                <a:solidFill>
                  <a:schemeClr val="tx1"/>
                </a:solidFill>
              </a:rPr>
              <a:t>1:00:0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zh-CN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Date-</a:t>
            </a:r>
            <a:r>
              <a:rPr lang="zh-CN" altLang="en-US" dirty="0"/>
              <a:t>提取日期字段方法</a:t>
            </a:r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28650" y="1952621"/>
          <a:ext cx="7924800" cy="295275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方法名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说明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3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/>
                        <a:t>getDate</a:t>
                      </a:r>
                      <a:r>
                        <a:rPr lang="en-US" sz="1800" kern="0" dirty="0"/>
                        <a:t>()</a:t>
                      </a:r>
                      <a:endParaRPr lang="en-US" sz="1800" b="0" kern="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从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对象返回一个月中的某一天</a:t>
                      </a:r>
                      <a:r>
                        <a:rPr lang="en-US" sz="1800" kern="100" dirty="0"/>
                        <a:t>(1</a:t>
                      </a:r>
                      <a:r>
                        <a:rPr lang="zh-CN" sz="1800" kern="100" dirty="0"/>
                        <a:t>～</a:t>
                      </a:r>
                      <a:r>
                        <a:rPr lang="en-US" sz="1800" kern="100" dirty="0"/>
                        <a:t>31)</a:t>
                      </a:r>
                      <a:r>
                        <a:rPr lang="zh-CN" sz="1800" kern="100" dirty="0"/>
                        <a:t>。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3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highlight>
                            <a:srgbClr val="FF0000"/>
                          </a:highlight>
                        </a:rPr>
                        <a:t>getDay</a:t>
                      </a:r>
                      <a:r>
                        <a:rPr lang="en-US" sz="1800" kern="0" dirty="0">
                          <a:highlight>
                            <a:srgbClr val="FF0000"/>
                          </a:highlight>
                        </a:rPr>
                        <a:t>()</a:t>
                      </a:r>
                      <a:endParaRPr lang="en-US" sz="1800" b="0" kern="0" dirty="0">
                        <a:solidFill>
                          <a:srgbClr val="FF0000"/>
                        </a:solidFill>
                        <a:highlight>
                          <a:srgbClr val="FF00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从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对象返回一周中的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</a:rPr>
                        <a:t>某一天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</a:rPr>
                        <a:t>(0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</a:rPr>
                        <a:t>～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</a:rPr>
                        <a:t>6)</a:t>
                      </a:r>
                      <a:r>
                        <a:rPr lang="zh-CN" sz="1800" kern="100" dirty="0"/>
                        <a:t>。</a:t>
                      </a:r>
                      <a:endParaRPr lang="zh-CN" sz="1800" b="0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3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highlight>
                            <a:srgbClr val="FF0000"/>
                          </a:highlight>
                        </a:rPr>
                        <a:t>getMonth</a:t>
                      </a:r>
                      <a:r>
                        <a:rPr lang="en-US" sz="1800" kern="0" dirty="0">
                          <a:highlight>
                            <a:srgbClr val="FF0000"/>
                          </a:highlight>
                        </a:rPr>
                        <a:t>()</a:t>
                      </a:r>
                      <a:endParaRPr lang="en-US" sz="1800" b="0" kern="0" dirty="0">
                        <a:solidFill>
                          <a:srgbClr val="FF0000"/>
                        </a:solidFill>
                        <a:highlight>
                          <a:srgbClr val="FF00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从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对象返回月份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</a:rPr>
                        <a:t>(0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</a:rPr>
                        <a:t>～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</a:rPr>
                        <a:t>11)</a:t>
                      </a:r>
                      <a:r>
                        <a:rPr lang="zh-CN" sz="1800" kern="100" dirty="0"/>
                        <a:t>。</a:t>
                      </a:r>
                      <a:endParaRPr lang="zh-CN" sz="1800" b="0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3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/>
                        <a:t>getFullYear</a:t>
                      </a:r>
                      <a:r>
                        <a:rPr lang="en-US" sz="1800" kern="0" dirty="0"/>
                        <a:t>()</a:t>
                      </a:r>
                      <a:endParaRPr lang="en-US" sz="1800" b="0" kern="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从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对象以四位数字返回年份。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3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/>
                        <a:t>getHours</a:t>
                      </a:r>
                      <a:r>
                        <a:rPr lang="en-US" sz="1800" kern="0" dirty="0"/>
                        <a:t>()</a:t>
                      </a:r>
                      <a:endParaRPr lang="en-US" sz="1800" b="0" kern="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返回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对象的小时</a:t>
                      </a:r>
                      <a:r>
                        <a:rPr lang="en-US" sz="1800" kern="100" dirty="0"/>
                        <a:t>(0</a:t>
                      </a:r>
                      <a:r>
                        <a:rPr lang="zh-CN" sz="1800" kern="100" dirty="0"/>
                        <a:t>～</a:t>
                      </a:r>
                      <a:r>
                        <a:rPr lang="en-US" sz="1800" kern="100" dirty="0"/>
                        <a:t>23)</a:t>
                      </a:r>
                      <a:r>
                        <a:rPr lang="zh-CN" sz="1800" kern="100" dirty="0"/>
                        <a:t>。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3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/>
                        <a:t>getMinutes</a:t>
                      </a:r>
                      <a:r>
                        <a:rPr lang="en-US" sz="1800" kern="0" dirty="0"/>
                        <a:t>()</a:t>
                      </a:r>
                      <a:endParaRPr lang="en-US" sz="1800" b="0" kern="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返回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对象的分钟</a:t>
                      </a:r>
                      <a:r>
                        <a:rPr lang="en-US" sz="1800" kern="100" dirty="0"/>
                        <a:t>(0</a:t>
                      </a:r>
                      <a:r>
                        <a:rPr lang="zh-CN" sz="1800" kern="100" dirty="0"/>
                        <a:t>～</a:t>
                      </a:r>
                      <a:r>
                        <a:rPr lang="en-US" sz="1800" kern="100" dirty="0"/>
                        <a:t> 59)</a:t>
                      </a:r>
                      <a:r>
                        <a:rPr lang="zh-CN" sz="1800" kern="100" dirty="0"/>
                        <a:t>。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3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/>
                        <a:t>getSeconds</a:t>
                      </a:r>
                      <a:r>
                        <a:rPr lang="en-US" sz="1800" kern="0" dirty="0"/>
                        <a:t>()</a:t>
                      </a:r>
                      <a:endParaRPr lang="en-US" sz="1800" b="0" kern="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返回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对象的秒数</a:t>
                      </a:r>
                      <a:r>
                        <a:rPr lang="en-US" sz="1800" kern="100" dirty="0"/>
                        <a:t>(0</a:t>
                      </a:r>
                      <a:r>
                        <a:rPr lang="zh-CN" sz="1800" kern="100" dirty="0"/>
                        <a:t>～</a:t>
                      </a:r>
                      <a:r>
                        <a:rPr lang="en-US" sz="1800" kern="100" dirty="0"/>
                        <a:t> 59)</a:t>
                      </a:r>
                      <a:r>
                        <a:rPr lang="zh-CN" sz="1800" kern="100" dirty="0"/>
                        <a:t>。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20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/>
                        <a:t>getMilliseconds</a:t>
                      </a:r>
                      <a:r>
                        <a:rPr lang="en-US" sz="1800" kern="0" dirty="0"/>
                        <a:t>()</a:t>
                      </a:r>
                      <a:endParaRPr lang="en-US" sz="1800" b="0" kern="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返回</a:t>
                      </a:r>
                      <a:r>
                        <a:rPr lang="en-US" sz="1800" kern="100" dirty="0"/>
                        <a:t>Date</a:t>
                      </a:r>
                      <a:r>
                        <a:rPr lang="zh-CN" sz="1800" kern="100" dirty="0"/>
                        <a:t>对象的毫秒</a:t>
                      </a:r>
                      <a:r>
                        <a:rPr lang="en-US" sz="1800" kern="100" dirty="0"/>
                        <a:t>(0</a:t>
                      </a:r>
                      <a:r>
                        <a:rPr lang="zh-CN" sz="1800" kern="100" dirty="0"/>
                        <a:t>～</a:t>
                      </a:r>
                      <a:r>
                        <a:rPr lang="en-US" sz="1800" kern="100" dirty="0"/>
                        <a:t>999)</a:t>
                      </a:r>
                      <a:r>
                        <a:rPr lang="zh-CN" sz="1800" kern="100" dirty="0"/>
                        <a:t>。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/>
                        <a:t>getTime</a:t>
                      </a:r>
                      <a:r>
                        <a:rPr lang="en-US" sz="1800" kern="0" dirty="0"/>
                        <a:t>()</a:t>
                      </a:r>
                      <a:endParaRPr lang="en-US" sz="1800" b="0" kern="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/>
                        <a:t>返回至今的毫秒数。</a:t>
                      </a:r>
                      <a:endParaRPr lang="zh-CN" sz="1800" b="0" kern="100" dirty="0"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Date-</a:t>
            </a:r>
            <a:r>
              <a:rPr lang="zh-CN" altLang="en-US" dirty="0"/>
              <a:t>日期转换与调整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3400" y="1696720"/>
            <a:ext cx="8002905" cy="3713480"/>
          </a:xfrm>
          <a:prstGeom prst="rect">
            <a:avLst/>
          </a:prstGeom>
        </p:spPr>
        <p:txBody>
          <a:bodyPr/>
          <a:lstStyle/>
          <a:p>
            <a:pPr marL="533400" marR="0" lvl="0" indent="-5334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将日期转化为字符串较</a:t>
            </a:r>
          </a:p>
          <a:p>
            <a:pPr marL="914400" marR="0" lvl="1" indent="-4572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today.toString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(); //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Date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对象转换为字符串</a:t>
            </a:r>
          </a:p>
          <a:p>
            <a:pPr marL="914400" marR="0" lvl="1" indent="-4572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defRPr/>
            </a:pPr>
            <a:r>
              <a:rPr kumimoji="0" lang="en-US" altLang="en-US" sz="1800" b="0" i="0" u="sng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today.toLocaleString</a:t>
            </a:r>
            <a:r>
              <a:rPr kumimoji="0" lang="en-US" altLang="en-US" sz="1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();  </a:t>
            </a:r>
            <a:r>
              <a:rPr kumimoji="0" lang="en-US" altLang="zh-CN" sz="1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转换为本地时间串</a:t>
            </a:r>
          </a:p>
          <a:p>
            <a:pPr marL="914400" marR="0" lvl="1" indent="-4572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today.toDateString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();  //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日期部分转为字符串</a:t>
            </a:r>
          </a:p>
          <a:p>
            <a:pPr marL="914400" marR="0" lvl="1" indent="-4572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today.toTimeString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();//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时间部分转为字符串</a:t>
            </a:r>
          </a:p>
          <a:p>
            <a:pPr marL="533400" marR="0" lvl="0" indent="-5334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533400" marR="0" lvl="0" indent="-5334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调整日期对象的日期和时间</a:t>
            </a:r>
          </a:p>
          <a:p>
            <a:pPr marL="914400" marR="0" lvl="1" indent="-4572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today = new Date();</a:t>
            </a:r>
          </a:p>
          <a:p>
            <a:pPr marL="914400" marR="0" lvl="1" indent="-4572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today.setDate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today.getDate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()+5);  //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将日期调整到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天以后，如果碰到跨年月，自动调整</a:t>
            </a:r>
          </a:p>
          <a:p>
            <a:pPr marL="914400" marR="0" lvl="1" indent="-45720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today.setFullYear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(2019,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,11);  //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调整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today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对象到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2009-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-11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，月和日期参数可以省略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>
                <a:cs typeface="Arial" panose="020B0604020202020204" pitchFamily="34" charset="0"/>
              </a:rPr>
              <a:t>Date-</a:t>
            </a:r>
            <a:r>
              <a:rPr lang="zh-CN" altLang="en-US" dirty="0">
                <a:cs typeface="Arial" panose="020B0604020202020204" pitchFamily="34" charset="0"/>
              </a:rPr>
              <a:t>案例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485900"/>
            <a:ext cx="6864350" cy="3886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&lt;script type="text/</a:t>
            </a:r>
            <a:r>
              <a:rPr lang="en-US" altLang="zh-CN" sz="1800" dirty="0" err="1">
                <a:ea typeface="宋体" panose="02010600030101010101" pitchFamily="2" charset="-122"/>
              </a:rPr>
              <a:t>javascript</a:t>
            </a:r>
            <a:r>
              <a:rPr lang="en-US" altLang="zh-CN" sz="1800" dirty="0">
                <a:ea typeface="宋体" panose="02010600030101010101" pitchFamily="2" charset="-122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ea typeface="宋体" panose="02010600030101010101" pitchFamily="2" charset="-122"/>
              </a:rPr>
              <a:t> now = new Date();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ea typeface="宋体" panose="02010600030101010101" pitchFamily="2" charset="-122"/>
              </a:rPr>
              <a:t> y = </a:t>
            </a:r>
            <a:r>
              <a:rPr lang="en-US" altLang="zh-CN" sz="1800" dirty="0" err="1">
                <a:ea typeface="宋体" panose="02010600030101010101" pitchFamily="2" charset="-122"/>
              </a:rPr>
              <a:t>now.getFullYear</a:t>
            </a:r>
            <a:r>
              <a:rPr lang="en-US" altLang="zh-CN" sz="1800" dirty="0">
                <a:ea typeface="宋体" panose="02010600030101010101" pitchFamily="2" charset="-122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m =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now.getMonth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()+1;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ea typeface="宋体" panose="02010600030101010101" pitchFamily="2" charset="-122"/>
              </a:rPr>
              <a:t> d = </a:t>
            </a:r>
            <a:r>
              <a:rPr lang="en-US" altLang="zh-CN" sz="1800" dirty="0" err="1">
                <a:ea typeface="宋体" panose="02010600030101010101" pitchFamily="2" charset="-122"/>
              </a:rPr>
              <a:t>now.getDate</a:t>
            </a:r>
            <a:r>
              <a:rPr lang="en-US" altLang="zh-CN" sz="1800" dirty="0">
                <a:ea typeface="宋体" panose="02010600030101010101" pitchFamily="2" charset="-122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ea typeface="宋体" panose="02010600030101010101" pitchFamily="2" charset="-122"/>
              </a:rPr>
              <a:t> h = </a:t>
            </a:r>
            <a:r>
              <a:rPr lang="en-US" altLang="zh-CN" sz="1800" dirty="0" err="1">
                <a:ea typeface="宋体" panose="02010600030101010101" pitchFamily="2" charset="-122"/>
              </a:rPr>
              <a:t>now.getHours</a:t>
            </a:r>
            <a:r>
              <a:rPr lang="en-US" altLang="zh-CN" sz="1800" dirty="0">
                <a:ea typeface="宋体" panose="02010600030101010101" pitchFamily="2" charset="-122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ea typeface="宋体" panose="02010600030101010101" pitchFamily="2" charset="-122"/>
              </a:rPr>
              <a:t> mi = </a:t>
            </a:r>
            <a:r>
              <a:rPr lang="en-US" altLang="zh-CN" sz="1800" dirty="0" err="1">
                <a:ea typeface="宋体" panose="02010600030101010101" pitchFamily="2" charset="-122"/>
              </a:rPr>
              <a:t>now.getMinutes</a:t>
            </a:r>
            <a:r>
              <a:rPr lang="en-US" altLang="zh-CN" sz="1800" dirty="0">
                <a:ea typeface="宋体" panose="02010600030101010101" pitchFamily="2" charset="-122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ea typeface="宋体" panose="02010600030101010101" pitchFamily="2" charset="-122"/>
              </a:rPr>
              <a:t> s = </a:t>
            </a:r>
            <a:r>
              <a:rPr lang="en-US" altLang="zh-CN" sz="1800" dirty="0" err="1">
                <a:ea typeface="宋体" panose="02010600030101010101" pitchFamily="2" charset="-122"/>
              </a:rPr>
              <a:t>now.getSeconds</a:t>
            </a:r>
            <a:r>
              <a:rPr lang="en-US" altLang="zh-CN" sz="1800" dirty="0">
                <a:ea typeface="宋体" panose="02010600030101010101" pitchFamily="2" charset="-122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if(m&lt;10){m=“0”+m}  //</a:t>
            </a:r>
            <a:r>
              <a:rPr lang="zh-CN" altLang="en-US" sz="1800" dirty="0">
                <a:ea typeface="宋体" panose="02010600030101010101" pitchFamily="2" charset="-122"/>
              </a:rPr>
              <a:t>处理成两位表示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if(d&lt;10){d="0"+d}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if(h&lt;10){h="0"+h}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if(mi&lt;10){mi="0"+mi;}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if(s&lt;10){s="0"+s;}</a:t>
            </a:r>
          </a:p>
          <a:p>
            <a:pPr marL="0" indent="0" defTabSz="11588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None/>
            </a:pPr>
            <a:r>
              <a:rPr lang="en-US" altLang="zh-CN" sz="1800" dirty="0" err="1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  var</a:t>
            </a: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 </a:t>
            </a:r>
            <a:r>
              <a:rPr lang="en-US" altLang="zh-CN" sz="1800" dirty="0" err="1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str</a:t>
            </a: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 = y+"</a:t>
            </a:r>
            <a:r>
              <a:rPr lang="zh-CN" altLang="en-US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年</a:t>
            </a: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"+m+"</a:t>
            </a:r>
            <a:r>
              <a:rPr lang="zh-CN" altLang="en-US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月</a:t>
            </a: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"+d+"</a:t>
            </a:r>
            <a:r>
              <a:rPr lang="zh-CN" altLang="en-US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日 </a:t>
            </a: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"+h+":"+mi+":"+s;</a:t>
            </a:r>
            <a:endParaRPr lang="en-US" altLang="zh-CN" sz="1800" b="0" dirty="0">
              <a:latin typeface="微软雅黑" panose="020B0503020204020204" charset="-122"/>
              <a:ea typeface="宋体" panose="02010600030101010101" pitchFamily="2" charset="-122"/>
              <a:cs typeface="+mj-cs"/>
            </a:endParaRPr>
          </a:p>
          <a:p>
            <a:pPr marL="0" indent="0" defTabSz="11588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None/>
            </a:pPr>
            <a:r>
              <a:rPr lang="en-US" altLang="zh-CN" sz="1800" dirty="0" err="1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  document.write</a:t>
            </a: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(</a:t>
            </a:r>
            <a:r>
              <a:rPr lang="en-US" altLang="zh-CN" sz="1800" dirty="0" err="1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str</a:t>
            </a: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);</a:t>
            </a:r>
            <a:endParaRPr lang="en-US" altLang="zh-CN" sz="1800" b="0" dirty="0">
              <a:latin typeface="微软雅黑" panose="020B0503020204020204" charset="-122"/>
              <a:ea typeface="宋体" panose="02010600030101010101" pitchFamily="2" charset="-122"/>
              <a:cs typeface="+mj-cs"/>
            </a:endParaRPr>
          </a:p>
          <a:p>
            <a:pPr marL="0" indent="0" defTabSz="11588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None/>
            </a:pPr>
            <a:r>
              <a:rPr lang="en-US" altLang="zh-CN" sz="1800" dirty="0"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&lt;/script&gt;</a:t>
            </a:r>
            <a:endParaRPr lang="en-US" altLang="zh-CN" sz="1800" b="0" dirty="0">
              <a:latin typeface="微软雅黑" panose="020B0503020204020204" charset="-122"/>
              <a:ea typeface="宋体" panose="02010600030101010101" pitchFamily="2" charset="-122"/>
              <a:cs typeface="+mj-c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800" b="0" dirty="0">
              <a:latin typeface="微软雅黑" panose="020B0503020204020204" charset="-122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/>
          <a:srcRect t="41111"/>
          <a:stretch>
            <a:fillRect/>
          </a:stretch>
        </p:blipFill>
        <p:spPr bwMode="auto">
          <a:xfrm>
            <a:off x="5365115" y="2595880"/>
            <a:ext cx="3276600" cy="935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229870" y="996315"/>
            <a:ext cx="8509000" cy="4865370"/>
          </a:xfrm>
        </p:spPr>
        <p:txBody>
          <a:bodyPr>
            <a:noAutofit/>
          </a:bodyPr>
          <a:lstStyle/>
          <a:p>
            <a:pPr marL="0" indent="538480">
              <a:spcBef>
                <a:spcPct val="0"/>
              </a:spcBef>
              <a:buNone/>
            </a:pPr>
            <a:r>
              <a:rPr lang="en-US" altLang="zh-CN" sz="1800" dirty="0"/>
              <a:t>Math </a:t>
            </a:r>
            <a:r>
              <a:rPr lang="zh-CN" altLang="en-US" sz="1800" dirty="0"/>
              <a:t>对象提供多种算术常量和函数，执行普通的算术任务。可以直接通过“</a:t>
            </a:r>
            <a:r>
              <a:rPr lang="en-US" altLang="zh-CN" sz="1800" dirty="0"/>
              <a:t>Math”</a:t>
            </a:r>
            <a:r>
              <a:rPr lang="zh-CN" altLang="en-US" sz="1800" dirty="0"/>
              <a:t>名来使用它提供的属性和方法。</a:t>
            </a:r>
          </a:p>
          <a:p>
            <a:pPr marL="179705" lvl="1" indent="635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area=</a:t>
            </a:r>
            <a:r>
              <a:rPr lang="en-US" altLang="zh-CN" sz="1800" dirty="0" err="1">
                <a:solidFill>
                  <a:schemeClr val="tx1"/>
                </a:solidFill>
              </a:rPr>
              <a:t>Math.PI</a:t>
            </a:r>
            <a:r>
              <a:rPr lang="en-US" altLang="zh-CN" sz="1800" dirty="0">
                <a:solidFill>
                  <a:schemeClr val="tx1"/>
                </a:solidFill>
              </a:rPr>
              <a:t>*radius*radius ;//</a:t>
            </a:r>
            <a:r>
              <a:rPr lang="zh-CN" altLang="en-US" sz="1800" dirty="0">
                <a:solidFill>
                  <a:schemeClr val="tx1"/>
                </a:solidFill>
              </a:rPr>
              <a:t>计算圆的面积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358775" lvl="2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nl-NL" altLang="zh-CN" sz="1800" dirty="0">
                <a:solidFill>
                  <a:schemeClr val="tx1"/>
                </a:solidFill>
              </a:rPr>
              <a:t>var r= Math.random(); </a:t>
            </a:r>
            <a:r>
              <a:rPr lang="zh-CN" altLang="en-US" sz="1800" dirty="0">
                <a:solidFill>
                  <a:schemeClr val="tx1"/>
                </a:solidFill>
              </a:rPr>
              <a:t>  </a:t>
            </a:r>
            <a:r>
              <a:rPr lang="en-US" altLang="zh-CN" sz="1800" dirty="0">
                <a:solidFill>
                  <a:schemeClr val="tx1"/>
                </a:solidFill>
              </a:rPr>
              <a:t>//</a:t>
            </a:r>
            <a:r>
              <a:rPr lang="zh-CN" altLang="en-US" sz="1800" dirty="0">
                <a:solidFill>
                  <a:schemeClr val="tx1"/>
                </a:solidFill>
              </a:rPr>
              <a:t>生成介于 </a:t>
            </a:r>
            <a:r>
              <a:rPr lang="en-US" altLang="zh-CN" sz="1800" dirty="0">
                <a:solidFill>
                  <a:schemeClr val="tx1"/>
                </a:solidFill>
              </a:rPr>
              <a:t>0.0 - 1.0</a:t>
            </a:r>
            <a:r>
              <a:rPr lang="zh-CN" altLang="en-US" sz="1800" dirty="0">
                <a:solidFill>
                  <a:schemeClr val="tx1"/>
                </a:solidFill>
              </a:rPr>
              <a:t>之随机数</a:t>
            </a:r>
          </a:p>
          <a:p>
            <a:pPr marL="358775" lvl="2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s3=</a:t>
            </a:r>
            <a:r>
              <a:rPr lang="en-US" altLang="zh-CN" sz="1800" dirty="0" err="1">
                <a:solidFill>
                  <a:schemeClr val="tx1"/>
                </a:solidFill>
              </a:rPr>
              <a:t>sqrt</a:t>
            </a:r>
            <a:r>
              <a:rPr lang="en-US" altLang="zh-CN" sz="1800" dirty="0">
                <a:solidFill>
                  <a:schemeClr val="tx1"/>
                </a:solidFill>
              </a:rPr>
              <a:t>(10); //10</a:t>
            </a:r>
            <a:r>
              <a:rPr lang="zh-CN" altLang="en-US" sz="1800" dirty="0">
                <a:solidFill>
                  <a:schemeClr val="tx1"/>
                </a:solidFill>
              </a:rPr>
              <a:t>的平方根，值小于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，则返回 </a:t>
            </a:r>
            <a:r>
              <a:rPr lang="en-US" altLang="zh-CN" sz="1800" dirty="0" err="1">
                <a:solidFill>
                  <a:schemeClr val="tx1"/>
                </a:solidFill>
              </a:rPr>
              <a:t>NaN</a:t>
            </a:r>
            <a:r>
              <a:rPr lang="zh-CN" altLang="en-US" sz="1800" dirty="0">
                <a:solidFill>
                  <a:schemeClr val="tx1"/>
                </a:solidFill>
              </a:rPr>
              <a:t>。其他函数：</a:t>
            </a:r>
          </a:p>
          <a:p>
            <a:pPr marL="358775" lvl="2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Math.max(</a:t>
            </a:r>
            <a:r>
              <a:rPr lang="en-US" altLang="zh-CN" sz="1800" dirty="0" err="1">
                <a:solidFill>
                  <a:schemeClr val="tx1"/>
                </a:solidFill>
              </a:rPr>
              <a:t>x,y</a:t>
            </a:r>
            <a:r>
              <a:rPr lang="en-US" altLang="zh-CN" sz="1800" dirty="0">
                <a:solidFill>
                  <a:schemeClr val="tx1"/>
                </a:solidFill>
              </a:rPr>
              <a:t>):</a:t>
            </a:r>
            <a:r>
              <a:rPr lang="zh-CN" altLang="en-US" sz="1800" dirty="0">
                <a:solidFill>
                  <a:schemeClr val="tx1"/>
                </a:solidFill>
              </a:rPr>
              <a:t>返回 </a:t>
            </a:r>
            <a:r>
              <a:rPr lang="en-US" altLang="zh-CN" sz="1800" dirty="0">
                <a:solidFill>
                  <a:schemeClr val="tx1"/>
                </a:solidFill>
              </a:rPr>
              <a:t>x </a:t>
            </a:r>
            <a:r>
              <a:rPr lang="zh-CN" altLang="en-US" sz="1800" dirty="0">
                <a:solidFill>
                  <a:schemeClr val="tx1"/>
                </a:solidFill>
              </a:rPr>
              <a:t>和 </a:t>
            </a:r>
            <a:r>
              <a:rPr lang="en-US" altLang="zh-CN" sz="1800" dirty="0">
                <a:solidFill>
                  <a:schemeClr val="tx1"/>
                </a:solidFill>
              </a:rPr>
              <a:t>y </a:t>
            </a:r>
            <a:r>
              <a:rPr lang="zh-CN" altLang="en-US" sz="1800" dirty="0">
                <a:solidFill>
                  <a:schemeClr val="tx1"/>
                </a:solidFill>
              </a:rPr>
              <a:t>中的最高值。 </a:t>
            </a:r>
          </a:p>
          <a:p>
            <a:pPr marL="358775" lvl="2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max=Math.max(100,200,300);//max=300</a:t>
            </a:r>
          </a:p>
          <a:p>
            <a:pPr marL="358775" lvl="2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Math.min(</a:t>
            </a:r>
            <a:r>
              <a:rPr lang="en-US" altLang="zh-CN" sz="1800" dirty="0" err="1">
                <a:solidFill>
                  <a:schemeClr val="tx1"/>
                </a:solidFill>
              </a:rPr>
              <a:t>x,y</a:t>
            </a:r>
            <a:r>
              <a:rPr lang="en-US" altLang="zh-CN" sz="1800" dirty="0">
                <a:solidFill>
                  <a:schemeClr val="tx1"/>
                </a:solidFill>
              </a:rPr>
              <a:t>):</a:t>
            </a:r>
            <a:r>
              <a:rPr lang="zh-CN" altLang="en-US" sz="1800" dirty="0">
                <a:solidFill>
                  <a:schemeClr val="tx1"/>
                </a:solidFill>
              </a:rPr>
              <a:t>返回 </a:t>
            </a:r>
            <a:r>
              <a:rPr lang="en-US" altLang="zh-CN" sz="1800" dirty="0">
                <a:solidFill>
                  <a:schemeClr val="tx1"/>
                </a:solidFill>
              </a:rPr>
              <a:t>x </a:t>
            </a:r>
            <a:r>
              <a:rPr lang="zh-CN" altLang="en-US" sz="1800" dirty="0">
                <a:solidFill>
                  <a:schemeClr val="tx1"/>
                </a:solidFill>
              </a:rPr>
              <a:t>和 </a:t>
            </a:r>
            <a:r>
              <a:rPr lang="en-US" altLang="zh-CN" sz="1800" dirty="0">
                <a:solidFill>
                  <a:schemeClr val="tx1"/>
                </a:solidFill>
              </a:rPr>
              <a:t>y </a:t>
            </a:r>
            <a:r>
              <a:rPr lang="zh-CN" altLang="en-US" sz="1800" dirty="0">
                <a:solidFill>
                  <a:schemeClr val="tx1"/>
                </a:solidFill>
              </a:rPr>
              <a:t>中的最低值。 </a:t>
            </a:r>
          </a:p>
          <a:p>
            <a:pPr marL="358775" lvl="2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min=Math.min(1,45,67);//min=1</a:t>
            </a:r>
          </a:p>
          <a:p>
            <a:pPr marL="358775" lvl="2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Math.pow(</a:t>
            </a:r>
            <a:r>
              <a:rPr lang="en-US" sz="1800" dirty="0" err="1">
                <a:solidFill>
                  <a:schemeClr val="tx1"/>
                </a:solidFill>
              </a:rPr>
              <a:t>x,y</a:t>
            </a:r>
            <a:r>
              <a:rPr lang="en-US" sz="1800" dirty="0">
                <a:solidFill>
                  <a:schemeClr val="tx1"/>
                </a:solidFill>
              </a:rPr>
              <a:t>):</a:t>
            </a:r>
            <a:r>
              <a:rPr lang="zh-CN" altLang="en-US" sz="1800" dirty="0">
                <a:solidFill>
                  <a:schemeClr val="tx1"/>
                </a:solidFill>
              </a:rPr>
              <a:t>返回</a:t>
            </a:r>
            <a:r>
              <a:rPr lang="en-US" sz="1800" dirty="0">
                <a:solidFill>
                  <a:schemeClr val="tx1"/>
                </a:solidFill>
              </a:rPr>
              <a:t> x </a:t>
            </a:r>
            <a:r>
              <a:rPr lang="zh-CN" altLang="en-US" sz="1800" dirty="0">
                <a:solidFill>
                  <a:schemeClr val="tx1"/>
                </a:solidFill>
              </a:rPr>
              <a:t>的</a:t>
            </a:r>
            <a:r>
              <a:rPr lang="en-US" sz="1800" dirty="0">
                <a:solidFill>
                  <a:schemeClr val="tx1"/>
                </a:solidFill>
              </a:rPr>
              <a:t> y </a:t>
            </a:r>
            <a:r>
              <a:rPr lang="zh-CN" altLang="en-US" sz="1800" dirty="0">
                <a:solidFill>
                  <a:schemeClr val="tx1"/>
                </a:solidFill>
              </a:rPr>
              <a:t>次幂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sz="1800" dirty="0" err="1">
                <a:solidFill>
                  <a:schemeClr val="tx1"/>
                </a:solidFill>
              </a:rPr>
              <a:t>x</a:t>
            </a:r>
            <a:r>
              <a:rPr lang="en-US" sz="1800" baseline="30000" dirty="0" err="1">
                <a:solidFill>
                  <a:schemeClr val="tx1"/>
                </a:solidFill>
              </a:rPr>
              <a:t>y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。</a:t>
            </a:r>
          </a:p>
        </p:txBody>
      </p:sp>
      <p:graphicFrame>
        <p:nvGraphicFramePr>
          <p:cNvPr id="378998" name="Group 11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64562" y="3733939"/>
          <a:ext cx="3474062" cy="26455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7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03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属性名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6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自然对数的底数（约等于</a:t>
                      </a:r>
                      <a:r>
                        <a:rPr kumimoji="0" lang="en-US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2.718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LN2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的自然对数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6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LN10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的自然对数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4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LOG2E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以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为底的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的对数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6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LOG10E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以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为底的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的对数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6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PI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圆周率（约等于</a:t>
                      </a: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3.14159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6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SQRT1_2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kumimoji="0" lang="zh-CN" altLang="en-US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的平方根的倒数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SQRT2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kumimoji="0" lang="zh-CN" alt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的平方根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Math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378460" y="1299210"/>
            <a:ext cx="8509000" cy="5367655"/>
          </a:xfrm>
        </p:spPr>
        <p:txBody>
          <a:bodyPr>
            <a:normAutofit fontScale="32500" lnSpcReduction="20000"/>
          </a:bodyPr>
          <a:lstStyle/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ceil()</a:t>
            </a:r>
            <a:r>
              <a:rPr lang="zh-CN" altLang="en-US" sz="6400" dirty="0">
                <a:solidFill>
                  <a:schemeClr val="tx1"/>
                </a:solidFill>
              </a:rPr>
              <a:t>：对数进行上舍入。  </a:t>
            </a:r>
            <a:r>
              <a:rPr lang="en-US" altLang="zh-CN" sz="6400" dirty="0" err="1">
                <a:solidFill>
                  <a:schemeClr val="tx1"/>
                </a:solidFill>
              </a:rPr>
              <a:t>var</a:t>
            </a:r>
            <a:r>
              <a:rPr lang="en-US" altLang="zh-CN" sz="6400" dirty="0">
                <a:solidFill>
                  <a:schemeClr val="tx1"/>
                </a:solidFill>
              </a:rPr>
              <a:t> x=</a:t>
            </a:r>
            <a:r>
              <a:rPr lang="en-US" altLang="zh-CN" sz="6400" dirty="0" err="1">
                <a:solidFill>
                  <a:schemeClr val="tx1"/>
                </a:solidFill>
              </a:rPr>
              <a:t>Math.ceil</a:t>
            </a:r>
            <a:r>
              <a:rPr lang="en-US" altLang="zh-CN" sz="6400" dirty="0">
                <a:solidFill>
                  <a:schemeClr val="tx1"/>
                </a:solidFill>
              </a:rPr>
              <a:t>(10.5);//x=11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floor()</a:t>
            </a:r>
            <a:r>
              <a:rPr lang="zh-CN" altLang="en-US" sz="6400" dirty="0">
                <a:solidFill>
                  <a:schemeClr val="tx1"/>
                </a:solidFill>
              </a:rPr>
              <a:t>：对数进行下舍入。</a:t>
            </a:r>
            <a:r>
              <a:rPr lang="en-US" altLang="zh-CN" sz="6400" dirty="0" err="1">
                <a:solidFill>
                  <a:schemeClr val="tx1"/>
                </a:solidFill>
              </a:rPr>
              <a:t>var</a:t>
            </a:r>
            <a:r>
              <a:rPr lang="en-US" altLang="zh-CN" sz="6400" dirty="0">
                <a:solidFill>
                  <a:schemeClr val="tx1"/>
                </a:solidFill>
              </a:rPr>
              <a:t> x=</a:t>
            </a:r>
            <a:r>
              <a:rPr lang="en-US" altLang="zh-CN" sz="6400" dirty="0" err="1">
                <a:solidFill>
                  <a:schemeClr val="tx1"/>
                </a:solidFill>
              </a:rPr>
              <a:t>Math.floor</a:t>
            </a:r>
            <a:r>
              <a:rPr lang="en-US" altLang="zh-CN" sz="6400" dirty="0">
                <a:solidFill>
                  <a:schemeClr val="tx1"/>
                </a:solidFill>
              </a:rPr>
              <a:t>(10.5);//x=10</a:t>
            </a:r>
            <a:endParaRPr lang="zh-CN" altLang="en-US" sz="6400" dirty="0">
              <a:solidFill>
                <a:schemeClr val="tx1"/>
              </a:solidFill>
            </a:endParaRP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round()</a:t>
            </a:r>
            <a:r>
              <a:rPr lang="zh-CN" altLang="en-US" sz="6400" dirty="0">
                <a:solidFill>
                  <a:schemeClr val="tx1"/>
                </a:solidFill>
              </a:rPr>
              <a:t>：把数四舍五入为最接近的整数。 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6400" dirty="0">
                <a:solidFill>
                  <a:schemeClr val="tx1"/>
                </a:solidFill>
              </a:rPr>
              <a:t>      </a:t>
            </a:r>
            <a:r>
              <a:rPr lang="en-US" altLang="zh-CN" sz="6400" dirty="0">
                <a:solidFill>
                  <a:schemeClr val="tx1"/>
                </a:solidFill>
              </a:rPr>
              <a:t>var x=</a:t>
            </a:r>
            <a:r>
              <a:rPr lang="en-US" altLang="zh-CN" sz="6400" dirty="0" err="1">
                <a:solidFill>
                  <a:schemeClr val="tx1"/>
                </a:solidFill>
              </a:rPr>
              <a:t>Math.round</a:t>
            </a:r>
            <a:r>
              <a:rPr lang="en-US" altLang="zh-CN" sz="6400" dirty="0">
                <a:solidFill>
                  <a:schemeClr val="tx1"/>
                </a:solidFill>
              </a:rPr>
              <a:t>(10.5); //x=10,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      var y=</a:t>
            </a:r>
            <a:r>
              <a:rPr lang="en-US" altLang="zh-CN" sz="6400" dirty="0" err="1">
                <a:solidFill>
                  <a:schemeClr val="tx1"/>
                </a:solidFill>
              </a:rPr>
              <a:t>Math.round</a:t>
            </a:r>
            <a:r>
              <a:rPr lang="en-US" altLang="zh-CN" sz="6400" dirty="0">
                <a:solidFill>
                  <a:schemeClr val="tx1"/>
                </a:solidFill>
              </a:rPr>
              <a:t>(-10.5);//y=-10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exp() </a:t>
            </a:r>
            <a:r>
              <a:rPr lang="zh-CN" altLang="en-US" sz="6400" dirty="0">
                <a:solidFill>
                  <a:schemeClr val="tx1"/>
                </a:solidFill>
              </a:rPr>
              <a:t>：返回 </a:t>
            </a:r>
            <a:r>
              <a:rPr lang="en-US" altLang="zh-CN" sz="6400" dirty="0">
                <a:solidFill>
                  <a:schemeClr val="tx1"/>
                </a:solidFill>
              </a:rPr>
              <a:t>e </a:t>
            </a:r>
            <a:r>
              <a:rPr lang="zh-CN" altLang="en-US" sz="6400" dirty="0">
                <a:solidFill>
                  <a:schemeClr val="tx1"/>
                </a:solidFill>
              </a:rPr>
              <a:t>的指数。 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      var x=Math.exp(1);//x=2.718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log()</a:t>
            </a:r>
            <a:r>
              <a:rPr lang="zh-CN" altLang="en-US" sz="6400" dirty="0">
                <a:solidFill>
                  <a:schemeClr val="tx1"/>
                </a:solidFill>
              </a:rPr>
              <a:t>：返回数的自然对数（底为</a:t>
            </a:r>
            <a:r>
              <a:rPr lang="en-US" altLang="zh-CN" sz="6400" dirty="0">
                <a:solidFill>
                  <a:schemeClr val="tx1"/>
                </a:solidFill>
              </a:rPr>
              <a:t>e</a:t>
            </a:r>
            <a:r>
              <a:rPr lang="zh-CN" altLang="en-US" sz="6400" dirty="0">
                <a:solidFill>
                  <a:schemeClr val="tx1"/>
                </a:solidFill>
              </a:rPr>
              <a:t>）。 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 err="1">
                <a:solidFill>
                  <a:schemeClr val="tx1"/>
                </a:solidFill>
              </a:rPr>
              <a:t>pow</a:t>
            </a:r>
            <a:r>
              <a:rPr lang="en-US" altLang="zh-CN" sz="6400" dirty="0">
                <a:solidFill>
                  <a:schemeClr val="tx1"/>
                </a:solidFill>
              </a:rPr>
              <a:t>(</a:t>
            </a:r>
            <a:r>
              <a:rPr lang="en-US" altLang="zh-CN" sz="6400" dirty="0" err="1">
                <a:solidFill>
                  <a:schemeClr val="tx1"/>
                </a:solidFill>
              </a:rPr>
              <a:t>x,y</a:t>
            </a:r>
            <a:r>
              <a:rPr lang="en-US" altLang="zh-CN" sz="6400" dirty="0">
                <a:solidFill>
                  <a:schemeClr val="tx1"/>
                </a:solidFill>
              </a:rPr>
              <a:t>)</a:t>
            </a:r>
            <a:r>
              <a:rPr lang="zh-CN" altLang="en-US" sz="6400" dirty="0">
                <a:solidFill>
                  <a:schemeClr val="tx1"/>
                </a:solidFill>
              </a:rPr>
              <a:t> ：返回 </a:t>
            </a:r>
            <a:r>
              <a:rPr lang="en-US" altLang="zh-CN" sz="6400" dirty="0">
                <a:solidFill>
                  <a:schemeClr val="tx1"/>
                </a:solidFill>
              </a:rPr>
              <a:t>x </a:t>
            </a:r>
            <a:r>
              <a:rPr lang="zh-CN" altLang="en-US" sz="6400" dirty="0">
                <a:solidFill>
                  <a:schemeClr val="tx1"/>
                </a:solidFill>
              </a:rPr>
              <a:t>的 </a:t>
            </a:r>
            <a:r>
              <a:rPr lang="en-US" altLang="zh-CN" sz="6400" dirty="0">
                <a:solidFill>
                  <a:schemeClr val="tx1"/>
                </a:solidFill>
              </a:rPr>
              <a:t>y </a:t>
            </a:r>
            <a:r>
              <a:rPr lang="zh-CN" altLang="en-US" sz="6400" dirty="0">
                <a:solidFill>
                  <a:schemeClr val="tx1"/>
                </a:solidFill>
              </a:rPr>
              <a:t>次幂。</a:t>
            </a:r>
            <a:endParaRPr lang="zh-CN" altLang="en-US" sz="6400" baseline="30000" dirty="0">
              <a:solidFill>
                <a:schemeClr val="tx1"/>
              </a:solidFill>
            </a:endParaRP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6400" dirty="0">
                <a:solidFill>
                  <a:schemeClr val="tx1"/>
                </a:solidFill>
              </a:rPr>
              <a:t>产生某一区间数据方法：</a:t>
            </a:r>
            <a:r>
              <a:rPr lang="en-US" altLang="zh-CN" sz="6400" dirty="0">
                <a:solidFill>
                  <a:schemeClr val="tx1"/>
                </a:solidFill>
              </a:rPr>
              <a:t>[</a:t>
            </a:r>
            <a:r>
              <a:rPr lang="en-US" altLang="zh-CN" sz="6400" dirty="0" err="1">
                <a:solidFill>
                  <a:schemeClr val="tx1"/>
                </a:solidFill>
              </a:rPr>
              <a:t>m,n</a:t>
            </a:r>
            <a:r>
              <a:rPr lang="en-US" altLang="zh-CN" sz="6400" dirty="0">
                <a:solidFill>
                  <a:schemeClr val="tx1"/>
                </a:solidFill>
              </a:rPr>
              <a:t>]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      </a:t>
            </a:r>
            <a:r>
              <a:rPr lang="en-US" altLang="zh-CN" sz="6400" dirty="0" err="1">
                <a:solidFill>
                  <a:schemeClr val="tx1"/>
                </a:solidFill>
              </a:rPr>
              <a:t>var</a:t>
            </a:r>
            <a:r>
              <a:rPr lang="en-US" altLang="zh-CN" sz="6400" dirty="0">
                <a:solidFill>
                  <a:schemeClr val="tx1"/>
                </a:solidFill>
              </a:rPr>
              <a:t> num=</a:t>
            </a:r>
            <a:r>
              <a:rPr lang="en-US" altLang="zh-CN" sz="6400" dirty="0" err="1">
                <a:solidFill>
                  <a:schemeClr val="tx1"/>
                </a:solidFill>
              </a:rPr>
              <a:t>Math.floor</a:t>
            </a:r>
            <a:r>
              <a:rPr lang="en-US" altLang="zh-CN" sz="6400" dirty="0">
                <a:solidFill>
                  <a:schemeClr val="tx1"/>
                </a:solidFill>
              </a:rPr>
              <a:t>(</a:t>
            </a:r>
            <a:r>
              <a:rPr lang="en-US" altLang="zh-CN" sz="6400" dirty="0" err="1">
                <a:solidFill>
                  <a:schemeClr val="tx1"/>
                </a:solidFill>
              </a:rPr>
              <a:t>Math.random</a:t>
            </a:r>
            <a:r>
              <a:rPr lang="en-US" altLang="zh-CN" sz="6400" dirty="0">
                <a:solidFill>
                  <a:schemeClr val="tx1"/>
                </a:solidFill>
              </a:rPr>
              <a:t>()*(n-m+1)+m)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      </a:t>
            </a:r>
            <a:r>
              <a:rPr lang="en-US" altLang="zh-CN" sz="6400" dirty="0" err="1">
                <a:solidFill>
                  <a:schemeClr val="tx1"/>
                </a:solidFill>
              </a:rPr>
              <a:t>var</a:t>
            </a:r>
            <a:r>
              <a:rPr lang="en-US" altLang="zh-CN" sz="6400" dirty="0">
                <a:solidFill>
                  <a:schemeClr val="tx1"/>
                </a:solidFill>
              </a:rPr>
              <a:t> num=</a:t>
            </a:r>
            <a:r>
              <a:rPr lang="en-US" altLang="zh-CN" sz="6400" dirty="0" err="1">
                <a:solidFill>
                  <a:schemeClr val="tx1"/>
                </a:solidFill>
              </a:rPr>
              <a:t>Math.round</a:t>
            </a:r>
            <a:r>
              <a:rPr lang="en-US" altLang="zh-CN" sz="6400" dirty="0">
                <a:solidFill>
                  <a:schemeClr val="tx1"/>
                </a:solidFill>
              </a:rPr>
              <a:t>(</a:t>
            </a:r>
            <a:r>
              <a:rPr lang="en-US" altLang="zh-CN" sz="6400" dirty="0" err="1">
                <a:solidFill>
                  <a:schemeClr val="tx1"/>
                </a:solidFill>
              </a:rPr>
              <a:t>Math.random</a:t>
            </a:r>
            <a:r>
              <a:rPr lang="en-US" altLang="zh-CN" sz="6400" dirty="0">
                <a:solidFill>
                  <a:schemeClr val="tx1"/>
                </a:solidFill>
              </a:rPr>
              <a:t>()*(n-m)+m)</a:t>
            </a:r>
          </a:p>
          <a:p>
            <a:pPr marL="358775"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chemeClr val="tx1"/>
                </a:solidFill>
              </a:rPr>
              <a:t>      </a:t>
            </a:r>
            <a:r>
              <a:rPr lang="en-US" altLang="zh-CN" sz="6400" dirty="0" err="1">
                <a:solidFill>
                  <a:schemeClr val="tx1"/>
                </a:solidFill>
              </a:rPr>
              <a:t>var</a:t>
            </a:r>
            <a:r>
              <a:rPr lang="en-US" altLang="zh-CN" sz="6400" dirty="0">
                <a:solidFill>
                  <a:schemeClr val="tx1"/>
                </a:solidFill>
              </a:rPr>
              <a:t> num=</a:t>
            </a:r>
            <a:r>
              <a:rPr lang="en-US" altLang="zh-CN" sz="6400" dirty="0" err="1">
                <a:solidFill>
                  <a:schemeClr val="tx1"/>
                </a:solidFill>
              </a:rPr>
              <a:t>Math.ceil</a:t>
            </a:r>
            <a:r>
              <a:rPr lang="en-US" altLang="zh-CN" sz="6400" dirty="0">
                <a:solidFill>
                  <a:schemeClr val="tx1"/>
                </a:solidFill>
              </a:rPr>
              <a:t>(</a:t>
            </a:r>
            <a:r>
              <a:rPr lang="en-US" altLang="zh-CN" sz="6400" dirty="0" err="1">
                <a:solidFill>
                  <a:schemeClr val="tx1"/>
                </a:solidFill>
              </a:rPr>
              <a:t>Math.random</a:t>
            </a:r>
            <a:r>
              <a:rPr lang="en-US" altLang="zh-CN" sz="6400" dirty="0">
                <a:solidFill>
                  <a:schemeClr val="tx1"/>
                </a:solidFill>
              </a:rPr>
              <a:t>()*(n-m)+m)</a:t>
            </a:r>
            <a:endParaRPr lang="zh-CN" altLang="en-US" sz="6400" dirty="0">
              <a:solidFill>
                <a:schemeClr val="tx1"/>
              </a:solidFill>
            </a:endParaRPr>
          </a:p>
          <a:p>
            <a:pPr marL="358775" lvl="2">
              <a:spcBef>
                <a:spcPts val="0"/>
              </a:spcBef>
              <a:buNone/>
            </a:pPr>
            <a:endParaRPr lang="zh-CN" altLang="en-US" sz="1800" dirty="0">
              <a:solidFill>
                <a:srgbClr val="FF0000"/>
              </a:solidFill>
            </a:endParaRPr>
          </a:p>
          <a:p>
            <a:pPr>
              <a:buNone/>
            </a:pPr>
            <a:endParaRPr lang="zh-CN" altLang="zh-CN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Math-</a:t>
            </a:r>
            <a:r>
              <a:rPr lang="zh-CN" altLang="en-US" dirty="0"/>
              <a:t>案例</a:t>
            </a:r>
          </a:p>
        </p:txBody>
      </p:sp>
      <p:sp>
        <p:nvSpPr>
          <p:cNvPr id="3" name="矩形 2"/>
          <p:cNvSpPr/>
          <p:nvPr/>
        </p:nvSpPr>
        <p:spPr>
          <a:xfrm>
            <a:off x="304800" y="1185882"/>
            <a:ext cx="8534400" cy="4939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&lt;head&gt;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&lt;meta charset="UTF-8"&gt;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&lt;title&gt;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随机产生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[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m,n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]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区间内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10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个整数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&lt;/title&gt;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&lt;script  type="text/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javascript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"&gt;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function $(id){return 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document.getElementById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(id);}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function 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createInt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(){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    var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m=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parseFloat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($("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minN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").value);//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解析为实数</a:t>
            </a:r>
            <a:endParaRPr lang="zh-CN" altLang="en-US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    var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n=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parseFloat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($("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maxN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").value);//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解析为实数</a:t>
            </a:r>
            <a:endParaRPr lang="zh-CN" altLang="en-US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    var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array_int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=new Array();     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if(m&gt;=n){   //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合法性检验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   alert("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数组上、下限不能相同！主重新输入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");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   $("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minN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").focus();//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让文本框自动获取焦点</a:t>
            </a:r>
            <a:endParaRPr lang="zh-CN" altLang="en-US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} else   {               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for(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var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i=0;i&lt;10;i++) { //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产生 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m-n </a:t>
            </a:r>
            <a:r>
              <a:rPr lang="zh-CN" altLang="en-US" sz="1400" dirty="0">
                <a:latin typeface="Verdana" panose="020B0604030504040204" pitchFamily="34" charset="0"/>
                <a:sym typeface="+mn-ea"/>
              </a:rPr>
              <a:t>之间的随机数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   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array_int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[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i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]=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Math.round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((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Math.random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()*(n-m)+m)); }                      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  } 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$("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array_num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").value=</a:t>
            </a:r>
            <a:r>
              <a:rPr lang="en-US" altLang="zh-CN" sz="1400" dirty="0" err="1">
                <a:latin typeface="Verdana" panose="020B0604030504040204" pitchFamily="34" charset="0"/>
                <a:sym typeface="+mn-ea"/>
              </a:rPr>
              <a:t>array_int.join</a:t>
            </a:r>
            <a:r>
              <a:rPr lang="en-US" altLang="zh-CN" sz="1400" dirty="0">
                <a:latin typeface="Verdana" panose="020B0604030504040204" pitchFamily="34" charset="0"/>
                <a:sym typeface="+mn-ea"/>
              </a:rPr>
              <a:t>(",");</a:t>
            </a:r>
            <a:r>
              <a:rPr lang="en-US" altLang="zh-CN" sz="1400" b="0" dirty="0">
                <a:latin typeface="Verdana" panose="020B0604030504040204" pitchFamily="34" charset="0"/>
              </a:rPr>
              <a:t>}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</a:rPr>
              <a:t>&lt;/script&gt;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</a:rPr>
              <a:t>&lt;/head&gt;&lt;body&gt;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</a:rPr>
              <a:t>&lt;h3&gt;</a:t>
            </a:r>
            <a:r>
              <a:rPr lang="zh-CN" altLang="en-US" sz="1400" b="0" dirty="0">
                <a:latin typeface="Verdana" panose="020B0604030504040204" pitchFamily="34" charset="0"/>
              </a:rPr>
              <a:t>随机产生</a:t>
            </a:r>
            <a:r>
              <a:rPr lang="en-US" altLang="zh-CN" sz="1400" b="0" dirty="0">
                <a:latin typeface="Verdana" panose="020B0604030504040204" pitchFamily="34" charset="0"/>
              </a:rPr>
              <a:t>[</a:t>
            </a:r>
            <a:r>
              <a:rPr lang="en-US" altLang="zh-CN" sz="1400" b="0" dirty="0" err="1">
                <a:latin typeface="Verdana" panose="020B0604030504040204" pitchFamily="34" charset="0"/>
              </a:rPr>
              <a:t>m,n</a:t>
            </a:r>
            <a:r>
              <a:rPr lang="en-US" altLang="zh-CN" sz="1400" b="0" dirty="0">
                <a:latin typeface="Verdana" panose="020B0604030504040204" pitchFamily="34" charset="0"/>
              </a:rPr>
              <a:t>]</a:t>
            </a:r>
            <a:r>
              <a:rPr lang="zh-CN" altLang="en-US" sz="1400" b="0" dirty="0">
                <a:latin typeface="Verdana" panose="020B0604030504040204" pitchFamily="34" charset="0"/>
              </a:rPr>
              <a:t>区间内</a:t>
            </a:r>
            <a:r>
              <a:rPr lang="en-US" altLang="zh-CN" sz="1400" b="0" dirty="0">
                <a:latin typeface="Verdana" panose="020B0604030504040204" pitchFamily="34" charset="0"/>
              </a:rPr>
              <a:t>10</a:t>
            </a:r>
            <a:r>
              <a:rPr lang="zh-CN" altLang="en-US" sz="1400" b="0" dirty="0">
                <a:latin typeface="Verdana" panose="020B0604030504040204" pitchFamily="34" charset="0"/>
              </a:rPr>
              <a:t>个整数</a:t>
            </a:r>
            <a:r>
              <a:rPr lang="en-US" altLang="zh-CN" sz="1400" b="0" dirty="0">
                <a:latin typeface="Verdana" panose="020B0604030504040204" pitchFamily="34" charset="0"/>
              </a:rPr>
              <a:t>&lt;/h3&gt;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</a:rPr>
              <a:t>&lt;form name="Form1"&gt;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zh-CN" altLang="en-US" sz="1400" b="0" dirty="0">
                <a:latin typeface="Verdana" panose="020B0604030504040204" pitchFamily="34" charset="0"/>
              </a:rPr>
              <a:t>  下限</a:t>
            </a:r>
            <a:r>
              <a:rPr lang="en-US" altLang="zh-CN" sz="1400" b="0" dirty="0">
                <a:latin typeface="Verdana" panose="020B0604030504040204" pitchFamily="34" charset="0"/>
              </a:rPr>
              <a:t>: &lt;input type="text" name="</a:t>
            </a:r>
            <a:r>
              <a:rPr lang="en-US" altLang="zh-CN" sz="1400" b="0" dirty="0" err="1">
                <a:latin typeface="Verdana" panose="020B0604030504040204" pitchFamily="34" charset="0"/>
              </a:rPr>
              <a:t>minN</a:t>
            </a:r>
            <a:r>
              <a:rPr lang="en-US" altLang="zh-CN" sz="1400" b="0" dirty="0">
                <a:latin typeface="Verdana" panose="020B0604030504040204" pitchFamily="34" charset="0"/>
              </a:rPr>
              <a:t>" id="</a:t>
            </a:r>
            <a:r>
              <a:rPr lang="en-US" altLang="zh-CN" sz="1400" b="0" dirty="0" err="1">
                <a:latin typeface="Verdana" panose="020B0604030504040204" pitchFamily="34" charset="0"/>
              </a:rPr>
              <a:t>minN</a:t>
            </a:r>
            <a:r>
              <a:rPr lang="en-US" altLang="zh-CN" sz="1400" b="0" dirty="0">
                <a:latin typeface="Verdana" panose="020B0604030504040204" pitchFamily="34" charset="0"/>
              </a:rPr>
              <a:t>" size="20" value=10&gt;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zh-CN" altLang="en-US" sz="1400" b="0" dirty="0">
                <a:latin typeface="Verdana" panose="020B0604030504040204" pitchFamily="34" charset="0"/>
              </a:rPr>
              <a:t>  上限</a:t>
            </a:r>
            <a:r>
              <a:rPr lang="en-US" altLang="zh-CN" sz="1400" b="0" dirty="0">
                <a:latin typeface="Verdana" panose="020B0604030504040204" pitchFamily="34" charset="0"/>
              </a:rPr>
              <a:t>: &lt;input type="text" name="</a:t>
            </a:r>
            <a:r>
              <a:rPr lang="en-US" altLang="zh-CN" sz="1400" b="0" dirty="0" err="1">
                <a:latin typeface="Verdana" panose="020B0604030504040204" pitchFamily="34" charset="0"/>
              </a:rPr>
              <a:t>maxN</a:t>
            </a:r>
            <a:r>
              <a:rPr lang="en-US" altLang="zh-CN" sz="1400" b="0" dirty="0">
                <a:latin typeface="Verdana" panose="020B0604030504040204" pitchFamily="34" charset="0"/>
              </a:rPr>
              <a:t>" id="</a:t>
            </a:r>
            <a:r>
              <a:rPr lang="en-US" altLang="zh-CN" sz="1400" b="0" dirty="0" err="1">
                <a:latin typeface="Verdana" panose="020B0604030504040204" pitchFamily="34" charset="0"/>
              </a:rPr>
              <a:t>maxN</a:t>
            </a:r>
            <a:r>
              <a:rPr lang="en-US" altLang="zh-CN" sz="1400" b="0" dirty="0">
                <a:latin typeface="Verdana" panose="020B0604030504040204" pitchFamily="34" charset="0"/>
              </a:rPr>
              <a:t>" size="20" value=90&gt;&lt;</a:t>
            </a:r>
            <a:r>
              <a:rPr lang="en-US" altLang="zh-CN" sz="1400" b="0" dirty="0" err="1">
                <a:latin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</a:rPr>
              <a:t>&gt;&lt;</a:t>
            </a:r>
            <a:r>
              <a:rPr lang="en-US" altLang="zh-CN" sz="1400" b="0" dirty="0" err="1">
                <a:latin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</a:rPr>
              <a:t>&gt; 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zh-CN" altLang="en-US" sz="1400" b="0" dirty="0">
                <a:latin typeface="Verdana" panose="020B0604030504040204" pitchFamily="34" charset="0"/>
              </a:rPr>
              <a:t>  产生数组：</a:t>
            </a:r>
            <a:r>
              <a:rPr lang="en-US" altLang="zh-CN" sz="1400" b="0" dirty="0">
                <a:latin typeface="Verdana" panose="020B0604030504040204" pitchFamily="34" charset="0"/>
              </a:rPr>
              <a:t>&lt;input type="text" name="" id="</a:t>
            </a:r>
            <a:r>
              <a:rPr lang="en-US" altLang="zh-CN" sz="1400" b="0" dirty="0" err="1">
                <a:latin typeface="Verdana" panose="020B0604030504040204" pitchFamily="34" charset="0"/>
              </a:rPr>
              <a:t>array_num</a:t>
            </a:r>
            <a:r>
              <a:rPr lang="en-US" altLang="zh-CN" sz="1400" b="0" dirty="0">
                <a:latin typeface="Verdana" panose="020B0604030504040204" pitchFamily="34" charset="0"/>
              </a:rPr>
              <a:t>" size="40" </a:t>
            </a:r>
            <a:r>
              <a:rPr lang="en-US" altLang="zh-CN" sz="1400" b="0" dirty="0" err="1">
                <a:latin typeface="Verdana" panose="020B0604030504040204" pitchFamily="34" charset="0"/>
              </a:rPr>
              <a:t>readonly</a:t>
            </a:r>
            <a:r>
              <a:rPr lang="en-US" altLang="zh-CN" sz="1400" b="0" dirty="0">
                <a:latin typeface="Verdana" panose="020B0604030504040204" pitchFamily="34" charset="0"/>
              </a:rPr>
              <a:t>&gt;&lt;</a:t>
            </a:r>
            <a:r>
              <a:rPr lang="en-US" altLang="zh-CN" sz="1400" b="0" dirty="0" err="1">
                <a:latin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</a:rPr>
              <a:t>&gt;&lt;</a:t>
            </a:r>
            <a:r>
              <a:rPr lang="en-US" altLang="zh-CN" sz="1400" b="0" dirty="0" err="1">
                <a:latin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</a:rPr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</a:rPr>
              <a:t>  &lt;input type="button" value="</a:t>
            </a:r>
            <a:r>
              <a:rPr lang="zh-CN" altLang="en-US" sz="1400" b="0" dirty="0">
                <a:latin typeface="Verdana" panose="020B0604030504040204" pitchFamily="34" charset="0"/>
              </a:rPr>
              <a:t>产生</a:t>
            </a:r>
            <a:r>
              <a:rPr lang="en-US" altLang="zh-CN" sz="1400" b="0" dirty="0">
                <a:latin typeface="Verdana" panose="020B0604030504040204" pitchFamily="34" charset="0"/>
              </a:rPr>
              <a:t>10</a:t>
            </a:r>
            <a:r>
              <a:rPr lang="zh-CN" altLang="en-US" sz="1400" b="0" dirty="0">
                <a:latin typeface="Verdana" panose="020B0604030504040204" pitchFamily="34" charset="0"/>
              </a:rPr>
              <a:t>个随机整数</a:t>
            </a:r>
            <a:r>
              <a:rPr lang="en-US" altLang="zh-CN" sz="1400" b="0" dirty="0">
                <a:latin typeface="Verdana" panose="020B0604030504040204" pitchFamily="34" charset="0"/>
              </a:rPr>
              <a:t>" </a:t>
            </a:r>
            <a:r>
              <a:rPr lang="en-US" altLang="zh-CN" sz="1400" b="0" dirty="0" err="1">
                <a:latin typeface="Verdana" panose="020B0604030504040204" pitchFamily="34" charset="0"/>
              </a:rPr>
              <a:t>onclick</a:t>
            </a:r>
            <a:r>
              <a:rPr lang="en-US" altLang="zh-CN" sz="1400" b="0" dirty="0">
                <a:latin typeface="Verdana" panose="020B0604030504040204" pitchFamily="34" charset="0"/>
              </a:rPr>
              <a:t>="</a:t>
            </a:r>
            <a:r>
              <a:rPr lang="en-US" altLang="zh-CN" sz="1400" b="0" dirty="0" err="1">
                <a:latin typeface="Verdana" panose="020B0604030504040204" pitchFamily="34" charset="0"/>
              </a:rPr>
              <a:t>createInt</a:t>
            </a:r>
            <a:r>
              <a:rPr lang="en-US" altLang="zh-CN" sz="1400" b="0" dirty="0">
                <a:latin typeface="Verdana" panose="020B0604030504040204" pitchFamily="34" charset="0"/>
              </a:rPr>
              <a:t>();"&gt; 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</a:rPr>
              <a:t>  &lt;input type="reset"&gt;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</a:rPr>
              <a:t>&lt;/form&gt;&lt;/body&gt;&lt;/html&gt;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 cstate="print"/>
          <a:srcRect t="27107"/>
          <a:stretch>
            <a:fillRect/>
          </a:stretch>
        </p:blipFill>
        <p:spPr bwMode="auto">
          <a:xfrm>
            <a:off x="5860415" y="1842770"/>
            <a:ext cx="3093085" cy="1061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Number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386080" y="1340485"/>
            <a:ext cx="8534400" cy="475107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  </a:t>
            </a:r>
            <a:r>
              <a:rPr lang="zh-CN" altLang="zh-CN" sz="1800" b="0" dirty="0">
                <a:solidFill>
                  <a:schemeClr val="tx1"/>
                </a:solidFill>
              </a:rPr>
              <a:t>使用强制类型转换函数</a:t>
            </a:r>
            <a:r>
              <a:rPr lang="en-US" altLang="zh-CN" sz="1800" b="0" dirty="0">
                <a:solidFill>
                  <a:schemeClr val="tx1"/>
                </a:solidFill>
              </a:rPr>
              <a:t>Number(value)</a:t>
            </a:r>
            <a:r>
              <a:rPr lang="zh-CN" altLang="zh-CN" sz="1800" b="0" dirty="0">
                <a:solidFill>
                  <a:schemeClr val="tx1"/>
                </a:solidFill>
              </a:rPr>
              <a:t>可以把给定的值转换成数字（可以是整数或浮点数）。</a:t>
            </a:r>
            <a:r>
              <a:rPr lang="en-US" altLang="zh-CN" sz="1800" b="0" dirty="0">
                <a:solidFill>
                  <a:schemeClr val="tx1"/>
                </a:solidFill>
              </a:rPr>
              <a:t>    </a:t>
            </a: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=Number(false)     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=Number(true)      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=Number(null)      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>
                <a:solidFill>
                  <a:schemeClr val="tx1"/>
                </a:solidFill>
              </a:rPr>
              <a:t>0 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=Number(100)      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>
                <a:solidFill>
                  <a:schemeClr val="tx1"/>
                </a:solidFill>
              </a:rPr>
              <a:t>100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=Number("5.5 ")    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>
                <a:solidFill>
                  <a:schemeClr val="tx1"/>
                </a:solidFill>
              </a:rPr>
              <a:t>5.5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=Number("56 ")     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>
                <a:solidFill>
                  <a:schemeClr val="tx1"/>
                </a:solidFill>
              </a:rPr>
              <a:t>56 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=Number(undefined)   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 err="1">
                <a:solidFill>
                  <a:schemeClr val="tx1"/>
                </a:solidFill>
              </a:rPr>
              <a:t>NaN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endParaRPr lang="zh-CN" altLang="zh-CN" sz="1800" dirty="0">
              <a:solidFill>
                <a:schemeClr val="tx1"/>
              </a:solidFill>
            </a:endParaRP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=Number("5.6.7 ")     //</a:t>
            </a:r>
            <a:r>
              <a:rPr lang="zh-CN" altLang="zh-CN" sz="1800" dirty="0">
                <a:solidFill>
                  <a:schemeClr val="tx1"/>
                </a:solidFill>
              </a:rPr>
              <a:t>返回值</a:t>
            </a:r>
            <a:r>
              <a:rPr lang="en-US" altLang="zh-CN" sz="1800" dirty="0" err="1">
                <a:solidFill>
                  <a:schemeClr val="tx1"/>
                </a:solidFill>
              </a:rPr>
              <a:t>NaN</a:t>
            </a:r>
            <a:r>
              <a:rPr lang="zh-CN" altLang="zh-CN" sz="1800" dirty="0">
                <a:solidFill>
                  <a:schemeClr val="tx1"/>
                </a:solidFill>
              </a:rPr>
              <a:t>，与</a:t>
            </a:r>
            <a:r>
              <a:rPr lang="en-US" altLang="zh-CN" sz="1800" dirty="0" err="1">
                <a:solidFill>
                  <a:schemeClr val="tx1"/>
                </a:solidFill>
              </a:rPr>
              <a:t>parseFloat</a:t>
            </a:r>
            <a:r>
              <a:rPr lang="en-US" altLang="zh-CN" sz="1800" dirty="0">
                <a:solidFill>
                  <a:schemeClr val="tx1"/>
                </a:solidFill>
              </a:rPr>
              <a:t>(“5.6.7”)</a:t>
            </a:r>
            <a:r>
              <a:rPr lang="zh-CN" altLang="zh-CN" sz="1800" dirty="0">
                <a:solidFill>
                  <a:schemeClr val="tx1"/>
                </a:solidFill>
              </a:rPr>
              <a:t>不同</a:t>
            </a:r>
          </a:p>
          <a:p>
            <a:pPr marL="354330" indent="31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var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</a:rPr>
              <a:t>ss</a:t>
            </a:r>
            <a:r>
              <a:rPr lang="en-US" altLang="zh-CN" sz="1800" dirty="0">
                <a:solidFill>
                  <a:schemeClr val="tx1"/>
                </a:solidFill>
              </a:rPr>
              <a:t>=Number(new Object())      //</a:t>
            </a:r>
            <a:r>
              <a:rPr lang="zh-CN" altLang="zh-CN" sz="1800" dirty="0">
                <a:solidFill>
                  <a:schemeClr val="tx1"/>
                </a:solidFill>
              </a:rPr>
              <a:t>返回值为</a:t>
            </a:r>
            <a:r>
              <a:rPr lang="en-US" altLang="zh-CN" sz="1800" dirty="0" err="1">
                <a:solidFill>
                  <a:schemeClr val="tx1"/>
                </a:solidFill>
              </a:rPr>
              <a:t>NaN</a:t>
            </a:r>
            <a:endParaRPr lang="zh-CN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zh-CN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Boolean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/>
          <a:lstStyle/>
          <a:p>
            <a:pPr marL="644525" lvl="2" indent="0">
              <a:buNone/>
            </a:pPr>
            <a:r>
              <a:rPr lang="en-US" altLang="zh-CN" sz="1600" dirty="0"/>
              <a:t>Boolean</a:t>
            </a:r>
            <a:r>
              <a:rPr lang="zh-CN" altLang="en-US" sz="1600" dirty="0"/>
              <a:t>对象</a:t>
            </a:r>
          </a:p>
          <a:p>
            <a:pPr marL="644525" lvl="2" indent="0">
              <a:buNone/>
            </a:pPr>
            <a:r>
              <a:rPr lang="zh-CN" altLang="en-US" sz="1600" dirty="0"/>
              <a:t>    </a:t>
            </a:r>
            <a:r>
              <a:rPr lang="en-US" altLang="zh-CN" sz="1600" dirty="0" err="1"/>
              <a:t>var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bo</a:t>
            </a:r>
            <a:r>
              <a:rPr lang="en-US" altLang="zh-CN" sz="1600" dirty="0"/>
              <a:t>=new Boolean(value);</a:t>
            </a:r>
          </a:p>
          <a:p>
            <a:pPr marL="644525" lvl="2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var</a:t>
            </a:r>
            <a:r>
              <a:rPr lang="en-US" altLang="zh-CN" sz="1600" dirty="0"/>
              <a:t> bo1=Boolean(value);</a:t>
            </a:r>
          </a:p>
          <a:p>
            <a:pPr marL="644525" lvl="2" indent="0">
              <a:buFont typeface="Wingdings" panose="05000000000000000000" pitchFamily="2" charset="2"/>
              <a:buChar char="n"/>
            </a:pPr>
            <a:r>
              <a:rPr lang="zh-CN" altLang="en-US" sz="1600" dirty="0"/>
              <a:t>参数为下列情况时返回</a:t>
            </a:r>
            <a:r>
              <a:rPr lang="en-US" altLang="zh-CN" sz="1600" dirty="0"/>
              <a:t>true</a:t>
            </a:r>
          </a:p>
          <a:p>
            <a:pPr marL="644525" lvl="2" indent="0">
              <a:buNone/>
            </a:pPr>
            <a:r>
              <a:rPr lang="en-US" altLang="zh-CN" sz="1600" dirty="0"/>
              <a:t>   1</a:t>
            </a:r>
            <a:r>
              <a:rPr lang="zh-CN" altLang="en-US" sz="1600" dirty="0"/>
              <a:t>、</a:t>
            </a:r>
            <a:r>
              <a:rPr lang="en-US" altLang="zh-CN" sz="1600" dirty="0"/>
              <a:t>true</a:t>
            </a:r>
            <a:r>
              <a:rPr lang="zh-CN" altLang="en-US" sz="1600" dirty="0"/>
              <a:t>、</a:t>
            </a:r>
            <a:r>
              <a:rPr lang="en-US" altLang="zh-CN" sz="1600" dirty="0"/>
              <a:t>”true”</a:t>
            </a:r>
            <a:r>
              <a:rPr lang="zh-CN" altLang="en-US" sz="1600" dirty="0"/>
              <a:t>、</a:t>
            </a:r>
            <a:r>
              <a:rPr lang="en-US" altLang="zh-CN" sz="1600" dirty="0"/>
              <a:t>”false”</a:t>
            </a:r>
            <a:r>
              <a:rPr lang="zh-CN" altLang="en-US" sz="1600" dirty="0"/>
              <a:t>、</a:t>
            </a:r>
            <a:r>
              <a:rPr lang="en-US" altLang="zh-CN" sz="1600" dirty="0"/>
              <a:t>”</a:t>
            </a:r>
            <a:r>
              <a:rPr lang="en-US" altLang="zh-CN" sz="1600" dirty="0" err="1"/>
              <a:t>dfaf</a:t>
            </a:r>
            <a:r>
              <a:rPr lang="en-US" altLang="zh-CN" sz="1600" dirty="0"/>
              <a:t> a”</a:t>
            </a:r>
            <a:endParaRPr lang="zh-CN" altLang="en-US" sz="1600" dirty="0"/>
          </a:p>
          <a:p>
            <a:pPr marL="644525" lvl="2" indent="0">
              <a:buFont typeface="Wingdings" panose="05000000000000000000" pitchFamily="2" charset="2"/>
              <a:buChar char="n"/>
            </a:pPr>
            <a:r>
              <a:rPr lang="zh-CN" altLang="en-US" sz="1600" dirty="0"/>
              <a:t>参数为下列情况时返回</a:t>
            </a:r>
            <a:r>
              <a:rPr lang="en-US" altLang="zh-CN" sz="1600" dirty="0" err="1"/>
              <a:t>flase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      </a:t>
            </a:r>
            <a:r>
              <a:rPr lang="en-US" altLang="zh-CN" sz="1600" dirty="0"/>
              <a:t>0</a:t>
            </a:r>
            <a:r>
              <a:rPr lang="zh-CN" altLang="en-US" sz="1600" dirty="0"/>
              <a:t>、</a:t>
            </a:r>
            <a:r>
              <a:rPr lang="en-US" altLang="zh-CN" sz="1600" dirty="0"/>
              <a:t>null</a:t>
            </a:r>
            <a:r>
              <a:rPr lang="zh-CN" altLang="en-US" sz="1600" dirty="0"/>
              <a:t>、</a:t>
            </a:r>
            <a:r>
              <a:rPr lang="en-US" altLang="zh-CN" sz="1600" dirty="0"/>
              <a:t>false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NaN</a:t>
            </a:r>
            <a:r>
              <a:rPr lang="zh-CN" altLang="en-US" sz="1600" dirty="0"/>
              <a:t>、</a:t>
            </a:r>
            <a:r>
              <a:rPr lang="en-US" altLang="zh-CN" sz="1600" dirty="0"/>
              <a:t>“”</a:t>
            </a:r>
            <a:r>
              <a:rPr lang="zh-CN" altLang="en-US" sz="1600" dirty="0"/>
              <a:t>、空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/>
              <a:t>创建自定义对象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004342"/>
            <a:ext cx="8229600" cy="337185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600">
                <a:sym typeface="+mn-ea"/>
              </a:rPr>
              <a:t>可以使用</a:t>
            </a:r>
            <a:r>
              <a:rPr lang="en-US" altLang="zh-CN" sz="1600">
                <a:sym typeface="+mn-ea"/>
              </a:rPr>
              <a:t>JSON</a:t>
            </a:r>
            <a:r>
              <a:rPr sz="1600">
                <a:sym typeface="+mn-ea"/>
              </a:rPr>
              <a:t>方法、构造函数方法、原型方法和混合方法</a:t>
            </a:r>
            <a:r>
              <a:rPr lang="zh-CN" altLang="en-US" sz="1600" dirty="0"/>
              <a:t>创建自定义对象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600">
                <a:sym typeface="+mn-ea"/>
              </a:rPr>
              <a:t>JSON</a:t>
            </a:r>
            <a:r>
              <a:rPr sz="1600">
                <a:sym typeface="+mn-ea"/>
              </a:rPr>
              <a:t>方法（</a:t>
            </a:r>
            <a:r>
              <a:rPr lang="en-US" altLang="zh-CN" sz="1600">
                <a:sym typeface="+mn-ea"/>
              </a:rPr>
              <a:t>JavaScript Object Notation</a:t>
            </a:r>
            <a:r>
              <a:rPr sz="1600">
                <a:sym typeface="+mn-ea"/>
              </a:rPr>
              <a:t>，</a:t>
            </a:r>
            <a:r>
              <a:rPr lang="en-US" altLang="zh-CN" sz="1600">
                <a:sym typeface="+mn-ea"/>
              </a:rPr>
              <a:t>JavaScript</a:t>
            </a:r>
            <a:r>
              <a:rPr sz="1600">
                <a:sym typeface="+mn-ea"/>
              </a:rPr>
              <a:t>对象表示法）</a:t>
            </a:r>
            <a:endParaRPr lang="zh-CN" altLang="en-US" sz="16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600">
                <a:sym typeface="+mn-ea"/>
              </a:rPr>
              <a:t>JSON</a:t>
            </a:r>
            <a:r>
              <a:rPr sz="1600">
                <a:sym typeface="+mn-ea"/>
              </a:rPr>
              <a:t>是一种轻量级的数据交换格式，现已被广泛使用。</a:t>
            </a:r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600">
                <a:sym typeface="+mn-ea"/>
              </a:rPr>
              <a:t>利用</a:t>
            </a:r>
            <a:r>
              <a:rPr lang="en-US" altLang="zh-CN" sz="1600">
                <a:sym typeface="+mn-ea"/>
              </a:rPr>
              <a:t>JSON</a:t>
            </a:r>
            <a:r>
              <a:rPr sz="1600">
                <a:sym typeface="+mn-ea"/>
              </a:rPr>
              <a:t>格式创建对象的格式如下：</a:t>
            </a:r>
            <a:endParaRPr lang="zh-CN" altLang="en-US" sz="16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>
                <a:sym typeface="+mn-ea"/>
              </a:rPr>
              <a:t>var </a:t>
            </a:r>
            <a:r>
              <a:rPr lang="en-US" altLang="zh-CN" sz="1600" dirty="0" err="1">
                <a:sym typeface="+mn-ea"/>
              </a:rPr>
              <a:t>jsonobject</a:t>
            </a:r>
            <a:r>
              <a:rPr lang="en-US" altLang="zh-CN" sz="1600">
                <a:sym typeface="+mn-ea"/>
              </a:rPr>
              <a:t>={</a:t>
            </a:r>
            <a:endParaRPr lang="en-US" altLang="zh-CN" sz="16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>
                <a:sym typeface="+mn-ea"/>
              </a:rPr>
              <a:t>   </a:t>
            </a:r>
            <a:r>
              <a:rPr lang="en-US" altLang="zh-CN" sz="1600" dirty="0" err="1">
                <a:sym typeface="+mn-ea"/>
              </a:rPr>
              <a:t>propertyname:value</a:t>
            </a:r>
            <a:r>
              <a:rPr lang="en-US" altLang="zh-CN" sz="1600">
                <a:sym typeface="+mn-ea"/>
              </a:rPr>
              <a:t>, //</a:t>
            </a:r>
            <a:r>
              <a:rPr sz="1600">
                <a:sym typeface="+mn-ea"/>
              </a:rPr>
              <a:t>对象内的属性</a:t>
            </a:r>
            <a:endParaRPr lang="zh-CN" altLang="en-US" sz="16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600">
                <a:sym typeface="+mn-ea"/>
              </a:rPr>
              <a:t>   </a:t>
            </a:r>
            <a:r>
              <a:rPr lang="en-US" altLang="zh-CN" sz="1600" dirty="0" err="1">
                <a:sym typeface="+mn-ea"/>
              </a:rPr>
              <a:t>functionname:function</a:t>
            </a:r>
            <a:r>
              <a:rPr lang="en-US" altLang="zh-CN" sz="1600">
                <a:sym typeface="+mn-ea"/>
              </a:rPr>
              <a:t>(){statements;} //</a:t>
            </a:r>
            <a:r>
              <a:rPr sz="1600">
                <a:sym typeface="+mn-ea"/>
              </a:rPr>
              <a:t>对象内的方法</a:t>
            </a:r>
            <a:endParaRPr lang="zh-CN" altLang="en-US" sz="1600" dirty="0"/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>
                <a:sym typeface="+mn-ea"/>
              </a:rPr>
              <a:t>};</a:t>
            </a:r>
            <a:endParaRPr lang="zh-CN" altLang="en-US" sz="16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sz="1600">
              <a:sym typeface="+mn-ea"/>
            </a:endParaRPr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6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92</a:t>
            </a:fld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263525" y="3530600"/>
            <a:ext cx="8616950" cy="298259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user = {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username:"</a:t>
            </a:r>
            <a:r>
              <a:rPr lang="zh-CN" altLang="en-US" sz="1200" dirty="0">
                <a:ea typeface="宋体" panose="02010600030101010101" pitchFamily="2" charset="-122"/>
              </a:rPr>
              <a:t>王明明</a:t>
            </a:r>
            <a:r>
              <a:rPr lang="en-US" altLang="zh-CN" sz="1200" dirty="0">
                <a:ea typeface="宋体" panose="02010600030101010101" pitchFamily="2" charset="-122"/>
              </a:rPr>
              <a:t>",   age:20,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info:{tel:1234567,mobile:13666666666},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address:[  {city:"beijing",postcode:"100000"}, {city:"shanghai",postcode:"200000"}],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</a:t>
            </a:r>
            <a:r>
              <a:rPr lang="en-US" altLang="zh-CN" sz="1200" dirty="0" err="1">
                <a:ea typeface="宋体" panose="02010600030101010101" pitchFamily="2" charset="-122"/>
              </a:rPr>
              <a:t>show:function</a:t>
            </a:r>
            <a:r>
              <a:rPr lang="en-US" altLang="zh-CN" sz="1200" dirty="0">
                <a:ea typeface="宋体" panose="02010600030101010101" pitchFamily="2" charset="-122"/>
              </a:rPr>
              <a:t>(){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("username:"+</a:t>
            </a:r>
            <a:r>
              <a:rPr lang="en-US" altLang="zh-CN" sz="1200" dirty="0" err="1">
                <a:ea typeface="宋体" panose="02010600030101010101" pitchFamily="2" charset="-122"/>
              </a:rPr>
              <a:t>this.username</a:t>
            </a:r>
            <a:r>
              <a:rPr lang="en-US" altLang="zh-CN" sz="1200" dirty="0">
                <a:ea typeface="宋体" panose="02010600030101010101" pitchFamily="2" charset="-122"/>
              </a:rPr>
              <a:t>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/&gt;age:"+</a:t>
            </a:r>
            <a:r>
              <a:rPr lang="en-US" altLang="zh-CN" sz="1200" dirty="0" err="1">
                <a:ea typeface="宋体" panose="02010600030101010101" pitchFamily="2" charset="-122"/>
              </a:rPr>
              <a:t>this.age</a:t>
            </a:r>
            <a:r>
              <a:rPr lang="en-US" altLang="zh-CN" sz="1200" dirty="0">
                <a:ea typeface="宋体" panose="02010600030101010101" pitchFamily="2" charset="-122"/>
              </a:rPr>
              <a:t>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("info.tel:"+this.info.tel+"&lt;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</a:t>
            </a:r>
            <a:r>
              <a:rPr lang="en-US" altLang="zh-CN" sz="1200" dirty="0" err="1">
                <a:ea typeface="宋体" panose="02010600030101010101" pitchFamily="2" charset="-122"/>
              </a:rPr>
              <a:t>info.mobile</a:t>
            </a:r>
            <a:r>
              <a:rPr lang="en-US" altLang="zh-CN" sz="1200" dirty="0">
                <a:ea typeface="宋体" panose="02010600030101010101" pitchFamily="2" charset="-122"/>
              </a:rPr>
              <a:t>:"+</a:t>
            </a:r>
            <a:r>
              <a:rPr lang="en-US" altLang="zh-CN" sz="1200" dirty="0" err="1">
                <a:ea typeface="宋体" panose="02010600030101010101" pitchFamily="2" charset="-122"/>
              </a:rPr>
              <a:t>this.info.mobile</a:t>
            </a:r>
            <a:r>
              <a:rPr lang="en-US" altLang="zh-CN" sz="1200" dirty="0">
                <a:ea typeface="宋体" panose="02010600030101010101" pitchFamily="2" charset="-122"/>
              </a:rPr>
              <a:t>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("address:"+"&lt;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	  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("city:"+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[0].</a:t>
            </a:r>
            <a:r>
              <a:rPr lang="en-US" altLang="zh-CN" sz="1200" dirty="0" err="1">
                <a:ea typeface="宋体" panose="02010600030101010101" pitchFamily="2" charset="-122"/>
              </a:rPr>
              <a:t>city+",postcode</a:t>
            </a:r>
            <a:r>
              <a:rPr lang="en-US" altLang="zh-CN" sz="1200" dirty="0">
                <a:ea typeface="宋体" panose="02010600030101010101" pitchFamily="2" charset="-122"/>
              </a:rPr>
              <a:t>:"+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[0].postcode+"&lt;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 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("city:"+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[1].</a:t>
            </a:r>
            <a:r>
              <a:rPr lang="en-US" altLang="zh-CN" sz="1200" dirty="0" err="1">
                <a:ea typeface="宋体" panose="02010600030101010101" pitchFamily="2" charset="-122"/>
              </a:rPr>
              <a:t>city+",postcode</a:t>
            </a:r>
            <a:r>
              <a:rPr lang="en-US" altLang="zh-CN" sz="1200" dirty="0">
                <a:ea typeface="宋体" panose="02010600030101010101" pitchFamily="2" charset="-122"/>
              </a:rPr>
              <a:t>:"+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[1].postcode+"&lt;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 }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};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user.show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  <a:endParaRPr lang="zh-CN" altLang="en-US" sz="1200" dirty="0">
              <a:ea typeface="宋体" panose="02010600030101010101" pitchFamily="2" charset="-122"/>
            </a:endParaRPr>
          </a:p>
        </p:txBody>
      </p:sp>
      <p:pic>
        <p:nvPicPr>
          <p:cNvPr id="72707" name="Picture 6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55" r="30635" b="5524"/>
          <a:stretch>
            <a:fillRect/>
          </a:stretch>
        </p:blipFill>
        <p:spPr bwMode="auto">
          <a:xfrm>
            <a:off x="6998970" y="3112135"/>
            <a:ext cx="1881505" cy="1143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解析</a:t>
            </a:r>
            <a:r>
              <a:rPr lang="en-US" altLang="zh-CN">
                <a:sym typeface="+mn-ea"/>
              </a:rPr>
              <a:t>JSON</a:t>
            </a:r>
            <a:r>
              <a:rPr>
                <a:sym typeface="+mn-ea"/>
              </a:rPr>
              <a:t>字符串创建对象</a:t>
            </a:r>
            <a:endParaRPr lang="zh-CN" altLang="en-US"/>
          </a:p>
        </p:txBody>
      </p:sp>
      <p:sp>
        <p:nvSpPr>
          <p:cNvPr id="73730" name="Rectangle 3"/>
          <p:cNvSpPr>
            <a:spLocks noGrp="1" noChangeArrowheads="1"/>
          </p:cNvSpPr>
          <p:nvPr>
            <p:ph idx="1"/>
          </p:nvPr>
        </p:nvSpPr>
        <p:spPr>
          <a:xfrm>
            <a:off x="412115" y="1036092"/>
            <a:ext cx="8229600" cy="168148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600" dirty="0"/>
              <a:t>从</a:t>
            </a:r>
            <a:r>
              <a:rPr lang="en-US" altLang="zh-CN" sz="1600" dirty="0"/>
              <a:t>Web</a:t>
            </a:r>
            <a:r>
              <a:rPr lang="zh-CN" altLang="en-US" sz="1600" dirty="0"/>
              <a:t>服务器上读取</a:t>
            </a:r>
            <a:r>
              <a:rPr lang="en-US" altLang="zh-CN" sz="1600" dirty="0"/>
              <a:t>JSON</a:t>
            </a:r>
            <a:r>
              <a:rPr lang="zh-CN" altLang="en-US" sz="1600" dirty="0"/>
              <a:t>数据</a:t>
            </a:r>
            <a:r>
              <a:rPr lang="zh-CN" altLang="en-US" sz="1600" dirty="0">
                <a:highlight>
                  <a:srgbClr val="FFFF00"/>
                </a:highlight>
              </a:rPr>
              <a:t>，再将</a:t>
            </a:r>
            <a:r>
              <a:rPr lang="en-US" altLang="zh-CN" sz="1600" dirty="0">
                <a:highlight>
                  <a:srgbClr val="FFFF00"/>
                </a:highlight>
              </a:rPr>
              <a:t>JSON</a:t>
            </a:r>
            <a:r>
              <a:rPr lang="zh-CN" altLang="en-US" sz="1600" dirty="0">
                <a:highlight>
                  <a:srgbClr val="FFFF00"/>
                </a:highlight>
              </a:rPr>
              <a:t>数据转换成</a:t>
            </a:r>
            <a:r>
              <a:rPr lang="en-US" altLang="zh-CN" sz="1600" dirty="0">
                <a:highlight>
                  <a:srgbClr val="FFFF00"/>
                </a:highlight>
              </a:rPr>
              <a:t>JavaScript</a:t>
            </a:r>
            <a:r>
              <a:rPr lang="zh-CN" altLang="en-US" sz="1600" dirty="0">
                <a:highlight>
                  <a:srgbClr val="FFFF00"/>
                </a:highlight>
              </a:rPr>
              <a:t>对象</a:t>
            </a:r>
            <a:r>
              <a:rPr lang="zh-CN" altLang="en-US" sz="1600" dirty="0"/>
              <a:t>，然后在网页中使用该对象。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600" dirty="0"/>
              <a:t>可以使用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eval()</a:t>
            </a:r>
            <a:r>
              <a:rPr sz="1600" dirty="0">
                <a:highlight>
                  <a:srgbClr val="FFFF00"/>
                </a:highlight>
                <a:sym typeface="+mn-ea"/>
              </a:rPr>
              <a:t>函数直接将</a:t>
            </a:r>
            <a:r>
              <a:rPr lang="en-US" altLang="zh-CN" sz="1600" dirty="0">
                <a:highlight>
                  <a:srgbClr val="FFFF00"/>
                </a:highlight>
              </a:rPr>
              <a:t>Json</a:t>
            </a:r>
            <a:r>
              <a:rPr lang="zh-CN" altLang="en-US" sz="1600" dirty="0">
                <a:highlight>
                  <a:srgbClr val="FFFF00"/>
                </a:highlight>
              </a:rPr>
              <a:t>字符串强制转换成普通</a:t>
            </a:r>
            <a:r>
              <a:rPr lang="en-US" altLang="zh-CN" sz="1600" dirty="0">
                <a:highlight>
                  <a:srgbClr val="FFFF00"/>
                </a:highlight>
              </a:rPr>
              <a:t>JavaScript</a:t>
            </a:r>
            <a:r>
              <a:rPr lang="zh-CN" altLang="en-US" sz="1600" dirty="0">
                <a:highlight>
                  <a:srgbClr val="FFFF00"/>
                </a:highlight>
              </a:rPr>
              <a:t>对象</a:t>
            </a:r>
            <a:r>
              <a:rPr lang="zh-CN" altLang="en-US" sz="1600" dirty="0"/>
              <a:t>。</a:t>
            </a:r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600" dirty="0"/>
              <a:t>对</a:t>
            </a:r>
            <a:r>
              <a:rPr lang="zh-CN" altLang="en-US" sz="1600" dirty="0">
                <a:highlight>
                  <a:srgbClr val="FFFF00"/>
                </a:highlight>
              </a:rPr>
              <a:t>单个对象，需使用</a:t>
            </a:r>
            <a:r>
              <a:rPr lang="en-US" altLang="zh-CN" sz="1600" dirty="0">
                <a:highlight>
                  <a:srgbClr val="FFFF00"/>
                </a:highlight>
              </a:rPr>
              <a:t>“</a:t>
            </a:r>
            <a:r>
              <a:rPr lang="zh-CN" altLang="en-US" sz="1600" dirty="0">
                <a:highlight>
                  <a:srgbClr val="FFFF00"/>
                </a:highlight>
              </a:rPr>
              <a:t>（）</a:t>
            </a:r>
            <a:r>
              <a:rPr lang="en-US" altLang="zh-CN" sz="1600" dirty="0">
                <a:highlight>
                  <a:srgbClr val="FFFF00"/>
                </a:highlight>
              </a:rPr>
              <a:t>”</a:t>
            </a:r>
            <a:r>
              <a:rPr sz="1600" dirty="0">
                <a:highlight>
                  <a:srgbClr val="FFFF00"/>
                </a:highlight>
              </a:rPr>
              <a:t>包裹</a:t>
            </a:r>
            <a:r>
              <a:rPr sz="1600" dirty="0"/>
              <a:t>，如</a:t>
            </a:r>
            <a:r>
              <a:rPr lang="en-US" altLang="zh-CN" sz="1600" dirty="0"/>
              <a:t>var u=eval('('+user+')');</a:t>
            </a:r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600" dirty="0"/>
              <a:t>对</a:t>
            </a:r>
            <a:r>
              <a:rPr lang="zh-CN" altLang="en-US" sz="1600" dirty="0">
                <a:highlight>
                  <a:srgbClr val="FFFF00"/>
                </a:highlight>
              </a:rPr>
              <a:t>数组对象，因已被</a:t>
            </a:r>
            <a:r>
              <a:rPr lang="en-US" altLang="zh-CN" sz="1600" dirty="0">
                <a:highlight>
                  <a:srgbClr val="FFFF00"/>
                </a:highlight>
              </a:rPr>
              <a:t>“[]”</a:t>
            </a:r>
            <a:r>
              <a:rPr sz="1600" dirty="0">
                <a:highlight>
                  <a:srgbClr val="FFFF00"/>
                </a:highlight>
              </a:rPr>
              <a:t>包裹</a:t>
            </a:r>
            <a:r>
              <a:rPr sz="1600" dirty="0"/>
              <a:t>，</a:t>
            </a:r>
            <a:r>
              <a:rPr lang="zh-CN" altLang="en-US" sz="1600" dirty="0"/>
              <a:t>无需使用圆括号。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74754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255905" y="4022725"/>
            <a:ext cx="8735060" cy="165290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var user='{username:"</a:t>
            </a:r>
            <a:r>
              <a:rPr lang="zh-CN" altLang="en-US" sz="1350" dirty="0">
                <a:ea typeface="宋体" panose="02010600030101010101" pitchFamily="2" charset="-122"/>
              </a:rPr>
              <a:t>王明明</a:t>
            </a:r>
            <a:r>
              <a:rPr lang="en-US" altLang="zh-CN" sz="1350" dirty="0">
                <a:ea typeface="宋体" panose="02010600030101010101" pitchFamily="2" charset="-122"/>
              </a:rPr>
              <a:t>", age:20,'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+'</a:t>
            </a:r>
            <a:r>
              <a:rPr lang="en-US" altLang="zh-CN" sz="1350" dirty="0" err="1">
                <a:ea typeface="宋体" panose="02010600030101010101" pitchFamily="2" charset="-122"/>
              </a:rPr>
              <a:t>show:function</a:t>
            </a:r>
            <a:r>
              <a:rPr lang="en-US" altLang="zh-CN" sz="1350" dirty="0">
                <a:ea typeface="宋体" panose="02010600030101010101" pitchFamily="2" charset="-122"/>
              </a:rPr>
              <a:t>(){</a:t>
            </a:r>
            <a:r>
              <a:rPr lang="en-US" altLang="zh-CN" sz="135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350" dirty="0">
                <a:ea typeface="宋体" panose="02010600030101010101" pitchFamily="2" charset="-122"/>
              </a:rPr>
              <a:t>("username:"+</a:t>
            </a:r>
            <a:r>
              <a:rPr lang="en-US" altLang="zh-CN" sz="1350" dirty="0" err="1">
                <a:ea typeface="宋体" panose="02010600030101010101" pitchFamily="2" charset="-122"/>
              </a:rPr>
              <a:t>this.username</a:t>
            </a:r>
            <a:r>
              <a:rPr lang="en-US" altLang="zh-CN" sz="1350" dirty="0">
                <a:ea typeface="宋体" panose="02010600030101010101" pitchFamily="2" charset="-122"/>
              </a:rPr>
              <a:t>+"&lt;</a:t>
            </a:r>
            <a:r>
              <a:rPr lang="en-US" altLang="zh-CN" sz="1350" dirty="0" err="1">
                <a:ea typeface="宋体" panose="02010600030101010101" pitchFamily="2" charset="-122"/>
              </a:rPr>
              <a:t>br</a:t>
            </a:r>
            <a:r>
              <a:rPr lang="en-US" altLang="zh-CN" sz="1350" dirty="0">
                <a:ea typeface="宋体" panose="02010600030101010101" pitchFamily="2" charset="-122"/>
              </a:rPr>
              <a:t>/&gt;age:"+</a:t>
            </a:r>
            <a:r>
              <a:rPr lang="en-US" altLang="zh-CN" sz="1350" dirty="0" err="1">
                <a:ea typeface="宋体" panose="02010600030101010101" pitchFamily="2" charset="-122"/>
              </a:rPr>
              <a:t>this.age</a:t>
            </a:r>
            <a:r>
              <a:rPr lang="en-US" altLang="zh-CN" sz="1350" dirty="0">
                <a:ea typeface="宋体" panose="02010600030101010101" pitchFamily="2" charset="-122"/>
              </a:rPr>
              <a:t>);}}';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var u=eval('('+user+')');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 err="1">
                <a:ea typeface="宋体" panose="02010600030101010101" pitchFamily="2" charset="-122"/>
              </a:rPr>
              <a:t>u.show</a:t>
            </a:r>
            <a:r>
              <a:rPr lang="en-US" altLang="zh-CN" sz="135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350" dirty="0">
              <a:ea typeface="宋体" panose="02010600030101010101" pitchFamily="2" charset="-122"/>
            </a:endParaRPr>
          </a:p>
        </p:txBody>
      </p:sp>
      <p:pic>
        <p:nvPicPr>
          <p:cNvPr id="75779" name="Picture 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63" r="49115" b="13659"/>
          <a:stretch>
            <a:fillRect/>
          </a:stretch>
        </p:blipFill>
        <p:spPr bwMode="auto">
          <a:xfrm>
            <a:off x="6728460" y="2868930"/>
            <a:ext cx="226250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通过构造函数创建对象</a:t>
            </a:r>
            <a:endParaRPr lang="zh-CN" altLang="en-US"/>
          </a:p>
        </p:txBody>
      </p:sp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412115" y="1055142"/>
            <a:ext cx="8229600" cy="190182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600" dirty="0"/>
              <a:t>可以通过设计、调用构造函数来创建对象。构造函数语法格式如下：</a:t>
            </a:r>
          </a:p>
          <a:p>
            <a:pPr marL="457200" lvl="1" indent="0" defTabSz="914400">
              <a:lnSpc>
                <a:spcPct val="100000"/>
              </a:lnSpc>
              <a:spcAft>
                <a:spcPts val="0"/>
              </a:spcAft>
              <a:buNone/>
              <a:tabLst>
                <a:tab pos="1609725" algn="l"/>
                <a:tab pos="1609725" algn="l"/>
              </a:tabLst>
            </a:pPr>
            <a:r>
              <a:rPr lang="en-US" altLang="zh-CN" sz="1600" dirty="0"/>
              <a:t>function </a:t>
            </a:r>
            <a:r>
              <a:rPr lang="en-US" altLang="zh-CN" sz="1600" dirty="0" err="1"/>
              <a:t>funcName</a:t>
            </a:r>
            <a:r>
              <a:rPr lang="en-US" altLang="zh-CN" sz="1600" dirty="0"/>
              <a:t>([param1[,param2[,param3…]]]){</a:t>
            </a:r>
          </a:p>
          <a:p>
            <a:pPr marL="457200" lvl="1" indent="0" defTabSz="914400">
              <a:lnSpc>
                <a:spcPct val="100000"/>
              </a:lnSpc>
              <a:spcAft>
                <a:spcPts val="0"/>
              </a:spcAft>
              <a:buNone/>
              <a:tabLst>
                <a:tab pos="1609725" algn="l"/>
                <a:tab pos="1609725" algn="l"/>
              </a:tabLst>
            </a:pPr>
            <a:r>
              <a:rPr lang="en-US" altLang="zh-CN" sz="1600" dirty="0"/>
              <a:t>   this.property1=value1|param1;</a:t>
            </a:r>
          </a:p>
          <a:p>
            <a:pPr marL="457200" lvl="1" indent="0" defTabSz="914400">
              <a:lnSpc>
                <a:spcPct val="100000"/>
              </a:lnSpc>
              <a:spcAft>
                <a:spcPts val="0"/>
              </a:spcAft>
              <a:buNone/>
              <a:tabLst>
                <a:tab pos="1609725" algn="l"/>
                <a:tab pos="1609725" algn="l"/>
              </a:tabLst>
            </a:pPr>
            <a:r>
              <a:rPr lang="en-US" altLang="zh-CN" sz="1600" dirty="0"/>
              <a:t>   …</a:t>
            </a:r>
          </a:p>
          <a:p>
            <a:pPr marL="457200" lvl="1" indent="0" defTabSz="914400">
              <a:lnSpc>
                <a:spcPct val="100000"/>
              </a:lnSpc>
              <a:spcAft>
                <a:spcPts val="0"/>
              </a:spcAft>
              <a:buNone/>
              <a:tabLst>
                <a:tab pos="1609725" algn="l"/>
                <a:tab pos="1609725" algn="l"/>
              </a:tabLst>
            </a:pPr>
            <a:r>
              <a:rPr lang="en-US" altLang="zh-CN" sz="1600" dirty="0"/>
              <a:t>   </a:t>
            </a:r>
            <a:r>
              <a:rPr lang="en-US" altLang="zh-CN" sz="1600" dirty="0" err="1"/>
              <a:t>this.methodName</a:t>
            </a:r>
            <a:r>
              <a:rPr lang="en-US" altLang="zh-CN" sz="1600" dirty="0"/>
              <a:t>=function(){};</a:t>
            </a:r>
          </a:p>
          <a:p>
            <a:pPr marL="457200" lvl="1" indent="0" defTabSz="914400">
              <a:lnSpc>
                <a:spcPct val="100000"/>
              </a:lnSpc>
              <a:spcAft>
                <a:spcPts val="0"/>
              </a:spcAft>
              <a:buNone/>
              <a:tabLst>
                <a:tab pos="1609725" algn="l"/>
                <a:tab pos="1609725" algn="l"/>
              </a:tabLst>
            </a:pPr>
            <a:r>
              <a:rPr lang="en-US" altLang="zh-CN" sz="1600" dirty="0"/>
              <a:t>   …</a:t>
            </a:r>
          </a:p>
          <a:p>
            <a:pPr marL="457200" lvl="1" indent="0" defTabSz="914400">
              <a:lnSpc>
                <a:spcPct val="100000"/>
              </a:lnSpc>
              <a:spcAft>
                <a:spcPts val="0"/>
              </a:spcAft>
              <a:buNone/>
              <a:tabLst>
                <a:tab pos="1609725" algn="l"/>
                <a:tab pos="1609725" algn="l"/>
              </a:tabLst>
            </a:pPr>
            <a:r>
              <a:rPr lang="en-US" altLang="zh-CN" sz="1600" dirty="0"/>
              <a:t>};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94</a:t>
            </a:fld>
            <a:endParaRPr lang="zh-CN" altLang="en-US"/>
          </a:p>
        </p:txBody>
      </p:sp>
      <p:sp>
        <p:nvSpPr>
          <p:cNvPr id="77826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692785" y="3216275"/>
            <a:ext cx="7314565" cy="326136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 lnSpcReduction="10000"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function User(</a:t>
            </a:r>
            <a:r>
              <a:rPr lang="en-US" altLang="zh-CN" sz="1200" dirty="0" err="1">
                <a:ea typeface="宋体" panose="02010600030101010101" pitchFamily="2" charset="-122"/>
              </a:rPr>
              <a:t>name,age,address,mobile,email</a:t>
            </a:r>
            <a:r>
              <a:rPr lang="en-US" altLang="zh-CN" sz="1200" dirty="0">
                <a:ea typeface="宋体" panose="02010600030101010101" pitchFamily="2" charset="-122"/>
              </a:rPr>
              <a:t>){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        this.name=name;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ea typeface="宋体" panose="02010600030101010101" pitchFamily="2" charset="-122"/>
              </a:rPr>
              <a:t>this.age</a:t>
            </a:r>
            <a:r>
              <a:rPr lang="en-US" altLang="zh-CN" sz="1200" dirty="0">
                <a:ea typeface="宋体" panose="02010600030101010101" pitchFamily="2" charset="-122"/>
              </a:rPr>
              <a:t>=age;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=address;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ea typeface="宋体" panose="02010600030101010101" pitchFamily="2" charset="-122"/>
              </a:rPr>
              <a:t>this.mobile</a:t>
            </a:r>
            <a:r>
              <a:rPr lang="en-US" altLang="zh-CN" sz="1200" dirty="0">
                <a:ea typeface="宋体" panose="02010600030101010101" pitchFamily="2" charset="-122"/>
              </a:rPr>
              <a:t>=mobile;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ea typeface="宋体" panose="02010600030101010101" pitchFamily="2" charset="-122"/>
              </a:rPr>
              <a:t>this.email</a:t>
            </a:r>
            <a:r>
              <a:rPr lang="en-US" altLang="zh-CN" sz="1200" dirty="0">
                <a:ea typeface="宋体" panose="02010600030101010101" pitchFamily="2" charset="-122"/>
              </a:rPr>
              <a:t>=email;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ea typeface="宋体" panose="02010600030101010101" pitchFamily="2" charset="-122"/>
              </a:rPr>
              <a:t>this.show</a:t>
            </a:r>
            <a:r>
              <a:rPr lang="en-US" altLang="zh-CN" sz="1200" dirty="0">
                <a:ea typeface="宋体" panose="02010600030101010101" pitchFamily="2" charset="-122"/>
              </a:rPr>
              <a:t>=function(){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    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("name:"+this.name+"&lt;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    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("age:"+</a:t>
            </a:r>
            <a:r>
              <a:rPr lang="en-US" altLang="zh-CN" sz="1200" dirty="0" err="1">
                <a:ea typeface="宋体" panose="02010600030101010101" pitchFamily="2" charset="-122"/>
              </a:rPr>
              <a:t>this.age</a:t>
            </a:r>
            <a:r>
              <a:rPr lang="en-US" altLang="zh-CN" sz="1200" dirty="0">
                <a:ea typeface="宋体" panose="02010600030101010101" pitchFamily="2" charset="-122"/>
              </a:rPr>
              <a:t>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    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("address:"+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    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("mobile:"+</a:t>
            </a:r>
            <a:r>
              <a:rPr lang="en-US" altLang="zh-CN" sz="1200" dirty="0" err="1">
                <a:ea typeface="宋体" panose="02010600030101010101" pitchFamily="2" charset="-122"/>
              </a:rPr>
              <a:t>this.mobile</a:t>
            </a:r>
            <a:r>
              <a:rPr lang="en-US" altLang="zh-CN" sz="1200" dirty="0">
                <a:ea typeface="宋体" panose="02010600030101010101" pitchFamily="2" charset="-122"/>
              </a:rPr>
              <a:t>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    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("email:"+</a:t>
            </a:r>
            <a:r>
              <a:rPr lang="en-US" altLang="zh-CN" sz="1200" dirty="0" err="1">
                <a:ea typeface="宋体" panose="02010600030101010101" pitchFamily="2" charset="-122"/>
              </a:rPr>
              <a:t>this.email</a:t>
            </a:r>
            <a:r>
              <a:rPr lang="en-US" altLang="zh-CN" sz="1200" dirty="0">
                <a:ea typeface="宋体" panose="02010600030101010101" pitchFamily="2" charset="-122"/>
              </a:rPr>
              <a:t>+"&lt;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    }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};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var u1=new User("</a:t>
            </a:r>
            <a:r>
              <a:rPr lang="zh-CN" altLang="en-US" sz="1200" dirty="0">
                <a:ea typeface="宋体" panose="02010600030101010101" pitchFamily="2" charset="-122"/>
              </a:rPr>
              <a:t>王明明</a:t>
            </a:r>
            <a:r>
              <a:rPr lang="en-US" altLang="zh-CN" sz="1200" dirty="0">
                <a:ea typeface="宋体" panose="02010600030101010101" pitchFamily="2" charset="-122"/>
              </a:rPr>
              <a:t>",20,"</a:t>
            </a:r>
            <a:r>
              <a:rPr lang="zh-CN" altLang="en-US" sz="1200" dirty="0">
                <a:ea typeface="宋体" panose="02010600030101010101" pitchFamily="2" charset="-122"/>
              </a:rPr>
              <a:t>山东</a:t>
            </a:r>
            <a:r>
              <a:rPr lang="en-US" altLang="zh-CN" sz="1200" dirty="0">
                <a:ea typeface="宋体" panose="02010600030101010101" pitchFamily="2" charset="-122"/>
              </a:rPr>
              <a:t>","13666666666","wangmingming@163.com");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var u2=new User("</a:t>
            </a:r>
            <a:r>
              <a:rPr lang="zh-CN" altLang="en-US" sz="1200" dirty="0">
                <a:ea typeface="宋体" panose="02010600030101010101" pitchFamily="2" charset="-122"/>
              </a:rPr>
              <a:t>李娜</a:t>
            </a:r>
            <a:r>
              <a:rPr lang="en-US" altLang="zh-CN" sz="1200" dirty="0">
                <a:ea typeface="宋体" panose="02010600030101010101" pitchFamily="2" charset="-122"/>
              </a:rPr>
              <a:t>",19,"</a:t>
            </a:r>
            <a:r>
              <a:rPr lang="zh-CN" altLang="en-US" sz="1200" dirty="0">
                <a:ea typeface="宋体" panose="02010600030101010101" pitchFamily="2" charset="-122"/>
              </a:rPr>
              <a:t>江苏</a:t>
            </a:r>
            <a:r>
              <a:rPr lang="en-US" altLang="zh-CN" sz="1200" dirty="0">
                <a:ea typeface="宋体" panose="02010600030101010101" pitchFamily="2" charset="-122"/>
              </a:rPr>
              <a:t>","13888888888","lina@163.com");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u1.show();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    u2.show();</a:t>
            </a:r>
          </a:p>
          <a:p>
            <a:pPr marL="457200" indent="-457200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200" dirty="0">
              <a:ea typeface="宋体" panose="02010600030101010101" pitchFamily="2" charset="-122"/>
            </a:endParaRPr>
          </a:p>
        </p:txBody>
      </p:sp>
      <p:pic>
        <p:nvPicPr>
          <p:cNvPr id="78851" name="Picture 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67" r="21316" b="4521"/>
          <a:stretch>
            <a:fillRect/>
          </a:stretch>
        </p:blipFill>
        <p:spPr bwMode="auto">
          <a:xfrm>
            <a:off x="5911850" y="1971675"/>
            <a:ext cx="2885440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通过原型方法创建对象</a:t>
            </a:r>
            <a:endParaRPr lang="zh-CN" altLang="en-US"/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118642"/>
            <a:ext cx="8229600" cy="97599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600" dirty="0"/>
              <a:t>通过原型（</a:t>
            </a:r>
            <a:r>
              <a:rPr lang="en-US" altLang="zh-CN" sz="1600" dirty="0"/>
              <a:t>prototype</a:t>
            </a:r>
            <a:r>
              <a:rPr sz="1600" dirty="0"/>
              <a:t>）</a:t>
            </a:r>
            <a:r>
              <a:rPr lang="zh-CN" altLang="en-US" sz="1600" dirty="0">
                <a:highlight>
                  <a:srgbClr val="FFFF00"/>
                </a:highlight>
              </a:rPr>
              <a:t>向对象添加属性和方法</a:t>
            </a:r>
            <a:r>
              <a:rPr lang="zh-CN" altLang="en-US" sz="1600" dirty="0"/>
              <a:t>。通过这种方法添加的属性（及属性值）和方法是</a:t>
            </a:r>
            <a:r>
              <a:rPr lang="zh-CN" altLang="en-US" sz="1600" dirty="0">
                <a:highlight>
                  <a:srgbClr val="FFFF00"/>
                </a:highlight>
              </a:rPr>
              <a:t>作用在对象的</a:t>
            </a:r>
            <a:r>
              <a:rPr lang="en-US" altLang="zh-CN" sz="1600" dirty="0">
                <a:highlight>
                  <a:srgbClr val="FFFF00"/>
                </a:highlight>
              </a:rPr>
              <a:t>“</a:t>
            </a:r>
            <a:r>
              <a:rPr sz="1600" dirty="0">
                <a:highlight>
                  <a:srgbClr val="FFFF00"/>
                </a:highlight>
              </a:rPr>
              <a:t>原型</a:t>
            </a:r>
            <a:r>
              <a:rPr lang="en-US" altLang="zh-CN" sz="1600" dirty="0">
                <a:highlight>
                  <a:srgbClr val="FFFF00"/>
                </a:highlight>
              </a:rPr>
              <a:t>”</a:t>
            </a:r>
            <a:r>
              <a:rPr sz="1600" dirty="0">
                <a:highlight>
                  <a:srgbClr val="FFFF00"/>
                </a:highlight>
              </a:rPr>
              <a:t>（类）上的，</a:t>
            </a:r>
            <a:r>
              <a:rPr lang="zh-CN" altLang="en-US" sz="1600" dirty="0"/>
              <a:t>每个对象实例的属性值和方法默认都是相同的，需要再通过赋值的方式修改需要修改的属性或方法。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95</a:t>
            </a:fld>
            <a:endParaRPr lang="zh-CN" alt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457200" y="2839085"/>
            <a:ext cx="5626735" cy="363791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function User() {};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User.prototype.name = "</a:t>
            </a:r>
            <a:r>
              <a:rPr lang="zh-CN" altLang="en-US" sz="1200" dirty="0">
                <a:ea typeface="宋体" panose="02010600030101010101" pitchFamily="2" charset="-122"/>
              </a:rPr>
              <a:t>王明明</a:t>
            </a:r>
            <a:r>
              <a:rPr lang="en-US" altLang="zh-CN" sz="1200" dirty="0">
                <a:ea typeface="宋体" panose="02010600030101010101" pitchFamily="2" charset="-122"/>
              </a:rPr>
              <a:t>";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User.prototype.age</a:t>
            </a:r>
            <a:r>
              <a:rPr lang="en-US" altLang="zh-CN" sz="1200" dirty="0">
                <a:ea typeface="宋体" panose="02010600030101010101" pitchFamily="2" charset="-122"/>
              </a:rPr>
              <a:t> = 20;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User.prototype.address</a:t>
            </a:r>
            <a:r>
              <a:rPr lang="en-US" altLang="zh-CN" sz="1200" dirty="0">
                <a:ea typeface="宋体" panose="02010600030101010101" pitchFamily="2" charset="-122"/>
              </a:rPr>
              <a:t> = "</a:t>
            </a:r>
            <a:r>
              <a:rPr lang="zh-CN" altLang="en-US" sz="1200" dirty="0">
                <a:ea typeface="宋体" panose="02010600030101010101" pitchFamily="2" charset="-122"/>
              </a:rPr>
              <a:t>山东</a:t>
            </a:r>
            <a:r>
              <a:rPr lang="en-US" altLang="zh-CN" sz="1200" dirty="0">
                <a:ea typeface="宋体" panose="02010600030101010101" pitchFamily="2" charset="-122"/>
              </a:rPr>
              <a:t>";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User.prototype.mobile</a:t>
            </a:r>
            <a:r>
              <a:rPr lang="en-US" altLang="zh-CN" sz="1200" dirty="0">
                <a:ea typeface="宋体" panose="02010600030101010101" pitchFamily="2" charset="-122"/>
              </a:rPr>
              <a:t> = "13666666666";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User.prototype.email</a:t>
            </a:r>
            <a:r>
              <a:rPr lang="en-US" altLang="zh-CN" sz="1200" dirty="0">
                <a:ea typeface="宋体" panose="02010600030101010101" pitchFamily="2" charset="-122"/>
              </a:rPr>
              <a:t> = "wangmingming@163.com";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User.prototype.show</a:t>
            </a:r>
            <a:r>
              <a:rPr lang="en-US" altLang="zh-CN" sz="1200" dirty="0">
                <a:ea typeface="宋体" panose="02010600030101010101" pitchFamily="2" charset="-122"/>
              </a:rPr>
              <a:t> = function() {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("name:" + this.name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("age:" + </a:t>
            </a:r>
            <a:r>
              <a:rPr lang="en-US" altLang="zh-CN" sz="1200" dirty="0" err="1">
                <a:ea typeface="宋体" panose="02010600030101010101" pitchFamily="2" charset="-122"/>
              </a:rPr>
              <a:t>this.age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("address:" + 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("mobile:" + </a:t>
            </a:r>
            <a:r>
              <a:rPr lang="en-US" altLang="zh-CN" sz="1200" dirty="0" err="1">
                <a:ea typeface="宋体" panose="02010600030101010101" pitchFamily="2" charset="-122"/>
              </a:rPr>
              <a:t>this.mobile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("email:" + </a:t>
            </a:r>
            <a:r>
              <a:rPr lang="en-US" altLang="zh-CN" sz="1200" dirty="0" err="1">
                <a:ea typeface="宋体" panose="02010600030101010101" pitchFamily="2" charset="-122"/>
              </a:rPr>
              <a:t>this.email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};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u1 = new User();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u1.show();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u2 = new User();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u2.name = "</a:t>
            </a:r>
            <a:r>
              <a:rPr lang="zh-CN" altLang="en-US" sz="1200" dirty="0">
                <a:ea typeface="宋体" panose="02010600030101010101" pitchFamily="2" charset="-122"/>
              </a:rPr>
              <a:t>李娜</a:t>
            </a:r>
            <a:r>
              <a:rPr lang="en-US" altLang="zh-CN" sz="1200" dirty="0">
                <a:ea typeface="宋体" panose="02010600030101010101" pitchFamily="2" charset="-122"/>
              </a:rPr>
              <a:t>";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u2.mobile = "13888888888";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u2.email = "lina@163.com";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u2.show();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200" dirty="0">
              <a:ea typeface="宋体" panose="02010600030101010101" pitchFamily="2" charset="-122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87" r="13212" b="4986"/>
          <a:stretch>
            <a:fillRect/>
          </a:stretch>
        </p:blipFill>
        <p:spPr bwMode="auto">
          <a:xfrm>
            <a:off x="5794375" y="2328545"/>
            <a:ext cx="3076575" cy="226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箭头连接符 4"/>
          <p:cNvCxnSpPr/>
          <p:nvPr/>
        </p:nvCxnSpPr>
        <p:spPr>
          <a:xfrm flipH="1">
            <a:off x="6940550" y="2740025"/>
            <a:ext cx="1016000" cy="57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6838950" y="2771775"/>
            <a:ext cx="1117600" cy="1041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439EA95E-DEB9-4112-BE69-879A649932DC}"/>
              </a:ext>
            </a:extLst>
          </p:cNvPr>
          <p:cNvSpPr/>
          <p:nvPr/>
        </p:nvSpPr>
        <p:spPr>
          <a:xfrm>
            <a:off x="5567082" y="349624"/>
            <a:ext cx="4159624" cy="654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Prototype</a:t>
            </a:r>
            <a:r>
              <a:rPr lang="zh-CN" altLang="en-US" dirty="0"/>
              <a:t>只能作用在构造函数中，实例对象不能调用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混合使用多种方法创建对象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02283"/>
            <a:ext cx="8229600" cy="71945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600">
                <a:sym typeface="+mn-ea"/>
              </a:rPr>
              <a:t>采用原型方法（类）创建对象共有的属性和方法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600">
                <a:sym typeface="+mn-ea"/>
              </a:rPr>
              <a:t>采用构造方法创建对象实例特有的属性和方法</a:t>
            </a:r>
            <a:endParaRPr lang="zh-CN" altLang="en-US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96</a:t>
            </a:fld>
            <a:endParaRPr lang="zh-CN" alt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457200" y="2157730"/>
            <a:ext cx="6419215" cy="408686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 fontScale="87500" lnSpcReduction="20000"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function User(name, age, address, mobile, email) {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this.name = name;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this.age</a:t>
            </a:r>
            <a:r>
              <a:rPr lang="en-US" altLang="zh-CN" sz="1200" dirty="0">
                <a:ea typeface="宋体" panose="02010600030101010101" pitchFamily="2" charset="-122"/>
              </a:rPr>
              <a:t> = age;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 = address;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this.mobile</a:t>
            </a:r>
            <a:r>
              <a:rPr lang="en-US" altLang="zh-CN" sz="1200" dirty="0">
                <a:ea typeface="宋体" panose="02010600030101010101" pitchFamily="2" charset="-122"/>
              </a:rPr>
              <a:t> = mobile;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this.email</a:t>
            </a:r>
            <a:r>
              <a:rPr lang="en-US" altLang="zh-CN" sz="1200" dirty="0">
                <a:ea typeface="宋体" panose="02010600030101010101" pitchFamily="2" charset="-122"/>
              </a:rPr>
              <a:t> = email;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};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200" dirty="0" err="1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User.prototype.show</a:t>
            </a:r>
            <a:r>
              <a:rPr lang="en-US" altLang="zh-CN" sz="1200" dirty="0">
                <a:ea typeface="宋体" panose="02010600030101010101" pitchFamily="2" charset="-122"/>
              </a:rPr>
              <a:t> = function() {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("name:" + this.name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("age:" + </a:t>
            </a:r>
            <a:r>
              <a:rPr lang="en-US" altLang="zh-CN" sz="1200" dirty="0" err="1">
                <a:ea typeface="宋体" panose="02010600030101010101" pitchFamily="2" charset="-122"/>
              </a:rPr>
              <a:t>this.age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("address:" + </a:t>
            </a:r>
            <a:r>
              <a:rPr lang="en-US" altLang="zh-CN" sz="1200" dirty="0" err="1">
                <a:ea typeface="宋体" panose="02010600030101010101" pitchFamily="2" charset="-122"/>
              </a:rPr>
              <a:t>this.address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("mobile:" + </a:t>
            </a:r>
            <a:r>
              <a:rPr lang="en-US" altLang="zh-CN" sz="1200" dirty="0" err="1">
                <a:ea typeface="宋体" panose="02010600030101010101" pitchFamily="2" charset="-122"/>
              </a:rPr>
              <a:t>this.mobile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document.write</a:t>
            </a:r>
            <a:r>
              <a:rPr lang="en-US" altLang="zh-CN" sz="1200" dirty="0">
                <a:ea typeface="宋体" panose="02010600030101010101" pitchFamily="2" charset="-122"/>
              </a:rPr>
              <a:t>("email:" + </a:t>
            </a:r>
            <a:r>
              <a:rPr lang="en-US" altLang="zh-CN" sz="1200" dirty="0" err="1">
                <a:ea typeface="宋体" panose="02010600030101010101" pitchFamily="2" charset="-122"/>
              </a:rPr>
              <a:t>this.email</a:t>
            </a:r>
            <a:r>
              <a:rPr lang="en-US" altLang="zh-CN" sz="1200" dirty="0">
                <a:ea typeface="宋体" panose="02010600030101010101" pitchFamily="2" charset="-122"/>
              </a:rPr>
              <a:t> + "&lt;</a:t>
            </a:r>
            <a:r>
              <a:rPr lang="en-US" altLang="zh-CN" sz="1200" dirty="0" err="1">
                <a:ea typeface="宋体" panose="02010600030101010101" pitchFamily="2" charset="-122"/>
              </a:rPr>
              <a:t>br</a:t>
            </a:r>
            <a:r>
              <a:rPr lang="en-US" altLang="zh-CN" sz="12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}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20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u1 = new User("</a:t>
            </a:r>
            <a:r>
              <a:rPr lang="zh-CN" altLang="en-US" sz="1200" dirty="0">
                <a:ea typeface="宋体" panose="02010600030101010101" pitchFamily="2" charset="-122"/>
              </a:rPr>
              <a:t>王明明</a:t>
            </a:r>
            <a:r>
              <a:rPr lang="en-US" altLang="zh-CN" sz="1200" dirty="0">
                <a:ea typeface="宋体" panose="02010600030101010101" pitchFamily="2" charset="-122"/>
              </a:rPr>
              <a:t>", 20, "</a:t>
            </a:r>
            <a:r>
              <a:rPr lang="zh-CN" altLang="en-US" sz="1200" dirty="0">
                <a:ea typeface="宋体" panose="02010600030101010101" pitchFamily="2" charset="-122"/>
              </a:rPr>
              <a:t>山东</a:t>
            </a:r>
            <a:r>
              <a:rPr lang="en-US" altLang="zh-CN" sz="1200" dirty="0">
                <a:ea typeface="宋体" panose="02010600030101010101" pitchFamily="2" charset="-122"/>
              </a:rPr>
              <a:t>", "13666666666", "wangmingming@163.com");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u2 = new User("</a:t>
            </a:r>
            <a:r>
              <a:rPr lang="zh-CN" altLang="en-US" sz="1200" dirty="0">
                <a:ea typeface="宋体" panose="02010600030101010101" pitchFamily="2" charset="-122"/>
              </a:rPr>
              <a:t>李娜</a:t>
            </a:r>
            <a:r>
              <a:rPr lang="en-US" altLang="zh-CN" sz="1200" dirty="0">
                <a:ea typeface="宋体" panose="02010600030101010101" pitchFamily="2" charset="-122"/>
              </a:rPr>
              <a:t>", 20, "</a:t>
            </a:r>
            <a:r>
              <a:rPr lang="zh-CN" altLang="en-US" sz="1200" dirty="0">
                <a:ea typeface="宋体" panose="02010600030101010101" pitchFamily="2" charset="-122"/>
              </a:rPr>
              <a:t>山东</a:t>
            </a:r>
            <a:r>
              <a:rPr lang="en-US" altLang="zh-CN" sz="1200" dirty="0">
                <a:ea typeface="宋体" panose="02010600030101010101" pitchFamily="2" charset="-122"/>
              </a:rPr>
              <a:t>", "13888888888", "lina@163.com");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u1.show();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u2.show();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8" r="14805" b="6162"/>
          <a:stretch>
            <a:fillRect/>
          </a:stretch>
        </p:blipFill>
        <p:spPr bwMode="auto">
          <a:xfrm>
            <a:off x="5738495" y="1946275"/>
            <a:ext cx="2601595" cy="187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补充：正则表达式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zh-CN" altLang="en-US" dirty="0"/>
              <a:t>先用正则表达式表达符合特定规则、模式的字符串集合</a:t>
            </a:r>
          </a:p>
          <a:p>
            <a:r>
              <a:rPr lang="zh-CN" altLang="en-US" dirty="0"/>
              <a:t>再使用正则表达式搜索、匹配给定字符串中符合前述集合的子串</a:t>
            </a:r>
          </a:p>
          <a:p>
            <a:pPr lvl="1"/>
            <a:r>
              <a:rPr dirty="0"/>
              <a:t>语法：</a:t>
            </a:r>
            <a:r>
              <a:rPr lang="en-US" altLang="zh-CN" dirty="0">
                <a:highlight>
                  <a:srgbClr val="FF0000"/>
                </a:highlight>
              </a:rPr>
              <a:t>/</a:t>
            </a:r>
            <a:r>
              <a:rPr lang="en-US" altLang="zh-CN" dirty="0"/>
              <a:t>pattern/modifiers</a:t>
            </a:r>
            <a:r>
              <a:rPr dirty="0"/>
              <a:t>，如</a:t>
            </a:r>
            <a:r>
              <a:rPr lang="en-US" altLang="zh-CN" dirty="0"/>
              <a:t>var pattern=/</a:t>
            </a:r>
            <a:r>
              <a:rPr lang="en-US" altLang="zh-CN" dirty="0" err="1"/>
              <a:t>szu</a:t>
            </a:r>
            <a:r>
              <a:rPr lang="en-US" altLang="zh-CN" dirty="0"/>
              <a:t>/</a:t>
            </a:r>
            <a:r>
              <a:rPr lang="en-US" altLang="zh-CN" dirty="0" err="1"/>
              <a:t>i</a:t>
            </a:r>
            <a:r>
              <a:rPr dirty="0"/>
              <a:t>，即</a:t>
            </a:r>
            <a:r>
              <a:rPr lang="en-US" altLang="zh-CN" dirty="0"/>
              <a:t>pattern={</a:t>
            </a:r>
            <a:r>
              <a:rPr lang="en-US" altLang="zh-CN" dirty="0" err="1"/>
              <a:t>szu</a:t>
            </a:r>
            <a:r>
              <a:rPr lang="en-US" altLang="zh-CN" dirty="0"/>
              <a:t>, </a:t>
            </a:r>
            <a:r>
              <a:rPr lang="en-US" altLang="zh-CN" dirty="0" err="1"/>
              <a:t>Szu</a:t>
            </a:r>
            <a:r>
              <a:rPr lang="en-US" altLang="zh-CN" dirty="0"/>
              <a:t>, </a:t>
            </a:r>
            <a:r>
              <a:rPr lang="en-US" altLang="zh-CN" dirty="0" err="1"/>
              <a:t>sZu</a:t>
            </a:r>
            <a:r>
              <a:rPr lang="en-US" altLang="zh-CN" dirty="0"/>
              <a:t>, </a:t>
            </a:r>
            <a:r>
              <a:rPr lang="en-US" altLang="zh-CN" dirty="0" err="1"/>
              <a:t>szU</a:t>
            </a:r>
            <a:r>
              <a:rPr lang="en-US" altLang="zh-CN" dirty="0"/>
              <a:t>, </a:t>
            </a:r>
            <a:r>
              <a:rPr lang="en-US" altLang="zh-CN" dirty="0" err="1"/>
              <a:t>SZu</a:t>
            </a:r>
            <a:r>
              <a:rPr lang="en-US" altLang="zh-CN" dirty="0"/>
              <a:t>...}</a:t>
            </a:r>
          </a:p>
          <a:p>
            <a:pPr lvl="2"/>
            <a:r>
              <a:rPr lang="en-US" altLang="zh-CN" dirty="0"/>
              <a:t>var str=”www.SZU.edu.cn”; </a:t>
            </a:r>
          </a:p>
          <a:p>
            <a:pPr lvl="2"/>
            <a:r>
              <a:rPr lang="en-US" altLang="zh-CN" dirty="0"/>
              <a:t>var n=</a:t>
            </a:r>
            <a:r>
              <a:rPr lang="en-US" altLang="zh-CN" dirty="0" err="1"/>
              <a:t>str.search</a:t>
            </a:r>
            <a:r>
              <a:rPr lang="en-US" altLang="zh-CN" dirty="0"/>
              <a:t>(/</a:t>
            </a:r>
            <a:r>
              <a:rPr lang="en-US" altLang="zh-CN" dirty="0" err="1"/>
              <a:t>szu</a:t>
            </a:r>
            <a:r>
              <a:rPr lang="en-US" altLang="zh-CN" dirty="0"/>
              <a:t>/</a:t>
            </a:r>
            <a:r>
              <a:rPr lang="en-US" altLang="zh-CN" dirty="0" err="1"/>
              <a:t>i</a:t>
            </a:r>
            <a:r>
              <a:rPr lang="en-US" altLang="zh-CN" dirty="0"/>
              <a:t>);  //n=?</a:t>
            </a:r>
          </a:p>
          <a:p>
            <a:pPr lvl="2"/>
            <a:r>
              <a:rPr lang="en-US" altLang="zh-CN" dirty="0"/>
              <a:t>var res=</a:t>
            </a:r>
            <a:r>
              <a:rPr lang="en-US" altLang="zh-CN" dirty="0" err="1"/>
              <a:t>str.replace</a:t>
            </a:r>
            <a:r>
              <a:rPr lang="en-US" altLang="zh-CN" dirty="0"/>
              <a:t>(/</a:t>
            </a:r>
            <a:r>
              <a:rPr lang="en-US" altLang="zh-CN" dirty="0" err="1"/>
              <a:t>szu</a:t>
            </a:r>
            <a:r>
              <a:rPr lang="en-US" altLang="zh-CN" dirty="0"/>
              <a:t>/</a:t>
            </a:r>
            <a:r>
              <a:rPr lang="en-US" altLang="zh-CN" dirty="0" err="1"/>
              <a:t>i</a:t>
            </a:r>
            <a:r>
              <a:rPr lang="en-US" altLang="zh-CN" dirty="0"/>
              <a:t>, “</a:t>
            </a:r>
            <a:r>
              <a:rPr lang="en-US" altLang="zh-CN" dirty="0" err="1"/>
              <a:t>zsu</a:t>
            </a:r>
            <a:r>
              <a:rPr lang="en-US" altLang="zh-CN" dirty="0"/>
              <a:t>”);  //res</a:t>
            </a:r>
            <a:r>
              <a:rPr dirty="0"/>
              <a:t>、</a:t>
            </a:r>
            <a:r>
              <a:rPr lang="en-US" altLang="zh-CN" dirty="0"/>
              <a:t>str=</a:t>
            </a:r>
            <a:r>
              <a:rPr dirty="0"/>
              <a:t>？</a:t>
            </a:r>
            <a:endParaRPr lang="en-US" altLang="zh-CN" dirty="0"/>
          </a:p>
          <a:p>
            <a:pPr lvl="0"/>
            <a:r>
              <a:rPr lang="en-US" altLang="zh-CN" dirty="0"/>
              <a:t>/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dirty="0"/>
              <a:t>大小写不敏感，</a:t>
            </a:r>
            <a:r>
              <a:rPr lang="en-US" altLang="zh-CN" dirty="0"/>
              <a:t> /g</a:t>
            </a:r>
            <a:r>
              <a:rPr dirty="0"/>
              <a:t>，找全部匹配，</a:t>
            </a:r>
            <a:r>
              <a:rPr lang="en-US" altLang="zh-CN" dirty="0"/>
              <a:t> /m, </a:t>
            </a:r>
            <a:r>
              <a:rPr dirty="0"/>
              <a:t>按行开始匹配</a:t>
            </a:r>
            <a:endParaRPr lang="en-US" altLang="zh-CN" dirty="0"/>
          </a:p>
          <a:p>
            <a:r>
              <a:rPr dirty="0"/>
              <a:t>一些模式：</a:t>
            </a:r>
          </a:p>
          <a:p>
            <a:pPr lvl="1"/>
            <a:r>
              <a:rPr lang="en-US" altLang="zh-CN" dirty="0"/>
              <a:t>[</a:t>
            </a:r>
            <a:r>
              <a:rPr lang="en-US" altLang="zh-CN" dirty="0" err="1"/>
              <a:t>abc</a:t>
            </a:r>
            <a:r>
              <a:rPr lang="en-US" altLang="zh-CN" dirty="0"/>
              <a:t>][0-9](</a:t>
            </a:r>
            <a:r>
              <a:rPr lang="en-US" altLang="zh-CN" dirty="0" err="1"/>
              <a:t>x|y</a:t>
            </a:r>
            <a:r>
              <a:rPr lang="en-US" altLang="zh-CN" dirty="0"/>
              <a:t>)</a:t>
            </a:r>
            <a:r>
              <a:rPr dirty="0"/>
              <a:t>、</a:t>
            </a:r>
            <a:r>
              <a:rPr lang="en-US" altLang="zh-CN" dirty="0"/>
              <a:t>[^a]</a:t>
            </a:r>
            <a:r>
              <a:rPr dirty="0"/>
              <a:t>、</a:t>
            </a:r>
            <a:r>
              <a:rPr lang="en-US" altLang="zh-CN" dirty="0"/>
              <a:t>.</a:t>
            </a:r>
            <a:r>
              <a:rPr dirty="0"/>
              <a:t>、</a:t>
            </a:r>
          </a:p>
          <a:p>
            <a:pPr lvl="1"/>
            <a:r>
              <a:rPr lang="en-US" altLang="zh-CN" dirty="0"/>
              <a:t>[]</a:t>
            </a:r>
            <a:r>
              <a:rPr dirty="0"/>
              <a:t>：匹配给定字符集中的任意字符；</a:t>
            </a:r>
            <a:r>
              <a:rPr lang="en-US" altLang="zh-CN" dirty="0"/>
              <a:t>[^]</a:t>
            </a:r>
            <a:r>
              <a:rPr dirty="0"/>
              <a:t>匹配不是</a:t>
            </a:r>
            <a:r>
              <a:rPr lang="en-US" altLang="zh-CN" dirty="0"/>
              <a:t>^</a:t>
            </a:r>
            <a:r>
              <a:rPr dirty="0"/>
              <a:t>后面的字符；</a:t>
            </a:r>
            <a:r>
              <a:rPr lang="en-US" altLang="zh-CN" dirty="0"/>
              <a:t>a-z</a:t>
            </a:r>
            <a:r>
              <a:rPr dirty="0"/>
              <a:t>，</a:t>
            </a:r>
            <a:r>
              <a:rPr lang="en-US" altLang="zh-CN" dirty="0" err="1"/>
              <a:t>a|z</a:t>
            </a:r>
            <a:endParaRPr lang="en-US" altLang="zh-CN" dirty="0"/>
          </a:p>
          <a:p>
            <a:pPr lvl="1"/>
            <a:r>
              <a:rPr lang="en-US" altLang="zh-CN" dirty="0">
                <a:highlight>
                  <a:srgbClr val="FF0000"/>
                </a:highlight>
              </a:rPr>
              <a:t>\</a:t>
            </a:r>
            <a:r>
              <a:rPr lang="en-US" altLang="zh-CN" dirty="0"/>
              <a:t>w</a:t>
            </a:r>
            <a:r>
              <a:rPr dirty="0"/>
              <a:t>、</a:t>
            </a:r>
            <a:r>
              <a:rPr lang="en-US" altLang="zh-CN" dirty="0"/>
              <a:t>\W</a:t>
            </a:r>
            <a:r>
              <a:rPr dirty="0"/>
              <a:t>、</a:t>
            </a:r>
            <a:r>
              <a:rPr lang="en-US" altLang="zh-CN" dirty="0"/>
              <a:t>\d</a:t>
            </a:r>
            <a:r>
              <a:rPr dirty="0"/>
              <a:t>、</a:t>
            </a:r>
            <a:r>
              <a:rPr lang="en-US" altLang="zh-CN" dirty="0"/>
              <a:t>\D</a:t>
            </a:r>
            <a:r>
              <a:rPr dirty="0"/>
              <a:t>、</a:t>
            </a:r>
            <a:r>
              <a:rPr lang="en-US" altLang="zh-CN" dirty="0"/>
              <a:t>\s</a:t>
            </a:r>
            <a:r>
              <a:rPr dirty="0"/>
              <a:t>、</a:t>
            </a:r>
            <a:r>
              <a:rPr lang="en-US" altLang="zh-CN" dirty="0"/>
              <a:t>\S</a:t>
            </a:r>
            <a:r>
              <a:rPr dirty="0"/>
              <a:t>、</a:t>
            </a:r>
            <a:r>
              <a:rPr lang="en-US" altLang="zh-CN" dirty="0"/>
              <a:t>\b</a:t>
            </a:r>
            <a:r>
              <a:rPr dirty="0"/>
              <a:t>、</a:t>
            </a:r>
            <a:r>
              <a:rPr lang="en-US" altLang="zh-CN" dirty="0"/>
              <a:t>\B</a:t>
            </a:r>
            <a:r>
              <a:rPr dirty="0"/>
              <a:t>、</a:t>
            </a:r>
            <a:r>
              <a:rPr lang="en-US" altLang="zh-CN" dirty="0"/>
              <a:t>\0</a:t>
            </a:r>
            <a:r>
              <a:rPr dirty="0">
                <a:sym typeface="+mn-ea"/>
              </a:rPr>
              <a:t>、</a:t>
            </a:r>
            <a:r>
              <a:rPr lang="en-US" altLang="zh-CN" dirty="0"/>
              <a:t>\n</a:t>
            </a:r>
            <a:r>
              <a:rPr dirty="0">
                <a:sym typeface="+mn-ea"/>
              </a:rPr>
              <a:t>、</a:t>
            </a:r>
            <a:r>
              <a:rPr lang="en-US" altLang="zh-CN" dirty="0"/>
              <a:t>\r</a:t>
            </a:r>
            <a:r>
              <a:rPr dirty="0">
                <a:sym typeface="+mn-ea"/>
              </a:rPr>
              <a:t>、</a:t>
            </a:r>
            <a:r>
              <a:rPr lang="en-US" altLang="zh-CN" dirty="0"/>
              <a:t>\t</a:t>
            </a:r>
            <a:r>
              <a:rPr dirty="0">
                <a:sym typeface="+mn-ea"/>
              </a:rPr>
              <a:t>、</a:t>
            </a:r>
            <a:r>
              <a:rPr lang="en-US" altLang="zh-CN" dirty="0"/>
              <a:t>\xxx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\</a:t>
            </a:r>
            <a:r>
              <a:rPr lang="en-US" altLang="zh-CN" dirty="0" err="1"/>
              <a:t>xdd</a:t>
            </a:r>
            <a:r>
              <a:rPr dirty="0">
                <a:sym typeface="+mn-ea"/>
              </a:rPr>
              <a:t>、</a:t>
            </a:r>
            <a:r>
              <a:rPr lang="en-US" altLang="zh-CN" dirty="0"/>
              <a:t>\</a:t>
            </a:r>
            <a:r>
              <a:rPr lang="en-US" altLang="zh-CN" dirty="0" err="1"/>
              <a:t>uxxxx</a:t>
            </a:r>
            <a:r>
              <a:rPr dirty="0"/>
              <a:t>、</a:t>
            </a:r>
          </a:p>
          <a:p>
            <a:pPr lvl="1"/>
            <a:r>
              <a:rPr lang="en-US" altLang="zh-CN" dirty="0"/>
              <a:t>w</a:t>
            </a:r>
            <a:r>
              <a:rPr dirty="0"/>
              <a:t>字母和数字，大写非；</a:t>
            </a:r>
            <a:r>
              <a:rPr lang="en-US" altLang="zh-CN" dirty="0"/>
              <a:t>digit</a:t>
            </a:r>
            <a:r>
              <a:rPr dirty="0"/>
              <a:t>数字、</a:t>
            </a:r>
            <a:r>
              <a:rPr lang="en-US" altLang="zh-CN" dirty="0"/>
              <a:t>space</a:t>
            </a:r>
            <a:r>
              <a:rPr dirty="0"/>
              <a:t>空白、</a:t>
            </a:r>
            <a:r>
              <a:rPr lang="en-US" altLang="zh-CN" dirty="0"/>
              <a:t>break</a:t>
            </a:r>
            <a:r>
              <a:rPr dirty="0"/>
              <a:t>空格、</a:t>
            </a:r>
            <a:r>
              <a:rPr lang="en-US" altLang="zh-CN" dirty="0"/>
              <a:t>0null</a:t>
            </a:r>
            <a:r>
              <a:rPr dirty="0"/>
              <a:t>、</a:t>
            </a:r>
            <a:r>
              <a:rPr lang="en-US" altLang="zh-CN" dirty="0"/>
              <a:t>next</a:t>
            </a:r>
            <a:r>
              <a:rPr dirty="0"/>
              <a:t>换行、</a:t>
            </a:r>
            <a:r>
              <a:rPr lang="en-US" altLang="zh-CN" dirty="0"/>
              <a:t>return</a:t>
            </a:r>
            <a:r>
              <a:rPr dirty="0"/>
              <a:t>回车、</a:t>
            </a:r>
            <a:r>
              <a:rPr lang="en-US" altLang="zh-CN" dirty="0"/>
              <a:t>tab</a:t>
            </a:r>
            <a:r>
              <a:rPr dirty="0"/>
              <a:t>制表</a:t>
            </a:r>
          </a:p>
          <a:p>
            <a:pPr lvl="1"/>
            <a:r>
              <a:rPr lang="en-US" altLang="zh-CN" dirty="0"/>
              <a:t>n+</a:t>
            </a:r>
            <a:r>
              <a:rPr dirty="0"/>
              <a:t>、</a:t>
            </a:r>
            <a:r>
              <a:rPr lang="en-US" altLang="zh-CN" dirty="0"/>
              <a:t>n*</a:t>
            </a:r>
            <a:r>
              <a:rPr dirty="0"/>
              <a:t>、</a:t>
            </a:r>
            <a:r>
              <a:rPr lang="en-US" altLang="zh-CN" dirty="0"/>
              <a:t>n</a:t>
            </a:r>
            <a:r>
              <a:rPr dirty="0"/>
              <a:t>？、</a:t>
            </a:r>
            <a:r>
              <a:rPr lang="en-US" altLang="zh-CN" dirty="0"/>
              <a:t>n{X}</a:t>
            </a:r>
            <a:r>
              <a:rPr dirty="0"/>
              <a:t>、</a:t>
            </a:r>
            <a:r>
              <a:rPr lang="en-US" altLang="zh-CN" dirty="0"/>
              <a:t>n{X</a:t>
            </a:r>
            <a:r>
              <a:rPr dirty="0"/>
              <a:t>，</a:t>
            </a:r>
            <a:r>
              <a:rPr lang="en-US" altLang="zh-CN" dirty="0"/>
              <a:t>Y}</a:t>
            </a:r>
            <a:r>
              <a:rPr dirty="0"/>
              <a:t>、</a:t>
            </a:r>
            <a:r>
              <a:rPr lang="en-US" altLang="zh-CN" dirty="0"/>
              <a:t>n{X,}</a:t>
            </a:r>
            <a:r>
              <a:rPr dirty="0"/>
              <a:t>、</a:t>
            </a:r>
            <a:r>
              <a:rPr lang="en-US" altLang="zh-CN" dirty="0"/>
              <a:t>n$</a:t>
            </a:r>
            <a:r>
              <a:rPr dirty="0"/>
              <a:t>、</a:t>
            </a:r>
            <a:r>
              <a:rPr lang="en-US" altLang="zh-CN" dirty="0"/>
              <a:t>^n</a:t>
            </a:r>
            <a:r>
              <a:rPr dirty="0"/>
              <a:t>、</a:t>
            </a:r>
            <a:r>
              <a:rPr lang="en-US" altLang="zh-CN" dirty="0"/>
              <a:t>?=n</a:t>
            </a:r>
            <a:r>
              <a:rPr dirty="0"/>
              <a:t>、</a:t>
            </a:r>
            <a:r>
              <a:rPr lang="en-US" altLang="zh-CN" dirty="0"/>
              <a:t>?!n</a:t>
            </a:r>
          </a:p>
          <a:p>
            <a:pPr lvl="1"/>
            <a:r>
              <a:rPr dirty="0"/>
              <a:t>至少一个；</a:t>
            </a:r>
            <a:r>
              <a:rPr lang="en-US" altLang="zh-CN" dirty="0"/>
              <a:t>0</a:t>
            </a:r>
            <a:r>
              <a:rPr dirty="0"/>
              <a:t>或多个；</a:t>
            </a:r>
            <a:r>
              <a:rPr lang="en-US" altLang="zh-CN" dirty="0"/>
              <a:t>0</a:t>
            </a:r>
            <a:r>
              <a:rPr dirty="0"/>
              <a:t>或</a:t>
            </a:r>
            <a:r>
              <a:rPr lang="en-US" altLang="zh-CN" dirty="0"/>
              <a:t>1</a:t>
            </a:r>
            <a:r>
              <a:rPr dirty="0"/>
              <a:t>个；</a:t>
            </a:r>
            <a:r>
              <a:rPr lang="en-US" altLang="zh-CN" dirty="0"/>
              <a:t>X</a:t>
            </a:r>
            <a:r>
              <a:rPr dirty="0"/>
              <a:t>个，</a:t>
            </a:r>
            <a:r>
              <a:rPr lang="en-US" altLang="zh-CN" dirty="0"/>
              <a:t>X</a:t>
            </a:r>
            <a:r>
              <a:rPr dirty="0"/>
              <a:t>到</a:t>
            </a:r>
            <a:r>
              <a:rPr lang="en-US" altLang="zh-CN" dirty="0"/>
              <a:t>Y</a:t>
            </a:r>
            <a:r>
              <a:rPr dirty="0"/>
              <a:t>个；至少</a:t>
            </a:r>
            <a:r>
              <a:rPr lang="en-US" altLang="zh-CN" dirty="0"/>
              <a:t>X</a:t>
            </a:r>
            <a:r>
              <a:rPr dirty="0"/>
              <a:t>个；</a:t>
            </a:r>
            <a:r>
              <a:rPr lang="en-US" altLang="zh-CN" dirty="0"/>
              <a:t>$</a:t>
            </a:r>
            <a:r>
              <a:rPr dirty="0"/>
              <a:t>结束、</a:t>
            </a:r>
            <a:r>
              <a:rPr lang="en-US" altLang="zh-CN" dirty="0"/>
              <a:t>^</a:t>
            </a:r>
            <a:r>
              <a:rPr dirty="0"/>
              <a:t>开始，</a:t>
            </a:r>
            <a:r>
              <a:rPr lang="en-US" altLang="zh-CN" dirty="0"/>
              <a:t>?=!</a:t>
            </a:r>
            <a:r>
              <a:rPr dirty="0"/>
              <a:t>后面需要满足条件</a:t>
            </a:r>
            <a:r>
              <a:rPr lang="en-US" altLang="zh-CN" dirty="0"/>
              <a:t>n</a:t>
            </a:r>
          </a:p>
          <a:p>
            <a:pPr lvl="2"/>
            <a:r>
              <a:rPr lang="en-US" altLang="zh-CN" dirty="0"/>
              <a:t>var pa=/s/</a:t>
            </a:r>
          </a:p>
          <a:p>
            <a:pPr lvl="2"/>
            <a:r>
              <a:rPr lang="en-US" altLang="zh-CN" dirty="0" err="1"/>
              <a:t>pa.test</a:t>
            </a:r>
            <a:r>
              <a:rPr lang="en-US" altLang="zh-CN" dirty="0"/>
              <a:t>(“</a:t>
            </a:r>
            <a:r>
              <a:rPr lang="en-US" altLang="zh-CN" dirty="0" err="1"/>
              <a:t>szu</a:t>
            </a:r>
            <a:r>
              <a:rPr lang="en-US" altLang="zh-CN" dirty="0"/>
              <a:t>”), /s/.test(“</a:t>
            </a:r>
            <a:r>
              <a:rPr lang="en-US" altLang="zh-CN" dirty="0" err="1"/>
              <a:t>szu</a:t>
            </a:r>
            <a:r>
              <a:rPr lang="en-US" altLang="zh-CN" dirty="0"/>
              <a:t>”)  true</a:t>
            </a:r>
          </a:p>
          <a:p>
            <a:pPr lvl="2"/>
            <a:r>
              <a:rPr lang="en-US" altLang="zh-CN" dirty="0" err="1"/>
              <a:t>pa.exec</a:t>
            </a:r>
            <a:r>
              <a:rPr lang="en-US" altLang="zh-CN" dirty="0"/>
              <a:t>(“</a:t>
            </a:r>
            <a:r>
              <a:rPr lang="en-US" altLang="zh-CN" dirty="0" err="1"/>
              <a:t>szu</a:t>
            </a:r>
            <a:r>
              <a:rPr lang="en-US" altLang="zh-CN" dirty="0"/>
              <a:t>”), /s/.exec(“</a:t>
            </a:r>
            <a:r>
              <a:rPr lang="en-US" altLang="zh-CN" dirty="0" err="1"/>
              <a:t>szu</a:t>
            </a:r>
            <a:r>
              <a:rPr lang="en-US" altLang="zh-CN" dirty="0"/>
              <a:t>”)  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补充：</a:t>
            </a:r>
            <a:r>
              <a:rPr lang="en-US" altLang="zh-CN"/>
              <a:t>Set</a:t>
            </a:r>
            <a:r>
              <a:t>和</a:t>
            </a:r>
            <a:r>
              <a:rPr lang="en-US" altLang="zh-CN"/>
              <a:t>Map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Set</a:t>
            </a:r>
            <a:r>
              <a:rPr dirty="0"/>
              <a:t>：</a:t>
            </a:r>
            <a:r>
              <a:rPr lang="zh-CN" altLang="en-US" dirty="0"/>
              <a:t>唯一值的集合</a:t>
            </a:r>
          </a:p>
          <a:p>
            <a:r>
              <a:rPr lang="en-US" altLang="zh-CN" dirty="0"/>
              <a:t>new Set</a:t>
            </a:r>
            <a:r>
              <a:rPr dirty="0"/>
              <a:t>、</a:t>
            </a:r>
            <a:r>
              <a:rPr lang="en-US" altLang="zh-CN" dirty="0"/>
              <a:t>add</a:t>
            </a:r>
            <a:r>
              <a:rPr dirty="0"/>
              <a:t>、</a:t>
            </a:r>
            <a:r>
              <a:rPr lang="en-US" altLang="zh-CN" dirty="0"/>
              <a:t>clear</a:t>
            </a:r>
            <a:r>
              <a:rPr dirty="0"/>
              <a:t>、</a:t>
            </a:r>
            <a:r>
              <a:rPr lang="en-US" altLang="zh-CN" dirty="0"/>
              <a:t>delete</a:t>
            </a:r>
            <a:r>
              <a:rPr dirty="0"/>
              <a:t>、</a:t>
            </a:r>
            <a:r>
              <a:rPr lang="en-US" altLang="zh-CN" dirty="0"/>
              <a:t>entries</a:t>
            </a:r>
            <a:r>
              <a:rPr dirty="0"/>
              <a:t>、</a:t>
            </a:r>
            <a:r>
              <a:rPr lang="en-US" altLang="zh-CN" dirty="0"/>
              <a:t>has</a:t>
            </a:r>
            <a:r>
              <a:rPr dirty="0"/>
              <a:t>、</a:t>
            </a:r>
            <a:r>
              <a:rPr lang="en-US" altLang="zh-CN" dirty="0" err="1"/>
              <a:t>forEach</a:t>
            </a:r>
            <a:r>
              <a:rPr dirty="0"/>
              <a:t>、</a:t>
            </a:r>
            <a:r>
              <a:rPr lang="en-US" altLang="zh-CN" dirty="0"/>
              <a:t>keys</a:t>
            </a:r>
            <a:r>
              <a:rPr dirty="0"/>
              <a:t>、</a:t>
            </a:r>
            <a:r>
              <a:rPr lang="en-US" altLang="zh-CN" dirty="0"/>
              <a:t>values</a:t>
            </a:r>
            <a:r>
              <a:rPr dirty="0"/>
              <a:t>、</a:t>
            </a:r>
            <a:r>
              <a:rPr lang="en-US" altLang="zh-CN" dirty="0"/>
              <a:t>size</a:t>
            </a:r>
          </a:p>
          <a:p>
            <a:endParaRPr lang="en-US" altLang="zh-CN" dirty="0"/>
          </a:p>
          <a:p>
            <a:r>
              <a:rPr lang="en-US" altLang="zh-CN" dirty="0"/>
              <a:t>Map</a:t>
            </a:r>
            <a:r>
              <a:rPr dirty="0"/>
              <a:t>：键值对集合</a:t>
            </a:r>
          </a:p>
          <a:p>
            <a:r>
              <a:rPr lang="en-US" altLang="zh-CN" dirty="0">
                <a:sym typeface="+mn-ea"/>
              </a:rPr>
              <a:t>new Map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set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get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clear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delete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entries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has</a:t>
            </a:r>
            <a:r>
              <a:rPr dirty="0">
                <a:sym typeface="+mn-ea"/>
              </a:rPr>
              <a:t>、</a:t>
            </a:r>
            <a:r>
              <a:rPr lang="en-US" altLang="zh-CN" dirty="0" err="1">
                <a:sym typeface="+mn-ea"/>
              </a:rPr>
              <a:t>forEach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keys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values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size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JavaScript</a:t>
            </a:r>
            <a:r>
              <a:rPr dirty="0"/>
              <a:t>对象：也是一个键值对集合（特别的键，特别的值）</a:t>
            </a:r>
          </a:p>
          <a:p>
            <a:endParaRPr dirty="0"/>
          </a:p>
          <a:p>
            <a:r>
              <a:rPr dirty="0"/>
              <a:t>对象没有 size ，Maps 有 size；</a:t>
            </a:r>
          </a:p>
          <a:p>
            <a:r>
              <a:rPr dirty="0"/>
              <a:t>对象键必须是字符串（或符号），Map 键可以是任何数据类型；</a:t>
            </a:r>
          </a:p>
          <a:p>
            <a:r>
              <a:rPr dirty="0"/>
              <a:t>对象键没有约定排序，Map 键按插入排序；</a:t>
            </a:r>
          </a:p>
          <a:p>
            <a:r>
              <a:rPr dirty="0"/>
              <a:t>对象有默认键值，Map 没有默认键值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DA3FF3-0D57-4638-B941-96AD9D4967B1}"/>
              </a:ext>
            </a:extLst>
          </p:cNvPr>
          <p:cNvSpPr/>
          <p:nvPr/>
        </p:nvSpPr>
        <p:spPr>
          <a:xfrm>
            <a:off x="7969624" y="295835"/>
            <a:ext cx="3173505" cy="1228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 DOM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>
          <a:xfrm>
            <a:off x="777875" y="1725295"/>
            <a:ext cx="7698740" cy="3810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1800" dirty="0"/>
              <a:t>document</a:t>
            </a:r>
            <a:r>
              <a:rPr lang="zh-CN" altLang="en-US" sz="1800" dirty="0"/>
              <a:t>对象是客户端</a:t>
            </a:r>
            <a:r>
              <a:rPr lang="en-US" altLang="zh-CN" sz="1800" dirty="0"/>
              <a:t>JavaScript</a:t>
            </a:r>
            <a:r>
              <a:rPr lang="zh-CN" altLang="en-US" sz="1800" dirty="0"/>
              <a:t>最为常用的对象之一，在浏览器对象模型中，它位于</a:t>
            </a:r>
            <a:r>
              <a:rPr lang="en-US" altLang="zh-CN" sz="1800" dirty="0"/>
              <a:t>window</a:t>
            </a:r>
            <a:r>
              <a:rPr lang="zh-CN" altLang="en-US" sz="1800" dirty="0"/>
              <a:t>对象的下一层级。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1800" dirty="0"/>
              <a:t>document</a:t>
            </a:r>
            <a:r>
              <a:rPr lang="zh-CN" altLang="en-US" sz="1800" dirty="0"/>
              <a:t>对象包含一些简单的属性，提供了有关浏览器中显示文档的相关信息，例如：该文档的</a:t>
            </a:r>
            <a:r>
              <a:rPr lang="en-US" altLang="zh-CN" sz="1800" dirty="0"/>
              <a:t>URL</a:t>
            </a:r>
            <a:r>
              <a:rPr lang="zh-CN" altLang="en-US" sz="1800" dirty="0"/>
              <a:t>、字体颜色，修改日期等。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1800" dirty="0"/>
              <a:t>document</a:t>
            </a:r>
            <a:r>
              <a:rPr lang="zh-CN" altLang="en-US" sz="1800" dirty="0"/>
              <a:t>对象还包含一些引用数组的属性，这些属性可以代表文档中的表单、图象、链接、锚以及</a:t>
            </a:r>
            <a:r>
              <a:rPr lang="en-US" altLang="zh-CN" sz="1800" dirty="0"/>
              <a:t>applet</a:t>
            </a:r>
            <a:r>
              <a:rPr lang="zh-CN" altLang="en-US" sz="1800" dirty="0"/>
              <a:t>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1800" dirty="0"/>
              <a:t>同其他对象一样，</a:t>
            </a:r>
            <a:r>
              <a:rPr lang="en-US" altLang="zh-CN" sz="1800" dirty="0"/>
              <a:t>document</a:t>
            </a:r>
            <a:r>
              <a:rPr lang="zh-CN" altLang="en-US" sz="1800" dirty="0"/>
              <a:t>对象还定义了一系列的方法，通过这些方法，可以使</a:t>
            </a:r>
            <a:r>
              <a:rPr lang="en-US" altLang="zh-CN" sz="1800" dirty="0"/>
              <a:t>JavaScript</a:t>
            </a:r>
            <a:r>
              <a:rPr lang="zh-CN" altLang="en-US" sz="1800" dirty="0"/>
              <a:t>在解析文档时动态地将</a:t>
            </a:r>
            <a:r>
              <a:rPr lang="en-US" altLang="zh-CN" sz="1800" dirty="0"/>
              <a:t>HTML</a:t>
            </a:r>
            <a:r>
              <a:rPr lang="zh-CN" altLang="en-US" sz="1800" dirty="0"/>
              <a:t>文本添加到文档中。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>
                <a:cs typeface="Arial" panose="020B0604020202020204" pitchFamily="34" charset="0"/>
              </a:rPr>
              <a:t>JavaScript</a:t>
            </a:r>
            <a:r>
              <a:rPr lang="zh-CN" altLang="en-US" dirty="0">
                <a:cs typeface="Arial" panose="020B0604020202020204" pitchFamily="34" charset="0"/>
              </a:rPr>
              <a:t>事件概述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73380" y="1615440"/>
            <a:ext cx="8534400" cy="11430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事件编程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让用户不仅能够浏览页面中的内容，而且还可以和页面元素进行交互。 </a:t>
            </a:r>
          </a:p>
          <a:p>
            <a:pPr marL="0" marR="0" lvl="0" indent="0" algn="just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just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事件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事件是可以被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JavaScript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侦测到的行为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(ACTION)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gray">
          <a:xfrm>
            <a:off x="770256" y="2981283"/>
            <a:ext cx="1584325" cy="1630045"/>
          </a:xfrm>
          <a:prstGeom prst="rect">
            <a:avLst/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事件源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Window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Form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Mouse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key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3634106" y="2952788"/>
            <a:ext cx="1871663" cy="1630045"/>
          </a:xfrm>
          <a:prstGeom prst="rect">
            <a:avLst/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事件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HTML</a:t>
            </a:r>
            <a:r>
              <a:rPr lang="zh-CN" altLang="en-US" sz="2000" dirty="0">
                <a:solidFill>
                  <a:schemeClr val="bg1"/>
                </a:solidFill>
              </a:rPr>
              <a:t>事件</a:t>
            </a:r>
          </a:p>
          <a:p>
            <a:r>
              <a:rPr lang="zh-CN" altLang="en-US" sz="2000" dirty="0">
                <a:solidFill>
                  <a:schemeClr val="bg1"/>
                </a:solidFill>
              </a:rPr>
              <a:t>突变事件</a:t>
            </a:r>
          </a:p>
          <a:p>
            <a:r>
              <a:rPr lang="zh-CN" altLang="en-US" sz="2000" dirty="0">
                <a:solidFill>
                  <a:schemeClr val="bg1"/>
                </a:solidFill>
              </a:rPr>
              <a:t>双击事件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</a:rPr>
              <a:t>…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6734494" y="3311127"/>
            <a:ext cx="1944687" cy="1014730"/>
          </a:xfrm>
          <a:prstGeom prst="rect">
            <a:avLst/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事件句柄</a:t>
            </a:r>
          </a:p>
          <a:p>
            <a:r>
              <a:rPr lang="en-US" altLang="zh-CN" sz="2000" dirty="0" err="1">
                <a:solidFill>
                  <a:schemeClr val="bg1"/>
                </a:solidFill>
              </a:rPr>
              <a:t>onclick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 err="1">
                <a:solidFill>
                  <a:schemeClr val="bg1"/>
                </a:solidFill>
              </a:rPr>
              <a:t>ondblclick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gray">
          <a:xfrm>
            <a:off x="2481580" y="3749040"/>
            <a:ext cx="1079500" cy="36830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gray">
          <a:xfrm>
            <a:off x="5721668" y="3825240"/>
            <a:ext cx="1008062" cy="36830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Freeform 13"/>
          <p:cNvSpPr/>
          <p:nvPr/>
        </p:nvSpPr>
        <p:spPr bwMode="gray">
          <a:xfrm>
            <a:off x="5618480" y="4647408"/>
            <a:ext cx="2298700" cy="368300"/>
          </a:xfrm>
          <a:custGeom>
            <a:avLst/>
            <a:gdLst/>
            <a:ahLst/>
            <a:cxnLst>
              <a:cxn ang="0">
                <a:pos x="1406" y="0"/>
              </a:cxn>
              <a:cxn ang="0">
                <a:pos x="1406" y="499"/>
              </a:cxn>
              <a:cxn ang="0">
                <a:pos x="0" y="590"/>
              </a:cxn>
            </a:cxnLst>
            <a:rect l="0" t="0" r="r" b="b"/>
            <a:pathLst>
              <a:path w="1640" h="597">
                <a:moveTo>
                  <a:pt x="1406" y="0"/>
                </a:moveTo>
                <a:cubicBezTo>
                  <a:pt x="1523" y="200"/>
                  <a:pt x="1640" y="401"/>
                  <a:pt x="1406" y="499"/>
                </a:cubicBezTo>
                <a:cubicBezTo>
                  <a:pt x="1172" y="597"/>
                  <a:pt x="234" y="575"/>
                  <a:pt x="0" y="590"/>
                </a:cubicBezTo>
              </a:path>
            </a:pathLst>
          </a:custGeom>
          <a:noFill/>
          <a:ln w="762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gray">
          <a:xfrm>
            <a:off x="3665855" y="4748897"/>
            <a:ext cx="1889125" cy="706755"/>
          </a:xfrm>
          <a:prstGeom prst="rect">
            <a:avLst/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square" anchor="ctr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编写事件处理代码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事件类型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gray">
          <a:xfrm>
            <a:off x="2273300" y="3133090"/>
            <a:ext cx="6172200" cy="2584450"/>
          </a:xfrm>
          <a:prstGeom prst="rect">
            <a:avLst/>
          </a:prstGeom>
          <a:solidFill>
            <a:schemeClr val="bg1"/>
          </a:solidFill>
          <a:ln w="38100" algn="ctr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鼠标单击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：例如单击</a:t>
            </a:r>
            <a:r>
              <a:rPr kumimoji="0"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button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、选中</a:t>
            </a:r>
            <a:r>
              <a:rPr kumimoji="0"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checkbox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kumimoji="0"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radio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等元素；鼠标进入、悬浮或退出页面的某个热点：例如鼠标停在一个图片上方或者进入</a:t>
            </a:r>
            <a:r>
              <a:rPr kumimoji="0"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table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的范围；</a:t>
            </a:r>
          </a:p>
          <a:p>
            <a:pPr marL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键盘按键：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当按下按键或释放按键时；</a:t>
            </a:r>
          </a:p>
          <a:p>
            <a:pPr marL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kumimoji="0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事件：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例如页面</a:t>
            </a:r>
            <a:r>
              <a:rPr kumimoji="0"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body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被加载时；在表单中选取输入框或改变输入框中文本的内容：例如选中或修改了文本框中的内容；</a:t>
            </a:r>
          </a:p>
          <a:p>
            <a:pPr marL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突变事件：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主要指文档底层元素发生改变时触发的事件，如</a:t>
            </a:r>
            <a:r>
              <a:rPr kumimoji="0"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DomSubtreeModified</a:t>
            </a:r>
            <a:r>
              <a:rPr kumimoji="0"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(DOM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子树修改</a:t>
            </a:r>
            <a:r>
              <a:rPr kumimoji="0"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kumimoji="0"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gray">
          <a:xfrm>
            <a:off x="502285" y="1396323"/>
            <a:ext cx="2070100" cy="14763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bg1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事件类型：</a:t>
            </a:r>
          </a:p>
          <a:p>
            <a:pPr marL="265430" algn="l"/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鼠标事件</a:t>
            </a:r>
          </a:p>
          <a:p>
            <a:pPr marL="265430" algn="l"/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键盘事件</a:t>
            </a:r>
          </a:p>
          <a:p>
            <a:pPr marL="265430" algn="l"/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3.HTML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事件</a:t>
            </a:r>
          </a:p>
          <a:p>
            <a:pPr marL="265430" algn="l"/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突变事件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事件句柄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2285" y="1287145"/>
            <a:ext cx="8534400" cy="2743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事件句柄 （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event handler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） </a:t>
            </a:r>
          </a:p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事件句柄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kumimoji="0" lang="zh-CN" altLang="en-US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事件发生要进行的操作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onload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属性就是我们所说的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事件句柄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也称为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事件属性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基本语法</a:t>
            </a:r>
            <a:r>
              <a:rPr kumimoji="0" lang="zh-CN" altLang="en-US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：</a:t>
            </a:r>
            <a:endParaRPr kumimoji="0" lang="en-US" altLang="zh-CN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&lt;</a:t>
            </a:r>
            <a:r>
              <a: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标记 事件句柄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JavaScript</a:t>
            </a:r>
            <a:r>
              <a: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代码”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…&gt;&lt;</a:t>
            </a:r>
            <a:r>
              <a:rPr lang="en-US" altLang="zh-CN" sz="18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8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标记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kumimoji="0" lang="zh-CN" altLang="en-US" sz="18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&lt;body </a:t>
            </a:r>
            <a:r>
              <a:rPr kumimoji="0" lang="en-US" altLang="zh-CN" sz="18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onload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=“show()”&gt;…    &lt;/body&gt;  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格式：    </a:t>
            </a: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onload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=“show();”    /*load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</a:p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Group 13"/>
          <p:cNvGrpSpPr/>
          <p:nvPr/>
        </p:nvGrpSpPr>
        <p:grpSpPr bwMode="auto">
          <a:xfrm>
            <a:off x="3048000" y="4432695"/>
            <a:ext cx="2012950" cy="887015"/>
            <a:chOff x="2152" y="2747"/>
            <a:chExt cx="1268" cy="745"/>
          </a:xfrm>
          <a:solidFill>
            <a:schemeClr val="bg1"/>
          </a:solidFill>
        </p:grpSpPr>
        <p:sp>
          <p:nvSpPr>
            <p:cNvPr id="6" name="Rectangle 5"/>
            <p:cNvSpPr>
              <a:spLocks noChangeArrowheads="1"/>
            </p:cNvSpPr>
            <p:nvPr/>
          </p:nvSpPr>
          <p:spPr bwMode="gray">
            <a:xfrm>
              <a:off x="2152" y="3183"/>
              <a:ext cx="1268" cy="309"/>
            </a:xfrm>
            <a:prstGeom prst="rect">
              <a:avLst/>
            </a:prstGeom>
            <a:grpFill/>
            <a:ln w="38100" algn="ctr">
              <a:solidFill>
                <a:srgbClr val="0000FA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事件处理函数</a:t>
              </a:r>
            </a:p>
          </p:txBody>
        </p:sp>
        <p:sp>
          <p:nvSpPr>
            <p:cNvPr id="7" name="AutoShape 8"/>
            <p:cNvSpPr>
              <a:spLocks noChangeArrowheads="1"/>
            </p:cNvSpPr>
            <p:nvPr/>
          </p:nvSpPr>
          <p:spPr bwMode="gray">
            <a:xfrm>
              <a:off x="2632" y="2747"/>
              <a:ext cx="181" cy="362"/>
            </a:xfrm>
            <a:prstGeom prst="upArrow">
              <a:avLst>
                <a:gd name="adj1" fmla="val 50000"/>
                <a:gd name="adj2" fmla="val 43785"/>
              </a:avLst>
            </a:prstGeom>
            <a:grpFill/>
            <a:ln w="38100" algn="ctr">
              <a:solidFill>
                <a:srgbClr val="FF3300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12"/>
          <p:cNvGrpSpPr/>
          <p:nvPr/>
        </p:nvGrpSpPr>
        <p:grpSpPr bwMode="auto">
          <a:xfrm>
            <a:off x="1635125" y="4455319"/>
            <a:ext cx="1096963" cy="864394"/>
            <a:chOff x="1046" y="2348"/>
            <a:chExt cx="691" cy="726"/>
          </a:xfrm>
        </p:grpSpPr>
        <p:sp>
          <p:nvSpPr>
            <p:cNvPr id="9" name="Rectangle 10"/>
            <p:cNvSpPr>
              <a:spLocks noChangeArrowheads="1"/>
            </p:cNvSpPr>
            <p:nvPr/>
          </p:nvSpPr>
          <p:spPr bwMode="gray">
            <a:xfrm>
              <a:off x="1046" y="2765"/>
              <a:ext cx="691" cy="309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事件句柄</a:t>
              </a:r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gray">
            <a:xfrm>
              <a:off x="1272" y="2348"/>
              <a:ext cx="311" cy="377"/>
            </a:xfrm>
            <a:prstGeom prst="upArrow">
              <a:avLst>
                <a:gd name="adj1" fmla="val 50000"/>
                <a:gd name="adj2" fmla="val 43785"/>
              </a:avLst>
            </a:prstGeom>
            <a:solidFill>
              <a:schemeClr val="accent1"/>
            </a:solidFill>
            <a:ln w="38100" algn="ctr">
              <a:solidFill>
                <a:srgbClr val="0000FA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5"/>
          <p:cNvGrpSpPr/>
          <p:nvPr/>
        </p:nvGrpSpPr>
        <p:grpSpPr bwMode="auto">
          <a:xfrm>
            <a:off x="5181600" y="4438649"/>
            <a:ext cx="1066800" cy="881063"/>
            <a:chOff x="2200" y="2681"/>
            <a:chExt cx="1268" cy="740"/>
          </a:xfrm>
          <a:solidFill>
            <a:schemeClr val="bg1"/>
          </a:solidFill>
        </p:grpSpPr>
        <p:sp>
          <p:nvSpPr>
            <p:cNvPr id="12" name="Rectangle 16"/>
            <p:cNvSpPr>
              <a:spLocks noChangeArrowheads="1"/>
            </p:cNvSpPr>
            <p:nvPr/>
          </p:nvSpPr>
          <p:spPr bwMode="gray">
            <a:xfrm>
              <a:off x="2200" y="3112"/>
              <a:ext cx="1268" cy="309"/>
            </a:xfrm>
            <a:prstGeom prst="rect">
              <a:avLst/>
            </a:prstGeom>
            <a:grpFill/>
            <a:ln w="38100" algn="ctr">
              <a:solidFill>
                <a:srgbClr val="0000FA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事件</a:t>
              </a:r>
            </a:p>
          </p:txBody>
        </p:sp>
        <p:sp>
          <p:nvSpPr>
            <p:cNvPr id="13" name="AutoShape 17"/>
            <p:cNvSpPr>
              <a:spLocks noChangeArrowheads="1"/>
            </p:cNvSpPr>
            <p:nvPr/>
          </p:nvSpPr>
          <p:spPr bwMode="gray">
            <a:xfrm>
              <a:off x="2654" y="2681"/>
              <a:ext cx="181" cy="337"/>
            </a:xfrm>
            <a:prstGeom prst="upArrow">
              <a:avLst>
                <a:gd name="adj1" fmla="val 50000"/>
                <a:gd name="adj2" fmla="val 43785"/>
              </a:avLst>
            </a:prstGeom>
            <a:grpFill/>
            <a:ln w="38100" algn="ctr">
              <a:solidFill>
                <a:srgbClr val="FF3300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事件句柄</a:t>
            </a:r>
            <a:r>
              <a:rPr lang="en-US" altLang="zh-CN" dirty="0">
                <a:cs typeface="Arial" panose="020B0604020202020204" pitchFamily="34" charset="0"/>
              </a:rPr>
              <a:t>-</a:t>
            </a:r>
            <a:r>
              <a:rPr lang="zh-CN" altLang="en-US" dirty="0">
                <a:cs typeface="Arial" panose="020B0604020202020204" pitchFamily="34" charset="0"/>
              </a:rPr>
              <a:t>一览表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6230583"/>
              </p:ext>
            </p:extLst>
          </p:nvPr>
        </p:nvGraphicFramePr>
        <p:xfrm>
          <a:off x="676913" y="1065531"/>
          <a:ext cx="7543165" cy="538576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01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事件分类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事件名称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事件句柄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事件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795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窗口事件</a:t>
                      </a:r>
                      <a:endParaRPr lang="zh-CN" sz="16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load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onLoad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当文档载入时执行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unload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onUnload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当文档卸载时执行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kern="100" dirty="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</a:rPr>
                        <a:t>resize</a:t>
                      </a: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</a:rPr>
                        <a:t>onResize</a:t>
                      </a: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0" dirty="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</a:rPr>
                        <a:t>当窗口大小发生改变时</a:t>
                      </a: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kern="100" dirty="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</a:rPr>
                        <a:t>scroll</a:t>
                      </a: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</a:rPr>
                        <a:t>onScroll</a:t>
                      </a: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0" dirty="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</a:rPr>
                        <a:t>当滚动条位置发生变化时</a:t>
                      </a: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795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表单元素事件</a:t>
                      </a:r>
                      <a:endParaRPr lang="zh-CN" sz="16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change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onChange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当元素改变时执行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 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submit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onSubmit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当表单被提交时执行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reset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onReset</a:t>
                      </a: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当表单被重置时执行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select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onSelect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当元素被选取时执行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blur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onBlur</a:t>
                      </a:r>
                      <a:endParaRPr lang="en-US" sz="1600" kern="100" dirty="0" err="1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当元素失去焦点时执行</a:t>
                      </a:r>
                      <a:r>
                        <a:rPr lang="en-US" sz="1600" kern="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focus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onFocus</a:t>
                      </a:r>
                      <a:endParaRPr lang="en-US" sz="1600" kern="100" dirty="0" err="1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当元素获得焦点时执行</a:t>
                      </a:r>
                      <a:r>
                        <a:rPr lang="en-US" sz="1600" kern="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795">
                <a:tc row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鼠标事件</a:t>
                      </a:r>
                      <a:endParaRPr lang="zh-CN" sz="16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click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onClick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当鼠标被单击时执行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 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dblclick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onDblclick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当鼠标被双击时执行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mousedown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onMouseDown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当鼠标按钮被按下时执行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mousemove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onMouseMove</a:t>
                      </a: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当鼠标指针移动时执行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12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mouseout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onMouseOut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当鼠标指针移出某元素时执行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69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mouseover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onMouseOver</a:t>
                      </a:r>
                      <a:endParaRPr lang="en-US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当鼠标指针悬停于某元素之上时执行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mouseup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onMouseUp</a:t>
                      </a: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当鼠标按钮被松开时执行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795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键盘事件</a:t>
                      </a:r>
                      <a:endParaRPr lang="zh-CN" sz="16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keydown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onKeyDown</a:t>
                      </a: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当键盘被按下时执行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 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keypress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onKeyPress</a:t>
                      </a: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当键盘被按下后又松开时执行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7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keyup</a:t>
                      </a:r>
                      <a:endParaRPr lang="en-US" sz="1600" kern="100" dirty="0" err="1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onKeyUp</a:t>
                      </a: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当键盘被松开时执行</a:t>
                      </a:r>
                      <a:r>
                        <a:rPr lang="en-US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JS</a:t>
                      </a:r>
                      <a:r>
                        <a:rPr lang="zh-CN" sz="16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代码</a:t>
                      </a:r>
                      <a:endParaRPr lang="zh-CN" sz="16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59484" marR="59484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事件处理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509000" cy="4641850"/>
          </a:xfrm>
        </p:spPr>
        <p:txBody>
          <a:bodyPr>
            <a:normAutofit fontScale="90000"/>
          </a:bodyPr>
          <a:lstStyle/>
          <a:p>
            <a:pPr marL="0" indent="4572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+mj-ea"/>
                <a:ea typeface="+mj-ea"/>
              </a:rPr>
              <a:t> 当一个事件发生时，如果需要截获并处理该事件，只需要定义该事件的事件句柄所关联的事件处理代码，具体的处理方式有以下</a:t>
            </a:r>
            <a:r>
              <a:rPr lang="en-US" altLang="zh-CN" sz="1800" dirty="0">
                <a:latin typeface="+mj-ea"/>
                <a:ea typeface="+mj-ea"/>
              </a:rPr>
              <a:t>3</a:t>
            </a:r>
            <a:r>
              <a:rPr lang="zh-CN" altLang="en-US" sz="1800" dirty="0">
                <a:latin typeface="+mj-ea"/>
                <a:ea typeface="+mj-ea"/>
              </a:rPr>
              <a:t>种：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静态指定：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&lt;HTML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标记 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... 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事件句柄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1="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事件处理程序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" [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事件句柄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2 = "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事件处理程序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" ...]&gt;&lt;/HTML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标记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  <a:r>
              <a:rPr sz="1800" dirty="0">
                <a:solidFill>
                  <a:schemeClr val="tx1"/>
                </a:solidFill>
                <a:latin typeface="+mj-ea"/>
                <a:ea typeface="+mj-ea"/>
              </a:rPr>
              <a:t>，</a:t>
            </a:r>
          </a:p>
          <a:p>
            <a:pPr marL="800100" lvl="2" indent="45720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//</a:t>
            </a:r>
            <a:r>
              <a:rPr sz="1800" dirty="0">
                <a:solidFill>
                  <a:schemeClr val="tx1"/>
                </a:solidFill>
                <a:latin typeface="+mj-ea"/>
                <a:ea typeface="+mj-ea"/>
              </a:rPr>
              <a:t>注意此处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sz="1800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事件处理程序</a:t>
            </a:r>
            <a:r>
              <a:rPr lang="en-US" altLang="zh-CN" sz="1800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sz="1800" dirty="0">
                <a:solidFill>
                  <a:srgbClr val="FF0000"/>
                </a:solidFill>
                <a:latin typeface="+mj-ea"/>
                <a:ea typeface="+mj-ea"/>
              </a:rPr>
              <a:t>是一个代码字符串</a:t>
            </a: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动态指定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&lt;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事件主角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-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对象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&gt;.&lt;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事件句柄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&gt;=&lt;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事件处理程序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&gt;; //</a:t>
            </a:r>
            <a:r>
              <a:rPr sz="1800" dirty="0">
                <a:solidFill>
                  <a:schemeClr val="tx1"/>
                </a:solidFill>
                <a:latin typeface="+mj-ea"/>
                <a:ea typeface="+mj-ea"/>
              </a:rPr>
              <a:t>是一个函数</a:t>
            </a:r>
          </a:p>
          <a:p>
            <a:pPr lvl="2" indent="45720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//</a:t>
            </a:r>
            <a:r>
              <a:rPr sz="1800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注意此处</a:t>
            </a:r>
            <a:r>
              <a:rPr sz="1800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事件处理程序是一个函数</a:t>
            </a: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Font typeface="Wingdings" panose="05000000000000000000" pitchFamily="2" charset="2"/>
              <a:buChar char="l"/>
            </a:pPr>
            <a:r>
              <a:rPr lang="zh-CN" altLang="zh-CN" sz="1800" dirty="0">
                <a:solidFill>
                  <a:schemeClr val="tx1"/>
                </a:solidFill>
                <a:latin typeface="+mj-ea"/>
                <a:ea typeface="+mj-ea"/>
              </a:rPr>
              <a:t>特定对象特定事件的指定</a:t>
            </a: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&lt;script type=“text/</a:t>
            </a:r>
            <a:r>
              <a:rPr lang="en-US" altLang="zh-CN" sz="1800" dirty="0" err="1">
                <a:solidFill>
                  <a:schemeClr val="tx1"/>
                </a:solidFill>
                <a:latin typeface="+mj-ea"/>
                <a:ea typeface="+mj-ea"/>
              </a:rPr>
              <a:t>javascript”for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=“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对象” 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event=“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事件”</a:t>
            </a: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&gt; 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  //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事件处理程序代码</a:t>
            </a: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&lt;/script&gt;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&lt;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事件主角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-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对象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&gt;.</a:t>
            </a:r>
            <a:r>
              <a:rPr lang="en-US" altLang="zh-CN" sz="1800" dirty="0" err="1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addEventListener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(‘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事件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’,&lt;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事件处理程序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&gt;); </a:t>
            </a: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  //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事件是如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’click’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的事件，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&lt;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事件处理程序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&gt;</a:t>
            </a:r>
            <a:r>
              <a:rPr sz="1800" dirty="0">
                <a:solidFill>
                  <a:schemeClr val="tx1"/>
                </a:solidFill>
                <a:highlight>
                  <a:srgbClr val="FFFF00"/>
                </a:highlight>
                <a:latin typeface="+mj-ea"/>
                <a:ea typeface="+mj-ea"/>
                <a:sym typeface="+mn-ea"/>
              </a:rPr>
              <a:t>是一个函数，非独享</a:t>
            </a:r>
            <a:endParaRPr lang="en-US" altLang="zh-CN" sz="1800" dirty="0">
              <a:solidFill>
                <a:schemeClr val="tx1"/>
              </a:solidFill>
              <a:highlight>
                <a:srgbClr val="FFFF00"/>
              </a:highlight>
              <a:latin typeface="+mj-ea"/>
              <a:ea typeface="+mj-ea"/>
            </a:endParaRPr>
          </a:p>
          <a:p>
            <a:pPr marL="365125" lvl="1" indent="0">
              <a:spcBef>
                <a:spcPts val="0"/>
              </a:spcBef>
              <a:spcAft>
                <a:spcPts val="0"/>
              </a:spcAft>
              <a:buClr>
                <a:srgbClr val="0000FA"/>
              </a:buClr>
              <a:buNone/>
            </a:pP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/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事件处理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-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静态指定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317500" y="3083336"/>
            <a:ext cx="8509000" cy="30397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language="</a:t>
            </a:r>
            <a:r>
              <a:rPr lang="en-US" altLang="zh-CN" sz="1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type="text/</a:t>
            </a:r>
            <a:r>
              <a:rPr lang="en-US" altLang="zh-CN" sz="1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function </a:t>
            </a:r>
            <a:r>
              <a:rPr lang="en-US" altLang="zh-CN" sz="1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testInfo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{alert(</a:t>
            </a:r>
            <a:r>
              <a:rPr lang="en-US" altLang="zh-CN" sz="1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&lt;/script&gt;	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&lt;h2&gt;HTML</a:t>
            </a:r>
            <a:r>
              <a:rPr lang="zh-CN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属性的事件处理器举例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&lt;/h2&gt;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&lt;input type="button" value="</a:t>
            </a:r>
            <a:r>
              <a:rPr lang="zh-CN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直接通过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JS</a:t>
            </a:r>
            <a:r>
              <a:rPr lang="zh-CN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语句输出信息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 	</a:t>
            </a:r>
            <a:r>
              <a:rPr lang="en-US" altLang="zh-CN" sz="16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="alert('</a:t>
            </a:r>
            <a:r>
              <a:rPr lang="zh-CN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单击按钮，直接输出信息</a:t>
            </a: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')"&gt;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&lt;input type="button" value="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通过函数输出信息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</a:t>
            </a: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testInfo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('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单击按钮，调用函数输出信息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')"&gt;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&lt;/body&gt;</a:t>
            </a:r>
          </a:p>
        </p:txBody>
      </p:sp>
      <p:sp>
        <p:nvSpPr>
          <p:cNvPr id="6" name="矩形 5"/>
          <p:cNvSpPr/>
          <p:nvPr/>
        </p:nvSpPr>
        <p:spPr>
          <a:xfrm>
            <a:off x="533400" y="1676400"/>
            <a:ext cx="85344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基本语法：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标记 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... 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事件句柄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1="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事件处理程序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1" [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事件句柄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="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事件处理程序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2" ...]</a:t>
            </a:r>
            <a:endParaRPr lang="en-US" altLang="zh-CN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语法说明：一个标记可以同时指定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多个事件处理程序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，事件处理程序既可以是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&lt;script&gt;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标记中的自定义函数，还可以直接将事件处理代码写在此位置。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事件处理</a:t>
            </a:r>
            <a:r>
              <a:rPr lang="en-US" altLang="zh-CN" dirty="0">
                <a:cs typeface="Arial" panose="020B0604020202020204" pitchFamily="34" charset="0"/>
              </a:rPr>
              <a:t>-</a:t>
            </a:r>
            <a:r>
              <a:rPr lang="zh-CN" altLang="en-US" dirty="0">
                <a:cs typeface="Arial" panose="020B0604020202020204" pitchFamily="34" charset="0"/>
              </a:rPr>
              <a:t>动态指定</a:t>
            </a:r>
            <a:r>
              <a:rPr lang="zh-CN" altLang="en-US" sz="2400" b="0" dirty="0"/>
              <a:t> 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gray">
          <a:xfrm>
            <a:off x="533400" y="1387702"/>
            <a:ext cx="8534399" cy="119888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事件处理程序在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JavaScript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中动态指定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分配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kumimoji="0"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事件主角</a:t>
            </a: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kumimoji="0"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&gt;.&lt;</a:t>
            </a:r>
            <a:r>
              <a:rPr kumimoji="0"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事件句柄</a:t>
            </a: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&gt;=&lt;</a:t>
            </a:r>
            <a:r>
              <a:rPr kumimoji="0"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事件处理程序</a:t>
            </a: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&gt;;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kumimoji="0"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kumimoji="0"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obj.onclick</a:t>
            </a: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=function(){</a:t>
            </a:r>
            <a:r>
              <a:rPr kumimoji="0"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disp</a:t>
            </a: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();}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kumimoji="0"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obj.onclick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();//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调用</a:t>
            </a:r>
            <a:endParaRPr kumimoji="0"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gray">
          <a:xfrm>
            <a:off x="533400" y="2760504"/>
            <a:ext cx="8534400" cy="234823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&lt;body&gt;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&lt;form name="</a:t>
            </a:r>
            <a:r>
              <a:rPr lang="en-US" altLang="zh-CN" sz="1600" dirty="0" err="1"/>
              <a:t>myform</a:t>
            </a:r>
            <a:r>
              <a:rPr lang="en-US" altLang="zh-CN" sz="1600" dirty="0"/>
              <a:t>" method="post" action="" &gt;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   &lt;input id=</a:t>
            </a:r>
            <a:r>
              <a:rPr lang="en-US" altLang="zh-CN" sz="1600" dirty="0">
                <a:latin typeface="微软雅黑" panose="020B0503020204020204" charset="-122"/>
              </a:rPr>
              <a:t>“</a:t>
            </a:r>
            <a:r>
              <a:rPr lang="en-US" altLang="zh-CN" sz="1600" dirty="0"/>
              <a:t>input</a:t>
            </a:r>
            <a:r>
              <a:rPr lang="en-US" altLang="zh-CN" sz="1600" dirty="0">
                <a:latin typeface="微软雅黑" panose="020B0503020204020204" charset="-122"/>
              </a:rPr>
              <a:t>”</a:t>
            </a:r>
            <a:r>
              <a:rPr lang="en-US" altLang="zh-CN" sz="1600" dirty="0"/>
              <a:t> type=</a:t>
            </a:r>
            <a:r>
              <a:rPr lang="en-US" altLang="zh-CN" sz="1600" dirty="0">
                <a:latin typeface="微软雅黑" panose="020B0503020204020204" charset="-122"/>
              </a:rPr>
              <a:t>“</a:t>
            </a:r>
            <a:r>
              <a:rPr lang="en-US" altLang="zh-CN" sz="1600" dirty="0"/>
              <a:t>button</a:t>
            </a:r>
            <a:r>
              <a:rPr lang="en-US" altLang="zh-CN" sz="1600" dirty="0">
                <a:latin typeface="微软雅黑" panose="020B0503020204020204" charset="-122"/>
              </a:rPr>
              <a:t>”</a:t>
            </a:r>
            <a:r>
              <a:rPr lang="en-US" altLang="zh-CN" sz="1600" dirty="0"/>
              <a:t> name=</a:t>
            </a:r>
            <a:r>
              <a:rPr lang="en-US" altLang="zh-CN" sz="1600" dirty="0">
                <a:latin typeface="微软雅黑" panose="020B0503020204020204" charset="-122"/>
              </a:rPr>
              <a:t>“</a:t>
            </a:r>
            <a:r>
              <a:rPr lang="en-US" altLang="zh-CN" sz="1600" dirty="0" err="1"/>
              <a:t>mybutton</a:t>
            </a:r>
            <a:r>
              <a:rPr lang="en-US" altLang="zh-CN" sz="1600" dirty="0"/>
              <a:t>" value="</a:t>
            </a:r>
            <a:r>
              <a:rPr lang="zh-CN" altLang="en-US" sz="1600" dirty="0"/>
              <a:t>提交</a:t>
            </a:r>
            <a:r>
              <a:rPr lang="en-US" altLang="zh-CN" sz="1600" dirty="0"/>
              <a:t>" &gt; 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&lt;/form&gt;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 &lt;script type="text/</a:t>
            </a:r>
            <a:r>
              <a:rPr lang="en-US" altLang="zh-CN" sz="1600" dirty="0" err="1"/>
              <a:t>javascript</a:t>
            </a:r>
            <a:r>
              <a:rPr lang="en-US" altLang="zh-CN" sz="1600" dirty="0"/>
              <a:t>"&gt;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  function </a:t>
            </a:r>
            <a:r>
              <a:rPr lang="en-US" altLang="zh-CN" sz="1600" dirty="0" err="1"/>
              <a:t>clickHandler</a:t>
            </a:r>
            <a:r>
              <a:rPr lang="en-US" altLang="zh-CN" sz="1600" dirty="0"/>
              <a:t>() {alert("</a:t>
            </a:r>
            <a:r>
              <a:rPr lang="zh-CN" altLang="en-US" sz="1600" dirty="0"/>
              <a:t>即将提交表单！</a:t>
            </a:r>
            <a:r>
              <a:rPr lang="en-US" altLang="zh-CN" sz="1600" dirty="0"/>
              <a:t>"); return true;}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zh-CN" altLang="en-US" sz="1600" dirty="0"/>
              <a:t>  </a:t>
            </a:r>
            <a:r>
              <a:rPr lang="en-US" altLang="zh-CN" sz="1600" dirty="0"/>
              <a:t>//</a:t>
            </a:r>
            <a:r>
              <a:rPr lang="zh-CN" altLang="en-US" sz="1600" dirty="0"/>
              <a:t>动态分配一个事件句柄</a:t>
            </a:r>
            <a:endParaRPr lang="en-US" altLang="zh-CN" sz="1600" dirty="0"/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 </a:t>
            </a:r>
            <a:r>
              <a:rPr lang="zh-CN" altLang="en-US" sz="1600" dirty="0"/>
              <a:t> </a:t>
            </a:r>
            <a:r>
              <a:rPr lang="en-US" altLang="zh-CN" sz="1600" dirty="0" err="1">
                <a:highlight>
                  <a:srgbClr val="FFFF00"/>
                </a:highlight>
              </a:rPr>
              <a:t>document.getElementById</a:t>
            </a:r>
            <a:r>
              <a:rPr lang="en-US" altLang="zh-CN" sz="1600" dirty="0">
                <a:highlight>
                  <a:srgbClr val="FFFF00"/>
                </a:highlight>
              </a:rPr>
              <a:t>(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charset="-122"/>
              </a:rPr>
              <a:t>‘</a:t>
            </a:r>
            <a:r>
              <a:rPr lang="en-US" altLang="zh-CN" sz="1600" dirty="0">
                <a:highlight>
                  <a:srgbClr val="FFFF00"/>
                </a:highlight>
              </a:rPr>
              <a:t>input</a:t>
            </a:r>
            <a:r>
              <a:rPr lang="en-US" altLang="zh-CN" sz="1600" dirty="0">
                <a:highlight>
                  <a:srgbClr val="FFFF00"/>
                </a:highlight>
                <a:latin typeface="微软雅黑" panose="020B0503020204020204" charset="-122"/>
              </a:rPr>
              <a:t>’</a:t>
            </a:r>
            <a:r>
              <a:rPr lang="en-US" altLang="zh-CN" sz="1600" dirty="0">
                <a:highlight>
                  <a:srgbClr val="FFFF00"/>
                </a:highlight>
              </a:rPr>
              <a:t>).</a:t>
            </a:r>
            <a:r>
              <a:rPr lang="en-US" altLang="zh-CN" sz="1600" dirty="0" err="1"/>
              <a:t>onclick</a:t>
            </a:r>
            <a:r>
              <a:rPr lang="en-US" altLang="zh-CN" sz="1600" dirty="0"/>
              <a:t>=function(){return </a:t>
            </a:r>
            <a:r>
              <a:rPr lang="en-US" altLang="zh-CN" sz="1600" dirty="0" err="1"/>
              <a:t>clickHandler</a:t>
            </a:r>
            <a:r>
              <a:rPr lang="en-US" altLang="zh-CN" sz="1600" dirty="0"/>
              <a:t>();}</a:t>
            </a:r>
            <a:endParaRPr lang="zh-CN" altLang="en-US" sz="1600" dirty="0"/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  </a:t>
            </a:r>
            <a:r>
              <a:rPr lang="en-US" altLang="zh-CN" sz="1600" dirty="0" err="1">
                <a:highlight>
                  <a:srgbClr val="FFFF00"/>
                </a:highlight>
              </a:rPr>
              <a:t>myform.mybutton.onclick</a:t>
            </a:r>
            <a:r>
              <a:rPr lang="en-US" altLang="zh-CN" sz="1600" dirty="0">
                <a:highlight>
                  <a:srgbClr val="FFFF00"/>
                </a:highlight>
              </a:rPr>
              <a:t>();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  &lt;/script&gt;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altLang="zh-CN" sz="1600" dirty="0"/>
              <a:t> &lt;/body&gt;</a:t>
            </a:r>
            <a:endParaRPr lang="zh-CN" altLang="en-US" sz="1800" dirty="0"/>
          </a:p>
        </p:txBody>
      </p:sp>
      <p:pic>
        <p:nvPicPr>
          <p:cNvPr id="6" name="Picture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6515100" y="4514850"/>
            <a:ext cx="2552700" cy="100607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</p:pic>
      <p:sp>
        <p:nvSpPr>
          <p:cNvPr id="8" name="AutoShape 14"/>
          <p:cNvSpPr>
            <a:spLocks noChangeArrowheads="1"/>
          </p:cNvSpPr>
          <p:nvPr/>
        </p:nvSpPr>
        <p:spPr bwMode="gray">
          <a:xfrm>
            <a:off x="3733801" y="5105399"/>
            <a:ext cx="2206626" cy="403623"/>
          </a:xfrm>
          <a:prstGeom prst="wedgeRoundRectCallout">
            <a:avLst>
              <a:gd name="adj1" fmla="val -57292"/>
              <a:gd name="adj2" fmla="val -139930"/>
              <a:gd name="adj3" fmla="val 16667"/>
            </a:avLst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代码触发事件</a:t>
            </a: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gray">
          <a:xfrm>
            <a:off x="838200" y="4648200"/>
            <a:ext cx="3168650" cy="3683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gray">
          <a:xfrm>
            <a:off x="5867400" y="4953000"/>
            <a:ext cx="1147763" cy="368300"/>
          </a:xfrm>
          <a:custGeom>
            <a:avLst/>
            <a:gdLst/>
            <a:ahLst/>
            <a:cxnLst>
              <a:cxn ang="0">
                <a:pos x="0" y="1089"/>
              </a:cxn>
              <a:cxn ang="0">
                <a:pos x="2087" y="862"/>
              </a:cxn>
              <a:cxn ang="0">
                <a:pos x="3674" y="0"/>
              </a:cxn>
            </a:cxnLst>
            <a:rect l="0" t="0" r="r" b="b"/>
            <a:pathLst>
              <a:path w="3674" h="1089">
                <a:moveTo>
                  <a:pt x="0" y="1089"/>
                </a:moveTo>
                <a:cubicBezTo>
                  <a:pt x="737" y="1066"/>
                  <a:pt x="1475" y="1043"/>
                  <a:pt x="2087" y="862"/>
                </a:cubicBezTo>
                <a:cubicBezTo>
                  <a:pt x="2699" y="681"/>
                  <a:pt x="3410" y="144"/>
                  <a:pt x="3674" y="0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gray">
          <a:xfrm>
            <a:off x="3825875" y="4495800"/>
            <a:ext cx="1584325" cy="3683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AutoShape 14"/>
          <p:cNvSpPr>
            <a:spLocks noChangeArrowheads="1"/>
          </p:cNvSpPr>
          <p:nvPr/>
        </p:nvSpPr>
        <p:spPr bwMode="gray">
          <a:xfrm>
            <a:off x="6705600" y="2133600"/>
            <a:ext cx="1944687" cy="594122"/>
          </a:xfrm>
          <a:prstGeom prst="wedgeRoundRectCallout">
            <a:avLst>
              <a:gd name="adj1" fmla="val -66360"/>
              <a:gd name="adj2" fmla="val 126048"/>
              <a:gd name="adj3" fmla="val 16667"/>
            </a:avLst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初始状态没有</a:t>
            </a:r>
            <a:r>
              <a:rPr lang="en-US" altLang="zh-CN" sz="1800" dirty="0" err="1">
                <a:solidFill>
                  <a:schemeClr val="bg1"/>
                </a:solidFill>
              </a:rPr>
              <a:t>onclick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事件处理</a:t>
            </a:r>
            <a:r>
              <a:rPr lang="en-US" altLang="zh-CN" dirty="0">
                <a:cs typeface="Arial" panose="020B0604020202020204" pitchFamily="34" charset="0"/>
              </a:rPr>
              <a:t>-</a:t>
            </a:r>
            <a:r>
              <a:rPr lang="zh-CN" altLang="en-US" dirty="0">
                <a:cs typeface="Arial" panose="020B0604020202020204" pitchFamily="34" charset="0"/>
              </a:rPr>
              <a:t>特定对象的特定事件指定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08305" y="1324610"/>
            <a:ext cx="8509000" cy="1219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特定对象的特定事件指定：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type="text/</a:t>
            </a:r>
            <a:r>
              <a:rPr lang="en-US" altLang="zh-CN" sz="16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for="</a:t>
            </a: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rPr>
              <a:t>对象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event="</a:t>
            </a: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rPr>
              <a:t>事件句柄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//</a:t>
            </a: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rPr>
              <a:t>事件处理程序代码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&lt;/script&gt;</a:t>
            </a:r>
          </a:p>
        </p:txBody>
      </p:sp>
      <p:sp>
        <p:nvSpPr>
          <p:cNvPr id="7" name="矩形 6"/>
          <p:cNvSpPr/>
          <p:nvPr/>
        </p:nvSpPr>
        <p:spPr>
          <a:xfrm>
            <a:off x="533400" y="2983865"/>
            <a:ext cx="737870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&lt;h4&gt;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给特定对象指定特定事件处理程序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&lt;/h4&gt;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type="text/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for="window" event="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onload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alert("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网页读取完成，欢迎光临！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&lt;/script&gt;	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body&gt;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&lt;/html&gt;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7485" y="4747260"/>
            <a:ext cx="2820988" cy="1434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事件处理程序的返回值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02594"/>
            <a:ext cx="8509000" cy="3860006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zh-CN" altLang="en-US" sz="1800" dirty="0"/>
              <a:t>事件处理程序的返回值</a:t>
            </a:r>
          </a:p>
          <a:p>
            <a:pPr>
              <a:lnSpc>
                <a:spcPct val="100000"/>
              </a:lnSpc>
              <a:buNone/>
            </a:pPr>
            <a:r>
              <a:rPr lang="zh-CN" altLang="en-US" sz="1800" dirty="0"/>
              <a:t>         </a:t>
            </a:r>
            <a:r>
              <a:rPr lang="zh-CN" altLang="en-US" sz="1800" b="0" dirty="0"/>
              <a:t>在</a:t>
            </a:r>
            <a:r>
              <a:rPr lang="en-US" altLang="zh-CN" sz="1800" b="0" dirty="0"/>
              <a:t>JavaScript</a:t>
            </a:r>
            <a:r>
              <a:rPr lang="zh-CN" altLang="en-US" sz="1800" b="0" dirty="0"/>
              <a:t>中通常事件处理程序</a:t>
            </a:r>
            <a:r>
              <a:rPr lang="zh-CN" altLang="en-US" sz="1800" b="0" dirty="0">
                <a:solidFill>
                  <a:srgbClr val="FF0000"/>
                </a:solidFill>
              </a:rPr>
              <a:t>不需要有返回值</a:t>
            </a:r>
            <a:r>
              <a:rPr lang="zh-CN" altLang="en-US" sz="1800" b="0" dirty="0"/>
              <a:t>，这时浏览器会按默认方式进行处理；很多情况下需要使用返回值，来判断事件处理程序是否正确进行处理。</a:t>
            </a:r>
          </a:p>
          <a:p>
            <a:pPr>
              <a:lnSpc>
                <a:spcPct val="100000"/>
              </a:lnSpc>
              <a:buNone/>
            </a:pPr>
            <a:r>
              <a:rPr lang="zh-CN" altLang="en-US" sz="1800" dirty="0"/>
              <a:t>返回值类型：</a:t>
            </a:r>
            <a:r>
              <a:rPr lang="en-US" altLang="zh-CN" sz="1800" dirty="0" err="1"/>
              <a:t>boolean</a:t>
            </a:r>
            <a:r>
              <a:rPr lang="zh-CN" altLang="en-US" sz="1800" dirty="0"/>
              <a:t>布尔型值</a:t>
            </a:r>
          </a:p>
          <a:p>
            <a:pPr>
              <a:lnSpc>
                <a:spcPct val="100000"/>
              </a:lnSpc>
              <a:buNone/>
            </a:pPr>
            <a:r>
              <a:rPr lang="zh-CN" altLang="en-US" sz="1800" b="0" dirty="0"/>
              <a:t>      浏览器根据返回值的类型决定下一步如何操作。当返回值为</a:t>
            </a:r>
            <a:r>
              <a:rPr lang="en-US" altLang="zh-CN" sz="1800" b="0" dirty="0"/>
              <a:t>true</a:t>
            </a:r>
            <a:r>
              <a:rPr lang="zh-CN" altLang="en-US" sz="1800" b="0" dirty="0"/>
              <a:t>，进行默认操作； 当返回值为 </a:t>
            </a:r>
            <a:r>
              <a:rPr lang="en-US" altLang="zh-CN" sz="1800" b="0" dirty="0"/>
              <a:t>false</a:t>
            </a:r>
            <a:r>
              <a:rPr lang="zh-CN" altLang="en-US" sz="1800" b="0" dirty="0"/>
              <a:t>，阻止浏览器的下一步操作。</a:t>
            </a:r>
          </a:p>
          <a:p>
            <a:pPr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基本语法：事件句柄</a:t>
            </a:r>
            <a:r>
              <a:rPr lang="en-US" altLang="zh-CN" sz="1800" dirty="0">
                <a:solidFill>
                  <a:srgbClr val="FF0000"/>
                </a:solidFill>
              </a:rPr>
              <a:t>=“return </a:t>
            </a:r>
            <a:r>
              <a:rPr lang="zh-CN" altLang="en-US" sz="1800" dirty="0">
                <a:solidFill>
                  <a:srgbClr val="FF0000"/>
                </a:solidFill>
              </a:rPr>
              <a:t>函数名（参数）</a:t>
            </a:r>
            <a:r>
              <a:rPr lang="en-US" altLang="zh-CN" sz="1800" dirty="0">
                <a:solidFill>
                  <a:srgbClr val="FF0000"/>
                </a:solidFill>
              </a:rPr>
              <a:t>;"       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事件处理程序的返回值</a:t>
            </a:r>
            <a:r>
              <a:rPr lang="en-US" altLang="zh-CN" dirty="0">
                <a:cs typeface="Arial" panose="020B0604020202020204" pitchFamily="34" charset="0"/>
              </a:rPr>
              <a:t>-</a:t>
            </a:r>
            <a:r>
              <a:rPr lang="zh-CN" altLang="en-US" dirty="0">
                <a:cs typeface="Arial" panose="020B0604020202020204" pitchFamily="34" charset="0"/>
              </a:rPr>
              <a:t>案例 </a:t>
            </a:r>
          </a:p>
        </p:txBody>
      </p:sp>
      <p:sp>
        <p:nvSpPr>
          <p:cNvPr id="4" name="矩形 3"/>
          <p:cNvSpPr/>
          <p:nvPr/>
        </p:nvSpPr>
        <p:spPr>
          <a:xfrm>
            <a:off x="271145" y="1405890"/>
            <a:ext cx="8601710" cy="4210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language="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function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showName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if(document.form1.name1.value=="") {  alert("</a:t>
            </a:r>
            <a:r>
              <a:rPr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没有输入内容！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 return false;}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else { alert("</a:t>
            </a:r>
            <a:r>
              <a:rPr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欢迎你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!"+document.form1.name1.value); return true;}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&lt;body&gt;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&lt;h4&gt;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事件处理程序返回值的应用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&lt;/h4&gt;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&lt;!-- 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onsubmit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事件处理函数返回真值就执行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action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指定的网页 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--&gt;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&lt;form name="form1" action="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simple.html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 </a:t>
            </a:r>
            <a:r>
              <a:rPr lang="en-US" altLang="zh-CN" sz="16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onsubmit</a:t>
            </a:r>
            <a:r>
              <a:rPr lang="en-US" altLang="zh-CN" sz="16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="return </a:t>
            </a:r>
            <a:r>
              <a:rPr lang="en-US" altLang="zh-CN" sz="16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showName</a:t>
            </a:r>
            <a:r>
              <a:rPr lang="en-US" altLang="zh-CN" sz="16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();"&gt;</a:t>
            </a:r>
            <a:endParaRPr lang="en-US" altLang="zh-CN" sz="16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姓名：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&lt;input type="text" name="name1" /&gt;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&lt;input type="submit" value="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提交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"/&gt;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&lt;/form&gt;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&lt;/body&gt;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</a:pP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09995" y="4376747"/>
            <a:ext cx="2209800" cy="2066290"/>
          </a:xfrm>
          <a:prstGeom prst="rect">
            <a:avLst/>
          </a:prstGeom>
          <a:ln>
            <a:solidFill>
              <a:srgbClr val="0000FA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&lt;!-- simple.html --&gt;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&lt;html&gt;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&lt;head&gt;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&lt;title&gt; 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简单测试页面 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&lt;/title&gt;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&lt;/head&gt;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&lt;body&gt;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&lt;p&gt;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这是简单测试页面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&lt;/p&gt;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&lt;/body&gt;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&lt;/html&gt;</a:t>
            </a:r>
            <a:endParaRPr lang="en-US" altLang="zh-C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1906905" y="5432425"/>
            <a:ext cx="3654425" cy="937260"/>
          </a:xfrm>
          <a:prstGeom prst="wedgeRoundRectCallout">
            <a:avLst>
              <a:gd name="adj1" fmla="val 54726"/>
              <a:gd name="adj2" fmla="val -190853"/>
              <a:gd name="adj3" fmla="val 16667"/>
            </a:avLst>
          </a:prstGeom>
          <a:solidFill>
            <a:srgbClr val="0000FA"/>
          </a:solidFill>
          <a:ln w="254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vert="horz" wrap="none" lIns="91440" tIns="45720" rIns="91440" bIns="45720" numCol="1" rtlCol="0" anchor="ctr" anchorCtr="0" compatLnSpc="1"/>
          <a:lstStyle/>
          <a:p>
            <a:pPr marR="0" algn="l" defTabSz="1158875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tabLst>
                <a:tab pos="1614170" algn="l"/>
              </a:tabLst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返回结果为真，跳转到</a:t>
            </a:r>
            <a:r>
              <a:rPr lang="en-US" altLang="zh-CN" sz="1800" dirty="0">
                <a:solidFill>
                  <a:schemeClr val="bg1"/>
                </a:solidFill>
              </a:rPr>
              <a:t>action</a:t>
            </a:r>
          </a:p>
          <a:p>
            <a:pPr marR="0" algn="l" defTabSz="1158875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tabLst>
                <a:tab pos="1614170" algn="l"/>
              </a:tabLst>
            </a:pPr>
            <a:r>
              <a:rPr lang="zh-CN" altLang="en-US" sz="1800" dirty="0">
                <a:solidFill>
                  <a:schemeClr val="bg1"/>
                </a:solidFill>
              </a:rPr>
              <a:t>属性指定的</a:t>
            </a:r>
            <a:r>
              <a:rPr lang="en-US" altLang="zh-CN" sz="1800" dirty="0">
                <a:solidFill>
                  <a:schemeClr val="bg1"/>
                </a:solidFill>
              </a:rPr>
              <a:t>URL</a:t>
            </a:r>
            <a:r>
              <a:rPr lang="zh-CN" altLang="en-US" sz="1800" dirty="0">
                <a:solidFill>
                  <a:schemeClr val="bg1"/>
                </a:solidFill>
              </a:rPr>
              <a:t>上执行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表单事件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0" y="1682353"/>
            <a:ext cx="8502651" cy="75604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1588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kumimoji="0" lang="en-US" altLang="zh-CN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Form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表单是网页设计是一种重要的与用户进行交互的工具，它用于采集用户输入各类信息。表单事件如下表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所示。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11588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38200" y="2667000"/>
          <a:ext cx="7973695" cy="262826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44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事件分类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事件句柄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事件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35">
                <a:tc rowSpan="6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表单元素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事件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onchange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当元素改变时执行脚本 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onsubmit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当表单被提交时执行脚本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onreset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当表单被重置时执行脚本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onselect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当元素被选取时执行脚本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onblur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当元素失去焦点时执行脚本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onfocus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当元素获得焦点时执行脚本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获得及失去焦点事件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398191"/>
            <a:ext cx="8534400" cy="69413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       </a:t>
            </a:r>
            <a:r>
              <a:rPr lang="zh-CN" altLang="en-US" sz="1600" dirty="0"/>
              <a:t>当表单中的元素获得焦点时会触发</a:t>
            </a:r>
            <a:r>
              <a:rPr lang="en-US" altLang="zh-CN" sz="1600" dirty="0"/>
              <a:t>Focus</a:t>
            </a:r>
            <a:r>
              <a:rPr lang="zh-CN" altLang="en-US" sz="1600" dirty="0"/>
              <a:t>获得事件，当表单中的元素失去焦点时会触发</a:t>
            </a:r>
            <a:r>
              <a:rPr lang="en-US" altLang="zh-CN" sz="1600" dirty="0"/>
              <a:t>Blur</a:t>
            </a:r>
            <a:r>
              <a:rPr lang="zh-CN" altLang="en-US" sz="1600" dirty="0"/>
              <a:t>失去焦点事件。</a:t>
            </a:r>
          </a:p>
          <a:p>
            <a:endParaRPr lang="zh-CN" altLang="en-US" sz="1600" dirty="0"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2418080"/>
            <a:ext cx="7973060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&lt;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script</a:t>
            </a:r>
            <a:r>
              <a:rPr lang="en-US" altLang="zh-CN" sz="1600" dirty="0">
                <a:latin typeface="Verdana" panose="020B0604030504040204" pitchFamily="34" charset="0"/>
              </a:rPr>
              <a:t> language="</a:t>
            </a:r>
            <a:r>
              <a:rPr lang="en-US" altLang="zh-CN" sz="1600" dirty="0" err="1">
                <a:latin typeface="Verdana" panose="020B0604030504040204" pitchFamily="34" charset="0"/>
              </a:rPr>
              <a:t>javascript</a:t>
            </a:r>
            <a:r>
              <a:rPr lang="en-US" altLang="zh-CN" sz="1600" dirty="0">
                <a:latin typeface="Verdana" panose="020B0604030504040204" pitchFamily="34" charset="0"/>
              </a:rPr>
              <a:t>" type="text/</a:t>
            </a:r>
            <a:r>
              <a:rPr lang="en-US" altLang="zh-CN" sz="1600" dirty="0" err="1">
                <a:latin typeface="Verdana" panose="020B0604030504040204" pitchFamily="34" charset="0"/>
              </a:rPr>
              <a:t>javascript</a:t>
            </a:r>
            <a:r>
              <a:rPr lang="en-US" altLang="zh-CN" sz="1600" dirty="0">
                <a:latin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     function </a:t>
            </a:r>
            <a:r>
              <a:rPr lang="en-US" altLang="zh-CN" sz="1600" dirty="0" err="1">
                <a:latin typeface="Verdana" panose="020B0604030504040204" pitchFamily="34" charset="0"/>
              </a:rPr>
              <a:t>getFocus</a:t>
            </a:r>
            <a:r>
              <a:rPr lang="en-US" altLang="zh-CN" sz="1600" dirty="0">
                <a:latin typeface="Verdana" panose="020B0604030504040204" pitchFamily="34" charset="0"/>
              </a:rPr>
              <a:t>(){</a:t>
            </a:r>
            <a:r>
              <a:rPr lang="en-US" altLang="zh-CN" sz="1600" dirty="0" err="1">
                <a:latin typeface="Verdana" panose="020B0604030504040204" pitchFamily="34" charset="0"/>
              </a:rPr>
              <a:t>document.bgColor</a:t>
            </a:r>
            <a:r>
              <a:rPr lang="en-US" altLang="zh-CN" sz="1600" dirty="0">
                <a:latin typeface="Verdana" panose="020B0604030504040204" pitchFamily="34" charset="0"/>
              </a:rPr>
              <a:t> ="red“;}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     function </a:t>
            </a:r>
            <a:r>
              <a:rPr lang="en-US" altLang="zh-CN" sz="1600" dirty="0" err="1">
                <a:latin typeface="Verdana" panose="020B0604030504040204" pitchFamily="34" charset="0"/>
              </a:rPr>
              <a:t>loseFocus</a:t>
            </a:r>
            <a:r>
              <a:rPr lang="en-US" altLang="zh-CN" sz="1600" dirty="0">
                <a:latin typeface="Verdana" panose="020B0604030504040204" pitchFamily="34" charset="0"/>
              </a:rPr>
              <a:t>(){</a:t>
            </a:r>
            <a:r>
              <a:rPr lang="en-US" altLang="zh-CN" sz="1600" dirty="0" err="1">
                <a:latin typeface="Verdana" panose="020B0604030504040204" pitchFamily="34" charset="0"/>
              </a:rPr>
              <a:t>document.bgColor</a:t>
            </a:r>
            <a:r>
              <a:rPr lang="en-US" altLang="zh-CN" sz="1600" dirty="0">
                <a:latin typeface="Verdana" panose="020B0604030504040204" pitchFamily="34" charset="0"/>
              </a:rPr>
              <a:t> ="blue“;}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&lt;body&gt;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  &lt;form&gt;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    &lt;br/&gt;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    &lt;input type="button" </a:t>
            </a:r>
            <a:r>
              <a:rPr lang="en-US" altLang="zh-CN" sz="1600" dirty="0" err="1">
                <a:latin typeface="Verdana" panose="020B0604030504040204" pitchFamily="34" charset="0"/>
              </a:rPr>
              <a:t>onfocus</a:t>
            </a:r>
            <a:r>
              <a:rPr lang="en-US" altLang="zh-CN" sz="1600" dirty="0">
                <a:latin typeface="Verdana" panose="020B0604030504040204" pitchFamily="34" charset="0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</a:rPr>
              <a:t>getFocus</a:t>
            </a:r>
            <a:r>
              <a:rPr lang="en-US" altLang="zh-CN" sz="1600" dirty="0">
                <a:latin typeface="Verdana" panose="020B0604030504040204" pitchFamily="34" charset="0"/>
              </a:rPr>
              <a:t>()" value="</a:t>
            </a:r>
            <a:r>
              <a:rPr lang="zh-CN" altLang="en-US" sz="1600" dirty="0">
                <a:latin typeface="Verdana" panose="020B0604030504040204" pitchFamily="34" charset="0"/>
              </a:rPr>
              <a:t>获得</a:t>
            </a:r>
            <a:r>
              <a:rPr lang="en-US" altLang="zh-CN" sz="1600" dirty="0">
                <a:latin typeface="Verdana" panose="020B0604030504040204" pitchFamily="34" charset="0"/>
              </a:rPr>
              <a:t>/</a:t>
            </a:r>
            <a:r>
              <a:rPr lang="zh-CN" altLang="en-US" sz="1600" dirty="0">
                <a:latin typeface="Verdana" panose="020B0604030504040204" pitchFamily="34" charset="0"/>
              </a:rPr>
              <a:t>失去焦点触发事件</a:t>
            </a:r>
            <a:r>
              <a:rPr lang="en-US" altLang="zh-CN" sz="1600" dirty="0">
                <a:latin typeface="Verdana" panose="020B0604030504040204" pitchFamily="34" charset="0"/>
              </a:rPr>
              <a:t>" </a:t>
            </a:r>
            <a:r>
              <a:rPr lang="en-US" altLang="zh-CN" sz="1600" dirty="0" err="1">
                <a:latin typeface="Verdana" panose="020B0604030504040204" pitchFamily="34" charset="0"/>
              </a:rPr>
              <a:t>onblur</a:t>
            </a:r>
            <a:r>
              <a:rPr lang="en-US" altLang="zh-CN" sz="1600" dirty="0">
                <a:latin typeface="Verdana" panose="020B0604030504040204" pitchFamily="34" charset="0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</a:rPr>
              <a:t>loseFocus</a:t>
            </a:r>
            <a:r>
              <a:rPr lang="en-US" altLang="zh-CN" sz="1600" dirty="0">
                <a:latin typeface="Verdana" panose="020B0604030504040204" pitchFamily="34" charset="0"/>
              </a:rPr>
              <a:t>()"/&gt;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  &lt;/form&gt;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latin typeface="Verdana" panose="020B0604030504040204" pitchFamily="34" charset="0"/>
              </a:rPr>
              <a:t>&lt;/body&gt;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9830" y="5312410"/>
            <a:ext cx="1900237" cy="1228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34405" y="5312410"/>
            <a:ext cx="1939925" cy="1253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提交及重置事件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436880" y="1182370"/>
            <a:ext cx="8534400" cy="78105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/>
              <a:t>      表单的</a:t>
            </a:r>
            <a:r>
              <a:rPr lang="en-US" altLang="zh-CN" sz="1600" dirty="0"/>
              <a:t>Submit</a:t>
            </a:r>
            <a:r>
              <a:rPr lang="zh-CN" altLang="en-US" sz="1600" dirty="0"/>
              <a:t>事件触发后会将表单中的数据提交到服务器端，</a:t>
            </a:r>
            <a:r>
              <a:rPr lang="en-US" altLang="zh-CN" sz="1600" dirty="0">
                <a:highlight>
                  <a:srgbClr val="FFFF00"/>
                </a:highlight>
              </a:rPr>
              <a:t>Reset</a:t>
            </a:r>
            <a:r>
              <a:rPr lang="zh-CN" altLang="en-US" sz="1600" dirty="0">
                <a:highlight>
                  <a:srgbClr val="FFFF00"/>
                </a:highlight>
              </a:rPr>
              <a:t>事件触发后会将表单中的数据重置为初始值。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36880" y="1775460"/>
            <a:ext cx="8534400" cy="31242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&lt;script  type="text/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javascript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"&gt;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function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submitTest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() { 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  var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msg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="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表单数据的获取：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\n"; 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  var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username =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document.getElementById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("input1").value;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  msg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+="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用户名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:"+</a:t>
            </a:r>
            <a:r>
              <a:rPr lang="en-US" altLang="zh-CN" sz="14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  <a:sym typeface="+mn-ea"/>
              </a:rPr>
              <a:t>username;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j-cs"/>
            </a:endParaRP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  var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psw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=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document.getElementById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("input2").value;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 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msg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+="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，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\n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密码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: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是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"+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psw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;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  alert(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msg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);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return false;</a:t>
            </a:r>
          </a:p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j-cs"/>
              </a:rPr>
              <a:t>  }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function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resetTest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 {alert("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将数据清空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&lt;/script&gt;  ……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&lt;body&gt;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&lt;form 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onsubmit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="return 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submitTest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();"  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onreset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="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resetTest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()"&gt; 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&lt;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fieldset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&lt;legend&gt;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表单数据提交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&lt;/legend&gt;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&lt;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br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&gt;&lt;label&gt;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用户名：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&lt;/label&gt;&lt;input type="text" id="input1"&gt;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&lt;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br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&gt;&lt;label&gt;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密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&amp;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nbsp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;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码：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&lt;/label&gt;&lt;input type="password" id="input2"&gt;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&lt;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br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&gt;&lt;input type="submit" value="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提交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"&gt;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&lt;input type="reset" value="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重置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"&gt;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&lt;/</a:t>
            </a:r>
            <a:r>
              <a:rPr lang="en-US" altLang="zh-CN" sz="1400" dirty="0" err="1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fieldset</a:t>
            </a: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&lt;/form&gt;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&lt;/body&gt;</a:t>
            </a:r>
            <a:endParaRPr lang="en-US" altLang="zh-CN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180715"/>
            <a:ext cx="3450590" cy="1324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改变及选择事件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402590" y="1160780"/>
            <a:ext cx="8509000" cy="53886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&lt;script language="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javascript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"&gt;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function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changeImage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() {           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a =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document.getElementById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("game").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selectedIndex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//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获取下拉框中选择项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document.getElementById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("show").src =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document.getElementById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("game").options[a].value;//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图片更改为对应选择项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}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&lt;/script&gt;……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&lt;form&gt;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  </a:t>
            </a:r>
            <a:r>
              <a:rPr sz="1400" dirty="0">
                <a:latin typeface="Verdana" panose="020B0604030504040204" pitchFamily="34" charset="0"/>
              </a:rPr>
              <a:t>&lt;select id="game</a:t>
            </a:r>
            <a:r>
              <a:rPr sz="1400" dirty="0">
                <a:highlight>
                  <a:srgbClr val="FFFF00"/>
                </a:highlight>
                <a:latin typeface="Verdana" panose="020B0604030504040204" pitchFamily="34" charset="0"/>
              </a:rPr>
              <a:t>" onChange="changeImage()" </a:t>
            </a:r>
            <a:r>
              <a:rPr sz="1400" dirty="0">
                <a:latin typeface="Verdana" panose="020B0604030504040204" pitchFamily="34" charset="0"/>
              </a:rPr>
              <a:t>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    &lt;option value="pic4.jpg"&gt;--请选择--&lt;/option&gt;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    &lt;option value="pic0.jpg"&gt;平板电视&lt;/option&gt;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    &lt;option value="pic1.jpg"&gt;笔记本电脑&lt;/option&gt;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    &lt;option value="pic2.jpg"&gt;单反相机&lt;/option&gt;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    &lt;option value="pic3.jpg"&gt;智能手机&lt;/option&gt;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  &lt;/select&gt;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&lt;/form&gt;……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</a:rPr>
              <a:t>&lt;img  src="pic4.jpg"  id="show"&gt;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0765" y="5344160"/>
            <a:ext cx="5767705" cy="368300"/>
          </a:xfrm>
          <a:prstGeom prst="rect">
            <a:avLst/>
          </a:prstGeom>
          <a:noFill/>
          <a:ln>
            <a:solidFill>
              <a:srgbClr val="0000FA"/>
            </a:solidFill>
          </a:ln>
        </p:spPr>
        <p:txBody>
          <a:bodyPr wrap="square" rtlCol="0">
            <a:spAutoFit/>
          </a:bodyPr>
          <a:lstStyle/>
          <a:p>
            <a:pPr marL="357505" indent="-357505"/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注：当选择列表项时发生改变事件，调用函数更新图像。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09130" y="2687955"/>
            <a:ext cx="1512887" cy="169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44690" y="4453890"/>
            <a:ext cx="14414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鼠标事件 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144191"/>
            <a:ext cx="8534400" cy="107513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/>
              <a:t>       用户在页面上操作鼠标会触发鼠标事件，如用户单击鼠标左键会触发</a:t>
            </a:r>
            <a:r>
              <a:rPr lang="en-US" altLang="zh-CN" sz="1600" dirty="0"/>
              <a:t>Click</a:t>
            </a:r>
            <a:r>
              <a:rPr lang="zh-CN" altLang="en-US" sz="1600" dirty="0"/>
              <a:t>事件，双击鼠标时会触发</a:t>
            </a:r>
            <a:r>
              <a:rPr lang="en-US" altLang="zh-CN" sz="1600" dirty="0" err="1"/>
              <a:t>DblClick</a:t>
            </a:r>
            <a:r>
              <a:rPr lang="zh-CN" altLang="en-US" sz="1600" dirty="0"/>
              <a:t>事件，移动鼠标会触发鼠标移动事件，详见下表所示。 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61037" y="2407285"/>
          <a:ext cx="7924165" cy="280489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事件分类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事件句柄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事件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rowSpan="7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鼠标事件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onclick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当鼠标被单击时执行脚本 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ondblclick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当鼠标被双击时执行脚本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onmousedown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当鼠标按钮被按下时执行脚本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onmousemove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当鼠标指针移动时执行脚本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onmouseout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当鼠标指针移出某元素时执行脚本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5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onmouseover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当鼠标指针悬停于某元素之上时执行脚本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onmouseup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当鼠标按钮被松开时执行脚本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Arial" panose="020B0604020202020204" pitchFamily="34" charset="0"/>
              </a:rPr>
              <a:t>鼠标单击、双击事件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332230"/>
            <a:ext cx="8320405" cy="478536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&lt;script type="text/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javascript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"&gt;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  function $(id){return 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document.getElementById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(id);}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  function 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copyText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(){$("target").value=$("source").value;	}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&lt;/script&gt;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……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&lt;body&gt;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  &lt;h4&gt;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文本框内容复制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&lt;/h4&gt;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	&lt;form method="post" action=""&gt;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来源文本框：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&lt;input type="text" id="source" value=""&gt;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	&lt;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br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&gt;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目标文本框：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&lt;input type="text" id="target" 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readonly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	&lt;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br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&gt;&lt;input type="button" value="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复制文本框内容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" 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onclick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  <a:ea typeface="宋体" panose="02010600030101010101" pitchFamily="2" charset="-122"/>
              </a:rPr>
              <a:t>copyText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();"&gt;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	&lt;/form&gt;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&lt;/body&gt;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5550" y="4350385"/>
            <a:ext cx="2252663" cy="216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鼠标移动事件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418465" y="1168322"/>
            <a:ext cx="8534400" cy="770333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  鼠标移动事件有：</a:t>
            </a:r>
            <a:r>
              <a:rPr lang="en-US" altLang="zh-CN" sz="1600" dirty="0" err="1"/>
              <a:t>MouseOver</a:t>
            </a:r>
            <a:r>
              <a:rPr lang="zh-CN" altLang="en-US" sz="1600" dirty="0"/>
              <a:t>事件、</a:t>
            </a:r>
            <a:r>
              <a:rPr lang="en-US" altLang="zh-CN" sz="1600" dirty="0" err="1"/>
              <a:t>MouseOut</a:t>
            </a:r>
            <a:r>
              <a:rPr lang="zh-CN" altLang="en-US" sz="1600" dirty="0"/>
              <a:t>事件、</a:t>
            </a:r>
            <a:r>
              <a:rPr lang="en-US" altLang="zh-CN" sz="1600" dirty="0" err="1"/>
              <a:t>MouseDown</a:t>
            </a:r>
            <a:r>
              <a:rPr lang="zh-CN" altLang="en-US" sz="1600" dirty="0"/>
              <a:t>及</a:t>
            </a:r>
            <a:r>
              <a:rPr lang="en-US" altLang="zh-CN" sz="1600" dirty="0" err="1"/>
              <a:t>MouseUp</a:t>
            </a:r>
            <a:r>
              <a:rPr lang="zh-CN" altLang="en-US" sz="1600" dirty="0"/>
              <a:t>等事件。 </a:t>
            </a:r>
          </a:p>
        </p:txBody>
      </p:sp>
      <p:sp>
        <p:nvSpPr>
          <p:cNvPr id="4" name="矩形 3"/>
          <p:cNvSpPr/>
          <p:nvPr/>
        </p:nvSpPr>
        <p:spPr>
          <a:xfrm>
            <a:off x="418465" y="2077115"/>
            <a:ext cx="8534400" cy="4215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</a:rPr>
              <a:t>&lt;script type="text/</a:t>
            </a:r>
            <a:r>
              <a:rPr lang="en-US" altLang="zh-CN" sz="1600" b="0" dirty="0" err="1">
                <a:latin typeface="Verdana" panose="020B0604030504040204" pitchFamily="34" charset="0"/>
              </a:rPr>
              <a:t>javascript</a:t>
            </a:r>
            <a:r>
              <a:rPr lang="en-US" altLang="zh-CN" sz="1600" b="0" dirty="0">
                <a:latin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</a:rPr>
              <a:t>  function </a:t>
            </a:r>
            <a:r>
              <a:rPr lang="en-US" altLang="zh-CN" sz="1600" b="0" dirty="0" err="1">
                <a:latin typeface="Verdana" panose="020B0604030504040204" pitchFamily="34" charset="0"/>
              </a:rPr>
              <a:t>mouseOver</a:t>
            </a:r>
            <a:r>
              <a:rPr lang="en-US" altLang="zh-CN" sz="1600" b="0" dirty="0">
                <a:latin typeface="Verdana" panose="020B0604030504040204" pitchFamily="34" charset="0"/>
              </a:rPr>
              <a:t>(){//</a:t>
            </a:r>
            <a:r>
              <a:rPr lang="zh-CN" altLang="en-US" sz="1600" b="0" dirty="0">
                <a:latin typeface="Verdana" panose="020B0604030504040204" pitchFamily="34" charset="0"/>
              </a:rPr>
              <a:t>鼠标盘旋</a:t>
            </a:r>
            <a:endParaRPr lang="en-US" altLang="zh-CN" sz="1600" b="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</a:rPr>
              <a:t>    </a:t>
            </a:r>
            <a:r>
              <a:rPr lang="en-US" altLang="zh-CN" sz="1600" b="0" dirty="0" err="1">
                <a:latin typeface="Verdana" panose="020B0604030504040204" pitchFamily="34" charset="0"/>
              </a:rPr>
              <a:t>document.getElementById</a:t>
            </a:r>
            <a:r>
              <a:rPr lang="en-US" altLang="zh-CN" sz="1600" b="0" dirty="0">
                <a:latin typeface="Verdana" panose="020B0604030504040204" pitchFamily="34" charset="0"/>
              </a:rPr>
              <a:t>('b1').src ="eg_mouse1.jpg”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</a:rPr>
              <a:t>  function </a:t>
            </a:r>
            <a:r>
              <a:rPr lang="en-US" altLang="zh-CN" sz="1600" b="0" dirty="0" err="1">
                <a:latin typeface="Verdana" panose="020B0604030504040204" pitchFamily="34" charset="0"/>
              </a:rPr>
              <a:t>mouseOut</a:t>
            </a:r>
            <a:r>
              <a:rPr lang="en-US" altLang="zh-CN" sz="1600" b="0" dirty="0">
                <a:latin typeface="Verdana" panose="020B0604030504040204" pitchFamily="34" charset="0"/>
              </a:rPr>
              <a:t>(){//</a:t>
            </a:r>
            <a:r>
              <a:rPr lang="zh-CN" altLang="en-US" sz="1600" b="0" dirty="0">
                <a:latin typeface="Verdana" panose="020B0604030504040204" pitchFamily="34" charset="0"/>
              </a:rPr>
              <a:t>鼠标移出</a:t>
            </a:r>
            <a:endParaRPr lang="en-US" altLang="zh-CN" sz="1600" b="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</a:rPr>
              <a:t>    </a:t>
            </a:r>
            <a:r>
              <a:rPr lang="en-US" altLang="zh-CN" sz="1600" b="0" dirty="0" err="1">
                <a:latin typeface="Verdana" panose="020B0604030504040204" pitchFamily="34" charset="0"/>
              </a:rPr>
              <a:t>document.getElementById</a:t>
            </a:r>
            <a:r>
              <a:rPr lang="en-US" altLang="zh-CN" sz="1600" b="0" dirty="0">
                <a:latin typeface="Verdana" panose="020B0604030504040204" pitchFamily="34" charset="0"/>
              </a:rPr>
              <a:t>('b1').src ="eg_mouse2.jpg”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</a:rPr>
              <a:t>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0" dirty="0">
              <a:latin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&lt;body&gt;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  &lt;h3 align="center"&gt;</a:t>
            </a:r>
            <a:r>
              <a:rPr lang="zh-CN" altLang="en-US" sz="1600" dirty="0">
                <a:latin typeface="Verdana" panose="020B0604030504040204" pitchFamily="34" charset="0"/>
                <a:sym typeface="+mn-ea"/>
              </a:rPr>
              <a:t>鼠标移动事件</a:t>
            </a: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&lt;/h3&gt;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  &lt;hr color="blue"&gt;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  &lt;p align="center"&gt;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    &lt;img alt="</a:t>
            </a:r>
            <a:r>
              <a:rPr lang="zh-CN" altLang="en-US" sz="1600" dirty="0">
                <a:latin typeface="Verdana" panose="020B0604030504040204" pitchFamily="34" charset="0"/>
                <a:sym typeface="+mn-ea"/>
              </a:rPr>
              <a:t>鼠标移动</a:t>
            </a: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" src="eg_mouse2.jpg" id="b1"</a:t>
            </a:r>
            <a:br>
              <a:rPr lang="en-US" altLang="zh-CN" sz="1600" dirty="0">
                <a:latin typeface="Verdana" panose="020B0604030504040204" pitchFamily="34" charset="0"/>
                <a:sym typeface="+mn-ea"/>
              </a:rPr>
            </a:b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             </a:t>
            </a:r>
            <a:r>
              <a:rPr lang="en-US" altLang="zh-CN" sz="1600" dirty="0" err="1">
                <a:latin typeface="Verdana" panose="020B0604030504040204" pitchFamily="34" charset="0"/>
                <a:sym typeface="+mn-ea"/>
              </a:rPr>
              <a:t>onmouseover</a:t>
            </a: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  <a:sym typeface="+mn-ea"/>
              </a:rPr>
              <a:t>mouseOver</a:t>
            </a: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()" </a:t>
            </a:r>
            <a:r>
              <a:rPr lang="en-US" altLang="zh-CN" sz="1600" dirty="0" err="1">
                <a:latin typeface="Verdana" panose="020B0604030504040204" pitchFamily="34" charset="0"/>
                <a:sym typeface="+mn-ea"/>
              </a:rPr>
              <a:t>onmouseout</a:t>
            </a: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  <a:sym typeface="+mn-ea"/>
              </a:rPr>
              <a:t>mouseOut</a:t>
            </a: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()"/&gt;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  &lt;/p&gt;</a:t>
            </a:r>
            <a:endParaRPr lang="en-US" altLang="zh-CN" sz="1600" dirty="0">
              <a:latin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sym typeface="+mn-ea"/>
              </a:rPr>
              <a:t>&lt;/body&gt;</a:t>
            </a:r>
            <a:endParaRPr lang="en-US" altLang="zh-CN" sz="160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200" b="0" dirty="0">
              <a:latin typeface="Verdana" panose="020B060403050404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0585" y="1718945"/>
            <a:ext cx="1544320" cy="1577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20585" y="3296285"/>
            <a:ext cx="1544320" cy="157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键盘事件</a:t>
            </a:r>
          </a:p>
        </p:txBody>
      </p:sp>
      <p:graphicFrame>
        <p:nvGraphicFramePr>
          <p:cNvPr id="5" name="Group 3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0604" y="1910952"/>
          <a:ext cx="8134350" cy="140335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53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3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事件分类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事件句柄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事件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键盘事件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onkeydown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当键盘被按下时执行脚本 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onkeypress</a:t>
                      </a:r>
                      <a:endParaRPr kumimoji="0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当键盘被按下后又松开时执行脚本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onkeyup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当键盘被松开时执行脚本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33"/>
          <p:cNvSpPr>
            <a:spLocks noChangeArrowheads="1"/>
          </p:cNvSpPr>
          <p:nvPr/>
        </p:nvSpPr>
        <p:spPr bwMode="gray">
          <a:xfrm>
            <a:off x="560386" y="3780824"/>
            <a:ext cx="8431214" cy="998855"/>
          </a:xfrm>
          <a:prstGeom prst="rect">
            <a:avLst/>
          </a:prstGeom>
          <a:solidFill>
            <a:schemeClr val="bg1"/>
          </a:solidFill>
          <a:ln w="38100" algn="ctr">
            <a:solidFill>
              <a:schemeClr val="bg1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通过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window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event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对象的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keyCode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属性来获取</a:t>
            </a:r>
            <a:r>
              <a:rPr lang="zh-CN" altLang="en-US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按键代码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的值，其中：回车：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～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48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～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57; Aa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～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Zz:65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～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90; </a:t>
            </a:r>
          </a:p>
          <a:p>
            <a:pPr algn="l"/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使用方法</a:t>
            </a:r>
            <a:r>
              <a:rPr lang="zh-CN" altLang="en-US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0" dirty="0" err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window.event.keyCode</a:t>
            </a:r>
            <a:r>
              <a:rPr lang="zh-CN" altLang="en-US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b="0" dirty="0" err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event.keyCode</a:t>
            </a:r>
            <a:r>
              <a:rPr lang="zh-CN" altLang="en-US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键盘事件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353695" y="1332230"/>
            <a:ext cx="8448675" cy="5127625"/>
          </a:xfrm>
        </p:spPr>
        <p:txBody>
          <a:bodyPr>
            <a:normAutofit/>
          </a:bodyPr>
          <a:lstStyle/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&lt;script type="text/</a:t>
            </a:r>
            <a:r>
              <a:rPr lang="en-US" altLang="zh-CN" sz="1400" dirty="0" err="1">
                <a:ea typeface="宋体" panose="02010600030101010101" pitchFamily="2" charset="-122"/>
              </a:rPr>
              <a:t>javascript</a:t>
            </a:r>
            <a:r>
              <a:rPr lang="en-US" altLang="zh-CN" sz="1400" dirty="0">
                <a:ea typeface="宋体" panose="02010600030101010101" pitchFamily="2" charset="-122"/>
              </a:rPr>
              <a:t>"&gt;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function </a:t>
            </a:r>
            <a:r>
              <a:rPr lang="en-US" altLang="zh-CN" sz="1400" dirty="0" err="1">
                <a:ea typeface="宋体" panose="02010600030101010101" pitchFamily="2" charset="-122"/>
              </a:rPr>
              <a:t>k_press</a:t>
            </a:r>
            <a:r>
              <a:rPr lang="en-US" altLang="zh-CN" sz="1400" dirty="0">
                <a:ea typeface="宋体" panose="02010600030101010101" pitchFamily="2" charset="-122"/>
              </a:rPr>
              <a:t>(){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</a:rPr>
              <a:t>    </a:t>
            </a:r>
            <a:r>
              <a:rPr lang="en-US" altLang="zh-CN" sz="1400" dirty="0">
                <a:ea typeface="宋体" panose="02010600030101010101" pitchFamily="2" charset="-122"/>
              </a:rPr>
              <a:t>if(</a:t>
            </a:r>
            <a:r>
              <a:rPr lang="en-US" altLang="zh-CN" sz="1400" dirty="0" err="1">
                <a:ea typeface="宋体" panose="02010600030101010101" pitchFamily="2" charset="-122"/>
              </a:rPr>
              <a:t>window.event.keyCode</a:t>
            </a:r>
            <a:r>
              <a:rPr lang="en-US" altLang="zh-CN" sz="1400" dirty="0">
                <a:ea typeface="宋体" panose="02010600030101010101" pitchFamily="2" charset="-122"/>
              </a:rPr>
              <a:t>!=13){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 if(</a:t>
            </a:r>
            <a:r>
              <a:rPr lang="en-US" altLang="zh-CN" sz="1400" dirty="0" err="1">
                <a:ea typeface="宋体" panose="02010600030101010101" pitchFamily="2" charset="-122"/>
              </a:rPr>
              <a:t>event.keyCode</a:t>
            </a:r>
            <a:r>
              <a:rPr lang="en-US" altLang="zh-CN" sz="1400" dirty="0">
                <a:ea typeface="宋体" panose="02010600030101010101" pitchFamily="2" charset="-122"/>
              </a:rPr>
              <a:t>&lt;48 || </a:t>
            </a:r>
            <a:r>
              <a:rPr lang="en-US" altLang="zh-CN" sz="1400" dirty="0" err="1">
                <a:ea typeface="宋体" panose="02010600030101010101" pitchFamily="2" charset="-122"/>
              </a:rPr>
              <a:t>event.keyCode</a:t>
            </a:r>
            <a:r>
              <a:rPr lang="en-US" altLang="zh-CN" sz="1400" dirty="0">
                <a:ea typeface="宋体" panose="02010600030101010101" pitchFamily="2" charset="-122"/>
              </a:rPr>
              <a:t>&gt;57</a:t>
            </a:r>
            <a:r>
              <a:rPr lang="zh-CN" altLang="en-US" sz="1400" dirty="0">
                <a:ea typeface="宋体" panose="02010600030101010101" pitchFamily="2" charset="-122"/>
              </a:rPr>
              <a:t>  </a:t>
            </a:r>
            <a:r>
              <a:rPr lang="en-US" altLang="zh-CN" sz="1400" dirty="0">
                <a:ea typeface="宋体" panose="02010600030101010101" pitchFamily="2" charset="-122"/>
              </a:rPr>
              <a:t>{alert("</a:t>
            </a:r>
            <a:r>
              <a:rPr lang="zh-CN" altLang="en-US" sz="1400" dirty="0">
                <a:ea typeface="宋体" panose="02010600030101010101" pitchFamily="2" charset="-122"/>
              </a:rPr>
              <a:t>你输入学号错误！</a:t>
            </a:r>
            <a:r>
              <a:rPr lang="en-US" altLang="zh-CN" sz="1400" dirty="0">
                <a:ea typeface="宋体" panose="02010600030101010101" pitchFamily="2" charset="-122"/>
              </a:rPr>
              <a:t>");}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</a:rPr>
              <a:t>    </a:t>
            </a:r>
            <a:r>
              <a:rPr lang="en-US" altLang="zh-CN" sz="1400" dirty="0">
                <a:ea typeface="宋体" panose="02010600030101010101" pitchFamily="2" charset="-122"/>
              </a:rPr>
              <a:t>}else{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</a:rPr>
              <a:t>      </a:t>
            </a:r>
            <a:r>
              <a:rPr lang="en-US" altLang="zh-CN" sz="1400" dirty="0">
                <a:ea typeface="宋体" panose="02010600030101010101" pitchFamily="2" charset="-122"/>
              </a:rPr>
              <a:t>if(</a:t>
            </a:r>
            <a:r>
              <a:rPr lang="en-US" altLang="zh-CN" sz="1400" dirty="0" err="1">
                <a:ea typeface="宋体" panose="02010600030101010101" pitchFamily="2" charset="-122"/>
              </a:rPr>
              <a:t>myform.s_no.value.length</a:t>
            </a:r>
            <a:r>
              <a:rPr lang="en-US" altLang="zh-CN" sz="1400" dirty="0">
                <a:ea typeface="宋体" panose="02010600030101010101" pitchFamily="2" charset="-122"/>
              </a:rPr>
              <a:t>&lt;=0){//</a:t>
            </a:r>
            <a:r>
              <a:rPr lang="zh-CN" altLang="en-US" sz="1400" dirty="0">
                <a:ea typeface="宋体" panose="02010600030101010101" pitchFamily="2" charset="-122"/>
              </a:rPr>
              <a:t>未输入字符 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   alert("</a:t>
            </a:r>
            <a:r>
              <a:rPr lang="zh-CN" altLang="en-US" sz="1400" dirty="0">
                <a:ea typeface="宋体" panose="02010600030101010101" pitchFamily="2" charset="-122"/>
              </a:rPr>
              <a:t>学号不能为空</a:t>
            </a:r>
            <a:r>
              <a:rPr lang="en-US" altLang="zh-CN" sz="1400" dirty="0">
                <a:ea typeface="宋体" panose="02010600030101010101" pitchFamily="2" charset="-122"/>
              </a:rPr>
              <a:t>");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</a:rPr>
              <a:t>       </a:t>
            </a:r>
            <a:r>
              <a:rPr lang="en-US" altLang="zh-CN" sz="1400" dirty="0">
                <a:ea typeface="宋体" panose="02010600030101010101" pitchFamily="2" charset="-122"/>
              </a:rPr>
              <a:t>}else{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</a:rPr>
              <a:t>         </a:t>
            </a:r>
            <a:r>
              <a:rPr lang="en-US" altLang="zh-CN" sz="1400" dirty="0">
                <a:ea typeface="宋体" panose="02010600030101010101" pitchFamily="2" charset="-122"/>
              </a:rPr>
              <a:t>alert("</a:t>
            </a:r>
            <a:r>
              <a:rPr lang="zh-CN" altLang="en-US" sz="1400" dirty="0">
                <a:ea typeface="宋体" panose="02010600030101010101" pitchFamily="2" charset="-122"/>
              </a:rPr>
              <a:t>你的学号为：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myform.s_no.value</a:t>
            </a:r>
            <a:r>
              <a:rPr lang="en-US" altLang="zh-CN" sz="1400" dirty="0">
                <a:ea typeface="宋体" panose="02010600030101010101" pitchFamily="2" charset="-122"/>
              </a:rPr>
              <a:t>); }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</a:rPr>
              <a:t>    </a:t>
            </a:r>
            <a:r>
              <a:rPr lang="en-US" altLang="zh-CN" sz="1400" dirty="0">
                <a:ea typeface="宋体" panose="02010600030101010101" pitchFamily="2" charset="-122"/>
              </a:rPr>
              <a:t>}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}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function k_press1(){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if(</a:t>
            </a:r>
            <a:r>
              <a:rPr lang="en-US" altLang="zh-CN" sz="1400" dirty="0" err="1">
                <a:ea typeface="宋体" panose="02010600030101010101" pitchFamily="2" charset="-122"/>
              </a:rPr>
              <a:t>window.event.keyCode</a:t>
            </a:r>
            <a:r>
              <a:rPr lang="en-US" altLang="zh-CN" sz="1400" dirty="0">
                <a:ea typeface="宋体" panose="02010600030101010101" pitchFamily="2" charset="-122"/>
              </a:rPr>
              <a:t>==13){</a:t>
            </a:r>
          </a:p>
          <a:p>
            <a:pPr indent="262255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alert("</a:t>
            </a:r>
            <a:r>
              <a:rPr lang="zh-CN" altLang="en-US" sz="1400" dirty="0">
                <a:ea typeface="宋体" panose="02010600030101010101" pitchFamily="2" charset="-122"/>
              </a:rPr>
              <a:t>你的姓名为：</a:t>
            </a:r>
            <a:r>
              <a:rPr lang="en-US" altLang="zh-CN" sz="1400" dirty="0">
                <a:ea typeface="宋体" panose="02010600030101010101" pitchFamily="2" charset="-122"/>
              </a:rPr>
              <a:t>"+</a:t>
            </a:r>
            <a:r>
              <a:rPr lang="en-US" altLang="zh-CN" sz="1400" dirty="0" err="1">
                <a:ea typeface="宋体" panose="02010600030101010101" pitchFamily="2" charset="-122"/>
              </a:rPr>
              <a:t>myform.s_name.value</a:t>
            </a:r>
            <a:r>
              <a:rPr lang="en-US" altLang="zh-CN" sz="1400" dirty="0">
                <a:ea typeface="宋体" panose="02010600030101010101" pitchFamily="2" charset="-122"/>
              </a:rPr>
              <a:t>);}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}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&lt;/script&gt;……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  <a:sym typeface="+mn-ea"/>
              </a:rPr>
              <a:t>&lt;body&gt;</a:t>
            </a:r>
            <a:endParaRPr lang="en-US" altLang="zh-CN" sz="1400" b="0" dirty="0">
              <a:ea typeface="宋体" panose="02010600030101010101" pitchFamily="2" charset="-122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  <a:sym typeface="+mn-ea"/>
              </a:rPr>
              <a:t>  &lt;form name="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myform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" method=“get" action=""&gt;</a:t>
            </a:r>
            <a:endParaRPr lang="en-US" altLang="zh-CN" sz="1400" b="0" dirty="0">
              <a:ea typeface="宋体" panose="02010600030101010101" pitchFamily="2" charset="-122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ea typeface="宋体" panose="02010600030101010101" pitchFamily="2" charset="-122"/>
                <a:sym typeface="+mn-ea"/>
              </a:rPr>
              <a:t>    学号：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&lt;input type="text" name="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s_no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" id="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s_no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" 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onKeyPress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="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k_press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();"&gt;&lt;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br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&gt;</a:t>
            </a:r>
            <a:endParaRPr lang="en-US" altLang="zh-CN" sz="1400" b="0" dirty="0">
              <a:ea typeface="宋体" panose="02010600030101010101" pitchFamily="2" charset="-122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ea typeface="宋体" panose="02010600030101010101" pitchFamily="2" charset="-122"/>
                <a:sym typeface="+mn-ea"/>
              </a:rPr>
              <a:t>    姓名：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&lt;input type=“text” name=“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s_name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” id=“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s_name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” </a:t>
            </a:r>
            <a:r>
              <a:rPr lang="en-US" altLang="zh-CN" sz="1400" dirty="0" err="1">
                <a:ea typeface="宋体" panose="02010600030101010101" pitchFamily="2" charset="-122"/>
                <a:sym typeface="+mn-ea"/>
              </a:rPr>
              <a:t>onkeypress</a:t>
            </a:r>
            <a:r>
              <a:rPr lang="en-US" altLang="zh-CN" sz="1400">
                <a:ea typeface="宋体" panose="02010600030101010101" pitchFamily="2" charset="-122"/>
                <a:sym typeface="+mn-ea"/>
              </a:rPr>
              <a:t>=“k_press1();"&gt;</a:t>
            </a:r>
            <a:endParaRPr lang="en-US" altLang="zh-CN" sz="1400" b="0" dirty="0">
              <a:ea typeface="宋体" panose="02010600030101010101" pitchFamily="2" charset="-122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  <a:sym typeface="+mn-ea"/>
              </a:rPr>
              <a:t>    &lt;input type="reset"&gt;</a:t>
            </a:r>
            <a:endParaRPr lang="en-US" altLang="zh-CN" sz="1400" b="0" dirty="0">
              <a:ea typeface="宋体" panose="02010600030101010101" pitchFamily="2" charset="-122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  <a:sym typeface="+mn-ea"/>
              </a:rPr>
              <a:t>  &lt;/form&gt;</a:t>
            </a:r>
            <a:endParaRPr lang="en-US" altLang="zh-CN" sz="1400" b="0" dirty="0">
              <a:ea typeface="宋体" panose="02010600030101010101" pitchFamily="2" charset="-122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  <a:sym typeface="+mn-ea"/>
              </a:rPr>
              <a:t>&lt;/body&gt;</a:t>
            </a:r>
            <a:endParaRPr lang="zh-CN" altLang="zh-CN" sz="1400" dirty="0"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5975" y="5119370"/>
            <a:ext cx="4232910" cy="134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窗口事件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02055"/>
            <a:ext cx="8108315" cy="3733800"/>
          </a:xfrm>
        </p:spPr>
        <p:txBody>
          <a:bodyPr/>
          <a:lstStyle/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&lt;html&gt;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&lt;head&gt;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 &lt;title&gt;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窗口事件举例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&lt;/title&gt;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 &lt;script  type="text/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javascript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"&gt;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   function load(){alert("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欢迎访问本页面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!");}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   function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myunload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(){</a:t>
            </a:r>
            <a:r>
              <a:rPr lang="en-US" altLang="zh-CN" sz="1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return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"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欢迎下次访问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!";}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&lt;/script&gt;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&lt;/head&gt;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&lt;body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onload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="load();" </a:t>
            </a:r>
            <a:r>
              <a:rPr lang="en-US" altLang="zh-CN" sz="1400" dirty="0" err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onbeforeunload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="</a:t>
            </a:r>
            <a:r>
              <a:rPr lang="en-US" altLang="zh-CN" sz="1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return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myunload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();" 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&lt;h4&gt;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窗口事件的应用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&lt;/h4&gt;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  &lt;p </a:t>
            </a:r>
            <a:r>
              <a:rPr lang="en-US" altLang="zh-CN" sz="1400" dirty="0" err="1">
                <a:latin typeface="Verdana" panose="020B0604030504040204" pitchFamily="34" charset="0"/>
                <a:ea typeface="宋体" panose="02010600030101010101" pitchFamily="2" charset="-122"/>
              </a:rPr>
              <a:t>onclick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="alert('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单击我！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')"&gt;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</a:rPr>
              <a:t>单击我！</a:t>
            </a: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&lt;/p&gt;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  &lt;/body&gt;</a:t>
            </a:r>
          </a:p>
          <a:p>
            <a: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&lt;/html&gt;</a:t>
            </a:r>
            <a:endParaRPr lang="zh-CN" altLang="en-US" sz="1000" dirty="0">
              <a:ea typeface="宋体" panose="02010600030101010101" pitchFamily="2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595" y="4377055"/>
            <a:ext cx="3519488" cy="1350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91075" y="4510181"/>
            <a:ext cx="3429000" cy="108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简介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067"/>
            <a:ext cx="8493126" cy="3792140"/>
          </a:xfrm>
        </p:spPr>
        <p:txBody>
          <a:bodyPr/>
          <a:lstStyle/>
          <a:p>
            <a:pPr marL="0" lvl="1" indent="0">
              <a:spcBef>
                <a:spcPct val="15000"/>
              </a:spcBef>
              <a:buNone/>
            </a:pPr>
            <a:r>
              <a:rPr lang="en-US" altLang="zh-CN" sz="1800" dirty="0"/>
              <a:t>DOM</a:t>
            </a:r>
            <a:r>
              <a:rPr lang="zh-CN" altLang="en-US" sz="1800" dirty="0"/>
              <a:t>（</a:t>
            </a:r>
            <a:r>
              <a:rPr lang="en-US" altLang="zh-CN" sz="1800" dirty="0"/>
              <a:t>Document Object Model</a:t>
            </a:r>
            <a:r>
              <a:rPr lang="zh-CN" altLang="en-US" sz="1800" dirty="0"/>
              <a:t>）模型</a:t>
            </a:r>
            <a:endParaRPr lang="en-US" altLang="zh-CN" sz="1800" dirty="0"/>
          </a:p>
          <a:p>
            <a:pPr>
              <a:spcBef>
                <a:spcPct val="15000"/>
              </a:spcBef>
              <a:buNone/>
            </a:pPr>
            <a:r>
              <a:rPr lang="en-US" altLang="zh-CN" sz="1800" dirty="0"/>
              <a:t>         HTML DOM</a:t>
            </a:r>
            <a:r>
              <a:rPr lang="zh-CN" altLang="zh-CN" sz="1800" dirty="0"/>
              <a:t>定义了访问和操作</a:t>
            </a:r>
            <a:r>
              <a:rPr lang="en-US" altLang="zh-CN" sz="1800" dirty="0"/>
              <a:t>HTML</a:t>
            </a:r>
            <a:r>
              <a:rPr lang="zh-CN" altLang="zh-CN" sz="1800" dirty="0"/>
              <a:t>文档的标准方法。</a:t>
            </a:r>
            <a:endParaRPr lang="en-US" altLang="zh-CN" sz="1800" dirty="0"/>
          </a:p>
          <a:p>
            <a:pPr>
              <a:spcBef>
                <a:spcPct val="15000"/>
              </a:spcBef>
              <a:buNone/>
            </a:pPr>
            <a:r>
              <a:rPr lang="en-US" altLang="zh-CN" sz="1800" dirty="0"/>
              <a:t>         DOM</a:t>
            </a:r>
            <a:r>
              <a:rPr lang="zh-CN" altLang="zh-CN" sz="1800" dirty="0"/>
              <a:t>将</a:t>
            </a:r>
            <a:r>
              <a:rPr lang="en-US" altLang="zh-CN" sz="1800" dirty="0"/>
              <a:t>HTML</a:t>
            </a:r>
            <a:r>
              <a:rPr lang="zh-CN" altLang="zh-CN" sz="1800" dirty="0"/>
              <a:t>文档表达为树结构。</a:t>
            </a:r>
            <a:r>
              <a:rPr lang="en-US" altLang="zh-CN" sz="1800" dirty="0"/>
              <a:t>HTML</a:t>
            </a:r>
            <a:r>
              <a:rPr lang="zh-CN" altLang="zh-CN" sz="1800" dirty="0"/>
              <a:t>文档结构好像倒垂的一棵树一样，其中</a:t>
            </a:r>
            <a:r>
              <a:rPr lang="en-US" altLang="zh-CN" sz="1800" dirty="0"/>
              <a:t>&lt;html&gt;</a:t>
            </a:r>
            <a:r>
              <a:rPr lang="zh-CN" altLang="zh-CN" sz="1800" dirty="0"/>
              <a:t>标记就是树的根节点，</a:t>
            </a:r>
            <a:r>
              <a:rPr lang="en-US" altLang="zh-CN" sz="1800" dirty="0"/>
              <a:t>&lt;head&gt;</a:t>
            </a:r>
            <a:r>
              <a:rPr lang="zh-CN" altLang="zh-CN" sz="1800" dirty="0"/>
              <a:t>、</a:t>
            </a:r>
            <a:r>
              <a:rPr lang="en-US" altLang="zh-CN" sz="1800" dirty="0"/>
              <a:t>&lt;body&gt;</a:t>
            </a:r>
            <a:r>
              <a:rPr lang="zh-CN" altLang="zh-CN" sz="1800" dirty="0"/>
              <a:t>是树的两个子节点。这种描述页面标记关系的树型结构称为</a:t>
            </a:r>
            <a:r>
              <a:rPr lang="en-US" altLang="zh-CN" sz="1800" dirty="0"/>
              <a:t>DOM</a:t>
            </a:r>
            <a:r>
              <a:rPr lang="zh-CN" altLang="zh-CN" sz="1800" dirty="0"/>
              <a:t>节点树（文档树）。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节点树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0" y="1844675"/>
            <a:ext cx="309880" cy="368300"/>
          </a:xfrm>
          <a:prstGeom prst="rect">
            <a:avLst/>
          </a:prstGeom>
          <a:noFill/>
          <a:ln w="25400" algn="ctr">
            <a:noFill/>
            <a:miter lim="800000"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7460" name="Object 4"/>
          <p:cNvGraphicFramePr>
            <a:graphicFrameLocks noChangeAspect="1"/>
          </p:cNvGraphicFramePr>
          <p:nvPr/>
        </p:nvGraphicFramePr>
        <p:xfrm>
          <a:off x="2590800" y="2114550"/>
          <a:ext cx="3124200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Visio" r:id="rId3" imgW="4380230" imgH="5339715" progId="Visio.Drawing.11">
                  <p:embed/>
                </p:oleObj>
              </mc:Choice>
              <mc:Fallback>
                <p:oleObj name="Visio" r:id="rId3" imgW="4380230" imgH="5339715" progId="Visio.Drawing.11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2114550"/>
                        <a:ext cx="3124200" cy="2800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11-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90600" y="1657351"/>
            <a:ext cx="7772401" cy="3488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AutoShape 8"/>
          <p:cNvSpPr>
            <a:spLocks noChangeArrowheads="1"/>
          </p:cNvSpPr>
          <p:nvPr/>
        </p:nvSpPr>
        <p:spPr bwMode="gray">
          <a:xfrm>
            <a:off x="6443664" y="2171700"/>
            <a:ext cx="2232025" cy="378619"/>
          </a:xfrm>
          <a:prstGeom prst="wedgeRoundRectCallout">
            <a:avLst>
              <a:gd name="adj1" fmla="val -81722"/>
              <a:gd name="adj2" fmla="val -5032"/>
              <a:gd name="adj3" fmla="val 16667"/>
            </a:avLst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a typeface="微软雅黑" panose="020B0503020204020204" charset="-122"/>
              </a:rPr>
              <a:t>父节点：对象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gray">
          <a:xfrm>
            <a:off x="7380288" y="2996804"/>
            <a:ext cx="1511300" cy="702469"/>
          </a:xfrm>
          <a:prstGeom prst="wedgeRoundRectCallout">
            <a:avLst>
              <a:gd name="adj1" fmla="val 30148"/>
              <a:gd name="adj2" fmla="val 231694"/>
              <a:gd name="adj3" fmla="val 16667"/>
            </a:avLst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a typeface="微软雅黑" panose="020B0503020204020204" charset="-122"/>
              </a:rPr>
              <a:t>子节点：对象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gray">
          <a:xfrm>
            <a:off x="5292726" y="1543050"/>
            <a:ext cx="2447925" cy="378619"/>
          </a:xfrm>
          <a:prstGeom prst="wedgeRoundRectCallout">
            <a:avLst>
              <a:gd name="adj1" fmla="val -104606"/>
              <a:gd name="adj2" fmla="val 30190"/>
              <a:gd name="adj3" fmla="val 16667"/>
            </a:avLst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b="1" i="0">
                <a:solidFill>
                  <a:schemeClr val="bg1"/>
                </a:solidFill>
                <a:ea typeface="微软雅黑" panose="020B0503020204020204" charset="-122"/>
              </a:rPr>
              <a:t>根节点：对象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4838" y="3486150"/>
            <a:ext cx="2366963" cy="647700"/>
          </a:xfrm>
          <a:prstGeom prst="wedgeRoundRectCallout">
            <a:avLst>
              <a:gd name="adj1" fmla="val -27694"/>
              <a:gd name="adj2" fmla="val -116546"/>
              <a:gd name="adj3" fmla="val 16667"/>
            </a:avLst>
          </a:prstGeom>
          <a:solidFill>
            <a:srgbClr val="0000FA"/>
          </a:solidFill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b="1" i="0" dirty="0">
                <a:solidFill>
                  <a:schemeClr val="bg1"/>
                </a:solidFill>
                <a:ea typeface="微软雅黑" panose="020B0503020204020204" charset="-122"/>
              </a:rPr>
              <a:t>HTML</a:t>
            </a:r>
            <a:r>
              <a:rPr lang="zh-CN" altLang="en-US" b="1" i="0" dirty="0">
                <a:solidFill>
                  <a:schemeClr val="bg1"/>
                </a:solidFill>
                <a:ea typeface="微软雅黑" panose="020B0503020204020204" charset="-122"/>
              </a:rPr>
              <a:t>文档结构是一棵倒置的树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05400"/>
            <a:ext cx="678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注：由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DOM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节点树可以写出相应的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代码。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>
                <a:sym typeface="+mn-ea"/>
              </a:rPr>
              <a:t>document对象的属性</a:t>
            </a:r>
            <a:endParaRPr lang="en-US" altLang="zh-CN"/>
          </a:p>
        </p:txBody>
      </p:sp>
      <p:graphicFrame>
        <p:nvGraphicFramePr>
          <p:cNvPr id="318659" name="Group 195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3532887"/>
              </p:ext>
            </p:extLst>
          </p:nvPr>
        </p:nvGraphicFramePr>
        <p:xfrm>
          <a:off x="1447165" y="1633855"/>
          <a:ext cx="6290310" cy="42291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0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属性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title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设置或获取文档的标题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bgColor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设置或获取文档的背景色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fgColor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设置或获取文档的前景色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linkColor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设置或获取文档的链接的颜色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alinkColor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设置或获取文档的活动链接的颜色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vlinkColor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设置或获取文档的已访问过的链接的颜色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URL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设置或获取文档的</a:t>
                      </a: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URL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charset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设置或获取文档的字符集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cookie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设置或获取与当前文档相关的</a:t>
                      </a: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cookie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domain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获取当前文档的域名，只读属性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lastModified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获取当前文档的最后修改的日期时间，只读属性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referrer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获取载入当前文档的</a:t>
                      </a: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URL</a:t>
                      </a: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，只读属性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fileSize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获取当前文档的大小，只读属性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body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获取当前文档的主体子对象，只读属性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096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9890" y="1022350"/>
            <a:ext cx="8182610" cy="42354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document</a:t>
            </a:r>
            <a:r>
              <a:rPr lang="zh-CN" altLang="en-US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对象提供了一系列的只读或可读写的属性，如表所示。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122</a:t>
            </a:fld>
            <a:endParaRPr lang="zh-CN" alt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document</a:t>
            </a:r>
            <a:r>
              <a:t>属性设置例子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ym typeface="+mn-ea"/>
              </a:rPr>
              <a:t>修改</a:t>
            </a:r>
            <a:r>
              <a:rPr lang="en-US" altLang="zh-CN" dirty="0" err="1">
                <a:sym typeface="+mn-ea"/>
              </a:rPr>
              <a:t>bgColor</a:t>
            </a:r>
            <a:r>
              <a:rPr dirty="0">
                <a:sym typeface="+mn-ea"/>
              </a:rPr>
              <a:t>的属性值可以更改当前文档的背景颜色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>
                <a:sym typeface="+mn-ea"/>
              </a:rPr>
              <a:t>linkColor</a:t>
            </a:r>
            <a:r>
              <a:rPr dirty="0">
                <a:sym typeface="+mn-ea"/>
              </a:rPr>
              <a:t>、</a:t>
            </a:r>
            <a:r>
              <a:rPr lang="en-US" altLang="zh-CN" dirty="0" err="1">
                <a:sym typeface="+mn-ea"/>
              </a:rPr>
              <a:t>alinkColor</a:t>
            </a:r>
            <a:r>
              <a:rPr dirty="0">
                <a:sym typeface="+mn-ea"/>
              </a:rPr>
              <a:t>与</a:t>
            </a:r>
            <a:r>
              <a:rPr lang="en-US" altLang="zh-CN" dirty="0" err="1">
                <a:sym typeface="+mn-ea"/>
              </a:rPr>
              <a:t>vlinkColor</a:t>
            </a:r>
            <a:r>
              <a:rPr dirty="0">
                <a:sym typeface="+mn-ea"/>
              </a:rPr>
              <a:t>可以设置超级链接在不同的状态下的颜色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sym typeface="+mn-ea"/>
              </a:rPr>
              <a:t>cookie</a:t>
            </a:r>
            <a:r>
              <a:rPr dirty="0">
                <a:sym typeface="+mn-ea"/>
              </a:rPr>
              <a:t>是站点在客户端本地硬盘上存储的一些</a:t>
            </a:r>
            <a:r>
              <a:rPr b="1" dirty="0">
                <a:sym typeface="+mn-ea"/>
              </a:rPr>
              <a:t>小文本文件</a:t>
            </a:r>
            <a:r>
              <a:rPr dirty="0">
                <a:sym typeface="+mn-ea"/>
              </a:rPr>
              <a:t>，每个</a:t>
            </a:r>
            <a:r>
              <a:rPr lang="en-US" altLang="zh-CN" dirty="0">
                <a:sym typeface="+mn-ea"/>
              </a:rPr>
              <a:t>Cookie</a:t>
            </a:r>
            <a:r>
              <a:rPr dirty="0">
                <a:sym typeface="+mn-ea"/>
              </a:rPr>
              <a:t>都是</a:t>
            </a:r>
            <a:r>
              <a:rPr lang="en-US" altLang="zh-CN" dirty="0">
                <a:sym typeface="+mn-ea"/>
              </a:rPr>
              <a:t>Cookie</a:t>
            </a:r>
            <a:r>
              <a:rPr dirty="0">
                <a:sym typeface="+mn-ea"/>
              </a:rPr>
              <a:t>名</a:t>
            </a:r>
            <a:r>
              <a:rPr lang="en-US" altLang="zh-CN" dirty="0">
                <a:sym typeface="+mn-ea"/>
              </a:rPr>
              <a:t>=Cookie</a:t>
            </a:r>
            <a:r>
              <a:rPr dirty="0">
                <a:sym typeface="+mn-ea"/>
              </a:rPr>
              <a:t>值的一个键值对，</a:t>
            </a:r>
            <a:r>
              <a:rPr lang="en-US" altLang="zh-CN" dirty="0">
                <a:sym typeface="+mn-ea"/>
              </a:rPr>
              <a:t>Cookie</a:t>
            </a:r>
            <a:r>
              <a:rPr dirty="0">
                <a:sym typeface="+mn-ea"/>
              </a:rPr>
              <a:t>本身是一个字符串，多组名值对之间使用分号加空格分隔。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3010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591185" y="2033270"/>
            <a:ext cx="7239000" cy="77597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&lt;input type="button" value="</a:t>
            </a:r>
            <a:r>
              <a:rPr lang="zh-CN" altLang="en-US" sz="1350" dirty="0">
                <a:ea typeface="宋体" panose="02010600030101010101" pitchFamily="2" charset="-122"/>
              </a:rPr>
              <a:t>把背景色改为红色</a:t>
            </a:r>
            <a:r>
              <a:rPr lang="en-US" altLang="zh-CN" sz="1350" dirty="0">
                <a:ea typeface="宋体" panose="02010600030101010101" pitchFamily="2" charset="-122"/>
              </a:rPr>
              <a:t>" </a:t>
            </a:r>
            <a:r>
              <a:rPr lang="en-US" altLang="zh-CN" sz="1350" dirty="0" err="1">
                <a:ea typeface="宋体" panose="02010600030101010101" pitchFamily="2" charset="-122"/>
              </a:rPr>
              <a:t>onClick</a:t>
            </a:r>
            <a:r>
              <a:rPr lang="en-US" altLang="zh-CN" sz="1350" dirty="0">
                <a:ea typeface="宋体" panose="02010600030101010101" pitchFamily="2" charset="-122"/>
              </a:rPr>
              <a:t>="</a:t>
            </a:r>
            <a:r>
              <a:rPr lang="en-US" altLang="zh-CN" sz="1350" dirty="0" err="1">
                <a:ea typeface="宋体" panose="02010600030101010101" pitchFamily="2" charset="-122"/>
              </a:rPr>
              <a:t>document.bgColor</a:t>
            </a:r>
            <a:r>
              <a:rPr lang="en-US" altLang="zh-CN" sz="1350" dirty="0">
                <a:ea typeface="宋体" panose="02010600030101010101" pitchFamily="2" charset="-122"/>
              </a:rPr>
              <a:t>='red';"/&gt;&lt;</a:t>
            </a:r>
            <a:r>
              <a:rPr lang="en-US" altLang="zh-CN" sz="1350" dirty="0" err="1">
                <a:ea typeface="宋体" panose="02010600030101010101" pitchFamily="2" charset="-122"/>
              </a:rPr>
              <a:t>br</a:t>
            </a:r>
            <a:r>
              <a:rPr lang="en-US" altLang="zh-CN" sz="1350" dirty="0">
                <a:ea typeface="宋体" panose="02010600030101010101" pitchFamily="2" charset="-122"/>
              </a:rPr>
              <a:t>/&gt;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&lt;input type="button" value="</a:t>
            </a:r>
            <a:r>
              <a:rPr lang="zh-CN" altLang="en-US" sz="1350" dirty="0">
                <a:ea typeface="宋体" panose="02010600030101010101" pitchFamily="2" charset="-122"/>
              </a:rPr>
              <a:t>把背景色改为绿色</a:t>
            </a:r>
            <a:r>
              <a:rPr lang="en-US" altLang="zh-CN" sz="1350" dirty="0">
                <a:ea typeface="宋体" panose="02010600030101010101" pitchFamily="2" charset="-122"/>
              </a:rPr>
              <a:t>" </a:t>
            </a:r>
            <a:r>
              <a:rPr lang="en-US" altLang="zh-CN" sz="1350" dirty="0" err="1">
                <a:ea typeface="宋体" panose="02010600030101010101" pitchFamily="2" charset="-122"/>
              </a:rPr>
              <a:t>onClick</a:t>
            </a:r>
            <a:r>
              <a:rPr lang="en-US" altLang="zh-CN" sz="1350" dirty="0">
                <a:ea typeface="宋体" panose="02010600030101010101" pitchFamily="2" charset="-122"/>
              </a:rPr>
              <a:t>="</a:t>
            </a:r>
            <a:r>
              <a:rPr lang="en-US" altLang="zh-CN" sz="1350" dirty="0" err="1">
                <a:ea typeface="宋体" panose="02010600030101010101" pitchFamily="2" charset="-122"/>
              </a:rPr>
              <a:t>document.bgColor</a:t>
            </a:r>
            <a:r>
              <a:rPr lang="en-US" altLang="zh-CN" sz="1350" dirty="0">
                <a:ea typeface="宋体" panose="02010600030101010101" pitchFamily="2" charset="-122"/>
              </a:rPr>
              <a:t>='green';"/&gt;&lt;</a:t>
            </a:r>
            <a:r>
              <a:rPr lang="en-US" altLang="zh-CN" sz="1350" dirty="0" err="1">
                <a:ea typeface="宋体" panose="02010600030101010101" pitchFamily="2" charset="-122"/>
              </a:rPr>
              <a:t>br</a:t>
            </a:r>
            <a:r>
              <a:rPr lang="en-US" altLang="zh-CN" sz="1350" dirty="0">
                <a:ea typeface="宋体" panose="02010600030101010101" pitchFamily="2" charset="-122"/>
              </a:rPr>
              <a:t>/&gt;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&lt;input type="button" value="</a:t>
            </a:r>
            <a:r>
              <a:rPr lang="zh-CN" altLang="en-US" sz="1350" dirty="0">
                <a:ea typeface="宋体" panose="02010600030101010101" pitchFamily="2" charset="-122"/>
              </a:rPr>
              <a:t>把背景色改为蓝色</a:t>
            </a:r>
            <a:r>
              <a:rPr lang="en-US" altLang="zh-CN" sz="1350" dirty="0">
                <a:ea typeface="宋体" panose="02010600030101010101" pitchFamily="2" charset="-122"/>
              </a:rPr>
              <a:t>" </a:t>
            </a:r>
            <a:r>
              <a:rPr lang="en-US" altLang="zh-CN" sz="1350" dirty="0" err="1">
                <a:ea typeface="宋体" panose="02010600030101010101" pitchFamily="2" charset="-122"/>
              </a:rPr>
              <a:t>onClick</a:t>
            </a:r>
            <a:r>
              <a:rPr lang="en-US" altLang="zh-CN" sz="1350" dirty="0">
                <a:ea typeface="宋体" panose="02010600030101010101" pitchFamily="2" charset="-122"/>
              </a:rPr>
              <a:t>="</a:t>
            </a:r>
            <a:r>
              <a:rPr lang="en-US" altLang="zh-CN" sz="1350" dirty="0" err="1">
                <a:ea typeface="宋体" panose="02010600030101010101" pitchFamily="2" charset="-122"/>
              </a:rPr>
              <a:t>document.bgColor</a:t>
            </a:r>
            <a:r>
              <a:rPr lang="en-US" altLang="zh-CN" sz="1350" dirty="0">
                <a:ea typeface="宋体" panose="02010600030101010101" pitchFamily="2" charset="-122"/>
              </a:rPr>
              <a:t>='blue';"/&gt;&lt;</a:t>
            </a:r>
            <a:r>
              <a:rPr lang="en-US" altLang="zh-CN" sz="1350" dirty="0" err="1">
                <a:ea typeface="宋体" panose="02010600030101010101" pitchFamily="2" charset="-122"/>
              </a:rPr>
              <a:t>br</a:t>
            </a:r>
            <a:r>
              <a:rPr lang="en-US" altLang="zh-CN" sz="1350" dirty="0">
                <a:ea typeface="宋体" panose="02010600030101010101" pitchFamily="2" charset="-122"/>
              </a:rPr>
              <a:t>/&gt;</a:t>
            </a:r>
            <a:endParaRPr lang="zh-CN" altLang="en-US" sz="1350" dirty="0">
              <a:ea typeface="宋体" panose="02010600030101010101" pitchFamily="2" charset="-122"/>
            </a:endParaRPr>
          </a:p>
        </p:txBody>
      </p:sp>
      <p:pic>
        <p:nvPicPr>
          <p:cNvPr id="44035" name="Picture 6"/>
          <p:cNvPicPr>
            <a:picLocks noGrp="1"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" t="37312" r="29197" b="11472"/>
          <a:stretch>
            <a:fillRect/>
          </a:stretch>
        </p:blipFill>
        <p:spPr>
          <a:xfrm>
            <a:off x="5829300" y="567055"/>
            <a:ext cx="2736850" cy="1403350"/>
          </a:xfrm>
          <a:prstGeom prst="rect">
            <a:avLst/>
          </a:prstGeom>
          <a:noFill/>
        </p:spPr>
      </p:pic>
      <p:sp>
        <p:nvSpPr>
          <p:cNvPr id="4608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591185" y="3652520"/>
            <a:ext cx="4810125" cy="77597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</a:t>
            </a:r>
            <a:r>
              <a:rPr lang="en-US" altLang="zh-CN" sz="1350" dirty="0" err="1">
                <a:ea typeface="宋体" panose="02010600030101010101" pitchFamily="2" charset="-122"/>
              </a:rPr>
              <a:t>document.linkColor</a:t>
            </a:r>
            <a:r>
              <a:rPr lang="en-US" altLang="zh-CN" sz="1350" dirty="0">
                <a:ea typeface="宋体" panose="02010600030101010101" pitchFamily="2" charset="-122"/>
              </a:rPr>
              <a:t>="red";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</a:t>
            </a:r>
            <a:r>
              <a:rPr lang="en-US" altLang="zh-CN" sz="1350" dirty="0" err="1">
                <a:ea typeface="宋体" panose="02010600030101010101" pitchFamily="2" charset="-122"/>
              </a:rPr>
              <a:t>document.alinkColor</a:t>
            </a:r>
            <a:r>
              <a:rPr lang="en-US" altLang="zh-CN" sz="1350" dirty="0">
                <a:ea typeface="宋体" panose="02010600030101010101" pitchFamily="2" charset="-122"/>
              </a:rPr>
              <a:t>="green";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</a:t>
            </a:r>
            <a:r>
              <a:rPr lang="en-US" altLang="zh-CN" sz="1350" dirty="0" err="1">
                <a:ea typeface="宋体" panose="02010600030101010101" pitchFamily="2" charset="-122"/>
              </a:rPr>
              <a:t>document.vlinkColor</a:t>
            </a:r>
            <a:r>
              <a:rPr lang="en-US" altLang="zh-CN" sz="1350" dirty="0">
                <a:ea typeface="宋体" panose="02010600030101010101" pitchFamily="2" charset="-122"/>
              </a:rPr>
              <a:t>="blue";</a:t>
            </a:r>
          </a:p>
        </p:txBody>
      </p:sp>
      <p:pic>
        <p:nvPicPr>
          <p:cNvPr id="47107" name="Picture 5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70" r="42940" b="14934"/>
          <a:stretch>
            <a:fillRect/>
          </a:stretch>
        </p:blipFill>
        <p:spPr bwMode="auto">
          <a:xfrm>
            <a:off x="6029325" y="3576320"/>
            <a:ext cx="187071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       </a:t>
            </a:r>
            <a:r>
              <a:rPr lang="zh-CN" altLang="zh-CN" sz="1600" dirty="0"/>
              <a:t>根据</a:t>
            </a:r>
            <a:r>
              <a:rPr lang="en-US" altLang="zh-CN" sz="1600" dirty="0"/>
              <a:t>HTML DOM</a:t>
            </a:r>
            <a:r>
              <a:rPr lang="zh-CN" altLang="zh-CN" sz="1600" dirty="0"/>
              <a:t>规范，</a:t>
            </a:r>
            <a:r>
              <a:rPr lang="en-US" altLang="zh-CN" sz="1600" dirty="0"/>
              <a:t>HTML</a:t>
            </a:r>
            <a:r>
              <a:rPr lang="zh-CN" altLang="zh-CN" sz="1600" dirty="0"/>
              <a:t>文档中的每个成分都是一个节点。</a:t>
            </a:r>
            <a:r>
              <a:rPr lang="zh-CN" altLang="en-US" sz="1600" dirty="0"/>
              <a:t>具体的规定如下：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600" b="0" dirty="0"/>
              <a:t>整个文档是一个文档节点；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600" b="0" dirty="0"/>
              <a:t>每个 </a:t>
            </a:r>
            <a:r>
              <a:rPr lang="en-US" altLang="zh-CN" sz="1600" b="0" dirty="0"/>
              <a:t>HTML </a:t>
            </a:r>
            <a:r>
              <a:rPr lang="zh-CN" altLang="en-US" sz="1600" b="0" dirty="0"/>
              <a:t>标签是一个元素节点；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600" b="0" dirty="0"/>
              <a:t>包含在 </a:t>
            </a:r>
            <a:r>
              <a:rPr lang="en-US" altLang="zh-CN" sz="1600" b="0" dirty="0"/>
              <a:t>HTML </a:t>
            </a:r>
            <a:r>
              <a:rPr lang="zh-CN" altLang="en-US" sz="1600" b="0" dirty="0"/>
              <a:t>元素中的文本是文本节点；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600" b="0" dirty="0"/>
              <a:t>每一个 </a:t>
            </a:r>
            <a:r>
              <a:rPr lang="en-US" altLang="zh-CN" sz="1600" b="0" dirty="0"/>
              <a:t>HTML </a:t>
            </a:r>
            <a:r>
              <a:rPr lang="zh-CN" altLang="en-US" sz="1600" b="0" dirty="0"/>
              <a:t>属性是一个属性节点；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600" b="0" dirty="0"/>
              <a:t>注释属于注释节点。 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</a:t>
            </a:r>
          </a:p>
        </p:txBody>
      </p:sp>
      <p:sp>
        <p:nvSpPr>
          <p:cNvPr id="3" name="矩形 2"/>
          <p:cNvSpPr/>
          <p:nvPr/>
        </p:nvSpPr>
        <p:spPr>
          <a:xfrm>
            <a:off x="533400" y="1676401"/>
            <a:ext cx="8534400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根节点：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root=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document.documentElement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子节点：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aNodeList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root.childNodes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;  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对象数组</a:t>
            </a:r>
            <a:endParaRPr lang="zh-CN" altLang="en-US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节名（如根节点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root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firstChild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、节名（如根节点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root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 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lastChild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可获取一个节点的第一和最后一个子节点。节点有三个属性分别是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nodeName、nodeType、nodeValue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父节点：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parentNode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aNode.parentNode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en-US" altLang="zh-CN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兄弟节点：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preNode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aNode.previousSibling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;//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返回前个节点引用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nextNode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aNode.nextSibling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;//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返回后一个节点引用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</a:t>
            </a:r>
            <a:r>
              <a:rPr lang="en-US" altLang="zh-CN" dirty="0"/>
              <a:t>-</a:t>
            </a:r>
            <a:r>
              <a:rPr lang="zh-CN" altLang="en-US" dirty="0"/>
              <a:t>关系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HTML</a:t>
            </a:r>
            <a:r>
              <a:rPr lang="zh-CN" altLang="en-US" sz="1800" dirty="0"/>
              <a:t>文档主要节点：</a:t>
            </a:r>
          </a:p>
          <a:p>
            <a:pPr marL="357505" indent="-357505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</a:rPr>
              <a:t>元素节点 </a:t>
            </a:r>
            <a:r>
              <a:rPr lang="en-US" altLang="zh-CN" sz="1800" dirty="0"/>
              <a:t>(Element Node ),</a:t>
            </a:r>
            <a:r>
              <a:rPr lang="zh-CN" altLang="en-US" sz="1800" dirty="0"/>
              <a:t> </a:t>
            </a:r>
            <a:r>
              <a:rPr lang="en-US" altLang="zh-CN" sz="1800" dirty="0"/>
              <a:t>&lt;html&gt;,&lt;head&gt;</a:t>
            </a:r>
            <a:r>
              <a:rPr lang="zh-CN" altLang="en-US" sz="1800" dirty="0"/>
              <a:t>、</a:t>
            </a:r>
            <a:r>
              <a:rPr lang="en-US" altLang="zh-CN" sz="1800" dirty="0"/>
              <a:t>&lt;body&gt;</a:t>
            </a:r>
            <a:r>
              <a:rPr lang="zh-CN" altLang="en-US" sz="1800" dirty="0"/>
              <a:t>、</a:t>
            </a:r>
            <a:r>
              <a:rPr lang="en-US" altLang="zh-CN" sz="1800" dirty="0"/>
              <a:t>&lt;h1&gt;</a:t>
            </a:r>
            <a:r>
              <a:rPr lang="zh-CN" altLang="en-US" sz="1800" dirty="0"/>
              <a:t>、</a:t>
            </a:r>
            <a:r>
              <a:rPr lang="en-US" altLang="zh-CN" sz="1800" dirty="0"/>
              <a:t>&lt;p&gt;</a:t>
            </a:r>
            <a:r>
              <a:rPr lang="zh-CN" altLang="en-US" sz="1800" dirty="0"/>
              <a:t>和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ul</a:t>
            </a:r>
            <a:r>
              <a:rPr lang="en-US" altLang="zh-CN" sz="1800" dirty="0"/>
              <a:t>&gt;</a:t>
            </a:r>
            <a:r>
              <a:rPr lang="zh-CN" altLang="en-US" sz="1800" dirty="0"/>
              <a:t>等标签都是元素节点。 </a:t>
            </a:r>
          </a:p>
          <a:p>
            <a:pPr marL="357505" indent="-357505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</a:rPr>
              <a:t>文本节点</a:t>
            </a:r>
            <a:r>
              <a:rPr lang="en-US" altLang="zh-CN" sz="1800" dirty="0"/>
              <a:t>(Text Node),</a:t>
            </a:r>
            <a:r>
              <a:rPr lang="zh-CN" altLang="en-US" sz="1800" dirty="0"/>
              <a:t>文本节点包含在元素节点内，如</a:t>
            </a:r>
            <a:r>
              <a:rPr lang="en-US" altLang="zh-CN" sz="1800" dirty="0"/>
              <a:t>h1</a:t>
            </a:r>
            <a:r>
              <a:rPr lang="zh-CN" altLang="en-US" sz="1800" dirty="0"/>
              <a:t>、</a:t>
            </a:r>
            <a:r>
              <a:rPr lang="en-US" altLang="zh-CN" sz="1800" dirty="0"/>
              <a:t>p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li</a:t>
            </a:r>
            <a:r>
              <a:rPr lang="zh-CN" altLang="en-US" sz="1800" dirty="0"/>
              <a:t>等节点就可以包含一些文本节点。 </a:t>
            </a:r>
          </a:p>
          <a:p>
            <a:pPr marL="357505" indent="-357505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</a:rPr>
              <a:t>属性节点</a:t>
            </a:r>
            <a:r>
              <a:rPr lang="en-US" altLang="zh-CN" sz="1800" dirty="0"/>
              <a:t>(Attribute Node),</a:t>
            </a:r>
            <a:r>
              <a:rPr lang="zh-CN" altLang="en-US" sz="1800" dirty="0"/>
              <a:t>属性节点总是被包含在元素节点当中，可以通过元素节点对象调用</a:t>
            </a:r>
            <a:r>
              <a:rPr lang="en-US" altLang="zh-CN" sz="1800" dirty="0" err="1"/>
              <a:t>getAttribute</a:t>
            </a:r>
            <a:r>
              <a:rPr lang="en-US" altLang="zh-CN" sz="1800" dirty="0"/>
              <a:t>( )</a:t>
            </a:r>
            <a:r>
              <a:rPr lang="zh-CN" altLang="en-US" sz="1800" dirty="0"/>
              <a:t>方法来获取属性节点。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pic>
        <p:nvPicPr>
          <p:cNvPr id="172034" name="Picture 2" descr="DOM 节点关系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6840" y="3707130"/>
            <a:ext cx="3981450" cy="26339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节点访问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067"/>
            <a:ext cx="8493126" cy="3742134"/>
          </a:xfrm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dirty="0"/>
              <a:t>       访问节点的方式很多种，可以通过</a:t>
            </a:r>
            <a:r>
              <a:rPr lang="en-US" altLang="zh-CN" sz="2000" dirty="0"/>
              <a:t>document</a:t>
            </a:r>
            <a:r>
              <a:rPr lang="zh-CN" altLang="en-US" sz="2000" dirty="0"/>
              <a:t>对象的方法来访问节点，</a:t>
            </a:r>
            <a:r>
              <a:rPr lang="zh-CN" altLang="en-US" sz="2000" dirty="0">
                <a:solidFill>
                  <a:schemeClr val="tx1"/>
                </a:solidFill>
              </a:rPr>
              <a:t>也可以通过元素节点的属性来访问节点。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通过</a:t>
            </a:r>
            <a:r>
              <a:rPr lang="en-US" altLang="zh-CN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getElementById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FFFF00"/>
                </a:highlight>
              </a:rPr>
              <a:t>( )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方法访问节点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var</a:t>
            </a:r>
            <a:r>
              <a:rPr lang="en-US" altLang="zh-CN" sz="2000" dirty="0">
                <a:solidFill>
                  <a:schemeClr val="tx1"/>
                </a:solidFill>
              </a:rPr>
              <a:t> s=</a:t>
            </a:r>
            <a:r>
              <a:rPr lang="en-US" altLang="zh-CN" sz="2000" dirty="0" err="1">
                <a:solidFill>
                  <a:schemeClr val="tx1"/>
                </a:solidFill>
              </a:rPr>
              <a:t>document.getElementById</a:t>
            </a:r>
            <a:r>
              <a:rPr lang="en-US" altLang="zh-CN" sz="2000" dirty="0">
                <a:solidFill>
                  <a:schemeClr val="tx1"/>
                </a:solidFill>
              </a:rPr>
              <a:t>(id);</a:t>
            </a:r>
          </a:p>
          <a:p>
            <a:pPr marL="171450" lvl="1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Char char="•"/>
            </a:pPr>
            <a:r>
              <a:rPr lang="zh-CN" altLang="en-US" sz="2000" b="0" dirty="0">
                <a:solidFill>
                  <a:schemeClr val="tx1"/>
                </a:solidFill>
                <a:highlight>
                  <a:srgbClr val="FFFF00"/>
                </a:highlight>
              </a:rPr>
              <a:t>通过</a:t>
            </a:r>
            <a:r>
              <a:rPr sz="2000" b="0" dirty="0">
                <a:solidFill>
                  <a:schemeClr val="tx1"/>
                </a:solidFill>
                <a:highlight>
                  <a:srgbClr val="FFFF00"/>
                </a:highlight>
              </a:rPr>
              <a:t>getElementsByName ( )</a:t>
            </a:r>
            <a:r>
              <a:rPr lang="zh-CN" altLang="en-US" sz="2000" b="0" dirty="0">
                <a:solidFill>
                  <a:schemeClr val="tx1"/>
                </a:solidFill>
                <a:highlight>
                  <a:srgbClr val="FFFF00"/>
                </a:highlight>
              </a:rPr>
              <a:t>方法访问节点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var</a:t>
            </a:r>
            <a:r>
              <a:rPr lang="en-US" altLang="zh-CN" sz="2000" dirty="0">
                <a:solidFill>
                  <a:schemeClr val="tx1"/>
                </a:solidFill>
              </a:rPr>
              <a:t> s=</a:t>
            </a:r>
            <a:r>
              <a:rPr lang="en-US" altLang="zh-CN" sz="2000" dirty="0" err="1">
                <a:solidFill>
                  <a:schemeClr val="tx1"/>
                </a:solidFill>
              </a:rPr>
              <a:t>document.getElementByName</a:t>
            </a:r>
            <a:r>
              <a:rPr lang="en-US" altLang="zh-CN" sz="2000" dirty="0">
                <a:solidFill>
                  <a:schemeClr val="tx1"/>
                </a:solidFill>
              </a:rPr>
              <a:t>(name);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通过</a:t>
            </a:r>
            <a:r>
              <a:rPr lang="en-US" altLang="zh-CN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getElementsByTagName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FFFF00"/>
                </a:highlight>
              </a:rPr>
              <a:t> ( )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方法访问节点 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var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</a:rPr>
              <a:t>s=document.getElementByTagName(tagname</a:t>
            </a:r>
            <a:r>
              <a:rPr lang="en-US" altLang="zh-CN" sz="2000" dirty="0">
                <a:solidFill>
                  <a:schemeClr val="tx1"/>
                </a:solidFill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通过</a:t>
            </a:r>
            <a:r>
              <a:rPr lang="en-US" altLang="zh-CN" sz="2000" dirty="0">
                <a:solidFill>
                  <a:schemeClr val="tx1"/>
                </a:solidFill>
              </a:rPr>
              <a:t>form</a:t>
            </a:r>
            <a:r>
              <a:rPr lang="zh-CN" altLang="en-US" sz="2000" dirty="0">
                <a:solidFill>
                  <a:schemeClr val="tx1"/>
                </a:solidFill>
              </a:rPr>
              <a:t>元素访问节点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var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</a:rPr>
              <a:t>loginform</a:t>
            </a:r>
            <a:r>
              <a:rPr lang="en-US" altLang="zh-CN" sz="2000" dirty="0">
                <a:solidFill>
                  <a:schemeClr val="tx1"/>
                </a:solidFill>
              </a:rPr>
              <a:t> = </a:t>
            </a:r>
            <a:r>
              <a:rPr lang="en-US" altLang="zh-CN" sz="2000" dirty="0" err="1">
                <a:solidFill>
                  <a:schemeClr val="tx1"/>
                </a:solidFill>
              </a:rPr>
              <a:t>document.myform</a:t>
            </a:r>
            <a:r>
              <a:rPr lang="en-US" altLang="zh-CN" sz="2000" dirty="0">
                <a:solidFill>
                  <a:schemeClr val="tx1"/>
                </a:solidFill>
              </a:rPr>
              <a:t>;//</a:t>
            </a:r>
            <a:r>
              <a:rPr lang="en-US" altLang="zh-CN" sz="2000" dirty="0" err="1">
                <a:solidFill>
                  <a:schemeClr val="tx1"/>
                </a:solidFill>
              </a:rPr>
              <a:t>myform</a:t>
            </a:r>
            <a:r>
              <a:rPr lang="zh-CN" altLang="en-US" sz="2000" dirty="0">
                <a:solidFill>
                  <a:schemeClr val="tx1"/>
                </a:solidFill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</a:rPr>
              <a:t>form</a:t>
            </a:r>
            <a:r>
              <a:rPr lang="zh-CN" altLang="en-US" sz="2000" dirty="0">
                <a:solidFill>
                  <a:schemeClr val="tx1"/>
                </a:solidFill>
              </a:rPr>
              <a:t>对象的名称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var</a:t>
            </a:r>
            <a:r>
              <a:rPr lang="en-US" altLang="zh-CN" sz="2000" dirty="0">
                <a:solidFill>
                  <a:schemeClr val="tx1"/>
                </a:solidFill>
              </a:rPr>
              <a:t> username1=</a:t>
            </a:r>
            <a:r>
              <a:rPr lang="en-US" altLang="zh-CN" sz="2000" dirty="0" err="1">
                <a:solidFill>
                  <a:schemeClr val="tx1"/>
                </a:solidFill>
              </a:rPr>
              <a:t>loginform.elements</a:t>
            </a:r>
            <a:r>
              <a:rPr lang="en-US" altLang="zh-CN" sz="2000" dirty="0">
                <a:solidFill>
                  <a:schemeClr val="tx1"/>
                </a:solidFill>
              </a:rPr>
              <a:t>[0];//</a:t>
            </a:r>
            <a:r>
              <a:rPr lang="zh-CN" altLang="en-US" sz="2000" dirty="0">
                <a:solidFill>
                  <a:schemeClr val="tx1"/>
                </a:solidFill>
              </a:rPr>
              <a:t>通过</a:t>
            </a:r>
            <a:r>
              <a:rPr lang="en-US" altLang="zh-CN" sz="2000" dirty="0">
                <a:solidFill>
                  <a:schemeClr val="tx1"/>
                </a:solidFill>
              </a:rPr>
              <a:t>elements</a:t>
            </a:r>
            <a:r>
              <a:rPr lang="zh-CN" altLang="en-US" sz="2000" dirty="0">
                <a:solidFill>
                  <a:schemeClr val="tx1"/>
                </a:solidFill>
              </a:rPr>
              <a:t>属性来访问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solidFill>
                  <a:schemeClr val="tx1"/>
                </a:solidFill>
              </a:rPr>
              <a:t>var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</a:rPr>
              <a:t>username2=loginform.username</a:t>
            </a:r>
            <a:r>
              <a:rPr lang="en-US" altLang="zh-CN" sz="2000" dirty="0">
                <a:solidFill>
                  <a:schemeClr val="tx1"/>
                </a:solidFill>
              </a:rPr>
              <a:t>;//</a:t>
            </a:r>
            <a:r>
              <a:rPr lang="zh-CN" altLang="en-US" sz="2000" dirty="0">
                <a:solidFill>
                  <a:schemeClr val="tx1"/>
                </a:solidFill>
              </a:rPr>
              <a:t>通过</a:t>
            </a:r>
            <a:r>
              <a:rPr lang="en-US" altLang="zh-CN" sz="2000" dirty="0">
                <a:solidFill>
                  <a:schemeClr val="tx1"/>
                </a:solidFill>
              </a:rPr>
              <a:t>name</a:t>
            </a:r>
            <a:r>
              <a:rPr lang="zh-CN" altLang="en-US" sz="2000" dirty="0">
                <a:solidFill>
                  <a:schemeClr val="tx1"/>
                </a:solidFill>
              </a:rPr>
              <a:t>属性来访问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节点访问</a:t>
            </a:r>
            <a:r>
              <a:rPr lang="en-US" altLang="zh-CN" dirty="0"/>
              <a:t>-</a:t>
            </a:r>
            <a:r>
              <a:rPr lang="zh-CN" altLang="en-US" dirty="0"/>
              <a:t>方法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4975" y="1275080"/>
            <a:ext cx="8509000" cy="501586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1</a:t>
            </a:r>
            <a:r>
              <a:rPr lang="zh-CN" altLang="en-US" sz="1800" dirty="0"/>
              <a:t>）通过</a:t>
            </a:r>
            <a:r>
              <a:rPr lang="en-US" altLang="zh-CN" sz="1800" dirty="0"/>
              <a:t>ID</a:t>
            </a:r>
            <a:r>
              <a:rPr lang="zh-CN" altLang="en-US" sz="1800" dirty="0"/>
              <a:t>访问页面元素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srgbClr val="FF0000"/>
                </a:solidFill>
              </a:rPr>
              <a:t>语法：  </a:t>
            </a:r>
            <a:r>
              <a:rPr lang="en-US" altLang="zh-CN" sz="1800" b="0" dirty="0" err="1">
                <a:solidFill>
                  <a:srgbClr val="FF0000"/>
                </a:solidFill>
              </a:rPr>
              <a:t>document.getElementById</a:t>
            </a:r>
            <a:r>
              <a:rPr lang="en-US" altLang="zh-CN" sz="1800" b="0" dirty="0">
                <a:solidFill>
                  <a:srgbClr val="FF0000"/>
                </a:solidFill>
              </a:rPr>
              <a:t>(id)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800" b="0" dirty="0"/>
              <a:t>参数：  </a:t>
            </a:r>
            <a:r>
              <a:rPr lang="en-US" altLang="zh-CN" sz="1800" b="0" dirty="0"/>
              <a:t>id</a:t>
            </a:r>
            <a:r>
              <a:rPr lang="zh-CN" altLang="en-US" sz="1800" b="0" dirty="0"/>
              <a:t>必选项，为字符串</a:t>
            </a:r>
            <a:r>
              <a:rPr lang="en-US" altLang="zh-CN" sz="1800" b="0" dirty="0"/>
              <a:t>(String)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800" b="0" dirty="0"/>
              <a:t>返回值：对象或</a:t>
            </a:r>
            <a:r>
              <a:rPr lang="en-US" altLang="zh-CN" sz="1800" b="0" dirty="0"/>
              <a:t>null(</a:t>
            </a:r>
            <a:r>
              <a:rPr lang="zh-CN" altLang="en-US" sz="1800" b="0" dirty="0"/>
              <a:t>无符合条件的对象</a:t>
            </a:r>
            <a:r>
              <a:rPr lang="en-US" altLang="zh-CN" sz="1800" b="0" dirty="0"/>
              <a:t>)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</a:t>
            </a:r>
            <a:r>
              <a:rPr lang="zh-CN" altLang="en-US" sz="1800" dirty="0">
                <a:solidFill>
                  <a:srgbClr val="FF0000"/>
                </a:solidFill>
              </a:rPr>
              <a:t>例如：</a:t>
            </a:r>
            <a:r>
              <a:rPr lang="en-US" altLang="zh-CN" sz="1800" dirty="0" err="1">
                <a:solidFill>
                  <a:srgbClr val="FF0000"/>
                </a:solidFill>
              </a:rPr>
              <a:t>var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userName</a:t>
            </a:r>
            <a:r>
              <a:rPr lang="en-US" altLang="zh-CN" sz="1800" dirty="0">
                <a:solidFill>
                  <a:srgbClr val="FF0000"/>
                </a:solidFill>
              </a:rPr>
              <a:t>=</a:t>
            </a:r>
            <a:r>
              <a:rPr lang="en-US" altLang="zh-CN" sz="1800" dirty="0" err="1">
                <a:solidFill>
                  <a:srgbClr val="FF0000"/>
                </a:solidFill>
              </a:rPr>
              <a:t>document.getElementById</a:t>
            </a:r>
            <a:r>
              <a:rPr lang="en-US" altLang="zh-CN" sz="1800" dirty="0">
                <a:solidFill>
                  <a:srgbClr val="FF0000"/>
                </a:solidFill>
              </a:rPr>
              <a:t>("</a:t>
            </a:r>
            <a:r>
              <a:rPr lang="en-US" altLang="zh-CN" sz="1800" dirty="0" err="1">
                <a:solidFill>
                  <a:srgbClr val="FF0000"/>
                </a:solidFill>
              </a:rPr>
              <a:t>userName</a:t>
            </a:r>
            <a:r>
              <a:rPr lang="en-US" altLang="zh-CN" sz="1800" dirty="0">
                <a:solidFill>
                  <a:srgbClr val="FF0000"/>
                </a:solidFill>
              </a:rPr>
              <a:t>").value;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注意：</a:t>
            </a:r>
          </a:p>
          <a:p>
            <a:pPr lvl="1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800" b="0" dirty="0"/>
              <a:t>最好为需要交互</a:t>
            </a:r>
            <a:r>
              <a:rPr lang="zh-CN" altLang="en-US" sz="1800" b="0" dirty="0">
                <a:highlight>
                  <a:srgbClr val="FFFF00"/>
                </a:highlight>
              </a:rPr>
              <a:t>的元素设定一个唯一的</a:t>
            </a:r>
            <a:r>
              <a:rPr lang="en-US" altLang="zh-CN" sz="1800" b="0" dirty="0">
                <a:highlight>
                  <a:srgbClr val="FFFF00"/>
                </a:highlight>
              </a:rPr>
              <a:t>id</a:t>
            </a:r>
            <a:r>
              <a:rPr lang="zh-CN" altLang="en-US" sz="1800" b="0" dirty="0"/>
              <a:t>，以便查找；</a:t>
            </a:r>
          </a:p>
          <a:p>
            <a:pPr lvl="1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800" b="0" dirty="0" err="1"/>
              <a:t>getElementById</a:t>
            </a:r>
            <a:r>
              <a:rPr lang="en-US" altLang="zh-CN" sz="1800" b="0" dirty="0"/>
              <a:t>()</a:t>
            </a:r>
            <a:r>
              <a:rPr lang="zh-CN" altLang="en-US" sz="1800" b="0" dirty="0"/>
              <a:t>返回的是一个页面元素的引用</a:t>
            </a:r>
            <a:r>
              <a:rPr lang="en-US" altLang="zh-CN" sz="1800" b="0" dirty="0"/>
              <a:t>.</a:t>
            </a:r>
          </a:p>
          <a:p>
            <a:pPr lvl="1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800" b="0" dirty="0"/>
              <a:t>元素</a:t>
            </a:r>
            <a:r>
              <a:rPr lang="en-US" altLang="zh-CN" sz="1800" b="0" dirty="0"/>
              <a:t>ID</a:t>
            </a:r>
            <a:r>
              <a:rPr lang="zh-CN" altLang="en-US" sz="1800" b="0" dirty="0"/>
              <a:t>引用时，必须加引号，如</a:t>
            </a:r>
            <a:r>
              <a:rPr lang="en-US" altLang="zh-CN" sz="1800" b="0" dirty="0"/>
              <a:t>“</a:t>
            </a:r>
            <a:r>
              <a:rPr lang="en-US" altLang="zh-CN" sz="1800" b="0" dirty="0" err="1"/>
              <a:t>userName</a:t>
            </a:r>
            <a:r>
              <a:rPr lang="en-US" altLang="zh-CN" sz="1800" b="0" dirty="0"/>
              <a:t>”</a:t>
            </a:r>
            <a:r>
              <a:rPr lang="zh-CN" altLang="en-US" sz="1800" b="0" dirty="0"/>
              <a:t>，否则易引起语法错误，缺少对象。</a:t>
            </a:r>
            <a:endParaRPr lang="en-US" altLang="zh-CN" sz="1800" b="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function $(id){return </a:t>
            </a:r>
            <a:r>
              <a:rPr lang="en-US" altLang="zh-CN" sz="1800" dirty="0" err="1">
                <a:solidFill>
                  <a:srgbClr val="FF0000"/>
                </a:solidFill>
              </a:rPr>
              <a:t>document.getElementById</a:t>
            </a:r>
            <a:r>
              <a:rPr lang="en-US" altLang="zh-CN" sz="1800" dirty="0">
                <a:solidFill>
                  <a:srgbClr val="FF0000"/>
                </a:solidFill>
              </a:rPr>
              <a:t>(id);}//</a:t>
            </a:r>
            <a:r>
              <a:rPr lang="zh-CN" altLang="zh-CN" sz="1800" dirty="0">
                <a:solidFill>
                  <a:srgbClr val="FF0000"/>
                </a:solidFill>
              </a:rPr>
              <a:t>调用时参数加双引号</a:t>
            </a:r>
          </a:p>
          <a:p>
            <a:endParaRPr lang="zh-CN" altLang="zh-CN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节点访问</a:t>
            </a:r>
            <a:r>
              <a:rPr lang="en-US" altLang="zh-CN" dirty="0"/>
              <a:t>-</a:t>
            </a:r>
            <a:r>
              <a:rPr lang="zh-CN" altLang="en-US" dirty="0"/>
              <a:t>方法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3400" y="1673048"/>
            <a:ext cx="8534400" cy="3291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3400" indent="-533400">
              <a:lnSpc>
                <a:spcPct val="100000"/>
              </a:lnSpc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2)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Name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访问页面元素</a:t>
            </a:r>
          </a:p>
          <a:p>
            <a:pPr marL="914400" lvl="1" indent="-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语法：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document.getElementsByName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(name)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14400" lvl="1" indent="-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参数： 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name :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必选项为字符串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(String)</a:t>
            </a:r>
          </a:p>
          <a:p>
            <a:pPr marL="914400" lvl="1" indent="-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返回值：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数组对象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;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如果无符合条件的对象，则返回空数组</a:t>
            </a:r>
          </a:p>
          <a:p>
            <a:pPr marL="533400" indent="-533400">
              <a:lnSpc>
                <a:spcPct val="100000"/>
              </a:lnSpc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例如：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userNameInput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document.getElementsByName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("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userName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");</a:t>
            </a:r>
          </a:p>
          <a:p>
            <a:pPr marL="914400" lvl="1" indent="-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userName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userNameInput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[0].value;</a:t>
            </a:r>
          </a:p>
          <a:p>
            <a:pPr marL="533400" indent="-5334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使用该方法需要注意：</a:t>
            </a:r>
          </a:p>
          <a:p>
            <a:pPr marL="800100" lvl="1" indent="-342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该方法返回一个数组，</a:t>
            </a:r>
            <a:r>
              <a:rPr lang="zh-CN" altLang="en-US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引用元素必须通过下标进行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</a:p>
          <a:p>
            <a:pPr marL="800100" lvl="1" indent="-342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如果返回一个长度为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的数组，没有元素；可以通过对象的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属性来判断。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00000"/>
              </a:lnSpc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function $name(name){return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document.getElementsByName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(name);}</a:t>
            </a:r>
            <a:endParaRPr lang="zh-CN" altLang="en-US" sz="18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/>
              <a:t>DOM</a:t>
            </a:r>
            <a:r>
              <a:rPr lang="zh-CN" altLang="en-US"/>
              <a:t>节点访问</a:t>
            </a:r>
            <a:r>
              <a:rPr lang="en-US" altLang="zh-CN"/>
              <a:t>-</a:t>
            </a:r>
            <a:r>
              <a:rPr lang="zh-CN" altLang="en-US"/>
              <a:t>其它方法</a:t>
            </a:r>
          </a:p>
        </p:txBody>
      </p:sp>
      <p:sp>
        <p:nvSpPr>
          <p:cNvPr id="3" name="矩形 2"/>
          <p:cNvSpPr/>
          <p:nvPr/>
        </p:nvSpPr>
        <p:spPr>
          <a:xfrm>
            <a:off x="533400" y="1676400"/>
            <a:ext cx="853440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3400" indent="-5334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）通过标记名访问页面元素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语法：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document.getElementsByTagName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tagname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参数： </a:t>
            </a:r>
            <a:r>
              <a:rPr lang="en-US" altLang="zh-CN" b="0" dirty="0" err="1">
                <a:latin typeface="微软雅黑" panose="020B0503020204020204" charset="-122"/>
                <a:ea typeface="微软雅黑" panose="020B0503020204020204" charset="-122"/>
              </a:rPr>
              <a:t>tagname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必选项为字符串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(String)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返回值：数组对象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;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如果无符合条件的对象，则返回空数组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function $tag(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tagname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return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document.getElementsByTagName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tagname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);} //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调用时加双引号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）获得当前页面所有的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Form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对象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语法：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document.forms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参数： 无；返回值：数组对象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;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如果无符合条件的对象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(Form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，则返回空数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indent="-4572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800" b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var </a:t>
            </a:r>
            <a:r>
              <a:rPr lang="en-US" altLang="zh-CN" sz="1800" b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loginform</a:t>
            </a:r>
            <a:r>
              <a:rPr lang="en-US" altLang="zh-CN" sz="1800" b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document.forms</a:t>
            </a:r>
            <a:r>
              <a:rPr lang="en-US" altLang="zh-CN" sz="1800" b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[0];  var username=</a:t>
            </a:r>
            <a:r>
              <a:rPr lang="en-US" altLang="zh-CN" sz="1800" b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loginform.elements</a:t>
            </a:r>
            <a:r>
              <a:rPr lang="en-US" altLang="zh-CN" sz="1800" b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[0];</a:t>
            </a:r>
          </a:p>
          <a:p>
            <a:pPr marL="0" lvl="1" indent="-45720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800" b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 password=</a:t>
            </a:r>
            <a:r>
              <a:rPr lang="en-US" altLang="zh-CN" sz="1800" b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loginform.elements</a:t>
            </a:r>
            <a:r>
              <a:rPr lang="en-US" altLang="zh-CN" sz="1800" b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[1]; </a:t>
            </a:r>
            <a:endParaRPr lang="zh-CN" altLang="en-US" sz="1800" b="0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节点操作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067"/>
            <a:ext cx="8474075" cy="3321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1800" dirty="0"/>
              <a:t>1.</a:t>
            </a:r>
            <a:r>
              <a:rPr lang="zh-CN" altLang="zh-CN" sz="1800" dirty="0"/>
              <a:t>创建和修改节点</a:t>
            </a:r>
          </a:p>
          <a:p>
            <a:pPr>
              <a:buNone/>
            </a:pPr>
            <a:endParaRPr lang="zh-CN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339281"/>
              </p:ext>
            </p:extLst>
          </p:nvPr>
        </p:nvGraphicFramePr>
        <p:xfrm>
          <a:off x="377825" y="2171023"/>
          <a:ext cx="8507730" cy="356679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15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方法名</a:t>
                      </a:r>
                      <a:endParaRPr lang="zh-CN" sz="1800" b="1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800" b="1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createElement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tagname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sz="1800" b="1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创建标记名为</a:t>
                      </a: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tagname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的节点。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createTextNode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(text)</a:t>
                      </a:r>
                      <a:endParaRPr lang="en-US" sz="18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创建包含文本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的文本节点。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createDocumentFragment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()</a:t>
                      </a:r>
                      <a:endParaRPr lang="en-US" sz="18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创建文档碎片。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createAttribute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()</a:t>
                      </a:r>
                      <a:endParaRPr lang="en-US" sz="1800" b="1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创建属性节点。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createComment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(text)</a:t>
                      </a:r>
                      <a:endParaRPr lang="en-US" sz="1800" b="1" kern="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创建注释节点。</a:t>
                      </a:r>
                      <a:endParaRPr lang="zh-CN" sz="1800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removeChild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(node)</a:t>
                      </a:r>
                      <a:endParaRPr lang="en-US" sz="18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删除一个名为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node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的子节点。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appendChild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(node)</a:t>
                      </a:r>
                      <a:endParaRPr lang="en-US" sz="18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添加一个名为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node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的子节点。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insertBefore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nodeB,nodeA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sz="18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在名为</a:t>
                      </a: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nodeA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节点前插入一个名为</a:t>
                      </a: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nodeB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的节点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replaceChild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nodeB,nodeA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sz="18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用一个名为</a:t>
                      </a: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nodeB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节点替换另一个名为</a:t>
                      </a: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nodeA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cloneNode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800" kern="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boolean</a:t>
                      </a:r>
                      <a:r>
                        <a:rPr lang="en-US" sz="1800" kern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sz="1800" b="1" kern="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84455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克隆一个节点，它接收一个</a:t>
                      </a: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boolean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参数，为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true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时表示该节点带文字；</a:t>
                      </a: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false</a:t>
                      </a: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表示该节点不带文字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节点操作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315" y="1202055"/>
            <a:ext cx="8059420" cy="3810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&lt;script type="text/</a:t>
            </a:r>
            <a:r>
              <a:rPr lang="en-US" altLang="zh-CN" sz="1800" dirty="0" err="1"/>
              <a:t>javascript</a:t>
            </a:r>
            <a:r>
              <a:rPr lang="en-US" altLang="zh-CN" sz="1800" dirty="0"/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     function validate(){ //</a:t>
            </a:r>
            <a:r>
              <a:rPr lang="zh-CN" altLang="en-US" sz="1800" dirty="0"/>
              <a:t>此处为用户登录时的校验处理代码  </a:t>
            </a:r>
            <a:r>
              <a:rPr lang="en-US" altLang="zh-CN" sz="1800" dirty="0"/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&lt;form method="post" action="" </a:t>
            </a:r>
            <a:r>
              <a:rPr lang="en-US" altLang="zh-CN" sz="1800" dirty="0">
                <a:highlight>
                  <a:srgbClr val="FFFF00"/>
                </a:highlight>
              </a:rPr>
              <a:t>name="</a:t>
            </a:r>
            <a:r>
              <a:rPr lang="en-US" altLang="zh-CN" sz="1800" dirty="0" err="1">
                <a:highlight>
                  <a:srgbClr val="FFFF00"/>
                </a:highlight>
              </a:rPr>
              <a:t>myform</a:t>
            </a:r>
            <a:r>
              <a:rPr lang="en-US" altLang="zh-CN" sz="1800" dirty="0">
                <a:highlight>
                  <a:srgbClr val="FFFF00"/>
                </a:highlight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</a:t>
            </a:r>
            <a:r>
              <a:rPr lang="en-US" altLang="zh-CN" sz="1800" dirty="0" err="1"/>
              <a:t>fieldset</a:t>
            </a:r>
            <a:r>
              <a:rPr lang="en-US" altLang="zh-CN" sz="1800" dirty="0"/>
              <a:t> style="width:350px;height:150px;text-align:center;"&gt;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&lt;legend align="center"&gt;</a:t>
            </a:r>
            <a:r>
              <a:rPr lang="zh-CN" altLang="en-US" sz="1800" dirty="0"/>
              <a:t>用户信息</a:t>
            </a:r>
            <a:r>
              <a:rPr lang="en-US" altLang="zh-CN" sz="1800" dirty="0"/>
              <a:t>&lt;/legend&gt;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</a:t>
            </a:r>
            <a:r>
              <a:rPr lang="zh-CN" altLang="en-US" sz="1800" dirty="0"/>
              <a:t>用户名</a:t>
            </a:r>
            <a:r>
              <a:rPr lang="en-US" altLang="zh-CN" sz="1800" dirty="0"/>
              <a:t>:&lt;input type="text" name="username" id="username"&gt;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</a:t>
            </a:r>
            <a:r>
              <a:rPr lang="zh-CN" altLang="en-US" sz="1800" dirty="0"/>
              <a:t>密码</a:t>
            </a:r>
            <a:r>
              <a:rPr lang="en-US" altLang="zh-CN" sz="1800" dirty="0"/>
              <a:t>:&lt;input type="password" name="password" id="password"&gt;&lt;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</a:t>
            </a:r>
            <a:r>
              <a:rPr lang="zh-CN" altLang="en-US" sz="1800" dirty="0"/>
              <a:t>邮箱</a:t>
            </a:r>
            <a:r>
              <a:rPr lang="en-US" altLang="zh-CN" sz="1800" dirty="0"/>
              <a:t>:&lt;input type="text" name="email" id="email"&gt;&lt;</a:t>
            </a:r>
            <a:r>
              <a:rPr lang="en-US" altLang="zh-CN" sz="1800" dirty="0" err="1"/>
              <a:t>br</a:t>
            </a:r>
            <a:r>
              <a:rPr lang="en-US" altLang="zh-CN" sz="1800" dirty="0"/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&lt;input type="button" value="</a:t>
            </a:r>
            <a:r>
              <a:rPr lang="zh-CN" altLang="en-US" sz="1800" dirty="0"/>
              <a:t>提交</a:t>
            </a:r>
            <a:r>
              <a:rPr lang="en-US" altLang="zh-CN" sz="1800" dirty="0"/>
              <a:t>" </a:t>
            </a:r>
            <a:r>
              <a:rPr lang="en-US" altLang="zh-CN" sz="1800" dirty="0" err="1"/>
              <a:t>onclick</a:t>
            </a:r>
            <a:r>
              <a:rPr lang="en-US" altLang="zh-CN" sz="1800" dirty="0"/>
              <a:t>="validate();"&gt;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&lt;input type="reset"&gt;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&lt;/</a:t>
            </a:r>
            <a:r>
              <a:rPr lang="en-US" altLang="zh-CN" sz="1800" dirty="0" err="1"/>
              <a:t>fieldset</a:t>
            </a:r>
            <a:r>
              <a:rPr lang="en-US" altLang="zh-CN" sz="1800" dirty="0"/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	&lt;/form&gt;</a:t>
            </a: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5360" y="4404360"/>
            <a:ext cx="3634740" cy="2087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DOM</a:t>
            </a:r>
            <a:r>
              <a:rPr lang="zh-CN" altLang="en-US" dirty="0"/>
              <a:t>节点操作案例</a:t>
            </a:r>
            <a:r>
              <a:rPr lang="en-US" altLang="zh-CN" dirty="0"/>
              <a:t>1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&lt;script  type="text/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"&gt;</a:t>
            </a:r>
            <a:endParaRPr lang="zh-CN" altLang="en-US" sz="1800" b="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function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createP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(){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op =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document.createElement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("p");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var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otext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= 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document.createTextNode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("Hello World</a:t>
            </a:r>
            <a:r>
              <a:rPr lang="zh-CN" altLang="en-US" sz="1800" dirty="0">
                <a:latin typeface="Verdana" panose="020B0604030504040204" pitchFamily="34" charset="0"/>
                <a:ea typeface="宋体" panose="02010600030101010101" pitchFamily="2" charset="-122"/>
              </a:rPr>
              <a:t>！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op.appendChild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otext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document.forms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[0].</a:t>
            </a:r>
            <a:r>
              <a:rPr lang="en-US" altLang="zh-CN" sz="1800" dirty="0" err="1">
                <a:latin typeface="Verdana" panose="020B0604030504040204" pitchFamily="34" charset="0"/>
                <a:ea typeface="宋体" panose="02010600030101010101" pitchFamily="2" charset="-122"/>
              </a:rPr>
              <a:t>appendChild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(op);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&lt;body&gt;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  &lt;form name="form1"&gt;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     &lt;input type="button" value="</a:t>
            </a:r>
            <a:r>
              <a:rPr lang="zh-CN" altLang="en-US" sz="1800" dirty="0">
                <a:latin typeface="Verdana" panose="020B0604030504040204" pitchFamily="34" charset="0"/>
                <a:ea typeface="宋体" panose="02010600030101010101" pitchFamily="2" charset="-122"/>
              </a:rPr>
              <a:t>点击创建节点</a:t>
            </a: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"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onClick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="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createP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()"&gt;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宋体" panose="02010600030101010101" pitchFamily="2" charset="-122"/>
              </a:rPr>
              <a:t>   &lt;/form&gt;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65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1025" y="4248785"/>
            <a:ext cx="3930650" cy="1753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节点操作案例</a:t>
            </a:r>
            <a:r>
              <a:rPr lang="en-US" altLang="zh-CN" dirty="0"/>
              <a:t>2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475740"/>
            <a:ext cx="8139430" cy="4865370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&lt;script language="</a:t>
            </a:r>
            <a:r>
              <a:rPr lang="en-US" altLang="zh-CN" sz="1800" dirty="0" err="1">
                <a:ea typeface="宋体" panose="02010600030101010101" pitchFamily="2" charset="-122"/>
              </a:rPr>
              <a:t>javascript</a:t>
            </a:r>
            <a:r>
              <a:rPr lang="en-US" altLang="zh-CN" sz="1800" dirty="0">
                <a:ea typeface="宋体" panose="02010600030101010101" pitchFamily="2" charset="-122"/>
              </a:rPr>
              <a:t>" type="text/</a:t>
            </a:r>
            <a:r>
              <a:rPr lang="en-US" altLang="zh-CN" sz="1800" dirty="0" err="1">
                <a:ea typeface="宋体" panose="02010600030101010101" pitchFamily="2" charset="-122"/>
              </a:rPr>
              <a:t>javascript</a:t>
            </a:r>
            <a:r>
              <a:rPr lang="en-US" altLang="zh-CN" sz="1800" dirty="0">
                <a:ea typeface="宋体" panose="02010600030101010101" pitchFamily="2" charset="-122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function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operateNode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(){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//</a:t>
            </a:r>
            <a:r>
              <a:rPr lang="zh-CN" altLang="en-US" sz="1800" dirty="0">
                <a:ea typeface="宋体" panose="02010600030101010101" pitchFamily="2" charset="-122"/>
              </a:rPr>
              <a:t>将页面上的</a:t>
            </a:r>
            <a:r>
              <a:rPr lang="en-US" altLang="zh-CN" sz="1800" dirty="0">
                <a:ea typeface="宋体" panose="02010600030101010101" pitchFamily="2" charset="-122"/>
              </a:rPr>
              <a:t>&lt;p&gt;</a:t>
            </a:r>
            <a:r>
              <a:rPr lang="zh-CN" altLang="en-US" sz="1800" dirty="0">
                <a:ea typeface="宋体" panose="02010600030101010101" pitchFamily="2" charset="-122"/>
              </a:rPr>
              <a:t>元素删除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var</a:t>
            </a:r>
            <a:r>
              <a:rPr lang="en-US" altLang="zh-CN" sz="1800" dirty="0">
                <a:ea typeface="宋体" panose="02010600030101010101" pitchFamily="2" charset="-122"/>
              </a:rPr>
              <a:t> p = </a:t>
            </a:r>
            <a:r>
              <a:rPr lang="en-US" altLang="zh-CN" sz="1800" dirty="0" err="1">
                <a:ea typeface="宋体" panose="02010600030101010101" pitchFamily="2" charset="-122"/>
              </a:rPr>
              <a:t>document.getElementsByTagName</a:t>
            </a:r>
            <a:r>
              <a:rPr lang="en-US" altLang="zh-CN" sz="1800" dirty="0">
                <a:ea typeface="宋体" panose="02010600030101010101" pitchFamily="2" charset="-122"/>
              </a:rPr>
              <a:t>("p")[0];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document.form1.removeChild(p);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//</a:t>
            </a:r>
            <a:r>
              <a:rPr lang="zh-CN" altLang="en-US" sz="1800" dirty="0">
                <a:ea typeface="宋体" panose="02010600030101010101" pitchFamily="2" charset="-122"/>
              </a:rPr>
              <a:t>将页面中的</a:t>
            </a:r>
            <a:r>
              <a:rPr lang="en-US" altLang="zh-CN" sz="1800" dirty="0">
                <a:ea typeface="宋体" panose="02010600030101010101" pitchFamily="2" charset="-122"/>
              </a:rPr>
              <a:t>&lt;h2&gt;</a:t>
            </a:r>
            <a:r>
              <a:rPr lang="zh-CN" altLang="en-US" sz="1800" dirty="0">
                <a:ea typeface="宋体" panose="02010600030101010101" pitchFamily="2" charset="-122"/>
              </a:rPr>
              <a:t>元素更换为</a:t>
            </a:r>
            <a:r>
              <a:rPr lang="en-US" altLang="zh-CN" sz="1800" dirty="0">
                <a:ea typeface="宋体" panose="02010600030101010101" pitchFamily="2" charset="-122"/>
              </a:rPr>
              <a:t>&lt;h5&gt;</a:t>
            </a:r>
            <a:r>
              <a:rPr lang="zh-CN" altLang="en-US" sz="1800" dirty="0">
                <a:ea typeface="宋体" panose="02010600030101010101" pitchFamily="2" charset="-122"/>
              </a:rPr>
              <a:t>元素并重新设置文本节点内容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var</a:t>
            </a:r>
            <a:r>
              <a:rPr lang="en-US" altLang="zh-CN" sz="1800" dirty="0">
                <a:ea typeface="宋体" panose="02010600030101010101" pitchFamily="2" charset="-122"/>
              </a:rPr>
              <a:t> h5 =</a:t>
            </a:r>
            <a:r>
              <a:rPr lang="en-US" altLang="zh-CN" sz="1800" dirty="0" err="1">
                <a:ea typeface="宋体" panose="02010600030101010101" pitchFamily="2" charset="-122"/>
              </a:rPr>
              <a:t>document.createElement</a:t>
            </a:r>
            <a:r>
              <a:rPr lang="en-US" altLang="zh-CN" sz="1800" dirty="0">
                <a:ea typeface="宋体" panose="02010600030101010101" pitchFamily="2" charset="-122"/>
              </a:rPr>
              <a:t>("h5");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var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otext</a:t>
            </a:r>
            <a:r>
              <a:rPr lang="en-US" altLang="zh-CN" sz="1800" dirty="0">
                <a:ea typeface="宋体" panose="02010600030101010101" pitchFamily="2" charset="-122"/>
              </a:rPr>
              <a:t> = </a:t>
            </a:r>
            <a:r>
              <a:rPr lang="en-US" altLang="zh-CN" sz="1800" dirty="0" err="1">
                <a:ea typeface="宋体" panose="02010600030101010101" pitchFamily="2" charset="-122"/>
              </a:rPr>
              <a:t>document.createTextNode</a:t>
            </a:r>
            <a:r>
              <a:rPr lang="en-US" altLang="zh-CN" sz="1800" dirty="0">
                <a:ea typeface="宋体" panose="02010600030101010101" pitchFamily="2" charset="-122"/>
              </a:rPr>
              <a:t>("web</a:t>
            </a:r>
            <a:r>
              <a:rPr lang="zh-CN" altLang="en-US" sz="1800" dirty="0">
                <a:ea typeface="宋体" panose="02010600030101010101" pitchFamily="2" charset="-122"/>
              </a:rPr>
              <a:t>前端开发技术！</a:t>
            </a:r>
            <a:r>
              <a:rPr lang="en-US" altLang="zh-CN" sz="1800" dirty="0">
                <a:ea typeface="宋体" panose="02010600030101010101" pitchFamily="2" charset="-122"/>
              </a:rPr>
              <a:t>");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h5.appendChild(</a:t>
            </a:r>
            <a:r>
              <a:rPr lang="en-US" altLang="zh-CN" sz="1800" dirty="0" err="1">
                <a:ea typeface="宋体" panose="02010600030101010101" pitchFamily="2" charset="-122"/>
              </a:rPr>
              <a:t>otext</a:t>
            </a:r>
            <a:r>
              <a:rPr lang="en-US" altLang="zh-CN" sz="1800" dirty="0">
                <a:ea typeface="宋体" panose="02010600030101010101" pitchFamily="2" charset="-122"/>
              </a:rPr>
              <a:t>);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var</a:t>
            </a:r>
            <a:r>
              <a:rPr lang="en-US" altLang="zh-CN" sz="1800" dirty="0">
                <a:ea typeface="宋体" panose="02010600030101010101" pitchFamily="2" charset="-122"/>
              </a:rPr>
              <a:t> h2 = </a:t>
            </a:r>
            <a:r>
              <a:rPr lang="en-US" altLang="zh-CN" sz="1800" dirty="0" err="1">
                <a:ea typeface="宋体" panose="02010600030101010101" pitchFamily="2" charset="-122"/>
              </a:rPr>
              <a:t>document.getElementsByTagName</a:t>
            </a:r>
            <a:r>
              <a:rPr lang="en-US" altLang="zh-CN" sz="1800" dirty="0">
                <a:ea typeface="宋体" panose="02010600030101010101" pitchFamily="2" charset="-122"/>
              </a:rPr>
              <a:t>("h2")[0];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document.form1.replaceChild(h5,h2);</a:t>
            </a: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indent="31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//</a:t>
            </a:r>
            <a:r>
              <a:rPr lang="zh-CN" altLang="en-US" sz="1800" dirty="0">
                <a:ea typeface="宋体" panose="02010600030101010101" pitchFamily="2" charset="-122"/>
              </a:rPr>
              <a:t>在</a:t>
            </a:r>
            <a:r>
              <a:rPr lang="en-US" altLang="zh-CN" sz="1800" dirty="0" err="1">
                <a:ea typeface="宋体" panose="02010600030101010101" pitchFamily="2" charset="-122"/>
              </a:rPr>
              <a:t>hdb</a:t>
            </a:r>
            <a:r>
              <a:rPr lang="zh-CN" altLang="en-US" sz="1800" dirty="0">
                <a:ea typeface="宋体" panose="02010600030101010101" pitchFamily="2" charset="-122"/>
              </a:rPr>
              <a:t>元素前插入一个</a:t>
            </a:r>
            <a:r>
              <a:rPr lang="en-US" altLang="zh-CN" sz="1800" dirty="0">
                <a:ea typeface="宋体" panose="02010600030101010101" pitchFamily="2" charset="-122"/>
              </a:rPr>
              <a:t>&lt;p&gt;</a:t>
            </a:r>
            <a:r>
              <a:rPr lang="zh-CN" altLang="en-US" sz="1800" dirty="0">
                <a:ea typeface="宋体" panose="02010600030101010101" pitchFamily="2" charset="-122"/>
              </a:rPr>
              <a:t>元素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 var op =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document.createElement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("p");</a:t>
            </a:r>
            <a:endParaRPr lang="en-US" altLang="zh-CN" sz="1800" b="0" dirty="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 var 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otext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= 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document.createTextNode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("</a:t>
            </a:r>
            <a:r>
              <a:rPr sz="1800" dirty="0">
                <a:ea typeface="宋体" panose="02010600030101010101" pitchFamily="2" charset="-122"/>
                <a:sym typeface="+mn-ea"/>
              </a:rPr>
              <a:t>中国的是世界的！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");</a:t>
            </a:r>
            <a:endParaRPr lang="en-US" altLang="zh-CN" sz="1800" b="0" dirty="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op.appendChild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otext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);</a:t>
            </a:r>
            <a:endParaRPr lang="en-US" altLang="zh-CN" sz="1800" b="0" dirty="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 var 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hdb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= 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document.getElementsByTagName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("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hdb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")[0];</a:t>
            </a:r>
            <a:endParaRPr lang="en-US" altLang="zh-CN" sz="1800" b="0" dirty="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 document.form1.insertBefore(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op,hdb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);</a:t>
            </a:r>
            <a:endParaRPr lang="en-US" altLang="zh-CN" sz="1800" b="0" dirty="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}</a:t>
            </a:r>
            <a:endParaRPr lang="en-US" altLang="zh-CN" sz="1800" b="0" dirty="0"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&lt;/script&gt;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节点操作案例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09880" y="979170"/>
            <a:ext cx="659003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&lt;body&gt;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&lt;form name="form1"&gt;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  &lt;h2&gt;</a:t>
            </a:r>
            <a:r>
              <a:rPr lang="en-US" altLang="zh-CN" b="0" dirty="0" err="1">
                <a:ea typeface="宋体" panose="02010600030101010101" pitchFamily="2" charset="-122"/>
              </a:rPr>
              <a:t>javaScript</a:t>
            </a:r>
            <a:r>
              <a:rPr lang="zh-CN" altLang="en-US" b="0" dirty="0">
                <a:ea typeface="宋体" panose="02010600030101010101" pitchFamily="2" charset="-122"/>
              </a:rPr>
              <a:t>程序设计</a:t>
            </a:r>
            <a:r>
              <a:rPr lang="en-US" altLang="zh-CN" b="0" dirty="0">
                <a:ea typeface="宋体" panose="02010600030101010101" pitchFamily="2" charset="-122"/>
              </a:rPr>
              <a:t>&lt;/h2&gt;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  &lt;p&gt;hello world!&lt;/p&gt;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  &lt;</a:t>
            </a:r>
            <a:r>
              <a:rPr lang="en-US" altLang="zh-CN" b="0" dirty="0" err="1">
                <a:ea typeface="宋体" panose="02010600030101010101" pitchFamily="2" charset="-122"/>
              </a:rPr>
              <a:t>hdb</a:t>
            </a:r>
            <a:r>
              <a:rPr lang="en-US" altLang="zh-CN" b="0" dirty="0">
                <a:ea typeface="宋体" panose="02010600030101010101" pitchFamily="2" charset="-122"/>
              </a:rPr>
              <a:t>&gt;</a:t>
            </a:r>
            <a:r>
              <a:rPr lang="zh-CN" altLang="en-US" b="0" dirty="0">
                <a:ea typeface="宋体" panose="02010600030101010101" pitchFamily="2" charset="-122"/>
              </a:rPr>
              <a:t>世界的也是中国的！</a:t>
            </a:r>
            <a:r>
              <a:rPr lang="en-US" altLang="zh-CN" b="0" dirty="0">
                <a:ea typeface="宋体" panose="02010600030101010101" pitchFamily="2" charset="-122"/>
              </a:rPr>
              <a:t>&lt;/</a:t>
            </a:r>
            <a:r>
              <a:rPr lang="en-US" altLang="zh-CN" b="0" dirty="0" err="1">
                <a:ea typeface="宋体" panose="02010600030101010101" pitchFamily="2" charset="-122"/>
              </a:rPr>
              <a:t>hdb</a:t>
            </a:r>
            <a:r>
              <a:rPr lang="en-US" altLang="zh-CN" b="0" dirty="0">
                <a:ea typeface="宋体" panose="02010600030101010101" pitchFamily="2" charset="-122"/>
              </a:rPr>
              <a:t>&gt;&lt;br&gt;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  &lt;input type="button" value="</a:t>
            </a:r>
            <a:r>
              <a:rPr lang="zh-CN" altLang="en-US" b="0" dirty="0">
                <a:ea typeface="宋体" panose="02010600030101010101" pitchFamily="2" charset="-122"/>
              </a:rPr>
              <a:t>点击修改节点</a:t>
            </a:r>
            <a:r>
              <a:rPr lang="en-US" altLang="zh-CN" b="0" dirty="0">
                <a:ea typeface="宋体" panose="02010600030101010101" pitchFamily="2" charset="-122"/>
              </a:rPr>
              <a:t>" </a:t>
            </a:r>
            <a:r>
              <a:rPr lang="en-US" altLang="zh-CN" b="0" dirty="0" err="1">
                <a:ea typeface="宋体" panose="02010600030101010101" pitchFamily="2" charset="-122"/>
              </a:rPr>
              <a:t>onClick</a:t>
            </a:r>
            <a:r>
              <a:rPr lang="en-US" altLang="zh-CN" b="0" dirty="0">
                <a:ea typeface="宋体" panose="02010600030101010101" pitchFamily="2" charset="-122"/>
              </a:rPr>
              <a:t>="</a:t>
            </a:r>
            <a:r>
              <a:rPr lang="en-US" altLang="zh-CN" b="0" dirty="0" err="1">
                <a:solidFill>
                  <a:srgbClr val="FF0000"/>
                </a:solidFill>
                <a:ea typeface="宋体" panose="02010600030101010101" pitchFamily="2" charset="-122"/>
              </a:rPr>
              <a:t>operateNode</a:t>
            </a:r>
            <a:r>
              <a:rPr lang="en-US" altLang="zh-CN" b="0" dirty="0">
                <a:solidFill>
                  <a:srgbClr val="FF0000"/>
                </a:solidFill>
                <a:ea typeface="宋体" panose="02010600030101010101" pitchFamily="2" charset="-122"/>
              </a:rPr>
              <a:t>()"&gt;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&lt;/form&gt;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&lt;/body&gt;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ea typeface="宋体" panose="02010600030101010101" pitchFamily="2" charset="-122"/>
              </a:rPr>
              <a:t>&lt;/html&gt;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721860" y="1077264"/>
            <a:ext cx="30988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417060" y="2277746"/>
            <a:ext cx="309880" cy="245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3387725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45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7050" y="1250315"/>
            <a:ext cx="248369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9605" y="3690620"/>
            <a:ext cx="2470150" cy="1515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节点操作案例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3400" y="1657351"/>
            <a:ext cx="5410200" cy="4130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type="text/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function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textGet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 {        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oDiv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document.getElementById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oDiv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msg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"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通过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innerText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属性获得：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msg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+=</a:t>
            </a:r>
            <a:r>
              <a:rPr lang="en-US" altLang="zh-CN" sz="14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oDiv.innerText</a:t>
            </a:r>
            <a:r>
              <a:rPr lang="en-US" altLang="zh-CN" sz="14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msg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+="\n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通过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innerHTML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属性获得：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msg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+=</a:t>
            </a:r>
            <a:r>
              <a:rPr lang="en-US" altLang="zh-CN" sz="14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oDiv.innerHTML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alert(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msg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&lt;/script&gt;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</a:pP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onload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textGet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&lt;div id="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oDiv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&lt;strong&gt;web</a:t>
            </a:r>
            <a:r>
              <a:rPr lang="zh-CN" altLang="en-US" sz="14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前端开发技术，不错！</a:t>
            </a:r>
            <a:r>
              <a:rPr lang="en-US" altLang="zh-CN" sz="14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&lt;/strong&gt;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&lt;/div&gt;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&lt;/body&gt;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&lt;/html&gt;</a:t>
            </a:r>
          </a:p>
          <a:p>
            <a:pPr>
              <a:lnSpc>
                <a:spcPts val="1500"/>
              </a:lnSpc>
              <a:spcBef>
                <a:spcPts val="0"/>
              </a:spcBef>
            </a:pPr>
            <a:endParaRPr lang="zh-CN" altLang="en-US" sz="16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</a:pPr>
            <a:endParaRPr lang="zh-CN" altLang="en-US" sz="16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使用</a:t>
            </a:r>
            <a:r>
              <a:rPr lang="en-US" altLang="zh-CN" sz="1600" b="0" dirty="0">
                <a:latin typeface="Verdana" panose="020B0604030504040204" pitchFamily="34" charset="0"/>
                <a:cs typeface="Verdana" panose="020B0604030504040204" pitchFamily="34" charset="0"/>
              </a:rPr>
              <a:t>innerHTML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更灵活，但要注意安全风险。</a:t>
            </a:r>
          </a:p>
        </p:txBody>
      </p:sp>
      <p:pic>
        <p:nvPicPr>
          <p:cNvPr id="634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0975" y="2549525"/>
            <a:ext cx="3231515" cy="1983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657225" y="1012190"/>
            <a:ext cx="592201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zh-CN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节点的</a:t>
            </a:r>
            <a:r>
              <a:rPr lang="en-US" altLang="zh-CN" b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innerText</a:t>
            </a:r>
            <a:r>
              <a:rPr lang="zh-CN" altLang="zh-CN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b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innerHTML</a:t>
            </a:r>
            <a:r>
              <a:rPr lang="zh-CN" altLang="zh-CN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DOM</a:t>
            </a:r>
            <a:r>
              <a:rPr lang="zh-CN" altLang="en-US" dirty="0"/>
              <a:t>节点操作案例</a:t>
            </a:r>
            <a:r>
              <a:rPr lang="en-US" altLang="zh-CN" dirty="0"/>
              <a:t>4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325755" y="1253490"/>
            <a:ext cx="8493125" cy="3429000"/>
          </a:xfrm>
        </p:spPr>
        <p:txBody>
          <a:bodyPr>
            <a:no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&lt;script type="text/</a:t>
            </a:r>
            <a:r>
              <a:rPr lang="en-US" altLang="zh-CN" sz="1800" dirty="0" err="1">
                <a:ea typeface="宋体" panose="02010600030101010101" pitchFamily="2" charset="-122"/>
              </a:rPr>
              <a:t>javascript</a:t>
            </a:r>
            <a:r>
              <a:rPr lang="en-US" altLang="zh-CN" sz="1800" dirty="0">
                <a:ea typeface="宋体" panose="02010600030101010101" pitchFamily="2" charset="-122"/>
              </a:rPr>
              <a:t>"&gt;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highlight>
                  <a:srgbClr val="FFFF00"/>
                </a:highlight>
                <a:ea typeface="宋体" panose="02010600030101010101" pitchFamily="2" charset="-122"/>
              </a:rPr>
              <a:t>  var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</a:rPr>
              <a:t> table, color   //</a:t>
            </a:r>
            <a:r>
              <a:rPr lang="zh-CN" altLang="en-US" sz="1800" dirty="0">
                <a:highlight>
                  <a:srgbClr val="FFFF00"/>
                </a:highlight>
                <a:ea typeface="宋体" panose="02010600030101010101" pitchFamily="2" charset="-122"/>
              </a:rPr>
              <a:t>全局变量	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function $(id){return </a:t>
            </a:r>
            <a:r>
              <a:rPr lang="en-US" altLang="zh-CN" sz="1800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sz="1800" dirty="0">
                <a:ea typeface="宋体" panose="02010600030101010101" pitchFamily="2" charset="-122"/>
              </a:rPr>
              <a:t>(id);}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function </a:t>
            </a:r>
            <a:r>
              <a:rPr lang="en-US" altLang="zh-CN" sz="1800" dirty="0" err="1">
                <a:ea typeface="宋体" panose="02010600030101010101" pitchFamily="2" charset="-122"/>
              </a:rPr>
              <a:t>randomInteger</a:t>
            </a:r>
            <a:r>
              <a:rPr lang="en-US" altLang="zh-CN" sz="1800" dirty="0">
                <a:ea typeface="宋体" panose="02010600030101010101" pitchFamily="2" charset="-122"/>
              </a:rPr>
              <a:t>(){//</a:t>
            </a:r>
            <a:r>
              <a:rPr lang="zh-CN" altLang="en-US" sz="1800" dirty="0">
                <a:ea typeface="宋体" panose="02010600030101010101" pitchFamily="2" charset="-122"/>
              </a:rPr>
              <a:t>随机产生</a:t>
            </a:r>
            <a:r>
              <a:rPr lang="en-US" altLang="zh-CN" sz="1800" dirty="0">
                <a:ea typeface="宋体" panose="02010600030101010101" pitchFamily="2" charset="-122"/>
              </a:rPr>
              <a:t>0-255</a:t>
            </a:r>
            <a:r>
              <a:rPr lang="zh-CN" altLang="en-US" sz="1800" dirty="0">
                <a:ea typeface="宋体" panose="02010600030101010101" pitchFamily="2" charset="-122"/>
              </a:rPr>
              <a:t>之间的整数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    var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ea typeface="宋体" panose="02010600030101010101" pitchFamily="2" charset="-122"/>
              </a:rPr>
              <a:t>=</a:t>
            </a:r>
            <a:r>
              <a:rPr lang="en-US" altLang="zh-CN" sz="1800" dirty="0" err="1">
                <a:ea typeface="宋体" panose="02010600030101010101" pitchFamily="2" charset="-122"/>
              </a:rPr>
              <a:t>Math.floor</a:t>
            </a:r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</a:rPr>
              <a:t>Math.random</a:t>
            </a:r>
            <a:r>
              <a:rPr lang="en-US" altLang="zh-CN" sz="1800" dirty="0">
                <a:ea typeface="宋体" panose="02010600030101010101" pitchFamily="2" charset="-122"/>
              </a:rPr>
              <a:t>()*256);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return </a:t>
            </a:r>
            <a:r>
              <a:rPr lang="en-US" altLang="zh-CN" sz="1800" dirty="0" err="1"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ea typeface="宋体" panose="02010600030101010101" pitchFamily="2" charset="-122"/>
              </a:rPr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}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  function 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</a:rPr>
              <a:t>changeColor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(){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highlight>
                  <a:srgbClr val="FFFF00"/>
                </a:highlight>
                <a:latin typeface="微软雅黑" panose="020B0503020204020204" charset="-122"/>
                <a:cs typeface="微软雅黑" panose="020B0503020204020204" charset="-122"/>
              </a:rPr>
              <a:t>    table=$("</a:t>
            </a:r>
            <a:r>
              <a:rPr lang="en-US" altLang="zh-CN" sz="1800" dirty="0" err="1">
                <a:highlight>
                  <a:srgbClr val="FFFF00"/>
                </a:highlight>
                <a:latin typeface="微软雅黑" panose="020B0503020204020204" charset="-122"/>
                <a:cs typeface="微软雅黑" panose="020B0503020204020204" charset="-122"/>
              </a:rPr>
              <a:t>myTable</a:t>
            </a:r>
            <a:r>
              <a:rPr lang="en-US" altLang="zh-CN" sz="1800" dirty="0">
                <a:highlight>
                  <a:srgbClr val="FFFF00"/>
                </a:highlight>
                <a:latin typeface="微软雅黑" panose="020B0503020204020204" charset="-122"/>
                <a:cs typeface="微软雅黑" panose="020B0503020204020204" charset="-122"/>
              </a:rPr>
              <a:t>");     //</a:t>
            </a:r>
            <a:r>
              <a:rPr lang="zh-CN" altLang="en-US" sz="1800" dirty="0">
                <a:highlight>
                  <a:srgbClr val="FFFF00"/>
                </a:highlight>
                <a:latin typeface="微软雅黑" panose="020B0503020204020204" charset="-122"/>
                <a:cs typeface="微软雅黑" panose="020B0503020204020204" charset="-122"/>
              </a:rPr>
              <a:t>全局变量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color=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</a:rPr>
              <a:t>table.getAttribute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("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</a:rPr>
              <a:t>bgcolor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");  //</a:t>
            </a:r>
            <a:r>
              <a:rPr lang="zh-CN" altLang="en-US" sz="1800" dirty="0">
                <a:latin typeface="微软雅黑" panose="020B0503020204020204" charset="-122"/>
                <a:cs typeface="微软雅黑" panose="020B0503020204020204" charset="-122"/>
              </a:rPr>
              <a:t>保存原始值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</a:rPr>
              <a:t>    var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</a:rPr>
              <a:t>rc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=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</a:rPr>
              <a:t>randomInteger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().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</a:rPr>
              <a:t>toString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</a:rPr>
              <a:t>(16);//</a:t>
            </a:r>
            <a:r>
              <a:rPr lang="zh-CN" altLang="en-US" sz="1800" dirty="0">
                <a:latin typeface="微软雅黑" panose="020B0503020204020204" charset="-122"/>
                <a:cs typeface="微软雅黑" panose="020B0503020204020204" charset="-122"/>
              </a:rPr>
              <a:t>转换十六进制</a:t>
            </a:r>
            <a:endParaRPr lang="en-US" altLang="zh-CN"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    var 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gc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randomInteger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().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toString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(16);//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转换十六进制</a:t>
            </a:r>
            <a:endParaRPr lang="zh-CN" altLang="en-US" sz="1800" b="0" dirty="0">
              <a:latin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    var 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bc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randomInteger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().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toString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(16);//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转换十六进制</a:t>
            </a:r>
            <a:endParaRPr lang="zh-CN" altLang="en-US" sz="1800" b="0" dirty="0">
              <a:latin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    var color1="#"+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rc+gc+bc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;   //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形成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位十六进制数</a:t>
            </a:r>
            <a:endParaRPr lang="zh-CN" altLang="en-US" sz="1800" b="0" dirty="0">
              <a:latin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sz="1800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table.setAttribute</a:t>
            </a:r>
            <a:r>
              <a:rPr lang="en-US" altLang="zh-CN" sz="18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("bgColor",color1);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function </a:t>
            </a:r>
            <a:r>
              <a:rPr lang="en-US" altLang="zh-CN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restoreColor</a:t>
            </a:r>
            <a:r>
              <a:rPr lang="en-US" altLang="zh-C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(){</a:t>
            </a:r>
            <a:endParaRPr lang="en-US" altLang="zh-CN" sz="18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table.setAttribute</a:t>
            </a:r>
            <a:r>
              <a:rPr lang="en-US" altLang="zh-C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("</a:t>
            </a:r>
            <a:r>
              <a:rPr lang="en-US" altLang="zh-CN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bgColor</a:t>
            </a:r>
            <a:r>
              <a:rPr lang="en-US" altLang="zh-C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",color);</a:t>
            </a:r>
            <a:endParaRPr lang="en-US" altLang="zh-CN" sz="18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</a:t>
            </a:r>
            <a:endParaRPr lang="en-US" altLang="zh-CN" sz="18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&lt;/script&gt;</a:t>
            </a:r>
            <a:endParaRPr lang="en-US" altLang="zh-CN" sz="18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800" y="885190"/>
            <a:ext cx="853440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lvl="0" indent="-182880" defTabSz="11588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</a:pPr>
            <a:r>
              <a:rPr lang="en-US" altLang="zh-CN" b="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3.</a:t>
            </a:r>
            <a:r>
              <a:rPr lang="zh-CN" altLang="zh-CN" b="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获取并设置指定元素属性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32AC64-1C3F-40E0-8E65-58C71F33462D}"/>
              </a:ext>
            </a:extLst>
          </p:cNvPr>
          <p:cNvSpPr/>
          <p:nvPr/>
        </p:nvSpPr>
        <p:spPr>
          <a:xfrm>
            <a:off x="5127812" y="3428999"/>
            <a:ext cx="2841812" cy="44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赋值为</a:t>
            </a:r>
            <a:r>
              <a:rPr lang="en-US" altLang="zh-CN" dirty="0"/>
              <a:t>id</a:t>
            </a:r>
            <a:r>
              <a:rPr lang="zh-CN" altLang="en-US" dirty="0"/>
              <a:t>为</a:t>
            </a:r>
            <a:r>
              <a:rPr lang="en-US" altLang="zh-CN" dirty="0" err="1"/>
              <a:t>mytable</a:t>
            </a:r>
            <a:r>
              <a:rPr lang="zh-CN" altLang="en-US" dirty="0"/>
              <a:t>的元素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</a:t>
            </a:r>
            <a:r>
              <a:rPr lang="zh-CN" altLang="en-US" dirty="0"/>
              <a:t>应用实例</a:t>
            </a:r>
            <a:r>
              <a:rPr lang="en-US" altLang="zh-CN" sz="1800" dirty="0"/>
              <a:t>-</a:t>
            </a:r>
            <a:r>
              <a:rPr lang="en-US" altLang="zh-CN" sz="1800" dirty="0" err="1">
                <a:latin typeface="+mj-ea"/>
              </a:rPr>
              <a:t>getAttribute</a:t>
            </a:r>
            <a:r>
              <a:rPr lang="en-US" altLang="zh-CN" sz="1800" dirty="0">
                <a:latin typeface="+mj-ea"/>
              </a:rPr>
              <a:t>( )</a:t>
            </a:r>
            <a:r>
              <a:rPr lang="zh-CN" altLang="en-US" sz="1800" dirty="0">
                <a:latin typeface="+mj-ea"/>
              </a:rPr>
              <a:t>、</a:t>
            </a:r>
            <a:r>
              <a:rPr lang="en-US" altLang="zh-CN" sz="1800" dirty="0" err="1">
                <a:latin typeface="+mj-ea"/>
              </a:rPr>
              <a:t>setAttribute</a:t>
            </a:r>
            <a:r>
              <a:rPr lang="en-US" altLang="zh-CN" sz="1800" dirty="0">
                <a:latin typeface="+mj-ea"/>
              </a:rPr>
              <a:t>( )</a:t>
            </a:r>
            <a:endParaRPr lang="zh-CN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104775" y="1149985"/>
            <a:ext cx="8934450" cy="3797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&lt;body&gt;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&lt;form method="post" action=""&gt;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&lt;table align="center" border="1" 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bgColor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="#99cccc" width="500px" 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id="</a:t>
            </a: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myTable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"&gt;</a:t>
            </a:r>
            <a:endParaRPr lang="en-US" altLang="zh-CN" sz="14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&lt;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tr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&gt;&lt;caption&gt;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专业学生花名册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&lt;/caption&gt;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265430"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&lt;td&gt;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序号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&lt;/td&gt;&lt;td&gt;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姓名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&lt;/td&gt;&lt;td&gt;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学号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&lt;/td&gt;&lt;td&gt;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专业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&lt;/td&gt;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&lt;/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tr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&lt;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tr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  &lt;td&gt;1&lt;/td&gt;&lt;td&gt;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储致衡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&lt;/td&gt;&lt;td&gt;1209520112&lt;/td&gt;&lt;td&gt;</a:t>
            </a:r>
            <a:r>
              <a:rPr lang="zh-CN" altLang="en-US" sz="14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计算机科学与技术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&lt;/td&gt;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&lt;/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tr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&lt;td&gt;2&lt;/td&gt;&lt;td&gt;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李大磊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&lt;/td&gt;&lt;td&gt;1303020122&lt;/td&gt;&lt;td&gt;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软件工程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&lt;/td&gt;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 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&lt;td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colspan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="4"&gt;&lt;input type="button" value="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更改颜色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changeColor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()"&gt;</a:t>
            </a:r>
            <a:b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&lt;input type="button" value="</a:t>
            </a:r>
            <a:r>
              <a:rPr lang="zh-CN" altLang="en-US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还原颜色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restoreColor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()"&gt;&lt;/td&gt;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&lt;/table&gt;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&lt;/form&gt;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&lt;/body&gt;</a:t>
            </a:r>
          </a:p>
          <a:p>
            <a:pPr>
              <a:lnSpc>
                <a:spcPts val="1400"/>
              </a:lnSpc>
              <a:spcBef>
                <a:spcPts val="0"/>
              </a:spcBef>
              <a:buNone/>
            </a:pPr>
            <a:endParaRPr lang="zh-CN" altLang="zh-CN" sz="1400" b="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6290" y="4892675"/>
            <a:ext cx="3462338" cy="1594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4090" y="4876897"/>
            <a:ext cx="3531355" cy="162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表单对象</a:t>
            </a:r>
          </a:p>
        </p:txBody>
      </p:sp>
      <p:graphicFrame>
        <p:nvGraphicFramePr>
          <p:cNvPr id="339083" name="Group 139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1307859"/>
              </p:ext>
            </p:extLst>
          </p:nvPr>
        </p:nvGraphicFramePr>
        <p:xfrm>
          <a:off x="1188085" y="1807210"/>
          <a:ext cx="7060565" cy="339846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62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7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属性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acceptCharset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服务器可以接受的字符集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action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设置或获取表单的处理程序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enctype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设置或获取表单用来编码的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MIME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类型，此属性的默认值为“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application/x-www-form-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urlencoded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” 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设置或获取表单的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name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设置或获取表单的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name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method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设置或获取表单的数据提交到服务器的方法，可取值为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Get|Post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，默认值为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Get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target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设置或获取表单提交结果的目标名称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length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获取表单中所包含的元素数目，只读属性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elements[index]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根据索引获取表单中的元素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7" marB="34287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144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57808" y="885215"/>
            <a:ext cx="8028384" cy="79375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800" dirty="0">
                <a:sym typeface="+mn-ea"/>
              </a:rPr>
              <a:t>表单可以通过</a:t>
            </a:r>
            <a:r>
              <a:rPr lang="en-US" altLang="zh-CN" sz="1800" dirty="0">
                <a:sym typeface="+mn-ea"/>
              </a:rPr>
              <a:t>document.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表单名称或</a:t>
            </a:r>
            <a:r>
              <a:rPr lang="en-US" altLang="zh-CN" sz="1800" dirty="0" err="1">
                <a:highlight>
                  <a:srgbClr val="FFFF00"/>
                </a:highlight>
                <a:sym typeface="+mn-ea"/>
              </a:rPr>
              <a:t>document.forms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[index</a:t>
            </a:r>
            <a:r>
              <a:rPr lang="en-US" altLang="zh-CN" sz="1800" dirty="0">
                <a:sym typeface="+mn-ea"/>
              </a:rPr>
              <a:t>]</a:t>
            </a:r>
            <a:r>
              <a:rPr lang="zh-CN" altLang="en-US" sz="1800" dirty="0">
                <a:sym typeface="+mn-ea"/>
              </a:rPr>
              <a:t>来访问</a:t>
            </a:r>
            <a:endParaRPr lang="en-US" altLang="zh-CN" sz="18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800" dirty="0">
                <a:sym typeface="+mn-ea"/>
              </a:rPr>
              <a:t>在</a:t>
            </a:r>
            <a:r>
              <a:rPr lang="en-US" altLang="zh-CN" sz="1800" dirty="0">
                <a:sym typeface="+mn-ea"/>
              </a:rPr>
              <a:t>JavaScript</a:t>
            </a:r>
            <a:r>
              <a:rPr lang="zh-CN" altLang="en-US" sz="1800" dirty="0">
                <a:sym typeface="+mn-ea"/>
              </a:rPr>
              <a:t>中引用表单时，引用必须在表单创建之后。</a:t>
            </a:r>
            <a:endParaRPr lang="zh-CN" altLang="en-US" sz="18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139</a:t>
            </a:fld>
            <a:endParaRPr lang="zh-CN" altLang="en-US"/>
          </a:p>
        </p:txBody>
      </p:sp>
      <p:graphicFrame>
        <p:nvGraphicFramePr>
          <p:cNvPr id="340040" name="Group 7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188254" y="5334195"/>
          <a:ext cx="4608512" cy="116956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9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0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方法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8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handleEvent()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使事件处理程序生效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reset()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表单重置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0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submit()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表单提交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BOM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00785"/>
            <a:ext cx="8238490" cy="161480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800" dirty="0"/>
              <a:t>      客户端浏览器预定义的对象统称为浏览器对象，它们按层次组织起来的模型统称为浏览器对象模型（</a:t>
            </a:r>
            <a:r>
              <a:rPr lang="en-US" altLang="zh-CN" sz="1800" dirty="0"/>
              <a:t>BOM-Browser Object Model</a:t>
            </a:r>
            <a:r>
              <a:rPr lang="zh-CN" altLang="en-US" sz="1800" dirty="0"/>
              <a:t>）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charset="-122"/>
                <a:sym typeface="+mn-ea"/>
              </a:rPr>
              <a:t>     BOM</a:t>
            </a:r>
            <a:r>
              <a:rPr sz="1800">
                <a:latin typeface="微软雅黑" panose="020B0503020204020204" charset="-122"/>
                <a:sym typeface="+mn-ea"/>
              </a:rPr>
              <a:t>由一系列对象构成，独立于页面内容，可与浏览器窗口进行交互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0" y="2401889"/>
            <a:ext cx="309880" cy="339725"/>
          </a:xfrm>
          <a:prstGeom prst="rect">
            <a:avLst/>
          </a:prstGeom>
          <a:noFill/>
          <a:ln w="25400" algn="ctr">
            <a:noFill/>
            <a:miter lim="800000"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pic>
        <p:nvPicPr>
          <p:cNvPr id="160774" name="Picture 6" descr="http://images.cnitblog.com/blog/322408/201312/01223839-f7553ee1608a43558ec2c71f487b169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4895" y="2815590"/>
            <a:ext cx="7377430" cy="357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</a:t>
            </a:r>
            <a:r>
              <a:rPr lang="zh-CN" altLang="en-US" dirty="0"/>
              <a:t>对象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821691"/>
            <a:ext cx="8534399" cy="704850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/>
              <a:t>     window</a:t>
            </a:r>
            <a:r>
              <a:rPr lang="zh-CN" altLang="en-US" sz="1600" dirty="0"/>
              <a:t>对象对浏览器窗口本身，位于浏览器对象模型的顶层，是</a:t>
            </a:r>
            <a:r>
              <a:rPr lang="en-US" altLang="zh-CN" sz="1600" dirty="0"/>
              <a:t>document</a:t>
            </a:r>
            <a:r>
              <a:rPr lang="zh-CN" altLang="en-US" sz="1600" dirty="0"/>
              <a:t>、</a:t>
            </a:r>
            <a:r>
              <a:rPr lang="en-US" altLang="zh-CN" sz="1600" dirty="0"/>
              <a:t>frame</a:t>
            </a:r>
            <a:r>
              <a:rPr lang="zh-CN" altLang="en-US" sz="1600" dirty="0"/>
              <a:t>、</a:t>
            </a:r>
            <a:r>
              <a:rPr lang="en-US" altLang="zh-CN" sz="1600" dirty="0"/>
              <a:t>location</a:t>
            </a:r>
            <a:r>
              <a:rPr lang="zh-CN" altLang="en-US" sz="1600" dirty="0"/>
              <a:t>等其他对象的父类。</a:t>
            </a:r>
            <a:r>
              <a:rPr lang="en-US" altLang="zh-CN" sz="1600" dirty="0"/>
              <a:t>window</a:t>
            </a:r>
            <a:r>
              <a:rPr lang="zh-CN" altLang="en-US" sz="1600" dirty="0"/>
              <a:t>对象的常用方法如下表。</a:t>
            </a:r>
          </a:p>
        </p:txBody>
      </p:sp>
      <p:graphicFrame>
        <p:nvGraphicFramePr>
          <p:cNvPr id="16564" name="Group 180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8825948"/>
              </p:ext>
            </p:extLst>
          </p:nvPr>
        </p:nvGraphicFramePr>
        <p:xfrm>
          <a:off x="387985" y="1526540"/>
          <a:ext cx="8604250" cy="504825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29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3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方法名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name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当前窗口的名称，可读写属性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parent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如果当前窗口有父窗口，表示其父窗口，只读属性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opener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产生当前窗口的窗口对象，只读属性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self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当前窗口对象，只读属性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top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当前窗口的最顶层窗口对象，只读属性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status</a:t>
                      </a:r>
                      <a:endParaRPr kumimoji="0" lang="en-US" altLang="zh-CN" sz="1600" b="1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浏览器状态栏中显示的内容，可读写属性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defaultstatus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660066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浏览器状态栏中显示的缺省内容，可读写属性</a:t>
                      </a:r>
                      <a:endParaRPr kumimoji="0" lang="en-US" altLang="zh-CN" sz="1600" i="0" u="none" strike="noStrike" cap="none" normalizeH="0" baseline="0" dirty="0" err="1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34283" marB="34283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open(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url,name,features,replace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打开新的浏览器窗口或查找一个已命名的窗口。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blur()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把键盘焦点从顶层窗口移开。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close()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关闭浏览器窗口。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focus()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把键盘焦点给予一个窗口。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setInterval(code,interval)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按照指定的周期（以毫秒计）来调用函数或计算表达式。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setTimeout(code,delay)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在指定的毫秒数后调用函数或计算表达式。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clearInterval(intervalID)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取消由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setInterval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()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设置的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timeout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clearTimeout(timeoutID)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取消由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setTimeout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()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方法设置的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timeout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</a:t>
            </a:r>
            <a:r>
              <a:rPr lang="zh-CN" altLang="en-US" dirty="0"/>
              <a:t>对象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226695" y="1054100"/>
            <a:ext cx="8585835" cy="522478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&lt;style type="text/</a:t>
            </a:r>
            <a:r>
              <a:rPr lang="en-US" altLang="zh-CN" dirty="0" err="1">
                <a:ea typeface="宋体" panose="02010600030101010101" pitchFamily="2" charset="-122"/>
              </a:rPr>
              <a:t>css</a:t>
            </a:r>
            <a:r>
              <a:rPr lang="en-US" altLang="zh-CN" dirty="0">
                <a:ea typeface="宋体" panose="02010600030101010101" pitchFamily="2" charset="-122"/>
              </a:rPr>
              <a:t>“&gt; #</a:t>
            </a:r>
            <a:r>
              <a:rPr lang="en-US" altLang="zh-CN" dirty="0" err="1">
                <a:ea typeface="宋体" panose="02010600030101010101" pitchFamily="2" charset="-122"/>
              </a:rPr>
              <a:t>myDiv</a:t>
            </a:r>
            <a:r>
              <a:rPr lang="en-US" altLang="zh-CN" dirty="0">
                <a:ea typeface="宋体" panose="02010600030101010101" pitchFamily="2" charset="-122"/>
              </a:rPr>
              <a:t>{width:100%;height:24px;background:#DDFFAA;}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&lt;/style&gt;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&lt;script type="text/</a:t>
            </a:r>
            <a:r>
              <a:rPr lang="en-US" altLang="zh-CN" dirty="0" err="1">
                <a:ea typeface="宋体" panose="02010600030101010101" pitchFamily="2" charset="-122"/>
              </a:rPr>
              <a:t>javascript</a:t>
            </a:r>
            <a:r>
              <a:rPr lang="en-US" altLang="zh-CN" dirty="0">
                <a:ea typeface="宋体" panose="02010600030101010101" pitchFamily="2" charset="-122"/>
              </a:rPr>
              <a:t>"&gt;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  var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TimerID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  var</a:t>
            </a:r>
            <a:r>
              <a:rPr lang="en-US" altLang="zh-CN" dirty="0">
                <a:ea typeface="宋体" panose="02010600030101010101" pitchFamily="2" charset="-122"/>
              </a:rPr>
              <a:t> loop=1;//</a:t>
            </a:r>
            <a:r>
              <a:rPr lang="zh-CN" altLang="en-US" dirty="0">
                <a:ea typeface="宋体" panose="02010600030101010101" pitchFamily="2" charset="-122"/>
              </a:rPr>
              <a:t>设置启动次数，防止多次启动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  var</a:t>
            </a:r>
            <a:r>
              <a:rPr lang="en-US" altLang="zh-CN" dirty="0">
                <a:ea typeface="宋体" panose="02010600030101010101" pitchFamily="2" charset="-122"/>
              </a:rPr>
              <a:t> dir=1;//</a:t>
            </a:r>
            <a:r>
              <a:rPr lang="zh-CN" altLang="en-US" dirty="0">
                <a:ea typeface="宋体" panose="02010600030101010101" pitchFamily="2" charset="-122"/>
              </a:rPr>
              <a:t>设置方向变量初值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  var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str_num</a:t>
            </a:r>
            <a:r>
              <a:rPr lang="en-US" altLang="zh-CN" dirty="0">
                <a:ea typeface="宋体" panose="02010600030101010101" pitchFamily="2" charset="-122"/>
              </a:rPr>
              <a:t>=0; 	//</a:t>
            </a:r>
            <a:r>
              <a:rPr lang="zh-CN" altLang="en-US" dirty="0">
                <a:ea typeface="宋体" panose="02010600030101010101" pitchFamily="2" charset="-122"/>
              </a:rPr>
              <a:t>用于动态显示的目标字符串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  var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str</a:t>
            </a:r>
            <a:r>
              <a:rPr lang="en-US" altLang="zh-CN" dirty="0">
                <a:ea typeface="宋体" panose="02010600030101010101" pitchFamily="2" charset="-122"/>
              </a:rPr>
              <a:t>="</a:t>
            </a:r>
            <a:r>
              <a:rPr lang="zh-CN" altLang="en-US" dirty="0">
                <a:ea typeface="宋体" panose="02010600030101010101" pitchFamily="2" charset="-122"/>
              </a:rPr>
              <a:t>欢迎来到</a:t>
            </a:r>
            <a:r>
              <a:rPr lang="en-US" altLang="zh-CN" dirty="0" err="1">
                <a:ea typeface="宋体" panose="02010600030101010101" pitchFamily="2" charset="-122"/>
              </a:rPr>
              <a:t>javascript</a:t>
            </a:r>
            <a:r>
              <a:rPr lang="zh-CN" altLang="en-US" dirty="0">
                <a:ea typeface="宋体" panose="02010600030101010101" pitchFamily="2" charset="-122"/>
              </a:rPr>
              <a:t>世界</a:t>
            </a:r>
            <a:r>
              <a:rPr lang="en-US" altLang="zh-CN" dirty="0">
                <a:ea typeface="宋体" panose="02010600030101010101" pitchFamily="2" charset="-122"/>
              </a:rPr>
              <a:t>!";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  function $(id){return </a:t>
            </a:r>
            <a:r>
              <a:rPr lang="en-US" altLang="zh-CN" dirty="0" err="1">
                <a:highlight>
                  <a:srgbClr val="FFFF00"/>
                </a:highlight>
                <a:ea typeface="宋体" panose="02010600030101010101" pitchFamily="2" charset="-122"/>
              </a:rPr>
              <a:t>document.getElementById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(id);}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function </a:t>
            </a:r>
            <a:r>
              <a:rPr lang="en-US" altLang="zh-CN" dirty="0" err="1">
                <a:ea typeface="宋体" panose="02010600030101010101" pitchFamily="2" charset="-122"/>
              </a:rPr>
              <a:t>startMove</a:t>
            </a:r>
            <a:r>
              <a:rPr lang="en-US" altLang="zh-CN" dirty="0">
                <a:ea typeface="宋体" panose="02010600030101010101" pitchFamily="2" charset="-122"/>
              </a:rPr>
              <a:t>(){ //</a:t>
            </a:r>
            <a:r>
              <a:rPr lang="zh-CN" altLang="en-US" dirty="0">
                <a:ea typeface="宋体" panose="02010600030101010101" pitchFamily="2" charset="-122"/>
              </a:rPr>
              <a:t>设定图层内动态显示的字符串信息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var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str_space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="";</a:t>
            </a:r>
            <a:endParaRPr lang="en-US" altLang="zh-CN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str_num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=str_num+1*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dir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;//</a:t>
            </a: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动态改变运动步长</a:t>
            </a:r>
            <a:endParaRPr lang="en-US" altLang="zh-CN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if(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str_num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&gt;50 ||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str_num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&lt;0){	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dir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=-1*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dir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;    }    //</a:t>
            </a: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改变运动方向  </a:t>
            </a:r>
            <a:endParaRPr lang="zh-CN" altLang="en-US" b="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for(var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i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=0;i&lt;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str_num;i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++){</a:t>
            </a:r>
            <a:endParaRPr lang="en-US" altLang="zh-CN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str_space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+="&amp;</a:t>
            </a:r>
            <a:r>
              <a:rPr lang="en-US" altLang="zh-CN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nbsp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;";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$("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myDiv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").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innerHTML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="&lt;h3&gt;"+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str_space+str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+"&lt;/h3&gt;";//</a:t>
            </a: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动态赋值</a:t>
            </a:r>
            <a:endParaRPr lang="zh-CN" altLang="en-US" b="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	</a:t>
            </a:r>
            <a:endParaRPr lang="en-US" altLang="zh-CN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function MyStart(){  //</a:t>
            </a: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图层内字符串滚动开始</a:t>
            </a:r>
            <a:endParaRPr lang="zh-CN" altLang="en-US" b="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if (loop==1) </a:t>
            </a:r>
            <a:r>
              <a:rPr lang="en-US" altLang="zh-CN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{</a:t>
            </a:r>
            <a:r>
              <a:rPr lang="en-US" altLang="zh-CN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TimerID</a:t>
            </a:r>
            <a:r>
              <a:rPr lang="en-US" altLang="zh-CN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</a:t>
            </a:r>
            <a:r>
              <a:rPr lang="en-US" altLang="zh-CN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setInterval</a:t>
            </a:r>
            <a:r>
              <a:rPr lang="en-US" altLang="zh-CN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("</a:t>
            </a:r>
            <a:r>
              <a:rPr lang="en-US" altLang="zh-CN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startMove</a:t>
            </a:r>
            <a:r>
              <a:rPr lang="en-US" altLang="zh-CN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();",100);}</a:t>
            </a:r>
            <a:endParaRPr lang="en-US" altLang="zh-CN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loop++;</a:t>
            </a:r>
            <a:endParaRPr lang="en-US" altLang="zh-CN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function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MyStop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(){ //</a:t>
            </a: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图层内字符串滚动结束，并更新图层内字符串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clearInterval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TimerID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);</a:t>
            </a:r>
          </a:p>
          <a:p>
            <a:pPr marL="419100" indent="-4191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loop=1;//</a:t>
            </a: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恢复初始值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 marL="419100" indent="-4191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$("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myDiv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").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innerHTML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="&lt;h3&gt;</a:t>
            </a:r>
            <a:r>
              <a:rPr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图层内字符串滚动结束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!&lt;/h3&gt;"; </a:t>
            </a:r>
            <a:endParaRPr lang="en-US" altLang="zh-C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19100" indent="-4191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</a:t>
            </a:r>
            <a:endParaRPr lang="en-US" altLang="zh-C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19100" indent="-4191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&lt;/script&gt;</a:t>
            </a:r>
            <a:endParaRPr lang="en-US" altLang="zh-C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zh-CN" b="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zh-CN" b="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window</a:t>
            </a:r>
            <a:r>
              <a:rPr lang="zh-CN" altLang="en-US" dirty="0"/>
              <a:t>对象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idx="1"/>
          </p:nvPr>
        </p:nvSpPr>
        <p:spPr>
          <a:xfrm>
            <a:off x="402590" y="1305560"/>
            <a:ext cx="8107680" cy="3905250"/>
          </a:xfrm>
          <a:noFill/>
        </p:spPr>
        <p:txBody>
          <a:bodyPr>
            <a:normAutofit/>
          </a:bodyPr>
          <a:lstStyle/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 &gt;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&lt;h3 align="center"&gt;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滚动区域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&lt;/h3&gt;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&lt;div name="" id="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myDiv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欢迎来到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世界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!&lt;/div&gt;	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&lt;div style="text-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align:center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;"&gt; 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&lt;p&gt;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单击对应的按钮，实现图层内字符串滚动与停止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!&lt;/p&gt; 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&lt;form name="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MyForm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 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&lt;input type="button" value="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开始图层内字符串滚动</a:t>
            </a:r>
            <a:r>
              <a:rPr lang="en-US" altLang="zh-CN"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</a:t>
            </a:r>
            <a:b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</a:b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 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MyStart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()"&gt;&lt;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&lt;input type="button" value="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停止图层内字符串滚动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</a:t>
            </a:r>
            <a:b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MyStop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()"&gt; &lt;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	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&lt;/form&gt;			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&lt;/div&gt;	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&lt;/body&gt; </a:t>
            </a:r>
          </a:p>
          <a:p>
            <a:pPr marL="4191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3040" y="4192270"/>
            <a:ext cx="3987165" cy="223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window</a:t>
            </a:r>
            <a:r>
              <a:rPr lang="zh-CN" altLang="en-US" dirty="0"/>
              <a:t>对象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361950" y="1827530"/>
            <a:ext cx="8554085" cy="1232535"/>
          </a:xfr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function </a:t>
            </a:r>
            <a:r>
              <a:rPr lang="en-US" altLang="zh-CN" sz="1350" dirty="0" err="1">
                <a:ea typeface="宋体" panose="02010600030101010101" pitchFamily="2" charset="-122"/>
              </a:rPr>
              <a:t>openNew</a:t>
            </a:r>
            <a:r>
              <a:rPr lang="en-US" altLang="zh-CN" sz="1350" dirty="0">
                <a:ea typeface="宋体" panose="02010600030101010101" pitchFamily="2" charset="-122"/>
              </a:rPr>
              <a:t>(){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 err="1">
                <a:ea typeface="宋体" panose="02010600030101010101" pitchFamily="2" charset="-122"/>
              </a:rPr>
              <a:t> window.open</a:t>
            </a:r>
            <a:r>
              <a:rPr lang="en-US" altLang="zh-CN" sz="1350" dirty="0">
                <a:ea typeface="宋体" panose="02010600030101010101" pitchFamily="2" charset="-122"/>
              </a:rPr>
              <a:t>("</a:t>
            </a:r>
            <a:r>
              <a:rPr lang="en-US" altLang="zh-CN" sz="1350" dirty="0" err="1">
                <a:ea typeface="宋体" panose="02010600030101010101" pitchFamily="2" charset="-122"/>
              </a:rPr>
              <a:t>new.html","new","height</a:t>
            </a:r>
            <a:r>
              <a:rPr lang="en-US" altLang="zh-CN" sz="1350" dirty="0">
                <a:ea typeface="宋体" panose="02010600030101010101" pitchFamily="2" charset="-122"/>
              </a:rPr>
              <a:t>=200,width=200,status=</a:t>
            </a:r>
            <a:r>
              <a:rPr lang="en-US" altLang="zh-CN" sz="1350" dirty="0" err="1">
                <a:ea typeface="宋体" panose="02010600030101010101" pitchFamily="2" charset="-122"/>
              </a:rPr>
              <a:t>yes,toolbar</a:t>
            </a:r>
            <a:r>
              <a:rPr lang="en-US" altLang="zh-CN" sz="1350" dirty="0">
                <a:ea typeface="宋体" panose="02010600030101010101" pitchFamily="2" charset="-122"/>
              </a:rPr>
              <a:t>=</a:t>
            </a:r>
            <a:r>
              <a:rPr lang="en-US" altLang="zh-CN" sz="1350" dirty="0" err="1">
                <a:ea typeface="宋体" panose="02010600030101010101" pitchFamily="2" charset="-122"/>
              </a:rPr>
              <a:t>no,menuba</a:t>
            </a:r>
            <a:r>
              <a:rPr lang="en-US" altLang="zh-CN" sz="1350" dirty="0">
                <a:ea typeface="宋体" panose="02010600030101010101" pitchFamily="2" charset="-122"/>
              </a:rPr>
              <a:t>=</a:t>
            </a:r>
            <a:r>
              <a:rPr lang="en-US" altLang="zh-CN" sz="1350" dirty="0" err="1">
                <a:ea typeface="宋体" panose="02010600030101010101" pitchFamily="2" charset="-122"/>
              </a:rPr>
              <a:t>yes,location</a:t>
            </a:r>
            <a:r>
              <a:rPr lang="en-US" altLang="zh-CN" sz="1350" dirty="0">
                <a:ea typeface="宋体" panose="02010600030101010101" pitchFamily="2" charset="-122"/>
              </a:rPr>
              <a:t>=</a:t>
            </a:r>
            <a:r>
              <a:rPr lang="en-US" altLang="zh-CN" sz="1350" dirty="0" err="1">
                <a:ea typeface="宋体" panose="02010600030101010101" pitchFamily="2" charset="-122"/>
              </a:rPr>
              <a:t>yes,resizable</a:t>
            </a:r>
            <a:r>
              <a:rPr lang="en-US" altLang="zh-CN" sz="1350" dirty="0">
                <a:ea typeface="宋体" panose="02010600030101010101" pitchFamily="2" charset="-122"/>
              </a:rPr>
              <a:t>=yes");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361950" y="3578225"/>
            <a:ext cx="8512175" cy="112458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&lt;body </a:t>
            </a:r>
            <a:r>
              <a:rPr lang="en-US" altLang="zh-CN" sz="1400" dirty="0" err="1">
                <a:ea typeface="宋体" panose="02010600030101010101" pitchFamily="2" charset="-122"/>
              </a:rPr>
              <a:t>onLoad</a:t>
            </a:r>
            <a:r>
              <a:rPr lang="en-US" altLang="zh-CN" sz="1400" dirty="0">
                <a:ea typeface="宋体" panose="02010600030101010101" pitchFamily="2" charset="-122"/>
              </a:rPr>
              <a:t>="</a:t>
            </a:r>
            <a:r>
              <a:rPr lang="en-US" altLang="zh-CN" sz="1400" dirty="0" err="1">
                <a:ea typeface="宋体" panose="02010600030101010101" pitchFamily="2" charset="-122"/>
              </a:rPr>
              <a:t>setTimeout</a:t>
            </a:r>
            <a:r>
              <a:rPr lang="en-US" altLang="zh-CN" sz="1400" dirty="0">
                <a:ea typeface="宋体" panose="02010600030101010101" pitchFamily="2" charset="-122"/>
              </a:rPr>
              <a:t>('</a:t>
            </a:r>
            <a:r>
              <a:rPr lang="en-US" altLang="zh-CN" sz="1400" dirty="0" err="1">
                <a:ea typeface="宋体" panose="02010600030101010101" pitchFamily="2" charset="-122"/>
              </a:rPr>
              <a:t>self.close</a:t>
            </a:r>
            <a:r>
              <a:rPr lang="en-US" altLang="zh-CN" sz="1400" dirty="0">
                <a:ea typeface="宋体" panose="02010600030101010101" pitchFamily="2" charset="-122"/>
              </a:rPr>
              <a:t>()',5000)"&gt;</a:t>
            </a:r>
          </a:p>
          <a:p>
            <a:pPr marL="457200" inden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1400" dirty="0">
                <a:ea typeface="宋体" panose="02010600030101010101" pitchFamily="2" charset="-122"/>
              </a:rPr>
              <a:t>这是一个新的窗口</a:t>
            </a:r>
            <a:r>
              <a:rPr lang="en-US" altLang="zh-CN" sz="1400" dirty="0">
                <a:ea typeface="宋体" panose="02010600030101010101" pitchFamily="2" charset="-122"/>
              </a:rPr>
              <a:t>!&lt;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/&gt;5</a:t>
            </a:r>
            <a:r>
              <a:rPr lang="zh-CN" altLang="en-US" sz="1400" dirty="0">
                <a:ea typeface="宋体" panose="02010600030101010101" pitchFamily="2" charset="-122"/>
              </a:rPr>
              <a:t>秒后窗口会自动关闭！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&lt;/body&gt;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window</a:t>
            </a:r>
            <a:r>
              <a:rPr lang="zh-CN" altLang="en-US" dirty="0"/>
              <a:t>对象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22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502285" y="951865"/>
            <a:ext cx="4974590" cy="415798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var count=0;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var timer;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function </a:t>
            </a:r>
            <a:r>
              <a:rPr lang="en-US" altLang="zh-CN" sz="1400" dirty="0" err="1">
                <a:ea typeface="宋体" panose="02010600030101010101" pitchFamily="2" charset="-122"/>
              </a:rPr>
              <a:t>timeCount</a:t>
            </a:r>
            <a:r>
              <a:rPr lang="en-US" altLang="zh-CN" sz="1400" dirty="0">
                <a:ea typeface="宋体" panose="02010600030101010101" pitchFamily="2" charset="-122"/>
              </a:rPr>
              <a:t>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</a:t>
            </a:r>
            <a:r>
              <a:rPr lang="en-US" altLang="zh-CN" sz="1400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sz="1400" dirty="0">
                <a:ea typeface="宋体" panose="02010600030101010101" pitchFamily="2" charset="-122"/>
              </a:rPr>
              <a:t>("time").value=</a:t>
            </a:r>
            <a:r>
              <a:rPr lang="en-US" altLang="zh-CN" sz="1400" dirty="0" err="1">
                <a:ea typeface="宋体" panose="02010600030101010101" pitchFamily="2" charset="-122"/>
              </a:rPr>
              <a:t>timeChange</a:t>
            </a:r>
            <a:r>
              <a:rPr lang="en-US" altLang="zh-CN" sz="1400" dirty="0">
                <a:ea typeface="宋体" panose="02010600030101010101" pitchFamily="2" charset="-122"/>
              </a:rPr>
              <a:t>(count);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count++;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timer=</a:t>
            </a:r>
            <a:r>
              <a:rPr lang="en-US" altLang="zh-CN" sz="1400" dirty="0" err="1">
                <a:ea typeface="宋体" panose="02010600030101010101" pitchFamily="2" charset="-122"/>
              </a:rPr>
              <a:t>setTimeout</a:t>
            </a:r>
            <a:r>
              <a:rPr lang="en-US" altLang="zh-CN" sz="1400" dirty="0">
                <a:ea typeface="宋体" panose="02010600030101010101" pitchFamily="2" charset="-122"/>
              </a:rPr>
              <a:t>("</a:t>
            </a:r>
            <a:r>
              <a:rPr lang="en-US" altLang="zh-CN" sz="1400" dirty="0" err="1">
                <a:ea typeface="宋体" panose="02010600030101010101" pitchFamily="2" charset="-122"/>
              </a:rPr>
              <a:t>timeCount</a:t>
            </a:r>
            <a:r>
              <a:rPr lang="en-US" altLang="zh-CN" sz="1400" dirty="0">
                <a:ea typeface="宋体" panose="02010600030101010101" pitchFamily="2" charset="-122"/>
              </a:rPr>
              <a:t>()",1000);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}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function </a:t>
            </a:r>
            <a:r>
              <a:rPr lang="en-US" altLang="zh-CN" sz="1400" dirty="0" err="1">
                <a:ea typeface="宋体" panose="02010600030101010101" pitchFamily="2" charset="-122"/>
              </a:rPr>
              <a:t>timeChange</a:t>
            </a:r>
            <a:r>
              <a:rPr lang="en-US" altLang="zh-CN" sz="1400" dirty="0">
                <a:ea typeface="宋体" panose="02010600030101010101" pitchFamily="2" charset="-122"/>
              </a:rPr>
              <a:t>(second){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var h=0,m=0,s=0;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s=second;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if(second&gt;3600){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h=</a:t>
            </a:r>
            <a:r>
              <a:rPr lang="en-US" altLang="zh-CN" sz="1400" dirty="0" err="1">
                <a:ea typeface="宋体" panose="02010600030101010101" pitchFamily="2" charset="-122"/>
              </a:rPr>
              <a:t>parseInt</a:t>
            </a:r>
            <a:r>
              <a:rPr lang="en-US" altLang="zh-CN" sz="1400" dirty="0">
                <a:ea typeface="宋体" panose="02010600030101010101" pitchFamily="2" charset="-122"/>
              </a:rPr>
              <a:t>(second/3600);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second=second-h*3600;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}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if(second&gt;60){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m=</a:t>
            </a:r>
            <a:r>
              <a:rPr lang="en-US" altLang="zh-CN" sz="1400" dirty="0" err="1">
                <a:ea typeface="宋体" panose="02010600030101010101" pitchFamily="2" charset="-122"/>
              </a:rPr>
              <a:t>parseInt</a:t>
            </a:r>
            <a:r>
              <a:rPr lang="en-US" altLang="zh-CN" sz="1400" dirty="0">
                <a:ea typeface="宋体" panose="02010600030101010101" pitchFamily="2" charset="-122"/>
              </a:rPr>
              <a:t>(second/60);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second=second-m*60;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s=second;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}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return full(h)+":"+full(m)+":"+full(s);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5161280" y="2033905"/>
            <a:ext cx="3327400" cy="808990"/>
          </a:xfrm>
          <a:solidFill>
            <a:schemeClr val="accent6">
              <a:lumMod val="20000"/>
              <a:lumOff val="80000"/>
            </a:schemeClr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function </a:t>
            </a:r>
            <a:r>
              <a:rPr lang="en-US" altLang="zh-CN" sz="1400" b="1" dirty="0" err="1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stopCount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1400" b="1" dirty="0" err="1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clearTimeout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(timer);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 }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 b="1" dirty="0">
              <a:solidFill>
                <a:srgbClr val="000000"/>
              </a:solidFill>
              <a:latin typeface="华文楷体" panose="020106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4819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48" b="20562"/>
          <a:stretch>
            <a:fillRect/>
          </a:stretch>
        </p:blipFill>
        <p:spPr bwMode="auto">
          <a:xfrm>
            <a:off x="4027170" y="3380105"/>
            <a:ext cx="489204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" name="Rectangle 3"/>
          <p:cNvSpPr>
            <a:spLocks noGrp="1" noChangeArrowheads="1"/>
          </p:cNvSpPr>
          <p:nvPr>
            <p:custDataLst>
              <p:tags r:id="rId4"/>
            </p:custDataLst>
          </p:nvPr>
        </p:nvSpPr>
        <p:spPr>
          <a:xfrm>
            <a:off x="1197610" y="5370830"/>
            <a:ext cx="3834765" cy="86550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var interval;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function </a:t>
            </a:r>
            <a:r>
              <a:rPr lang="en-US" altLang="zh-CN" sz="1400" dirty="0" err="1">
                <a:ea typeface="宋体" panose="02010600030101010101" pitchFamily="2" charset="-122"/>
              </a:rPr>
              <a:t>beginCount</a:t>
            </a:r>
            <a:r>
              <a:rPr lang="en-US" altLang="zh-CN" sz="1400" dirty="0">
                <a:ea typeface="宋体" panose="02010600030101010101" pitchFamily="2" charset="-122"/>
              </a:rPr>
              <a:t>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interval=</a:t>
            </a:r>
            <a:r>
              <a:rPr lang="en-US" altLang="zh-CN" sz="1400" dirty="0" err="1">
                <a:ea typeface="宋体" panose="02010600030101010101" pitchFamily="2" charset="-122"/>
              </a:rPr>
              <a:t>setInterval</a:t>
            </a:r>
            <a:r>
              <a:rPr lang="en-US" altLang="zh-CN" sz="1400" dirty="0">
                <a:ea typeface="宋体" panose="02010600030101010101" pitchFamily="2" charset="-122"/>
              </a:rPr>
              <a:t>("</a:t>
            </a:r>
            <a:r>
              <a:rPr lang="en-US" altLang="zh-CN" sz="1400" dirty="0" err="1">
                <a:ea typeface="宋体" panose="02010600030101010101" pitchFamily="2" charset="-122"/>
              </a:rPr>
              <a:t>timeCount</a:t>
            </a:r>
            <a:r>
              <a:rPr lang="en-US" altLang="zh-CN" sz="1400" dirty="0">
                <a:ea typeface="宋体" panose="02010600030101010101" pitchFamily="2" charset="-122"/>
              </a:rPr>
              <a:t>()",1000);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5224140" y="5425934"/>
            <a:ext cx="3571056" cy="671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function </a:t>
            </a:r>
            <a:r>
              <a:rPr lang="en-US" altLang="zh-CN" sz="1400" b="1" dirty="0" err="1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stopCount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1400" b="1" dirty="0" err="1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clearInterval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(interval);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宋体" panose="02010600030101010101" pitchFamily="2" charset="-122"/>
              </a:rPr>
              <a:t> }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navigator</a:t>
            </a:r>
            <a:r>
              <a:rPr lang="zh-CN" altLang="en-US" dirty="0"/>
              <a:t>对象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78255"/>
            <a:ext cx="7252335" cy="69405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/>
              <a:t>navigator</a:t>
            </a:r>
            <a:r>
              <a:rPr lang="zh-CN" altLang="en-US" sz="1600" dirty="0"/>
              <a:t>对象用于获取用户浏览器的相关信息。</a:t>
            </a:r>
            <a:endParaRPr lang="zh-CN" altLang="en-US" sz="1600" dirty="0"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5143079"/>
              </p:ext>
            </p:extLst>
          </p:nvPr>
        </p:nvGraphicFramePr>
        <p:xfrm>
          <a:off x="723900" y="2365377"/>
          <a:ext cx="7696200" cy="206946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{72833802-FEF1-4C79-8D5D-14CF1EAF98D9}</a:tableStyleId>
              </a:tblPr>
              <a:tblGrid>
                <a:gridCol w="275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effectLst/>
                        </a:rPr>
                        <a:t>属性名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effectLst/>
                        </a:rPr>
                        <a:t>说明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b="0" kern="100" dirty="0" err="1">
                          <a:effectLst/>
                        </a:rPr>
                        <a:t>appName</a:t>
                      </a:r>
                      <a:endParaRPr lang="en-US" sz="1800" b="0" kern="100" dirty="0" err="1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b="0" kern="100" dirty="0">
                          <a:effectLst/>
                        </a:rPr>
                        <a:t>返回浏览器的名称。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effectLst/>
                        </a:rPr>
                        <a:t>appVersion</a:t>
                      </a:r>
                      <a:endParaRPr lang="en-US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b="0" kern="100" dirty="0">
                          <a:effectLst/>
                        </a:rPr>
                        <a:t>返回浏览器的平台和版本信息。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effectLst/>
                        </a:rPr>
                        <a:t>platform</a:t>
                      </a:r>
                      <a:endParaRPr lang="en-US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b="0" kern="100" dirty="0">
                          <a:effectLst/>
                        </a:rPr>
                        <a:t>返回运行浏览器的操作系统平台。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effectLst/>
                        </a:rPr>
                        <a:t>systemLanguage</a:t>
                      </a:r>
                      <a:endParaRPr lang="en-US" sz="1800" b="0" kern="100" dirty="0" err="1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b="0" kern="100" dirty="0">
                          <a:effectLst/>
                        </a:rPr>
                        <a:t>返回操作系统使用的默认语言。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effectLst/>
                        </a:rPr>
                        <a:t>userAgent</a:t>
                      </a:r>
                      <a:endParaRPr lang="en-US" sz="1800" b="0" kern="100" dirty="0" err="1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b="0" kern="100" dirty="0">
                          <a:effectLst/>
                        </a:rPr>
                        <a:t>返回由客户机发送服务器的</a:t>
                      </a:r>
                      <a:r>
                        <a:rPr lang="en-US" sz="1800" b="0" kern="100" dirty="0">
                          <a:effectLst/>
                        </a:rPr>
                        <a:t>user-agent</a:t>
                      </a:r>
                      <a:r>
                        <a:rPr lang="zh-CN" sz="1800" b="0" kern="100" dirty="0">
                          <a:effectLst/>
                        </a:rPr>
                        <a:t>头部的值。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effectLst/>
                        </a:rPr>
                        <a:t>appCodeName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b="0" kern="100" dirty="0">
                          <a:effectLst/>
                        </a:rPr>
                        <a:t>返回浏览器的代码名。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navigator</a:t>
            </a:r>
            <a:r>
              <a:rPr lang="zh-CN" altLang="en-US" dirty="0"/>
              <a:t>对象</a:t>
            </a:r>
            <a:r>
              <a:rPr lang="en-US" altLang="zh-CN" dirty="0"/>
              <a:t>-</a:t>
            </a:r>
            <a:r>
              <a:rPr lang="zh-CN" altLang="en-US" dirty="0"/>
              <a:t>案例 </a:t>
            </a:r>
          </a:p>
        </p:txBody>
      </p:sp>
      <p:sp>
        <p:nvSpPr>
          <p:cNvPr id="2" name="矩形 1"/>
          <p:cNvSpPr/>
          <p:nvPr/>
        </p:nvSpPr>
        <p:spPr>
          <a:xfrm>
            <a:off x="388620" y="1137285"/>
            <a:ext cx="836676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latin typeface="+mn-lt"/>
              </a:rPr>
              <a:t>&lt;html&gt;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latin typeface="+mn-lt"/>
              </a:rPr>
              <a:t>&lt;head&gt;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latin typeface="+mn-lt"/>
              </a:rPr>
              <a:t>&lt;title&gt;navigator</a:t>
            </a:r>
            <a:r>
              <a:rPr lang="zh-CN" altLang="en-US" b="0" dirty="0">
                <a:latin typeface="+mn-lt"/>
              </a:rPr>
              <a:t>对象实例</a:t>
            </a:r>
            <a:r>
              <a:rPr lang="en-US" altLang="zh-CN" b="0" dirty="0">
                <a:latin typeface="+mn-lt"/>
              </a:rPr>
              <a:t>&lt;/title&gt;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dirty="0">
                <a:latin typeface="+mn-lt"/>
              </a:rPr>
              <a:t>&lt;script  type="text/</a:t>
            </a:r>
            <a:r>
              <a:rPr lang="en-US" altLang="zh-CN" b="0" dirty="0" err="1">
                <a:latin typeface="+mn-lt"/>
              </a:rPr>
              <a:t>javascript</a:t>
            </a:r>
            <a:r>
              <a:rPr lang="en-US" altLang="zh-CN" b="0" dirty="0">
                <a:latin typeface="+mn-lt"/>
              </a:rPr>
              <a:t>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function </a:t>
            </a:r>
            <a:r>
              <a:rPr lang="en-US" altLang="zh-CN" dirty="0" err="1">
                <a:ea typeface="宋体" panose="02010600030101010101" pitchFamily="2" charset="-122"/>
              </a:rPr>
              <a:t>getInfo</a:t>
            </a:r>
            <a:r>
              <a:rPr lang="en-US" altLang="zh-CN" dirty="0">
                <a:ea typeface="宋体" panose="02010600030101010101" pitchFamily="2" charset="-122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ea typeface="宋体" panose="02010600030101010101" pitchFamily="2" charset="-122"/>
              </a:rPr>
              <a:t>document.writeln</a:t>
            </a:r>
            <a:r>
              <a:rPr lang="en-US" altLang="zh-CN" dirty="0">
                <a:ea typeface="宋体" panose="02010600030101010101" pitchFamily="2" charset="-122"/>
              </a:rPr>
              <a:t>("&lt;h3&gt;navigator</a:t>
            </a:r>
            <a:r>
              <a:rPr lang="zh-CN" altLang="en-US" dirty="0">
                <a:ea typeface="宋体" panose="02010600030101010101" pitchFamily="2" charset="-122"/>
              </a:rPr>
              <a:t>信息</a:t>
            </a:r>
            <a:r>
              <a:rPr lang="en-US" altLang="zh-CN" dirty="0">
                <a:ea typeface="宋体" panose="02010600030101010101" pitchFamily="2" charset="-122"/>
              </a:rPr>
              <a:t>&lt;/h3&gt;&lt;</a:t>
            </a:r>
            <a:r>
              <a:rPr lang="en-US" altLang="zh-CN" dirty="0" err="1">
                <a:ea typeface="宋体" panose="02010600030101010101" pitchFamily="2" charset="-122"/>
              </a:rPr>
              <a:t>br</a:t>
            </a:r>
            <a:r>
              <a:rPr lang="en-US" altLang="zh-CN" dirty="0">
                <a:ea typeface="宋体" panose="02010600030101010101" pitchFamily="2" charset="-122"/>
              </a:rPr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ea typeface="宋体" panose="02010600030101010101" pitchFamily="2" charset="-122"/>
              </a:rPr>
              <a:t>document.writeln</a:t>
            </a:r>
            <a:r>
              <a:rPr lang="en-US" altLang="zh-CN" dirty="0">
                <a:ea typeface="宋体" panose="02010600030101010101" pitchFamily="2" charset="-122"/>
              </a:rPr>
              <a:t>("Web</a:t>
            </a:r>
            <a:r>
              <a:rPr lang="zh-CN" altLang="en-US" dirty="0">
                <a:ea typeface="宋体" panose="02010600030101010101" pitchFamily="2" charset="-122"/>
              </a:rPr>
              <a:t>浏览器名称：</a:t>
            </a:r>
            <a:r>
              <a:rPr lang="en-US" altLang="zh-CN" dirty="0">
                <a:ea typeface="宋体" panose="02010600030101010101" pitchFamily="2" charset="-122"/>
              </a:rPr>
              <a:t>"+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navigator.appName</a:t>
            </a:r>
            <a:r>
              <a:rPr lang="en-US" altLang="zh-CN" dirty="0">
                <a:ea typeface="宋体" panose="02010600030101010101" pitchFamily="2" charset="-122"/>
              </a:rPr>
              <a:t>+"&lt;</a:t>
            </a:r>
            <a:r>
              <a:rPr lang="en-US" altLang="zh-CN" dirty="0" err="1">
                <a:ea typeface="宋体" panose="02010600030101010101" pitchFamily="2" charset="-122"/>
              </a:rPr>
              <a:t>br</a:t>
            </a:r>
            <a:r>
              <a:rPr lang="en-US" altLang="zh-CN" dirty="0">
                <a:ea typeface="宋体" panose="02010600030101010101" pitchFamily="2" charset="-122"/>
              </a:rPr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ea typeface="宋体" panose="02010600030101010101" pitchFamily="2" charset="-122"/>
              </a:rPr>
              <a:t>document.writeln</a:t>
            </a:r>
            <a:r>
              <a:rPr lang="en-US" altLang="zh-CN" dirty="0">
                <a:ea typeface="宋体" panose="02010600030101010101" pitchFamily="2" charset="-122"/>
              </a:rPr>
              <a:t>("Web</a:t>
            </a:r>
            <a:r>
              <a:rPr lang="zh-CN" altLang="en-US" dirty="0">
                <a:ea typeface="宋体" panose="02010600030101010101" pitchFamily="2" charset="-122"/>
              </a:rPr>
              <a:t>浏览器版本：</a:t>
            </a:r>
            <a:r>
              <a:rPr lang="en-US" altLang="zh-CN" dirty="0">
                <a:ea typeface="宋体" panose="02010600030101010101" pitchFamily="2" charset="-122"/>
              </a:rPr>
              <a:t>"+</a:t>
            </a:r>
            <a:r>
              <a:rPr lang="en-US" altLang="zh-CN" dirty="0" err="1">
                <a:ea typeface="宋体" panose="02010600030101010101" pitchFamily="2" charset="-122"/>
              </a:rPr>
              <a:t>navigator.appVersion</a:t>
            </a:r>
            <a:r>
              <a:rPr lang="en-US" altLang="zh-CN" dirty="0">
                <a:ea typeface="宋体" panose="02010600030101010101" pitchFamily="2" charset="-122"/>
              </a:rPr>
              <a:t>+"&lt;</a:t>
            </a:r>
            <a:r>
              <a:rPr lang="en-US" altLang="zh-CN" dirty="0" err="1">
                <a:ea typeface="宋体" panose="02010600030101010101" pitchFamily="2" charset="-122"/>
              </a:rPr>
              <a:t>br</a:t>
            </a:r>
            <a:r>
              <a:rPr lang="en-US" altLang="zh-CN" dirty="0">
                <a:ea typeface="宋体" panose="02010600030101010101" pitchFamily="2" charset="-122"/>
              </a:rPr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ea typeface="宋体" panose="02010600030101010101" pitchFamily="2" charset="-122"/>
              </a:rPr>
              <a:t>document.writeln</a:t>
            </a:r>
            <a:r>
              <a:rPr lang="en-US" altLang="zh-CN" dirty="0">
                <a:ea typeface="宋体" panose="02010600030101010101" pitchFamily="2" charset="-122"/>
              </a:rPr>
              <a:t>("</a:t>
            </a:r>
            <a:r>
              <a:rPr lang="zh-CN" altLang="en-US" dirty="0">
                <a:ea typeface="宋体" panose="02010600030101010101" pitchFamily="2" charset="-122"/>
              </a:rPr>
              <a:t>运行浏览器的平台：</a:t>
            </a:r>
            <a:r>
              <a:rPr lang="en-US" altLang="zh-CN" dirty="0">
                <a:ea typeface="宋体" panose="02010600030101010101" pitchFamily="2" charset="-122"/>
              </a:rPr>
              <a:t>"+</a:t>
            </a:r>
            <a:r>
              <a:rPr lang="en-US" altLang="zh-CN" dirty="0" err="1">
                <a:ea typeface="宋体" panose="02010600030101010101" pitchFamily="2" charset="-122"/>
              </a:rPr>
              <a:t>navigator.platform</a:t>
            </a:r>
            <a:r>
              <a:rPr lang="en-US" altLang="zh-CN" dirty="0">
                <a:ea typeface="宋体" panose="02010600030101010101" pitchFamily="2" charset="-122"/>
              </a:rPr>
              <a:t>+"&lt;</a:t>
            </a:r>
            <a:r>
              <a:rPr lang="en-US" altLang="zh-CN" dirty="0" err="1">
                <a:ea typeface="宋体" panose="02010600030101010101" pitchFamily="2" charset="-122"/>
              </a:rPr>
              <a:t>br</a:t>
            </a:r>
            <a:r>
              <a:rPr lang="en-US" altLang="zh-CN" dirty="0">
                <a:ea typeface="宋体" panose="02010600030101010101" pitchFamily="2" charset="-122"/>
              </a:rPr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ea typeface="宋体" panose="02010600030101010101" pitchFamily="2" charset="-122"/>
              </a:rPr>
              <a:t>document.writeln</a:t>
            </a:r>
            <a:r>
              <a:rPr lang="en-US" altLang="zh-CN" dirty="0">
                <a:ea typeface="宋体" panose="02010600030101010101" pitchFamily="2" charset="-122"/>
              </a:rPr>
              <a:t>("</a:t>
            </a:r>
            <a:r>
              <a:rPr lang="zh-CN" altLang="en-US" dirty="0">
                <a:ea typeface="宋体" panose="02010600030101010101" pitchFamily="2" charset="-122"/>
              </a:rPr>
              <a:t>浏览器执行的语言版本：</a:t>
            </a:r>
            <a:r>
              <a:rPr lang="en-US" altLang="zh-CN" dirty="0">
                <a:ea typeface="宋体" panose="02010600030101010101" pitchFamily="2" charset="-122"/>
              </a:rPr>
              <a:t>"+</a:t>
            </a:r>
            <a:r>
              <a:rPr lang="en-US" altLang="zh-CN" dirty="0" err="1">
                <a:ea typeface="宋体" panose="02010600030101010101" pitchFamily="2" charset="-122"/>
              </a:rPr>
              <a:t>navigator.language</a:t>
            </a:r>
            <a:r>
              <a:rPr lang="en-US" altLang="zh-CN" dirty="0">
                <a:ea typeface="宋体" panose="02010600030101010101" pitchFamily="2" charset="-122"/>
              </a:rPr>
              <a:t>+"&lt;</a:t>
            </a:r>
            <a:r>
              <a:rPr lang="en-US" altLang="zh-CN" dirty="0" err="1">
                <a:ea typeface="宋体" panose="02010600030101010101" pitchFamily="2" charset="-122"/>
              </a:rPr>
              <a:t>br</a:t>
            </a:r>
            <a:r>
              <a:rPr lang="en-US" altLang="zh-CN" dirty="0">
                <a:ea typeface="宋体" panose="02010600030101010101" pitchFamily="2" charset="-122"/>
              </a:rPr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ea typeface="宋体" panose="02010600030101010101" pitchFamily="2" charset="-122"/>
              </a:rPr>
              <a:t>document.writeln</a:t>
            </a:r>
            <a:r>
              <a:rPr lang="en-US" altLang="zh-CN" dirty="0">
                <a:ea typeface="宋体" panose="02010600030101010101" pitchFamily="2" charset="-122"/>
              </a:rPr>
              <a:t>("</a:t>
            </a:r>
            <a:r>
              <a:rPr lang="zh-CN" altLang="en-US" dirty="0">
                <a:ea typeface="宋体" panose="02010600030101010101" pitchFamily="2" charset="-122"/>
              </a:rPr>
              <a:t>用户代理：</a:t>
            </a:r>
            <a:r>
              <a:rPr lang="en-US" altLang="zh-CN" dirty="0">
                <a:ea typeface="宋体" panose="02010600030101010101" pitchFamily="2" charset="-122"/>
              </a:rPr>
              <a:t>"+</a:t>
            </a:r>
            <a:r>
              <a:rPr lang="en-US" altLang="zh-CN" dirty="0" err="1">
                <a:ea typeface="宋体" panose="02010600030101010101" pitchFamily="2" charset="-122"/>
              </a:rPr>
              <a:t>navigator.userAgent</a:t>
            </a:r>
            <a:r>
              <a:rPr lang="en-US" altLang="zh-CN" dirty="0">
                <a:ea typeface="宋体" panose="02010600030101010101" pitchFamily="2" charset="-122"/>
              </a:rPr>
              <a:t>+"&lt;</a:t>
            </a:r>
            <a:r>
              <a:rPr lang="en-US" altLang="zh-CN" dirty="0" err="1">
                <a:ea typeface="宋体" panose="02010600030101010101" pitchFamily="2" charset="-122"/>
              </a:rPr>
              <a:t>br</a:t>
            </a:r>
            <a:r>
              <a:rPr lang="en-US" altLang="zh-CN" dirty="0">
                <a:ea typeface="宋体" panose="02010600030101010101" pitchFamily="2" charset="-122"/>
              </a:rPr>
              <a:t>&gt;");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&lt;/script&gt;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&lt;/head&gt;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&lt;body </a:t>
            </a:r>
            <a:r>
              <a:rPr lang="en-US" altLang="zh-CN" dirty="0" err="1">
                <a:ea typeface="宋体" panose="02010600030101010101" pitchFamily="2" charset="-122"/>
              </a:rPr>
              <a:t>onload</a:t>
            </a:r>
            <a:r>
              <a:rPr lang="en-US" altLang="zh-CN" dirty="0">
                <a:ea typeface="宋体" panose="02010600030101010101" pitchFamily="2" charset="-122"/>
              </a:rPr>
              <a:t>="</a:t>
            </a:r>
            <a:r>
              <a:rPr lang="en-US" altLang="zh-CN" dirty="0" err="1">
                <a:ea typeface="宋体" panose="02010600030101010101" pitchFamily="2" charset="-122"/>
              </a:rPr>
              <a:t>getInfo</a:t>
            </a:r>
            <a:r>
              <a:rPr lang="en-US" altLang="zh-CN" dirty="0">
                <a:ea typeface="宋体" panose="02010600030101010101" pitchFamily="2" charset="-122"/>
              </a:rPr>
              <a:t>()"&gt;&lt;/body&gt;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&lt;/html&gt;</a:t>
            </a:r>
            <a:endParaRPr lang="en-US" altLang="zh-CN" b="0" dirty="0"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645" y="4298950"/>
            <a:ext cx="4338955" cy="239522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screen</a:t>
            </a:r>
            <a:r>
              <a:rPr lang="zh-CN" altLang="en-US" dirty="0"/>
              <a:t>对象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087755"/>
            <a:ext cx="8329930" cy="751205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screen</a:t>
            </a:r>
            <a:r>
              <a:rPr lang="zh-CN" altLang="en-US" sz="1800" dirty="0"/>
              <a:t>对象用于获取用户屏幕设置的相关信息，具有</a:t>
            </a:r>
            <a:r>
              <a:rPr lang="en-US" altLang="zh-CN" sz="1800" dirty="0"/>
              <a:t>height</a:t>
            </a:r>
            <a:r>
              <a:rPr lang="zh-CN" altLang="en-US" sz="1800" dirty="0"/>
              <a:t>、</a:t>
            </a:r>
            <a:r>
              <a:rPr lang="en-US" altLang="zh-CN" sz="1800" dirty="0"/>
              <a:t>width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availHeight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availWidth</a:t>
            </a:r>
            <a:r>
              <a:rPr lang="zh-CN" altLang="en-US" sz="1800" dirty="0"/>
              <a:t>等属性。</a:t>
            </a:r>
            <a:r>
              <a:rPr lang="zh-CN" altLang="en-US" sz="1600" dirty="0"/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407035" y="1901825"/>
            <a:ext cx="832993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&lt;html&gt;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&lt;head&gt;&lt;title&gt;screen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对象实例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&lt;/title&gt;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 type="text/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function 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getScreenInfo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("&lt;h3&gt;screen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对象的信息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&lt;/h3&gt;&lt;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屏幕的总高度：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"+</a:t>
            </a:r>
            <a:r>
              <a:rPr lang="en-US" altLang="zh-CN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screen.height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+"&lt;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屏幕的可用高度：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"+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screen.availHeight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+"&lt;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屏幕的总宽度：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"+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screen.width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+"&lt;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document.write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屏幕的可用宽度：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"+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screen.availWidth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+"&lt;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&gt;");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&lt;/script&gt;&lt;/head&gt;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 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onload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getScreenInfo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()"&gt;&lt;/body&gt;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&lt;/html&gt;</a:t>
            </a:r>
          </a:p>
        </p:txBody>
      </p:sp>
      <p:pic>
        <p:nvPicPr>
          <p:cNvPr id="532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2035" y="4821555"/>
            <a:ext cx="2519045" cy="1926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history</a:t>
            </a:r>
            <a:r>
              <a:rPr lang="zh-CN" altLang="en-US" dirty="0"/>
              <a:t>对象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63597"/>
            <a:ext cx="8534399" cy="73223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1800" dirty="0">
                <a:latin typeface="+mj-ea"/>
                <a:ea typeface="+mj-ea"/>
              </a:rPr>
              <a:t>     </a:t>
            </a:r>
            <a:r>
              <a:rPr lang="en-US" altLang="zh-CN" sz="1800" dirty="0"/>
              <a:t>history</a:t>
            </a:r>
            <a:r>
              <a:rPr lang="zh-CN" altLang="en-US" sz="1800" dirty="0"/>
              <a:t>对象表示窗口的浏览历史，并由</a:t>
            </a:r>
            <a:r>
              <a:rPr lang="en-US" altLang="zh-CN" sz="1800" dirty="0"/>
              <a:t>window</a:t>
            </a:r>
            <a:r>
              <a:rPr lang="zh-CN" altLang="en-US" sz="1800" dirty="0"/>
              <a:t>对象的</a:t>
            </a:r>
            <a:r>
              <a:rPr lang="en-US" altLang="zh-CN" sz="1800" dirty="0"/>
              <a:t>history</a:t>
            </a:r>
            <a:r>
              <a:rPr lang="zh-CN" altLang="en-US" sz="1800" dirty="0"/>
              <a:t>属性引用该窗口的</a:t>
            </a:r>
            <a:r>
              <a:rPr lang="en-US" altLang="zh-CN" sz="1800" dirty="0"/>
              <a:t>history</a:t>
            </a:r>
            <a:r>
              <a:rPr lang="zh-CN" altLang="en-US" sz="1800" dirty="0"/>
              <a:t>对象。</a:t>
            </a:r>
          </a:p>
        </p:txBody>
      </p:sp>
      <p:sp>
        <p:nvSpPr>
          <p:cNvPr id="2" name="矩形 1"/>
          <p:cNvSpPr/>
          <p:nvPr/>
        </p:nvSpPr>
        <p:spPr>
          <a:xfrm>
            <a:off x="533400" y="4198767"/>
            <a:ext cx="85344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history.back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()       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与单击浏览器后退按钮执行的操作一样</a:t>
            </a:r>
          </a:p>
          <a:p>
            <a:pPr lvl="1"/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history.go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(-2)       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与单击两次浏览器后退按钮执行的操作一样</a:t>
            </a:r>
          </a:p>
          <a:p>
            <a:pPr lvl="1"/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history.forward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()  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等价于点击浏览器前进按钮或调用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history.go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(1)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04850" y="2587625"/>
          <a:ext cx="8077200" cy="1219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{E8B1032C-EA38-4F05-BA0D-38AFFFC7BED3}</a:tableStyleId>
              </a:tblPr>
              <a:tblGrid>
                <a:gridCol w="213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9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1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方法名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b="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forward()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加载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history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列表中的下一个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back()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加载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history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列表中的前一个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go(</a:t>
                      </a:r>
                      <a:r>
                        <a:rPr lang="en-US" sz="1600" b="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number|URL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加载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history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列表中的某个具体页面。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参数指定要访问的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number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参数指定要访问的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在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history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的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列表中的位置。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location</a:t>
            </a:r>
            <a:r>
              <a:rPr lang="zh-CN" altLang="en-US" dirty="0"/>
              <a:t>对象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067"/>
            <a:ext cx="8534400" cy="9227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1800" dirty="0"/>
              <a:t>         location</a:t>
            </a:r>
            <a:r>
              <a:rPr lang="zh-CN" altLang="zh-CN" sz="1800" dirty="0"/>
              <a:t>对象用来表示浏览器窗口中加载的当前文档的</a:t>
            </a:r>
            <a:r>
              <a:rPr lang="en-US" altLang="zh-CN" sz="1800" dirty="0"/>
              <a:t>URL</a:t>
            </a:r>
            <a:r>
              <a:rPr lang="zh-CN" altLang="zh-CN" sz="1800" dirty="0"/>
              <a:t>，该对象的属性说明了</a:t>
            </a:r>
            <a:r>
              <a:rPr lang="en-US" altLang="zh-CN" sz="1800" dirty="0"/>
              <a:t>URL</a:t>
            </a:r>
            <a:r>
              <a:rPr lang="zh-CN" altLang="zh-CN" sz="1800" dirty="0"/>
              <a:t>中的各个部分，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726691"/>
            <a:ext cx="7620000" cy="114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location</a:t>
            </a:r>
            <a:r>
              <a:rPr lang="zh-CN" altLang="en-US" dirty="0"/>
              <a:t>对象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5805" y="4329430"/>
          <a:ext cx="7772400" cy="12611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{72833802-FEF1-4C79-8D5D-14CF1EAF98D9}</a:tableStyleId>
              </a:tblPr>
              <a:tblGrid>
                <a:gridCol w="240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7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方法名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reload()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重新加载当前文档。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assign()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加载新的文档。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replace()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用新的文档替换当前文档。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85800" y="1209675"/>
          <a:ext cx="7772400" cy="26619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{72833802-FEF1-4C79-8D5D-14CF1EAF98D9}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0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属性名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indent="17145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hash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870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设置或返回从井号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(#)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开始的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URL(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锚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indent="1727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href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870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设置或返回完整的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indent="1727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hostname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870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中的主机名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indent="1727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protocol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870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设置或返回当前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的协议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indent="1727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port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870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设置或返回当前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的端口号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indent="1727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Pathname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870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设置或返回当前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的路径部分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indent="1727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Host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870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中的主机名和端口号的组合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indent="17272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Search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28575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设置或返回从问号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(?)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开始的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URL(</a:t>
                      </a:r>
                      <a:r>
                        <a:rPr lang="zh-CN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查询部分</a:t>
                      </a:r>
                      <a:r>
                        <a:rPr lang="en-US" sz="1600" b="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ym typeface="+mn-ea"/>
              </a:rPr>
              <a:t>location</a:t>
            </a:r>
            <a:r>
              <a:rPr>
                <a:sym typeface="+mn-ea"/>
              </a:rPr>
              <a:t>对象</a:t>
            </a:r>
            <a:r>
              <a:rPr lang="en-US" altLang="zh-CN">
                <a:sym typeface="+mn-ea"/>
              </a:rPr>
              <a:t>-</a:t>
            </a:r>
            <a:r>
              <a:rPr>
                <a:sym typeface="+mn-ea"/>
              </a:rPr>
              <a:t>案例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10845" y="1242695"/>
            <a:ext cx="7932420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&lt;html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lang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="en"&gt;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&lt;head&gt;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&lt;meta charset="UTF-8"&gt;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&lt;script type="text/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function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currLocation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(){alert(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window.location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function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newLocation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window.location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" http://www.baidu.com 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&lt;/head&gt;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&lt;input type="button"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currLocation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 value="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显示当前 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URL"&gt;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&lt;input type="button"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newLocation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 value="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改变 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URL</a:t>
            </a:r>
            <a:r>
              <a:rPr lang="en-US" altLang="zh-CN" sz="16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-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百度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&lt;/body&gt;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&lt;/html&gt;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1045" y="5234940"/>
            <a:ext cx="3091815" cy="599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69080" y="5234940"/>
            <a:ext cx="3900170" cy="899795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画布</a:t>
            </a:r>
            <a:endParaRPr lang="zh-CN" altLang="zh-CN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417195" y="993696"/>
            <a:ext cx="8534400" cy="38945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780" dirty="0"/>
              <a:t>canvas</a:t>
            </a:r>
            <a:r>
              <a:rPr lang="zh-CN" altLang="en-US" sz="1780" dirty="0"/>
              <a:t>标记</a:t>
            </a:r>
            <a:r>
              <a:rPr sz="1780" dirty="0">
                <a:sym typeface="+mn-ea"/>
              </a:rPr>
              <a:t>作为图形的容器，</a:t>
            </a:r>
            <a:r>
              <a:rPr lang="zh-CN" altLang="en-US" sz="1780" dirty="0"/>
              <a:t>通过</a:t>
            </a:r>
            <a:r>
              <a:rPr lang="en-US" altLang="zh-CN" sz="1780" dirty="0"/>
              <a:t>JavaScript</a:t>
            </a:r>
            <a:r>
              <a:rPr sz="1780" dirty="0">
                <a:sym typeface="+mn-ea"/>
              </a:rPr>
              <a:t>绘制路径、盒、圆、字符以及添加图像等</a:t>
            </a:r>
            <a:r>
              <a:rPr lang="zh-CN" altLang="en-US" sz="1780" dirty="0"/>
              <a:t>完成绘图。利用</a:t>
            </a:r>
            <a:r>
              <a:rPr lang="en-US" altLang="zh-CN" sz="1780" dirty="0"/>
              <a:t>canvas</a:t>
            </a:r>
            <a:r>
              <a:rPr lang="zh-CN" altLang="en-US" sz="1780" dirty="0"/>
              <a:t>可</a:t>
            </a:r>
            <a:r>
              <a:rPr altLang="zh-CN" sz="1780" dirty="0">
                <a:sym typeface="+mn-ea"/>
              </a:rPr>
              <a:t>以进行跨平台的动画和游戏的开发，能够实现对图像进行像素级别的操作。</a:t>
            </a:r>
            <a:endParaRPr lang="en-US" altLang="zh-CN" sz="178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80" b="1" dirty="0"/>
              <a:t>17.2.1 canvas </a:t>
            </a:r>
            <a:r>
              <a:rPr lang="zh-CN" altLang="en-US" sz="1780" b="1" dirty="0"/>
              <a:t>标记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80" dirty="0"/>
              <a:t>      canvas </a:t>
            </a:r>
            <a:r>
              <a:rPr lang="zh-CN" altLang="en-US" sz="1780" dirty="0"/>
              <a:t>标记是双标记，必须设置宽度、高度及</a:t>
            </a:r>
            <a:r>
              <a:rPr lang="en-US" altLang="zh-CN" sz="1780" dirty="0"/>
              <a:t>id</a:t>
            </a:r>
            <a:r>
              <a:rPr lang="zh-CN" altLang="en-US" sz="1780" dirty="0"/>
              <a:t>。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80" b="1" dirty="0"/>
              <a:t>1</a:t>
            </a:r>
            <a:r>
              <a:rPr lang="zh-CN" altLang="en-US" sz="1780" b="1" dirty="0"/>
              <a:t>．基本语法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80" dirty="0">
                <a:solidFill>
                  <a:srgbClr val="FF0000"/>
                </a:solidFill>
              </a:rPr>
              <a:t>    &lt;canvas id="oneCanvas" width="" height=""&gt;&lt;/canvas&gt;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80" dirty="0">
                <a:solidFill>
                  <a:schemeClr val="tx1"/>
                </a:solidFill>
                <a:highlight>
                  <a:srgbClr val="FFFF00"/>
                </a:highlight>
              </a:rPr>
              <a:t>         默认情况下</a:t>
            </a:r>
            <a:r>
              <a:rPr lang="en-US" altLang="zh-CN" sz="1780" dirty="0">
                <a:solidFill>
                  <a:schemeClr val="tx1"/>
                </a:solidFill>
                <a:highlight>
                  <a:srgbClr val="FFFF00"/>
                </a:highlight>
              </a:rPr>
              <a:t>canvas </a:t>
            </a:r>
            <a:r>
              <a:rPr lang="zh-CN" altLang="en-US" sz="1780" dirty="0">
                <a:solidFill>
                  <a:schemeClr val="tx1"/>
                </a:solidFill>
                <a:highlight>
                  <a:srgbClr val="FFFF00"/>
                </a:highlight>
              </a:rPr>
              <a:t>标记的</a:t>
            </a:r>
            <a:r>
              <a:rPr lang="en-US" altLang="zh-CN" sz="1780" dirty="0">
                <a:solidFill>
                  <a:schemeClr val="tx1"/>
                </a:solidFill>
                <a:highlight>
                  <a:srgbClr val="FFFF00"/>
                </a:highlight>
              </a:rPr>
              <a:t>width </a:t>
            </a:r>
            <a:r>
              <a:rPr lang="zh-CN" altLang="en-US" sz="1780" dirty="0">
                <a:solidFill>
                  <a:schemeClr val="tx1"/>
                </a:solidFill>
                <a:highlight>
                  <a:srgbClr val="FFFF00"/>
                </a:highlight>
              </a:rPr>
              <a:t>为</a:t>
            </a:r>
            <a:r>
              <a:rPr lang="en-US" altLang="zh-CN" sz="1780" dirty="0">
                <a:solidFill>
                  <a:schemeClr val="tx1"/>
                </a:solidFill>
                <a:highlight>
                  <a:srgbClr val="FFFF00"/>
                </a:highlight>
              </a:rPr>
              <a:t>300px</a:t>
            </a:r>
            <a:r>
              <a:rPr lang="zh-CN" altLang="en-US" sz="1780" dirty="0">
                <a:solidFill>
                  <a:schemeClr val="tx1"/>
                </a:solidFill>
                <a:highlight>
                  <a:srgbClr val="FFFF00"/>
                </a:highlight>
              </a:rPr>
              <a:t>、高度</a:t>
            </a:r>
            <a:r>
              <a:rPr lang="en-US" altLang="zh-CN" sz="1780" dirty="0">
                <a:solidFill>
                  <a:schemeClr val="tx1"/>
                </a:solidFill>
                <a:highlight>
                  <a:srgbClr val="FFFF00"/>
                </a:highlight>
              </a:rPr>
              <a:t>height </a:t>
            </a:r>
            <a:r>
              <a:rPr lang="zh-CN" altLang="en-US" sz="1780" dirty="0">
                <a:solidFill>
                  <a:schemeClr val="tx1"/>
                </a:solidFill>
                <a:highlight>
                  <a:srgbClr val="FFFF00"/>
                </a:highlight>
              </a:rPr>
              <a:t>为</a:t>
            </a:r>
            <a:r>
              <a:rPr lang="en-US" altLang="zh-CN" sz="1780" dirty="0">
                <a:solidFill>
                  <a:schemeClr val="tx1"/>
                </a:solidFill>
                <a:highlight>
                  <a:srgbClr val="FFFF00"/>
                </a:highlight>
              </a:rPr>
              <a:t>200px</a:t>
            </a:r>
            <a:r>
              <a:rPr lang="zh-CN" altLang="en-US" sz="1780" dirty="0">
                <a:solidFill>
                  <a:schemeClr val="tx1"/>
                </a:solidFill>
              </a:rPr>
              <a:t>，页面上没有边框和内容。</a:t>
            </a:r>
          </a:p>
          <a:p>
            <a:pPr marL="0" indent="4572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80" dirty="0"/>
              <a:t>可使用行内样式，利用</a:t>
            </a:r>
            <a:r>
              <a:rPr lang="en-US" altLang="zh-CN" sz="1780" dirty="0"/>
              <a:t>style=“border:3px solid”</a:t>
            </a:r>
            <a:r>
              <a:rPr sz="1780" dirty="0"/>
              <a:t>等</a:t>
            </a:r>
            <a:r>
              <a:rPr lang="zh-CN" altLang="en-US" sz="1780" dirty="0"/>
              <a:t>指定边框样式</a:t>
            </a:r>
          </a:p>
          <a:p>
            <a:pPr marL="0" indent="45720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80" dirty="0"/>
              <a:t>类似</a:t>
            </a:r>
            <a:r>
              <a:rPr lang="en-US" altLang="zh-CN" sz="1780" dirty="0"/>
              <a:t>“</a:t>
            </a:r>
            <a:r>
              <a:rPr sz="1780" dirty="0"/>
              <a:t>选择</a:t>
            </a:r>
            <a:r>
              <a:rPr lang="en-US" altLang="zh-CN" sz="1780" dirty="0"/>
              <a:t>”+“</a:t>
            </a:r>
            <a:r>
              <a:rPr sz="1780" dirty="0"/>
              <a:t>应用</a:t>
            </a:r>
            <a:r>
              <a:rPr lang="en-US" altLang="zh-CN" sz="1780" dirty="0"/>
              <a:t>”</a:t>
            </a:r>
            <a:r>
              <a:rPr sz="1780" dirty="0"/>
              <a:t>的方式设置画布内容，</a:t>
            </a:r>
            <a:r>
              <a:rPr lang="en-US" altLang="zh-CN" sz="1780" dirty="0"/>
              <a:t>2</a:t>
            </a:r>
            <a:r>
              <a:rPr sz="1780" dirty="0"/>
              <a:t>类选择，</a:t>
            </a:r>
            <a:r>
              <a:rPr lang="en-US" altLang="zh-CN" sz="1780" dirty="0"/>
              <a:t>fill</a:t>
            </a:r>
            <a:r>
              <a:rPr sz="1780" dirty="0"/>
              <a:t>和</a:t>
            </a:r>
            <a:r>
              <a:rPr lang="en-US" altLang="zh-CN" sz="1780" dirty="0"/>
              <a:t>stroke</a:t>
            </a:r>
            <a:endParaRPr sz="1780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5160322"/>
              </p:ext>
            </p:extLst>
          </p:nvPr>
        </p:nvGraphicFramePr>
        <p:xfrm>
          <a:off x="1036320" y="4787900"/>
          <a:ext cx="6835775" cy="19202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896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9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属性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/>
                        <a:t>描述</a:t>
                      </a:r>
                      <a:endParaRPr lang="zh-CN" sz="18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indent="1746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/>
                        <a:t>fillStyle</a:t>
                      </a:r>
                      <a:endParaRPr lang="en-US" sz="1800" kern="1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7716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设置或返回用于</a:t>
                      </a:r>
                      <a:r>
                        <a:rPr lang="zh-CN" sz="1800" kern="100" dirty="0">
                          <a:highlight>
                            <a:srgbClr val="FFFF00"/>
                          </a:highlight>
                        </a:rPr>
                        <a:t>填充</a:t>
                      </a:r>
                      <a:r>
                        <a:rPr lang="zh-CN" sz="1800" kern="100" dirty="0"/>
                        <a:t>绘画的颜色、渐变或模式。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indent="1746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highlight>
                            <a:srgbClr val="FFFF00"/>
                          </a:highlight>
                        </a:rPr>
                        <a:t>strokeStyle</a:t>
                      </a:r>
                      <a:r>
                        <a:rPr lang="en-US" sz="1800" kern="100" dirty="0">
                          <a:highlight>
                            <a:srgbClr val="FFFF00"/>
                          </a:highlight>
                        </a:rPr>
                        <a:t>   </a:t>
                      </a:r>
                      <a:endParaRPr lang="en-US" sz="1800" kern="10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7716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highlight>
                            <a:srgbClr val="FFFF00"/>
                          </a:highlight>
                        </a:rPr>
                        <a:t>设置或返回用于笔触的颜色、渐变或模式。</a:t>
                      </a:r>
                      <a:endParaRPr lang="zh-CN" sz="1800" kern="10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indent="1746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/>
                        <a:t>shadowColor   </a:t>
                      </a:r>
                      <a:endParaRPr lang="en-US" sz="18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7716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设置或返回用于阴影的颜色。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indent="1746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highlight>
                            <a:srgbClr val="FFFF00"/>
                          </a:highlight>
                        </a:rPr>
                        <a:t>shadowBlur</a:t>
                      </a:r>
                      <a:endParaRPr lang="en-US" sz="1800" kern="10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7716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设置或返回用于阴影的模糊级别。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indent="1746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/>
                        <a:t>shadowOffsetX</a:t>
                      </a:r>
                      <a:endParaRPr lang="en-US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7716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设置或返回阴影与形状的水平距离。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indent="1746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/>
                        <a:t>shadowOffsetY</a:t>
                      </a:r>
                      <a:endParaRPr lang="en-US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7716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设置或返回阴影与形状的垂直距离。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451" y="213383"/>
            <a:ext cx="7761287" cy="757239"/>
          </a:xfrm>
        </p:spPr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画布</a:t>
            </a:r>
          </a:p>
        </p:txBody>
      </p:sp>
      <p:sp>
        <p:nvSpPr>
          <p:cNvPr id="4" name="矩形 3"/>
          <p:cNvSpPr/>
          <p:nvPr/>
        </p:nvSpPr>
        <p:spPr>
          <a:xfrm>
            <a:off x="450850" y="739061"/>
            <a:ext cx="8534400" cy="527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利用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canvas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标记绘制图形一般需要经过下列步骤：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(1)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body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标记中插入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canvas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标记，并设置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width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height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&lt;canvas id=“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aCanvas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 width=“200” height=“100”&gt;&lt;/canvas&gt;</a:t>
            </a:r>
            <a:endParaRPr lang="en-US" altLang="zh-CN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(2)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body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标记中插入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script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标记，并插入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JavaScript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代码。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r>
              <a:rPr lang="en-US" altLang="zh-CN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(3)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id 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获取页面上</a:t>
            </a:r>
            <a:r>
              <a:rPr lang="en-US" altLang="zh-CN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canvas 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对象。</a:t>
            </a:r>
            <a:endParaRPr lang="zh-CN" altLang="en-US" b="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myCanvas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document.getElementById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("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aCanvas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"); 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获取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Canvas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</a:p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(4)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创建具有绘图功能的环境</a:t>
            </a:r>
            <a:r>
              <a:rPr lang="zh-CN" altLang="en-US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altLang="zh-CN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context</a:t>
            </a:r>
            <a:r>
              <a:rPr lang="zh-CN" altLang="en-US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，参数为</a:t>
            </a:r>
            <a:r>
              <a:rPr lang="en-US" altLang="zh-CN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2d </a:t>
            </a:r>
            <a:r>
              <a:rPr lang="zh-CN" altLang="en-US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1800" b="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conText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1800" b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myCanvas.getContext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("2d"); //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获取绘图环境（也称上下文环境）</a:t>
            </a:r>
          </a:p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(5)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在绘图环境对象内绘图。</a:t>
            </a:r>
          </a:p>
          <a:p>
            <a:pPr marL="358775" indent="358775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填充。分为填充样式和填充图形。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conText.fillStyle</a:t>
            </a:r>
            <a:r>
              <a:rPr lang="en-US" altLang="zh-CN" sz="1800" dirty="0">
                <a:solidFill>
                  <a:schemeClr val="tx1"/>
                </a:solidFill>
              </a:rPr>
              <a:t>="#FF0000";    //</a:t>
            </a:r>
            <a:r>
              <a:rPr lang="zh-CN" altLang="en-US" sz="1800" dirty="0">
                <a:solidFill>
                  <a:schemeClr val="tx1"/>
                </a:solidFill>
              </a:rPr>
              <a:t>设置填充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conText.fillRect</a:t>
            </a:r>
            <a:r>
              <a:rPr lang="en-US" altLang="zh-CN" sz="1800" dirty="0">
                <a:solidFill>
                  <a:schemeClr val="tx1"/>
                </a:solidFill>
              </a:rPr>
              <a:t>(10,10,150,75); //</a:t>
            </a:r>
            <a:r>
              <a:rPr lang="zh-CN" altLang="en-US" sz="1800" dirty="0">
                <a:solidFill>
                  <a:schemeClr val="tx1"/>
                </a:solidFill>
              </a:rPr>
              <a:t>填充矩形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358775" indent="357505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绘制边框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外轮廓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。绘制样式和绘制图形及绘制线条的宽度（画笔粗细）。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conText.strokeStyle</a:t>
            </a:r>
            <a:r>
              <a:rPr lang="en-US" altLang="zh-CN" sz="1800" dirty="0">
                <a:solidFill>
                  <a:schemeClr val="tx1"/>
                </a:solidFill>
              </a:rPr>
              <a:t>="#FF0000"; //</a:t>
            </a:r>
            <a:r>
              <a:rPr lang="zh-CN" altLang="en-US" sz="1800" dirty="0">
                <a:solidFill>
                  <a:schemeClr val="tx1"/>
                </a:solidFill>
              </a:rPr>
              <a:t>设置边框样式</a:t>
            </a: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conText.lineWidth</a:t>
            </a:r>
            <a:r>
              <a:rPr lang="en-US" altLang="zh-CN" sz="1800" dirty="0">
                <a:solidFill>
                  <a:schemeClr val="tx1"/>
                </a:solidFill>
              </a:rPr>
              <a:t>=8;           //</a:t>
            </a:r>
            <a:r>
              <a:rPr lang="zh-CN" altLang="en-US" sz="1800" dirty="0">
                <a:solidFill>
                  <a:schemeClr val="tx1"/>
                </a:solidFill>
              </a:rPr>
              <a:t>图形边框宽度，不加单位</a:t>
            </a:r>
            <a:r>
              <a:rPr lang="en-US" altLang="zh-CN" sz="1800" dirty="0" err="1">
                <a:solidFill>
                  <a:schemeClr val="tx1"/>
                </a:solidFill>
              </a:rPr>
              <a:t>px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conText.strokeRect</a:t>
            </a:r>
            <a:r>
              <a:rPr lang="en-US" altLang="zh-CN" sz="1800" dirty="0">
                <a:solidFill>
                  <a:schemeClr val="tx1"/>
                </a:solidFill>
              </a:rPr>
              <a:t>(0,0,200,100); //</a:t>
            </a:r>
            <a:r>
              <a:rPr lang="zh-CN" altLang="en-US" sz="1800" dirty="0">
                <a:solidFill>
                  <a:schemeClr val="tx1"/>
                </a:solidFill>
              </a:rPr>
              <a:t>绘制边框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358775" indent="358775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清除矩形区域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conText.clearRect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x,y,width,height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8941" y="278788"/>
            <a:ext cx="7761287" cy="757239"/>
          </a:xfrm>
        </p:spPr>
        <p:txBody>
          <a:bodyPr/>
          <a:lstStyle/>
          <a:p>
            <a:r>
              <a:rPr lang="en-US" altLang="zh-CN" dirty="0"/>
              <a:t>HTML5 Canvas </a:t>
            </a:r>
            <a:r>
              <a:rPr lang="zh-CN" altLang="en-US" dirty="0"/>
              <a:t>画布</a:t>
            </a: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9040" y="4942840"/>
            <a:ext cx="2343278" cy="1616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487045" y="911860"/>
            <a:ext cx="816991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canvas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标记绘制矩形。</a:t>
            </a:r>
            <a:endParaRPr lang="zh-CN" altLang="en-US" sz="16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&lt;canvas id="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oneCanvas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width="" height="" style="border:1px solid blue"&gt;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&lt;/canvas&gt;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type="text/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myCanvas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document.getElementById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oneCanvas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//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获取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Canvas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对象	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myCanvas.getContext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("2d");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//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获取绘图环境（上下文环境）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conText.fillStyle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="#00FF00"; //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设置填充样式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conText.fillRect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(0,0,200,100); //</a:t>
            </a:r>
            <a:r>
              <a:rPr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填充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矩形	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conText.strokeStyle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="#FF0000"; //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设置边框样式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conText.lineWidth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=8; //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图形边框宽度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conText.strokeRect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(0,0,200,100); //</a:t>
            </a: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绘制边框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&lt;/script&gt;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96710" y="5416550"/>
          <a:ext cx="11239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r:id="rId4" imgW="1123950" imgH="542925" progId="Package">
                  <p:embed/>
                </p:oleObj>
              </mc:Choice>
              <mc:Fallback>
                <p:oleObj r:id="rId4" imgW="1123950" imgH="542925" progId="Package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96710" y="5416550"/>
                        <a:ext cx="11239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961" y="360068"/>
            <a:ext cx="7761287" cy="757239"/>
          </a:xfrm>
        </p:spPr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坐标</a:t>
            </a:r>
          </a:p>
        </p:txBody>
      </p:sp>
      <p:sp>
        <p:nvSpPr>
          <p:cNvPr id="5" name="矩形 4"/>
          <p:cNvSpPr/>
          <p:nvPr/>
        </p:nvSpPr>
        <p:spPr>
          <a:xfrm>
            <a:off x="443230" y="1535430"/>
            <a:ext cx="853440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       Canvas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画布为二维网格，分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X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轴和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Y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轴，其中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X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轴方向从左向右，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Y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轴方向从上到下。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填充矩形方法：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fillRect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X,Y,width,height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//X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X 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轴、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Y 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轴的坐标，其余两个参数分别表示矩形的宽度和高度。</a:t>
            </a: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429000"/>
            <a:ext cx="342900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071" y="302918"/>
            <a:ext cx="7761287" cy="757239"/>
          </a:xfrm>
        </p:spPr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路径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4249261"/>
              </p:ext>
            </p:extLst>
          </p:nvPr>
        </p:nvGraphicFramePr>
        <p:xfrm>
          <a:off x="461010" y="2093599"/>
          <a:ext cx="8222615" cy="36804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8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fill()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填充当前绘图（路径）。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stroke()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绘制已定义的路径（边框）。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beginPath</a:t>
                      </a: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起始一条路径，或重置当前路径。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moveTo()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把路径移动到画布中的指定点，不创建线条。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closePath()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创建从当前点回到起始点的路径。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lineTo()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添加一个新点，然后在画布中创建</a:t>
                      </a:r>
                      <a:r>
                        <a:rPr lang="zh-CN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从该点到最后指定点的</a:t>
                      </a: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线条。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clip()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从原始画布剪切任意形状和尺寸的区域。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quadraticCurveTo()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创建二次贝塞尔曲线。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bezierCurveTo()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创建三次贝塞尔曲线。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arc()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创建弧</a:t>
                      </a: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曲线（用于创建圆形或部分圆）。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arcTo()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创建两切线之间的弧</a:t>
                      </a: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曲线。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indent="20447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isPointInPath</a:t>
                      </a:r>
                      <a:r>
                        <a:rPr lang="en-US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828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如果指定的点位于当前路径中，则返回</a:t>
                      </a:r>
                      <a:r>
                        <a:rPr lang="en-US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 true</a:t>
                      </a:r>
                      <a:r>
                        <a:rPr lang="zh-CN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，否则返回</a:t>
                      </a:r>
                      <a:r>
                        <a:rPr lang="en-US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 false</a:t>
                      </a:r>
                      <a:r>
                        <a:rPr lang="zh-CN" sz="16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33400" y="958215"/>
            <a:ext cx="85344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       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Canvas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上除了绘制矩形、正方形和直线外，需要使用路径来进行绘图。绘制前需要使用</a:t>
            </a:r>
            <a:r>
              <a:rPr lang="en-US" altLang="zh-CN" b="0" dirty="0" err="1">
                <a:latin typeface="微软雅黑" panose="020B0503020204020204" charset="-122"/>
                <a:ea typeface="微软雅黑" panose="020B0503020204020204" charset="-122"/>
              </a:rPr>
              <a:t>beginPath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()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方法开始路径，然后形成绘制路径，结束后需要使用</a:t>
            </a:r>
            <a:r>
              <a:rPr lang="en-US" altLang="zh-CN" b="0" dirty="0" err="1">
                <a:latin typeface="微软雅黑" panose="020B0503020204020204" charset="-122"/>
                <a:ea typeface="微软雅黑" panose="020B0503020204020204" charset="-122"/>
              </a:rPr>
              <a:t>closePath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()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方法关闭路径。最后才开始填充或绘制。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8941" y="408963"/>
            <a:ext cx="7761287" cy="757239"/>
          </a:xfrm>
        </p:spPr>
        <p:txBody>
          <a:bodyPr/>
          <a:lstStyle/>
          <a:p>
            <a:r>
              <a:rPr lang="en-US" altLang="zh-CN" dirty="0"/>
              <a:t>Canvas</a:t>
            </a:r>
            <a:r>
              <a:rPr lang="zh-CN" altLang="en-US" dirty="0"/>
              <a:t>中绘图步骤</a:t>
            </a:r>
          </a:p>
        </p:txBody>
      </p:sp>
      <p:sp>
        <p:nvSpPr>
          <p:cNvPr id="4" name="矩形 3"/>
          <p:cNvSpPr/>
          <p:nvPr/>
        </p:nvSpPr>
        <p:spPr>
          <a:xfrm>
            <a:off x="533400" y="1661583"/>
            <a:ext cx="8534400" cy="4610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）开始路径。方法为</a:t>
            </a:r>
            <a:r>
              <a:rPr lang="en-US" altLang="zh-CN" sz="1800" dirty="0" err="1">
                <a:solidFill>
                  <a:schemeClr val="tx1"/>
                </a:solidFill>
              </a:rPr>
              <a:t>conText.beginPath</a:t>
            </a:r>
            <a:r>
              <a:rPr lang="en-US" altLang="zh-CN" sz="1800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）绘制路径。方法如下：</a:t>
            </a:r>
            <a:r>
              <a:rPr lang="en-US" altLang="zh-CN" sz="1600" dirty="0" err="1">
                <a:solidFill>
                  <a:schemeClr val="tx1"/>
                </a:solidFill>
              </a:rPr>
              <a:t>conText.arc</a:t>
            </a:r>
            <a:r>
              <a:rPr lang="en-US" altLang="zh-CN" sz="1600" dirty="0">
                <a:solidFill>
                  <a:schemeClr val="tx1"/>
                </a:solidFill>
              </a:rPr>
              <a:t>(150, 150, 100, 0, </a:t>
            </a:r>
            <a:r>
              <a:rPr lang="en-US" altLang="zh-CN" sz="1600" dirty="0" err="1">
                <a:solidFill>
                  <a:schemeClr val="tx1"/>
                </a:solidFill>
              </a:rPr>
              <a:t>Math.PI</a:t>
            </a:r>
            <a:r>
              <a:rPr lang="en-US" altLang="zh-CN" sz="1600" dirty="0">
                <a:solidFill>
                  <a:schemeClr val="tx1"/>
                </a:solidFill>
              </a:rPr>
              <a:t> * 2, true); //</a:t>
            </a:r>
            <a:r>
              <a:rPr lang="zh-CN" altLang="en-US" sz="1600" dirty="0">
                <a:solidFill>
                  <a:schemeClr val="tx1"/>
                </a:solidFill>
              </a:rPr>
              <a:t>绘制路径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）关闭路径。方法为</a:t>
            </a:r>
            <a:r>
              <a:rPr lang="en-US" altLang="zh-CN" sz="1800" dirty="0" err="1">
                <a:solidFill>
                  <a:schemeClr val="tx1"/>
                </a:solidFill>
              </a:rPr>
              <a:t>conText.closePath</a:t>
            </a:r>
            <a:r>
              <a:rPr lang="en-US" altLang="zh-CN" sz="1800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）绘图。分为填充和绘制圆形边框，与绘制矩形类似。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conText.fillStyle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'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rgba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(255,0,0,0.75)';  //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填充样式</a:t>
            </a: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conText.fill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                                        //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填充绘图</a:t>
            </a: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conText.strokeStyle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'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rgba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(0,255,0,0.50)'; //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绘图样式</a:t>
            </a: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conText.lineWidth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=20;               //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绘制边框宽度</a:t>
            </a: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conText.stroke</a:t>
            </a:r>
            <a:r>
              <a:rPr lang="en-US" altLang="zh-CN" sz="18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            //</a:t>
            </a:r>
            <a:r>
              <a:rPr lang="zh-CN" altLang="en-US" sz="1800" b="0" dirty="0">
                <a:solidFill>
                  <a:schemeClr val="tx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绘图</a:t>
            </a:r>
            <a:endParaRPr lang="en-US" altLang="zh-CN" sz="1800" b="0" dirty="0">
              <a:solidFill>
                <a:schemeClr val="tx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900"/>
              </a:lnSpc>
              <a:spcBef>
                <a:spcPts val="0"/>
              </a:spcBef>
            </a:pPr>
            <a:endParaRPr lang="zh-CN" altLang="en-US" sz="1800" dirty="0">
              <a:solidFill>
                <a:schemeClr val="tx1"/>
              </a:solidFill>
            </a:endParaRP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dirty="0">
                <a:sym typeface="+mn-ea"/>
              </a:rPr>
              <a:t>beginPath()</a:t>
            </a:r>
            <a:r>
              <a:rPr lang="zh-CN" altLang="en-US" dirty="0">
                <a:sym typeface="+mn-ea"/>
              </a:rPr>
              <a:t>，开始或重置路径，</a:t>
            </a:r>
            <a:r>
              <a:rPr lang="en-US" altLang="zh-CN" dirty="0">
                <a:sym typeface="+mn-ea"/>
              </a:rPr>
              <a:t>closePath</a:t>
            </a:r>
            <a:r>
              <a:rPr lang="zh-CN" altLang="en-US" dirty="0">
                <a:sym typeface="+mn-ea"/>
              </a:rPr>
              <a:t>（）如果已经闭合则不起作用，否则从当前点</a:t>
            </a:r>
            <a:r>
              <a:rPr lang="en-US" altLang="zh-CN" dirty="0">
                <a:sym typeface="+mn-ea"/>
              </a:rPr>
              <a:t>lineto</a:t>
            </a:r>
            <a:r>
              <a:rPr lang="zh-CN" altLang="en-US" dirty="0">
                <a:sym typeface="+mn-ea"/>
              </a:rPr>
              <a:t>开始点（省略了开始点的入参）</a:t>
            </a:r>
          </a:p>
          <a:p>
            <a:pPr>
              <a:lnSpc>
                <a:spcPts val="1900"/>
              </a:lnSpc>
              <a:spcBef>
                <a:spcPts val="0"/>
              </a:spcBef>
            </a:pPr>
            <a:endParaRPr lang="en-US" altLang="zh-CN" dirty="0">
              <a:sym typeface="+mn-ea"/>
            </a:endParaRP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dirty="0">
                <a:sym typeface="+mn-ea"/>
              </a:rPr>
              <a:t>arc(x, y, r, </a:t>
            </a:r>
            <a:r>
              <a:rPr lang="en-US" altLang="zh-CN" dirty="0" err="1">
                <a:sym typeface="+mn-ea"/>
              </a:rPr>
              <a:t>sAngle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eAngle</a:t>
            </a:r>
            <a:r>
              <a:rPr lang="en-US" altLang="zh-CN" dirty="0">
                <a:sym typeface="+mn-ea"/>
              </a:rPr>
              <a:t>, counterclockwise) , true</a:t>
            </a:r>
            <a:r>
              <a:rPr lang="zh-CN" altLang="en-US" dirty="0">
                <a:sym typeface="+mn-ea"/>
              </a:rPr>
              <a:t>为逆时针</a:t>
            </a:r>
            <a:endParaRPr lang="en-US" altLang="zh-CN" dirty="0"/>
          </a:p>
          <a:p>
            <a:pPr>
              <a:lnSpc>
                <a:spcPts val="1900"/>
              </a:lnSpc>
              <a:spcBef>
                <a:spcPts val="0"/>
              </a:spcBef>
            </a:pPr>
            <a:endParaRPr lang="zh-CN" altLang="en-US" sz="1800" dirty="0">
              <a:solidFill>
                <a:schemeClr val="tx1"/>
              </a:solidFill>
            </a:endParaRP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dirty="0" err="1">
                <a:sym typeface="+mn-ea"/>
              </a:rPr>
              <a:t>rgba</a:t>
            </a:r>
            <a:r>
              <a:rPr lang="en-US" altLang="zh-CN" dirty="0">
                <a:sym typeface="+mn-ea"/>
              </a:rPr>
              <a:t>(red, green, blue, opacity)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ts val="1900"/>
              </a:lnSpc>
              <a:spcBef>
                <a:spcPts val="0"/>
              </a:spcBef>
            </a:pPr>
            <a:r>
              <a:rPr lang="en-US" altLang="zh-CN" dirty="0">
                <a:sym typeface="+mn-ea"/>
              </a:rPr>
              <a:t>     //opacity </a:t>
            </a:r>
            <a:r>
              <a:rPr lang="zh-CN" altLang="en-US" dirty="0">
                <a:sym typeface="+mn-ea"/>
              </a:rPr>
              <a:t>属性表示透明度。允许的值为</a:t>
            </a:r>
            <a:r>
              <a:rPr lang="en-US" altLang="zh-CN" dirty="0">
                <a:sym typeface="+mn-ea"/>
              </a:rPr>
              <a:t>0</a:t>
            </a:r>
            <a:r>
              <a:rPr lang="zh-CN" altLang="en-US" dirty="0">
                <a:sym typeface="+mn-ea"/>
              </a:rPr>
              <a:t>～</a:t>
            </a:r>
            <a:r>
              <a:rPr lang="en-US" altLang="zh-CN" dirty="0">
                <a:sym typeface="+mn-ea"/>
              </a:rPr>
              <a:t>1 </a:t>
            </a:r>
            <a:r>
              <a:rPr lang="zh-CN" altLang="en-US" dirty="0">
                <a:sym typeface="+mn-ea"/>
              </a:rPr>
              <a:t>之间带有小数的数值。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ts val="1900"/>
              </a:lnSpc>
              <a:spcBef>
                <a:spcPts val="0"/>
              </a:spcBef>
            </a:pPr>
            <a:endParaRPr lang="zh-CN" alt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347663" y="521335"/>
            <a:ext cx="7761287" cy="567929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algn="l"/>
            <a:r>
              <a:rPr lang="en-US" altLang="zh-CN" b="1" dirty="0"/>
              <a:t>Canvas</a:t>
            </a:r>
            <a:r>
              <a:rPr lang="zh-CN" altLang="en-US" b="1" dirty="0"/>
              <a:t>绘制圆形案例</a:t>
            </a:r>
            <a:endParaRPr lang="zh-CN" altLang="zh-C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18960" y="4381500"/>
            <a:ext cx="1647983" cy="2112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347345" y="1315720"/>
            <a:ext cx="8294370" cy="3753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&lt;canvas id="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oneCanvas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width="300" height="300" style="background:#F0F0F0;"&gt; &lt;/canvas&gt;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 type="text/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myCanvas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document.getElementById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oneCanvas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获取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Canvas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对象	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myCanvas.getContext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(“2d”);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获取绘图环境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conText.beginPath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开始路径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conText.arc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(150, 150, 100, 0,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Math.PI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* 2, true);//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绘制路径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conText.closePath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关闭路径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conText.fillStyle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'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rgba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(255,0,0,0.75)'; 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设置填充样式，第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个参数表示透明度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conText.fill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   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填充绘图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conText.strokeStyle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'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rgba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(0,255,0,0.50)'; 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设置绘图样式，第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个参数表示透明度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conText.lineWidth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=20;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绘制边框宽度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conText.stroke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       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绘图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&lt;/script&gt;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585581"/>
              </p:ext>
            </p:extLst>
          </p:nvPr>
        </p:nvGraphicFramePr>
        <p:xfrm>
          <a:off x="5487988" y="5848350"/>
          <a:ext cx="11191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包装程序外壳对象" showAsIcon="1" r:id="rId4" imgW="1118880" imgH="535680" progId="Package">
                  <p:embed/>
                </p:oleObj>
              </mc:Choice>
              <mc:Fallback>
                <p:oleObj name="包装程序外壳对象" showAsIcon="1" r:id="rId4" imgW="1118880" imgH="535680" progId="Package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87988" y="5848350"/>
                        <a:ext cx="1119187" cy="53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绘制线段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7825" y="1524001"/>
            <a:ext cx="8509000" cy="38100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       利用</a:t>
            </a:r>
            <a:r>
              <a:rPr lang="en-US" altLang="zh-CN" sz="1600" dirty="0">
                <a:solidFill>
                  <a:schemeClr val="tx1"/>
                </a:solidFill>
              </a:rPr>
              <a:t>Canvas </a:t>
            </a:r>
            <a:r>
              <a:rPr lang="zh-CN" altLang="en-US" sz="1600" dirty="0">
                <a:solidFill>
                  <a:schemeClr val="tx1"/>
                </a:solidFill>
              </a:rPr>
              <a:t>标记可以绘制线段。常用的方法有</a:t>
            </a:r>
            <a:r>
              <a:rPr lang="en-US" altLang="zh-CN" sz="1600" dirty="0">
                <a:solidFill>
                  <a:schemeClr val="tx1"/>
                </a:solidFill>
              </a:rPr>
              <a:t>moveTo(x,y)</a:t>
            </a:r>
            <a:r>
              <a:rPr lang="zh-CN" altLang="en-US" sz="1600" dirty="0">
                <a:solidFill>
                  <a:schemeClr val="tx1"/>
                </a:solidFill>
              </a:rPr>
              <a:t>和</a:t>
            </a:r>
            <a:r>
              <a:rPr lang="en-US" altLang="zh-CN" sz="1600" dirty="0">
                <a:solidFill>
                  <a:schemeClr val="tx1"/>
                </a:solidFill>
              </a:rPr>
              <a:t>lineTo(x,y)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chemeClr val="tx1"/>
                </a:solidFill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</a:rPr>
              <a:t>．基本语法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context.moveto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x,y</a:t>
            </a:r>
            <a:r>
              <a:rPr lang="en-US" altLang="zh-CN" sz="1600" dirty="0">
                <a:solidFill>
                  <a:schemeClr val="tx1"/>
                </a:solidFill>
              </a:rPr>
              <a:t>) //</a:t>
            </a:r>
            <a:r>
              <a:rPr lang="zh-CN" altLang="en-US" sz="1600" dirty="0">
                <a:solidFill>
                  <a:schemeClr val="tx1"/>
                </a:solidFill>
              </a:rPr>
              <a:t>定义线段开始坐标，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为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轴坐标，</a:t>
            </a:r>
            <a:r>
              <a:rPr lang="en-US" altLang="zh-CN" sz="1600" dirty="0">
                <a:solidFill>
                  <a:schemeClr val="tx1"/>
                </a:solidFill>
              </a:rPr>
              <a:t>y</a:t>
            </a:r>
            <a:r>
              <a:rPr lang="zh-CN" altLang="en-US" sz="1600" dirty="0">
                <a:solidFill>
                  <a:schemeClr val="tx1"/>
                </a:solidFill>
              </a:rPr>
              <a:t>为</a:t>
            </a:r>
            <a:r>
              <a:rPr lang="en-US" altLang="zh-CN" sz="1600" dirty="0">
                <a:solidFill>
                  <a:schemeClr val="tx1"/>
                </a:solidFill>
              </a:rPr>
              <a:t>Y</a:t>
            </a:r>
            <a:r>
              <a:rPr lang="zh-CN" altLang="en-US" sz="1600" dirty="0">
                <a:solidFill>
                  <a:schemeClr val="tx1"/>
                </a:solidFill>
              </a:rPr>
              <a:t>轴坐标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context.lineto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x,y</a:t>
            </a:r>
            <a:r>
              <a:rPr lang="en-US" altLang="zh-CN" sz="1600" dirty="0">
                <a:solidFill>
                  <a:schemeClr val="tx1"/>
                </a:solidFill>
              </a:rPr>
              <a:t>)    //</a:t>
            </a:r>
            <a:r>
              <a:rPr lang="zh-CN" altLang="en-US" sz="1600" dirty="0">
                <a:solidFill>
                  <a:schemeClr val="tx1"/>
                </a:solidFill>
              </a:rPr>
              <a:t>定义线段结束坐标，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为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轴坐标，</a:t>
            </a:r>
            <a:r>
              <a:rPr lang="en-US" altLang="zh-CN" sz="1600" dirty="0">
                <a:solidFill>
                  <a:schemeClr val="tx1"/>
                </a:solidFill>
              </a:rPr>
              <a:t>y</a:t>
            </a:r>
            <a:r>
              <a:rPr lang="zh-CN" altLang="en-US" sz="1600" dirty="0">
                <a:solidFill>
                  <a:schemeClr val="tx1"/>
                </a:solidFill>
              </a:rPr>
              <a:t>为</a:t>
            </a:r>
            <a:r>
              <a:rPr lang="en-US" altLang="zh-CN" sz="1600" dirty="0">
                <a:solidFill>
                  <a:schemeClr val="tx1"/>
                </a:solidFill>
              </a:rPr>
              <a:t>Y</a:t>
            </a:r>
            <a:r>
              <a:rPr lang="zh-CN" altLang="en-US" sz="1600" dirty="0">
                <a:solidFill>
                  <a:schemeClr val="tx1"/>
                </a:solidFill>
              </a:rPr>
              <a:t>轴坐标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chemeClr val="tx1"/>
                </a:solidFill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</a:rPr>
              <a:t>．语法说明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       两个方法的参数相同，</a:t>
            </a:r>
            <a:r>
              <a:rPr lang="en-US" altLang="zh-CN" sz="1600" dirty="0">
                <a:solidFill>
                  <a:schemeClr val="tx1"/>
                </a:solidFill>
              </a:rPr>
              <a:t>x </a:t>
            </a:r>
            <a:r>
              <a:rPr lang="zh-CN" altLang="en-US" sz="1600" dirty="0">
                <a:solidFill>
                  <a:schemeClr val="tx1"/>
                </a:solidFill>
              </a:rPr>
              <a:t>为</a:t>
            </a:r>
            <a:r>
              <a:rPr lang="en-US" altLang="zh-CN" sz="1600" dirty="0">
                <a:solidFill>
                  <a:schemeClr val="tx1"/>
                </a:solidFill>
              </a:rPr>
              <a:t>X </a:t>
            </a:r>
            <a:r>
              <a:rPr lang="zh-CN" altLang="en-US" sz="1600" dirty="0">
                <a:solidFill>
                  <a:schemeClr val="tx1"/>
                </a:solidFill>
              </a:rPr>
              <a:t>轴坐标，</a:t>
            </a:r>
            <a:r>
              <a:rPr lang="en-US" altLang="zh-CN" sz="1600" dirty="0">
                <a:solidFill>
                  <a:schemeClr val="tx1"/>
                </a:solidFill>
              </a:rPr>
              <a:t>y </a:t>
            </a:r>
            <a:r>
              <a:rPr lang="zh-CN" altLang="en-US" sz="1600" dirty="0">
                <a:solidFill>
                  <a:schemeClr val="tx1"/>
                </a:solidFill>
              </a:rPr>
              <a:t>为</a:t>
            </a:r>
            <a:r>
              <a:rPr lang="en-US" altLang="zh-CN" sz="1600" dirty="0">
                <a:solidFill>
                  <a:schemeClr val="tx1"/>
                </a:solidFill>
              </a:rPr>
              <a:t>Y </a:t>
            </a:r>
            <a:r>
              <a:rPr lang="zh-CN" altLang="en-US" sz="1600" dirty="0">
                <a:solidFill>
                  <a:schemeClr val="tx1"/>
                </a:solidFill>
              </a:rPr>
              <a:t>轴坐标。</a:t>
            </a:r>
            <a:r>
              <a:rPr lang="en-US" altLang="zh-CN" sz="1600" dirty="0">
                <a:solidFill>
                  <a:schemeClr val="tx1"/>
                </a:solidFill>
              </a:rPr>
              <a:t>moveTo()</a:t>
            </a:r>
            <a:r>
              <a:rPr lang="zh-CN" altLang="en-US" sz="1600" dirty="0">
                <a:solidFill>
                  <a:schemeClr val="tx1"/>
                </a:solidFill>
              </a:rPr>
              <a:t>表示设置线段的起点；</a:t>
            </a:r>
            <a:r>
              <a:rPr lang="en-US" altLang="zh-CN" sz="1600" dirty="0">
                <a:solidFill>
                  <a:schemeClr val="tx1"/>
                </a:solidFill>
              </a:rPr>
              <a:t>lineTo()</a:t>
            </a:r>
            <a:r>
              <a:rPr lang="zh-CN" altLang="en-US" sz="1600" dirty="0">
                <a:solidFill>
                  <a:schemeClr val="tx1"/>
                </a:solidFill>
              </a:rPr>
              <a:t>表示设置线段的终点。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89090" y="5852160"/>
          <a:ext cx="11239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r:id="rId3" imgW="1123950" imgH="542925" progId="Package">
                  <p:embed/>
                </p:oleObj>
              </mc:Choice>
              <mc:Fallback>
                <p:oleObj r:id="rId3" imgW="1123950" imgH="542925" progId="Package">
                  <p:embed/>
                  <p:pic>
                    <p:nvPicPr>
                      <p:cNvPr id="0" name="图片 6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9090" y="5852160"/>
                        <a:ext cx="11239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Canvas </a:t>
            </a:r>
            <a:r>
              <a:rPr lang="zh-CN" altLang="en-US" dirty="0"/>
              <a:t>标记绘制直线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285" y="1316355"/>
            <a:ext cx="8016240" cy="36576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&lt;canvas id="</a:t>
            </a:r>
            <a:r>
              <a:rPr lang="en-US" altLang="zh-CN" sz="1400" dirty="0" err="1"/>
              <a:t>oneCanvas</a:t>
            </a:r>
            <a:r>
              <a:rPr lang="en-US" altLang="zh-CN" sz="1400" dirty="0"/>
              <a:t>" width="400" height="200" style="background:#F0F0F0;"&gt;&lt;/canvas&gt;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&lt;script type="text/</a:t>
            </a:r>
            <a:r>
              <a:rPr lang="en-US" altLang="zh-CN" sz="1400" dirty="0" err="1"/>
              <a:t>javascript</a:t>
            </a:r>
            <a:r>
              <a:rPr lang="en-US" altLang="zh-CN" sz="1400" dirty="0"/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var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myCanvas</a:t>
            </a:r>
            <a:r>
              <a:rPr lang="en-US" altLang="zh-CN" sz="1400" dirty="0"/>
              <a:t>=</a:t>
            </a:r>
            <a:r>
              <a:rPr lang="en-US" altLang="zh-CN" sz="1400" dirty="0" err="1"/>
              <a:t>document.getElementById</a:t>
            </a:r>
            <a:r>
              <a:rPr lang="en-US" altLang="zh-CN" sz="1400" dirty="0"/>
              <a:t>(“</a:t>
            </a:r>
            <a:r>
              <a:rPr lang="en-US" altLang="zh-CN" sz="1400" dirty="0" err="1"/>
              <a:t>oneCanvas</a:t>
            </a:r>
            <a:r>
              <a:rPr lang="en-US" altLang="zh-CN" sz="1400" dirty="0"/>
              <a:t>”);</a:t>
            </a:r>
            <a:endParaRPr lang="zh-CN" altLang="en-US" sz="1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var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conText</a:t>
            </a:r>
            <a:r>
              <a:rPr lang="en-US" altLang="zh-CN" sz="1400" dirty="0"/>
              <a:t>=</a:t>
            </a:r>
            <a:r>
              <a:rPr lang="en-US" altLang="zh-CN" sz="1400" dirty="0" err="1"/>
              <a:t>myCanvas.getContext</a:t>
            </a:r>
            <a:r>
              <a:rPr lang="en-US" altLang="zh-CN" sz="1400" dirty="0"/>
              <a:t>(“2d”);  //</a:t>
            </a:r>
            <a:r>
              <a:rPr lang="zh-CN" altLang="en-US" sz="1400" dirty="0"/>
              <a:t>获取绘图环境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conText.strokeStyle</a:t>
            </a:r>
            <a:r>
              <a:rPr lang="en-US" altLang="zh-CN" sz="1400" dirty="0"/>
              <a:t> = "</a:t>
            </a:r>
            <a:r>
              <a:rPr lang="en-US" altLang="zh-CN" sz="1400" dirty="0" err="1"/>
              <a:t>rgb</a:t>
            </a:r>
            <a:r>
              <a:rPr lang="en-US" altLang="zh-CN" sz="1400" dirty="0"/>
              <a:t>(250,0,0)";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conText.fillStyle</a:t>
            </a:r>
            <a:r>
              <a:rPr lang="en-US" altLang="zh-CN" sz="1400" dirty="0"/>
              <a:t> = "</a:t>
            </a:r>
            <a:r>
              <a:rPr lang="en-US" altLang="zh-CN" sz="1400" dirty="0" err="1"/>
              <a:t>rgb</a:t>
            </a:r>
            <a:r>
              <a:rPr lang="en-US" altLang="zh-CN" sz="1400" dirty="0"/>
              <a:t>(250,0,0)"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conText.moveTo</a:t>
            </a:r>
            <a:r>
              <a:rPr lang="en-US" altLang="zh-CN" sz="1400" dirty="0"/>
              <a:t>(10,10);//</a:t>
            </a:r>
            <a:r>
              <a:rPr lang="zh-CN" altLang="en-US" sz="1400" dirty="0"/>
              <a:t>第</a:t>
            </a:r>
            <a:r>
              <a:rPr lang="en-US" altLang="zh-CN" sz="1400" dirty="0"/>
              <a:t>1</a:t>
            </a:r>
            <a:r>
              <a:rPr lang="zh-CN" altLang="en-US" sz="1400" dirty="0"/>
              <a:t>条线起点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conText.lineTo</a:t>
            </a:r>
            <a:r>
              <a:rPr lang="en-US" altLang="zh-CN" sz="1400" dirty="0"/>
              <a:t>(10,150); //</a:t>
            </a:r>
            <a:r>
              <a:rPr lang="zh-CN" altLang="en-US" sz="1400" dirty="0"/>
              <a:t>第</a:t>
            </a:r>
            <a:r>
              <a:rPr lang="en-US" altLang="zh-CN" sz="1400" dirty="0"/>
              <a:t>1</a:t>
            </a:r>
            <a:r>
              <a:rPr lang="zh-CN" altLang="en-US" sz="1400" dirty="0"/>
              <a:t>条线终点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conText.moveTo</a:t>
            </a:r>
            <a:r>
              <a:rPr lang="en-US" altLang="zh-CN" sz="1400" dirty="0"/>
              <a:t>(10,150);//</a:t>
            </a:r>
            <a:r>
              <a:rPr lang="zh-CN" altLang="en-US" sz="1400" dirty="0"/>
              <a:t>第</a:t>
            </a:r>
            <a:r>
              <a:rPr lang="en-US" altLang="zh-CN" sz="1400" dirty="0"/>
              <a:t>2</a:t>
            </a:r>
            <a:r>
              <a:rPr lang="zh-CN" altLang="en-US" sz="1400" dirty="0"/>
              <a:t>条线起点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conText.lineTo</a:t>
            </a:r>
            <a:r>
              <a:rPr lang="en-US" altLang="zh-CN" sz="1400" dirty="0"/>
              <a:t>(100,180); //</a:t>
            </a:r>
            <a:r>
              <a:rPr lang="zh-CN" altLang="en-US" sz="1400" dirty="0"/>
              <a:t>第</a:t>
            </a:r>
            <a:r>
              <a:rPr lang="en-US" altLang="zh-CN" sz="1400" dirty="0"/>
              <a:t>2</a:t>
            </a:r>
            <a:r>
              <a:rPr lang="zh-CN" altLang="en-US" sz="1400" dirty="0"/>
              <a:t>条线终点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conText.lineTo</a:t>
            </a:r>
            <a:r>
              <a:rPr lang="en-US" altLang="zh-CN" sz="1400" dirty="0"/>
              <a:t>(200,10); //</a:t>
            </a:r>
            <a:r>
              <a:rPr lang="zh-CN" altLang="en-US" sz="1400" dirty="0"/>
              <a:t>第</a:t>
            </a:r>
            <a:r>
              <a:rPr lang="en-US" altLang="zh-CN" sz="1400" dirty="0"/>
              <a:t>3</a:t>
            </a:r>
            <a:r>
              <a:rPr lang="zh-CN" altLang="en-US" sz="1400" dirty="0"/>
              <a:t>条以第</a:t>
            </a:r>
            <a:r>
              <a:rPr lang="en-US" altLang="zh-CN" sz="1400" dirty="0"/>
              <a:t>2</a:t>
            </a:r>
            <a:r>
              <a:rPr lang="zh-CN" altLang="en-US" sz="1400" dirty="0"/>
              <a:t>条的终点为起点</a:t>
            </a:r>
            <a:r>
              <a:rPr lang="en-US" altLang="zh-CN" sz="1400" dirty="0"/>
              <a:t>-</a:t>
            </a:r>
            <a:r>
              <a:rPr lang="zh-CN" altLang="en-US" sz="1400" dirty="0"/>
              <a:t>终点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conText.lineTo</a:t>
            </a:r>
            <a:r>
              <a:rPr lang="en-US" altLang="zh-CN" sz="1400" dirty="0"/>
              <a:t>(400,100); //</a:t>
            </a:r>
            <a:r>
              <a:rPr lang="zh-CN" altLang="en-US" sz="1400" dirty="0"/>
              <a:t>第</a:t>
            </a:r>
            <a:r>
              <a:rPr lang="en-US" altLang="zh-CN" sz="1400" dirty="0"/>
              <a:t>4</a:t>
            </a:r>
            <a:r>
              <a:rPr lang="zh-CN" altLang="en-US" sz="1400" dirty="0"/>
              <a:t>条以第</a:t>
            </a:r>
            <a:r>
              <a:rPr lang="en-US" altLang="zh-CN" sz="1400" dirty="0"/>
              <a:t>3</a:t>
            </a:r>
            <a:r>
              <a:rPr lang="zh-CN" altLang="en-US" sz="1400" dirty="0"/>
              <a:t>条的终点为起点</a:t>
            </a:r>
            <a:r>
              <a:rPr lang="en-US" altLang="zh-CN" sz="1400" dirty="0"/>
              <a:t>-</a:t>
            </a:r>
            <a:r>
              <a:rPr lang="zh-CN" altLang="en-US" sz="1400" dirty="0"/>
              <a:t>终点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conText.lineWidth</a:t>
            </a:r>
            <a:r>
              <a:rPr lang="en-US" altLang="zh-CN" sz="1400" dirty="0"/>
              <a:t>=8;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conText.stroke</a:t>
            </a:r>
            <a:r>
              <a:rPr lang="en-US" altLang="zh-CN" sz="1400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&lt;/script&gt;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380" y="4924425"/>
            <a:ext cx="2438400" cy="168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绘制文本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rmAutofit lnSpcReduction="10000"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5" dirty="0">
                <a:solidFill>
                  <a:schemeClr val="tx1"/>
                </a:solidFill>
              </a:rPr>
              <a:t>     利用</a:t>
            </a:r>
            <a:r>
              <a:rPr lang="en-US" altLang="zh-CN" sz="1555" dirty="0">
                <a:solidFill>
                  <a:schemeClr val="tx1"/>
                </a:solidFill>
              </a:rPr>
              <a:t>Canvas </a:t>
            </a:r>
            <a:r>
              <a:rPr lang="zh-CN" altLang="en-US" sz="1555" dirty="0">
                <a:solidFill>
                  <a:schemeClr val="tx1"/>
                </a:solidFill>
              </a:rPr>
              <a:t>除了可以绘制矩形、圆形等，还可以绘制文本。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b="1" dirty="0">
                <a:solidFill>
                  <a:schemeClr val="tx1"/>
                </a:solidFill>
              </a:rPr>
              <a:t>1</a:t>
            </a:r>
            <a:r>
              <a:rPr lang="zh-CN" altLang="en-US" sz="1555" b="1" dirty="0">
                <a:solidFill>
                  <a:schemeClr val="tx1"/>
                </a:solidFill>
              </a:rPr>
              <a:t>．基本语法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     </a:t>
            </a:r>
            <a:r>
              <a:rPr lang="en-US" altLang="zh-CN" sz="1555" dirty="0" err="1">
                <a:solidFill>
                  <a:schemeClr val="tx1"/>
                </a:solidFill>
                <a:highlight>
                  <a:srgbClr val="FFFF00"/>
                </a:highlight>
              </a:rPr>
              <a:t>context.fillText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  <a:highlight>
                  <a:srgbClr val="FFFF00"/>
                </a:highlight>
              </a:rPr>
              <a:t>text,x,y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); //</a:t>
            </a:r>
            <a:r>
              <a:rPr lang="zh-CN" altLang="en-US" sz="1555" dirty="0">
                <a:solidFill>
                  <a:schemeClr val="tx1"/>
                </a:solidFill>
                <a:highlight>
                  <a:srgbClr val="FFFF00"/>
                </a:highlight>
              </a:rPr>
              <a:t>在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canvas</a:t>
            </a:r>
            <a:r>
              <a:rPr lang="zh-CN" altLang="en-US" sz="1555" dirty="0">
                <a:solidFill>
                  <a:schemeClr val="tx1"/>
                </a:solidFill>
                <a:highlight>
                  <a:srgbClr val="FFFF00"/>
                </a:highlight>
              </a:rPr>
              <a:t>上绘制实心的文本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     </a:t>
            </a:r>
            <a:r>
              <a:rPr lang="en-US" altLang="zh-CN" sz="1555" dirty="0" err="1">
                <a:solidFill>
                  <a:schemeClr val="tx1"/>
                </a:solidFill>
                <a:highlight>
                  <a:srgbClr val="FFFF00"/>
                </a:highlight>
              </a:rPr>
              <a:t>context.strokeText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  <a:highlight>
                  <a:srgbClr val="FFFF00"/>
                </a:highlight>
              </a:rPr>
              <a:t>text,x,y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); //</a:t>
            </a:r>
            <a:r>
              <a:rPr lang="zh-CN" altLang="en-US" sz="1555" dirty="0">
                <a:solidFill>
                  <a:schemeClr val="tx1"/>
                </a:solidFill>
                <a:highlight>
                  <a:srgbClr val="FFFF00"/>
                </a:highlight>
              </a:rPr>
              <a:t>在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canvas</a:t>
            </a:r>
            <a:r>
              <a:rPr lang="zh-CN" altLang="en-US" sz="1555" dirty="0">
                <a:solidFill>
                  <a:schemeClr val="tx1"/>
                </a:solidFill>
                <a:highlight>
                  <a:srgbClr val="FFFF00"/>
                </a:highlight>
              </a:rPr>
              <a:t>上绘制空心的文本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 </a:t>
            </a:r>
            <a:r>
              <a:rPr lang="en-US" altLang="zh-CN" sz="1555" dirty="0" err="1">
                <a:solidFill>
                  <a:schemeClr val="tx1"/>
                </a:solidFill>
              </a:rPr>
              <a:t>context.font</a:t>
            </a:r>
            <a:r>
              <a:rPr lang="en-US" altLang="zh-CN" sz="1555" dirty="0">
                <a:solidFill>
                  <a:schemeClr val="tx1"/>
                </a:solidFill>
              </a:rPr>
              <a:t>="font-style font-weight font-variant font-size/line-height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 font-family“;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 </a:t>
            </a:r>
            <a:r>
              <a:rPr lang="en-US" altLang="zh-CN" sz="1555" dirty="0" err="1">
                <a:solidFill>
                  <a:schemeClr val="tx1"/>
                </a:solidFill>
              </a:rPr>
              <a:t>context.textAlign</a:t>
            </a:r>
            <a:r>
              <a:rPr lang="en-US" altLang="zh-CN" sz="1555" dirty="0">
                <a:solidFill>
                  <a:schemeClr val="tx1"/>
                </a:solidFill>
              </a:rPr>
              <a:t>="</a:t>
            </a:r>
            <a:r>
              <a:rPr lang="en-US" altLang="zh-CN" sz="1555" dirty="0" err="1">
                <a:solidFill>
                  <a:schemeClr val="tx1"/>
                </a:solidFill>
              </a:rPr>
              <a:t>start|end|left|right|center</a:t>
            </a:r>
            <a:r>
              <a:rPr lang="en-US" altLang="zh-CN" sz="1555" dirty="0">
                <a:solidFill>
                  <a:schemeClr val="tx1"/>
                </a:solidFill>
              </a:rPr>
              <a:t>“; //</a:t>
            </a:r>
            <a:r>
              <a:rPr lang="zh-CN" altLang="en-US" sz="1555" dirty="0">
                <a:solidFill>
                  <a:schemeClr val="tx1"/>
                </a:solidFill>
              </a:rPr>
              <a:t>水平对齐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 </a:t>
            </a:r>
            <a:r>
              <a:rPr lang="en-US" altLang="zh-CN" sz="1555" dirty="0" err="1">
                <a:solidFill>
                  <a:schemeClr val="tx1"/>
                </a:solidFill>
              </a:rPr>
              <a:t>ontext.textBaseline</a:t>
            </a:r>
            <a:r>
              <a:rPr lang="en-US" altLang="zh-CN" sz="1555" dirty="0">
                <a:solidFill>
                  <a:schemeClr val="tx1"/>
                </a:solidFill>
              </a:rPr>
              <a:t>="alphabetic|top|hanging|middle|ideographic|bottom";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 //</a:t>
            </a:r>
            <a:r>
              <a:rPr lang="zh-CN" altLang="en-US" sz="1555" dirty="0">
                <a:solidFill>
                  <a:schemeClr val="tx1"/>
                </a:solidFill>
              </a:rPr>
              <a:t>垂直对齐</a:t>
            </a:r>
            <a:endParaRPr lang="en-US" altLang="zh-CN" sz="1555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b="1" dirty="0">
                <a:solidFill>
                  <a:schemeClr val="tx1"/>
                </a:solidFill>
              </a:rPr>
              <a:t>2</a:t>
            </a:r>
            <a:r>
              <a:rPr lang="zh-CN" altLang="en-US" sz="1555" b="1" dirty="0">
                <a:solidFill>
                  <a:schemeClr val="tx1"/>
                </a:solidFill>
              </a:rPr>
              <a:t>．语法说明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</a:t>
            </a:r>
            <a:r>
              <a:rPr lang="en-US" altLang="zh-CN" sz="1555" dirty="0" err="1">
                <a:solidFill>
                  <a:schemeClr val="tx1"/>
                </a:solidFill>
              </a:rPr>
              <a:t>context.fillText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</a:rPr>
              <a:t>text,x,y</a:t>
            </a:r>
            <a:r>
              <a:rPr lang="en-US" altLang="zh-CN" sz="1555" dirty="0">
                <a:solidFill>
                  <a:schemeClr val="tx1"/>
                </a:solidFill>
              </a:rPr>
              <a:t>)</a:t>
            </a:r>
            <a:r>
              <a:rPr lang="zh-CN" altLang="en-US" sz="1555" dirty="0">
                <a:solidFill>
                  <a:schemeClr val="tx1"/>
                </a:solidFill>
              </a:rPr>
              <a:t>：填充文本。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</a:t>
            </a:r>
            <a:r>
              <a:rPr lang="en-US" altLang="zh-CN" sz="1555" dirty="0" err="1">
                <a:solidFill>
                  <a:schemeClr val="tx1"/>
                </a:solidFill>
              </a:rPr>
              <a:t>context.strokeText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</a:rPr>
              <a:t>text,x,y</a:t>
            </a:r>
            <a:r>
              <a:rPr lang="en-US" altLang="zh-CN" sz="1555" dirty="0">
                <a:solidFill>
                  <a:schemeClr val="tx1"/>
                </a:solidFill>
              </a:rPr>
              <a:t>)</a:t>
            </a:r>
            <a:r>
              <a:rPr lang="zh-CN" altLang="en-US" sz="1555" dirty="0">
                <a:solidFill>
                  <a:schemeClr val="tx1"/>
                </a:solidFill>
              </a:rPr>
              <a:t>：绘制文本轮廓。</a:t>
            </a:r>
            <a:r>
              <a:rPr lang="en-US" altLang="zh-CN" sz="1555" dirty="0">
                <a:solidFill>
                  <a:schemeClr val="tx1"/>
                </a:solidFill>
              </a:rPr>
              <a:t>text</a:t>
            </a:r>
            <a:r>
              <a:rPr lang="zh-CN" altLang="en-US" sz="1555" dirty="0">
                <a:solidFill>
                  <a:schemeClr val="tx1"/>
                </a:solidFill>
              </a:rPr>
              <a:t>表示要绘制的文本；</a:t>
            </a:r>
            <a:r>
              <a:rPr lang="en-US" altLang="zh-CN" sz="1555" dirty="0">
                <a:solidFill>
                  <a:schemeClr val="tx1"/>
                </a:solidFill>
              </a:rPr>
              <a:t>x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5" dirty="0">
                <a:solidFill>
                  <a:schemeClr val="tx1"/>
                </a:solidFill>
              </a:rPr>
              <a:t>表示文本起点的</a:t>
            </a:r>
            <a:r>
              <a:rPr lang="en-US" altLang="zh-CN" sz="1555" dirty="0">
                <a:solidFill>
                  <a:schemeClr val="tx1"/>
                </a:solidFill>
              </a:rPr>
              <a:t>X </a:t>
            </a:r>
            <a:r>
              <a:rPr lang="zh-CN" altLang="en-US" sz="1555" dirty="0">
                <a:solidFill>
                  <a:schemeClr val="tx1"/>
                </a:solidFill>
              </a:rPr>
              <a:t>坐标轴；</a:t>
            </a:r>
            <a:r>
              <a:rPr lang="en-US" altLang="zh-CN" sz="1555" dirty="0">
                <a:solidFill>
                  <a:schemeClr val="tx1"/>
                </a:solidFill>
              </a:rPr>
              <a:t>y </a:t>
            </a:r>
            <a:r>
              <a:rPr lang="zh-CN" altLang="en-US" sz="1555" dirty="0">
                <a:solidFill>
                  <a:schemeClr val="tx1"/>
                </a:solidFill>
              </a:rPr>
              <a:t>表示文本起点的</a:t>
            </a:r>
            <a:r>
              <a:rPr lang="en-US" altLang="zh-CN" sz="1555" dirty="0">
                <a:solidFill>
                  <a:schemeClr val="tx1"/>
                </a:solidFill>
              </a:rPr>
              <a:t>Y </a:t>
            </a:r>
            <a:r>
              <a:rPr lang="zh-CN" altLang="en-US" sz="1555" dirty="0">
                <a:solidFill>
                  <a:schemeClr val="tx1"/>
                </a:solidFill>
              </a:rPr>
              <a:t>坐标轴。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绘制文本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3230" y="1275715"/>
            <a:ext cx="8509000" cy="488251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>
                <a:solidFill>
                  <a:schemeClr val="tx1"/>
                </a:solidFill>
              </a:rPr>
              <a:t>context.font</a:t>
            </a:r>
            <a:r>
              <a:rPr lang="zh-CN" altLang="en-US" sz="1600" dirty="0">
                <a:solidFill>
                  <a:schemeClr val="tx1"/>
                </a:solidFill>
              </a:rPr>
              <a:t>：设置字体样式。设置方法与</a:t>
            </a:r>
            <a:r>
              <a:rPr lang="en-US" altLang="zh-CN" sz="1600" dirty="0">
                <a:solidFill>
                  <a:schemeClr val="tx1"/>
                </a:solidFill>
              </a:rPr>
              <a:t>CSS </a:t>
            </a:r>
            <a:r>
              <a:rPr lang="zh-CN" altLang="en-US" sz="1600" dirty="0">
                <a:solidFill>
                  <a:schemeClr val="tx1"/>
                </a:solidFill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</a:rPr>
              <a:t>font </a:t>
            </a:r>
            <a:r>
              <a:rPr lang="zh-CN" altLang="en-US" sz="1600" dirty="0">
                <a:solidFill>
                  <a:schemeClr val="tx1"/>
                </a:solidFill>
              </a:rPr>
              <a:t>属性方法相同。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 err="1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>
                <a:solidFill>
                  <a:schemeClr val="tx1"/>
                </a:solidFill>
              </a:rPr>
              <a:t>context.textAlign</a:t>
            </a:r>
            <a:r>
              <a:rPr lang="zh-CN" altLang="en-US" sz="1600" dirty="0">
                <a:solidFill>
                  <a:schemeClr val="tx1"/>
                </a:solidFill>
              </a:rPr>
              <a:t>：设置或返回文本内容的当前对齐方式。其值可设置为</a:t>
            </a:r>
            <a:r>
              <a:rPr lang="en-US" altLang="zh-CN" sz="1600" dirty="0">
                <a:solidFill>
                  <a:schemeClr val="tx1"/>
                </a:solidFill>
              </a:rPr>
              <a:t>start</a:t>
            </a:r>
            <a:r>
              <a:rPr lang="zh-CN" altLang="en-US" sz="1600" dirty="0">
                <a:solidFill>
                  <a:schemeClr val="tx1"/>
                </a:solidFill>
              </a:rPr>
              <a:t>（文本在指定的位置开始）、</a:t>
            </a:r>
            <a:r>
              <a:rPr lang="en-US" altLang="zh-CN" sz="1600" dirty="0">
                <a:solidFill>
                  <a:schemeClr val="tx1"/>
                </a:solidFill>
              </a:rPr>
              <a:t>end</a:t>
            </a:r>
            <a:r>
              <a:rPr lang="zh-CN" altLang="en-US" sz="1600" dirty="0">
                <a:solidFill>
                  <a:schemeClr val="tx1"/>
                </a:solidFill>
              </a:rPr>
              <a:t>（文本在指定的位置结束）、</a:t>
            </a:r>
            <a:r>
              <a:rPr lang="en-US" altLang="zh-CN" sz="1600" dirty="0">
                <a:solidFill>
                  <a:schemeClr val="tx1"/>
                </a:solidFill>
              </a:rPr>
              <a:t>left</a:t>
            </a:r>
            <a:r>
              <a:rPr lang="zh-CN" altLang="en-US" sz="1600" dirty="0">
                <a:solidFill>
                  <a:schemeClr val="tx1"/>
                </a:solidFill>
              </a:rPr>
              <a:t>（文本左对齐）、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center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（文本的中心被放置在指定的位置）</a:t>
            </a:r>
            <a:r>
              <a:rPr lang="zh-CN" altLang="en-US" sz="1600" dirty="0">
                <a:solidFill>
                  <a:schemeClr val="tx1"/>
                </a:solidFill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</a:rPr>
              <a:t>right</a:t>
            </a:r>
            <a:r>
              <a:rPr lang="zh-CN" altLang="en-US" sz="1600" dirty="0">
                <a:solidFill>
                  <a:schemeClr val="tx1"/>
                </a:solidFill>
              </a:rPr>
              <a:t>（文本右对齐）。</a:t>
            </a:r>
            <a:endParaRPr lang="zh-CN" altLang="en-US" sz="1000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context.textBaseline</a:t>
            </a:r>
            <a:r>
              <a:rPr lang="zh-CN" altLang="en-US" sz="1600" dirty="0">
                <a:solidFill>
                  <a:schemeClr val="tx1"/>
                </a:solidFill>
              </a:rPr>
              <a:t>：设置或返回在绘制文本时使用的当前文本基线（垂直对齐方式）。其值可设置为</a:t>
            </a:r>
            <a:r>
              <a:rPr lang="en-US" altLang="zh-CN" sz="1600" dirty="0">
                <a:solidFill>
                  <a:schemeClr val="tx1"/>
                </a:solidFill>
              </a:rPr>
              <a:t>top</a:t>
            </a:r>
            <a:r>
              <a:rPr lang="zh-CN" altLang="en-US" sz="1600" dirty="0">
                <a:solidFill>
                  <a:schemeClr val="tx1"/>
                </a:solidFill>
              </a:rPr>
              <a:t>（顶部）、</a:t>
            </a:r>
            <a:r>
              <a:rPr lang="en-US" altLang="zh-CN" sz="1600" dirty="0">
                <a:solidFill>
                  <a:schemeClr val="tx1"/>
                </a:solidFill>
              </a:rPr>
              <a:t>hanging</a:t>
            </a:r>
            <a:r>
              <a:rPr lang="zh-CN" altLang="en-US" sz="1600" dirty="0">
                <a:solidFill>
                  <a:schemeClr val="tx1"/>
                </a:solidFill>
              </a:rPr>
              <a:t>（悬挂，比</a:t>
            </a:r>
            <a:r>
              <a:rPr lang="en-US" altLang="zh-CN" sz="1600" dirty="0">
                <a:solidFill>
                  <a:schemeClr val="tx1"/>
                </a:solidFill>
              </a:rPr>
              <a:t>top </a:t>
            </a:r>
            <a:r>
              <a:rPr lang="zh-CN" altLang="en-US" sz="1600" dirty="0">
                <a:solidFill>
                  <a:schemeClr val="tx1"/>
                </a:solidFill>
              </a:rPr>
              <a:t>略高些）、</a:t>
            </a:r>
            <a:r>
              <a:rPr lang="en-US" altLang="zh-CN" sz="1600" dirty="0">
                <a:solidFill>
                  <a:schemeClr val="tx1"/>
                </a:solidFill>
              </a:rPr>
              <a:t>middle</a:t>
            </a:r>
            <a:r>
              <a:rPr lang="zh-CN" altLang="en-US" sz="1600" dirty="0">
                <a:solidFill>
                  <a:schemeClr val="tx1"/>
                </a:solidFill>
              </a:rPr>
              <a:t>（中部）、</a:t>
            </a:r>
            <a:r>
              <a:rPr lang="en-US" altLang="zh-CN" sz="1600" dirty="0">
                <a:solidFill>
                  <a:schemeClr val="tx1"/>
                </a:solidFill>
              </a:rPr>
              <a:t>alphabetic</a:t>
            </a:r>
            <a:r>
              <a:rPr lang="zh-CN" altLang="en-US" sz="1600" dirty="0">
                <a:solidFill>
                  <a:schemeClr val="tx1"/>
                </a:solidFill>
              </a:rPr>
              <a:t>（默认，普通的字母基线）、</a:t>
            </a:r>
            <a:r>
              <a:rPr lang="en-US" altLang="zh-CN" sz="1600" dirty="0">
                <a:solidFill>
                  <a:schemeClr val="tx1"/>
                </a:solidFill>
              </a:rPr>
              <a:t>ideographic</a:t>
            </a:r>
            <a:r>
              <a:rPr lang="zh-CN" altLang="en-US" sz="1600" dirty="0">
                <a:solidFill>
                  <a:schemeClr val="tx1"/>
                </a:solidFill>
              </a:rPr>
              <a:t>（表意基线，与</a:t>
            </a:r>
            <a:r>
              <a:rPr lang="en-US" altLang="zh-CN" sz="1600" dirty="0">
                <a:solidFill>
                  <a:schemeClr val="tx1"/>
                </a:solidFill>
              </a:rPr>
              <a:t>bottom </a:t>
            </a:r>
            <a:r>
              <a:rPr lang="zh-CN" altLang="en-US" sz="1600" dirty="0">
                <a:solidFill>
                  <a:schemeClr val="tx1"/>
                </a:solidFill>
              </a:rPr>
              <a:t>同效果）、</a:t>
            </a:r>
            <a:r>
              <a:rPr lang="en-US" altLang="zh-CN" sz="1600" dirty="0">
                <a:solidFill>
                  <a:schemeClr val="tx1"/>
                </a:solidFill>
              </a:rPr>
              <a:t>bottom</a:t>
            </a:r>
            <a:r>
              <a:rPr lang="zh-CN" altLang="en-US" sz="1600" dirty="0">
                <a:solidFill>
                  <a:schemeClr val="tx1"/>
                </a:solidFill>
              </a:rPr>
              <a:t>（底部）。</a:t>
            </a:r>
            <a:r>
              <a:rPr lang="en-US" altLang="zh-CN" sz="1600" dirty="0" err="1">
                <a:solidFill>
                  <a:schemeClr val="tx1"/>
                </a:solidFill>
              </a:rPr>
              <a:t>textBaseline</a:t>
            </a:r>
            <a:r>
              <a:rPr lang="zh-CN" altLang="en-US" sz="1600" dirty="0">
                <a:solidFill>
                  <a:schemeClr val="tx1"/>
                </a:solidFill>
              </a:rPr>
              <a:t>属性在不同的浏览器上效果不同，特别是使用</a:t>
            </a:r>
            <a:r>
              <a:rPr lang="en-US" altLang="zh-CN" sz="1600" dirty="0">
                <a:solidFill>
                  <a:schemeClr val="tx1"/>
                </a:solidFill>
              </a:rPr>
              <a:t>“hanging”</a:t>
            </a:r>
            <a:r>
              <a:rPr lang="zh-CN" altLang="en-US" sz="1600" dirty="0">
                <a:solidFill>
                  <a:schemeClr val="tx1"/>
                </a:solidFill>
              </a:rPr>
              <a:t>或</a:t>
            </a:r>
            <a:r>
              <a:rPr lang="en-US" altLang="zh-CN" sz="1600" dirty="0">
                <a:solidFill>
                  <a:schemeClr val="tx1"/>
                </a:solidFill>
              </a:rPr>
              <a:t>“ideographic”</a:t>
            </a:r>
            <a:r>
              <a:rPr lang="zh-CN" altLang="en-US" sz="1600" dirty="0">
                <a:solidFill>
                  <a:schemeClr val="tx1"/>
                </a:solidFill>
              </a:rPr>
              <a:t>时，在不同浏览器中效果不同。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context.textAlign</a:t>
            </a:r>
            <a:r>
              <a:rPr lang="en-US" altLang="zh-CN" sz="1600" dirty="0">
                <a:solidFill>
                  <a:schemeClr val="tx1"/>
                </a:solidFill>
              </a:rPr>
              <a:t>="start"; //</a:t>
            </a:r>
            <a:r>
              <a:rPr lang="zh-CN" altLang="en-US" sz="1600" dirty="0">
                <a:solidFill>
                  <a:schemeClr val="tx1"/>
                </a:solidFill>
              </a:rPr>
              <a:t>设置提示信息水平对齐方法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context.font</a:t>
            </a:r>
            <a:r>
              <a:rPr lang="en-US" altLang="zh-CN" sz="1600" dirty="0">
                <a:solidFill>
                  <a:schemeClr val="tx1"/>
                </a:solidFill>
              </a:rPr>
              <a:t>="24px </a:t>
            </a:r>
            <a:r>
              <a:rPr lang="zh-CN" altLang="en-US" sz="1600" dirty="0">
                <a:solidFill>
                  <a:schemeClr val="tx1"/>
                </a:solidFill>
              </a:rPr>
              <a:t>黑体</a:t>
            </a:r>
            <a:r>
              <a:rPr lang="en-US" altLang="zh-CN" sz="1600" dirty="0">
                <a:solidFill>
                  <a:schemeClr val="tx1"/>
                </a:solidFill>
              </a:rPr>
              <a:t>"; //</a:t>
            </a:r>
            <a:r>
              <a:rPr lang="zh-CN" altLang="en-US" sz="1600" dirty="0">
                <a:solidFill>
                  <a:schemeClr val="tx1"/>
                </a:solidFill>
              </a:rPr>
              <a:t>设置提示信息字体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context.fillText</a:t>
            </a:r>
            <a:r>
              <a:rPr lang="en-US" altLang="zh-CN" sz="1600" dirty="0">
                <a:solidFill>
                  <a:schemeClr val="tx1"/>
                </a:solidFill>
              </a:rPr>
              <a:t>("</a:t>
            </a:r>
            <a:r>
              <a:rPr lang="zh-CN" altLang="en-US" sz="1600" dirty="0">
                <a:solidFill>
                  <a:schemeClr val="tx1"/>
                </a:solidFill>
              </a:rPr>
              <a:t>文本基线位置：</a:t>
            </a:r>
            <a:r>
              <a:rPr lang="en-US" altLang="zh-CN" sz="1600" dirty="0">
                <a:solidFill>
                  <a:schemeClr val="tx1"/>
                </a:solidFill>
              </a:rPr>
              <a:t>",0,220); //</a:t>
            </a:r>
            <a:r>
              <a:rPr lang="zh-CN" altLang="en-US" sz="1600" dirty="0">
                <a:solidFill>
                  <a:schemeClr val="tx1"/>
                </a:solidFill>
              </a:rPr>
              <a:t>设置提示信息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2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Canvas</a:t>
            </a:r>
            <a:r>
              <a:rPr lang="zh-CN" alt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渐变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7500" y="1209040"/>
            <a:ext cx="8509000" cy="5281930"/>
          </a:xfrm>
        </p:spPr>
        <p:txBody>
          <a:bodyPr>
            <a:normAutofit fontScale="90000"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5" dirty="0"/>
              <a:t>       渐变可以填充在矩形、圆形、线条、文本等。各种形状可以自己定义不同的颜色。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b="1" dirty="0"/>
              <a:t>1</a:t>
            </a:r>
            <a:r>
              <a:rPr lang="zh-CN" altLang="en-US" sz="1555" b="1" dirty="0"/>
              <a:t>．基本语法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</a:t>
            </a:r>
            <a:r>
              <a:rPr lang="en-US" altLang="zh-CN" sz="1555" dirty="0" err="1">
                <a:solidFill>
                  <a:schemeClr val="tx1"/>
                </a:solidFill>
              </a:rPr>
              <a:t>var</a:t>
            </a:r>
            <a:r>
              <a:rPr lang="en-US" altLang="zh-CN" sz="1555" dirty="0">
                <a:solidFill>
                  <a:schemeClr val="tx1"/>
                </a:solidFill>
              </a:rPr>
              <a:t> grad=context.createLinearGradient(xstart,ystart,xend,yend);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//</a:t>
            </a:r>
            <a:r>
              <a:rPr lang="zh-CN" altLang="en-US" sz="1555" dirty="0">
                <a:solidFill>
                  <a:schemeClr val="tx1"/>
                </a:solidFill>
              </a:rPr>
              <a:t>创建线条渐变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</a:t>
            </a:r>
            <a:r>
              <a:rPr lang="en-US" altLang="zh-CN" sz="1555" dirty="0" err="1">
                <a:solidFill>
                  <a:schemeClr val="tx1"/>
                </a:solidFill>
              </a:rPr>
              <a:t>grad.addColorStop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</a:rPr>
              <a:t>offset,color</a:t>
            </a:r>
            <a:r>
              <a:rPr lang="en-US" altLang="zh-CN" sz="1555" dirty="0">
                <a:solidFill>
                  <a:schemeClr val="tx1"/>
                </a:solidFill>
              </a:rPr>
              <a:t>); //</a:t>
            </a:r>
            <a:r>
              <a:rPr lang="zh-CN" altLang="en-US" sz="1555" dirty="0">
                <a:solidFill>
                  <a:schemeClr val="tx1"/>
                </a:solidFill>
              </a:rPr>
              <a:t>指定颜色停止</a:t>
            </a:r>
            <a:r>
              <a:rPr lang="en-US" altLang="zh-CN" sz="1555" dirty="0">
                <a:solidFill>
                  <a:schemeClr val="tx1"/>
                </a:solidFill>
              </a:rPr>
              <a:t>,offset</a:t>
            </a:r>
            <a:r>
              <a:rPr lang="zh-CN" altLang="en-US" sz="1555" dirty="0">
                <a:solidFill>
                  <a:schemeClr val="tx1"/>
                </a:solidFill>
              </a:rPr>
              <a:t>可以是</a:t>
            </a:r>
            <a:r>
              <a:rPr lang="en-US" altLang="zh-CN" sz="1555" dirty="0">
                <a:solidFill>
                  <a:schemeClr val="tx1"/>
                </a:solidFill>
              </a:rPr>
              <a:t>0</a:t>
            </a:r>
            <a:r>
              <a:rPr lang="zh-CN" altLang="en-US" sz="1555" dirty="0">
                <a:solidFill>
                  <a:schemeClr val="tx1"/>
                </a:solidFill>
              </a:rPr>
              <a:t>至</a:t>
            </a:r>
            <a:r>
              <a:rPr lang="en-US" altLang="zh-CN" sz="1555" dirty="0">
                <a:solidFill>
                  <a:schemeClr val="tx1"/>
                </a:solidFill>
              </a:rPr>
              <a:t>1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</a:t>
            </a:r>
            <a:r>
              <a:rPr lang="en-US" altLang="zh-CN" sz="1555" dirty="0" err="1">
                <a:solidFill>
                  <a:schemeClr val="tx1"/>
                </a:solidFill>
              </a:rPr>
              <a:t>var</a:t>
            </a:r>
            <a:r>
              <a:rPr lang="en-US" altLang="zh-CN" sz="1555" dirty="0">
                <a:solidFill>
                  <a:schemeClr val="tx1"/>
                </a:solidFill>
              </a:rPr>
              <a:t> grad=context.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createRadialGradien</a:t>
            </a:r>
            <a:r>
              <a:rPr lang="en-US" altLang="zh-CN" sz="1555" dirty="0">
                <a:solidFill>
                  <a:schemeClr val="tx1"/>
                </a:solidFill>
              </a:rPr>
              <a:t>t(xstart,ystart,radiusstart,xend,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 err="1">
                <a:solidFill>
                  <a:schemeClr val="tx1"/>
                </a:solidFill>
              </a:rPr>
              <a:t>yend,radiusend</a:t>
            </a:r>
            <a:r>
              <a:rPr lang="en-US" altLang="zh-CN" sz="1555" dirty="0">
                <a:solidFill>
                  <a:schemeClr val="tx1"/>
                </a:solidFill>
              </a:rPr>
              <a:t>);//</a:t>
            </a:r>
            <a:r>
              <a:rPr lang="zh-CN" altLang="en-US" sz="1555" dirty="0">
                <a:solidFill>
                  <a:schemeClr val="tx1"/>
                </a:solidFill>
              </a:rPr>
              <a:t>圆径向渐变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</a:t>
            </a:r>
            <a:r>
              <a:rPr lang="en-US" altLang="zh-CN" sz="1555" dirty="0" err="1">
                <a:solidFill>
                  <a:schemeClr val="tx1"/>
                </a:solidFill>
              </a:rPr>
              <a:t>context.fillStyle</a:t>
            </a:r>
            <a:r>
              <a:rPr lang="en-US" altLang="zh-CN" sz="1555" dirty="0">
                <a:solidFill>
                  <a:schemeClr val="tx1"/>
                </a:solidFill>
              </a:rPr>
              <a:t>=grad;/</a:t>
            </a:r>
            <a:r>
              <a:rPr lang="en-US" altLang="zh-CN" sz="1555" dirty="0">
                <a:solidFill>
                  <a:schemeClr val="tx1"/>
                </a:solidFill>
                <a:highlight>
                  <a:srgbClr val="FFFF00"/>
                </a:highlight>
              </a:rPr>
              <a:t>/</a:t>
            </a:r>
            <a:r>
              <a:rPr lang="zh-CN" altLang="en-US" sz="1555" dirty="0">
                <a:solidFill>
                  <a:schemeClr val="tx1"/>
                </a:solidFill>
                <a:highlight>
                  <a:srgbClr val="FFFF00"/>
                </a:highlight>
              </a:rPr>
              <a:t>渐变对象变量</a:t>
            </a:r>
            <a:endParaRPr lang="en-US" altLang="zh-CN" sz="1555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</a:t>
            </a:r>
            <a:r>
              <a:rPr lang="en-US" altLang="zh-CN" sz="1555" dirty="0" err="1">
                <a:solidFill>
                  <a:schemeClr val="tx1"/>
                </a:solidFill>
              </a:rPr>
              <a:t>context.fillRect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</a:rPr>
              <a:t>x,y,width,height</a:t>
            </a:r>
            <a:r>
              <a:rPr lang="en-US" altLang="zh-CN" sz="1555" dirty="0">
                <a:solidFill>
                  <a:schemeClr val="tx1"/>
                </a:solidFill>
              </a:rPr>
              <a:t>)</a:t>
            </a:r>
            <a:r>
              <a:rPr lang="zh-CN" altLang="en-US" sz="1555" dirty="0">
                <a:solidFill>
                  <a:schemeClr val="tx1"/>
                </a:solidFill>
              </a:rPr>
              <a:t>；</a:t>
            </a:r>
            <a:endParaRPr lang="en-US" altLang="zh-CN" sz="1555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b="1" dirty="0">
                <a:solidFill>
                  <a:schemeClr val="tx1"/>
                </a:solidFill>
              </a:rPr>
              <a:t>2</a:t>
            </a:r>
            <a:r>
              <a:rPr lang="zh-CN" altLang="en-US" sz="1555" b="1" dirty="0">
                <a:solidFill>
                  <a:schemeClr val="tx1"/>
                </a:solidFill>
              </a:rPr>
              <a:t>．语法说明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55" dirty="0"/>
              <a:t>    线条渐变</a:t>
            </a:r>
            <a:r>
              <a:rPr lang="en-US" altLang="zh-CN" sz="1555" dirty="0"/>
              <a:t>createLinearGradient()</a:t>
            </a:r>
            <a:r>
              <a:rPr lang="zh-CN" altLang="en-US" sz="1555" dirty="0"/>
              <a:t>中参数</a:t>
            </a:r>
            <a:r>
              <a:rPr lang="en-US" altLang="zh-CN" sz="1555" dirty="0"/>
              <a:t>xstart </a:t>
            </a:r>
            <a:r>
              <a:rPr lang="zh-CN" altLang="en-US" sz="1555" dirty="0"/>
              <a:t>表示渐变开始点</a:t>
            </a:r>
            <a:r>
              <a:rPr lang="en-US" altLang="zh-CN" sz="1555" dirty="0"/>
              <a:t>x </a:t>
            </a:r>
            <a:r>
              <a:rPr lang="zh-CN" altLang="en-US" sz="1555" dirty="0"/>
              <a:t>坐标；</a:t>
            </a:r>
            <a:r>
              <a:rPr lang="en-US" altLang="zh-CN" sz="1555" dirty="0"/>
              <a:t>ystart </a:t>
            </a:r>
            <a:r>
              <a:rPr lang="zh-CN" altLang="en-US" sz="1555" dirty="0"/>
              <a:t>表示渐变开始点</a:t>
            </a:r>
            <a:r>
              <a:rPr lang="en-US" altLang="zh-CN" sz="1555" dirty="0"/>
              <a:t>y </a:t>
            </a:r>
            <a:r>
              <a:rPr lang="zh-CN" altLang="en-US" sz="1555" dirty="0"/>
              <a:t>坐标；</a:t>
            </a:r>
            <a:r>
              <a:rPr lang="en-US" altLang="zh-CN" sz="1555" dirty="0"/>
              <a:t>xEnd </a:t>
            </a:r>
            <a:r>
              <a:rPr lang="zh-CN" altLang="en-US" sz="1555" dirty="0"/>
              <a:t>表示渐变结束点</a:t>
            </a:r>
            <a:r>
              <a:rPr lang="en-US" altLang="zh-CN" sz="1555" dirty="0"/>
              <a:t>x </a:t>
            </a:r>
            <a:r>
              <a:rPr lang="zh-CN" altLang="en-US" sz="1555" dirty="0"/>
              <a:t>坐标；</a:t>
            </a:r>
            <a:r>
              <a:rPr lang="en-US" altLang="zh-CN" sz="1555" dirty="0"/>
              <a:t>yEnd </a:t>
            </a:r>
            <a:r>
              <a:rPr lang="zh-CN" altLang="en-US" sz="1555" dirty="0"/>
              <a:t>表示渐变结束点</a:t>
            </a:r>
            <a:r>
              <a:rPr lang="en-US" altLang="zh-CN" sz="1555" dirty="0"/>
              <a:t>y </a:t>
            </a:r>
            <a:r>
              <a:rPr lang="zh-CN" altLang="en-US" sz="1555" dirty="0"/>
              <a:t>坐</a:t>
            </a:r>
            <a:r>
              <a:rPr sz="1555" dirty="0">
                <a:sym typeface="+mn-ea"/>
              </a:rPr>
              <a:t>标。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5" dirty="0">
                <a:sym typeface="+mn-ea"/>
              </a:rPr>
              <a:t>    </a:t>
            </a:r>
            <a:r>
              <a:rPr lang="en-US" altLang="zh-CN" sz="1555" dirty="0" err="1">
                <a:highlight>
                  <a:srgbClr val="FFFF00"/>
                </a:highlight>
                <a:sym typeface="+mn-ea"/>
              </a:rPr>
              <a:t>addColorStop</a:t>
            </a:r>
            <a:r>
              <a:rPr lang="en-US" altLang="zh-CN" sz="1555" dirty="0">
                <a:highlight>
                  <a:srgbClr val="FFFF00"/>
                </a:highlight>
                <a:sym typeface="+mn-ea"/>
              </a:rPr>
              <a:t>()</a:t>
            </a:r>
            <a:r>
              <a:rPr sz="1555" dirty="0">
                <a:highlight>
                  <a:srgbClr val="FFFF00"/>
                </a:highlight>
                <a:sym typeface="+mn-ea"/>
              </a:rPr>
              <a:t>中参数</a:t>
            </a:r>
            <a:r>
              <a:rPr lang="en-US" altLang="zh-CN" sz="1555" dirty="0">
                <a:highlight>
                  <a:srgbClr val="FFFF00"/>
                </a:highlight>
                <a:sym typeface="+mn-ea"/>
              </a:rPr>
              <a:t>offset </a:t>
            </a:r>
            <a:r>
              <a:rPr sz="1555" dirty="0">
                <a:highlight>
                  <a:srgbClr val="FFFF00"/>
                </a:highlight>
                <a:sym typeface="+mn-ea"/>
              </a:rPr>
              <a:t>表示设定的颜色离渐变结束点的偏移量</a:t>
            </a:r>
            <a:r>
              <a:rPr lang="en-US" altLang="zh-CN" sz="1555" dirty="0">
                <a:highlight>
                  <a:srgbClr val="FFFF00"/>
                </a:highlight>
                <a:sym typeface="+mn-ea"/>
              </a:rPr>
              <a:t>(0</a:t>
            </a:r>
            <a:r>
              <a:rPr sz="1555" dirty="0">
                <a:highlight>
                  <a:srgbClr val="FFFF00"/>
                </a:highlight>
                <a:sym typeface="+mn-ea"/>
              </a:rPr>
              <a:t>～</a:t>
            </a:r>
            <a:r>
              <a:rPr lang="en-US" altLang="zh-CN" sz="1555" dirty="0">
                <a:highlight>
                  <a:srgbClr val="FFFF00"/>
                </a:highlight>
                <a:sym typeface="+mn-ea"/>
              </a:rPr>
              <a:t>1)</a:t>
            </a:r>
            <a:r>
              <a:rPr sz="1555" dirty="0">
                <a:highlight>
                  <a:srgbClr val="FFFF00"/>
                </a:highlight>
                <a:sym typeface="+mn-ea"/>
              </a:rPr>
              <a:t>；</a:t>
            </a:r>
            <a:r>
              <a:rPr lang="en-US" altLang="zh-CN" sz="1555" dirty="0">
                <a:highlight>
                  <a:srgbClr val="FFFF00"/>
                </a:highlight>
                <a:sym typeface="+mn-ea"/>
              </a:rPr>
              <a:t>color </a:t>
            </a:r>
            <a:r>
              <a:rPr sz="1555" dirty="0">
                <a:highlight>
                  <a:srgbClr val="FFFF00"/>
                </a:highlight>
                <a:sym typeface="+mn-ea"/>
              </a:rPr>
              <a:t>表示绘制时要使用的颜色。</a:t>
            </a:r>
            <a:endParaRPr lang="zh-CN" altLang="en-US" sz="1555" dirty="0"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ym typeface="+mn-ea"/>
              </a:rPr>
              <a:t>    </a:t>
            </a:r>
            <a:r>
              <a:rPr lang="en-US" altLang="zh-CN" sz="1555" dirty="0" err="1">
                <a:sym typeface="+mn-ea"/>
              </a:rPr>
              <a:t>createRadialGradient</a:t>
            </a:r>
            <a:r>
              <a:rPr lang="en-US" altLang="zh-CN" sz="1555" dirty="0">
                <a:sym typeface="+mn-ea"/>
              </a:rPr>
              <a:t>()</a:t>
            </a:r>
            <a:r>
              <a:rPr sz="1555" dirty="0">
                <a:sym typeface="+mn-ea"/>
              </a:rPr>
              <a:t>中参数有</a:t>
            </a:r>
            <a:r>
              <a:rPr lang="en-US" altLang="zh-CN" sz="1555" dirty="0">
                <a:sym typeface="+mn-ea"/>
              </a:rPr>
              <a:t>6 </a:t>
            </a:r>
            <a:r>
              <a:rPr sz="1555" dirty="0">
                <a:sym typeface="+mn-ea"/>
              </a:rPr>
              <a:t>个，前</a:t>
            </a:r>
            <a:r>
              <a:rPr lang="en-US" altLang="zh-CN" sz="1555" dirty="0">
                <a:sym typeface="+mn-ea"/>
              </a:rPr>
              <a:t>3</a:t>
            </a:r>
            <a:r>
              <a:rPr sz="1555" dirty="0">
                <a:sym typeface="+mn-ea"/>
              </a:rPr>
              <a:t>个参数表示径向渐变开始圆心坐标和半径；后</a:t>
            </a:r>
            <a:r>
              <a:rPr lang="en-US" altLang="zh-CN" sz="1555" dirty="0">
                <a:sym typeface="+mn-ea"/>
              </a:rPr>
              <a:t>3 </a:t>
            </a:r>
            <a:r>
              <a:rPr sz="1555" dirty="0">
                <a:sym typeface="+mn-ea"/>
              </a:rPr>
              <a:t>个参数表示径向渐变结束圆心坐标和半径。</a:t>
            </a:r>
            <a:endParaRPr lang="en-US" altLang="zh-CN" sz="1555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555" dirty="0">
              <a:sym typeface="+mn-ea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5" dirty="0">
                <a:sym typeface="+mn-ea"/>
              </a:rPr>
              <a:t>    当使用渐变对象时，必须使用两种或两种以上的停止颜色，设置制形状，如矩形、文本或一条线。</a:t>
            </a:r>
            <a:r>
              <a:rPr lang="en-US" altLang="zh-CN" sz="1555" dirty="0" err="1">
                <a:sym typeface="+mn-ea"/>
              </a:rPr>
              <a:t>fillStyle</a:t>
            </a:r>
            <a:r>
              <a:rPr lang="en-US" altLang="zh-CN" sz="1555" dirty="0">
                <a:sym typeface="+mn-ea"/>
              </a:rPr>
              <a:t> </a:t>
            </a:r>
            <a:r>
              <a:rPr sz="1555" dirty="0">
                <a:sym typeface="+mn-ea"/>
              </a:rPr>
              <a:t>或</a:t>
            </a:r>
            <a:r>
              <a:rPr lang="en-US" altLang="zh-CN" sz="1555" dirty="0" err="1">
                <a:sym typeface="+mn-ea"/>
              </a:rPr>
              <a:t>strokeStyle</a:t>
            </a:r>
            <a:r>
              <a:rPr sz="1555" dirty="0">
                <a:sym typeface="+mn-ea"/>
              </a:rPr>
              <a:t>的值为渐变</a:t>
            </a:r>
            <a:r>
              <a:rPr lang="en-US" altLang="zh-CN" sz="1555" dirty="0">
                <a:sym typeface="+mn-ea"/>
              </a:rPr>
              <a:t>.</a:t>
            </a:r>
            <a:endParaRPr lang="zh-CN" altLang="en-US" sz="1555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555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宋体" panose="02010600030101010101" pitchFamily="2" charset="-122"/>
              </a:rPr>
              <a:t>图形变换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502412" y="952508"/>
            <a:ext cx="8139178" cy="1092835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altLang="zh-CN" dirty="0">
                <a:sym typeface="+mn-ea"/>
              </a:rPr>
              <a:t>利用图形变换（移动、缩放、旋转、变形等）可以绘制出大量复杂多变的图形。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highlight>
                  <a:srgbClr val="FFFF00"/>
                </a:highlight>
              </a:rPr>
              <a:t>canvas</a:t>
            </a:r>
            <a:r>
              <a:rPr lang="zh-CN" altLang="zh-CN" dirty="0">
                <a:highlight>
                  <a:srgbClr val="FFFF00"/>
                </a:highlight>
              </a:rPr>
              <a:t>状态是用栈来保存的，每次调用</a:t>
            </a:r>
            <a:r>
              <a:rPr lang="en-US" altLang="zh-CN" dirty="0">
                <a:highlight>
                  <a:srgbClr val="FFFF00"/>
                </a:highlight>
              </a:rPr>
              <a:t>save()</a:t>
            </a:r>
            <a:r>
              <a:rPr lang="zh-CN" altLang="zh-CN" dirty="0">
                <a:highlight>
                  <a:srgbClr val="FFFF00"/>
                </a:highlight>
              </a:rPr>
              <a:t>方法</a:t>
            </a:r>
            <a:r>
              <a:rPr lang="zh-CN" altLang="zh-CN" dirty="0"/>
              <a:t>，就把当前状态入栈保存，当前状态成为栈顶；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zh-CN" dirty="0"/>
              <a:t>每次调用</a:t>
            </a:r>
            <a:r>
              <a:rPr lang="en-US" altLang="zh-CN" dirty="0"/>
              <a:t>restore()</a:t>
            </a:r>
            <a:r>
              <a:rPr lang="zh-CN" altLang="zh-CN" dirty="0"/>
              <a:t>方法，就把栈顶的状态取出来，并将画布恢复到这个状态。</a:t>
            </a:r>
            <a:endParaRPr lang="en-US" altLang="zh-C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165</a:t>
            </a:fld>
            <a:endParaRPr lang="zh-CN" altLang="en-US"/>
          </a:p>
        </p:txBody>
      </p:sp>
      <p:sp>
        <p:nvSpPr>
          <p:cNvPr id="30722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73405" y="2208530"/>
            <a:ext cx="4076065" cy="441769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var context = </a:t>
            </a:r>
            <a:r>
              <a:rPr lang="en-US" altLang="zh-CN" sz="1400" dirty="0" err="1">
                <a:ea typeface="宋体" panose="02010600030101010101" pitchFamily="2" charset="-122"/>
              </a:rPr>
              <a:t>canvas.getContext</a:t>
            </a:r>
            <a:r>
              <a:rPr lang="en-US" altLang="zh-CN" sz="1400" dirty="0">
                <a:ea typeface="宋体" panose="02010600030101010101" pitchFamily="2" charset="-122"/>
              </a:rPr>
              <a:t>("2d");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400" dirty="0">
                <a:ea typeface="宋体" panose="02010600030101010101" pitchFamily="2" charset="-122"/>
              </a:rPr>
              <a:t> = "yellow";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context.fillRect</a:t>
            </a:r>
            <a:r>
              <a:rPr lang="en-US" altLang="zh-CN" sz="1400" dirty="0">
                <a:ea typeface="宋体" panose="02010600030101010101" pitchFamily="2" charset="-122"/>
              </a:rPr>
              <a:t>(10, 10, 230, 230);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context.save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400" dirty="0">
                <a:ea typeface="宋体" panose="02010600030101010101" pitchFamily="2" charset="-122"/>
              </a:rPr>
              <a:t> = "aquamarine";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context.fillRect</a:t>
            </a:r>
            <a:r>
              <a:rPr lang="en-US" altLang="zh-CN" sz="1400" dirty="0">
                <a:ea typeface="宋体" panose="02010600030101010101" pitchFamily="2" charset="-122"/>
              </a:rPr>
              <a:t>(30, 30, 190, 190);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context.save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400" dirty="0">
                <a:ea typeface="宋体" panose="02010600030101010101" pitchFamily="2" charset="-122"/>
              </a:rPr>
              <a:t> = "</a:t>
            </a:r>
            <a:r>
              <a:rPr lang="en-US" altLang="zh-CN" sz="1400" dirty="0" err="1">
                <a:ea typeface="宋体" panose="02010600030101010101" pitchFamily="2" charset="-122"/>
              </a:rPr>
              <a:t>cornflowerblue</a:t>
            </a:r>
            <a:r>
              <a:rPr lang="en-US" altLang="zh-CN" sz="1400" dirty="0">
                <a:ea typeface="宋体" panose="02010600030101010101" pitchFamily="2" charset="-122"/>
              </a:rPr>
              <a:t>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context.fillRect</a:t>
            </a:r>
            <a:r>
              <a:rPr lang="en-US" altLang="zh-CN" sz="1400" dirty="0">
                <a:ea typeface="宋体" panose="02010600030101010101" pitchFamily="2" charset="-122"/>
              </a:rPr>
              <a:t>(50, 50, 150, 150);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highlight>
                  <a:srgbClr val="FFFF00"/>
                </a:highlight>
                <a:ea typeface="宋体" panose="02010600030101010101" pitchFamily="2" charset="-122"/>
              </a:rPr>
              <a:t>context.restore</a:t>
            </a:r>
            <a:r>
              <a:rPr lang="en-US" altLang="zh-CN" sz="1400" dirty="0">
                <a:highlight>
                  <a:srgbClr val="FFFF00"/>
                </a:highlight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context.beginPath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context.fillRect</a:t>
            </a:r>
            <a:r>
              <a:rPr lang="en-US" altLang="zh-CN" sz="1400" dirty="0">
                <a:ea typeface="宋体" panose="02010600030101010101" pitchFamily="2" charset="-122"/>
              </a:rPr>
              <a:t>(70, 70, 110, 110);                             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context.restore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context.fillRect</a:t>
            </a:r>
            <a:r>
              <a:rPr lang="en-US" altLang="zh-CN" sz="1400" dirty="0">
                <a:ea typeface="宋体" panose="02010600030101010101" pitchFamily="2" charset="-122"/>
              </a:rPr>
              <a:t>(90, 90, 80, 80);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context.fill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915" y="2777490"/>
            <a:ext cx="2753360" cy="327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FC27DAC-CB8D-477E-AE02-7A323D9DCA9F}"/>
              </a:ext>
            </a:extLst>
          </p:cNvPr>
          <p:cNvSpPr/>
          <p:nvPr/>
        </p:nvSpPr>
        <p:spPr>
          <a:xfrm>
            <a:off x="5147571" y="2061929"/>
            <a:ext cx="3290047" cy="568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恢复的状态是画笔的状态，不包含形状绘制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移动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altLang="zh-CN">
                <a:sym typeface="+mn-ea"/>
              </a:rPr>
              <a:t>在绘制图形时，可以使用</a:t>
            </a:r>
            <a:r>
              <a:rPr lang="en-US" altLang="zh-CN">
                <a:sym typeface="+mn-ea"/>
              </a:rPr>
              <a:t>Context</a:t>
            </a:r>
            <a:r>
              <a:rPr altLang="zh-CN">
                <a:sym typeface="+mn-ea"/>
              </a:rPr>
              <a:t>对象的</a:t>
            </a:r>
            <a:r>
              <a:rPr lang="en-US" altLang="zh-CN">
                <a:sym typeface="+mn-ea"/>
              </a:rPr>
              <a:t>translate()</a:t>
            </a:r>
            <a:r>
              <a:rPr altLang="zh-CN">
                <a:sym typeface="+mn-ea"/>
              </a:rPr>
              <a:t>方法移动坐标空间，使画布的坐标空间发生水平和垂直方向的偏移，</a:t>
            </a:r>
            <a:r>
              <a:rPr lang="en-US" altLang="zh-CN">
                <a:sym typeface="+mn-ea"/>
              </a:rPr>
              <a:t>translate(dx, </a:t>
            </a:r>
            <a:r>
              <a:rPr lang="en-US" altLang="zh-CN" dirty="0" err="1">
                <a:sym typeface="+mn-ea"/>
              </a:rPr>
              <a:t>dy</a:t>
            </a:r>
            <a:r>
              <a:rPr lang="en-US" altLang="zh-CN">
                <a:sym typeface="+mn-ea"/>
              </a:rPr>
              <a:t>)</a:t>
            </a:r>
            <a:r>
              <a:rPr altLang="zh-CN">
                <a:sym typeface="+mn-ea"/>
              </a:rPr>
              <a:t>中</a:t>
            </a:r>
            <a:r>
              <a:rPr lang="en-US" altLang="zh-CN">
                <a:sym typeface="+mn-ea"/>
              </a:rPr>
              <a:t>dx</a:t>
            </a:r>
            <a:r>
              <a:rPr altLang="zh-CN">
                <a:sym typeface="+mn-ea"/>
              </a:rPr>
              <a:t>为水平方向的偏移量，</a:t>
            </a:r>
            <a:r>
              <a:rPr lang="en-US" altLang="zh-CN" dirty="0" err="1">
                <a:sym typeface="+mn-ea"/>
              </a:rPr>
              <a:t>dy</a:t>
            </a:r>
            <a:r>
              <a:rPr altLang="zh-CN">
                <a:sym typeface="+mn-ea"/>
              </a:rPr>
              <a:t>为垂直方向的偏移量。</a:t>
            </a:r>
            <a:endParaRPr lang="en-US" altLang="zh-CN" dirty="0"/>
          </a:p>
          <a:p>
            <a:endParaRPr lang="zh-CN" altLang="en-US"/>
          </a:p>
        </p:txBody>
      </p:sp>
      <p:sp>
        <p:nvSpPr>
          <p:cNvPr id="33794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1045" y="1743075"/>
            <a:ext cx="4779645" cy="197866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 lnSpcReduction="10000"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canvas = </a:t>
            </a:r>
            <a:r>
              <a:rPr lang="en-US" altLang="zh-CN" sz="1200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sz="1200" dirty="0">
                <a:ea typeface="宋体" panose="02010600030101010101" pitchFamily="2" charset="-122"/>
              </a:rPr>
              <a:t>("</a:t>
            </a:r>
            <a:r>
              <a:rPr lang="en-US" altLang="zh-CN" sz="1200" dirty="0" err="1">
                <a:ea typeface="宋体" panose="02010600030101010101" pitchFamily="2" charset="-122"/>
              </a:rPr>
              <a:t>myCanvas</a:t>
            </a:r>
            <a:r>
              <a:rPr lang="en-US" altLang="zh-CN" sz="1200" dirty="0">
                <a:ea typeface="宋体" panose="02010600030101010101" pitchFamily="2" charset="-122"/>
              </a:rPr>
              <a:t>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context = </a:t>
            </a:r>
            <a:r>
              <a:rPr lang="en-US" altLang="zh-CN" sz="1200" dirty="0" err="1">
                <a:ea typeface="宋体" panose="02010600030101010101" pitchFamily="2" charset="-122"/>
              </a:rPr>
              <a:t>canvas.getContext</a:t>
            </a:r>
            <a:r>
              <a:rPr lang="en-US" altLang="zh-CN" sz="1200" dirty="0">
                <a:ea typeface="宋体" panose="02010600030101010101" pitchFamily="2" charset="-122"/>
              </a:rPr>
              <a:t>("2d");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200" dirty="0">
                <a:ea typeface="宋体" panose="02010600030101010101" pitchFamily="2" charset="-122"/>
              </a:rPr>
              <a:t> = "orange";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for(var </a:t>
            </a:r>
            <a:r>
              <a:rPr lang="en-US" altLang="zh-CN" sz="1200" dirty="0" err="1"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ea typeface="宋体" panose="02010600030101010101" pitchFamily="2" charset="-122"/>
              </a:rPr>
              <a:t> = 1; </a:t>
            </a:r>
            <a:r>
              <a:rPr lang="en-US" altLang="zh-CN" sz="1200" dirty="0" err="1"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ea typeface="宋体" panose="02010600030101010101" pitchFamily="2" charset="-122"/>
              </a:rPr>
              <a:t> &lt; 10; </a:t>
            </a:r>
            <a:r>
              <a:rPr lang="en-US" altLang="zh-CN" sz="1200" dirty="0" err="1"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ea typeface="宋体" panose="02010600030101010101" pitchFamily="2" charset="-122"/>
              </a:rPr>
              <a:t>++)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highlight>
                  <a:srgbClr val="FFFF00"/>
                </a:highlight>
                <a:ea typeface="宋体" panose="02010600030101010101" pitchFamily="2" charset="-122"/>
              </a:rPr>
              <a:t>context.save</a:t>
            </a: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context.beginPath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context.arc(40, 40, 20, 0, </a:t>
            </a:r>
            <a:r>
              <a:rPr lang="en-US" altLang="zh-CN" sz="1200" dirty="0" err="1">
                <a:ea typeface="宋体" panose="02010600030101010101" pitchFamily="2" charset="-122"/>
              </a:rPr>
              <a:t>Math.PI</a:t>
            </a:r>
            <a:r>
              <a:rPr lang="en-US" altLang="zh-CN" sz="1200" dirty="0">
                <a:ea typeface="宋体" panose="02010600030101010101" pitchFamily="2" charset="-122"/>
              </a:rPr>
              <a:t> * 2);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context.closePath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context.fill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highlight>
                  <a:srgbClr val="FFFF00"/>
                </a:highlight>
                <a:ea typeface="宋体" panose="02010600030101010101" pitchFamily="2" charset="-122"/>
              </a:rPr>
              <a:t>context.translate</a:t>
            </a: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(40, 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}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200" dirty="0">
              <a:ea typeface="宋体" panose="02010600030101010101" pitchFamily="2" charset="-122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580" y="4073550"/>
            <a:ext cx="5567363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CB03F00-8F23-466C-82E7-6AD9E94D8555}"/>
              </a:ext>
            </a:extLst>
          </p:cNvPr>
          <p:cNvSpPr/>
          <p:nvPr/>
        </p:nvSpPr>
        <p:spPr>
          <a:xfrm>
            <a:off x="5065059" y="2393576"/>
            <a:ext cx="3200400" cy="1035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保持当前画笔的位置，</a:t>
            </a:r>
            <a:r>
              <a:rPr lang="en-US" altLang="zh-CN" dirty="0"/>
              <a:t>translate</a:t>
            </a:r>
            <a:r>
              <a:rPr lang="zh-CN" altLang="en-US" dirty="0"/>
              <a:t>相对画笔位置偏移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缩放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502412" y="952508"/>
            <a:ext cx="8139178" cy="86741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scale</a:t>
            </a:r>
            <a:r>
              <a:rPr lang="pt-BR" altLang="zh-CN" sz="1400" dirty="0"/>
              <a:t>()</a:t>
            </a:r>
            <a:r>
              <a:rPr lang="zh-CN" altLang="zh-CN" sz="1400" dirty="0"/>
              <a:t>方法用于图形或图像的放大或缩小，</a:t>
            </a:r>
            <a:r>
              <a:rPr lang="en-US" altLang="zh-CN" sz="1400" dirty="0" err="1"/>
              <a:t>context.scale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sx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sy</a:t>
            </a:r>
            <a:r>
              <a:rPr lang="en-US" altLang="zh-CN" sz="1400" dirty="0"/>
              <a:t>)</a:t>
            </a:r>
            <a:r>
              <a:rPr lang="zh-CN" altLang="zh-CN" sz="1400" dirty="0"/>
              <a:t>中的</a:t>
            </a:r>
            <a:r>
              <a:rPr lang="en-US" altLang="zh-CN" sz="1400" dirty="0" err="1"/>
              <a:t>sx</a:t>
            </a:r>
            <a:r>
              <a:rPr lang="zh-CN" altLang="zh-CN" sz="1400" dirty="0"/>
              <a:t>为</a:t>
            </a:r>
            <a:r>
              <a:rPr lang="en-US" altLang="zh-CN" sz="1400" dirty="0"/>
              <a:t>x</a:t>
            </a:r>
            <a:r>
              <a:rPr lang="zh-CN" altLang="zh-CN" sz="1400" dirty="0"/>
              <a:t>轴的缩放因子，</a:t>
            </a:r>
            <a:r>
              <a:rPr lang="en-US" altLang="zh-CN" sz="1400" dirty="0" err="1"/>
              <a:t>sy</a:t>
            </a:r>
            <a:r>
              <a:rPr lang="zh-CN" altLang="zh-CN" sz="1400" dirty="0"/>
              <a:t>为</a:t>
            </a:r>
            <a:r>
              <a:rPr lang="en-US" altLang="zh-CN" sz="1400" dirty="0"/>
              <a:t>y</a:t>
            </a:r>
            <a:r>
              <a:rPr lang="zh-CN" altLang="zh-CN" sz="1400" dirty="0"/>
              <a:t>轴的缩放因子，它们的值必须是正数，如果值大于</a:t>
            </a:r>
            <a:r>
              <a:rPr lang="en-US" altLang="zh-CN" sz="1400" dirty="0"/>
              <a:t>1</a:t>
            </a:r>
            <a:r>
              <a:rPr lang="zh-CN" altLang="zh-CN" sz="1400" dirty="0"/>
              <a:t>则为放大图形，如果值小于</a:t>
            </a:r>
            <a:r>
              <a:rPr lang="en-US" altLang="zh-CN" sz="1400" dirty="0"/>
              <a:t>1</a:t>
            </a:r>
            <a:r>
              <a:rPr lang="zh-CN" altLang="zh-CN" sz="1400" dirty="0"/>
              <a:t>则为缩小图形。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167</a:t>
            </a:fld>
            <a:endParaRPr lang="zh-CN" altLang="en-US"/>
          </a:p>
        </p:txBody>
      </p:sp>
      <p:sp>
        <p:nvSpPr>
          <p:cNvPr id="36866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0550" y="2021205"/>
            <a:ext cx="4775835" cy="242189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var canvas = document.getElementById("myCanvas");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var context = canvas.getContext("2d");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context.fillStyle = "orange";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for(var i = 1; i &lt; 15; i++)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context.save();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context.beginPath();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context.arc(40, 40, 20, 0, Math.PI * 2);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context.closePath();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context.fill();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context.translate(40, 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context.scale(0.9,0.9);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}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475" y="4290085"/>
            <a:ext cx="5598319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旋转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Context</a:t>
            </a:r>
            <a:r>
              <a:rPr altLang="zh-CN" dirty="0">
                <a:sym typeface="+mn-ea"/>
              </a:rPr>
              <a:t>对象的</a:t>
            </a:r>
            <a:r>
              <a:rPr lang="en-US" altLang="zh-CN" dirty="0">
                <a:sym typeface="+mn-ea"/>
              </a:rPr>
              <a:t>rotate()</a:t>
            </a:r>
            <a:r>
              <a:rPr altLang="zh-CN" dirty="0">
                <a:sym typeface="+mn-ea"/>
              </a:rPr>
              <a:t>方法用于以原点为中心旋转上下文对象的坐标空间，</a:t>
            </a:r>
            <a:r>
              <a:rPr lang="en-US" altLang="zh-CN" dirty="0" err="1">
                <a:sym typeface="+mn-ea"/>
              </a:rPr>
              <a:t>context.rotate</a:t>
            </a:r>
            <a:r>
              <a:rPr lang="en-US" altLang="zh-CN" dirty="0">
                <a:sym typeface="+mn-ea"/>
              </a:rPr>
              <a:t>(angle)</a:t>
            </a:r>
            <a:r>
              <a:rPr altLang="zh-CN" dirty="0">
                <a:sym typeface="+mn-ea"/>
              </a:rPr>
              <a:t>方法中的</a:t>
            </a:r>
            <a:r>
              <a:rPr lang="en-US" altLang="zh-CN" dirty="0">
                <a:sym typeface="+mn-ea"/>
              </a:rPr>
              <a:t>angle</a:t>
            </a:r>
            <a:r>
              <a:rPr altLang="zh-CN" dirty="0">
                <a:sym typeface="+mn-ea"/>
              </a:rPr>
              <a:t>参数指以弧度计的顺时针方向的旋转角度。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9938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00405" y="1774190"/>
            <a:ext cx="4851400" cy="255714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 lnSpcReduction="10000"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canvas = </a:t>
            </a:r>
            <a:r>
              <a:rPr lang="en-US" altLang="zh-CN" sz="1200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sz="1200" dirty="0">
                <a:ea typeface="宋体" panose="02010600030101010101" pitchFamily="2" charset="-122"/>
              </a:rPr>
              <a:t>("</a:t>
            </a:r>
            <a:r>
              <a:rPr lang="en-US" altLang="zh-CN" sz="1200" dirty="0" err="1">
                <a:ea typeface="宋体" panose="02010600030101010101" pitchFamily="2" charset="-122"/>
              </a:rPr>
              <a:t>myCanvas</a:t>
            </a:r>
            <a:r>
              <a:rPr lang="en-US" altLang="zh-CN" sz="1200" dirty="0">
                <a:ea typeface="宋体" panose="02010600030101010101" pitchFamily="2" charset="-122"/>
              </a:rPr>
              <a:t>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var context = </a:t>
            </a:r>
            <a:r>
              <a:rPr lang="en-US" altLang="zh-CN" sz="1200" dirty="0" err="1">
                <a:ea typeface="宋体" panose="02010600030101010101" pitchFamily="2" charset="-122"/>
              </a:rPr>
              <a:t>canvas.getContext</a:t>
            </a:r>
            <a:r>
              <a:rPr lang="en-US" altLang="zh-CN" sz="1200" dirty="0">
                <a:ea typeface="宋体" panose="02010600030101010101" pitchFamily="2" charset="-122"/>
              </a:rPr>
              <a:t>("2d");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context.translate</a:t>
            </a:r>
            <a:r>
              <a:rPr lang="en-US" altLang="zh-CN" sz="1200" dirty="0">
                <a:ea typeface="宋体" panose="02010600030101010101" pitchFamily="2" charset="-122"/>
              </a:rPr>
              <a:t>(150,150);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200" dirty="0">
                <a:ea typeface="宋体" panose="02010600030101010101" pitchFamily="2" charset="-122"/>
              </a:rPr>
              <a:t> = "orange";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for(var </a:t>
            </a:r>
            <a:r>
              <a:rPr lang="en-US" altLang="zh-CN" sz="1200" dirty="0" err="1"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ea typeface="宋体" panose="02010600030101010101" pitchFamily="2" charset="-122"/>
              </a:rPr>
              <a:t> = 0; </a:t>
            </a:r>
            <a:r>
              <a:rPr lang="en-US" altLang="zh-CN" sz="1200" dirty="0" err="1"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ea typeface="宋体" panose="02010600030101010101" pitchFamily="2" charset="-122"/>
              </a:rPr>
              <a:t> &lt; 8; </a:t>
            </a:r>
            <a:r>
              <a:rPr lang="en-US" altLang="zh-CN" sz="1200" dirty="0" err="1"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ea typeface="宋体" panose="02010600030101010101" pitchFamily="2" charset="-122"/>
              </a:rPr>
              <a:t>++)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context.save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highlight>
                  <a:srgbClr val="FFFF00"/>
                </a:highlight>
                <a:ea typeface="宋体" panose="02010600030101010101" pitchFamily="2" charset="-122"/>
              </a:rPr>
              <a:t>context.rotate</a:t>
            </a: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highlight>
                  <a:srgbClr val="FFFF00"/>
                </a:highlight>
                <a:ea typeface="宋体" panose="02010600030101010101" pitchFamily="2" charset="-122"/>
              </a:rPr>
              <a:t>Math.PI</a:t>
            </a:r>
            <a:r>
              <a:rPr lang="en-US" altLang="zh-CN" sz="1200" dirty="0">
                <a:highlight>
                  <a:srgbClr val="FFFF00"/>
                </a:highlight>
                <a:ea typeface="宋体" panose="02010600030101010101" pitchFamily="2" charset="-122"/>
              </a:rPr>
              <a:t>*(2/4+i/4));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context.translate</a:t>
            </a:r>
            <a:r>
              <a:rPr lang="en-US" altLang="zh-CN" sz="1200" dirty="0">
                <a:ea typeface="宋体" panose="02010600030101010101" pitchFamily="2" charset="-122"/>
              </a:rPr>
              <a:t>(0,-100);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context.beginPath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context.arc(100, 40,20, 0, </a:t>
            </a:r>
            <a:r>
              <a:rPr lang="en-US" altLang="zh-CN" sz="1200" dirty="0" err="1">
                <a:ea typeface="宋体" panose="02010600030101010101" pitchFamily="2" charset="-122"/>
              </a:rPr>
              <a:t>Math.PI</a:t>
            </a:r>
            <a:r>
              <a:rPr lang="en-US" altLang="zh-CN" sz="1200" dirty="0">
                <a:ea typeface="宋体" panose="02010600030101010101" pitchFamily="2" charset="-122"/>
              </a:rPr>
              <a:t> * 2);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context.closePath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context.fill</a:t>
            </a:r>
            <a:r>
              <a:rPr lang="en-US" altLang="zh-CN" sz="12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	</a:t>
            </a:r>
            <a:r>
              <a:rPr lang="en-US" altLang="zh-CN" sz="1200" dirty="0" err="1">
                <a:ea typeface="宋体" panose="02010600030101010101" pitchFamily="2" charset="-122"/>
              </a:rPr>
              <a:t>context.restore</a:t>
            </a:r>
            <a:r>
              <a:rPr lang="en-US" altLang="zh-CN" sz="1200" dirty="0">
                <a:ea typeface="宋体" panose="02010600030101010101" pitchFamily="2" charset="-122"/>
              </a:rPr>
              <a:t>();		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}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200" dirty="0">
              <a:ea typeface="宋体" panose="02010600030101010101" pitchFamily="2" charset="-122"/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416" y="2718842"/>
            <a:ext cx="3024188" cy="348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变形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Context</a:t>
            </a:r>
            <a:r>
              <a:rPr altLang="zh-CN" dirty="0">
                <a:sym typeface="+mn-ea"/>
              </a:rPr>
              <a:t>对象的</a:t>
            </a:r>
            <a:r>
              <a:rPr lang="en-US" altLang="zh-CN" dirty="0">
                <a:sym typeface="+mn-ea"/>
              </a:rPr>
              <a:t>transform</a:t>
            </a:r>
            <a:r>
              <a:rPr lang="pt-BR" altLang="zh-CN" dirty="0">
                <a:sym typeface="+mn-ea"/>
              </a:rPr>
              <a:t>()</a:t>
            </a:r>
            <a:r>
              <a:rPr altLang="zh-CN" dirty="0">
                <a:sym typeface="+mn-ea"/>
              </a:rPr>
              <a:t>方法用于直接修改变换矩阵。矩阵变换常用于坐标变换不能达到预期效果的情况，能够实现比普通的坐标变换更加复杂的效果。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pt-BR" altLang="zh-CN" dirty="0">
                <a:sym typeface="+mn-ea"/>
              </a:rPr>
              <a:t>context.transform(a, b, c, d, e, f);</a:t>
            </a:r>
            <a:endParaRPr lang="en-US" altLang="zh-CN" dirty="0"/>
          </a:p>
          <a:p>
            <a:pPr marL="457200" lvl="1"/>
            <a:r>
              <a:rPr altLang="zh-CN" dirty="0">
                <a:sym typeface="+mn-ea"/>
              </a:rPr>
              <a:t>各参数的含义为：</a:t>
            </a:r>
            <a:endParaRPr lang="en-US" altLang="zh-CN" dirty="0"/>
          </a:p>
          <a:p>
            <a:pPr marL="914400" lvl="2"/>
            <a:r>
              <a:rPr lang="pt-BR" altLang="zh-CN" dirty="0">
                <a:sym typeface="+mn-ea"/>
              </a:rPr>
              <a:t>a</a:t>
            </a:r>
            <a:r>
              <a:rPr altLang="zh-CN" dirty="0">
                <a:sym typeface="+mn-ea"/>
              </a:rPr>
              <a:t>：水平缩放绘图；</a:t>
            </a:r>
            <a:endParaRPr lang="en-US" altLang="zh-CN" dirty="0"/>
          </a:p>
          <a:p>
            <a:pPr marL="914400" lvl="2"/>
            <a:r>
              <a:rPr lang="pt-BR" altLang="zh-CN" dirty="0">
                <a:sym typeface="+mn-ea"/>
              </a:rPr>
              <a:t>b</a:t>
            </a:r>
            <a:r>
              <a:rPr altLang="zh-CN" dirty="0">
                <a:sym typeface="+mn-ea"/>
              </a:rPr>
              <a:t>：水平倾斜绘图；</a:t>
            </a:r>
            <a:endParaRPr lang="en-US" altLang="zh-CN" dirty="0"/>
          </a:p>
          <a:p>
            <a:pPr marL="914400" lvl="2"/>
            <a:r>
              <a:rPr lang="pt-BR" altLang="zh-CN" dirty="0">
                <a:sym typeface="+mn-ea"/>
              </a:rPr>
              <a:t>c</a:t>
            </a:r>
            <a:r>
              <a:rPr altLang="zh-CN" dirty="0">
                <a:sym typeface="+mn-ea"/>
              </a:rPr>
              <a:t>：垂直倾斜绘图；</a:t>
            </a:r>
            <a:endParaRPr lang="en-US" altLang="zh-CN" dirty="0"/>
          </a:p>
          <a:p>
            <a:pPr marL="914400" lvl="2"/>
            <a:r>
              <a:rPr lang="pt-BR" altLang="zh-CN" dirty="0">
                <a:sym typeface="+mn-ea"/>
              </a:rPr>
              <a:t>d</a:t>
            </a:r>
            <a:r>
              <a:rPr altLang="zh-CN" dirty="0">
                <a:sym typeface="+mn-ea"/>
              </a:rPr>
              <a:t>：垂直缩放绘图；</a:t>
            </a:r>
            <a:endParaRPr lang="en-US" altLang="zh-CN" dirty="0"/>
          </a:p>
          <a:p>
            <a:pPr marL="914400" lvl="2"/>
            <a:r>
              <a:rPr lang="pt-BR" altLang="zh-CN" dirty="0">
                <a:sym typeface="+mn-ea"/>
              </a:rPr>
              <a:t>e</a:t>
            </a:r>
            <a:r>
              <a:rPr altLang="zh-CN" dirty="0">
                <a:sym typeface="+mn-ea"/>
              </a:rPr>
              <a:t>：水平移动绘图；</a:t>
            </a:r>
            <a:endParaRPr lang="en-US" altLang="zh-CN" dirty="0"/>
          </a:p>
          <a:p>
            <a:pPr marL="914400" lvl="2"/>
            <a:r>
              <a:rPr lang="pt-BR" altLang="zh-CN" dirty="0">
                <a:sym typeface="+mn-ea"/>
              </a:rPr>
              <a:t>f</a:t>
            </a:r>
            <a:r>
              <a:rPr altLang="zh-CN" dirty="0">
                <a:sym typeface="+mn-ea"/>
              </a:rPr>
              <a:t>：垂直移动绘图；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3010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19455" y="4244340"/>
            <a:ext cx="4438650" cy="242443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context.translate(200, 20);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for(var i = 1; i &lt; 100; i++)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context.save();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context.transform(0.95, 0, 0, 0.95, 30, 30);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context.rotate(Math.PI / 12);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context.beginPath();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context.fillStyle = "orange";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context.globalAlpha = "0.7";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context.arc(0, 0, 55, 0, Math.PI, true);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context.closePath();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	context.fill();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200">
                <a:ea typeface="宋体" panose="02010600030101010101" pitchFamily="2" charset="-122"/>
              </a:rPr>
              <a:t>}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200">
              <a:ea typeface="宋体" panose="02010600030101010101" pitchFamily="2" charset="-122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084" y="1993106"/>
            <a:ext cx="2603421" cy="298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Context</a:t>
            </a:r>
            <a:r>
              <a:rPr altLang="zh-CN" dirty="0">
                <a:sym typeface="+mn-ea"/>
              </a:rPr>
              <a:t>对象的</a:t>
            </a:r>
            <a:r>
              <a:rPr lang="en-US" altLang="zh-CN" dirty="0" err="1">
                <a:sym typeface="+mn-ea"/>
              </a:rPr>
              <a:t>lineWidth</a:t>
            </a:r>
            <a:r>
              <a:rPr altLang="zh-CN" dirty="0">
                <a:sym typeface="+mn-ea"/>
              </a:rPr>
              <a:t>、</a:t>
            </a:r>
            <a:r>
              <a:rPr lang="en-US" altLang="zh-CN" dirty="0" err="1">
                <a:sym typeface="+mn-ea"/>
              </a:rPr>
              <a:t>lineCap</a:t>
            </a:r>
            <a:r>
              <a:rPr altLang="zh-CN" dirty="0">
                <a:sym typeface="+mn-ea"/>
              </a:rPr>
              <a:t>、</a:t>
            </a:r>
            <a:r>
              <a:rPr lang="en-US" altLang="zh-CN" dirty="0" err="1">
                <a:sym typeface="+mn-ea"/>
              </a:rPr>
              <a:t>lineJoin</a:t>
            </a:r>
            <a:r>
              <a:rPr altLang="zh-CN" dirty="0">
                <a:sym typeface="+mn-ea"/>
              </a:rPr>
              <a:t>、</a:t>
            </a:r>
            <a:r>
              <a:rPr lang="en-US" altLang="zh-CN" dirty="0" err="1">
                <a:sym typeface="+mn-ea"/>
              </a:rPr>
              <a:t>miterLimit</a:t>
            </a:r>
            <a:r>
              <a:rPr altLang="zh-CN" dirty="0">
                <a:sym typeface="+mn-ea"/>
              </a:rPr>
              <a:t>属性分别用于设置线条的粗细、端点样式、两条线端连接处的样式以及绘制交点的方式。</a:t>
            </a:r>
            <a:endParaRPr lang="en-US" altLang="zh-CN" dirty="0"/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1</a:t>
            </a:r>
            <a:r>
              <a:rPr altLang="zh-CN" dirty="0">
                <a:sym typeface="+mn-ea"/>
              </a:rPr>
              <a:t>．</a:t>
            </a:r>
            <a:r>
              <a:rPr lang="en-US" altLang="zh-CN" dirty="0" err="1">
                <a:sym typeface="+mn-ea"/>
              </a:rPr>
              <a:t>lineWidth</a:t>
            </a:r>
            <a:r>
              <a:rPr dirty="0">
                <a:sym typeface="+mn-ea"/>
              </a:rPr>
              <a:t>：</a:t>
            </a:r>
            <a:r>
              <a:rPr altLang="zh-CN" dirty="0">
                <a:sym typeface="+mn-ea"/>
              </a:rPr>
              <a:t>属性的值必须为正数，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单位为像素，默认值为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1.0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。</a:t>
            </a:r>
            <a:endParaRPr lang="en-US" altLang="zh-CN" dirty="0">
              <a:highlight>
                <a:srgbClr val="FFFF00"/>
              </a:highlight>
            </a:endParaRPr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2</a:t>
            </a:r>
            <a:r>
              <a:rPr altLang="zh-CN" dirty="0">
                <a:sym typeface="+mn-ea"/>
              </a:rPr>
              <a:t>．</a:t>
            </a:r>
            <a:r>
              <a:rPr lang="en-US" altLang="zh-CN" dirty="0" err="1">
                <a:sym typeface="+mn-ea"/>
              </a:rPr>
              <a:t>lineCap</a:t>
            </a:r>
            <a:r>
              <a:rPr dirty="0">
                <a:sym typeface="+mn-ea"/>
              </a:rPr>
              <a:t>：</a:t>
            </a:r>
            <a:r>
              <a:rPr altLang="zh-CN" dirty="0">
                <a:sym typeface="+mn-ea"/>
              </a:rPr>
              <a:t>属性可取值</a:t>
            </a:r>
            <a:r>
              <a:rPr lang="en-US" altLang="zh-CN" dirty="0">
                <a:sym typeface="+mn-ea"/>
              </a:rPr>
              <a:t>butt</a:t>
            </a:r>
            <a:r>
              <a:rPr altLang="zh-CN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round</a:t>
            </a:r>
            <a:r>
              <a:rPr altLang="zh-CN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square</a:t>
            </a:r>
            <a:r>
              <a:rPr altLang="zh-CN" dirty="0">
                <a:sym typeface="+mn-ea"/>
              </a:rPr>
              <a:t>，默认值为</a:t>
            </a:r>
            <a:r>
              <a:rPr lang="en-US" altLang="zh-CN" dirty="0">
                <a:sym typeface="+mn-ea"/>
              </a:rPr>
              <a:t>butt</a:t>
            </a:r>
            <a:r>
              <a:rPr altLang="zh-CN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butt</a:t>
            </a:r>
            <a:r>
              <a:rPr altLang="zh-CN" dirty="0">
                <a:sym typeface="+mn-ea"/>
              </a:rPr>
              <a:t>表示向线条的每个末端添加平直的边缘；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round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表示向线条的每个末端添加圆形线帽</a:t>
            </a:r>
            <a:r>
              <a:rPr altLang="zh-CN" dirty="0">
                <a:sym typeface="+mn-ea"/>
              </a:rPr>
              <a:t>；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square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表示向线条的每个末端添加正方形线帽。</a:t>
            </a:r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3</a:t>
            </a:r>
            <a:r>
              <a:rPr altLang="zh-CN" dirty="0">
                <a:sym typeface="+mn-ea"/>
              </a:rPr>
              <a:t>．</a:t>
            </a:r>
            <a:r>
              <a:rPr lang="en-US" altLang="zh-CN" dirty="0" err="1">
                <a:sym typeface="+mn-ea"/>
              </a:rPr>
              <a:t>lineJoin</a:t>
            </a:r>
            <a:r>
              <a:rPr dirty="0">
                <a:sym typeface="+mn-ea"/>
              </a:rPr>
              <a:t>：</a:t>
            </a:r>
            <a:r>
              <a:rPr altLang="zh-CN" dirty="0">
                <a:sym typeface="+mn-ea"/>
              </a:rPr>
              <a:t>用于设置两条线段连接处的样式，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可取值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round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bevel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miter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，默认值为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miter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。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round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为圆角，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bevel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表示边角，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miter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为尖角。</a:t>
            </a:r>
            <a:endParaRPr lang="en-US" altLang="zh-CN" dirty="0">
              <a:highlight>
                <a:srgbClr val="FFFF00"/>
              </a:highlight>
            </a:endParaRPr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4</a:t>
            </a:r>
            <a:r>
              <a:rPr altLang="zh-CN" dirty="0">
                <a:sym typeface="+mn-ea"/>
              </a:rPr>
              <a:t>．</a:t>
            </a:r>
            <a:r>
              <a:rPr lang="en-US" altLang="zh-CN" dirty="0" err="1">
                <a:sym typeface="+mn-ea"/>
              </a:rPr>
              <a:t>miterLimit</a:t>
            </a:r>
            <a:r>
              <a:rPr dirty="0">
                <a:sym typeface="+mn-ea"/>
              </a:rPr>
              <a:t>：</a:t>
            </a:r>
            <a:r>
              <a:rPr altLang="zh-CN" dirty="0">
                <a:sym typeface="+mn-ea"/>
              </a:rPr>
              <a:t>用来设置或返回最大斜接长度，斜接长度指的是在两条线交汇处内角和外角之间的距离。</a:t>
            </a:r>
            <a:endParaRPr lang="en-US" altLang="zh-CN" dirty="0"/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sp>
        <p:nvSpPr>
          <p:cNvPr id="51202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6595" y="3818890"/>
            <a:ext cx="3270250" cy="203009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for(var i=1;i&lt;=14;i++){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	context.strokeStyle="green";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	context.lineWidth=i;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	context.lineCap="round";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	context.beginPath();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	context.moveTo(20*i,50);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	context.lineTo(20*i,200);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	context.stroke();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400" b="0">
                <a:ea typeface="宋体" panose="02010600030101010101" pitchFamily="2" charset="-122"/>
              </a:rPr>
              <a:t>}</a:t>
            </a:r>
          </a:p>
        </p:txBody>
      </p:sp>
      <p:pic>
        <p:nvPicPr>
          <p:cNvPr id="52226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085" y="3279775"/>
            <a:ext cx="3229610" cy="284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绘制图像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5610" y="1562100"/>
            <a:ext cx="8509000" cy="4549140"/>
          </a:xfrm>
        </p:spPr>
        <p:txBody>
          <a:bodyPr>
            <a:normAutofit fontScale="87500" lnSpcReduction="20000"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 把一幅图像放置到画布上，即在</a:t>
            </a:r>
            <a:r>
              <a:rPr lang="en-US" altLang="zh-CN" sz="1600" dirty="0"/>
              <a:t>Canvas </a:t>
            </a:r>
            <a:r>
              <a:rPr lang="zh-CN" altLang="en-US" sz="1600" dirty="0"/>
              <a:t>上画出图像。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/>
              <a:t>1</a:t>
            </a:r>
            <a:r>
              <a:rPr lang="zh-CN" altLang="en-US" sz="1600" b="1" dirty="0"/>
              <a:t>．基本语法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600" dirty="0">
                <a:sym typeface="+mn-ea"/>
              </a:rPr>
              <a:t>1</a:t>
            </a:r>
            <a:r>
              <a:rPr altLang="zh-CN" sz="1600" dirty="0">
                <a:sym typeface="+mn-ea"/>
              </a:rPr>
              <a:t>．创建</a:t>
            </a:r>
            <a:r>
              <a:rPr lang="en-US" altLang="zh-CN" sz="1600" dirty="0">
                <a:sym typeface="+mn-ea"/>
              </a:rPr>
              <a:t>image</a:t>
            </a:r>
            <a:r>
              <a:rPr altLang="zh-CN" sz="1600" dirty="0">
                <a:sym typeface="+mn-ea"/>
              </a:rPr>
              <a:t>对象，</a:t>
            </a:r>
            <a:r>
              <a:rPr lang="en-US" altLang="zh-CN" sz="1600" dirty="0">
                <a:sym typeface="+mn-ea"/>
              </a:rPr>
              <a:t>	var image = new Image();</a:t>
            </a:r>
            <a:endParaRPr lang="en-US" altLang="zh-CN" sz="16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600" dirty="0">
                <a:sym typeface="+mn-ea"/>
              </a:rPr>
              <a:t>2</a:t>
            </a:r>
            <a:r>
              <a:rPr altLang="zh-CN" sz="1600" dirty="0">
                <a:sym typeface="+mn-ea"/>
              </a:rPr>
              <a:t>．设定</a:t>
            </a:r>
            <a:r>
              <a:rPr lang="en-US" altLang="zh-CN" sz="1600" dirty="0">
                <a:sym typeface="+mn-ea"/>
              </a:rPr>
              <a:t>image</a:t>
            </a:r>
            <a:r>
              <a:rPr altLang="zh-CN" sz="1600" dirty="0">
                <a:sym typeface="+mn-ea"/>
              </a:rPr>
              <a:t>对象的</a:t>
            </a:r>
            <a:r>
              <a:rPr lang="en-US" altLang="zh-CN" sz="1600" dirty="0">
                <a:sym typeface="+mn-ea"/>
              </a:rPr>
              <a:t>onload</a:t>
            </a:r>
            <a:r>
              <a:rPr altLang="zh-CN" sz="1600" dirty="0">
                <a:sym typeface="+mn-ea"/>
              </a:rPr>
              <a:t>属性，</a:t>
            </a:r>
            <a:r>
              <a:rPr lang="en-US" altLang="zh-CN" sz="1600" dirty="0" err="1">
                <a:sym typeface="+mn-ea"/>
              </a:rPr>
              <a:t>image.onload</a:t>
            </a:r>
            <a:r>
              <a:rPr lang="en-US" altLang="zh-CN" sz="1600" dirty="0">
                <a:sym typeface="+mn-ea"/>
              </a:rPr>
              <a:t> = function(){  	}</a:t>
            </a:r>
            <a:endParaRPr lang="en-US" altLang="zh-CN" sz="16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600" dirty="0">
                <a:sym typeface="+mn-ea"/>
              </a:rPr>
              <a:t>3</a:t>
            </a:r>
            <a:r>
              <a:rPr altLang="zh-CN" sz="1600" dirty="0">
                <a:sym typeface="+mn-ea"/>
              </a:rPr>
              <a:t>．在</a:t>
            </a:r>
            <a:r>
              <a:rPr lang="en-US" altLang="zh-CN" sz="1600" dirty="0">
                <a:sym typeface="+mn-ea"/>
              </a:rPr>
              <a:t>function()</a:t>
            </a:r>
            <a:r>
              <a:rPr altLang="zh-CN" sz="1600" dirty="0">
                <a:sym typeface="+mn-ea"/>
              </a:rPr>
              <a:t>中绘制图像</a:t>
            </a:r>
            <a:endParaRPr lang="en-US" altLang="zh-CN" sz="1600" dirty="0"/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context.drawImage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image,x,y</a:t>
            </a:r>
            <a:r>
              <a:rPr lang="en-US" altLang="zh-CN" sz="1600" dirty="0">
                <a:solidFill>
                  <a:schemeClr val="tx1"/>
                </a:solidFill>
              </a:rPr>
              <a:t>); //</a:t>
            </a:r>
            <a:r>
              <a:rPr lang="zh-CN" altLang="en-US" sz="1600" dirty="0">
                <a:solidFill>
                  <a:schemeClr val="tx1"/>
                </a:solidFill>
              </a:rPr>
              <a:t>在坐标</a:t>
            </a:r>
            <a:r>
              <a:rPr lang="en-US" altLang="zh-CN" sz="1600" dirty="0">
                <a:solidFill>
                  <a:schemeClr val="tx1"/>
                </a:solidFill>
              </a:rPr>
              <a:t>(x,y)</a:t>
            </a:r>
            <a:r>
              <a:rPr lang="zh-CN" altLang="en-US" sz="1600" dirty="0">
                <a:solidFill>
                  <a:schemeClr val="tx1"/>
                </a:solidFill>
              </a:rPr>
              <a:t>处开始绘制图像</a:t>
            </a:r>
            <a:r>
              <a:rPr lang="en-US" altLang="zh-CN" sz="1600" dirty="0">
                <a:solidFill>
                  <a:schemeClr val="tx1"/>
                </a:solidFill>
              </a:rPr>
              <a:t>image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context.createPattern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image,type</a:t>
            </a:r>
            <a:r>
              <a:rPr lang="en-US" altLang="zh-CN" sz="1600" dirty="0">
                <a:solidFill>
                  <a:schemeClr val="tx1"/>
                </a:solidFill>
              </a:rPr>
              <a:t>); //</a:t>
            </a:r>
            <a:r>
              <a:rPr lang="zh-CN" altLang="en-US" sz="1600" dirty="0">
                <a:solidFill>
                  <a:schemeClr val="tx1"/>
                </a:solidFill>
              </a:rPr>
              <a:t>图像平铺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context.clip</a:t>
            </a:r>
            <a:r>
              <a:rPr lang="en-US" altLang="zh-CN" sz="1600" dirty="0">
                <a:solidFill>
                  <a:schemeClr val="tx1"/>
                </a:solidFill>
              </a:rPr>
              <a:t>() ;//</a:t>
            </a:r>
            <a:r>
              <a:rPr lang="zh-CN" altLang="en-US" sz="1600" dirty="0">
                <a:solidFill>
                  <a:schemeClr val="tx1"/>
                </a:solidFill>
              </a:rPr>
              <a:t>图像裁剪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 imagedata=context.getImageData(sx,sy,sw,sh); //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像素处理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context.drawImage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image,x,y,width,height</a:t>
            </a:r>
            <a:r>
              <a:rPr lang="en-US" altLang="zh-CN" sz="1600" dirty="0">
                <a:solidFill>
                  <a:schemeClr val="tx1"/>
                </a:solidFill>
              </a:rPr>
              <a:t>);//</a:t>
            </a:r>
            <a:r>
              <a:rPr lang="zh-CN" altLang="en-US" sz="1600" dirty="0">
                <a:solidFill>
                  <a:schemeClr val="tx1"/>
                </a:solidFill>
              </a:rPr>
              <a:t>按指定宽度和高度绘图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context.drawImage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image,sx,sy,sw,sh,dx,dy,dw,dh</a:t>
            </a:r>
            <a:r>
              <a:rPr lang="en-US" altLang="zh-CN" sz="1600" dirty="0">
                <a:solidFill>
                  <a:schemeClr val="tx1"/>
                </a:solidFill>
              </a:rPr>
              <a:t>);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//</a:t>
            </a:r>
            <a:r>
              <a:rPr lang="zh-CN" altLang="en-US" sz="1600" dirty="0">
                <a:solidFill>
                  <a:schemeClr val="tx1"/>
                </a:solidFill>
              </a:rPr>
              <a:t>选取图像的部分矩形区域进行绘制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/>
              <a:t>2</a:t>
            </a:r>
            <a:r>
              <a:rPr lang="zh-CN" altLang="en-US" sz="1600" b="1" dirty="0"/>
              <a:t>．语法说明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</a:t>
            </a:r>
            <a:r>
              <a:rPr lang="en-US" altLang="zh-CN" sz="1600" dirty="0" err="1">
                <a:solidFill>
                  <a:schemeClr val="tx1"/>
                </a:solidFill>
              </a:rPr>
              <a:t>drawImage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image,x,y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方法中参数说明如下：</a:t>
            </a:r>
            <a:r>
              <a:rPr lang="en-US" altLang="zh-CN" sz="1600" dirty="0">
                <a:solidFill>
                  <a:schemeClr val="tx1"/>
                </a:solidFill>
              </a:rPr>
              <a:t>x </a:t>
            </a:r>
            <a:r>
              <a:rPr lang="zh-CN" altLang="en-US" sz="1600" dirty="0">
                <a:solidFill>
                  <a:schemeClr val="tx1"/>
                </a:solidFill>
              </a:rPr>
              <a:t>表示绘制图像的</a:t>
            </a:r>
            <a:r>
              <a:rPr lang="en-US" altLang="zh-CN" sz="1600" dirty="0">
                <a:solidFill>
                  <a:schemeClr val="tx1"/>
                </a:solidFill>
              </a:rPr>
              <a:t>x </a:t>
            </a:r>
            <a:r>
              <a:rPr lang="zh-CN" altLang="en-US" sz="1600" dirty="0">
                <a:solidFill>
                  <a:schemeClr val="tx1"/>
                </a:solidFill>
              </a:rPr>
              <a:t>坐标；</a:t>
            </a:r>
            <a:r>
              <a:rPr lang="en-US" altLang="zh-CN" sz="1600" dirty="0">
                <a:solidFill>
                  <a:schemeClr val="tx1"/>
                </a:solidFill>
              </a:rPr>
              <a:t>y </a:t>
            </a:r>
            <a:r>
              <a:rPr lang="zh-CN" altLang="en-US" sz="1600" dirty="0">
                <a:solidFill>
                  <a:schemeClr val="tx1"/>
                </a:solidFill>
              </a:rPr>
              <a:t>表示绘制图像的</a:t>
            </a:r>
            <a:r>
              <a:rPr lang="en-US" altLang="zh-CN" sz="1600" dirty="0">
                <a:solidFill>
                  <a:schemeClr val="tx1"/>
                </a:solidFill>
              </a:rPr>
              <a:t>y </a:t>
            </a:r>
            <a:r>
              <a:rPr lang="zh-CN" altLang="en-US" sz="1600" dirty="0">
                <a:solidFill>
                  <a:schemeClr val="tx1"/>
                </a:solidFill>
              </a:rPr>
              <a:t>坐标；</a:t>
            </a:r>
            <a:r>
              <a:rPr lang="en-US" altLang="zh-CN" sz="1600" dirty="0">
                <a:solidFill>
                  <a:schemeClr val="tx1"/>
                </a:solidFill>
              </a:rPr>
              <a:t>image </a:t>
            </a:r>
            <a:r>
              <a:rPr lang="zh-CN" altLang="en-US" sz="1600" dirty="0">
                <a:solidFill>
                  <a:schemeClr val="tx1"/>
                </a:solidFill>
              </a:rPr>
              <a:t>表示图像对象。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createPattern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image,type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方法中参数说明：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type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取值有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4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种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，分别为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no-repeat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表示不平铺、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repeat-x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表示横方向平铺、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repeat-y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表</a:t>
            </a:r>
            <a:r>
              <a:rPr lang="zh-CN" altLang="en-US" sz="1600" dirty="0">
                <a:highlight>
                  <a:srgbClr val="FFFF00"/>
                </a:highlight>
                <a:sym typeface="+mn-ea"/>
              </a:rPr>
              <a:t>示纵方向平铺、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repeat </a:t>
            </a:r>
            <a:r>
              <a:rPr lang="zh-CN" altLang="en-US" sz="1600" dirty="0">
                <a:highlight>
                  <a:srgbClr val="FFFF00"/>
                </a:highlight>
                <a:sym typeface="+mn-ea"/>
              </a:rPr>
              <a:t>表示全方向平铺。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image</a:t>
            </a:r>
            <a:r>
              <a:rPr lang="zh-CN" altLang="en-US" sz="1600" dirty="0">
                <a:highlight>
                  <a:srgbClr val="FFFF00"/>
                </a:highlight>
                <a:sym typeface="+mn-ea"/>
              </a:rPr>
              <a:t>为图像对象。</a:t>
            </a:r>
            <a:endParaRPr lang="en-US" altLang="zh-CN" sz="1600" dirty="0"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2"/>
          <p:cNvSpPr>
            <a:spLocks noGrp="1"/>
          </p:cNvSpPr>
          <p:nvPr>
            <p:ph idx="1"/>
          </p:nvPr>
        </p:nvSpPr>
        <p:spPr>
          <a:xfrm>
            <a:off x="559435" y="1052830"/>
            <a:ext cx="6747510" cy="4893945"/>
          </a:xfr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&lt;canvas id="myCanvas" width="300" height="200"&gt;&lt;/canvas&gt;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……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&lt;script type="text/javascript"&gt;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function show()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var canvas = document.getElementById("myCanvas");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var context = canvas.getContext("2d");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var img = new Image();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  <a:sym typeface="+mn-ea"/>
              </a:rPr>
              <a:t>		img.src = "img/flower.jpg";</a:t>
            </a:r>
            <a:endParaRPr lang="en-US" altLang="zh-CN" sz="1400"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b="1">
                <a:ea typeface="宋体" panose="02010600030101010101" pitchFamily="2" charset="-122"/>
              </a:rPr>
              <a:t>		img.onload = function()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	context.drawImage(img,0,0,300,200);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	context.font="bold 70px Arial Black";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	context.strokeStyle="orangered";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	context.strokeText("flowers",120,180,150); 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	}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}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	window.onload=show;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ea typeface="宋体" panose="02010600030101010101" pitchFamily="2" charset="-122"/>
              </a:rPr>
              <a:t>&lt;/script&gt;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172</a:t>
            </a:fld>
            <a:endParaRPr lang="zh-CN" alt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80"/>
          <a:stretch>
            <a:fillRect/>
          </a:stretch>
        </p:blipFill>
        <p:spPr bwMode="auto">
          <a:xfrm>
            <a:off x="5603875" y="4255135"/>
            <a:ext cx="3409950" cy="218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绘制图像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绘制图像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0"/>
            <a:ext cx="8509000" cy="388619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/>
              <a:t>       </a:t>
            </a:r>
            <a:r>
              <a:rPr lang="en-US" altLang="zh-CN" sz="1555" dirty="0" err="1">
                <a:solidFill>
                  <a:srgbClr val="FF0000"/>
                </a:solidFill>
              </a:rPr>
              <a:t>context.clip</a:t>
            </a:r>
            <a:r>
              <a:rPr lang="en-US" altLang="zh-CN" sz="1555" dirty="0">
                <a:solidFill>
                  <a:srgbClr val="FF0000"/>
                </a:solidFill>
              </a:rPr>
              <a:t>()</a:t>
            </a:r>
            <a:r>
              <a:rPr lang="zh-CN" altLang="en-US" sz="1555" dirty="0"/>
              <a:t>方法只绘制封闭路径区域内的图像，不绘制路径外部图像。使用时先创建裁剪区域，再绘制图像。</a:t>
            </a:r>
            <a:endParaRPr lang="en-US" altLang="zh-CN" sz="1555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/>
              <a:t>      </a:t>
            </a:r>
            <a:r>
              <a:rPr lang="en-US" altLang="zh-CN" sz="1555" dirty="0" err="1">
                <a:solidFill>
                  <a:srgbClr val="FF0000"/>
                </a:solidFill>
              </a:rPr>
              <a:t>drawImage</a:t>
            </a:r>
            <a:r>
              <a:rPr lang="en-US" altLang="zh-CN" sz="1555" dirty="0">
                <a:solidFill>
                  <a:srgbClr val="FF0000"/>
                </a:solidFill>
              </a:rPr>
              <a:t>(</a:t>
            </a:r>
            <a:r>
              <a:rPr lang="en-US" altLang="zh-CN" sz="1555" dirty="0" err="1">
                <a:solidFill>
                  <a:srgbClr val="FF0000"/>
                </a:solidFill>
              </a:rPr>
              <a:t>image,x,y,width,height</a:t>
            </a:r>
            <a:r>
              <a:rPr lang="en-US" altLang="zh-CN" sz="1555" dirty="0">
                <a:solidFill>
                  <a:srgbClr val="FF0000"/>
                </a:solidFill>
              </a:rPr>
              <a:t>)</a:t>
            </a:r>
            <a:r>
              <a:rPr lang="zh-CN" altLang="en-US" sz="1555" dirty="0"/>
              <a:t>方法中参数说明如下：</a:t>
            </a:r>
            <a:r>
              <a:rPr lang="en-US" altLang="zh-CN" sz="1555" dirty="0"/>
              <a:t>x </a:t>
            </a:r>
            <a:r>
              <a:rPr lang="zh-CN" altLang="en-US" sz="1555" dirty="0"/>
              <a:t>表示绘制图像的</a:t>
            </a:r>
            <a:r>
              <a:rPr lang="en-US" altLang="zh-CN" sz="1555" dirty="0"/>
              <a:t>x </a:t>
            </a:r>
            <a:r>
              <a:rPr lang="zh-CN" altLang="en-US" sz="1555" dirty="0"/>
              <a:t>坐标；</a:t>
            </a:r>
            <a:r>
              <a:rPr lang="en-US" altLang="zh-CN" sz="1555" dirty="0"/>
              <a:t>y</a:t>
            </a:r>
            <a:r>
              <a:rPr lang="zh-CN" altLang="en-US" sz="1555" dirty="0"/>
              <a:t>表示绘制图像的</a:t>
            </a:r>
            <a:r>
              <a:rPr lang="en-US" altLang="zh-CN" sz="1555" dirty="0"/>
              <a:t>y </a:t>
            </a:r>
            <a:r>
              <a:rPr lang="zh-CN" altLang="en-US" sz="1555" dirty="0"/>
              <a:t>坐标；</a:t>
            </a:r>
            <a:r>
              <a:rPr lang="en-US" altLang="zh-CN" sz="1555" dirty="0"/>
              <a:t>width </a:t>
            </a:r>
            <a:r>
              <a:rPr lang="zh-CN" altLang="en-US" sz="1555" dirty="0"/>
              <a:t>表示绘制图像的宽度；</a:t>
            </a:r>
            <a:r>
              <a:rPr lang="en-US" altLang="zh-CN" sz="1555" dirty="0"/>
              <a:t>height </a:t>
            </a:r>
            <a:r>
              <a:rPr lang="zh-CN" altLang="en-US" sz="1555" dirty="0"/>
              <a:t>表示绘制图像的高度。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/>
              <a:t>       </a:t>
            </a:r>
            <a:r>
              <a:rPr lang="en-US" altLang="zh-CN" sz="1555" dirty="0" err="1">
                <a:solidFill>
                  <a:srgbClr val="FF0000"/>
                </a:solidFill>
              </a:rPr>
              <a:t>drawImage</a:t>
            </a:r>
            <a:r>
              <a:rPr lang="en-US" altLang="zh-CN" sz="1555" dirty="0">
                <a:solidFill>
                  <a:srgbClr val="FF0000"/>
                </a:solidFill>
              </a:rPr>
              <a:t>(</a:t>
            </a:r>
            <a:r>
              <a:rPr lang="en-US" altLang="zh-CN" sz="1555" dirty="0" err="1">
                <a:solidFill>
                  <a:srgbClr val="FF0000"/>
                </a:solidFill>
              </a:rPr>
              <a:t>image,sx,sy,sw,sh,dx,dy,dw,dh</a:t>
            </a:r>
            <a:r>
              <a:rPr lang="en-US" altLang="zh-CN" sz="1555" dirty="0">
                <a:solidFill>
                  <a:srgbClr val="FF0000"/>
                </a:solidFill>
              </a:rPr>
              <a:t>)</a:t>
            </a:r>
            <a:r>
              <a:rPr lang="zh-CN" altLang="en-US" sz="1555" dirty="0"/>
              <a:t>方法中参数说明如下：</a:t>
            </a:r>
            <a:r>
              <a:rPr lang="en-US" altLang="zh-CN" sz="1555" dirty="0"/>
              <a:t>sx </a:t>
            </a:r>
            <a:r>
              <a:rPr lang="zh-CN" altLang="en-US" sz="1555" dirty="0"/>
              <a:t>表示图像上的</a:t>
            </a:r>
            <a:r>
              <a:rPr lang="en-US" altLang="zh-CN" sz="1555" dirty="0"/>
              <a:t>x </a:t>
            </a:r>
            <a:r>
              <a:rPr lang="zh-CN" altLang="en-US" sz="1555" dirty="0"/>
              <a:t>坐标；</a:t>
            </a:r>
            <a:r>
              <a:rPr lang="en-US" altLang="zh-CN" sz="1555" dirty="0"/>
              <a:t>sy </a:t>
            </a:r>
            <a:r>
              <a:rPr lang="zh-CN" altLang="en-US" sz="1555" dirty="0"/>
              <a:t>表示图像上的</a:t>
            </a:r>
            <a:r>
              <a:rPr lang="en-US" altLang="zh-CN" sz="1555" dirty="0"/>
              <a:t>y </a:t>
            </a:r>
            <a:r>
              <a:rPr lang="zh-CN" altLang="en-US" sz="1555" dirty="0"/>
              <a:t>坐标；</a:t>
            </a:r>
            <a:r>
              <a:rPr lang="en-US" altLang="zh-CN" sz="1555" dirty="0"/>
              <a:t>sw </a:t>
            </a:r>
            <a:r>
              <a:rPr lang="zh-CN" altLang="en-US" sz="1555" dirty="0"/>
              <a:t>表示矩形区域的宽度；</a:t>
            </a:r>
            <a:r>
              <a:rPr lang="en-US" altLang="zh-CN" sz="1555" dirty="0"/>
              <a:t>sh </a:t>
            </a:r>
            <a:r>
              <a:rPr lang="zh-CN" altLang="en-US" sz="1555" dirty="0"/>
              <a:t>表示矩形区域的高度；</a:t>
            </a:r>
            <a:r>
              <a:rPr lang="en-US" altLang="zh-CN" sz="1555" dirty="0">
                <a:highlight>
                  <a:srgbClr val="FFFF00"/>
                </a:highlight>
              </a:rPr>
              <a:t>dx </a:t>
            </a:r>
            <a:r>
              <a:rPr lang="zh-CN" altLang="en-US" sz="1555" dirty="0">
                <a:highlight>
                  <a:srgbClr val="FFFF00"/>
                </a:highlight>
              </a:rPr>
              <a:t>表</a:t>
            </a:r>
            <a:r>
              <a:rPr lang="zh-CN" altLang="en-US" sz="1555" dirty="0"/>
              <a:t>示画在</a:t>
            </a:r>
            <a:r>
              <a:rPr lang="en-US" altLang="zh-CN" sz="1555" dirty="0"/>
              <a:t>canvas </a:t>
            </a:r>
            <a:r>
              <a:rPr lang="zh-CN" altLang="en-US" sz="1555" dirty="0"/>
              <a:t>的</a:t>
            </a:r>
            <a:r>
              <a:rPr lang="en-US" altLang="zh-CN" sz="1555" dirty="0"/>
              <a:t>x</a:t>
            </a:r>
            <a:r>
              <a:rPr lang="zh-CN" altLang="en-US" sz="1555" dirty="0">
                <a:sym typeface="+mn-ea"/>
              </a:rPr>
              <a:t>坐标；</a:t>
            </a:r>
            <a:r>
              <a:rPr lang="en-US" altLang="zh-CN" sz="1555" dirty="0" err="1">
                <a:sym typeface="+mn-ea"/>
              </a:rPr>
              <a:t>dy</a:t>
            </a:r>
            <a:r>
              <a:rPr lang="en-US" altLang="zh-CN" sz="1555" dirty="0">
                <a:sym typeface="+mn-ea"/>
              </a:rPr>
              <a:t> </a:t>
            </a:r>
            <a:r>
              <a:rPr lang="zh-CN" altLang="en-US" sz="1555" dirty="0">
                <a:sym typeface="+mn-ea"/>
              </a:rPr>
              <a:t>表示画在</a:t>
            </a:r>
            <a:r>
              <a:rPr lang="en-US" altLang="zh-CN" sz="1555" dirty="0">
                <a:sym typeface="+mn-ea"/>
              </a:rPr>
              <a:t>canvas </a:t>
            </a:r>
            <a:r>
              <a:rPr lang="zh-CN" altLang="en-US" sz="1555" dirty="0">
                <a:sym typeface="+mn-ea"/>
              </a:rPr>
              <a:t>的</a:t>
            </a:r>
            <a:r>
              <a:rPr lang="en-US" altLang="zh-CN" sz="1555" dirty="0">
                <a:sym typeface="+mn-ea"/>
              </a:rPr>
              <a:t>y </a:t>
            </a:r>
            <a:r>
              <a:rPr lang="zh-CN" altLang="en-US" sz="1555" dirty="0">
                <a:sym typeface="+mn-ea"/>
              </a:rPr>
              <a:t>坐标；</a:t>
            </a:r>
            <a:r>
              <a:rPr lang="en-US" altLang="zh-CN" sz="1555" dirty="0" err="1">
                <a:sym typeface="+mn-ea"/>
              </a:rPr>
              <a:t>dw</a:t>
            </a:r>
            <a:r>
              <a:rPr lang="en-US" altLang="zh-CN" sz="1555" dirty="0">
                <a:sym typeface="+mn-ea"/>
              </a:rPr>
              <a:t> </a:t>
            </a:r>
            <a:r>
              <a:rPr lang="zh-CN" altLang="en-US" sz="1555" dirty="0">
                <a:sym typeface="+mn-ea"/>
              </a:rPr>
              <a:t>表示画出来的宽度；</a:t>
            </a:r>
            <a:r>
              <a:rPr lang="en-US" altLang="zh-CN" sz="1555" dirty="0">
                <a:sym typeface="+mn-ea"/>
              </a:rPr>
              <a:t>dh </a:t>
            </a:r>
            <a:r>
              <a:rPr lang="zh-CN" altLang="en-US" sz="1555" dirty="0">
                <a:sym typeface="+mn-ea"/>
              </a:rPr>
              <a:t>表示画出来的高度。</a:t>
            </a:r>
            <a:endParaRPr lang="zh-CN" altLang="en-US" sz="1555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Canvas </a:t>
            </a:r>
            <a:r>
              <a:rPr lang="zh-CN" altLang="en-US" dirty="0"/>
              <a:t>绘制图像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59410" y="829310"/>
            <a:ext cx="7023735" cy="369443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  var </a:t>
            </a:r>
            <a:r>
              <a:rPr lang="en-US" altLang="zh-CN" dirty="0" err="1">
                <a:ea typeface="宋体" panose="02010600030101010101" pitchFamily="2" charset="-122"/>
              </a:rPr>
              <a:t>myCanvas</a:t>
            </a:r>
            <a:r>
              <a:rPr lang="en-US" altLang="zh-CN" dirty="0">
                <a:ea typeface="宋体" panose="02010600030101010101" pitchFamily="2" charset="-122"/>
              </a:rPr>
              <a:t>=</a:t>
            </a:r>
            <a:r>
              <a:rPr lang="en-US" altLang="zh-CN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dirty="0">
                <a:ea typeface="宋体" panose="02010600030101010101" pitchFamily="2" charset="-122"/>
              </a:rPr>
              <a:t>("</a:t>
            </a:r>
            <a:r>
              <a:rPr lang="en-US" altLang="zh-CN" dirty="0" err="1">
                <a:ea typeface="宋体" panose="02010600030101010101" pitchFamily="2" charset="-122"/>
              </a:rPr>
              <a:t>myCanvas</a:t>
            </a:r>
            <a:r>
              <a:rPr lang="en-US" altLang="zh-CN" dirty="0">
                <a:ea typeface="宋体" panose="02010600030101010101" pitchFamily="2" charset="-122"/>
              </a:rPr>
              <a:t>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	var </a:t>
            </a:r>
            <a:r>
              <a:rPr lang="en-US" altLang="zh-CN" dirty="0" err="1">
                <a:ea typeface="宋体" panose="02010600030101010101" pitchFamily="2" charset="-122"/>
              </a:rPr>
              <a:t>conText</a:t>
            </a:r>
            <a:r>
              <a:rPr lang="en-US" altLang="zh-CN" dirty="0">
                <a:ea typeface="宋体" panose="02010600030101010101" pitchFamily="2" charset="-122"/>
              </a:rPr>
              <a:t>=</a:t>
            </a:r>
            <a:r>
              <a:rPr lang="en-US" altLang="zh-CN" dirty="0" err="1">
                <a:ea typeface="宋体" panose="02010600030101010101" pitchFamily="2" charset="-122"/>
              </a:rPr>
              <a:t>myCanvas.getContext</a:t>
            </a:r>
            <a:r>
              <a:rPr lang="en-US" altLang="zh-CN" dirty="0">
                <a:ea typeface="宋体" panose="02010600030101010101" pitchFamily="2" charset="-122"/>
              </a:rPr>
              <a:t>("2d");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	var </a:t>
            </a:r>
            <a:r>
              <a:rPr lang="en-US" altLang="zh-CN" dirty="0" err="1">
                <a:ea typeface="宋体" panose="02010600030101010101" pitchFamily="2" charset="-122"/>
              </a:rPr>
              <a:t>img</a:t>
            </a:r>
            <a:r>
              <a:rPr lang="en-US" altLang="zh-CN" dirty="0">
                <a:ea typeface="宋体" panose="02010600030101010101" pitchFamily="2" charset="-122"/>
              </a:rPr>
              <a:t>=new Image();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ea typeface="宋体" panose="02010600030101010101" pitchFamily="2" charset="-122"/>
              </a:rPr>
              <a:t>img.src</a:t>
            </a:r>
            <a:r>
              <a:rPr lang="en-US" altLang="zh-CN" dirty="0">
                <a:ea typeface="宋体" panose="02010600030101010101" pitchFamily="2" charset="-122"/>
              </a:rPr>
              <a:t>="</a:t>
            </a:r>
            <a:r>
              <a:rPr lang="en-US" altLang="zh-CN" dirty="0" err="1">
                <a:ea typeface="宋体" panose="02010600030101010101" pitchFamily="2" charset="-122"/>
              </a:rPr>
              <a:t>img</a:t>
            </a:r>
            <a:r>
              <a:rPr lang="en-US" altLang="zh-CN" dirty="0">
                <a:ea typeface="宋体" panose="02010600030101010101" pitchFamily="2" charset="-122"/>
              </a:rPr>
              <a:t>/plane.png";</a:t>
            </a: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b="1" dirty="0" err="1">
                <a:ea typeface="宋体" panose="02010600030101010101" pitchFamily="2" charset="-122"/>
              </a:rPr>
              <a:t>img.onload</a:t>
            </a:r>
            <a:r>
              <a:rPr lang="en-US" altLang="zh-CN" b="1" dirty="0">
                <a:ea typeface="宋体" panose="02010600030101010101" pitchFamily="2" charset="-122"/>
              </a:rPr>
              <a:t>=function(){</a:t>
            </a:r>
          </a:p>
          <a:p>
            <a:pPr marL="457200" indent="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conText.drawImage</a:t>
            </a:r>
            <a:r>
              <a:rPr lang="en-US" altLang="zh-CN" dirty="0">
                <a:ea typeface="宋体" panose="02010600030101010101" pitchFamily="2" charset="-122"/>
              </a:rPr>
              <a:t>(img,0,0); //</a:t>
            </a:r>
            <a:r>
              <a:rPr lang="en-US" altLang="zh-CN" dirty="0" err="1">
                <a:ea typeface="宋体" panose="02010600030101010101" pitchFamily="2" charset="-122"/>
              </a:rPr>
              <a:t>在指定位置处开始绘图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conText.drawImage</a:t>
            </a:r>
            <a:r>
              <a:rPr lang="en-US" altLang="zh-CN" dirty="0">
                <a:ea typeface="宋体" panose="02010600030101010101" pitchFamily="2" charset="-122"/>
              </a:rPr>
              <a:t>(img,0,220,100,100);//</a:t>
            </a:r>
            <a:r>
              <a:rPr lang="en-US" altLang="zh-CN" dirty="0" err="1">
                <a:ea typeface="宋体" panose="02010600030101010101" pitchFamily="2" charset="-122"/>
              </a:rPr>
              <a:t>按指定宽度和高度绘图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/* </a:t>
            </a:r>
            <a:r>
              <a:rPr lang="en-US" altLang="zh-CN" dirty="0" err="1">
                <a:ea typeface="宋体" panose="02010600030101010101" pitchFamily="2" charset="-122"/>
              </a:rPr>
              <a:t>选取图像的部分矩形区域进行绘制</a:t>
            </a:r>
            <a:r>
              <a:rPr lang="en-US" altLang="zh-CN" dirty="0">
                <a:ea typeface="宋体" panose="02010600030101010101" pitchFamily="2" charset="-122"/>
              </a:rPr>
              <a:t> */</a:t>
            </a:r>
          </a:p>
          <a:p>
            <a:pPr marL="457200" indent="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conText.drawImage</a:t>
            </a:r>
            <a:r>
              <a:rPr lang="en-US" altLang="zh-CN" dirty="0">
                <a:ea typeface="宋体" panose="02010600030101010101" pitchFamily="2" charset="-122"/>
              </a:rPr>
              <a:t>(img,200,100,100,100,0,320,150,150);</a:t>
            </a:r>
          </a:p>
          <a:p>
            <a:pPr marL="457200" indent="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/* </a:t>
            </a:r>
            <a:r>
              <a:rPr lang="en-US" altLang="zh-CN" dirty="0" err="1">
                <a:ea typeface="宋体" panose="02010600030101010101" pitchFamily="2" charset="-122"/>
              </a:rPr>
              <a:t>图像圆形剪裁</a:t>
            </a:r>
            <a:r>
              <a:rPr lang="en-US" altLang="zh-CN" dirty="0">
                <a:ea typeface="宋体" panose="02010600030101010101" pitchFamily="2" charset="-122"/>
              </a:rPr>
              <a:t> */</a:t>
            </a: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ea typeface="宋体" panose="02010600030101010101" pitchFamily="2" charset="-122"/>
              </a:rPr>
              <a:t>conText.fillStyle</a:t>
            </a:r>
            <a:r>
              <a:rPr lang="en-US" altLang="zh-CN" dirty="0">
                <a:ea typeface="宋体" panose="02010600030101010101" pitchFamily="2" charset="-122"/>
              </a:rPr>
              <a:t>="black";//</a:t>
            </a:r>
            <a:r>
              <a:rPr lang="en-US" altLang="zh-CN" dirty="0" err="1">
                <a:ea typeface="宋体" panose="02010600030101010101" pitchFamily="2" charset="-122"/>
              </a:rPr>
              <a:t>填充样式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ea typeface="宋体" panose="02010600030101010101" pitchFamily="2" charset="-122"/>
              </a:rPr>
              <a:t>conText.fillRect</a:t>
            </a:r>
            <a:r>
              <a:rPr lang="en-US" altLang="zh-CN" dirty="0">
                <a:ea typeface="宋体" panose="02010600030101010101" pitchFamily="2" charset="-122"/>
              </a:rPr>
              <a:t>(200,220,200,200);//</a:t>
            </a:r>
            <a:r>
              <a:rPr lang="en-US" altLang="zh-CN" dirty="0" err="1">
                <a:ea typeface="宋体" panose="02010600030101010101" pitchFamily="2" charset="-122"/>
              </a:rPr>
              <a:t>填充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		</a:t>
            </a:r>
            <a:r>
              <a:rPr lang="en-US" altLang="zh-CN" dirty="0" err="1">
                <a:highlight>
                  <a:srgbClr val="FFFF00"/>
                </a:highlight>
                <a:ea typeface="宋体" panose="02010600030101010101" pitchFamily="2" charset="-122"/>
              </a:rPr>
              <a:t>conText.beginPath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();      //</a:t>
            </a:r>
            <a:r>
              <a:rPr lang="en-US" altLang="zh-CN" dirty="0" err="1">
                <a:highlight>
                  <a:srgbClr val="FFFF00"/>
                </a:highlight>
                <a:ea typeface="宋体" panose="02010600030101010101" pitchFamily="2" charset="-122"/>
              </a:rPr>
              <a:t>开始路径</a:t>
            </a:r>
            <a:endParaRPr lang="en-US" altLang="zh-CN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	conText.arc(300, 320, 100, 0, </a:t>
            </a:r>
            <a:r>
              <a:rPr lang="en-US" altLang="zh-CN" dirty="0" err="1">
                <a:highlight>
                  <a:srgbClr val="FFFF00"/>
                </a:highlight>
                <a:ea typeface="宋体" panose="02010600030101010101" pitchFamily="2" charset="-122"/>
              </a:rPr>
              <a:t>Math.PI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 * 2, true);  //</a:t>
            </a:r>
            <a:r>
              <a:rPr lang="en-US" altLang="zh-CN" dirty="0" err="1">
                <a:highlight>
                  <a:srgbClr val="FFFF00"/>
                </a:highlight>
                <a:ea typeface="宋体" panose="02010600030101010101" pitchFamily="2" charset="-122"/>
              </a:rPr>
              <a:t>形成圆形路径</a:t>
            </a:r>
            <a:endParaRPr lang="en-US" altLang="zh-CN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highlight>
                  <a:srgbClr val="FFFF00"/>
                </a:highlight>
                <a:ea typeface="宋体" panose="02010600030101010101" pitchFamily="2" charset="-122"/>
              </a:rPr>
              <a:t>conText.closePath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();      //</a:t>
            </a:r>
            <a:r>
              <a:rPr lang="en-US" altLang="zh-CN" dirty="0" err="1">
                <a:highlight>
                  <a:srgbClr val="FFFF00"/>
                </a:highlight>
                <a:ea typeface="宋体" panose="02010600030101010101" pitchFamily="2" charset="-122"/>
              </a:rPr>
              <a:t>结束路径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   </a:t>
            </a: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ea typeface="宋体" panose="02010600030101010101" pitchFamily="2" charset="-122"/>
              </a:rPr>
              <a:t>conText.clip</a:t>
            </a:r>
            <a:r>
              <a:rPr lang="en-US" altLang="zh-CN" dirty="0">
                <a:ea typeface="宋体" panose="02010600030101010101" pitchFamily="2" charset="-122"/>
              </a:rPr>
              <a:t>();               //</a:t>
            </a:r>
            <a:r>
              <a:rPr lang="en-US" altLang="zh-CN" dirty="0" err="1">
                <a:ea typeface="宋体" panose="02010600030101010101" pitchFamily="2" charset="-122"/>
              </a:rPr>
              <a:t>圆形剪裁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en-US" altLang="zh-CN" dirty="0" err="1">
                <a:ea typeface="宋体" panose="02010600030101010101" pitchFamily="2" charset="-122"/>
              </a:rPr>
              <a:t>conText.drawImage</a:t>
            </a:r>
            <a:r>
              <a:rPr lang="en-US" altLang="zh-CN" dirty="0">
                <a:ea typeface="宋体" panose="02010600030101010101" pitchFamily="2" charset="-122"/>
              </a:rPr>
              <a:t>(img,200,220);   //</a:t>
            </a:r>
            <a:r>
              <a:rPr lang="en-US" altLang="zh-CN" dirty="0" err="1">
                <a:ea typeface="宋体" panose="02010600030101010101" pitchFamily="2" charset="-122"/>
              </a:rPr>
              <a:t>按圆形剪裁图像，其余部分不可见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</a:p>
          <a:p>
            <a:pPr marL="45720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89015" y="4276725"/>
            <a:ext cx="2658745" cy="246634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BEE6214-6A42-4078-8097-59DF29789A22}"/>
              </a:ext>
            </a:extLst>
          </p:cNvPr>
          <p:cNvSpPr/>
          <p:nvPr/>
        </p:nvSpPr>
        <p:spPr>
          <a:xfrm>
            <a:off x="2590800" y="5109882"/>
            <a:ext cx="2133600" cy="824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填充的样式会在图片的上一层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填充模式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>
                <a:sym typeface="+mn-ea"/>
              </a:rPr>
              <a:t>Context</a:t>
            </a:r>
            <a:r>
              <a:rPr altLang="zh-CN" dirty="0">
                <a:sym typeface="+mn-ea"/>
              </a:rPr>
              <a:t>对象的</a:t>
            </a:r>
            <a:r>
              <a:rPr lang="en-US" altLang="zh-CN" dirty="0" err="1">
                <a:sym typeface="+mn-ea"/>
              </a:rPr>
              <a:t>createPattern</a:t>
            </a:r>
            <a:r>
              <a:rPr lang="en-US" altLang="zh-CN" dirty="0">
                <a:sym typeface="+mn-ea"/>
              </a:rPr>
              <a:t>()</a:t>
            </a:r>
            <a:r>
              <a:rPr altLang="zh-CN" dirty="0">
                <a:sym typeface="+mn-ea"/>
              </a:rPr>
              <a:t>方法可以用来填充图像，其用法如下：</a:t>
            </a:r>
            <a:endParaRPr lang="en-US" altLang="zh-CN" dirty="0"/>
          </a:p>
          <a:p>
            <a:pPr marL="0" indent="0" algn="ctr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en-US" altLang="zh-CN" dirty="0" err="1">
                <a:sym typeface="+mn-ea"/>
              </a:rPr>
              <a:t>context.createPattern</a:t>
            </a:r>
            <a:r>
              <a:rPr lang="en-US" altLang="zh-CN" dirty="0">
                <a:sym typeface="+mn-ea"/>
              </a:rPr>
              <a:t>(image, type);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altLang="zh-CN" dirty="0">
                <a:sym typeface="+mn-ea"/>
              </a:rPr>
              <a:t>其中，</a:t>
            </a:r>
            <a:r>
              <a:rPr lang="en-US" altLang="zh-CN" dirty="0">
                <a:sym typeface="+mn-ea"/>
              </a:rPr>
              <a:t>image</a:t>
            </a:r>
            <a:r>
              <a:rPr altLang="zh-CN" dirty="0">
                <a:sym typeface="+mn-ea"/>
              </a:rPr>
              <a:t>为要引用的</a:t>
            </a:r>
            <a:r>
              <a:rPr lang="en-US" altLang="zh-CN" dirty="0">
                <a:sym typeface="+mn-ea"/>
              </a:rPr>
              <a:t>image</a:t>
            </a:r>
            <a:r>
              <a:rPr altLang="zh-CN" dirty="0">
                <a:sym typeface="+mn-ea"/>
              </a:rPr>
              <a:t>对象或者另一个</a:t>
            </a:r>
            <a:r>
              <a:rPr lang="en-US" altLang="zh-CN" dirty="0">
                <a:sym typeface="+mn-ea"/>
              </a:rPr>
              <a:t>Canvas</a:t>
            </a:r>
            <a:r>
              <a:rPr altLang="zh-CN" dirty="0">
                <a:sym typeface="+mn-ea"/>
              </a:rPr>
              <a:t>对象，</a:t>
            </a:r>
            <a:r>
              <a:rPr lang="en-US" altLang="zh-CN" dirty="0">
                <a:sym typeface="+mn-ea"/>
              </a:rPr>
              <a:t>type</a:t>
            </a:r>
            <a:r>
              <a:rPr altLang="zh-CN" dirty="0">
                <a:sym typeface="+mn-ea"/>
              </a:rPr>
              <a:t>是填充图像的方式，可取值为：</a:t>
            </a:r>
            <a:endParaRPr lang="en-US" altLang="zh-CN" dirty="0"/>
          </a:p>
          <a:p>
            <a:pPr marL="914400" lvl="2"/>
            <a:r>
              <a:rPr lang="en-US" altLang="zh-CN" dirty="0">
                <a:highlight>
                  <a:srgbClr val="FFFF00"/>
                </a:highlight>
                <a:sym typeface="+mn-ea"/>
              </a:rPr>
              <a:t>repeat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：同时沿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x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轴方向和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y</a:t>
            </a:r>
            <a:r>
              <a:rPr altLang="zh-CN" dirty="0">
                <a:highlight>
                  <a:srgbClr val="FFFF00"/>
                </a:highlight>
                <a:sym typeface="+mn-ea"/>
              </a:rPr>
              <a:t>轴方向平铺；</a:t>
            </a:r>
            <a:endParaRPr lang="en-US" altLang="zh-CN" dirty="0">
              <a:highlight>
                <a:srgbClr val="FFFF00"/>
              </a:highlight>
            </a:endParaRPr>
          </a:p>
          <a:p>
            <a:pPr marL="914400" lvl="2"/>
            <a:r>
              <a:rPr lang="en-US" altLang="zh-CN" dirty="0">
                <a:sym typeface="+mn-ea"/>
              </a:rPr>
              <a:t>repeat-x</a:t>
            </a:r>
            <a:r>
              <a:rPr altLang="zh-CN" dirty="0">
                <a:sym typeface="+mn-ea"/>
              </a:rPr>
              <a:t>：只沿</a:t>
            </a:r>
            <a:r>
              <a:rPr lang="en-US" altLang="zh-CN" dirty="0">
                <a:sym typeface="+mn-ea"/>
              </a:rPr>
              <a:t>x</a:t>
            </a:r>
            <a:r>
              <a:rPr altLang="zh-CN" dirty="0">
                <a:sym typeface="+mn-ea"/>
              </a:rPr>
              <a:t>轴方向平铺；</a:t>
            </a:r>
            <a:endParaRPr lang="en-US" altLang="zh-CN" dirty="0"/>
          </a:p>
          <a:p>
            <a:pPr marL="914400" lvl="2"/>
            <a:r>
              <a:rPr lang="en-US" altLang="zh-CN" dirty="0">
                <a:sym typeface="+mn-ea"/>
              </a:rPr>
              <a:t>repeat-y</a:t>
            </a:r>
            <a:r>
              <a:rPr altLang="zh-CN" dirty="0">
                <a:sym typeface="+mn-ea"/>
              </a:rPr>
              <a:t>：只沿</a:t>
            </a:r>
            <a:r>
              <a:rPr lang="en-US" altLang="zh-CN" dirty="0">
                <a:sym typeface="+mn-ea"/>
              </a:rPr>
              <a:t>y</a:t>
            </a:r>
            <a:r>
              <a:rPr altLang="zh-CN" dirty="0">
                <a:sym typeface="+mn-ea"/>
              </a:rPr>
              <a:t>轴方向平铺；</a:t>
            </a:r>
            <a:endParaRPr lang="en-US" altLang="zh-CN" dirty="0"/>
          </a:p>
          <a:p>
            <a:pPr marL="914400" lvl="2"/>
            <a:r>
              <a:rPr lang="en-US" altLang="zh-CN" dirty="0">
                <a:sym typeface="+mn-ea"/>
              </a:rPr>
              <a:t>no-repeat</a:t>
            </a:r>
            <a:r>
              <a:rPr altLang="zh-CN" dirty="0">
                <a:sym typeface="+mn-ea"/>
              </a:rPr>
              <a:t>：不平铺。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0418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17855" y="3529330"/>
            <a:ext cx="4654550" cy="230695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var </a:t>
            </a:r>
            <a:r>
              <a:rPr lang="en-US" altLang="zh-CN" sz="1600" b="0" dirty="0" err="1">
                <a:ea typeface="宋体" panose="02010600030101010101" pitchFamily="2" charset="-122"/>
              </a:rPr>
              <a:t>img</a:t>
            </a:r>
            <a:r>
              <a:rPr lang="en-US" altLang="zh-CN" sz="1600" b="0" dirty="0">
                <a:ea typeface="宋体" panose="02010600030101010101" pitchFamily="2" charset="-122"/>
              </a:rPr>
              <a:t> = new Image();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img.onload</a:t>
            </a:r>
            <a:r>
              <a:rPr lang="en-US" altLang="zh-CN" sz="1600" b="0" dirty="0">
                <a:ea typeface="宋体" panose="02010600030101010101" pitchFamily="2" charset="-122"/>
              </a:rPr>
              <a:t> = function() {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var pattern = 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context.createPattern</a:t>
            </a:r>
            <a:r>
              <a:rPr lang="en-US" altLang="zh-CN" sz="1600" b="0" dirty="0">
                <a:ea typeface="宋体" panose="02010600030101010101" pitchFamily="2" charset="-122"/>
              </a:rPr>
              <a:t>(</a:t>
            </a:r>
            <a:r>
              <a:rPr lang="en-US" altLang="zh-CN" sz="1600" b="0" dirty="0" err="1">
                <a:ea typeface="宋体" panose="02010600030101010101" pitchFamily="2" charset="-122"/>
              </a:rPr>
              <a:t>img</a:t>
            </a:r>
            <a:r>
              <a:rPr lang="en-US" altLang="zh-CN" sz="1600" b="0" dirty="0">
                <a:ea typeface="宋体" panose="02010600030101010101" pitchFamily="2" charset="-122"/>
              </a:rPr>
              <a:t>, 'repeat');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600" b="0" dirty="0">
                <a:ea typeface="宋体" panose="02010600030101010101" pitchFamily="2" charset="-122"/>
              </a:rPr>
              <a:t> = pattern;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context.fillRect</a:t>
            </a:r>
            <a:r>
              <a:rPr lang="en-US" altLang="zh-CN" sz="1600" b="0" dirty="0">
                <a:ea typeface="宋体" panose="02010600030101010101" pitchFamily="2" charset="-122"/>
              </a:rPr>
              <a:t>(0, 0, 200, 200);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}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img.src</a:t>
            </a:r>
            <a:r>
              <a:rPr lang="en-US" altLang="zh-CN" sz="1600" b="0" dirty="0">
                <a:ea typeface="宋体" panose="02010600030101010101" pitchFamily="2" charset="-122"/>
              </a:rPr>
              <a:t> = "</a:t>
            </a:r>
            <a:r>
              <a:rPr lang="en-US" altLang="zh-CN" sz="1600" b="0" dirty="0" err="1">
                <a:ea typeface="宋体" panose="02010600030101010101" pitchFamily="2" charset="-122"/>
              </a:rPr>
              <a:t>img</a:t>
            </a:r>
            <a:r>
              <a:rPr lang="en-US" altLang="zh-CN" sz="1600" b="0" dirty="0">
                <a:ea typeface="宋体" panose="02010600030101010101" pitchFamily="2" charset="-122"/>
              </a:rPr>
              <a:t>/timg.jpg";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}</a:t>
            </a:r>
          </a:p>
          <a:p>
            <a:pPr marL="457200" indent="-457200">
              <a:spcBef>
                <a:spcPct val="0"/>
              </a:spcBef>
              <a:buNone/>
            </a:pPr>
            <a:endParaRPr lang="en-US" altLang="zh-CN" sz="1600" b="0" dirty="0">
              <a:ea typeface="宋体" panose="02010600030101010101" pitchFamily="2" charset="-122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460" y="3406140"/>
            <a:ext cx="2490470" cy="2553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透明度、阴影和模糊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pt-BR" altLang="zh-CN" dirty="0">
                <a:sym typeface="+mn-ea"/>
              </a:rPr>
              <a:t>rgba(R, G, B, A)</a:t>
            </a:r>
            <a:r>
              <a:rPr altLang="zh-CN" dirty="0">
                <a:sym typeface="+mn-ea"/>
              </a:rPr>
              <a:t>方法可以设置色彩的透明度。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 err="1">
                <a:sym typeface="+mn-ea"/>
              </a:rPr>
              <a:t>shadowOffsetX</a:t>
            </a:r>
            <a:r>
              <a:rPr altLang="zh-CN" dirty="0">
                <a:sym typeface="+mn-ea"/>
              </a:rPr>
              <a:t>：设置或返回形状与阴影的水平距离，默认值为</a:t>
            </a:r>
            <a:r>
              <a:rPr lang="en-US" altLang="zh-CN" dirty="0">
                <a:sym typeface="+mn-ea"/>
              </a:rPr>
              <a:t>0</a:t>
            </a:r>
            <a:r>
              <a:rPr altLang="zh-CN" dirty="0">
                <a:sym typeface="+mn-ea"/>
              </a:rPr>
              <a:t>；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 err="1">
                <a:sym typeface="+mn-ea"/>
              </a:rPr>
              <a:t>shadowOffsetY</a:t>
            </a:r>
            <a:r>
              <a:rPr altLang="zh-CN" dirty="0">
                <a:sym typeface="+mn-ea"/>
              </a:rPr>
              <a:t>：设置或返回形状与阴影的垂直</a:t>
            </a:r>
            <a:r>
              <a:rPr dirty="0">
                <a:sym typeface="+mn-ea"/>
              </a:rPr>
              <a:t>距离</a:t>
            </a:r>
            <a:r>
              <a:rPr altLang="zh-CN" dirty="0">
                <a:sym typeface="+mn-ea"/>
              </a:rPr>
              <a:t>，默认值为</a:t>
            </a:r>
            <a:r>
              <a:rPr lang="en-US" altLang="zh-CN" dirty="0">
                <a:sym typeface="+mn-ea"/>
              </a:rPr>
              <a:t>0</a:t>
            </a:r>
            <a:r>
              <a:rPr altLang="zh-CN" dirty="0">
                <a:sym typeface="+mn-ea"/>
              </a:rPr>
              <a:t>；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 err="1">
                <a:sym typeface="+mn-ea"/>
              </a:rPr>
              <a:t>shadowBlur</a:t>
            </a:r>
            <a:r>
              <a:rPr altLang="zh-CN" dirty="0">
                <a:sym typeface="+mn-ea"/>
              </a:rPr>
              <a:t>：设置或返回阴影的模糊级数，取值为整数值；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 err="1">
                <a:sym typeface="+mn-ea"/>
              </a:rPr>
              <a:t>shadowColor</a:t>
            </a:r>
            <a:r>
              <a:rPr altLang="zh-CN" dirty="0">
                <a:sym typeface="+mn-ea"/>
              </a:rPr>
              <a:t>：设置或返回阴影的颜色。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en-US" altLang="zh-CN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63490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93675" y="2557780"/>
            <a:ext cx="4623435" cy="230695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for(var </a:t>
            </a:r>
            <a:r>
              <a:rPr lang="en-US" altLang="zh-CN" sz="1600" b="0" dirty="0" err="1">
                <a:ea typeface="宋体" panose="02010600030101010101" pitchFamily="2" charset="-122"/>
              </a:rPr>
              <a:t>i</a:t>
            </a:r>
            <a:r>
              <a:rPr lang="en-US" altLang="zh-CN" sz="1600" b="0" dirty="0">
                <a:ea typeface="宋体" panose="02010600030101010101" pitchFamily="2" charset="-122"/>
              </a:rPr>
              <a:t> = 1; </a:t>
            </a:r>
            <a:r>
              <a:rPr lang="en-US" altLang="zh-CN" sz="1600" b="0" dirty="0" err="1">
                <a:ea typeface="宋体" panose="02010600030101010101" pitchFamily="2" charset="-122"/>
              </a:rPr>
              <a:t>i</a:t>
            </a:r>
            <a:r>
              <a:rPr lang="en-US" altLang="zh-CN" sz="1600" b="0" dirty="0">
                <a:ea typeface="宋体" panose="02010600030101010101" pitchFamily="2" charset="-122"/>
              </a:rPr>
              <a:t> &lt; 10; </a:t>
            </a:r>
            <a:r>
              <a:rPr lang="en-US" altLang="zh-CN" sz="1600" b="0" dirty="0" err="1">
                <a:ea typeface="宋体" panose="02010600030101010101" pitchFamily="2" charset="-122"/>
              </a:rPr>
              <a:t>i</a:t>
            </a:r>
            <a:r>
              <a:rPr lang="en-US" altLang="zh-CN" sz="1600" b="0" dirty="0">
                <a:ea typeface="宋体" panose="02010600030101010101" pitchFamily="2" charset="-122"/>
              </a:rPr>
              <a:t>++) {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600" b="0" dirty="0">
                <a:ea typeface="宋体" panose="02010600030101010101" pitchFamily="2" charset="-122"/>
              </a:rPr>
              <a:t> = "</a:t>
            </a:r>
            <a:r>
              <a:rPr lang="en-US" altLang="zh-CN" sz="1600" b="0" dirty="0" err="1">
                <a:ea typeface="宋体" panose="02010600030101010101" pitchFamily="2" charset="-122"/>
              </a:rPr>
              <a:t>rgba</a:t>
            </a:r>
            <a:r>
              <a:rPr lang="en-US" altLang="zh-CN" sz="1600" b="0" dirty="0">
                <a:ea typeface="宋体" panose="02010600030101010101" pitchFamily="2" charset="-122"/>
              </a:rPr>
              <a:t>(0,255,0,"+((i-1)/9)+")";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context.save</a:t>
            </a:r>
            <a:r>
              <a:rPr lang="en-US" altLang="zh-CN" sz="1600" b="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context.beginPath</a:t>
            </a:r>
            <a:r>
              <a:rPr lang="en-US" altLang="zh-CN" sz="1600" b="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context.arc(40, 40, 30, 0, </a:t>
            </a:r>
            <a:r>
              <a:rPr lang="en-US" altLang="zh-CN" sz="1600" b="0" dirty="0" err="1">
                <a:ea typeface="宋体" panose="02010600030101010101" pitchFamily="2" charset="-122"/>
              </a:rPr>
              <a:t>Math.PI</a:t>
            </a:r>
            <a:r>
              <a:rPr lang="en-US" altLang="zh-CN" sz="1600" b="0" dirty="0">
                <a:ea typeface="宋体" panose="02010600030101010101" pitchFamily="2" charset="-122"/>
              </a:rPr>
              <a:t> * 2);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context.closePath</a:t>
            </a:r>
            <a:r>
              <a:rPr lang="en-US" altLang="zh-CN" sz="1600" b="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context.fill</a:t>
            </a:r>
            <a:r>
              <a:rPr lang="en-US" altLang="zh-CN" sz="1600" b="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	</a:t>
            </a:r>
            <a:r>
              <a:rPr lang="en-US" altLang="zh-CN" sz="1600" b="0" dirty="0" err="1">
                <a:ea typeface="宋体" panose="02010600030101010101" pitchFamily="2" charset="-122"/>
              </a:rPr>
              <a:t>context.translate</a:t>
            </a:r>
            <a:r>
              <a:rPr lang="en-US" altLang="zh-CN" sz="1600" b="0" dirty="0">
                <a:ea typeface="宋体" panose="02010600030101010101" pitchFamily="2" charset="-122"/>
              </a:rPr>
              <a:t>(60, 0);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>
                <a:ea typeface="宋体" panose="02010600030101010101" pitchFamily="2" charset="-122"/>
              </a:rPr>
              <a:t>}</a:t>
            </a:r>
          </a:p>
        </p:txBody>
      </p:sp>
      <p:pic>
        <p:nvPicPr>
          <p:cNvPr id="64514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45" r="2920" b="8233"/>
          <a:stretch>
            <a:fillRect/>
          </a:stretch>
        </p:blipFill>
        <p:spPr bwMode="auto">
          <a:xfrm>
            <a:off x="1041400" y="5225415"/>
            <a:ext cx="2927350" cy="486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719320" y="2095500"/>
            <a:ext cx="4272280" cy="255333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b="1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context.shadowOffsetX</a:t>
            </a:r>
            <a:r>
              <a:rPr lang="en-US" altLang="zh-CN" sz="1600" b="0" dirty="0">
                <a:ea typeface="宋体" panose="02010600030101010101" pitchFamily="2" charset="-122"/>
              </a:rPr>
              <a:t>=4;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context.shadowOffsetY</a:t>
            </a:r>
            <a:r>
              <a:rPr lang="en-US" altLang="zh-CN" sz="1600" b="0" dirty="0">
                <a:ea typeface="宋体" panose="02010600030101010101" pitchFamily="2" charset="-122"/>
              </a:rPr>
              <a:t>=4;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context.shadowBlur</a:t>
            </a:r>
            <a:r>
              <a:rPr lang="en-US" altLang="zh-CN" sz="1600" b="0" dirty="0">
                <a:ea typeface="宋体" panose="02010600030101010101" pitchFamily="2" charset="-122"/>
              </a:rPr>
              <a:t>=2;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context.shadowColor</a:t>
            </a:r>
            <a:r>
              <a:rPr lang="en-US" altLang="zh-CN" sz="1600" b="0" dirty="0">
                <a:ea typeface="宋体" panose="02010600030101010101" pitchFamily="2" charset="-122"/>
              </a:rPr>
              <a:t>="</a:t>
            </a:r>
            <a:r>
              <a:rPr lang="en-US" altLang="zh-CN" sz="1600" b="0" dirty="0" err="1">
                <a:ea typeface="宋体" panose="02010600030101010101" pitchFamily="2" charset="-122"/>
              </a:rPr>
              <a:t>rgba</a:t>
            </a:r>
            <a:r>
              <a:rPr lang="en-US" altLang="zh-CN" sz="1600" b="0" dirty="0">
                <a:ea typeface="宋体" panose="02010600030101010101" pitchFamily="2" charset="-122"/>
              </a:rPr>
              <a:t>(0,0,0,0.5)";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context.font</a:t>
            </a:r>
            <a:r>
              <a:rPr lang="en-US" altLang="zh-CN" sz="1600" b="0" dirty="0">
                <a:ea typeface="宋体" panose="02010600030101010101" pitchFamily="2" charset="-122"/>
              </a:rPr>
              <a:t>="italic 35px </a:t>
            </a:r>
            <a:r>
              <a:rPr lang="zh-CN" altLang="en-US" sz="1600" b="0" dirty="0">
                <a:ea typeface="宋体" panose="02010600030101010101" pitchFamily="2" charset="-122"/>
              </a:rPr>
              <a:t>黑体</a:t>
            </a:r>
            <a:r>
              <a:rPr lang="en-US" altLang="zh-CN" sz="1600" b="0" dirty="0">
                <a:ea typeface="宋体" panose="02010600030101010101" pitchFamily="2" charset="-122"/>
              </a:rPr>
              <a:t>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context.fillStyle</a:t>
            </a:r>
            <a:r>
              <a:rPr lang="en-US" altLang="zh-CN" sz="1600" b="0" dirty="0">
                <a:ea typeface="宋体" panose="02010600030101010101" pitchFamily="2" charset="-122"/>
              </a:rPr>
              <a:t>="red";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context.fillText</a:t>
            </a:r>
            <a:r>
              <a:rPr lang="en-US" altLang="zh-CN" sz="1600" b="0" dirty="0">
                <a:ea typeface="宋体" panose="02010600030101010101" pitchFamily="2" charset="-122"/>
              </a:rPr>
              <a:t>("</a:t>
            </a:r>
            <a:r>
              <a:rPr lang="zh-CN" altLang="en-US" sz="1600" b="0" dirty="0">
                <a:ea typeface="宋体" panose="02010600030101010101" pitchFamily="2" charset="-122"/>
              </a:rPr>
              <a:t>红色填充文字</a:t>
            </a:r>
            <a:r>
              <a:rPr lang="en-US" altLang="zh-CN" sz="1600" b="0" dirty="0">
                <a:ea typeface="宋体" panose="02010600030101010101" pitchFamily="2" charset="-122"/>
              </a:rPr>
              <a:t>",10,40,200);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context.font</a:t>
            </a:r>
            <a:r>
              <a:rPr lang="en-US" altLang="zh-CN" sz="1600" b="0" dirty="0">
                <a:ea typeface="宋体" panose="02010600030101010101" pitchFamily="2" charset="-122"/>
              </a:rPr>
              <a:t>="bold 40px </a:t>
            </a:r>
            <a:r>
              <a:rPr lang="zh-CN" altLang="en-US" sz="1600" b="0" dirty="0">
                <a:ea typeface="宋体" panose="02010600030101010101" pitchFamily="2" charset="-122"/>
              </a:rPr>
              <a:t>宋体</a:t>
            </a:r>
            <a:r>
              <a:rPr lang="en-US" altLang="zh-CN" sz="1600" b="0" dirty="0">
                <a:ea typeface="宋体" panose="02010600030101010101" pitchFamily="2" charset="-122"/>
              </a:rPr>
              <a:t>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context.strokeStyle</a:t>
            </a:r>
            <a:r>
              <a:rPr lang="en-US" altLang="zh-CN" sz="1600" b="0" dirty="0">
                <a:ea typeface="宋体" panose="02010600030101010101" pitchFamily="2" charset="-122"/>
              </a:rPr>
              <a:t>="green";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1600" b="0" dirty="0" err="1">
                <a:ea typeface="宋体" panose="02010600030101010101" pitchFamily="2" charset="-122"/>
              </a:rPr>
              <a:t>context.strokeText</a:t>
            </a:r>
            <a:r>
              <a:rPr lang="en-US" altLang="zh-CN" sz="1600" b="0" dirty="0">
                <a:ea typeface="宋体" panose="02010600030101010101" pitchFamily="2" charset="-122"/>
              </a:rPr>
              <a:t>("</a:t>
            </a:r>
            <a:r>
              <a:rPr lang="zh-CN" altLang="en-US" sz="1600" b="0" dirty="0">
                <a:ea typeface="宋体" panose="02010600030101010101" pitchFamily="2" charset="-122"/>
              </a:rPr>
              <a:t>绿色轮廓文字</a:t>
            </a:r>
            <a:r>
              <a:rPr lang="en-US" altLang="zh-CN" sz="1600" b="0" dirty="0">
                <a:ea typeface="宋体" panose="02010600030101010101" pitchFamily="2" charset="-122"/>
              </a:rPr>
              <a:t>",10,100,200);</a:t>
            </a:r>
          </a:p>
        </p:txBody>
      </p:sp>
      <p:pic>
        <p:nvPicPr>
          <p:cNvPr id="67586" name="Picture 2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25" b="5669"/>
          <a:stretch>
            <a:fillRect/>
          </a:stretch>
        </p:blipFill>
        <p:spPr bwMode="auto">
          <a:xfrm>
            <a:off x="5092065" y="4721225"/>
            <a:ext cx="3641725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requestAnimationFrame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1600" dirty="0"/>
              <a:t>告诉浏览器你希望执行一个动画，并且要求浏览器在下次重绘之前调用指定的函数更新动画。该方法需要传入一个函数作为参数，该函数会在浏览器下一次重绘之前执行。它允许我们按照浏览器的刷新率来调度动画帧，从而实现更加流畅和高效的动画效果。</a:t>
            </a:r>
          </a:p>
          <a:p>
            <a:r>
              <a:rPr lang="zh-CN" altLang="en-US" sz="1600" dirty="0"/>
              <a:t>如果显示器的刷新频率是 60Hz，每秒重绘 60 次，那么大多数浏览器都会对重绘操作加以限制，不超过显示器的重绘频率，</a:t>
            </a:r>
            <a:r>
              <a:rPr lang="zh-CN" altLang="en-US" sz="1600" dirty="0">
                <a:highlight>
                  <a:srgbClr val="FFFF00"/>
                </a:highlight>
              </a:rPr>
              <a:t>因此循环间隔约是16.6ms</a:t>
            </a:r>
            <a:r>
              <a:rPr sz="1600" dirty="0"/>
              <a:t>，</a:t>
            </a:r>
            <a:r>
              <a:rPr sz="1600" dirty="0">
                <a:sym typeface="+mn-ea"/>
              </a:rPr>
              <a:t>实现流畅和自然的动画效果。</a:t>
            </a:r>
            <a:endParaRPr lang="zh-CN" altLang="en-US" sz="1600" dirty="0"/>
          </a:p>
          <a:p>
            <a:r>
              <a:rPr lang="zh-CN" altLang="en-US" sz="1600" dirty="0"/>
              <a:t>之前常常</a:t>
            </a:r>
            <a:r>
              <a:rPr lang="zh-CN" altLang="en-US" sz="1600" dirty="0">
                <a:highlight>
                  <a:srgbClr val="FFFF00"/>
                </a:highlight>
              </a:rPr>
              <a:t>使用setTimeout()或setInterval()方法</a:t>
            </a:r>
            <a:r>
              <a:rPr lang="zh-CN" altLang="en-US" sz="1600" dirty="0"/>
              <a:t>来定时更新动画帧。但是它们受限于定时器的精度和浏览器在</a:t>
            </a:r>
            <a:r>
              <a:rPr lang="zh-CN" altLang="en-US" sz="1600" dirty="0">
                <a:highlight>
                  <a:srgbClr val="FFFF00"/>
                </a:highlight>
              </a:rPr>
              <a:t>不同设备上的性能差异。</a:t>
            </a:r>
          </a:p>
          <a:p>
            <a:pPr lvl="1"/>
            <a:r>
              <a:rPr lang="zh-CN" altLang="en-US" sz="1600" dirty="0"/>
              <a:t>它们的运行机制决定了时间间隔参数实际上只是指定了</a:t>
            </a:r>
            <a:r>
              <a:rPr lang="zh-CN" altLang="en-US" sz="1600" dirty="0">
                <a:highlight>
                  <a:srgbClr val="FFFF00"/>
                </a:highlight>
              </a:rPr>
              <a:t>把动画代码添加到浏览器 UI 线程队列中以等待执行的时间</a:t>
            </a:r>
            <a:r>
              <a:rPr lang="zh-CN" altLang="en-US" sz="1600" dirty="0"/>
              <a:t>。如果队列前面已经加入了其他任务，那动画代码就要等前面的任务完成后再执行</a:t>
            </a:r>
          </a:p>
          <a:p>
            <a:r>
              <a:rPr lang="zh-CN" altLang="en-US" sz="1600" dirty="0"/>
              <a:t>类似</a:t>
            </a:r>
            <a:r>
              <a:rPr lang="en-US" altLang="zh-CN" sz="1600" dirty="0" err="1"/>
              <a:t>setTimeout</a:t>
            </a:r>
            <a:r>
              <a:rPr sz="1600" dirty="0"/>
              <a:t>，通常需要在回调函数中再次调用</a:t>
            </a:r>
          </a:p>
          <a:p>
            <a:pPr lvl="1"/>
            <a:r>
              <a:rPr lang="en-US" altLang="zh-CN" sz="1600" dirty="0"/>
              <a:t>function </a:t>
            </a:r>
            <a:r>
              <a:rPr lang="en-US" altLang="zh-CN" sz="1600" dirty="0" err="1"/>
              <a:t>drawSth</a:t>
            </a:r>
            <a:r>
              <a:rPr lang="en-US" altLang="zh-CN" sz="1600" dirty="0"/>
              <a:t>(){....if (...) </a:t>
            </a:r>
            <a:r>
              <a:rPr lang="en-US" altLang="zh-CN" sz="1600" dirty="0">
                <a:highlight>
                  <a:srgbClr val="FFFF00"/>
                </a:highlight>
              </a:rPr>
              <a:t>timer=</a:t>
            </a:r>
            <a:r>
              <a:rPr lang="en-US" altLang="zh-CN" sz="1600" dirty="0" err="1">
                <a:highlight>
                  <a:srgbClr val="FFFF00"/>
                </a:highlight>
              </a:rPr>
              <a:t>requestAnimationFrame</a:t>
            </a:r>
            <a:r>
              <a:rPr lang="en-US" altLang="zh-CN" sz="1600" dirty="0">
                <a:highlight>
                  <a:srgbClr val="FFFF00"/>
                </a:highlight>
              </a:rPr>
              <a:t>(</a:t>
            </a:r>
            <a:r>
              <a:rPr lang="en-US" altLang="zh-CN" sz="1600" dirty="0" err="1">
                <a:highlight>
                  <a:srgbClr val="FFFF00"/>
                </a:highlight>
              </a:rPr>
              <a:t>drawSth</a:t>
            </a:r>
            <a:r>
              <a:rPr lang="en-US" altLang="zh-CN" sz="1600" dirty="0">
                <a:highlight>
                  <a:srgbClr val="FFFF00"/>
                </a:highlight>
              </a:rPr>
              <a:t>); </a:t>
            </a:r>
            <a:r>
              <a:rPr lang="en-US" altLang="zh-CN" sz="1600" dirty="0"/>
              <a:t>...}</a:t>
            </a:r>
          </a:p>
          <a:p>
            <a:pPr lvl="1"/>
            <a:r>
              <a:rPr lang="en-US" altLang="zh-CN" sz="1600" dirty="0"/>
              <a:t>if (...) </a:t>
            </a:r>
            <a:r>
              <a:rPr lang="en-US" altLang="zh-CN" sz="1600" dirty="0" err="1">
                <a:highlight>
                  <a:srgbClr val="FFFF00"/>
                </a:highlight>
              </a:rPr>
              <a:t>cancelAnimationFrame</a:t>
            </a:r>
            <a:r>
              <a:rPr lang="en-US" altLang="zh-CN" sz="1600" dirty="0">
                <a:highlight>
                  <a:srgbClr val="FFFF00"/>
                </a:highlight>
              </a:rPr>
              <a:t>(timer)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</a:t>
            </a:r>
            <a:r>
              <a:rPr lang="zh-CN" altLang="en-US" dirty="0"/>
              <a:t>拖放</a:t>
            </a:r>
            <a:endParaRPr lang="zh-CN" altLang="zh-CN" dirty="0"/>
          </a:p>
        </p:txBody>
      </p:sp>
      <p:sp>
        <p:nvSpPr>
          <p:cNvPr id="117765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       拖放（</a:t>
            </a:r>
            <a:r>
              <a:rPr lang="en-US" altLang="zh-CN" sz="1400" dirty="0"/>
              <a:t>Drag </a:t>
            </a:r>
            <a:r>
              <a:rPr lang="zh-CN" altLang="en-US" sz="1400" dirty="0"/>
              <a:t>和</a:t>
            </a:r>
            <a:r>
              <a:rPr lang="en-US" altLang="zh-CN" sz="1400" dirty="0"/>
              <a:t>Drop</a:t>
            </a:r>
            <a:r>
              <a:rPr lang="zh-CN" altLang="en-US" sz="1400" dirty="0"/>
              <a:t>）即抓取对象以后拖到另一个位置。任何元素都能够拖放，只要设置</a:t>
            </a:r>
            <a:r>
              <a:rPr lang="en-US" altLang="zh-CN" sz="1400" dirty="0">
                <a:highlight>
                  <a:srgbClr val="FFFF00"/>
                </a:highlight>
              </a:rPr>
              <a:t>draggable </a:t>
            </a:r>
            <a:r>
              <a:rPr lang="zh-CN" altLang="en-US" sz="1400" dirty="0">
                <a:highlight>
                  <a:srgbClr val="FFFF00"/>
                </a:highlight>
              </a:rPr>
              <a:t>属性为</a:t>
            </a:r>
            <a:r>
              <a:rPr lang="en-US" altLang="zh-CN" sz="1400" dirty="0">
                <a:highlight>
                  <a:srgbClr val="FFFF00"/>
                </a:highlight>
              </a:rPr>
              <a:t>true </a:t>
            </a:r>
            <a:r>
              <a:rPr lang="zh-CN" altLang="en-US" sz="1400" dirty="0"/>
              <a:t>即可。</a:t>
            </a:r>
            <a:r>
              <a:rPr lang="en-US" altLang="zh-CN" sz="1400" dirty="0"/>
              <a:t>IE9</a:t>
            </a:r>
            <a:r>
              <a:rPr lang="zh-CN" altLang="en-US" sz="1400" dirty="0"/>
              <a:t>、</a:t>
            </a:r>
            <a:r>
              <a:rPr lang="en-US" altLang="zh-CN" sz="1400" dirty="0"/>
              <a:t>Firefox</a:t>
            </a:r>
            <a:r>
              <a:rPr lang="zh-CN" altLang="en-US" sz="1400" dirty="0"/>
              <a:t>、</a:t>
            </a:r>
            <a:r>
              <a:rPr lang="en-US" altLang="zh-CN" sz="1400" dirty="0"/>
              <a:t>Opera</a:t>
            </a:r>
            <a:r>
              <a:rPr lang="zh-CN" altLang="en-US" sz="1400" dirty="0"/>
              <a:t>、</a:t>
            </a:r>
            <a:r>
              <a:rPr lang="en-US" altLang="zh-CN" sz="1400" dirty="0"/>
              <a:t>Chrome </a:t>
            </a:r>
            <a:r>
              <a:rPr lang="zh-CN" altLang="en-US" sz="1400" dirty="0"/>
              <a:t>以及</a:t>
            </a:r>
            <a:r>
              <a:rPr lang="en-US" altLang="zh-CN" sz="1400" dirty="0"/>
              <a:t>Safari6 </a:t>
            </a:r>
            <a:r>
              <a:rPr lang="zh-CN" altLang="en-US" sz="1400" dirty="0"/>
              <a:t>等高版本的浏览器均支持拖放。</a:t>
            </a:r>
          </a:p>
          <a:p>
            <a:pPr>
              <a:buNone/>
            </a:pPr>
            <a:r>
              <a:rPr lang="en-US" altLang="zh-CN" sz="1400" b="1" dirty="0"/>
              <a:t>17.3.1 </a:t>
            </a:r>
            <a:r>
              <a:rPr lang="zh-CN" altLang="en-US" sz="1400" b="1" dirty="0"/>
              <a:t>设置元素为可拖放</a:t>
            </a:r>
            <a:endParaRPr lang="en-US" altLang="zh-CN" sz="1400" b="1" dirty="0"/>
          </a:p>
          <a:p>
            <a:pPr>
              <a:buNone/>
            </a:pPr>
            <a:r>
              <a:rPr lang="en-US" altLang="zh-CN" sz="1400" dirty="0">
                <a:solidFill>
                  <a:srgbClr val="FF0000"/>
                </a:solidFill>
              </a:rPr>
              <a:t>      &lt;</a:t>
            </a:r>
            <a:r>
              <a:rPr lang="zh-CN" altLang="en-US" sz="1400" dirty="0">
                <a:solidFill>
                  <a:srgbClr val="FF0000"/>
                </a:solidFill>
              </a:rPr>
              <a:t>标记</a:t>
            </a:r>
            <a:r>
              <a:rPr lang="en-US" altLang="zh-CN" sz="1400" dirty="0">
                <a:solidFill>
                  <a:srgbClr val="FF0000"/>
                </a:solidFill>
              </a:rPr>
              <a:t> id=“” </a:t>
            </a:r>
            <a:r>
              <a:rPr lang="en-US" altLang="zh-CN" sz="1400" dirty="0" err="1">
                <a:solidFill>
                  <a:srgbClr val="FF0000"/>
                </a:solidFill>
              </a:rPr>
              <a:t>src</a:t>
            </a:r>
            <a:r>
              <a:rPr lang="en-US" altLang="zh-CN" sz="1400" dirty="0">
                <a:solidFill>
                  <a:srgbClr val="FF0000"/>
                </a:solidFill>
              </a:rPr>
              <a:t>=“” </a:t>
            </a:r>
            <a:r>
              <a:rPr lang="en-US" altLang="zh-CN" sz="1400" u="sng" dirty="0" err="1">
                <a:solidFill>
                  <a:srgbClr val="FF0000"/>
                </a:solidFill>
              </a:rPr>
              <a:t>draggable</a:t>
            </a:r>
            <a:r>
              <a:rPr lang="en-US" altLang="zh-CN" sz="1400" u="sng" dirty="0">
                <a:solidFill>
                  <a:srgbClr val="FF0000"/>
                </a:solidFill>
              </a:rPr>
              <a:t>=“true” </a:t>
            </a:r>
            <a:r>
              <a:rPr lang="en-US" altLang="zh-CN" sz="1400" dirty="0">
                <a:solidFill>
                  <a:srgbClr val="FF0000"/>
                </a:solidFill>
              </a:rPr>
              <a:t>&gt;&lt;/</a:t>
            </a:r>
            <a:r>
              <a:rPr lang="zh-CN" altLang="en-US" sz="1400" dirty="0">
                <a:solidFill>
                  <a:srgbClr val="FF0000"/>
                </a:solidFill>
              </a:rPr>
              <a:t>标记</a:t>
            </a:r>
            <a:r>
              <a:rPr lang="en-US" altLang="zh-CN" sz="1400" dirty="0">
                <a:solidFill>
                  <a:srgbClr val="FF0000"/>
                </a:solidFill>
              </a:rPr>
              <a:t>&gt;</a:t>
            </a:r>
          </a:p>
          <a:p>
            <a:pPr>
              <a:buNone/>
            </a:pPr>
            <a:endParaRPr lang="zh-CN" altLang="zh-CN" sz="1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拖放事件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2925223"/>
              </p:ext>
            </p:extLst>
          </p:nvPr>
        </p:nvGraphicFramePr>
        <p:xfrm>
          <a:off x="502412" y="2166024"/>
          <a:ext cx="8228965" cy="261410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事件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事件属性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6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dragstart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zh-CN" sz="14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ondragstart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zh-CN" sz="14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网页元素开始拖动时触发。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6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drag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ondrag</a:t>
                      </a:r>
                      <a:endParaRPr lang="zh-CN" sz="1400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被拖动的元素在拖动过程中持续触发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117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dragenter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ondragenter</a:t>
                      </a:r>
                      <a:endParaRPr lang="zh-CN" sz="1400" kern="10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被拖动的元素进入目标元素时触发，应在</a:t>
                      </a:r>
                      <a:r>
                        <a:rPr lang="zh-CN" sz="14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目标元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素监听该事件。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dragleave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ondragleave</a:t>
                      </a:r>
                      <a:endParaRPr lang="zh-CN" sz="1400" kern="10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被拖动的元素离开目标元素时触发，应在目标元素监听该事件。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03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dragover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ondragover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被拖动元素停留在目标元素之中时持续触发，应在</a:t>
                      </a:r>
                      <a:r>
                        <a:rPr lang="zh-CN" sz="14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目标元素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监听该事件。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16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drop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ondrop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拖动操作结束，放置元素时触发。监听器负责检索被拖动的数据以及在放置位置插入它。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0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dragend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ondragend</a:t>
                      </a:r>
                      <a:endParaRPr lang="zh-CN" sz="1400" kern="1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网页元素拖动结束时触发。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09600" y="4419600"/>
            <a:ext cx="84582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899921" y="1771168"/>
            <a:ext cx="290004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表</a:t>
            </a:r>
            <a:r>
              <a:rPr lang="en-US" altLang="zh-CN" sz="1400" dirty="0"/>
              <a:t>17-3 </a:t>
            </a:r>
            <a:r>
              <a:rPr lang="zh-CN" altLang="en-US" sz="1400" dirty="0"/>
              <a:t>拖放过程发生的事件及说明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dataTransfer</a:t>
            </a:r>
            <a:r>
              <a:rPr lang="en-US" altLang="zh-CN" dirty="0"/>
              <a:t> </a:t>
            </a:r>
            <a:r>
              <a:rPr lang="zh-CN" altLang="en-US" dirty="0"/>
              <a:t>对象</a:t>
            </a:r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4165" y="1425344"/>
          <a:ext cx="8553450" cy="17576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47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5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dropEffect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129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拖放的操作类型，决定了浏览器如何显示鼠标形状，其值可为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copy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move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link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和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none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  <a:endParaRPr lang="zh-CN" sz="1400" b="1" kern="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effectAllowed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129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指定所允许的操作，其值可为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copy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move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link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copyLink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copyMove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linkMove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all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none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和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uninitialized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（默认值，等同于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all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，即允许一切操作）。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files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129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包含一个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FileList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对象，表示拖放所涉及的文件，主要用于处理从文件系统拖入浏览器的文件。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types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129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储存在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dataTransfer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对象的数据的类型。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61315" y="3878580"/>
          <a:ext cx="8458200" cy="204597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544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3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setData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(format, data)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在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dataTransfer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对象上储存数据。第一个参数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format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用来指定储存的数据类型，比如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url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text/html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等。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getData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(format)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从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dataTransfer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对象取出数据。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clearData(format)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清除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dataTransfer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对象所储存的数据。如果指定了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format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参数，则只清除该格式的数据，否则清除所有数据。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indent="10858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setDragImage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imgElement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 x, y)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指定拖动过程中显示的图像。默认情况下，许多浏览器显示一个被拖动元素的半透明版本。参数</a:t>
                      </a:r>
                      <a:r>
                        <a:rPr lang="en-US" sz="14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imgElement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必须是一个图像元素，而不是指向图像的路径，参数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和</a:t>
                      </a:r>
                      <a:r>
                        <a:rPr lang="en-US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r>
                        <a:rPr lang="zh-CN" sz="14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表示图像相对于鼠标的位置。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371725" y="3453523"/>
            <a:ext cx="495300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表</a:t>
            </a:r>
            <a:r>
              <a:rPr lang="en-US" altLang="zh-CN" sz="1400" dirty="0"/>
              <a:t>17-5 </a:t>
            </a:r>
            <a:r>
              <a:rPr lang="en-US" altLang="zh-CN" sz="1400" dirty="0" err="1"/>
              <a:t>dataTransfer</a:t>
            </a:r>
            <a:r>
              <a:rPr lang="en-US" altLang="zh-CN" sz="1400" dirty="0"/>
              <a:t> </a:t>
            </a:r>
            <a:r>
              <a:rPr lang="zh-CN" altLang="en-US" sz="1400" dirty="0"/>
              <a:t>对象常用的方法及说明</a:t>
            </a:r>
          </a:p>
        </p:txBody>
      </p:sp>
      <p:sp>
        <p:nvSpPr>
          <p:cNvPr id="8" name="矩形 7"/>
          <p:cNvSpPr/>
          <p:nvPr/>
        </p:nvSpPr>
        <p:spPr>
          <a:xfrm>
            <a:off x="2286000" y="1019568"/>
            <a:ext cx="4572000" cy="3067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/>
              <a:t>表</a:t>
            </a:r>
            <a:r>
              <a:rPr lang="en-US" altLang="zh-CN" sz="1400" dirty="0"/>
              <a:t>17-4 </a:t>
            </a:r>
            <a:r>
              <a:rPr lang="en-US" altLang="zh-CN" sz="1400" dirty="0" err="1"/>
              <a:t>dataTransfer</a:t>
            </a:r>
            <a:r>
              <a:rPr lang="en-US" altLang="zh-CN" sz="1400" dirty="0"/>
              <a:t> </a:t>
            </a:r>
            <a:r>
              <a:rPr lang="zh-CN" altLang="en-US" sz="1400" dirty="0"/>
              <a:t>对象常用的属性及说明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62057-17E3-4635-973B-5F7424DCD474}"/>
              </a:ext>
            </a:extLst>
          </p:cNvPr>
          <p:cNvSpPr/>
          <p:nvPr/>
        </p:nvSpPr>
        <p:spPr>
          <a:xfrm>
            <a:off x="7234518" y="-110388"/>
            <a:ext cx="3406588" cy="1443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拖放操作实现步骤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285" y="1210310"/>
            <a:ext cx="8509000" cy="50304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1400" dirty="0"/>
              <a:t>拖放元素的过程可分为创建可拖放对象、设置放置对象两个步骤。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dirty="0"/>
              <a:t>1</a:t>
            </a:r>
            <a:r>
              <a:rPr lang="zh-CN" altLang="en-US" sz="1400" b="1" dirty="0"/>
              <a:t>．创建一个可拖放对象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&lt;img src="45567.jpg" draggable="true" ondragstart="drag(event)" id="drag1"/&gt;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function drag(event) {</a:t>
            </a:r>
            <a:r>
              <a:rPr lang="en-US" altLang="zh-CN" sz="1400" dirty="0" err="1">
                <a:solidFill>
                  <a:schemeClr val="tx1"/>
                </a:solidFill>
              </a:rPr>
              <a:t>event.dataTransfer.setData</a:t>
            </a:r>
            <a:r>
              <a:rPr lang="en-US" altLang="zh-CN" sz="1400" dirty="0">
                <a:solidFill>
                  <a:schemeClr val="tx1"/>
                </a:solidFill>
              </a:rPr>
              <a:t>("Text",ev.target.id); }</a:t>
            </a:r>
          </a:p>
          <a:p>
            <a:pPr>
              <a:lnSpc>
                <a:spcPct val="100000"/>
              </a:lnSpc>
              <a:buNone/>
            </a:pPr>
            <a:endParaRPr lang="zh-CN" altLang="en-US" sz="1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    说明：参数</a:t>
            </a:r>
            <a:r>
              <a:rPr lang="en-US" altLang="zh-CN" sz="1400" dirty="0">
                <a:solidFill>
                  <a:schemeClr val="tx1"/>
                </a:solidFill>
              </a:rPr>
              <a:t>1 </a:t>
            </a:r>
            <a:r>
              <a:rPr lang="zh-CN" altLang="en-US" sz="1400" dirty="0">
                <a:solidFill>
                  <a:schemeClr val="tx1"/>
                </a:solidFill>
              </a:rPr>
              <a:t>是数据类型，值为</a:t>
            </a:r>
            <a:r>
              <a:rPr lang="en-US" altLang="zh-CN" sz="1400" dirty="0">
                <a:solidFill>
                  <a:schemeClr val="tx1"/>
                </a:solidFill>
              </a:rPr>
              <a:t>"Text"</a:t>
            </a:r>
            <a:r>
              <a:rPr lang="zh-CN" altLang="en-US" sz="1400" dirty="0">
                <a:solidFill>
                  <a:schemeClr val="tx1"/>
                </a:solidFill>
              </a:rPr>
              <a:t>；参数</a:t>
            </a:r>
            <a:r>
              <a:rPr lang="en-US" altLang="zh-CN" sz="1400" dirty="0">
                <a:solidFill>
                  <a:schemeClr val="tx1"/>
                </a:solidFill>
              </a:rPr>
              <a:t>2 </a:t>
            </a:r>
            <a:r>
              <a:rPr lang="zh-CN" altLang="en-US" sz="1400" dirty="0">
                <a:solidFill>
                  <a:schemeClr val="tx1"/>
                </a:solidFill>
              </a:rPr>
              <a:t>是数据信息，值为可拖动元素的</a:t>
            </a:r>
            <a:r>
              <a:rPr lang="en-US" altLang="zh-CN" sz="1400" dirty="0">
                <a:solidFill>
                  <a:schemeClr val="tx1"/>
                </a:solidFill>
              </a:rPr>
              <a:t>id ("drag1")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1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</a:rPr>
              <a:t>．设置放置对象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       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能够接受拖放元素的对象称为放置对象（或目标对象），</a:t>
            </a:r>
            <a:r>
              <a:rPr lang="zh-CN" altLang="en-US" sz="1400" dirty="0">
                <a:solidFill>
                  <a:schemeClr val="tx1"/>
                </a:solidFill>
              </a:rPr>
              <a:t>放置对象至少要监听两个事件。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      （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  <a:r>
              <a:rPr lang="en-US" altLang="zh-CN" sz="1400" dirty="0">
                <a:solidFill>
                  <a:schemeClr val="tx1"/>
                </a:solidFill>
              </a:rPr>
              <a:t>dragover </a:t>
            </a:r>
            <a:r>
              <a:rPr lang="zh-CN" altLang="en-US" sz="1400" dirty="0">
                <a:solidFill>
                  <a:schemeClr val="tx1"/>
                </a:solidFill>
              </a:rPr>
              <a:t>事件。该事件对应的事件句柄</a:t>
            </a:r>
            <a:r>
              <a:rPr lang="en-US" altLang="zh-CN" sz="1400" dirty="0">
                <a:solidFill>
                  <a:schemeClr val="tx1"/>
                </a:solidFill>
              </a:rPr>
              <a:t>ondragover</a:t>
            </a:r>
            <a:r>
              <a:rPr lang="zh-CN" altLang="en-US" sz="1400" dirty="0">
                <a:solidFill>
                  <a:schemeClr val="tx1"/>
                </a:solidFill>
              </a:rPr>
              <a:t>，被拖动元素停留在放置对象之中时持续触发。默认方式下，无法将数据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元素放置到其他元素中，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需要设置允许放置，必须阻止对元素的默认处理方式。通过给</a:t>
            </a:r>
            <a:r>
              <a:rPr lang="en-US" altLang="zh-CN" sz="1400" dirty="0" err="1">
                <a:solidFill>
                  <a:schemeClr val="tx1"/>
                </a:solidFill>
                <a:sym typeface="+mn-ea"/>
              </a:rPr>
              <a:t>ondragover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事件属性绑定</a:t>
            </a:r>
            <a:r>
              <a:rPr lang="en-US" altLang="zh-CN" sz="1400" dirty="0" err="1">
                <a:solidFill>
                  <a:schemeClr val="tx1"/>
                </a:solidFill>
                <a:sym typeface="+mn-ea"/>
              </a:rPr>
              <a:t>allowDrag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(event)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函数，在函数中使用</a:t>
            </a:r>
            <a:r>
              <a:rPr lang="en-US" altLang="zh-CN" sz="1400" dirty="0" err="1">
                <a:solidFill>
                  <a:schemeClr val="tx1"/>
                </a:solidFill>
                <a:sym typeface="+mn-ea"/>
              </a:rPr>
              <a:t>event.preventDefault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()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方法来实现阻止默认处理方式。代码如下：</a:t>
            </a:r>
            <a:endParaRPr lang="zh-CN" altLang="en-US" sz="1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    &lt;div id="div1" </a:t>
            </a:r>
            <a:r>
              <a:rPr lang="en-US" altLang="zh-CN" sz="1400" dirty="0" err="1">
                <a:solidFill>
                  <a:schemeClr val="tx1"/>
                </a:solidFill>
                <a:sym typeface="+mn-ea"/>
              </a:rPr>
              <a:t>ondrop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="drop(event)" </a:t>
            </a:r>
            <a:r>
              <a:rPr lang="en-US" altLang="zh-CN" sz="1400" dirty="0" err="1">
                <a:solidFill>
                  <a:schemeClr val="tx1"/>
                </a:solidFill>
                <a:sym typeface="+mn-ea"/>
              </a:rPr>
              <a:t>ondragover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="</a:t>
            </a:r>
            <a:r>
              <a:rPr lang="en-US" altLang="zh-CN" sz="1400" dirty="0" err="1">
                <a:solidFill>
                  <a:schemeClr val="tx1"/>
                </a:solidFill>
                <a:sym typeface="+mn-ea"/>
              </a:rPr>
              <a:t>allowDrop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(event)"&gt;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       function </a:t>
            </a:r>
            <a:r>
              <a:rPr lang="en-US" altLang="zh-CN" sz="1400" dirty="0" err="1">
                <a:solidFill>
                  <a:schemeClr val="tx1"/>
                </a:solidFill>
                <a:sym typeface="+mn-ea"/>
              </a:rPr>
              <a:t>allowDrop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(event){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         </a:t>
            </a:r>
            <a:r>
              <a:rPr lang="en-US" altLang="zh-CN" sz="1400" dirty="0" err="1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event.preventDefault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(); //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阻止对元素的默认处理方式</a:t>
            </a:r>
            <a:endParaRPr lang="zh-CN" altLang="en-US" sz="1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       }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拖放操作实现步骤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9575" y="1485900"/>
            <a:ext cx="8509000" cy="4407535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2</a:t>
            </a:r>
            <a:r>
              <a:rPr lang="zh-CN" altLang="en-US" sz="1400" dirty="0">
                <a:sym typeface="+mn-ea"/>
              </a:rPr>
              <a:t>）</a:t>
            </a:r>
            <a:r>
              <a:rPr lang="en-US" altLang="zh-CN" sz="1400" dirty="0">
                <a:sym typeface="+mn-ea"/>
              </a:rPr>
              <a:t>drop </a:t>
            </a:r>
            <a:r>
              <a:rPr lang="zh-CN" altLang="en-US" sz="1400" dirty="0">
                <a:sym typeface="+mn-ea"/>
              </a:rPr>
              <a:t>事件。该事件对应的事件句柄</a:t>
            </a:r>
            <a:r>
              <a:rPr lang="en-US" altLang="zh-CN" sz="1400" dirty="0" err="1">
                <a:sym typeface="+mn-ea"/>
              </a:rPr>
              <a:t>ondrop</a:t>
            </a:r>
            <a:r>
              <a:rPr lang="zh-CN" altLang="en-US" sz="1400" dirty="0">
                <a:sym typeface="+mn-ea"/>
              </a:rPr>
              <a:t>，</a:t>
            </a:r>
            <a:r>
              <a:rPr lang="zh-CN" altLang="en-US" sz="1400" dirty="0">
                <a:highlight>
                  <a:srgbClr val="FFFF00"/>
                </a:highlight>
                <a:sym typeface="+mn-ea"/>
              </a:rPr>
              <a:t>允许执行真正的放置</a:t>
            </a:r>
            <a:r>
              <a:rPr lang="zh-CN" altLang="en-US" sz="1400" dirty="0">
                <a:sym typeface="+mn-ea"/>
              </a:rPr>
              <a:t>。</a:t>
            </a:r>
            <a:r>
              <a:rPr lang="en-US" altLang="zh-CN" sz="1400" dirty="0" err="1">
                <a:sym typeface="+mn-ea"/>
              </a:rPr>
              <a:t>ondrop</a:t>
            </a:r>
            <a:r>
              <a:rPr lang="en-US" altLang="zh-CN" sz="1400" dirty="0">
                <a:sym typeface="+mn-ea"/>
              </a:rPr>
              <a:t> </a:t>
            </a:r>
            <a:r>
              <a:rPr lang="zh-CN" altLang="en-US" sz="1400" dirty="0">
                <a:sym typeface="+mn-ea"/>
              </a:rPr>
              <a:t>属性绑定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drop(event)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函数完成放置功能。当放置被拖数据时，会发生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drop 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事件。该事件将阻止对元素的默认处理方式、获得拖放元素的数据信息、添加被拖放的元素。代码如下：</a:t>
            </a:r>
            <a:endParaRPr lang="zh-CN" altLang="en-US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function drop(event){ //</a:t>
            </a:r>
            <a:r>
              <a:rPr lang="zh-CN" altLang="en-US" sz="1400" dirty="0">
                <a:solidFill>
                  <a:schemeClr val="tx1"/>
                </a:solidFill>
              </a:rPr>
              <a:t>放置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</a:t>
            </a:r>
            <a:r>
              <a:rPr lang="en-US" altLang="zh-CN" sz="1400" dirty="0" err="1">
                <a:solidFill>
                  <a:schemeClr val="tx1"/>
                </a:solidFill>
              </a:rPr>
              <a:t>event.preventDefault</a:t>
            </a:r>
            <a:r>
              <a:rPr lang="en-US" altLang="zh-CN" sz="1400" dirty="0">
                <a:solidFill>
                  <a:schemeClr val="tx1"/>
                </a:solidFill>
              </a:rPr>
              <a:t>(); //</a:t>
            </a:r>
            <a:r>
              <a:rPr lang="zh-CN" altLang="en-US" sz="1400" dirty="0">
                <a:solidFill>
                  <a:schemeClr val="tx1"/>
                </a:solidFill>
              </a:rPr>
              <a:t>阻止对元素的默认处理方式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</a:t>
            </a:r>
            <a:r>
              <a:rPr lang="en-US" altLang="zh-CN" sz="1400" dirty="0" err="1">
                <a:solidFill>
                  <a:schemeClr val="tx1"/>
                </a:solidFill>
              </a:rPr>
              <a:t>var</a:t>
            </a:r>
            <a:r>
              <a:rPr lang="en-US" altLang="zh-CN" sz="1400" dirty="0">
                <a:solidFill>
                  <a:schemeClr val="tx1"/>
                </a:solidFill>
              </a:rPr>
              <a:t> data=</a:t>
            </a:r>
            <a:r>
              <a:rPr lang="en-US" altLang="zh-CN" sz="1400" dirty="0" err="1">
                <a:solidFill>
                  <a:schemeClr val="tx1"/>
                </a:solidFill>
              </a:rPr>
              <a:t>event.dataTransfer.</a:t>
            </a:r>
            <a:r>
              <a:rPr lang="en-US" altLang="zh-CN" sz="1400" dirty="0" err="1">
                <a:solidFill>
                  <a:schemeClr val="tx1"/>
                </a:solidFill>
                <a:highlight>
                  <a:srgbClr val="FFFF00"/>
                </a:highlight>
              </a:rPr>
              <a:t>getData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(“Text”);//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获取拖放数据（元素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id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）</a:t>
            </a:r>
            <a:endParaRPr lang="en-US" altLang="zh-CN" sz="1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</a:t>
            </a:r>
            <a:r>
              <a:rPr lang="en-US" altLang="zh-CN" sz="1400" dirty="0" err="1">
                <a:solidFill>
                  <a:schemeClr val="tx1"/>
                </a:solidFill>
              </a:rPr>
              <a:t>event.target.appendChild</a:t>
            </a:r>
            <a:r>
              <a:rPr lang="en-US" altLang="zh-CN" sz="1400" dirty="0">
                <a:solidFill>
                  <a:schemeClr val="tx1"/>
                </a:solidFill>
              </a:rPr>
              <a:t>(</a:t>
            </a:r>
            <a:r>
              <a:rPr lang="en-US" altLang="zh-CN" sz="1400" dirty="0" err="1">
                <a:solidFill>
                  <a:schemeClr val="tx1"/>
                </a:solidFill>
              </a:rPr>
              <a:t>document.getElementById</a:t>
            </a:r>
            <a:r>
              <a:rPr lang="en-US" altLang="zh-CN" sz="1400" dirty="0">
                <a:solidFill>
                  <a:schemeClr val="tx1"/>
                </a:solidFill>
              </a:rPr>
              <a:t>(data));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//</a:t>
            </a:r>
            <a:r>
              <a:rPr lang="zh-CN" altLang="en-US" sz="1400" dirty="0">
                <a:solidFill>
                  <a:schemeClr val="tx1"/>
                </a:solidFill>
              </a:rPr>
              <a:t>被拖元素追加到放置元素中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zh-CN" alt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       以图层</a:t>
            </a:r>
            <a:r>
              <a:rPr lang="en-US" altLang="zh-CN" sz="1400" dirty="0">
                <a:solidFill>
                  <a:schemeClr val="tx1"/>
                </a:solidFill>
              </a:rPr>
              <a:t>div </a:t>
            </a:r>
            <a:r>
              <a:rPr lang="zh-CN" altLang="en-US" sz="1400" dirty="0">
                <a:solidFill>
                  <a:schemeClr val="tx1"/>
                </a:solidFill>
              </a:rPr>
              <a:t>为例，把</a:t>
            </a:r>
            <a:r>
              <a:rPr lang="en-US" altLang="zh-CN" sz="1400" dirty="0">
                <a:solidFill>
                  <a:schemeClr val="tx1"/>
                </a:solidFill>
              </a:rPr>
              <a:t>div </a:t>
            </a:r>
            <a:r>
              <a:rPr lang="zh-CN" altLang="en-US" sz="1400" dirty="0">
                <a:solidFill>
                  <a:schemeClr val="tx1"/>
                </a:solidFill>
              </a:rPr>
              <a:t>作为目标对象，设置图层的</a:t>
            </a:r>
            <a:r>
              <a:rPr lang="en-US" altLang="zh-CN" sz="1400" dirty="0">
                <a:solidFill>
                  <a:schemeClr val="tx1"/>
                </a:solidFill>
              </a:rPr>
              <a:t>ondrop </a:t>
            </a:r>
            <a:r>
              <a:rPr lang="zh-CN" altLang="en-US" sz="1400" dirty="0">
                <a:solidFill>
                  <a:schemeClr val="tx1"/>
                </a:solidFill>
              </a:rPr>
              <a:t>和</a:t>
            </a:r>
            <a:r>
              <a:rPr lang="en-US" altLang="zh-CN" sz="1400" dirty="0">
                <a:solidFill>
                  <a:schemeClr val="tx1"/>
                </a:solidFill>
              </a:rPr>
              <a:t>ondragover </a:t>
            </a:r>
            <a:r>
              <a:rPr lang="zh-CN" altLang="en-US" sz="1400" dirty="0">
                <a:solidFill>
                  <a:schemeClr val="tx1"/>
                </a:solidFill>
              </a:rPr>
              <a:t>事件属性，并绑定相关事件处理代码。代码如下：</a:t>
            </a:r>
          </a:p>
          <a:p>
            <a:pPr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&lt;div id="div1" ondrop="drop(event)" ondragover="allowDrop(event)"&gt;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</a:t>
            </a:r>
            <a:r>
              <a:rPr lang="zh-CN" altLang="en-US" dirty="0"/>
              <a:t>拖放案例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62750" y="1933575"/>
            <a:ext cx="1961515" cy="149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69735" y="3636010"/>
            <a:ext cx="1872043" cy="143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422275" y="1021715"/>
            <a:ext cx="6171565" cy="5220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&lt;style type="text/</a:t>
            </a:r>
            <a:r>
              <a:rPr lang="en-US" altLang="zh-CN" sz="1600" b="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css</a:t>
            </a: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"&gt;		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#div1, #div2 {</a:t>
            </a:r>
            <a:r>
              <a:rPr lang="en-US" altLang="zh-CN" sz="1600" b="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float:left</a:t>
            </a: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; width:200px; height:200px;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        margin:15px;padding:15px;border:1px dashed #0066ff;}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#drag1{width:200px;height:200px;}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&lt;/style&gt;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&lt;script type="text/</a:t>
            </a:r>
            <a:r>
              <a:rPr lang="en-US" altLang="zh-CN" sz="1600" b="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javascript</a:t>
            </a: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function $(id){return </a:t>
            </a:r>
            <a:r>
              <a:rPr lang="en-US" altLang="zh-CN" sz="1600" b="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document.getElementById</a:t>
            </a: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(id);}</a:t>
            </a:r>
            <a:endParaRPr lang="zh-CN" altLang="en-US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function </a:t>
            </a:r>
            <a:r>
              <a:rPr lang="en-US" altLang="zh-CN" sz="1600" b="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allowDrop</a:t>
            </a: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ev</a:t>
            </a: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){  //</a:t>
            </a:r>
            <a:r>
              <a:rPr lang="zh-CN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阻止对元素的默认处理方式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  </a:t>
            </a:r>
            <a:r>
              <a:rPr lang="en-US" altLang="zh-CN" sz="1600" b="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ev.preventDefault</a:t>
            </a: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}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function drag(</a:t>
            </a:r>
            <a:r>
              <a:rPr lang="en-US" altLang="zh-CN" sz="1600" dirty="0" err="1">
                <a:sym typeface="+mn-ea"/>
              </a:rPr>
              <a:t>ev</a:t>
            </a:r>
            <a:r>
              <a:rPr lang="en-US" altLang="zh-CN" sz="1600" dirty="0">
                <a:sym typeface="+mn-ea"/>
              </a:rPr>
              <a:t>){   //</a:t>
            </a:r>
            <a:r>
              <a:rPr lang="zh-CN" altLang="en-US" sz="1600" dirty="0">
                <a:sym typeface="+mn-ea"/>
              </a:rPr>
              <a:t>设置被拖数据的数据类型和值</a:t>
            </a:r>
            <a:endParaRPr lang="zh-CN" altLang="en-US" sz="1600" dirty="0"/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ev.dataTransfer.setData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("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Text",ev.target.id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);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}			</a:t>
            </a:r>
            <a:endParaRPr lang="en-US" altLang="zh-CN" sz="1600" dirty="0"/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function drop(</a:t>
            </a:r>
            <a:r>
              <a:rPr lang="en-US" altLang="zh-CN" sz="1600" dirty="0" err="1">
                <a:sym typeface="+mn-ea"/>
              </a:rPr>
              <a:t>ev</a:t>
            </a:r>
            <a:r>
              <a:rPr lang="en-US" altLang="zh-CN" sz="1600" dirty="0">
                <a:sym typeface="+mn-ea"/>
              </a:rPr>
              <a:t>){</a:t>
            </a:r>
            <a:endParaRPr lang="en-US" altLang="zh-CN" sz="1600" dirty="0"/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</a:t>
            </a:r>
            <a:r>
              <a:rPr lang="en-US" altLang="zh-CN" sz="1600" dirty="0" err="1">
                <a:sym typeface="+mn-ea"/>
              </a:rPr>
              <a:t>ev.preventDefault</a:t>
            </a:r>
            <a:r>
              <a:rPr lang="en-US" altLang="zh-CN" sz="1600" dirty="0">
                <a:sym typeface="+mn-ea"/>
              </a:rPr>
              <a:t>();//</a:t>
            </a:r>
            <a:r>
              <a:rPr lang="zh-CN" altLang="en-US" sz="1600" dirty="0">
                <a:sym typeface="+mn-ea"/>
              </a:rPr>
              <a:t>阻止对元素的默认处理方式</a:t>
            </a:r>
            <a:endParaRPr lang="zh-CN" altLang="en-US" sz="1600" dirty="0"/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    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var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 data=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ev.dataTransfer.getData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("Text");//</a:t>
            </a:r>
            <a:r>
              <a:rPr lang="zh-CN" altLang="en-US" sz="1600" dirty="0">
                <a:highlight>
                  <a:srgbClr val="FFFF00"/>
                </a:highlight>
                <a:sym typeface="+mn-ea"/>
              </a:rPr>
              <a:t>获得被拖的数据</a:t>
            </a:r>
            <a:endParaRPr lang="zh-CN" altLang="en-US" sz="1600" dirty="0">
              <a:highlight>
                <a:srgbClr val="FFFF00"/>
              </a:highlight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  </a:t>
            </a:r>
            <a:r>
              <a:rPr lang="en-US" altLang="zh-CN" sz="1600" dirty="0" err="1">
                <a:sym typeface="+mn-ea"/>
              </a:rPr>
              <a:t>ev.target.appendChild</a:t>
            </a:r>
            <a:r>
              <a:rPr lang="en-US" altLang="zh-CN" sz="1600" dirty="0">
                <a:sym typeface="+mn-ea"/>
              </a:rPr>
              <a:t>($(data));//</a:t>
            </a:r>
            <a:r>
              <a:rPr lang="zh-CN" altLang="en-US" sz="1600" dirty="0">
                <a:sym typeface="+mn-ea"/>
              </a:rPr>
              <a:t>添加拖拽元素</a:t>
            </a:r>
            <a:endParaRPr lang="zh-CN" altLang="en-US" sz="1600" dirty="0"/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  }</a:t>
            </a:r>
            <a:endParaRPr lang="en-US" altLang="zh-CN" sz="1600" dirty="0"/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ym typeface="+mn-ea"/>
              </a:rPr>
              <a:t>&lt;/script&gt;	</a:t>
            </a:r>
          </a:p>
          <a:p>
            <a:pPr mar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076306"/>
              </p:ext>
            </p:extLst>
          </p:nvPr>
        </p:nvGraphicFramePr>
        <p:xfrm>
          <a:off x="6770688" y="5340350"/>
          <a:ext cx="11191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包装程序外壳对象" showAsIcon="1" r:id="rId5" imgW="1118880" imgH="535680" progId="Package">
                  <p:embed/>
                </p:oleObj>
              </mc:Choice>
              <mc:Fallback>
                <p:oleObj name="包装程序外壳对象" showAsIcon="1" r:id="rId5" imgW="1118880" imgH="535680" progId="Package">
                  <p:embed/>
                  <p:pic>
                    <p:nvPicPr>
                      <p:cNvPr id="0" name="图片 81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70688" y="5340350"/>
                        <a:ext cx="1119187" cy="53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Web Storage</a:t>
            </a:r>
            <a:endParaRPr lang="zh-CN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796036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/>
              <a:t>       HTML5 </a:t>
            </a:r>
            <a:r>
              <a:rPr lang="zh-CN" altLang="en-US" sz="1600" dirty="0"/>
              <a:t>提供了两种在客户端存储数据的新方法，</a:t>
            </a:r>
            <a:r>
              <a:rPr lang="zh-CN" altLang="en-US" sz="1600" dirty="0">
                <a:highlight>
                  <a:srgbClr val="FFFF00"/>
                </a:highlight>
              </a:rPr>
              <a:t>分别是持久化的数据存储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localStorage</a:t>
            </a:r>
            <a:r>
              <a:rPr lang="zh-CN" altLang="en-US" sz="1600" dirty="0">
                <a:highlight>
                  <a:srgbClr val="FFFF00"/>
                </a:highlight>
              </a:rPr>
              <a:t>、会话式的数据存储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sessionStorage</a:t>
            </a:r>
            <a:r>
              <a:rPr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。</a:t>
            </a:r>
            <a:endParaRPr lang="en-US" altLang="zh-CN" sz="16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CN" altLang="en-US" sz="1600" dirty="0"/>
              <a:t>       在</a:t>
            </a:r>
            <a:r>
              <a:rPr lang="en-US" altLang="zh-CN" sz="1600" dirty="0"/>
              <a:t>HTML5 </a:t>
            </a:r>
            <a:r>
              <a:rPr lang="zh-CN" altLang="en-US" sz="1600" dirty="0"/>
              <a:t>中，数据不需要由每个服务器进行请求传递，只需在有请求时使用数据，这样就不会影响网站的性能</a:t>
            </a:r>
            <a:r>
              <a:rPr lang="zh-CN" altLang="en-US" sz="1600" dirty="0">
                <a:highlight>
                  <a:srgbClr val="FFFF00"/>
                </a:highlight>
              </a:rPr>
              <a:t>，而且能够存储大量数据（约</a:t>
            </a:r>
            <a:r>
              <a:rPr lang="en-US" altLang="zh-CN" sz="1600" dirty="0">
                <a:highlight>
                  <a:srgbClr val="FFFF00"/>
                </a:highlight>
              </a:rPr>
              <a:t>5-10M</a:t>
            </a:r>
            <a:r>
              <a:rPr sz="1600" dirty="0">
                <a:highlight>
                  <a:srgbClr val="FFFF00"/>
                </a:highlight>
              </a:rPr>
              <a:t>）</a:t>
            </a:r>
            <a:r>
              <a:rPr lang="zh-CN" altLang="en-US" sz="1600" dirty="0"/>
              <a:t>。数据通常以“</a:t>
            </a:r>
            <a:r>
              <a:rPr lang="zh-CN" altLang="en-US" sz="1600" dirty="0">
                <a:highlight>
                  <a:srgbClr val="FFFF00"/>
                </a:highlight>
              </a:rPr>
              <a:t>键值对</a:t>
            </a:r>
            <a:r>
              <a:rPr lang="en-US" altLang="zh-CN" sz="1600" dirty="0">
                <a:highlight>
                  <a:srgbClr val="FFFF00"/>
                </a:highlight>
              </a:rPr>
              <a:t>(key-value pair)</a:t>
            </a:r>
            <a:r>
              <a:rPr lang="zh-CN" altLang="en-US" sz="1600" dirty="0">
                <a:highlight>
                  <a:srgbClr val="FFFF00"/>
                </a:highlight>
              </a:rPr>
              <a:t>”</a:t>
            </a:r>
            <a:r>
              <a:rPr lang="zh-CN" altLang="en-US" sz="1600" dirty="0"/>
              <a:t>形式存在，</a:t>
            </a:r>
            <a:r>
              <a:rPr lang="en-US" altLang="zh-CN" sz="1600" dirty="0"/>
              <a:t>Web </a:t>
            </a:r>
            <a:r>
              <a:rPr lang="zh-CN" altLang="en-US" sz="1600" dirty="0"/>
              <a:t>网页的数据只允许该网页访问使用。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 HTML5 </a:t>
            </a:r>
            <a:r>
              <a:rPr lang="zh-CN" altLang="en-US" sz="1600" dirty="0">
                <a:solidFill>
                  <a:srgbClr val="FF0000"/>
                </a:solidFill>
              </a:rPr>
              <a:t>之前客户端数据存储是由</a:t>
            </a:r>
            <a:r>
              <a:rPr lang="en-US" altLang="zh-CN" sz="1600" dirty="0">
                <a:solidFill>
                  <a:srgbClr val="FF0000"/>
                </a:solidFill>
              </a:rPr>
              <a:t>cookie</a:t>
            </a:r>
            <a:r>
              <a:rPr lang="zh-CN" altLang="en-US" sz="1600" dirty="0">
                <a:solidFill>
                  <a:srgbClr val="FF0000"/>
                </a:solidFill>
              </a:rPr>
              <a:t>完成的</a:t>
            </a:r>
            <a:r>
              <a:rPr lang="zh-CN" altLang="en-US" sz="1600" dirty="0"/>
              <a:t>，由于</a:t>
            </a:r>
            <a:r>
              <a:rPr lang="en-US" altLang="zh-CN" sz="1600" dirty="0"/>
              <a:t>cookie </a:t>
            </a:r>
            <a:r>
              <a:rPr lang="zh-CN" altLang="en-US" sz="1600" dirty="0"/>
              <a:t>不能存储大量数据，需要通过服务器的请求来传递，往往造成</a:t>
            </a:r>
            <a:r>
              <a:rPr lang="en-US" altLang="zh-CN" sz="1600" dirty="0"/>
              <a:t>Cookie</a:t>
            </a:r>
            <a:r>
              <a:rPr lang="zh-CN" altLang="en-US" sz="1600" dirty="0"/>
              <a:t>响应速度慢、效率低。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US" altLang="zh-CN" sz="18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localStorage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对象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+mj-ea"/>
                <a:ea typeface="+mj-ea"/>
              </a:rPr>
              <a:t>    </a:t>
            </a:r>
            <a:r>
              <a:rPr lang="en-US" altLang="zh-CN" sz="1600" dirty="0"/>
              <a:t>localStorage </a:t>
            </a:r>
            <a:r>
              <a:rPr lang="zh-CN" altLang="en-US" sz="1600" dirty="0"/>
              <a:t>对象存储的数据</a:t>
            </a:r>
            <a:r>
              <a:rPr lang="zh-CN" altLang="en-US" sz="1600" dirty="0">
                <a:highlight>
                  <a:srgbClr val="FFFF00"/>
                </a:highlight>
              </a:rPr>
              <a:t>没有时间限制，</a:t>
            </a:r>
            <a:r>
              <a:rPr lang="zh-CN" altLang="en-US" sz="1600" dirty="0"/>
              <a:t>所以称为持久化存储，数据存储长期可用。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/>
              <a:t>      使用此类对象之前，最好先检查一下浏览器是否支持。检查代码如下：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if(</a:t>
            </a:r>
            <a:r>
              <a:rPr lang="en-US" altLang="zh-CN" sz="1600" dirty="0" err="1">
                <a:solidFill>
                  <a:srgbClr val="FF0000"/>
                </a:solidFill>
              </a:rPr>
              <a:t>typeof</a:t>
            </a:r>
            <a:r>
              <a:rPr lang="en-US" altLang="zh-CN" sz="1600" dirty="0">
                <a:solidFill>
                  <a:srgbClr val="FF0000"/>
                </a:solidFill>
              </a:rPr>
              <a:t>(Storage)!="undefined")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             //</a:t>
            </a:r>
            <a:r>
              <a:rPr lang="zh-CN" altLang="en-US" sz="1600" dirty="0">
                <a:solidFill>
                  <a:srgbClr val="FF0000"/>
                </a:solidFill>
              </a:rPr>
              <a:t>是的</a:t>
            </a:r>
            <a:r>
              <a:rPr lang="en-US" altLang="zh-CN" sz="1600" dirty="0">
                <a:solidFill>
                  <a:srgbClr val="FF0000"/>
                </a:solidFill>
              </a:rPr>
              <a:t>! </a:t>
            </a:r>
            <a:r>
              <a:rPr lang="zh-CN" altLang="en-US" sz="1600" dirty="0">
                <a:solidFill>
                  <a:srgbClr val="FF0000"/>
                </a:solidFill>
              </a:rPr>
              <a:t>支持 </a:t>
            </a:r>
            <a:r>
              <a:rPr lang="en-US" altLang="zh-CN" sz="1600" dirty="0">
                <a:solidFill>
                  <a:srgbClr val="FF0000"/>
                </a:solidFill>
              </a:rPr>
              <a:t>localStorage sessionStorage</a:t>
            </a:r>
            <a:r>
              <a:rPr lang="zh-CN" altLang="en-US" sz="1600" dirty="0">
                <a:solidFill>
                  <a:srgbClr val="FF0000"/>
                </a:solidFill>
              </a:rPr>
              <a:t>对象</a:t>
            </a:r>
            <a:r>
              <a:rPr lang="en-US" altLang="zh-CN" sz="1600" dirty="0">
                <a:solidFill>
                  <a:srgbClr val="FF0000"/>
                </a:solidFill>
              </a:rPr>
              <a:t>! //</a:t>
            </a:r>
            <a:r>
              <a:rPr lang="zh-CN" altLang="en-US" sz="1600" dirty="0">
                <a:solidFill>
                  <a:srgbClr val="FF0000"/>
                </a:solidFill>
              </a:rPr>
              <a:t>一些代码</a:t>
            </a:r>
            <a:r>
              <a:rPr lang="en-US" altLang="zh-CN" sz="1600" dirty="0">
                <a:solidFill>
                  <a:srgbClr val="FF0000"/>
                </a:solidFill>
              </a:rPr>
              <a:t>...}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else { //</a:t>
            </a:r>
            <a:r>
              <a:rPr lang="zh-CN" altLang="en-US" sz="1600" dirty="0">
                <a:solidFill>
                  <a:srgbClr val="FF0000"/>
                </a:solidFill>
              </a:rPr>
              <a:t>抱歉</a:t>
            </a:r>
            <a:r>
              <a:rPr lang="en-US" altLang="zh-CN" sz="1600" dirty="0">
                <a:solidFill>
                  <a:srgbClr val="FF0000"/>
                </a:solidFill>
              </a:rPr>
              <a:t>! </a:t>
            </a:r>
            <a:r>
              <a:rPr lang="zh-CN" altLang="en-US" sz="1600" dirty="0">
                <a:solidFill>
                  <a:srgbClr val="FF0000"/>
                </a:solidFill>
              </a:rPr>
              <a:t>不支持</a:t>
            </a:r>
            <a:r>
              <a:rPr lang="en-US" altLang="zh-CN" sz="1600" dirty="0">
                <a:solidFill>
                  <a:srgbClr val="FF0000"/>
                </a:solidFill>
              </a:rPr>
              <a:t>web</a:t>
            </a:r>
            <a:r>
              <a:rPr lang="zh-CN" altLang="en-US" sz="1600" dirty="0">
                <a:solidFill>
                  <a:srgbClr val="FF0000"/>
                </a:solidFill>
              </a:rPr>
              <a:t>存储。 </a:t>
            </a:r>
            <a:r>
              <a:rPr lang="en-US" altLang="zh-CN" sz="16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altLang="zh-CN" sz="1600" dirty="0"/>
              <a:t>      </a:t>
            </a:r>
          </a:p>
          <a:p>
            <a:pPr marL="0" indent="0">
              <a:buNone/>
            </a:pPr>
            <a:r>
              <a:rPr lang="en-US" altLang="zh-CN" sz="1600" dirty="0" err="1"/>
              <a:t>      localStorage</a:t>
            </a:r>
            <a:r>
              <a:rPr lang="zh-CN" altLang="en-US" sz="1600" dirty="0"/>
              <a:t>对象和</a:t>
            </a:r>
            <a:r>
              <a:rPr lang="en-US" altLang="zh-CN" sz="1600" dirty="0"/>
              <a:t>sessionStorage </a:t>
            </a:r>
            <a:r>
              <a:rPr lang="zh-CN" altLang="en-US" sz="1600" dirty="0"/>
              <a:t>对象具有同样的方法，仅仅是对象名称不同而已。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localStorage</a:t>
            </a:r>
            <a:r>
              <a:rPr lang="en-US" altLang="zh-CN" dirty="0"/>
              <a:t> </a:t>
            </a:r>
            <a:r>
              <a:rPr lang="zh-CN" altLang="en-US" dirty="0"/>
              <a:t>对象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285" y="1447800"/>
            <a:ext cx="8509000" cy="214757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/>
              <a:t>localStorage</a:t>
            </a:r>
            <a:r>
              <a:rPr lang="en-US" altLang="zh-CN" sz="1600" dirty="0"/>
              <a:t> </a:t>
            </a:r>
            <a:r>
              <a:rPr lang="zh-CN" altLang="en-US" sz="1600" dirty="0"/>
              <a:t>对象的常用方法：</a:t>
            </a:r>
          </a:p>
          <a:p>
            <a:pPr marL="360680" indent="0"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n-US" altLang="zh-CN" sz="1600" dirty="0" err="1">
                <a:solidFill>
                  <a:schemeClr val="tx1"/>
                </a:solidFill>
              </a:rPr>
              <a:t>localStorage.setItem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key,value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：保存数据，</a:t>
            </a:r>
            <a:r>
              <a:rPr lang="en-US" altLang="zh-CN" sz="1600" dirty="0">
                <a:solidFill>
                  <a:schemeClr val="tx1"/>
                </a:solidFill>
              </a:rPr>
              <a:t>key</a:t>
            </a:r>
            <a:r>
              <a:rPr sz="1600" dirty="0">
                <a:solidFill>
                  <a:schemeClr val="tx1"/>
                </a:solidFill>
              </a:rPr>
              <a:t>存在则更新原值。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60680" indent="0"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n-US" altLang="zh-CN" sz="1600" dirty="0" err="1">
                <a:solidFill>
                  <a:schemeClr val="tx1"/>
                </a:solidFill>
              </a:rPr>
              <a:t>localStorage.getItem</a:t>
            </a:r>
            <a:r>
              <a:rPr lang="en-US" altLang="zh-CN" sz="1600" dirty="0">
                <a:solidFill>
                  <a:schemeClr val="tx1"/>
                </a:solidFill>
              </a:rPr>
              <a:t>(key)</a:t>
            </a:r>
            <a:r>
              <a:rPr lang="zh-CN" altLang="en-US" sz="1600" dirty="0">
                <a:solidFill>
                  <a:schemeClr val="tx1"/>
                </a:solidFill>
              </a:rPr>
              <a:t>：读取数据，</a:t>
            </a:r>
            <a:r>
              <a:rPr lang="en-US" altLang="zh-CN" sz="1600" dirty="0">
                <a:solidFill>
                  <a:schemeClr val="tx1"/>
                </a:solidFill>
              </a:rPr>
              <a:t>key</a:t>
            </a:r>
            <a:r>
              <a:rPr sz="1600" dirty="0">
                <a:solidFill>
                  <a:schemeClr val="tx1"/>
                </a:solidFill>
              </a:rPr>
              <a:t>不存在则返回</a:t>
            </a:r>
            <a:r>
              <a:rPr lang="en-US" altLang="zh-CN" sz="1600" dirty="0">
                <a:solidFill>
                  <a:schemeClr val="tx1"/>
                </a:solidFill>
              </a:rPr>
              <a:t>null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</a:p>
          <a:p>
            <a:pPr marL="360680" indent="0"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n-US" altLang="zh-CN" sz="1600" dirty="0" err="1">
                <a:solidFill>
                  <a:schemeClr val="tx1"/>
                </a:solidFill>
              </a:rPr>
              <a:t>localStorage.removeItem</a:t>
            </a:r>
            <a:r>
              <a:rPr lang="en-US" altLang="zh-CN" sz="1600" dirty="0">
                <a:solidFill>
                  <a:schemeClr val="tx1"/>
                </a:solidFill>
              </a:rPr>
              <a:t>(key)</a:t>
            </a:r>
            <a:r>
              <a:rPr lang="zh-CN" altLang="en-US" sz="1600" dirty="0">
                <a:solidFill>
                  <a:schemeClr val="tx1"/>
                </a:solidFill>
              </a:rPr>
              <a:t>：删除单个数据，</a:t>
            </a:r>
            <a:r>
              <a:rPr lang="en-US" altLang="zh-CN" sz="1600" dirty="0">
                <a:solidFill>
                  <a:schemeClr val="tx1"/>
                </a:solidFill>
              </a:rPr>
              <a:t>key</a:t>
            </a:r>
            <a:r>
              <a:rPr sz="1600" dirty="0">
                <a:solidFill>
                  <a:schemeClr val="tx1"/>
                </a:solidFill>
              </a:rPr>
              <a:t>不存在则无操作。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60680" indent="0"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n-US" altLang="zh-CN" sz="1600" dirty="0" err="1">
                <a:solidFill>
                  <a:schemeClr val="tx1"/>
                </a:solidFill>
              </a:rPr>
              <a:t>localStorage.clear</a:t>
            </a:r>
            <a:r>
              <a:rPr lang="en-US" altLang="zh-CN" sz="1600" dirty="0">
                <a:solidFill>
                  <a:schemeClr val="tx1"/>
                </a:solidFill>
              </a:rPr>
              <a:t>()</a:t>
            </a:r>
            <a:r>
              <a:rPr lang="zh-CN" altLang="en-US" sz="1600" dirty="0">
                <a:solidFill>
                  <a:schemeClr val="tx1"/>
                </a:solidFill>
              </a:rPr>
              <a:t>：删除所有数据，无数据则无操作。</a:t>
            </a:r>
            <a:endParaRPr lang="zh-CN" altLang="zh-CN" sz="1600" dirty="0">
              <a:solidFill>
                <a:schemeClr val="tx1"/>
              </a:solidFill>
            </a:endParaRPr>
          </a:p>
          <a:p>
            <a:pPr marL="360680" indent="0"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localStorage.key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(index)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：得到某个索引的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key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。</a:t>
            </a:r>
          </a:p>
          <a:p>
            <a:pPr marL="360680" indent="0"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n-US" altLang="zh-CN" sz="1600" dirty="0">
                <a:solidFill>
                  <a:schemeClr val="tx1"/>
                </a:solidFill>
              </a:rPr>
              <a:t>localStorage.length</a:t>
            </a:r>
            <a:r>
              <a:rPr sz="1600" dirty="0">
                <a:solidFill>
                  <a:schemeClr val="tx1"/>
                </a:solidFill>
              </a:rPr>
              <a:t>：存储的键值对数量。</a:t>
            </a:r>
          </a:p>
        </p:txBody>
      </p:sp>
      <p:sp>
        <p:nvSpPr>
          <p:cNvPr id="4" name="矩形 3"/>
          <p:cNvSpPr/>
          <p:nvPr/>
        </p:nvSpPr>
        <p:spPr>
          <a:xfrm>
            <a:off x="502285" y="4371340"/>
            <a:ext cx="804354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fontAlgn="auto">
              <a:buNone/>
              <a:tabLst>
                <a:tab pos="539750" algn="l"/>
              </a:tabLst>
            </a:pPr>
            <a:r>
              <a:rPr lang="en-US" altLang="zh-CN" sz="1600" dirty="0" err="1"/>
              <a:t>sessionStorage</a:t>
            </a:r>
            <a:r>
              <a:rPr lang="en-US" altLang="zh-CN" sz="1600" dirty="0"/>
              <a:t> </a:t>
            </a:r>
            <a:r>
              <a:rPr lang="zh-CN" altLang="en-US" sz="1600" dirty="0"/>
              <a:t>对象</a:t>
            </a:r>
          </a:p>
          <a:p>
            <a:pPr marL="539750" indent="0" algn="l">
              <a:buNone/>
              <a:tabLst>
                <a:tab pos="539750" algn="l"/>
              </a:tabLst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sessionStorage</a:t>
            </a:r>
            <a:r>
              <a:rPr lang="zh-CN" altLang="en-US" sz="1600" dirty="0"/>
              <a:t>对象针对</a:t>
            </a:r>
            <a:r>
              <a:rPr lang="zh-CN" altLang="en-US" sz="1600" dirty="0">
                <a:highlight>
                  <a:srgbClr val="FFFF00"/>
                </a:highlight>
              </a:rPr>
              <a:t>一个</a:t>
            </a:r>
            <a:r>
              <a:rPr lang="en-US" altLang="zh-CN" sz="1600" dirty="0">
                <a:highlight>
                  <a:srgbClr val="FFFF00"/>
                </a:highlight>
              </a:rPr>
              <a:t>session</a:t>
            </a:r>
            <a:r>
              <a:rPr lang="zh-CN" altLang="en-US" sz="1600" dirty="0"/>
              <a:t>进行数据存储。数据存储周期短，当用户关闭浏览器窗口后</a:t>
            </a:r>
            <a:r>
              <a:rPr lang="zh-CN" altLang="en-US" sz="1600" dirty="0">
                <a:highlight>
                  <a:srgbClr val="FFFF00"/>
                </a:highlight>
              </a:rPr>
              <a:t>，数据会被删除</a:t>
            </a:r>
            <a:r>
              <a:rPr lang="zh-CN" altLang="en-US" sz="1600" dirty="0"/>
              <a:t>。该对象的方法与</a:t>
            </a:r>
            <a:r>
              <a:rPr lang="en-US" altLang="zh-CN" sz="1600" dirty="0" err="1"/>
              <a:t>localStorage</a:t>
            </a:r>
            <a:r>
              <a:rPr lang="en-US" altLang="zh-CN" sz="1600" dirty="0"/>
              <a:t> </a:t>
            </a:r>
            <a:r>
              <a:rPr lang="zh-CN" altLang="en-US" sz="1600" dirty="0"/>
              <a:t>对象方法相同。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localStorage</a:t>
            </a:r>
            <a:r>
              <a:rPr lang="en-US" altLang="zh-CN" dirty="0"/>
              <a:t> </a:t>
            </a:r>
            <a:r>
              <a:rPr lang="zh-CN" altLang="en-US" dirty="0"/>
              <a:t>对象案例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6400" y="1229360"/>
            <a:ext cx="8235315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&lt;body&gt;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&lt;div&gt;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ea"/>
                <a:ea typeface="+mj-ea"/>
                <a:sym typeface="+mn-ea"/>
              </a:rPr>
              <a:t>    ……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ea"/>
                <a:ea typeface="+mj-ea"/>
                <a:sym typeface="+mn-ea"/>
              </a:rPr>
              <a:t>    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&lt;p&gt;</a:t>
            </a:r>
            <a:r>
              <a:rPr lang="zh-CN" altLang="en-US" sz="1400" dirty="0">
                <a:latin typeface="+mj-ea"/>
                <a:ea typeface="+mj-ea"/>
                <a:sym typeface="+mn-ea"/>
              </a:rPr>
              <a:t>刷新页面票数会增长。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&lt;/p&gt;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&lt;p&gt;</a:t>
            </a:r>
            <a:r>
              <a:rPr lang="zh-CN" altLang="en-US" sz="1400" dirty="0">
                <a:latin typeface="+mj-ea"/>
                <a:ea typeface="+mj-ea"/>
                <a:sym typeface="+mn-ea"/>
              </a:rPr>
              <a:t>请关闭浏览器后重试仍会增长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&lt;/p&gt;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&lt;/div&gt;	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……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&lt;script type="text/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javascript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"&gt;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var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 tickets=0;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highlight>
                  <a:srgbClr val="FFFF00"/>
                </a:highlight>
                <a:latin typeface="+mj-ea"/>
                <a:ea typeface="+mj-ea"/>
                <a:sym typeface="+mn-ea"/>
              </a:rPr>
              <a:t>    </a:t>
            </a:r>
            <a:r>
              <a:rPr lang="en-US" altLang="zh-CN" sz="1400" dirty="0" err="1">
                <a:highlight>
                  <a:srgbClr val="FFFF00"/>
                </a:highlight>
                <a:latin typeface="+mj-ea"/>
                <a:ea typeface="+mj-ea"/>
                <a:sym typeface="+mn-ea"/>
              </a:rPr>
              <a:t>localStorage.setItem</a:t>
            </a:r>
            <a:r>
              <a:rPr lang="en-US" altLang="zh-CN" sz="1400" dirty="0">
                <a:highlight>
                  <a:srgbClr val="FFFF00"/>
                </a:highlight>
                <a:latin typeface="+mj-ea"/>
                <a:ea typeface="+mj-ea"/>
                <a:sym typeface="+mn-ea"/>
              </a:rPr>
              <a:t>(tickets,0);</a:t>
            </a:r>
            <a:endParaRPr lang="en-US" altLang="zh-CN" sz="1400" dirty="0">
              <a:highlight>
                <a:srgbClr val="FFFF00"/>
              </a:highlight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if (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localStorage.tickets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){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  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localStorage.tickets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=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parseInt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(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localStorage.tickets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) +1;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}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else{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highlight>
                  <a:srgbClr val="FFFF00"/>
                </a:highlight>
                <a:latin typeface="+mj-ea"/>
                <a:ea typeface="+mj-ea"/>
                <a:sym typeface="+mn-ea"/>
              </a:rPr>
              <a:t>       </a:t>
            </a:r>
            <a:r>
              <a:rPr lang="en-US" altLang="zh-CN" sz="1400" dirty="0" err="1">
                <a:highlight>
                  <a:srgbClr val="FFFF00"/>
                </a:highlight>
                <a:latin typeface="+mj-ea"/>
                <a:ea typeface="+mj-ea"/>
                <a:sym typeface="+mn-ea"/>
              </a:rPr>
              <a:t>localStorage.tickets</a:t>
            </a:r>
            <a:r>
              <a:rPr lang="en-US" altLang="zh-CN" sz="1400" dirty="0">
                <a:highlight>
                  <a:srgbClr val="FFFF00"/>
                </a:highlight>
                <a:latin typeface="+mj-ea"/>
                <a:ea typeface="+mj-ea"/>
                <a:sym typeface="+mn-ea"/>
              </a:rPr>
              <a:t>=1;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	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}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  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document.getElementById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("result").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innerHTML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="</a:t>
            </a:r>
            <a:r>
              <a:rPr lang="zh-CN" altLang="en-US" sz="1400" dirty="0">
                <a:latin typeface="+mj-ea"/>
                <a:ea typeface="+mj-ea"/>
                <a:sym typeface="+mn-ea"/>
              </a:rPr>
              <a:t>已投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: "+</a:t>
            </a:r>
            <a:r>
              <a:rPr lang="en-US" altLang="zh-CN" sz="1400" dirty="0" err="1">
                <a:latin typeface="+mj-ea"/>
                <a:ea typeface="+mj-ea"/>
                <a:sym typeface="+mn-ea"/>
              </a:rPr>
              <a:t>localStorage.tickets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 + "</a:t>
            </a:r>
            <a:r>
              <a:rPr lang="zh-CN" altLang="en-US" sz="1400" dirty="0">
                <a:latin typeface="+mj-ea"/>
                <a:ea typeface="+mj-ea"/>
                <a:sym typeface="+mn-ea"/>
              </a:rPr>
              <a:t>票</a:t>
            </a:r>
            <a:r>
              <a:rPr lang="en-US" altLang="zh-CN" sz="1400" dirty="0">
                <a:latin typeface="+mj-ea"/>
                <a:ea typeface="+mj-ea"/>
                <a:sym typeface="+mn-ea"/>
              </a:rPr>
              <a:t>";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&lt;/script&gt;</a:t>
            </a:r>
            <a:endParaRPr lang="en-US" altLang="zh-CN" sz="1400" dirty="0">
              <a:latin typeface="+mj-ea"/>
              <a:ea typeface="+mj-ea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  ……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j-ea"/>
                <a:ea typeface="+mj-ea"/>
                <a:sym typeface="+mn-ea"/>
              </a:rPr>
              <a:t>&lt;/body&gt;</a:t>
            </a:r>
            <a:endParaRPr lang="zh-CN" altLang="en-US" sz="1400" b="0" dirty="0"/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273354"/>
              </p:ext>
            </p:extLst>
          </p:nvPr>
        </p:nvGraphicFramePr>
        <p:xfrm>
          <a:off x="3471863" y="5741988"/>
          <a:ext cx="11191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包装程序外壳对象" showAsIcon="1" r:id="rId3" imgW="1118880" imgH="535680" progId="Package">
                  <p:embed/>
                </p:oleObj>
              </mc:Choice>
              <mc:Fallback>
                <p:oleObj name="包装程序外壳对象" showAsIcon="1" r:id="rId3" imgW="1118880" imgH="535680" progId="Package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1863" y="5741988"/>
                        <a:ext cx="1119187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localStorage</a:t>
            </a:r>
            <a:r>
              <a:rPr lang="en-US" altLang="zh-CN" dirty="0"/>
              <a:t> </a:t>
            </a:r>
            <a:r>
              <a:rPr lang="zh-CN" altLang="en-US" dirty="0"/>
              <a:t>对象案例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396240" y="1160145"/>
            <a:ext cx="8087360" cy="526161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&lt;script&gt;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function $(id){return </a:t>
            </a:r>
            <a:r>
              <a:rPr lang="en-US" altLang="zh-CN" sz="1600" kern="0" noProof="0" dirty="0" err="1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document.getElementById</a:t>
            </a:r>
            <a:r>
              <a:rPr lang="en-US" altLang="zh-CN" sz="1600" kern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(id);}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//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载入所有存储在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localStorage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的通讯录信息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loadAllInfo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 		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保存一条通讯记录数据，同时显示在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中 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function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saveInfo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kumimoji="0" lang="en-US" altLang="zh-CN" sz="1600" b="0" i="0" u="non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name1=$("username").value;            </a:t>
            </a:r>
            <a:r>
              <a:rPr kumimoji="0" lang="en-US" altLang="zh-CN" sz="1600" b="0" i="0" kern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kumimoji="0" lang="zh-CN" altLang="en-US" sz="1600" b="0" i="0" kern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取姓名</a:t>
            </a:r>
            <a:endParaRPr kumimoji="0" lang="zh-CN" altLang="en-US" sz="1600" b="0" i="0" u="non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kumimoji="0" lang="en-US" altLang="zh-CN" sz="1600" b="0" i="0" u="non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phone1=$("</a:t>
            </a:r>
            <a:r>
              <a:rPr kumimoji="0" lang="en-US" altLang="zh-CN" sz="1600" b="0" i="0" u="non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userphone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").value;	</a:t>
            </a:r>
            <a:r>
              <a:rPr kumimoji="0" lang="en-US" altLang="zh-CN" sz="1600" b="0" i="0" kern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kumimoji="0" lang="zh-CN" altLang="en-US" sz="1600" b="0" i="0" kern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取电话</a:t>
            </a:r>
            <a:endParaRPr kumimoji="0" lang="zh-CN" altLang="en-US" sz="1600" b="0" i="0" u="non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-182880" defTabSz="11588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if (name1!=“” &amp;&amp; phone1</a:t>
            </a:r>
            <a:r>
              <a:rPr lang="en-US" altLang="zh-CN" sz="1600" b="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!=“”) {              </a:t>
            </a:r>
            <a:r>
              <a:rPr lang="en-US" altLang="zh-CN" sz="1600" b="0" kern="0" dirty="0">
                <a:solidFill>
                  <a:schemeClr val="tx1"/>
                </a:solidFill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lang="zh-CN" altLang="en-US" sz="1600" b="0" kern="0" dirty="0">
                <a:solidFill>
                  <a:schemeClr val="tx1"/>
                </a:solidFill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不为空处理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0" lang="zh-CN" altLang="en-US" sz="1600" b="0" i="0" u="non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kumimoji="0" lang="en-US" altLang="zh-CN" sz="1600" b="0" i="0" u="non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localStorage.setItem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(name1,phone1);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kumimoji="0" lang="en-US" altLang="zh-CN" sz="1600" b="0" i="0" u="non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loadAllInfo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alert("</a:t>
            </a:r>
            <a:r>
              <a:rPr kumimoji="0" lang="zh-CN" altLang="en-US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添加成功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 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}else{                                           </a:t>
            </a:r>
            <a:r>
              <a:rPr kumimoji="0" lang="en-US" altLang="zh-CN" sz="1600" b="0" i="0" kern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kumimoji="0" lang="zh-CN" altLang="en-US" sz="1600" b="0" i="0" kern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姓名或电话为空，告警并获得焦点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alert("</a:t>
            </a:r>
            <a:r>
              <a:rPr kumimoji="0" lang="zh-CN" altLang="en-US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请输入姓名和电话！</a:t>
            </a: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");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$("username").focus();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}			 </a:t>
            </a:r>
          </a:p>
          <a:p>
            <a:pPr marL="0" marR="0" lvl="0" indent="-182880" algn="l" defTabSz="115887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}</a:t>
            </a:r>
          </a:p>
          <a:p>
            <a:pPr marL="0" marR="0" lvl="0" indent="-182880" algn="l" defTabSz="1158875" rtl="0" eaLnBrk="0" fontAlgn="base" latinLnBrk="0" hangingPunc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localStorage</a:t>
            </a:r>
            <a:r>
              <a:rPr lang="en-US" altLang="zh-CN" dirty="0"/>
              <a:t> </a:t>
            </a:r>
            <a:r>
              <a:rPr lang="zh-CN" altLang="en-US" dirty="0"/>
              <a:t>对象案例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6065" y="885190"/>
            <a:ext cx="8611870" cy="5980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lang="zh-CN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以姓名查找通讯录信息 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function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findForName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 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=$("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search_name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").value; 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searchphone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localStorage.getItem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);</a:t>
            </a:r>
            <a:endParaRPr lang="zh-CN" altLang="en-US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$("userphone1").value=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searchphone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 </a:t>
            </a:r>
            <a:endParaRPr lang="zh-CN" altLang="en-US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//</a:t>
            </a:r>
            <a:r>
              <a:rPr lang="zh-CN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从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localStorage</a:t>
            </a:r>
            <a:r>
              <a:rPr lang="zh-CN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中取出所有通讯录中信息，并展现到界面上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function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loadAllInfo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result = "";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if(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localStorage.length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&gt;0){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result += "</a:t>
            </a:r>
            <a:r>
              <a:rPr lang="zh-CN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姓名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&amp;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nbsp;&amp;nbsp;&amp;nbsp;&amp;nbsp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  <a:r>
              <a:rPr lang="zh-CN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电话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&gt;&lt;hr&gt;"; 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for(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=0;i&lt;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localStorage.length;i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++){ 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var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name= 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localStorage.key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);  </a:t>
            </a: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var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phone = </a:t>
            </a: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localStorage.getItem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(name);  </a:t>
            </a:r>
            <a:endParaRPr lang="en-US" altLang="zh-CN" sz="14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result += name+"   ---   "+phone+"&lt;/</a:t>
            </a: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br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&gt;";  </a:t>
            </a:r>
            <a:endParaRPr lang="en-US" altLang="zh-CN" sz="14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}               </a:t>
            </a:r>
            <a:endParaRPr lang="en-US" altLang="zh-CN" sz="14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$("</a:t>
            </a: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displayallinfo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").</a:t>
            </a: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innerHTML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= result;  </a:t>
            </a:r>
            <a:endParaRPr lang="en-US" altLang="zh-CN" sz="14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}else{  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$("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displayallinfo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").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innerHTML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= "</a:t>
            </a:r>
            <a:r>
              <a:rPr lang="zh-CN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数据为空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……";  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  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}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+mn-ea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//</a:t>
            </a:r>
            <a:r>
              <a:rPr lang="zh-CN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删除某一条通讯信息</a:t>
            </a:r>
            <a:endParaRPr lang="zh-CN" altLang="en-US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function 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deleteName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(){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localStorage.</a:t>
            </a: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removeItem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($("</a:t>
            </a:r>
            <a:r>
              <a:rPr lang="en-US" altLang="zh-CN" sz="14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search_name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").value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); </a:t>
            </a:r>
            <a:endParaRPr lang="zh-CN" altLang="en-US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$("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search_name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").value="";</a:t>
            </a:r>
            <a:endParaRPr lang="zh-CN" altLang="en-US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loadAllInfo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();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}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&lt;/script&gt;</a:t>
            </a:r>
            <a:endParaRPr lang="zh-CN" altLang="en-US" sz="1400" b="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C5875B-4E42-4E7B-B657-0B6D660623B5}"/>
              </a:ext>
            </a:extLst>
          </p:cNvPr>
          <p:cNvSpPr/>
          <p:nvPr/>
        </p:nvSpPr>
        <p:spPr>
          <a:xfrm>
            <a:off x="5056094" y="3693459"/>
            <a:ext cx="3290047" cy="555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循环遍历获取所有的</a:t>
            </a:r>
            <a:r>
              <a:rPr lang="en-US" altLang="zh-CN" dirty="0"/>
              <a:t>key</a:t>
            </a:r>
            <a:endParaRPr lang="zh-CN" altLang="en-US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localStorage</a:t>
            </a:r>
            <a:r>
              <a:rPr lang="en-US" altLang="zh-CN" dirty="0"/>
              <a:t> </a:t>
            </a:r>
            <a:r>
              <a:rPr lang="zh-CN" altLang="en-US" dirty="0"/>
              <a:t>对象案例</a:t>
            </a:r>
            <a:r>
              <a:rPr lang="en-US" dirty="0"/>
              <a:t>2</a:t>
            </a:r>
          </a:p>
        </p:txBody>
      </p:sp>
      <p:sp>
        <p:nvSpPr>
          <p:cNvPr id="5" name="矩形 4"/>
          <p:cNvSpPr/>
          <p:nvPr/>
        </p:nvSpPr>
        <p:spPr>
          <a:xfrm>
            <a:off x="369570" y="1120775"/>
            <a:ext cx="8484235" cy="483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&lt;body&gt;		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fieldset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style="float:left;width:300px;text-align:center;"&gt;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&lt;legend&gt;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通讯录添加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&lt;/legend&gt;&lt;label for="name"&gt;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姓名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(key)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：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&lt;/label&gt;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&lt;input type="text" id="username" name="username" required/&gt;&lt;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/&gt;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&lt;label for="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telphone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电话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(value)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：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&lt;/label&gt;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&lt;input type="text" id="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userphone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name="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userphone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required/&gt;&lt;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/&gt;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&gt;&lt;input type="button"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saveInfo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 value="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添加通讯录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"/&gt;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&lt;input type="reset"&gt;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&lt;div id="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displayallinfo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name="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displayallinfo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fieldset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fieldset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style="float:left;width:300px;height:100px;text-align:center;"&gt;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&lt;legend&gt;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通讯录查询与删除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&lt;/legend&gt;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&lt;label for="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search_phone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输入姓名：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&lt;/label&gt;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&lt;input type="text" id="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search_name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name="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search_name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required/&gt;&lt;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&lt;label&gt;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电话：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&lt;/label&gt;&lt;input type="text" name="" id="userphone1"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readonly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&gt;&lt;input type="button"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findForName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 value="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查找通讯录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"/&gt;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&lt;input type="button"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onclick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deleteName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()" value="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删除通讯录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"/&gt; 	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fieldset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	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&lt;/body&gt; </a:t>
            </a: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013990"/>
              </p:ext>
            </p:extLst>
          </p:nvPr>
        </p:nvGraphicFramePr>
        <p:xfrm>
          <a:off x="4011613" y="5637213"/>
          <a:ext cx="11191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包装程序外壳对象" showAsIcon="1" r:id="rId3" imgW="1118880" imgH="535680" progId="Package">
                  <p:embed/>
                </p:oleObj>
              </mc:Choice>
              <mc:Fallback>
                <p:oleObj name="包装程序外壳对象" showAsIcon="1" r:id="rId3" imgW="1118880" imgH="535680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11613" y="5637213"/>
                        <a:ext cx="1119187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285" y="1430655"/>
            <a:ext cx="8001635" cy="4243070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85" dirty="0">
                <a:solidFill>
                  <a:srgbClr val="FF0000"/>
                </a:solidFill>
              </a:rPr>
              <a:t>       </a:t>
            </a:r>
            <a:r>
              <a:rPr lang="en-US" altLang="zh-CN" sz="2285" dirty="0" err="1">
                <a:solidFill>
                  <a:srgbClr val="FF0000"/>
                </a:solidFill>
              </a:rPr>
              <a:t>WebStorage</a:t>
            </a:r>
            <a:r>
              <a:rPr lang="zh-CN" altLang="en-US" sz="2285" dirty="0"/>
              <a:t>可以用来存储键值对，然而它无法提供按顺序检索、</a:t>
            </a:r>
            <a:r>
              <a:rPr lang="zh-CN" altLang="en-US" sz="2285" dirty="0">
                <a:highlight>
                  <a:srgbClr val="FFFF00"/>
                </a:highlight>
              </a:rPr>
              <a:t>高性能</a:t>
            </a:r>
            <a:r>
              <a:rPr lang="zh-CN" altLang="en-US" sz="2285" dirty="0"/>
              <a:t>地按值查询或存储重复的键的功能。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285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85" dirty="0"/>
              <a:t>       </a:t>
            </a:r>
            <a:r>
              <a:rPr lang="en-US" altLang="zh-CN" sz="2285" dirty="0" err="1">
                <a:solidFill>
                  <a:srgbClr val="FF0000"/>
                </a:solidFill>
              </a:rPr>
              <a:t>IndexedDB</a:t>
            </a:r>
            <a:r>
              <a:rPr lang="en-US" altLang="zh-CN" sz="2285" dirty="0"/>
              <a:t> </a:t>
            </a:r>
            <a:r>
              <a:rPr lang="zh-CN" altLang="en-US" sz="2285" dirty="0"/>
              <a:t>是一种轻量级</a:t>
            </a:r>
            <a:r>
              <a:rPr lang="en-US" altLang="zh-CN" sz="2285" dirty="0"/>
              <a:t>NoSQL</a:t>
            </a:r>
            <a:r>
              <a:rPr lang="zh-CN" altLang="en-US" sz="2285" dirty="0"/>
              <a:t>（</a:t>
            </a:r>
            <a:r>
              <a:rPr lang="en-US" altLang="zh-CN" sz="2285" dirty="0"/>
              <a:t>Not Only SQL</a:t>
            </a:r>
            <a:r>
              <a:rPr lang="zh-CN" altLang="en-US" sz="2285" dirty="0"/>
              <a:t>，泛指非关系型）数据库，用来</a:t>
            </a:r>
            <a:r>
              <a:rPr lang="zh-CN" altLang="en-US" sz="2285" dirty="0">
                <a:highlight>
                  <a:srgbClr val="FFFF00"/>
                </a:highlight>
              </a:rPr>
              <a:t>持久化</a:t>
            </a:r>
            <a:r>
              <a:rPr lang="zh-CN" altLang="en-US" sz="2285" dirty="0">
                <a:solidFill>
                  <a:srgbClr val="FF0000"/>
                </a:solidFill>
                <a:highlight>
                  <a:srgbClr val="FFFF00"/>
                </a:highlight>
              </a:rPr>
              <a:t>大量（</a:t>
            </a:r>
            <a:r>
              <a:rPr lang="en-US" altLang="zh-CN" sz="2285" dirty="0">
                <a:solidFill>
                  <a:srgbClr val="FF0000"/>
                </a:solidFill>
                <a:highlight>
                  <a:srgbClr val="FFFF00"/>
                </a:highlight>
              </a:rPr>
              <a:t>250MB</a:t>
            </a:r>
            <a:r>
              <a:rPr lang="zh-CN" altLang="en-US" sz="2285" dirty="0">
                <a:solidFill>
                  <a:srgbClr val="FF0000"/>
                </a:solidFill>
                <a:highlight>
                  <a:srgbClr val="FFFF00"/>
                </a:highlight>
              </a:rPr>
              <a:t>）</a:t>
            </a:r>
            <a:r>
              <a:rPr lang="zh-CN" altLang="en-US" sz="2285" dirty="0">
                <a:solidFill>
                  <a:srgbClr val="FF0000"/>
                </a:solidFill>
              </a:rPr>
              <a:t>客户端数据</a:t>
            </a:r>
            <a:r>
              <a:rPr lang="zh-CN" altLang="en-US" sz="2285" dirty="0"/>
              <a:t>。它可以让</a:t>
            </a:r>
            <a:r>
              <a:rPr lang="en-US" altLang="zh-CN" sz="2285" dirty="0"/>
              <a:t>Web </a:t>
            </a:r>
            <a:r>
              <a:rPr lang="zh-CN" altLang="en-US" sz="2285" dirty="0"/>
              <a:t>应用程序具有非常强大的查询能力并且可以离线工作。</a:t>
            </a:r>
            <a:r>
              <a:rPr lang="en-US" altLang="zh-CN" sz="2285" dirty="0" err="1"/>
              <a:t>IndexedDB</a:t>
            </a:r>
            <a:r>
              <a:rPr lang="en-US" altLang="zh-CN" sz="2285" dirty="0"/>
              <a:t> </a:t>
            </a:r>
            <a:r>
              <a:rPr lang="zh-CN" altLang="en-US" sz="2285" dirty="0"/>
              <a:t>的数据操作直接</a:t>
            </a:r>
            <a:r>
              <a:rPr lang="zh-CN" altLang="en-US" sz="2285" dirty="0">
                <a:highlight>
                  <a:srgbClr val="FFFF00"/>
                </a:highlight>
              </a:rPr>
              <a:t>使用</a:t>
            </a:r>
            <a:r>
              <a:rPr lang="en-US" altLang="zh-CN" sz="2285" dirty="0">
                <a:highlight>
                  <a:srgbClr val="FFFF00"/>
                </a:highlight>
              </a:rPr>
              <a:t>JS </a:t>
            </a:r>
            <a:r>
              <a:rPr lang="zh-CN" altLang="en-US" sz="2285" dirty="0">
                <a:highlight>
                  <a:srgbClr val="FFFF00"/>
                </a:highlight>
              </a:rPr>
              <a:t>脚本</a:t>
            </a:r>
            <a:r>
              <a:rPr lang="zh-CN" altLang="en-US" sz="2285" dirty="0"/>
              <a:t>，不依赖</a:t>
            </a:r>
            <a:r>
              <a:rPr lang="en-US" altLang="zh-CN" sz="2285" dirty="0"/>
              <a:t>SQL </a:t>
            </a:r>
            <a:r>
              <a:rPr lang="zh-CN" altLang="en-US" sz="2285" dirty="0"/>
              <a:t>语句（</a:t>
            </a:r>
            <a:r>
              <a:rPr lang="en-US" altLang="zh-CN" sz="2285" dirty="0"/>
              <a:t>Web SQL</a:t>
            </a:r>
            <a:r>
              <a:rPr lang="zh-CN" altLang="en-US" sz="2285" dirty="0"/>
              <a:t>数据库已被废弃），操作返回均采用</a:t>
            </a:r>
            <a:r>
              <a:rPr lang="zh-CN" altLang="en-US" sz="2285" b="1" dirty="0">
                <a:solidFill>
                  <a:srgbClr val="FF0000"/>
                </a:solidFill>
              </a:rPr>
              <a:t>异步</a:t>
            </a:r>
            <a:r>
              <a:rPr lang="zh-CN" altLang="en-US" sz="2285" dirty="0"/>
              <a:t>。</a:t>
            </a:r>
            <a:endParaRPr lang="en-US" altLang="zh-CN" sz="2285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285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85" dirty="0"/>
              <a:t>      </a:t>
            </a:r>
            <a:r>
              <a:rPr lang="en-US" altLang="zh-CN" sz="2285" dirty="0" err="1"/>
              <a:t>localStorage</a:t>
            </a:r>
            <a:r>
              <a:rPr lang="en-US" altLang="zh-CN" sz="2285" dirty="0"/>
              <a:t> </a:t>
            </a:r>
            <a:r>
              <a:rPr lang="zh-CN" altLang="en-US" sz="2285" dirty="0"/>
              <a:t>和</a:t>
            </a:r>
            <a:r>
              <a:rPr lang="en-US" altLang="zh-CN" sz="2285" dirty="0"/>
              <a:t>sessionStorage </a:t>
            </a:r>
            <a:r>
              <a:rPr lang="zh-CN" altLang="en-US" sz="2285" dirty="0"/>
              <a:t>对象是采用</a:t>
            </a:r>
            <a:r>
              <a:rPr lang="zh-CN" altLang="en-US" sz="2285" dirty="0">
                <a:solidFill>
                  <a:srgbClr val="FF0000"/>
                </a:solidFill>
              </a:rPr>
              <a:t>同步技术</a:t>
            </a:r>
            <a:r>
              <a:rPr lang="zh-CN" altLang="en-US" sz="2285" dirty="0"/>
              <a:t>实现少量（</a:t>
            </a:r>
            <a:r>
              <a:rPr lang="en-US" altLang="zh-CN" sz="2285" dirty="0"/>
              <a:t>2.5</a:t>
            </a:r>
            <a:r>
              <a:rPr lang="zh-CN" altLang="en-US" sz="2285" dirty="0"/>
              <a:t>～</a:t>
            </a:r>
            <a:r>
              <a:rPr lang="en-US" altLang="zh-CN" sz="2285" dirty="0"/>
              <a:t>10MB</a:t>
            </a:r>
            <a:r>
              <a:rPr lang="zh-CN" altLang="en-US" sz="2285" dirty="0"/>
              <a:t>）客户端数据（字符串）存储。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285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85" dirty="0">
                <a:highlight>
                  <a:srgbClr val="FFFF00"/>
                </a:highlight>
              </a:rPr>
              <a:t>       一个网站可以有多个</a:t>
            </a:r>
            <a:r>
              <a:rPr lang="en-US" altLang="zh-CN" sz="2285" dirty="0">
                <a:highlight>
                  <a:srgbClr val="FFFF00"/>
                </a:highlight>
              </a:rPr>
              <a:t>IndexedDB </a:t>
            </a:r>
            <a:r>
              <a:rPr lang="zh-CN" altLang="en-US" sz="2285" dirty="0">
                <a:highlight>
                  <a:srgbClr val="FFFF00"/>
                </a:highlight>
              </a:rPr>
              <a:t>数据库，每个数据库必须具有唯一的名称</a:t>
            </a:r>
            <a:r>
              <a:rPr lang="zh-CN" altLang="en-US" sz="2285" dirty="0"/>
              <a:t>。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0"/>
            <a:ext cx="8509000" cy="44075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使用</a:t>
            </a:r>
            <a:r>
              <a:rPr lang="en-US" altLang="zh-CN" sz="1600" dirty="0">
                <a:solidFill>
                  <a:schemeClr val="tx1"/>
                </a:solidFill>
              </a:rPr>
              <a:t>IndexedDB </a:t>
            </a:r>
            <a:r>
              <a:rPr lang="zh-CN" altLang="en-US" sz="1600" dirty="0">
                <a:solidFill>
                  <a:schemeClr val="tx1"/>
                </a:solidFill>
              </a:rPr>
              <a:t>的基本步骤如下：</a:t>
            </a:r>
          </a:p>
          <a:p>
            <a:pPr indent="2686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zh-CN" altLang="en-US" sz="1600" dirty="0">
                <a:solidFill>
                  <a:schemeClr val="tx1"/>
                </a:solidFill>
              </a:rPr>
              <a:t>打开数据库并且开始一个事务。</a:t>
            </a:r>
          </a:p>
          <a:p>
            <a:pPr indent="2686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zh-CN" altLang="en-US" sz="1600" dirty="0">
                <a:solidFill>
                  <a:schemeClr val="tx1"/>
                </a:solidFill>
              </a:rPr>
              <a:t>创建一个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对象仓库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(Object Store)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</a:p>
          <a:p>
            <a:pPr indent="2686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zh-CN" altLang="en-US" sz="1600" dirty="0">
                <a:solidFill>
                  <a:schemeClr val="tx1"/>
                </a:solidFill>
              </a:rPr>
              <a:t>构建一个请求来执行一些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数据库操</a:t>
            </a:r>
            <a:r>
              <a:rPr lang="zh-CN" altLang="en-US" sz="1600" dirty="0">
                <a:solidFill>
                  <a:schemeClr val="tx1"/>
                </a:solidFill>
              </a:rPr>
              <a:t>作，例如增加或提取数据等。</a:t>
            </a:r>
          </a:p>
          <a:p>
            <a:pPr indent="2686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zh-CN" altLang="en-US" sz="1600" dirty="0">
                <a:solidFill>
                  <a:schemeClr val="tx1"/>
                </a:solidFill>
              </a:rPr>
              <a:t>通过监听正确类型的</a:t>
            </a:r>
            <a:r>
              <a:rPr lang="en-US" altLang="zh-CN" sz="1600" dirty="0">
                <a:solidFill>
                  <a:schemeClr val="tx1"/>
                </a:solidFill>
              </a:rPr>
              <a:t>DOM </a:t>
            </a:r>
            <a:r>
              <a:rPr lang="zh-CN" altLang="en-US" sz="1600" dirty="0">
                <a:solidFill>
                  <a:schemeClr val="tx1"/>
                </a:solidFill>
              </a:rPr>
              <a:t>事件以等待操作完成。</a:t>
            </a:r>
          </a:p>
          <a:p>
            <a:pPr indent="2686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zh-CN" altLang="en-US" sz="1600" dirty="0">
                <a:solidFill>
                  <a:schemeClr val="tx1"/>
                </a:solidFill>
              </a:rPr>
              <a:t>在操作结果上进行一些操作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（可以在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request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对象中找到）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600" b="1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1" dirty="0">
                <a:solidFill>
                  <a:schemeClr val="tx1"/>
                </a:solidFill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</a:rPr>
              <a:t>．浏览器支持</a:t>
            </a:r>
            <a:r>
              <a:rPr lang="en-US" altLang="zh-CN" sz="1600" b="1" dirty="0">
                <a:solidFill>
                  <a:schemeClr val="tx1"/>
                </a:solidFill>
              </a:rPr>
              <a:t>IndexedDB </a:t>
            </a:r>
            <a:r>
              <a:rPr lang="zh-CN" altLang="en-US" sz="1600" b="1" dirty="0">
                <a:solidFill>
                  <a:schemeClr val="tx1"/>
                </a:solidFill>
              </a:rPr>
              <a:t>数据库情况判断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indexedDB=window.indexedDB || window.mozIndexedDB ||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   </a:t>
            </a:r>
            <a:r>
              <a:rPr lang="en-US" altLang="zh-CN" sz="1600" dirty="0" err="1">
                <a:solidFill>
                  <a:schemeClr val="tx1"/>
                </a:solidFill>
              </a:rPr>
              <a:t>window.webkitIndexedDB</a:t>
            </a:r>
            <a:r>
              <a:rPr lang="en-US" altLang="zh-CN" sz="1600" dirty="0">
                <a:solidFill>
                  <a:schemeClr val="tx1"/>
                </a:solidFill>
              </a:rPr>
              <a:t>; //</a:t>
            </a:r>
            <a:r>
              <a:rPr lang="zh-CN" altLang="en-US" sz="1600" dirty="0">
                <a:solidFill>
                  <a:schemeClr val="tx1"/>
                </a:solidFill>
              </a:rPr>
              <a:t>获得</a:t>
            </a:r>
            <a:r>
              <a:rPr lang="en-US" altLang="zh-CN" sz="1600" dirty="0">
                <a:solidFill>
                  <a:schemeClr val="tx1"/>
                </a:solidFill>
              </a:rPr>
              <a:t>IndexedDB</a:t>
            </a:r>
            <a:r>
              <a:rPr lang="zh-CN" altLang="en-US" sz="1600" dirty="0">
                <a:solidFill>
                  <a:schemeClr val="tx1"/>
                </a:solidFill>
              </a:rPr>
              <a:t>对象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if(</a:t>
            </a:r>
            <a:r>
              <a:rPr lang="en-US" altLang="zh-CN" sz="1600" dirty="0" err="1">
                <a:solidFill>
                  <a:schemeClr val="tx1"/>
                </a:solidFill>
              </a:rPr>
              <a:t>window.indexedDB</a:t>
            </a:r>
            <a:r>
              <a:rPr lang="en-US" altLang="zh-CN" sz="1600" dirty="0">
                <a:solidFill>
                  <a:schemeClr val="tx1"/>
                </a:solidFill>
              </a:rPr>
              <a:t>){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    alert("</a:t>
            </a:r>
            <a:r>
              <a:rPr lang="zh-CN" altLang="en-US" sz="1600" dirty="0">
                <a:solidFill>
                  <a:schemeClr val="tx1"/>
                </a:solidFill>
              </a:rPr>
              <a:t>您的浏览器支持</a:t>
            </a:r>
            <a:r>
              <a:rPr lang="en-US" altLang="zh-CN" sz="1600" dirty="0">
                <a:solidFill>
                  <a:schemeClr val="tx1"/>
                </a:solidFill>
              </a:rPr>
              <a:t>IndexedDB</a:t>
            </a:r>
            <a:r>
              <a:rPr lang="zh-CN" altLang="en-US" sz="1600" dirty="0">
                <a:solidFill>
                  <a:schemeClr val="tx1"/>
                </a:solidFill>
              </a:rPr>
              <a:t>数据库。</a:t>
            </a:r>
            <a:r>
              <a:rPr lang="en-US" altLang="zh-CN" sz="1600" dirty="0">
                <a:solidFill>
                  <a:schemeClr val="tx1"/>
                </a:solidFill>
              </a:rPr>
              <a:t>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}else{alert("</a:t>
            </a:r>
            <a:r>
              <a:rPr lang="zh-CN" altLang="en-US" sz="1600" dirty="0">
                <a:solidFill>
                  <a:schemeClr val="tx1"/>
                </a:solidFill>
              </a:rPr>
              <a:t>您的浏览器不支持</a:t>
            </a:r>
            <a:r>
              <a:rPr lang="en-US" altLang="zh-CN" sz="1600" dirty="0">
                <a:solidFill>
                  <a:schemeClr val="tx1"/>
                </a:solidFill>
              </a:rPr>
              <a:t>IndexedDB</a:t>
            </a:r>
            <a:r>
              <a:rPr lang="zh-CN" altLang="en-US" sz="1600" dirty="0">
                <a:solidFill>
                  <a:schemeClr val="tx1"/>
                </a:solidFill>
              </a:rPr>
              <a:t>数据库。</a:t>
            </a:r>
            <a:r>
              <a:rPr lang="en-US" altLang="zh-CN" sz="1600" dirty="0">
                <a:solidFill>
                  <a:schemeClr val="tx1"/>
                </a:solidFill>
              </a:rPr>
              <a:t>");}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0"/>
            <a:ext cx="8206105" cy="453834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1600" b="1" dirty="0">
                <a:solidFill>
                  <a:schemeClr val="tx1"/>
                </a:solidFill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</a:rPr>
              <a:t>．数据库创建与打开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request</a:t>
            </a:r>
            <a:r>
              <a:rPr lang="en-US" altLang="zh-CN" sz="1600" dirty="0">
                <a:solidFill>
                  <a:schemeClr val="tx1"/>
                </a:solidFill>
              </a:rPr>
              <a:t>=window.indexedDB.</a:t>
            </a:r>
            <a:r>
              <a:rPr lang="en-US" altLang="zh-CN" sz="1600" b="1" dirty="0">
                <a:solidFill>
                  <a:srgbClr val="FF0000"/>
                </a:solidFill>
              </a:rPr>
              <a:t>open</a:t>
            </a:r>
            <a:r>
              <a:rPr lang="en-US" altLang="zh-CN" sz="1600" dirty="0">
                <a:solidFill>
                  <a:schemeClr val="tx1"/>
                </a:solidFill>
              </a:rPr>
              <a:t>(DBName, DBVersion);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 //</a:t>
            </a:r>
            <a:r>
              <a:rPr lang="zh-CN" altLang="en-US" sz="1600" dirty="0">
                <a:solidFill>
                  <a:schemeClr val="tx1"/>
                </a:solidFill>
              </a:rPr>
              <a:t>数据库存在则打开它；否则创建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说明：若</a:t>
            </a:r>
            <a:r>
              <a:rPr lang="en-US" altLang="zh-CN" sz="1600" b="1" dirty="0">
                <a:solidFill>
                  <a:schemeClr val="tx1"/>
                </a:solidFill>
              </a:rPr>
              <a:t>DBName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数据库首次打开或已存在但版本号比现在的</a:t>
            </a:r>
            <a:r>
              <a:rPr lang="en-US" altLang="zh-CN" sz="1600" dirty="0">
                <a:solidFill>
                  <a:schemeClr val="tx1"/>
                </a:solidFill>
              </a:rPr>
              <a:t>DBVersion</a:t>
            </a:r>
            <a:r>
              <a:rPr lang="zh-CN" altLang="en-US" sz="1600" dirty="0">
                <a:solidFill>
                  <a:schemeClr val="tx1"/>
                </a:solidFill>
              </a:rPr>
              <a:t>低时，会调用</a:t>
            </a:r>
            <a:r>
              <a:rPr lang="en-US" altLang="zh-CN" sz="1600" b="1" dirty="0">
                <a:solidFill>
                  <a:schemeClr val="tx1"/>
                </a:solidFill>
              </a:rPr>
              <a:t>onupgradeneeded</a:t>
            </a:r>
            <a:r>
              <a:rPr lang="zh-CN" altLang="en-US" sz="1600" dirty="0">
                <a:solidFill>
                  <a:schemeClr val="tx1"/>
                </a:solidFill>
              </a:rPr>
              <a:t>接口，在这个函数中可以进行数据库初始化和升级操作等。</a:t>
            </a:r>
            <a:r>
              <a:rPr lang="zh-CN" altLang="en-US" sz="1600" b="1" dirty="0">
                <a:solidFill>
                  <a:srgbClr val="FF0000"/>
                </a:solidFill>
              </a:rPr>
              <a:t>注意，</a:t>
            </a:r>
            <a:r>
              <a:rPr lang="en-US" altLang="zh-CN" sz="1600" b="1" dirty="0">
                <a:solidFill>
                  <a:srgbClr val="FF0000"/>
                </a:solidFill>
              </a:rPr>
              <a:t>DB</a:t>
            </a:r>
            <a:r>
              <a:rPr sz="1600" b="1" dirty="0">
                <a:solidFill>
                  <a:srgbClr val="FF0000"/>
                </a:solidFill>
              </a:rPr>
              <a:t>持久化存在，</a:t>
            </a:r>
            <a:r>
              <a:rPr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升级更新代码只会跑一遍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在连接到数据库后，</a:t>
            </a:r>
            <a:r>
              <a:rPr lang="en-US" altLang="zh-CN" sz="1600" dirty="0">
                <a:solidFill>
                  <a:schemeClr val="tx1"/>
                </a:solidFill>
              </a:rPr>
              <a:t>request </a:t>
            </a:r>
            <a:r>
              <a:rPr lang="zh-CN" altLang="en-US" sz="1600" dirty="0">
                <a:solidFill>
                  <a:schemeClr val="tx1"/>
                </a:solidFill>
              </a:rPr>
              <a:t>会监听三种状态。</a:t>
            </a:r>
          </a:p>
          <a:p>
            <a:pPr marL="358775" indent="0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success</a:t>
            </a:r>
            <a:r>
              <a:rPr lang="zh-CN" altLang="en-US" sz="1600" dirty="0">
                <a:solidFill>
                  <a:schemeClr val="tx1"/>
                </a:solidFill>
              </a:rPr>
              <a:t>：打开或创建数据库成功后绑定指定函数。</a:t>
            </a:r>
          </a:p>
          <a:p>
            <a:pPr marL="358775" indent="0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error</a:t>
            </a:r>
            <a:r>
              <a:rPr lang="zh-CN" altLang="en-US" sz="1600" dirty="0">
                <a:solidFill>
                  <a:schemeClr val="tx1"/>
                </a:solidFill>
              </a:rPr>
              <a:t>：打开或创建数据库失败后绑定指定函数。</a:t>
            </a:r>
          </a:p>
          <a:p>
            <a:pPr marL="358775" indent="0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upgradeneeded</a:t>
            </a:r>
            <a:r>
              <a:rPr lang="zh-CN" altLang="en-US" sz="1600" dirty="0">
                <a:solidFill>
                  <a:schemeClr val="tx1"/>
                </a:solidFill>
              </a:rPr>
              <a:t>：更新数据库后绑定指定函数。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58775" indent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数据库创建与打开案例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355" y="885190"/>
            <a:ext cx="8779510" cy="58788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&lt;script&gt;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//</a:t>
            </a:r>
            <a:r>
              <a:rPr lang="zh-CN" altLang="en-US" sz="1400" dirty="0"/>
              <a:t>数据库存在，则打开它；否则创建。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var</a:t>
            </a:r>
            <a:r>
              <a:rPr lang="en-US" altLang="zh-CN" sz="1400" dirty="0"/>
              <a:t> request=</a:t>
            </a:r>
            <a:r>
              <a:rPr lang="en-US" altLang="zh-CN" sz="1400" dirty="0" err="1"/>
              <a:t>window.indexedDB.open</a:t>
            </a:r>
            <a:r>
              <a:rPr lang="en-US" altLang="zh-CN" sz="1400" dirty="0"/>
              <a:t>("myBooks",1);  </a:t>
            </a:r>
            <a:r>
              <a:rPr lang="en-US" altLang="zh-CN" sz="1400" b="1" dirty="0">
                <a:solidFill>
                  <a:srgbClr val="FF0000"/>
                </a:solidFill>
              </a:rPr>
              <a:t>//</a:t>
            </a:r>
            <a:r>
              <a:rPr sz="1400" b="1" dirty="0">
                <a:solidFill>
                  <a:srgbClr val="FF0000"/>
                </a:solidFill>
              </a:rPr>
              <a:t>注意，异步，异步，异步</a:t>
            </a:r>
            <a:endParaRPr lang="en-US" altLang="zh-CN" sz="1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//</a:t>
            </a:r>
            <a:r>
              <a:rPr lang="zh-CN" altLang="en-US" sz="1400" dirty="0"/>
              <a:t>捕获连接失败事件，并处理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</a:t>
            </a:r>
            <a:r>
              <a:rPr lang="en-US" altLang="zh-CN" sz="1400" b="1" dirty="0" err="1">
                <a:solidFill>
                  <a:srgbClr val="FF0000"/>
                </a:solidFill>
              </a:rPr>
              <a:t>request.onerror</a:t>
            </a:r>
            <a:r>
              <a:rPr lang="en-US" altLang="zh-CN" sz="1400" dirty="0"/>
              <a:t> = function(event)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alert(“</a:t>
            </a:r>
            <a:r>
              <a:rPr lang="zh-CN" altLang="en-US" sz="1400" dirty="0"/>
              <a:t>数据库连接失败：</a:t>
            </a:r>
            <a:r>
              <a:rPr lang="en-US" altLang="zh-CN" sz="1400" dirty="0"/>
              <a:t>“+</a:t>
            </a:r>
            <a:r>
              <a:rPr lang="en-US" altLang="zh-CN" sz="1400" dirty="0" err="1"/>
              <a:t>event.target.errorCode</a:t>
            </a:r>
            <a:r>
              <a:rPr lang="en-US" altLang="zh-CN" sz="1400" dirty="0"/>
              <a:t>);//</a:t>
            </a:r>
            <a:r>
              <a:rPr lang="zh-CN" altLang="en-US" sz="1400" dirty="0"/>
              <a:t>提示错误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 err="1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  </a:t>
            </a:r>
            <a:r>
              <a:rPr lang="en-US" altLang="zh-CN" sz="1400" b="1" dirty="0" err="1">
                <a:solidFill>
                  <a:srgbClr val="FF0000"/>
                </a:solidFill>
              </a:rPr>
              <a:t>request.onupgradeneeded</a:t>
            </a:r>
            <a:r>
              <a:rPr lang="en-US" altLang="zh-CN" sz="1400" dirty="0"/>
              <a:t> = function(event)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// </a:t>
            </a:r>
            <a:r>
              <a:rPr lang="zh-CN" altLang="en-US" sz="1400" dirty="0"/>
              <a:t>当此数据库需要创建或升级时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  </a:t>
            </a:r>
            <a:r>
              <a:rPr lang="en-US" altLang="zh-CN" sz="1400" dirty="0" err="1"/>
              <a:t>var</a:t>
            </a:r>
            <a:r>
              <a:rPr lang="en-US" altLang="zh-CN" sz="1400" dirty="0"/>
              <a:t> db = </a:t>
            </a:r>
            <a:r>
              <a:rPr lang="en-US" altLang="zh-CN" sz="1400" dirty="0" err="1"/>
              <a:t>request.result</a:t>
            </a:r>
            <a:r>
              <a:rPr lang="en-US" altLang="zh-CN" sz="14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highlight>
                  <a:srgbClr val="FFFF00"/>
                </a:highlight>
              </a:rPr>
              <a:t>    </a:t>
            </a:r>
            <a:r>
              <a:rPr lang="en-US" altLang="zh-CN" sz="1400" dirty="0" err="1">
                <a:highlight>
                  <a:srgbClr val="FFFF00"/>
                </a:highlight>
              </a:rPr>
              <a:t>var</a:t>
            </a:r>
            <a:r>
              <a:rPr lang="en-US" altLang="zh-CN" sz="1400" dirty="0">
                <a:highlight>
                  <a:srgbClr val="FFFF00"/>
                </a:highlight>
              </a:rPr>
              <a:t> store = </a:t>
            </a:r>
            <a:r>
              <a:rPr lang="en-US" altLang="zh-CN" sz="1400" dirty="0" err="1">
                <a:highlight>
                  <a:srgbClr val="FFFF00"/>
                </a:highlight>
              </a:rPr>
              <a:t>db.createObjectStore</a:t>
            </a:r>
            <a:r>
              <a:rPr lang="en-US" altLang="zh-CN" sz="1400" dirty="0">
                <a:highlight>
                  <a:srgbClr val="FFFF00"/>
                </a:highlight>
              </a:rPr>
              <a:t>("books", {</a:t>
            </a:r>
            <a:r>
              <a:rPr lang="en-US" altLang="zh-CN" sz="1400" dirty="0" err="1">
                <a:highlight>
                  <a:srgbClr val="FFFF00"/>
                </a:highlight>
              </a:rPr>
              <a:t>keyPath</a:t>
            </a:r>
            <a:r>
              <a:rPr lang="en-US" altLang="zh-CN" sz="1400" dirty="0">
                <a:highlight>
                  <a:srgbClr val="FFFF00"/>
                </a:highlight>
              </a:rPr>
              <a:t>: "</a:t>
            </a:r>
            <a:r>
              <a:rPr lang="en-US" altLang="zh-CN" sz="1400" dirty="0" err="1">
                <a:highlight>
                  <a:srgbClr val="FFFF00"/>
                </a:highlight>
              </a:rPr>
              <a:t>isbn</a:t>
            </a:r>
            <a:r>
              <a:rPr lang="en-US" altLang="zh-CN" sz="1400" dirty="0">
                <a:highlight>
                  <a:srgbClr val="FFFF00"/>
                </a:highlight>
              </a:rPr>
              <a:t>"});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</a:t>
            </a:r>
            <a:r>
              <a:rPr lang="en-US" altLang="zh-CN" sz="1400" dirty="0" err="1"/>
              <a:t>var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titleIndex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store.createIndex</a:t>
            </a:r>
            <a:r>
              <a:rPr lang="en-US" altLang="zh-CN" sz="1400" dirty="0"/>
              <a:t>("</a:t>
            </a:r>
            <a:r>
              <a:rPr lang="en-US" altLang="zh-CN" sz="1400" dirty="0" err="1"/>
              <a:t>by_title</a:t>
            </a:r>
            <a:r>
              <a:rPr lang="en-US" altLang="zh-CN" sz="1400" dirty="0"/>
              <a:t>", "title", {unique: true});</a:t>
            </a:r>
            <a:endParaRPr lang="zh-CN" altLang="en-US" sz="1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  </a:t>
            </a:r>
            <a:r>
              <a:rPr lang="en-US" altLang="zh-CN" sz="1400" dirty="0" err="1"/>
              <a:t>var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authorIndex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store.createIndex</a:t>
            </a:r>
            <a:r>
              <a:rPr lang="en-US" altLang="zh-CN" sz="1400" dirty="0"/>
              <a:t>("</a:t>
            </a:r>
            <a:r>
              <a:rPr lang="en-US" altLang="zh-CN" sz="1400" dirty="0" err="1"/>
              <a:t>by_author</a:t>
            </a:r>
            <a:r>
              <a:rPr lang="en-US" altLang="zh-CN" sz="1400" dirty="0"/>
              <a:t>", "author");</a:t>
            </a:r>
            <a:endParaRPr lang="zh-CN" altLang="en-US" sz="1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// 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填入初始值，添加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2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本书信息</a:t>
            </a:r>
            <a:endParaRPr lang="zh-CN" altLang="en-US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   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store.put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({title:"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计算机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",author:"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张三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",  isbn:"978730123"}); 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store.put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({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title:"Java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", author: "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李四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", isbn:"978730246"});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 err="1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</a:t>
            </a:r>
            <a:r>
              <a:rPr lang="en-US" altLang="zh-CN" sz="14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request.onsuccess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= function(event) {//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捕获连接成功事件，并处理</a:t>
            </a:r>
            <a:endParaRPr lang="zh-CN" altLang="en-US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</a:t>
            </a:r>
            <a:r>
              <a:rPr lang="en-US" altLang="zh-CN" sz="14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db</a:t>
            </a:r>
            <a:r>
              <a:rPr lang="en-US" altLang="zh-CN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= </a:t>
            </a:r>
            <a:r>
              <a:rPr lang="en-US" altLang="zh-CN" sz="14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event.target.result</a:t>
            </a:r>
            <a:r>
              <a:rPr lang="en-US" altLang="zh-CN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;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//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连接成功时，获取数据库对象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(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也可用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request.result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)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alert("</a:t>
            </a:r>
            <a:r>
              <a:rPr sz="1400" dirty="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数据库连接成功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");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}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&lt;/script&gt;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3278"/>
              </p:ext>
            </p:extLst>
          </p:nvPr>
        </p:nvGraphicFramePr>
        <p:xfrm>
          <a:off x="7286625" y="5487988"/>
          <a:ext cx="1119188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包装程序外壳对象" showAsIcon="1" r:id="rId3" imgW="1118880" imgH="535680" progId="Package">
                  <p:embed/>
                </p:oleObj>
              </mc:Choice>
              <mc:Fallback>
                <p:oleObj name="包装程序外壳对象" showAsIcon="1" r:id="rId3" imgW="1118880" imgH="535680" progId="Package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86625" y="5487988"/>
                        <a:ext cx="1119188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8674D4F-93A7-4985-A60C-3EF807124A5B}"/>
              </a:ext>
            </a:extLst>
          </p:cNvPr>
          <p:cNvSpPr/>
          <p:nvPr/>
        </p:nvSpPr>
        <p:spPr>
          <a:xfrm>
            <a:off x="4446494" y="2987036"/>
            <a:ext cx="2008094" cy="441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Keypath</a:t>
            </a:r>
            <a:r>
              <a:rPr lang="zh-CN" altLang="en-US" dirty="0"/>
              <a:t>设置主键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0B18BC-9610-400B-8A9B-5FD0C934D362}"/>
              </a:ext>
            </a:extLst>
          </p:cNvPr>
          <p:cNvSpPr/>
          <p:nvPr/>
        </p:nvSpPr>
        <p:spPr>
          <a:xfrm>
            <a:off x="7135905" y="3620210"/>
            <a:ext cx="2070847" cy="871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根据</a:t>
            </a:r>
            <a:r>
              <a:rPr lang="en-US" altLang="zh-CN" dirty="0"/>
              <a:t>title</a:t>
            </a:r>
            <a:r>
              <a:rPr lang="zh-CN" altLang="en-US" dirty="0"/>
              <a:t>字段设置名字为</a:t>
            </a:r>
            <a:r>
              <a:rPr lang="en-US" altLang="zh-CN" dirty="0"/>
              <a:t>”</a:t>
            </a:r>
            <a:r>
              <a:rPr lang="en-US" altLang="zh-CN" dirty="0" err="1"/>
              <a:t>by_title</a:t>
            </a:r>
            <a:r>
              <a:rPr lang="en-US" altLang="zh-CN" dirty="0"/>
              <a:t>”</a:t>
            </a:r>
            <a:r>
              <a:rPr lang="zh-CN" altLang="en-US" dirty="0"/>
              <a:t>的索引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0"/>
            <a:ext cx="8108315" cy="3886200"/>
          </a:xfrm>
        </p:spPr>
        <p:txBody>
          <a:bodyPr>
            <a:normAutofit fontScale="92500" lnSpcReduction="10000"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 err="1">
                <a:solidFill>
                  <a:srgbClr val="FF0000"/>
                </a:solidFill>
              </a:rPr>
              <a:t>upgradeneeded</a:t>
            </a:r>
            <a:r>
              <a:rPr lang="zh-CN" altLang="en-US" sz="1800" dirty="0"/>
              <a:t>状态是在</a:t>
            </a:r>
            <a:r>
              <a:rPr lang="en-US" altLang="zh-CN" sz="1800" dirty="0"/>
              <a:t>indexedDB </a:t>
            </a:r>
            <a:r>
              <a:rPr lang="zh-CN" altLang="en-US" sz="1800" dirty="0"/>
              <a:t>创建新的数据库时和</a:t>
            </a:r>
            <a:r>
              <a:rPr lang="en-US" altLang="zh-CN" sz="1800" dirty="0"/>
              <a:t>indexedDB.open</a:t>
            </a:r>
            <a:r>
              <a:rPr lang="zh-CN" altLang="en-US" sz="1800" dirty="0"/>
              <a:t>（</a:t>
            </a:r>
            <a:r>
              <a:rPr lang="en-US" altLang="zh-CN" sz="1800" dirty="0" err="1"/>
              <a:t>DBName,DBVersion</a:t>
            </a:r>
            <a:r>
              <a:rPr lang="zh-CN" altLang="en-US" sz="1800" dirty="0"/>
              <a:t>）</a:t>
            </a:r>
            <a:r>
              <a:rPr lang="en-US" altLang="zh-CN" sz="1800" dirty="0"/>
              <a:t>DBVersion</a:t>
            </a:r>
            <a:r>
              <a:rPr lang="zh-CN" altLang="en-US" sz="1800" dirty="0"/>
              <a:t>（数据库版本号）发生变化时才能监听到此状态。当版本号不发生变化时，不会触发此状态。数据库的</a:t>
            </a:r>
            <a:r>
              <a:rPr lang="en-US" altLang="zh-CN" sz="1800" dirty="0">
                <a:highlight>
                  <a:srgbClr val="FFFF00"/>
                </a:highlight>
              </a:rPr>
              <a:t>ObjectStore </a:t>
            </a:r>
            <a:r>
              <a:rPr lang="zh-CN" altLang="en-US" sz="1800" dirty="0">
                <a:highlight>
                  <a:srgbClr val="FFFF00"/>
                </a:highlight>
              </a:rPr>
              <a:t>的创建、删除</a:t>
            </a:r>
            <a:r>
              <a:rPr lang="zh-CN" altLang="en-US" sz="1800" dirty="0"/>
              <a:t>等都是在这个监听事件下执行的。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dirty="0"/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需要注意的有两点：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(1)</a:t>
            </a:r>
            <a:r>
              <a:rPr lang="zh-CN" altLang="en-US" sz="1800" dirty="0"/>
              <a:t>当数据库连接时，</a:t>
            </a:r>
            <a:r>
              <a:rPr lang="en-US" altLang="zh-CN" sz="1800" dirty="0"/>
              <a:t>open()</a:t>
            </a:r>
            <a:r>
              <a:rPr lang="zh-CN" altLang="en-US" sz="1800" dirty="0"/>
              <a:t>方法返回一个</a:t>
            </a:r>
            <a:r>
              <a:rPr lang="en-US" altLang="zh-CN" sz="1800" dirty="0"/>
              <a:t>IDBOpenDBRequest </a:t>
            </a:r>
            <a:r>
              <a:rPr lang="zh-CN" altLang="en-US" sz="1800" dirty="0"/>
              <a:t>对象，调用函数定义在这个对象上。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(2)</a:t>
            </a:r>
            <a:r>
              <a:rPr lang="zh-CN" altLang="en-US" sz="1800" dirty="0"/>
              <a:t>在连接建立成功时，会触发</a:t>
            </a:r>
            <a:r>
              <a:rPr lang="en-US" altLang="zh-CN" sz="1800" dirty="0"/>
              <a:t>onsuccess </a:t>
            </a:r>
            <a:r>
              <a:rPr lang="zh-CN" altLang="en-US" sz="1800" dirty="0"/>
              <a:t>事件，调用函数接收一个事件对象</a:t>
            </a:r>
            <a:r>
              <a:rPr lang="en-US" altLang="zh-CN" sz="1800" dirty="0"/>
              <a:t>event </a:t>
            </a:r>
            <a:r>
              <a:rPr lang="zh-CN" altLang="en-US" sz="1800" dirty="0"/>
              <a:t>作为参数</a:t>
            </a:r>
            <a:r>
              <a:rPr lang="zh-CN" altLang="en-US" sz="1800" dirty="0">
                <a:highlight>
                  <a:srgbClr val="FFFF00"/>
                </a:highlight>
              </a:rPr>
              <a:t>，其</a:t>
            </a:r>
            <a:r>
              <a:rPr lang="en-US" altLang="zh-CN" sz="1800" dirty="0">
                <a:highlight>
                  <a:srgbClr val="FFFF00"/>
                </a:highlight>
              </a:rPr>
              <a:t>target.result </a:t>
            </a:r>
            <a:r>
              <a:rPr lang="zh-CN" altLang="en-US" sz="1800" dirty="0">
                <a:highlight>
                  <a:srgbClr val="FFFF00"/>
                </a:highlight>
              </a:rPr>
              <a:t>属性指向打开的</a:t>
            </a:r>
            <a:r>
              <a:rPr lang="en-US" altLang="zh-CN" sz="1800" dirty="0">
                <a:highlight>
                  <a:srgbClr val="FFFF00"/>
                </a:highlight>
              </a:rPr>
              <a:t>IndexedDB </a:t>
            </a:r>
            <a:r>
              <a:rPr lang="zh-CN" altLang="en-US" sz="1800" dirty="0">
                <a:highlight>
                  <a:srgbClr val="FFFF00"/>
                </a:highlight>
              </a:rPr>
              <a:t>数据库。</a:t>
            </a:r>
            <a:r>
              <a:rPr lang="zh-CN" altLang="en-US" sz="1800" dirty="0"/>
              <a:t>也可以使用监听器来捕获</a:t>
            </a:r>
            <a:r>
              <a:rPr lang="en-US" altLang="zh-CN" sz="1800" dirty="0"/>
              <a:t>3 </a:t>
            </a:r>
            <a:r>
              <a:rPr lang="zh-CN" altLang="en-US" sz="1800" dirty="0"/>
              <a:t>个事件，分别为</a:t>
            </a:r>
            <a:r>
              <a:rPr lang="en-US" altLang="zh-CN" sz="1800" dirty="0">
                <a:solidFill>
                  <a:srgbClr val="FF0000"/>
                </a:solidFill>
              </a:rPr>
              <a:t>success</a:t>
            </a:r>
            <a:r>
              <a:rPr lang="zh-CN" altLang="en-US" sz="1800" dirty="0">
                <a:solidFill>
                  <a:srgbClr val="FF0000"/>
                </a:solidFill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</a:rPr>
              <a:t>error</a:t>
            </a:r>
            <a:r>
              <a:rPr lang="zh-CN" altLang="en-US" sz="1800" dirty="0">
                <a:solidFill>
                  <a:srgbClr val="FF0000"/>
                </a:solidFill>
              </a:rPr>
              <a:t>、</a:t>
            </a:r>
            <a:r>
              <a:rPr lang="en-US" altLang="zh-CN" sz="1800" dirty="0" err="1">
                <a:solidFill>
                  <a:srgbClr val="FF0000"/>
                </a:solidFill>
              </a:rPr>
              <a:t>upgradeneeded</a:t>
            </a:r>
            <a:r>
              <a:rPr lang="zh-CN" altLang="en-US" sz="1800" dirty="0"/>
              <a:t>。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0000" y="1515035"/>
            <a:ext cx="8509000" cy="45542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可以通过下列方法为页面元素（对象）添加事件监听器。    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</a:rPr>
              <a:t>element.addEventListener</a:t>
            </a:r>
            <a:r>
              <a:rPr lang="en-US" altLang="zh-CN" sz="1600" dirty="0">
                <a:solidFill>
                  <a:schemeClr val="tx1"/>
                </a:solidFill>
              </a:rPr>
              <a:t>(event, function, </a:t>
            </a:r>
            <a:r>
              <a:rPr lang="en-US" altLang="zh-CN" sz="1600" dirty="0" err="1">
                <a:solidFill>
                  <a:schemeClr val="tx1"/>
                </a:solidFill>
              </a:rPr>
              <a:t>useCapture</a:t>
            </a:r>
            <a:r>
              <a:rPr lang="en-US" altLang="zh-CN" sz="1600" dirty="0">
                <a:solidFill>
                  <a:schemeClr val="tx1"/>
                </a:solidFill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其中</a:t>
            </a:r>
            <a:r>
              <a:rPr lang="en-US" altLang="zh-CN" sz="1600" dirty="0" err="1">
                <a:solidFill>
                  <a:schemeClr val="tx1"/>
                </a:solidFill>
              </a:rPr>
              <a:t>useCapture</a:t>
            </a:r>
            <a:r>
              <a:rPr lang="zh-CN" altLang="en-US" sz="1600" dirty="0">
                <a:solidFill>
                  <a:schemeClr val="tx1"/>
                </a:solidFill>
              </a:rPr>
              <a:t>参数可选，布尔值，指定事件是否在捕获或冒泡阶段执行。其值为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true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表示事件句柄在捕获阶段执行；默认值为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false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表示事件句柄在冒泡阶段执行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</a:p>
          <a:p>
            <a:pPr>
              <a:lnSpc>
                <a:spcPct val="100000"/>
              </a:lnSpc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捕获阶段：从根元素开始向下传播到目标元素，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父元素事件优先触发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冒泡阶段：从目标元素开始向上传播到根元素，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子元素事件优先触发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endParaRPr lang="en-US" altLang="zh-CN" sz="1600" dirty="0" err="1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 err="1">
                <a:solidFill>
                  <a:schemeClr val="tx1"/>
                </a:solidFill>
              </a:rPr>
              <a:t>indexedDB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对象的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Open()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方法</a:t>
            </a:r>
            <a:r>
              <a:rPr lang="zh-CN" altLang="en-US" sz="1600" dirty="0">
                <a:solidFill>
                  <a:schemeClr val="tx1"/>
                </a:solidFill>
              </a:rPr>
              <a:t>需要监听的事件代码如下：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>
                <a:solidFill>
                  <a:schemeClr val="tx1"/>
                </a:solidFill>
              </a:rPr>
              <a:t>request.addEventListener</a:t>
            </a:r>
            <a:r>
              <a:rPr lang="en-US" altLang="zh-CN" sz="1600" dirty="0">
                <a:solidFill>
                  <a:schemeClr val="tx1"/>
                </a:solidFill>
              </a:rPr>
              <a:t>('success', function(event){}, false); //</a:t>
            </a:r>
            <a:r>
              <a:rPr lang="zh-CN" altLang="en-US" sz="1600" dirty="0">
                <a:solidFill>
                  <a:schemeClr val="tx1"/>
                </a:solidFill>
              </a:rPr>
              <a:t>第</a:t>
            </a: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en-US" sz="1600" dirty="0">
                <a:solidFill>
                  <a:schemeClr val="tx1"/>
                </a:solidFill>
              </a:rPr>
              <a:t>个参数为</a:t>
            </a:r>
            <a:r>
              <a:rPr lang="en-US" altLang="zh-CN" sz="1600" dirty="0">
                <a:solidFill>
                  <a:schemeClr val="tx1"/>
                </a:solidFill>
              </a:rPr>
              <a:t>false:</a:t>
            </a:r>
            <a:r>
              <a:rPr lang="zh-CN" altLang="en-US" sz="1600" dirty="0">
                <a:solidFill>
                  <a:schemeClr val="tx1"/>
                </a:solidFill>
              </a:rPr>
              <a:t>表示在冒泡阶段执行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request.addEventListener('error', function(event){}, false); //</a:t>
            </a:r>
            <a:r>
              <a:rPr lang="zh-CN" altLang="en-US" sz="1600" dirty="0">
                <a:solidFill>
                  <a:schemeClr val="tx1"/>
                </a:solidFill>
              </a:rPr>
              <a:t>第</a:t>
            </a: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en-US" sz="1600" dirty="0">
                <a:solidFill>
                  <a:schemeClr val="tx1"/>
                </a:solidFill>
              </a:rPr>
              <a:t>个参数为</a:t>
            </a:r>
            <a:r>
              <a:rPr lang="en-US" altLang="zh-CN" sz="1600" dirty="0">
                <a:solidFill>
                  <a:schemeClr val="tx1"/>
                </a:solidFill>
              </a:rPr>
              <a:t>false:</a:t>
            </a:r>
            <a:r>
              <a:rPr lang="zh-CN" altLang="en-US" sz="1600" dirty="0">
                <a:solidFill>
                  <a:schemeClr val="tx1"/>
                </a:solidFill>
              </a:rPr>
              <a:t>表示在冒泡阶段执行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request.addEventListener('upgradeneeded', function(event){}, false); //</a:t>
            </a:r>
            <a:r>
              <a:rPr lang="zh-CN" altLang="en-US" sz="1600" dirty="0">
                <a:solidFill>
                  <a:schemeClr val="tx1"/>
                </a:solidFill>
              </a:rPr>
              <a:t>第</a:t>
            </a: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en-US" sz="1600" dirty="0">
                <a:solidFill>
                  <a:schemeClr val="tx1"/>
                </a:solidFill>
              </a:rPr>
              <a:t>个参数为</a:t>
            </a:r>
            <a:r>
              <a:rPr lang="en-US" altLang="zh-CN" sz="1600" dirty="0">
                <a:solidFill>
                  <a:schemeClr val="tx1"/>
                </a:solidFill>
              </a:rPr>
              <a:t>false:</a:t>
            </a:r>
            <a:r>
              <a:rPr lang="zh-CN" altLang="en-US" sz="1600" dirty="0">
                <a:solidFill>
                  <a:schemeClr val="tx1"/>
                </a:solidFill>
              </a:rPr>
              <a:t>表示在冒泡阶段执行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475223"/>
              </p:ext>
            </p:extLst>
          </p:nvPr>
        </p:nvGraphicFramePr>
        <p:xfrm>
          <a:off x="6456363" y="5691188"/>
          <a:ext cx="11191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包装程序外壳对象" showAsIcon="1" r:id="rId3" imgW="1118880" imgH="535680" progId="Package">
                  <p:embed/>
                </p:oleObj>
              </mc:Choice>
              <mc:Fallback>
                <p:oleObj name="包装程序外壳对象" showAsIcon="1" r:id="rId3" imgW="1118880" imgH="53568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6363" y="5691188"/>
                        <a:ext cx="1119187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285" y="1242695"/>
            <a:ext cx="8509000" cy="49790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600" b="1" dirty="0">
                <a:solidFill>
                  <a:schemeClr val="tx1"/>
                </a:solidFill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</a:rPr>
              <a:t>．创建与删除</a:t>
            </a:r>
            <a:r>
              <a:rPr lang="en-US" altLang="zh-CN" sz="1600" b="1" dirty="0" err="1">
                <a:solidFill>
                  <a:schemeClr val="tx1"/>
                </a:solidFill>
              </a:rPr>
              <a:t>ObjectStore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</a:rPr>
              <a:t>createObjectStore()</a:t>
            </a:r>
            <a:r>
              <a:rPr lang="zh-CN" altLang="en-US" sz="1600" dirty="0">
                <a:solidFill>
                  <a:schemeClr val="tx1"/>
                </a:solidFill>
              </a:rPr>
              <a:t>方法创建对象仓库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request=</a:t>
            </a:r>
            <a:r>
              <a:rPr lang="en-US" altLang="zh-CN" sz="1600" dirty="0" err="1">
                <a:solidFill>
                  <a:schemeClr val="tx1"/>
                </a:solidFill>
              </a:rPr>
              <a:t>window.indexedDB.open</a:t>
            </a:r>
            <a:r>
              <a:rPr lang="en-US" altLang="zh-CN" sz="1600" dirty="0">
                <a:solidFill>
                  <a:schemeClr val="tx1"/>
                </a:solidFill>
              </a:rPr>
              <a:t>("myBooks",1);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db = request.result;  </a:t>
            </a:r>
            <a:r>
              <a:rPr lang="en-US" altLang="zh-CN" sz="1600" b="1" dirty="0">
                <a:solidFill>
                  <a:srgbClr val="FF0000"/>
                </a:solidFill>
              </a:rPr>
              <a:t>//db</a:t>
            </a:r>
            <a:r>
              <a:rPr sz="1600" b="1" dirty="0">
                <a:solidFill>
                  <a:srgbClr val="FF0000"/>
                </a:solidFill>
              </a:rPr>
              <a:t>的值可能会是什么？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store=db.createObjectStore</a:t>
            </a:r>
            <a:r>
              <a:rPr lang="en-US" altLang="zh-CN" sz="1600" dirty="0">
                <a:solidFill>
                  <a:schemeClr val="tx1"/>
                </a:solidFill>
              </a:rPr>
              <a:t>(storeName,{keyPath: primaryKey,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</a:t>
            </a:r>
            <a:r>
              <a:rPr lang="en-US" altLang="zh-CN" sz="1600" dirty="0" err="1">
                <a:solidFill>
                  <a:schemeClr val="tx1"/>
                </a:solidFill>
              </a:rPr>
              <a:t>autoIncrement</a:t>
            </a:r>
            <a:r>
              <a:rPr lang="en-US" altLang="zh-CN" sz="1600" dirty="0">
                <a:solidFill>
                  <a:schemeClr val="tx1"/>
                </a:solidFill>
              </a:rPr>
              <a:t>: </a:t>
            </a:r>
            <a:r>
              <a:rPr lang="en-US" altLang="zh-CN" sz="1600" dirty="0" err="1">
                <a:solidFill>
                  <a:schemeClr val="tx1"/>
                </a:solidFill>
              </a:rPr>
              <a:t>true|false</a:t>
            </a:r>
            <a:r>
              <a:rPr lang="en-US" altLang="zh-CN" sz="1600" dirty="0">
                <a:solidFill>
                  <a:schemeClr val="tx1"/>
                </a:solidFill>
              </a:rPr>
              <a:t>});  //keyPath</a:t>
            </a:r>
            <a:r>
              <a:rPr lang="zh-CN" altLang="en-US" sz="1600" dirty="0">
                <a:solidFill>
                  <a:schemeClr val="tx1"/>
                </a:solidFill>
              </a:rPr>
              <a:t>称为键路径，作为搜索关键字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deleteObjectStore</a:t>
            </a:r>
            <a:r>
              <a:rPr lang="en-US" altLang="zh-CN" sz="1600" dirty="0">
                <a:solidFill>
                  <a:schemeClr val="tx1"/>
                </a:solidFill>
              </a:rPr>
              <a:t>()</a:t>
            </a:r>
            <a:r>
              <a:rPr lang="zh-CN" altLang="en-US" sz="1600" dirty="0">
                <a:solidFill>
                  <a:schemeClr val="tx1"/>
                </a:solidFill>
              </a:rPr>
              <a:t>方法删除对象仓库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</a:t>
            </a:r>
            <a:r>
              <a:rPr lang="en-US" altLang="zh-CN" sz="1600" dirty="0" err="1">
                <a:solidFill>
                  <a:schemeClr val="tx1"/>
                </a:solidFill>
              </a:rPr>
              <a:t>db.deleteObjectStore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objectStoreName</a:t>
            </a:r>
            <a:r>
              <a:rPr lang="en-US" altLang="zh-CN" sz="1600" dirty="0">
                <a:solidFill>
                  <a:schemeClr val="tx1"/>
                </a:solidFill>
              </a:rPr>
              <a:t>); //</a:t>
            </a:r>
            <a:r>
              <a:rPr lang="zh-CN" altLang="en-US" sz="1600" dirty="0">
                <a:solidFill>
                  <a:schemeClr val="tx1"/>
                </a:solidFill>
              </a:rPr>
              <a:t>基本语法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</a:t>
            </a:r>
            <a:r>
              <a:rPr lang="en-US" altLang="zh-CN" sz="1600" dirty="0" err="1">
                <a:solidFill>
                  <a:schemeClr val="tx1"/>
                </a:solidFill>
              </a:rPr>
              <a:t>db.deleteObjectStore</a:t>
            </a:r>
            <a:r>
              <a:rPr lang="en-US" altLang="zh-CN" sz="1600" dirty="0">
                <a:solidFill>
                  <a:schemeClr val="tx1"/>
                </a:solidFill>
              </a:rPr>
              <a:t>("books"); //</a:t>
            </a:r>
            <a:r>
              <a:rPr lang="zh-CN" altLang="en-US" sz="1600" dirty="0">
                <a:solidFill>
                  <a:schemeClr val="tx1"/>
                </a:solidFill>
              </a:rPr>
              <a:t>举例</a:t>
            </a:r>
            <a:r>
              <a:rPr lang="en-US" altLang="zh-CN" sz="1600" dirty="0">
                <a:solidFill>
                  <a:schemeClr val="tx1"/>
                </a:solidFill>
              </a:rPr>
              <a:t>-</a:t>
            </a:r>
            <a:r>
              <a:rPr lang="zh-CN" altLang="en-US" sz="1600" dirty="0">
                <a:solidFill>
                  <a:schemeClr val="tx1"/>
                </a:solidFill>
              </a:rPr>
              <a:t>删除</a:t>
            </a:r>
            <a:r>
              <a:rPr lang="en-US" altLang="zh-CN" sz="1600" dirty="0">
                <a:solidFill>
                  <a:schemeClr val="tx1"/>
                </a:solidFill>
              </a:rPr>
              <a:t>books</a:t>
            </a:r>
            <a:r>
              <a:rPr lang="zh-CN" altLang="en-US" sz="1600" dirty="0">
                <a:solidFill>
                  <a:schemeClr val="tx1"/>
                </a:solidFill>
              </a:rPr>
              <a:t>对象仓库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555" dirty="0">
                <a:solidFill>
                  <a:schemeClr val="tx1"/>
                </a:solidFill>
              </a:rPr>
              <a:t>3</a:t>
            </a:r>
            <a:r>
              <a:rPr lang="en-US" altLang="zh-CN" sz="1555" dirty="0"/>
              <a:t>）createIndex()</a:t>
            </a:r>
            <a:r>
              <a:rPr lang="en-US" altLang="zh-CN" sz="1555" dirty="0" err="1"/>
              <a:t>方法为对象仓库创建索引</a:t>
            </a:r>
            <a:endParaRPr lang="en-US" altLang="zh-CN" sz="1555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/>
              <a:t>      var </a:t>
            </a:r>
            <a:r>
              <a:rPr lang="en-US" altLang="zh-CN" sz="1555" dirty="0" err="1"/>
              <a:t>indexName</a:t>
            </a:r>
            <a:r>
              <a:rPr lang="en-US" altLang="zh-CN" sz="1555" dirty="0"/>
              <a:t>=</a:t>
            </a:r>
            <a:r>
              <a:rPr lang="en-US" altLang="zh-CN" sz="1555" dirty="0" err="1"/>
              <a:t>store.createIndex</a:t>
            </a:r>
            <a:r>
              <a:rPr lang="en-US" altLang="zh-CN" sz="1555" dirty="0"/>
              <a:t>(</a:t>
            </a:r>
            <a:r>
              <a:rPr lang="en-US" altLang="zh-CN" sz="1555" dirty="0" err="1"/>
              <a:t>index_name</a:t>
            </a:r>
            <a:r>
              <a:rPr lang="en-US" altLang="zh-CN" sz="1555" dirty="0"/>
              <a:t>, </a:t>
            </a:r>
            <a:r>
              <a:rPr lang="en-US" altLang="zh-CN" sz="1555" dirty="0" err="1"/>
              <a:t>index_key</a:t>
            </a:r>
            <a:r>
              <a:rPr lang="en-US" altLang="zh-CN" sz="1555" dirty="0"/>
              <a:t>, {unique: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 err="1"/>
              <a:t>true|false</a:t>
            </a:r>
            <a:r>
              <a:rPr lang="en-US" altLang="zh-CN" sz="1555" dirty="0"/>
              <a:t>});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4</a:t>
            </a:r>
            <a:r>
              <a:rPr sz="1600" dirty="0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 sz="1600" dirty="0" err="1">
                <a:solidFill>
                  <a:schemeClr val="tx1"/>
                </a:solidFill>
                <a:sym typeface="+mn-ea"/>
              </a:rPr>
              <a:t>objectStoreNames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</a:t>
            </a:r>
            <a:r>
              <a:rPr sz="1600" dirty="0">
                <a:solidFill>
                  <a:schemeClr val="tx1"/>
                </a:solidFill>
                <a:sym typeface="+mn-ea"/>
              </a:rPr>
              <a:t>属性检查对象仓库是否存在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  if(!</a:t>
            </a:r>
            <a:r>
              <a:rPr lang="en-US" altLang="zh-CN" sz="1600" dirty="0" err="1">
                <a:solidFill>
                  <a:schemeClr val="tx1"/>
                </a:solidFill>
                <a:sym typeface="+mn-ea"/>
              </a:rPr>
              <a:t>db.objectStoreNames.contains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("books")) { //</a:t>
            </a:r>
            <a:r>
              <a:rPr sz="1600" dirty="0">
                <a:solidFill>
                  <a:schemeClr val="tx1"/>
                </a:solidFill>
                <a:sym typeface="+mn-ea"/>
              </a:rPr>
              <a:t>判断某个对象仓库是否存在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      </a:t>
            </a:r>
            <a:r>
              <a:rPr lang="en-US" altLang="zh-CN" sz="1600" dirty="0" err="1">
                <a:solidFill>
                  <a:schemeClr val="tx1"/>
                </a:solidFill>
                <a:sym typeface="+mn-ea"/>
              </a:rPr>
              <a:t>db.createObjectStore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("books"); //</a:t>
            </a:r>
            <a:r>
              <a:rPr sz="1600" dirty="0">
                <a:solidFill>
                  <a:schemeClr val="tx1"/>
                </a:solidFill>
                <a:sym typeface="+mn-ea"/>
              </a:rPr>
              <a:t>不存在则创建该对象仓库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  }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41285" y="5678805"/>
          <a:ext cx="11239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r:id="rId3" imgW="1123950" imgH="542925" progId="Package">
                  <p:embed/>
                </p:oleObj>
              </mc:Choice>
              <mc:Fallback>
                <p:oleObj r:id="rId3" imgW="1123950" imgH="542925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41285" y="5678805"/>
                        <a:ext cx="11239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285" y="1373506"/>
            <a:ext cx="8509000" cy="381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chemeClr val="tx1"/>
                </a:solidFill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</a:rPr>
              <a:t>．使用</a:t>
            </a:r>
            <a:r>
              <a:rPr lang="zh-CN" altLang="en-US" sz="1600" b="1" dirty="0">
                <a:solidFill>
                  <a:srgbClr val="FF0000"/>
                </a:solidFill>
              </a:rPr>
              <a:t>事务</a:t>
            </a:r>
            <a:r>
              <a:rPr lang="en-US" altLang="zh-CN" sz="1600" b="1" dirty="0" err="1">
                <a:solidFill>
                  <a:srgbClr val="FF0000"/>
                </a:solidFill>
              </a:rPr>
              <a:t>transactionmode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</a:rPr>
              <a:t>IndexedDB </a:t>
            </a:r>
            <a:r>
              <a:rPr lang="zh-CN" altLang="en-US" sz="1600" dirty="0">
                <a:solidFill>
                  <a:schemeClr val="tx1"/>
                </a:solidFill>
              </a:rPr>
              <a:t>中的事务模式</a:t>
            </a:r>
          </a:p>
          <a:p>
            <a:pPr marL="449580" indent="-908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readonly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默认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提供对某个对象存储的只读访问，在查询对象存储时使用。</a:t>
            </a:r>
          </a:p>
          <a:p>
            <a:pPr marL="449580" indent="-908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readwrite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：提供对某个对象存储的读取和写入访问权。</a:t>
            </a:r>
          </a:p>
          <a:p>
            <a:pPr marL="449580" indent="-908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versionchange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：提供读取和写入访问权来修改对象存储定义，或者创建一个新的对象存储。</a:t>
            </a:r>
          </a:p>
          <a:p>
            <a:pPr marL="449580" indent="-908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）创建事务的基本语法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transaction = db.transaction(storeName, [</a:t>
            </a:r>
            <a:r>
              <a:rPr lang="en-US" altLang="zh-CN" sz="1600" dirty="0" err="1">
                <a:solidFill>
                  <a:schemeClr val="tx1"/>
                </a:solidFill>
              </a:rPr>
              <a:t>transactionmode</a:t>
            </a:r>
            <a:r>
              <a:rPr lang="en-US" altLang="zh-CN" sz="1600" dirty="0">
                <a:solidFill>
                  <a:schemeClr val="tx1"/>
                </a:solidFill>
              </a:rPr>
              <a:t>]);//</a:t>
            </a:r>
            <a:r>
              <a:rPr lang="zh-CN" altLang="en-US" sz="1600" dirty="0">
                <a:solidFill>
                  <a:schemeClr val="tx1"/>
                </a:solidFill>
              </a:rPr>
              <a:t>语法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objectStore =transaction.objectStore(storeName); //</a:t>
            </a:r>
            <a:r>
              <a:rPr lang="zh-CN" altLang="en-US" sz="1600" dirty="0">
                <a:solidFill>
                  <a:schemeClr val="tx1"/>
                </a:solidFill>
              </a:rPr>
              <a:t>获取对象仓库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449580" indent="-908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0"/>
            <a:ext cx="8509000" cy="4392930"/>
          </a:xfrm>
        </p:spPr>
        <p:txBody>
          <a:bodyPr>
            <a:normAutofit fontScale="97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en-US" sz="1600" dirty="0">
                <a:solidFill>
                  <a:schemeClr val="tx1"/>
                </a:solidFill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</a:rPr>
              <a:t>transaction()</a:t>
            </a:r>
            <a:r>
              <a:rPr lang="zh-CN" altLang="en-US" sz="1600" dirty="0">
                <a:solidFill>
                  <a:schemeClr val="tx1"/>
                </a:solidFill>
              </a:rPr>
              <a:t>方法的事件类型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该方法有三种事件，分别是中断、完成和错误。</a:t>
            </a:r>
          </a:p>
          <a:p>
            <a:pPr marL="625475" indent="-266700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abort</a:t>
            </a:r>
            <a:r>
              <a:rPr lang="zh-CN" altLang="en-US" sz="1600" dirty="0">
                <a:solidFill>
                  <a:schemeClr val="tx1"/>
                </a:solidFill>
              </a:rPr>
              <a:t>：事务中断。</a:t>
            </a:r>
          </a:p>
          <a:p>
            <a:pPr marL="625475" indent="-266700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complete</a:t>
            </a:r>
            <a:r>
              <a:rPr lang="zh-CN" altLang="en-US" sz="1600" dirty="0">
                <a:solidFill>
                  <a:schemeClr val="tx1"/>
                </a:solidFill>
              </a:rPr>
              <a:t>：事务完成。</a:t>
            </a:r>
          </a:p>
          <a:p>
            <a:pPr marL="625475" indent="-266700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error</a:t>
            </a:r>
            <a:r>
              <a:rPr lang="zh-CN" altLang="en-US" sz="1600" dirty="0">
                <a:solidFill>
                  <a:schemeClr val="tx1"/>
                </a:solidFill>
              </a:rPr>
              <a:t>：事务出错。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事件处理代码结构如下所示：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transaction = </a:t>
            </a:r>
            <a:r>
              <a:rPr lang="en-US" altLang="zh-CN" sz="1600" dirty="0" err="1">
                <a:solidFill>
                  <a:schemeClr val="tx1"/>
                </a:solidFill>
              </a:rPr>
              <a:t>db.transaction</a:t>
            </a:r>
            <a:r>
              <a:rPr lang="en-US" altLang="zh-CN" sz="1600" dirty="0">
                <a:solidFill>
                  <a:schemeClr val="tx1"/>
                </a:solidFill>
              </a:rPr>
              <a:t>(["books"], "</a:t>
            </a:r>
            <a:r>
              <a:rPr lang="en-US" altLang="zh-CN" sz="1600" dirty="0" err="1">
                <a:solidFill>
                  <a:schemeClr val="tx1"/>
                </a:solidFill>
              </a:rPr>
              <a:t>readonly</a:t>
            </a:r>
            <a:r>
              <a:rPr lang="en-US" altLang="zh-CN" sz="1600" dirty="0">
                <a:solidFill>
                  <a:schemeClr val="tx1"/>
                </a:solidFill>
              </a:rPr>
              <a:t>");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transaction.oncomplete</a:t>
            </a:r>
            <a:r>
              <a:rPr lang="en-US" altLang="zh-CN" sz="1600" dirty="0">
                <a:solidFill>
                  <a:schemeClr val="tx1"/>
                </a:solidFill>
              </a:rPr>
              <a:t> = function(event)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</a:t>
            </a:r>
            <a:r>
              <a:rPr lang="en-US" altLang="zh-CN" sz="1600" dirty="0" err="1">
                <a:solidFill>
                  <a:schemeClr val="tx1"/>
                </a:solidFill>
              </a:rPr>
              <a:t>console.log</a:t>
            </a:r>
            <a:r>
              <a:rPr lang="en-US" altLang="zh-CN" sz="1600" dirty="0">
                <a:solidFill>
                  <a:schemeClr val="tx1"/>
                </a:solidFill>
              </a:rPr>
              <a:t>("</a:t>
            </a:r>
            <a:r>
              <a:rPr lang="zh-CN" altLang="en-US" sz="1600" dirty="0">
                <a:solidFill>
                  <a:schemeClr val="tx1"/>
                </a:solidFill>
              </a:rPr>
              <a:t>数据添加成功！</a:t>
            </a:r>
            <a:r>
              <a:rPr lang="en-US" altLang="zh-CN" sz="1600" dirty="0">
                <a:solidFill>
                  <a:schemeClr val="tx1"/>
                </a:solidFill>
              </a:rPr>
              <a:t>"); //alert("</a:t>
            </a:r>
            <a:r>
              <a:rPr lang="zh-CN" altLang="en-US" sz="1600" dirty="0">
                <a:solidFill>
                  <a:schemeClr val="tx1"/>
                </a:solidFill>
              </a:rPr>
              <a:t>数据保存成功！</a:t>
            </a:r>
            <a:r>
              <a:rPr lang="en-US" altLang="zh-CN" sz="1600" dirty="0">
                <a:solidFill>
                  <a:schemeClr val="tx1"/>
                </a:solidFill>
              </a:rPr>
              <a:t>");};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</a:t>
            </a:r>
            <a:r>
              <a:rPr lang="en-US" altLang="zh-CN" sz="1600" dirty="0" err="1">
                <a:solidFill>
                  <a:schemeClr val="tx1"/>
                </a:solidFill>
              </a:rPr>
              <a:t>transaction.onerror</a:t>
            </a:r>
            <a:r>
              <a:rPr lang="en-US" altLang="zh-CN" sz="1600" dirty="0">
                <a:solidFill>
                  <a:schemeClr val="tx1"/>
                </a:solidFill>
              </a:rPr>
              <a:t> = function(event)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</a:t>
            </a:r>
            <a:r>
              <a:rPr lang="en-US" altLang="zh-CN" sz="1600" dirty="0" err="1">
                <a:solidFill>
                  <a:schemeClr val="tx1"/>
                </a:solidFill>
              </a:rPr>
              <a:t>console.log</a:t>
            </a:r>
            <a:r>
              <a:rPr lang="en-US" altLang="zh-CN" sz="1600" dirty="0">
                <a:solidFill>
                  <a:schemeClr val="tx1"/>
                </a:solidFill>
              </a:rPr>
              <a:t>("Error",e.target.error.name);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//</a:t>
            </a:r>
            <a:r>
              <a:rPr lang="zh-CN" altLang="en-US" sz="1600" dirty="0">
                <a:solidFill>
                  <a:schemeClr val="tx1"/>
                </a:solidFill>
              </a:rPr>
              <a:t>错误处理</a:t>
            </a:r>
            <a:r>
              <a:rPr lang="en-US" altLang="zh-CN" sz="1600" dirty="0">
                <a:solidFill>
                  <a:schemeClr val="tx1"/>
                </a:solidFill>
              </a:rPr>
              <a:t>};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</a:t>
            </a:r>
            <a:r>
              <a:rPr lang="en-US" altLang="zh-CN" sz="1600" dirty="0" err="1">
                <a:solidFill>
                  <a:schemeClr val="tx1"/>
                </a:solidFill>
              </a:rPr>
              <a:t>transaction.onabort</a:t>
            </a:r>
            <a:r>
              <a:rPr lang="en-US" altLang="zh-CN" sz="1600" dirty="0">
                <a:solidFill>
                  <a:schemeClr val="tx1"/>
                </a:solidFill>
              </a:rPr>
              <a:t> = function(event)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 alert("</a:t>
            </a:r>
            <a:r>
              <a:rPr lang="zh-CN" altLang="en-US" sz="1600" dirty="0">
                <a:solidFill>
                  <a:schemeClr val="tx1"/>
                </a:solidFill>
              </a:rPr>
              <a:t>数据保存失败！</a:t>
            </a:r>
            <a:r>
              <a:rPr lang="en-US" altLang="zh-CN" sz="1600" dirty="0">
                <a:solidFill>
                  <a:schemeClr val="tx1"/>
                </a:solidFill>
              </a:rPr>
              <a:t>");};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b="1" dirty="0">
                <a:solidFill>
                  <a:schemeClr val="tx1"/>
                </a:solidFill>
              </a:rPr>
              <a:t>5</a:t>
            </a:r>
            <a:r>
              <a:rPr lang="zh-CN" altLang="en-US" sz="1555" b="1" dirty="0">
                <a:solidFill>
                  <a:schemeClr val="tx1"/>
                </a:solidFill>
              </a:rPr>
              <a:t>．数据库的增删改查</a:t>
            </a:r>
            <a:endParaRPr lang="en-US" altLang="zh-CN" sz="1555" b="1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1</a:t>
            </a:r>
            <a:r>
              <a:rPr lang="zh-CN" altLang="en-US" sz="1555" dirty="0">
                <a:solidFill>
                  <a:schemeClr val="tx1"/>
                </a:solidFill>
              </a:rPr>
              <a:t>）存储数据准备</a:t>
            </a:r>
            <a:endParaRPr lang="en-US" altLang="zh-CN" sz="1555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 </a:t>
            </a:r>
            <a:r>
              <a:rPr lang="en-US" altLang="zh-CN" sz="1555" dirty="0" err="1">
                <a:solidFill>
                  <a:schemeClr val="tx1"/>
                </a:solidFill>
              </a:rPr>
              <a:t>var</a:t>
            </a:r>
            <a:r>
              <a:rPr lang="en-US" altLang="zh-CN" sz="1555" dirty="0">
                <a:solidFill>
                  <a:schemeClr val="tx1"/>
                </a:solidFill>
              </a:rPr>
              <a:t> booklists=[{</a:t>
            </a:r>
            <a:r>
              <a:rPr lang="en-US" altLang="zh-CN" sz="1555" dirty="0" err="1">
                <a:solidFill>
                  <a:schemeClr val="tx1"/>
                </a:solidFill>
              </a:rPr>
              <a:t>title:“Web</a:t>
            </a:r>
            <a:r>
              <a:rPr lang="zh-CN" altLang="en-US" sz="1555" dirty="0">
                <a:solidFill>
                  <a:schemeClr val="tx1"/>
                </a:solidFill>
              </a:rPr>
              <a:t>前端开发技术</a:t>
            </a:r>
            <a:r>
              <a:rPr lang="en-US" altLang="zh-CN" sz="1555" dirty="0">
                <a:solidFill>
                  <a:schemeClr val="tx1"/>
                </a:solidFill>
              </a:rPr>
              <a:t>-Html</a:t>
            </a:r>
            <a:r>
              <a:rPr lang="zh-CN" altLang="en-US" sz="1555" dirty="0">
                <a:solidFill>
                  <a:schemeClr val="tx1"/>
                </a:solidFill>
              </a:rPr>
              <a:t>、</a:t>
            </a:r>
            <a:r>
              <a:rPr lang="en-US" altLang="zh-CN" sz="1555" dirty="0">
                <a:solidFill>
                  <a:schemeClr val="tx1"/>
                </a:solidFill>
              </a:rPr>
              <a:t>Css</a:t>
            </a:r>
            <a:r>
              <a:rPr lang="zh-CN" altLang="en-US" sz="1555" dirty="0">
                <a:solidFill>
                  <a:schemeClr val="tx1"/>
                </a:solidFill>
              </a:rPr>
              <a:t>、</a:t>
            </a:r>
            <a:r>
              <a:rPr lang="en-US" altLang="zh-CN" sz="1555" dirty="0" err="1">
                <a:solidFill>
                  <a:schemeClr val="tx1"/>
                </a:solidFill>
              </a:rPr>
              <a:t>JavaScript”,author</a:t>
            </a:r>
            <a:r>
              <a:rPr lang="en-US" altLang="zh-CN" sz="1555" dirty="0">
                <a:solidFill>
                  <a:schemeClr val="tx1"/>
                </a:solidFill>
              </a:rPr>
              <a:t>: “</a:t>
            </a:r>
            <a:r>
              <a:rPr lang="zh-CN" altLang="en-US" sz="1555" dirty="0">
                <a:solidFill>
                  <a:schemeClr val="tx1"/>
                </a:solidFill>
              </a:rPr>
              <a:t>储久良</a:t>
            </a:r>
            <a:r>
              <a:rPr lang="en-US" altLang="zh-CN" sz="1555" dirty="0">
                <a:solidFill>
                  <a:schemeClr val="tx1"/>
                </a:solidFill>
              </a:rPr>
              <a:t>",isbn: "9787302431695"},{title:"</a:t>
            </a:r>
            <a:r>
              <a:rPr lang="zh-CN" altLang="en-US" sz="1555" dirty="0">
                <a:solidFill>
                  <a:schemeClr val="tx1"/>
                </a:solidFill>
              </a:rPr>
              <a:t>计算机组成原理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zh-CN" altLang="en-US" sz="1555" dirty="0">
                <a:solidFill>
                  <a:schemeClr val="tx1"/>
                </a:solidFill>
              </a:rPr>
              <a:t>修订版</a:t>
            </a:r>
            <a:r>
              <a:rPr lang="en-US" altLang="zh-CN" sz="1555" dirty="0">
                <a:solidFill>
                  <a:schemeClr val="tx1"/>
                </a:solidFill>
              </a:rPr>
              <a:t>)", author:"</a:t>
            </a:r>
            <a:r>
              <a:rPr lang="zh-CN" altLang="en-US" sz="1555" dirty="0">
                <a:solidFill>
                  <a:schemeClr val="tx1"/>
                </a:solidFill>
              </a:rPr>
              <a:t>张功萱</a:t>
            </a:r>
            <a:r>
              <a:rPr lang="en-US" altLang="zh-CN" sz="1555" dirty="0">
                <a:solidFill>
                  <a:schemeClr val="tx1"/>
                </a:solidFill>
              </a:rPr>
              <a:t>“,</a:t>
            </a:r>
            <a:r>
              <a:rPr lang="en-US" altLang="zh-CN" sz="1555" dirty="0" err="1">
                <a:solidFill>
                  <a:schemeClr val="tx1"/>
                </a:solidFill>
              </a:rPr>
              <a:t>isbn</a:t>
            </a:r>
            <a:r>
              <a:rPr lang="en-US" altLang="zh-CN" sz="1555" dirty="0">
                <a:solidFill>
                  <a:schemeClr val="tx1"/>
                </a:solidFill>
              </a:rPr>
              <a:t>: "9787302433637"},{title:"Java 2</a:t>
            </a:r>
            <a:r>
              <a:rPr lang="zh-CN" altLang="en-US" sz="1555" dirty="0">
                <a:solidFill>
                  <a:schemeClr val="tx1"/>
                </a:solidFill>
              </a:rPr>
              <a:t>实用教程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zh-CN" altLang="en-US" sz="1555" dirty="0">
                <a:solidFill>
                  <a:schemeClr val="tx1"/>
                </a:solidFill>
              </a:rPr>
              <a:t>第</a:t>
            </a:r>
            <a:r>
              <a:rPr lang="en-US" altLang="zh-CN" sz="1555" dirty="0">
                <a:solidFill>
                  <a:schemeClr val="tx1"/>
                </a:solidFill>
              </a:rPr>
              <a:t>5</a:t>
            </a:r>
            <a:r>
              <a:rPr lang="zh-CN" altLang="en-US" sz="1555" dirty="0">
                <a:solidFill>
                  <a:schemeClr val="tx1"/>
                </a:solidFill>
              </a:rPr>
              <a:t>版</a:t>
            </a:r>
            <a:r>
              <a:rPr lang="en-US" altLang="zh-CN" sz="1555" dirty="0">
                <a:solidFill>
                  <a:schemeClr val="tx1"/>
                </a:solidFill>
              </a:rPr>
              <a:t>)", author: "</a:t>
            </a:r>
            <a:r>
              <a:rPr lang="zh-CN" altLang="en-US" sz="1555" dirty="0">
                <a:solidFill>
                  <a:schemeClr val="tx1"/>
                </a:solidFill>
              </a:rPr>
              <a:t>耿祥义</a:t>
            </a:r>
            <a:r>
              <a:rPr lang="en-US" altLang="zh-CN" sz="1555" dirty="0">
                <a:solidFill>
                  <a:schemeClr val="tx1"/>
                </a:solidFill>
              </a:rPr>
              <a:t>“,isbn:"9787302464259 "}];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2</a:t>
            </a:r>
            <a:r>
              <a:rPr lang="zh-CN" altLang="en-US" sz="1555" dirty="0">
                <a:solidFill>
                  <a:schemeClr val="tx1"/>
                </a:solidFill>
              </a:rPr>
              <a:t>）数据库的增加、更新、删除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</a:t>
            </a:r>
            <a:r>
              <a:rPr lang="en-US" altLang="zh-CN" sz="1555" dirty="0" err="1">
                <a:solidFill>
                  <a:schemeClr val="tx1"/>
                </a:solidFill>
              </a:rPr>
              <a:t>objectStore.add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</a:rPr>
              <a:t>objectName</a:t>
            </a:r>
            <a:r>
              <a:rPr lang="en-US" altLang="zh-CN" sz="1555" dirty="0">
                <a:solidFill>
                  <a:schemeClr val="tx1"/>
                </a:solidFill>
              </a:rPr>
              <a:t>); //</a:t>
            </a:r>
            <a:r>
              <a:rPr lang="zh-CN" altLang="en-US" sz="1555" dirty="0">
                <a:solidFill>
                  <a:schemeClr val="tx1"/>
                </a:solidFill>
              </a:rPr>
              <a:t>添加数据，当关键字存在时数据不会添加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</a:t>
            </a:r>
            <a:r>
              <a:rPr lang="en-US" altLang="zh-CN" sz="1555" dirty="0" err="1">
                <a:solidFill>
                  <a:schemeClr val="tx1"/>
                </a:solidFill>
              </a:rPr>
              <a:t>objectStore.put</a:t>
            </a:r>
            <a:r>
              <a:rPr lang="en-US" altLang="zh-CN" sz="1555" dirty="0">
                <a:solidFill>
                  <a:schemeClr val="tx1"/>
                </a:solidFill>
              </a:rPr>
              <a:t>(</a:t>
            </a:r>
            <a:r>
              <a:rPr lang="en-US" altLang="zh-CN" sz="1555" dirty="0" err="1">
                <a:solidFill>
                  <a:schemeClr val="tx1"/>
                </a:solidFill>
              </a:rPr>
              <a:t>objectName</a:t>
            </a:r>
            <a:r>
              <a:rPr lang="en-US" altLang="zh-CN" sz="1555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//</a:t>
            </a:r>
            <a:r>
              <a:rPr lang="zh-CN" altLang="en-US" sz="1555" dirty="0">
                <a:solidFill>
                  <a:schemeClr val="tx1"/>
                </a:solidFill>
              </a:rPr>
              <a:t>更新数据，当关键字存在时覆盖数据，不存在时会添加数据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</a:t>
            </a:r>
            <a:r>
              <a:rPr lang="en-US" altLang="zh-CN" sz="1555" dirty="0" err="1">
                <a:solidFill>
                  <a:schemeClr val="tx1"/>
                </a:solidFill>
              </a:rPr>
              <a:t>objectStore.delete</a:t>
            </a:r>
            <a:r>
              <a:rPr lang="en-US" altLang="zh-CN" sz="1555" dirty="0">
                <a:solidFill>
                  <a:schemeClr val="tx1"/>
                </a:solidFill>
              </a:rPr>
              <a:t>(value); //</a:t>
            </a:r>
            <a:r>
              <a:rPr lang="zh-CN" altLang="en-US" sz="1555" dirty="0">
                <a:solidFill>
                  <a:schemeClr val="tx1"/>
                </a:solidFill>
              </a:rPr>
              <a:t>删除数据，删除指定的关键字对应的数据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5" dirty="0">
                <a:solidFill>
                  <a:schemeClr val="tx1"/>
                </a:solidFill>
              </a:rPr>
              <a:t>   </a:t>
            </a:r>
            <a:r>
              <a:rPr lang="en-US" altLang="zh-CN" sz="1555" dirty="0" err="1">
                <a:solidFill>
                  <a:schemeClr val="tx1"/>
                </a:solidFill>
              </a:rPr>
              <a:t>objectStore.clear</a:t>
            </a:r>
            <a:r>
              <a:rPr lang="en-US" altLang="zh-CN" sz="1555" dirty="0">
                <a:solidFill>
                  <a:schemeClr val="tx1"/>
                </a:solidFill>
              </a:rPr>
              <a:t>(); //</a:t>
            </a:r>
            <a:r>
              <a:rPr lang="zh-CN" altLang="en-US" sz="1555" dirty="0">
                <a:solidFill>
                  <a:schemeClr val="tx1"/>
                </a:solidFill>
              </a:rPr>
              <a:t>清除</a:t>
            </a:r>
            <a:r>
              <a:rPr lang="en-US" altLang="zh-CN" sz="1555" dirty="0" err="1">
                <a:solidFill>
                  <a:schemeClr val="tx1"/>
                </a:solidFill>
              </a:rPr>
              <a:t>objectStore</a:t>
            </a:r>
            <a:endParaRPr lang="en-US" altLang="zh-CN" sz="1555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555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7825" y="1324610"/>
            <a:ext cx="8509000" cy="532003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3</a:t>
            </a:r>
            <a:r>
              <a:rPr sz="1600">
                <a:solidFill>
                  <a:schemeClr val="tx1"/>
                </a:solidFill>
                <a:sym typeface="+mn-ea"/>
              </a:rPr>
              <a:t>）数据库的数据读取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 err="1">
                <a:solidFill>
                  <a:schemeClr val="tx1"/>
                </a:solidFill>
              </a:rPr>
              <a:t>  var</a:t>
            </a:r>
            <a:r>
              <a:rPr lang="en-US" altLang="zh-CN" sz="1600" dirty="0">
                <a:solidFill>
                  <a:schemeClr val="tx1"/>
                </a:solidFill>
              </a:rPr>
              <a:t> request = objectStore.get(value); //</a:t>
            </a:r>
            <a:r>
              <a:rPr lang="zh-CN" altLang="en-US" sz="1600" dirty="0">
                <a:solidFill>
                  <a:schemeClr val="tx1"/>
                </a:solidFill>
              </a:rPr>
              <a:t>查找数据，根据关键字查找指定的数据常用方式。分配事件句柄，并绑定事件处理函数。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request.onsuccess</a:t>
            </a:r>
            <a:r>
              <a:rPr lang="en-US" altLang="zh-CN" sz="1600" dirty="0">
                <a:solidFill>
                  <a:schemeClr val="tx1"/>
                </a:solidFill>
              </a:rPr>
              <a:t>=function(e){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books=e.target.result;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</a:t>
            </a:r>
            <a:r>
              <a:rPr lang="en-US" altLang="zh-CN" sz="1600" dirty="0" err="1">
                <a:solidFill>
                  <a:schemeClr val="tx1"/>
                </a:solidFill>
              </a:rPr>
              <a:t>console.log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books.title</a:t>
            </a:r>
            <a:r>
              <a:rPr lang="en-US" altLang="zh-CN" sz="1600" dirty="0">
                <a:solidFill>
                  <a:schemeClr val="tx1"/>
                </a:solidFill>
              </a:rPr>
              <a:t>); //</a:t>
            </a:r>
            <a:r>
              <a:rPr lang="zh-CN" altLang="en-US" sz="1600" dirty="0">
                <a:solidFill>
                  <a:schemeClr val="tx1"/>
                </a:solidFill>
              </a:rPr>
              <a:t>控制台输出图书的标题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};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</a:rPr>
              <a:t>request.onerror</a:t>
            </a:r>
            <a:r>
              <a:rPr lang="en-US" altLang="zh-CN" sz="1600" dirty="0">
                <a:solidFill>
                  <a:schemeClr val="tx1"/>
                </a:solidFill>
              </a:rPr>
              <a:t>=function(e){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 </a:t>
            </a:r>
            <a:r>
              <a:rPr lang="en-US" altLang="zh-CN" sz="1600" dirty="0" err="1">
                <a:solidFill>
                  <a:schemeClr val="tx1"/>
                </a:solidFill>
              </a:rPr>
              <a:t>console.log</a:t>
            </a:r>
            <a:r>
              <a:rPr lang="en-US" altLang="zh-CN" sz="1600" dirty="0">
                <a:solidFill>
                  <a:schemeClr val="tx1"/>
                </a:solidFill>
              </a:rPr>
              <a:t>("</a:t>
            </a:r>
            <a:r>
              <a:rPr lang="zh-CN" altLang="en-US" sz="1600" dirty="0">
                <a:solidFill>
                  <a:schemeClr val="tx1"/>
                </a:solidFill>
              </a:rPr>
              <a:t>数据读取失败！</a:t>
            </a:r>
            <a:r>
              <a:rPr lang="en-US" altLang="zh-CN" sz="1600" dirty="0">
                <a:solidFill>
                  <a:schemeClr val="tx1"/>
                </a:solidFill>
              </a:rPr>
              <a:t>"); //</a:t>
            </a:r>
            <a:r>
              <a:rPr lang="zh-CN" altLang="en-US" sz="1600" dirty="0">
                <a:solidFill>
                  <a:schemeClr val="tx1"/>
                </a:solidFill>
              </a:rPr>
              <a:t>控制台输出图书的标题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};</a:t>
            </a:r>
          </a:p>
          <a:p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事件监听方式。分配事件句柄，并绑定事件处理函数。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request.addEventListener</a:t>
            </a:r>
            <a:r>
              <a:rPr lang="en-US" altLang="zh-CN" sz="1600" dirty="0">
                <a:solidFill>
                  <a:schemeClr val="tx1"/>
                </a:solidFill>
              </a:rPr>
              <a:t>('success', function(event){ ……   }, false);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dirty="0" err="1">
                <a:solidFill>
                  <a:schemeClr val="tx1"/>
                </a:solidFill>
              </a:rPr>
              <a:t>request.addEventListener</a:t>
            </a:r>
            <a:r>
              <a:rPr lang="en-US" altLang="zh-CN" sz="1600" dirty="0">
                <a:solidFill>
                  <a:schemeClr val="tx1"/>
                </a:solidFill>
              </a:rPr>
              <a:t>('error', function(event){ //</a:t>
            </a:r>
            <a:r>
              <a:rPr lang="zh-CN" altLang="en-US" sz="1600" dirty="0">
                <a:solidFill>
                  <a:schemeClr val="tx1"/>
                </a:solidFill>
              </a:rPr>
              <a:t>增加事件监听器</a:t>
            </a:r>
          </a:p>
          <a:p>
            <a:pPr marL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//</a:t>
            </a:r>
            <a:r>
              <a:rPr lang="zh-CN" altLang="en-US" sz="1600" dirty="0">
                <a:solidFill>
                  <a:schemeClr val="tx1"/>
                </a:solidFill>
              </a:rPr>
              <a:t>错误处理函数，省略   </a:t>
            </a:r>
            <a:r>
              <a:rPr lang="en-US" altLang="zh-CN" sz="1600" dirty="0">
                <a:solidFill>
                  <a:schemeClr val="tx1"/>
                </a:solidFill>
              </a:rPr>
              <a:t>}, false);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遍历数据</a:t>
            </a:r>
            <a:r>
              <a:rPr lang="en-US" altLang="zh-CN" dirty="0" err="1"/>
              <a:t>openCursor</a:t>
            </a:r>
            <a:r>
              <a:rPr lang="en-US" altLang="zh-CN" dirty="0"/>
              <a:t>()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0"/>
            <a:ext cx="8509000" cy="3962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/>
              <a:t>       使用对象仓库的</a:t>
            </a:r>
            <a:r>
              <a:rPr lang="en-US" altLang="zh-CN" sz="1600" dirty="0"/>
              <a:t>openCursor()</a:t>
            </a:r>
            <a:r>
              <a:rPr lang="zh-CN" altLang="en-US" sz="1600" dirty="0"/>
              <a:t>方法可以实现遍历数据。该方法可以获取游标对象，然后利用游标移动来实现数据遍历。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highlight>
                  <a:srgbClr val="FFFF00"/>
                </a:highlight>
              </a:rPr>
              <a:t>       </a:t>
            </a:r>
            <a:r>
              <a:rPr lang="en-US" altLang="zh-CN" sz="1600" dirty="0" err="1">
                <a:highlight>
                  <a:srgbClr val="FFFF00"/>
                </a:highlight>
              </a:rPr>
              <a:t>openCursor</a:t>
            </a:r>
            <a:r>
              <a:rPr lang="en-US" altLang="zh-CN" sz="1600" dirty="0">
                <a:highlight>
                  <a:srgbClr val="FFFF00"/>
                </a:highlight>
              </a:rPr>
              <a:t>()</a:t>
            </a:r>
            <a:r>
              <a:rPr lang="zh-CN" altLang="en-US" sz="1600" dirty="0">
                <a:highlight>
                  <a:srgbClr val="FFFF00"/>
                </a:highlight>
              </a:rPr>
              <a:t>方法可以接受第二个参数，表示遍历方向，默认值为</a:t>
            </a:r>
            <a:r>
              <a:rPr lang="en-US" altLang="zh-CN" sz="1600" dirty="0">
                <a:highlight>
                  <a:srgbClr val="FFFF00"/>
                </a:highlight>
              </a:rPr>
              <a:t>next</a:t>
            </a:r>
            <a:r>
              <a:rPr lang="zh-CN" altLang="en-US" sz="1600" dirty="0">
                <a:highlight>
                  <a:srgbClr val="FFFF00"/>
                </a:highlight>
              </a:rPr>
              <a:t>，其他值为</a:t>
            </a:r>
            <a:r>
              <a:rPr lang="en-US" altLang="zh-CN" sz="1600" dirty="0">
                <a:highlight>
                  <a:srgbClr val="FFFF00"/>
                </a:highlight>
              </a:rPr>
              <a:t>prev</a:t>
            </a:r>
            <a:r>
              <a:rPr lang="zh-CN" altLang="en-US" sz="1600" dirty="0">
                <a:highlight>
                  <a:srgbClr val="FFFF00"/>
                </a:highlight>
              </a:rPr>
              <a:t>、</a:t>
            </a:r>
            <a:r>
              <a:rPr lang="en-US" altLang="zh-CN" sz="1600" dirty="0">
                <a:highlight>
                  <a:srgbClr val="FFFF00"/>
                </a:highlight>
              </a:rPr>
              <a:t>nextunique </a:t>
            </a:r>
            <a:r>
              <a:rPr lang="zh-CN" altLang="en-US" sz="1600" dirty="0">
                <a:highlight>
                  <a:srgbClr val="FFFF00"/>
                </a:highlight>
              </a:rPr>
              <a:t>和</a:t>
            </a:r>
            <a:r>
              <a:rPr lang="en-US" altLang="zh-CN" sz="1600" dirty="0">
                <a:highlight>
                  <a:srgbClr val="FFFF00"/>
                </a:highlight>
              </a:rPr>
              <a:t>prevunique</a:t>
            </a:r>
            <a:r>
              <a:rPr lang="zh-CN" altLang="en-US" sz="1600" dirty="0"/>
              <a:t>。后两个值表示如果遇到重复值，会自动跳过。</a:t>
            </a:r>
            <a:r>
              <a:rPr lang="en-US" altLang="zh-CN" sz="1600" dirty="0"/>
              <a:t>openCursor()</a:t>
            </a:r>
            <a:r>
              <a:rPr lang="zh-CN" altLang="en-US" sz="1600" dirty="0"/>
              <a:t>方法是异步执行的，有两个事件分别是</a:t>
            </a:r>
            <a:r>
              <a:rPr lang="en-US" altLang="zh-CN" sz="1600" dirty="0"/>
              <a:t>success</a:t>
            </a:r>
            <a:r>
              <a:rPr lang="zh-CN" altLang="en-US" sz="1600" dirty="0"/>
              <a:t>（检索请求成功）和</a:t>
            </a:r>
            <a:r>
              <a:rPr lang="en-US" altLang="zh-CN" sz="1600" dirty="0"/>
              <a:t>error</a:t>
            </a:r>
            <a:r>
              <a:rPr lang="zh-CN" altLang="en-US" sz="1600" dirty="0"/>
              <a:t>（检索请求失败）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</a:rPr>
              <a:t> cursor=objectStore.openCursor(); //</a:t>
            </a:r>
            <a:r>
              <a:rPr lang="zh-CN" altLang="en-US" sz="1600" dirty="0">
                <a:solidFill>
                  <a:schemeClr val="tx1"/>
                </a:solidFill>
              </a:rPr>
              <a:t>打开游标，指派事件处理函数。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）非索引查找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</a:rPr>
              <a:t>cursor.onsuccess</a:t>
            </a:r>
            <a:r>
              <a:rPr lang="en-US" altLang="zh-CN" sz="1600" dirty="0">
                <a:solidFill>
                  <a:schemeClr val="tx1"/>
                </a:solidFill>
              </a:rPr>
              <a:t>=function(e){};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</a:rPr>
              <a:t>cursor.onerror</a:t>
            </a:r>
            <a:r>
              <a:rPr lang="en-US" altLang="zh-CN" sz="1600" dirty="0">
                <a:solidFill>
                  <a:schemeClr val="tx1"/>
                </a:solidFill>
              </a:rPr>
              <a:t>=function(e){};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continue():</a:t>
            </a:r>
            <a:r>
              <a:rPr lang="zh-CN" altLang="zh-CN" sz="1600" dirty="0">
                <a:solidFill>
                  <a:schemeClr val="tx1"/>
                </a:solidFill>
              </a:rPr>
              <a:t>将</a:t>
            </a:r>
            <a:r>
              <a:rPr lang="zh-CN" altLang="zh-CN" sz="1600" dirty="0"/>
              <a:t>光标移到下一个数据对象</a:t>
            </a:r>
            <a:r>
              <a:rPr lang="en-US" altLang="zh-CN" sz="1600" dirty="0"/>
              <a:t>,</a:t>
            </a:r>
            <a:r>
              <a:rPr lang="zh-CN" altLang="en-US" sz="1600" dirty="0"/>
              <a:t>已到最后一个对象，</a:t>
            </a:r>
            <a:r>
              <a:rPr lang="zh-CN" altLang="zh-CN" sz="1600" dirty="0"/>
              <a:t>则光标指向</a:t>
            </a:r>
            <a:r>
              <a:rPr lang="en-US" altLang="zh-CN" sz="1600" dirty="0"/>
              <a:t>null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遍历数据</a:t>
            </a:r>
            <a:r>
              <a:rPr lang="en-US" altLang="zh-CN" dirty="0" err="1"/>
              <a:t>openCursor</a:t>
            </a:r>
            <a:r>
              <a:rPr lang="en-US" altLang="zh-CN" dirty="0"/>
              <a:t>()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console.dir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()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：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可以显示一个对象所有的属性和方法。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en-US" altLang="zh-CN" sz="1600" dirty="0" err="1">
                <a:solidFill>
                  <a:schemeClr val="tx1"/>
                </a:solidFill>
              </a:rPr>
              <a:t>console.log</a:t>
            </a:r>
            <a:r>
              <a:rPr lang="en-US" altLang="zh-CN" sz="1600" dirty="0">
                <a:solidFill>
                  <a:schemeClr val="tx1"/>
                </a:solidFill>
              </a:rPr>
              <a:t>()</a:t>
            </a:r>
            <a:r>
              <a:rPr lang="zh-CN" altLang="en-US" sz="1600" dirty="0">
                <a:solidFill>
                  <a:schemeClr val="tx1"/>
                </a:solidFill>
              </a:rPr>
              <a:t>：输出在控制台中，方便以后的调试</a:t>
            </a:r>
            <a:r>
              <a:rPr lang="zh-CN" altLang="zh-CN" sz="1600" dirty="0">
                <a:solidFill>
                  <a:schemeClr val="tx1"/>
                </a:solidFill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）</a:t>
            </a:r>
            <a:r>
              <a:rPr lang="en-US" altLang="zh-CN" sz="1600" dirty="0">
                <a:solidFill>
                  <a:schemeClr val="tx1"/>
                </a:solidFill>
              </a:rPr>
              <a:t>IDBKeyRange </a:t>
            </a:r>
            <a:r>
              <a:rPr lang="zh-CN" altLang="en-US" sz="1600" dirty="0">
                <a:solidFill>
                  <a:schemeClr val="tx1"/>
                </a:solidFill>
              </a:rPr>
              <a:t>对象</a:t>
            </a: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     通过索引可以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读取指定范围内的</a:t>
            </a:r>
            <a:r>
              <a:rPr lang="zh-CN" altLang="en-US" sz="1600" dirty="0">
                <a:solidFill>
                  <a:schemeClr val="tx1"/>
                </a:solidFill>
              </a:rPr>
              <a:t>数据。使用浏览器原生的</a:t>
            </a:r>
            <a:r>
              <a:rPr lang="en-US" altLang="zh-CN" sz="1600" dirty="0">
                <a:solidFill>
                  <a:schemeClr val="tx1"/>
                </a:solidFill>
              </a:rPr>
              <a:t>IDBKeyRange </a:t>
            </a:r>
            <a:r>
              <a:rPr lang="zh-CN" altLang="en-US" sz="1600" dirty="0">
                <a:solidFill>
                  <a:schemeClr val="tx1"/>
                </a:solidFill>
              </a:rPr>
              <a:t>对象能够生成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指定范围的</a:t>
            </a:r>
            <a:r>
              <a:rPr lang="en-US" altLang="zh-CN" sz="1600" dirty="0">
                <a:solidFill>
                  <a:schemeClr val="tx1"/>
                </a:solidFill>
              </a:rPr>
              <a:t>range </a:t>
            </a:r>
            <a:r>
              <a:rPr lang="zh-CN" altLang="en-US" sz="1600" dirty="0">
                <a:solidFill>
                  <a:schemeClr val="tx1"/>
                </a:solidFill>
              </a:rPr>
              <a:t>对象。生成方法有四种。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</a:rPr>
              <a:t>lowerBound</a:t>
            </a:r>
            <a:r>
              <a:rPr lang="en-US" altLang="zh-CN" sz="1600" dirty="0">
                <a:solidFill>
                  <a:schemeClr val="tx1"/>
                </a:solidFill>
              </a:rPr>
              <a:t>()</a:t>
            </a:r>
            <a:r>
              <a:rPr lang="zh-CN" altLang="en-US" sz="1600" dirty="0">
                <a:solidFill>
                  <a:schemeClr val="tx1"/>
                </a:solidFill>
              </a:rPr>
              <a:t>方法：指定范围的下限。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upperBound()</a:t>
            </a:r>
            <a:r>
              <a:rPr lang="zh-CN" altLang="en-US" sz="1600" dirty="0">
                <a:solidFill>
                  <a:schemeClr val="tx1"/>
                </a:solidFill>
              </a:rPr>
              <a:t>方法：指定范围的上限。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bound()</a:t>
            </a:r>
            <a:r>
              <a:rPr lang="zh-CN" altLang="en-US" sz="1600" dirty="0">
                <a:solidFill>
                  <a:schemeClr val="tx1"/>
                </a:solidFill>
              </a:rPr>
              <a:t>方法：指定范围的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上下限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 only()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方法：指定范围中只有一个值。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遍历数据</a:t>
            </a:r>
            <a:r>
              <a:rPr lang="en-US" altLang="zh-CN" dirty="0" err="1"/>
              <a:t>openCursor</a:t>
            </a:r>
            <a:r>
              <a:rPr lang="en-US" altLang="zh-CN" dirty="0"/>
              <a:t>()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en-US" sz="1600" dirty="0">
                <a:solidFill>
                  <a:schemeClr val="tx1"/>
                </a:solidFill>
              </a:rPr>
              <a:t>）按索引查找数据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     使用对象仓库的</a:t>
            </a:r>
            <a:r>
              <a:rPr lang="en-US" altLang="zh-CN" sz="1600" dirty="0">
                <a:solidFill>
                  <a:schemeClr val="tx1"/>
                </a:solidFill>
              </a:rPr>
              <a:t>index()</a:t>
            </a:r>
            <a:r>
              <a:rPr lang="zh-CN" altLang="en-US" sz="1600" dirty="0">
                <a:solidFill>
                  <a:schemeClr val="tx1"/>
                </a:solidFill>
              </a:rPr>
              <a:t>方法来实现检索。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var index=objectStore.index(indexName); //indexName</a:t>
            </a:r>
            <a:r>
              <a:rPr lang="zh-CN" altLang="en-US" sz="1600" dirty="0">
                <a:solidFill>
                  <a:schemeClr val="tx1"/>
                </a:solidFill>
              </a:rPr>
              <a:t>为已建立的索引名称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var cursor=index.openCursor(range); //</a:t>
            </a:r>
            <a:r>
              <a:rPr lang="zh-CN" altLang="en-US" sz="1600" dirty="0">
                <a:solidFill>
                  <a:schemeClr val="tx1"/>
                </a:solidFill>
              </a:rPr>
              <a:t>用</a:t>
            </a:r>
            <a:r>
              <a:rPr lang="en-US" altLang="zh-CN" sz="1600" dirty="0">
                <a:solidFill>
                  <a:schemeClr val="tx1"/>
                </a:solidFill>
              </a:rPr>
              <a:t>IDBKeyRange</a:t>
            </a:r>
            <a:r>
              <a:rPr lang="zh-CN" altLang="en-US" sz="1600" dirty="0">
                <a:solidFill>
                  <a:schemeClr val="tx1"/>
                </a:solidFill>
              </a:rPr>
              <a:t>生成范围</a:t>
            </a:r>
            <a:r>
              <a:rPr lang="en-US" altLang="zh-CN" sz="1600" dirty="0">
                <a:solidFill>
                  <a:schemeClr val="tx1"/>
                </a:solidFill>
              </a:rPr>
              <a:t>range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cursor.addEventListener('success', function(event){ //</a:t>
            </a:r>
            <a:r>
              <a:rPr lang="zh-CN" altLang="en-US" sz="1600" dirty="0">
                <a:solidFill>
                  <a:schemeClr val="tx1"/>
                </a:solidFill>
              </a:rPr>
              <a:t>启动成功监听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     </a:t>
            </a: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var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 result = event.target.result; //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返回检索结果集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if(result){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   </a:t>
            </a:r>
            <a:r>
              <a:rPr lang="en-US" altLang="zh-CN" sz="1600" dirty="0" err="1">
                <a:solidFill>
                  <a:schemeClr val="tx1"/>
                </a:solidFill>
              </a:rPr>
              <a:t>console.log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result.value</a:t>
            </a:r>
            <a:r>
              <a:rPr lang="en-US" altLang="zh-CN" sz="1600" dirty="0">
                <a:solidFill>
                  <a:schemeClr val="tx1"/>
                </a:solidFill>
              </a:rPr>
              <a:t>); //</a:t>
            </a:r>
            <a:r>
              <a:rPr lang="zh-CN" altLang="en-US" sz="1600" dirty="0">
                <a:solidFill>
                  <a:schemeClr val="tx1"/>
                </a:solidFill>
              </a:rPr>
              <a:t>输出数据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        </a:t>
            </a:r>
            <a:r>
              <a:rPr lang="en-US" altLang="zh-CN" sz="1600" dirty="0" err="1">
                <a:solidFill>
                  <a:schemeClr val="tx1"/>
                </a:solidFill>
                <a:highlight>
                  <a:srgbClr val="FFFF00"/>
                </a:highlight>
              </a:rPr>
              <a:t>result.continue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</a:rPr>
              <a:t>(); //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迭代，游标下移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     }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}, false);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cursor.addEventListener('error', function(event){console.log("</a:t>
            </a:r>
            <a:r>
              <a:rPr lang="zh-CN" altLang="en-US" sz="1600" dirty="0">
                <a:solidFill>
                  <a:schemeClr val="tx1"/>
                </a:solidFill>
              </a:rPr>
              <a:t>失败！</a:t>
            </a:r>
            <a:r>
              <a:rPr lang="en-US" altLang="zh-CN" sz="1600" dirty="0">
                <a:solidFill>
                  <a:schemeClr val="tx1"/>
                </a:solidFill>
              </a:rPr>
              <a:t>");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},false);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浏览器端数据库</a:t>
            </a:r>
            <a:r>
              <a:rPr lang="en-US" altLang="zh-CN" dirty="0" err="1"/>
              <a:t>IndexedDB</a:t>
            </a:r>
            <a:r>
              <a:rPr lang="zh-CN" altLang="en-US" dirty="0"/>
              <a:t>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1"/>
            <a:ext cx="8509000" cy="1828799"/>
          </a:xfrm>
        </p:spPr>
        <p:txBody>
          <a:bodyPr>
            <a:normAutofit fontScale="97500"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  创建</a:t>
            </a:r>
            <a:r>
              <a:rPr lang="en-US" altLang="zh-CN" sz="1800" dirty="0" err="1"/>
              <a:t>userinfo</a:t>
            </a:r>
            <a:r>
              <a:rPr lang="zh-CN" altLang="en-US" sz="1800" dirty="0"/>
              <a:t>数据库，创建</a:t>
            </a:r>
            <a:r>
              <a:rPr lang="en-US" altLang="zh-CN" sz="1800" dirty="0"/>
              <a:t>user</a:t>
            </a:r>
            <a:r>
              <a:rPr lang="zh-CN" altLang="en-US" sz="1800" dirty="0"/>
              <a:t>对象仓库。函数</a:t>
            </a:r>
            <a:r>
              <a:rPr lang="en-US" altLang="zh-CN" sz="1800" dirty="0" err="1"/>
              <a:t>createDB</a:t>
            </a:r>
            <a:r>
              <a:rPr lang="en-US" altLang="zh-CN" sz="1800" dirty="0"/>
              <a:t>(</a:t>
            </a:r>
            <a:r>
              <a:rPr lang="en-US" altLang="zh-CN" sz="1800" dirty="0" err="1"/>
              <a:t>dbName</a:t>
            </a:r>
            <a:r>
              <a:rPr lang="en-US" altLang="zh-CN" sz="1800" dirty="0"/>
              <a:t>) </a:t>
            </a:r>
            <a:r>
              <a:rPr lang="zh-CN" altLang="en-US" sz="1800" dirty="0"/>
              <a:t>的功能是根据指定参数创建数据库。函数</a:t>
            </a:r>
            <a:r>
              <a:rPr lang="en-US" altLang="zh-CN" sz="1800" dirty="0" err="1"/>
              <a:t>deleteDB</a:t>
            </a:r>
            <a:r>
              <a:rPr lang="en-US" altLang="zh-CN" sz="1800" dirty="0"/>
              <a:t>(</a:t>
            </a:r>
            <a:r>
              <a:rPr lang="en-US" altLang="zh-CN" sz="1800" dirty="0" err="1"/>
              <a:t>dbName</a:t>
            </a:r>
            <a:r>
              <a:rPr lang="en-US" altLang="zh-CN" sz="1800" dirty="0"/>
              <a:t>) </a:t>
            </a:r>
            <a:r>
              <a:rPr lang="zh-CN" altLang="en-US" sz="1800" dirty="0"/>
              <a:t>的功能是根据指定参数删除数据库。函数</a:t>
            </a:r>
            <a:r>
              <a:rPr lang="en-US" altLang="zh-CN" sz="1800" dirty="0" err="1"/>
              <a:t>getObject</a:t>
            </a:r>
            <a:r>
              <a:rPr lang="en-US" altLang="zh-CN" sz="1800" dirty="0"/>
              <a:t>()</a:t>
            </a:r>
            <a:r>
              <a:rPr lang="zh-CN" altLang="en-US" sz="1800" dirty="0"/>
              <a:t> 的功能是获取满足条件的所有对象，并在多行文本域中分行显示。函数</a:t>
            </a:r>
            <a:r>
              <a:rPr lang="en-US" altLang="zh-CN" sz="1800" dirty="0" err="1"/>
              <a:t>getOneObject</a:t>
            </a:r>
            <a:r>
              <a:rPr lang="en-US" altLang="zh-CN" sz="1800" dirty="0"/>
              <a:t>(e)</a:t>
            </a:r>
            <a:r>
              <a:rPr lang="zh-CN" altLang="en-US" sz="1800" dirty="0"/>
              <a:t> 的功能是读取某一个对象，并显示在多行文本域中。代码详见</a:t>
            </a:r>
            <a:r>
              <a:rPr lang="en-US" altLang="zh-CN" sz="1800" dirty="0"/>
              <a:t>edu_17_1_10.html</a:t>
            </a:r>
            <a:r>
              <a:rPr lang="zh-CN" altLang="en-US" sz="1800" dirty="0"/>
              <a:t>。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665301"/>
            <a:ext cx="2895600" cy="18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3657601"/>
            <a:ext cx="290784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836517"/>
              </p:ext>
            </p:extLst>
          </p:nvPr>
        </p:nvGraphicFramePr>
        <p:xfrm>
          <a:off x="7010400" y="6016625"/>
          <a:ext cx="12049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name="包装程序外壳对象" showAsIcon="1" r:id="rId5" imgW="1204920" imgH="535680" progId="Package">
                  <p:embed/>
                </p:oleObj>
              </mc:Choice>
              <mc:Fallback>
                <p:oleObj name="包装程序外壳对象" showAsIcon="1" r:id="rId5" imgW="1204920" imgH="535680" progId="Package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10400" y="6016625"/>
                        <a:ext cx="1204913" cy="53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Web Worker</a:t>
            </a:r>
            <a:endParaRPr lang="zh-CN" altLang="zh-CN" dirty="0"/>
          </a:p>
        </p:txBody>
      </p:sp>
      <p:sp>
        <p:nvSpPr>
          <p:cNvPr id="118791" name="Rectangle 7"/>
          <p:cNvSpPr>
            <a:spLocks noGrp="1" noChangeArrowheads="1"/>
          </p:cNvSpPr>
          <p:nvPr>
            <p:ph idx="1"/>
          </p:nvPr>
        </p:nvSpPr>
        <p:spPr>
          <a:xfrm>
            <a:off x="533400" y="1668066"/>
            <a:ext cx="8474075" cy="387548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400" dirty="0">
                <a:sym typeface="+mn-ea"/>
              </a:rPr>
              <a:t>       </a:t>
            </a:r>
            <a:r>
              <a:rPr altLang="zh-CN" sz="1400" dirty="0">
                <a:sym typeface="+mn-ea"/>
              </a:rPr>
              <a:t>在之前的</a:t>
            </a:r>
            <a:r>
              <a:rPr lang="en-US" altLang="zh-CN" sz="1400" dirty="0">
                <a:sym typeface="+mn-ea"/>
              </a:rPr>
              <a:t>Web</a:t>
            </a:r>
            <a:r>
              <a:rPr altLang="zh-CN" sz="1400" dirty="0">
                <a:sym typeface="+mn-ea"/>
              </a:rPr>
              <a:t>应用程序中，所有的处理都是单线程执行，如果脚本的运行时间较长，界面会一直处于停止响应的状态，则用户的体验效果不理想。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       Web Worker</a:t>
            </a:r>
            <a:r>
              <a:rPr lang="zh-CN" altLang="en-US" sz="1400" dirty="0"/>
              <a:t>允许开发人员编写能够长时间运行而不被用户所中断的后台程序，去执行事务或者逻辑，并同时保证页面对用户的及时响应。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b="1" dirty="0"/>
              <a:t>Web Worker </a:t>
            </a:r>
            <a:r>
              <a:rPr lang="zh-CN" altLang="en-US" sz="1400" b="1" dirty="0"/>
              <a:t>的工作原理</a:t>
            </a:r>
            <a:endParaRPr lang="en-US" altLang="zh-CN" sz="1400" b="1" dirty="0"/>
          </a:p>
          <a:p>
            <a:pPr marL="0" indent="0">
              <a:buNone/>
            </a:pPr>
            <a:r>
              <a:rPr lang="en-US" altLang="zh-CN" sz="1400" dirty="0"/>
              <a:t>       Web Worker </a:t>
            </a:r>
            <a:r>
              <a:rPr lang="zh-CN" altLang="en-US" sz="1400" dirty="0"/>
              <a:t>的</a:t>
            </a:r>
            <a:r>
              <a:rPr lang="zh-CN" altLang="en-US" sz="1400" dirty="0">
                <a:effectLst/>
              </a:rPr>
              <a:t>工作原理</a:t>
            </a:r>
            <a:r>
              <a:rPr lang="zh-CN" altLang="en-US" sz="1400" dirty="0"/>
              <a:t>是在包含</a:t>
            </a:r>
            <a:r>
              <a:rPr lang="en-US" altLang="zh-CN" sz="1400" dirty="0"/>
              <a:t>JavaScript </a:t>
            </a:r>
            <a:r>
              <a:rPr lang="zh-CN" altLang="en-US" sz="1400" dirty="0"/>
              <a:t>脚本的</a:t>
            </a:r>
            <a:r>
              <a:rPr lang="en-US" altLang="zh-CN" sz="1400" dirty="0"/>
              <a:t>Web </a:t>
            </a:r>
            <a:r>
              <a:rPr lang="zh-CN" altLang="en-US" sz="1400" dirty="0"/>
              <a:t>页面中，运行的</a:t>
            </a:r>
            <a:r>
              <a:rPr lang="en-US" altLang="zh-CN" sz="1400" dirty="0"/>
              <a:t>JS </a:t>
            </a:r>
            <a:r>
              <a:rPr lang="zh-CN" altLang="en-US" sz="1400" dirty="0"/>
              <a:t>脚本称为主线程，并在主线程中使用</a:t>
            </a:r>
            <a:r>
              <a:rPr lang="en-US" altLang="zh-CN" sz="1400" dirty="0"/>
              <a:t>Worker </a:t>
            </a:r>
            <a:r>
              <a:rPr lang="zh-CN" altLang="en-US" sz="1400" dirty="0"/>
              <a:t>类创建一个</a:t>
            </a:r>
            <a:r>
              <a:rPr lang="en-US" altLang="zh-CN" sz="1400" dirty="0"/>
              <a:t>Worker</a:t>
            </a:r>
            <a:r>
              <a:rPr lang="zh-CN" altLang="en-US" sz="1400" dirty="0"/>
              <a:t>，并向其传入一个参数，</a:t>
            </a:r>
            <a:r>
              <a:rPr lang="zh-CN" altLang="en-US" sz="1400" dirty="0">
                <a:highlight>
                  <a:srgbClr val="FFFF00"/>
                </a:highlight>
              </a:rPr>
              <a:t>该参数是需要在另一个线程中运行的</a:t>
            </a:r>
            <a:r>
              <a:rPr lang="en-US" altLang="zh-CN" sz="1400" dirty="0">
                <a:highlight>
                  <a:srgbClr val="FFFF00"/>
                </a:highlight>
              </a:rPr>
              <a:t>JavaScript </a:t>
            </a:r>
            <a:r>
              <a:rPr lang="zh-CN" altLang="en-US" sz="1400" dirty="0">
                <a:highlight>
                  <a:srgbClr val="FFFF00"/>
                </a:highlight>
              </a:rPr>
              <a:t>文件名称 </a:t>
            </a:r>
            <a:r>
              <a:rPr lang="en-US" altLang="zh-CN" sz="1400" dirty="0">
                <a:highlight>
                  <a:srgbClr val="FFFF00"/>
                </a:highlight>
              </a:rPr>
              <a:t>(myWorker.</a:t>
            </a:r>
            <a:r>
              <a:rPr lang="en-US" altLang="zh-CN" sz="1400" dirty="0"/>
              <a:t>js)</a:t>
            </a:r>
            <a:r>
              <a:rPr lang="zh-CN" altLang="en-US" sz="1400" dirty="0"/>
              <a:t>，然后在这个实例上监听</a:t>
            </a:r>
            <a:r>
              <a:rPr lang="en-US" altLang="zh-CN" sz="1400" dirty="0" err="1">
                <a:solidFill>
                  <a:srgbClr val="FF0000"/>
                </a:solidFill>
              </a:rPr>
              <a:t>onmessage</a:t>
            </a:r>
            <a:r>
              <a:rPr lang="en-US" altLang="zh-CN" sz="1400" dirty="0"/>
              <a:t> </a:t>
            </a:r>
            <a:r>
              <a:rPr lang="zh-CN" altLang="en-US" sz="1400" dirty="0"/>
              <a:t>事件。</a:t>
            </a:r>
            <a:endParaRPr lang="zh-CN" altLang="zh-CN" sz="1400" dirty="0"/>
          </a:p>
          <a:p>
            <a:pPr marL="0" indent="0">
              <a:buNone/>
            </a:pPr>
            <a:endParaRPr lang="zh-CN" altLang="zh-CN" sz="14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Web Worker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0"/>
            <a:ext cx="8509000" cy="388619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/>
              <a:t>创建</a:t>
            </a:r>
            <a:r>
              <a:rPr lang="en-US" altLang="zh-CN" sz="1400" b="1" dirty="0"/>
              <a:t>Web Worker 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     利用</a:t>
            </a:r>
            <a:r>
              <a:rPr lang="en-US" altLang="zh-CN" sz="1400" dirty="0"/>
              <a:t>JavaScript </a:t>
            </a:r>
            <a:r>
              <a:rPr lang="zh-CN" altLang="en-US" sz="1400" dirty="0"/>
              <a:t>创建一个</a:t>
            </a:r>
            <a:r>
              <a:rPr lang="zh-CN" altLang="en-US" sz="1400" dirty="0">
                <a:highlight>
                  <a:srgbClr val="FFFF00"/>
                </a:highlight>
              </a:rPr>
              <a:t>外部</a:t>
            </a:r>
            <a:r>
              <a:rPr lang="en-US" altLang="zh-CN" sz="1400" dirty="0">
                <a:highlight>
                  <a:srgbClr val="FFFF00"/>
                </a:highlight>
              </a:rPr>
              <a:t>Web Worker </a:t>
            </a:r>
            <a:r>
              <a:rPr lang="zh-CN" altLang="en-US" sz="1400" dirty="0">
                <a:highlight>
                  <a:srgbClr val="FFFF00"/>
                </a:highlight>
              </a:rPr>
              <a:t>文件</a:t>
            </a:r>
            <a:r>
              <a:rPr lang="en-US" altLang="zh-CN" sz="1400" dirty="0" err="1">
                <a:highlight>
                  <a:srgbClr val="FFFF00"/>
                </a:highlight>
              </a:rPr>
              <a:t>myWorker.js</a:t>
            </a:r>
            <a:r>
              <a:rPr lang="zh-CN" altLang="en-US" sz="1400" dirty="0"/>
              <a:t>。它是一个独立的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脚本文件。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/>
              <a:t>创建</a:t>
            </a:r>
            <a:r>
              <a:rPr lang="en-US" altLang="zh-CN" sz="1400" b="1" dirty="0"/>
              <a:t>Web Worker </a:t>
            </a:r>
            <a:r>
              <a:rPr lang="zh-CN" altLang="en-US" sz="1400" b="1" dirty="0"/>
              <a:t>对象</a:t>
            </a:r>
            <a:endParaRPr lang="en-US" altLang="zh-CN" sz="1400" b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       编辑完成</a:t>
            </a:r>
            <a:r>
              <a:rPr lang="en-US" altLang="zh-CN" sz="1400" dirty="0"/>
              <a:t>Web Worker </a:t>
            </a:r>
            <a:r>
              <a:rPr lang="zh-CN" altLang="en-US" sz="1400" dirty="0"/>
              <a:t>文件后，需要利用</a:t>
            </a:r>
            <a:r>
              <a:rPr lang="en-US" altLang="zh-CN" sz="1400" dirty="0"/>
              <a:t>Worker </a:t>
            </a:r>
            <a:r>
              <a:rPr lang="zh-CN" altLang="en-US" sz="1400" dirty="0"/>
              <a:t>类创建一个新的</a:t>
            </a:r>
            <a:r>
              <a:rPr lang="en-US" altLang="zh-CN" sz="1400" dirty="0"/>
              <a:t>Worker </a:t>
            </a:r>
            <a:r>
              <a:rPr lang="zh-CN" altLang="en-US" sz="1400" dirty="0"/>
              <a:t>线程，并为其传入一个参数，该参数就是</a:t>
            </a:r>
            <a:r>
              <a:rPr lang="en-US" altLang="zh-CN" sz="1400" dirty="0"/>
              <a:t>myWorker.js </a:t>
            </a:r>
            <a:r>
              <a:rPr lang="zh-CN" altLang="en-US" sz="1400" dirty="0"/>
              <a:t>文件，从而实现调用。代码如下所示：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rgbClr val="FF0000"/>
                </a:solidFill>
              </a:rPr>
              <a:t>    </a:t>
            </a:r>
            <a:r>
              <a:rPr lang="en-US" altLang="zh-CN" sz="1400" dirty="0" err="1">
                <a:solidFill>
                  <a:schemeClr val="tx1"/>
                </a:solidFill>
              </a:rPr>
              <a:t>var</a:t>
            </a:r>
            <a:r>
              <a:rPr lang="en-US" altLang="zh-CN" sz="1400" dirty="0">
                <a:solidFill>
                  <a:schemeClr val="tx1"/>
                </a:solidFill>
              </a:rPr>
              <a:t> worker = 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new Worker("myWorker.js"); </a:t>
            </a:r>
            <a:r>
              <a:rPr lang="en-US" altLang="zh-CN" sz="1400" dirty="0">
                <a:solidFill>
                  <a:schemeClr val="tx1"/>
                </a:solidFill>
              </a:rPr>
              <a:t>//</a:t>
            </a:r>
            <a:r>
              <a:rPr lang="zh-CN" altLang="en-US" sz="1400" dirty="0">
                <a:solidFill>
                  <a:schemeClr val="tx1"/>
                </a:solidFill>
              </a:rPr>
              <a:t>定义</a:t>
            </a:r>
            <a:r>
              <a:rPr lang="en-US" altLang="zh-CN" sz="1400" dirty="0">
                <a:solidFill>
                  <a:schemeClr val="tx1"/>
                </a:solidFill>
              </a:rPr>
              <a:t>Worker</a:t>
            </a:r>
            <a:r>
              <a:rPr lang="zh-CN" altLang="en-US" sz="1400" dirty="0">
                <a:solidFill>
                  <a:schemeClr val="tx1"/>
                </a:solidFill>
              </a:rPr>
              <a:t>，并传入参数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if (typeof(worker)=="undefined"){ //</a:t>
            </a:r>
            <a:r>
              <a:rPr lang="zh-CN" altLang="en-US" sz="1400" dirty="0">
                <a:solidFill>
                  <a:schemeClr val="tx1"/>
                </a:solidFill>
              </a:rPr>
              <a:t>未定义，其类型为</a:t>
            </a:r>
            <a:r>
              <a:rPr lang="en-US" altLang="zh-CN" sz="1400" dirty="0">
                <a:solidFill>
                  <a:schemeClr val="tx1"/>
                </a:solidFill>
              </a:rPr>
              <a:t>undefined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   worker=new Worker("myWorker.js "); //</a:t>
            </a:r>
            <a:r>
              <a:rPr lang="zh-CN" altLang="en-US" sz="1400" dirty="0">
                <a:solidFill>
                  <a:schemeClr val="tx1"/>
                </a:solidFill>
              </a:rPr>
              <a:t>创建一个</a:t>
            </a:r>
            <a:r>
              <a:rPr lang="en-US" altLang="zh-CN" sz="1400" dirty="0">
                <a:solidFill>
                  <a:schemeClr val="tx1"/>
                </a:solidFill>
              </a:rPr>
              <a:t>Worker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//</a:t>
            </a:r>
            <a:r>
              <a:rPr lang="zh-CN" altLang="en-US" sz="1400" dirty="0">
                <a:solidFill>
                  <a:schemeClr val="tx1"/>
                </a:solidFill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</a:rPr>
              <a:t>postMessage() </a:t>
            </a:r>
            <a:r>
              <a:rPr lang="zh-CN" altLang="en-US" sz="1400" dirty="0">
                <a:solidFill>
                  <a:schemeClr val="tx1"/>
                </a:solidFill>
              </a:rPr>
              <a:t>方法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将数据传递给主线程</a:t>
            </a:r>
            <a:endParaRPr lang="en-US" altLang="zh-CN" sz="1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</a:t>
            </a:r>
            <a:r>
              <a:rPr lang="en-US" altLang="zh-CN" sz="1400" dirty="0" err="1">
                <a:solidFill>
                  <a:schemeClr val="tx1"/>
                </a:solidFill>
              </a:rPr>
              <a:t>worker.postMessage</a:t>
            </a:r>
            <a:r>
              <a:rPr lang="en-US" altLang="zh-CN" sz="1400" dirty="0">
                <a:solidFill>
                  <a:schemeClr val="tx1"/>
                </a:solidFill>
              </a:rPr>
              <a:t>(data) //data</a:t>
            </a:r>
            <a:r>
              <a:rPr lang="zh-CN" altLang="en-US" sz="1400" dirty="0">
                <a:solidFill>
                  <a:schemeClr val="tx1"/>
                </a:solidFill>
              </a:rPr>
              <a:t>可以是一个字符串或者</a:t>
            </a:r>
            <a:r>
              <a:rPr lang="en-US" altLang="zh-CN" sz="1400" dirty="0">
                <a:solidFill>
                  <a:schemeClr val="tx1"/>
                </a:solidFill>
              </a:rPr>
              <a:t>JSON</a:t>
            </a:r>
            <a:r>
              <a:rPr lang="zh-CN" altLang="en-US" sz="1400" dirty="0">
                <a:solidFill>
                  <a:schemeClr val="tx1"/>
                </a:solidFill>
              </a:rPr>
              <a:t>对象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Web Worker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1"/>
            <a:ext cx="85090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       从</a:t>
            </a:r>
            <a:r>
              <a:rPr lang="en-US" altLang="zh-CN" sz="1400" dirty="0">
                <a:solidFill>
                  <a:schemeClr val="tx1"/>
                </a:solidFill>
              </a:rPr>
              <a:t>Web Worker </a:t>
            </a:r>
            <a:r>
              <a:rPr lang="zh-CN" altLang="en-US" sz="1400" dirty="0">
                <a:solidFill>
                  <a:schemeClr val="tx1"/>
                </a:solidFill>
              </a:rPr>
              <a:t>发送和接收消息。为</a:t>
            </a:r>
            <a:r>
              <a:rPr lang="en-US" altLang="zh-CN" sz="1400" dirty="0">
                <a:solidFill>
                  <a:schemeClr val="tx1"/>
                </a:solidFill>
              </a:rPr>
              <a:t>Web Worker </a:t>
            </a:r>
            <a:r>
              <a:rPr lang="zh-CN" altLang="en-US" sz="1400" dirty="0">
                <a:solidFill>
                  <a:schemeClr val="tx1"/>
                </a:solidFill>
              </a:rPr>
              <a:t>对象添加一个</a:t>
            </a:r>
            <a:r>
              <a:rPr lang="en-US" altLang="zh-CN" sz="1400" dirty="0" err="1">
                <a:solidFill>
                  <a:schemeClr val="tx1"/>
                </a:solidFill>
              </a:rPr>
              <a:t>onmessage</a:t>
            </a:r>
            <a:r>
              <a:rPr lang="zh-CN" altLang="en-US" sz="1400" dirty="0">
                <a:solidFill>
                  <a:schemeClr val="tx1"/>
                </a:solidFill>
              </a:rPr>
              <a:t>事件监听器来接收消息。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 </a:t>
            </a:r>
            <a:r>
              <a:rPr lang="en-US" altLang="zh-CN" sz="1400" dirty="0" err="1">
                <a:solidFill>
                  <a:schemeClr val="tx1"/>
                </a:solidFill>
              </a:rPr>
              <a:t>worker.onmessage</a:t>
            </a:r>
            <a:r>
              <a:rPr lang="en-US" altLang="zh-CN" sz="1400" dirty="0">
                <a:solidFill>
                  <a:schemeClr val="tx1"/>
                </a:solidFill>
              </a:rPr>
              <a:t>=function(event){ //</a:t>
            </a:r>
            <a:r>
              <a:rPr lang="zh-CN" altLang="en-US" sz="1400" dirty="0">
                <a:solidFill>
                  <a:schemeClr val="tx1"/>
                </a:solidFill>
              </a:rPr>
              <a:t>动态分配事件属性，绑定处理函数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     </a:t>
            </a:r>
            <a:r>
              <a:rPr lang="en-US" altLang="zh-CN" sz="1400" dirty="0" err="1">
                <a:solidFill>
                  <a:schemeClr val="tx1"/>
                </a:solidFill>
              </a:rPr>
              <a:t>document.getElementById</a:t>
            </a:r>
            <a:r>
              <a:rPr lang="en-US" altLang="zh-CN" sz="1400" dirty="0">
                <a:solidFill>
                  <a:schemeClr val="tx1"/>
                </a:solidFill>
              </a:rPr>
              <a:t>("result").innerHTML=event.data;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     //</a:t>
            </a:r>
            <a:r>
              <a:rPr lang="zh-CN" altLang="en-US" sz="1400" dirty="0">
                <a:solidFill>
                  <a:schemeClr val="tx1"/>
                </a:solidFill>
              </a:rPr>
              <a:t>将接收的消息显示在指定的标记内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  }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 </a:t>
            </a:r>
            <a:r>
              <a:rPr lang="en-US" altLang="zh-CN" sz="1400" dirty="0" err="1">
                <a:solidFill>
                  <a:schemeClr val="tx1"/>
                </a:solidFill>
              </a:rPr>
              <a:t>event.data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中存放来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自新线程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postMessage(data)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方法回传的数据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data</a:t>
            </a:r>
            <a:r>
              <a:rPr lang="zh-CN" altLang="en-US" sz="1400" dirty="0">
                <a:solidFill>
                  <a:schemeClr val="tx1"/>
                </a:solidFill>
              </a:rPr>
              <a:t>。当然</a:t>
            </a:r>
            <a:r>
              <a:rPr lang="en-US" altLang="zh-CN" sz="1400" dirty="0">
                <a:solidFill>
                  <a:schemeClr val="tx1"/>
                </a:solidFill>
              </a:rPr>
              <a:t>Worker </a:t>
            </a:r>
            <a:r>
              <a:rPr lang="zh-CN" altLang="en-US" sz="1400" dirty="0">
                <a:solidFill>
                  <a:schemeClr val="tx1"/>
                </a:solidFill>
              </a:rPr>
              <a:t>新线程也可以通过</a:t>
            </a:r>
            <a:r>
              <a:rPr lang="en-US" altLang="zh-CN" sz="1400" dirty="0">
                <a:solidFill>
                  <a:schemeClr val="tx1"/>
                </a:solidFill>
              </a:rPr>
              <a:t>postMessage(data)</a:t>
            </a:r>
            <a:r>
              <a:rPr lang="zh-CN" altLang="en-US" sz="1400" dirty="0">
                <a:solidFill>
                  <a:schemeClr val="tx1"/>
                </a:solidFill>
              </a:rPr>
              <a:t>方法来向主线程发送数据、绑定</a:t>
            </a:r>
            <a:r>
              <a:rPr lang="en-US" altLang="zh-CN" sz="1400" dirty="0" err="1">
                <a:solidFill>
                  <a:schemeClr val="tx1"/>
                </a:solidFill>
              </a:rPr>
              <a:t>onmessage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方法来接收主线程发送过来的数据。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终止</a:t>
            </a:r>
            <a:r>
              <a:rPr lang="en-US" altLang="zh-CN" sz="1400" b="1" dirty="0">
                <a:solidFill>
                  <a:schemeClr val="tx1"/>
                </a:solidFill>
              </a:rPr>
              <a:t>Web Worker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     </a:t>
            </a:r>
            <a:r>
              <a:rPr lang="en-US" altLang="zh-CN" sz="1400" dirty="0" err="1">
                <a:solidFill>
                  <a:schemeClr val="tx1"/>
                </a:solidFill>
              </a:rPr>
              <a:t>worker.terminate</a:t>
            </a:r>
            <a:r>
              <a:rPr lang="en-US" altLang="zh-CN" sz="1400" dirty="0">
                <a:solidFill>
                  <a:schemeClr val="tx1"/>
                </a:solidFill>
              </a:rPr>
              <a:t>(); //</a:t>
            </a:r>
            <a:r>
              <a:rPr lang="zh-CN" altLang="en-US" sz="1400" dirty="0">
                <a:solidFill>
                  <a:schemeClr val="tx1"/>
                </a:solidFill>
              </a:rPr>
              <a:t>终止新线程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 Worker</a:t>
            </a:r>
            <a:r>
              <a:t>作用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altLang="zh-CN" sz="1600" dirty="0">
                <a:sym typeface="+mn-ea"/>
              </a:rPr>
              <a:t>利用</a:t>
            </a:r>
            <a:r>
              <a:rPr lang="en-US" altLang="zh-CN" sz="1600" dirty="0">
                <a:sym typeface="+mn-ea"/>
              </a:rPr>
              <a:t>Web Workers</a:t>
            </a:r>
            <a:r>
              <a:rPr altLang="zh-CN" sz="1600" dirty="0">
                <a:sym typeface="+mn-ea"/>
              </a:rPr>
              <a:t>可以做以下事情：</a:t>
            </a:r>
            <a:endParaRPr lang="en-US" altLang="zh-CN" sz="1600" dirty="0"/>
          </a:p>
          <a:p>
            <a:pPr lvl="1"/>
            <a:r>
              <a:rPr altLang="zh-CN" sz="1600" dirty="0">
                <a:sym typeface="+mn-ea"/>
              </a:rPr>
              <a:t>可以加载一个</a:t>
            </a:r>
            <a:r>
              <a:rPr lang="en-US" altLang="zh-CN" sz="1600" dirty="0">
                <a:sym typeface="+mn-ea"/>
              </a:rPr>
              <a:t>JavaScript</a:t>
            </a:r>
            <a:r>
              <a:rPr altLang="zh-CN" sz="1600" dirty="0">
                <a:sym typeface="+mn-ea"/>
              </a:rPr>
              <a:t>文件进行大量的复杂计算而不挂起主进程，并通过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postMessage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，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onmessage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进行通信。</a:t>
            </a:r>
            <a:endParaRPr lang="en-US" altLang="zh-CN" sz="1600" dirty="0">
              <a:highlight>
                <a:srgbClr val="FFFF00"/>
              </a:highlight>
            </a:endParaRPr>
          </a:p>
          <a:p>
            <a:pPr lvl="1"/>
            <a:r>
              <a:rPr altLang="zh-CN" sz="1600" dirty="0">
                <a:sym typeface="+mn-ea"/>
              </a:rPr>
              <a:t>可以在</a:t>
            </a:r>
            <a:r>
              <a:rPr lang="en-US" altLang="zh-CN" sz="1600" dirty="0">
                <a:sym typeface="+mn-ea"/>
              </a:rPr>
              <a:t>Worker</a:t>
            </a:r>
            <a:r>
              <a:rPr altLang="zh-CN" sz="1600" dirty="0">
                <a:sym typeface="+mn-ea"/>
              </a:rPr>
              <a:t>中通过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importScripts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(</a:t>
            </a:r>
            <a:r>
              <a:rPr lang="en-US" altLang="zh-CN" sz="1600" dirty="0" err="1">
                <a:highlight>
                  <a:srgbClr val="FFFF00"/>
                </a:highlight>
                <a:sym typeface="+mn-ea"/>
              </a:rPr>
              <a:t>url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)</a:t>
            </a:r>
            <a:r>
              <a:rPr altLang="zh-CN" sz="1600" dirty="0">
                <a:sym typeface="+mn-ea"/>
              </a:rPr>
              <a:t>加载其它的脚本文件。</a:t>
            </a:r>
            <a:endParaRPr lang="en-US" altLang="zh-CN" sz="1600" dirty="0"/>
          </a:p>
          <a:p>
            <a:pPr lvl="1"/>
            <a:r>
              <a:rPr altLang="zh-CN" sz="1600" dirty="0">
                <a:sym typeface="+mn-ea"/>
              </a:rPr>
              <a:t>可以使用</a:t>
            </a:r>
            <a:r>
              <a:rPr lang="en-US" altLang="zh-CN" sz="1600" dirty="0" err="1">
                <a:sym typeface="+mn-ea"/>
              </a:rPr>
              <a:t>setTimeout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、</a:t>
            </a:r>
            <a:r>
              <a:rPr lang="en-US" altLang="zh-CN" sz="1600" dirty="0" err="1">
                <a:sym typeface="+mn-ea"/>
              </a:rPr>
              <a:t>clearTimeout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、</a:t>
            </a:r>
            <a:r>
              <a:rPr lang="en-US" altLang="zh-CN" sz="1600" dirty="0" err="1">
                <a:sym typeface="+mn-ea"/>
              </a:rPr>
              <a:t>setInterval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和</a:t>
            </a:r>
            <a:r>
              <a:rPr lang="en-US" altLang="zh-CN" sz="1600" dirty="0" err="1">
                <a:sym typeface="+mn-ea"/>
              </a:rPr>
              <a:t>clearInterval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方法。</a:t>
            </a:r>
            <a:endParaRPr lang="en-US" altLang="zh-CN" sz="1600" dirty="0"/>
          </a:p>
          <a:p>
            <a:pPr lvl="1"/>
            <a:r>
              <a:rPr altLang="zh-CN" sz="1600" dirty="0">
                <a:sym typeface="+mn-ea"/>
              </a:rPr>
              <a:t>可以使用</a:t>
            </a:r>
            <a:r>
              <a:rPr lang="en-US" altLang="zh-CN" sz="1600" dirty="0" err="1">
                <a:sym typeface="+mn-ea"/>
              </a:rPr>
              <a:t>XMLHttpRequest</a:t>
            </a:r>
            <a:r>
              <a:rPr altLang="zh-CN" sz="1600" dirty="0">
                <a:sym typeface="+mn-ea"/>
              </a:rPr>
              <a:t>进行异步请求。</a:t>
            </a:r>
            <a:endParaRPr lang="en-US" altLang="zh-CN" sz="1600" dirty="0"/>
          </a:p>
          <a:p>
            <a:pPr lvl="1"/>
            <a:r>
              <a:rPr altLang="zh-CN" sz="1600" dirty="0">
                <a:sym typeface="+mn-ea"/>
              </a:rPr>
              <a:t>可以访问</a:t>
            </a:r>
            <a:r>
              <a:rPr lang="en-US" altLang="zh-CN" sz="1600" dirty="0">
                <a:sym typeface="+mn-ea"/>
              </a:rPr>
              <a:t>navigator</a:t>
            </a:r>
            <a:r>
              <a:rPr altLang="zh-CN" sz="1600" dirty="0">
                <a:sym typeface="+mn-ea"/>
              </a:rPr>
              <a:t>的部分属性。</a:t>
            </a:r>
            <a:endParaRPr lang="en-US" altLang="zh-CN" sz="1600" dirty="0"/>
          </a:p>
          <a:p>
            <a:pPr lvl="1"/>
            <a:r>
              <a:rPr altLang="zh-CN" sz="1600" dirty="0">
                <a:sym typeface="+mn-ea"/>
              </a:rPr>
              <a:t>可以使用</a:t>
            </a:r>
            <a:r>
              <a:rPr lang="en-US" altLang="zh-CN" sz="1600" dirty="0">
                <a:sym typeface="+mn-ea"/>
              </a:rPr>
              <a:t>JavaScript</a:t>
            </a:r>
            <a:r>
              <a:rPr altLang="zh-CN" sz="1600" dirty="0">
                <a:sym typeface="+mn-ea"/>
              </a:rPr>
              <a:t>的核心对象。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altLang="zh-CN" sz="1600" dirty="0">
              <a:sym typeface="+mn-ea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altLang="zh-CN" sz="1600" dirty="0">
                <a:sym typeface="+mn-ea"/>
              </a:rPr>
              <a:t>但是</a:t>
            </a:r>
            <a:r>
              <a:rPr lang="en-US" altLang="zh-CN" sz="1600" dirty="0">
                <a:sym typeface="+mn-ea"/>
              </a:rPr>
              <a:t>Web Workers</a:t>
            </a:r>
            <a:r>
              <a:rPr altLang="zh-CN" sz="1600" dirty="0">
                <a:sym typeface="+mn-ea"/>
              </a:rPr>
              <a:t>也存在一些局限性，主要表现在：</a:t>
            </a:r>
            <a:endParaRPr lang="en-US" altLang="zh-CN" sz="1600" dirty="0"/>
          </a:p>
          <a:p>
            <a:pPr lvl="1"/>
            <a:r>
              <a:rPr altLang="zh-CN" sz="1600" dirty="0">
                <a:sym typeface="+mn-ea"/>
              </a:rPr>
              <a:t>不能跨域加载</a:t>
            </a:r>
            <a:r>
              <a:rPr lang="en-US" altLang="zh-CN" sz="1600" dirty="0">
                <a:sym typeface="+mn-ea"/>
              </a:rPr>
              <a:t>JavaScript</a:t>
            </a:r>
            <a:r>
              <a:rPr altLang="zh-CN" sz="1600" dirty="0">
                <a:sym typeface="+mn-ea"/>
              </a:rPr>
              <a:t>。</a:t>
            </a:r>
            <a:endParaRPr lang="en-US" altLang="zh-CN" sz="1600" dirty="0"/>
          </a:p>
          <a:p>
            <a:pPr lvl="1"/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Worker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内的代码不能访问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DOM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。</a:t>
            </a:r>
            <a:endParaRPr lang="en-US" altLang="zh-CN" sz="1600" dirty="0">
              <a:highlight>
                <a:srgbClr val="FFFF00"/>
              </a:highlight>
            </a:endParaRPr>
          </a:p>
          <a:p>
            <a:pPr lvl="1"/>
            <a:r>
              <a:rPr altLang="zh-CN" sz="1600" dirty="0">
                <a:sym typeface="+mn-ea"/>
              </a:rPr>
              <a:t>各个浏览器对</a:t>
            </a:r>
            <a:r>
              <a:rPr lang="en-US" altLang="zh-CN" sz="1600" dirty="0">
                <a:sym typeface="+mn-ea"/>
              </a:rPr>
              <a:t>Web Workers</a:t>
            </a:r>
            <a:r>
              <a:rPr altLang="zh-CN" sz="1600" dirty="0">
                <a:sym typeface="+mn-ea"/>
              </a:rPr>
              <a:t>的实现不完全一致。</a:t>
            </a:r>
            <a:endParaRPr lang="en-US" altLang="zh-CN" sz="1600" dirty="0"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 Worker</a:t>
            </a:r>
            <a:r>
              <a:t>的使用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None/>
            </a:pPr>
            <a:r>
              <a:rPr altLang="zh-CN" sz="1600" dirty="0">
                <a:sym typeface="+mn-ea"/>
              </a:rPr>
              <a:t>在线程调用的</a:t>
            </a:r>
            <a:r>
              <a:rPr lang="en-US" altLang="zh-CN" sz="1600" dirty="0">
                <a:sym typeface="+mn-ea"/>
              </a:rPr>
              <a:t>JavaScript</a:t>
            </a:r>
            <a:r>
              <a:rPr altLang="zh-CN" sz="1600" dirty="0">
                <a:sym typeface="+mn-ea"/>
              </a:rPr>
              <a:t>脚本文件中所有可用的变量、函数与类包括：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>
                <a:sym typeface="+mn-ea"/>
              </a:rPr>
              <a:t>self</a:t>
            </a:r>
            <a:r>
              <a:rPr altLang="zh-CN" sz="1600" dirty="0">
                <a:sym typeface="+mn-ea"/>
              </a:rPr>
              <a:t>：表示本线程范围内的作用域。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 err="1">
                <a:sym typeface="+mn-ea"/>
              </a:rPr>
              <a:t>postMessage</a:t>
            </a:r>
            <a:r>
              <a:rPr lang="en-US" altLang="zh-CN" sz="1600" dirty="0">
                <a:sym typeface="+mn-ea"/>
              </a:rPr>
              <a:t>(message)</a:t>
            </a:r>
            <a:r>
              <a:rPr altLang="zh-CN" sz="1600" dirty="0">
                <a:sym typeface="+mn-ea"/>
              </a:rPr>
              <a:t>：向创建线程的源窗口发送信息。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 err="1">
                <a:sym typeface="+mn-ea"/>
              </a:rPr>
              <a:t>onmessage</a:t>
            </a:r>
            <a:r>
              <a:rPr altLang="zh-CN" sz="1600" dirty="0">
                <a:sym typeface="+mn-ea"/>
              </a:rPr>
              <a:t>：获取接收消息的事件句柄。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 err="1">
                <a:sym typeface="+mn-ea"/>
              </a:rPr>
              <a:t>importScript</a:t>
            </a:r>
            <a:r>
              <a:rPr lang="en-US" altLang="zh-CN" sz="1600" dirty="0">
                <a:sym typeface="+mn-ea"/>
              </a:rPr>
              <a:t>(</a:t>
            </a:r>
            <a:r>
              <a:rPr lang="en-US" altLang="zh-CN" sz="1600" dirty="0" err="1">
                <a:sym typeface="+mn-ea"/>
              </a:rPr>
              <a:t>urls</a:t>
            </a:r>
            <a:r>
              <a:rPr lang="en-US" altLang="zh-CN" sz="1600" dirty="0">
                <a:sym typeface="+mn-ea"/>
              </a:rPr>
              <a:t>)</a:t>
            </a:r>
            <a:r>
              <a:rPr altLang="zh-CN" sz="1600" dirty="0">
                <a:sym typeface="+mn-ea"/>
              </a:rPr>
              <a:t>：导入其他的</a:t>
            </a:r>
            <a:r>
              <a:rPr lang="en-US" altLang="zh-CN" sz="1600" dirty="0">
                <a:sym typeface="+mn-ea"/>
              </a:rPr>
              <a:t>JavaScript</a:t>
            </a:r>
            <a:r>
              <a:rPr altLang="zh-CN" sz="1600" dirty="0">
                <a:sym typeface="+mn-ea"/>
              </a:rPr>
              <a:t>脚本文件。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>
                <a:sym typeface="+mn-ea"/>
              </a:rPr>
              <a:t>navigator</a:t>
            </a:r>
            <a:r>
              <a:rPr altLang="zh-CN" sz="1600" dirty="0">
                <a:sym typeface="+mn-ea"/>
              </a:rPr>
              <a:t>对象：与</a:t>
            </a:r>
            <a:r>
              <a:rPr lang="en-US" altLang="zh-CN" sz="1600" dirty="0" err="1">
                <a:sym typeface="+mn-ea"/>
              </a:rPr>
              <a:t>window.navigator</a:t>
            </a:r>
            <a:r>
              <a:rPr altLang="zh-CN" sz="1600" dirty="0">
                <a:sym typeface="+mn-ea"/>
              </a:rPr>
              <a:t>对象类似，可以用来标识浏览器的字符。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 err="1">
                <a:sym typeface="+mn-ea"/>
              </a:rPr>
              <a:t>sessionStorage</a:t>
            </a:r>
            <a:r>
              <a:rPr altLang="zh-CN" sz="1600" dirty="0">
                <a:sym typeface="+mn-ea"/>
              </a:rPr>
              <a:t>和</a:t>
            </a:r>
            <a:r>
              <a:rPr lang="en-US" altLang="zh-CN" sz="1600" dirty="0" err="1">
                <a:sym typeface="+mn-ea"/>
              </a:rPr>
              <a:t>localStorage</a:t>
            </a:r>
            <a:r>
              <a:rPr altLang="zh-CN" sz="1600" dirty="0">
                <a:sym typeface="+mn-ea"/>
              </a:rPr>
              <a:t>：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在线程中可以使用的</a:t>
            </a:r>
            <a:r>
              <a:rPr lang="en-US" altLang="zh-CN" sz="1600" dirty="0">
                <a:highlight>
                  <a:srgbClr val="FFFF00"/>
                </a:highlight>
                <a:sym typeface="+mn-ea"/>
              </a:rPr>
              <a:t>Web Storage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。</a:t>
            </a:r>
            <a:endParaRPr lang="en-US" altLang="zh-CN" sz="1600" dirty="0">
              <a:highlight>
                <a:srgbClr val="FFFF00"/>
              </a:highlight>
            </a:endParaRPr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 err="1">
                <a:sym typeface="+mn-ea"/>
              </a:rPr>
              <a:t>XMLHttpRequest</a:t>
            </a:r>
            <a:r>
              <a:rPr altLang="zh-CN" sz="1600" dirty="0">
                <a:sym typeface="+mn-ea"/>
              </a:rPr>
              <a:t>：在线程中可以处理</a:t>
            </a:r>
            <a:r>
              <a:rPr lang="en-US" altLang="zh-CN" sz="1600" dirty="0">
                <a:sym typeface="+mn-ea"/>
              </a:rPr>
              <a:t>Ajax</a:t>
            </a:r>
            <a:r>
              <a:rPr altLang="zh-CN" sz="1600" dirty="0">
                <a:sym typeface="+mn-ea"/>
              </a:rPr>
              <a:t>请求。</a:t>
            </a:r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>
                <a:sym typeface="+mn-ea"/>
              </a:rPr>
              <a:t>Web Workers</a:t>
            </a:r>
            <a:r>
              <a:rPr altLang="zh-CN" sz="1600" dirty="0">
                <a:sym typeface="+mn-ea"/>
              </a:rPr>
              <a:t>：</a:t>
            </a:r>
            <a:r>
              <a:rPr altLang="zh-CN" sz="1600" dirty="0">
                <a:highlight>
                  <a:srgbClr val="FFFF00"/>
                </a:highlight>
                <a:sym typeface="+mn-ea"/>
              </a:rPr>
              <a:t>在线程中可以嵌套线程。</a:t>
            </a:r>
            <a:endParaRPr lang="en-US" altLang="zh-CN" sz="1600" dirty="0">
              <a:highlight>
                <a:srgbClr val="FFFF00"/>
              </a:highlight>
            </a:endParaRPr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 err="1">
                <a:sym typeface="+mn-ea"/>
              </a:rPr>
              <a:t>setTimeout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、</a:t>
            </a:r>
            <a:r>
              <a:rPr lang="en-US" altLang="zh-CN" sz="1600" dirty="0" err="1">
                <a:sym typeface="+mn-ea"/>
              </a:rPr>
              <a:t>setInterval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、</a:t>
            </a:r>
            <a:r>
              <a:rPr lang="en-US" altLang="zh-CN" sz="1600" dirty="0" err="1">
                <a:sym typeface="+mn-ea"/>
              </a:rPr>
              <a:t>clearTimeout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和</a:t>
            </a:r>
            <a:r>
              <a:rPr lang="en-US" altLang="zh-CN" sz="1600" dirty="0" err="1">
                <a:sym typeface="+mn-ea"/>
              </a:rPr>
              <a:t>clearInterval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：在线程中可以实现定时处理。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>
                <a:sym typeface="+mn-ea"/>
              </a:rPr>
              <a:t>close</a:t>
            </a:r>
            <a:r>
              <a:rPr altLang="zh-CN" sz="1600" dirty="0">
                <a:sym typeface="+mn-ea"/>
              </a:rPr>
              <a:t>：结束本线程。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>
                <a:sym typeface="+mn-ea"/>
              </a:rPr>
              <a:t>eval()</a:t>
            </a:r>
            <a:r>
              <a:rPr altLang="zh-CN" sz="1600" dirty="0">
                <a:sym typeface="+mn-ea"/>
              </a:rPr>
              <a:t>、</a:t>
            </a:r>
            <a:r>
              <a:rPr lang="en-US" altLang="zh-CN" sz="1600" dirty="0" err="1">
                <a:sym typeface="+mn-ea"/>
              </a:rPr>
              <a:t>isNaN</a:t>
            </a:r>
            <a:r>
              <a:rPr lang="en-US" altLang="zh-CN" sz="1600" dirty="0">
                <a:sym typeface="+mn-ea"/>
              </a:rPr>
              <a:t>()</a:t>
            </a:r>
            <a:r>
              <a:rPr altLang="zh-CN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escape()</a:t>
            </a:r>
            <a:r>
              <a:rPr altLang="zh-CN" sz="1600" dirty="0">
                <a:sym typeface="+mn-ea"/>
              </a:rPr>
              <a:t>等：可以使用的所有</a:t>
            </a:r>
            <a:r>
              <a:rPr lang="en-US" altLang="zh-CN" sz="1600" dirty="0">
                <a:sym typeface="+mn-ea"/>
              </a:rPr>
              <a:t>JavaScript</a:t>
            </a:r>
            <a:r>
              <a:rPr altLang="zh-CN" sz="1600" dirty="0">
                <a:sym typeface="+mn-ea"/>
              </a:rPr>
              <a:t>核心函数。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>
                <a:sym typeface="+mn-ea"/>
              </a:rPr>
              <a:t>object</a:t>
            </a:r>
            <a:r>
              <a:rPr altLang="zh-CN" sz="1600" dirty="0">
                <a:sym typeface="+mn-ea"/>
              </a:rPr>
              <a:t>：可以使用本地对象。</a:t>
            </a:r>
            <a:endParaRPr lang="en-US" altLang="zh-CN" sz="1600" dirty="0"/>
          </a:p>
          <a:p>
            <a:pPr lvl="1" defTabSz="914400">
              <a:lnSpc>
                <a:spcPct val="100000"/>
              </a:lnSpc>
              <a:tabLst>
                <a:tab pos="1609725" algn="l"/>
                <a:tab pos="1609725" algn="l"/>
              </a:tabLst>
            </a:pPr>
            <a:r>
              <a:rPr lang="en-US" altLang="zh-CN" sz="1600" dirty="0" err="1">
                <a:sym typeface="+mn-ea"/>
              </a:rPr>
              <a:t>WebSockets</a:t>
            </a:r>
            <a:r>
              <a:rPr altLang="zh-CN" sz="1600" dirty="0">
                <a:sym typeface="+mn-ea"/>
              </a:rPr>
              <a:t>：可以使用</a:t>
            </a:r>
            <a:r>
              <a:rPr lang="en-US" altLang="zh-CN" sz="1600" dirty="0" err="1">
                <a:sym typeface="+mn-ea"/>
              </a:rPr>
              <a:t>WebSockets</a:t>
            </a:r>
            <a:r>
              <a:rPr lang="en-US" altLang="zh-CN" sz="1600" dirty="0">
                <a:sym typeface="+mn-ea"/>
              </a:rPr>
              <a:t> API</a:t>
            </a:r>
            <a:r>
              <a:rPr altLang="zh-CN" sz="1600" dirty="0">
                <a:sym typeface="+mn-ea"/>
              </a:rPr>
              <a:t>向服务器发送消息和从服务器接收消息。</a:t>
            </a:r>
            <a:endParaRPr lang="zh-CN" altLang="zh-CN" sz="1600" dirty="0"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Web Worker</a:t>
            </a:r>
            <a:r>
              <a:rPr lang="zh-CN" altLang="en-US" dirty="0"/>
              <a:t>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76401"/>
            <a:ext cx="8509000" cy="76199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400" dirty="0">
                <a:solidFill>
                  <a:schemeClr val="tx1"/>
                </a:solidFill>
              </a:rPr>
              <a:t>HTML5 Web Worker </a:t>
            </a:r>
            <a:r>
              <a:rPr lang="zh-CN" altLang="en-US" sz="1400" dirty="0">
                <a:solidFill>
                  <a:schemeClr val="tx1"/>
                </a:solidFill>
              </a:rPr>
              <a:t>多线程实现每隔</a:t>
            </a:r>
            <a:r>
              <a:rPr lang="en-US" altLang="zh-CN" sz="1400" dirty="0">
                <a:solidFill>
                  <a:schemeClr val="tx1"/>
                </a:solidFill>
              </a:rPr>
              <a:t>1s </a:t>
            </a:r>
            <a:r>
              <a:rPr lang="zh-CN" altLang="en-US" sz="1400" dirty="0">
                <a:solidFill>
                  <a:schemeClr val="tx1"/>
                </a:solidFill>
              </a:rPr>
              <a:t>随机产生</a:t>
            </a:r>
            <a:r>
              <a:rPr lang="en-US" altLang="zh-CN" sz="1400" dirty="0">
                <a:solidFill>
                  <a:schemeClr val="tx1"/>
                </a:solidFill>
              </a:rPr>
              <a:t>1 </a:t>
            </a:r>
            <a:r>
              <a:rPr lang="zh-CN" altLang="en-US" sz="1400" dirty="0">
                <a:solidFill>
                  <a:schemeClr val="tx1"/>
                </a:solidFill>
              </a:rPr>
              <a:t>组</a:t>
            </a:r>
            <a:r>
              <a:rPr lang="en-US" altLang="zh-CN" sz="1400" dirty="0">
                <a:solidFill>
                  <a:schemeClr val="tx1"/>
                </a:solidFill>
              </a:rPr>
              <a:t>10 </a:t>
            </a:r>
            <a:r>
              <a:rPr lang="zh-CN" altLang="en-US" sz="1400" dirty="0">
                <a:solidFill>
                  <a:schemeClr val="tx1"/>
                </a:solidFill>
              </a:rPr>
              <a:t>个</a:t>
            </a:r>
            <a:r>
              <a:rPr lang="en-US" altLang="zh-CN" sz="1400" dirty="0">
                <a:solidFill>
                  <a:schemeClr val="tx1"/>
                </a:solidFill>
              </a:rPr>
              <a:t>100 </a:t>
            </a:r>
            <a:r>
              <a:rPr lang="zh-CN" altLang="en-US" sz="1400" dirty="0">
                <a:solidFill>
                  <a:schemeClr val="tx1"/>
                </a:solidFill>
              </a:rPr>
              <a:t>以内的两位整数（代码必须运行在服务器上）。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514600"/>
            <a:ext cx="2524125" cy="1487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4038600"/>
            <a:ext cx="2481263" cy="1462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3429000" y="2514600"/>
            <a:ext cx="5638800" cy="2891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/*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myWorker.js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每隔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秒随机产生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个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10-99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之间的整数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*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tenIntger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=new Array();//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定义保存随机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位整数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function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createTenIntger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(){//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产生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个随机整数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for (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j=0;j&lt;10;j++)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循环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次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{  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利用数学函数随机产生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10~99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之间的整数，并存入数组中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tenIntger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[j]=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Math.floor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Math.random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()*90+10);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postMessage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tenIntger.sort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());//</a:t>
            </a:r>
            <a:r>
              <a:rPr lang="zh-CN" altLang="en-US" sz="1400" b="0" dirty="0">
                <a:highlight>
                  <a:srgbClr val="FFFF00"/>
                </a:highlight>
                <a:latin typeface="Verdana" panose="020B0604030504040204" pitchFamily="34" charset="0"/>
                <a:cs typeface="Verdana" panose="020B0604030504040204" pitchFamily="34" charset="0"/>
              </a:rPr>
              <a:t>数组元素排序后传递给主线程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setTimeout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(“</a:t>
            </a:r>
            <a:r>
              <a:rPr lang="en-US" altLang="zh-CN" sz="14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createTenIntger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()”,1000); //</a:t>
            </a:r>
            <a:r>
              <a:rPr lang="zh-CN" altLang="en-US" sz="1400" b="0" dirty="0">
                <a:highlight>
                  <a:srgbClr val="FFFF00"/>
                </a:highlight>
                <a:latin typeface="Verdana" panose="020B0604030504040204" pitchFamily="34" charset="0"/>
                <a:cs typeface="Verdana" panose="020B0604030504040204" pitchFamily="34" charset="0"/>
              </a:rPr>
              <a:t>每隔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zh-CN" altLang="en-US" sz="1400" b="0" dirty="0">
                <a:highlight>
                  <a:srgbClr val="FFFF00"/>
                </a:highlight>
                <a:latin typeface="Verdana" panose="020B0604030504040204" pitchFamily="34" charset="0"/>
                <a:cs typeface="Verdana" panose="020B0604030504040204" pitchFamily="34" charset="0"/>
              </a:rPr>
              <a:t>秒产生</a:t>
            </a:r>
            <a:r>
              <a:rPr lang="en-US" altLang="zh-CN" sz="14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zh-CN" altLang="en-US" sz="1400" b="0" dirty="0">
                <a:highlight>
                  <a:srgbClr val="FFFF00"/>
                </a:highlight>
                <a:latin typeface="Verdana" panose="020B0604030504040204" pitchFamily="34" charset="0"/>
                <a:cs typeface="Verdana" panose="020B0604030504040204" pitchFamily="34" charset="0"/>
              </a:rPr>
              <a:t>次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createTenIntger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();//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调用方法</a:t>
            </a:r>
            <a:r>
              <a:rPr lang="en-US" altLang="zh-CN" sz="1400" b="0" dirty="0">
                <a:latin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自动运行</a:t>
            </a:r>
            <a:endParaRPr lang="zh-CN" altLang="en-US" sz="1200" b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HTML5 Web Worker</a:t>
            </a:r>
            <a:r>
              <a:rPr lang="zh-CN" altLang="en-US" dirty="0"/>
              <a:t>案例代码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1314450"/>
            <a:ext cx="8534400" cy="474345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cs typeface="Arial" panose="020B0604020202020204" pitchFamily="34" charset="0"/>
              </a:rPr>
              <a:t>&lt;script&gt;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cs typeface="Arial" panose="020B0604020202020204" pitchFamily="34" charset="0"/>
              </a:rPr>
              <a:t>  var</a:t>
            </a:r>
            <a:r>
              <a:rPr lang="en-US" altLang="zh-CN" sz="1400" dirty="0">
                <a:cs typeface="Arial" panose="020B0604020202020204" pitchFamily="34" charset="0"/>
              </a:rPr>
              <a:t> worker;//</a:t>
            </a:r>
            <a:r>
              <a:rPr lang="zh-CN" altLang="en-US" sz="1400" dirty="0">
                <a:cs typeface="Arial" panose="020B0604020202020204" pitchFamily="34" charset="0"/>
              </a:rPr>
              <a:t>定义全局变量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cs typeface="Arial" panose="020B0604020202020204" pitchFamily="34" charset="0"/>
              </a:rPr>
              <a:t>  function $(id){return document.getElementById(id);}//</a:t>
            </a:r>
            <a:r>
              <a:rPr lang="zh-CN" altLang="en-US" sz="1400" dirty="0">
                <a:cs typeface="Arial" panose="020B0604020202020204" pitchFamily="34" charset="0"/>
              </a:rPr>
              <a:t>通过</a:t>
            </a:r>
            <a:r>
              <a:rPr lang="en-US" altLang="zh-CN" sz="1400" dirty="0">
                <a:cs typeface="Arial" panose="020B0604020202020204" pitchFamily="34" charset="0"/>
              </a:rPr>
              <a:t>id</a:t>
            </a:r>
            <a:r>
              <a:rPr lang="zh-CN" altLang="en-US" sz="1400" dirty="0">
                <a:cs typeface="Arial" panose="020B0604020202020204" pitchFamily="34" charset="0"/>
              </a:rPr>
              <a:t>获取对象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cs typeface="Arial" panose="020B0604020202020204" pitchFamily="34" charset="0"/>
              </a:rPr>
              <a:t>  function startMyWorker(){ //</a:t>
            </a:r>
            <a:r>
              <a:rPr lang="zh-CN" altLang="en-US" sz="1400" dirty="0">
                <a:cs typeface="Arial" panose="020B0604020202020204" pitchFamily="34" charset="0"/>
              </a:rPr>
              <a:t>启动我的</a:t>
            </a:r>
            <a:r>
              <a:rPr lang="en-US" altLang="zh-CN" sz="1400" dirty="0">
                <a:cs typeface="Arial" panose="020B0604020202020204" pitchFamily="34" charset="0"/>
              </a:rPr>
              <a:t>worker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cs typeface="Arial" panose="020B0604020202020204" pitchFamily="34" charset="0"/>
              </a:rPr>
              <a:t>    if(</a:t>
            </a:r>
            <a:r>
              <a:rPr lang="en-US" altLang="zh-CN" sz="1400" dirty="0" err="1">
                <a:cs typeface="Arial" panose="020B0604020202020204" pitchFamily="34" charset="0"/>
              </a:rPr>
              <a:t>typeof</a:t>
            </a:r>
            <a:r>
              <a:rPr lang="en-US" altLang="zh-CN" sz="1400" dirty="0">
                <a:cs typeface="Arial" panose="020B0604020202020204" pitchFamily="34" charset="0"/>
              </a:rPr>
              <a:t>(Worker)!=="undefined")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{  </a:t>
            </a:r>
            <a:r>
              <a:rPr lang="en-US" altLang="zh-CN" sz="1400" dirty="0">
                <a:cs typeface="Arial" panose="020B0604020202020204" pitchFamily="34" charset="0"/>
              </a:rPr>
              <a:t>//</a:t>
            </a:r>
            <a:r>
              <a:rPr lang="zh-CN" altLang="en-US" sz="1400" dirty="0">
                <a:cs typeface="Arial" panose="020B0604020202020204" pitchFamily="34" charset="0"/>
              </a:rPr>
              <a:t>判断浏览器是否支持</a:t>
            </a:r>
            <a:r>
              <a:rPr lang="en-US" altLang="zh-CN" sz="1400" dirty="0">
                <a:cs typeface="Arial" panose="020B0604020202020204" pitchFamily="34" charset="0"/>
              </a:rPr>
              <a:t>Web Worker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  if(</a:t>
            </a:r>
            <a:r>
              <a:rPr lang="en-US" altLang="zh-CN" sz="1400" dirty="0" err="1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typeof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(worker)=="undefined"){ //</a:t>
            </a:r>
            <a:r>
              <a:rPr sz="1400" dirty="0">
                <a:cs typeface="Arial" panose="020B0604020202020204" pitchFamily="34" charset="0"/>
                <a:sym typeface="+mn-ea"/>
              </a:rPr>
              <a:t>判断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worker</a:t>
            </a:r>
            <a:r>
              <a:rPr sz="1400" dirty="0">
                <a:cs typeface="Arial" panose="020B0604020202020204" pitchFamily="34" charset="0"/>
                <a:sym typeface="+mn-ea"/>
              </a:rPr>
              <a:t>是否存在</a:t>
            </a:r>
            <a:endParaRPr lang="zh-CN" altLang="en-US" sz="1400" b="0" dirty="0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highlight>
                  <a:srgbClr val="FFFF00"/>
                </a:highlight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    worker=new Worker("myWorker.js");//</a:t>
            </a:r>
            <a:r>
              <a:rPr sz="1400" dirty="0">
                <a:highlight>
                  <a:srgbClr val="FFFF00"/>
                </a:highlight>
                <a:cs typeface="Arial" panose="020B0604020202020204" pitchFamily="34" charset="0"/>
                <a:sym typeface="+mn-ea"/>
              </a:rPr>
              <a:t>不存在则创建</a:t>
            </a:r>
            <a:r>
              <a:rPr lang="en-US" altLang="zh-CN" sz="1400" dirty="0">
                <a:highlight>
                  <a:srgbClr val="FFFF00"/>
                </a:highlight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Worker</a:t>
            </a:r>
            <a:r>
              <a:rPr sz="1400" dirty="0">
                <a:highlight>
                  <a:srgbClr val="FFFF00"/>
                </a:highlight>
                <a:cs typeface="Arial" panose="020B0604020202020204" pitchFamily="34" charset="0"/>
                <a:sym typeface="+mn-ea"/>
              </a:rPr>
              <a:t>对象</a:t>
            </a:r>
            <a:endParaRPr lang="zh-CN" altLang="en-US" sz="1400" b="0" dirty="0">
              <a:highlight>
                <a:srgbClr val="FFFF00"/>
              </a:highlight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  }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  </a:t>
            </a:r>
            <a:r>
              <a:rPr lang="en-US" altLang="zh-CN" sz="1400" dirty="0" err="1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worker.onmessage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= function (event) {//</a:t>
            </a:r>
            <a:r>
              <a:rPr sz="1400" dirty="0">
                <a:cs typeface="Arial" panose="020B0604020202020204" pitchFamily="34" charset="0"/>
                <a:sym typeface="+mn-ea"/>
              </a:rPr>
              <a:t>捕获传递的消息</a:t>
            </a:r>
            <a:endParaRPr lang="zh-CN" altLang="en-US" sz="1400" b="0" dirty="0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    $("result").</a:t>
            </a:r>
            <a:r>
              <a:rPr lang="en-US" altLang="zh-CN" sz="1400" dirty="0" err="1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innerHTML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=</a:t>
            </a:r>
            <a:r>
              <a:rPr lang="en-US" altLang="zh-CN" sz="1400" dirty="0" err="1">
                <a:highlight>
                  <a:srgbClr val="FFFF00"/>
                </a:highlight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event.data</a:t>
            </a:r>
            <a:r>
              <a:rPr lang="en-US" altLang="zh-CN" sz="1400" dirty="0">
                <a:highlight>
                  <a:srgbClr val="FFFF00"/>
                </a:highlight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;//</a:t>
            </a:r>
            <a:r>
              <a:rPr sz="1400" dirty="0">
                <a:cs typeface="Arial" panose="020B0604020202020204" pitchFamily="34" charset="0"/>
                <a:sym typeface="+mn-ea"/>
              </a:rPr>
              <a:t>显示在指定的标记内</a:t>
            </a:r>
            <a:endParaRPr lang="zh-CN" altLang="en-US" sz="1400" b="0" dirty="0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  }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}else{//</a:t>
            </a:r>
            <a:r>
              <a:rPr sz="1400" dirty="0">
                <a:cs typeface="Arial" panose="020B0604020202020204" pitchFamily="34" charset="0"/>
                <a:sym typeface="+mn-ea"/>
              </a:rPr>
              <a:t>浏览器不支持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Web Worker  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  $("result").</a:t>
            </a:r>
            <a:r>
              <a:rPr lang="en-US" altLang="zh-CN" sz="1400" dirty="0" err="1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innerHTML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="</a:t>
            </a:r>
            <a:r>
              <a:rPr sz="1400" dirty="0">
                <a:cs typeface="Arial" panose="020B0604020202020204" pitchFamily="34" charset="0"/>
                <a:sym typeface="+mn-ea"/>
              </a:rPr>
              <a:t>对不起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,</a:t>
            </a:r>
            <a:r>
              <a:rPr sz="1400" dirty="0">
                <a:cs typeface="Arial" panose="020B0604020202020204" pitchFamily="34" charset="0"/>
                <a:sym typeface="+mn-ea"/>
              </a:rPr>
              <a:t>您的浏览器不支持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Web Worker...";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cs typeface="Arial" panose="020B0604020202020204" pitchFamily="34" charset="0"/>
                <a:sym typeface="+mn-ea"/>
              </a:rPr>
              <a:t>    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}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function </a:t>
            </a:r>
            <a:r>
              <a:rPr lang="en-US" altLang="zh-CN" sz="1400" dirty="0" err="1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stopMyWorker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(){ 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zh-CN" sz="1400" dirty="0" err="1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worker.terminate</a:t>
            </a: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();//</a:t>
            </a:r>
            <a:r>
              <a:rPr sz="1400" dirty="0">
                <a:cs typeface="Arial" panose="020B0604020202020204" pitchFamily="34" charset="0"/>
                <a:sym typeface="+mn-ea"/>
              </a:rPr>
              <a:t>终止线程</a:t>
            </a:r>
            <a:endParaRPr lang="zh-CN" altLang="en-US" sz="1400" b="0" dirty="0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&lt;/script&gt;</a:t>
            </a: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0" dirty="0"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48437" y="1745623"/>
            <a:ext cx="8139178" cy="4270375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800" dirty="0"/>
              <a:t>HTML5</a:t>
            </a:r>
            <a:r>
              <a:rPr lang="zh-CN" altLang="en-US" sz="1800" dirty="0"/>
              <a:t>中新增加了地理位置应用程序的接口，即</a:t>
            </a:r>
            <a:r>
              <a:rPr lang="en-US" altLang="zh-CN" sz="1800" dirty="0"/>
              <a:t>Geolocation API</a:t>
            </a:r>
            <a:r>
              <a:rPr lang="zh-CN" altLang="en-US" sz="1800" dirty="0"/>
              <a:t>，它提供了可以准确感知浏览器用户当前位置的方法。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800" dirty="0"/>
              <a:t>如果浏览器支持</a:t>
            </a:r>
            <a:r>
              <a:rPr lang="en-US" altLang="zh-CN" sz="1800" dirty="0"/>
              <a:t>Geolocation API</a:t>
            </a:r>
            <a:r>
              <a:rPr lang="zh-CN" altLang="en-US" sz="1800" dirty="0"/>
              <a:t>，并且设备具有定位功能，就可以直接获取当前的位置信息。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800" dirty="0"/>
              <a:t>Geolocation API</a:t>
            </a:r>
            <a:r>
              <a:rPr lang="zh-CN" altLang="en-US" sz="1800" dirty="0"/>
              <a:t>一般用于移动设备的地理定位，并可借助于地理定位信息开发相关的</a:t>
            </a:r>
            <a:r>
              <a:rPr lang="en-US" altLang="zh-CN" sz="1800" dirty="0"/>
              <a:t>Web</a:t>
            </a:r>
            <a:r>
              <a:rPr lang="zh-CN" altLang="en-US" sz="1800" dirty="0"/>
              <a:t>应用程序。 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800" dirty="0">
                <a:sym typeface="+mn-ea"/>
              </a:rPr>
              <a:t>除了纬度和经度之外，还可以获取海拔、精确度、方向、速度、时间戳等地理位置信息。 </a:t>
            </a:r>
            <a:endParaRPr lang="zh-CN" altLang="en-US" sz="18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800" dirty="0">
                <a:sym typeface="+mn-ea"/>
              </a:rPr>
              <a:t>HTML5</a:t>
            </a:r>
            <a:r>
              <a:rPr sz="1800" dirty="0">
                <a:sym typeface="+mn-ea"/>
              </a:rPr>
              <a:t>的</a:t>
            </a:r>
            <a:r>
              <a:rPr lang="en-US" altLang="zh-CN" sz="1800" dirty="0">
                <a:sym typeface="+mn-ea"/>
              </a:rPr>
              <a:t>Geolocation API</a:t>
            </a:r>
            <a:r>
              <a:rPr sz="1800" dirty="0">
                <a:sym typeface="+mn-ea"/>
              </a:rPr>
              <a:t>不指定哪种底层技术来实现用户的定位，位置信息的来源包括</a:t>
            </a:r>
            <a:r>
              <a:rPr lang="en-US" altLang="zh-CN" sz="1800" dirty="0">
                <a:sym typeface="+mn-ea"/>
              </a:rPr>
              <a:t>IP</a:t>
            </a:r>
            <a:r>
              <a:rPr sz="1800" dirty="0">
                <a:sym typeface="+mn-ea"/>
              </a:rPr>
              <a:t>定位、</a:t>
            </a:r>
            <a:r>
              <a:rPr lang="en-US" altLang="zh-CN" sz="1800" dirty="0">
                <a:sym typeface="+mn-ea"/>
              </a:rPr>
              <a:t>GPS</a:t>
            </a:r>
            <a:r>
              <a:rPr sz="1800" dirty="0">
                <a:sym typeface="+mn-ea"/>
              </a:rPr>
              <a:t>定位、</a:t>
            </a:r>
            <a:r>
              <a:rPr lang="en-US" altLang="zh-CN" sz="1800" dirty="0">
                <a:sym typeface="+mn-ea"/>
              </a:rPr>
              <a:t>Wi-Fi</a:t>
            </a:r>
            <a:r>
              <a:rPr sz="1800" dirty="0">
                <a:sym typeface="+mn-ea"/>
              </a:rPr>
              <a:t>定位、手机定位、自定义定位等。</a:t>
            </a:r>
            <a:endParaRPr lang="zh-CN" altLang="en-US" sz="18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Geolocation API</a:t>
            </a:r>
            <a:endParaRPr lang="zh-CN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213</a:t>
            </a:fld>
            <a:endParaRPr lang="zh-CN" altLang="en-US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183007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800" dirty="0">
                <a:sym typeface="+mn-ea"/>
              </a:rPr>
              <a:t>浏览器基本都已支持</a:t>
            </a:r>
            <a:endParaRPr lang="en-US" altLang="zh-CN" sz="18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800" dirty="0"/>
              <a:t>Geolocation API</a:t>
            </a:r>
            <a:r>
              <a:rPr lang="zh-CN" altLang="en-US" sz="1800" dirty="0"/>
              <a:t>用于将用户当前的地理位置信息共享给信任的站点，这涉及到用户的隐私安全问题，所以当一个站点需要获取用户的当前地理位置信息时，浏览器会提示用户“允许”或者“拒绝”。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权限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214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41730" y="3249930"/>
            <a:ext cx="576389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&lt;script type="text/javascript"&gt;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function check(){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if(navigator.geolocation){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    alert("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你的浏览器支持获取地理位置信息！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");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}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else{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    alert("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你的浏览器不支持获取地理位置信息！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");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}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}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&lt;/script&gt; 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Geolocation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506730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Geolocation</a:t>
            </a:r>
            <a:r>
              <a:rPr lang="zh-CN" altLang="en-US" sz="1400" dirty="0"/>
              <a:t>位于</a:t>
            </a:r>
            <a:r>
              <a:rPr lang="en-US" altLang="zh-CN" sz="1400" dirty="0"/>
              <a:t>navigator</a:t>
            </a:r>
            <a:r>
              <a:rPr lang="zh-CN" altLang="en-US" sz="1400" dirty="0"/>
              <a:t>对象之中，包括获取当前地理位置的</a:t>
            </a:r>
            <a:r>
              <a:rPr lang="en-US" altLang="zh-CN" sz="1400" dirty="0" err="1">
                <a:highlight>
                  <a:srgbClr val="FFFF00"/>
                </a:highlight>
              </a:rPr>
              <a:t>getCurrentPostion</a:t>
            </a:r>
            <a:r>
              <a:rPr lang="en-US" altLang="zh-CN" sz="1400" dirty="0">
                <a:highlight>
                  <a:srgbClr val="FFFF00"/>
                </a:highlight>
              </a:rPr>
              <a:t>()</a:t>
            </a:r>
            <a:r>
              <a:rPr lang="zh-CN" altLang="en-US" sz="1400" dirty="0">
                <a:highlight>
                  <a:srgbClr val="FFFF00"/>
                </a:highlight>
              </a:rPr>
              <a:t>方法、监视位置的</a:t>
            </a:r>
            <a:r>
              <a:rPr lang="en-US" altLang="zh-CN" sz="1400" dirty="0" err="1">
                <a:highlight>
                  <a:srgbClr val="FFFF00"/>
                </a:highlight>
              </a:rPr>
              <a:t>watchPosition</a:t>
            </a:r>
            <a:r>
              <a:rPr lang="en-US" altLang="zh-CN" sz="1400" dirty="0">
                <a:highlight>
                  <a:srgbClr val="FFFF00"/>
                </a:highlight>
              </a:rPr>
              <a:t>()</a:t>
            </a:r>
            <a:r>
              <a:rPr lang="zh-CN" altLang="en-US" sz="1400" dirty="0">
                <a:highlight>
                  <a:srgbClr val="FFFF00"/>
                </a:highlight>
              </a:rPr>
              <a:t>方法、停止获取位置的</a:t>
            </a:r>
            <a:r>
              <a:rPr lang="en-US" altLang="zh-CN" sz="1400" dirty="0" err="1">
                <a:highlight>
                  <a:srgbClr val="FFFF00"/>
                </a:highlight>
              </a:rPr>
              <a:t>clearWatch</a:t>
            </a:r>
            <a:r>
              <a:rPr lang="en-US" altLang="zh-CN" sz="1400" dirty="0">
                <a:highlight>
                  <a:srgbClr val="FFFF00"/>
                </a:highlight>
              </a:rPr>
              <a:t>()</a:t>
            </a:r>
            <a:r>
              <a:rPr lang="zh-CN" altLang="en-US" sz="1400" dirty="0">
                <a:highlight>
                  <a:srgbClr val="FFFF00"/>
                </a:highlight>
              </a:rPr>
              <a:t>方法。 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void </a:t>
            </a:r>
            <a:r>
              <a:rPr lang="en-US" altLang="zh-CN" sz="1400" dirty="0" err="1">
                <a:sym typeface="+mn-ea"/>
              </a:rPr>
              <a:t>getCurrentPosition</a:t>
            </a:r>
            <a:r>
              <a:rPr lang="en-US" altLang="zh-CN" sz="1400" dirty="0">
                <a:sym typeface="+mn-ea"/>
              </a:rPr>
              <a:t>(</a:t>
            </a:r>
            <a:r>
              <a:rPr lang="en-US" altLang="zh-CN" sz="1400" dirty="0" err="1">
                <a:sym typeface="+mn-ea"/>
              </a:rPr>
              <a:t>onSuccess</a:t>
            </a:r>
            <a:r>
              <a:rPr lang="en-US" altLang="zh-CN" sz="1400" dirty="0">
                <a:sym typeface="+mn-ea"/>
              </a:rPr>
              <a:t>[, </a:t>
            </a:r>
            <a:r>
              <a:rPr lang="en-US" altLang="zh-CN" sz="1400" dirty="0" err="1">
                <a:sym typeface="+mn-ea"/>
              </a:rPr>
              <a:t>onError</a:t>
            </a:r>
            <a:r>
              <a:rPr lang="en-US" altLang="zh-CN" sz="1400" dirty="0">
                <a:sym typeface="+mn-ea"/>
              </a:rPr>
              <a:t>[, options]]); </a:t>
            </a:r>
            <a:endParaRPr lang="en-US" altLang="zh-CN" sz="1400" dirty="0"/>
          </a:p>
          <a:p>
            <a:pPr marL="457200" lvl="1" defTabSz="914400">
              <a:lnSpc>
                <a:spcPct val="100000"/>
              </a:lnSpc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sz="1400" dirty="0">
                <a:sym typeface="+mn-ea"/>
              </a:rPr>
              <a:t>第一个参数</a:t>
            </a:r>
            <a:r>
              <a:rPr lang="en-US" altLang="zh-CN" sz="1400" dirty="0" err="1">
                <a:sym typeface="+mn-ea"/>
              </a:rPr>
              <a:t>onSuccess</a:t>
            </a:r>
            <a:r>
              <a:rPr sz="1400" dirty="0">
                <a:sym typeface="+mn-ea"/>
              </a:rPr>
              <a:t>是成功获取位置信息时执行的回调函数；</a:t>
            </a:r>
            <a:endParaRPr lang="zh-CN" altLang="en-US" sz="1400" dirty="0"/>
          </a:p>
          <a:p>
            <a:pPr marL="457200" lvl="1" defTabSz="914400">
              <a:lnSpc>
                <a:spcPct val="100000"/>
              </a:lnSpc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sz="1400" dirty="0">
                <a:sym typeface="+mn-ea"/>
              </a:rPr>
              <a:t>第二个参数</a:t>
            </a:r>
            <a:r>
              <a:rPr lang="en-US" altLang="zh-CN" sz="1400" dirty="0" err="1">
                <a:sym typeface="+mn-ea"/>
              </a:rPr>
              <a:t>onError</a:t>
            </a:r>
            <a:r>
              <a:rPr sz="1400" dirty="0">
                <a:sym typeface="+mn-ea"/>
              </a:rPr>
              <a:t>是获取位置信息出错时执行的回调函数；</a:t>
            </a:r>
            <a:endParaRPr lang="zh-CN" altLang="en-US" sz="1400" dirty="0"/>
          </a:p>
          <a:p>
            <a:pPr marL="457200" lvl="1" defTabSz="914400">
              <a:lnSpc>
                <a:spcPct val="100000"/>
              </a:lnSpc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sz="1400" dirty="0">
                <a:sym typeface="+mn-ea"/>
              </a:rPr>
              <a:t>第三个参数</a:t>
            </a:r>
            <a:r>
              <a:rPr lang="en-US" altLang="zh-CN" sz="1400" dirty="0">
                <a:sym typeface="+mn-ea"/>
              </a:rPr>
              <a:t>options</a:t>
            </a:r>
            <a:r>
              <a:rPr sz="1400" dirty="0">
                <a:sym typeface="+mn-ea"/>
              </a:rPr>
              <a:t>是配置项，是一些可选参数的列表。</a:t>
            </a:r>
            <a:endParaRPr lang="zh-CN" altLang="en-US" sz="1400" dirty="0"/>
          </a:p>
          <a:p>
            <a:pPr marL="457200" lvl="1" defTabSz="914400">
              <a:lnSpc>
                <a:spcPct val="100000"/>
              </a:lnSpc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sz="1400" dirty="0">
                <a:sym typeface="+mn-ea"/>
              </a:rPr>
              <a:t>第二个参数和第三个参数是可选的。 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ym typeface="+mn-ea"/>
              </a:rPr>
              <a:t>navigator.geolocation.getCurrentPosition</a:t>
            </a:r>
            <a:r>
              <a:rPr lang="en-US" altLang="zh-CN" sz="1400" dirty="0">
                <a:sym typeface="+mn-ea"/>
              </a:rPr>
              <a:t>(function(position){ });</a:t>
            </a:r>
            <a:endParaRPr lang="en-US" altLang="zh-CN" sz="1400" dirty="0"/>
          </a:p>
          <a:p>
            <a:pPr marL="457200" lvl="1" defTabSz="914400">
              <a:lnSpc>
                <a:spcPct val="100000"/>
              </a:lnSpc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sz="1400" dirty="0">
                <a:sym typeface="+mn-ea"/>
              </a:rPr>
              <a:t>处理函数中的</a:t>
            </a:r>
            <a:r>
              <a:rPr lang="en-US" altLang="zh-CN" sz="1400" dirty="0">
                <a:sym typeface="+mn-ea"/>
              </a:rPr>
              <a:t>position</a:t>
            </a:r>
            <a:r>
              <a:rPr sz="1400" dirty="0">
                <a:sym typeface="+mn-ea"/>
              </a:rPr>
              <a:t>对象包含了用户的地理位置信息，该对象的</a:t>
            </a:r>
            <a:r>
              <a:rPr lang="en-US" altLang="zh-CN" sz="1400" dirty="0" err="1">
                <a:sym typeface="+mn-ea"/>
              </a:rPr>
              <a:t>coords</a:t>
            </a:r>
            <a:r>
              <a:rPr sz="1400" dirty="0">
                <a:sym typeface="+mn-ea"/>
              </a:rPr>
              <a:t>子对象包含了用户所在的纬度和经度信息。</a:t>
            </a:r>
            <a:endParaRPr lang="zh-CN" altLang="en-US" sz="1400" dirty="0"/>
          </a:p>
          <a:p>
            <a:pPr marL="457200" lvl="1" defTabSz="914400">
              <a:lnSpc>
                <a:spcPct val="100000"/>
              </a:lnSpc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lang="en-US" altLang="zh-CN" sz="1400" dirty="0" err="1">
                <a:highlight>
                  <a:srgbClr val="FFFF00"/>
                </a:highlight>
                <a:sym typeface="+mn-ea"/>
              </a:rPr>
              <a:t>position.coords.latitude</a:t>
            </a:r>
            <a:r>
              <a:rPr sz="1400" dirty="0">
                <a:highlight>
                  <a:srgbClr val="FFFF00"/>
                </a:highlight>
                <a:sym typeface="+mn-ea"/>
              </a:rPr>
              <a:t>表示纬度；</a:t>
            </a:r>
            <a:endParaRPr lang="zh-CN" altLang="en-US" sz="1400" dirty="0">
              <a:highlight>
                <a:srgbClr val="FFFF00"/>
              </a:highlight>
            </a:endParaRPr>
          </a:p>
          <a:p>
            <a:pPr marL="457200" lvl="1" defTabSz="914400">
              <a:lnSpc>
                <a:spcPct val="100000"/>
              </a:lnSpc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lang="en-US" altLang="zh-CN" sz="1400" dirty="0" err="1">
                <a:highlight>
                  <a:srgbClr val="FFFF00"/>
                </a:highlight>
                <a:sym typeface="+mn-ea"/>
              </a:rPr>
              <a:t>position.coords.longitude</a:t>
            </a:r>
            <a:r>
              <a:rPr sz="1400" dirty="0">
                <a:highlight>
                  <a:srgbClr val="FFFF00"/>
                </a:highlight>
                <a:sym typeface="+mn-ea"/>
              </a:rPr>
              <a:t>表示经度；</a:t>
            </a:r>
            <a:endParaRPr lang="zh-CN" altLang="en-US" sz="14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latitude</a:t>
            </a:r>
            <a:r>
              <a:rPr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longitude</a:t>
            </a:r>
            <a:r>
              <a:rPr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altitude</a:t>
            </a:r>
            <a:r>
              <a:rPr sz="1400" dirty="0">
                <a:sym typeface="+mn-ea"/>
              </a:rPr>
              <a:t>：当前地理位置的纬度、经度和海拔高度。</a:t>
            </a:r>
            <a:endParaRPr lang="zh-CN" altLang="en-US" sz="14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accuracy</a:t>
            </a:r>
            <a:r>
              <a:rPr sz="1400" dirty="0">
                <a:sym typeface="+mn-ea"/>
              </a:rPr>
              <a:t>：获取到的经度和纬度的精度，单位为米。</a:t>
            </a:r>
            <a:endParaRPr lang="zh-CN" altLang="en-US" sz="14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ym typeface="+mn-ea"/>
              </a:rPr>
              <a:t>altitudeAccurancy</a:t>
            </a:r>
            <a:r>
              <a:rPr sz="1400" dirty="0">
                <a:sym typeface="+mn-ea"/>
              </a:rPr>
              <a:t>：获取到的海拔高度的精度，单位为米。</a:t>
            </a:r>
            <a:endParaRPr lang="zh-CN" altLang="en-US" sz="14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heading</a:t>
            </a:r>
            <a:r>
              <a:rPr sz="1400" dirty="0">
                <a:sym typeface="+mn-ea"/>
              </a:rPr>
              <a:t>：设备的前进方向，用面朝正北方向的顺时针旋转角度表示。</a:t>
            </a:r>
            <a:endParaRPr lang="zh-CN" altLang="en-US" sz="14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speed</a:t>
            </a:r>
            <a:r>
              <a:rPr sz="1400" dirty="0">
                <a:sym typeface="+mn-ea"/>
              </a:rPr>
              <a:t>：设备的前进速度，以米</a:t>
            </a:r>
            <a:r>
              <a:rPr lang="en-US" altLang="zh-CN" sz="1400" dirty="0">
                <a:sym typeface="+mn-ea"/>
              </a:rPr>
              <a:t>/</a:t>
            </a:r>
            <a:r>
              <a:rPr sz="1400" dirty="0">
                <a:sym typeface="+mn-ea"/>
              </a:rPr>
              <a:t>秒为单位。</a:t>
            </a:r>
            <a:endParaRPr lang="zh-CN" altLang="en-US" sz="14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timestamp</a:t>
            </a:r>
            <a:r>
              <a:rPr sz="1400" dirty="0">
                <a:sym typeface="+mn-ea"/>
              </a:rPr>
              <a:t>：获取地理位置信息时的时间。 </a:t>
            </a:r>
            <a:endParaRPr lang="zh-CN" altLang="en-US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215</a:t>
            </a:fld>
            <a:endParaRPr lang="zh-CN" altLang="en-US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Geolocation</a:t>
            </a:r>
            <a:r>
              <a:t>示例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216</a:t>
            </a:fld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248920" y="1772920"/>
            <a:ext cx="8709660" cy="252793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lIns="90000" tIns="46800" rIns="90000" bIns="46800" rtlCol="0"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&lt;script type="text/</a:t>
            </a:r>
            <a:r>
              <a:rPr lang="en-US" altLang="zh-CN" sz="1400" dirty="0" err="1">
                <a:ea typeface="宋体" panose="02010600030101010101" pitchFamily="2" charset="-122"/>
              </a:rPr>
              <a:t>javascript</a:t>
            </a:r>
            <a:r>
              <a:rPr lang="en-US" altLang="zh-CN" sz="1400" dirty="0">
                <a:ea typeface="宋体" panose="02010600030101010101" pitchFamily="2" charset="-122"/>
              </a:rPr>
              <a:t>"&gt;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function </a:t>
            </a:r>
            <a:r>
              <a:rPr lang="en-US" altLang="zh-CN" sz="1400" dirty="0" err="1">
                <a:ea typeface="宋体" panose="02010600030101010101" pitchFamily="2" charset="-122"/>
              </a:rPr>
              <a:t>getLocation</a:t>
            </a:r>
            <a:r>
              <a:rPr lang="en-US" altLang="zh-CN" sz="1400" dirty="0">
                <a:ea typeface="宋体" panose="02010600030101010101" pitchFamily="2" charset="-122"/>
              </a:rPr>
              <a:t>() {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   if(</a:t>
            </a:r>
            <a:r>
              <a:rPr lang="en-US" altLang="zh-CN" sz="1400" dirty="0" err="1">
                <a:ea typeface="宋体" panose="02010600030101010101" pitchFamily="2" charset="-122"/>
              </a:rPr>
              <a:t>navigator.geolocation</a:t>
            </a:r>
            <a:r>
              <a:rPr lang="en-US" altLang="zh-CN" sz="1400" dirty="0">
                <a:ea typeface="宋体" panose="02010600030101010101" pitchFamily="2" charset="-122"/>
              </a:rPr>
              <a:t>) {</a:t>
            </a:r>
          </a:p>
          <a:p>
            <a:pPr marL="0" indent="45720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 err="1">
                <a:ea typeface="宋体" panose="02010600030101010101" pitchFamily="2" charset="-122"/>
              </a:rPr>
              <a:t>     navigator.geolocation.getCurrentPosition</a:t>
            </a:r>
            <a:r>
              <a:rPr lang="en-US" altLang="zh-CN" sz="1400" dirty="0">
                <a:ea typeface="宋体" panose="02010600030101010101" pitchFamily="2" charset="-122"/>
              </a:rPr>
              <a:t>(function(position) {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</a:t>
            </a:r>
            <a:r>
              <a:rPr lang="en-US" altLang="zh-CN" sz="1400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sz="1400" dirty="0">
                <a:ea typeface="宋体" panose="02010600030101010101" pitchFamily="2" charset="-122"/>
              </a:rPr>
              <a:t>("msg").</a:t>
            </a:r>
            <a:r>
              <a:rPr lang="en-US" altLang="zh-CN" sz="1400" dirty="0" err="1">
                <a:ea typeface="宋体" panose="02010600030101010101" pitchFamily="2" charset="-122"/>
              </a:rPr>
              <a:t>innerHTML</a:t>
            </a:r>
            <a:r>
              <a:rPr lang="en-US" altLang="zh-CN" sz="1400" dirty="0">
                <a:ea typeface="宋体" panose="02010600030101010101" pitchFamily="2" charset="-122"/>
              </a:rPr>
              <a:t> = "</a:t>
            </a:r>
            <a:r>
              <a:rPr lang="zh-CN" altLang="en-US" sz="1400" dirty="0">
                <a:ea typeface="宋体" panose="02010600030101010101" pitchFamily="2" charset="-122"/>
              </a:rPr>
              <a:t>纬度</a:t>
            </a:r>
            <a:r>
              <a:rPr lang="en-US" altLang="zh-CN" sz="1400" dirty="0">
                <a:ea typeface="宋体" panose="02010600030101010101" pitchFamily="2" charset="-122"/>
              </a:rPr>
              <a:t>: " + </a:t>
            </a:r>
            <a:r>
              <a:rPr lang="en-US" altLang="zh-CN" sz="1400" dirty="0" err="1">
                <a:ea typeface="宋体" panose="02010600030101010101" pitchFamily="2" charset="-122"/>
              </a:rPr>
              <a:t>position.coords.latitude</a:t>
            </a:r>
            <a:r>
              <a:rPr lang="en-US" altLang="zh-CN" sz="1400" dirty="0">
                <a:ea typeface="宋体" panose="02010600030101010101" pitchFamily="2" charset="-122"/>
              </a:rPr>
              <a:t> + 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		"&lt;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/&gt;</a:t>
            </a:r>
            <a:r>
              <a:rPr lang="zh-CN" altLang="en-US" sz="1400" dirty="0">
                <a:ea typeface="宋体" panose="02010600030101010101" pitchFamily="2" charset="-122"/>
              </a:rPr>
              <a:t>经度</a:t>
            </a:r>
            <a:r>
              <a:rPr lang="en-US" altLang="zh-CN" sz="1400" dirty="0">
                <a:ea typeface="宋体" panose="02010600030101010101" pitchFamily="2" charset="-122"/>
              </a:rPr>
              <a:t>: " + </a:t>
            </a:r>
            <a:r>
              <a:rPr lang="en-US" altLang="zh-CN" sz="1400" dirty="0" err="1">
                <a:ea typeface="宋体" panose="02010600030101010101" pitchFamily="2" charset="-122"/>
              </a:rPr>
              <a:t>position.coords.longitude</a:t>
            </a:r>
            <a:r>
              <a:rPr lang="en-US" altLang="zh-CN" sz="1400" dirty="0"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   });}else {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</a:t>
            </a:r>
            <a:r>
              <a:rPr lang="en-US" altLang="zh-CN" sz="1400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sz="1400" dirty="0">
                <a:ea typeface="宋体" panose="02010600030101010101" pitchFamily="2" charset="-122"/>
              </a:rPr>
              <a:t>("msg").</a:t>
            </a:r>
            <a:r>
              <a:rPr lang="en-US" altLang="zh-CN" sz="1400" dirty="0" err="1">
                <a:ea typeface="宋体" panose="02010600030101010101" pitchFamily="2" charset="-122"/>
              </a:rPr>
              <a:t>innerHTML</a:t>
            </a:r>
            <a:r>
              <a:rPr lang="en-US" altLang="zh-CN" sz="1400" dirty="0">
                <a:ea typeface="宋体" panose="02010600030101010101" pitchFamily="2" charset="-122"/>
              </a:rPr>
              <a:t> = "</a:t>
            </a:r>
            <a:r>
              <a:rPr lang="zh-CN" altLang="en-US" sz="1400" dirty="0">
                <a:ea typeface="宋体" panose="02010600030101010101" pitchFamily="2" charset="-122"/>
              </a:rPr>
              <a:t>浏览器不支持地理定位！</a:t>
            </a:r>
            <a:r>
              <a:rPr lang="en-US" altLang="zh-CN" sz="1400" dirty="0">
                <a:ea typeface="宋体" panose="02010600030101010101" pitchFamily="2" charset="-122"/>
              </a:rPr>
              <a:t>";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   }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&lt;/script&gt;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06625" y="4770755"/>
            <a:ext cx="4994910" cy="1721485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100">
                <a:sym typeface="+mn-ea"/>
              </a:rPr>
              <a:t>Geolocation</a:t>
            </a:r>
            <a:endParaRPr lang="zh-CN" altLang="en-US" sz="210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392938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如果获取地理位置信息失败，可以通过</a:t>
            </a:r>
            <a:r>
              <a:rPr lang="en-US" altLang="zh-CN" sz="1400" dirty="0" err="1"/>
              <a:t>getCurrentPosition</a:t>
            </a:r>
            <a:r>
              <a:rPr lang="en-US" altLang="zh-CN" sz="1400" dirty="0"/>
              <a:t>()</a:t>
            </a:r>
            <a:r>
              <a:rPr lang="zh-CN" altLang="en-US" sz="1400" dirty="0"/>
              <a:t>方法的失败回调函数将错误信息提示给用户。该回调函数使用</a:t>
            </a:r>
            <a:r>
              <a:rPr lang="en-US" altLang="zh-CN" sz="1400" dirty="0"/>
              <a:t>error</a:t>
            </a:r>
            <a:r>
              <a:rPr lang="zh-CN" altLang="en-US" sz="1400" dirty="0"/>
              <a:t>对象作为参数，该对象具有</a:t>
            </a:r>
            <a:r>
              <a:rPr lang="en-US" altLang="zh-CN" sz="1400" dirty="0"/>
              <a:t>code</a:t>
            </a:r>
            <a:r>
              <a:rPr lang="zh-CN" altLang="en-US" sz="1400" dirty="0"/>
              <a:t>属性和</a:t>
            </a:r>
            <a:r>
              <a:rPr lang="en-US" altLang="zh-CN" sz="1400" dirty="0"/>
              <a:t>message</a:t>
            </a:r>
            <a:r>
              <a:rPr lang="zh-CN" altLang="en-US" sz="1400" dirty="0"/>
              <a:t>属性。</a:t>
            </a:r>
            <a:r>
              <a:rPr lang="en-US" altLang="zh-CN" sz="1400" dirty="0"/>
              <a:t>code</a:t>
            </a:r>
            <a:r>
              <a:rPr lang="zh-CN" altLang="en-US" sz="1400" dirty="0"/>
              <a:t>属性的可取值及含义分别为：</a:t>
            </a:r>
          </a:p>
          <a:p>
            <a:pPr marL="457200" lvl="1"/>
            <a:r>
              <a:rPr lang="en-US" altLang="zh-CN" sz="1400" dirty="0"/>
              <a:t>1</a:t>
            </a:r>
            <a:r>
              <a:rPr lang="zh-CN" altLang="en-US" sz="1400" dirty="0"/>
              <a:t>，</a:t>
            </a:r>
            <a:r>
              <a:rPr lang="en-US" altLang="zh-CN" sz="1400" dirty="0"/>
              <a:t>PERMISSION_DENIED</a:t>
            </a:r>
            <a:r>
              <a:rPr lang="zh-CN" altLang="en-US" sz="1400" dirty="0"/>
              <a:t>，表示用户</a:t>
            </a:r>
            <a:r>
              <a:rPr lang="zh-CN" altLang="en-US" sz="1400" dirty="0">
                <a:highlight>
                  <a:srgbClr val="FFFF00"/>
                </a:highlight>
              </a:rPr>
              <a:t>拒绝了位置服务。</a:t>
            </a:r>
          </a:p>
          <a:p>
            <a:pPr marL="457200" lvl="1"/>
            <a:r>
              <a:rPr lang="en-US" altLang="zh-CN" sz="1400" dirty="0"/>
              <a:t>2</a:t>
            </a:r>
            <a:r>
              <a:rPr lang="zh-CN" altLang="en-US" sz="1400" dirty="0"/>
              <a:t>，</a:t>
            </a:r>
            <a:r>
              <a:rPr lang="en-US" altLang="zh-CN" sz="1400" dirty="0"/>
              <a:t>POSITION_UNAVAILABLE</a:t>
            </a:r>
            <a:r>
              <a:rPr lang="zh-CN" altLang="en-US" sz="1400" dirty="0"/>
              <a:t>，表示获取不到位置信息。</a:t>
            </a:r>
          </a:p>
          <a:p>
            <a:pPr marL="457200" lvl="1"/>
            <a:r>
              <a:rPr lang="en-US" altLang="zh-CN" sz="1400" dirty="0"/>
              <a:t>3</a:t>
            </a:r>
            <a:r>
              <a:rPr lang="zh-CN" altLang="en-US" sz="1400" dirty="0"/>
              <a:t>，</a:t>
            </a:r>
            <a:r>
              <a:rPr lang="en-US" altLang="zh-CN" sz="1400" dirty="0"/>
              <a:t>TIMEOUT</a:t>
            </a:r>
            <a:r>
              <a:rPr lang="zh-CN" altLang="en-US" sz="1400" dirty="0"/>
              <a:t>，表示获取信息超时。</a:t>
            </a:r>
          </a:p>
          <a:p>
            <a:pPr marL="457200" lvl="1"/>
            <a:r>
              <a:rPr lang="en-US" altLang="zh-CN" sz="1400" dirty="0"/>
              <a:t>4</a:t>
            </a:r>
            <a:r>
              <a:rPr lang="zh-CN" altLang="en-US" sz="1400" dirty="0"/>
              <a:t>，</a:t>
            </a:r>
            <a:r>
              <a:rPr lang="en-US" altLang="zh-CN" sz="1400" dirty="0"/>
              <a:t>UNKNOWN_ERROR</a:t>
            </a:r>
            <a:r>
              <a:rPr lang="zh-CN" altLang="en-US" sz="1400" dirty="0"/>
              <a:t>，表示未知错误。 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 dirty="0">
                <a:sym typeface="+mn-ea"/>
              </a:rPr>
              <a:t>可选参数包括：</a:t>
            </a:r>
            <a:endParaRPr lang="zh-CN" altLang="en-US" sz="1400" dirty="0"/>
          </a:p>
          <a:p>
            <a:pPr marL="457200" lvl="1"/>
            <a:r>
              <a:rPr lang="en-US" altLang="zh-CN" sz="1400" dirty="0" err="1">
                <a:sym typeface="+mn-ea"/>
              </a:rPr>
              <a:t>enableHighAccuracy</a:t>
            </a:r>
            <a:r>
              <a:rPr sz="1400" dirty="0">
                <a:sym typeface="+mn-ea"/>
              </a:rPr>
              <a:t>：是否要求高精度的地理位置信息。</a:t>
            </a:r>
            <a:endParaRPr lang="zh-CN" altLang="en-US" sz="1400" dirty="0"/>
          </a:p>
          <a:p>
            <a:pPr marL="457200" lvl="1"/>
            <a:r>
              <a:rPr lang="en-US" altLang="zh-CN" sz="1400" dirty="0">
                <a:sym typeface="+mn-ea"/>
              </a:rPr>
              <a:t>timeout</a:t>
            </a:r>
            <a:r>
              <a:rPr sz="1400" dirty="0">
                <a:sym typeface="+mn-ea"/>
              </a:rPr>
              <a:t>：超时限制，单位为毫秒。</a:t>
            </a:r>
            <a:endParaRPr lang="zh-CN" altLang="en-US" sz="1400" dirty="0"/>
          </a:p>
          <a:p>
            <a:pPr marL="457200" lvl="1"/>
            <a:r>
              <a:rPr lang="en-US" altLang="zh-CN" sz="1400" dirty="0" err="1">
                <a:sym typeface="+mn-ea"/>
              </a:rPr>
              <a:t>maximumAge</a:t>
            </a:r>
            <a:r>
              <a:rPr sz="1400" dirty="0">
                <a:sym typeface="+mn-ea"/>
              </a:rPr>
              <a:t>：对地理位置信息进行缓存的有效时间，单位为毫秒。</a:t>
            </a:r>
            <a:endParaRPr lang="zh-CN" altLang="en-US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217</a:t>
            </a:fld>
            <a:endParaRPr lang="zh-CN" altLang="en-US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100">
                <a:ea typeface="宋体" panose="02010600030101010101" pitchFamily="2" charset="-122"/>
              </a:rPr>
              <a:t>监听地理位置信息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6792"/>
            <a:ext cx="8229600" cy="383667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Geolocation</a:t>
            </a:r>
            <a:r>
              <a:rPr lang="zh-CN" altLang="en-US" sz="1400" dirty="0"/>
              <a:t>对象的</a:t>
            </a:r>
            <a:r>
              <a:rPr lang="en-US" altLang="zh-CN" sz="1400" dirty="0" err="1"/>
              <a:t>watchPosition</a:t>
            </a:r>
            <a:r>
              <a:rPr lang="en-US" altLang="zh-CN" sz="1400" dirty="0"/>
              <a:t>()</a:t>
            </a:r>
            <a:r>
              <a:rPr lang="zh-CN" altLang="en-US" sz="1400" dirty="0"/>
              <a:t>方法用于注册监听器，</a:t>
            </a:r>
            <a:r>
              <a:rPr lang="zh-CN" altLang="en-US" sz="1400" dirty="0">
                <a:highlight>
                  <a:srgbClr val="FFFF00"/>
                </a:highlight>
              </a:rPr>
              <a:t>在设备地理位置发生改变时自动调用。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该方法会返回一个</a:t>
            </a:r>
            <a:r>
              <a:rPr lang="en-US" altLang="zh-CN" sz="1400" dirty="0"/>
              <a:t>ID</a:t>
            </a:r>
            <a:r>
              <a:rPr lang="zh-CN" altLang="en-US" sz="1400" dirty="0"/>
              <a:t>，可以</a:t>
            </a:r>
            <a:r>
              <a:rPr lang="zh-CN" altLang="en-US" sz="1400" dirty="0">
                <a:highlight>
                  <a:srgbClr val="FFFF00"/>
                </a:highlight>
              </a:rPr>
              <a:t>通过</a:t>
            </a:r>
            <a:r>
              <a:rPr lang="en-US" altLang="zh-CN" sz="1400" dirty="0" err="1">
                <a:highlight>
                  <a:srgbClr val="FFFF00"/>
                </a:highlight>
              </a:rPr>
              <a:t>clearWatch</a:t>
            </a:r>
            <a:r>
              <a:rPr lang="en-US" altLang="zh-CN" sz="1400" dirty="0">
                <a:highlight>
                  <a:srgbClr val="FFFF00"/>
                </a:highlight>
              </a:rPr>
              <a:t>()</a:t>
            </a:r>
            <a:r>
              <a:rPr lang="zh-CN" altLang="en-US" sz="1400" dirty="0">
                <a:highlight>
                  <a:srgbClr val="FFFF00"/>
                </a:highlight>
              </a:rPr>
              <a:t>方法传入</a:t>
            </a:r>
            <a:r>
              <a:rPr lang="en-US" altLang="zh-CN" sz="1400" dirty="0">
                <a:highlight>
                  <a:srgbClr val="FFFF00"/>
                </a:highlight>
              </a:rPr>
              <a:t>ID</a:t>
            </a:r>
            <a:r>
              <a:rPr lang="zh-CN" altLang="en-US" sz="1400" dirty="0">
                <a:highlight>
                  <a:srgbClr val="FFFF00"/>
                </a:highlight>
              </a:rPr>
              <a:t>取消监听。</a:t>
            </a:r>
            <a:endParaRPr lang="en-US" altLang="zh-CN" sz="14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 err="1"/>
              <a:t>watchPosition</a:t>
            </a:r>
            <a:r>
              <a:rPr lang="en-US" altLang="zh-CN" sz="1400" dirty="0"/>
              <a:t>()</a:t>
            </a:r>
            <a:r>
              <a:rPr lang="zh-CN" altLang="en-US" sz="1400" dirty="0"/>
              <a:t>方法的使用方法如下：</a:t>
            </a:r>
          </a:p>
          <a:p>
            <a:pPr marL="0" indent="0" algn="ctr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 err="1"/>
              <a:t>watchId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navigator.geolocation</a:t>
            </a:r>
            <a:r>
              <a:rPr lang="en-US" altLang="zh-CN" sz="1400" dirty="0"/>
              <a:t>. </a:t>
            </a:r>
            <a:r>
              <a:rPr lang="en-US" altLang="zh-CN" sz="1400" dirty="0" err="1"/>
              <a:t>watchPosition</a:t>
            </a:r>
            <a:r>
              <a:rPr lang="en-US" altLang="zh-CN" sz="1400" dirty="0"/>
              <a:t> (</a:t>
            </a:r>
            <a:r>
              <a:rPr lang="en-US" altLang="zh-CN" sz="1400" dirty="0" err="1"/>
              <a:t>onSuccess</a:t>
            </a:r>
            <a:r>
              <a:rPr lang="en-US" altLang="zh-CN" sz="1400" dirty="0"/>
              <a:t>[, </a:t>
            </a:r>
            <a:r>
              <a:rPr lang="en-US" altLang="zh-CN" sz="1400" dirty="0" err="1"/>
              <a:t>onError</a:t>
            </a:r>
            <a:r>
              <a:rPr lang="en-US" altLang="zh-CN" sz="1400" dirty="0"/>
              <a:t>[, options]]);</a:t>
            </a:r>
          </a:p>
          <a:p>
            <a:pPr marL="0" indent="0" algn="ctr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lang="en-US" altLang="zh-CN" sz="1400" dirty="0"/>
          </a:p>
          <a:p>
            <a:pPr marL="0" indent="0" algn="l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lang="en-US" altLang="zh-CN" sz="1400" dirty="0">
              <a:sym typeface="+mn-ea"/>
            </a:endParaRPr>
          </a:p>
          <a:p>
            <a:pPr marL="0" indent="0" algn="l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lang="en-US" altLang="zh-CN" sz="1400" dirty="0">
              <a:sym typeface="+mn-ea"/>
            </a:endParaRPr>
          </a:p>
          <a:p>
            <a:pPr marL="0" indent="0" algn="l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更复杂的地图应用，一般使用各种地图开放平台提供的</a:t>
            </a:r>
            <a:r>
              <a:rPr lang="en-US" altLang="zh-CN" sz="1400" dirty="0" err="1">
                <a:sym typeface="+mn-ea"/>
              </a:rPr>
              <a:t>api</a:t>
            </a:r>
            <a:r>
              <a:rPr sz="1400" dirty="0">
                <a:sym typeface="+mn-ea"/>
              </a:rPr>
              <a:t>，如</a:t>
            </a:r>
          </a:p>
          <a:p>
            <a:pPr marL="0" indent="0" algn="l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百度：</a:t>
            </a:r>
            <a:r>
              <a:rPr lang="en-US" altLang="zh-CN" sz="1400" dirty="0">
                <a:sym typeface="+mn-ea"/>
              </a:rPr>
              <a:t>https://lbsyun.baidu.com/index.php?title=jspopularGL</a:t>
            </a:r>
          </a:p>
          <a:p>
            <a:pPr marL="0" indent="0" algn="l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/>
              <a:t>高德：https://lbs.amap.com/api/javascript-api-v2/summary</a:t>
            </a:r>
          </a:p>
          <a:p>
            <a:pPr marL="0" indent="0" algn="l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/>
              <a:t>谷歌：https://developers.google.cn/maps/documentation/javascript?hl=zh-cn&amp;authuser=0000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218</a:t>
            </a:fld>
            <a:endParaRPr lang="zh-CN" altLang="en-US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AJAX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521081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AJAX</a:t>
            </a:r>
            <a:r>
              <a:rPr lang="zh-CN" altLang="en-US" sz="1400" dirty="0"/>
              <a:t>（</a:t>
            </a:r>
            <a:r>
              <a:rPr lang="en-US" altLang="zh-CN" sz="1400" dirty="0"/>
              <a:t>Asynchronous JavaScript And XML</a:t>
            </a:r>
            <a:r>
              <a:rPr lang="zh-CN" altLang="en-US" sz="1400" dirty="0"/>
              <a:t>，异步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和</a:t>
            </a:r>
            <a:r>
              <a:rPr lang="en-US" altLang="zh-CN" sz="1400" dirty="0"/>
              <a:t>XML</a:t>
            </a:r>
            <a:r>
              <a:rPr lang="zh-CN" altLang="en-US" sz="1400" dirty="0"/>
              <a:t>）是</a:t>
            </a:r>
            <a:r>
              <a:rPr lang="zh-CN" altLang="en-US" sz="1400" dirty="0">
                <a:highlight>
                  <a:srgbClr val="FFFF00"/>
                </a:highlight>
              </a:rPr>
              <a:t>交互式网页开发技术。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AJAX</a:t>
            </a:r>
            <a:r>
              <a:rPr lang="zh-CN" altLang="en-US" sz="1400" dirty="0"/>
              <a:t>是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、</a:t>
            </a:r>
            <a:r>
              <a:rPr lang="en-US" altLang="zh-CN" sz="1400" dirty="0"/>
              <a:t>XML</a:t>
            </a:r>
            <a:r>
              <a:rPr lang="zh-CN" altLang="en-US" sz="1400" dirty="0"/>
              <a:t>、</a:t>
            </a:r>
            <a:r>
              <a:rPr lang="en-US" altLang="zh-CN" sz="1400" dirty="0"/>
              <a:t>CSS</a:t>
            </a:r>
            <a:r>
              <a:rPr lang="zh-CN" altLang="en-US" sz="1400" dirty="0"/>
              <a:t>等技术的融合，核心是</a:t>
            </a:r>
            <a:r>
              <a:rPr lang="en-US" altLang="zh-CN" sz="1400" dirty="0" err="1"/>
              <a:t>XMLHttpRequst</a:t>
            </a:r>
            <a:r>
              <a:rPr lang="zh-CN" altLang="en-US" sz="1400" dirty="0"/>
              <a:t>对象（简称为</a:t>
            </a:r>
            <a:r>
              <a:rPr lang="en-US" altLang="zh-CN" sz="1400" dirty="0"/>
              <a:t>XMLHTTP</a:t>
            </a:r>
            <a:r>
              <a:rPr lang="zh-CN" altLang="en-US" sz="1400" dirty="0"/>
              <a:t>） 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的优势：</a:t>
            </a:r>
            <a:endParaRPr lang="zh-CN" altLang="en-US" sz="1400" dirty="0"/>
          </a:p>
          <a:p>
            <a:pPr marL="457200" lvl="1"/>
            <a:r>
              <a:rPr sz="1400" dirty="0">
                <a:sym typeface="+mn-ea"/>
              </a:rPr>
              <a:t>在浏览器与</a:t>
            </a:r>
            <a:r>
              <a:rPr lang="en-US" altLang="zh-CN" sz="1400" dirty="0">
                <a:sym typeface="+mn-ea"/>
              </a:rPr>
              <a:t>Web</a:t>
            </a:r>
            <a:r>
              <a:rPr sz="1400" dirty="0">
                <a:sym typeface="+mn-ea"/>
              </a:rPr>
              <a:t>服务器之间使用异步数据传输方式，网页从服务器异步请求（少量）信息，用户（几乎）感觉不到页面的提交和等待响应返回。</a:t>
            </a:r>
            <a:endParaRPr lang="zh-CN" altLang="en-US" sz="1400" dirty="0"/>
          </a:p>
          <a:p>
            <a:pPr marL="457200" lvl="1"/>
            <a:r>
              <a:rPr sz="1400" dirty="0">
                <a:sym typeface="+mn-ea"/>
              </a:rPr>
              <a:t>使应用程序容量更小、速度更快、界面更友好。</a:t>
            </a:r>
            <a:endParaRPr lang="zh-CN" altLang="en-US" sz="1400" dirty="0"/>
          </a:p>
          <a:p>
            <a:pPr marL="457200" lvl="1"/>
            <a:r>
              <a:rPr sz="1400" dirty="0">
                <a:sym typeface="+mn-ea"/>
              </a:rPr>
              <a:t>独立于</a:t>
            </a:r>
            <a:r>
              <a:rPr lang="en-US" altLang="zh-CN" sz="1400" dirty="0">
                <a:sym typeface="+mn-ea"/>
              </a:rPr>
              <a:t>Web</a:t>
            </a:r>
            <a:r>
              <a:rPr sz="1400" dirty="0">
                <a:sym typeface="+mn-ea"/>
              </a:rPr>
              <a:t>服务器的浏览器端技术，</a:t>
            </a:r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应用程序独立于浏览器和平台。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的不足：</a:t>
            </a:r>
            <a:endParaRPr lang="zh-CN" altLang="en-US" sz="1400" dirty="0"/>
          </a:p>
          <a:p>
            <a:pPr marL="457200" lvl="1"/>
            <a:r>
              <a:rPr sz="1400" dirty="0">
                <a:highlight>
                  <a:srgbClr val="FFFF00"/>
                </a:highlight>
                <a:sym typeface="+mn-ea"/>
              </a:rPr>
              <a:t>使浏览器的后退按钮失效。</a:t>
            </a:r>
            <a:endParaRPr lang="zh-CN" altLang="en-US" sz="1400" dirty="0">
              <a:highlight>
                <a:srgbClr val="FFFF00"/>
              </a:highlight>
            </a:endParaRPr>
          </a:p>
          <a:p>
            <a:pPr marL="457200" lvl="1"/>
            <a:r>
              <a:rPr sz="1400" dirty="0">
                <a:sym typeface="+mn-ea"/>
              </a:rPr>
              <a:t>暴露客户端与服务器端交互的细节问题，在一定程度上存在安全隐患。</a:t>
            </a:r>
            <a:endParaRPr lang="zh-CN" altLang="en-US" sz="1400" dirty="0"/>
          </a:p>
          <a:p>
            <a:pPr marL="457200" lvl="1"/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对搜索引擎的支持不好。</a:t>
            </a:r>
            <a:endParaRPr lang="zh-CN" altLang="en-US" sz="1400" dirty="0"/>
          </a:p>
          <a:p>
            <a:pPr marL="457200" lvl="1"/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破坏了程序的异常机制。</a:t>
            </a:r>
            <a:endParaRPr lang="zh-CN" altLang="en-US" sz="1400" dirty="0"/>
          </a:p>
          <a:p>
            <a:pPr marL="457200" lvl="1"/>
            <a:r>
              <a:rPr sz="1400" dirty="0">
                <a:highlight>
                  <a:srgbClr val="FFFF00"/>
                </a:highlight>
                <a:sym typeface="+mn-ea"/>
              </a:rPr>
              <a:t>开发和调试工具欠缺，不易调试。</a:t>
            </a:r>
            <a:endParaRPr lang="zh-CN" altLang="en-US" sz="1400" dirty="0">
              <a:highlight>
                <a:srgbClr val="FFFF00"/>
              </a:highligh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219</a:t>
            </a:fld>
            <a:endParaRPr lang="zh-CN" altLang="en-US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AJAX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技术组成结构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101600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dirty="0"/>
              <a:t>AJAX</a:t>
            </a:r>
            <a:r>
              <a:rPr lang="zh-CN" altLang="en-US" dirty="0"/>
              <a:t>使用</a:t>
            </a:r>
            <a:r>
              <a:rPr lang="en-US" altLang="zh-CN" dirty="0"/>
              <a:t>XHTML</a:t>
            </a:r>
            <a:r>
              <a:rPr lang="zh-CN" altLang="en-US" dirty="0"/>
              <a:t>和</a:t>
            </a:r>
            <a:r>
              <a:rPr lang="en-US" altLang="zh-CN" dirty="0"/>
              <a:t>CSS</a:t>
            </a:r>
            <a:r>
              <a:rPr lang="zh-CN" altLang="en-US" dirty="0"/>
              <a:t>来表示元素，使用</a:t>
            </a:r>
            <a:r>
              <a:rPr lang="en-US" altLang="zh-CN" dirty="0"/>
              <a:t>DOM</a:t>
            </a:r>
            <a:r>
              <a:rPr lang="zh-CN" altLang="en-US" dirty="0"/>
              <a:t>模型来进行动态显示和交互，使用</a:t>
            </a:r>
            <a:r>
              <a:rPr lang="en-US" altLang="zh-CN" dirty="0" err="1"/>
              <a:t>XMLHttpRequst</a:t>
            </a:r>
            <a:r>
              <a:rPr lang="zh-CN" altLang="en-US" dirty="0"/>
              <a:t>对象和服务器进行异步通信、使用</a:t>
            </a:r>
            <a:r>
              <a:rPr lang="en-US" altLang="zh-CN" dirty="0"/>
              <a:t>XML</a:t>
            </a:r>
            <a:r>
              <a:rPr lang="zh-CN" altLang="en-US" dirty="0"/>
              <a:t>和</a:t>
            </a:r>
            <a:r>
              <a:rPr lang="en-US" altLang="zh-CN" dirty="0"/>
              <a:t>XSLT</a:t>
            </a:r>
            <a:r>
              <a:rPr lang="zh-CN" altLang="en-US" dirty="0"/>
              <a:t>进行数据交换和处理，使用</a:t>
            </a:r>
            <a:r>
              <a:rPr lang="en-US" altLang="zh-CN" dirty="0"/>
              <a:t>JavaScript</a:t>
            </a:r>
            <a:r>
              <a:rPr lang="zh-CN" altLang="en-US" dirty="0"/>
              <a:t>来进行绑定和调用。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220</a:t>
            </a:fld>
            <a:endParaRPr lang="zh-CN" altLang="en-US"/>
          </a:p>
        </p:txBody>
      </p:sp>
      <p:pic>
        <p:nvPicPr>
          <p:cNvPr id="9219" name="Picture 4" descr="9-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60" y="1701404"/>
            <a:ext cx="5778103" cy="351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交互过程的变化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黑体" panose="02010609060101010101" charset="-122"/>
                <a:ea typeface="黑体" panose="02010609060101010101" charset="-122"/>
                <a:sym typeface="+mn-ea"/>
              </a:rPr>
              <a:t>传统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sym typeface="+mn-ea"/>
              </a:rPr>
              <a:t>Web</a:t>
            </a:r>
            <a:r>
              <a:rPr sz="1600">
                <a:latin typeface="黑体" panose="02010609060101010101" charset="-122"/>
                <a:ea typeface="黑体" panose="02010609060101010101" charset="-122"/>
                <a:sym typeface="+mn-ea"/>
              </a:rPr>
              <a:t>模式的交互过程 </a:t>
            </a:r>
          </a:p>
          <a:p>
            <a:endParaRPr lang="zh-CN" altLang="en-US" sz="1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zh-CN" altLang="en-US" sz="1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zh-CN" altLang="en-US" sz="1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zh-CN" altLang="en-US" sz="1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sz="1600">
                <a:latin typeface="黑体" panose="02010609060101010101" charset="-122"/>
                <a:ea typeface="黑体" panose="02010609060101010101" charset="-122"/>
                <a:sym typeface="+mn-ea"/>
              </a:rPr>
              <a:t>使用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sym typeface="+mn-ea"/>
              </a:rPr>
              <a:t>AJAX</a:t>
            </a:r>
            <a:r>
              <a:rPr sz="1600">
                <a:latin typeface="黑体" panose="02010609060101010101" charset="-122"/>
                <a:ea typeface="黑体" panose="02010609060101010101" charset="-122"/>
                <a:sym typeface="+mn-ea"/>
              </a:rPr>
              <a:t>的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sym typeface="+mn-ea"/>
              </a:rPr>
              <a:t>Web</a:t>
            </a:r>
            <a:r>
              <a:rPr sz="1600">
                <a:latin typeface="黑体" panose="02010609060101010101" charset="-122"/>
                <a:ea typeface="黑体" panose="02010609060101010101" charset="-122"/>
                <a:sym typeface="+mn-ea"/>
              </a:rPr>
              <a:t>模式的交互过程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10243" name="Picture 4" descr="9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535" y="1523604"/>
            <a:ext cx="4806553" cy="1025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221</a:t>
            </a:fld>
            <a:endParaRPr lang="zh-CN" altLang="en-US"/>
          </a:p>
        </p:txBody>
      </p:sp>
      <p:pic>
        <p:nvPicPr>
          <p:cNvPr id="11267" name="Picture 4" descr="9-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515" y="3840957"/>
            <a:ext cx="5993606" cy="883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黑体" panose="02010609060101010101" charset="-122"/>
                <a:ea typeface="黑体" panose="02010609060101010101" charset="-122"/>
                <a:sym typeface="+mn-ea"/>
              </a:rPr>
              <a:t>XMLHttpRequest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对象的创建</a:t>
            </a:r>
            <a:endParaRPr lang="zh-CN" altLang="en-US"/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6792"/>
            <a:ext cx="8229600" cy="4591685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如果需要兼容老旧的</a:t>
            </a:r>
            <a:r>
              <a:rPr lang="en-US" altLang="zh-CN" sz="1400" dirty="0"/>
              <a:t>IE5</a:t>
            </a:r>
            <a:r>
              <a:rPr sz="1400" dirty="0"/>
              <a:t>、</a:t>
            </a:r>
            <a:r>
              <a:rPr lang="en-US" altLang="zh-CN" sz="1400" dirty="0"/>
              <a:t>6</a:t>
            </a:r>
            <a:r>
              <a:rPr lang="zh-CN" altLang="en-US" sz="1400" dirty="0"/>
              <a:t>浏览器，可以使用以下代码创建</a:t>
            </a:r>
            <a:r>
              <a:rPr lang="en-US" altLang="zh-CN" sz="1400" dirty="0" err="1"/>
              <a:t>XMLHttpRequest</a:t>
            </a:r>
            <a:r>
              <a:rPr lang="zh-CN" altLang="en-US" sz="1400" dirty="0"/>
              <a:t>对象：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但现在一般不怎么考虑</a:t>
            </a:r>
            <a:r>
              <a:rPr lang="en-US" altLang="zh-CN" sz="1400" dirty="0"/>
              <a:t>IE5</a:t>
            </a:r>
            <a:r>
              <a:rPr sz="1400" dirty="0"/>
              <a:t>、</a:t>
            </a:r>
            <a:r>
              <a:rPr lang="en-US" altLang="zh-CN" sz="1400" dirty="0"/>
              <a:t>6</a:t>
            </a:r>
            <a:r>
              <a:rPr sz="1400" dirty="0"/>
              <a:t>了。</a:t>
            </a:r>
            <a:endParaRPr lang="zh-CN" altLang="en-US" sz="1400" dirty="0"/>
          </a:p>
          <a:p>
            <a:pPr marL="1143000" lvl="3" indent="0">
              <a:buNone/>
            </a:pPr>
            <a:r>
              <a:rPr lang="en-US" altLang="zh-CN" sz="1600" dirty="0"/>
              <a:t>var </a:t>
            </a:r>
            <a:r>
              <a:rPr lang="en-US" altLang="zh-CN" sz="1600" dirty="0" err="1"/>
              <a:t>xmlHttp</a:t>
            </a:r>
            <a:r>
              <a:rPr lang="en-US" altLang="zh-CN" sz="1600" dirty="0"/>
              <a:t>;</a:t>
            </a:r>
          </a:p>
          <a:p>
            <a:pPr marL="1143000" lvl="3" indent="0">
              <a:buNone/>
            </a:pPr>
            <a:r>
              <a:rPr lang="en-US" altLang="zh-CN" sz="1600" dirty="0"/>
              <a:t>if(</a:t>
            </a:r>
            <a:r>
              <a:rPr lang="en-US" altLang="zh-CN" sz="1600" dirty="0" err="1"/>
              <a:t>window.XMLHttpRequest</a:t>
            </a:r>
            <a:r>
              <a:rPr lang="en-US" altLang="zh-CN" sz="1600" dirty="0"/>
              <a:t>){</a:t>
            </a:r>
          </a:p>
          <a:p>
            <a:pPr marL="1143000" lvl="3" indent="0">
              <a:buNone/>
            </a:pPr>
            <a:r>
              <a:rPr lang="en-US" altLang="zh-CN" sz="1600" dirty="0"/>
              <a:t>    //</a:t>
            </a:r>
            <a:r>
              <a:rPr lang="zh-CN" altLang="en-US" sz="1600" dirty="0"/>
              <a:t>已内建</a:t>
            </a:r>
            <a:r>
              <a:rPr lang="en-US" altLang="zh-CN" sz="1600" dirty="0" err="1"/>
              <a:t>XMLHttpRequest</a:t>
            </a:r>
            <a:r>
              <a:rPr lang="zh-CN" altLang="en-US" sz="1600" dirty="0"/>
              <a:t>对象的浏览器</a:t>
            </a:r>
          </a:p>
          <a:p>
            <a:pPr marL="1143000" lvl="3" indent="0">
              <a:buNone/>
            </a:pPr>
            <a:r>
              <a:rPr lang="zh-CN" altLang="en-US" sz="1600" dirty="0"/>
              <a:t>    </a:t>
            </a:r>
            <a:r>
              <a:rPr lang="en-US" altLang="zh-CN" sz="1600" dirty="0" err="1"/>
              <a:t>xmlHttp</a:t>
            </a:r>
            <a:r>
              <a:rPr lang="en-US" altLang="zh-CN" sz="1600" dirty="0"/>
              <a:t>=new </a:t>
            </a:r>
            <a:r>
              <a:rPr lang="en-US" altLang="zh-CN" sz="1600" dirty="0" err="1"/>
              <a:t>XMLHttpRequest</a:t>
            </a:r>
            <a:r>
              <a:rPr lang="en-US" altLang="zh-CN" sz="1600" dirty="0"/>
              <a:t>();</a:t>
            </a:r>
          </a:p>
          <a:p>
            <a:pPr marL="1143000" lvl="3" indent="0">
              <a:buNone/>
            </a:pPr>
            <a:r>
              <a:rPr lang="en-US" altLang="zh-CN" sz="1600" dirty="0"/>
              <a:t>}</a:t>
            </a:r>
          </a:p>
          <a:p>
            <a:pPr marL="1143000" lvl="3" indent="0">
              <a:buNone/>
            </a:pPr>
            <a:r>
              <a:rPr lang="en-US" altLang="zh-CN" sz="1600" dirty="0"/>
              <a:t>else{</a:t>
            </a:r>
          </a:p>
          <a:p>
            <a:pPr marL="1143000" lvl="3" indent="0">
              <a:buNone/>
            </a:pPr>
            <a:r>
              <a:rPr lang="en-US" altLang="zh-CN" sz="1600" dirty="0"/>
              <a:t>    //IE5</a:t>
            </a:r>
            <a:r>
              <a:rPr lang="zh-CN" altLang="en-US" sz="1600" dirty="0"/>
              <a:t>和</a:t>
            </a:r>
            <a:r>
              <a:rPr lang="en-US" altLang="zh-CN" sz="1600" dirty="0"/>
              <a:t>IE6</a:t>
            </a:r>
          </a:p>
          <a:p>
            <a:pPr marL="1143000" lvl="3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xmlHttp</a:t>
            </a:r>
            <a:r>
              <a:rPr lang="en-US" altLang="zh-CN" sz="1600" dirty="0"/>
              <a:t>=new </a:t>
            </a:r>
            <a:r>
              <a:rPr lang="en-US" altLang="zh-CN" sz="1600" dirty="0" err="1"/>
              <a:t>ActiveXObject</a:t>
            </a:r>
            <a:r>
              <a:rPr lang="en-US" altLang="zh-CN" sz="1600" dirty="0"/>
              <a:t>(“</a:t>
            </a:r>
            <a:r>
              <a:rPr lang="en-US" altLang="zh-CN" sz="1600" dirty="0" err="1"/>
              <a:t>Microsoft.XMLHTTP</a:t>
            </a:r>
            <a:r>
              <a:rPr lang="en-US" altLang="zh-CN" sz="1600" dirty="0"/>
              <a:t>”);</a:t>
            </a:r>
          </a:p>
          <a:p>
            <a:pPr marL="1143000" lvl="3" indent="0"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222</a:t>
            </a:fld>
            <a:endParaRPr lang="zh-CN" altLang="en-US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黑体" panose="02010609060101010101" charset="-122"/>
                <a:ea typeface="黑体" panose="02010609060101010101" charset="-122"/>
                <a:sym typeface="+mn-ea"/>
              </a:rPr>
              <a:t>XMLHttpRequest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对象的方法</a:t>
            </a:r>
            <a:endParaRPr lang="zh-CN" altLang="en-US"/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12115" y="3317394"/>
            <a:ext cx="8229600" cy="303276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open()</a:t>
            </a:r>
            <a:r>
              <a:rPr lang="zh-CN" altLang="en-US" sz="1400" dirty="0"/>
              <a:t>方法建立对服务器的请求，</a:t>
            </a:r>
            <a:r>
              <a:rPr lang="en-US" altLang="zh-CN" sz="1400" dirty="0"/>
              <a:t>open(method, </a:t>
            </a:r>
            <a:r>
              <a:rPr lang="en-US" altLang="zh-CN" sz="1400" dirty="0" err="1"/>
              <a:t>url</a:t>
            </a:r>
            <a:r>
              <a:rPr lang="en-US" altLang="zh-CN" sz="1400" dirty="0"/>
              <a:t>, async, username, password);</a:t>
            </a:r>
            <a:endParaRPr lang="zh-CN" altLang="en-US" sz="1400" dirty="0"/>
          </a:p>
          <a:p>
            <a:pPr lvl="1" defTabSz="914400">
              <a:spcBef>
                <a:spcPts val="0"/>
              </a:spcBef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lang="en-US" altLang="zh-CN" sz="1400" dirty="0"/>
              <a:t>method</a:t>
            </a:r>
            <a:r>
              <a:rPr lang="zh-CN" altLang="en-US" sz="1400" dirty="0"/>
              <a:t>是请求的类型，必选参数，字符串类型，</a:t>
            </a:r>
            <a:r>
              <a:rPr lang="zh-CN" altLang="en-US" sz="1400" dirty="0">
                <a:highlight>
                  <a:srgbClr val="FFFF00"/>
                </a:highlight>
              </a:rPr>
              <a:t>可以是</a:t>
            </a:r>
            <a:r>
              <a:rPr lang="en-US" altLang="zh-CN" sz="1400" dirty="0">
                <a:highlight>
                  <a:srgbClr val="FFFF00"/>
                </a:highlight>
              </a:rPr>
              <a:t>GET</a:t>
            </a:r>
            <a:r>
              <a:rPr lang="zh-CN" altLang="en-US" sz="1400" dirty="0">
                <a:highlight>
                  <a:srgbClr val="FFFF00"/>
                </a:highlight>
              </a:rPr>
              <a:t>、</a:t>
            </a:r>
            <a:r>
              <a:rPr lang="en-US" altLang="zh-CN" sz="1400" dirty="0">
                <a:highlight>
                  <a:srgbClr val="FFFF00"/>
                </a:highlight>
              </a:rPr>
              <a:t>POST</a:t>
            </a:r>
            <a:r>
              <a:rPr lang="zh-CN" altLang="en-US" sz="1400" dirty="0">
                <a:highlight>
                  <a:srgbClr val="FFFF00"/>
                </a:highlight>
              </a:rPr>
              <a:t>或者</a:t>
            </a:r>
            <a:r>
              <a:rPr lang="en-US" altLang="zh-CN" sz="1400" dirty="0">
                <a:highlight>
                  <a:srgbClr val="FFFF00"/>
                </a:highlight>
              </a:rPr>
              <a:t>PUT</a:t>
            </a:r>
            <a:r>
              <a:rPr lang="zh-CN" altLang="en-US" sz="1400" dirty="0"/>
              <a:t>。</a:t>
            </a:r>
            <a:r>
              <a:rPr lang="en-US" altLang="zh-CN" sz="1400" dirty="0" err="1"/>
              <a:t>url</a:t>
            </a:r>
            <a:r>
              <a:rPr lang="zh-CN" altLang="en-US" sz="1400" dirty="0"/>
              <a:t>指的是请求资源的</a:t>
            </a:r>
            <a:r>
              <a:rPr lang="en-US" altLang="zh-CN" sz="1400" dirty="0"/>
              <a:t>URL</a:t>
            </a:r>
            <a:r>
              <a:rPr lang="zh-CN" altLang="en-US" sz="1400" dirty="0"/>
              <a:t>，必选参数，字符串类型，可以是相对路径也可以是绝对路径。</a:t>
            </a:r>
          </a:p>
          <a:p>
            <a:pPr lvl="1" defTabSz="914400">
              <a:spcBef>
                <a:spcPts val="0"/>
              </a:spcBef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lang="en-US" altLang="zh-CN" sz="1400" dirty="0"/>
              <a:t>async</a:t>
            </a:r>
            <a:r>
              <a:rPr lang="zh-CN" altLang="en-US" sz="1400" dirty="0"/>
              <a:t>指是否采用异步请求，可选参数，布尔类型，默认值为</a:t>
            </a:r>
            <a:r>
              <a:rPr lang="en-US" altLang="zh-CN" sz="1400" dirty="0"/>
              <a:t>true</a:t>
            </a:r>
            <a:r>
              <a:rPr lang="zh-CN" altLang="en-US" sz="1400" dirty="0"/>
              <a:t>。如果该参数为</a:t>
            </a:r>
            <a:r>
              <a:rPr lang="en-US" altLang="zh-CN" sz="1400" dirty="0"/>
              <a:t>false</a:t>
            </a:r>
            <a:r>
              <a:rPr lang="zh-CN" altLang="en-US" sz="1400" dirty="0"/>
              <a:t>，则采用同步方式请求，客户端需要等待处理，直到服务器返回为止。</a:t>
            </a:r>
          </a:p>
          <a:p>
            <a:pPr lvl="1" defTabSz="914400">
              <a:spcBef>
                <a:spcPts val="0"/>
              </a:spcBef>
              <a:spcAft>
                <a:spcPts val="400"/>
              </a:spcAft>
              <a:tabLst>
                <a:tab pos="1609725" algn="l"/>
                <a:tab pos="1609725" algn="l"/>
              </a:tabLst>
            </a:pPr>
            <a:r>
              <a:rPr lang="en-US" altLang="zh-CN" sz="1400" dirty="0">
                <a:highlight>
                  <a:srgbClr val="FFFF00"/>
                </a:highlight>
              </a:rPr>
              <a:t>username</a:t>
            </a:r>
            <a:r>
              <a:rPr lang="zh-CN" altLang="en-US" sz="1400" dirty="0">
                <a:highlight>
                  <a:srgbClr val="FFFF00"/>
                </a:highlight>
              </a:rPr>
              <a:t>和</a:t>
            </a:r>
            <a:r>
              <a:rPr lang="en-US" altLang="zh-CN" sz="1400" dirty="0">
                <a:highlight>
                  <a:srgbClr val="FFFF00"/>
                </a:highlight>
              </a:rPr>
              <a:t>password</a:t>
            </a:r>
            <a:r>
              <a:rPr lang="zh-CN" altLang="en-US" sz="1400" dirty="0">
                <a:highlight>
                  <a:srgbClr val="FFFF00"/>
                </a:highlight>
              </a:rPr>
              <a:t>指的是请求服务器资源时需要输入的用户名和密码，均为字符串类型的可选参数。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send()</a:t>
            </a:r>
            <a:r>
              <a:rPr sz="1400" dirty="0">
                <a:sym typeface="+mn-ea"/>
              </a:rPr>
              <a:t>方法用于向服务器发出请求，</a:t>
            </a:r>
            <a:r>
              <a:rPr lang="en-US" altLang="zh-CN" sz="1400" dirty="0">
                <a:sym typeface="+mn-ea"/>
              </a:rPr>
              <a:t>send(content);</a:t>
            </a:r>
            <a:endParaRPr lang="en-US" altLang="zh-CN" sz="14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content</a:t>
            </a:r>
            <a:r>
              <a:rPr sz="1400" dirty="0">
                <a:sym typeface="+mn-ea"/>
              </a:rPr>
              <a:t>为</a:t>
            </a:r>
            <a:r>
              <a:rPr sz="1400" dirty="0">
                <a:highlight>
                  <a:srgbClr val="FFFF00"/>
                </a:highlight>
                <a:sym typeface="+mn-ea"/>
              </a:rPr>
              <a:t>发送的内容</a:t>
            </a:r>
            <a:r>
              <a:rPr sz="1400" dirty="0">
                <a:sym typeface="+mn-ea"/>
              </a:rPr>
              <a:t>，可以为</a:t>
            </a:r>
            <a:r>
              <a:rPr lang="en-US" altLang="zh-CN" sz="1400" dirty="0">
                <a:sym typeface="+mn-ea"/>
              </a:rPr>
              <a:t>null</a:t>
            </a:r>
            <a:r>
              <a:rPr sz="1400" dirty="0">
                <a:sym typeface="+mn-ea"/>
              </a:rPr>
              <a:t>。如果请求是异步的，该方法就会立即返回；如果请求是同步的，则处理会等待直到接收到服务器的响应为止。</a:t>
            </a:r>
            <a:endParaRPr lang="zh-CN" alt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223</a:t>
            </a:fld>
            <a:endParaRPr lang="zh-CN" altLang="en-US"/>
          </a:p>
        </p:txBody>
      </p:sp>
      <p:graphicFrame>
        <p:nvGraphicFramePr>
          <p:cNvPr id="290910" name="Group 9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0895854"/>
              </p:ext>
            </p:extLst>
          </p:nvPr>
        </p:nvGraphicFramePr>
        <p:xfrm>
          <a:off x="1337010" y="1053232"/>
          <a:ext cx="6634480" cy="19735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8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7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89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方法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51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abort()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停止当前请求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getAllResponseHeaders()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返回所有的</a:t>
                      </a: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HTTP</a:t>
                      </a: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响应头信息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getResponseHeader(header)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返回指定的</a:t>
                      </a: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HTTP</a:t>
                      </a: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响应头信息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open(method, url)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建立对服务器的请求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51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send(content)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向服务器发送请求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setRequestHeader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(header, value)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设置指定的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HTTP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请求头信息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986" name="Group 9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479554"/>
              </p:ext>
            </p:extLst>
          </p:nvPr>
        </p:nvGraphicFramePr>
        <p:xfrm>
          <a:off x="774824" y="1434872"/>
          <a:ext cx="7701280" cy="41122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9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属性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onreadystatechange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存储函数（函数名），每当</a:t>
                      </a:r>
                      <a:r>
                        <a:rPr kumimoji="0" lang="en-US" altLang="zh-CN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readyState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属性改变时，都会调用此函数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8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readyState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存有</a:t>
                      </a:r>
                      <a:r>
                        <a:rPr kumimoji="0" lang="en-US" altLang="zh-CN" sz="14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XMLHttpRequest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的状态，值为从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到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表示请求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未初始化；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表示服务器连接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已建立；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表示请求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已接收；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表示请求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处理中；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表示请求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已完成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，且响应已就绪；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responseText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服务器的响应，表示为字符串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responseXML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服务器的响应，表示为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XML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，可以解析成一个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DOM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对象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statusText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返回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HTTP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状态码对应的文本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status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服务器的</a:t>
                      </a: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HTTP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响应状态码，如：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表示成功；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表示错误的请求；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404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表示文件未找到；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表示服务器内部出现错误；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2" marB="34292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224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en-US" altLang="zh-CN" dirty="0" err="1">
                <a:latin typeface="黑体" panose="02010609060101010101" charset="-122"/>
                <a:ea typeface="黑体" panose="02010609060101010101" charset="-122"/>
                <a:sym typeface="+mn-ea"/>
              </a:rPr>
              <a:t>XMLHttpRequest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对象的属性</a:t>
            </a:r>
            <a:endParaRPr lang="zh-CN" altLang="en-US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249"/>
            <a:ext cx="8229600" cy="369824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 err="1"/>
              <a:t>XMLHttpRequest</a:t>
            </a:r>
            <a:r>
              <a:rPr lang="zh-CN" altLang="en-US" sz="1400" dirty="0"/>
              <a:t>对象的工作过程可以分为以下几个步骤：</a:t>
            </a:r>
          </a:p>
          <a:p>
            <a:pPr marL="457200" lvl="1"/>
            <a:r>
              <a:rPr lang="en-US" altLang="zh-CN" sz="1400" dirty="0"/>
              <a:t>1</a:t>
            </a:r>
            <a:r>
              <a:rPr lang="zh-CN" altLang="en-US" sz="1400" dirty="0"/>
              <a:t>．创建：当用户在浏览器提交请求时，需要先创建一个</a:t>
            </a:r>
            <a:r>
              <a:rPr lang="en-US" altLang="zh-CN" sz="1400" dirty="0" err="1"/>
              <a:t>XMLHttpRequest</a:t>
            </a:r>
            <a:r>
              <a:rPr lang="zh-CN" altLang="en-US" sz="1400" dirty="0"/>
              <a:t>对象。</a:t>
            </a:r>
          </a:p>
          <a:p>
            <a:pPr marL="457200" lvl="1"/>
            <a:r>
              <a:rPr lang="en-US" altLang="zh-CN" sz="1400" dirty="0"/>
              <a:t>2</a:t>
            </a:r>
            <a:r>
              <a:rPr lang="zh-CN" altLang="en-US" sz="1400" dirty="0"/>
              <a:t>．初始化请求：调用</a:t>
            </a:r>
            <a:r>
              <a:rPr lang="en-US" altLang="zh-CN" sz="1400" dirty="0" err="1"/>
              <a:t>XMLHttpRequest</a:t>
            </a:r>
            <a:r>
              <a:rPr lang="zh-CN" altLang="en-US" sz="1400" dirty="0"/>
              <a:t>对象的</a:t>
            </a:r>
            <a:r>
              <a:rPr lang="en-US" altLang="zh-CN" sz="1400" dirty="0"/>
              <a:t>open()</a:t>
            </a:r>
            <a:r>
              <a:rPr lang="zh-CN" altLang="en-US" sz="1400" dirty="0"/>
              <a:t>方法进行请求的初始化，并根据</a:t>
            </a:r>
            <a:r>
              <a:rPr lang="en-US" altLang="zh-CN" sz="1400" dirty="0"/>
              <a:t>open()</a:t>
            </a:r>
            <a:r>
              <a:rPr lang="zh-CN" altLang="en-US" sz="1400" dirty="0"/>
              <a:t>方法的参数设置对象的状态。</a:t>
            </a:r>
          </a:p>
          <a:p>
            <a:pPr marL="457200" lvl="1"/>
            <a:r>
              <a:rPr lang="en-US" altLang="zh-CN" sz="1400" dirty="0"/>
              <a:t>3</a:t>
            </a:r>
            <a:r>
              <a:rPr lang="zh-CN" altLang="en-US" sz="1400" dirty="0"/>
              <a:t>．发送请求：调用</a:t>
            </a:r>
            <a:r>
              <a:rPr lang="en-US" altLang="zh-CN" sz="1400" dirty="0" err="1"/>
              <a:t>XMLHttpRequest</a:t>
            </a:r>
            <a:r>
              <a:rPr lang="zh-CN" altLang="en-US" sz="1400" dirty="0"/>
              <a:t>对象的</a:t>
            </a:r>
            <a:r>
              <a:rPr lang="en-US" altLang="zh-CN" sz="1400" dirty="0"/>
              <a:t>send()</a:t>
            </a:r>
            <a:r>
              <a:rPr lang="zh-CN" altLang="en-US" sz="1400" dirty="0"/>
              <a:t>方法向服务器发送请求。</a:t>
            </a:r>
          </a:p>
          <a:p>
            <a:pPr marL="457200" lvl="1"/>
            <a:r>
              <a:rPr lang="en-US" altLang="zh-CN" sz="1400" dirty="0"/>
              <a:t>4</a:t>
            </a:r>
            <a:r>
              <a:rPr lang="zh-CN" altLang="en-US" sz="1400" dirty="0"/>
              <a:t>．解析数据：通过</a:t>
            </a:r>
            <a:r>
              <a:rPr lang="en-US" altLang="zh-CN" sz="1400" dirty="0" err="1"/>
              <a:t>XMLHttpRequest</a:t>
            </a:r>
            <a:r>
              <a:rPr lang="zh-CN" altLang="en-US" sz="1400" dirty="0"/>
              <a:t>对象的属性可以解析原始数据，</a:t>
            </a:r>
            <a:r>
              <a:rPr lang="zh-CN" altLang="en-US" sz="1400" dirty="0">
                <a:highlight>
                  <a:srgbClr val="FFFF00"/>
                </a:highlight>
              </a:rPr>
              <a:t>可以将服务器端返回的数据转换成</a:t>
            </a:r>
            <a:r>
              <a:rPr lang="en-US" altLang="zh-CN" sz="1400" dirty="0" err="1">
                <a:highlight>
                  <a:srgbClr val="FFFF00"/>
                </a:highlight>
              </a:rPr>
              <a:t>responseBody</a:t>
            </a:r>
            <a:r>
              <a:rPr lang="zh-CN" altLang="en-US" sz="1400" dirty="0">
                <a:highlight>
                  <a:srgbClr val="FFFF00"/>
                </a:highlight>
              </a:rPr>
              <a:t>、</a:t>
            </a:r>
            <a:r>
              <a:rPr lang="en-US" altLang="zh-CN" sz="1400" dirty="0" err="1">
                <a:highlight>
                  <a:srgbClr val="FFFF00"/>
                </a:highlight>
              </a:rPr>
              <a:t>responseText</a:t>
            </a:r>
            <a:r>
              <a:rPr lang="zh-CN" altLang="en-US" sz="1400" dirty="0">
                <a:highlight>
                  <a:srgbClr val="FFFF00"/>
                </a:highlight>
              </a:rPr>
              <a:t>、</a:t>
            </a:r>
            <a:r>
              <a:rPr lang="en-US" altLang="zh-CN" sz="1400" dirty="0" err="1">
                <a:highlight>
                  <a:srgbClr val="FFFF00"/>
                </a:highlight>
              </a:rPr>
              <a:t>responseXML</a:t>
            </a:r>
            <a:r>
              <a:rPr lang="zh-CN" altLang="en-US" sz="1400" dirty="0">
                <a:highlight>
                  <a:srgbClr val="FFFF00"/>
                </a:highlight>
              </a:rPr>
              <a:t>等可以被客户端直接使用的属性。</a:t>
            </a:r>
          </a:p>
          <a:p>
            <a:pPr marL="457200" lvl="1"/>
            <a:r>
              <a:rPr lang="en-US" altLang="zh-CN" sz="1400" dirty="0"/>
              <a:t>5</a:t>
            </a:r>
            <a:r>
              <a:rPr lang="zh-CN" altLang="en-US" sz="1400" dirty="0"/>
              <a:t>．完成：解析完成之后，</a:t>
            </a:r>
            <a:r>
              <a:rPr lang="zh-CN" altLang="en-US" sz="1400" dirty="0">
                <a:highlight>
                  <a:srgbClr val="FFFF00"/>
                </a:highlight>
              </a:rPr>
              <a:t>在客户端可以调用</a:t>
            </a:r>
            <a:r>
              <a:rPr lang="en-US" altLang="zh-CN" sz="1400" dirty="0" err="1">
                <a:highlight>
                  <a:srgbClr val="FFFF00"/>
                </a:highlight>
              </a:rPr>
              <a:t>XMLHttpRequest</a:t>
            </a:r>
            <a:r>
              <a:rPr lang="zh-CN" altLang="en-US" sz="1400" dirty="0">
                <a:highlight>
                  <a:srgbClr val="FFFF00"/>
                </a:highlight>
              </a:rPr>
              <a:t>对象的</a:t>
            </a:r>
            <a:r>
              <a:rPr lang="en-US" altLang="zh-CN" sz="1400" dirty="0" err="1">
                <a:highlight>
                  <a:srgbClr val="FFFF00"/>
                </a:highlight>
              </a:rPr>
              <a:t>responseText</a:t>
            </a:r>
            <a:r>
              <a:rPr lang="zh-CN" altLang="en-US" sz="1400" dirty="0">
                <a:highlight>
                  <a:srgbClr val="FFFF00"/>
                </a:highlight>
              </a:rPr>
              <a:t>属性返回字符串类型的数据，使用</a:t>
            </a:r>
            <a:r>
              <a:rPr lang="en-US" altLang="zh-CN" sz="1400" dirty="0" err="1">
                <a:highlight>
                  <a:srgbClr val="FFFF00"/>
                </a:highlight>
              </a:rPr>
              <a:t>XMLHttpRequest</a:t>
            </a:r>
            <a:r>
              <a:rPr lang="zh-CN" altLang="en-US" sz="1400" dirty="0">
                <a:highlight>
                  <a:srgbClr val="FFFF00"/>
                </a:highlight>
              </a:rPr>
              <a:t>对象的</a:t>
            </a:r>
            <a:r>
              <a:rPr lang="en-US" altLang="zh-CN" sz="1400" dirty="0" err="1">
                <a:highlight>
                  <a:srgbClr val="FFFF00"/>
                </a:highlight>
              </a:rPr>
              <a:t>responseXML</a:t>
            </a:r>
            <a:r>
              <a:rPr lang="zh-CN" altLang="en-US" sz="1400" dirty="0">
                <a:highlight>
                  <a:srgbClr val="FFFF00"/>
                </a:highlight>
              </a:rPr>
              <a:t>返回</a:t>
            </a:r>
            <a:r>
              <a:rPr lang="en-US" altLang="zh-CN" sz="1400" dirty="0">
                <a:highlight>
                  <a:srgbClr val="FFFF00"/>
                </a:highlight>
              </a:rPr>
              <a:t>XML Document</a:t>
            </a:r>
            <a:r>
              <a:rPr lang="zh-CN" altLang="en-US" sz="1400" dirty="0">
                <a:highlight>
                  <a:srgbClr val="FFFF00"/>
                </a:highlight>
              </a:rPr>
              <a:t>对象类型的数据。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225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en-US" altLang="zh-CN" dirty="0" err="1">
                <a:latin typeface="黑体" panose="02010609060101010101" charset="-122"/>
                <a:ea typeface="黑体" panose="02010609060101010101" charset="-122"/>
                <a:sym typeface="+mn-ea"/>
              </a:rPr>
              <a:t>XMLHttpRequest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对象的工作过程</a:t>
            </a:r>
            <a:endParaRPr lang="zh-CN" altLang="en-US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591" y="512017"/>
            <a:ext cx="1457451" cy="400110"/>
          </a:xfrm>
        </p:spPr>
        <p:txBody>
          <a:bodyPr/>
          <a:lstStyle/>
          <a:p>
            <a:r>
              <a:rPr dirty="0"/>
              <a:t>示例：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630"/>
            <a:ext cx="8195310" cy="4953664"/>
          </a:xfr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&lt;script&gt;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var </a:t>
            </a:r>
            <a:r>
              <a:rPr lang="en-US" altLang="zh-CN" sz="1350" dirty="0" err="1">
                <a:ea typeface="宋体" panose="02010600030101010101" pitchFamily="2" charset="-122"/>
              </a:rPr>
              <a:t>xmlHttp</a:t>
            </a:r>
            <a:r>
              <a:rPr lang="en-US" altLang="zh-CN" sz="1350" dirty="0">
                <a:ea typeface="宋体" panose="02010600030101010101" pitchFamily="2" charset="-122"/>
              </a:rPr>
              <a:t>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function </a:t>
            </a:r>
            <a:r>
              <a:rPr lang="en-US" altLang="zh-CN" sz="1350" dirty="0" err="1">
                <a:ea typeface="宋体" panose="02010600030101010101" pitchFamily="2" charset="-122"/>
              </a:rPr>
              <a:t>createXMLHttpRequest</a:t>
            </a:r>
            <a:r>
              <a:rPr lang="en-US" altLang="zh-CN" sz="1350" dirty="0">
                <a:ea typeface="宋体" panose="02010600030101010101" pitchFamily="2" charset="-122"/>
              </a:rPr>
              <a:t>() { </a:t>
            </a:r>
            <a:r>
              <a:rPr lang="en-US" altLang="zh-CN" sz="1350" dirty="0" err="1">
                <a:ea typeface="宋体" panose="02010600030101010101" pitchFamily="2" charset="-122"/>
              </a:rPr>
              <a:t>xmlHttp</a:t>
            </a:r>
            <a:r>
              <a:rPr lang="en-US" altLang="zh-CN" sz="1350" dirty="0">
                <a:ea typeface="宋体" panose="02010600030101010101" pitchFamily="2" charset="-122"/>
              </a:rPr>
              <a:t> = new </a:t>
            </a:r>
            <a:r>
              <a:rPr lang="en-US" altLang="zh-CN" sz="1350" dirty="0" err="1">
                <a:ea typeface="宋体" panose="02010600030101010101" pitchFamily="2" charset="-122"/>
              </a:rPr>
              <a:t>XMLHttpRequest</a:t>
            </a:r>
            <a:r>
              <a:rPr lang="en-US" altLang="zh-CN" sz="1350" dirty="0">
                <a:ea typeface="宋体" panose="02010600030101010101" pitchFamily="2" charset="-122"/>
              </a:rPr>
              <a:t>(); }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  //</a:t>
            </a:r>
            <a:r>
              <a:rPr lang="zh-CN" altLang="en-US" sz="1350" dirty="0">
                <a:ea typeface="宋体" panose="02010600030101010101" pitchFamily="2" charset="-122"/>
              </a:rPr>
              <a:t>处理从服务器返回的响应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function processor() {	</a:t>
            </a:r>
            <a:endParaRPr lang="zh-CN" altLang="en-US" sz="135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  if (</a:t>
            </a:r>
            <a:r>
              <a:rPr lang="en-US" altLang="zh-CN" sz="1350" dirty="0" err="1">
                <a:ea typeface="宋体" panose="02010600030101010101" pitchFamily="2" charset="-122"/>
              </a:rPr>
              <a:t>xmlHttp.readyState</a:t>
            </a:r>
            <a:r>
              <a:rPr lang="en-US" altLang="zh-CN" sz="1350" dirty="0">
                <a:ea typeface="宋体" panose="02010600030101010101" pitchFamily="2" charset="-122"/>
              </a:rPr>
              <a:t> == 4) {  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//</a:t>
            </a:r>
            <a:r>
              <a:rPr sz="1350" dirty="0">
                <a:ea typeface="宋体" panose="02010600030101010101" pitchFamily="2" charset="-122"/>
                <a:sym typeface="+mn-ea"/>
              </a:rPr>
              <a:t>响应完成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1350" dirty="0">
                <a:ea typeface="宋体" panose="02010600030101010101" pitchFamily="2" charset="-122"/>
              </a:rPr>
              <a:t>	</a:t>
            </a:r>
            <a:r>
              <a:rPr lang="en-US" altLang="zh-CN" sz="1350" dirty="0">
                <a:ea typeface="宋体" panose="02010600030101010101" pitchFamily="2" charset="-122"/>
              </a:rPr>
              <a:t>if (</a:t>
            </a:r>
            <a:r>
              <a:rPr lang="en-US" altLang="zh-CN" sz="1350" dirty="0" err="1">
                <a:ea typeface="宋体" panose="02010600030101010101" pitchFamily="2" charset="-122"/>
              </a:rPr>
              <a:t>xmlHttp.status</a:t>
            </a:r>
            <a:r>
              <a:rPr lang="en-US" altLang="zh-CN" sz="1350" dirty="0">
                <a:ea typeface="宋体" panose="02010600030101010101" pitchFamily="2" charset="-122"/>
              </a:rPr>
              <a:t> == 200) {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	//</a:t>
            </a:r>
            <a:r>
              <a:rPr sz="1350" dirty="0">
                <a:ea typeface="宋体" panose="02010600030101010101" pitchFamily="2" charset="-122"/>
                <a:sym typeface="+mn-ea"/>
              </a:rPr>
              <a:t>响应成功</a:t>
            </a:r>
            <a:endParaRPr lang="zh-CN" altLang="en-US" sz="135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	 } var txt = </a:t>
            </a:r>
            <a:r>
              <a:rPr lang="en-US" altLang="zh-CN" sz="1350" dirty="0" err="1">
                <a:highlight>
                  <a:srgbClr val="FFFF00"/>
                </a:highlight>
                <a:ea typeface="宋体" panose="02010600030101010101" pitchFamily="2" charset="-122"/>
              </a:rPr>
              <a:t>xmlHttp.responseText</a:t>
            </a:r>
            <a:r>
              <a:rPr lang="en-US" altLang="zh-CN" sz="1350" dirty="0">
                <a:highlight>
                  <a:srgbClr val="FFFF00"/>
                </a:highlight>
                <a:ea typeface="宋体" panose="02010600030101010101" pitchFamily="2" charset="-122"/>
              </a:rPr>
              <a:t>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	  </a:t>
            </a:r>
            <a:r>
              <a:rPr lang="en-US" altLang="zh-CN" sz="1350" dirty="0" err="1">
                <a:ea typeface="宋体" panose="02010600030101010101" pitchFamily="2" charset="-122"/>
              </a:rPr>
              <a:t>document.getElementById</a:t>
            </a:r>
            <a:r>
              <a:rPr lang="en-US" altLang="zh-CN" sz="1350" dirty="0">
                <a:ea typeface="宋体" panose="02010600030101010101" pitchFamily="2" charset="-122"/>
              </a:rPr>
              <a:t>("</a:t>
            </a:r>
            <a:r>
              <a:rPr lang="en-US" altLang="zh-CN" sz="1350" dirty="0" err="1">
                <a:ea typeface="宋体" panose="02010600030101010101" pitchFamily="2" charset="-122"/>
              </a:rPr>
              <a:t>div_msg</a:t>
            </a:r>
            <a:r>
              <a:rPr lang="en-US" altLang="zh-CN" sz="1350" dirty="0">
                <a:ea typeface="宋体" panose="02010600030101010101" pitchFamily="2" charset="-122"/>
              </a:rPr>
              <a:t>").</a:t>
            </a:r>
            <a:r>
              <a:rPr lang="en-US" altLang="zh-CN" sz="1350" dirty="0" err="1">
                <a:ea typeface="宋体" panose="02010600030101010101" pitchFamily="2" charset="-122"/>
              </a:rPr>
              <a:t>innerHTML</a:t>
            </a:r>
            <a:r>
              <a:rPr lang="en-US" altLang="zh-CN" sz="1350" dirty="0">
                <a:ea typeface="宋体" panose="02010600030101010101" pitchFamily="2" charset="-122"/>
              </a:rPr>
              <a:t> = txt;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  }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}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  function 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requestData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() {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createXMLHttpRequest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();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xmlHtt</a:t>
            </a:r>
            <a:r>
              <a:rPr lang="en-US" altLang="zh-CN" sz="1350" dirty="0" err="1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p.onreadystatechange</a:t>
            </a:r>
            <a:r>
              <a:rPr lang="en-US" altLang="zh-CN" sz="135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= processor; //</a:t>
            </a:r>
            <a:r>
              <a:rPr sz="1350" dirty="0">
                <a:ea typeface="宋体" panose="02010600030101010101" pitchFamily="2" charset="-122"/>
                <a:sym typeface="+mn-ea"/>
              </a:rPr>
              <a:t>将状态触发器绑定到函数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    //</a:t>
            </a:r>
            <a:r>
              <a:rPr sz="1350" dirty="0">
                <a:ea typeface="宋体" panose="02010600030101010101" pitchFamily="2" charset="-122"/>
                <a:sym typeface="+mn-ea"/>
              </a:rPr>
              <a:t>通过请求参数中使用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Math.random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()</a:t>
            </a:r>
            <a:r>
              <a:rPr sz="1350" dirty="0">
                <a:ea typeface="宋体" panose="02010600030101010101" pitchFamily="2" charset="-122"/>
                <a:sym typeface="+mn-ea"/>
              </a:rPr>
              <a:t>获取随机数来避免使用缓存中的数据</a:t>
            </a:r>
            <a:endParaRPr lang="zh-CN" altLang="en-US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xmlHttp.open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("GET","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RequestDataServlet?name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sbd&amp;somekvs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...&amp;t="+ 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Math.random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(), true);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xmlHttp.send</a:t>
            </a: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(null);  //</a:t>
            </a:r>
            <a:r>
              <a:rPr sz="1350" dirty="0">
                <a:ea typeface="宋体" panose="02010600030101010101" pitchFamily="2" charset="-122"/>
                <a:sym typeface="+mn-ea"/>
              </a:rPr>
              <a:t>服务器处理方法略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  }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  <a:sym typeface="+mn-ea"/>
              </a:rPr>
              <a:t>&lt;/script&gt;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zh-CN" altLang="en-US" sz="1350" dirty="0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226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36090" y="430530"/>
            <a:ext cx="691642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dirty="0">
                <a:sym typeface="+mn-ea"/>
              </a:rPr>
              <a:t>以</a:t>
            </a:r>
            <a:r>
              <a:rPr lang="en-US" altLang="zh-CN" dirty="0">
                <a:sym typeface="+mn-ea"/>
              </a:rPr>
              <a:t>GET</a:t>
            </a:r>
            <a:r>
              <a:rPr lang="zh-CN" altLang="en-US" dirty="0">
                <a:sym typeface="+mn-ea"/>
              </a:rPr>
              <a:t>方式向服务器端的</a:t>
            </a:r>
            <a:r>
              <a:rPr lang="en-US" altLang="zh-CN" dirty="0" err="1">
                <a:sym typeface="+mn-ea"/>
              </a:rPr>
              <a:t>RequestDataServlet</a:t>
            </a:r>
            <a:r>
              <a:rPr lang="zh-CN" altLang="en-US" dirty="0">
                <a:sym typeface="+mn-ea"/>
              </a:rPr>
              <a:t>提交请求，附加参数，不允许使用缓存中的数据。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>
                <a:ea typeface="宋体" panose="02010600030101010101" pitchFamily="2" charset="-122"/>
                <a:sym typeface="+mn-ea"/>
              </a:rPr>
              <a:t>使用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AJAX</a:t>
            </a:r>
            <a:r>
              <a:rPr>
                <a:ea typeface="宋体" panose="02010600030101010101" pitchFamily="2" charset="-122"/>
                <a:sym typeface="+mn-ea"/>
              </a:rPr>
              <a:t>实现关键字提示（部分实例）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86741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使用</a:t>
            </a:r>
            <a:r>
              <a:rPr lang="en-US" altLang="zh-CN" sz="1400" dirty="0"/>
              <a:t>AJAX</a:t>
            </a:r>
            <a:r>
              <a:rPr lang="zh-CN" altLang="en-US" sz="1400" dirty="0"/>
              <a:t>请求</a:t>
            </a:r>
            <a:r>
              <a:rPr lang="en-US" altLang="zh-CN" sz="1400" dirty="0"/>
              <a:t>JSP</a:t>
            </a:r>
            <a:r>
              <a:rPr lang="zh-CN" altLang="en-US" sz="1400" dirty="0"/>
              <a:t>资源与请求</a:t>
            </a:r>
            <a:r>
              <a:rPr lang="en-US" altLang="zh-CN" sz="1400" dirty="0"/>
              <a:t>Servlet</a:t>
            </a:r>
            <a:r>
              <a:rPr lang="zh-CN" altLang="en-US" sz="1400" dirty="0"/>
              <a:t>资源类似。</a:t>
            </a:r>
            <a:r>
              <a:rPr lang="zh-CN" altLang="en-US" sz="1400" dirty="0">
                <a:highlight>
                  <a:srgbClr val="FFFF00"/>
                </a:highlight>
              </a:rPr>
              <a:t>如果不使用</a:t>
            </a:r>
            <a:r>
              <a:rPr lang="en-US" altLang="zh-CN" sz="1400" dirty="0">
                <a:highlight>
                  <a:srgbClr val="FFFF00"/>
                </a:highlight>
              </a:rPr>
              <a:t>AJAX</a:t>
            </a:r>
            <a:r>
              <a:rPr lang="zh-CN" altLang="en-US" sz="1400" dirty="0">
                <a:highlight>
                  <a:srgbClr val="FFFF00"/>
                </a:highlight>
              </a:rPr>
              <a:t>请求</a:t>
            </a:r>
            <a:r>
              <a:rPr lang="en-US" altLang="zh-CN" sz="1400" dirty="0">
                <a:highlight>
                  <a:srgbClr val="FFFF00"/>
                </a:highlight>
              </a:rPr>
              <a:t>JSP</a:t>
            </a:r>
            <a:r>
              <a:rPr lang="zh-CN" altLang="en-US" sz="1400" dirty="0">
                <a:highlight>
                  <a:srgbClr val="FFFF00"/>
                </a:highlight>
              </a:rPr>
              <a:t>资源，需要刷新页面，等待服务器的返回结果。如果使用</a:t>
            </a:r>
            <a:r>
              <a:rPr lang="en-US" altLang="zh-CN" sz="1400" dirty="0">
                <a:highlight>
                  <a:srgbClr val="FFFF00"/>
                </a:highlight>
              </a:rPr>
              <a:t>AJAX</a:t>
            </a:r>
            <a:r>
              <a:rPr lang="zh-CN" altLang="en-US" sz="1400" dirty="0">
                <a:highlight>
                  <a:srgbClr val="FFFF00"/>
                </a:highlight>
              </a:rPr>
              <a:t>异步请求</a:t>
            </a:r>
            <a:r>
              <a:rPr lang="en-US" altLang="zh-CN" sz="1400" dirty="0">
                <a:highlight>
                  <a:srgbClr val="FFFF00"/>
                </a:highlight>
              </a:rPr>
              <a:t>JSP</a:t>
            </a:r>
            <a:r>
              <a:rPr lang="zh-CN" altLang="en-US" sz="1400" dirty="0">
                <a:highlight>
                  <a:srgbClr val="FFFF00"/>
                </a:highlight>
              </a:rPr>
              <a:t>资源，则不用刷新页面，也不用等待服务器的返回结果。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227</a:t>
            </a:fld>
            <a:endParaRPr lang="zh-CN" altLang="en-US"/>
          </a:p>
        </p:txBody>
      </p:sp>
      <p:sp>
        <p:nvSpPr>
          <p:cNvPr id="33794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338758" y="1849327"/>
            <a:ext cx="8229600" cy="495046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function processor() {  //</a:t>
            </a:r>
            <a:r>
              <a:rPr sz="1350">
                <a:ea typeface="宋体" panose="02010600030101010101" pitchFamily="2" charset="-122"/>
                <a:sym typeface="+mn-ea"/>
              </a:rPr>
              <a:t>处理从服务器返回的响应</a:t>
            </a:r>
            <a:endParaRPr lang="zh-CN" altLang="en-US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  if (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xmlHttp.readyState</a:t>
            </a:r>
            <a:r>
              <a:rPr lang="en-US" altLang="zh-CN" sz="1350">
                <a:ea typeface="宋体" panose="02010600030101010101" pitchFamily="2" charset="-122"/>
                <a:sym typeface="+mn-ea"/>
              </a:rPr>
              <a:t> == 4) {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    if (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xmlHttp.status</a:t>
            </a:r>
            <a:r>
              <a:rPr lang="en-US" altLang="zh-CN" sz="1350">
                <a:ea typeface="宋体" panose="02010600030101010101" pitchFamily="2" charset="-122"/>
                <a:sym typeface="+mn-ea"/>
              </a:rPr>
              <a:t> == 200) {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	var txt = 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xmlHttp.responseText</a:t>
            </a:r>
            <a:r>
              <a:rPr lang="en-US" altLang="zh-CN" sz="1350">
                <a:ea typeface="宋体" panose="02010600030101010101" pitchFamily="2" charset="-122"/>
                <a:sym typeface="+mn-ea"/>
              </a:rPr>
              <a:t>;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document.getElementById</a:t>
            </a:r>
            <a:r>
              <a:rPr lang="en-US" altLang="zh-CN" sz="1350">
                <a:ea typeface="宋体" panose="02010600030101010101" pitchFamily="2" charset="-122"/>
                <a:sym typeface="+mn-ea"/>
              </a:rPr>
              <a:t>("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div_msg</a:t>
            </a:r>
            <a:r>
              <a:rPr lang="en-US" altLang="zh-CN" sz="1350">
                <a:ea typeface="宋体" panose="02010600030101010101" pitchFamily="2" charset="-122"/>
                <a:sym typeface="+mn-ea"/>
              </a:rPr>
              <a:t>").</a:t>
            </a:r>
            <a:r>
              <a:rPr lang="en-US" altLang="zh-CN" sz="1350" dirty="0" err="1">
                <a:ea typeface="宋体" panose="02010600030101010101" pitchFamily="2" charset="-122"/>
                <a:sym typeface="+mn-ea"/>
              </a:rPr>
              <a:t>innerHTML</a:t>
            </a:r>
            <a:r>
              <a:rPr lang="en-US" altLang="zh-CN" sz="1350">
                <a:ea typeface="宋体" panose="02010600030101010101" pitchFamily="2" charset="-122"/>
                <a:sym typeface="+mn-ea"/>
              </a:rPr>
              <a:t> = txt;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    }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  }</a:t>
            </a:r>
            <a:endParaRPr lang="en-US" altLang="zh-CN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>
                <a:ea typeface="宋体" panose="02010600030101010101" pitchFamily="2" charset="-122"/>
                <a:sym typeface="+mn-ea"/>
              </a:rPr>
              <a:t>}</a:t>
            </a:r>
            <a:endParaRPr lang="zh-CN" altLang="en-US" sz="1350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function </a:t>
            </a:r>
            <a:r>
              <a:rPr lang="en-US" altLang="zh-CN" sz="1350" dirty="0" err="1">
                <a:ea typeface="宋体" panose="02010600030101010101" pitchFamily="2" charset="-122"/>
              </a:rPr>
              <a:t>getKeywords</a:t>
            </a:r>
            <a:r>
              <a:rPr lang="en-US" altLang="zh-CN" sz="1350" dirty="0">
                <a:ea typeface="宋体" panose="02010600030101010101" pitchFamily="2" charset="-122"/>
              </a:rPr>
              <a:t>(info) {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if(</a:t>
            </a:r>
            <a:r>
              <a:rPr lang="en-US" altLang="zh-CN" sz="1350" dirty="0" err="1">
                <a:ea typeface="宋体" panose="02010600030101010101" pitchFamily="2" charset="-122"/>
              </a:rPr>
              <a:t>info.length</a:t>
            </a:r>
            <a:r>
              <a:rPr lang="en-US" altLang="zh-CN" sz="1350" dirty="0">
                <a:ea typeface="宋体" panose="02010600030101010101" pitchFamily="2" charset="-122"/>
              </a:rPr>
              <a:t>==0){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 err="1">
                <a:ea typeface="宋体" panose="02010600030101010101" pitchFamily="2" charset="-122"/>
              </a:rPr>
              <a:t>    document.getElementById</a:t>
            </a:r>
            <a:r>
              <a:rPr lang="en-US" altLang="zh-CN" sz="1350" dirty="0">
                <a:ea typeface="宋体" panose="02010600030101010101" pitchFamily="2" charset="-122"/>
              </a:rPr>
              <a:t>("</a:t>
            </a:r>
            <a:r>
              <a:rPr lang="en-US" altLang="zh-CN" sz="1350" dirty="0" err="1">
                <a:ea typeface="宋体" panose="02010600030101010101" pitchFamily="2" charset="-122"/>
              </a:rPr>
              <a:t>div_msg</a:t>
            </a:r>
            <a:r>
              <a:rPr lang="en-US" altLang="zh-CN" sz="1350" dirty="0">
                <a:ea typeface="宋体" panose="02010600030101010101" pitchFamily="2" charset="-122"/>
              </a:rPr>
              <a:t>").</a:t>
            </a:r>
            <a:r>
              <a:rPr lang="en-US" altLang="zh-CN" sz="1350" dirty="0" err="1">
                <a:ea typeface="宋体" panose="02010600030101010101" pitchFamily="2" charset="-122"/>
              </a:rPr>
              <a:t>innerHTML</a:t>
            </a:r>
            <a:r>
              <a:rPr lang="en-US" altLang="zh-CN" sz="1350" dirty="0">
                <a:ea typeface="宋体" panose="02010600030101010101" pitchFamily="2" charset="-122"/>
              </a:rPr>
              <a:t>="";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  return;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  }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 err="1">
                <a:ea typeface="宋体" panose="02010600030101010101" pitchFamily="2" charset="-122"/>
              </a:rPr>
              <a:t>  createXMLHttpRequest</a:t>
            </a:r>
            <a:r>
              <a:rPr lang="en-US" altLang="zh-CN" sz="135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 err="1">
                <a:ea typeface="宋体" panose="02010600030101010101" pitchFamily="2" charset="-122"/>
              </a:rPr>
              <a:t>  xmlHttp.onreadystatechange</a:t>
            </a:r>
            <a:r>
              <a:rPr lang="en-US" altLang="zh-CN" sz="1350" dirty="0">
                <a:ea typeface="宋体" panose="02010600030101010101" pitchFamily="2" charset="-122"/>
              </a:rPr>
              <a:t> = processor;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 err="1">
                <a:ea typeface="宋体" panose="02010600030101010101" pitchFamily="2" charset="-122"/>
              </a:rPr>
              <a:t>  xmlHttp.open</a:t>
            </a:r>
            <a:r>
              <a:rPr lang="en-US" altLang="zh-CN" sz="1350" dirty="0">
                <a:ea typeface="宋体" panose="02010600030101010101" pitchFamily="2" charset="-122"/>
              </a:rPr>
              <a:t>("GET","</a:t>
            </a:r>
            <a:r>
              <a:rPr lang="en-US" altLang="zh-CN" sz="1350" dirty="0" err="1">
                <a:ea typeface="宋体" panose="02010600030101010101" pitchFamily="2" charset="-122"/>
              </a:rPr>
              <a:t>getKeywords.jsp?info</a:t>
            </a:r>
            <a:r>
              <a:rPr lang="en-US" altLang="zh-CN" sz="1350" dirty="0">
                <a:ea typeface="宋体" panose="02010600030101010101" pitchFamily="2" charset="-122"/>
              </a:rPr>
              <a:t>="+info+"&amp;t="+ </a:t>
            </a:r>
            <a:r>
              <a:rPr lang="en-US" altLang="zh-CN" sz="1350" dirty="0" err="1">
                <a:ea typeface="宋体" panose="02010600030101010101" pitchFamily="2" charset="-122"/>
              </a:rPr>
              <a:t>Math.random</a:t>
            </a:r>
            <a:r>
              <a:rPr lang="en-US" altLang="zh-CN" sz="1350" dirty="0">
                <a:ea typeface="宋体" panose="02010600030101010101" pitchFamily="2" charset="-122"/>
              </a:rPr>
              <a:t>(), true);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 err="1">
                <a:ea typeface="宋体" panose="02010600030101010101" pitchFamily="2" charset="-122"/>
              </a:rPr>
              <a:t>  xmlHttp.send</a:t>
            </a:r>
            <a:r>
              <a:rPr lang="en-US" altLang="zh-CN" sz="1350" dirty="0">
                <a:ea typeface="宋体" panose="02010600030101010101" pitchFamily="2" charset="-122"/>
              </a:rPr>
              <a:t>(null);</a:t>
            </a:r>
          </a:p>
          <a:p>
            <a:pPr marL="457200" indent="-457200"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350" dirty="0">
                <a:ea typeface="宋体" panose="02010600030101010101" pitchFamily="2" charset="-122"/>
              </a:rPr>
              <a:t>}</a:t>
            </a:r>
            <a:endParaRPr lang="zh-CN" altLang="en-US" sz="135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AJAX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与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XML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906145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XML</a:t>
            </a:r>
            <a:r>
              <a:rPr lang="zh-CN" altLang="en-US" sz="1400" dirty="0"/>
              <a:t>是一种交换数据的标记语言，是通用标识语言标准（</a:t>
            </a:r>
            <a:r>
              <a:rPr lang="en-US" altLang="zh-CN" sz="1400" dirty="0"/>
              <a:t>Standard Generalized Markup Language</a:t>
            </a:r>
            <a:r>
              <a:rPr lang="zh-CN" altLang="en-US" sz="1400" dirty="0"/>
              <a:t>，</a:t>
            </a:r>
            <a:r>
              <a:rPr lang="en-US" altLang="zh-CN" sz="1400" dirty="0"/>
              <a:t>SGML</a:t>
            </a:r>
            <a:r>
              <a:rPr lang="zh-CN" altLang="en-US" sz="1400" dirty="0"/>
              <a:t>）的子集，使用</a:t>
            </a:r>
            <a:r>
              <a:rPr lang="en-US" altLang="zh-CN" sz="1400" dirty="0"/>
              <a:t>XML</a:t>
            </a:r>
            <a:r>
              <a:rPr lang="zh-CN" altLang="en-US" sz="1400" dirty="0"/>
              <a:t>语言组织的数据可以显示在浏览器上。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228</a:t>
            </a:fld>
            <a:endParaRPr lang="zh-CN" altLang="en-US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AJAX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与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XML</a:t>
            </a:r>
            <a:endParaRPr lang="zh-CN" altLang="en-US"/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885190"/>
            <a:ext cx="8541385" cy="5455920"/>
          </a:xfr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sym typeface="+mn-ea"/>
              </a:rPr>
              <a:t>XML</a:t>
            </a:r>
            <a:r>
              <a:rPr sz="1400" dirty="0">
                <a:sym typeface="+mn-ea"/>
              </a:rPr>
              <a:t>是一种交换数据的标记语言，是通用标识语言标准（</a:t>
            </a:r>
            <a:r>
              <a:rPr lang="en-US" altLang="zh-CN" sz="1400" dirty="0">
                <a:sym typeface="+mn-ea"/>
              </a:rPr>
              <a:t>Standard Generalized Markup Language</a:t>
            </a:r>
            <a:r>
              <a:rPr sz="1400" dirty="0">
                <a:sym typeface="+mn-ea"/>
              </a:rPr>
              <a:t>，</a:t>
            </a:r>
            <a:r>
              <a:rPr lang="en-US" altLang="zh-CN" sz="1400" dirty="0">
                <a:sym typeface="+mn-ea"/>
              </a:rPr>
              <a:t>SGML</a:t>
            </a:r>
            <a:r>
              <a:rPr sz="1400" dirty="0">
                <a:sym typeface="+mn-ea"/>
              </a:rPr>
              <a:t>）的子集，使用</a:t>
            </a:r>
            <a:r>
              <a:rPr lang="en-US" altLang="zh-CN" sz="1400" dirty="0">
                <a:sym typeface="+mn-ea"/>
              </a:rPr>
              <a:t>XML</a:t>
            </a:r>
            <a:r>
              <a:rPr sz="1400" dirty="0">
                <a:sym typeface="+mn-ea"/>
              </a:rPr>
              <a:t>语言组织的数据可以显示在浏览器上。</a:t>
            </a:r>
            <a:endParaRPr lang="zh-CN" altLang="en-US" sz="14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/>
              <a:t>1</a:t>
            </a:r>
            <a:r>
              <a:rPr lang="zh-CN" altLang="en-US" sz="1400" dirty="0"/>
              <a:t>．</a:t>
            </a:r>
            <a:r>
              <a:rPr sz="1400" dirty="0">
                <a:sym typeface="+mn-ea"/>
              </a:rPr>
              <a:t>使用</a:t>
            </a:r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在</a:t>
            </a:r>
            <a:r>
              <a:rPr lang="zh-CN" altLang="en-US" sz="1400" dirty="0"/>
              <a:t>客户端和服务器端</a:t>
            </a:r>
            <a:r>
              <a:rPr lang="zh-CN" altLang="en-US" sz="1400" dirty="0">
                <a:highlight>
                  <a:srgbClr val="FFFF00"/>
                </a:highlight>
              </a:rPr>
              <a:t>交互</a:t>
            </a:r>
            <a:r>
              <a:rPr lang="en-US" altLang="zh-CN" sz="1400" dirty="0">
                <a:highlight>
                  <a:srgbClr val="FFFF00"/>
                </a:highlight>
              </a:rPr>
              <a:t>XML</a:t>
            </a:r>
            <a:r>
              <a:rPr lang="zh-CN" altLang="en-US" sz="1400" dirty="0">
                <a:highlight>
                  <a:srgbClr val="FFFF00"/>
                </a:highlight>
              </a:rPr>
              <a:t>数据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）由客户端向服务器端发送</a:t>
            </a:r>
            <a:r>
              <a:rPr lang="en-US" altLang="zh-CN" sz="1400" dirty="0"/>
              <a:t>XML</a:t>
            </a:r>
            <a:r>
              <a:rPr lang="zh-CN" altLang="en-US" sz="1400" dirty="0"/>
              <a:t>数据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客户端向服务器端传送</a:t>
            </a:r>
            <a:r>
              <a:rPr lang="en-US" altLang="zh-CN" sz="1400" dirty="0"/>
              <a:t>XML</a:t>
            </a:r>
            <a:r>
              <a:rPr lang="zh-CN" altLang="en-US" sz="1400" dirty="0"/>
              <a:t>数据时，使用</a:t>
            </a:r>
            <a:r>
              <a:rPr lang="en-US" altLang="zh-CN" sz="1400" dirty="0"/>
              <a:t>POST</a:t>
            </a:r>
            <a:r>
              <a:rPr lang="zh-CN" altLang="en-US" sz="1400" dirty="0"/>
              <a:t>方式。例如：</a:t>
            </a:r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var xml=“&lt;type&gt;data&lt;/type&gt;”; </a:t>
            </a:r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var </a:t>
            </a:r>
            <a:r>
              <a:rPr lang="en-US" altLang="zh-CN" sz="1400" dirty="0" err="1"/>
              <a:t>url</a:t>
            </a:r>
            <a:r>
              <a:rPr lang="en-US" altLang="zh-CN" sz="1400" dirty="0"/>
              <a:t>=“</a:t>
            </a:r>
            <a:r>
              <a:rPr lang="en-US" altLang="zh-CN" sz="1400" dirty="0" err="1"/>
              <a:t>GetXMLServlet?t</a:t>
            </a:r>
            <a:r>
              <a:rPr lang="en-US" altLang="zh-CN" sz="1400" dirty="0"/>
              <a:t>=”+</a:t>
            </a:r>
            <a:r>
              <a:rPr lang="en-US" altLang="zh-CN" sz="1400" dirty="0" err="1"/>
              <a:t>Math.random</a:t>
            </a:r>
            <a:r>
              <a:rPr lang="en-US" altLang="zh-CN" sz="1400" dirty="0"/>
              <a:t>();</a:t>
            </a:r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xmlHttp.onreadystatechange</a:t>
            </a:r>
            <a:r>
              <a:rPr lang="zh-CN" altLang="en-US" sz="1400" dirty="0"/>
              <a:t>＝</a:t>
            </a:r>
            <a:r>
              <a:rPr lang="en-US" altLang="zh-CN" sz="1400" dirty="0"/>
              <a:t>processor; </a:t>
            </a:r>
            <a:r>
              <a:rPr lang="en-US" altLang="zh-CN" sz="1400" dirty="0">
                <a:sym typeface="+mn-ea"/>
              </a:rPr>
              <a:t>//</a:t>
            </a:r>
            <a:r>
              <a:rPr sz="1400" dirty="0">
                <a:sym typeface="+mn-ea"/>
              </a:rPr>
              <a:t>绑定状态触发器</a:t>
            </a:r>
            <a:endParaRPr lang="en-US" altLang="zh-CN" sz="1400" dirty="0"/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//</a:t>
            </a:r>
            <a:r>
              <a:rPr lang="zh-CN" altLang="en-US" sz="1400" dirty="0"/>
              <a:t>设置请求报头</a:t>
            </a:r>
            <a:r>
              <a:rPr lang="en-US" altLang="zh-CN" sz="1400" dirty="0"/>
              <a:t>Content-Type</a:t>
            </a:r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highlight>
                  <a:srgbClr val="FFFF00"/>
                </a:highlight>
              </a:rPr>
              <a:t>xmlHttp.setRequestHeader</a:t>
            </a:r>
            <a:r>
              <a:rPr lang="en-US" altLang="zh-CN" sz="1400" dirty="0">
                <a:highlight>
                  <a:srgbClr val="FFFF00"/>
                </a:highlight>
              </a:rPr>
              <a:t>(“Content-Type”, “application/x-www-form-</a:t>
            </a:r>
            <a:r>
              <a:rPr lang="en-US" altLang="zh-CN" sz="1400" dirty="0" err="1">
                <a:highlight>
                  <a:srgbClr val="FFFF00"/>
                </a:highlight>
              </a:rPr>
              <a:t>urlencoded</a:t>
            </a:r>
            <a:r>
              <a:rPr lang="en-US" altLang="zh-CN" sz="1400" dirty="0">
                <a:highlight>
                  <a:srgbClr val="FFFF00"/>
                </a:highlight>
              </a:rPr>
              <a:t>”);</a:t>
            </a:r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xmlHttp.open</a:t>
            </a:r>
            <a:r>
              <a:rPr lang="en-US" altLang="zh-CN" sz="1400" dirty="0"/>
              <a:t>(“post”,</a:t>
            </a:r>
            <a:r>
              <a:rPr lang="en-US" altLang="zh-CN" sz="1400" dirty="0" err="1"/>
              <a:t>url,true</a:t>
            </a:r>
            <a:r>
              <a:rPr lang="en-US" altLang="zh-CN" sz="1400" dirty="0"/>
              <a:t>);  </a:t>
            </a:r>
            <a:r>
              <a:rPr lang="en-US" altLang="zh-CN" sz="1400" dirty="0">
                <a:sym typeface="+mn-ea"/>
              </a:rPr>
              <a:t>//</a:t>
            </a:r>
            <a:r>
              <a:rPr sz="1400" dirty="0">
                <a:sym typeface="+mn-ea"/>
              </a:rPr>
              <a:t>打开请求</a:t>
            </a:r>
            <a:endParaRPr lang="en-US" altLang="zh-CN" sz="1400" dirty="0"/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/>
              <a:t>xmlHttp.send</a:t>
            </a:r>
            <a:r>
              <a:rPr lang="en-US" altLang="zh-CN" sz="1400" dirty="0"/>
              <a:t>(xml);  </a:t>
            </a:r>
            <a:r>
              <a:rPr lang="en-US" altLang="zh-CN" sz="1400" dirty="0">
                <a:sym typeface="+mn-ea"/>
              </a:rPr>
              <a:t>//</a:t>
            </a:r>
            <a:r>
              <a:rPr sz="1400" dirty="0">
                <a:sym typeface="+mn-ea"/>
              </a:rPr>
              <a:t>发送请求</a:t>
            </a:r>
            <a:endParaRPr lang="en-US" altLang="zh-CN" sz="1400" dirty="0"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服务器端接收</a:t>
            </a:r>
            <a:r>
              <a:rPr lang="en-US" altLang="zh-CN" sz="1400" dirty="0"/>
              <a:t>XML</a:t>
            </a:r>
            <a:r>
              <a:rPr lang="zh-CN" altLang="en-US" sz="1400" dirty="0"/>
              <a:t>数据，可以使用以下方式：</a:t>
            </a:r>
          </a:p>
          <a:p>
            <a:pPr marL="171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 err="1">
                <a:highlight>
                  <a:srgbClr val="FFFF00"/>
                </a:highlight>
              </a:rPr>
              <a:t>BufferedReader</a:t>
            </a:r>
            <a:r>
              <a:rPr lang="en-US" altLang="zh-CN" sz="1400" dirty="0">
                <a:highlight>
                  <a:srgbClr val="FFFF00"/>
                </a:highlight>
              </a:rPr>
              <a:t> reader=</a:t>
            </a:r>
            <a:r>
              <a:rPr lang="en-US" altLang="zh-CN" sz="1400" dirty="0" err="1">
                <a:highlight>
                  <a:srgbClr val="FFFF00"/>
                </a:highlight>
              </a:rPr>
              <a:t>request.getReader</a:t>
            </a:r>
            <a:r>
              <a:rPr lang="en-US" altLang="zh-CN" sz="1400" dirty="0">
                <a:highlight>
                  <a:srgbClr val="FFFF00"/>
                </a:highlight>
              </a:rPr>
              <a:t>();</a:t>
            </a: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2</a:t>
            </a:r>
            <a:r>
              <a:rPr sz="1400" dirty="0">
                <a:sym typeface="+mn-ea"/>
              </a:rPr>
              <a:t>）由服务器端向客户端发送</a:t>
            </a:r>
            <a:r>
              <a:rPr lang="en-US" altLang="zh-CN" sz="1400" dirty="0">
                <a:sym typeface="+mn-ea"/>
              </a:rPr>
              <a:t>XML</a:t>
            </a:r>
            <a:r>
              <a:rPr sz="1400" dirty="0">
                <a:sym typeface="+mn-ea"/>
              </a:rPr>
              <a:t>数据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 dirty="0">
                <a:sym typeface="+mn-ea"/>
              </a:rPr>
              <a:t>服务器端可以采用以下方式向客户端发送</a:t>
            </a:r>
            <a:r>
              <a:rPr lang="en-US" altLang="zh-CN" sz="1400" dirty="0">
                <a:sym typeface="+mn-ea"/>
              </a:rPr>
              <a:t>XML</a:t>
            </a:r>
            <a:r>
              <a:rPr sz="1400" dirty="0">
                <a:sym typeface="+mn-ea"/>
              </a:rPr>
              <a:t>数据：</a:t>
            </a:r>
            <a:endParaRPr lang="zh-CN" altLang="en-US" sz="1400" dirty="0"/>
          </a:p>
          <a:p>
            <a:pPr marL="628650" lvl="2" indent="0">
              <a:spcAft>
                <a:spcPts val="0"/>
              </a:spcAft>
              <a:buNone/>
            </a:pPr>
            <a:r>
              <a:rPr lang="en-US" altLang="zh-CN" sz="1400" dirty="0">
                <a:sym typeface="+mn-ea"/>
              </a:rPr>
              <a:t>String xml=“&lt;type&gt;data&lt;/type&gt;”;  </a:t>
            </a:r>
            <a:r>
              <a:rPr lang="en-US" altLang="zh-CN" sz="1400" dirty="0" err="1">
                <a:sym typeface="+mn-ea"/>
              </a:rPr>
              <a:t>out.println</a:t>
            </a:r>
            <a:r>
              <a:rPr lang="en-US" altLang="zh-CN" sz="1400" dirty="0">
                <a:sym typeface="+mn-ea"/>
              </a:rPr>
              <a:t>(xml);  </a:t>
            </a:r>
            <a:r>
              <a:rPr lang="en-US" altLang="zh-CN" sz="1400" dirty="0" err="1">
                <a:sym typeface="+mn-ea"/>
              </a:rPr>
              <a:t>out.flush</a:t>
            </a:r>
            <a:r>
              <a:rPr lang="en-US" altLang="zh-CN" sz="1400" dirty="0">
                <a:sym typeface="+mn-ea"/>
              </a:rPr>
              <a:t>();</a:t>
            </a:r>
            <a:endParaRPr lang="en-US" altLang="zh-CN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 dirty="0">
                <a:sym typeface="+mn-ea"/>
              </a:rPr>
              <a:t>客户端可以通过</a:t>
            </a:r>
            <a:r>
              <a:rPr lang="en-US" altLang="zh-CN" sz="1400" dirty="0" err="1">
                <a:sym typeface="+mn-ea"/>
              </a:rPr>
              <a:t>XMLHttpRequest</a:t>
            </a:r>
            <a:r>
              <a:rPr sz="1400" dirty="0">
                <a:sym typeface="+mn-ea"/>
              </a:rPr>
              <a:t>对象的</a:t>
            </a:r>
            <a:r>
              <a:rPr lang="en-US" altLang="zh-CN" sz="1400" dirty="0" err="1">
                <a:sym typeface="+mn-ea"/>
              </a:rPr>
              <a:t>responseXML</a:t>
            </a:r>
            <a:r>
              <a:rPr sz="1400" dirty="0">
                <a:sym typeface="+mn-ea"/>
              </a:rPr>
              <a:t>属性获取</a:t>
            </a:r>
            <a:r>
              <a:rPr lang="en-US" altLang="zh-CN" sz="1400" dirty="0">
                <a:sym typeface="+mn-ea"/>
              </a:rPr>
              <a:t>XML</a:t>
            </a:r>
            <a:r>
              <a:rPr sz="1400" dirty="0">
                <a:sym typeface="+mn-ea"/>
              </a:rPr>
              <a:t>数据：</a:t>
            </a:r>
            <a:endParaRPr lang="zh-CN" altLang="en-US" sz="1400" dirty="0"/>
          </a:p>
          <a:p>
            <a:pPr marL="628650" lvl="2" indent="0">
              <a:buNone/>
            </a:pP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var xml=</a:t>
            </a:r>
            <a:r>
              <a:rPr lang="en-US" altLang="zh-CN" sz="1400" dirty="0" err="1">
                <a:highlight>
                  <a:srgbClr val="FFFF00"/>
                </a:highlight>
                <a:sym typeface="+mn-ea"/>
              </a:rPr>
              <a:t>xmlHttp.responseXML</a:t>
            </a: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;</a:t>
            </a:r>
            <a:endParaRPr lang="zh-CN" altLang="en-US" sz="14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229</a:t>
            </a:fld>
            <a:endParaRPr lang="zh-CN" altLang="en-US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使用</a:t>
            </a:r>
            <a:r>
              <a:rPr lang="en-US" altLang="zh-CN">
                <a:sym typeface="+mn-ea"/>
              </a:rPr>
              <a:t>AJAX</a:t>
            </a:r>
            <a:r>
              <a:rPr>
                <a:sym typeface="+mn-ea"/>
              </a:rPr>
              <a:t>解析</a:t>
            </a:r>
            <a:r>
              <a:rPr lang="en-US" altLang="zh-CN">
                <a:sym typeface="+mn-ea"/>
              </a:rPr>
              <a:t>XML</a:t>
            </a:r>
            <a:r>
              <a:rPr>
                <a:sym typeface="+mn-ea"/>
              </a:rPr>
              <a:t>文件</a:t>
            </a:r>
            <a:endParaRPr lang="zh-CN" altLang="en-US"/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9437"/>
            <a:ext cx="8229600" cy="116459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利用</a:t>
            </a:r>
            <a:r>
              <a:rPr lang="en-US" altLang="zh-CN" sz="1400" dirty="0"/>
              <a:t>AJAX</a:t>
            </a:r>
            <a:r>
              <a:rPr lang="zh-CN" altLang="en-US" sz="1400" dirty="0"/>
              <a:t>解析</a:t>
            </a:r>
            <a:r>
              <a:rPr lang="en-US" altLang="zh-CN" sz="1400" dirty="0"/>
              <a:t>XML</a:t>
            </a:r>
            <a:r>
              <a:rPr lang="zh-CN" altLang="en-US" sz="1400" dirty="0"/>
              <a:t>文件，即</a:t>
            </a:r>
            <a:r>
              <a:rPr lang="zh-CN" altLang="en-US" sz="1400" dirty="0">
                <a:highlight>
                  <a:srgbClr val="FFFF00"/>
                </a:highlight>
              </a:rPr>
              <a:t>解析</a:t>
            </a:r>
            <a:r>
              <a:rPr lang="en-US" altLang="zh-CN" sz="1400" dirty="0" err="1">
                <a:highlight>
                  <a:srgbClr val="FFFF00"/>
                </a:highlight>
              </a:rPr>
              <a:t>XMLHttpRequest</a:t>
            </a:r>
            <a:r>
              <a:rPr lang="zh-CN" altLang="en-US" sz="1400" dirty="0">
                <a:highlight>
                  <a:srgbClr val="FFFF00"/>
                </a:highlight>
              </a:rPr>
              <a:t>对象的</a:t>
            </a:r>
            <a:r>
              <a:rPr lang="en-US" altLang="zh-CN" sz="1400" dirty="0" err="1">
                <a:highlight>
                  <a:srgbClr val="FFFF00"/>
                </a:highlight>
              </a:rPr>
              <a:t>responseXML</a:t>
            </a:r>
            <a:r>
              <a:rPr lang="zh-CN" altLang="en-US" sz="1400" dirty="0">
                <a:highlight>
                  <a:srgbClr val="FFFF00"/>
                </a:highlight>
              </a:rPr>
              <a:t>属性</a:t>
            </a:r>
            <a:r>
              <a:rPr lang="zh-CN" altLang="en-US" sz="1400" dirty="0"/>
              <a:t>。</a:t>
            </a:r>
            <a:r>
              <a:rPr sz="1400" dirty="0" err="1"/>
              <a:t>该信息</a:t>
            </a:r>
            <a:r>
              <a:rPr lang="zh-CN" altLang="en-US" sz="1400" dirty="0"/>
              <a:t>相当于一个</a:t>
            </a:r>
            <a:r>
              <a:rPr lang="en-US" altLang="zh-CN" sz="1400" dirty="0"/>
              <a:t>XML</a:t>
            </a:r>
            <a:r>
              <a:rPr lang="zh-CN" altLang="en-US" sz="1400" dirty="0"/>
              <a:t>文档。在</a:t>
            </a:r>
            <a:r>
              <a:rPr lang="en-US" altLang="zh-CN" sz="1400" dirty="0"/>
              <a:t>DOM</a:t>
            </a:r>
            <a:r>
              <a:rPr lang="zh-CN" altLang="en-US" sz="1400" dirty="0"/>
              <a:t>中将</a:t>
            </a:r>
            <a:r>
              <a:rPr lang="en-US" altLang="zh-CN" sz="1400" dirty="0"/>
              <a:t>XML</a:t>
            </a:r>
            <a:r>
              <a:rPr lang="zh-CN" altLang="en-US" sz="1400" dirty="0"/>
              <a:t>文档</a:t>
            </a:r>
            <a:r>
              <a:rPr lang="zh-CN" altLang="en-US" sz="1400" dirty="0">
                <a:highlight>
                  <a:srgbClr val="FFFF00"/>
                </a:highlight>
              </a:rPr>
              <a:t>作为树型结构</a:t>
            </a:r>
            <a:r>
              <a:rPr lang="zh-CN" altLang="en-US" sz="1400" dirty="0"/>
              <a:t>，可以通过</a:t>
            </a:r>
            <a:r>
              <a:rPr lang="en-US" altLang="zh-CN" sz="1400" dirty="0"/>
              <a:t>DOM</a:t>
            </a:r>
            <a:r>
              <a:rPr lang="zh-CN" altLang="en-US" sz="1400" dirty="0"/>
              <a:t>来访问所有的元素，</a:t>
            </a:r>
            <a:r>
              <a:rPr lang="en-US" altLang="zh-CN" sz="1400" dirty="0"/>
              <a:t>XML</a:t>
            </a:r>
            <a:r>
              <a:rPr lang="zh-CN" altLang="en-US" sz="1400" dirty="0"/>
              <a:t>中的元素、文本以及属性都被认为是节点。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230</a:t>
            </a:fld>
            <a:endParaRPr lang="zh-CN" altLang="en-US"/>
          </a:p>
        </p:txBody>
      </p:sp>
      <p:sp>
        <p:nvSpPr>
          <p:cNvPr id="41986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502285" y="2244725"/>
            <a:ext cx="4039870" cy="286131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&lt;?xml version="1.0" encoding="UTF-8"?&gt;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&lt;bookstore&gt;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&lt;book category="CHILDREN"&gt;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&lt;title&gt;Harry Potter&lt;/title&gt;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&lt;author&gt;J K. Rowling&lt;/author&gt;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&lt;year&gt;2008&lt;/year&gt;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&lt;price&gt;32.99&lt;/price&gt;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&lt;/book&gt;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&lt;book category="WEB"&gt;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&lt;title&gt;Learning XML and AJAX&lt;/title&gt;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&lt;author&gt;Thomas T. Ray&lt;/author&gt;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&lt;year&gt;2010&lt;/year&gt;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  &lt;price&gt;28.99&lt;/price&gt; 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&lt;/book&gt;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宋体" panose="02010600030101010101" pitchFamily="2" charset="-122"/>
              </a:rPr>
              <a:t>&lt;/bookstore&gt;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502285" y="5313680"/>
            <a:ext cx="8052435" cy="131826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//</a:t>
            </a:r>
            <a:r>
              <a:rPr lang="zh-CN" altLang="en-US" sz="1400" dirty="0">
                <a:ea typeface="宋体" panose="02010600030101010101" pitchFamily="2" charset="-122"/>
              </a:rPr>
              <a:t>解析</a:t>
            </a:r>
            <a:r>
              <a:rPr lang="en-US" altLang="zh-CN" sz="1400" dirty="0" err="1">
                <a:ea typeface="宋体" panose="02010600030101010101" pitchFamily="2" charset="-122"/>
              </a:rPr>
              <a:t>xmlHttp</a:t>
            </a:r>
            <a:r>
              <a:rPr lang="zh-CN" altLang="en-US" sz="1400" dirty="0">
                <a:ea typeface="宋体" panose="02010600030101010101" pitchFamily="2" charset="-122"/>
              </a:rPr>
              <a:t>对象的</a:t>
            </a:r>
            <a:r>
              <a:rPr lang="en-US" altLang="zh-CN" sz="1400" dirty="0" err="1">
                <a:ea typeface="宋体" panose="02010600030101010101" pitchFamily="2" charset="-122"/>
              </a:rPr>
              <a:t>responseXML</a:t>
            </a:r>
            <a:r>
              <a:rPr lang="zh-CN" altLang="en-US" sz="1400" dirty="0">
                <a:ea typeface="宋体" panose="02010600030101010101" pitchFamily="2" charset="-122"/>
              </a:rPr>
              <a:t>属性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book=</a:t>
            </a:r>
            <a:r>
              <a:rPr lang="en-US" altLang="zh-CN" sz="1400" dirty="0" err="1">
                <a:highlight>
                  <a:srgbClr val="FFFF00"/>
                </a:highlight>
                <a:ea typeface="宋体" panose="02010600030101010101" pitchFamily="2" charset="-122"/>
              </a:rPr>
              <a:t>xmlHttp.responseXML.documentElement.getElementsByTagName</a:t>
            </a:r>
            <a:r>
              <a:rPr lang="en-US" altLang="zh-CN" sz="1400" dirty="0">
                <a:highlight>
                  <a:srgbClr val="FFFF00"/>
                </a:highlight>
                <a:ea typeface="宋体" panose="02010600030101010101" pitchFamily="2" charset="-122"/>
              </a:rPr>
              <a:t>("book");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……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title=book[</a:t>
            </a:r>
            <a:r>
              <a:rPr lang="en-US" altLang="zh-CN" sz="1400" dirty="0" err="1">
                <a:ea typeface="宋体" panose="02010600030101010101" pitchFamily="2" charset="-122"/>
              </a:rPr>
              <a:t>i</a:t>
            </a:r>
            <a:r>
              <a:rPr lang="en-US" altLang="zh-CN" sz="1400" dirty="0">
                <a:ea typeface="宋体" panose="02010600030101010101" pitchFamily="2" charset="-122"/>
              </a:rPr>
              <a:t>].</a:t>
            </a:r>
            <a:r>
              <a:rPr lang="en-US" altLang="zh-CN" sz="1400" dirty="0" err="1">
                <a:ea typeface="宋体" panose="02010600030101010101" pitchFamily="2" charset="-122"/>
              </a:rPr>
              <a:t>getElementsByTagName</a:t>
            </a:r>
            <a:r>
              <a:rPr lang="en-US" altLang="zh-CN" sz="1400" dirty="0">
                <a:ea typeface="宋体" panose="02010600030101010101" pitchFamily="2" charset="-122"/>
              </a:rPr>
              <a:t>("title");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author=book[</a:t>
            </a:r>
            <a:r>
              <a:rPr lang="en-US" altLang="zh-CN" sz="1400" dirty="0" err="1">
                <a:ea typeface="宋体" panose="02010600030101010101" pitchFamily="2" charset="-122"/>
              </a:rPr>
              <a:t>i</a:t>
            </a:r>
            <a:r>
              <a:rPr lang="en-US" altLang="zh-CN" sz="1400" dirty="0">
                <a:ea typeface="宋体" panose="02010600030101010101" pitchFamily="2" charset="-122"/>
              </a:rPr>
              <a:t>].</a:t>
            </a:r>
            <a:r>
              <a:rPr lang="en-US" altLang="zh-CN" sz="1400" dirty="0" err="1">
                <a:ea typeface="宋体" panose="02010600030101010101" pitchFamily="2" charset="-122"/>
              </a:rPr>
              <a:t>getElementsByTagName</a:t>
            </a:r>
            <a:r>
              <a:rPr lang="en-US" altLang="zh-CN" sz="1400" dirty="0">
                <a:ea typeface="宋体" panose="02010600030101010101" pitchFamily="2" charset="-122"/>
              </a:rPr>
              <a:t>("author");</a:t>
            </a:r>
          </a:p>
          <a:p>
            <a:pPr marL="457200" indent="-45720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year=book[</a:t>
            </a:r>
            <a:r>
              <a:rPr lang="en-US" altLang="zh-CN" sz="1400" dirty="0" err="1">
                <a:ea typeface="宋体" panose="02010600030101010101" pitchFamily="2" charset="-122"/>
              </a:rPr>
              <a:t>i</a:t>
            </a:r>
            <a:r>
              <a:rPr lang="en-US" altLang="zh-CN" sz="1400" dirty="0">
                <a:ea typeface="宋体" panose="02010600030101010101" pitchFamily="2" charset="-122"/>
              </a:rPr>
              <a:t>].</a:t>
            </a:r>
            <a:r>
              <a:rPr lang="en-US" altLang="zh-CN" sz="1400" dirty="0" err="1">
                <a:ea typeface="宋体" panose="02010600030101010101" pitchFamily="2" charset="-122"/>
              </a:rPr>
              <a:t>getElementsByTagName</a:t>
            </a:r>
            <a:r>
              <a:rPr lang="en-US" altLang="zh-CN" sz="1400" dirty="0">
                <a:ea typeface="宋体" panose="02010600030101010101" pitchFamily="2" charset="-122"/>
              </a:rPr>
              <a:t>("year");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AJAX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与数据库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944880"/>
          </a:xfr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利用</a:t>
            </a:r>
            <a:r>
              <a:rPr lang="en-US" altLang="zh-CN" sz="1400" dirty="0" err="1"/>
              <a:t>AJAX+Servlet</a:t>
            </a:r>
            <a:r>
              <a:rPr lang="zh-CN" altLang="en-US" sz="1400" dirty="0"/>
              <a:t>可以实现无刷新的访问数据库及查询数据库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浏览器发出请求、解析返回数据的过程与前类似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主要代码在服务端（略）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231</a:t>
            </a:fld>
            <a:endParaRPr lang="zh-CN" altLang="en-US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JQuery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526224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jQuery</a:t>
            </a:r>
            <a:r>
              <a:rPr lang="zh-CN" altLang="en-US" sz="1400" dirty="0"/>
              <a:t>是当前最流行的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库，它封装了很多预定义的对象和实用函数。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jQuery</a:t>
            </a:r>
            <a:r>
              <a:rPr lang="zh-CN" altLang="en-US" sz="1400" dirty="0"/>
              <a:t>是一个轻量级的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库，压缩之后只有几十</a:t>
            </a:r>
            <a:r>
              <a:rPr lang="en-US" altLang="zh-CN" sz="1400" dirty="0"/>
              <a:t>K</a:t>
            </a:r>
            <a:r>
              <a:rPr lang="zh-CN" altLang="en-US" sz="1400" dirty="0"/>
              <a:t>，它与</a:t>
            </a:r>
            <a:r>
              <a:rPr lang="en-US" altLang="zh-CN" sz="1400" dirty="0"/>
              <a:t>CSS</a:t>
            </a:r>
            <a:r>
              <a:rPr lang="zh-CN" altLang="en-US" sz="1400" dirty="0"/>
              <a:t>、浏览器兼容。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 dirty="0">
                <a:sym typeface="+mn-ea"/>
              </a:rPr>
              <a:t>利用</a:t>
            </a: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，用户可以更方便地处理</a:t>
            </a:r>
            <a:r>
              <a:rPr lang="en-US" altLang="zh-CN" sz="1400" dirty="0">
                <a:sym typeface="+mn-ea"/>
              </a:rPr>
              <a:t>HTML</a:t>
            </a:r>
            <a:r>
              <a:rPr sz="1400" dirty="0">
                <a:sym typeface="+mn-ea"/>
              </a:rPr>
              <a:t>文档、事件、实现动画效果、与</a:t>
            </a:r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交互及创建富有特性的客户端页面等。</a:t>
            </a:r>
            <a:endParaRPr lang="zh-CN" altLang="en-US" sz="1400" dirty="0"/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jQuery</a:t>
            </a:r>
            <a:r>
              <a:rPr sz="1400" dirty="0">
                <a:highlight>
                  <a:srgbClr val="FFFF00"/>
                </a:highlight>
                <a:sym typeface="+mn-ea"/>
              </a:rPr>
              <a:t>的理念是写得更少，做得更多。即利用最少的代码，做最多的事情。</a:t>
            </a:r>
            <a:endParaRPr lang="zh-CN" altLang="en-US" sz="14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是免费的、开源的。其源代码中包含大量的注释和说明。 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 dirty="0">
                <a:sym typeface="+mn-ea"/>
              </a:rPr>
              <a:t>其主要有以下特点：</a:t>
            </a:r>
            <a:endParaRPr lang="zh-CN" altLang="en-US" sz="1400" dirty="0"/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是一款轻量级的</a:t>
            </a:r>
            <a:r>
              <a:rPr lang="en-US" altLang="zh-CN" sz="1400" dirty="0">
                <a:sym typeface="+mn-ea"/>
              </a:rPr>
              <a:t>JavaScript</a:t>
            </a:r>
            <a:r>
              <a:rPr sz="1400" dirty="0">
                <a:sym typeface="+mn-ea"/>
              </a:rPr>
              <a:t>框架，不影响页面加载的速度；</a:t>
            </a:r>
            <a:endParaRPr lang="zh-CN" altLang="en-US" sz="1400" dirty="0"/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的选择器使用方便，便于操作</a:t>
            </a:r>
            <a:r>
              <a:rPr lang="en-US" altLang="zh-CN" sz="1400" dirty="0">
                <a:sym typeface="+mn-ea"/>
              </a:rPr>
              <a:t>DOM</a:t>
            </a:r>
            <a:r>
              <a:rPr sz="1400" dirty="0">
                <a:sym typeface="+mn-ea"/>
              </a:rPr>
              <a:t>对象的元素；</a:t>
            </a:r>
            <a:endParaRPr lang="zh-CN" altLang="en-US" sz="1400" dirty="0"/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的链式操作可以将多个操作写在同一行代码内；</a:t>
            </a:r>
            <a:endParaRPr lang="zh-CN" altLang="en-US" sz="1400" dirty="0"/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简化了对</a:t>
            </a:r>
            <a:r>
              <a:rPr lang="en-US" altLang="zh-CN" sz="1400" dirty="0">
                <a:sym typeface="+mn-ea"/>
              </a:rPr>
              <a:t>CSS</a:t>
            </a:r>
            <a:r>
              <a:rPr sz="1400" dirty="0">
                <a:sym typeface="+mn-ea"/>
              </a:rPr>
              <a:t>和</a:t>
            </a:r>
            <a:r>
              <a:rPr lang="en-US" altLang="zh-CN" sz="1400" dirty="0">
                <a:sym typeface="+mn-ea"/>
              </a:rPr>
              <a:t>AJAX</a:t>
            </a:r>
            <a:r>
              <a:rPr sz="1400" dirty="0">
                <a:sym typeface="+mn-ea"/>
              </a:rPr>
              <a:t>的操作；</a:t>
            </a:r>
            <a:endParaRPr lang="zh-CN" altLang="en-US" sz="1400" dirty="0"/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兼容了主流的大部分浏览器；</a:t>
            </a:r>
            <a:endParaRPr lang="zh-CN" altLang="en-US" sz="1400" dirty="0"/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有丰富的第三方插件的支持，例如树形菜单、日期控件、图片切换工具等；</a:t>
            </a:r>
            <a:endParaRPr lang="zh-CN" altLang="en-US" sz="1400" dirty="0"/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jQuery</a:t>
            </a:r>
            <a:r>
              <a:rPr sz="1400" dirty="0">
                <a:sym typeface="+mn-ea"/>
              </a:rPr>
              <a:t>具有很好的可扩展性。用户可以根据自己需要增加或修改函数；</a:t>
            </a:r>
          </a:p>
          <a:p>
            <a:pPr marL="457200" lvl="1">
              <a:lnSpc>
                <a:spcPct val="150000"/>
              </a:lnSpc>
              <a:spcAft>
                <a:spcPts val="0"/>
              </a:spcAft>
            </a:pPr>
            <a:endParaRPr lang="zh-CN" altLang="en-US" sz="1400" dirty="0"/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232</a:t>
            </a:fld>
            <a:endParaRPr lang="zh-CN" altLang="en-US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JQ</a:t>
            </a:r>
            <a:r>
              <a:t>的使用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375856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如果要使用</a:t>
            </a:r>
            <a:r>
              <a:rPr lang="en-US" altLang="zh-CN" sz="1400" dirty="0"/>
              <a:t>jQuery</a:t>
            </a:r>
            <a:r>
              <a:rPr lang="zh-CN" altLang="en-US" sz="1400" dirty="0"/>
              <a:t>，需要下载</a:t>
            </a:r>
            <a:r>
              <a:rPr lang="en-US" altLang="zh-CN" sz="1400" dirty="0"/>
              <a:t>jQuery</a:t>
            </a:r>
            <a:r>
              <a:rPr lang="zh-CN" altLang="en-US" sz="1400" dirty="0"/>
              <a:t>库。</a:t>
            </a:r>
            <a:r>
              <a:rPr lang="en-US" altLang="zh-CN" sz="1400" dirty="0"/>
              <a:t>jQuery</a:t>
            </a:r>
            <a:r>
              <a:rPr lang="zh-CN" altLang="en-US" sz="1400" dirty="0"/>
              <a:t>库是一个</a:t>
            </a:r>
            <a:r>
              <a:rPr lang="en-US" altLang="zh-CN" sz="1400" dirty="0"/>
              <a:t>JavaScript</a:t>
            </a:r>
            <a:r>
              <a:rPr lang="zh-CN" altLang="en-US" sz="1400" dirty="0"/>
              <a:t>文件，可以使用</a:t>
            </a:r>
            <a:r>
              <a:rPr lang="en-US" altLang="zh-CN" sz="1400" dirty="0"/>
              <a:t>&lt;script&gt;</a:t>
            </a:r>
            <a:r>
              <a:rPr lang="zh-CN" altLang="en-US" sz="1400" dirty="0"/>
              <a:t>标签进行引用。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jQuery</a:t>
            </a:r>
            <a:r>
              <a:rPr lang="zh-CN" altLang="en-US" sz="1400" dirty="0"/>
              <a:t>有多个版本，通常关注的是</a:t>
            </a:r>
            <a:r>
              <a:rPr sz="1400" dirty="0"/>
              <a:t>生产版本</a:t>
            </a:r>
            <a:r>
              <a:rPr lang="zh-CN" altLang="en-US" sz="1400" dirty="0"/>
              <a:t>，用于实际上线的网站，已被精简和压缩；另一个是</a:t>
            </a:r>
            <a:r>
              <a:rPr sz="1400" dirty="0"/>
              <a:t>开发版本</a:t>
            </a:r>
            <a:r>
              <a:rPr lang="zh-CN" altLang="en-US" sz="1400" dirty="0"/>
              <a:t>，用于测试和开发，未经压缩，代码可读。</a:t>
            </a:r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还有一些瘦身版本，去掉了一些特性。</a:t>
            </a:r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CDN</a:t>
            </a:r>
            <a:r>
              <a:rPr sz="1400" dirty="0"/>
              <a:t>版本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各个版本的</a:t>
            </a:r>
            <a:r>
              <a:rPr lang="en-US" altLang="zh-CN" sz="1400" dirty="0"/>
              <a:t>jQuery</a:t>
            </a:r>
            <a:r>
              <a:rPr lang="zh-CN" altLang="en-US" sz="1400" dirty="0"/>
              <a:t>库都可以在</a:t>
            </a:r>
            <a:r>
              <a:rPr lang="en-US" altLang="zh-CN" sz="1400" dirty="0">
                <a:hlinkClick r:id="rId2"/>
              </a:rPr>
              <a:t>http://jQuery.com/download/</a:t>
            </a:r>
            <a:r>
              <a:rPr lang="zh-CN" altLang="en-US" sz="1400" dirty="0"/>
              <a:t>下载。将下载之后的文件放在页面文件目录中，然后通过</a:t>
            </a:r>
            <a:r>
              <a:rPr lang="en-US" altLang="zh-CN" sz="1400" dirty="0"/>
              <a:t>&lt;script src=“</a:t>
            </a:r>
            <a:r>
              <a:rPr lang="en-US" altLang="zh-CN" sz="1400" dirty="0">
                <a:ea typeface="宋体" panose="02010600030101010101" pitchFamily="2" charset="-122"/>
                <a:sym typeface="+mn-ea"/>
              </a:rPr>
              <a:t>"jquery-3.7.1.js"&gt;</a:t>
            </a:r>
            <a:r>
              <a:rPr lang="en-US" altLang="zh-CN" sz="1400" dirty="0">
                <a:sym typeface="+mn-ea"/>
              </a:rPr>
              <a:t>&lt;/script&gt;</a:t>
            </a:r>
            <a:r>
              <a:rPr sz="1400" dirty="0">
                <a:sym typeface="+mn-ea"/>
              </a:rPr>
              <a:t>进行引用。</a:t>
            </a:r>
            <a:endParaRPr lang="zh-CN" altLang="en-US" sz="1400" dirty="0"/>
          </a:p>
          <a:p>
            <a:pPr marL="742950" lvl="1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 dirty="0"/>
              <a:t>或使用各个</a:t>
            </a:r>
            <a:r>
              <a:rPr lang="en-US" altLang="zh-CN" sz="1400" dirty="0"/>
              <a:t>CDN</a:t>
            </a:r>
            <a:r>
              <a:rPr sz="1400" dirty="0"/>
              <a:t>上的版本如</a:t>
            </a:r>
            <a:r>
              <a:rPr lang="en-US" altLang="zh-CN" sz="1400" dirty="0"/>
              <a:t>&lt;script </a:t>
            </a:r>
            <a:r>
              <a:rPr lang="en-US" altLang="zh-CN" sz="1400" dirty="0" err="1"/>
              <a:t>src</a:t>
            </a:r>
            <a:r>
              <a:rPr lang="en-US" altLang="zh-CN" sz="1400" dirty="0"/>
              <a:t>="https://code.jquery.com/jquery-3.7.1.min.js"”&gt;&lt;/script&gt;</a:t>
            </a:r>
            <a:r>
              <a:rPr lang="zh-CN" altLang="en-US" sz="1400" dirty="0"/>
              <a:t>进行引用。 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//</a:t>
            </a:r>
            <a:r>
              <a:rPr sz="1400" dirty="0"/>
              <a:t>当前最新的版本是</a:t>
            </a:r>
            <a:r>
              <a:rPr lang="en-US" altLang="zh-CN" sz="1400" dirty="0"/>
              <a:t>3.7.1</a:t>
            </a:r>
            <a:r>
              <a:rPr sz="1400" dirty="0"/>
              <a:t>，</a:t>
            </a:r>
            <a:r>
              <a:rPr lang="en-US" altLang="zh-CN" sz="1400" dirty="0"/>
              <a:t>4.0.0</a:t>
            </a:r>
            <a:r>
              <a:rPr sz="1400" dirty="0"/>
              <a:t>的</a:t>
            </a:r>
            <a:r>
              <a:rPr lang="en-US" altLang="zh-CN" sz="1400" dirty="0"/>
              <a:t>beta</a:t>
            </a:r>
            <a:r>
              <a:rPr sz="1400" dirty="0"/>
              <a:t>也发布了。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233</a:t>
            </a:fld>
            <a:endParaRPr lang="zh-CN" altLang="en-US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 err="1">
                <a:latin typeface="黑体" panose="02010609060101010101" charset="-122"/>
                <a:ea typeface="黑体" panose="02010609060101010101" charset="-122"/>
              </a:rPr>
              <a:t>jQuey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选择器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12115" y="1163727"/>
            <a:ext cx="8229600" cy="538035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jQuery</a:t>
            </a:r>
            <a:r>
              <a:rPr lang="zh-CN" altLang="en-US" sz="1400" dirty="0"/>
              <a:t>中使用</a:t>
            </a:r>
            <a:r>
              <a:rPr lang="zh-CN" altLang="en-US" sz="1400" dirty="0">
                <a:highlight>
                  <a:srgbClr val="FFFF00"/>
                </a:highlight>
              </a:rPr>
              <a:t>“</a:t>
            </a:r>
            <a:r>
              <a:rPr lang="en-US" altLang="zh-CN" sz="1400" dirty="0">
                <a:highlight>
                  <a:srgbClr val="FFFF00"/>
                </a:highlight>
              </a:rPr>
              <a:t>$”</a:t>
            </a:r>
            <a:r>
              <a:rPr sz="1400" dirty="0">
                <a:highlight>
                  <a:srgbClr val="FFFF00"/>
                </a:highlight>
              </a:rPr>
              <a:t>作为</a:t>
            </a:r>
            <a:r>
              <a:rPr sz="1400" dirty="0">
                <a:highlight>
                  <a:srgbClr val="FFFF00"/>
                </a:highlight>
                <a:sym typeface="+mn-ea"/>
              </a:rPr>
              <a:t>选择器</a:t>
            </a:r>
            <a:r>
              <a:rPr lang="zh-CN" altLang="en-US" sz="1400" dirty="0">
                <a:highlight>
                  <a:srgbClr val="FFFF00"/>
                </a:highlight>
              </a:rPr>
              <a:t>，可以通过标签名、类名、</a:t>
            </a:r>
            <a:r>
              <a:rPr lang="en-US" altLang="zh-CN" sz="1400" dirty="0">
                <a:highlight>
                  <a:srgbClr val="FFFF00"/>
                </a:highlight>
              </a:rPr>
              <a:t>ID</a:t>
            </a:r>
            <a:r>
              <a:rPr sz="1400" dirty="0">
                <a:highlight>
                  <a:srgbClr val="FFFF00"/>
                </a:highlight>
              </a:rPr>
              <a:t>、</a:t>
            </a:r>
            <a:r>
              <a:rPr lang="zh-CN" altLang="en-US" sz="1400" dirty="0">
                <a:highlight>
                  <a:srgbClr val="FFFF00"/>
                </a:highlight>
              </a:rPr>
              <a:t>属性名或内容等对</a:t>
            </a:r>
            <a:r>
              <a:rPr lang="en-US" altLang="zh-CN" sz="1400" dirty="0">
                <a:highlight>
                  <a:srgbClr val="FFFF00"/>
                </a:highlight>
              </a:rPr>
              <a:t>HTML</a:t>
            </a:r>
            <a:r>
              <a:rPr lang="zh-CN" altLang="en-US" sz="1400" dirty="0">
                <a:highlight>
                  <a:srgbClr val="FFFF00"/>
                </a:highlight>
              </a:rPr>
              <a:t>元素进行选择并修改</a:t>
            </a:r>
            <a:r>
              <a:rPr lang="en-US" altLang="zh-CN" sz="1400" dirty="0">
                <a:highlight>
                  <a:srgbClr val="FFFF00"/>
                </a:highlight>
              </a:rPr>
              <a:t>HTML</a:t>
            </a:r>
            <a:r>
              <a:rPr lang="zh-CN" altLang="en-US" sz="1400" dirty="0">
                <a:highlight>
                  <a:srgbClr val="FFFF00"/>
                </a:highlight>
              </a:rPr>
              <a:t>元素的样式属性。</a:t>
            </a:r>
            <a:r>
              <a:rPr sz="1400" dirty="0">
                <a:highlight>
                  <a:srgbClr val="FFFF00"/>
                </a:highlight>
                <a:sym typeface="+mn-ea"/>
              </a:rPr>
              <a:t>通用语法为：</a:t>
            </a: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$(selector)</a:t>
            </a:r>
            <a:endParaRPr lang="zh-CN" altLang="en-US" sz="14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jQuery</a:t>
            </a:r>
            <a:r>
              <a:rPr lang="zh-CN" altLang="en-US" sz="1400" dirty="0"/>
              <a:t>的选择器可以分为基本选择器、层次选择器、过滤选择器和表单选择器。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sz="1400" dirty="0">
              <a:sym typeface="+mn-ea"/>
            </a:endParaRP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 dirty="0">
                <a:sym typeface="+mn-ea"/>
              </a:rPr>
              <a:t>基本选择器包括：</a:t>
            </a:r>
            <a:endParaRPr lang="zh-CN" altLang="en-US" sz="14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1</a:t>
            </a:r>
            <a:r>
              <a:rPr sz="1400" dirty="0">
                <a:sym typeface="+mn-ea"/>
              </a:rPr>
              <a:t>）</a:t>
            </a:r>
            <a:r>
              <a:rPr lang="en-US" altLang="zh-CN" sz="1400" dirty="0">
                <a:sym typeface="+mn-ea"/>
              </a:rPr>
              <a:t>id</a:t>
            </a:r>
            <a:r>
              <a:rPr sz="1400" dirty="0">
                <a:sym typeface="+mn-ea"/>
              </a:rPr>
              <a:t>选择器根据指定</a:t>
            </a:r>
            <a:r>
              <a:rPr lang="en-US" altLang="zh-CN" sz="1400" dirty="0">
                <a:sym typeface="+mn-ea"/>
              </a:rPr>
              <a:t>id</a:t>
            </a:r>
            <a:r>
              <a:rPr sz="1400" dirty="0">
                <a:sym typeface="+mn-ea"/>
              </a:rPr>
              <a:t>值返回一个唯一的元素。例如：</a:t>
            </a:r>
            <a:endParaRPr lang="zh-CN" altLang="en-US" sz="1400" dirty="0"/>
          </a:p>
          <a:p>
            <a:pPr marL="0" indent="0" algn="ctr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$(“#my”)</a:t>
            </a:r>
            <a:r>
              <a:rPr sz="1400" dirty="0">
                <a:highlight>
                  <a:srgbClr val="FFFF00"/>
                </a:highlight>
                <a:sym typeface="+mn-ea"/>
              </a:rPr>
              <a:t>为选择</a:t>
            </a: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id</a:t>
            </a:r>
            <a:r>
              <a:rPr sz="1400" dirty="0">
                <a:highlight>
                  <a:srgbClr val="FFFF00"/>
                </a:highlight>
                <a:sym typeface="+mn-ea"/>
              </a:rPr>
              <a:t>值为</a:t>
            </a: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my</a:t>
            </a:r>
            <a:r>
              <a:rPr sz="1400" dirty="0">
                <a:highlight>
                  <a:srgbClr val="FFFF00"/>
                </a:highlight>
                <a:sym typeface="+mn-ea"/>
              </a:rPr>
              <a:t>的第一个元素。</a:t>
            </a:r>
            <a:endParaRPr lang="zh-CN" altLang="en-US" sz="1400" dirty="0">
              <a:highlight>
                <a:srgbClr val="FFFF00"/>
              </a:highlight>
            </a:endParaRP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2</a:t>
            </a:r>
            <a:r>
              <a:rPr sz="1400" dirty="0">
                <a:sym typeface="+mn-ea"/>
              </a:rPr>
              <a:t>）</a:t>
            </a:r>
            <a:r>
              <a:rPr lang="en-US" altLang="zh-CN" sz="1400" dirty="0">
                <a:sym typeface="+mn-ea"/>
              </a:rPr>
              <a:t>element</a:t>
            </a:r>
            <a:r>
              <a:rPr sz="1400" dirty="0">
                <a:sym typeface="+mn-ea"/>
              </a:rPr>
              <a:t>选择器根据</a:t>
            </a:r>
            <a:r>
              <a:rPr lang="en-US" altLang="zh-CN" sz="1400" dirty="0">
                <a:sym typeface="+mn-ea"/>
              </a:rPr>
              <a:t>HTML</a:t>
            </a:r>
            <a:r>
              <a:rPr sz="1400" dirty="0">
                <a:sym typeface="+mn-ea"/>
              </a:rPr>
              <a:t>标签选择一组元素。例如：</a:t>
            </a:r>
            <a:endParaRPr lang="zh-CN" altLang="en-US" sz="1400" dirty="0"/>
          </a:p>
          <a:p>
            <a:pPr marL="457200" lvl="1"/>
            <a:r>
              <a:rPr lang="en-US" altLang="zh-CN" sz="1400" dirty="0">
                <a:sym typeface="+mn-ea"/>
              </a:rPr>
              <a:t>$(“p”)</a:t>
            </a:r>
            <a:r>
              <a:rPr sz="1400" dirty="0">
                <a:sym typeface="+mn-ea"/>
              </a:rPr>
              <a:t>为选择页面中所有的</a:t>
            </a:r>
            <a:r>
              <a:rPr lang="en-US" altLang="zh-CN" sz="1400" dirty="0">
                <a:sym typeface="+mn-ea"/>
              </a:rPr>
              <a:t>p</a:t>
            </a:r>
            <a:r>
              <a:rPr sz="1400" dirty="0">
                <a:sym typeface="+mn-ea"/>
              </a:rPr>
              <a:t>元素；</a:t>
            </a:r>
            <a:r>
              <a:rPr lang="en-US" altLang="zh-CN" sz="1400" dirty="0">
                <a:sym typeface="+mn-ea"/>
              </a:rPr>
              <a:t>$(“input”)</a:t>
            </a:r>
            <a:r>
              <a:rPr sz="1400" dirty="0">
                <a:sym typeface="+mn-ea"/>
              </a:rPr>
              <a:t>为选择页面中所有的</a:t>
            </a:r>
            <a:r>
              <a:rPr lang="en-US" altLang="zh-CN" sz="1400" dirty="0">
                <a:sym typeface="+mn-ea"/>
              </a:rPr>
              <a:t>input</a:t>
            </a:r>
            <a:r>
              <a:rPr sz="1400" dirty="0">
                <a:sym typeface="+mn-ea"/>
              </a:rPr>
              <a:t>元素。</a:t>
            </a: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3</a:t>
            </a:r>
            <a:r>
              <a:rPr sz="1400" dirty="0">
                <a:sym typeface="+mn-ea"/>
              </a:rPr>
              <a:t>）</a:t>
            </a:r>
            <a:r>
              <a:rPr lang="en-US" altLang="zh-CN" sz="1400" dirty="0">
                <a:sym typeface="+mn-ea"/>
              </a:rPr>
              <a:t>class</a:t>
            </a:r>
            <a:r>
              <a:rPr sz="1400" dirty="0">
                <a:sym typeface="+mn-ea"/>
              </a:rPr>
              <a:t>选择器根据元素的</a:t>
            </a:r>
            <a:r>
              <a:rPr lang="en-US" altLang="zh-CN" sz="1400" dirty="0" err="1">
                <a:sym typeface="+mn-ea"/>
              </a:rPr>
              <a:t>class</a:t>
            </a:r>
            <a:r>
              <a:rPr sz="1400" dirty="0">
                <a:sym typeface="+mn-ea"/>
              </a:rPr>
              <a:t>类选择一组元素。例如：</a:t>
            </a:r>
            <a:endParaRPr lang="zh-CN" altLang="en-US" sz="1400" dirty="0"/>
          </a:p>
          <a:p>
            <a:pPr marL="457200" lvl="1"/>
            <a:r>
              <a:rPr lang="en-US" altLang="zh-CN" sz="1400" dirty="0">
                <a:sym typeface="+mn-ea"/>
              </a:rPr>
              <a:t>$(“.left”)</a:t>
            </a:r>
            <a:r>
              <a:rPr sz="1400" dirty="0">
                <a:sym typeface="+mn-ea"/>
              </a:rPr>
              <a:t>选择所有</a:t>
            </a:r>
            <a:r>
              <a:rPr lang="en-US" altLang="zh-CN" sz="1400" dirty="0">
                <a:sym typeface="+mn-ea"/>
              </a:rPr>
              <a:t>class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left</a:t>
            </a:r>
            <a:r>
              <a:rPr sz="1400" dirty="0">
                <a:sym typeface="+mn-ea"/>
              </a:rPr>
              <a:t>的元素；</a:t>
            </a:r>
            <a:r>
              <a:rPr lang="en-US" altLang="zh-CN" sz="1400" dirty="0">
                <a:sym typeface="+mn-ea"/>
              </a:rPr>
              <a:t>$(“</a:t>
            </a:r>
            <a:r>
              <a:rPr lang="en-US" altLang="zh-CN" sz="1400" dirty="0" err="1">
                <a:sym typeface="+mn-ea"/>
              </a:rPr>
              <a:t>p.left</a:t>
            </a:r>
            <a:r>
              <a:rPr lang="en-US" altLang="zh-CN" sz="1400" dirty="0">
                <a:sym typeface="+mn-ea"/>
              </a:rPr>
              <a:t>”)</a:t>
            </a:r>
            <a:r>
              <a:rPr sz="1400" dirty="0">
                <a:sym typeface="+mn-ea"/>
              </a:rPr>
              <a:t>选择所有</a:t>
            </a:r>
            <a:r>
              <a:rPr lang="en-US" altLang="zh-CN" sz="1400" dirty="0">
                <a:sym typeface="+mn-ea"/>
              </a:rPr>
              <a:t>class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left</a:t>
            </a:r>
            <a:r>
              <a:rPr sz="1400" dirty="0">
                <a:sym typeface="+mn-ea"/>
              </a:rPr>
              <a:t>的</a:t>
            </a:r>
            <a:r>
              <a:rPr lang="en-US" altLang="zh-CN" sz="1400" dirty="0">
                <a:sym typeface="+mn-ea"/>
              </a:rPr>
              <a:t>p</a:t>
            </a:r>
            <a:r>
              <a:rPr sz="1400" dirty="0">
                <a:sym typeface="+mn-ea"/>
              </a:rPr>
              <a:t>元素；</a:t>
            </a:r>
            <a:endParaRPr lang="zh-CN" altLang="en-US" sz="14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4</a:t>
            </a:r>
            <a:r>
              <a:rPr sz="1400" dirty="0">
                <a:sym typeface="+mn-ea"/>
              </a:rPr>
              <a:t>）*选择器遍历页面中所有的</a:t>
            </a:r>
            <a:r>
              <a:rPr lang="en-US" altLang="zh-CN" sz="1400" dirty="0">
                <a:sym typeface="+mn-ea"/>
              </a:rPr>
              <a:t>HTML</a:t>
            </a:r>
            <a:r>
              <a:rPr sz="1400" dirty="0">
                <a:sym typeface="+mn-ea"/>
              </a:rPr>
              <a:t>元素。例如：</a:t>
            </a:r>
            <a:endParaRPr lang="zh-CN" altLang="en-US" sz="1400" dirty="0"/>
          </a:p>
          <a:p>
            <a:pPr marL="457200" lvl="1"/>
            <a:r>
              <a:rPr lang="en-US" altLang="zh-CN" sz="1400" dirty="0">
                <a:sym typeface="+mn-ea"/>
              </a:rPr>
              <a:t>$(“*”)</a:t>
            </a:r>
            <a:r>
              <a:rPr sz="1400" dirty="0">
                <a:highlight>
                  <a:srgbClr val="FFFF00"/>
                </a:highlight>
                <a:sym typeface="+mn-ea"/>
              </a:rPr>
              <a:t>为选择页面中所有的</a:t>
            </a: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HTML</a:t>
            </a:r>
            <a:r>
              <a:rPr sz="1400" dirty="0">
                <a:highlight>
                  <a:srgbClr val="FFFF00"/>
                </a:highlight>
                <a:sym typeface="+mn-ea"/>
              </a:rPr>
              <a:t>元素</a:t>
            </a:r>
            <a:r>
              <a:rPr sz="1400" dirty="0">
                <a:sym typeface="+mn-ea"/>
              </a:rPr>
              <a:t>；</a:t>
            </a: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$(“table *”)</a:t>
            </a:r>
            <a:r>
              <a:rPr sz="1400" dirty="0">
                <a:highlight>
                  <a:srgbClr val="FFFF00"/>
                </a:highlight>
                <a:sym typeface="+mn-ea"/>
              </a:rPr>
              <a:t>为选择页面中</a:t>
            </a:r>
            <a:r>
              <a:rPr lang="en-US" altLang="zh-CN" sz="1400" dirty="0">
                <a:highlight>
                  <a:srgbClr val="FFFF00"/>
                </a:highlight>
                <a:sym typeface="+mn-ea"/>
              </a:rPr>
              <a:t>table</a:t>
            </a:r>
            <a:r>
              <a:rPr sz="1400" dirty="0">
                <a:highlight>
                  <a:srgbClr val="FFFF00"/>
                </a:highlight>
                <a:sym typeface="+mn-ea"/>
              </a:rPr>
              <a:t>下的所有的元素</a:t>
            </a:r>
            <a:r>
              <a:rPr sz="1400" dirty="0">
                <a:sym typeface="+mn-ea"/>
              </a:rPr>
              <a:t>；</a:t>
            </a:r>
            <a:r>
              <a:rPr lang="en-US" altLang="zh-CN" sz="1400" dirty="0">
                <a:sym typeface="+mn-ea"/>
              </a:rPr>
              <a:t>$(“form *”)</a:t>
            </a:r>
            <a:r>
              <a:rPr sz="1400" dirty="0">
                <a:sym typeface="+mn-ea"/>
              </a:rPr>
              <a:t>为选择页面中</a:t>
            </a:r>
            <a:r>
              <a:rPr lang="en-US" altLang="zh-CN" sz="1400" dirty="0">
                <a:sym typeface="+mn-ea"/>
              </a:rPr>
              <a:t>form</a:t>
            </a:r>
            <a:r>
              <a:rPr sz="1400" dirty="0">
                <a:sym typeface="+mn-ea"/>
              </a:rPr>
              <a:t>下的所有的元素；</a:t>
            </a: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5</a:t>
            </a:r>
            <a:r>
              <a:rPr sz="1400" dirty="0">
                <a:sym typeface="+mn-ea"/>
              </a:rPr>
              <a:t>）</a:t>
            </a:r>
            <a:r>
              <a:rPr sz="1400" dirty="0">
                <a:highlight>
                  <a:srgbClr val="FFFF00"/>
                </a:highlight>
                <a:sym typeface="+mn-ea"/>
              </a:rPr>
              <a:t>并列选择器是使用逗号隔开</a:t>
            </a:r>
            <a:r>
              <a:rPr sz="1400" dirty="0">
                <a:sym typeface="+mn-ea"/>
              </a:rPr>
              <a:t>的选择符，彼此之间是并列关系。例如：</a:t>
            </a:r>
            <a:endParaRPr lang="zh-CN" altLang="en-US" sz="1400" dirty="0"/>
          </a:p>
          <a:p>
            <a:pPr marL="457200" lvl="1"/>
            <a:r>
              <a:rPr lang="en-US" altLang="zh-CN" sz="1400" dirty="0">
                <a:sym typeface="+mn-ea"/>
              </a:rPr>
              <a:t>$(“p, div”)</a:t>
            </a:r>
            <a:r>
              <a:rPr sz="1400" dirty="0">
                <a:sym typeface="+mn-ea"/>
              </a:rPr>
              <a:t>为选择页面中所有的</a:t>
            </a:r>
            <a:r>
              <a:rPr lang="en-US" altLang="zh-CN" sz="1400" dirty="0">
                <a:sym typeface="+mn-ea"/>
              </a:rPr>
              <a:t>p</a:t>
            </a:r>
            <a:r>
              <a:rPr sz="1400" dirty="0">
                <a:sym typeface="+mn-ea"/>
              </a:rPr>
              <a:t>元素和</a:t>
            </a:r>
            <a:r>
              <a:rPr lang="en-US" altLang="zh-CN" sz="1400" dirty="0">
                <a:sym typeface="+mn-ea"/>
              </a:rPr>
              <a:t>div</a:t>
            </a:r>
            <a:r>
              <a:rPr sz="1400" dirty="0">
                <a:sym typeface="+mn-ea"/>
              </a:rPr>
              <a:t>元素；</a:t>
            </a:r>
            <a:r>
              <a:rPr lang="en-US" altLang="zh-CN" sz="1400" dirty="0">
                <a:sym typeface="+mn-ea"/>
              </a:rPr>
              <a:t>$(“#my, p, .left”)</a:t>
            </a:r>
            <a:r>
              <a:rPr sz="1400" dirty="0">
                <a:sym typeface="+mn-ea"/>
              </a:rPr>
              <a:t>为选择页面中</a:t>
            </a:r>
            <a:r>
              <a:rPr lang="en-US" altLang="zh-CN" sz="1400" dirty="0">
                <a:sym typeface="+mn-ea"/>
              </a:rPr>
              <a:t>id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my</a:t>
            </a:r>
            <a:r>
              <a:rPr sz="1400" dirty="0">
                <a:sym typeface="+mn-ea"/>
              </a:rPr>
              <a:t>的第一个元素、所有的</a:t>
            </a:r>
            <a:r>
              <a:rPr lang="en-US" altLang="zh-CN" sz="1400" dirty="0">
                <a:sym typeface="+mn-ea"/>
              </a:rPr>
              <a:t>p</a:t>
            </a:r>
            <a:r>
              <a:rPr sz="1400" dirty="0">
                <a:sym typeface="+mn-ea"/>
              </a:rPr>
              <a:t>元素以及所有</a:t>
            </a:r>
            <a:r>
              <a:rPr lang="en-US" altLang="zh-CN" sz="1400" dirty="0" err="1">
                <a:sym typeface="+mn-ea"/>
              </a:rPr>
              <a:t>css</a:t>
            </a:r>
            <a:r>
              <a:rPr sz="1400" dirty="0">
                <a:sym typeface="+mn-ea"/>
              </a:rPr>
              <a:t>的</a:t>
            </a:r>
            <a:r>
              <a:rPr lang="en-US" altLang="zh-CN" sz="1400" dirty="0">
                <a:sym typeface="+mn-ea"/>
              </a:rPr>
              <a:t>class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left</a:t>
            </a:r>
            <a:r>
              <a:rPr sz="1400" dirty="0">
                <a:sym typeface="+mn-ea"/>
              </a:rPr>
              <a:t>的元素；</a:t>
            </a:r>
            <a:endParaRPr lang="en-US" altLang="zh-CN"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层次选择器</a:t>
            </a:r>
            <a:endParaRPr lang="zh-CN" altLang="en-US"/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412115" y="1304062"/>
            <a:ext cx="8229600" cy="437705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400" dirty="0"/>
              <a:t>层次选择器根据页面元素间的嵌套关系来选择元素，主要包括</a:t>
            </a:r>
            <a:r>
              <a:rPr sz="1400" dirty="0"/>
              <a:t>：</a:t>
            </a:r>
            <a:endParaRPr lang="zh-CN" altLang="en-US" sz="1400" dirty="0"/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</a:t>
            </a:r>
            <a:r>
              <a:rPr lang="en-US" altLang="zh-CN" sz="1400" dirty="0">
                <a:sym typeface="+mn-ea"/>
              </a:rPr>
              <a:t>1</a:t>
            </a:r>
            <a:r>
              <a:rPr sz="1400" dirty="0">
                <a:sym typeface="+mn-ea"/>
              </a:rPr>
              <a:t>）</a:t>
            </a:r>
            <a:r>
              <a:rPr sz="1400" dirty="0">
                <a:highlight>
                  <a:srgbClr val="FFFF00"/>
                </a:highlight>
                <a:sym typeface="+mn-ea"/>
              </a:rPr>
              <a:t>后代选择器也称祖先子孙选择器，选择符之间使用空格隔开</a:t>
            </a:r>
            <a:r>
              <a:rPr sz="1400" dirty="0">
                <a:sym typeface="+mn-ea"/>
              </a:rPr>
              <a:t>，不限制嵌套层次数。例如：</a:t>
            </a:r>
            <a:endParaRPr lang="zh-CN" altLang="en-US" sz="1400" dirty="0"/>
          </a:p>
          <a:p>
            <a:pPr marL="457200" lvl="1" defTabSz="914400">
              <a:spcAft>
                <a:spcPts val="0"/>
              </a:spcAft>
              <a:tabLst>
                <a:tab pos="1609725" algn="l"/>
                <a:tab pos="1609725" algn="l"/>
              </a:tabLst>
            </a:pPr>
            <a:r>
              <a:rPr lang="en-US" altLang="zh-CN" sz="1400" dirty="0">
                <a:sym typeface="+mn-ea"/>
              </a:rPr>
              <a:t>$(“.left p”)</a:t>
            </a:r>
            <a:r>
              <a:rPr sz="1400" dirty="0">
                <a:sym typeface="+mn-ea"/>
              </a:rPr>
              <a:t>为选择所有</a:t>
            </a:r>
            <a:r>
              <a:rPr lang="en-US" altLang="zh-CN" sz="1400" dirty="0" err="1">
                <a:sym typeface="+mn-ea"/>
              </a:rPr>
              <a:t>css</a:t>
            </a:r>
            <a:r>
              <a:rPr sz="1400" dirty="0">
                <a:sym typeface="+mn-ea"/>
              </a:rPr>
              <a:t>类为</a:t>
            </a:r>
            <a:r>
              <a:rPr lang="en-US" altLang="zh-CN" sz="1400" dirty="0">
                <a:sym typeface="+mn-ea"/>
              </a:rPr>
              <a:t>left</a:t>
            </a:r>
            <a:r>
              <a:rPr sz="1400" dirty="0">
                <a:sym typeface="+mn-ea"/>
              </a:rPr>
              <a:t>的元素中的所有的</a:t>
            </a:r>
            <a:r>
              <a:rPr lang="en-US" altLang="zh-CN" sz="1400" dirty="0">
                <a:sym typeface="+mn-ea"/>
              </a:rPr>
              <a:t>p</a:t>
            </a:r>
            <a:r>
              <a:rPr sz="1400" dirty="0">
                <a:sym typeface="+mn-ea"/>
              </a:rPr>
              <a:t>元素；</a:t>
            </a:r>
          </a:p>
          <a:p>
            <a:pPr marL="457200" lvl="1" defTabSz="914400">
              <a:spcAft>
                <a:spcPts val="0"/>
              </a:spcAft>
              <a:tabLst>
                <a:tab pos="1609725" algn="l"/>
                <a:tab pos="1609725" algn="l"/>
              </a:tabLst>
            </a:pPr>
            <a:r>
              <a:rPr lang="en-US" altLang="zh-CN" sz="1400" dirty="0">
                <a:sym typeface="+mn-ea"/>
              </a:rPr>
              <a:t>$(“form input”)</a:t>
            </a:r>
            <a:r>
              <a:rPr sz="1400" dirty="0">
                <a:sym typeface="+mn-ea"/>
              </a:rPr>
              <a:t>为选择所有的</a:t>
            </a:r>
            <a:r>
              <a:rPr lang="en-US" altLang="zh-CN" sz="1400" dirty="0">
                <a:sym typeface="+mn-ea"/>
              </a:rPr>
              <a:t>form</a:t>
            </a:r>
            <a:r>
              <a:rPr sz="1400" dirty="0">
                <a:sym typeface="+mn-ea"/>
              </a:rPr>
              <a:t>元素中的</a:t>
            </a:r>
            <a:r>
              <a:rPr lang="en-US" altLang="zh-CN" sz="1400" dirty="0">
                <a:sym typeface="+mn-ea"/>
              </a:rPr>
              <a:t>input</a:t>
            </a:r>
            <a:r>
              <a:rPr sz="1400" dirty="0">
                <a:sym typeface="+mn-ea"/>
              </a:rPr>
              <a:t>元素；</a:t>
            </a:r>
          </a:p>
          <a:p>
            <a:pPr mar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（2）孩子选择器也称</a:t>
            </a:r>
            <a:r>
              <a:rPr sz="1400" dirty="0">
                <a:highlight>
                  <a:srgbClr val="FFFF00"/>
                </a:highlight>
                <a:sym typeface="+mn-ea"/>
              </a:rPr>
              <a:t>父子</a:t>
            </a:r>
            <a:r>
              <a:rPr sz="1400" dirty="0">
                <a:sym typeface="+mn-ea"/>
              </a:rPr>
              <a:t>选择器，使用</a:t>
            </a:r>
            <a:r>
              <a:rPr sz="1400" dirty="0">
                <a:highlight>
                  <a:srgbClr val="FFFF00"/>
                </a:highlight>
                <a:sym typeface="+mn-ea"/>
              </a:rPr>
              <a:t>“&gt;”隔开</a:t>
            </a:r>
            <a:r>
              <a:rPr sz="1400" dirty="0">
                <a:sym typeface="+mn-ea"/>
              </a:rPr>
              <a:t>，前后元素的嵌套关系只能是一层。例如：</a:t>
            </a:r>
            <a:endParaRPr lang="zh-CN" altLang="en-US" sz="1400" dirty="0"/>
          </a:p>
          <a:p>
            <a:pPr marL="457200" lvl="1">
              <a:spcAft>
                <a:spcPts val="0"/>
              </a:spcAft>
            </a:pPr>
            <a:r>
              <a:rPr lang="en-US" altLang="zh-CN" sz="1400" dirty="0">
                <a:sym typeface="+mn-ea"/>
              </a:rPr>
              <a:t>$(“div &gt; p”)</a:t>
            </a:r>
            <a:r>
              <a:rPr sz="1400" dirty="0">
                <a:sym typeface="+mn-ea"/>
              </a:rPr>
              <a:t>为选择</a:t>
            </a:r>
            <a:r>
              <a:rPr lang="en-US" altLang="zh-CN" sz="1400" dirty="0">
                <a:sym typeface="+mn-ea"/>
              </a:rPr>
              <a:t>div</a:t>
            </a:r>
            <a:r>
              <a:rPr sz="1400" dirty="0">
                <a:sym typeface="+mn-ea"/>
              </a:rPr>
              <a:t>元素内直接嵌套的</a:t>
            </a:r>
            <a:r>
              <a:rPr lang="en-US" altLang="zh-CN" sz="1400" dirty="0">
                <a:sym typeface="+mn-ea"/>
              </a:rPr>
              <a:t>p</a:t>
            </a:r>
            <a:r>
              <a:rPr sz="1400" dirty="0">
                <a:sym typeface="+mn-ea"/>
              </a:rPr>
              <a:t>元素；</a:t>
            </a:r>
            <a:endParaRPr lang="zh-CN" altLang="en-US" sz="1400" dirty="0"/>
          </a:p>
          <a:p>
            <a:pPr mar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sym typeface="+mn-ea"/>
              </a:rPr>
              <a:t>（3）</a:t>
            </a:r>
            <a:r>
              <a:rPr sz="1400" dirty="0">
                <a:highlight>
                  <a:srgbClr val="FFFF00"/>
                </a:highlight>
                <a:sym typeface="+mn-ea"/>
              </a:rPr>
              <a:t>下一兄弟选择器选择下一个同级的兄弟元素</a:t>
            </a:r>
            <a:r>
              <a:rPr sz="1400" dirty="0">
                <a:sym typeface="+mn-ea"/>
              </a:rPr>
              <a:t>，prev和next是两个同级别的元素，中间使用</a:t>
            </a:r>
            <a:r>
              <a:rPr sz="1400" dirty="0">
                <a:highlight>
                  <a:srgbClr val="FFFF00"/>
                </a:highlight>
                <a:sym typeface="+mn-ea"/>
              </a:rPr>
              <a:t>“+”分隔，</a:t>
            </a:r>
            <a:r>
              <a:rPr sz="1400" dirty="0">
                <a:sym typeface="+mn-ea"/>
              </a:rPr>
              <a:t>选择在prev元素后面的next元素，相当于next()方法， 例如：</a:t>
            </a:r>
            <a:endParaRPr lang="zh-CN" altLang="en-US" sz="1400" dirty="0"/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sym typeface="+mn-ea"/>
              </a:rPr>
              <a:t>$(“#</a:t>
            </a:r>
            <a:r>
              <a:rPr lang="en-US" altLang="zh-CN" sz="1400" dirty="0" err="1">
                <a:sym typeface="+mn-ea"/>
              </a:rPr>
              <a:t>my+img</a:t>
            </a:r>
            <a:r>
              <a:rPr lang="en-US" altLang="zh-CN" sz="1400" dirty="0">
                <a:sym typeface="+mn-ea"/>
              </a:rPr>
              <a:t>”)</a:t>
            </a:r>
            <a:r>
              <a:rPr sz="1400" dirty="0">
                <a:sym typeface="+mn-ea"/>
              </a:rPr>
              <a:t>为选择</a:t>
            </a:r>
            <a:r>
              <a:rPr lang="en-US" altLang="zh-CN" sz="1400" dirty="0">
                <a:sym typeface="+mn-ea"/>
              </a:rPr>
              <a:t>id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my</a:t>
            </a:r>
            <a:r>
              <a:rPr sz="1400" dirty="0">
                <a:sym typeface="+mn-ea"/>
              </a:rPr>
              <a:t>的元素后的第一个同级别</a:t>
            </a:r>
            <a:r>
              <a:rPr lang="en-US" altLang="zh-CN" sz="1400" dirty="0" err="1">
                <a:sym typeface="+mn-ea"/>
              </a:rPr>
              <a:t>img</a:t>
            </a:r>
            <a:r>
              <a:rPr sz="1400" dirty="0">
                <a:sym typeface="+mn-ea"/>
              </a:rPr>
              <a:t>元素；</a:t>
            </a:r>
            <a:endParaRPr lang="en-US" altLang="zh-CN" sz="1400" dirty="0"/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sym typeface="+mn-ea"/>
              </a:rPr>
              <a:t>$(“.</a:t>
            </a:r>
            <a:r>
              <a:rPr lang="en-US" altLang="zh-CN" sz="1400" dirty="0" err="1">
                <a:sym typeface="+mn-ea"/>
              </a:rPr>
              <a:t>left+div</a:t>
            </a:r>
            <a:r>
              <a:rPr lang="en-US" altLang="zh-CN" sz="1400" dirty="0">
                <a:sym typeface="+mn-ea"/>
              </a:rPr>
              <a:t>”)</a:t>
            </a:r>
            <a:r>
              <a:rPr sz="1400" dirty="0">
                <a:sym typeface="+mn-ea"/>
              </a:rPr>
              <a:t>为选择</a:t>
            </a:r>
            <a:r>
              <a:rPr lang="en-US" altLang="zh-CN" sz="1400" dirty="0">
                <a:sym typeface="+mn-ea"/>
              </a:rPr>
              <a:t>class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left</a:t>
            </a:r>
            <a:r>
              <a:rPr sz="1400" dirty="0">
                <a:sym typeface="+mn-ea"/>
              </a:rPr>
              <a:t>的元素的下一个同级别</a:t>
            </a:r>
            <a:r>
              <a:rPr lang="en-US" altLang="zh-CN" sz="1400" dirty="0">
                <a:sym typeface="+mn-ea"/>
              </a:rPr>
              <a:t>div</a:t>
            </a:r>
            <a:r>
              <a:rPr sz="1400" dirty="0">
                <a:sym typeface="+mn-ea"/>
              </a:rPr>
              <a:t>元素；</a:t>
            </a:r>
            <a:endParaRPr lang="zh-CN" altLang="en-US" sz="1400" dirty="0"/>
          </a:p>
          <a:p>
            <a:pPr mar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 dirty="0">
                <a:highlight>
                  <a:srgbClr val="FFFF00"/>
                </a:highlight>
                <a:sym typeface="+mn-ea"/>
              </a:rPr>
              <a:t>（4）所有兄弟选择器用于选择prev元素的所有的兄弟元素，相当于nextAll()方法，可以选择出现在prev元素之后的和其为同一级别的所有的元素</a:t>
            </a:r>
            <a:r>
              <a:rPr sz="1400" dirty="0">
                <a:sym typeface="+mn-ea"/>
              </a:rPr>
              <a:t>。例如：</a:t>
            </a:r>
            <a:endParaRPr lang="zh-CN" altLang="en-US" sz="1400" dirty="0"/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sym typeface="+mn-ea"/>
              </a:rPr>
              <a:t>$(“#</a:t>
            </a:r>
            <a:r>
              <a:rPr lang="en-US" altLang="zh-CN" sz="1400" dirty="0" err="1">
                <a:sym typeface="+mn-ea"/>
              </a:rPr>
              <a:t>my~img</a:t>
            </a:r>
            <a:r>
              <a:rPr lang="en-US" altLang="zh-CN" sz="1400" dirty="0">
                <a:sym typeface="+mn-ea"/>
              </a:rPr>
              <a:t>”)</a:t>
            </a:r>
            <a:r>
              <a:rPr sz="1400" dirty="0">
                <a:sym typeface="+mn-ea"/>
              </a:rPr>
              <a:t>为选择</a:t>
            </a:r>
            <a:r>
              <a:rPr lang="en-US" altLang="zh-CN" sz="1400" dirty="0">
                <a:sym typeface="+mn-ea"/>
              </a:rPr>
              <a:t>id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my</a:t>
            </a:r>
            <a:r>
              <a:rPr sz="1400" dirty="0">
                <a:sym typeface="+mn-ea"/>
              </a:rPr>
              <a:t>的元素后的所有的同级别</a:t>
            </a:r>
            <a:r>
              <a:rPr lang="en-US" altLang="zh-CN" sz="1400" dirty="0" err="1">
                <a:sym typeface="+mn-ea"/>
              </a:rPr>
              <a:t>img</a:t>
            </a:r>
            <a:r>
              <a:rPr sz="1400" dirty="0">
                <a:sym typeface="+mn-ea"/>
              </a:rPr>
              <a:t>元素；</a:t>
            </a:r>
            <a:endParaRPr lang="en-US" altLang="zh-CN" sz="1400" dirty="0"/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sym typeface="+mn-ea"/>
              </a:rPr>
              <a:t>$(“.</a:t>
            </a:r>
            <a:r>
              <a:rPr lang="en-US" altLang="zh-CN" sz="1400" dirty="0" err="1">
                <a:sym typeface="+mn-ea"/>
              </a:rPr>
              <a:t>left~div</a:t>
            </a:r>
            <a:r>
              <a:rPr lang="en-US" altLang="zh-CN" sz="1400" dirty="0">
                <a:sym typeface="+mn-ea"/>
              </a:rPr>
              <a:t>”)</a:t>
            </a:r>
            <a:r>
              <a:rPr sz="1400" dirty="0">
                <a:sym typeface="+mn-ea"/>
              </a:rPr>
              <a:t>为选择</a:t>
            </a:r>
            <a:r>
              <a:rPr lang="en-US" altLang="zh-CN" sz="1400" dirty="0">
                <a:sym typeface="+mn-ea"/>
              </a:rPr>
              <a:t>class</a:t>
            </a:r>
            <a:r>
              <a:rPr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left</a:t>
            </a:r>
            <a:r>
              <a:rPr sz="1400" dirty="0">
                <a:sym typeface="+mn-ea"/>
              </a:rPr>
              <a:t>的元素之后的所有同级别的</a:t>
            </a:r>
            <a:r>
              <a:rPr lang="en-US" altLang="zh-CN" sz="1400" dirty="0">
                <a:sym typeface="+mn-ea"/>
              </a:rPr>
              <a:t>div</a:t>
            </a:r>
            <a:r>
              <a:rPr sz="1400" dirty="0">
                <a:sym typeface="+mn-ea"/>
              </a:rPr>
              <a:t>元素；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235</a:t>
            </a:fld>
            <a:endParaRPr lang="zh-CN" altLang="en-US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过滤选择器</a:t>
            </a:r>
            <a:endParaRPr lang="zh-CN" altLang="en-US"/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311785" y="997992"/>
            <a:ext cx="8229600" cy="94361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过滤选择器可分为基本过滤器、内容过滤器、可见性过滤器、属性过滤器等。</a:t>
            </a: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）基本过滤器可以根据元素的特点和索引选择元素</a:t>
            </a:r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sz="1400">
                <a:solidFill>
                  <a:schemeClr val="accent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内容过滤器</a:t>
            </a:r>
            <a:r>
              <a:rPr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可以根据元素包含的文字内容选择元素，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236</a:t>
            </a:fld>
            <a:endParaRPr lang="zh-CN" altLang="en-US"/>
          </a:p>
        </p:txBody>
      </p:sp>
      <p:graphicFrame>
        <p:nvGraphicFramePr>
          <p:cNvPr id="314513" name="Group 14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4742" y="2120617"/>
          <a:ext cx="7902575" cy="422914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98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6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选择器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:first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匹配找到的第一个元素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:last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匹配找到的最后一个元素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:not(selector)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去除所有与给定选择器匹配的元素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:even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匹配所有索引值为偶数的元素，例如$(“tr:even”)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:odd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匹配所有索引值为奇数的元素，例如$(“tr:odd”)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:eq(index)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匹配一个给定索引值的元素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:gt(index)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匹配所有大于给定索引值的元素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:lt(index)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匹配所有小于给定索引值的元素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:header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匹配所有标题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:animated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匹配所有正在执行动画效果的元素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:contains(text)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匹配包含给定文本的元素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:empty()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匹配所有不包含子元素或者文本的空元素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:has(selector)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匹配含有选择器所匹配的元素的元素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:parent()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匹配含有子元素或者文本的元素，与:empty()相反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68580" marR="68580" marT="34296" marB="34296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过滤选择器</a:t>
            </a:r>
            <a:endParaRPr lang="zh-CN" altLang="en-US"/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055777"/>
            <a:ext cx="8229600" cy="145986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）可见性过滤器根据元素的可见性进行选择，包括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:hidden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:visible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:hidden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匹配所有不可见的元素，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:visible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匹配所有可见的元素。例如：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$(“</a:t>
            </a:r>
            <a:r>
              <a:rPr lang="en-US" altLang="zh-CN" sz="1400" dirty="0" err="1">
                <a:latin typeface="微软雅黑" panose="020B0503020204020204" charset="-122"/>
                <a:cs typeface="微软雅黑" panose="020B0503020204020204" charset="-122"/>
              </a:rPr>
              <a:t>td:hidden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”)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为匹配所有不可见的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td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元素；</a:t>
            </a:r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$(“</a:t>
            </a:r>
            <a:r>
              <a:rPr lang="en-US" altLang="zh-CN" sz="1400" dirty="0" err="1">
                <a:latin typeface="微软雅黑" panose="020B0503020204020204" charset="-122"/>
                <a:cs typeface="微软雅黑" panose="020B0503020204020204" charset="-122"/>
              </a:rPr>
              <a:t>td:visible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”)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为匹配所有可见的</a:t>
            </a:r>
            <a:r>
              <a:rPr lang="en-US" altLang="zh-CN" sz="1400" dirty="0">
                <a:latin typeface="微软雅黑" panose="020B0503020204020204" charset="-122"/>
                <a:cs typeface="微软雅黑" panose="020B0503020204020204" charset="-122"/>
              </a:rPr>
              <a:t>td</a:t>
            </a:r>
            <a:r>
              <a:rPr lang="zh-CN" altLang="en-US" sz="1400" dirty="0">
                <a:latin typeface="微软雅黑" panose="020B0503020204020204" charset="-122"/>
                <a:cs typeface="微软雅黑" panose="020B0503020204020204" charset="-122"/>
              </a:rPr>
              <a:t>元素；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sz="14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）属性过滤器根据元素的属性值匹配元素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237</a:t>
            </a:fld>
            <a:endParaRPr lang="zh-CN" altLang="en-US"/>
          </a:p>
        </p:txBody>
      </p:sp>
      <p:graphicFrame>
        <p:nvGraphicFramePr>
          <p:cNvPr id="321643" name="Group 10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3722161"/>
              </p:ext>
            </p:extLst>
          </p:nvPr>
        </p:nvGraphicFramePr>
        <p:xfrm>
          <a:off x="822960" y="2627630"/>
          <a:ext cx="7541260" cy="243713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12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选择器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[attribute]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匹配包含给定属性的元素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[attribute=value]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匹配给定属性为特定值的元素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[attribute!=value]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匹配给定属性不等于特定值的元素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[attribute^=value]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匹配给定属性是以特定值开头的元素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[attribute$=value]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匹配给定属性是以特定值结尾的元素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[attribute*=value]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匹配给定属性包含特定值的元素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[attributeFilter1][attributeFilter2][…]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复合属性选择器，匹配属性同时满足多个条件的元素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>
                <a:sym typeface="+mn-ea"/>
              </a:rPr>
              <a:t>表单选择器</a:t>
            </a:r>
            <a:endParaRPr lang="zh-CN" altLang="en-US"/>
          </a:p>
        </p:txBody>
      </p:sp>
      <p:graphicFrame>
        <p:nvGraphicFramePr>
          <p:cNvPr id="324802" name="Group 194"/>
          <p:cNvGraphicFramePr>
            <a:graphicFrameLocks noGrp="1"/>
          </p:cNvGraphicFramePr>
          <p:nvPr>
            <p:ph idx="1"/>
          </p:nvPr>
        </p:nvGraphicFramePr>
        <p:xfrm>
          <a:off x="1018456" y="1738628"/>
          <a:ext cx="5770880" cy="42291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0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选择器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:input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:text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type=“text”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:password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type=“password”</a:t>
                      </a: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:radio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type=“radio”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:checkbox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type=“checkbox”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:submit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type=“submit”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:reset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type=“reset”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:button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type=“button”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:image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type=“image”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:file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type=“file”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:enabled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匹配所有激活的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:disabled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匹配所有禁用的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:selected 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匹配所有被选取的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:checked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匹配所有被选中的</a:t>
                      </a:r>
                      <a:r>
                        <a:rPr kumimoji="0" lang="en-US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&lt;input&gt;</a:t>
                      </a: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813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2216" y="1003567"/>
            <a:ext cx="7056784" cy="34925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</a:rPr>
              <a:t>表单选择器用于选择表单中的元素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238</a:t>
            </a:fld>
            <a:endParaRPr lang="zh-CN" altLang="en-US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ea typeface="黑体" panose="02010609060101010101" charset="-122"/>
                <a:cs typeface="Arial" panose="020B0604020202020204" pitchFamily="34" charset="0"/>
              </a:rPr>
              <a:t>jQuery</a:t>
            </a:r>
            <a:r>
              <a:rPr lang="zh-CN" altLang="en-US" dirty="0">
                <a:ea typeface="黑体" panose="02010609060101010101" charset="-122"/>
                <a:cs typeface="Arial" panose="020B0604020202020204" pitchFamily="34" charset="0"/>
              </a:rPr>
              <a:t>的事件处理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863608"/>
            <a:ext cx="8139178" cy="94361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 dirty="0"/>
              <a:t>jQuery</a:t>
            </a:r>
            <a:r>
              <a:rPr lang="zh-CN" altLang="en-US" sz="1400" dirty="0"/>
              <a:t>中通常把事件处理放置在页面的</a:t>
            </a:r>
            <a:r>
              <a:rPr lang="en-US" altLang="zh-CN" sz="1400" dirty="0"/>
              <a:t>&lt;head&gt;</a:t>
            </a:r>
            <a:r>
              <a:rPr lang="zh-CN" altLang="en-US" sz="1400" dirty="0"/>
              <a:t>部分，当然也可以放在单独的</a:t>
            </a:r>
            <a:r>
              <a:rPr lang="en-US" altLang="zh-CN" sz="1400" dirty="0"/>
              <a:t>JS</a:t>
            </a:r>
            <a:r>
              <a:rPr lang="zh-CN" altLang="en-US" sz="1400" dirty="0"/>
              <a:t>文件中。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239</a:t>
            </a:fld>
            <a:endParaRPr lang="zh-CN" altLang="en-US"/>
          </a:p>
        </p:txBody>
      </p:sp>
      <p:graphicFrame>
        <p:nvGraphicFramePr>
          <p:cNvPr id="326896" name="Group 24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2285" y="1256030"/>
          <a:ext cx="8315960" cy="53568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24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9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函数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$(document).ready(function)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将函数绑定到文档的加载完成事件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$(selector).click(function)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onClick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$(selector).focus(function)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onFocus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$(selector).blur(function)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onBlur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$(selector).change(function)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onChange</a:t>
                      </a: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$(selector).keydown(function)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onKeyDown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$(selector).keypress(function)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onKeyPress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$(selector).keyup(function)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onKeyUp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$(selector).mousedown(function)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onMouseDown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$(selector).mousemove(function)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onMouseMove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 mouseout(function)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onMouseOut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 mouseover(function)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onMouseOver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 mouseup(function)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onMouseUp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$(selector).submit (function)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触发或将函数绑定到元素的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onSubmit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 toggle(event,function)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绑定两个或多个事件处理函数，当发生轮流</a:t>
                      </a: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onClick</a:t>
                      </a: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事件时执行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$(selector).bind(event,function)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向匹配元素附加一个或更多的事件处理器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$(selector).unbind(event,function)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从匹配元素移除一个被添加的事件处理器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$(selector).one(event,function)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向匹配元素添加事件处理器，每个元素只能触发一次该处理器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565" y="1049655"/>
            <a:ext cx="7193280" cy="368300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zh-CN" altLang="en-US" sz="1800" dirty="0">
                <a:ea typeface="宋体" panose="02010600030101010101" pitchFamily="2" charset="-122"/>
              </a:rPr>
              <a:t>单击按钮时显示半透明的、可以随鼠标的移动而移动的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DIV</a:t>
            </a:r>
            <a:r>
              <a:rPr lang="zh-CN" altLang="en-US" sz="1800" dirty="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7020"/>
            <a:ext cx="8362950" cy="4523105"/>
          </a:xfr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var show = function(){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$("body").append("&lt;div id='</a:t>
            </a:r>
            <a:r>
              <a:rPr lang="en-US" altLang="zh-CN" sz="1600" dirty="0" err="1"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ea typeface="宋体" panose="02010600030101010101" pitchFamily="2" charset="-122"/>
              </a:rPr>
              <a:t>' style='background:#00BFFF;position:absolute;width:100;height:100'&gt;</a:t>
            </a:r>
            <a:r>
              <a:rPr lang="zh-CN" altLang="en-US" sz="1600" dirty="0">
                <a:ea typeface="宋体" panose="02010600030101010101" pitchFamily="2" charset="-122"/>
              </a:rPr>
              <a:t>可以拖动的半透明</a:t>
            </a:r>
            <a:r>
              <a:rPr lang="en-US" altLang="zh-CN" sz="1600" dirty="0">
                <a:ea typeface="宋体" panose="02010600030101010101" pitchFamily="2" charset="-122"/>
              </a:rPr>
              <a:t>div&lt;/div&gt;");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$("#</a:t>
            </a:r>
            <a:r>
              <a:rPr lang="en-US" altLang="zh-CN" sz="1600" dirty="0" err="1"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ea typeface="宋体" panose="02010600030101010101" pitchFamily="2" charset="-122"/>
              </a:rPr>
              <a:t>").</a:t>
            </a:r>
            <a:r>
              <a:rPr lang="en-US" altLang="zh-CN" sz="1600" dirty="0" err="1">
                <a:ea typeface="宋体" panose="02010600030101010101" pitchFamily="2" charset="-122"/>
              </a:rPr>
              <a:t>fadeTo</a:t>
            </a:r>
            <a:r>
              <a:rPr lang="en-US" altLang="zh-CN" sz="1600" dirty="0">
                <a:ea typeface="宋体" panose="02010600030101010101" pitchFamily="2" charset="-122"/>
              </a:rPr>
              <a:t>("slow", 0.5);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$("#</a:t>
            </a:r>
            <a:r>
              <a:rPr lang="en-US" altLang="zh-CN" sz="1600" dirty="0" err="1"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ea typeface="宋体" panose="02010600030101010101" pitchFamily="2" charset="-122"/>
              </a:rPr>
              <a:t>").</a:t>
            </a:r>
            <a:r>
              <a:rPr lang="en-US" altLang="zh-CN" sz="1600" dirty="0" err="1">
                <a:ea typeface="宋体" panose="02010600030101010101" pitchFamily="2" charset="-122"/>
              </a:rPr>
              <a:t>mousedown</a:t>
            </a:r>
            <a:r>
              <a:rPr lang="en-US" altLang="zh-CN" sz="1600" dirty="0">
                <a:ea typeface="宋体" panose="02010600030101010101" pitchFamily="2" charset="-122"/>
              </a:rPr>
              <a:t>(function(event)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var offset = $("#</a:t>
            </a:r>
            <a:r>
              <a:rPr lang="en-US" altLang="zh-CN" sz="1600" dirty="0" err="1"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ea typeface="宋体" panose="02010600030101010101" pitchFamily="2" charset="-122"/>
              </a:rPr>
              <a:t>").offset();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x1 = </a:t>
            </a:r>
            <a:r>
              <a:rPr lang="en-US" altLang="zh-CN" sz="1600" dirty="0" err="1">
                <a:ea typeface="宋体" panose="02010600030101010101" pitchFamily="2" charset="-122"/>
              </a:rPr>
              <a:t>event.clientX</a:t>
            </a:r>
            <a:r>
              <a:rPr lang="en-US" altLang="zh-CN" sz="1600" dirty="0">
                <a:ea typeface="宋体" panose="02010600030101010101" pitchFamily="2" charset="-122"/>
              </a:rPr>
              <a:t> - </a:t>
            </a:r>
            <a:r>
              <a:rPr lang="en-US" altLang="zh-CN" sz="1600" dirty="0" err="1">
                <a:ea typeface="宋体" panose="02010600030101010101" pitchFamily="2" charset="-122"/>
              </a:rPr>
              <a:t>offset.left</a:t>
            </a:r>
            <a:r>
              <a:rPr lang="en-US" altLang="zh-CN" sz="1600" dirty="0">
                <a:ea typeface="宋体" panose="02010600030101010101" pitchFamily="2" charset="-122"/>
              </a:rPr>
              <a:t>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y1 = </a:t>
            </a:r>
            <a:r>
              <a:rPr lang="en-US" altLang="zh-CN" sz="1600" dirty="0" err="1">
                <a:ea typeface="宋体" panose="02010600030101010101" pitchFamily="2" charset="-122"/>
              </a:rPr>
              <a:t>event.clientY</a:t>
            </a:r>
            <a:r>
              <a:rPr lang="en-US" altLang="zh-CN" sz="1600" dirty="0">
                <a:ea typeface="宋体" panose="02010600030101010101" pitchFamily="2" charset="-122"/>
              </a:rPr>
              <a:t> - </a:t>
            </a:r>
            <a:r>
              <a:rPr lang="en-US" altLang="zh-CN" sz="1600" dirty="0" err="1">
                <a:ea typeface="宋体" panose="02010600030101010101" pitchFamily="2" charset="-122"/>
              </a:rPr>
              <a:t>offset.top</a:t>
            </a:r>
            <a:r>
              <a:rPr lang="en-US" altLang="zh-CN" sz="1600" dirty="0">
                <a:ea typeface="宋体" panose="02010600030101010101" pitchFamily="2" charset="-122"/>
              </a:rPr>
              <a:t>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$("#</a:t>
            </a:r>
            <a:r>
              <a:rPr lang="en-US" altLang="zh-CN" sz="1600" dirty="0" err="1"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ea typeface="宋体" panose="02010600030101010101" pitchFamily="2" charset="-122"/>
              </a:rPr>
              <a:t>").</a:t>
            </a:r>
            <a:r>
              <a:rPr lang="en-US" altLang="zh-CN" sz="1600" dirty="0" err="1">
                <a:ea typeface="宋体" panose="02010600030101010101" pitchFamily="2" charset="-122"/>
              </a:rPr>
              <a:t>mousemove</a:t>
            </a:r>
            <a:r>
              <a:rPr lang="en-US" altLang="zh-CN" sz="1600" dirty="0">
                <a:ea typeface="宋体" panose="02010600030101010101" pitchFamily="2" charset="-122"/>
              </a:rPr>
              <a:t>(function(event)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$("#</a:t>
            </a:r>
            <a:r>
              <a:rPr lang="en-US" altLang="zh-CN" sz="1600" dirty="0" err="1"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ea typeface="宋体" panose="02010600030101010101" pitchFamily="2" charset="-122"/>
              </a:rPr>
              <a:t>").</a:t>
            </a:r>
            <a:r>
              <a:rPr lang="en-US" altLang="zh-CN" sz="1600" dirty="0" err="1">
                <a:ea typeface="宋体" panose="02010600030101010101" pitchFamily="2" charset="-122"/>
              </a:rPr>
              <a:t>css</a:t>
            </a:r>
            <a:r>
              <a:rPr lang="en-US" altLang="zh-CN" sz="1600" dirty="0">
                <a:ea typeface="宋体" panose="02010600030101010101" pitchFamily="2" charset="-122"/>
              </a:rPr>
              <a:t>("left", (</a:t>
            </a:r>
            <a:r>
              <a:rPr lang="en-US" altLang="zh-CN" sz="1600" dirty="0" err="1">
                <a:ea typeface="宋体" panose="02010600030101010101" pitchFamily="2" charset="-122"/>
              </a:rPr>
              <a:t>event.clientX</a:t>
            </a:r>
            <a:r>
              <a:rPr lang="en-US" altLang="zh-CN" sz="1600" dirty="0">
                <a:ea typeface="宋体" panose="02010600030101010101" pitchFamily="2" charset="-122"/>
              </a:rPr>
              <a:t> - x1) + "px");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$("#</a:t>
            </a:r>
            <a:r>
              <a:rPr lang="en-US" altLang="zh-CN" sz="1600" dirty="0" err="1"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ea typeface="宋体" panose="02010600030101010101" pitchFamily="2" charset="-122"/>
              </a:rPr>
              <a:t>").</a:t>
            </a:r>
            <a:r>
              <a:rPr lang="en-US" altLang="zh-CN" sz="1600" dirty="0" err="1">
                <a:ea typeface="宋体" panose="02010600030101010101" pitchFamily="2" charset="-122"/>
              </a:rPr>
              <a:t>css</a:t>
            </a:r>
            <a:r>
              <a:rPr lang="en-US" altLang="zh-CN" sz="1600" dirty="0">
                <a:ea typeface="宋体" panose="02010600030101010101" pitchFamily="2" charset="-122"/>
              </a:rPr>
              <a:t>("top", (</a:t>
            </a:r>
            <a:r>
              <a:rPr lang="en-US" altLang="zh-CN" sz="1600" dirty="0" err="1">
                <a:ea typeface="宋体" panose="02010600030101010101" pitchFamily="2" charset="-122"/>
              </a:rPr>
              <a:t>event.clientY</a:t>
            </a:r>
            <a:r>
              <a:rPr lang="en-US" altLang="zh-CN" sz="1600" dirty="0">
                <a:ea typeface="宋体" panose="02010600030101010101" pitchFamily="2" charset="-122"/>
              </a:rPr>
              <a:t> - y1) + "px");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});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highlight>
                  <a:srgbClr val="FFFF00"/>
                </a:highlight>
                <a:ea typeface="宋体" panose="02010600030101010101" pitchFamily="2" charset="-122"/>
              </a:rPr>
              <a:t>    $("#</a:t>
            </a:r>
            <a:r>
              <a:rPr lang="en-US" altLang="zh-CN" sz="1600" dirty="0" err="1">
                <a:highlight>
                  <a:srgbClr val="FFFF00"/>
                </a:highlight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highlight>
                  <a:srgbClr val="FFFF00"/>
                </a:highlight>
                <a:ea typeface="宋体" panose="02010600030101010101" pitchFamily="2" charset="-122"/>
              </a:rPr>
              <a:t>").</a:t>
            </a:r>
            <a:r>
              <a:rPr lang="en-US" altLang="zh-CN" sz="1600" dirty="0" err="1">
                <a:highlight>
                  <a:srgbClr val="FFFF00"/>
                </a:highlight>
                <a:ea typeface="宋体" panose="02010600030101010101" pitchFamily="2" charset="-122"/>
              </a:rPr>
              <a:t>mouseup</a:t>
            </a:r>
            <a:r>
              <a:rPr lang="en-US" altLang="zh-CN" sz="1600" dirty="0">
                <a:highlight>
                  <a:srgbClr val="FFFF00"/>
                </a:highlight>
                <a:ea typeface="宋体" panose="02010600030101010101" pitchFamily="2" charset="-122"/>
              </a:rPr>
              <a:t>(function(event) {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highlight>
                  <a:srgbClr val="FFFF00"/>
                </a:highlight>
                <a:ea typeface="宋体" panose="02010600030101010101" pitchFamily="2" charset="-122"/>
              </a:rPr>
              <a:t>      $("#</a:t>
            </a:r>
            <a:r>
              <a:rPr lang="en-US" altLang="zh-CN" sz="1600" dirty="0" err="1">
                <a:highlight>
                  <a:srgbClr val="FFFF00"/>
                </a:highlight>
                <a:ea typeface="宋体" panose="02010600030101010101" pitchFamily="2" charset="-122"/>
              </a:rPr>
              <a:t>mydiv</a:t>
            </a:r>
            <a:r>
              <a:rPr lang="en-US" altLang="zh-CN" sz="1600" dirty="0">
                <a:highlight>
                  <a:srgbClr val="FFFF00"/>
                </a:highlight>
                <a:ea typeface="宋体" panose="02010600030101010101" pitchFamily="2" charset="-122"/>
              </a:rPr>
              <a:t>").unbind("</a:t>
            </a:r>
            <a:r>
              <a:rPr lang="en-US" altLang="zh-CN" sz="1600" dirty="0" err="1">
                <a:highlight>
                  <a:srgbClr val="FFFF00"/>
                </a:highlight>
                <a:ea typeface="宋体" panose="02010600030101010101" pitchFamily="2" charset="-122"/>
              </a:rPr>
              <a:t>mousemove</a:t>
            </a:r>
            <a:r>
              <a:rPr lang="en-US" altLang="zh-CN" sz="1600" dirty="0">
                <a:highlight>
                  <a:srgbClr val="FFFF00"/>
                </a:highlight>
                <a:ea typeface="宋体" panose="02010600030101010101" pitchFamily="2" charset="-122"/>
              </a:rPr>
              <a:t>");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highlight>
                  <a:srgbClr val="FFFF00"/>
                </a:highlight>
                <a:ea typeface="宋体" panose="02010600030101010101" pitchFamily="2" charset="-122"/>
              </a:rPr>
              <a:t>    });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});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327684" name="Rectangle 4"/>
          <p:cNvSpPr>
            <a:spLocks noChangeArrowheads="1"/>
          </p:cNvSpPr>
          <p:nvPr/>
        </p:nvSpPr>
        <p:spPr bwMode="auto">
          <a:xfrm>
            <a:off x="3779912" y="5702548"/>
            <a:ext cx="5040560" cy="1059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eaLnBrk="0" hangingPunct="0"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0"/>
              </a:spcBef>
            </a:pPr>
            <a:r>
              <a:rPr lang="en-US" altLang="zh-CN" sz="1400" dirty="0">
                <a:latin typeface="华文楷体" panose="02010600040101010101" pitchFamily="2" charset="-122"/>
              </a:rPr>
              <a:t>…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</a:pPr>
            <a:r>
              <a:rPr lang="en-US" altLang="zh-CN" sz="1400" dirty="0">
                <a:latin typeface="华文楷体" panose="02010600040101010101" pitchFamily="2" charset="-122"/>
              </a:rPr>
              <a:t>&lt;body&gt;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</a:pPr>
            <a:r>
              <a:rPr lang="en-US" altLang="zh-CN" sz="1400" dirty="0">
                <a:latin typeface="华文楷体" panose="02010600040101010101" pitchFamily="2" charset="-122"/>
              </a:rPr>
              <a:t>&lt;input type=button value="</a:t>
            </a:r>
            <a:r>
              <a:rPr lang="zh-CN" altLang="en-US" sz="1400" dirty="0">
                <a:latin typeface="华文楷体" panose="02010600040101010101" pitchFamily="2" charset="-122"/>
              </a:rPr>
              <a:t>显示</a:t>
            </a:r>
            <a:r>
              <a:rPr lang="en-US" altLang="zh-CN" sz="1400" dirty="0">
                <a:latin typeface="华文楷体" panose="02010600040101010101" pitchFamily="2" charset="-122"/>
              </a:rPr>
              <a:t>DIV" onclick="show()"/&gt;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</a:pPr>
            <a:r>
              <a:rPr lang="en-US" altLang="zh-CN" sz="1400" dirty="0">
                <a:latin typeface="华文楷体" panose="02010600040101010101" pitchFamily="2" charset="-122"/>
              </a:rPr>
              <a:t>&lt;/body&gt;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</a:pPr>
            <a:r>
              <a:rPr lang="en-US" altLang="zh-CN" sz="1400" dirty="0">
                <a:latin typeface="华文楷体" panose="02010600040101010101" pitchFamily="2" charset="-122"/>
              </a:rPr>
              <a:t>…</a:t>
            </a:r>
            <a:endParaRPr lang="zh-CN" altLang="en-US" sz="1400" dirty="0">
              <a:latin typeface="华文楷体" panose="0201060004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240</a:t>
            </a:fld>
            <a:endParaRPr lang="zh-CN" altLang="en-US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黑体" panose="02010609060101010101" charset="-122"/>
                <a:cs typeface="Arial" panose="020B0604020202020204" pitchFamily="34" charset="0"/>
                <a:sym typeface="+mn-ea"/>
              </a:rPr>
              <a:t>jQuery</a:t>
            </a:r>
            <a:r>
              <a:rPr>
                <a:ea typeface="黑体" panose="02010609060101010101" charset="-122"/>
                <a:cs typeface="Arial" panose="020B0604020202020204" pitchFamily="34" charset="0"/>
                <a:sym typeface="+mn-ea"/>
              </a:rPr>
              <a:t>的特效</a:t>
            </a:r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412115" y="884962"/>
            <a:ext cx="8229600" cy="478472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None/>
            </a:pPr>
            <a:r>
              <a:rPr lang="en-US" altLang="zh-CN" sz="1400" dirty="0"/>
              <a:t>1</a:t>
            </a:r>
            <a:r>
              <a:rPr lang="zh-CN" altLang="en-US" sz="1400" dirty="0"/>
              <a:t>．隐藏和显示，</a:t>
            </a:r>
            <a:r>
              <a:rPr lang="en-US" altLang="zh-CN" sz="1400" dirty="0"/>
              <a:t>show()</a:t>
            </a:r>
            <a:r>
              <a:rPr lang="zh-CN" altLang="en-US" sz="1400" dirty="0"/>
              <a:t>方法和</a:t>
            </a:r>
            <a:r>
              <a:rPr lang="en-US" altLang="zh-CN" sz="1400" dirty="0"/>
              <a:t>hide()</a:t>
            </a:r>
            <a:r>
              <a:rPr lang="zh-CN" altLang="en-US" sz="1400" dirty="0"/>
              <a:t>方法可以控制元素的显示和隐藏。</a:t>
            </a:r>
          </a:p>
          <a:p>
            <a:pPr marL="857250" lvl="2">
              <a:spcAft>
                <a:spcPts val="0"/>
              </a:spcAft>
            </a:pPr>
            <a:r>
              <a:rPr lang="en-US" altLang="zh-CN" sz="1400" dirty="0"/>
              <a:t>$(selector).hide(speed, callback);</a:t>
            </a:r>
          </a:p>
          <a:p>
            <a:pPr marL="857250" lvl="2">
              <a:spcAft>
                <a:spcPts val="0"/>
              </a:spcAft>
            </a:pPr>
            <a:r>
              <a:rPr lang="en-US" altLang="zh-CN" sz="1400" dirty="0"/>
              <a:t>$(selector).show(speed, callback);</a:t>
            </a:r>
          </a:p>
          <a:p>
            <a:pPr marL="285750" indent="-28575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其中，</a:t>
            </a:r>
            <a:r>
              <a:rPr lang="en-US" altLang="zh-CN" sz="1400" dirty="0"/>
              <a:t>speed</a:t>
            </a:r>
            <a:r>
              <a:rPr lang="zh-CN" altLang="en-US" sz="1400" dirty="0"/>
              <a:t>是可选参数，表示显示或者隐藏的速度，可取</a:t>
            </a:r>
            <a:r>
              <a:rPr lang="en-US" altLang="zh-CN" sz="1400" dirty="0"/>
              <a:t>slow</a:t>
            </a:r>
            <a:r>
              <a:rPr lang="zh-CN" altLang="en-US" sz="1400" dirty="0"/>
              <a:t>、</a:t>
            </a:r>
            <a:r>
              <a:rPr lang="en-US" altLang="zh-CN" sz="1400" dirty="0"/>
              <a:t>fast</a:t>
            </a:r>
            <a:r>
              <a:rPr lang="zh-CN" altLang="en-US" sz="1400" dirty="0"/>
              <a:t>或者以毫秒为单位的数值；</a:t>
            </a:r>
            <a:r>
              <a:rPr lang="en-US" altLang="zh-CN" sz="1400" dirty="0"/>
              <a:t>callback</a:t>
            </a:r>
            <a:r>
              <a:rPr lang="zh-CN" altLang="en-US" sz="1400" dirty="0"/>
              <a:t>是可选参数，表示显示或者隐藏后需要执行的函数名称。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>
                <a:sym typeface="+mn-ea"/>
              </a:rPr>
              <a:t>2</a:t>
            </a:r>
            <a:r>
              <a:rPr sz="1400">
                <a:sym typeface="+mn-ea"/>
              </a:rPr>
              <a:t>．淡入和淡出</a:t>
            </a:r>
            <a:endParaRPr lang="zh-CN" altLang="en-US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1</a:t>
            </a:r>
            <a:r>
              <a:rPr sz="1400">
                <a:sym typeface="+mn-ea"/>
              </a:rPr>
              <a:t>）淡入效果</a:t>
            </a:r>
            <a:r>
              <a:rPr lang="en-US" altLang="zh-CN" sz="1400" dirty="0" err="1">
                <a:sym typeface="+mn-ea"/>
              </a:rPr>
              <a:t>fadeIn</a:t>
            </a:r>
            <a:r>
              <a:rPr lang="en-US" altLang="zh-CN" sz="1400">
                <a:sym typeface="+mn-ea"/>
              </a:rPr>
              <a:t>()</a:t>
            </a:r>
            <a:r>
              <a:rPr sz="1400">
                <a:sym typeface="+mn-ea"/>
              </a:rPr>
              <a:t>用于实现淡入已隐藏的元素：</a:t>
            </a:r>
            <a:endParaRPr lang="zh-CN" altLang="en-US" sz="1400" dirty="0"/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>
                <a:sym typeface="+mn-ea"/>
              </a:rPr>
              <a:t>$(selector).</a:t>
            </a:r>
            <a:r>
              <a:rPr lang="en-US" altLang="zh-CN" sz="1400" dirty="0" err="1">
                <a:sym typeface="+mn-ea"/>
              </a:rPr>
              <a:t>fadeIn</a:t>
            </a:r>
            <a:r>
              <a:rPr lang="en-US" altLang="zh-CN" sz="1400">
                <a:sym typeface="+mn-ea"/>
              </a:rPr>
              <a:t>(speed, callback);</a:t>
            </a:r>
            <a:endParaRPr lang="en-US" altLang="zh-C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2</a:t>
            </a:r>
            <a:r>
              <a:rPr sz="1400">
                <a:sym typeface="+mn-ea"/>
              </a:rPr>
              <a:t>）淡出效果</a:t>
            </a:r>
            <a:r>
              <a:rPr lang="en-US" altLang="zh-CN" sz="1400" dirty="0" err="1">
                <a:sym typeface="+mn-ea"/>
              </a:rPr>
              <a:t>fadeOut</a:t>
            </a:r>
            <a:r>
              <a:rPr lang="en-US" altLang="zh-CN" sz="1400">
                <a:sym typeface="+mn-ea"/>
              </a:rPr>
              <a:t>()</a:t>
            </a:r>
            <a:r>
              <a:rPr sz="1400">
                <a:sym typeface="+mn-ea"/>
              </a:rPr>
              <a:t>用于实现淡出可见的元素：</a:t>
            </a:r>
            <a:endParaRPr lang="zh-CN" altLang="en-US" sz="1400" dirty="0"/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>
                <a:sym typeface="+mn-ea"/>
              </a:rPr>
              <a:t>$(selector).</a:t>
            </a:r>
            <a:r>
              <a:rPr lang="en-US" altLang="zh-CN" sz="1400" dirty="0" err="1">
                <a:sym typeface="+mn-ea"/>
              </a:rPr>
              <a:t>fadeOut</a:t>
            </a:r>
            <a:r>
              <a:rPr lang="en-US" altLang="zh-CN" sz="1400">
                <a:sym typeface="+mn-ea"/>
              </a:rPr>
              <a:t>(speed, callback);</a:t>
            </a:r>
            <a:endParaRPr lang="zh-CN" altLang="en-US" sz="14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3</a:t>
            </a:r>
            <a:r>
              <a:rPr sz="1400">
                <a:sym typeface="+mn-ea"/>
              </a:rPr>
              <a:t>）淡入和淡出切换</a:t>
            </a:r>
            <a:r>
              <a:rPr lang="en-US" altLang="zh-CN" sz="1400" dirty="0" err="1">
                <a:sym typeface="+mn-ea"/>
              </a:rPr>
              <a:t>fadeToggle</a:t>
            </a:r>
            <a:r>
              <a:rPr lang="en-US" altLang="zh-CN" sz="1400">
                <a:sym typeface="+mn-ea"/>
              </a:rPr>
              <a:t>()</a:t>
            </a:r>
            <a:r>
              <a:rPr sz="1400">
                <a:sym typeface="+mn-ea"/>
              </a:rPr>
              <a:t>方法可以在淡入和淡出之间切换。如果元素已淡出，则执行</a:t>
            </a:r>
            <a:r>
              <a:rPr lang="en-US" altLang="zh-CN" sz="1400" dirty="0" err="1">
                <a:sym typeface="+mn-ea"/>
              </a:rPr>
              <a:t>fadeToggle</a:t>
            </a:r>
            <a:r>
              <a:rPr lang="en-US" altLang="zh-CN" sz="1400">
                <a:sym typeface="+mn-ea"/>
              </a:rPr>
              <a:t>()</a:t>
            </a:r>
            <a:r>
              <a:rPr sz="1400">
                <a:sym typeface="+mn-ea"/>
              </a:rPr>
              <a:t>会使元素淡入；如果元素已淡入，则执行</a:t>
            </a:r>
            <a:r>
              <a:rPr lang="en-US" altLang="zh-CN" sz="1400" dirty="0" err="1">
                <a:sym typeface="+mn-ea"/>
              </a:rPr>
              <a:t>fadeToggle</a:t>
            </a:r>
            <a:r>
              <a:rPr lang="en-US" altLang="zh-CN" sz="1400">
                <a:sym typeface="+mn-ea"/>
              </a:rPr>
              <a:t>()</a:t>
            </a:r>
            <a:r>
              <a:rPr sz="1400">
                <a:sym typeface="+mn-ea"/>
              </a:rPr>
              <a:t>会使元素淡出：</a:t>
            </a:r>
            <a:endParaRPr lang="zh-CN" altLang="en-US" sz="1400" dirty="0"/>
          </a:p>
          <a:p>
            <a:pPr marL="0" indent="0" algn="ctr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>
                <a:sym typeface="+mn-ea"/>
              </a:rPr>
              <a:t>$(selector).</a:t>
            </a:r>
            <a:r>
              <a:rPr lang="en-US" altLang="zh-CN" sz="1400" dirty="0" err="1">
                <a:sym typeface="+mn-ea"/>
              </a:rPr>
              <a:t>fadeToggle</a:t>
            </a:r>
            <a:r>
              <a:rPr lang="en-US" altLang="zh-CN" sz="1400">
                <a:sym typeface="+mn-ea"/>
              </a:rPr>
              <a:t>(speed, callback);</a:t>
            </a:r>
            <a:endParaRPr lang="en-US" altLang="zh-CN" sz="14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4</a:t>
            </a:r>
            <a:r>
              <a:rPr sz="1400">
                <a:sym typeface="+mn-ea"/>
              </a:rPr>
              <a:t>）渐变效果</a:t>
            </a:r>
            <a:r>
              <a:rPr lang="en-US" altLang="zh-CN" sz="1400" dirty="0" err="1">
                <a:sym typeface="+mn-ea"/>
              </a:rPr>
              <a:t>fadeTo</a:t>
            </a:r>
            <a:r>
              <a:rPr lang="en-US" altLang="zh-CN" sz="1400">
                <a:sym typeface="+mn-ea"/>
              </a:rPr>
              <a:t>()</a:t>
            </a:r>
            <a:r>
              <a:rPr sz="1400">
                <a:sym typeface="+mn-ea"/>
              </a:rPr>
              <a:t>可以实现元素的渐变效果：</a:t>
            </a:r>
            <a:endParaRPr lang="zh-CN" altLang="en-US" sz="1400" dirty="0"/>
          </a:p>
          <a:p>
            <a:pPr marL="0" indent="0" algn="ctr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>
                <a:sym typeface="+mn-ea"/>
              </a:rPr>
              <a:t>$(selector).</a:t>
            </a:r>
            <a:r>
              <a:rPr lang="en-US" altLang="zh-CN" sz="1400" dirty="0" err="1">
                <a:sym typeface="+mn-ea"/>
              </a:rPr>
              <a:t>fadeTo</a:t>
            </a:r>
            <a:r>
              <a:rPr lang="en-US" altLang="zh-CN" sz="1400">
                <a:sym typeface="+mn-ea"/>
              </a:rPr>
              <a:t>(speed, opacity, callback);</a:t>
            </a:r>
            <a:endParaRPr lang="en-US" altLang="zh-CN" sz="1400" dirty="0"/>
          </a:p>
          <a:p>
            <a:pPr marL="285750" indent="-28575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>
                <a:sym typeface="+mn-ea"/>
              </a:rPr>
              <a:t>其中，</a:t>
            </a:r>
            <a:r>
              <a:rPr lang="en-US" altLang="zh-CN" sz="1400">
                <a:sym typeface="+mn-ea"/>
              </a:rPr>
              <a:t>speed</a:t>
            </a:r>
            <a:r>
              <a:rPr sz="1400">
                <a:sym typeface="+mn-ea"/>
              </a:rPr>
              <a:t>和</a:t>
            </a:r>
            <a:r>
              <a:rPr lang="en-US" altLang="zh-CN" sz="1400">
                <a:sym typeface="+mn-ea"/>
              </a:rPr>
              <a:t>callback</a:t>
            </a:r>
            <a:r>
              <a:rPr sz="1400">
                <a:sym typeface="+mn-ea"/>
              </a:rPr>
              <a:t>同以上其它方法中的参数；</a:t>
            </a:r>
            <a:r>
              <a:rPr lang="en-US" altLang="zh-CN" sz="1400">
                <a:sym typeface="+mn-ea"/>
              </a:rPr>
              <a:t>opacity</a:t>
            </a:r>
            <a:r>
              <a:rPr sz="1400">
                <a:sym typeface="+mn-ea"/>
              </a:rPr>
              <a:t>指的是渐变的不透明度，取值范围为</a:t>
            </a:r>
            <a:r>
              <a:rPr lang="en-US" altLang="zh-CN" sz="1400">
                <a:sym typeface="+mn-ea"/>
              </a:rPr>
              <a:t>0~1</a:t>
            </a:r>
            <a:r>
              <a:rPr sz="1400">
                <a:sym typeface="+mn-ea"/>
              </a:rPr>
              <a:t>。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endParaRPr lang="zh-CN" alt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241</a:t>
            </a:fld>
            <a:endParaRPr lang="zh-CN" altLang="en-US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524" y="1027002"/>
            <a:ext cx="1664238" cy="400110"/>
          </a:xfrm>
        </p:spPr>
        <p:txBody>
          <a:bodyPr/>
          <a:lstStyle/>
          <a:p>
            <a:r>
              <a:rPr lang="en-US" altLang="zh-CN" dirty="0"/>
              <a:t>             </a:t>
            </a:r>
            <a:endParaRPr lang="zh-CN" altLang="en-US" dirty="0"/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307975" y="1426845"/>
            <a:ext cx="8547735" cy="4912360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 dirty="0"/>
              <a:t>3</a:t>
            </a:r>
            <a:r>
              <a:rPr lang="zh-CN" altLang="en-US" sz="1400" dirty="0"/>
              <a:t>．滑动效果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）向下滑动</a:t>
            </a:r>
            <a:r>
              <a:rPr lang="en-US" altLang="zh-CN" sz="1400" dirty="0" err="1"/>
              <a:t>slideDown</a:t>
            </a:r>
            <a:r>
              <a:rPr lang="en-US" altLang="zh-CN" sz="1400" dirty="0"/>
              <a:t>()</a:t>
            </a:r>
            <a:r>
              <a:rPr lang="zh-CN" altLang="en-US" sz="1400" dirty="0"/>
              <a:t>：</a:t>
            </a:r>
            <a:r>
              <a:rPr lang="en-US" altLang="zh-CN" sz="1400" dirty="0"/>
              <a:t>$(selector).</a:t>
            </a:r>
            <a:r>
              <a:rPr lang="en-US" altLang="zh-CN" sz="1400" dirty="0" err="1"/>
              <a:t>slideDown</a:t>
            </a:r>
            <a:r>
              <a:rPr lang="en-US" altLang="zh-CN" sz="1400" dirty="0"/>
              <a:t>(speed, callback);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400" dirty="0"/>
              <a:t>其中，</a:t>
            </a:r>
            <a:r>
              <a:rPr lang="en-US" altLang="zh-CN" sz="1400" dirty="0"/>
              <a:t>speed</a:t>
            </a:r>
            <a:r>
              <a:rPr lang="zh-CN" altLang="en-US" sz="1400" dirty="0"/>
              <a:t>和</a:t>
            </a:r>
            <a:r>
              <a:rPr lang="en-US" altLang="zh-CN" sz="1400" dirty="0"/>
              <a:t>callback</a:t>
            </a:r>
            <a:r>
              <a:rPr lang="zh-CN" altLang="en-US" sz="1400" dirty="0"/>
              <a:t>的含义同前文中的方法。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2</a:t>
            </a:r>
            <a:r>
              <a:rPr lang="zh-CN" altLang="en-US" sz="1400" dirty="0"/>
              <a:t>）向上滑动</a:t>
            </a:r>
            <a:r>
              <a:rPr lang="en-US" altLang="zh-CN" sz="1400" dirty="0" err="1"/>
              <a:t>slideUp</a:t>
            </a:r>
            <a:r>
              <a:rPr lang="en-US" altLang="zh-CN" sz="1400" dirty="0"/>
              <a:t>()</a:t>
            </a:r>
            <a:r>
              <a:rPr lang="zh-CN" altLang="en-US" sz="1400" dirty="0"/>
              <a:t>：</a:t>
            </a:r>
            <a:r>
              <a:rPr lang="en-US" altLang="zh-CN" sz="1400" dirty="0"/>
              <a:t>$(selector).</a:t>
            </a:r>
            <a:r>
              <a:rPr lang="en-US" altLang="zh-CN" sz="1400" dirty="0" err="1"/>
              <a:t>slideUp</a:t>
            </a:r>
            <a:r>
              <a:rPr lang="en-US" altLang="zh-CN" sz="1400" dirty="0"/>
              <a:t>(speed, callback);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3</a:t>
            </a:r>
            <a:r>
              <a:rPr lang="zh-CN" altLang="en-US" sz="1400" dirty="0"/>
              <a:t>）向下向上滑动切换使用</a:t>
            </a:r>
            <a:r>
              <a:rPr lang="en-US" altLang="zh-CN" sz="1400" dirty="0" err="1"/>
              <a:t>slideToggle</a:t>
            </a:r>
            <a:r>
              <a:rPr lang="en-US" altLang="zh-CN" sz="1400" dirty="0"/>
              <a:t>()</a:t>
            </a:r>
            <a:r>
              <a:rPr lang="zh-CN" altLang="en-US" sz="1400" dirty="0"/>
              <a:t>方法：</a:t>
            </a:r>
            <a:r>
              <a:rPr lang="en-US" altLang="zh-CN" sz="1400" dirty="0"/>
              <a:t>$(selector).</a:t>
            </a:r>
            <a:r>
              <a:rPr lang="en-US" altLang="zh-CN" sz="1400" dirty="0" err="1"/>
              <a:t>slideToggle</a:t>
            </a:r>
            <a:r>
              <a:rPr lang="en-US" altLang="zh-CN" sz="1400" dirty="0"/>
              <a:t>(speed, callback);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lang="zh-CN" altLang="en-US" sz="14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>
                <a:sym typeface="+mn-ea"/>
              </a:rPr>
              <a:t>4</a:t>
            </a:r>
            <a:r>
              <a:rPr sz="1400">
                <a:sym typeface="+mn-ea"/>
              </a:rPr>
              <a:t>．动画效果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>
                <a:sym typeface="+mn-ea"/>
              </a:rPr>
              <a:t>animate()</a:t>
            </a:r>
            <a:r>
              <a:rPr sz="1400">
                <a:sym typeface="+mn-ea"/>
              </a:rPr>
              <a:t>方法可以创建自定义的动画：</a:t>
            </a:r>
            <a:endParaRPr lang="zh-CN" altLang="en-US" sz="1400" dirty="0"/>
          </a:p>
          <a:p>
            <a:pPr marL="0" indent="0" algn="ctr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r>
              <a:rPr lang="en-US" altLang="zh-CN" sz="1400">
                <a:sym typeface="+mn-ea"/>
              </a:rPr>
              <a:t>$(selector).animate({params}, duration, easing, callback);</a:t>
            </a:r>
            <a:endParaRPr lang="en-US" altLang="zh-CN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>
                <a:sym typeface="+mn-ea"/>
              </a:rPr>
              <a:t>其中：</a:t>
            </a:r>
            <a:endParaRPr lang="zh-CN" altLang="en-US" sz="1400" dirty="0"/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>
                <a:sym typeface="+mn-ea"/>
              </a:rPr>
              <a:t>params</a:t>
            </a:r>
            <a:r>
              <a:rPr sz="1400">
                <a:sym typeface="+mn-ea"/>
              </a:rPr>
              <a:t>是必需的参数，可以定义形成动画的</a:t>
            </a:r>
            <a:r>
              <a:rPr lang="en-US" altLang="zh-CN" sz="1400">
                <a:sym typeface="+mn-ea"/>
              </a:rPr>
              <a:t>CSS</a:t>
            </a:r>
            <a:r>
              <a:rPr sz="1400">
                <a:sym typeface="+mn-ea"/>
              </a:rPr>
              <a:t>属性；</a:t>
            </a:r>
            <a:endParaRPr lang="zh-CN" altLang="en-US" sz="1400" dirty="0"/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>
                <a:sym typeface="+mn-ea"/>
              </a:rPr>
              <a:t>speed</a:t>
            </a:r>
            <a:r>
              <a:rPr sz="1400">
                <a:sym typeface="+mn-ea"/>
              </a:rPr>
              <a:t>是可选参数，指动画的时长，可取</a:t>
            </a:r>
            <a:r>
              <a:rPr lang="en-US" altLang="zh-CN" sz="1400">
                <a:sym typeface="+mn-ea"/>
              </a:rPr>
              <a:t>slow</a:t>
            </a:r>
            <a:r>
              <a:rPr sz="1400">
                <a:sym typeface="+mn-ea"/>
              </a:rPr>
              <a:t>、</a:t>
            </a:r>
            <a:r>
              <a:rPr lang="en-US" altLang="zh-CN" sz="1400">
                <a:sym typeface="+mn-ea"/>
              </a:rPr>
              <a:t>fast</a:t>
            </a:r>
            <a:r>
              <a:rPr sz="1400">
                <a:sym typeface="+mn-ea"/>
              </a:rPr>
              <a:t>或者以毫秒计的数值；</a:t>
            </a:r>
            <a:endParaRPr lang="zh-CN" altLang="en-US" sz="1400" dirty="0"/>
          </a:p>
          <a:p>
            <a:pPr marL="685800" lvl="1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en-US" altLang="zh-CN" sz="1400">
                <a:sym typeface="+mn-ea"/>
              </a:rPr>
              <a:t>callback</a:t>
            </a:r>
            <a:r>
              <a:rPr sz="1400">
                <a:sym typeface="+mn-ea"/>
              </a:rPr>
              <a:t>是可选参数，指动画完成之后执行的函数；</a:t>
            </a:r>
            <a:endParaRPr lang="zh-CN" altLang="en-US" sz="1400" dirty="0"/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sz="1400">
                <a:sym typeface="+mn-ea"/>
              </a:rPr>
              <a:t>在</a:t>
            </a:r>
            <a:r>
              <a:rPr lang="en-US" altLang="zh-CN" sz="1400">
                <a:sym typeface="+mn-ea"/>
              </a:rPr>
              <a:t>animate()</a:t>
            </a:r>
            <a:r>
              <a:rPr sz="1400">
                <a:sym typeface="+mn-ea"/>
              </a:rPr>
              <a:t>方法中，可以同时操作一个元素的几乎全部</a:t>
            </a:r>
            <a:r>
              <a:rPr lang="en-US" altLang="zh-CN" sz="1400">
                <a:sym typeface="+mn-ea"/>
              </a:rPr>
              <a:t>CSS</a:t>
            </a:r>
            <a:r>
              <a:rPr sz="1400">
                <a:sym typeface="+mn-ea"/>
              </a:rPr>
              <a:t>属性，也可以为一个元素指定多个</a:t>
            </a:r>
            <a:r>
              <a:rPr lang="en-US" altLang="zh-CN" sz="1400">
                <a:sym typeface="+mn-ea"/>
              </a:rPr>
              <a:t>animate()</a:t>
            </a:r>
            <a:r>
              <a:rPr sz="1400">
                <a:sym typeface="+mn-ea"/>
              </a:rPr>
              <a:t>效果。 </a:t>
            </a:r>
            <a:endParaRPr lang="zh-CN" altLang="en-US" sz="14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Clr>
                <a:srgbClr val="FF6600"/>
              </a:buClr>
              <a:buSzPct val="68000"/>
              <a:buNone/>
            </a:pPr>
            <a:endParaRPr lang="zh-CN" alt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242</a:t>
            </a:fld>
            <a:endParaRPr lang="zh-CN" altLang="en-US"/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en-US" altLang="zh-CN">
                <a:ea typeface="黑体" panose="02010609060101010101" charset="-122"/>
                <a:cs typeface="Arial" panose="020B0604020202020204" pitchFamily="34" charset="0"/>
                <a:sym typeface="+mn-ea"/>
              </a:rPr>
              <a:t>jQuery</a:t>
            </a:r>
            <a:r>
              <a:rPr>
                <a:ea typeface="黑体" panose="02010609060101010101" charset="-122"/>
                <a:cs typeface="Arial" panose="020B0604020202020204" pitchFamily="34" charset="0"/>
                <a:sym typeface="+mn-ea"/>
              </a:rPr>
              <a:t>的特效</a:t>
            </a:r>
            <a:endParaRPr lang="zh-CN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ea typeface="黑体" panose="02010609060101010101" charset="-122"/>
                <a:cs typeface="Arial" panose="020B0604020202020204" pitchFamily="34" charset="0"/>
              </a:rPr>
              <a:t>jQuery</a:t>
            </a:r>
            <a:r>
              <a:rPr lang="zh-CN" altLang="en-US" dirty="0">
                <a:ea typeface="黑体" panose="02010609060101010101" charset="-122"/>
                <a:cs typeface="Arial" panose="020B0604020202020204" pitchFamily="34" charset="0"/>
              </a:rPr>
              <a:t>操作</a:t>
            </a:r>
            <a:r>
              <a:rPr lang="en-US" altLang="zh-CN" dirty="0">
                <a:ea typeface="黑体" panose="02010609060101010101" charset="-122"/>
                <a:cs typeface="Arial" panose="020B0604020202020204" pitchFamily="34" charset="0"/>
              </a:rPr>
              <a:t>DOM</a:t>
            </a:r>
            <a:endParaRPr lang="zh-CN" altLang="en-US" dirty="0"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502412" y="952508"/>
            <a:ext cx="8139178" cy="206311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jQuery</a:t>
            </a:r>
            <a:r>
              <a:rPr>
                <a:sym typeface="+mn-ea"/>
              </a:rPr>
              <a:t>中，可以使用以下方法返回或设置元素的内容和属性：</a:t>
            </a:r>
            <a:endParaRPr lang="zh-CN" altLang="en-US" dirty="0"/>
          </a:p>
          <a:p>
            <a:pPr marL="457200" lvl="1"/>
            <a:r>
              <a:rPr lang="en-US" altLang="zh-CN">
                <a:sym typeface="+mn-ea"/>
              </a:rPr>
              <a:t>$(selector).text()</a:t>
            </a:r>
            <a:r>
              <a:rPr>
                <a:sym typeface="+mn-ea"/>
              </a:rPr>
              <a:t>方法用于返回或设置元素的文本内容；</a:t>
            </a:r>
            <a:endParaRPr lang="zh-CN" altLang="en-US" dirty="0"/>
          </a:p>
          <a:p>
            <a:pPr marL="457200" lvl="1"/>
            <a:r>
              <a:rPr lang="en-US" altLang="zh-CN">
                <a:sym typeface="+mn-ea"/>
              </a:rPr>
              <a:t>$(selector).html()</a:t>
            </a:r>
            <a:r>
              <a:rPr>
                <a:sym typeface="+mn-ea"/>
              </a:rPr>
              <a:t>方法用于返回或设置元素的内容（包括</a:t>
            </a:r>
            <a:r>
              <a:rPr lang="en-US" altLang="zh-CN">
                <a:sym typeface="+mn-ea"/>
              </a:rPr>
              <a:t>HTML</a:t>
            </a:r>
            <a:r>
              <a:rPr>
                <a:sym typeface="+mn-ea"/>
              </a:rPr>
              <a:t>标记在内）；</a:t>
            </a:r>
            <a:endParaRPr lang="zh-CN" altLang="en-US" dirty="0"/>
          </a:p>
          <a:p>
            <a:pPr marL="457200" lvl="1"/>
            <a:r>
              <a:rPr lang="en-US" altLang="zh-CN">
                <a:sym typeface="+mn-ea"/>
              </a:rPr>
              <a:t>$(selector).</a:t>
            </a:r>
            <a:r>
              <a:rPr lang="en-US" altLang="zh-CN" dirty="0" err="1">
                <a:sym typeface="+mn-ea"/>
              </a:rPr>
              <a:t>val</a:t>
            </a:r>
            <a:r>
              <a:rPr lang="en-US" altLang="zh-CN">
                <a:sym typeface="+mn-ea"/>
              </a:rPr>
              <a:t>()</a:t>
            </a:r>
            <a:r>
              <a:rPr>
                <a:sym typeface="+mn-ea"/>
              </a:rPr>
              <a:t>方法用于返回或设置表单字段的值；</a:t>
            </a:r>
            <a:endParaRPr lang="zh-CN" altLang="en-US" dirty="0"/>
          </a:p>
          <a:p>
            <a:pPr marL="457200" lvl="1"/>
            <a:r>
              <a:rPr lang="en-US" altLang="zh-CN">
                <a:sym typeface="+mn-ea"/>
              </a:rPr>
              <a:t>$(selector).</a:t>
            </a:r>
            <a:r>
              <a:rPr lang="en-US" altLang="zh-CN" dirty="0" err="1">
                <a:sym typeface="+mn-ea"/>
              </a:rPr>
              <a:t>attr</a:t>
            </a:r>
            <a:r>
              <a:rPr lang="en-US" altLang="zh-CN">
                <a:sym typeface="+mn-ea"/>
              </a:rPr>
              <a:t>()</a:t>
            </a:r>
            <a:r>
              <a:rPr>
                <a:sym typeface="+mn-ea"/>
              </a:rPr>
              <a:t>方法用于返回或者设置元素的属性值；</a:t>
            </a:r>
            <a:endParaRPr lang="zh-CN" altLang="en-US" dirty="0"/>
          </a:p>
          <a:p>
            <a:pPr marL="457200" lvl="1"/>
            <a:r>
              <a:rPr lang="en-US" altLang="zh-CN">
                <a:sym typeface="+mn-ea"/>
              </a:rPr>
              <a:t>$(selector).</a:t>
            </a:r>
            <a:r>
              <a:rPr lang="en-US" altLang="zh-CN" dirty="0" err="1">
                <a:sym typeface="+mn-ea"/>
              </a:rPr>
              <a:t>removeAttr</a:t>
            </a:r>
            <a:r>
              <a:rPr lang="en-US" altLang="zh-CN">
                <a:sym typeface="+mn-ea"/>
              </a:rPr>
              <a:t>()</a:t>
            </a:r>
            <a:r>
              <a:rPr>
                <a:sym typeface="+mn-ea"/>
              </a:rPr>
              <a:t>方法移除元素的属性。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243</a:t>
            </a:fld>
            <a:endParaRPr lang="zh-CN" altLang="en-US"/>
          </a:p>
        </p:txBody>
      </p:sp>
      <p:sp>
        <p:nvSpPr>
          <p:cNvPr id="34816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457200" y="3130550"/>
            <a:ext cx="7333615" cy="1737360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…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$(document).ready(function(){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 $("input[type=button]").click(function(){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 var name=$("#name").</a:t>
            </a:r>
            <a:r>
              <a:rPr lang="en-US" altLang="zh-CN" sz="1400" dirty="0" err="1">
                <a:ea typeface="宋体" panose="02010600030101010101" pitchFamily="2" charset="-122"/>
              </a:rPr>
              <a:t>val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 var </a:t>
            </a:r>
            <a:r>
              <a:rPr lang="en-US" altLang="zh-CN" sz="1400" dirty="0" err="1">
                <a:ea typeface="宋体" panose="02010600030101010101" pitchFamily="2" charset="-122"/>
              </a:rPr>
              <a:t>pwd</a:t>
            </a:r>
            <a:r>
              <a:rPr lang="en-US" altLang="zh-CN" sz="1400" dirty="0">
                <a:ea typeface="宋体" panose="02010600030101010101" pitchFamily="2" charset="-122"/>
              </a:rPr>
              <a:t>=$("#</a:t>
            </a:r>
            <a:r>
              <a:rPr lang="en-US" altLang="zh-CN" sz="1400" dirty="0" err="1">
                <a:ea typeface="宋体" panose="02010600030101010101" pitchFamily="2" charset="-122"/>
              </a:rPr>
              <a:t>pwd</a:t>
            </a:r>
            <a:r>
              <a:rPr lang="en-US" altLang="zh-CN" sz="1400" dirty="0">
                <a:ea typeface="宋体" panose="02010600030101010101" pitchFamily="2" charset="-122"/>
              </a:rPr>
              <a:t>").</a:t>
            </a:r>
            <a:r>
              <a:rPr lang="en-US" altLang="zh-CN" sz="1400" dirty="0" err="1">
                <a:ea typeface="宋体" panose="02010600030101010101" pitchFamily="2" charset="-122"/>
              </a:rPr>
              <a:t>val</a:t>
            </a:r>
            <a:r>
              <a:rPr lang="en-US" altLang="zh-CN" sz="1400" dirty="0">
                <a:ea typeface="宋体" panose="02010600030101010101" pitchFamily="2" charset="-122"/>
              </a:rPr>
              <a:t>();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	  $("#msg").text("name:"+name+",</a:t>
            </a:r>
            <a:r>
              <a:rPr lang="en-US" altLang="zh-CN" sz="1400" dirty="0" err="1">
                <a:ea typeface="宋体" panose="02010600030101010101" pitchFamily="2" charset="-122"/>
              </a:rPr>
              <a:t>pwd</a:t>
            </a:r>
            <a:r>
              <a:rPr lang="en-US" altLang="zh-CN" sz="1400" dirty="0">
                <a:ea typeface="宋体" panose="02010600030101010101" pitchFamily="2" charset="-122"/>
              </a:rPr>
              <a:t>:"+</a:t>
            </a:r>
            <a:r>
              <a:rPr lang="en-US" altLang="zh-CN" sz="1400" dirty="0" err="1">
                <a:ea typeface="宋体" panose="02010600030101010101" pitchFamily="2" charset="-122"/>
              </a:rPr>
              <a:t>pwd</a:t>
            </a:r>
            <a:r>
              <a:rPr lang="en-US" altLang="zh-CN" sz="1400" dirty="0">
                <a:ea typeface="宋体" panose="02010600030101010101" pitchFamily="2" charset="-122"/>
              </a:rPr>
              <a:t>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  });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});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413" name="Group 20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202690" y="1634490"/>
          <a:ext cx="6604000" cy="4511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3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3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3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方法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after()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在选择的元素之后插入内容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append()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在选择的元素集合中的元素结尾插入内容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appendTo()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向目标结尾插入选择元素集合中的元素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before()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在选择的元素之前插入内容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insertAfter()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把选择的元素插入到另一个指定元素集合的后面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insertBefore()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把选择的元素插入到另一个指定元素集合的前面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prepend()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向选择元素集合中的元素的开头插入内容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prependTo()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向目标开头插入选择元素集合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replaceAll()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用匹配的元素替换所有匹配到的元素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replaceWith()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用新内容替换匹配的内容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wrap()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把选择的元素用指定的内容包裹起来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wrapAll()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把所有的匹配的元素用指定的内容包裹起来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wrapinner()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把每一个匹配的元素的子元素使用指定的内容包裹起来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remove()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删除匹配元素及其子元素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empty()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删除匹配元素的子元素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373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6176" y="1007395"/>
            <a:ext cx="8136904" cy="42354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可以方便地在页面中添加新元素或者删除页面中已有的元素。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244</a:t>
            </a:fld>
            <a:endParaRPr lang="zh-CN" alt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  <a:prstGeom prst="rect">
            <a:avLst/>
          </a:prstGeom>
          <a:noFill/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eaLnBrk="1" hangingPunct="1"/>
            <a:r>
              <a:rPr lang="en-US" altLang="zh-CN">
                <a:ea typeface="黑体" panose="02010609060101010101" charset="-122"/>
                <a:cs typeface="Arial" panose="020B0604020202020204" pitchFamily="34" charset="0"/>
                <a:sym typeface="+mn-ea"/>
              </a:rPr>
              <a:t>jQuery</a:t>
            </a:r>
            <a:r>
              <a:rPr>
                <a:ea typeface="黑体" panose="02010609060101010101" charset="-122"/>
                <a:cs typeface="Arial" panose="020B0604020202020204" pitchFamily="34" charset="0"/>
                <a:sym typeface="+mn-ea"/>
              </a:rPr>
              <a:t>更改页面元素</a:t>
            </a:r>
            <a:endParaRPr lang="zh-CN" altLang="en-US" dirty="0">
              <a:ea typeface="黑体" panose="0201060906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296" y="1077563"/>
            <a:ext cx="6957354" cy="368300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zh-CN" altLang="en-US" sz="1800" dirty="0">
                <a:ea typeface="宋体" panose="02010600030101010101" pitchFamily="2" charset="-122"/>
              </a:rPr>
              <a:t>在段落的后面和列表前面添加新元素。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idx="1"/>
          </p:nvPr>
        </p:nvSpPr>
        <p:spPr>
          <a:xfrm>
            <a:off x="287655" y="1557020"/>
            <a:ext cx="8546465" cy="2221230"/>
          </a:xfr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…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&lt;script&gt;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$(document).ready(function(){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$("#</a:t>
            </a:r>
            <a:r>
              <a:rPr lang="en-US" altLang="zh-CN" sz="1400" dirty="0" err="1">
                <a:ea typeface="宋体" panose="02010600030101010101" pitchFamily="2" charset="-122"/>
              </a:rPr>
              <a:t>addText</a:t>
            </a:r>
            <a:r>
              <a:rPr lang="en-US" altLang="zh-CN" sz="1400" dirty="0">
                <a:ea typeface="宋体" panose="02010600030101010101" pitchFamily="2" charset="-122"/>
              </a:rPr>
              <a:t>").click(function(){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 $("p").append("&lt;font color='#9933FF'&gt;</a:t>
            </a:r>
            <a:r>
              <a:rPr lang="zh-CN" altLang="en-US" sz="1400" dirty="0">
                <a:ea typeface="宋体" panose="02010600030101010101" pitchFamily="2" charset="-122"/>
              </a:rPr>
              <a:t>这是新追加的内容</a:t>
            </a:r>
            <a:r>
              <a:rPr lang="en-US" altLang="zh-CN" sz="1400" dirty="0">
                <a:ea typeface="宋体" panose="02010600030101010101" pitchFamily="2" charset="-122"/>
              </a:rPr>
              <a:t>&lt;/font&gt;&lt;</a:t>
            </a:r>
            <a:r>
              <a:rPr lang="en-US" altLang="zh-CN" sz="1400" dirty="0" err="1">
                <a:ea typeface="宋体" panose="02010600030101010101" pitchFamily="2" charset="-122"/>
              </a:rPr>
              <a:t>br</a:t>
            </a:r>
            <a:r>
              <a:rPr lang="en-US" altLang="zh-CN" sz="1400" dirty="0">
                <a:ea typeface="宋体" panose="02010600030101010101" pitchFamily="2" charset="-122"/>
              </a:rPr>
              <a:t>/&gt;");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});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$("#</a:t>
            </a:r>
            <a:r>
              <a:rPr lang="en-US" altLang="zh-CN" sz="1400" dirty="0" err="1">
                <a:ea typeface="宋体" panose="02010600030101010101" pitchFamily="2" charset="-122"/>
              </a:rPr>
              <a:t>addList</a:t>
            </a:r>
            <a:r>
              <a:rPr lang="en-US" altLang="zh-CN" sz="1400" dirty="0">
                <a:ea typeface="宋体" panose="02010600030101010101" pitchFamily="2" charset="-122"/>
              </a:rPr>
              <a:t>").click(function(){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	$("</a:t>
            </a:r>
            <a:r>
              <a:rPr lang="en-US" altLang="zh-CN" sz="1400" dirty="0" err="1">
                <a:ea typeface="宋体" panose="02010600030101010101" pitchFamily="2" charset="-122"/>
              </a:rPr>
              <a:t>ol</a:t>
            </a:r>
            <a:r>
              <a:rPr lang="en-US" altLang="zh-CN" sz="1400" dirty="0">
                <a:ea typeface="宋体" panose="02010600030101010101" pitchFamily="2" charset="-122"/>
              </a:rPr>
              <a:t>").prepend("&lt;font color='#FF6666'&gt;&lt;li&gt;</a:t>
            </a:r>
            <a:r>
              <a:rPr lang="zh-CN" altLang="en-US" sz="1400" dirty="0">
                <a:ea typeface="宋体" panose="02010600030101010101" pitchFamily="2" charset="-122"/>
              </a:rPr>
              <a:t>新列表项</a:t>
            </a:r>
            <a:r>
              <a:rPr lang="en-US" altLang="zh-CN" sz="1400" dirty="0">
                <a:ea typeface="宋体" panose="02010600030101010101" pitchFamily="2" charset="-122"/>
              </a:rPr>
              <a:t>&lt;/li&gt;&lt;/font&gt;");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   });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});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&lt;/script&gt;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245</a:t>
            </a:fld>
            <a:endParaRPr lang="zh-CN" altLang="en-US"/>
          </a:p>
        </p:txBody>
      </p:sp>
      <p:pic>
        <p:nvPicPr>
          <p:cNvPr id="76802" name="Picture 5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80"/>
          <a:stretch>
            <a:fillRect/>
          </a:stretch>
        </p:blipFill>
        <p:spPr bwMode="auto">
          <a:xfrm>
            <a:off x="3275965" y="4369435"/>
            <a:ext cx="4006850" cy="189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384" name="Group 80"/>
          <p:cNvGraphicFramePr>
            <a:graphicFrameLocks noGrp="1"/>
          </p:cNvGraphicFramePr>
          <p:nvPr>
            <p:ph idx="1"/>
          </p:nvPr>
        </p:nvGraphicFramePr>
        <p:xfrm>
          <a:off x="1249849" y="1317746"/>
          <a:ext cx="5410835" cy="18745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4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5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方法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addClass()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向匹配的元素添加指定类名的样式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hasClass</a:t>
                      </a:r>
                      <a:r>
                        <a:rPr kumimoji="0" lang="en-US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判断匹配的元素是否具有指定类的样式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7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removeClass</a:t>
                      </a:r>
                      <a:r>
                        <a:rPr kumimoji="0" lang="en-US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删除匹配的元素指定类的样式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toggleClass</a:t>
                      </a:r>
                      <a:r>
                        <a:rPr kumimoji="0" lang="en-US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删除或添加匹配元素的指定类的样式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32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css()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读取或设置元素的</a:t>
                      </a:r>
                      <a:r>
                        <a:rPr kumimoji="0" lang="en-US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CSS</a:t>
                      </a: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属性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8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2817" y="839723"/>
            <a:ext cx="7875199" cy="423545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rgbClr val="FF6600"/>
              </a:buClr>
              <a:buSzPct val="68000"/>
              <a:buFont typeface="Wingdings" panose="05000000000000000000" pitchFamily="2" charset="2"/>
              <a:buChar char="u"/>
            </a:pPr>
            <a:r>
              <a:rPr lang="zh-CN" altLang="en-US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jQuery</a:t>
            </a:r>
            <a:r>
              <a:rPr lang="zh-CN" altLang="en-US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中还可以读取、添加、删除元素的</a:t>
            </a:r>
            <a:r>
              <a:rPr lang="en-US" altLang="zh-CN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CSS</a:t>
            </a:r>
            <a:r>
              <a:rPr lang="zh-CN" altLang="en-US" sz="1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属性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94FF-90D5-437E-BC53-F12E581A668D}" type="slidenum">
              <a:rPr lang="zh-CN" altLang="en-US" smtClean="0"/>
              <a:t>246</a:t>
            </a:fld>
            <a:endParaRPr lang="zh-CN" alt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  <a:prstGeom prst="rect">
            <a:avLst/>
          </a:prstGeom>
          <a:noFill/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eaLnBrk="1" hangingPunct="1"/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jQuery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操作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CSS</a:t>
            </a:r>
            <a:r>
              <a:rPr>
                <a:latin typeface="黑体" panose="02010609060101010101" charset="-122"/>
                <a:ea typeface="黑体" panose="02010609060101010101" charset="-122"/>
                <a:sym typeface="+mn-ea"/>
              </a:rPr>
              <a:t>属性</a:t>
            </a:r>
            <a:endParaRPr lang="zh-CN" altLang="en-US" dirty="0"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8850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2834640" y="3371850"/>
            <a:ext cx="6092190" cy="3295015"/>
          </a:xfrm>
          <a:prstGeom prst="rect">
            <a:avLst/>
          </a:prstGeom>
          <a:solidFill>
            <a:srgbClr val="E1FFE1"/>
          </a:solidFill>
          <a:ln cap="flat" algn="ctr">
            <a:solidFill>
              <a:srgbClr val="993300"/>
            </a:solidFill>
            <a:miter lim="800000"/>
          </a:ln>
        </p:spPr>
        <p:txBody>
          <a:bodyPr vert="horz" wrap="square" lIns="91440" tIns="45720" rIns="91440" bIns="4572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cs typeface="Arial" panose="020B0604020202020204" pitchFamily="34" charset="0"/>
              </a:rPr>
              <a:t> .first{    font-size:14px;    background-color:#F5F5DC;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cs typeface="Arial" panose="020B0604020202020204" pitchFamily="34" charset="0"/>
              </a:rPr>
              <a:t>    border:1px solid ;    color:#A52A2A;    font-family:</a:t>
            </a:r>
            <a:r>
              <a:rPr lang="zh-CN" altLang="en-US" sz="1400" dirty="0">
                <a:ea typeface="宋体" panose="02010600030101010101" pitchFamily="2" charset="-122"/>
                <a:cs typeface="Arial" panose="020B0604020202020204" pitchFamily="34" charset="0"/>
              </a:rPr>
              <a:t>楷体</a:t>
            </a:r>
            <a:r>
              <a:rPr lang="en-US" altLang="zh-CN" sz="1400" dirty="0">
                <a:ea typeface="宋体" panose="02010600030101010101" pitchFamily="2" charset="-122"/>
                <a:cs typeface="Arial" panose="020B0604020202020204" pitchFamily="34" charset="0"/>
              </a:rPr>
              <a:t>; }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cs typeface="Arial" panose="020B0604020202020204" pitchFamily="34" charset="0"/>
              </a:rPr>
              <a:t> .second{    font-size:16px;    background-color:#E0FFFF;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 dirty="0">
                <a:ea typeface="宋体" panose="02010600030101010101" pitchFamily="2" charset="-122"/>
                <a:cs typeface="Arial" panose="020B0604020202020204" pitchFamily="34" charset="0"/>
              </a:rPr>
              <a:t>    color:#F08080;    border:1px solid #5F9EA0; }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$(document).ready(function(){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$("#first_btn").click(function(){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 $("div").removeClass("second");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 $("div").addClass("first");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});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$("#second_btn").click(function(){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 $("div").removeClass("first");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 $("div").addClass("second");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});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});</a:t>
            </a:r>
            <a:endParaRPr lang="en-US" altLang="zh-CN" sz="140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altLang="zh-CN" sz="1400" dirty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e98d2cf-974b-4b41-b80a-4c9b96789aea"/>
  <p:tag name="COMMONDATA" val="eyJoZGlkIjoiZTZiMGM5MmQ4ZjdjYWQzZmJhMGMwZDExYjZjYjk1Z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1"/>
  <p:tag name="KSO_WM_SLIDE_MODEL_TYPE" val="cov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300,&quot;width&quot;:3300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044,&quot;width&quot;:7232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161302a-1d89-4e5a-a16f-a8fc1f8bf2ed}"/>
  <p:tag name="TABLE_ENDDRAG_ORIGIN_RECT" val="533*134"/>
  <p:tag name="TABLE_ENDDRAG_RECT" val="54*201*533*13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6aca675-e4ef-4ba3-944f-af8fe6c82617}"/>
  <p:tag name="TABLE_ENDDRAG_ORIGIN_RECT" val="632*240"/>
  <p:tag name="TABLE_ENDDRAG_RECT" val="55*244*632*24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3f90c27-4f46-4eac-b9d0-c37c94b43c81}"/>
  <p:tag name="TABLE_ENDDRAG_ORIGIN_RECT" val="657*188"/>
  <p:tag name="TABLE_ENDDRAG_RECT" val="23*172*657*188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7a7b493-c283-4acb-acba-0125a3a37455}"/>
  <p:tag name="TABLE_ENDDRAG_ORIGIN_RECT" val="641*181"/>
  <p:tag name="TABLE_ENDDRAG_RECT" val="42*211*641*18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06a51b0-b510-4584-9e25-4c6f8fa48325}"/>
  <p:tag name="TABLE_ENDDRAG_ORIGIN_RECT" val="589*162"/>
  <p:tag name="TABLE_ENDDRAG_RECT" val="45*144*589*16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ca961d7-e2c8-4eb8-8373-c0fc9fc1c96e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3cb87da-b228-40a7-88da-7e3475e421f9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17*308"/>
  <p:tag name="TABLE_ENDDRAG_RECT" val="127*215*517*309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56*291"/>
  <p:tag name="TABLE_ENDDRAG_RECT" val="73*219*556*29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ebfcd6e-180a-462b-bc1c-f42d34de48fb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dcee776-7af6-40d9-93c6-2f4a19af86f9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9172587-482d-4abb-aed7-af1eb4bc167f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980e02e-564e-40ff-9d92-9bd4cfe5fa68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5*349"/>
  <p:tag name="TABLE_ENDDRAG_RECT" val="113*128*495*34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1495523-5fb9-4d9a-8bfe-4133f4158848}"/>
  <p:tag name="TABLE_ENDDRAG_ORIGIN_RECT" val="669*302"/>
  <p:tag name="TABLE_ENDDRAG_RECT" val="29*170*669*30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5*289"/>
  <p:tag name="TABLE_ENDDRAG_RECT" val="70*160*555*289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8b46da8-721a-4cb2-b92b-c5e357231805}"/>
  <p:tag name="TABLE_ENDDRAG_ORIGIN_RECT" val="677*265"/>
  <p:tag name="TABLE_ENDDRAG_RECT" val="31*201*677*265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60eb379-1c4f-4321-9d13-5d503404f8ae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4584954-8421-41ce-b370-92a090de2f44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b5c164f-510a-40b1-92ca-34fb23b58750}"/>
  <p:tag name="TABLE_ENDDRAG_ORIGIN_RECT" val="612*99"/>
  <p:tag name="TABLE_ENDDRAG_RECT" val="57*340*612*99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b29b4c-0333-4c12-8c3c-c0a4b2ce88e6}"/>
  <p:tag name="TABLE_ENDDRAG_ORIGIN_RECT" val="612*209"/>
  <p:tag name="TABLE_ENDDRAG_RECT" val="54*95*612*20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5c2b217-019e-4c6b-af9d-77d08d7ee0c5}"/>
  <p:tag name="TABLE_ENDDRAG_ORIGIN_RECT" val="538*134"/>
  <p:tag name="TABLE_ENDDRAG_RECT" val="72*162*538*134"/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2e8f2d8-f6f3-4df5-98f5-002072bb75ae}"/>
  <p:tag name="TABLE_ENDDRAG_ORIGIN_RECT" val="647*307"/>
  <p:tag name="TABLE_ENDDRAG_RECT" val="34*205*647*307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77e475d-70a2-44df-8f7d-a880c4e0d913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2dd6363-6311-44d3-8bbb-049f2b988dea}"/>
  <p:tag name="TABLE_ENDDRAG_ORIGIN_RECT" val="673*138"/>
  <p:tag name="TABLE_ENDDRAG_RECT" val="25*116*673*138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362581d-57f7-4d36-bd9f-823fe0df1fca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93*181"/>
  <p:tag name="TABLE_ENDDRAG_RECT" val="64*206*593*18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54*438"/>
  <p:tag name="TABLE_ENDDRAG_RECT" val="39*106*654*438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19*372"/>
  <p:tag name="TABLE_ENDDRAG_RECT" val="120*139*520*37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35745</Words>
  <Application>Microsoft Office PowerPoint</Application>
  <PresentationFormat>全屏显示(4:3)</PresentationFormat>
  <Paragraphs>3957</Paragraphs>
  <Slides>246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246</vt:i4>
      </vt:variant>
    </vt:vector>
  </HeadingPairs>
  <TitlesOfParts>
    <vt:vector size="260" baseType="lpstr">
      <vt:lpstr>黑体</vt:lpstr>
      <vt:lpstr>华文楷体</vt:lpstr>
      <vt:lpstr>宋体</vt:lpstr>
      <vt:lpstr>微软雅黑</vt:lpstr>
      <vt:lpstr>Arial</vt:lpstr>
      <vt:lpstr>Times New Roman</vt:lpstr>
      <vt:lpstr>Verdana</vt:lpstr>
      <vt:lpstr>Viner Hand ITC</vt:lpstr>
      <vt:lpstr>Wingdings</vt:lpstr>
      <vt:lpstr>Office 主题​​</vt:lpstr>
      <vt:lpstr>Package</vt:lpstr>
      <vt:lpstr>Visio</vt:lpstr>
      <vt:lpstr>包装程序外壳对象</vt:lpstr>
      <vt:lpstr>程序包</vt:lpstr>
      <vt:lpstr>Web编程</vt:lpstr>
      <vt:lpstr>JavaScript概述</vt:lpstr>
      <vt:lpstr>第一个JavaScript程序 </vt:lpstr>
      <vt:lpstr>JavaScript放置的位置</vt:lpstr>
      <vt:lpstr>JavaScript放置-头部</vt:lpstr>
      <vt:lpstr>PowerPoint 演示文稿</vt:lpstr>
      <vt:lpstr>PowerPoint 演示文稿</vt:lpstr>
      <vt:lpstr>JavaScript放置-事件处理代码</vt:lpstr>
      <vt:lpstr>JavaScript程序</vt:lpstr>
      <vt:lpstr>代码</vt:lpstr>
      <vt:lpstr>消息对话框</vt:lpstr>
      <vt:lpstr>消息对话框-告警框</vt:lpstr>
      <vt:lpstr>消息对话框-确认框</vt:lpstr>
      <vt:lpstr>消息对话框-提示框</vt:lpstr>
      <vt:lpstr>JavaScript注释</vt:lpstr>
      <vt:lpstr>PowerPoint 演示文稿</vt:lpstr>
      <vt:lpstr>命名规范</vt:lpstr>
      <vt:lpstr>数据类型</vt:lpstr>
      <vt:lpstr>数据类型-数值型</vt:lpstr>
      <vt:lpstr>PowerPoint 演示文稿</vt:lpstr>
      <vt:lpstr>数据类型-布尔型</vt:lpstr>
      <vt:lpstr>数据类型-其它类型</vt:lpstr>
      <vt:lpstr>变量 </vt:lpstr>
      <vt:lpstr>变量的作用域</vt:lpstr>
      <vt:lpstr>转义字符</vt:lpstr>
      <vt:lpstr>运算符和表达式</vt:lpstr>
      <vt:lpstr>算术运算符和表达式</vt:lpstr>
      <vt:lpstr>关系运算符和表达式</vt:lpstr>
      <vt:lpstr>PowerPoint 演示文稿</vt:lpstr>
      <vt:lpstr>逻辑运算符和表达式</vt:lpstr>
      <vt:lpstr>赋值运算符和表达式</vt:lpstr>
      <vt:lpstr>位运算符和表达式</vt:lpstr>
      <vt:lpstr>条件运算符和表达式</vt:lpstr>
      <vt:lpstr>其它运算符和表达式</vt:lpstr>
      <vt:lpstr>JavaScript程序控制结构</vt:lpstr>
      <vt:lpstr>顺序结构</vt:lpstr>
      <vt:lpstr>顺序结构-练习</vt:lpstr>
      <vt:lpstr>分支结构 </vt:lpstr>
      <vt:lpstr>分支结构-if语句 </vt:lpstr>
      <vt:lpstr>分支结构-if-else语句</vt:lpstr>
      <vt:lpstr>分支结构-if-else if-else语句 </vt:lpstr>
      <vt:lpstr>PowerPoint 演示文稿</vt:lpstr>
      <vt:lpstr>分支结构-switch语句</vt:lpstr>
      <vt:lpstr>循环结构-for</vt:lpstr>
      <vt:lpstr>循环结构-while语句</vt:lpstr>
      <vt:lpstr>循环结构-do-while语句 </vt:lpstr>
      <vt:lpstr>循环结构-for-in循环</vt:lpstr>
      <vt:lpstr>循环结构-循环的嵌套</vt:lpstr>
      <vt:lpstr>PowerPoint 演示文稿</vt:lpstr>
      <vt:lpstr>JavaScript函数</vt:lpstr>
      <vt:lpstr>常用函数列表</vt:lpstr>
      <vt:lpstr>常用系统函数-全局函数</vt:lpstr>
      <vt:lpstr>常用系统函数-全局函数</vt:lpstr>
      <vt:lpstr>常用系统函数-全局函数</vt:lpstr>
      <vt:lpstr>常用系统函数-全局函数</vt:lpstr>
      <vt:lpstr>常用系统函数-全局函数</vt:lpstr>
      <vt:lpstr>常用系统函数-常用的对象函数</vt:lpstr>
      <vt:lpstr>常用系统函数-常用的对象函数</vt:lpstr>
      <vt:lpstr>自定义函数</vt:lpstr>
      <vt:lpstr>自定义函数</vt:lpstr>
      <vt:lpstr>PowerPoint 演示文稿</vt:lpstr>
      <vt:lpstr>带参数返回的return语句</vt:lpstr>
      <vt:lpstr>函数变量的作用域</vt:lpstr>
      <vt:lpstr>函数变量的作用域案例</vt:lpstr>
      <vt:lpstr>ECMASCIPT、DOM和BOM</vt:lpstr>
      <vt:lpstr>常用对象</vt:lpstr>
      <vt:lpstr>常用对象-续</vt:lpstr>
      <vt:lpstr>常用对象-续</vt:lpstr>
      <vt:lpstr>Array</vt:lpstr>
      <vt:lpstr>Array</vt:lpstr>
      <vt:lpstr>Array</vt:lpstr>
      <vt:lpstr>Array</vt:lpstr>
      <vt:lpstr>Array</vt:lpstr>
      <vt:lpstr>Array</vt:lpstr>
      <vt:lpstr>Array</vt:lpstr>
      <vt:lpstr>Array-案例 </vt:lpstr>
      <vt:lpstr>String</vt:lpstr>
      <vt:lpstr>String</vt:lpstr>
      <vt:lpstr>String</vt:lpstr>
      <vt:lpstr>String</vt:lpstr>
      <vt:lpstr>String</vt:lpstr>
      <vt:lpstr>String-案例</vt:lpstr>
      <vt:lpstr>Date</vt:lpstr>
      <vt:lpstr>Date-提取日期字段方法</vt:lpstr>
      <vt:lpstr>Date-日期转换与调整</vt:lpstr>
      <vt:lpstr>Date-案例</vt:lpstr>
      <vt:lpstr>Math</vt:lpstr>
      <vt:lpstr>Math</vt:lpstr>
      <vt:lpstr>Math-案例</vt:lpstr>
      <vt:lpstr>Number</vt:lpstr>
      <vt:lpstr>Boolean</vt:lpstr>
      <vt:lpstr>创建自定义对象</vt:lpstr>
      <vt:lpstr>解析JSON字符串创建对象</vt:lpstr>
      <vt:lpstr>通过构造函数创建对象</vt:lpstr>
      <vt:lpstr>通过原型方法创建对象</vt:lpstr>
      <vt:lpstr>混合使用多种方法创建对象</vt:lpstr>
      <vt:lpstr>补充：正则表达式</vt:lpstr>
      <vt:lpstr>补充：Set和Map</vt:lpstr>
      <vt:lpstr>HTML DOM</vt:lpstr>
      <vt:lpstr>JavaScript事件概述</vt:lpstr>
      <vt:lpstr>事件类型</vt:lpstr>
      <vt:lpstr>事件句柄</vt:lpstr>
      <vt:lpstr>事件句柄-一览表</vt:lpstr>
      <vt:lpstr>事件处理</vt:lpstr>
      <vt:lpstr>事件处理-静态指定</vt:lpstr>
      <vt:lpstr>事件处理-动态指定 </vt:lpstr>
      <vt:lpstr>事件处理-特定对象的特定事件指定 </vt:lpstr>
      <vt:lpstr>事件处理程序的返回值</vt:lpstr>
      <vt:lpstr>事件处理程序的返回值-案例 </vt:lpstr>
      <vt:lpstr>表单事件</vt:lpstr>
      <vt:lpstr>获得及失去焦点事件</vt:lpstr>
      <vt:lpstr>提交及重置事件</vt:lpstr>
      <vt:lpstr>改变及选择事件</vt:lpstr>
      <vt:lpstr>鼠标事件 </vt:lpstr>
      <vt:lpstr>鼠标单击、双击事件</vt:lpstr>
      <vt:lpstr>鼠标移动事件</vt:lpstr>
      <vt:lpstr>键盘事件</vt:lpstr>
      <vt:lpstr>键盘事件-案例</vt:lpstr>
      <vt:lpstr>窗口事件</vt:lpstr>
      <vt:lpstr>DOM简介</vt:lpstr>
      <vt:lpstr>DOM节点树</vt:lpstr>
      <vt:lpstr>document对象的属性</vt:lpstr>
      <vt:lpstr>document属性设置例子</vt:lpstr>
      <vt:lpstr>DOM节点</vt:lpstr>
      <vt:lpstr>DOM节点</vt:lpstr>
      <vt:lpstr>DOM节点-关系</vt:lpstr>
      <vt:lpstr>DOM节点访问</vt:lpstr>
      <vt:lpstr>DOM节点访问-方法1</vt:lpstr>
      <vt:lpstr>DOM节点访问-方法2</vt:lpstr>
      <vt:lpstr>DOM节点访问-其它方法</vt:lpstr>
      <vt:lpstr>DOM节点操作</vt:lpstr>
      <vt:lpstr>DOM节点操作-案例</vt:lpstr>
      <vt:lpstr>DOM节点操作案例1</vt:lpstr>
      <vt:lpstr>DOM节点操作案例2</vt:lpstr>
      <vt:lpstr>DOM节点操作案例2</vt:lpstr>
      <vt:lpstr>DOM节点操作案例3</vt:lpstr>
      <vt:lpstr>DOM节点操作案例4</vt:lpstr>
      <vt:lpstr>DOM应用实例-getAttribute( )、setAttribute( )</vt:lpstr>
      <vt:lpstr>表单对象</vt:lpstr>
      <vt:lpstr>BOM</vt:lpstr>
      <vt:lpstr>window对象</vt:lpstr>
      <vt:lpstr>window对象-案例</vt:lpstr>
      <vt:lpstr>window对象-案例</vt:lpstr>
      <vt:lpstr>window对象-案例</vt:lpstr>
      <vt:lpstr>window对象-案例</vt:lpstr>
      <vt:lpstr>navigator对象</vt:lpstr>
      <vt:lpstr>navigator对象-案例 </vt:lpstr>
      <vt:lpstr>screen对象</vt:lpstr>
      <vt:lpstr>history对象</vt:lpstr>
      <vt:lpstr>location对象</vt:lpstr>
      <vt:lpstr>location对象</vt:lpstr>
      <vt:lpstr>location对象-案例</vt:lpstr>
      <vt:lpstr>Canvas 画布</vt:lpstr>
      <vt:lpstr>Canvas 画布</vt:lpstr>
      <vt:lpstr>HTML5 Canvas 画布</vt:lpstr>
      <vt:lpstr>Canvas 坐标</vt:lpstr>
      <vt:lpstr>Canvas 路径</vt:lpstr>
      <vt:lpstr>Canvas中绘图步骤</vt:lpstr>
      <vt:lpstr> </vt:lpstr>
      <vt:lpstr>Canvas 绘制线段</vt:lpstr>
      <vt:lpstr>用Canvas 标记绘制直线</vt:lpstr>
      <vt:lpstr>Canvas 绘制文本</vt:lpstr>
      <vt:lpstr>Canvas 绘制文本</vt:lpstr>
      <vt:lpstr>Canvas渐变</vt:lpstr>
      <vt:lpstr>图形变换</vt:lpstr>
      <vt:lpstr>移动</vt:lpstr>
      <vt:lpstr>缩放</vt:lpstr>
      <vt:lpstr>旋转</vt:lpstr>
      <vt:lpstr>变形</vt:lpstr>
      <vt:lpstr>线型</vt:lpstr>
      <vt:lpstr>Canvas 绘制图像</vt:lpstr>
      <vt:lpstr>Canvas 绘制图像</vt:lpstr>
      <vt:lpstr>Canvas 绘制图像</vt:lpstr>
      <vt:lpstr>Canvas 绘制图像</vt:lpstr>
      <vt:lpstr>填充模式</vt:lpstr>
      <vt:lpstr>透明度、阴影和模糊</vt:lpstr>
      <vt:lpstr>requestAnimationFrame</vt:lpstr>
      <vt:lpstr>HTML5 拖放</vt:lpstr>
      <vt:lpstr>拖放事件</vt:lpstr>
      <vt:lpstr>dataTransfer 对象</vt:lpstr>
      <vt:lpstr>拖放操作实现步骤</vt:lpstr>
      <vt:lpstr>拖放操作实现步骤</vt:lpstr>
      <vt:lpstr>HTML5 拖放案例</vt:lpstr>
      <vt:lpstr>HTML5 Web Storage</vt:lpstr>
      <vt:lpstr>localStorage 对象</vt:lpstr>
      <vt:lpstr>localStorage 对象(续)</vt:lpstr>
      <vt:lpstr>localStorage 对象案例1</vt:lpstr>
      <vt:lpstr>localStorage 对象案例2</vt:lpstr>
      <vt:lpstr>localStorage 对象案例2</vt:lpstr>
      <vt:lpstr>localStorage 对象案例2</vt:lpstr>
      <vt:lpstr>浏览器端数据库IndexedDB</vt:lpstr>
      <vt:lpstr>浏览器端数据库IndexedDB</vt:lpstr>
      <vt:lpstr>浏览器端数据库IndexedDB</vt:lpstr>
      <vt:lpstr>数据库创建与打开案例</vt:lpstr>
      <vt:lpstr>浏览器端数据库IndexedDB</vt:lpstr>
      <vt:lpstr>浏览器端数据库IndexedDB</vt:lpstr>
      <vt:lpstr>浏览器端数据库IndexedDB</vt:lpstr>
      <vt:lpstr>浏览器端数据库IndexedDB</vt:lpstr>
      <vt:lpstr>浏览器端数据库IndexedDB</vt:lpstr>
      <vt:lpstr>浏览器端数据库IndexedDB</vt:lpstr>
      <vt:lpstr>浏览器端数据库IndexedDB</vt:lpstr>
      <vt:lpstr>遍历数据openCursor()方法</vt:lpstr>
      <vt:lpstr>遍历数据openCursor()方法</vt:lpstr>
      <vt:lpstr>遍历数据openCursor()方法</vt:lpstr>
      <vt:lpstr>浏览器端数据库IndexedDB案例</vt:lpstr>
      <vt:lpstr>HTML5 Web Worker</vt:lpstr>
      <vt:lpstr>HTML5 Web Worker</vt:lpstr>
      <vt:lpstr>HTML5 Web Worker</vt:lpstr>
      <vt:lpstr>Web Worker作用</vt:lpstr>
      <vt:lpstr>Web Worker的使用</vt:lpstr>
      <vt:lpstr>HTML5 Web Worker案例</vt:lpstr>
      <vt:lpstr>HTML5 Web Worker案例代码</vt:lpstr>
      <vt:lpstr>Geolocation API</vt:lpstr>
      <vt:lpstr>权限</vt:lpstr>
      <vt:lpstr>Geolocation</vt:lpstr>
      <vt:lpstr>Geolocation示例</vt:lpstr>
      <vt:lpstr>Geolocation</vt:lpstr>
      <vt:lpstr>监听地理位置信息</vt:lpstr>
      <vt:lpstr>AJAX</vt:lpstr>
      <vt:lpstr>AJAX技术组成结构</vt:lpstr>
      <vt:lpstr>交互过程的变化</vt:lpstr>
      <vt:lpstr>XMLHttpRequest对象的创建</vt:lpstr>
      <vt:lpstr>XMLHttpRequest对象的方法</vt:lpstr>
      <vt:lpstr>PowerPoint 演示文稿</vt:lpstr>
      <vt:lpstr>PowerPoint 演示文稿</vt:lpstr>
      <vt:lpstr>示例：</vt:lpstr>
      <vt:lpstr>使用AJAX实现关键字提示（部分实例）</vt:lpstr>
      <vt:lpstr>AJAX与XML</vt:lpstr>
      <vt:lpstr>AJAX与XML</vt:lpstr>
      <vt:lpstr>使用AJAX解析XML文件</vt:lpstr>
      <vt:lpstr>AJAX与数据库</vt:lpstr>
      <vt:lpstr>JQuery</vt:lpstr>
      <vt:lpstr>JQ的使用</vt:lpstr>
      <vt:lpstr>jQuey选择器</vt:lpstr>
      <vt:lpstr>层次选择器</vt:lpstr>
      <vt:lpstr>过滤选择器</vt:lpstr>
      <vt:lpstr>过滤选择器</vt:lpstr>
      <vt:lpstr>表单选择器</vt:lpstr>
      <vt:lpstr>jQuery的事件处理</vt:lpstr>
      <vt:lpstr>单击按钮时显示半透明的、可以随鼠标的移动而移动的DIV。</vt:lpstr>
      <vt:lpstr>jQuery的特效</vt:lpstr>
      <vt:lpstr>             </vt:lpstr>
      <vt:lpstr>jQuery操作DOM</vt:lpstr>
      <vt:lpstr>PowerPoint 演示文稿</vt:lpstr>
      <vt:lpstr>在段落的后面和列表前面添加新元素。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Web编程</dc:title>
  <dc:creator/>
  <cp:lastModifiedBy>王锦鸿</cp:lastModifiedBy>
  <cp:revision>302</cp:revision>
  <dcterms:created xsi:type="dcterms:W3CDTF">2019-06-19T02:08:00Z</dcterms:created>
  <dcterms:modified xsi:type="dcterms:W3CDTF">2024-12-05T03:19:13Z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6C33EB052C624D12AB73DCA1C588974A</vt:lpwstr>
  </property>
</Properties>
</file>