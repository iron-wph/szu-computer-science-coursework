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1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notesSlides/notesSlide2.xml" ContentType="application/vnd.openxmlformats-officedocument.presentationml.notesSlide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notesSlides/notesSlide3.xml" ContentType="application/vnd.openxmlformats-officedocument.presentationml.notesSlide+xml"/>
  <Override PartName="/ppt/tags/tag153.xml" ContentType="application/vnd.openxmlformats-officedocument.presentationml.tags+xml"/>
  <Override PartName="/ppt/notesSlides/notesSlide4.xml" ContentType="application/vnd.openxmlformats-officedocument.presentationml.notesSlide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notesSlides/notesSlide5.xml" ContentType="application/vnd.openxmlformats-officedocument.presentationml.notesSlid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notesSlides/notesSlide6.xml" ContentType="application/vnd.openxmlformats-officedocument.presentationml.notesSlide+xml"/>
  <Override PartName="/ppt/tags/tag159.xml" ContentType="application/vnd.openxmlformats-officedocument.presentationml.tags+xml"/>
  <Override PartName="/ppt/notesSlides/notesSlide7.xml" ContentType="application/vnd.openxmlformats-officedocument.presentationml.notesSlide+xml"/>
  <Override PartName="/ppt/tags/tag160.xml" ContentType="application/vnd.openxmlformats-officedocument.presentationml.tags+xml"/>
  <Override PartName="/ppt/notesSlides/notesSlide8.xml" ContentType="application/vnd.openxmlformats-officedocument.presentationml.notesSlide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notesSlides/notesSlide9.xml" ContentType="application/vnd.openxmlformats-officedocument.presentationml.notesSlide+xml"/>
  <Override PartName="/ppt/tags/tag164.xml" ContentType="application/vnd.openxmlformats-officedocument.presentationml.tags+xml"/>
  <Override PartName="/ppt/notesSlides/notesSlide10.xml" ContentType="application/vnd.openxmlformats-officedocument.presentationml.notesSlide+xml"/>
  <Override PartName="/ppt/tags/tag165.xml" ContentType="application/vnd.openxmlformats-officedocument.presentationml.tags+xml"/>
  <Override PartName="/ppt/notesSlides/notesSlide11.xml" ContentType="application/vnd.openxmlformats-officedocument.presentationml.notesSlide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notesSlides/notesSlide12.xml" ContentType="application/vnd.openxmlformats-officedocument.presentationml.notesSlide+xml"/>
  <Override PartName="/ppt/tags/tag168.xml" ContentType="application/vnd.openxmlformats-officedocument.presentationml.tags+xml"/>
  <Override PartName="/ppt/notesSlides/notesSlide13.xml" ContentType="application/vnd.openxmlformats-officedocument.presentationml.notesSlide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notesSlides/notesSlide14.xml" ContentType="application/vnd.openxmlformats-officedocument.presentationml.notesSlide+xml"/>
  <Override PartName="/ppt/tags/tag171.xml" ContentType="application/vnd.openxmlformats-officedocument.presentationml.tags+xml"/>
  <Override PartName="/ppt/notesSlides/notesSlide15.xml" ContentType="application/vnd.openxmlformats-officedocument.presentationml.notesSlide+xml"/>
  <Override PartName="/ppt/tags/tag172.xml" ContentType="application/vnd.openxmlformats-officedocument.presentationml.tags+xml"/>
  <Override PartName="/ppt/notesSlides/notesSlide16.xml" ContentType="application/vnd.openxmlformats-officedocument.presentationml.notesSlide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notesSlides/notesSlide17.xml" ContentType="application/vnd.openxmlformats-officedocument.presentationml.notesSlide+xml"/>
  <Override PartName="/ppt/tags/tag175.xml" ContentType="application/vnd.openxmlformats-officedocument.presentationml.tags+xml"/>
  <Override PartName="/ppt/notesSlides/notesSlide18.xml" ContentType="application/vnd.openxmlformats-officedocument.presentationml.notesSlide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396" r:id="rId3"/>
    <p:sldId id="307" r:id="rId4"/>
    <p:sldId id="335" r:id="rId5"/>
    <p:sldId id="336" r:id="rId6"/>
    <p:sldId id="264" r:id="rId7"/>
    <p:sldId id="268" r:id="rId8"/>
    <p:sldId id="270" r:id="rId9"/>
    <p:sldId id="372" r:id="rId10"/>
    <p:sldId id="288" r:id="rId11"/>
    <p:sldId id="31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331" r:id="rId26"/>
    <p:sldId id="362" r:id="rId27"/>
    <p:sldId id="363" r:id="rId28"/>
    <p:sldId id="365" r:id="rId29"/>
    <p:sldId id="366" r:id="rId30"/>
    <p:sldId id="364" r:id="rId31"/>
    <p:sldId id="285" r:id="rId32"/>
    <p:sldId id="339" r:id="rId33"/>
  </p:sldIdLst>
  <p:sldSz cx="9144000" cy="6858000" type="screen4x3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1452" y="84"/>
      </p:cViewPr>
      <p:guideLst>
        <p:guide orient="horz" pos="2091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2024/10/24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自我介绍</a:t>
            </a:r>
          </a:p>
          <a:p>
            <a:r>
              <a:rPr lang="en-US" altLang="zh-CN"/>
              <a:t>1. </a:t>
            </a:r>
            <a:r>
              <a:rPr lang="zh-CN" altLang="en-US"/>
              <a:t>教学、科研</a:t>
            </a:r>
          </a:p>
          <a:p>
            <a:r>
              <a:rPr lang="en-US" altLang="zh-CN"/>
              <a:t>2. </a:t>
            </a:r>
            <a:r>
              <a:rPr lang="zh-CN" altLang="en-US"/>
              <a:t>工程、技术团队</a:t>
            </a:r>
          </a:p>
          <a:p>
            <a:r>
              <a:rPr lang="en-US" altLang="zh-CN"/>
              <a:t>3. </a:t>
            </a:r>
            <a:r>
              <a:rPr lang="zh-CN" altLang="en-US"/>
              <a:t>身份</a:t>
            </a:r>
          </a:p>
          <a:p>
            <a:r>
              <a:rPr lang="en-US" altLang="zh-CN"/>
              <a:t>4. </a:t>
            </a:r>
            <a:r>
              <a:rPr lang="zh-CN" altLang="en-US"/>
              <a:t>期望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掌握</a:t>
            </a:r>
            <a:r>
              <a:rPr lang="en-US" altLang="zh-CN"/>
              <a:t>Web</a:t>
            </a:r>
            <a:r>
              <a:rPr lang="zh-CN" altLang="en-US"/>
              <a:t>系统和前后端的概念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重点：我们能学到什么？我们今天应该怎么做？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重点：核心的工作原理</a:t>
            </a:r>
          </a:p>
          <a:p>
            <a:pPr eaLnBrk="1" hangingPunct="1"/>
            <a:r>
              <a:rPr lang="zh-CN" altLang="en-US"/>
              <a:t>开放问题：如何应对高并发？如何快速响应需求变更？</a:t>
            </a:r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94E837-64DD-4743-AD3B-3D9B247CB408}" type="slidenum">
              <a:rPr lang="en-US" altLang="zh-CN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URL</a:t>
            </a:r>
            <a:r>
              <a:rPr lang="zh-CN" altLang="en-US"/>
              <a:t>、</a:t>
            </a:r>
            <a:r>
              <a:rPr lang="en-US" altLang="zh-CN"/>
              <a:t>HTTP</a:t>
            </a:r>
            <a:r>
              <a:rPr lang="zh-CN" altLang="en-US"/>
              <a:t>（</a:t>
            </a:r>
            <a:r>
              <a:rPr lang="en-US" altLang="zh-CN"/>
              <a:t>S</a:t>
            </a:r>
            <a:r>
              <a:rPr lang="zh-CN" altLang="en-US"/>
              <a:t>）、</a:t>
            </a:r>
            <a:r>
              <a:rPr lang="en-US" altLang="zh-CN"/>
              <a:t>DNS</a:t>
            </a:r>
            <a:r>
              <a:rPr lang="zh-CN" altLang="en-US"/>
              <a:t>、</a:t>
            </a:r>
            <a:r>
              <a:rPr lang="en-US" altLang="zh-CN"/>
              <a:t>TCP/IP</a:t>
            </a:r>
            <a:r>
              <a:rPr lang="zh-CN" altLang="en-US"/>
              <a:t>几个基础概念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URL</a:t>
            </a:r>
            <a:r>
              <a:rPr lang="zh-CN" altLang="en-US"/>
              <a:t>、</a:t>
            </a:r>
            <a:r>
              <a:rPr lang="en-US" altLang="zh-CN"/>
              <a:t>HTTP</a:t>
            </a:r>
            <a:r>
              <a:rPr lang="zh-CN" altLang="en-US"/>
              <a:t>（</a:t>
            </a:r>
            <a:r>
              <a:rPr lang="en-US" altLang="zh-CN"/>
              <a:t>S</a:t>
            </a:r>
            <a:r>
              <a:rPr lang="zh-CN" altLang="en-US"/>
              <a:t>）、</a:t>
            </a:r>
            <a:r>
              <a:rPr lang="en-US" altLang="zh-CN"/>
              <a:t>DNS</a:t>
            </a:r>
            <a:r>
              <a:rPr lang="zh-CN" altLang="en-US"/>
              <a:t>、</a:t>
            </a:r>
            <a:r>
              <a:rPr lang="en-US" altLang="zh-CN"/>
              <a:t>TCP/IP</a:t>
            </a:r>
            <a:r>
              <a:rPr lang="zh-CN" altLang="en-US"/>
              <a:t>几个基础概念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服务器、超链接、</a:t>
            </a:r>
            <a:r>
              <a:rPr lang="en-US" altLang="zh-CN"/>
              <a:t>MIME</a:t>
            </a:r>
            <a:r>
              <a:rPr lang="zh-CN" altLang="en-US"/>
              <a:t>几个基础概念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Site</a:t>
            </a:r>
            <a:r>
              <a:rPr lang="zh-CN" altLang="en-US"/>
              <a:t>、</a:t>
            </a:r>
            <a:r>
              <a:rPr lang="en-US" altLang="zh-CN"/>
              <a:t>Page</a:t>
            </a:r>
            <a:r>
              <a:rPr lang="zh-CN" altLang="en-US"/>
              <a:t>和</a:t>
            </a:r>
            <a:r>
              <a:rPr lang="en-US" altLang="zh-CN"/>
              <a:t>Element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FF0000"/>
                </a:solidFill>
                <a:sym typeface="+mn-ea"/>
              </a:rPr>
              <a:t>HTML+CSS+JavaScript =</a:t>
            </a:r>
            <a:r>
              <a:rPr b="1">
                <a:solidFill>
                  <a:srgbClr val="FF0000"/>
                </a:solidFill>
                <a:sym typeface="+mn-ea"/>
              </a:rPr>
              <a:t>结构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+</a:t>
            </a:r>
            <a:r>
              <a:rPr b="1">
                <a:solidFill>
                  <a:srgbClr val="FF0000"/>
                </a:solidFill>
                <a:sym typeface="+mn-ea"/>
              </a:rPr>
              <a:t>样式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+</a:t>
            </a:r>
            <a:r>
              <a:rPr b="1">
                <a:solidFill>
                  <a:srgbClr val="FF0000"/>
                </a:solidFill>
                <a:sym typeface="+mn-ea"/>
              </a:rPr>
              <a:t>行为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H5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CSS3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JS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DOM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BOM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AJAX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jQ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我们能学到什么？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2" Type="http://schemas.openxmlformats.org/officeDocument/2006/relationships/tags" Target="../tags/tag9.xml"/><Relationship Id="rId16" Type="http://schemas.openxmlformats.org/officeDocument/2006/relationships/image" Target="../media/image3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image" Target="../media/image2.png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6.png"/><Relationship Id="rId5" Type="http://schemas.openxmlformats.org/officeDocument/2006/relationships/tags" Target="../tags/tag36.xml"/><Relationship Id="rId10" Type="http://schemas.openxmlformats.org/officeDocument/2006/relationships/image" Target="../media/image5.png"/><Relationship Id="rId4" Type="http://schemas.openxmlformats.org/officeDocument/2006/relationships/tags" Target="../tags/tag35.xml"/><Relationship Id="rId9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image" Target="../media/image5.png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image" Target="../media/image6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44.xml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image" Target="../media/image7.png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5" Type="http://schemas.openxmlformats.org/officeDocument/2006/relationships/tags" Target="../tags/tag54.xml"/><Relationship Id="rId10" Type="http://schemas.openxmlformats.org/officeDocument/2006/relationships/tags" Target="../tags/tag59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9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image" Target="../media/image9.png"/><Relationship Id="rId4" Type="http://schemas.openxmlformats.org/officeDocument/2006/relationships/tags" Target="../tags/tag74.xml"/><Relationship Id="rId9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7" Type="http://schemas.openxmlformats.org/officeDocument/2006/relationships/image" Target="../media/image1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2.xml"/><Relationship Id="rId4" Type="http://schemas.openxmlformats.org/officeDocument/2006/relationships/tags" Target="../tags/tag8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image" Target="../media/image2.png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image" Target="../media/image1.pn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image" Target="../media/image11.png"/><Relationship Id="rId5" Type="http://schemas.openxmlformats.org/officeDocument/2006/relationships/tags" Target="../tags/tag8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6.xml"/><Relationship Id="rId9" Type="http://schemas.openxmlformats.org/officeDocument/2006/relationships/tags" Target="../tags/tag9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7" Type="http://schemas.openxmlformats.org/officeDocument/2006/relationships/image" Target="../media/image12.png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6.xml"/><Relationship Id="rId4" Type="http://schemas.openxmlformats.org/officeDocument/2006/relationships/tags" Target="../tags/tag95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9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10" Type="http://schemas.openxmlformats.org/officeDocument/2006/relationships/image" Target="../media/image9.png"/><Relationship Id="rId4" Type="http://schemas.openxmlformats.org/officeDocument/2006/relationships/tags" Target="../tags/tag107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10" Type="http://schemas.openxmlformats.org/officeDocument/2006/relationships/image" Target="../media/image9.png"/><Relationship Id="rId4" Type="http://schemas.openxmlformats.org/officeDocument/2006/relationships/tags" Target="../tags/tag115.xml"/><Relationship Id="rId9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10" Type="http://schemas.openxmlformats.org/officeDocument/2006/relationships/image" Target="../media/image14.png"/><Relationship Id="rId4" Type="http://schemas.openxmlformats.org/officeDocument/2006/relationships/tags" Target="../tags/tag123.xml"/><Relationship Id="rId9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3" Type="http://schemas.openxmlformats.org/officeDocument/2006/relationships/tags" Target="../tags/tag130.xml"/><Relationship Id="rId7" Type="http://schemas.openxmlformats.org/officeDocument/2006/relationships/tags" Target="../tags/tag134.xml"/><Relationship Id="rId12" Type="http://schemas.openxmlformats.org/officeDocument/2006/relationships/image" Target="../media/image15.png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32.xml"/><Relationship Id="rId10" Type="http://schemas.openxmlformats.org/officeDocument/2006/relationships/tags" Target="../tags/tag137.xml"/><Relationship Id="rId4" Type="http://schemas.openxmlformats.org/officeDocument/2006/relationships/tags" Target="../tags/tag131.xml"/><Relationship Id="rId9" Type="http://schemas.openxmlformats.org/officeDocument/2006/relationships/tags" Target="../tags/tag136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3" Type="http://schemas.openxmlformats.org/officeDocument/2006/relationships/tags" Target="../tags/tag140.xml"/><Relationship Id="rId7" Type="http://schemas.openxmlformats.org/officeDocument/2006/relationships/tags" Target="../tags/tag144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11" Type="http://schemas.openxmlformats.org/officeDocument/2006/relationships/image" Target="../media/image17.png"/><Relationship Id="rId5" Type="http://schemas.openxmlformats.org/officeDocument/2006/relationships/tags" Target="../tags/tag142.xml"/><Relationship Id="rId10" Type="http://schemas.openxmlformats.org/officeDocument/2006/relationships/image" Target="../media/image16.png"/><Relationship Id="rId4" Type="http://schemas.openxmlformats.org/officeDocument/2006/relationships/tags" Target="../tags/tag141.xml"/><Relationship Id="rId9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9144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662589" y="3503930"/>
            <a:ext cx="5819299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5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662351" y="2292046"/>
            <a:ext cx="5819299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4500" spc="600" baseline="0">
                <a:solidFill>
                  <a:schemeClr val="accent1"/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3383279" y="4490846"/>
            <a:ext cx="1037320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4572000" y="4490846"/>
            <a:ext cx="1037319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02412" y="952508"/>
            <a:ext cx="8139178" cy="5388907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6177281"/>
            <a:ext cx="9144000" cy="13245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35560"/>
            <a:ext cx="9144000" cy="204660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938615" y="2681555"/>
            <a:ext cx="2682787" cy="716508"/>
          </a:xfrm>
        </p:spPr>
        <p:txBody>
          <a:bodyPr lIns="90000" tIns="46800" rIns="90000" bIns="0" anchor="ctr" anchorCtr="0">
            <a:normAutofit/>
          </a:bodyPr>
          <a:lstStyle>
            <a:lvl1pPr algn="dist">
              <a:defRPr sz="33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3938615" y="3459937"/>
            <a:ext cx="2682788" cy="544296"/>
          </a:xfrm>
        </p:spPr>
        <p:txBody>
          <a:bodyPr lIns="90000" tIns="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679158" y="952508"/>
            <a:ext cx="3962432" cy="5388907"/>
          </a:xfrm>
        </p:spPr>
        <p:txBody>
          <a:bodyPr lIns="90000" tIns="46800" rIns="90000" bIns="46800">
            <a:normAutofit/>
          </a:bodyPr>
          <a:lstStyle>
            <a:lvl1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2382" y="5971592"/>
            <a:ext cx="2608970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6537457" y="5905492"/>
            <a:ext cx="2610830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02448" y="952508"/>
            <a:ext cx="3962432" cy="381003"/>
          </a:xfrm>
        </p:spPr>
        <p:txBody>
          <a:bodyPr lIns="90000" tIns="46800" rIns="90000" bIns="468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02444" y="1406525"/>
            <a:ext cx="3962400" cy="4934752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76813" y="952508"/>
            <a:ext cx="3962432" cy="38100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76813" y="1406525"/>
            <a:ext cx="3962432" cy="4934752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 flipH="1">
            <a:off x="6537457" y="5905492"/>
            <a:ext cx="2610830" cy="9740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-12382" y="5971592"/>
            <a:ext cx="2608970" cy="907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0" y="-15482"/>
            <a:ext cx="2737007" cy="6857999"/>
            <a:chOff x="0" y="-15482"/>
            <a:chExt cx="3649343" cy="6857999"/>
          </a:xfrm>
        </p:grpSpPr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 rotWithShape="1">
            <a:blip r:embed="rId14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 rot="10800000">
            <a:off x="6406993" y="15483"/>
            <a:ext cx="2737007" cy="6857999"/>
            <a:chOff x="0" y="-15482"/>
            <a:chExt cx="3649343" cy="6857999"/>
          </a:xfrm>
        </p:grpSpPr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 rotWithShape="1">
            <a:blip r:embed="rId14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0000" tIns="46800" rIns="90000" bIns="4680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矩形: 圆角 13"/>
          <p:cNvSpPr/>
          <p:nvPr>
            <p:custDataLst>
              <p:tags r:id="rId7"/>
            </p:custDataLst>
          </p:nvPr>
        </p:nvSpPr>
        <p:spPr>
          <a:xfrm>
            <a:off x="4228624" y="1484173"/>
            <a:ext cx="685800" cy="47625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2448" y="443234"/>
            <a:ext cx="8139178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679194" y="952508"/>
            <a:ext cx="3962432" cy="5388907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2024/10/24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6173998" y="5327780"/>
            <a:ext cx="297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 rot="5400000">
            <a:off x="-2534087" y="2809615"/>
            <a:ext cx="5143502" cy="1238771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6173998" y="5327780"/>
            <a:ext cx="297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9144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6177281"/>
            <a:ext cx="9144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35560"/>
            <a:ext cx="9144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2344229" y="2421777"/>
            <a:ext cx="445554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0" y="-3"/>
            <a:ext cx="9144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3474527" y="4417887"/>
            <a:ext cx="976576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4692899" y="4417887"/>
            <a:ext cx="976577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1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9144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14789" y="273050"/>
            <a:ext cx="8712041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961200" y="1249200"/>
            <a:ext cx="7219800" cy="723600"/>
          </a:xfrm>
        </p:spPr>
        <p:txBody>
          <a:bodyPr anchor="ctr"/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960835" y="2163600"/>
            <a:ext cx="7219950" cy="3445200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5304452" y="4933186"/>
            <a:ext cx="3622376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3617595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37400" y="770400"/>
            <a:ext cx="2970000" cy="882000"/>
          </a:xfrm>
        </p:spPr>
        <p:txBody>
          <a:bodyPr anchor="ctr"/>
          <a:lstStyle>
            <a:lvl1pPr>
              <a:defRPr sz="2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440100" y="1764000"/>
            <a:ext cx="2967300" cy="4093200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3825900" y="769938"/>
            <a:ext cx="4860000" cy="5087937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6173998" y="5327780"/>
            <a:ext cx="297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9144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9000" y="781200"/>
            <a:ext cx="8232300" cy="626400"/>
          </a:xfrm>
        </p:spPr>
        <p:txBody>
          <a:bodyPr anchor="ctr"/>
          <a:lstStyle>
            <a:lvl1pPr algn="ctr">
              <a:defRPr sz="2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459000" y="1659600"/>
            <a:ext cx="8231981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459581" y="2808000"/>
            <a:ext cx="8224200" cy="3430800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6173998" y="5327780"/>
            <a:ext cx="297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858" y="0"/>
            <a:ext cx="9144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9144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3600" y="669600"/>
            <a:ext cx="8232300" cy="565200"/>
          </a:xfrm>
        </p:spPr>
        <p:txBody>
          <a:bodyPr anchor="ctr"/>
          <a:lstStyle>
            <a:lvl1pPr algn="ctr"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53628" y="1681200"/>
            <a:ext cx="8243100" cy="3211200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445500" y="5180400"/>
            <a:ext cx="82512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9144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350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34700" y="237600"/>
            <a:ext cx="8278200" cy="441964"/>
          </a:xfrm>
        </p:spPr>
        <p:txBody>
          <a:bodyPr>
            <a:normAutofit/>
          </a:bodyPr>
          <a:lstStyle>
            <a:lvl1pPr>
              <a:defRPr sz="21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34700" y="1663200"/>
            <a:ext cx="4006800" cy="2894400"/>
          </a:xfrm>
        </p:spPr>
        <p:txBody>
          <a:bodyPr>
            <a:normAutofit/>
          </a:bodyPr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4681800" y="1663200"/>
            <a:ext cx="4025700" cy="2894400"/>
          </a:xfrm>
        </p:spPr>
        <p:txBody>
          <a:bodyPr>
            <a:normAutofit/>
          </a:bodyPr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429300" y="4816800"/>
            <a:ext cx="4006800" cy="781200"/>
          </a:xfrm>
        </p:spPr>
        <p:txBody>
          <a:bodyPr>
            <a:normAutofit/>
          </a:bodyPr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4689900" y="4813200"/>
            <a:ext cx="4025700" cy="781200"/>
          </a:xfrm>
        </p:spPr>
        <p:txBody>
          <a:bodyPr>
            <a:normAutofit/>
          </a:bodyPr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59224"/>
            <a:ext cx="9144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6321812" y="4917233"/>
            <a:ext cx="2822188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3535204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142100" y="1339200"/>
            <a:ext cx="6858000" cy="2386800"/>
          </a:xfrm>
        </p:spPr>
        <p:txBody>
          <a:bodyPr anchor="b"/>
          <a:lstStyle>
            <a:lvl1pPr algn="ctr">
              <a:defRPr sz="45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141810" y="3862800"/>
            <a:ext cx="6858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502412" y="443230"/>
            <a:ext cx="8139178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502412" y="952508"/>
            <a:ext cx="8139178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659807" y="6349833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3087000" y="6349833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6457950" y="6349833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3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4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58.xml"/><Relationship Id="rId7" Type="http://schemas.openxmlformats.org/officeDocument/2006/relationships/image" Target="../media/image22.png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image" Target="../media/image21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0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8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9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0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Web</a:t>
            </a:r>
            <a:r>
              <a:rPr lang="zh-CN" altLang="en-US"/>
              <a:t>编程</a:t>
            </a: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——Web</a:t>
            </a:r>
            <a:r>
              <a:rPr lang="zh-CN" altLang="en-US"/>
              <a:t>前端开发技术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蔡树彬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2024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先建个群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群昵称，学号</a:t>
            </a:r>
            <a:r>
              <a:rPr lang="en-US" altLang="zh-CN"/>
              <a:t>+</a:t>
            </a:r>
            <a:r>
              <a:t>姓名；</a:t>
            </a:r>
          </a:p>
          <a:p>
            <a:endParaRPr/>
          </a:p>
          <a:p>
            <a:r>
              <a:t>关于加位</a:t>
            </a:r>
          </a:p>
          <a:p>
            <a:pPr lvl="1"/>
            <a:r>
              <a:t>关于免听</a:t>
            </a:r>
          </a:p>
          <a:p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/>
              <a:t>引言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sz="2000"/>
              <a:t>从系统开发的角度，现代</a:t>
            </a:r>
            <a:r>
              <a:rPr lang="en-US" altLang="zh-CN" sz="2000"/>
              <a:t>Web</a:t>
            </a:r>
            <a:r>
              <a:rPr sz="2000"/>
              <a:t>系统可以分为前端和后台两部分</a:t>
            </a:r>
          </a:p>
          <a:p>
            <a:pPr lvl="1">
              <a:lnSpc>
                <a:spcPct val="150000"/>
              </a:lnSpc>
            </a:pPr>
            <a:r>
              <a:rPr sz="2000"/>
              <a:t>前端（</a:t>
            </a:r>
            <a:r>
              <a:rPr lang="en-US" altLang="zh-CN" sz="2000"/>
              <a:t>Front-End</a:t>
            </a:r>
            <a:r>
              <a:rPr sz="2000"/>
              <a:t>，</a:t>
            </a:r>
            <a:r>
              <a:rPr lang="en-US" altLang="zh-CN" sz="2000"/>
              <a:t>FE</a:t>
            </a:r>
            <a:r>
              <a:rPr sz="2000"/>
              <a:t>）：</a:t>
            </a:r>
            <a:r>
              <a:rPr sz="2000">
                <a:sym typeface="+mn-ea"/>
              </a:rPr>
              <a:t>与用户进行交互，</a:t>
            </a:r>
            <a:r>
              <a:rPr sz="2000"/>
              <a:t>为用户呈现内容</a:t>
            </a:r>
          </a:p>
          <a:p>
            <a:pPr lvl="2">
              <a:lnSpc>
                <a:spcPct val="150000"/>
              </a:lnSpc>
            </a:pPr>
            <a:r>
              <a:rPr lang="en-US" altLang="zh-CN" sz="2000"/>
              <a:t>Web</a:t>
            </a:r>
            <a:r>
              <a:rPr sz="2000"/>
              <a:t>编程、前端开发：编写前端代码</a:t>
            </a:r>
          </a:p>
          <a:p>
            <a:pPr lvl="3">
              <a:lnSpc>
                <a:spcPct val="150000"/>
              </a:lnSpc>
            </a:pPr>
            <a:r>
              <a:rPr sz="2000"/>
              <a:t>包括</a:t>
            </a:r>
            <a:r>
              <a:rPr lang="en-US" altLang="zh-CN" sz="2000"/>
              <a:t>HTML</a:t>
            </a:r>
            <a:r>
              <a:rPr sz="2000"/>
              <a:t>、</a:t>
            </a:r>
            <a:r>
              <a:rPr lang="en-US" altLang="zh-CN" sz="2000"/>
              <a:t>CSS</a:t>
            </a:r>
            <a:r>
              <a:rPr sz="2000"/>
              <a:t>和</a:t>
            </a:r>
            <a:r>
              <a:rPr lang="en-US" altLang="zh-CN" sz="2000"/>
              <a:t>JavaScript</a:t>
            </a:r>
            <a:r>
              <a:rPr sz="2000"/>
              <a:t>等基础技术</a:t>
            </a:r>
          </a:p>
          <a:p>
            <a:pPr lvl="3">
              <a:lnSpc>
                <a:spcPct val="150000"/>
              </a:lnSpc>
            </a:pPr>
            <a:r>
              <a:rPr sz="2000"/>
              <a:t>还包括各种前端框架和库，如</a:t>
            </a:r>
            <a:r>
              <a:rPr lang="en-US" altLang="zh-CN" sz="2000"/>
              <a:t>Vue</a:t>
            </a:r>
            <a:r>
              <a:rPr sz="2000"/>
              <a:t>、</a:t>
            </a:r>
            <a:r>
              <a:rPr lang="en-US" altLang="zh-CN" sz="2000"/>
              <a:t>React</a:t>
            </a:r>
            <a:r>
              <a:rPr sz="2000"/>
              <a:t>、</a:t>
            </a:r>
            <a:r>
              <a:rPr lang="en-US" altLang="zh-CN" sz="2000"/>
              <a:t>Angular</a:t>
            </a:r>
            <a:r>
              <a:rPr sz="2000"/>
              <a:t>等</a:t>
            </a:r>
          </a:p>
          <a:p>
            <a:pPr lvl="3">
              <a:lnSpc>
                <a:spcPct val="150000"/>
              </a:lnSpc>
            </a:pPr>
            <a:endParaRPr sz="2000"/>
          </a:p>
          <a:p>
            <a:pPr lvl="1">
              <a:lnSpc>
                <a:spcPct val="150000"/>
              </a:lnSpc>
            </a:pPr>
            <a:r>
              <a:rPr sz="2000"/>
              <a:t>后台：处理和存储数据、业务逻辑等</a:t>
            </a:r>
          </a:p>
          <a:p>
            <a:pPr lvl="0">
              <a:lnSpc>
                <a:spcPct val="150000"/>
              </a:lnSpc>
            </a:pPr>
            <a:r>
              <a:rPr sz="2000"/>
              <a:t>从用户服务的角度，也有前台、后台的概念</a:t>
            </a:r>
          </a:p>
          <a:p>
            <a:pPr lvl="1">
              <a:lnSpc>
                <a:spcPct val="150000"/>
              </a:lnSpc>
            </a:pPr>
            <a:r>
              <a:rPr sz="2000"/>
              <a:t>后台管理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/>
              <a:t>课程讲什么、怎么学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sz="1600"/>
              <a:t>课程介绍</a:t>
            </a:r>
            <a:r>
              <a:rPr lang="en-US" altLang="zh-CN" sz="1600"/>
              <a:t>Web</a:t>
            </a:r>
            <a:r>
              <a:rPr sz="1600"/>
              <a:t>编程的基础入门技术：</a:t>
            </a:r>
            <a:r>
              <a:rPr lang="en-US" altLang="zh-CN" sz="1600"/>
              <a:t>HTML</a:t>
            </a:r>
            <a:r>
              <a:rPr sz="1600"/>
              <a:t>、</a:t>
            </a:r>
            <a:r>
              <a:rPr lang="en-US" altLang="zh-CN" sz="1600"/>
              <a:t>CSS</a:t>
            </a:r>
            <a:r>
              <a:rPr sz="1600"/>
              <a:t>、</a:t>
            </a:r>
            <a:r>
              <a:rPr lang="en-US" altLang="zh-CN" sz="1600"/>
              <a:t>JavaScript</a:t>
            </a:r>
            <a:endParaRPr lang="zh-CN" altLang="en-US" sz="1600"/>
          </a:p>
          <a:p>
            <a:pPr lvl="1"/>
            <a:r>
              <a:rPr lang="zh-CN" altLang="en-US" sz="1600"/>
              <a:t>上手</a:t>
            </a:r>
            <a:r>
              <a:rPr sz="1600">
                <a:sym typeface="+mn-ea"/>
              </a:rPr>
              <a:t>容易</a:t>
            </a:r>
            <a:r>
              <a:rPr lang="zh-CN" altLang="en-US" sz="1600"/>
              <a:t>，但内容多，需要多练</a:t>
            </a:r>
          </a:p>
          <a:p>
            <a:pPr lvl="1"/>
            <a:r>
              <a:rPr lang="zh-CN" altLang="en-US" sz="1600"/>
              <a:t>细心（和审美）</a:t>
            </a:r>
          </a:p>
          <a:p>
            <a:pPr lvl="0"/>
            <a:endParaRPr lang="zh-CN" altLang="en-US" sz="1600"/>
          </a:p>
          <a:p>
            <a:pPr lvl="0"/>
            <a:r>
              <a:rPr lang="zh-CN" altLang="en-US" sz="1600"/>
              <a:t>（课外）提高部分</a:t>
            </a:r>
          </a:p>
          <a:p>
            <a:pPr lvl="1"/>
            <a:r>
              <a: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uFillTx/>
              </a:rPr>
              <a:t>Web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uFillTx/>
              </a:rPr>
              <a:t>前端编程岗位的市场需求旺盛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uFillTx/>
            </a:endParaRPr>
          </a:p>
          <a:p>
            <a:pPr lvl="1"/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uFillTx/>
              </a:rPr>
              <a:t>课内教学内容作为起点，需要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更多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uFillTx/>
              </a:rPr>
              <a:t>课外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uFillTx/>
              </a:rPr>
              <a:t>自学</a:t>
            </a:r>
          </a:p>
          <a:p>
            <a:pPr lvl="1"/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uFillTx/>
              </a:rPr>
              <a:t>除了网络学习，建议多走出校门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uFillTx/>
              </a:rPr>
              <a:t>接触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工程化相关内容</a:t>
            </a:r>
          </a:p>
          <a:p>
            <a:pPr lvl="1"/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实验室实习项目</a:t>
            </a:r>
          </a:p>
          <a:p>
            <a:pPr lvl="1"/>
            <a:endParaRPr sz="16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lvl="0"/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（面临挑战）</a:t>
            </a:r>
            <a:r>
              <a: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AI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编程工具</a:t>
            </a:r>
          </a:p>
          <a:p>
            <a:pPr lvl="1"/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uFillTx/>
              </a:rPr>
              <a:t>产品、设计人员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/>
              <a:t>考核方式（计划）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 sz="1600">
                <a:sym typeface="+mn-ea"/>
              </a:rPr>
              <a:t>3</a:t>
            </a:r>
            <a:r>
              <a:rPr sz="1600">
                <a:sym typeface="+mn-ea"/>
              </a:rPr>
              <a:t>个</a:t>
            </a:r>
            <a:r>
              <a:rPr lang="zh-CN" sz="1600"/>
              <a:t>实验（</a:t>
            </a:r>
            <a:r>
              <a:rPr lang="en-US" altLang="zh-CN" sz="1600"/>
              <a:t>36%</a:t>
            </a:r>
            <a:r>
              <a:rPr lang="zh-CN" altLang="en-US" sz="1600"/>
              <a:t>），</a:t>
            </a:r>
            <a:r>
              <a:rPr lang="en-US" altLang="zh-CN" sz="1600">
                <a:sym typeface="+mn-ea"/>
              </a:rPr>
              <a:t>HTML</a:t>
            </a:r>
            <a:r>
              <a:rPr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CSS</a:t>
            </a:r>
            <a:r>
              <a:rPr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JS</a:t>
            </a:r>
            <a:r>
              <a:rPr sz="1600">
                <a:sym typeface="+mn-ea"/>
              </a:rPr>
              <a:t>，每个</a:t>
            </a:r>
            <a:r>
              <a:rPr lang="en-US" altLang="zh-CN" sz="1600">
                <a:sym typeface="+mn-ea"/>
              </a:rPr>
              <a:t>12%</a:t>
            </a:r>
            <a:r>
              <a:rPr sz="1600">
                <a:sym typeface="+mn-ea"/>
              </a:rPr>
              <a:t>，共</a:t>
            </a:r>
            <a:r>
              <a:rPr lang="en-US" altLang="zh-CN" sz="1600">
                <a:sym typeface="+mn-ea"/>
              </a:rPr>
              <a:t>36%</a:t>
            </a:r>
            <a:r>
              <a:rPr sz="1600">
                <a:sym typeface="+mn-ea"/>
              </a:rPr>
              <a:t>；</a:t>
            </a:r>
            <a:endParaRPr lang="zh-CN" altLang="en-US" sz="1600"/>
          </a:p>
          <a:p>
            <a:pPr lvl="1"/>
            <a:r>
              <a:rPr sz="1600"/>
              <a:t>细分约</a:t>
            </a:r>
            <a:r>
              <a:rPr lang="en-US" altLang="zh-CN" sz="1600"/>
              <a:t>15</a:t>
            </a:r>
            <a:r>
              <a:rPr sz="1600"/>
              <a:t>次上机实验（每次约</a:t>
            </a:r>
            <a:r>
              <a:rPr lang="en-US" altLang="zh-CN" sz="1600"/>
              <a:t>2%</a:t>
            </a:r>
            <a:r>
              <a:rPr sz="1600"/>
              <a:t>），提交代码，通过测试用例，得分截图汇总在实验报告中。</a:t>
            </a:r>
            <a:endParaRPr lang="en-US" altLang="zh-CN" sz="1600"/>
          </a:p>
          <a:p>
            <a:pPr lvl="0"/>
            <a:r>
              <a:rPr lang="en-US" altLang="zh-CN" sz="1600">
                <a:sym typeface="+mn-ea"/>
              </a:rPr>
              <a:t>1</a:t>
            </a:r>
            <a:r>
              <a:rPr sz="1600">
                <a:sym typeface="+mn-ea"/>
              </a:rPr>
              <a:t>个调研分析（</a:t>
            </a:r>
            <a:r>
              <a:rPr lang="en-US" altLang="zh-CN" sz="1600">
                <a:sym typeface="+mn-ea"/>
              </a:rPr>
              <a:t>4%</a:t>
            </a:r>
            <a:r>
              <a:rPr sz="1600">
                <a:sym typeface="+mn-ea"/>
              </a:rPr>
              <a:t>），仔细调研分析现代主流热点网站</a:t>
            </a:r>
          </a:p>
          <a:p>
            <a:pPr lvl="0"/>
            <a:r>
              <a:rPr sz="1600">
                <a:sym typeface="+mn-ea"/>
              </a:rPr>
              <a:t>期中随堂测试（</a:t>
            </a:r>
            <a:r>
              <a:rPr lang="en-US" altLang="zh-CN" sz="1600">
                <a:sym typeface="+mn-ea"/>
              </a:rPr>
              <a:t>10%</a:t>
            </a:r>
            <a:r>
              <a:rPr sz="1600">
                <a:sym typeface="+mn-ea"/>
              </a:rPr>
              <a:t>）：期中的线下随堂笔试</a:t>
            </a:r>
          </a:p>
          <a:p>
            <a:pPr lvl="0"/>
            <a:r>
              <a:rPr sz="1600">
                <a:sym typeface="+mn-ea"/>
              </a:rPr>
              <a:t>期末随堂测试（</a:t>
            </a:r>
            <a:r>
              <a:rPr lang="en-US" altLang="zh-CN" sz="1600">
                <a:sym typeface="+mn-ea"/>
              </a:rPr>
              <a:t>10%</a:t>
            </a:r>
            <a:r>
              <a:rPr sz="1600">
                <a:sym typeface="+mn-ea"/>
              </a:rPr>
              <a:t>）：期末的线下随堂笔试</a:t>
            </a:r>
          </a:p>
          <a:p>
            <a:pPr lvl="0"/>
            <a:r>
              <a:rPr sz="1600">
                <a:sym typeface="+mn-ea"/>
              </a:rPr>
              <a:t>大作业（</a:t>
            </a:r>
            <a:r>
              <a:rPr lang="en-US" altLang="zh-CN" sz="1600">
                <a:sym typeface="+mn-ea"/>
              </a:rPr>
              <a:t>40%</a:t>
            </a:r>
            <a:r>
              <a:rPr sz="1600">
                <a:sym typeface="+mn-ea"/>
              </a:rPr>
              <a:t>）</a:t>
            </a:r>
          </a:p>
          <a:p>
            <a:pPr lvl="1"/>
            <a:r>
              <a:rPr sz="1600">
                <a:sym typeface="+mn-ea"/>
              </a:rPr>
              <a:t>项目答辩（</a:t>
            </a:r>
            <a:r>
              <a:rPr lang="en-US" altLang="zh-CN" sz="1600">
                <a:sym typeface="+mn-ea"/>
              </a:rPr>
              <a:t>28%</a:t>
            </a:r>
            <a:r>
              <a:rPr sz="1600">
                <a:sym typeface="+mn-ea"/>
              </a:rPr>
              <a:t>），团队</a:t>
            </a:r>
            <a:r>
              <a:rPr lang="en-US" altLang="zh-CN" sz="1600">
                <a:sym typeface="+mn-ea"/>
              </a:rPr>
              <a:t>24%</a:t>
            </a:r>
            <a:r>
              <a:rPr sz="1600">
                <a:sym typeface="+mn-ea"/>
              </a:rPr>
              <a:t>，个人</a:t>
            </a:r>
            <a:r>
              <a:rPr lang="en-US" altLang="zh-CN" sz="1600">
                <a:sym typeface="+mn-ea"/>
              </a:rPr>
              <a:t>4%</a:t>
            </a:r>
            <a:endParaRPr sz="1600">
              <a:sym typeface="+mn-ea"/>
            </a:endParaRPr>
          </a:p>
          <a:p>
            <a:pPr lvl="1"/>
            <a:r>
              <a:rPr sz="1600">
                <a:sym typeface="+mn-ea"/>
              </a:rPr>
              <a:t>文档材料（</a:t>
            </a:r>
            <a:r>
              <a:rPr lang="en-US" altLang="zh-CN" sz="1600">
                <a:sym typeface="+mn-ea"/>
              </a:rPr>
              <a:t>12%</a:t>
            </a:r>
            <a:r>
              <a:rPr sz="1600">
                <a:sym typeface="+mn-ea"/>
              </a:rPr>
              <a:t>），个人</a:t>
            </a:r>
            <a:r>
              <a:rPr lang="en-US" altLang="zh-CN" sz="1600">
                <a:sym typeface="+mn-ea"/>
              </a:rPr>
              <a:t>12%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>
                <a:latin typeface="微软雅黑" panose="020B0503020204020204" charset="-122"/>
                <a:cs typeface="微软雅黑" panose="020B0503020204020204" charset="-122"/>
              </a:rPr>
              <a:t>Web</a:t>
            </a:r>
            <a:r>
              <a:rPr sz="2000">
                <a:latin typeface="微软雅黑" panose="020B0503020204020204" charset="-122"/>
                <a:cs typeface="微软雅黑" panose="020B0503020204020204" charset="-122"/>
              </a:rPr>
              <a:t>的起源</a:t>
            </a:r>
            <a:endParaRPr lang="zh-CN" altLang="en-US"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67500" lnSpcReduction="10000"/>
          </a:bodyPr>
          <a:lstStyle/>
          <a:p>
            <a:pPr marL="269875" indent="-269875"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latin typeface="微软雅黑" panose="020B0503020204020204" charset="-122"/>
                <a:ea typeface="微软雅黑" panose="020B0503020204020204" charset="-122"/>
              </a:rPr>
              <a:t>很久很久以前（</a:t>
            </a:r>
            <a:r>
              <a:rPr lang="en-US" altLang="zh-CN" sz="2200" b="0" dirty="0">
                <a:latin typeface="微软雅黑" panose="020B0503020204020204" charset="-122"/>
                <a:ea typeface="微软雅黑" panose="020B0503020204020204" charset="-122"/>
              </a:rPr>
              <a:t>1989</a:t>
            </a:r>
            <a:r>
              <a:rPr sz="2200" b="0" dirty="0">
                <a:latin typeface="微软雅黑" panose="020B0503020204020204" charset="-122"/>
                <a:ea typeface="微软雅黑" panose="020B0503020204020204" charset="-122"/>
              </a:rPr>
              <a:t>），在</a:t>
            </a:r>
            <a:r>
              <a:rPr lang="en-US" altLang="zh-CN" sz="2200" dirty="0">
                <a:latin typeface="微软雅黑" panose="020B0503020204020204" charset="-122"/>
                <a:sym typeface="+mn-ea"/>
              </a:rPr>
              <a:t>CERN</a:t>
            </a:r>
            <a:r>
              <a:rPr sz="2200" dirty="0">
                <a:latin typeface="微软雅黑" panose="020B0503020204020204" charset="-122"/>
                <a:sym typeface="+mn-ea"/>
              </a:rPr>
              <a:t>（欧洲原子能研究中心）工作的</a:t>
            </a:r>
            <a:r>
              <a:rPr lang="en-US" altLang="zh-CN" sz="2200" dirty="0">
                <a:latin typeface="微软雅黑" panose="020B0503020204020204" charset="-122"/>
                <a:sym typeface="+mn-ea"/>
              </a:rPr>
              <a:t>Tim Berners-Lee</a:t>
            </a:r>
            <a:r>
              <a:rPr sz="2200" dirty="0">
                <a:latin typeface="微软雅黑" panose="020B0503020204020204" charset="-122"/>
                <a:sym typeface="+mn-ea"/>
              </a:rPr>
              <a:t>（蒂姆</a:t>
            </a:r>
            <a:r>
              <a:rPr lang="en-US" altLang="zh-CN" sz="2200" dirty="0">
                <a:latin typeface="微软雅黑" panose="020B0503020204020204" charset="-122"/>
                <a:sym typeface="+mn-ea"/>
              </a:rPr>
              <a:t>·</a:t>
            </a:r>
            <a:r>
              <a:rPr sz="2200" dirty="0">
                <a:latin typeface="微软雅黑" panose="020B0503020204020204" charset="-122"/>
                <a:sym typeface="+mn-ea"/>
              </a:rPr>
              <a:t>伯纳斯</a:t>
            </a:r>
            <a:r>
              <a:rPr lang="en-US" altLang="zh-CN" sz="2200" dirty="0">
                <a:latin typeface="微软雅黑" panose="020B0503020204020204" charset="-122"/>
                <a:sym typeface="+mn-ea"/>
              </a:rPr>
              <a:t>·</a:t>
            </a:r>
            <a:r>
              <a:rPr sz="2200" dirty="0">
                <a:latin typeface="微软雅黑" panose="020B0503020204020204" charset="-122"/>
                <a:sym typeface="+mn-ea"/>
              </a:rPr>
              <a:t>李），提出了一个命名为Web的因特网协议，其目的是为了使科学家们可以利用网络共享文档。</a:t>
            </a:r>
          </a:p>
          <a:p>
            <a:pPr marL="269875" indent="-269875">
              <a:spcBef>
                <a:spcPts val="0"/>
              </a:spcBef>
              <a:spcAft>
                <a:spcPts val="0"/>
              </a:spcAft>
            </a:pPr>
            <a:endParaRPr sz="2200" dirty="0">
              <a:latin typeface="微软雅黑" panose="020B0503020204020204" charset="-122"/>
              <a:sym typeface="+mn-ea"/>
            </a:endParaRPr>
          </a:p>
          <a:p>
            <a:pPr marL="727075" lvl="1" indent="-269875">
              <a:spcBef>
                <a:spcPts val="0"/>
              </a:spcBef>
              <a:spcAft>
                <a:spcPts val="0"/>
              </a:spcAft>
            </a:pPr>
            <a:r>
              <a:rPr sz="2200" dirty="0">
                <a:latin typeface="微软雅黑" panose="020B0503020204020204" charset="-122"/>
                <a:sym typeface="+mn-ea"/>
              </a:rPr>
              <a:t>他为什么要创造这样一个系统？</a:t>
            </a:r>
            <a:endParaRPr lang="zh-CN" altLang="en-US" sz="22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184275" lvl="2" indent="-269875">
              <a:spcBef>
                <a:spcPts val="0"/>
              </a:spcBef>
              <a:spcAft>
                <a:spcPts val="0"/>
              </a:spcAft>
            </a:pPr>
            <a:r>
              <a:rPr lang="en-US" altLang="zh-CN" sz="2200" b="0" dirty="0">
                <a:latin typeface="微软雅黑" panose="020B0503020204020204" charset="-122"/>
                <a:ea typeface="微软雅黑" panose="020B0503020204020204" charset="-122"/>
              </a:rPr>
              <a:t>70</a:t>
            </a:r>
            <a:r>
              <a:rPr sz="2200" b="0" dirty="0">
                <a:latin typeface="微软雅黑" panose="020B0503020204020204" charset="-122"/>
                <a:ea typeface="微软雅黑" panose="020B0503020204020204" charset="-122"/>
              </a:rPr>
              <a:t>年代末，</a:t>
            </a:r>
            <a:r>
              <a:rPr lang="en-US" altLang="zh-CN" sz="2200" b="0" dirty="0">
                <a:latin typeface="微软雅黑" panose="020B0503020204020204" charset="-122"/>
                <a:ea typeface="微软雅黑" panose="020B0503020204020204" charset="-122"/>
              </a:rPr>
              <a:t>ARPAnet</a:t>
            </a:r>
            <a:r>
              <a:rPr sz="2200" b="0" dirty="0">
                <a:latin typeface="微软雅黑" panose="020B0503020204020204" charset="-122"/>
                <a:ea typeface="微软雅黑" panose="020B0503020204020204" charset="-122"/>
              </a:rPr>
              <a:t>推出了</a:t>
            </a:r>
            <a:r>
              <a:rPr lang="en-US" altLang="zh-CN" sz="2200" b="0" dirty="0">
                <a:latin typeface="微软雅黑" panose="020B0503020204020204" charset="-122"/>
                <a:ea typeface="微软雅黑" panose="020B0503020204020204" charset="-122"/>
              </a:rPr>
              <a:t>TCP/IP</a:t>
            </a:r>
            <a:r>
              <a:rPr sz="2200" b="0" dirty="0">
                <a:latin typeface="微软雅黑" panose="020B0503020204020204" charset="-122"/>
                <a:ea typeface="微软雅黑" panose="020B0503020204020204" charset="-122"/>
              </a:rPr>
              <a:t>协议，</a:t>
            </a:r>
            <a:r>
              <a:rPr lang="en-US" altLang="zh-CN" sz="2200" b="0" dirty="0">
                <a:latin typeface="微软雅黑" panose="020B0503020204020204" charset="-122"/>
                <a:ea typeface="微软雅黑" panose="020B0503020204020204" charset="-122"/>
              </a:rPr>
              <a:t>1988</a:t>
            </a:r>
            <a:r>
              <a:rPr sz="2200" b="0" dirty="0"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sz="2200" b="0" dirty="0">
                <a:latin typeface="微软雅黑" panose="020B0503020204020204" charset="-122"/>
                <a:ea typeface="微软雅黑" panose="020B0503020204020204" charset="-122"/>
              </a:rPr>
              <a:t>Internet</a:t>
            </a:r>
            <a:r>
              <a:rPr sz="2200" b="0" dirty="0">
                <a:latin typeface="微软雅黑" panose="020B0503020204020204" charset="-122"/>
                <a:ea typeface="微软雅黑" panose="020B0503020204020204" charset="-122"/>
              </a:rPr>
              <a:t>开始对外开放。</a:t>
            </a:r>
            <a:r>
              <a:rPr lang="en-US" altLang="zh-CN" sz="2200" b="0" dirty="0">
                <a:latin typeface="微软雅黑" panose="020B0503020204020204" charset="-122"/>
                <a:ea typeface="微软雅黑" panose="020B0503020204020204" charset="-122"/>
              </a:rPr>
              <a:t>Tim</a:t>
            </a:r>
            <a:r>
              <a:rPr sz="2200" b="0" dirty="0"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altLang="zh-CN" sz="2200" b="0" dirty="0">
                <a:latin typeface="微软雅黑" panose="020B0503020204020204" charset="-122"/>
                <a:ea typeface="微软雅黑" panose="020B0503020204020204" charset="-122"/>
              </a:rPr>
              <a:t>Enquire</a:t>
            </a:r>
            <a:r>
              <a:rPr sz="2200" b="0" dirty="0">
                <a:latin typeface="微软雅黑" panose="020B0503020204020204" charset="-122"/>
                <a:ea typeface="微软雅黑" panose="020B0503020204020204" charset="-122"/>
              </a:rPr>
              <a:t>项目中，思考如何利用</a:t>
            </a:r>
            <a:r>
              <a:rPr lang="en-US" altLang="zh-CN" sz="2200" b="0" dirty="0">
                <a:latin typeface="微软雅黑" panose="020B0503020204020204" charset="-122"/>
                <a:ea typeface="微软雅黑" panose="020B0503020204020204" charset="-122"/>
              </a:rPr>
              <a:t>Internet</a:t>
            </a:r>
            <a:r>
              <a:rPr sz="2200" b="0" dirty="0">
                <a:latin typeface="微软雅黑" panose="020B0503020204020204" charset="-122"/>
                <a:ea typeface="微软雅黑" panose="020B0503020204020204" charset="-122"/>
              </a:rPr>
              <a:t>便利文档分享和更新。</a:t>
            </a:r>
          </a:p>
          <a:p>
            <a:pPr marL="1184275" lvl="2" indent="-269875"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latin typeface="微软雅黑" panose="020B0503020204020204" charset="-122"/>
                <a:ea typeface="微软雅黑" panose="020B0503020204020204" charset="-122"/>
              </a:rPr>
              <a:t>一起创造了</a:t>
            </a:r>
            <a:r>
              <a:rPr lang="en-US" altLang="zh-CN" sz="2200" b="0" dirty="0">
                <a:latin typeface="微软雅黑" panose="020B0503020204020204" charset="-122"/>
                <a:ea typeface="微软雅黑" panose="020B0503020204020204" charset="-122"/>
              </a:rPr>
              <a:t>HTML</a:t>
            </a:r>
            <a:r>
              <a:rPr sz="2200" b="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200" b="0" dirty="0">
                <a:latin typeface="微软雅黑" panose="020B0503020204020204" charset="-122"/>
                <a:ea typeface="微软雅黑" panose="020B0503020204020204" charset="-122"/>
              </a:rPr>
              <a:t>HTTP</a:t>
            </a:r>
            <a:r>
              <a:rPr sz="2200" b="0" dirty="0">
                <a:latin typeface="微软雅黑" panose="020B0503020204020204" charset="-122"/>
                <a:ea typeface="微软雅黑" panose="020B0503020204020204" charset="-122"/>
              </a:rPr>
              <a:t>，构成</a:t>
            </a:r>
            <a:r>
              <a:rPr lang="en-US" altLang="zh-CN" sz="2200" b="0" dirty="0">
                <a:latin typeface="微软雅黑" panose="020B0503020204020204" charset="-122"/>
                <a:ea typeface="微软雅黑" panose="020B0503020204020204" charset="-122"/>
              </a:rPr>
              <a:t>Web</a:t>
            </a:r>
            <a:r>
              <a:rPr sz="2200" b="0" dirty="0">
                <a:latin typeface="微软雅黑" panose="020B0503020204020204" charset="-122"/>
                <a:ea typeface="微软雅黑" panose="020B0503020204020204" charset="-122"/>
              </a:rPr>
              <a:t>的基础</a:t>
            </a:r>
          </a:p>
          <a:p>
            <a:pPr marL="1184275" lvl="2" indent="-269875"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并设计了第一个浏览器：</a:t>
            </a:r>
            <a:r>
              <a:rPr lang="en-US" altLang="zh-CN" sz="2200" b="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World Wide Web</a:t>
            </a:r>
            <a:r>
              <a:rPr sz="2200" b="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（后改名</a:t>
            </a:r>
            <a:r>
              <a:rPr lang="en-US" altLang="zh-CN" sz="2200" b="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Nexus </a:t>
            </a:r>
            <a:r>
              <a:rPr sz="2200" b="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、联结）</a:t>
            </a:r>
            <a:endParaRPr lang="en-US" altLang="zh-CN" sz="2200" b="0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1184275" lvl="2" indent="-269875">
              <a:spcBef>
                <a:spcPts val="0"/>
              </a:spcBef>
              <a:spcAft>
                <a:spcPts val="0"/>
              </a:spcAft>
            </a:pPr>
            <a:r>
              <a:rPr lang="en-US" altLang="zh-CN" sz="2200" b="0" dirty="0">
                <a:latin typeface="微软雅黑" panose="020B0503020204020204" charset="-122"/>
                <a:ea typeface="微软雅黑" panose="020B0503020204020204" charset="-122"/>
              </a:rPr>
              <a:t>info.cern.ch</a:t>
            </a:r>
            <a:endParaRPr sz="22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69875" indent="-269875">
              <a:spcBef>
                <a:spcPts val="0"/>
              </a:spcBef>
              <a:spcAft>
                <a:spcPts val="0"/>
              </a:spcAft>
            </a:pPr>
            <a:endParaRPr lang="en-US" altLang="zh-CN" sz="22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27075" lvl="1" indent="-269875">
              <a:spcBef>
                <a:spcPts val="0"/>
              </a:spcBef>
              <a:spcAft>
                <a:spcPts val="0"/>
              </a:spcAft>
            </a:pPr>
            <a:endParaRPr sz="22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27075" lvl="1" indent="-269875">
              <a:spcBef>
                <a:spcPts val="0"/>
              </a:spcBef>
              <a:spcAft>
                <a:spcPts val="0"/>
              </a:spcAft>
            </a:pPr>
            <a:endParaRPr lang="en-US" altLang="zh-CN" sz="22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27075" lvl="1" indent="-269875">
              <a:spcBef>
                <a:spcPts val="0"/>
              </a:spcBef>
              <a:spcAft>
                <a:spcPts val="0"/>
              </a:spcAft>
            </a:pPr>
            <a:endParaRPr lang="en-US" altLang="zh-CN" sz="22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27075" lvl="1" indent="-269875">
              <a:spcBef>
                <a:spcPts val="0"/>
              </a:spcBef>
              <a:spcAft>
                <a:spcPts val="0"/>
              </a:spcAft>
            </a:pPr>
            <a:endParaRPr lang="en-US" altLang="zh-CN" sz="22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27075" lvl="1" indent="-269875">
              <a:spcBef>
                <a:spcPts val="0"/>
              </a:spcBef>
              <a:spcAft>
                <a:spcPts val="0"/>
              </a:spcAft>
            </a:pPr>
            <a:endParaRPr lang="en-US" altLang="zh-CN" sz="22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27075" lvl="1" indent="-269875">
              <a:spcBef>
                <a:spcPts val="0"/>
              </a:spcBef>
              <a:spcAft>
                <a:spcPts val="0"/>
              </a:spcAft>
            </a:pPr>
            <a:endParaRPr lang="en-US" altLang="zh-CN" sz="22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27075" lvl="1" indent="-269875">
              <a:spcBef>
                <a:spcPts val="0"/>
              </a:spcBef>
              <a:spcAft>
                <a:spcPts val="0"/>
              </a:spcAft>
            </a:pPr>
            <a:r>
              <a:rPr lang="en-US" altLang="zh-CN" sz="2200" b="0" dirty="0">
                <a:latin typeface="微软雅黑" panose="020B0503020204020204" charset="-122"/>
                <a:ea typeface="微软雅黑" panose="020B0503020204020204" charset="-122"/>
              </a:rPr>
              <a:t>W3C</a:t>
            </a:r>
            <a:r>
              <a:rPr sz="2200" b="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200" b="0" dirty="0">
                <a:latin typeface="微软雅黑" panose="020B0503020204020204" charset="-122"/>
                <a:ea typeface="微软雅黑" panose="020B0503020204020204" charset="-122"/>
              </a:rPr>
              <a:t>1994</a:t>
            </a:r>
            <a:r>
              <a:rPr sz="2200" b="0" dirty="0">
                <a:latin typeface="微软雅黑" panose="020B0503020204020204" charset="-122"/>
                <a:ea typeface="微软雅黑" panose="020B0503020204020204" charset="-122"/>
              </a:rPr>
              <a:t>）：制定</a:t>
            </a:r>
            <a:r>
              <a:rPr lang="en-US" altLang="zh-CN" sz="2200" b="0" dirty="0">
                <a:latin typeface="微软雅黑" panose="020B0503020204020204" charset="-122"/>
                <a:ea typeface="微软雅黑" panose="020B0503020204020204" charset="-122"/>
              </a:rPr>
              <a:t>Web</a:t>
            </a:r>
            <a:r>
              <a:rPr sz="2200" b="0" dirty="0">
                <a:latin typeface="微软雅黑" panose="020B0503020204020204" charset="-122"/>
                <a:ea typeface="微软雅黑" panose="020B0503020204020204" charset="-122"/>
              </a:rPr>
              <a:t>技术的标准和指南</a:t>
            </a:r>
            <a:endParaRPr lang="en-US" altLang="zh-CN" sz="22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184275" lvl="2" indent="-269875">
              <a:spcBef>
                <a:spcPts val="0"/>
              </a:spcBef>
              <a:spcAft>
                <a:spcPts val="0"/>
              </a:spcAft>
            </a:pPr>
            <a:r>
              <a:rPr sz="2200" dirty="0">
                <a:latin typeface="微软雅黑" panose="020B0503020204020204" charset="-122"/>
                <a:sym typeface="+mn-ea"/>
              </a:rPr>
              <a:t>https://www.w3.org</a:t>
            </a:r>
          </a:p>
          <a:p>
            <a:pPr marL="1184275" lvl="2" indent="-269875"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latin typeface="微软雅黑" panose="020B0503020204020204" charset="-122"/>
                <a:sym typeface="+mn-ea"/>
              </a:rPr>
              <a:t>http://www.w3school.com.cn</a:t>
            </a:r>
            <a:endParaRPr sz="22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27075" lvl="1" indent="-269875">
              <a:spcBef>
                <a:spcPts val="0"/>
              </a:spcBef>
              <a:spcAft>
                <a:spcPts val="0"/>
              </a:spcAft>
            </a:pPr>
            <a:endParaRPr sz="22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69875" lvl="0" indent="-269875">
              <a:spcBef>
                <a:spcPts val="0"/>
              </a:spcBef>
              <a:spcAft>
                <a:spcPts val="0"/>
              </a:spcAft>
            </a:pPr>
            <a:endParaRPr lang="en-US" altLang="zh-CN" sz="2200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860" y="3656330"/>
            <a:ext cx="4387215" cy="13862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2920" y="5242560"/>
            <a:ext cx="1401445" cy="9042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>
                <a:latin typeface="微软雅黑" panose="020B0503020204020204" charset="-122"/>
                <a:cs typeface="微软雅黑" panose="020B0503020204020204" charset="-122"/>
              </a:rPr>
              <a:t>Web</a:t>
            </a:r>
            <a:r>
              <a:rPr sz="2000"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工作原理</a:t>
            </a:r>
            <a:endParaRPr sz="2000" b="1">
              <a:solidFill>
                <a:srgbClr val="FF0000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19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461645" y="992505"/>
            <a:ext cx="8220710" cy="4064000"/>
          </a:xfrm>
          <a:noFill/>
        </p:spPr>
      </p:pic>
      <p:sp>
        <p:nvSpPr>
          <p:cNvPr id="2" name="文本框 1"/>
          <p:cNvSpPr txBox="1"/>
          <p:nvPr/>
        </p:nvSpPr>
        <p:spPr>
          <a:xfrm>
            <a:off x="243205" y="5567680"/>
            <a:ext cx="8641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/>
              <a:t>单机版</a:t>
            </a:r>
            <a:r>
              <a:rPr lang="zh-CN"/>
              <a:t>、普通</a:t>
            </a:r>
            <a:r>
              <a:rPr lang="zh-CN" altLang="en-US"/>
              <a:t>版（上例）</a:t>
            </a:r>
            <a:r>
              <a:rPr lang="en-US" altLang="zh-CN"/>
              <a:t> </a:t>
            </a:r>
            <a:r>
              <a:rPr lang="zh-CN"/>
              <a:t>、</a:t>
            </a:r>
            <a:r>
              <a:rPr lang="en-US" altLang="zh-CN"/>
              <a:t>+</a:t>
            </a:r>
            <a:r>
              <a:rPr lang="zh-CN" altLang="en-US"/>
              <a:t>缓存、</a:t>
            </a:r>
            <a:r>
              <a:rPr lang="en-US" altLang="zh-CN"/>
              <a:t>+</a:t>
            </a:r>
            <a:r>
              <a:rPr lang="zh-CN">
                <a:sym typeface="+mn-ea"/>
              </a:rPr>
              <a:t>负载均衡、</a:t>
            </a:r>
            <a:r>
              <a:rPr lang="en-US" altLang="zh-CN">
                <a:sym typeface="+mn-ea"/>
              </a:rPr>
              <a:t>+DB</a:t>
            </a:r>
            <a:r>
              <a:rPr lang="zh-CN" altLang="en-US">
                <a:sym typeface="+mn-ea"/>
              </a:rPr>
              <a:t>优化、</a:t>
            </a:r>
            <a:r>
              <a:rPr lang="zh-CN"/>
              <a:t>分布式、</a:t>
            </a:r>
            <a:r>
              <a:rPr lang="en-US" altLang="zh-CN">
                <a:sym typeface="+mn-ea"/>
              </a:rPr>
              <a:t>+</a:t>
            </a:r>
            <a:r>
              <a:rPr lang="zh-CN">
                <a:sym typeface="+mn-ea"/>
              </a:rPr>
              <a:t>安全隔离</a:t>
            </a:r>
            <a:r>
              <a:rPr lang="en-US" altLang="zh-CN"/>
              <a:t>……</a:t>
            </a:r>
            <a:endParaRPr lang="zh-CN" altLang="en-US"/>
          </a:p>
          <a:p>
            <a:pPr algn="l"/>
            <a:r>
              <a:rPr lang="en-US" altLang="zh-CN"/>
              <a:t>  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2"/>
          <p:cNvSpPr>
            <a:spLocks noGrp="1" noChangeAspec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cs typeface="微软雅黑" panose="020B0503020204020204" charset="-122"/>
              </a:rPr>
              <a:t>Web</a:t>
            </a:r>
            <a:r>
              <a:rPr sz="2000" dirty="0"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dirty="0">
                <a:latin typeface="微软雅黑" panose="020B0503020204020204" charset="-122"/>
                <a:cs typeface="微软雅黑" panose="020B0503020204020204" charset="-122"/>
              </a:rPr>
              <a:t>相关概念</a:t>
            </a:r>
          </a:p>
        </p:txBody>
      </p:sp>
      <p:sp>
        <p:nvSpPr>
          <p:cNvPr id="13315" name="Rectangle 4"/>
          <p:cNvSpPr>
            <a:spLocks noGrp="1" noChangeArrowheads="1"/>
          </p:cNvSpPr>
          <p:nvPr>
            <p:ph idx="1"/>
          </p:nvPr>
        </p:nvSpPr>
        <p:spPr>
          <a:xfrm>
            <a:off x="335280" y="1188085"/>
            <a:ext cx="8597265" cy="5021580"/>
          </a:xfrm>
        </p:spPr>
        <p:txBody>
          <a:bodyPr>
            <a:normAutofit fontScale="92500" lnSpcReduction="10000"/>
          </a:bodyPr>
          <a:lstStyle/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highlight>
                  <a:srgbClr val="FFFF00"/>
                </a:highlight>
                <a:latin typeface="微软雅黑" panose="020B0503020204020204" charset="-122"/>
                <a:sym typeface="+mn-ea"/>
              </a:rPr>
              <a:t>URL</a:t>
            </a:r>
            <a:r>
              <a:rPr sz="1600" dirty="0">
                <a:highlight>
                  <a:srgbClr val="FFFF00"/>
                </a:highlight>
                <a:latin typeface="微软雅黑" panose="020B0503020204020204" charset="-122"/>
                <a:sym typeface="+mn-ea"/>
              </a:rPr>
              <a:t>：</a:t>
            </a:r>
            <a:r>
              <a:rPr lang="en-US" altLang="zh-CN" sz="1600" dirty="0">
                <a:highlight>
                  <a:srgbClr val="FFFF00"/>
                </a:highlight>
                <a:latin typeface="微软雅黑" panose="020B0503020204020204" charset="-122"/>
                <a:sym typeface="+mn-ea"/>
              </a:rPr>
              <a:t>Uniform Resource </a:t>
            </a:r>
            <a:r>
              <a:rPr sz="1600" dirty="0">
                <a:highlight>
                  <a:srgbClr val="FFFF00"/>
                </a:highlight>
                <a:latin typeface="微软雅黑" panose="020B0503020204020204" charset="-122"/>
                <a:sym typeface="+mn-ea"/>
              </a:rPr>
              <a:t>Locator，</a:t>
            </a:r>
            <a:r>
              <a:rPr lang="zh-CN" altLang="en-US" sz="1600" dirty="0">
                <a:highlight>
                  <a:srgbClr val="FFFF00"/>
                </a:highlight>
                <a:latin typeface="微软雅黑" panose="020B0503020204020204" charset="-122"/>
                <a:sym typeface="+mn-ea"/>
              </a:rPr>
              <a:t>统一资源定位器、</a:t>
            </a:r>
            <a:r>
              <a:rPr lang="zh-CN" altLang="en-US" sz="1600" dirty="0">
                <a:latin typeface="微软雅黑" panose="020B0503020204020204" charset="-122"/>
                <a:sym typeface="+mn-ea"/>
              </a:rPr>
              <a:t>统一资源定位系统；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微软雅黑" panose="020B0503020204020204" charset="-122"/>
                <a:sym typeface="+mn-ea"/>
              </a:rPr>
              <a:t>俗称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网页地址，简称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网址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，</a:t>
            </a:r>
            <a:r>
              <a:rPr lang="zh-CN" altLang="en-US" sz="1600" dirty="0">
                <a:latin typeface="微软雅黑" panose="020B0503020204020204" charset="-122"/>
                <a:sym typeface="+mn-ea"/>
              </a:rPr>
              <a:t>是因特网上标准的资源地址。 </a:t>
            </a:r>
            <a:endParaRPr lang="zh-CN" altLang="en-US" sz="16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600" dirty="0">
              <a:latin typeface="微软雅黑" panose="020B0503020204020204" charset="-122"/>
              <a:sym typeface="+mn-ea"/>
            </a:endParaRPr>
          </a:p>
          <a:p>
            <a:pPr mar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600" dirty="0">
              <a:latin typeface="微软雅黑" panose="020B0503020204020204" charset="-122"/>
              <a:sym typeface="+mn-ea"/>
            </a:endParaRPr>
          </a:p>
          <a:p>
            <a:pPr mar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600" dirty="0">
                <a:latin typeface="微软雅黑" panose="020B0503020204020204" charset="-122"/>
                <a:sym typeface="+mn-ea"/>
              </a:rPr>
              <a:t>一般形式：</a:t>
            </a:r>
            <a:r>
              <a:rPr lang="zh-CN" altLang="en-US" sz="1600" dirty="0">
                <a:highlight>
                  <a:srgbClr val="FFFF00"/>
                </a:highlight>
                <a:latin typeface="微软雅黑" panose="020B0503020204020204" charset="-122"/>
                <a:sym typeface="+mn-ea"/>
              </a:rPr>
              <a:t>protocol://hostname[:port]/path/[;parameters][?query]#fragment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600" dirty="0">
              <a:latin typeface="微软雅黑" panose="020B0503020204020204" charset="-122"/>
              <a:sym typeface="+mn-ea"/>
            </a:endParaRPr>
          </a:p>
          <a:p>
            <a:pPr mar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600" dirty="0">
                <a:latin typeface="微软雅黑" panose="020B0503020204020204" charset="-122"/>
                <a:sym typeface="+mn-ea"/>
              </a:rPr>
              <a:t>协议类型</a:t>
            </a:r>
            <a:r>
              <a:rPr lang="en-US" altLang="zh-CN" sz="1600" dirty="0">
                <a:solidFill>
                  <a:srgbClr val="0000FA"/>
                </a:solidFill>
                <a:latin typeface="微软雅黑" panose="020B0503020204020204" charset="-122"/>
                <a:sym typeface="+mn-ea"/>
              </a:rPr>
              <a:t>://</a:t>
            </a:r>
            <a:r>
              <a:rPr lang="zh-CN" altLang="en-US" sz="1600" dirty="0">
                <a:latin typeface="微软雅黑" panose="020B0503020204020204" charset="-122"/>
                <a:sym typeface="+mn-ea"/>
              </a:rPr>
              <a:t>服务器地址（端口）</a:t>
            </a:r>
            <a:r>
              <a:rPr lang="en-US" altLang="zh-CN" sz="1600" dirty="0">
                <a:solidFill>
                  <a:srgbClr val="0000FA"/>
                </a:solidFill>
                <a:latin typeface="微软雅黑" panose="020B0503020204020204" charset="-122"/>
                <a:sym typeface="+mn-ea"/>
              </a:rPr>
              <a:t>/</a:t>
            </a:r>
            <a:r>
              <a:rPr lang="zh-CN" altLang="en-US" sz="1600" dirty="0">
                <a:latin typeface="微软雅黑" panose="020B0503020204020204" charset="-122"/>
                <a:sym typeface="+mn-ea"/>
              </a:rPr>
              <a:t>路径</a:t>
            </a:r>
            <a:r>
              <a:rPr lang="en-US" altLang="zh-CN" sz="1600" dirty="0">
                <a:latin typeface="微软雅黑" panose="020B0503020204020204" charset="-122"/>
                <a:sym typeface="+mn-ea"/>
              </a:rPr>
              <a:t>/</a:t>
            </a:r>
            <a:r>
              <a:rPr lang="zh-CN" altLang="en-US" sz="1600" dirty="0">
                <a:latin typeface="微软雅黑" panose="020B0503020204020204" charset="-122"/>
                <a:sym typeface="+mn-ea"/>
              </a:rPr>
              <a:t>文件名</a:t>
            </a:r>
            <a:endParaRPr lang="zh-CN" altLang="en-US" sz="16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lvl="1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微软雅黑" panose="020B0503020204020204" charset="-122"/>
                <a:sym typeface="+mn-ea"/>
              </a:rPr>
              <a:t>https://www1.szu.edu.cn/szu.asp</a:t>
            </a:r>
          </a:p>
          <a:p>
            <a:pPr marL="457200" lvl="1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微软雅黑" panose="020B0503020204020204" charset="-122"/>
                <a:sym typeface="+mn-ea"/>
              </a:rPr>
              <a:t>http://ehall.szu.edu.cn/new/index.html</a:t>
            </a:r>
          </a:p>
          <a:p>
            <a:pPr marL="457200" lvl="1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微软雅黑" panose="020B0503020204020204" charset="-122"/>
                <a:sym typeface="+mn-ea"/>
              </a:rPr>
              <a:t>https://.../board/view.asp?id=488031</a:t>
            </a:r>
          </a:p>
          <a:p>
            <a:pPr marL="0" lvl="0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微软雅黑" panose="020B0503020204020204" charset="-122"/>
                <a:sym typeface="+mn-ea"/>
              </a:rPr>
              <a:t>?</a:t>
            </a:r>
            <a:r>
              <a:rPr sz="1600" dirty="0">
                <a:latin typeface="微软雅黑" panose="020B0503020204020204" charset="-122"/>
                <a:sym typeface="+mn-ea"/>
              </a:rPr>
              <a:t>查询字符串</a:t>
            </a:r>
            <a:r>
              <a:rPr lang="en-US" altLang="zh-CN" sz="1600" dirty="0">
                <a:latin typeface="微软雅黑" panose="020B0503020204020204" charset="-122"/>
                <a:sym typeface="+mn-ea"/>
              </a:rPr>
              <a:t>#</a:t>
            </a:r>
            <a:r>
              <a:rPr sz="1600" dirty="0">
                <a:latin typeface="微软雅黑" panose="020B0503020204020204" charset="-122"/>
                <a:sym typeface="+mn-ea"/>
              </a:rPr>
              <a:t>片段标识符</a:t>
            </a:r>
            <a:endParaRPr lang="en-US" altLang="zh-CN" sz="1600" dirty="0">
              <a:latin typeface="微软雅黑" panose="020B0503020204020204" charset="-122"/>
              <a:sym typeface="+mn-ea"/>
            </a:endParaRPr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zh-CN" altLang="en-US" sz="1600" dirty="0">
              <a:latin typeface="微软雅黑" panose="020B0503020204020204" charset="-122"/>
              <a:sym typeface="+mn-ea"/>
            </a:endParaRPr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zh-CN" altLang="en-US" sz="1600" dirty="0">
              <a:latin typeface="微软雅黑" panose="020B0503020204020204" charset="-122"/>
              <a:sym typeface="+mn-ea"/>
            </a:endParaRPr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zh-CN" altLang="en-US" sz="1600" dirty="0">
              <a:latin typeface="微软雅黑" panose="020B0503020204020204" charset="-122"/>
              <a:sym typeface="+mn-ea"/>
            </a:endParaRP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latin typeface="微软雅黑" panose="020B0503020204020204" charset="-122"/>
                <a:sym typeface="+mn-ea"/>
              </a:rPr>
              <a:t>相关概念</a:t>
            </a:r>
          </a:p>
          <a:p>
            <a:pPr marL="457200" lvl="1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latin typeface="微软雅黑" panose="020B0503020204020204" charset="-122"/>
                <a:sym typeface="+mn-ea"/>
              </a:rPr>
              <a:t>域名、</a:t>
            </a:r>
            <a:r>
              <a:rPr lang="zh-CN" altLang="en-US" sz="1600" b="1" dirty="0">
                <a:latin typeface="微软雅黑" panose="020B0503020204020204" charset="-122"/>
                <a:sym typeface="+mn-ea"/>
              </a:rPr>
              <a:t>网址</a:t>
            </a:r>
            <a:r>
              <a:rPr lang="zh-CN" altLang="en-US" sz="1600" dirty="0">
                <a:latin typeface="微软雅黑" panose="020B0503020204020204" charset="-122"/>
                <a:sym typeface="+mn-ea"/>
              </a:rPr>
              <a:t>（网络</a:t>
            </a:r>
            <a:r>
              <a:rPr lang="en-US" altLang="zh-CN" sz="1600" dirty="0">
                <a:latin typeface="微软雅黑" panose="020B0503020204020204" charset="-122"/>
                <a:sym typeface="+mn-ea"/>
              </a:rPr>
              <a:t>IP</a:t>
            </a:r>
            <a:r>
              <a:rPr lang="zh-CN" altLang="en-US" sz="1600" dirty="0">
                <a:latin typeface="微软雅黑" panose="020B0503020204020204" charset="-122"/>
                <a:sym typeface="+mn-ea"/>
              </a:rPr>
              <a:t>地址、网页地址）</a:t>
            </a:r>
          </a:p>
          <a:p>
            <a:pPr marL="457200" lvl="1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/>
              <a:t>URI</a:t>
            </a:r>
            <a:r>
              <a:rPr lang="zh-CN" altLang="en-US" sz="1600" dirty="0">
                <a:latin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latin typeface="微软雅黑" panose="020B0503020204020204" charset="-122"/>
                <a:sym typeface="+mn-ea"/>
              </a:rPr>
              <a:t>Uniform Resource </a:t>
            </a:r>
            <a:r>
              <a:rPr lang="zh-CN" altLang="en-US" sz="1600" dirty="0">
                <a:latin typeface="微软雅黑" panose="020B0503020204020204" charset="-122"/>
                <a:sym typeface="+mn-ea"/>
              </a:rPr>
              <a:t>Identifier）</a:t>
            </a:r>
            <a:endParaRPr lang="zh-CN" altLang="en-US" sz="1600" b="0" dirty="0"/>
          </a:p>
        </p:txBody>
      </p:sp>
      <p:graphicFrame>
        <p:nvGraphicFramePr>
          <p:cNvPr id="103601" name="Group 177"/>
          <p:cNvGraphicFramePr>
            <a:graphicFrameLocks noGrp="1"/>
          </p:cNvGraphicFramePr>
          <p:nvPr>
            <p:ph sz="half" idx="4294967295"/>
            <p:custDataLst>
              <p:tags r:id="rId2"/>
            </p:custDataLst>
          </p:nvPr>
        </p:nvGraphicFramePr>
        <p:xfrm>
          <a:off x="5537200" y="3218815"/>
          <a:ext cx="3321050" cy="2877820"/>
        </p:xfrm>
        <a:graphic>
          <a:graphicData uri="http://schemas.openxmlformats.org/drawingml/2006/table">
            <a:tbl>
              <a:tblPr/>
              <a:tblGrid>
                <a:gridCol w="42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735"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序号</a:t>
                      </a:r>
                    </a:p>
                  </a:txBody>
                  <a:tcPr marT="34290" marB="3429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服务（协议）类型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含义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34290" marB="3429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http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超文本传输协议资源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T="34290" marB="3429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https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用加密传送的超文本传输协议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34290" marB="3429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kern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ftp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文件传输协议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34290" marB="3429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mailto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电子邮件地址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34290" marB="3429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kern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ldap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轻型目录访问协议搜索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34290" marB="3429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kern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news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Usenet</a:t>
                      </a:r>
                      <a:r>
                        <a:rPr kumimoji="0" lang="zh-CN" altLang="en-US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新闻组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80"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34290" marB="3429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kern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file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当地电脑或网上分享的文件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34290" marB="3429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kern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Verdana" panose="020B060403050404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gopher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Internet Gopher Protocol</a:t>
                      </a:r>
                    </a:p>
                    <a:p>
                      <a:pPr marR="0" lvl="0" indent="-182880" algn="l" defTabSz="1158875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(Internet </a:t>
                      </a:r>
                      <a:r>
                        <a:rPr kumimoji="0" lang="zh-CN" altLang="en-US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查找协议</a:t>
                      </a:r>
                      <a:r>
                        <a:rPr kumimoji="0" lang="en-US" altLang="zh-CN" sz="1100" b="0" i="0" kern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2"/>
          <p:cNvSpPr>
            <a:spLocks noGrp="1" noChangeAspec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cs typeface="微软雅黑" panose="020B0503020204020204" charset="-122"/>
              </a:rPr>
              <a:t>Web</a:t>
            </a:r>
            <a:r>
              <a:rPr sz="2000" dirty="0"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dirty="0">
                <a:latin typeface="微软雅黑" panose="020B0503020204020204" charset="-122"/>
                <a:cs typeface="微软雅黑" panose="020B0503020204020204" charset="-122"/>
              </a:rPr>
              <a:t>相关概念</a:t>
            </a:r>
          </a:p>
        </p:txBody>
      </p:sp>
      <p:sp>
        <p:nvSpPr>
          <p:cNvPr id="13315" name="Rectangle 4"/>
          <p:cNvSpPr>
            <a:spLocks noGrp="1" noChangeArrowheads="1"/>
          </p:cNvSpPr>
          <p:nvPr>
            <p:ph idx="1"/>
          </p:nvPr>
        </p:nvSpPr>
        <p:spPr>
          <a:xfrm>
            <a:off x="335280" y="1188085"/>
            <a:ext cx="8597265" cy="5021580"/>
          </a:xfrm>
        </p:spPr>
        <p:txBody>
          <a:bodyPr>
            <a:normAutofit/>
          </a:bodyPr>
          <a:lstStyle/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微软雅黑" panose="020B0503020204020204" charset="-122"/>
                <a:sym typeface="+mn-ea"/>
              </a:rPr>
              <a:t>TCP/IP</a:t>
            </a:r>
            <a:endParaRPr lang="zh-CN" altLang="en-US" sz="16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600" dirty="0">
              <a:latin typeface="微软雅黑" panose="020B0503020204020204" charset="-122"/>
              <a:sym typeface="+mn-ea"/>
            </a:endParaRPr>
          </a:p>
          <a:p>
            <a:pPr lvl="1"/>
            <a:r>
              <a:rPr lang="en-US" altLang="zh-CN" sz="1600" dirty="0">
                <a:sym typeface="+mn-ea"/>
              </a:rPr>
              <a:t>Internet</a:t>
            </a:r>
            <a:r>
              <a:rPr altLang="zh-CN" sz="1600" dirty="0">
                <a:sym typeface="+mn-ea"/>
              </a:rPr>
              <a:t>由复杂的物理网络将分布在世界各地的主机连接在一起，要维持通信双方的</a:t>
            </a:r>
            <a:r>
              <a:rPr sz="1600" dirty="0">
                <a:sym typeface="+mn-ea"/>
              </a:rPr>
              <a:t>主</a:t>
            </a:r>
            <a:r>
              <a:rPr altLang="zh-CN" sz="1600" dirty="0">
                <a:sym typeface="+mn-ea"/>
              </a:rPr>
              <a:t>机连接，信息流通，</a:t>
            </a:r>
            <a:r>
              <a:rPr sz="1600" dirty="0">
                <a:sym typeface="+mn-ea"/>
              </a:rPr>
              <a:t>需要有</a:t>
            </a:r>
            <a:r>
              <a:rPr altLang="zh-CN" sz="1600" dirty="0">
                <a:sym typeface="+mn-ea"/>
              </a:rPr>
              <a:t>共同遵守的信息沟通技术，即网络通信协议。</a:t>
            </a:r>
            <a:endParaRPr lang="en-US" altLang="zh-CN" sz="1600" dirty="0"/>
          </a:p>
          <a:p>
            <a:pPr lvl="1"/>
            <a:r>
              <a:rPr lang="en-US" altLang="zh-CN" sz="1600" dirty="0">
                <a:sym typeface="+mn-ea"/>
              </a:rPr>
              <a:t>TCP/IP</a:t>
            </a:r>
            <a:r>
              <a:rPr altLang="zh-CN" sz="1600" dirty="0">
                <a:sym typeface="+mn-ea"/>
              </a:rPr>
              <a:t>是</a:t>
            </a:r>
            <a:r>
              <a:rPr lang="en-US" altLang="zh-CN" sz="1600" dirty="0">
                <a:sym typeface="+mn-ea"/>
              </a:rPr>
              <a:t>Transmission Control Protocol/Internet Protocol</a:t>
            </a:r>
            <a:r>
              <a:rPr altLang="zh-CN" sz="1600" dirty="0">
                <a:sym typeface="+mn-ea"/>
              </a:rPr>
              <a:t>的简写，中文译名为“传输控制协议”和“因特网互联协议”或“网际协议”，它是</a:t>
            </a:r>
            <a:r>
              <a:rPr lang="en-US" altLang="zh-CN" sz="1600" dirty="0">
                <a:sym typeface="+mn-ea"/>
              </a:rPr>
              <a:t>Internet</a:t>
            </a:r>
            <a:r>
              <a:rPr altLang="zh-CN" sz="1600" dirty="0">
                <a:sym typeface="+mn-ea"/>
              </a:rPr>
              <a:t>最基本的协议，是</a:t>
            </a:r>
            <a:r>
              <a:rPr lang="en-US" altLang="zh-CN" sz="1600" dirty="0">
                <a:sym typeface="+mn-ea"/>
              </a:rPr>
              <a:t>Internet</a:t>
            </a:r>
            <a:r>
              <a:rPr altLang="zh-CN" sz="1600" dirty="0">
                <a:sym typeface="+mn-ea"/>
              </a:rPr>
              <a:t>基础。</a:t>
            </a:r>
          </a:p>
          <a:p>
            <a:pPr lvl="1"/>
            <a:r>
              <a:rPr lang="en-US" altLang="zh-CN" sz="1600" dirty="0">
                <a:sym typeface="+mn-ea"/>
              </a:rPr>
              <a:t>TCP</a:t>
            </a:r>
            <a:r>
              <a:rPr altLang="zh-CN" sz="1600" dirty="0">
                <a:sym typeface="+mn-ea"/>
              </a:rPr>
              <a:t>协议负责数据传输的可靠性，</a:t>
            </a:r>
            <a:r>
              <a:rPr lang="en-US" altLang="zh-CN" sz="1600" dirty="0">
                <a:sym typeface="+mn-ea"/>
              </a:rPr>
              <a:t>IP</a:t>
            </a:r>
            <a:r>
              <a:rPr altLang="zh-CN" sz="1600" dirty="0">
                <a:sym typeface="+mn-ea"/>
              </a:rPr>
              <a:t>协议负责把数据传输到正确的目的地。</a:t>
            </a:r>
            <a:endParaRPr lang="en-US" altLang="zh-CN" sz="1600" dirty="0"/>
          </a:p>
          <a:p>
            <a:pPr lvl="1"/>
            <a:r>
              <a:rPr altLang="zh-CN" sz="1600" dirty="0">
                <a:sym typeface="+mn-ea"/>
              </a:rPr>
              <a:t>为了区分同一台主机不同的</a:t>
            </a:r>
            <a:r>
              <a:rPr lang="en-US" altLang="zh-CN" sz="1600" dirty="0">
                <a:sym typeface="+mn-ea"/>
              </a:rPr>
              <a:t>Internet</a:t>
            </a:r>
            <a:r>
              <a:rPr altLang="zh-CN" sz="1600" dirty="0">
                <a:sym typeface="+mn-ea"/>
              </a:rPr>
              <a:t>应用程序间通信，</a:t>
            </a:r>
            <a:r>
              <a:rPr lang="en-US" altLang="zh-CN" sz="1600" dirty="0">
                <a:sym typeface="+mn-ea"/>
              </a:rPr>
              <a:t>TCP</a:t>
            </a:r>
            <a:r>
              <a:rPr altLang="zh-CN" sz="1600" dirty="0">
                <a:highlight>
                  <a:srgbClr val="FFFF00"/>
                </a:highlight>
                <a:sym typeface="+mn-ea"/>
              </a:rPr>
              <a:t>在数据包中增加一个称为端口号的数值（在</a:t>
            </a:r>
            <a:r>
              <a:rPr lang="en-US" altLang="zh-CN" sz="1600" dirty="0">
                <a:highlight>
                  <a:srgbClr val="FFFF00"/>
                </a:highlight>
                <a:sym typeface="+mn-ea"/>
              </a:rPr>
              <a:t>0-65535</a:t>
            </a:r>
            <a:r>
              <a:rPr altLang="zh-CN" sz="1600" dirty="0">
                <a:highlight>
                  <a:srgbClr val="FFFF00"/>
                </a:highlight>
                <a:sym typeface="+mn-ea"/>
              </a:rPr>
              <a:t>之间）。</a:t>
            </a:r>
            <a:r>
              <a:rPr altLang="zh-CN" sz="1600" dirty="0">
                <a:sym typeface="+mn-ea"/>
              </a:rPr>
              <a:t>如端口号</a:t>
            </a:r>
            <a:r>
              <a:rPr lang="en-US" altLang="zh-CN" sz="1600" dirty="0">
                <a:sym typeface="+mn-ea"/>
              </a:rPr>
              <a:t>80</a:t>
            </a:r>
            <a:r>
              <a:rPr altLang="zh-CN" sz="1600" dirty="0">
                <a:sym typeface="+mn-ea"/>
              </a:rPr>
              <a:t>表示</a:t>
            </a:r>
            <a:r>
              <a:rPr lang="en-US" altLang="zh-CN" sz="1600" dirty="0">
                <a:sym typeface="+mn-ea"/>
              </a:rPr>
              <a:t>HTTP</a:t>
            </a:r>
            <a:r>
              <a:rPr altLang="zh-CN" sz="1600" dirty="0">
                <a:sym typeface="+mn-ea"/>
              </a:rPr>
              <a:t>协议的通信。</a:t>
            </a:r>
            <a:endParaRPr lang="zh-CN" altLang="en-US" sz="1600" dirty="0"/>
          </a:p>
          <a:p>
            <a:pPr lvl="1"/>
            <a:endParaRPr lang="zh-CN" altLang="en-US" sz="1600" b="0" dirty="0"/>
          </a:p>
        </p:txBody>
      </p:sp>
      <p:pic>
        <p:nvPicPr>
          <p:cNvPr id="144388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414270" y="4871085"/>
            <a:ext cx="2011363" cy="15176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44389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828858" y="4871085"/>
            <a:ext cx="1954212" cy="148431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2"/>
          <p:cNvSpPr>
            <a:spLocks noGrp="1" noChangeAspec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>
                <a:latin typeface="微软雅黑" panose="020B0503020204020204" charset="-122"/>
                <a:cs typeface="微软雅黑" panose="020B0503020204020204" charset="-122"/>
              </a:rPr>
              <a:t>Web</a:t>
            </a:r>
            <a:r>
              <a:rPr sz="2000" dirty="0"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dirty="0">
                <a:latin typeface="微软雅黑" panose="020B0503020204020204" charset="-122"/>
                <a:cs typeface="微软雅黑" panose="020B0503020204020204" charset="-122"/>
              </a:rPr>
              <a:t>相关概念</a:t>
            </a:r>
          </a:p>
        </p:txBody>
      </p:sp>
      <p:sp>
        <p:nvSpPr>
          <p:cNvPr id="13315" name="Rectangle 4"/>
          <p:cNvSpPr>
            <a:spLocks noGrp="1" noChangeArrowheads="1"/>
          </p:cNvSpPr>
          <p:nvPr>
            <p:ph idx="1"/>
          </p:nvPr>
        </p:nvSpPr>
        <p:spPr>
          <a:xfrm>
            <a:off x="448945" y="1329055"/>
            <a:ext cx="8493125" cy="4476750"/>
          </a:xfrm>
        </p:spPr>
        <p:txBody>
          <a:bodyPr>
            <a:normAutofit fontScale="85000" lnSpcReduction="10000"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0" dirty="0"/>
              <a:t>Web</a:t>
            </a:r>
            <a:r>
              <a:rPr lang="zh-CN" altLang="en-US" sz="2200" b="0" dirty="0"/>
              <a:t>服务器：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0" dirty="0"/>
              <a:t>HTTP服务器</a:t>
            </a:r>
            <a:r>
              <a:rPr lang="en-US" altLang="zh-CN" sz="2200" b="0" dirty="0"/>
              <a:t>(</a:t>
            </a:r>
            <a:r>
              <a:rPr sz="2200" b="0" dirty="0"/>
              <a:t>狭义的）、</a:t>
            </a:r>
            <a:r>
              <a:rPr lang="zh-CN" altLang="en-US" sz="2200" b="0" dirty="0"/>
              <a:t>文件服务器、应用程序服务器、数据库服务器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0" dirty="0"/>
              <a:t>Apache、Nginx、IIS、</a:t>
            </a:r>
            <a:r>
              <a:rPr lang="en-US" altLang="zh-CN" sz="2200" b="0" dirty="0"/>
              <a:t>Tomcat</a:t>
            </a:r>
            <a:r>
              <a:rPr sz="2200" b="0" dirty="0"/>
              <a:t>、</a:t>
            </a:r>
            <a:r>
              <a:rPr lang="en-US" altLang="zh-CN" sz="2200" b="0" dirty="0"/>
              <a:t>Undertow</a:t>
            </a:r>
            <a:r>
              <a:rPr sz="2200" b="0" dirty="0"/>
              <a:t>等等</a:t>
            </a:r>
            <a:endParaRPr lang="zh-CN" altLang="en-US" sz="2200" b="0" dirty="0"/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zh-CN" altLang="en-US" sz="2200" b="0" dirty="0"/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0" dirty="0"/>
              <a:t>超链接</a:t>
            </a:r>
          </a:p>
          <a:p>
            <a:pPr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200" b="0" dirty="0"/>
              <a:t>        超链接（</a:t>
            </a:r>
            <a:r>
              <a:rPr lang="en-US" altLang="zh-CN" sz="2200" b="0" dirty="0"/>
              <a:t>Hyper Link</a:t>
            </a:r>
            <a:r>
              <a:rPr lang="zh-CN" altLang="en-US" sz="2200" b="0" dirty="0"/>
              <a:t>）是指</a:t>
            </a:r>
            <a:r>
              <a:rPr lang="zh-CN" altLang="en-US" sz="2200" b="0" dirty="0">
                <a:highlight>
                  <a:srgbClr val="FFFF00"/>
                </a:highlight>
              </a:rPr>
              <a:t>从一个网页指向另一个目标的连接关系</a:t>
            </a:r>
            <a:br>
              <a:rPr lang="zh-CN" altLang="en-US" sz="2200" b="0" dirty="0"/>
            </a:br>
            <a:r>
              <a:rPr lang="en-US" altLang="zh-CN" sz="2200" b="0" dirty="0"/>
              <a:t>	&lt;a </a:t>
            </a:r>
            <a:r>
              <a:rPr lang="en-US" altLang="zh-CN" sz="2200" b="0" dirty="0" err="1"/>
              <a:t>href</a:t>
            </a:r>
            <a:r>
              <a:rPr lang="en-US" altLang="zh-CN" sz="2200" b="0" dirty="0"/>
              <a:t>="http://baike.baidu.com"&gt;</a:t>
            </a:r>
            <a:r>
              <a:rPr lang="zh-CN" altLang="en-US" sz="2200" b="0" dirty="0"/>
              <a:t>百科</a:t>
            </a:r>
            <a:r>
              <a:rPr lang="en-US" altLang="zh-CN" sz="2200" b="0" dirty="0"/>
              <a:t>&lt;/a&gt;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altLang="zh-CN" sz="2200" b="0" dirty="0"/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0" dirty="0"/>
              <a:t>MIME Multipurpose Internet Mail Extension </a:t>
            </a:r>
            <a:r>
              <a:rPr sz="2200" b="0" dirty="0"/>
              <a:t>多用途互联网</a:t>
            </a:r>
            <a:r>
              <a:rPr sz="2200" b="1" dirty="0">
                <a:solidFill>
                  <a:srgbClr val="FF0000"/>
                </a:solidFill>
              </a:rPr>
              <a:t>邮件扩展</a:t>
            </a:r>
            <a:r>
              <a:rPr sz="2200" b="0" dirty="0"/>
              <a:t>、数据文件类型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altLang="zh-CN" sz="2200" dirty="0">
                <a:sym typeface="+mn-ea"/>
              </a:rPr>
              <a:t>Content-Type: </a:t>
            </a:r>
            <a:r>
              <a:rPr lang="en-US" altLang="zh-CN" sz="2200" b="0" dirty="0"/>
              <a:t>image</a:t>
            </a:r>
            <a:r>
              <a:rPr sz="2200" b="0" dirty="0"/>
              <a:t>、</a:t>
            </a:r>
            <a:r>
              <a:rPr lang="en-US" altLang="zh-CN" sz="2200" b="0" dirty="0"/>
              <a:t>text</a:t>
            </a:r>
            <a:r>
              <a:rPr sz="2200" b="0" dirty="0"/>
              <a:t>、</a:t>
            </a:r>
            <a:r>
              <a:rPr lang="en-US" altLang="zh-CN" sz="2200" b="0" dirty="0"/>
              <a:t>video</a:t>
            </a:r>
            <a:r>
              <a:rPr sz="2200" b="0" dirty="0"/>
              <a:t>、</a:t>
            </a:r>
            <a:r>
              <a:rPr lang="en-US" altLang="zh-CN" sz="2200" b="0" dirty="0"/>
              <a:t>audio</a:t>
            </a:r>
            <a:r>
              <a:rPr sz="2200" b="0" dirty="0"/>
              <a:t>、</a:t>
            </a:r>
            <a:r>
              <a:rPr lang="en-US" altLang="zh-CN" sz="2200" b="0" dirty="0"/>
              <a:t>application……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US" altLang="zh-CN" sz="2200" b="0" dirty="0"/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altLang="zh-CN" sz="2200" b="0" dirty="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微软雅黑" panose="020B0503020204020204" charset="-122"/>
              </a:rPr>
              <a:t>网站与网页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dirty="0"/>
              <a:t>网站（</a:t>
            </a:r>
            <a:r>
              <a:rPr lang="en-US" altLang="zh-CN" sz="1800" dirty="0"/>
              <a:t>Web Site</a:t>
            </a:r>
            <a:r>
              <a:rPr sz="1800" dirty="0"/>
              <a:t>）：网页的集合</a:t>
            </a:r>
          </a:p>
          <a:p>
            <a:pPr lvl="1"/>
            <a:r>
              <a:rPr sz="1800" dirty="0"/>
              <a:t>网页（</a:t>
            </a:r>
            <a:r>
              <a:rPr lang="en-US" altLang="zh-CN" sz="1800" dirty="0"/>
              <a:t>Web Page</a:t>
            </a:r>
            <a:r>
              <a:rPr sz="1800" dirty="0"/>
              <a:t>）：网站中的一页</a:t>
            </a:r>
          </a:p>
          <a:p>
            <a:pPr lvl="1"/>
            <a:r>
              <a:rPr sz="1800" dirty="0"/>
              <a:t>首页</a:t>
            </a:r>
            <a:r>
              <a:rPr lang="en-US" altLang="zh-CN" sz="1800" dirty="0"/>
              <a:t>/</a:t>
            </a:r>
            <a:r>
              <a:rPr sz="1800" dirty="0"/>
              <a:t>主页</a:t>
            </a:r>
            <a:r>
              <a:rPr lang="en-US" altLang="zh-CN" sz="1800" dirty="0"/>
              <a:t>/homepage, index.html</a:t>
            </a:r>
          </a:p>
          <a:p>
            <a:pPr lvl="1"/>
            <a:r>
              <a:rPr sz="1800" dirty="0"/>
              <a:t>网页元素</a:t>
            </a:r>
          </a:p>
          <a:p>
            <a:pPr lvl="2"/>
            <a:r>
              <a:rPr lang="en-US" altLang="zh-CN" sz="1800" dirty="0"/>
              <a:t>Logo</a:t>
            </a:r>
          </a:p>
          <a:p>
            <a:pPr lvl="2"/>
            <a:r>
              <a:rPr sz="1800" dirty="0"/>
              <a:t>导航栏</a:t>
            </a:r>
          </a:p>
          <a:p>
            <a:pPr lvl="2"/>
            <a:r>
              <a:rPr lang="en-US" altLang="zh-CN" sz="1800" dirty="0"/>
              <a:t>banner</a:t>
            </a:r>
          </a:p>
          <a:p>
            <a:pPr lvl="2"/>
            <a:r>
              <a:rPr sz="1800" dirty="0"/>
              <a:t>图文超链接</a:t>
            </a:r>
          </a:p>
          <a:p>
            <a:pPr lvl="2"/>
            <a:r>
              <a:rPr sz="1800" dirty="0"/>
              <a:t>表单</a:t>
            </a:r>
          </a:p>
          <a:p>
            <a:pPr lvl="2"/>
            <a:r>
              <a:rPr lang="en-US" altLang="zh-CN" sz="1800" dirty="0"/>
              <a:t>……</a:t>
            </a:r>
          </a:p>
          <a:p>
            <a:pPr lvl="2"/>
            <a:endParaRPr lang="en-US" altLang="zh-CN" sz="1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550" y="4124325"/>
            <a:ext cx="3490595" cy="14071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>
                <a:latin typeface="微软雅黑" panose="020B0503020204020204" charset="-122"/>
                <a:cs typeface="微软雅黑" panose="020B0503020204020204" charset="-122"/>
              </a:rPr>
              <a:t>Web</a:t>
            </a:r>
            <a:r>
              <a:rPr lang="zh-CN" altLang="en-US" sz="2000">
                <a:latin typeface="微软雅黑" panose="020B0503020204020204" charset="-122"/>
                <a:cs typeface="微软雅黑" panose="020B0503020204020204" charset="-122"/>
              </a:rPr>
              <a:t>前端开发工程师的职业需求</a:t>
            </a:r>
          </a:p>
        </p:txBody>
      </p:sp>
      <p:sp>
        <p:nvSpPr>
          <p:cNvPr id="9219" name="Rectangle 4"/>
          <p:cNvSpPr>
            <a:spLocks noGrp="1" noChangeArrowheads="1"/>
          </p:cNvSpPr>
          <p:nvPr>
            <p:ph idx="1"/>
          </p:nvPr>
        </p:nvSpPr>
        <p:spPr>
          <a:xfrm>
            <a:off x="628650" y="1252855"/>
            <a:ext cx="7886700" cy="5100320"/>
          </a:xfrm>
        </p:spPr>
        <p:txBody>
          <a:bodyPr>
            <a:noAutofit/>
          </a:bodyPr>
          <a:lstStyle/>
          <a:p>
            <a:pPr marL="0" indent="25908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ym typeface="+mn-ea"/>
              </a:rPr>
              <a:t>前端开发工程师的前世：网页设计师</a:t>
            </a:r>
          </a:p>
          <a:p>
            <a:pPr marL="0" indent="25908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ym typeface="+mn-ea"/>
              </a:rPr>
              <a:t>前端开发岗位的市场需求</a:t>
            </a:r>
          </a:p>
          <a:p>
            <a:pPr marL="0" indent="25908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/>
              <a:t>前端开发常见的技术要求</a:t>
            </a:r>
          </a:p>
          <a:p>
            <a:pPr marL="457200" lvl="1" indent="25908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dirty="0"/>
              <a:t>掌握</a:t>
            </a:r>
            <a:r>
              <a:rPr lang="en-US" altLang="zh-CN" sz="1600" b="0" dirty="0"/>
              <a:t>Web</a:t>
            </a:r>
            <a:r>
              <a:rPr lang="zh-CN" altLang="en-US" sz="1600" b="0" dirty="0"/>
              <a:t>前端开发技术</a:t>
            </a:r>
            <a:r>
              <a:rPr lang="zh-CN" altLang="en-US" sz="1600" b="0" dirty="0">
                <a:solidFill>
                  <a:srgbClr val="FF0000"/>
                </a:solidFill>
              </a:rPr>
              <a:t>（开发快）</a:t>
            </a:r>
            <a:endParaRPr lang="zh-CN" altLang="en-US" sz="1600" b="0" dirty="0"/>
          </a:p>
          <a:p>
            <a:pPr marL="914400" lvl="2" indent="25908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ym typeface="+mn-ea"/>
              </a:rPr>
              <a:t>1.0</a:t>
            </a:r>
            <a:r>
              <a:rPr sz="1600">
                <a:sym typeface="+mn-ea"/>
              </a:rPr>
              <a:t>：三件套：</a:t>
            </a:r>
            <a:r>
              <a:rPr lang="en-US" altLang="zh-CN" sz="1600">
                <a:sym typeface="+mn-ea"/>
              </a:rPr>
              <a:t>HTML5</a:t>
            </a:r>
            <a:r>
              <a:rPr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CSS3</a:t>
            </a:r>
            <a:r>
              <a:rPr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JavaScript</a:t>
            </a:r>
            <a:endParaRPr sz="1600">
              <a:sym typeface="+mn-ea"/>
            </a:endParaRPr>
          </a:p>
          <a:p>
            <a:pPr marL="914400" lvl="2" indent="25908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ym typeface="+mn-ea"/>
              </a:rPr>
              <a:t>1.5</a:t>
            </a:r>
            <a:r>
              <a:rPr sz="1600">
                <a:sym typeface="+mn-ea"/>
              </a:rPr>
              <a:t>：三框架：</a:t>
            </a:r>
            <a:r>
              <a:rPr lang="en-US" altLang="zh-CN" sz="1600">
                <a:sym typeface="+mn-ea"/>
              </a:rPr>
              <a:t>Vue</a:t>
            </a:r>
            <a:r>
              <a:rPr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Angular</a:t>
            </a:r>
            <a:r>
              <a:rPr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React</a:t>
            </a:r>
          </a:p>
          <a:p>
            <a:pPr marL="914400" lvl="2" indent="25908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ym typeface="+mn-ea"/>
              </a:rPr>
              <a:t>1.x</a:t>
            </a:r>
            <a:r>
              <a:rPr sz="1600">
                <a:sym typeface="+mn-ea"/>
              </a:rPr>
              <a:t>：具备学习、使用前端新技术的能力</a:t>
            </a:r>
            <a:endParaRPr lang="zh-CN" altLang="en-US" sz="1600" b="0" dirty="0"/>
          </a:p>
          <a:p>
            <a:pPr marL="457200" lvl="1" indent="25908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ym typeface="+mn-ea"/>
              </a:rPr>
              <a:t>具备性能优化、搜索优化等开发优化能力</a:t>
            </a:r>
            <a:r>
              <a:rPr sz="1600">
                <a:solidFill>
                  <a:srgbClr val="FF0000"/>
                </a:solidFill>
                <a:sym typeface="+mn-ea"/>
              </a:rPr>
              <a:t>（使用快）</a:t>
            </a:r>
            <a:endParaRPr sz="1600">
              <a:sym typeface="+mn-ea"/>
            </a:endParaRPr>
          </a:p>
          <a:p>
            <a:pPr marL="914400" lvl="2" indent="25908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ym typeface="+mn-ea"/>
              </a:rPr>
              <a:t>2.x </a:t>
            </a:r>
            <a:r>
              <a:rPr sz="1600">
                <a:sym typeface="+mn-ea"/>
              </a:rPr>
              <a:t>非功能需求：兼容性、易维护、可复用等</a:t>
            </a:r>
          </a:p>
          <a:p>
            <a:pPr marL="457200" lvl="1" indent="25908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ym typeface="+mn-ea"/>
              </a:rPr>
              <a:t>能综合运用各种开发、调试与测试工具高效高质开发</a:t>
            </a:r>
            <a:endParaRPr lang="zh-CN" altLang="en-US" sz="1400" b="0" dirty="0"/>
          </a:p>
          <a:p>
            <a:pPr marL="0" indent="25908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ym typeface="+mn-ea"/>
              </a:rPr>
              <a:t>前端开发</a:t>
            </a:r>
            <a:r>
              <a:rPr sz="1800">
                <a:solidFill>
                  <a:schemeClr val="tx1"/>
                </a:solidFill>
                <a:sym typeface="+mn-ea"/>
              </a:rPr>
              <a:t>的（非）技术要求</a:t>
            </a:r>
            <a:endParaRPr lang="zh-CN" altLang="en-US" sz="1800" dirty="0">
              <a:solidFill>
                <a:schemeClr val="tx1"/>
              </a:solidFill>
              <a:sym typeface="+mn-ea"/>
            </a:endParaRPr>
          </a:p>
          <a:p>
            <a:pPr marL="457200" lvl="1" indent="25908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/>
                </a:solidFill>
                <a:sym typeface="+mn-ea"/>
              </a:rPr>
              <a:t>沟通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 </a:t>
            </a:r>
            <a:r>
              <a:rPr sz="1600">
                <a:solidFill>
                  <a:schemeClr val="tx1"/>
                </a:solidFill>
                <a:sym typeface="Symbol" panose="05050102010706020507" charset="0"/>
              </a:rPr>
              <a:t></a:t>
            </a:r>
            <a:r>
              <a:rPr lang="en-US" altLang="zh-CN" sz="1600">
                <a:solidFill>
                  <a:schemeClr val="tx1"/>
                </a:solidFill>
                <a:sym typeface="Symbol" panose="05050102010706020507" charset="0"/>
              </a:rPr>
              <a:t> </a:t>
            </a:r>
            <a:r>
              <a:rPr sz="1600">
                <a:solidFill>
                  <a:schemeClr val="tx1"/>
                </a:solidFill>
                <a:sym typeface="Symbol" panose="05050102010706020507" charset="0"/>
              </a:rPr>
              <a:t>第一站，团队合作</a:t>
            </a:r>
            <a:endParaRPr sz="1600">
              <a:solidFill>
                <a:schemeClr val="tx1"/>
              </a:solidFill>
              <a:sym typeface="+mn-ea"/>
            </a:endParaRPr>
          </a:p>
          <a:p>
            <a:pPr marL="457200" lvl="1" indent="25908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/>
                </a:solidFill>
                <a:sym typeface="+mn-ea"/>
              </a:rPr>
              <a:t>美感 </a:t>
            </a:r>
            <a:r>
              <a:rPr sz="1600">
                <a:solidFill>
                  <a:schemeClr val="tx1"/>
                </a:solidFill>
                <a:sym typeface="Symbol" panose="05050102010706020507" charset="0"/>
              </a:rPr>
              <a:t> 细节还原，设计师  工程师</a:t>
            </a:r>
          </a:p>
          <a:p>
            <a:pPr marL="457200" lvl="1" indent="25908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marL="0" indent="619125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2000" b="0" dirty="0"/>
          </a:p>
          <a:p>
            <a:pPr marL="0" indent="619125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2000" b="0" dirty="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>
                <a:latin typeface="微软雅黑" panose="020B0503020204020204" charset="-122"/>
                <a:cs typeface="微软雅黑" panose="020B0503020204020204" charset="-122"/>
              </a:rPr>
              <a:t>Web</a:t>
            </a:r>
            <a:r>
              <a:rPr lang="zh-CN" altLang="en-US" sz="2000" dirty="0">
                <a:latin typeface="微软雅黑" panose="020B0503020204020204" charset="-122"/>
                <a:cs typeface="微软雅黑" panose="020B0503020204020204" charset="-122"/>
              </a:rPr>
              <a:t>前端开发技术 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400" b="1" dirty="0" err="1">
                <a:solidFill>
                  <a:srgbClr val="FF0000"/>
                </a:solidFill>
                <a:sym typeface="+mn-ea"/>
              </a:rPr>
              <a:t>HTML+CSS+JavaScript</a:t>
            </a: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 = </a:t>
            </a:r>
            <a:r>
              <a:rPr sz="2400" b="1" dirty="0">
                <a:solidFill>
                  <a:srgbClr val="FF0000"/>
                </a:solidFill>
                <a:sym typeface="+mn-ea"/>
              </a:rPr>
              <a:t>结构</a:t>
            </a: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 + </a:t>
            </a:r>
            <a:r>
              <a:rPr sz="2400" b="1" dirty="0">
                <a:solidFill>
                  <a:srgbClr val="FF0000"/>
                </a:solidFill>
                <a:sym typeface="+mn-ea"/>
              </a:rPr>
              <a:t>样式</a:t>
            </a: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 + </a:t>
            </a:r>
            <a:r>
              <a:rPr sz="2400" b="1" dirty="0">
                <a:solidFill>
                  <a:srgbClr val="FF0000"/>
                </a:solidFill>
                <a:sym typeface="+mn-ea"/>
              </a:rPr>
              <a:t>行为</a:t>
            </a:r>
          </a:p>
          <a:p>
            <a:r>
              <a:rPr lang="en-US" altLang="zh-CN" sz="1800" b="0" dirty="0"/>
              <a:t>HTML</a:t>
            </a:r>
          </a:p>
          <a:p>
            <a:pPr lvl="1"/>
            <a:r>
              <a:rPr lang="en-US" altLang="zh-CN" sz="1600" b="0" dirty="0"/>
              <a:t>HyperText Markup Language</a:t>
            </a:r>
            <a:r>
              <a:rPr lang="zh-CN" altLang="zh-CN" sz="1600" b="0" dirty="0"/>
              <a:t>是一种标准规范</a:t>
            </a:r>
          </a:p>
          <a:p>
            <a:pPr lvl="1"/>
            <a:r>
              <a:rPr lang="zh-CN" altLang="zh-CN" sz="1600" b="0" dirty="0"/>
              <a:t>它通过标记符号来标记要显示的网页中的各个部分</a:t>
            </a:r>
          </a:p>
          <a:p>
            <a:pPr lvl="1"/>
            <a:r>
              <a:rPr sz="1600" b="0" dirty="0"/>
              <a:t>是</a:t>
            </a:r>
            <a:r>
              <a:rPr lang="en-US" altLang="zh-CN" sz="1600" b="0" dirty="0"/>
              <a:t>SGML</a:t>
            </a:r>
            <a:r>
              <a:rPr sz="1600" b="0" dirty="0"/>
              <a:t>的子集，</a:t>
            </a:r>
            <a:r>
              <a:rPr lang="en-US" altLang="zh-CN" sz="1600" b="0" dirty="0">
                <a:highlight>
                  <a:srgbClr val="FFFF00"/>
                </a:highlight>
              </a:rPr>
              <a:t>Standard Generalized Markup Language SGML</a:t>
            </a:r>
            <a:r>
              <a:rPr sz="1600" b="0" dirty="0"/>
              <a:t>，</a:t>
            </a:r>
            <a:r>
              <a:rPr altLang="zh-CN" sz="1600" dirty="0">
                <a:sym typeface="+mn-ea"/>
              </a:rPr>
              <a:t>标准通用化标记语言</a:t>
            </a:r>
            <a:r>
              <a:rPr lang="zh-CN" altLang="zh-CN" sz="1600" b="0" dirty="0"/>
              <a:t>是一种定义电子文档结构和描述其内容的国际标准语言，是现代所有电子文档标记语言的起源。</a:t>
            </a:r>
            <a:r>
              <a:rPr lang="en-US" altLang="zh-CN" sz="1600" b="0" dirty="0"/>
              <a:t>SGML</a:t>
            </a:r>
            <a:r>
              <a:rPr sz="1600" b="0" dirty="0"/>
              <a:t>的</a:t>
            </a:r>
            <a:r>
              <a:rPr lang="en-US" altLang="zh-CN" sz="1600" b="0" dirty="0"/>
              <a:t>DTD</a:t>
            </a:r>
          </a:p>
          <a:p>
            <a:pPr lvl="1"/>
            <a:endParaRPr lang="zh-CN" altLang="zh-CN" sz="1600" b="0" dirty="0"/>
          </a:p>
          <a:p>
            <a:pPr lvl="1"/>
            <a:endParaRPr lang="zh-CN" altLang="zh-CN" sz="1600" b="0" dirty="0"/>
          </a:p>
          <a:p>
            <a:pPr lvl="1"/>
            <a:endParaRPr lang="zh-CN" altLang="zh-CN" sz="1600" b="0" dirty="0"/>
          </a:p>
          <a:p>
            <a:pPr lvl="1"/>
            <a:r>
              <a:rPr lang="en-US" altLang="zh-CN" sz="1600" b="0" dirty="0"/>
              <a:t>HTML</a:t>
            </a:r>
            <a:r>
              <a:rPr lang="zh-CN" altLang="en-US" sz="1600" b="0" dirty="0"/>
              <a:t>是构成</a:t>
            </a:r>
            <a:r>
              <a:rPr lang="en-US" altLang="zh-CN" sz="1600" b="0" dirty="0"/>
              <a:t>Web</a:t>
            </a:r>
            <a:r>
              <a:rPr lang="zh-CN" altLang="en-US" sz="1600" b="0" dirty="0"/>
              <a:t>页面</a:t>
            </a:r>
            <a:r>
              <a:rPr lang="en-US" altLang="zh-CN" sz="1600" b="0" dirty="0"/>
              <a:t>(Page)</a:t>
            </a:r>
            <a:r>
              <a:rPr lang="zh-CN" altLang="en-US" sz="1600" b="0" dirty="0"/>
              <a:t>的基础</a:t>
            </a:r>
          </a:p>
          <a:p>
            <a:pPr lvl="1"/>
            <a:r>
              <a:rPr lang="en-US" altLang="zh-CN" sz="1600" b="0" dirty="0"/>
              <a:t>HTML</a:t>
            </a:r>
            <a:r>
              <a:rPr lang="zh-CN" altLang="en-US" sz="1600" b="0" dirty="0"/>
              <a:t>文档：用来描述网页，由</a:t>
            </a:r>
            <a:r>
              <a:rPr lang="en-US" altLang="zh-CN" sz="1600" b="0" dirty="0"/>
              <a:t>HTML </a:t>
            </a:r>
            <a:r>
              <a:rPr lang="zh-CN" altLang="zh-CN" sz="1600" b="0" dirty="0"/>
              <a:t>标记和纯文本构成的文本文件</a:t>
            </a:r>
            <a:r>
              <a:rPr lang="zh-CN" altLang="en-US" sz="1600" b="0" dirty="0"/>
              <a:t>。不同于纯文本文件（不含</a:t>
            </a:r>
            <a:r>
              <a:rPr lang="en-US" altLang="zh-CN" sz="1600" b="0" dirty="0"/>
              <a:t>HTML</a:t>
            </a:r>
            <a:r>
              <a:rPr lang="zh-CN" altLang="en-US" sz="1600" b="0" dirty="0"/>
              <a:t>标记）。</a:t>
            </a:r>
          </a:p>
        </p:txBody>
      </p:sp>
      <p:pic>
        <p:nvPicPr>
          <p:cNvPr id="182276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99540" y="3848100"/>
            <a:ext cx="6232525" cy="115062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>
                <a:latin typeface="微软雅黑" panose="020B0503020204020204" charset="-122"/>
                <a:cs typeface="微软雅黑" panose="020B0503020204020204" charset="-122"/>
              </a:rPr>
              <a:t>HTML</a:t>
            </a:r>
            <a:r>
              <a:rPr lang="zh-CN" altLang="en-US" sz="2000" dirty="0">
                <a:latin typeface="微软雅黑" panose="020B0503020204020204" charset="-122"/>
                <a:cs typeface="微软雅黑" panose="020B0503020204020204" charset="-122"/>
              </a:rPr>
              <a:t>超文本标记语言的发展历史</a:t>
            </a:r>
          </a:p>
        </p:txBody>
      </p:sp>
      <p:sp>
        <p:nvSpPr>
          <p:cNvPr id="11267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00" b="0" dirty="0"/>
              <a:t>HTML1.0</a:t>
            </a:r>
            <a:r>
              <a:rPr lang="zh-CN" altLang="en-US" sz="1600" b="0" dirty="0"/>
              <a:t>：</a:t>
            </a:r>
            <a:r>
              <a:rPr lang="en-US" altLang="zh-CN" sz="1600" b="0" dirty="0"/>
              <a:t>1993</a:t>
            </a:r>
            <a:r>
              <a:rPr lang="zh-CN" altLang="en-US" sz="1600" b="0" dirty="0"/>
              <a:t>年</a:t>
            </a:r>
            <a:r>
              <a:rPr lang="en-US" altLang="zh-CN" sz="1600" b="0" dirty="0"/>
              <a:t>6</a:t>
            </a:r>
            <a:r>
              <a:rPr lang="zh-CN" altLang="en-US" sz="1600" b="0" dirty="0"/>
              <a:t>月作为互联网工程任务小组（</a:t>
            </a:r>
            <a:r>
              <a:rPr lang="en-US" altLang="zh-CN" sz="1600" b="0" dirty="0"/>
              <a:t>IETF</a:t>
            </a:r>
            <a:r>
              <a:rPr lang="zh-CN" altLang="en-US" sz="1600" b="0" dirty="0"/>
              <a:t>）工作草案发布；</a:t>
            </a:r>
          </a:p>
          <a:p>
            <a:r>
              <a:rPr lang="en-US" altLang="zh-CN" sz="1600" b="0" dirty="0"/>
              <a:t>HTML2.0</a:t>
            </a:r>
            <a:r>
              <a:rPr lang="zh-CN" altLang="en-US" sz="1600" b="0" dirty="0"/>
              <a:t>：</a:t>
            </a:r>
            <a:r>
              <a:rPr lang="en-US" altLang="zh-CN" sz="1600" b="0" dirty="0"/>
              <a:t>1995</a:t>
            </a:r>
            <a:r>
              <a:rPr lang="zh-CN" altLang="en-US" sz="1600" b="0" dirty="0"/>
              <a:t>年</a:t>
            </a:r>
            <a:r>
              <a:rPr lang="en-US" altLang="zh-CN" sz="1600" b="0" dirty="0"/>
              <a:t>11</a:t>
            </a:r>
            <a:r>
              <a:rPr lang="zh-CN" altLang="en-US" sz="1600" b="0" dirty="0"/>
              <a:t>月作为</a:t>
            </a:r>
            <a:r>
              <a:rPr lang="en-US" altLang="zh-CN" sz="1600" b="0" dirty="0"/>
              <a:t>RFC 1866</a:t>
            </a:r>
            <a:r>
              <a:rPr lang="zh-CN" altLang="en-US" sz="1600" b="0" dirty="0"/>
              <a:t>发布，在</a:t>
            </a:r>
            <a:r>
              <a:rPr lang="en-US" altLang="zh-CN" sz="1600" b="0" dirty="0"/>
              <a:t>RFC 2854</a:t>
            </a:r>
            <a:r>
              <a:rPr lang="zh-CN" altLang="en-US" sz="1600" b="0" dirty="0"/>
              <a:t>于</a:t>
            </a:r>
            <a:r>
              <a:rPr lang="en-US" altLang="zh-CN" sz="1600" b="0" dirty="0"/>
              <a:t>2000</a:t>
            </a:r>
            <a:r>
              <a:rPr lang="zh-CN" altLang="en-US" sz="1600" b="0" dirty="0"/>
              <a:t>年</a:t>
            </a:r>
            <a:r>
              <a:rPr lang="en-US" altLang="zh-CN" sz="1600" b="0" dirty="0"/>
              <a:t>6</a:t>
            </a:r>
            <a:r>
              <a:rPr lang="zh-CN" altLang="en-US" sz="1600" b="0" dirty="0"/>
              <a:t>月发布之后被宣布已经过时。</a:t>
            </a:r>
          </a:p>
          <a:p>
            <a:r>
              <a:rPr lang="en-US" altLang="zh-CN" sz="1600" b="0" dirty="0"/>
              <a:t>HTML3.2</a:t>
            </a:r>
            <a:r>
              <a:rPr lang="zh-CN" altLang="en-US" sz="1600" b="0" dirty="0"/>
              <a:t>：</a:t>
            </a:r>
            <a:r>
              <a:rPr lang="en-US" altLang="zh-CN" sz="1600" b="0" dirty="0"/>
              <a:t>1996</a:t>
            </a:r>
            <a:r>
              <a:rPr lang="zh-CN" altLang="en-US" sz="1600" b="0" dirty="0"/>
              <a:t>年</a:t>
            </a:r>
            <a:r>
              <a:rPr lang="en-US" altLang="zh-CN" sz="1600" b="0" dirty="0"/>
              <a:t>1</a:t>
            </a:r>
            <a:r>
              <a:rPr lang="zh-CN" altLang="en-US" sz="1600" b="0" dirty="0"/>
              <a:t>月</a:t>
            </a:r>
            <a:r>
              <a:rPr lang="en-US" altLang="zh-CN" sz="1600" b="0" dirty="0"/>
              <a:t>14</a:t>
            </a:r>
            <a:r>
              <a:rPr lang="zh-CN" altLang="en-US" sz="1600" b="0" dirty="0"/>
              <a:t>日发布，</a:t>
            </a:r>
            <a:r>
              <a:rPr lang="en-US" altLang="zh-CN" sz="1600" b="0" dirty="0"/>
              <a:t>W3C</a:t>
            </a:r>
            <a:r>
              <a:rPr lang="zh-CN" altLang="en-US" sz="1600" b="0" dirty="0"/>
              <a:t>推荐标准。</a:t>
            </a:r>
          </a:p>
          <a:p>
            <a:r>
              <a:rPr lang="en-US" altLang="zh-CN" sz="1600" b="0" dirty="0"/>
              <a:t>HTML4.0</a:t>
            </a:r>
            <a:r>
              <a:rPr sz="1600" b="0" dirty="0"/>
              <a:t>（</a:t>
            </a:r>
            <a:r>
              <a:rPr lang="en-US" altLang="zh-CN" sz="1600" b="0" dirty="0"/>
              <a:t>+CSS</a:t>
            </a:r>
            <a:r>
              <a:rPr sz="1600" b="0" dirty="0"/>
              <a:t>）</a:t>
            </a:r>
            <a:r>
              <a:rPr lang="zh-CN" altLang="en-US" sz="1600" b="0" dirty="0"/>
              <a:t>：</a:t>
            </a:r>
            <a:r>
              <a:rPr lang="en-US" altLang="zh-CN" sz="1600" b="0" dirty="0"/>
              <a:t>1997</a:t>
            </a:r>
            <a:r>
              <a:rPr lang="zh-CN" altLang="en-US" sz="1600" b="0" dirty="0"/>
              <a:t>年</a:t>
            </a:r>
            <a:r>
              <a:rPr lang="en-US" altLang="zh-CN" sz="1600" b="0" dirty="0"/>
              <a:t>12</a:t>
            </a:r>
            <a:r>
              <a:rPr lang="zh-CN" altLang="en-US" sz="1600" b="0" dirty="0"/>
              <a:t>月</a:t>
            </a:r>
            <a:r>
              <a:rPr lang="en-US" altLang="zh-CN" sz="1600" b="0" dirty="0"/>
              <a:t>18</a:t>
            </a:r>
            <a:r>
              <a:rPr lang="zh-CN" altLang="en-US" sz="1600" b="0" dirty="0"/>
              <a:t>日发布，</a:t>
            </a:r>
            <a:r>
              <a:rPr lang="en-US" altLang="zh-CN" sz="1600" b="0" dirty="0"/>
              <a:t>W3C</a:t>
            </a:r>
            <a:r>
              <a:rPr lang="zh-CN" altLang="en-US" sz="1600" b="0" dirty="0"/>
              <a:t>推荐标准。</a:t>
            </a:r>
          </a:p>
          <a:p>
            <a:r>
              <a:rPr lang="en-US" altLang="zh-CN" sz="1600" b="0" dirty="0"/>
              <a:t>HTML4.01</a:t>
            </a:r>
            <a:r>
              <a:rPr sz="1600" b="0" dirty="0"/>
              <a:t>（</a:t>
            </a:r>
            <a:r>
              <a:rPr lang="en-US" altLang="zh-CN" sz="1600" b="0" dirty="0"/>
              <a:t>+XML</a:t>
            </a:r>
            <a:r>
              <a:rPr sz="1600" b="0" dirty="0"/>
              <a:t>，</a:t>
            </a:r>
            <a:r>
              <a:rPr lang="en-US" altLang="zh-CN" sz="1600" b="0" dirty="0"/>
              <a:t>XHTML</a:t>
            </a:r>
            <a:r>
              <a:rPr sz="1600" b="0" dirty="0"/>
              <a:t>）</a:t>
            </a:r>
            <a:r>
              <a:rPr lang="zh-CN" altLang="en-US" sz="1600" b="0" dirty="0"/>
              <a:t>：</a:t>
            </a:r>
            <a:r>
              <a:rPr lang="en-US" altLang="zh-CN" sz="1600" b="0" dirty="0"/>
              <a:t>1999</a:t>
            </a:r>
            <a:r>
              <a:rPr lang="zh-CN" altLang="en-US" sz="1600" b="0" dirty="0"/>
              <a:t>年</a:t>
            </a:r>
            <a:r>
              <a:rPr lang="en-US" altLang="zh-CN" sz="1600" b="0" dirty="0"/>
              <a:t>12</a:t>
            </a:r>
            <a:r>
              <a:rPr lang="zh-CN" altLang="en-US" sz="1600" b="0" dirty="0"/>
              <a:t>月</a:t>
            </a:r>
            <a:r>
              <a:rPr lang="en-US" altLang="zh-CN" sz="1600" b="0" dirty="0"/>
              <a:t>24</a:t>
            </a:r>
            <a:r>
              <a:rPr lang="zh-CN" altLang="en-US" sz="1600" b="0" dirty="0"/>
              <a:t>日发布，</a:t>
            </a:r>
            <a:r>
              <a:rPr lang="en-US" altLang="zh-CN" sz="1600" b="0" dirty="0"/>
              <a:t>W3C</a:t>
            </a:r>
            <a:r>
              <a:rPr lang="zh-CN" altLang="en-US" sz="1600" b="0" dirty="0"/>
              <a:t>推荐标准。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HTML5</a:t>
            </a:r>
            <a:r>
              <a:rPr lang="zh-CN" altLang="en-US" sz="1600" dirty="0">
                <a:solidFill>
                  <a:schemeClr val="tx1"/>
                </a:solidFill>
              </a:rPr>
              <a:t>：</a:t>
            </a:r>
            <a:r>
              <a:rPr lang="en-US" altLang="zh-CN" sz="1600" dirty="0">
                <a:solidFill>
                  <a:schemeClr val="tx1"/>
                </a:solidFill>
              </a:rPr>
              <a:t>2014</a:t>
            </a:r>
            <a:r>
              <a:rPr lang="zh-CN" altLang="en-US" sz="1600" dirty="0">
                <a:solidFill>
                  <a:schemeClr val="tx1"/>
                </a:solidFill>
              </a:rPr>
              <a:t>年</a:t>
            </a:r>
            <a:r>
              <a:rPr lang="en-US" altLang="zh-CN" sz="1600" dirty="0">
                <a:solidFill>
                  <a:schemeClr val="tx1"/>
                </a:solidFill>
              </a:rPr>
              <a:t>10</a:t>
            </a:r>
            <a:r>
              <a:rPr lang="zh-CN" altLang="en-US" sz="1600" dirty="0">
                <a:solidFill>
                  <a:schemeClr val="tx1"/>
                </a:solidFill>
              </a:rPr>
              <a:t>月</a:t>
            </a:r>
            <a:r>
              <a:rPr lang="en-US" altLang="zh-CN" sz="1600" dirty="0">
                <a:solidFill>
                  <a:schemeClr val="tx1"/>
                </a:solidFill>
              </a:rPr>
              <a:t>28</a:t>
            </a:r>
            <a:r>
              <a:rPr lang="zh-CN" altLang="en-US" sz="1600" dirty="0">
                <a:solidFill>
                  <a:schemeClr val="tx1"/>
                </a:solidFill>
              </a:rPr>
              <a:t>日发布，</a:t>
            </a:r>
            <a:r>
              <a:rPr lang="en-US" altLang="zh-CN" sz="1600" dirty="0">
                <a:solidFill>
                  <a:schemeClr val="tx1"/>
                </a:solidFill>
              </a:rPr>
              <a:t> W3C</a:t>
            </a:r>
            <a:r>
              <a:rPr lang="zh-CN" altLang="en-US" sz="1600" dirty="0">
                <a:solidFill>
                  <a:schemeClr val="tx1"/>
                </a:solidFill>
              </a:rPr>
              <a:t>推荐标准。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HTML5.2</a:t>
            </a:r>
            <a:r>
              <a:rPr sz="1600" dirty="0">
                <a:solidFill>
                  <a:schemeClr val="tx1"/>
                </a:solidFill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</a:rPr>
              <a:t> 2017</a:t>
            </a:r>
            <a:r>
              <a:rPr sz="1600" dirty="0">
                <a:solidFill>
                  <a:schemeClr val="tx1"/>
                </a:solidFill>
              </a:rPr>
              <a:t>年</a:t>
            </a:r>
            <a:r>
              <a:rPr lang="en-US" altLang="zh-CN" sz="1600" dirty="0">
                <a:solidFill>
                  <a:schemeClr val="tx1"/>
                </a:solidFill>
              </a:rPr>
              <a:t>12</a:t>
            </a:r>
            <a:r>
              <a:rPr sz="1600" dirty="0">
                <a:solidFill>
                  <a:schemeClr val="tx1"/>
                </a:solidFill>
              </a:rPr>
              <a:t>月</a:t>
            </a:r>
            <a:r>
              <a:rPr lang="en-US" altLang="zh-CN" sz="1600" dirty="0">
                <a:solidFill>
                  <a:schemeClr val="tx1"/>
                </a:solidFill>
              </a:rPr>
              <a:t>14</a:t>
            </a:r>
            <a:r>
              <a:rPr sz="1600" dirty="0">
                <a:solidFill>
                  <a:schemeClr val="tx1"/>
                </a:solidFill>
              </a:rPr>
              <a:t>日发布，</a:t>
            </a:r>
            <a:r>
              <a:rPr lang="en-US" altLang="zh-CN" sz="1600" dirty="0">
                <a:solidFill>
                  <a:schemeClr val="tx1"/>
                </a:solidFill>
              </a:rPr>
              <a:t>W3C</a:t>
            </a:r>
            <a:r>
              <a:rPr sz="1600" dirty="0">
                <a:solidFill>
                  <a:schemeClr val="tx1"/>
                </a:solidFill>
              </a:rPr>
              <a:t>推荐标准。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lvl="1"/>
            <a:r>
              <a:rPr lang="en-US" altLang="zh-CN" sz="1600" dirty="0">
                <a:solidFill>
                  <a:schemeClr val="tx1"/>
                </a:solidFill>
              </a:rPr>
              <a:t>H5</a:t>
            </a:r>
            <a:r>
              <a:rPr sz="1600" dirty="0">
                <a:solidFill>
                  <a:schemeClr val="tx1"/>
                </a:solidFill>
              </a:rPr>
              <a:t>在手机上的起落落，起起起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>
                <a:latin typeface="微软雅黑" panose="020B0503020204020204" charset="-122"/>
              </a:rPr>
              <a:t>CSS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736600" y="1332230"/>
            <a:ext cx="8169275" cy="1828165"/>
          </a:xfrm>
        </p:spPr>
        <p:txBody>
          <a:bodyPr>
            <a:normAutofit fontScale="77500" lnSpcReduction="10000"/>
          </a:bodyPr>
          <a:lstStyle/>
          <a:p>
            <a:r>
              <a:rPr lang="zh-CN" altLang="en-US" sz="2000" dirty="0"/>
              <a:t>层叠样式表</a:t>
            </a:r>
            <a:r>
              <a:rPr lang="en-US" altLang="zh-CN" sz="2000" dirty="0"/>
              <a:t>CSS</a:t>
            </a:r>
            <a:r>
              <a:rPr lang="zh-CN" altLang="en-US" sz="2000" dirty="0"/>
              <a:t>（</a:t>
            </a:r>
            <a:r>
              <a:rPr lang="en-US" altLang="zh-CN" sz="2000" dirty="0"/>
              <a:t>Cascading Style Sheet</a:t>
            </a:r>
            <a:r>
              <a:rPr lang="zh-CN" altLang="en-US" sz="2000" dirty="0"/>
              <a:t>）级联样式表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/>
              <a:t>1994</a:t>
            </a:r>
            <a:r>
              <a:rPr sz="2000" dirty="0"/>
              <a:t>年由</a:t>
            </a:r>
            <a:r>
              <a:rPr lang="en-US" altLang="zh-CN" sz="2000" dirty="0"/>
              <a:t>Hakon Wium Lie(哈肯·维姆·莱，挪威人)和Bert Bos(伯特·波斯，荷兰)发明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/>
              <a:t>CSS</a:t>
            </a:r>
            <a:r>
              <a:rPr lang="zh-CN" altLang="en-US" sz="2000" dirty="0"/>
              <a:t>作用：可以有效</a:t>
            </a:r>
            <a:r>
              <a:rPr lang="zh-CN" altLang="en-US" sz="2000" dirty="0">
                <a:highlight>
                  <a:srgbClr val="FFFF00"/>
                </a:highlight>
              </a:rPr>
              <a:t>地对页面的布局、字体、颜色、背景和其它效果</a:t>
            </a:r>
            <a:r>
              <a:rPr lang="zh-CN" altLang="en-US" sz="2000" dirty="0"/>
              <a:t>实现更加精确的控制 。</a:t>
            </a:r>
            <a:endParaRPr lang="zh-CN" altLang="en-US" sz="2200" dirty="0"/>
          </a:p>
          <a:p>
            <a:pPr>
              <a:buFont typeface="Wingdings" panose="05000000000000000000" pitchFamily="2" charset="2"/>
              <a:buNone/>
            </a:pPr>
            <a:endParaRPr lang="zh-CN" altLang="en-US" dirty="0"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36600" y="4779645"/>
            <a:ext cx="5035550" cy="9531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p{</a:t>
            </a:r>
          </a:p>
          <a:p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font-size:24px;font-family:</a:t>
            </a:r>
            <a:r>
              <a:rPr lang="zh-CN" altLang="en-US" sz="1400" dirty="0">
                <a:latin typeface="Verdana" panose="020B0604030504040204" pitchFamily="34" charset="0"/>
                <a:cs typeface="Verdana" panose="020B0604030504040204" pitchFamily="34" charset="0"/>
              </a:rPr>
              <a:t>黑体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;</a:t>
            </a:r>
          </a:p>
          <a:p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text-indent:2em;color:#FF0000; }  </a:t>
            </a:r>
          </a:p>
          <a:p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#div1 p{font-size:18px; </a:t>
            </a:r>
            <a:r>
              <a:rPr lang="en-US" altLang="zh-CN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color:blue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; }</a:t>
            </a:r>
          </a:p>
        </p:txBody>
      </p:sp>
      <p:sp>
        <p:nvSpPr>
          <p:cNvPr id="8" name="矩形 7"/>
          <p:cNvSpPr/>
          <p:nvPr/>
        </p:nvSpPr>
        <p:spPr>
          <a:xfrm>
            <a:off x="736600" y="3107690"/>
            <a:ext cx="5035550" cy="1383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&lt;body&gt;</a:t>
            </a:r>
          </a:p>
          <a:p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&lt;p&gt;</a:t>
            </a:r>
            <a:r>
              <a:rPr lang="zh-CN" altLang="en-US" sz="1400" dirty="0">
                <a:latin typeface="Verdana" panose="020B0604030504040204" pitchFamily="34" charset="0"/>
                <a:cs typeface="Verdana" panose="020B0604030504040204" pitchFamily="34" charset="0"/>
              </a:rPr>
              <a:t>这是独立段落！字号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24px&lt;/p&gt;</a:t>
            </a:r>
          </a:p>
          <a:p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&lt;div id="div1" class=""&gt;</a:t>
            </a:r>
          </a:p>
          <a:p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&lt;p&gt;</a:t>
            </a:r>
            <a:r>
              <a:rPr lang="zh-CN" altLang="en-US" sz="1400" dirty="0">
                <a:latin typeface="Verdana" panose="020B0604030504040204" pitchFamily="34" charset="0"/>
                <a:cs typeface="Verdana" panose="020B0604030504040204" pitchFamily="34" charset="0"/>
              </a:rPr>
              <a:t>这是图层中的段落！字号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18px&lt;/p&gt;</a:t>
            </a:r>
          </a:p>
          <a:p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&lt;/div&gt;</a:t>
            </a:r>
          </a:p>
          <a:p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&lt;/body&gt;</a:t>
            </a:r>
            <a:endParaRPr lang="zh-CN" altLang="en-US" sz="1400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>
                <a:latin typeface="微软雅黑" panose="020B0503020204020204" charset="-122"/>
              </a:rPr>
              <a:t> CSS</a:t>
            </a:r>
          </a:p>
        </p:txBody>
      </p:sp>
      <p:sp>
        <p:nvSpPr>
          <p:cNvPr id="15363" name="Rectangle 7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dirty="0"/>
              <a:t>CSS</a:t>
            </a:r>
            <a:r>
              <a:rPr lang="zh-CN" altLang="en-US" sz="1800" dirty="0"/>
              <a:t>发展历史</a:t>
            </a:r>
          </a:p>
          <a:p>
            <a:r>
              <a:rPr lang="en-US" altLang="zh-CN" sz="1600" b="0" dirty="0"/>
              <a:t>CSS1: 1996</a:t>
            </a:r>
            <a:r>
              <a:rPr lang="zh-CN" altLang="en-US" sz="1600" b="0" dirty="0"/>
              <a:t>年</a:t>
            </a:r>
            <a:r>
              <a:rPr lang="en-US" altLang="zh-CN" sz="1600" b="0" dirty="0"/>
              <a:t>12</a:t>
            </a:r>
            <a:r>
              <a:rPr lang="zh-CN" altLang="en-US" sz="1600" b="0" dirty="0"/>
              <a:t>月</a:t>
            </a:r>
            <a:r>
              <a:rPr lang="en-US" altLang="zh-CN" sz="1600" b="0" dirty="0"/>
              <a:t>17</a:t>
            </a:r>
            <a:r>
              <a:rPr lang="zh-CN" altLang="en-US" sz="1600" b="0" dirty="0"/>
              <a:t>日发布，</a:t>
            </a:r>
            <a:r>
              <a:rPr lang="en-US" altLang="zh-CN" sz="1600" b="0" dirty="0"/>
              <a:t>W3C</a:t>
            </a:r>
            <a:r>
              <a:rPr lang="zh-CN" altLang="en-US" sz="1600" b="0" dirty="0"/>
              <a:t>推荐标准，</a:t>
            </a:r>
            <a:r>
              <a:rPr lang="en-US" altLang="zh-CN" sz="1600" b="0" dirty="0"/>
              <a:t>1999</a:t>
            </a:r>
            <a:r>
              <a:rPr lang="zh-CN" altLang="en-US" sz="1600" b="0" dirty="0"/>
              <a:t>年</a:t>
            </a:r>
            <a:r>
              <a:rPr lang="en-US" altLang="zh-CN" sz="1600" b="0" dirty="0"/>
              <a:t>1</a:t>
            </a:r>
            <a:r>
              <a:rPr lang="zh-CN" altLang="en-US" sz="1600" b="0" dirty="0"/>
              <a:t>月</a:t>
            </a:r>
            <a:r>
              <a:rPr lang="en-US" altLang="zh-CN" sz="1600" b="0" dirty="0"/>
              <a:t>11</a:t>
            </a:r>
            <a:r>
              <a:rPr lang="zh-CN" altLang="en-US" sz="1600" b="0" dirty="0"/>
              <a:t>日重新修订； </a:t>
            </a:r>
          </a:p>
          <a:p>
            <a:r>
              <a:rPr lang="en-US" altLang="zh-CN" sz="1600" b="0" dirty="0"/>
              <a:t>CSS2</a:t>
            </a:r>
            <a:r>
              <a:rPr lang="zh-CN" altLang="en-US" sz="1600" b="0" dirty="0"/>
              <a:t>：</a:t>
            </a:r>
            <a:r>
              <a:rPr lang="en-US" altLang="zh-CN" sz="1600" b="0" dirty="0"/>
              <a:t>1999</a:t>
            </a:r>
            <a:r>
              <a:rPr lang="zh-CN" altLang="en-US" sz="1600" b="0" dirty="0"/>
              <a:t>年</a:t>
            </a:r>
            <a:r>
              <a:rPr lang="en-US" altLang="zh-CN" sz="1600" b="0" dirty="0"/>
              <a:t>1</a:t>
            </a:r>
            <a:r>
              <a:rPr lang="zh-CN" altLang="en-US" sz="1600" b="0" dirty="0"/>
              <a:t>月</a:t>
            </a:r>
            <a:r>
              <a:rPr lang="en-US" altLang="zh-CN" sz="1600" b="0" dirty="0"/>
              <a:t>11</a:t>
            </a:r>
            <a:r>
              <a:rPr lang="zh-CN" altLang="en-US" sz="1600" b="0" dirty="0"/>
              <a:t>日发布，</a:t>
            </a:r>
            <a:r>
              <a:rPr lang="en-US" altLang="zh-CN" sz="1600" b="0" dirty="0"/>
              <a:t>W3C</a:t>
            </a:r>
            <a:r>
              <a:rPr lang="zh-CN" altLang="en-US" sz="1600" b="0" dirty="0"/>
              <a:t>推荐标准，</a:t>
            </a:r>
            <a:r>
              <a:rPr lang="en-US" altLang="zh-CN" sz="1600" b="0" dirty="0"/>
              <a:t>CSS2</a:t>
            </a:r>
            <a:r>
              <a:rPr lang="zh-CN" altLang="en-US" sz="1600" b="0" dirty="0"/>
              <a:t>添加了对媒介（打印机和听觉设备）、可下载字体的支持； </a:t>
            </a:r>
          </a:p>
          <a:p>
            <a:r>
              <a:rPr lang="en-US" altLang="zh-CN" sz="1600" b="0" dirty="0"/>
              <a:t>CSS3</a:t>
            </a:r>
            <a:r>
              <a:rPr lang="zh-CN" altLang="en-US" sz="1600" b="0" dirty="0"/>
              <a:t>：将 </a:t>
            </a:r>
            <a:r>
              <a:rPr lang="en-US" altLang="zh-CN" sz="1600" b="0" dirty="0"/>
              <a:t>CSS </a:t>
            </a:r>
            <a:r>
              <a:rPr lang="zh-CN" altLang="en-US" sz="1600" b="0" dirty="0"/>
              <a:t>划分为更小的模块，这些模块包括：盒子模型、列表模块、超链接方式 、语言模块 、背景和边框 、文字特效 、多栏布局等。</a:t>
            </a:r>
            <a:endParaRPr lang="zh-CN" altLang="en-US" sz="1800" b="0" dirty="0"/>
          </a:p>
          <a:p>
            <a:endParaRPr lang="en-US" altLang="zh-CN" sz="1600" dirty="0">
              <a:latin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cs typeface="微软雅黑" panose="020B0503020204020204" charset="-122"/>
              </a:rPr>
              <a:t>现代CSS框架和预处理器如</a:t>
            </a:r>
            <a:r>
              <a:rPr lang="en-US" altLang="zh-CN" sz="1600" dirty="0">
                <a:highlight>
                  <a:srgbClr val="FFFF00"/>
                </a:highlight>
                <a:latin typeface="微软雅黑" panose="020B0503020204020204" charset="-122"/>
                <a:cs typeface="微软雅黑" panose="020B0503020204020204" charset="-122"/>
              </a:rPr>
              <a:t>Bootstrap、Sass和Less等</a:t>
            </a:r>
            <a:r>
              <a:rPr lang="en-US" altLang="zh-CN" sz="1600" dirty="0">
                <a:latin typeface="微软雅黑" panose="020B0503020204020204" charset="-122"/>
                <a:cs typeface="微软雅黑" panose="020B0503020204020204" charset="-122"/>
              </a:rPr>
              <a:t>，为Web开发者提供了更加便捷和高效的样式开发方式</a:t>
            </a: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09600" indent="-609600"/>
            <a:r>
              <a:rPr lang="en-US" altLang="zh-CN" sz="2000">
                <a:latin typeface="微软雅黑" panose="020B0503020204020204" charset="-122"/>
              </a:rPr>
              <a:t>JavaScript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dirty="0"/>
              <a:t>        </a:t>
            </a:r>
            <a:r>
              <a:rPr lang="en-US" altLang="zh-CN" sz="1800" b="0" dirty="0"/>
              <a:t>JavaScript</a:t>
            </a:r>
            <a:r>
              <a:rPr lang="zh-CN" altLang="en-US" sz="1800" b="0" dirty="0"/>
              <a:t>的出现使得网页和用户之间实现了一种实时性的、动态的、交互性的关系，使网页包含更多活跃元素和更加精彩的内容。 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b="0" dirty="0"/>
              <a:t>        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b="0" dirty="0"/>
              <a:t>        JavaScript</a:t>
            </a:r>
            <a:r>
              <a:rPr lang="zh-CN" altLang="en-US" sz="1800" b="0" dirty="0"/>
              <a:t>最初（</a:t>
            </a:r>
            <a:r>
              <a:rPr lang="en-US" altLang="zh-CN" sz="1800" b="0" dirty="0"/>
              <a:t>1995</a:t>
            </a:r>
            <a:r>
              <a:rPr sz="1800" b="0" dirty="0"/>
              <a:t>）</a:t>
            </a:r>
            <a:r>
              <a:rPr lang="zh-CN" altLang="en-US" sz="1800" b="0" dirty="0"/>
              <a:t>由网景公司（</a:t>
            </a:r>
            <a:r>
              <a:rPr lang="en-US" altLang="zh-CN" sz="1800" b="0" dirty="0"/>
              <a:t>Netscape</a:t>
            </a:r>
            <a:r>
              <a:rPr lang="zh-CN" altLang="en-US" sz="1800" b="0" dirty="0"/>
              <a:t>）的</a:t>
            </a:r>
            <a:r>
              <a:rPr lang="en-US" altLang="zh-CN" sz="1800" b="0" dirty="0"/>
              <a:t>Brendan </a:t>
            </a:r>
            <a:r>
              <a:rPr lang="en-US" altLang="zh-CN" sz="1800" b="0" dirty="0" err="1"/>
              <a:t>Eich</a:t>
            </a:r>
            <a:r>
              <a:rPr lang="zh-CN" altLang="en-US" sz="1800" b="0" dirty="0"/>
              <a:t>设计，是一种由</a:t>
            </a:r>
            <a:r>
              <a:rPr lang="en-US" altLang="zh-CN" sz="1800" b="0" dirty="0"/>
              <a:t>Netscape</a:t>
            </a:r>
            <a:r>
              <a:rPr lang="zh-CN" altLang="en-US" sz="1800" b="0" dirty="0"/>
              <a:t>的</a:t>
            </a:r>
            <a:r>
              <a:rPr lang="en-US" altLang="zh-CN" sz="1800" b="0" dirty="0" err="1"/>
              <a:t>LiveScript</a:t>
            </a:r>
            <a:r>
              <a:rPr lang="zh-CN" altLang="en-US" sz="1800" b="0" dirty="0"/>
              <a:t>发展而来的客户端脚本语言，主要目的是为了接近服务器端语言，提供数据验证的基本功能。 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b="0" dirty="0"/>
              <a:t>        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b="0" dirty="0"/>
              <a:t>       </a:t>
            </a:r>
            <a:r>
              <a:rPr lang="zh-CN" altLang="en-US" sz="1800" b="0" dirty="0"/>
              <a:t>一个完整的</a:t>
            </a:r>
            <a:r>
              <a:rPr lang="en-US" altLang="zh-CN" sz="1800" b="0" dirty="0"/>
              <a:t>JavaScript</a:t>
            </a:r>
            <a:r>
              <a:rPr lang="zh-CN" altLang="en-US" sz="1800" b="0" dirty="0"/>
              <a:t>实现是由以下</a:t>
            </a:r>
            <a:r>
              <a:rPr lang="en-US" altLang="zh-CN" sz="1800" b="0" dirty="0"/>
              <a:t>3</a:t>
            </a:r>
            <a:r>
              <a:rPr lang="zh-CN" altLang="en-US" sz="1800" b="0" dirty="0"/>
              <a:t>个不同部分组成的：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b="0" dirty="0"/>
              <a:t>		</a:t>
            </a:r>
            <a:r>
              <a:rPr lang="zh-CN" altLang="en-US" sz="1800" b="0" dirty="0"/>
              <a:t>核心（</a:t>
            </a:r>
            <a:r>
              <a:rPr lang="en-US" altLang="zh-CN" sz="1800" b="0" dirty="0" err="1">
                <a:solidFill>
                  <a:srgbClr val="FF0000"/>
                </a:solidFill>
              </a:rPr>
              <a:t>E</a:t>
            </a:r>
            <a:r>
              <a:rPr lang="en-US" altLang="zh-CN" sz="1800" b="0" dirty="0" err="1"/>
              <a:t>CMA</a:t>
            </a:r>
            <a:r>
              <a:rPr lang="en-US" altLang="zh-CN" sz="1800" b="0" dirty="0" err="1">
                <a:solidFill>
                  <a:srgbClr val="FF0000"/>
                </a:solidFill>
              </a:rPr>
              <a:t>S</a:t>
            </a:r>
            <a:r>
              <a:rPr lang="en-US" altLang="zh-CN" sz="1800" b="0" dirty="0" err="1"/>
              <a:t>cript</a:t>
            </a:r>
            <a:r>
              <a:rPr lang="zh-CN" altLang="en-US" sz="1800" b="0" dirty="0"/>
              <a:t>）、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b="0" dirty="0"/>
              <a:t>	</a:t>
            </a:r>
            <a:r>
              <a:rPr lang="en-US" altLang="zh-CN" sz="1800" b="0" dirty="0">
                <a:highlight>
                  <a:srgbClr val="FFFF00"/>
                </a:highlight>
              </a:rPr>
              <a:t>	</a:t>
            </a:r>
            <a:r>
              <a:rPr lang="zh-CN" altLang="en-US" sz="1800" b="0" dirty="0">
                <a:solidFill>
                  <a:srgbClr val="FF0000"/>
                </a:solidFill>
                <a:highlight>
                  <a:srgbClr val="FFFF00"/>
                </a:highlight>
              </a:rPr>
              <a:t>文档对象</a:t>
            </a:r>
            <a:r>
              <a:rPr lang="zh-CN" altLang="en-US" sz="1800" b="0" dirty="0">
                <a:highlight>
                  <a:srgbClr val="FFFF00"/>
                </a:highlight>
              </a:rPr>
              <a:t>模型（</a:t>
            </a:r>
            <a:r>
              <a:rPr lang="en-US" altLang="zh-CN" sz="1800" b="0" dirty="0">
                <a:highlight>
                  <a:srgbClr val="FFFF00"/>
                </a:highlight>
              </a:rPr>
              <a:t>DOM</a:t>
            </a:r>
            <a:r>
              <a:rPr lang="zh-CN" altLang="en-US" sz="1800" b="0" dirty="0">
                <a:highlight>
                  <a:srgbClr val="FFFF00"/>
                </a:highlight>
              </a:rPr>
              <a:t>）、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b="0" dirty="0"/>
              <a:t>	</a:t>
            </a:r>
            <a:r>
              <a:rPr lang="en-US" altLang="zh-CN" sz="1800" b="0" dirty="0">
                <a:highlight>
                  <a:srgbClr val="FFFF00"/>
                </a:highlight>
              </a:rPr>
              <a:t>	</a:t>
            </a:r>
            <a:r>
              <a:rPr lang="zh-CN" altLang="en-US" sz="1800" b="0" dirty="0">
                <a:highlight>
                  <a:srgbClr val="FFFF00"/>
                </a:highlight>
              </a:rPr>
              <a:t>浏览器对象模型（</a:t>
            </a:r>
            <a:r>
              <a:rPr lang="en-US" altLang="zh-CN" sz="1800" b="0" dirty="0">
                <a:highlight>
                  <a:srgbClr val="FFFF00"/>
                </a:highlight>
              </a:rPr>
              <a:t>BOM</a:t>
            </a:r>
            <a:r>
              <a:rPr lang="zh-CN" altLang="en-US" sz="1800" b="0" dirty="0">
                <a:highlight>
                  <a:srgbClr val="FFFF00"/>
                </a:highlight>
              </a:rPr>
              <a:t>） </a:t>
            </a:r>
            <a:r>
              <a:rPr lang="zh-CN" altLang="en-US" sz="1800" b="0" dirty="0"/>
              <a:t>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HTML DOM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08965" y="1276907"/>
            <a:ext cx="8169275" cy="2218133"/>
          </a:xfrm>
        </p:spPr>
        <p:txBody>
          <a:bodyPr>
            <a:normAutofit lnSpcReduction="2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/>
              <a:t>HTML DOM</a:t>
            </a:r>
            <a:r>
              <a:rPr lang="zh-CN" altLang="en-US" sz="1800" b="0" dirty="0"/>
              <a:t>是</a:t>
            </a:r>
            <a:r>
              <a:rPr lang="en-US" altLang="zh-CN" sz="1800" b="0" dirty="0"/>
              <a:t>Document Object Model</a:t>
            </a:r>
            <a:r>
              <a:rPr lang="zh-CN" altLang="en-US" sz="1800" b="0" dirty="0"/>
              <a:t>文档对象模型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b="0" dirty="0"/>
              <a:t>   1.DOM</a:t>
            </a:r>
            <a:r>
              <a:rPr lang="zh-CN" altLang="en-US" sz="1800" b="0" dirty="0"/>
              <a:t>由来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/>
              <a:t>      DOM</a:t>
            </a:r>
            <a:r>
              <a:rPr lang="zh-CN" altLang="en-US" sz="1800" b="0" dirty="0"/>
              <a:t>的历史追溯至</a:t>
            </a:r>
            <a:r>
              <a:rPr lang="en-US" altLang="zh-CN" sz="1800" b="0" dirty="0"/>
              <a:t>1990</a:t>
            </a:r>
            <a:r>
              <a:rPr lang="zh-CN" altLang="en-US" sz="1800" b="0" dirty="0"/>
              <a:t>年以后代后期</a:t>
            </a:r>
            <a:r>
              <a:rPr lang="en-US" altLang="zh-CN" sz="1800" b="0" dirty="0"/>
              <a:t>Microsoft</a:t>
            </a:r>
            <a:r>
              <a:rPr lang="zh-CN" altLang="en-US" sz="1800" b="0" dirty="0"/>
              <a:t>与</a:t>
            </a:r>
            <a:r>
              <a:rPr lang="en-US" altLang="zh-CN" sz="1800" b="0" dirty="0"/>
              <a:t>Netscape</a:t>
            </a:r>
            <a:r>
              <a:rPr lang="zh-CN" altLang="en-US" sz="1800" b="0" dirty="0"/>
              <a:t>的“浏览器大战”，双方为了在</a:t>
            </a:r>
            <a:r>
              <a:rPr lang="en-US" altLang="zh-CN" sz="1800" b="0" dirty="0"/>
              <a:t>JavaScript</a:t>
            </a:r>
            <a:r>
              <a:rPr lang="zh-CN" altLang="en-US" sz="1800" b="0" dirty="0"/>
              <a:t>与</a:t>
            </a:r>
            <a:r>
              <a:rPr lang="en-US" altLang="zh-CN" sz="1800" b="0" dirty="0" err="1"/>
              <a:t>JScript</a:t>
            </a:r>
            <a:r>
              <a:rPr lang="zh-CN" altLang="en-US" sz="1800" b="0" dirty="0"/>
              <a:t>一决生死，于是大规模的赋予浏览器强大的功能。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zh-CN" altLang="en-US" sz="1800" b="0" dirty="0"/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b="0" dirty="0"/>
              <a:t>   2.DOM</a:t>
            </a:r>
            <a:r>
              <a:rPr lang="zh-CN" altLang="en-US" sz="1800" b="0" dirty="0"/>
              <a:t>结构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1800" b="0" dirty="0">
              <a:ea typeface="宋体" panose="02010600030101010101" pitchFamily="2" charset="-122"/>
            </a:endParaRPr>
          </a:p>
        </p:txBody>
      </p:sp>
      <p:pic>
        <p:nvPicPr>
          <p:cNvPr id="18436" name="Picture 4" descr="DOM HTML TRE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58875" y="3441700"/>
            <a:ext cx="6911340" cy="2824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>
                <a:latin typeface="微软雅黑" panose="020B0503020204020204" charset="-122"/>
              </a:rPr>
              <a:t>HTML DOM</a:t>
            </a:r>
          </a:p>
        </p:txBody>
      </p:sp>
      <p:sp>
        <p:nvSpPr>
          <p:cNvPr id="19459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0" dirty="0"/>
              <a:t>HTML DOM Level</a:t>
            </a:r>
          </a:p>
          <a:p>
            <a:r>
              <a:rPr lang="en-US" altLang="zh-CN" sz="1800" b="0" dirty="0"/>
              <a:t>DOM Level 1</a:t>
            </a:r>
            <a:r>
              <a:rPr lang="zh-CN" altLang="en-US" sz="1800" b="0" dirty="0"/>
              <a:t>：</a:t>
            </a:r>
            <a:r>
              <a:rPr lang="en-US" altLang="zh-CN" sz="1800" b="0" dirty="0"/>
              <a:t>1998</a:t>
            </a:r>
            <a:r>
              <a:rPr lang="zh-CN" altLang="en-US" sz="1800" b="0" dirty="0"/>
              <a:t>年</a:t>
            </a:r>
            <a:r>
              <a:rPr lang="en-US" altLang="zh-CN" sz="1800" b="0" dirty="0"/>
              <a:t>10</a:t>
            </a:r>
            <a:r>
              <a:rPr lang="zh-CN" altLang="en-US" sz="1800" b="0" dirty="0"/>
              <a:t>月发布，</a:t>
            </a:r>
            <a:r>
              <a:rPr lang="en-US" altLang="zh-CN" sz="1800" b="0" dirty="0"/>
              <a:t>W3C</a:t>
            </a:r>
            <a:r>
              <a:rPr lang="zh-CN" altLang="en-US" sz="1800" b="0" dirty="0"/>
              <a:t>推荐规范。含有</a:t>
            </a:r>
            <a:r>
              <a:rPr lang="en-US" altLang="zh-CN" sz="1800" b="0" dirty="0"/>
              <a:t>DOM Core</a:t>
            </a:r>
            <a:r>
              <a:rPr lang="zh-CN" altLang="en-US" sz="1800" b="0" dirty="0"/>
              <a:t>和</a:t>
            </a:r>
            <a:r>
              <a:rPr lang="en-US" altLang="zh-CN" sz="1800" b="0" dirty="0"/>
              <a:t>DOM HTML</a:t>
            </a:r>
            <a:r>
              <a:rPr lang="zh-CN" altLang="en-US" sz="1800" b="0" dirty="0"/>
              <a:t>两个模块；</a:t>
            </a:r>
          </a:p>
          <a:p>
            <a:r>
              <a:rPr lang="en-US" altLang="zh-CN" sz="1800" b="0" dirty="0"/>
              <a:t>DOM Level 2</a:t>
            </a:r>
            <a:r>
              <a:rPr lang="zh-CN" altLang="en-US" sz="1800" b="0" dirty="0"/>
              <a:t>：引入</a:t>
            </a:r>
            <a:r>
              <a:rPr lang="en-US" altLang="zh-CN" sz="1800" b="0" dirty="0"/>
              <a:t>DOM </a:t>
            </a:r>
            <a:r>
              <a:rPr lang="zh-CN" altLang="en-US" sz="1800" b="0" dirty="0"/>
              <a:t>视图、</a:t>
            </a:r>
            <a:r>
              <a:rPr lang="en-US" altLang="zh-CN" sz="1800" b="0" dirty="0"/>
              <a:t>DOM </a:t>
            </a:r>
            <a:r>
              <a:rPr lang="zh-CN" altLang="en-US" sz="1800" b="0" dirty="0"/>
              <a:t>事件、</a:t>
            </a:r>
            <a:r>
              <a:rPr lang="en-US" altLang="zh-CN" sz="1800" b="0" dirty="0"/>
              <a:t>DOM </a:t>
            </a:r>
            <a:r>
              <a:rPr lang="zh-CN" altLang="en-US" sz="1800" b="0" dirty="0"/>
              <a:t>样式、</a:t>
            </a:r>
            <a:r>
              <a:rPr lang="en-US" altLang="zh-CN" sz="1800" b="0" dirty="0"/>
              <a:t>DOM </a:t>
            </a:r>
            <a:r>
              <a:rPr lang="zh-CN" altLang="en-US" sz="1800" b="0" dirty="0"/>
              <a:t>遍历和范围；用于处理新的接口类型；</a:t>
            </a:r>
          </a:p>
          <a:p>
            <a:r>
              <a:rPr lang="en-US" altLang="zh-CN" sz="1800" b="0" dirty="0"/>
              <a:t>DOM Level 3</a:t>
            </a:r>
            <a:r>
              <a:rPr lang="zh-CN" altLang="en-US" sz="1800" b="0" dirty="0"/>
              <a:t>：引入了以统一的方式载入和保持文档的方法</a:t>
            </a:r>
            <a:r>
              <a:rPr lang="en-US" altLang="zh-CN" sz="1800" b="0" dirty="0"/>
              <a:t>,</a:t>
            </a:r>
            <a:r>
              <a:rPr lang="zh-CN" altLang="en-US" sz="1800" b="0" dirty="0"/>
              <a:t>包含在新模块 </a:t>
            </a:r>
            <a:r>
              <a:rPr lang="en-US" altLang="zh-CN" sz="1800" b="0" dirty="0"/>
              <a:t>DOM Load and Save</a:t>
            </a:r>
            <a:r>
              <a:rPr lang="zh-CN" altLang="en-US" sz="1800" b="0" dirty="0"/>
              <a:t>和</a:t>
            </a:r>
            <a:r>
              <a:rPr lang="en-US" altLang="zh-CN" sz="1800" b="0" dirty="0"/>
              <a:t>DOM Validation</a:t>
            </a:r>
            <a:r>
              <a:rPr lang="zh-CN" altLang="en-US" sz="1800" b="0" dirty="0"/>
              <a:t>方法，从而进一步扩展了 </a:t>
            </a:r>
            <a:r>
              <a:rPr lang="en-US" altLang="zh-CN" sz="1800" b="0" dirty="0"/>
              <a:t>DOM</a:t>
            </a:r>
            <a:r>
              <a:rPr lang="zh-CN" altLang="en-US" sz="1800" b="0" dirty="0"/>
              <a:t>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09600" indent="-609600"/>
            <a:r>
              <a:rPr lang="en-US" altLang="zh-CN" sz="2000" dirty="0">
                <a:latin typeface="微软雅黑" panose="020B0503020204020204" charset="-122"/>
              </a:rPr>
              <a:t>BOM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946150"/>
            <a:ext cx="7886700" cy="4965065"/>
          </a:xfrm>
        </p:spPr>
        <p:txBody>
          <a:bodyPr>
            <a:noAutofit/>
          </a:bodyPr>
          <a:lstStyle/>
          <a:p>
            <a:pPr marL="0" indent="539750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/>
              <a:t>BOM(Browser Object Model</a:t>
            </a:r>
            <a:r>
              <a:rPr lang="zh-CN" altLang="en-US" sz="1800" b="0" dirty="0"/>
              <a:t>，浏览器对象模型</a:t>
            </a:r>
            <a:r>
              <a:rPr lang="en-US" altLang="zh-CN" sz="1800" b="0" dirty="0"/>
              <a:t>)</a:t>
            </a:r>
            <a:r>
              <a:rPr lang="zh-CN" altLang="en-US" sz="1800" b="0" dirty="0"/>
              <a:t>。浏览器对象模型定义了</a:t>
            </a:r>
            <a:r>
              <a:rPr lang="en-US" altLang="zh-CN" sz="1800" b="0" dirty="0"/>
              <a:t>JavaScript</a:t>
            </a:r>
            <a:r>
              <a:rPr lang="zh-CN" altLang="en-US" sz="1800" b="0" dirty="0"/>
              <a:t>可以进行操作的浏览器的各个功能部件的接口，提供访问文档各个功能部件（如窗口本身、屏幕功能部件、浏览历史记录等）的途径以及操作方法。</a:t>
            </a:r>
          </a:p>
          <a:p>
            <a:pPr marL="0" indent="539750">
              <a:spcBef>
                <a:spcPts val="0"/>
              </a:spcBef>
              <a:spcAft>
                <a:spcPts val="0"/>
              </a:spcAft>
            </a:pPr>
            <a:endParaRPr lang="zh-CN" altLang="en-US" sz="1800" b="0" dirty="0"/>
          </a:p>
          <a:p>
            <a:pPr marL="0" indent="539750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/>
              <a:t>由于没有相关的</a:t>
            </a:r>
            <a:r>
              <a:rPr lang="en-US" altLang="zh-CN" sz="1800" b="0" dirty="0"/>
              <a:t>BOM</a:t>
            </a:r>
            <a:r>
              <a:rPr lang="zh-CN" altLang="en-US" sz="1800" b="0" dirty="0"/>
              <a:t>标准，每种浏览器都有自己的</a:t>
            </a:r>
            <a:r>
              <a:rPr lang="en-US" altLang="zh-CN" sz="1800" b="0" dirty="0"/>
              <a:t>BOM</a:t>
            </a:r>
            <a:r>
              <a:rPr lang="zh-CN" altLang="en-US" sz="1800" b="0" dirty="0"/>
              <a:t>实现。有一些事实上的标准，如具有一个窗口对象和一个导航对象，不过每种浏览器可以为这些对象或其他对象定义自己的属性和方法。</a:t>
            </a:r>
          </a:p>
          <a:p>
            <a:pPr marL="0" indent="539750">
              <a:spcBef>
                <a:spcPts val="0"/>
              </a:spcBef>
              <a:spcAft>
                <a:spcPts val="0"/>
              </a:spcAft>
            </a:pPr>
            <a:endParaRPr lang="zh-CN" altLang="en-US" sz="1800" b="0" dirty="0"/>
          </a:p>
          <a:p>
            <a:pPr marL="0" indent="539750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/>
              <a:t>常见</a:t>
            </a:r>
            <a:r>
              <a:rPr lang="en-US" altLang="zh-CN" sz="1800" b="0" dirty="0"/>
              <a:t>BOM</a:t>
            </a:r>
            <a:r>
              <a:rPr lang="zh-CN" altLang="en-US" sz="1800" b="0" dirty="0"/>
              <a:t>对象有</a:t>
            </a:r>
            <a:r>
              <a:rPr lang="en-US" altLang="zh-CN" sz="1800" b="0" dirty="0"/>
              <a:t>Window </a:t>
            </a:r>
            <a:r>
              <a:rPr lang="zh-CN" altLang="en-US" sz="1800" b="0" dirty="0"/>
              <a:t>对象、</a:t>
            </a:r>
            <a:r>
              <a:rPr lang="en-US" altLang="zh-CN" sz="1800" b="0" dirty="0"/>
              <a:t>Navigator</a:t>
            </a:r>
            <a:r>
              <a:rPr lang="zh-CN" altLang="en-US" sz="1800" b="0" dirty="0"/>
              <a:t>对象、</a:t>
            </a:r>
            <a:r>
              <a:rPr lang="en-US" altLang="zh-CN" sz="1800" b="0" dirty="0"/>
              <a:t>Screen</a:t>
            </a:r>
            <a:r>
              <a:rPr lang="zh-CN" altLang="en-US" sz="1800" b="0" dirty="0"/>
              <a:t>对象、</a:t>
            </a:r>
            <a:r>
              <a:rPr lang="en-US" altLang="zh-CN" sz="1800" b="0" dirty="0"/>
              <a:t>History</a:t>
            </a:r>
            <a:r>
              <a:rPr lang="zh-CN" altLang="en-US" sz="1800" b="0" dirty="0"/>
              <a:t>对象、</a:t>
            </a:r>
            <a:r>
              <a:rPr lang="en-US" altLang="zh-CN" sz="1800" b="0" dirty="0"/>
              <a:t>Location </a:t>
            </a:r>
            <a:r>
              <a:rPr lang="zh-CN" altLang="en-US" sz="1800" b="0" dirty="0"/>
              <a:t>对象等。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>
                <a:latin typeface="微软雅黑" panose="020B0503020204020204" charset="-122"/>
              </a:rPr>
              <a:t>AJAX</a:t>
            </a:r>
          </a:p>
        </p:txBody>
      </p:sp>
      <p:sp>
        <p:nvSpPr>
          <p:cNvPr id="2150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AJAX</a:t>
            </a:r>
            <a:r>
              <a:rPr lang="zh-CN" altLang="en-US" sz="1800" dirty="0"/>
              <a:t>工作原理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1800" dirty="0"/>
          </a:p>
          <a:p>
            <a:pPr>
              <a:lnSpc>
                <a:spcPct val="90000"/>
              </a:lnSpc>
            </a:pPr>
            <a:r>
              <a:rPr lang="en-US" altLang="zh-CN" sz="1800" dirty="0"/>
              <a:t>Ajax</a:t>
            </a:r>
            <a:r>
              <a:rPr lang="zh-CN" altLang="en-US" sz="1800" dirty="0"/>
              <a:t>的核心是</a:t>
            </a:r>
            <a:r>
              <a:rPr lang="en-US" altLang="zh-CN" sz="1800" dirty="0"/>
              <a:t>JavaScript</a:t>
            </a:r>
            <a:r>
              <a:rPr lang="zh-CN" altLang="en-US" sz="1800" dirty="0"/>
              <a:t>对象</a:t>
            </a:r>
            <a:r>
              <a:rPr lang="en-US" altLang="zh-CN" sz="1800" dirty="0" err="1"/>
              <a:t>XMLHttpRequest</a:t>
            </a:r>
            <a:r>
              <a:rPr lang="zh-CN" altLang="en-US" sz="1800" dirty="0"/>
              <a:t>。该对象在</a:t>
            </a:r>
            <a:r>
              <a:rPr lang="en-US" altLang="zh-CN" sz="1800" dirty="0"/>
              <a:t>IE5</a:t>
            </a:r>
            <a:r>
              <a:rPr lang="zh-CN" altLang="en-US" sz="1800" dirty="0"/>
              <a:t>中首次引入，它是一种支持异步请求的技术。简言之，</a:t>
            </a:r>
            <a:r>
              <a:rPr lang="en-US" altLang="zh-CN" sz="1800" dirty="0" err="1"/>
              <a:t>XMLHttpRequest</a:t>
            </a:r>
            <a:r>
              <a:rPr lang="zh-CN" altLang="en-US" sz="1800" dirty="0"/>
              <a:t>使用</a:t>
            </a:r>
            <a:r>
              <a:rPr lang="en-US" altLang="zh-CN" sz="1800" dirty="0"/>
              <a:t>JavaScript</a:t>
            </a:r>
            <a:r>
              <a:rPr lang="zh-CN" altLang="en-US" sz="1800" dirty="0"/>
              <a:t>向服务器提出请求并处理响应，而不</a:t>
            </a:r>
            <a:r>
              <a:rPr lang="zh-CN" altLang="en-US" sz="1800" dirty="0">
                <a:solidFill>
                  <a:srgbClr val="FF0000"/>
                </a:solidFill>
              </a:rPr>
              <a:t>阻塞</a:t>
            </a:r>
            <a:r>
              <a:rPr lang="zh-CN" altLang="en-US" sz="1800" dirty="0"/>
              <a:t>用户。</a:t>
            </a:r>
          </a:p>
          <a:p>
            <a:pPr>
              <a:lnSpc>
                <a:spcPct val="90000"/>
              </a:lnSpc>
            </a:pPr>
            <a:endParaRPr lang="zh-CN" altLang="en-US" sz="1800" dirty="0"/>
          </a:p>
          <a:p>
            <a:pPr>
              <a:lnSpc>
                <a:spcPct val="90000"/>
              </a:lnSpc>
            </a:pPr>
            <a:r>
              <a:rPr lang="zh-CN" altLang="en-US" sz="1800" dirty="0">
                <a:highlight>
                  <a:srgbClr val="FFFF00"/>
                </a:highlight>
              </a:rPr>
              <a:t>可以局部而不是全局刷新网页</a:t>
            </a: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>
                <a:latin typeface="微软雅黑" panose="020B0503020204020204" charset="-122"/>
              </a:rPr>
              <a:t> </a:t>
            </a:r>
            <a:r>
              <a:rPr lang="en-US" altLang="zh-CN" sz="2000" dirty="0" err="1">
                <a:latin typeface="微软雅黑" panose="020B0503020204020204" charset="-122"/>
              </a:rPr>
              <a:t>jQuery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/>
              <a:t> </a:t>
            </a:r>
            <a:r>
              <a:rPr lang="en-US" altLang="zh-CN" sz="1800" b="0" dirty="0" err="1">
                <a:cs typeface="Verdana" panose="020B0604030504040204" pitchFamily="34" charset="0"/>
              </a:rPr>
              <a:t>jQuery</a:t>
            </a:r>
            <a:r>
              <a:rPr lang="zh-CN" altLang="en-US" sz="1800" b="0" dirty="0">
                <a:cs typeface="Verdana" panose="020B0604030504040204" pitchFamily="34" charset="0"/>
              </a:rPr>
              <a:t>定义</a:t>
            </a:r>
            <a:endParaRPr lang="en-US" altLang="zh-CN" sz="1800" b="0" dirty="0">
              <a:cs typeface="Verdana" panose="020B060403050404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dirty="0">
                <a:cs typeface="Verdana" panose="020B0604030504040204" pitchFamily="34" charset="0"/>
              </a:rPr>
              <a:t>        </a:t>
            </a:r>
            <a:r>
              <a:rPr lang="en-US" altLang="zh-CN" sz="1800" b="0" dirty="0" err="1">
                <a:cs typeface="Verdana" panose="020B0604030504040204" pitchFamily="34" charset="0"/>
              </a:rPr>
              <a:t>jQuery</a:t>
            </a:r>
            <a:r>
              <a:rPr lang="zh-CN" altLang="zh-CN" sz="1800" b="0" dirty="0">
                <a:cs typeface="Verdana" panose="020B0604030504040204" pitchFamily="34" charset="0"/>
              </a:rPr>
              <a:t>是一套</a:t>
            </a:r>
            <a:r>
              <a:rPr lang="zh-CN" altLang="zh-CN" sz="1800" b="0" dirty="0">
                <a:solidFill>
                  <a:schemeClr val="tx1"/>
                </a:solidFill>
                <a:cs typeface="Verdana" panose="020B0604030504040204" pitchFamily="34" charset="0"/>
              </a:rPr>
              <a:t>跨浏览器的</a:t>
            </a:r>
            <a:r>
              <a:rPr lang="en-US" altLang="zh-CN" sz="1800" b="0" dirty="0">
                <a:solidFill>
                  <a:schemeClr val="tx1"/>
                </a:solidFill>
                <a:cs typeface="Verdana" panose="020B0604030504040204" pitchFamily="34" charset="0"/>
              </a:rPr>
              <a:t>JavaScript</a:t>
            </a:r>
            <a:r>
              <a:rPr lang="zh-CN" altLang="zh-CN" sz="1800" b="0" dirty="0">
                <a:solidFill>
                  <a:schemeClr val="tx1"/>
                </a:solidFill>
                <a:cs typeface="Verdana" panose="020B0604030504040204" pitchFamily="34" charset="0"/>
              </a:rPr>
              <a:t>库</a:t>
            </a:r>
            <a:r>
              <a:rPr lang="zh-CN" altLang="zh-CN" sz="1800" b="0" dirty="0">
                <a:cs typeface="Verdana" panose="020B0604030504040204" pitchFamily="34" charset="0"/>
              </a:rPr>
              <a:t>，简化</a:t>
            </a:r>
            <a:r>
              <a:rPr lang="en-US" altLang="zh-CN" sz="1800" b="0" dirty="0">
                <a:cs typeface="Verdana" panose="020B0604030504040204" pitchFamily="34" charset="0"/>
              </a:rPr>
              <a:t>HTML</a:t>
            </a:r>
            <a:r>
              <a:rPr lang="zh-CN" altLang="zh-CN" sz="1800" b="0" dirty="0">
                <a:cs typeface="Verdana" panose="020B0604030504040204" pitchFamily="34" charset="0"/>
              </a:rPr>
              <a:t>与</a:t>
            </a:r>
            <a:r>
              <a:rPr lang="en-US" altLang="zh-CN" sz="1800" b="0" dirty="0">
                <a:cs typeface="Verdana" panose="020B0604030504040204" pitchFamily="34" charset="0"/>
              </a:rPr>
              <a:t>JavaScript</a:t>
            </a:r>
            <a:r>
              <a:rPr lang="zh-CN" altLang="zh-CN" sz="1800" b="0" dirty="0">
                <a:cs typeface="Verdana" panose="020B0604030504040204" pitchFamily="34" charset="0"/>
              </a:rPr>
              <a:t>之间的操作。由</a:t>
            </a:r>
            <a:r>
              <a:rPr lang="en-US" altLang="zh-CN" sz="1800" b="0" dirty="0">
                <a:cs typeface="Verdana" panose="020B0604030504040204" pitchFamily="34" charset="0"/>
              </a:rPr>
              <a:t>John </a:t>
            </a:r>
            <a:r>
              <a:rPr lang="en-US" altLang="zh-CN" sz="1800" b="0" dirty="0" err="1">
                <a:cs typeface="Verdana" panose="020B0604030504040204" pitchFamily="34" charset="0"/>
              </a:rPr>
              <a:t>Resig</a:t>
            </a:r>
            <a:r>
              <a:rPr lang="zh-CN" altLang="zh-CN" sz="1800" b="0" dirty="0">
                <a:cs typeface="Verdana" panose="020B0604030504040204" pitchFamily="34" charset="0"/>
              </a:rPr>
              <a:t>在</a:t>
            </a:r>
            <a:r>
              <a:rPr lang="en-US" altLang="zh-CN" sz="1800" b="0" dirty="0">
                <a:cs typeface="Verdana" panose="020B0604030504040204" pitchFamily="34" charset="0"/>
              </a:rPr>
              <a:t>2006</a:t>
            </a:r>
            <a:r>
              <a:rPr lang="zh-CN" altLang="zh-CN" sz="1800" b="0" dirty="0">
                <a:cs typeface="Verdana" panose="020B0604030504040204" pitchFamily="34" charset="0"/>
              </a:rPr>
              <a:t>年</a:t>
            </a:r>
            <a:r>
              <a:rPr lang="en-US" altLang="zh-CN" sz="1800" b="0" dirty="0">
                <a:cs typeface="Verdana" panose="020B0604030504040204" pitchFamily="34" charset="0"/>
              </a:rPr>
              <a:t>1</a:t>
            </a:r>
            <a:r>
              <a:rPr lang="zh-CN" altLang="zh-CN" sz="1800" b="0" dirty="0">
                <a:cs typeface="Verdana" panose="020B0604030504040204" pitchFamily="34" charset="0"/>
              </a:rPr>
              <a:t>月的</a:t>
            </a:r>
            <a:r>
              <a:rPr lang="en-US" altLang="zh-CN" sz="1800" b="0" dirty="0" err="1">
                <a:cs typeface="Verdana" panose="020B0604030504040204" pitchFamily="34" charset="0"/>
              </a:rPr>
              <a:t>BarCamp</a:t>
            </a:r>
            <a:r>
              <a:rPr lang="en-US" altLang="zh-CN" sz="1800" b="0" dirty="0">
                <a:cs typeface="Verdana" panose="020B0604030504040204" pitchFamily="34" charset="0"/>
              </a:rPr>
              <a:t> NYC</a:t>
            </a:r>
            <a:r>
              <a:rPr lang="zh-CN" altLang="zh-CN" sz="1800" b="0" dirty="0">
                <a:cs typeface="Verdana" panose="020B0604030504040204" pitchFamily="34" charset="0"/>
              </a:rPr>
              <a:t>上发布第一个版本。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dirty="0">
              <a:cs typeface="Verdana" panose="020B060403050404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 err="1">
                <a:cs typeface="Verdana" panose="020B0604030504040204" pitchFamily="34" charset="0"/>
              </a:rPr>
              <a:t>jQuery</a:t>
            </a:r>
            <a:r>
              <a:rPr lang="zh-CN" altLang="en-US" sz="1800" b="0" dirty="0">
                <a:cs typeface="Verdana" panose="020B0604030504040204" pitchFamily="34" charset="0"/>
              </a:rPr>
              <a:t>库的引用</a:t>
            </a:r>
            <a:endParaRPr lang="en-US" altLang="zh-CN" sz="1800" b="0" dirty="0">
              <a:cs typeface="Verdana" panose="020B060403050404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dirty="0">
                <a:highlight>
                  <a:srgbClr val="FFFF00"/>
                </a:highlight>
                <a:cs typeface="Verdana" panose="020B0604030504040204" pitchFamily="34" charset="0"/>
              </a:rPr>
              <a:t>        </a:t>
            </a:r>
            <a:r>
              <a:rPr lang="zh-CN" altLang="zh-CN" sz="1800" b="0" dirty="0">
                <a:highlight>
                  <a:srgbClr val="FFFF00"/>
                </a:highlight>
                <a:cs typeface="Verdana" panose="020B0604030504040204" pitchFamily="34" charset="0"/>
              </a:rPr>
              <a:t>通过</a:t>
            </a:r>
            <a:r>
              <a:rPr lang="en-US" altLang="zh-CN" sz="1800" b="0" dirty="0">
                <a:highlight>
                  <a:srgbClr val="FFFF00"/>
                </a:highlight>
                <a:cs typeface="Verdana" panose="020B0604030504040204" pitchFamily="34" charset="0"/>
              </a:rPr>
              <a:t>script</a:t>
            </a:r>
            <a:r>
              <a:rPr lang="zh-CN" altLang="zh-CN" sz="1800" b="0" dirty="0">
                <a:highlight>
                  <a:srgbClr val="FFFF00"/>
                </a:highlight>
                <a:cs typeface="Verdana" panose="020B0604030504040204" pitchFamily="34" charset="0"/>
              </a:rPr>
              <a:t>标记的</a:t>
            </a:r>
            <a:r>
              <a:rPr lang="en-US" altLang="zh-CN" sz="1800" b="0" dirty="0">
                <a:highlight>
                  <a:srgbClr val="FFFF00"/>
                </a:highlight>
                <a:cs typeface="Verdana" panose="020B0604030504040204" pitchFamily="34" charset="0"/>
              </a:rPr>
              <a:t>src</a:t>
            </a:r>
            <a:r>
              <a:rPr lang="zh-CN" altLang="zh-CN" sz="1800" b="0" dirty="0">
                <a:highlight>
                  <a:srgbClr val="FFFF00"/>
                </a:highlight>
                <a:cs typeface="Verdana" panose="020B0604030504040204" pitchFamily="34" charset="0"/>
              </a:rPr>
              <a:t>属性引入外部</a:t>
            </a:r>
            <a:r>
              <a:rPr lang="en-US" altLang="zh-CN" sz="1800" b="0" dirty="0" err="1">
                <a:highlight>
                  <a:srgbClr val="FFFF00"/>
                </a:highlight>
                <a:cs typeface="Verdana" panose="020B0604030504040204" pitchFamily="34" charset="0"/>
              </a:rPr>
              <a:t>jQuery</a:t>
            </a:r>
            <a:r>
              <a:rPr lang="zh-CN" altLang="zh-CN" sz="1800" b="0" dirty="0">
                <a:highlight>
                  <a:srgbClr val="FFFF00"/>
                </a:highlight>
                <a:cs typeface="Verdana" panose="020B0604030504040204" pitchFamily="34" charset="0"/>
              </a:rPr>
              <a:t>文件库</a:t>
            </a:r>
            <a:r>
              <a:rPr lang="zh-CN" altLang="zh-CN" sz="1800" b="0" dirty="0">
                <a:cs typeface="Verdana" panose="020B0604030504040204" pitchFamily="34" charset="0"/>
              </a:rPr>
              <a:t>。</a:t>
            </a:r>
            <a:endParaRPr lang="en-US" altLang="zh-CN" sz="1800" b="0" dirty="0">
              <a:cs typeface="Verdana" panose="020B060403050404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dirty="0">
                <a:cs typeface="Verdana" panose="020B0604030504040204" pitchFamily="34" charset="0"/>
              </a:rPr>
              <a:t>       </a:t>
            </a:r>
            <a:r>
              <a:rPr lang="en-US" altLang="zh-CN" sz="1600" b="0" dirty="0">
                <a:solidFill>
                  <a:srgbClr val="0000FA"/>
                </a:solidFill>
                <a:cs typeface="Verdana" panose="020B0604030504040204" pitchFamily="34" charset="0"/>
              </a:rPr>
              <a:t>&lt;script type="text/</a:t>
            </a:r>
            <a:r>
              <a:rPr lang="en-US" altLang="zh-CN" sz="1600" b="0" dirty="0" err="1">
                <a:solidFill>
                  <a:srgbClr val="0000FA"/>
                </a:solidFill>
                <a:cs typeface="Verdana" panose="020B0604030504040204" pitchFamily="34" charset="0"/>
              </a:rPr>
              <a:t>javascript</a:t>
            </a:r>
            <a:r>
              <a:rPr lang="en-US" altLang="zh-CN" sz="1600" b="0" dirty="0">
                <a:solidFill>
                  <a:srgbClr val="0000FA"/>
                </a:solidFill>
                <a:cs typeface="Verdana" panose="020B0604030504040204" pitchFamily="34" charset="0"/>
              </a:rPr>
              <a:t>" src=" jquery-2.1.1.min.js "&gt;&lt;/script&gt;</a:t>
            </a:r>
            <a:endParaRPr lang="zh-CN" altLang="zh-CN" sz="1800" b="0" dirty="0">
              <a:solidFill>
                <a:srgbClr val="0000FA"/>
              </a:solidFill>
              <a:cs typeface="Verdana" panose="020B0604030504040204" pitchFamily="34" charset="0"/>
            </a:endParaRP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zh-CN" altLang="zh-CN" sz="2000" dirty="0"/>
          </a:p>
          <a:p>
            <a:pPr>
              <a:buFont typeface="Wingdings" panose="05000000000000000000" pitchFamily="2" charset="2"/>
              <a:buNone/>
            </a:pPr>
            <a:endParaRPr lang="zh-CN" altLang="en-US" sz="2000" dirty="0"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Web</a:t>
            </a:r>
            <a:r>
              <a:rPr lang="zh-CN" altLang="en-US" sz="2000"/>
              <a:t>前端开发工具</a:t>
            </a:r>
          </a:p>
        </p:txBody>
      </p:sp>
      <p:sp>
        <p:nvSpPr>
          <p:cNvPr id="2355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200" dirty="0" err="1">
                <a:sym typeface="+mn-ea"/>
              </a:rPr>
              <a:t>VScode</a:t>
            </a:r>
            <a:r>
              <a:rPr sz="2200" dirty="0" err="1">
                <a:sym typeface="+mn-ea"/>
              </a:rPr>
              <a:t>、</a:t>
            </a:r>
            <a:r>
              <a:rPr lang="en-US" altLang="zh-CN" sz="2200" b="0" dirty="0" err="1"/>
              <a:t>WebStorm</a:t>
            </a:r>
            <a:r>
              <a:rPr lang="zh-CN" altLang="en-US" sz="2200" b="0" dirty="0" err="1"/>
              <a:t>、</a:t>
            </a:r>
            <a:r>
              <a:rPr lang="en-US" altLang="zh-CN" sz="2200" b="0" dirty="0" err="1"/>
              <a:t>Sublime Text</a:t>
            </a:r>
            <a:r>
              <a:rPr lang="zh-CN" altLang="en-US" sz="2200" b="0" dirty="0" err="1"/>
              <a:t>、</a:t>
            </a:r>
            <a:r>
              <a:rPr lang="en-US" altLang="zh-CN" sz="2200" b="0" dirty="0" err="1"/>
              <a:t>NotePad</a:t>
            </a:r>
            <a:r>
              <a:rPr lang="zh-CN" altLang="en-US" sz="2200" b="0" dirty="0" err="1"/>
              <a:t>、</a:t>
            </a:r>
            <a:r>
              <a:rPr lang="en-US" altLang="zh-CN" sz="2200" b="0" dirty="0" err="1"/>
              <a:t>EditPlus</a:t>
            </a:r>
            <a:r>
              <a:rPr lang="zh-CN" altLang="en-US" sz="2200" b="0" dirty="0" err="1"/>
              <a:t>、</a:t>
            </a:r>
            <a:r>
              <a:rPr lang="en-US" altLang="zh-CN" sz="2200" b="0" dirty="0"/>
              <a:t>Dreamweaver</a:t>
            </a:r>
            <a:r>
              <a:rPr lang="zh-CN" altLang="en-US" sz="2200" b="0" dirty="0"/>
              <a:t>、</a:t>
            </a:r>
            <a:r>
              <a:rPr lang="en-US" altLang="zh-CN" sz="2200" b="0" dirty="0"/>
              <a:t>Hbuilder</a:t>
            </a:r>
            <a:r>
              <a:rPr lang="zh-CN" altLang="en-US" sz="2200" b="0" dirty="0"/>
              <a:t>等等</a:t>
            </a:r>
          </a:p>
          <a:p>
            <a:endParaRPr lang="en-US" altLang="zh-CN" sz="2200" b="0" dirty="0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/>
              <a:t>浏览器：解析网页源码，渲染页面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zh-CN" sz="2200" dirty="0">
                <a:ea typeface="宋体" panose="02010600030101010101" pitchFamily="2" charset="-122"/>
                <a:sym typeface="+mn-ea"/>
              </a:rPr>
              <a:t>Google Chrome</a:t>
            </a:r>
            <a:endParaRPr lang="fr-FR" altLang="zh-CN" sz="2200" b="0" dirty="0">
              <a:ea typeface="宋体" panose="02010600030101010101" pitchFamily="2" charset="-122"/>
            </a:endParaRPr>
          </a:p>
          <a:p>
            <a:r>
              <a:rPr lang="en-US" altLang="zh-CN" sz="2200">
                <a:ea typeface="宋体" panose="02010600030101010101" pitchFamily="2" charset="-122"/>
                <a:sym typeface="+mn-ea"/>
              </a:rPr>
              <a:t>Mozilla Firefox</a:t>
            </a:r>
            <a:endParaRPr lang="en-US" altLang="zh-CN" sz="2200" b="0" dirty="0"/>
          </a:p>
          <a:p>
            <a:r>
              <a:rPr lang="en-US" altLang="zh-CN" sz="2200" b="0" dirty="0"/>
              <a:t>Edge</a:t>
            </a:r>
            <a:r>
              <a:rPr sz="2200" b="0" dirty="0"/>
              <a:t>（</a:t>
            </a:r>
            <a:r>
              <a:rPr lang="en-US" altLang="zh-CN" sz="2200" b="0" dirty="0"/>
              <a:t>IE</a:t>
            </a:r>
            <a:r>
              <a:rPr sz="2200" b="0" dirty="0"/>
              <a:t>）</a:t>
            </a:r>
            <a:endParaRPr lang="en-US" altLang="zh-CN" sz="2200" b="0" dirty="0">
              <a:ea typeface="宋体" panose="02010600030101010101" pitchFamily="2" charset="-122"/>
            </a:endParaRPr>
          </a:p>
          <a:p>
            <a:r>
              <a:rPr lang="en-US" altLang="zh-CN" sz="2200" b="0" dirty="0"/>
              <a:t>Safari</a:t>
            </a:r>
          </a:p>
          <a:p>
            <a:r>
              <a:rPr lang="en-US" altLang="zh-CN" sz="2200" dirty="0" err="1">
                <a:ea typeface="宋体" panose="02010600030101010101" pitchFamily="2" charset="-122"/>
                <a:sym typeface="+mn-ea"/>
              </a:rPr>
              <a:t>Oprea</a:t>
            </a:r>
            <a:r>
              <a:rPr lang="en-US" altLang="zh-CN" sz="2200" dirty="0">
                <a:ea typeface="宋体" panose="02010600030101010101" pitchFamily="2" charset="-122"/>
                <a:sym typeface="+mn-ea"/>
              </a:rPr>
              <a:t> </a:t>
            </a:r>
            <a:endParaRPr lang="en-US" altLang="zh-CN" sz="2200" b="0" dirty="0"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3917950"/>
            <a:ext cx="8839200" cy="16573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712845" y="3895725"/>
            <a:ext cx="1585595" cy="17348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Small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5870" y="4026535"/>
            <a:ext cx="1440180" cy="14401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微软雅黑" panose="020B0503020204020204" charset="-122"/>
                <a:cs typeface="微软雅黑" panose="020B0503020204020204" charset="-122"/>
              </a:rPr>
              <a:t>浏览器的历史</a:t>
            </a:r>
            <a:endParaRPr lang="zh-CN" altLang="en-US"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9875" lvl="0" indent="-269875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文本（超链接）的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WWW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Nexus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  <a:p>
            <a:pPr marL="269875" lvl="0" indent="-269875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Marc Lowell Andreessen和Eric J. Bina，支持图像的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Mosaic 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1993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，伊利诺大学香槟分校，</a:t>
            </a:r>
            <a:r>
              <a:rPr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网络第一个快速扩散的应用</a:t>
            </a:r>
            <a:endParaRPr lang="en-US" altLang="zh-CN" sz="1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69875" lvl="0" indent="-269875">
              <a:spcBef>
                <a:spcPts val="0"/>
              </a:spcBef>
              <a:spcAft>
                <a:spcPts val="0"/>
              </a:spcAft>
            </a:pPr>
            <a:r>
              <a:rPr sz="1800">
                <a:latin typeface="微软雅黑" panose="020B0503020204020204" charset="-122"/>
                <a:sym typeface="+mn-ea"/>
              </a:rPr>
              <a:t>商业化的</a:t>
            </a:r>
            <a:r>
              <a:rPr lang="en-US" altLang="zh-CN" sz="1800">
                <a:latin typeface="微软雅黑" panose="020B0503020204020204" charset="-122"/>
                <a:sym typeface="+mn-ea"/>
              </a:rPr>
              <a:t>Navigator</a:t>
            </a:r>
            <a:r>
              <a:rPr sz="1800">
                <a:latin typeface="微软雅黑" panose="020B0503020204020204" charset="-122"/>
                <a:sym typeface="+mn-ea"/>
              </a:rPr>
              <a:t>，</a:t>
            </a:r>
            <a:r>
              <a:rPr lang="en-US" altLang="zh-CN" sz="1800">
                <a:latin typeface="微软雅黑" panose="020B0503020204020204" charset="-122"/>
                <a:sym typeface="+mn-ea"/>
              </a:rPr>
              <a:t>1994</a:t>
            </a:r>
            <a:r>
              <a:rPr sz="1800">
                <a:latin typeface="微软雅黑" panose="020B0503020204020204" charset="-122"/>
                <a:sym typeface="+mn-ea"/>
              </a:rPr>
              <a:t>，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Netscape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公司，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Mozilla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内核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1.0-4.0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5.0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改为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 Mozilla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项目组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+Gecko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内核</a:t>
            </a:r>
          </a:p>
          <a:p>
            <a:pPr marL="269875" lvl="0" indent="-269875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IE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1995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，微软，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Trident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内核</a:t>
            </a:r>
          </a:p>
          <a:p>
            <a:pPr marL="727075" lvl="1" indent="-269875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Windows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捆绑销售下的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IE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黄金岁月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 vs. 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网景的失意</a:t>
            </a:r>
            <a:endParaRPr lang="en-US" altLang="zh-CN" sz="1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69875" lvl="0" indent="-269875">
              <a:spcBef>
                <a:spcPts val="0"/>
              </a:spcBef>
              <a:spcAft>
                <a:spcPts val="0"/>
              </a:spcAft>
            </a:pPr>
            <a:endParaRPr lang="en-US" altLang="zh-CN" sz="1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69875" lvl="0" indent="-269875">
              <a:spcBef>
                <a:spcPts val="0"/>
              </a:spcBef>
              <a:spcAft>
                <a:spcPts val="0"/>
              </a:spcAft>
            </a:pPr>
            <a:endParaRPr lang="en-US" altLang="zh-CN" sz="1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69875" lvl="0" indent="-269875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Safari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2003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，苹果）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, WebKit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内核</a:t>
            </a:r>
          </a:p>
          <a:p>
            <a:pPr marL="269875" lvl="0" indent="-269875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Firefox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2004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Mozilla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，网景继承者）</a:t>
            </a:r>
            <a:endParaRPr lang="en-US" altLang="zh-CN" sz="1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69875" lvl="0" indent="-269875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Chrome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Blink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内核，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Chromium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项目，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WebKit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大分支</a:t>
            </a:r>
          </a:p>
          <a:p>
            <a:pPr marL="269875" lvl="0" indent="-269875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Edge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，换基于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</a:rPr>
              <a:t>Chromium</a:t>
            </a:r>
            <a:r>
              <a:rPr sz="1800" b="0" dirty="0">
                <a:latin typeface="微软雅黑" panose="020B0503020204020204" charset="-122"/>
                <a:ea typeface="微软雅黑" panose="020B0503020204020204" charset="-122"/>
              </a:rPr>
              <a:t>项目</a:t>
            </a:r>
          </a:p>
          <a:p>
            <a:pPr marL="269875" lvl="0" indent="-269875">
              <a:spcBef>
                <a:spcPts val="0"/>
              </a:spcBef>
              <a:spcAft>
                <a:spcPts val="0"/>
              </a:spcAft>
            </a:pPr>
            <a:endParaRPr lang="en-US" altLang="zh-CN" sz="1800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浏览器的渲染流程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27835" y="526415"/>
            <a:ext cx="6852285" cy="61868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浏览器的系统架构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3080" y="952500"/>
            <a:ext cx="8116570" cy="538861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335" y="3940810"/>
            <a:ext cx="5878195" cy="25641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WebKit</a:t>
            </a:r>
            <a:r>
              <a:t>的系统架构及渲染流程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96545" y="885190"/>
            <a:ext cx="5067935" cy="38957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Chrome</a:t>
            </a:r>
            <a:r>
              <a:t>和</a:t>
            </a:r>
            <a:r>
              <a:rPr lang="en-US" altLang="zh-CN"/>
              <a:t>Safari</a:t>
            </a:r>
            <a:r>
              <a:t>的系统架构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9885" y="1730375"/>
            <a:ext cx="4131310" cy="34397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525" y="1793875"/>
            <a:ext cx="4015740" cy="36385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Chromium</a:t>
            </a:r>
            <a:r>
              <a:t>架构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2285" y="1219835"/>
            <a:ext cx="8139430" cy="48533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HelloWorld</a:t>
            </a:r>
            <a:r>
              <a:rPr lang="zh-CN" altLang="en-US" sz="2000" dirty="0"/>
              <a:t>案例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7201"/>
          <a:stretch>
            <a:fillRect/>
          </a:stretch>
        </p:blipFill>
        <p:spPr>
          <a:xfrm>
            <a:off x="356870" y="1445895"/>
            <a:ext cx="6010275" cy="425513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505075" y="2790190"/>
            <a:ext cx="6015355" cy="3230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&lt;html&gt;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&lt;head&gt;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&lt;title&gt;Web前端开发技术初步应用&lt;/title&gt;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&lt;style type="text/css"&gt;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p{font-size:20px;color:red;}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h3{font-size:24px;font-weight:bolder;color:#000099;}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&lt;/style&gt;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　 &lt;/head&gt;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　 &lt;body&gt;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&lt;h3&gt;Web前端开发技术&lt;/h3&gt;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&lt;p&gt;HTML&lt;/p&gt;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&lt;p&gt;CSS&lt;/p&gt;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&lt;p&gt;JavaScript&lt;/p&gt;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&lt;h3&gt;网络学习资源&lt;/h3&gt;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&lt;a href="http://www.w3school.com.cn/"&gt;HTML教程&lt;/a&gt;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　　&lt;/body&gt;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&lt;/html&gt;</a:t>
            </a: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参考教材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ym typeface="+mn-ea"/>
              </a:rPr>
              <a:t>储久良，</a:t>
            </a:r>
            <a:r>
              <a:rPr lang="en-US" altLang="zh-CN">
                <a:sym typeface="+mn-ea"/>
              </a:rPr>
              <a:t>Web</a:t>
            </a:r>
            <a:r>
              <a:rPr>
                <a:sym typeface="+mn-ea"/>
              </a:rPr>
              <a:t>前端开发技术</a:t>
            </a:r>
            <a:r>
              <a:rPr lang="en-US" altLang="zh-CN">
                <a:sym typeface="+mn-ea"/>
              </a:rPr>
              <a:t>——Html5</a:t>
            </a:r>
            <a:r>
              <a:rPr>
                <a:sym typeface="+mn-ea"/>
              </a:rPr>
              <a:t>、</a:t>
            </a:r>
            <a:r>
              <a:rPr lang="en-US" altLang="zh-CN">
                <a:sym typeface="+mn-ea"/>
              </a:rPr>
              <a:t>CSS3</a:t>
            </a:r>
            <a:r>
              <a:rPr>
                <a:sym typeface="+mn-ea"/>
              </a:rPr>
              <a:t>、</a:t>
            </a:r>
            <a:r>
              <a:rPr lang="en-US" altLang="zh-CN">
                <a:sym typeface="+mn-ea"/>
              </a:rPr>
              <a:t>JavaScript</a:t>
            </a:r>
            <a:r>
              <a:rPr>
                <a:sym typeface="+mn-ea"/>
              </a:rPr>
              <a:t>（第</a:t>
            </a:r>
            <a:r>
              <a:rPr lang="en-US" altLang="zh-CN">
                <a:sym typeface="+mn-ea"/>
              </a:rPr>
              <a:t>3/4</a:t>
            </a:r>
            <a:r>
              <a:rPr>
                <a:sym typeface="+mn-ea"/>
              </a:rPr>
              <a:t>版），清华大学出版社，</a:t>
            </a:r>
            <a:r>
              <a:rPr lang="en-US" altLang="zh-CN">
                <a:sym typeface="+mn-ea"/>
              </a:rPr>
              <a:t>2019/2023</a:t>
            </a:r>
            <a:endParaRPr lang="en-US" altLang="zh-CN"/>
          </a:p>
          <a:p>
            <a:r>
              <a:rPr>
                <a:sym typeface="+mn-ea"/>
              </a:rPr>
              <a:t>任平红等编著</a:t>
            </a:r>
            <a:r>
              <a:rPr lang="en-US" altLang="zh-CN">
                <a:sym typeface="+mn-ea"/>
              </a:rPr>
              <a:t>. Web</a:t>
            </a:r>
            <a:r>
              <a:rPr>
                <a:sym typeface="+mn-ea"/>
              </a:rPr>
              <a:t>编程基础</a:t>
            </a:r>
            <a:r>
              <a:rPr lang="en-US" altLang="zh-CN">
                <a:sym typeface="+mn-ea"/>
              </a:rPr>
              <a:t>——HTML5</a:t>
            </a:r>
            <a:r>
              <a:rPr>
                <a:sym typeface="+mn-ea"/>
              </a:rPr>
              <a:t>、</a:t>
            </a:r>
            <a:r>
              <a:rPr lang="en-US" altLang="zh-CN">
                <a:sym typeface="+mn-ea"/>
              </a:rPr>
              <a:t>CSS3</a:t>
            </a:r>
            <a:r>
              <a:rPr>
                <a:sym typeface="+mn-ea"/>
              </a:rPr>
              <a:t>、</a:t>
            </a:r>
            <a:r>
              <a:rPr lang="en-US" altLang="zh-CN">
                <a:sym typeface="+mn-ea"/>
              </a:rPr>
              <a:t>JavaScript</a:t>
            </a:r>
            <a:r>
              <a:rPr>
                <a:sym typeface="+mn-ea"/>
              </a:rPr>
              <a:t>（第</a:t>
            </a:r>
            <a:r>
              <a:rPr lang="en-US" altLang="zh-CN">
                <a:sym typeface="+mn-ea"/>
              </a:rPr>
              <a:t>3</a:t>
            </a:r>
            <a:r>
              <a:rPr>
                <a:sym typeface="+mn-ea"/>
              </a:rPr>
              <a:t>版），清华大学出版社，</a:t>
            </a:r>
            <a:r>
              <a:rPr lang="en-US" altLang="zh-CN">
                <a:sym typeface="+mn-ea"/>
              </a:rPr>
              <a:t>2023</a:t>
            </a:r>
            <a:endParaRPr>
              <a:sym typeface="+mn-ea"/>
            </a:endParaRPr>
          </a:p>
          <a:p>
            <a:r>
              <a:rPr lang="en-US" altLang="zh-CN">
                <a:sym typeface="+mn-ea"/>
              </a:rPr>
              <a:t>张树明编著</a:t>
            </a:r>
            <a:r>
              <a:rPr>
                <a:sym typeface="+mn-ea"/>
              </a:rPr>
              <a:t>，</a:t>
            </a:r>
            <a:r>
              <a:rPr lang="en-US" altLang="zh-CN"/>
              <a:t>Web前端设计基础—HTML5、CSS3、JavaScript</a:t>
            </a:r>
            <a:r>
              <a:t>（第</a:t>
            </a:r>
            <a:r>
              <a:rPr lang="en-US" altLang="zh-CN"/>
              <a:t>2</a:t>
            </a:r>
            <a:r>
              <a:t>版），清华大学出版社，</a:t>
            </a:r>
            <a:r>
              <a:rPr lang="en-US" altLang="zh-CN"/>
              <a:t>2019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28dfd125-25b3-4600-8cec-6d65d4749841}"/>
  <p:tag name="KSO_WPP_MARK_KEY" val="db19a582-b203-40c2-8859-fe16c4650c99"/>
  <p:tag name="COMMONDATA" val="eyJoZGlkIjoiZTZiMGM5MmQ4ZjdjYWQzZmJhMGMwZDExYjZjYjk1ZW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2"/>
  <p:tag name="KSO_WM_UNIT_SHOW_EDIT_AREA_INDICATION" val="0"/>
  <p:tag name="KSO_WM_TAG_VERSION" val="1.0"/>
  <p:tag name="KSO_WM_BEAUTIFY_FLAG" val="#wm#"/>
  <p:tag name="KSO_WM_TEMPLATE_CATEGORY" val="custom"/>
  <p:tag name="KSO_WM_TEMPLATE_INDEX" val="20202601"/>
  <p:tag name="KSO_WM_TEMPLATE_THUMBS_INDEX" val="1、4、7、8、9、10、11、13、14、1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1"/>
  <p:tag name="KSO_WM_SLIDE_MODEL_TYPE" val="cov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26a2f30-0e36-47a0-a41f-33a0ce50c545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390,&quot;width&quot;:3167.5007874015746}"/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953,&quot;width&quot;:9916}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heme/theme1.xml><?xml version="1.0" encoding="utf-8"?>
<a:theme xmlns:a="http://schemas.openxmlformats.org/drawingml/2006/main" name="Office 主题​​">
  <a:themeElements>
    <a:clrScheme name="自定义 25">
      <a:dk1>
        <a:srgbClr val="000000"/>
      </a:dk1>
      <a:lt1>
        <a:srgbClr val="FFFFFF"/>
      </a:lt1>
      <a:dk2>
        <a:srgbClr val="E9F3FA"/>
      </a:dk2>
      <a:lt2>
        <a:srgbClr val="FFFFFF"/>
      </a:lt2>
      <a:accent1>
        <a:srgbClr val="4472C4"/>
      </a:accent1>
      <a:accent2>
        <a:srgbClr val="2A8DD4"/>
      </a:accent2>
      <a:accent3>
        <a:srgbClr val="2FA1CF"/>
      </a:accent3>
      <a:accent4>
        <a:srgbClr val="33B2B2"/>
      </a:accent4>
      <a:accent5>
        <a:srgbClr val="35BD81"/>
      </a:accent5>
      <a:accent6>
        <a:srgbClr val="59C54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2343</Words>
  <Application>Microsoft Office PowerPoint</Application>
  <PresentationFormat>全屏显示(4:3)</PresentationFormat>
  <Paragraphs>303</Paragraphs>
  <Slides>32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宋体</vt:lpstr>
      <vt:lpstr>微软雅黑</vt:lpstr>
      <vt:lpstr>Arial</vt:lpstr>
      <vt:lpstr>Times New Roman</vt:lpstr>
      <vt:lpstr>Verdana</vt:lpstr>
      <vt:lpstr>Viner Hand ITC</vt:lpstr>
      <vt:lpstr>Wingdings</vt:lpstr>
      <vt:lpstr>Office 主题​​</vt:lpstr>
      <vt:lpstr>Web编程</vt:lpstr>
      <vt:lpstr>先建个群</vt:lpstr>
      <vt:lpstr>引言</vt:lpstr>
      <vt:lpstr>课程讲什么、怎么学</vt:lpstr>
      <vt:lpstr>考核方式（计划）</vt:lpstr>
      <vt:lpstr>Web的起源</vt:lpstr>
      <vt:lpstr>Web的工作原理</vt:lpstr>
      <vt:lpstr>Web的相关概念</vt:lpstr>
      <vt:lpstr>Web的相关概念</vt:lpstr>
      <vt:lpstr>Web的相关概念</vt:lpstr>
      <vt:lpstr>网站与网页</vt:lpstr>
      <vt:lpstr>Web前端开发工程师的职业需求</vt:lpstr>
      <vt:lpstr>Web前端开发技术 </vt:lpstr>
      <vt:lpstr>HTML超文本标记语言的发展历史</vt:lpstr>
      <vt:lpstr>CSS</vt:lpstr>
      <vt:lpstr> CSS</vt:lpstr>
      <vt:lpstr>JavaScript</vt:lpstr>
      <vt:lpstr>HTML DOM</vt:lpstr>
      <vt:lpstr>HTML DOM</vt:lpstr>
      <vt:lpstr>BOM</vt:lpstr>
      <vt:lpstr>AJAX</vt:lpstr>
      <vt:lpstr> jQuery</vt:lpstr>
      <vt:lpstr>Web前端开发工具</vt:lpstr>
      <vt:lpstr>浏览器：解析网页源码，渲染页面</vt:lpstr>
      <vt:lpstr>浏览器的历史</vt:lpstr>
      <vt:lpstr>浏览器的渲染流程</vt:lpstr>
      <vt:lpstr>浏览器的系统架构</vt:lpstr>
      <vt:lpstr>WebKit的系统架构及渲染流程</vt:lpstr>
      <vt:lpstr>Chrome和Safari的系统架构</vt:lpstr>
      <vt:lpstr>Chromium架构</vt:lpstr>
      <vt:lpstr>HelloWorld案例</vt:lpstr>
      <vt:lpstr>参考教材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Web编程</dc:title>
  <dc:creator/>
  <cp:lastModifiedBy>王锦鸿</cp:lastModifiedBy>
  <cp:revision>160</cp:revision>
  <dcterms:created xsi:type="dcterms:W3CDTF">2019-06-19T02:08:00Z</dcterms:created>
  <dcterms:modified xsi:type="dcterms:W3CDTF">2024-10-24T02:10:11Z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7A05A0EB323D4C2A820A07DCE0B36B9F</vt:lpwstr>
  </property>
</Properties>
</file>