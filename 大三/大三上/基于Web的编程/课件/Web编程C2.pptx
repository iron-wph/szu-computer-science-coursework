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notesSlides/notesSlide1.xml" ContentType="application/vnd.openxmlformats-officedocument.presentationml.notesSlide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notesSlides/notesSlide2.xml" ContentType="application/vnd.openxmlformats-officedocument.presentationml.notesSlide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5"/>
  </p:notesMasterIdLst>
  <p:handoutMasterIdLst>
    <p:handoutMasterId r:id="rId106"/>
  </p:handoutMasterIdLst>
  <p:sldIdLst>
    <p:sldId id="256" r:id="rId2"/>
    <p:sldId id="303" r:id="rId3"/>
    <p:sldId id="304" r:id="rId4"/>
    <p:sldId id="757" r:id="rId5"/>
    <p:sldId id="758" r:id="rId6"/>
    <p:sldId id="305" r:id="rId7"/>
    <p:sldId id="307" r:id="rId8"/>
    <p:sldId id="354" r:id="rId9"/>
    <p:sldId id="530" r:id="rId10"/>
    <p:sldId id="444" r:id="rId11"/>
    <p:sldId id="443" r:id="rId12"/>
    <p:sldId id="311" r:id="rId13"/>
    <p:sldId id="312" r:id="rId14"/>
    <p:sldId id="313" r:id="rId15"/>
    <p:sldId id="442" r:id="rId16"/>
    <p:sldId id="321" r:id="rId17"/>
    <p:sldId id="323" r:id="rId18"/>
    <p:sldId id="324" r:id="rId19"/>
    <p:sldId id="327" r:id="rId20"/>
    <p:sldId id="602" r:id="rId21"/>
    <p:sldId id="335" r:id="rId22"/>
    <p:sldId id="655" r:id="rId23"/>
    <p:sldId id="656" r:id="rId24"/>
    <p:sldId id="657" r:id="rId25"/>
    <p:sldId id="336" r:id="rId26"/>
    <p:sldId id="337" r:id="rId27"/>
    <p:sldId id="346" r:id="rId28"/>
    <p:sldId id="658" r:id="rId29"/>
    <p:sldId id="338" r:id="rId30"/>
    <p:sldId id="340" r:id="rId31"/>
    <p:sldId id="347" r:id="rId32"/>
    <p:sldId id="348" r:id="rId33"/>
    <p:sldId id="385" r:id="rId34"/>
    <p:sldId id="386" r:id="rId35"/>
    <p:sldId id="387" r:id="rId36"/>
    <p:sldId id="388" r:id="rId37"/>
    <p:sldId id="389" r:id="rId38"/>
    <p:sldId id="390" r:id="rId39"/>
    <p:sldId id="391" r:id="rId40"/>
    <p:sldId id="392" r:id="rId41"/>
    <p:sldId id="400" r:id="rId42"/>
    <p:sldId id="393" r:id="rId43"/>
    <p:sldId id="398" r:id="rId44"/>
    <p:sldId id="403" r:id="rId45"/>
    <p:sldId id="404" r:id="rId46"/>
    <p:sldId id="405" r:id="rId47"/>
    <p:sldId id="406" r:id="rId48"/>
    <p:sldId id="407" r:id="rId49"/>
    <p:sldId id="408" r:id="rId50"/>
    <p:sldId id="409" r:id="rId51"/>
    <p:sldId id="411" r:id="rId52"/>
    <p:sldId id="412" r:id="rId53"/>
    <p:sldId id="415" r:id="rId54"/>
    <p:sldId id="423" r:id="rId55"/>
    <p:sldId id="424" r:id="rId56"/>
    <p:sldId id="426" r:id="rId57"/>
    <p:sldId id="428" r:id="rId58"/>
    <p:sldId id="429" r:id="rId59"/>
    <p:sldId id="430" r:id="rId60"/>
    <p:sldId id="659" r:id="rId61"/>
    <p:sldId id="660" r:id="rId62"/>
    <p:sldId id="661" r:id="rId63"/>
    <p:sldId id="662" r:id="rId64"/>
    <p:sldId id="663" r:id="rId65"/>
    <p:sldId id="668" r:id="rId66"/>
    <p:sldId id="674" r:id="rId67"/>
    <p:sldId id="675" r:id="rId68"/>
    <p:sldId id="676" r:id="rId69"/>
    <p:sldId id="677" r:id="rId70"/>
    <p:sldId id="722" r:id="rId71"/>
    <p:sldId id="723" r:id="rId72"/>
    <p:sldId id="724" r:id="rId73"/>
    <p:sldId id="725" r:id="rId74"/>
    <p:sldId id="726" r:id="rId75"/>
    <p:sldId id="727" r:id="rId76"/>
    <p:sldId id="728" r:id="rId77"/>
    <p:sldId id="729" r:id="rId78"/>
    <p:sldId id="730" r:id="rId79"/>
    <p:sldId id="731" r:id="rId80"/>
    <p:sldId id="732" r:id="rId81"/>
    <p:sldId id="733" r:id="rId82"/>
    <p:sldId id="734" r:id="rId83"/>
    <p:sldId id="735" r:id="rId84"/>
    <p:sldId id="736" r:id="rId85"/>
    <p:sldId id="737" r:id="rId86"/>
    <p:sldId id="738" r:id="rId87"/>
    <p:sldId id="739" r:id="rId88"/>
    <p:sldId id="740" r:id="rId89"/>
    <p:sldId id="741" r:id="rId90"/>
    <p:sldId id="742" r:id="rId91"/>
    <p:sldId id="743" r:id="rId92"/>
    <p:sldId id="744" r:id="rId93"/>
    <p:sldId id="745" r:id="rId94"/>
    <p:sldId id="746" r:id="rId95"/>
    <p:sldId id="747" r:id="rId96"/>
    <p:sldId id="748" r:id="rId97"/>
    <p:sldId id="749" r:id="rId98"/>
    <p:sldId id="750" r:id="rId99"/>
    <p:sldId id="751" r:id="rId100"/>
    <p:sldId id="752" r:id="rId101"/>
    <p:sldId id="753" r:id="rId102"/>
    <p:sldId id="754" r:id="rId103"/>
    <p:sldId id="755" r:id="rId104"/>
  </p:sldIdLst>
  <p:sldSz cx="9144000" cy="6858000" type="screen4x3"/>
  <p:notesSz cx="6858000" cy="9144000"/>
  <p:custDataLst>
    <p:tags r:id="rId10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78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1632" y="78"/>
      </p:cViewPr>
      <p:guideLst>
        <p:guide orient="horz" pos="2297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tags" Target="tags/tag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commentAuthors" Target="commentAuthor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presProps" Target="pres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2024/10/24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unix</a:t>
            </a:r>
            <a:r>
              <a:rPr lang="zh-CN" altLang="en-US"/>
              <a:t>和</a:t>
            </a:r>
            <a:r>
              <a:rPr lang="en-US" altLang="zh-CN"/>
              <a:t>windows</a:t>
            </a:r>
            <a:r>
              <a:rPr lang="zh-CN" altLang="en-US"/>
              <a:t>的区别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12" Type="http://schemas.openxmlformats.org/officeDocument/2006/relationships/tags" Target="../tags/tag19.xml"/><Relationship Id="rId2" Type="http://schemas.openxmlformats.org/officeDocument/2006/relationships/tags" Target="../tags/tag9.xml"/><Relationship Id="rId16" Type="http://schemas.openxmlformats.org/officeDocument/2006/relationships/image" Target="../media/image3.png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5" Type="http://schemas.openxmlformats.org/officeDocument/2006/relationships/tags" Target="../tags/tag12.xml"/><Relationship Id="rId15" Type="http://schemas.openxmlformats.org/officeDocument/2006/relationships/image" Target="../media/image2.png"/><Relationship Id="rId10" Type="http://schemas.openxmlformats.org/officeDocument/2006/relationships/tags" Target="../tags/tag17.xml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22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28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image" Target="../media/image6.png"/><Relationship Id="rId5" Type="http://schemas.openxmlformats.org/officeDocument/2006/relationships/tags" Target="../tags/tag36.xml"/><Relationship Id="rId10" Type="http://schemas.openxmlformats.org/officeDocument/2006/relationships/image" Target="../media/image5.png"/><Relationship Id="rId4" Type="http://schemas.openxmlformats.org/officeDocument/2006/relationships/tags" Target="../tags/tag35.xml"/><Relationship Id="rId9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13" Type="http://schemas.openxmlformats.org/officeDocument/2006/relationships/image" Target="../media/image5.png"/><Relationship Id="rId3" Type="http://schemas.openxmlformats.org/officeDocument/2006/relationships/tags" Target="../tags/tag42.xml"/><Relationship Id="rId7" Type="http://schemas.openxmlformats.org/officeDocument/2006/relationships/tags" Target="../tags/tag46.xml"/><Relationship Id="rId12" Type="http://schemas.openxmlformats.org/officeDocument/2006/relationships/image" Target="../media/image6.png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44.xml"/><Relationship Id="rId10" Type="http://schemas.openxmlformats.org/officeDocument/2006/relationships/tags" Target="../tags/tag49.xml"/><Relationship Id="rId4" Type="http://schemas.openxmlformats.org/officeDocument/2006/relationships/tags" Target="../tags/tag43.xml"/><Relationship Id="rId9" Type="http://schemas.openxmlformats.org/officeDocument/2006/relationships/tags" Target="../tags/tag48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57.xml"/><Relationship Id="rId13" Type="http://schemas.openxmlformats.org/officeDocument/2006/relationships/image" Target="../media/image7.png"/><Relationship Id="rId3" Type="http://schemas.openxmlformats.org/officeDocument/2006/relationships/tags" Target="../tags/tag52.xml"/><Relationship Id="rId7" Type="http://schemas.openxmlformats.org/officeDocument/2006/relationships/tags" Target="../tags/tag56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11" Type="http://schemas.openxmlformats.org/officeDocument/2006/relationships/tags" Target="../tags/tag60.xml"/><Relationship Id="rId5" Type="http://schemas.openxmlformats.org/officeDocument/2006/relationships/tags" Target="../tags/tag54.xml"/><Relationship Id="rId10" Type="http://schemas.openxmlformats.org/officeDocument/2006/relationships/tags" Target="../tags/tag59.xml"/><Relationship Id="rId4" Type="http://schemas.openxmlformats.org/officeDocument/2006/relationships/tags" Target="../tags/tag53.xml"/><Relationship Id="rId9" Type="http://schemas.openxmlformats.org/officeDocument/2006/relationships/tags" Target="../tags/tag58.xml"/><Relationship Id="rId1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9" Type="http://schemas.openxmlformats.org/officeDocument/2006/relationships/image" Target="../media/image9.pn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10" Type="http://schemas.openxmlformats.org/officeDocument/2006/relationships/image" Target="../media/image9.png"/><Relationship Id="rId4" Type="http://schemas.openxmlformats.org/officeDocument/2006/relationships/tags" Target="../tags/tag74.xml"/><Relationship Id="rId9" Type="http://schemas.openxmlformats.org/officeDocument/2006/relationships/image" Target="../media/image10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80.xml"/><Relationship Id="rId7" Type="http://schemas.openxmlformats.org/officeDocument/2006/relationships/image" Target="../media/image1.png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82.xml"/><Relationship Id="rId4" Type="http://schemas.openxmlformats.org/officeDocument/2006/relationships/tags" Target="../tags/tag8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90.xml"/><Relationship Id="rId13" Type="http://schemas.openxmlformats.org/officeDocument/2006/relationships/image" Target="../media/image2.png"/><Relationship Id="rId3" Type="http://schemas.openxmlformats.org/officeDocument/2006/relationships/tags" Target="../tags/tag85.xml"/><Relationship Id="rId7" Type="http://schemas.openxmlformats.org/officeDocument/2006/relationships/tags" Target="../tags/tag89.xml"/><Relationship Id="rId12" Type="http://schemas.openxmlformats.org/officeDocument/2006/relationships/image" Target="../media/image1.png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11" Type="http://schemas.openxmlformats.org/officeDocument/2006/relationships/image" Target="../media/image11.png"/><Relationship Id="rId5" Type="http://schemas.openxmlformats.org/officeDocument/2006/relationships/tags" Target="../tags/tag87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86.xml"/><Relationship Id="rId9" Type="http://schemas.openxmlformats.org/officeDocument/2006/relationships/tags" Target="../tags/tag9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94.xml"/><Relationship Id="rId7" Type="http://schemas.openxmlformats.org/officeDocument/2006/relationships/image" Target="../media/image12.png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96.xml"/><Relationship Id="rId4" Type="http://schemas.openxmlformats.org/officeDocument/2006/relationships/tags" Target="../tags/tag95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99.xml"/><Relationship Id="rId7" Type="http://schemas.openxmlformats.org/officeDocument/2006/relationships/tags" Target="../tags/tag103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4" Type="http://schemas.openxmlformats.org/officeDocument/2006/relationships/tags" Target="../tags/tag100.xml"/><Relationship Id="rId9" Type="http://schemas.openxmlformats.org/officeDocument/2006/relationships/image" Target="../media/image13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11.xml"/><Relationship Id="rId3" Type="http://schemas.openxmlformats.org/officeDocument/2006/relationships/tags" Target="../tags/tag106.xml"/><Relationship Id="rId7" Type="http://schemas.openxmlformats.org/officeDocument/2006/relationships/tags" Target="../tags/tag110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10" Type="http://schemas.openxmlformats.org/officeDocument/2006/relationships/image" Target="../media/image9.png"/><Relationship Id="rId4" Type="http://schemas.openxmlformats.org/officeDocument/2006/relationships/tags" Target="../tags/tag107.xml"/><Relationship Id="rId9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19.xml"/><Relationship Id="rId3" Type="http://schemas.openxmlformats.org/officeDocument/2006/relationships/tags" Target="../tags/tag114.xml"/><Relationship Id="rId7" Type="http://schemas.openxmlformats.org/officeDocument/2006/relationships/tags" Target="../tags/tag118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10" Type="http://schemas.openxmlformats.org/officeDocument/2006/relationships/image" Target="../media/image9.png"/><Relationship Id="rId4" Type="http://schemas.openxmlformats.org/officeDocument/2006/relationships/tags" Target="../tags/tag115.xml"/><Relationship Id="rId9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27.xml"/><Relationship Id="rId3" Type="http://schemas.openxmlformats.org/officeDocument/2006/relationships/tags" Target="../tags/tag122.xml"/><Relationship Id="rId7" Type="http://schemas.openxmlformats.org/officeDocument/2006/relationships/tags" Target="../tags/tag126.xml"/><Relationship Id="rId2" Type="http://schemas.openxmlformats.org/officeDocument/2006/relationships/tags" Target="../tags/tag121.xml"/><Relationship Id="rId1" Type="http://schemas.openxmlformats.org/officeDocument/2006/relationships/tags" Target="../tags/tag120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10" Type="http://schemas.openxmlformats.org/officeDocument/2006/relationships/image" Target="../media/image14.png"/><Relationship Id="rId4" Type="http://schemas.openxmlformats.org/officeDocument/2006/relationships/tags" Target="../tags/tag123.xml"/><Relationship Id="rId9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135.xml"/><Relationship Id="rId3" Type="http://schemas.openxmlformats.org/officeDocument/2006/relationships/tags" Target="../tags/tag130.xml"/><Relationship Id="rId7" Type="http://schemas.openxmlformats.org/officeDocument/2006/relationships/tags" Target="../tags/tag134.xml"/><Relationship Id="rId12" Type="http://schemas.openxmlformats.org/officeDocument/2006/relationships/image" Target="../media/image15.png"/><Relationship Id="rId2" Type="http://schemas.openxmlformats.org/officeDocument/2006/relationships/tags" Target="../tags/tag129.xml"/><Relationship Id="rId1" Type="http://schemas.openxmlformats.org/officeDocument/2006/relationships/tags" Target="../tags/tag128.xml"/><Relationship Id="rId6" Type="http://schemas.openxmlformats.org/officeDocument/2006/relationships/tags" Target="../tags/tag133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32.xml"/><Relationship Id="rId10" Type="http://schemas.openxmlformats.org/officeDocument/2006/relationships/tags" Target="../tags/tag137.xml"/><Relationship Id="rId4" Type="http://schemas.openxmlformats.org/officeDocument/2006/relationships/tags" Target="../tags/tag131.xml"/><Relationship Id="rId9" Type="http://schemas.openxmlformats.org/officeDocument/2006/relationships/tags" Target="../tags/tag136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145.xml"/><Relationship Id="rId3" Type="http://schemas.openxmlformats.org/officeDocument/2006/relationships/tags" Target="../tags/tag140.xml"/><Relationship Id="rId7" Type="http://schemas.openxmlformats.org/officeDocument/2006/relationships/tags" Target="../tags/tag144.xml"/><Relationship Id="rId2" Type="http://schemas.openxmlformats.org/officeDocument/2006/relationships/tags" Target="../tags/tag139.xml"/><Relationship Id="rId1" Type="http://schemas.openxmlformats.org/officeDocument/2006/relationships/tags" Target="../tags/tag138.xml"/><Relationship Id="rId6" Type="http://schemas.openxmlformats.org/officeDocument/2006/relationships/tags" Target="../tags/tag143.xml"/><Relationship Id="rId11" Type="http://schemas.openxmlformats.org/officeDocument/2006/relationships/image" Target="../media/image17.png"/><Relationship Id="rId5" Type="http://schemas.openxmlformats.org/officeDocument/2006/relationships/tags" Target="../tags/tag142.xml"/><Relationship Id="rId10" Type="http://schemas.openxmlformats.org/officeDocument/2006/relationships/image" Target="../media/image16.png"/><Relationship Id="rId4" Type="http://schemas.openxmlformats.org/officeDocument/2006/relationships/tags" Target="../tags/tag141.xml"/><Relationship Id="rId9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9144000" cy="7454900"/>
            <a:chOff x="0" y="0"/>
            <a:chExt cx="19200" cy="11740"/>
          </a:xfrm>
        </p:grpSpPr>
        <p:grpSp>
          <p:nvGrpSpPr>
            <p:cNvPr id="6" name="组合 5"/>
            <p:cNvGrpSpPr/>
            <p:nvPr userDrawn="1">
              <p:custDataLst>
                <p:tags r:id="rId9"/>
              </p:custDataLst>
            </p:nvPr>
          </p:nvGrpSpPr>
          <p:grpSpPr>
            <a:xfrm>
              <a:off x="0" y="0"/>
              <a:ext cx="19200" cy="3223"/>
              <a:chOff x="0" y="0"/>
              <a:chExt cx="12192000" cy="2046605"/>
            </a:xfrm>
          </p:grpSpPr>
          <p:pic>
            <p:nvPicPr>
              <p:cNvPr id="7" name="图片 6"/>
              <p:cNvPicPr>
                <a:picLocks noChangeAspect="1"/>
              </p:cNvPicPr>
              <p:nvPr userDrawn="1">
                <p:custDataLst>
                  <p:tags r:id="rId11"/>
                </p:custDataLst>
              </p:nvPr>
            </p:nvPicPr>
            <p:blipFill>
              <a:blip r:embed="rId14"/>
              <a:stretch>
                <a:fillRect/>
              </a:stretch>
            </p:blipFill>
            <p:spPr>
              <a:xfrm>
                <a:off x="0" y="0"/>
                <a:ext cx="12192000" cy="2046605"/>
              </a:xfrm>
              <a:prstGeom prst="rect">
                <a:avLst/>
              </a:prstGeom>
            </p:spPr>
          </p:pic>
          <p:pic>
            <p:nvPicPr>
              <p:cNvPr id="9" name="图片 8"/>
              <p:cNvPicPr>
                <a:picLocks noChangeAspect="1"/>
              </p:cNvPicPr>
              <p:nvPr userDrawn="1">
                <p:custDataLst>
                  <p:tags r:id="rId12"/>
                </p:custDataLst>
              </p:nvPr>
            </p:nvPicPr>
            <p:blipFill rotWithShape="1">
              <a:blip r:embed="rId15"/>
              <a:srcRect/>
              <a:stretch>
                <a:fillRect/>
              </a:stretch>
            </p:blipFill>
            <p:spPr>
              <a:xfrm>
                <a:off x="0" y="10686"/>
                <a:ext cx="12192000" cy="1704978"/>
              </a:xfrm>
              <a:prstGeom prst="rect">
                <a:avLst/>
              </a:prstGeom>
            </p:spPr>
          </p:pic>
        </p:grpSp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0" y="9728"/>
              <a:ext cx="19200" cy="2012"/>
            </a:xfrm>
            <a:prstGeom prst="rect">
              <a:avLst/>
            </a:prstGeom>
          </p:spPr>
        </p:pic>
      </p:grp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1662589" y="3503930"/>
            <a:ext cx="5819299" cy="49149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500" u="none" strike="noStrike" kern="1200" cap="none" spc="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1662351" y="2292046"/>
            <a:ext cx="5819299" cy="1150960"/>
          </a:xfrm>
        </p:spPr>
        <p:txBody>
          <a:bodyPr lIns="90000" tIns="46800" rIns="90000" bIns="46800" anchor="b" anchorCtr="0">
            <a:noAutofit/>
          </a:bodyPr>
          <a:lstStyle>
            <a:lvl1pPr algn="ctr">
              <a:defRPr sz="4500" spc="600" baseline="0">
                <a:solidFill>
                  <a:schemeClr val="accent1"/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3383279" y="4490846"/>
            <a:ext cx="1037320" cy="474726"/>
          </a:xfrm>
          <a:solidFill>
            <a:schemeClr val="accent1"/>
          </a:solidFill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4" hasCustomPrompt="1"/>
            <p:custDataLst>
              <p:tags r:id="rId8"/>
            </p:custDataLst>
          </p:nvPr>
        </p:nvSpPr>
        <p:spPr>
          <a:xfrm>
            <a:off x="4572000" y="4490846"/>
            <a:ext cx="1037319" cy="474726"/>
          </a:xfrm>
          <a:ln>
            <a:solidFill>
              <a:schemeClr val="accent1"/>
            </a:solidFill>
          </a:ln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ln>
                  <a:noFill/>
                </a:ln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02412" y="443234"/>
            <a:ext cx="8139178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502412" y="952508"/>
            <a:ext cx="8139178" cy="5388907"/>
          </a:xfrm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6177281"/>
            <a:ext cx="9144000" cy="13245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35560"/>
            <a:ext cx="9144000" cy="2046605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3938615" y="2681555"/>
            <a:ext cx="2682787" cy="716508"/>
          </a:xfrm>
        </p:spPr>
        <p:txBody>
          <a:bodyPr lIns="90000" tIns="46800" rIns="90000" bIns="0" anchor="ctr" anchorCtr="0">
            <a:normAutofit/>
          </a:bodyPr>
          <a:lstStyle>
            <a:lvl1pPr algn="dist">
              <a:defRPr sz="3300" u="none" strike="noStrike" kern="1200" cap="none" spc="3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3938615" y="3459937"/>
            <a:ext cx="2682788" cy="544296"/>
          </a:xfrm>
        </p:spPr>
        <p:txBody>
          <a:bodyPr lIns="90000" tIns="0" rIns="90000" bIns="46800">
            <a:normAutofit/>
          </a:bodyPr>
          <a:lstStyle>
            <a:lvl1pPr marL="0" indent="0" eaLnBrk="1" fontAlgn="auto" latinLnBrk="0" hangingPunct="1"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02412" y="443234"/>
            <a:ext cx="8139178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502448" y="952508"/>
            <a:ext cx="3962432" cy="5388907"/>
          </a:xfrm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679158" y="952508"/>
            <a:ext cx="3962432" cy="5388907"/>
          </a:xfrm>
        </p:spPr>
        <p:txBody>
          <a:bodyPr lIns="90000" tIns="46800" rIns="90000" bIns="46800">
            <a:normAutofit/>
          </a:bodyPr>
          <a:lstStyle>
            <a:lvl1pPr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>
            <a:off x="-12382" y="5971592"/>
            <a:ext cx="2608970" cy="907998"/>
          </a:xfrm>
          <a:prstGeom prst="rect">
            <a:avLst/>
          </a:prstGeom>
        </p:spPr>
      </p:pic>
      <p:pic>
        <p:nvPicPr>
          <p:cNvPr id="11" name="图片 10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flipH="1">
            <a:off x="6537457" y="5905492"/>
            <a:ext cx="2610830" cy="9740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02412" y="443234"/>
            <a:ext cx="8139178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502448" y="952508"/>
            <a:ext cx="3962432" cy="381003"/>
          </a:xfrm>
        </p:spPr>
        <p:txBody>
          <a:bodyPr lIns="90000" tIns="46800" rIns="90000" bIns="468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502444" y="1406525"/>
            <a:ext cx="3962400" cy="4934752"/>
          </a:xfrm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4676813" y="952508"/>
            <a:ext cx="3962432" cy="381003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4676813" y="1406525"/>
            <a:ext cx="3962432" cy="4934752"/>
          </a:xfrm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12"/>
          <a:srcRect/>
          <a:stretch>
            <a:fillRect/>
          </a:stretch>
        </p:blipFill>
        <p:spPr>
          <a:xfrm flipH="1">
            <a:off x="6537457" y="5905492"/>
            <a:ext cx="2610830" cy="974098"/>
          </a:xfrm>
          <a:prstGeom prst="rect">
            <a:avLst/>
          </a:prstGeom>
        </p:spPr>
      </p:pic>
      <p:pic>
        <p:nvPicPr>
          <p:cNvPr id="11" name="图片 10" descr="C:\Users\kingsoft\Desktop\图片7副本.png图片7副本"/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3"/>
          <a:srcRect/>
          <a:stretch>
            <a:fillRect/>
          </a:stretch>
        </p:blipFill>
        <p:spPr>
          <a:xfrm>
            <a:off x="-12382" y="5971592"/>
            <a:ext cx="2608970" cy="9079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>
            <p:custDataLst>
              <p:tags r:id="rId1"/>
            </p:custDataLst>
          </p:nvPr>
        </p:nvGrpSpPr>
        <p:grpSpPr>
          <a:xfrm>
            <a:off x="0" y="-15482"/>
            <a:ext cx="2737007" cy="6857999"/>
            <a:chOff x="0" y="-15482"/>
            <a:chExt cx="3649343" cy="6857999"/>
          </a:xfrm>
        </p:grpSpPr>
        <p:pic>
          <p:nvPicPr>
            <p:cNvPr id="9" name="图片 8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 rot="16200000">
              <a:off x="-1596587" y="1596587"/>
              <a:ext cx="6842517" cy="3649343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 rotWithShape="1">
            <a:blip r:embed="rId14"/>
            <a:srcRect/>
            <a:stretch>
              <a:fillRect/>
            </a:stretch>
          </p:blipFill>
          <p:spPr>
            <a:xfrm rot="5400000">
              <a:off x="-2338959" y="2323477"/>
              <a:ext cx="6857999" cy="2180082"/>
            </a:xfrm>
            <a:prstGeom prst="rect">
              <a:avLst/>
            </a:prstGeom>
          </p:spPr>
        </p:pic>
      </p:grpSp>
      <p:grpSp>
        <p:nvGrpSpPr>
          <p:cNvPr id="11" name="组合 10"/>
          <p:cNvGrpSpPr/>
          <p:nvPr>
            <p:custDataLst>
              <p:tags r:id="rId2"/>
            </p:custDataLst>
          </p:nvPr>
        </p:nvGrpSpPr>
        <p:grpSpPr>
          <a:xfrm rot="10800000">
            <a:off x="6406993" y="15483"/>
            <a:ext cx="2737007" cy="6857999"/>
            <a:chOff x="0" y="-15482"/>
            <a:chExt cx="3649343" cy="6857999"/>
          </a:xfrm>
        </p:grpSpPr>
        <p:pic>
          <p:nvPicPr>
            <p:cNvPr id="12" name="图片 11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 rot="16200000">
              <a:off x="-1596587" y="1596587"/>
              <a:ext cx="6842517" cy="3649343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 rotWithShape="1">
            <a:blip r:embed="rId14"/>
            <a:srcRect/>
            <a:stretch>
              <a:fillRect/>
            </a:stretch>
          </p:blipFill>
          <p:spPr>
            <a:xfrm rot="5400000">
              <a:off x="-2338959" y="2323477"/>
              <a:ext cx="6857999" cy="2180082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lIns="90000" tIns="46800" rIns="90000" bIns="46800" rtlCol="0" anchor="t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矩形: 圆角 13"/>
          <p:cNvSpPr/>
          <p:nvPr>
            <p:custDataLst>
              <p:tags r:id="rId7"/>
            </p:custDataLst>
          </p:nvPr>
        </p:nvSpPr>
        <p:spPr>
          <a:xfrm>
            <a:off x="4228624" y="1484173"/>
            <a:ext cx="685800" cy="47625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02448" y="443234"/>
            <a:ext cx="8139178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502448" y="952508"/>
            <a:ext cx="3962432" cy="5388907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4679194" y="952508"/>
            <a:ext cx="3962432" cy="5388907"/>
          </a:xfrm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2024/10/24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6173998" y="5327780"/>
            <a:ext cx="297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 rot="5400000">
            <a:off x="-2534087" y="2809615"/>
            <a:ext cx="5143502" cy="1238771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6173998" y="5327780"/>
            <a:ext cx="297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-15240"/>
            <a:ext cx="9144000" cy="2046605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502448" y="952508"/>
            <a:ext cx="8139178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6177281"/>
            <a:ext cx="9144000" cy="116591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35560"/>
            <a:ext cx="9144000" cy="204660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2344229" y="2421777"/>
            <a:ext cx="4455542" cy="1336635"/>
          </a:xfrm>
        </p:spPr>
        <p:txBody>
          <a:bodyPr vert="horz" lIns="90000" tIns="46800" rIns="90000" bIns="4680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1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3"/>
          <a:srcRect/>
          <a:stretch>
            <a:fillRect/>
          </a:stretch>
        </p:blipFill>
        <p:spPr>
          <a:xfrm>
            <a:off x="0" y="-3"/>
            <a:ext cx="9144000" cy="1704978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sz="quarter" idx="13" hasCustomPrompt="1"/>
            <p:custDataLst>
              <p:tags r:id="rId8"/>
            </p:custDataLst>
          </p:nvPr>
        </p:nvSpPr>
        <p:spPr>
          <a:xfrm>
            <a:off x="3474527" y="4417887"/>
            <a:ext cx="976576" cy="485285"/>
          </a:xfrm>
          <a:solidFill>
            <a:schemeClr val="accent1"/>
          </a:solidFill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 hasCustomPrompt="1"/>
            <p:custDataLst>
              <p:tags r:id="rId9"/>
            </p:custDataLst>
          </p:nvPr>
        </p:nvSpPr>
        <p:spPr>
          <a:xfrm>
            <a:off x="4692899" y="4417887"/>
            <a:ext cx="976577" cy="485285"/>
          </a:xfr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lstStyle>
            <a:lvl1pPr>
              <a:defRPr sz="18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6177281"/>
            <a:ext cx="9144000" cy="131520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14789" y="273050"/>
            <a:ext cx="8712041" cy="63119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baseline="0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961200" y="1249200"/>
            <a:ext cx="7219800" cy="723600"/>
          </a:xfrm>
        </p:spPr>
        <p:txBody>
          <a:bodyPr anchor="ctr"/>
          <a:lstStyle>
            <a:lvl1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960835" y="2163600"/>
            <a:ext cx="7219950" cy="3445200"/>
          </a:xfrm>
        </p:spPr>
        <p:txBody>
          <a:bodyPr/>
          <a:lstStyle>
            <a:lvl1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5304452" y="4933186"/>
            <a:ext cx="3622376" cy="16517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0" y="0"/>
            <a:ext cx="3617595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dirty="0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437400" y="770400"/>
            <a:ext cx="2970000" cy="882000"/>
          </a:xfrm>
        </p:spPr>
        <p:txBody>
          <a:bodyPr anchor="ctr"/>
          <a:lstStyle>
            <a:lvl1pPr>
              <a:defRPr sz="27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440100" y="1764000"/>
            <a:ext cx="2967300" cy="4093200"/>
          </a:xfrm>
        </p:spPr>
        <p:txBody>
          <a:bodyPr/>
          <a:lstStyle>
            <a:lvl1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3825900" y="769938"/>
            <a:ext cx="4860000" cy="5087937"/>
          </a:xfrm>
        </p:spPr>
        <p:txBody>
          <a:bodyPr/>
          <a:lstStyle>
            <a:lvl1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6173998" y="5327780"/>
            <a:ext cx="297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0" y="0"/>
            <a:ext cx="9144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9000" y="781200"/>
            <a:ext cx="8232300" cy="626400"/>
          </a:xfrm>
        </p:spPr>
        <p:txBody>
          <a:bodyPr anchor="ctr"/>
          <a:lstStyle>
            <a:lvl1pPr algn="ctr">
              <a:defRPr sz="27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459000" y="1659600"/>
            <a:ext cx="8231981" cy="828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459581" y="2808000"/>
            <a:ext cx="8224200" cy="3430800"/>
          </a:xfrm>
        </p:spPr>
        <p:txBody>
          <a:bodyPr/>
          <a:lstStyle>
            <a:lvl1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pic>
        <p:nvPicPr>
          <p:cNvPr id="16" name="图片 15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6173998" y="5327780"/>
            <a:ext cx="297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2858" y="0"/>
            <a:ext cx="9144000" cy="1975485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0" y="5041901"/>
            <a:ext cx="9144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53600" y="669600"/>
            <a:ext cx="8232300" cy="565200"/>
          </a:xfrm>
        </p:spPr>
        <p:txBody>
          <a:bodyPr anchor="ctr"/>
          <a:lstStyle>
            <a:lvl1pPr algn="ctr"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453628" y="1681200"/>
            <a:ext cx="8243100" cy="3211200"/>
          </a:xfrm>
        </p:spPr>
        <p:txBody>
          <a:bodyPr/>
          <a:lstStyle>
            <a:lvl1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445500" y="5180400"/>
            <a:ext cx="8251200" cy="1011600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6242387"/>
            <a:ext cx="9144000" cy="1231226"/>
          </a:xfrm>
          <a:prstGeom prst="rect">
            <a:avLst/>
          </a:prstGeom>
        </p:spPr>
      </p:pic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0" y="0"/>
            <a:ext cx="9144000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1350">
              <a:latin typeface="Viner Hand ITC" panose="03070502030502020203" charset="0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34700" y="237600"/>
            <a:ext cx="8278200" cy="441964"/>
          </a:xfrm>
        </p:spPr>
        <p:txBody>
          <a:bodyPr>
            <a:normAutofit/>
          </a:bodyPr>
          <a:lstStyle>
            <a:lvl1pPr>
              <a:defRPr sz="21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434700" y="1663200"/>
            <a:ext cx="4006800" cy="2894400"/>
          </a:xfrm>
        </p:spPr>
        <p:txBody>
          <a:bodyPr>
            <a:normAutofit/>
          </a:bodyPr>
          <a:lstStyle>
            <a:lvl1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4681800" y="1663200"/>
            <a:ext cx="4025700" cy="2894400"/>
          </a:xfrm>
        </p:spPr>
        <p:txBody>
          <a:bodyPr>
            <a:normAutofit/>
          </a:bodyPr>
          <a:lstStyle>
            <a:lvl1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429300" y="4816800"/>
            <a:ext cx="4006800" cy="781200"/>
          </a:xfrm>
        </p:spPr>
        <p:txBody>
          <a:bodyPr>
            <a:normAutofit/>
          </a:bodyPr>
          <a:lstStyle>
            <a:lvl1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4689900" y="4813200"/>
            <a:ext cx="4025700" cy="781200"/>
          </a:xfrm>
        </p:spPr>
        <p:txBody>
          <a:bodyPr>
            <a:normAutofit/>
          </a:bodyPr>
          <a:lstStyle>
            <a:lvl1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rgbClr val="EB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0" y="959224"/>
            <a:ext cx="9144000" cy="4939553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5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6321812" y="4917233"/>
            <a:ext cx="2822188" cy="981917"/>
          </a:xfrm>
          <a:prstGeom prst="rect">
            <a:avLst/>
          </a:prstGeom>
        </p:spPr>
      </p:pic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rot="10800000" flipH="1">
            <a:off x="0" y="398"/>
            <a:ext cx="3535204" cy="122999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142100" y="1339200"/>
            <a:ext cx="6858000" cy="2386800"/>
          </a:xfrm>
        </p:spPr>
        <p:txBody>
          <a:bodyPr anchor="b"/>
          <a:lstStyle>
            <a:lvl1pPr algn="ctr">
              <a:defRPr sz="45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141810" y="3862800"/>
            <a:ext cx="6858000" cy="1656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6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502412" y="443230"/>
            <a:ext cx="8139178" cy="441964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502412" y="952508"/>
            <a:ext cx="8139178" cy="5388907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659807" y="6349833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3087000" y="6349833"/>
            <a:ext cx="297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6457950" y="6349833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18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47.xml"/><Relationship Id="rId1" Type="http://schemas.openxmlformats.org/officeDocument/2006/relationships/tags" Target="../tags/tag146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0.xml"/><Relationship Id="rId1" Type="http://schemas.openxmlformats.org/officeDocument/2006/relationships/tags" Target="../tags/tag149.xml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53.xml"/><Relationship Id="rId2" Type="http://schemas.openxmlformats.org/officeDocument/2006/relationships/tags" Target="../tags/tag152.xml"/><Relationship Id="rId1" Type="http://schemas.openxmlformats.org/officeDocument/2006/relationships/tags" Target="../tags/tag151.xml"/><Relationship Id="rId6" Type="http://schemas.openxmlformats.org/officeDocument/2006/relationships/image" Target="../media/image19.png"/><Relationship Id="rId5" Type="http://schemas.openxmlformats.org/officeDocument/2006/relationships/image" Target="../media/image20.png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5.xml"/><Relationship Id="rId1" Type="http://schemas.openxmlformats.org/officeDocument/2006/relationships/tags" Target="../tags/tag154.xml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0.xml"/><Relationship Id="rId1" Type="http://schemas.openxmlformats.org/officeDocument/2006/relationships/tags" Target="../tags/tag159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7.xml"/><Relationship Id="rId1" Type="http://schemas.openxmlformats.org/officeDocument/2006/relationships/tags" Target="../tags/tag16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76.xml"/><Relationship Id="rId1" Type="http://schemas.openxmlformats.org/officeDocument/2006/relationships/tags" Target="../tags/tag17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80.xml"/><Relationship Id="rId1" Type="http://schemas.openxmlformats.org/officeDocument/2006/relationships/tags" Target="../tags/tag17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83.xml"/><Relationship Id="rId1" Type="http://schemas.openxmlformats.org/officeDocument/2006/relationships/tags" Target="../tags/tag18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5.xml"/><Relationship Id="rId1" Type="http://schemas.openxmlformats.org/officeDocument/2006/relationships/tags" Target="../tags/tag184.xml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7.xml"/><Relationship Id="rId1" Type="http://schemas.openxmlformats.org/officeDocument/2006/relationships/tags" Target="../tags/tag18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91.xml"/><Relationship Id="rId1" Type="http://schemas.openxmlformats.org/officeDocument/2006/relationships/tags" Target="../tags/tag19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5.xml"/><Relationship Id="rId4" Type="http://schemas.openxmlformats.org/officeDocument/2006/relationships/hyperlink" Target="http://www.edu.cn/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0.xml"/><Relationship Id="rId4" Type="http://schemas.openxmlformats.org/officeDocument/2006/relationships/image" Target="../media/image3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2.xml"/><Relationship Id="rId1" Type="http://schemas.openxmlformats.org/officeDocument/2006/relationships/tags" Target="../tags/tag21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7.xml"/><Relationship Id="rId1" Type="http://schemas.openxmlformats.org/officeDocument/2006/relationships/tags" Target="../tags/tag21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8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4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5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6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Web</a:t>
            </a:r>
            <a:r>
              <a:rPr lang="zh-CN" altLang="en-US"/>
              <a:t>编程</a:t>
            </a:r>
          </a:p>
        </p:txBody>
      </p:sp>
      <p:sp>
        <p:nvSpPr>
          <p:cNvPr id="11" name="副标题 10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——Web</a:t>
            </a:r>
            <a:r>
              <a:rPr lang="zh-CN" altLang="en-US"/>
              <a:t>前端开发技术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蔡树彬</a:t>
            </a:r>
          </a:p>
        </p:txBody>
      </p:sp>
      <p:sp>
        <p:nvSpPr>
          <p:cNvPr id="13" name="文本占位符 4"/>
          <p:cNvSpPr>
            <a:spLocks noGrp="1"/>
          </p:cNvSpPr>
          <p:nvPr/>
        </p:nvSpPr>
        <p:spPr>
          <a:xfrm>
            <a:off x="4572000" y="4490846"/>
            <a:ext cx="1037319" cy="47472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0000" tIns="46800" rIns="90000" bIns="46800" rtlCol="0" anchor="ctr">
            <a:normAutofit/>
          </a:bodyPr>
          <a:lstStyle>
            <a:lvl1pPr marL="0" indent="0" algn="ctr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200" u="none" strike="noStrike" kern="1200" cap="none" spc="0" normalizeH="0" baseline="0">
                <a:ln>
                  <a:noFill/>
                </a:ln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342900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207135" algn="l"/>
              </a:tabLst>
              <a:defRPr sz="12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685800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2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028700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2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1371600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2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2024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图片 99"/>
          <p:cNvPicPr>
            <a:picLocks noChangeAspect="1"/>
          </p:cNvPicPr>
          <p:nvPr/>
        </p:nvPicPr>
        <p:blipFill>
          <a:blip r:embed="rId3"/>
          <a:srcRect b="25491"/>
          <a:stretch>
            <a:fillRect/>
          </a:stretch>
        </p:blipFill>
        <p:spPr>
          <a:xfrm>
            <a:off x="795655" y="2548255"/>
            <a:ext cx="7552055" cy="35788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1074" name="Rectangle 2"/>
          <p:cNvSpPr>
            <a:spLocks noGrp="1" noChangeArrowheads="1"/>
          </p:cNvSpPr>
          <p:nvPr>
            <p:ph type="ctrTitle" idx="14"/>
          </p:nvPr>
        </p:nvSpPr>
        <p:spPr>
          <a:xfrm>
            <a:off x="1662351" y="1397331"/>
            <a:ext cx="5819299" cy="1150960"/>
          </a:xfrm>
        </p:spPr>
        <p:txBody>
          <a:bodyPr/>
          <a:lstStyle/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HTML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基础</a:t>
            </a:r>
          </a:p>
        </p:txBody>
      </p:sp>
      <p:sp>
        <p:nvSpPr>
          <p:cNvPr id="4" name="副标题 3"/>
          <p:cNvSpPr>
            <a:spLocks noGrp="1"/>
          </p:cNvSpPr>
          <p:nvPr>
            <p:ph type="subTitle" idx="13"/>
          </p:nvPr>
        </p:nvSpPr>
        <p:spPr>
          <a:xfrm>
            <a:off x="4053204" y="2548381"/>
            <a:ext cx="1037320" cy="474726"/>
          </a:xfrm>
        </p:spPr>
        <p:txBody>
          <a:bodyPr/>
          <a:lstStyle/>
          <a:p>
            <a:r>
              <a:rPr lang="zh-CN" altLang="en-US" sz="1600"/>
              <a:t>结构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HTML</a:t>
            </a:r>
            <a:r>
              <a:rPr lang="zh-CN" altLang="en-US" dirty="0"/>
              <a:t>文档示例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/>
            <a:r>
              <a:rPr>
                <a:sym typeface="+mn-ea"/>
              </a:rPr>
              <a:t>一个最基本的</a:t>
            </a:r>
            <a:r>
              <a:rPr lang="en-US" altLang="zh-CN">
                <a:sym typeface="+mn-ea"/>
              </a:rPr>
              <a:t>HTML</a:t>
            </a:r>
            <a:r>
              <a:rPr>
                <a:sym typeface="+mn-ea"/>
              </a:rPr>
              <a:t>文档如下所示（文件扩展名为</a:t>
            </a:r>
            <a:r>
              <a:rPr lang="en-US" altLang="zh-CN">
                <a:sym typeface="+mn-ea"/>
              </a:rPr>
              <a:t>.html</a:t>
            </a:r>
            <a:r>
              <a:rPr>
                <a:sym typeface="+mn-ea"/>
              </a:rPr>
              <a:t>或者</a:t>
            </a:r>
            <a:r>
              <a:rPr lang="en-US" altLang="zh-CN">
                <a:sym typeface="+mn-ea"/>
              </a:rPr>
              <a:t>.htm</a:t>
            </a:r>
            <a:r>
              <a:rPr>
                <a:sym typeface="+mn-ea"/>
              </a:rPr>
              <a:t>）</a:t>
            </a:r>
            <a:endParaRPr lang="en-US" altLang="zh-CN" b="0" dirty="0"/>
          </a:p>
          <a:p>
            <a:pPr marL="0" indent="0">
              <a:buNone/>
            </a:pPr>
            <a:endParaRPr sz="1600" b="0" dirty="0">
              <a:solidFill>
                <a:schemeClr val="tx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02285" y="1418590"/>
            <a:ext cx="8338185" cy="471043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112770" y="1523365"/>
            <a:ext cx="45446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dirty="0">
                <a:sym typeface="+mn-ea"/>
              </a:rPr>
              <a:t>文档类型声明</a:t>
            </a:r>
            <a:r>
              <a:rPr lang="zh-CN" dirty="0">
                <a:sym typeface="+mn-ea"/>
              </a:rPr>
              <a:t>，非</a:t>
            </a:r>
            <a:r>
              <a:rPr lang="en-US" altLang="zh-CN" dirty="0">
                <a:sym typeface="+mn-ea"/>
              </a:rPr>
              <a:t>HTML</a:t>
            </a:r>
            <a:r>
              <a:rPr lang="zh-CN" altLang="en-US" dirty="0">
                <a:sym typeface="+mn-ea"/>
              </a:rPr>
              <a:t>标签，可省略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728845" y="5899150"/>
            <a:ext cx="41116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/>
              <a:t>整体由元素和文本构成的树状结构组成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004185" y="2228850"/>
            <a:ext cx="16840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开始标签</a:t>
            </a:r>
            <a:r>
              <a:rPr lang="en-US" altLang="zh-CN"/>
              <a:t>/</a:t>
            </a:r>
            <a:r>
              <a:rPr lang="zh-CN" altLang="en-US"/>
              <a:t>标记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860550" y="5474335"/>
            <a:ext cx="12522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结束标签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918585" y="3940810"/>
            <a:ext cx="23837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标签可嵌套不可交叉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02285" y="6129020"/>
            <a:ext cx="244221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sz="1600" dirty="0">
                <a:sym typeface="+mn-ea"/>
              </a:rPr>
              <a:t>大小写不敏感，一般小写</a:t>
            </a:r>
            <a:endParaRPr lang="zh-CN" altLang="en-US" sz="1600" dirty="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HTML</a:t>
            </a:r>
            <a:r>
              <a:rPr lang="zh-CN" altLang="en-US" dirty="0"/>
              <a:t>文档示例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/>
            <a:r>
              <a:rPr b="0" dirty="0"/>
              <a:t>浏览器解析示例得到的</a:t>
            </a:r>
            <a:r>
              <a:rPr lang="en-US" altLang="zh-CN" b="0" dirty="0"/>
              <a:t>DOM</a:t>
            </a:r>
            <a:r>
              <a:rPr b="0" dirty="0"/>
              <a:t>树如右：</a:t>
            </a:r>
          </a:p>
          <a:p>
            <a:pPr marL="457200" lvl="1" indent="0"/>
            <a:r>
              <a:rPr b="0" dirty="0"/>
              <a:t>多了许多</a:t>
            </a:r>
            <a:r>
              <a:rPr>
                <a:sym typeface="+mn-ea"/>
              </a:rPr>
              <a:t>文本节点，具体内容是换行和</a:t>
            </a:r>
            <a:r>
              <a:rPr b="0" dirty="0"/>
              <a:t>空格</a:t>
            </a:r>
          </a:p>
          <a:p>
            <a:pPr marL="457200" lvl="1" indent="0"/>
            <a:r>
              <a:rPr lang="en-US" altLang="zh-CN" b="0" dirty="0"/>
              <a:t>document.links[0].href=’aNewTarget.html’</a:t>
            </a:r>
          </a:p>
          <a:p>
            <a:pPr marL="0" indent="0">
              <a:buNone/>
            </a:pPr>
            <a:endParaRPr sz="1600" b="0" dirty="0">
              <a:solidFill>
                <a:schemeClr val="tx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180330" y="200660"/>
            <a:ext cx="3582670" cy="646811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13080" y="2327910"/>
            <a:ext cx="4667250" cy="263715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HTML</a:t>
            </a:r>
            <a:r>
              <a:rPr lang="zh-CN" altLang="en-US" dirty="0"/>
              <a:t>文档示例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/>
            <a:r>
              <a:rPr lang="en-US" altLang="zh-CN" dirty="0">
                <a:sym typeface="+mn-ea"/>
              </a:rPr>
              <a:t>HTML</a:t>
            </a:r>
            <a:r>
              <a:rPr dirty="0">
                <a:sym typeface="+mn-ea"/>
              </a:rPr>
              <a:t>标签的属性</a:t>
            </a:r>
          </a:p>
          <a:p>
            <a:pPr marL="0" indent="0"/>
            <a:r>
              <a:rPr lang="en-US" altLang="zh-CN" b="0" dirty="0">
                <a:highlight>
                  <a:srgbClr val="FFFF00"/>
                </a:highlight>
              </a:rPr>
              <a:t>属性</a:t>
            </a:r>
            <a:r>
              <a:rPr b="0" dirty="0">
                <a:highlight>
                  <a:srgbClr val="FFFF00"/>
                </a:highlight>
              </a:rPr>
              <a:t>位于</a:t>
            </a:r>
            <a:r>
              <a:rPr lang="en-US" altLang="zh-CN" b="0" dirty="0">
                <a:highlight>
                  <a:srgbClr val="FFFF00"/>
                </a:highlight>
              </a:rPr>
              <a:t>开始标签内，由一个名称和一个值组成，中间用"="字符分隔</a:t>
            </a:r>
            <a:r>
              <a:rPr lang="en-US" altLang="zh-CN" b="0" dirty="0"/>
              <a:t>。</a:t>
            </a:r>
          </a:p>
          <a:p>
            <a:pPr marL="0" indent="0"/>
            <a:r>
              <a:rPr lang="en-US" altLang="zh-CN" b="0" dirty="0"/>
              <a:t>如果属性值不包含ASCII 空白字符或任何" ' ` = &lt; 或&gt;，则属性值可以保持未加引号(</a:t>
            </a:r>
            <a:r>
              <a:rPr b="0" dirty="0"/>
              <a:t>但不建议）</a:t>
            </a:r>
            <a:r>
              <a:rPr lang="en-US" altLang="zh-CN" dirty="0">
                <a:sym typeface="+mn-ea"/>
              </a:rPr>
              <a:t>。</a:t>
            </a:r>
            <a:endParaRPr lang="en-US" altLang="zh-CN" b="0" dirty="0"/>
          </a:p>
          <a:p>
            <a:pPr marL="0" indent="0"/>
            <a:r>
              <a:rPr lang="en-US" altLang="zh-CN" b="0" dirty="0"/>
              <a:t>否则，属性值必须使用单引号或双引号括起来</a:t>
            </a:r>
            <a:r>
              <a:rPr b="0" dirty="0"/>
              <a:t>（建议都用</a:t>
            </a:r>
            <a:r>
              <a:rPr b="0" dirty="0">
                <a:highlight>
                  <a:srgbClr val="FFFF00"/>
                </a:highlight>
              </a:rPr>
              <a:t>引号</a:t>
            </a:r>
            <a:r>
              <a:rPr b="0" dirty="0"/>
              <a:t>括起来）。</a:t>
            </a:r>
            <a:endParaRPr lang="en-US" altLang="zh-CN" b="0" dirty="0"/>
          </a:p>
          <a:p>
            <a:pPr marL="0" indent="0"/>
            <a:r>
              <a:rPr lang="en-US" altLang="zh-CN" b="0" dirty="0"/>
              <a:t>如果值为空字符串，则可以省略值和"="字符。</a:t>
            </a:r>
          </a:p>
          <a:p>
            <a:pPr marL="0" indent="0">
              <a:buNone/>
            </a:pPr>
            <a:endParaRPr sz="1600" b="0" dirty="0">
              <a:solidFill>
                <a:schemeClr val="tx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50240" y="2947670"/>
            <a:ext cx="4688840" cy="295275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头部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&lt;head&gt;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zh-CN" altLang="en-US" b="0" dirty="0"/>
              <a:t>头部标记包含的信息一般不显示在网页上。</a:t>
            </a:r>
          </a:p>
          <a:p>
            <a:pPr>
              <a:buNone/>
            </a:pPr>
            <a:r>
              <a:rPr lang="zh-CN" altLang="en-US" b="0" dirty="0"/>
              <a:t>页面标题</a:t>
            </a:r>
            <a:r>
              <a:rPr lang="en-US" altLang="zh-CN" b="0" dirty="0"/>
              <a:t>&lt;title&gt; &lt;/title&gt;</a:t>
            </a:r>
          </a:p>
          <a:p>
            <a:r>
              <a:rPr lang="en-US" altLang="zh-CN" b="0" dirty="0"/>
              <a:t> </a:t>
            </a:r>
            <a:r>
              <a:rPr lang="en-US" altLang="zh-CN" sz="1900" b="0" dirty="0">
                <a:solidFill>
                  <a:srgbClr val="FF0000"/>
                </a:solidFill>
                <a:highlight>
                  <a:srgbClr val="FFFF00"/>
                </a:highlight>
              </a:rPr>
              <a:t>&lt;title&gt;</a:t>
            </a:r>
            <a:r>
              <a:rPr lang="zh-CN" altLang="en-US" sz="1900" b="0" dirty="0">
                <a:solidFill>
                  <a:srgbClr val="FF0000"/>
                </a:solidFill>
                <a:highlight>
                  <a:srgbClr val="FFFF00"/>
                </a:highlight>
              </a:rPr>
              <a:t>深圳大学</a:t>
            </a:r>
            <a:r>
              <a:rPr lang="en-US" altLang="zh-CN" sz="1900" b="0" dirty="0">
                <a:solidFill>
                  <a:srgbClr val="FF0000"/>
                </a:solidFill>
                <a:highlight>
                  <a:srgbClr val="FFFF00"/>
                </a:highlight>
              </a:rPr>
              <a:t>&lt;/title&gt;</a:t>
            </a:r>
            <a:r>
              <a:rPr lang="zh-CN" altLang="en-US" sz="1900" b="0" dirty="0">
                <a:solidFill>
                  <a:srgbClr val="FF0000"/>
                </a:solidFill>
                <a:highlight>
                  <a:srgbClr val="FFFF00"/>
                </a:highlight>
              </a:rPr>
              <a:t>，标题信息显示在浏览器的标题栏上</a:t>
            </a:r>
          </a:p>
          <a:p>
            <a:r>
              <a:rPr lang="zh-CN" altLang="en-US" b="0" dirty="0"/>
              <a:t>&lt;link href="/szu.ico" type="image/x-icon" rel="shortcut icon"&gt;</a:t>
            </a:r>
          </a:p>
          <a:p>
            <a:r>
              <a:rPr lang="zh-CN" altLang="en-US" b="0" dirty="0"/>
              <a:t>&lt;link rel="icon" href="</a:t>
            </a:r>
            <a:r>
              <a:rPr lang="en-US" altLang="zh-CN" b="0" dirty="0"/>
              <a:t>  </a:t>
            </a:r>
            <a:r>
              <a:rPr lang="zh-CN" altLang="en-US" b="0" dirty="0"/>
              <a:t>" type="image/x-icon" /&gt;</a:t>
            </a:r>
          </a:p>
          <a:p>
            <a:endParaRPr lang="zh-CN" altLang="en-US" b="0" dirty="0"/>
          </a:p>
          <a:p>
            <a:endParaRPr lang="zh-CN" altLang="en-US" b="0" dirty="0"/>
          </a:p>
          <a:p>
            <a:endParaRPr lang="zh-CN" altLang="en-US" b="0" dirty="0"/>
          </a:p>
          <a:p>
            <a:endParaRPr lang="zh-CN" altLang="en-US" b="0" dirty="0"/>
          </a:p>
          <a:p>
            <a:endParaRPr lang="zh-CN" altLang="en-US" b="0" dirty="0"/>
          </a:p>
          <a:p>
            <a:endParaRPr lang="zh-CN" altLang="en-US" b="0" dirty="0"/>
          </a:p>
          <a:p>
            <a:r>
              <a:rPr lang="zh-CN" altLang="en-US" b="0" dirty="0"/>
              <a:t>元素与标签、标记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055" y="3014980"/>
            <a:ext cx="6423660" cy="212344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元信息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&lt;meta&gt;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idx="1"/>
          </p:nvPr>
        </p:nvSpPr>
        <p:spPr>
          <a:xfrm>
            <a:off x="502285" y="1253490"/>
            <a:ext cx="7886700" cy="4351338"/>
          </a:xfrm>
        </p:spPr>
        <p:txBody>
          <a:bodyPr>
            <a:normAutofit fontScale="90000" lnSpcReduction="10000"/>
          </a:bodyPr>
          <a:lstStyle/>
          <a:p>
            <a:pPr marL="0">
              <a:spcBef>
                <a:spcPts val="0"/>
              </a:spcBef>
              <a:spcAft>
                <a:spcPts val="0"/>
              </a:spcAft>
            </a:pPr>
            <a:r>
              <a:rPr lang="zh-CN" altLang="en-US" sz="2200" dirty="0">
                <a:sym typeface="+mn-ea"/>
              </a:rPr>
              <a:t>位于文档的头部，其形式是“名称</a:t>
            </a:r>
            <a:r>
              <a:rPr lang="en-US" altLang="zh-CN" sz="2200" dirty="0">
                <a:sym typeface="+mn-ea"/>
              </a:rPr>
              <a:t>/</a:t>
            </a:r>
            <a:r>
              <a:rPr lang="zh-CN" altLang="en-US" sz="2200" dirty="0">
                <a:sym typeface="+mn-ea"/>
              </a:rPr>
              <a:t>值”</a:t>
            </a:r>
            <a:r>
              <a:rPr lang="en-US" altLang="zh-CN" sz="2200" dirty="0">
                <a:sym typeface="+mn-ea"/>
              </a:rPr>
              <a:t>(KV</a:t>
            </a:r>
            <a:r>
              <a:rPr sz="2200" dirty="0">
                <a:sym typeface="+mn-ea"/>
              </a:rPr>
              <a:t>）</a:t>
            </a:r>
            <a:r>
              <a:rPr lang="zh-CN" altLang="en-US" sz="2200" dirty="0">
                <a:sym typeface="+mn-ea"/>
              </a:rPr>
              <a:t>对。</a:t>
            </a:r>
            <a:endParaRPr lang="en-US" altLang="zh-CN" sz="2200" b="0" dirty="0"/>
          </a:p>
          <a:p>
            <a:pPr marL="457200" lvl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dirty="0"/>
              <a:t>META</a:t>
            </a:r>
            <a:r>
              <a:rPr lang="zh-CN" altLang="en-US" sz="1800" b="0" dirty="0"/>
              <a:t>，</a:t>
            </a:r>
            <a:r>
              <a:rPr lang="zh-CN" altLang="en-US" sz="1800" dirty="0">
                <a:solidFill>
                  <a:srgbClr val="FF0000"/>
                </a:solidFill>
                <a:sym typeface="+mn-ea"/>
              </a:rPr>
              <a:t>元信息</a:t>
            </a:r>
            <a:r>
              <a:rPr lang="zh-CN" altLang="en-US" sz="1800" dirty="0">
                <a:sym typeface="+mn-ea"/>
              </a:rPr>
              <a:t>（</a:t>
            </a:r>
            <a:r>
              <a:rPr lang="en-US" altLang="zh-CN" sz="1800" dirty="0">
                <a:sym typeface="+mn-ea"/>
              </a:rPr>
              <a:t>meta-information</a:t>
            </a:r>
            <a:r>
              <a:rPr lang="zh-CN" altLang="en-US" sz="1800" dirty="0">
                <a:sym typeface="+mn-ea"/>
              </a:rPr>
              <a:t>），关于信息的信息。</a:t>
            </a:r>
          </a:p>
          <a:p>
            <a:pPr marL="457200" lvl="1">
              <a:spcBef>
                <a:spcPts val="0"/>
              </a:spcBef>
              <a:spcAft>
                <a:spcPts val="0"/>
              </a:spcAft>
            </a:pPr>
            <a:r>
              <a:rPr lang="zh-CN" altLang="en-US" sz="1800" b="0" dirty="0"/>
              <a:t>如</a:t>
            </a:r>
            <a:r>
              <a:rPr lang="zh-CN" altLang="en-US" sz="1800" b="0" dirty="0">
                <a:highlight>
                  <a:srgbClr val="FFFF00"/>
                </a:highlight>
              </a:rPr>
              <a:t>作者、日期、网页描述、关键词、页面刷新</a:t>
            </a:r>
            <a:r>
              <a:rPr lang="zh-CN" altLang="en-US" sz="1800" b="0" dirty="0"/>
              <a:t>等，</a:t>
            </a:r>
            <a:r>
              <a:rPr lang="zh-CN" altLang="en-US" sz="1800" dirty="0">
                <a:solidFill>
                  <a:srgbClr val="FF0000"/>
                </a:solidFill>
                <a:sym typeface="+mn-ea"/>
              </a:rPr>
              <a:t>不显示在页面中</a:t>
            </a:r>
            <a:r>
              <a:rPr lang="zh-CN" altLang="en-US" sz="1800" dirty="0">
                <a:sym typeface="+mn-ea"/>
              </a:rPr>
              <a:t>。</a:t>
            </a:r>
            <a:endParaRPr lang="zh-CN" altLang="en-US" sz="1830" dirty="0"/>
          </a:p>
          <a:p>
            <a:pPr marL="0">
              <a:spcBef>
                <a:spcPts val="0"/>
              </a:spcBef>
              <a:spcAft>
                <a:spcPts val="0"/>
              </a:spcAft>
            </a:pPr>
            <a:endParaRPr lang="zh-CN" altLang="en-US" sz="2200" b="0" dirty="0"/>
          </a:p>
          <a:p>
            <a:pPr marL="0">
              <a:spcBef>
                <a:spcPts val="0"/>
              </a:spcBef>
              <a:spcAft>
                <a:spcPts val="0"/>
              </a:spcAft>
            </a:pPr>
            <a:r>
              <a:rPr lang="zh-CN" altLang="en-US" sz="2200" b="0" dirty="0"/>
              <a:t>基本语法及分类</a:t>
            </a:r>
          </a:p>
          <a:p>
            <a:pPr mar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800" b="0" dirty="0">
                <a:solidFill>
                  <a:srgbClr val="FF0000"/>
                </a:solidFill>
              </a:rPr>
              <a:t>       </a:t>
            </a:r>
            <a:r>
              <a:rPr lang="en-US" altLang="zh-CN" sz="1800" b="0" dirty="0">
                <a:solidFill>
                  <a:srgbClr val="FF0000"/>
                </a:solidFill>
              </a:rPr>
              <a:t>&lt;meta name="  " content="  "&gt;</a:t>
            </a:r>
          </a:p>
          <a:p>
            <a:pPr mar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800" b="0" dirty="0">
                <a:solidFill>
                  <a:srgbClr val="FF0000"/>
                </a:solidFill>
              </a:rPr>
              <a:t>       </a:t>
            </a:r>
            <a:r>
              <a:rPr lang="fr-FR" altLang="zh-CN" sz="1800" b="0" dirty="0">
                <a:solidFill>
                  <a:srgbClr val="FF0000"/>
                </a:solidFill>
              </a:rPr>
              <a:t>&lt;meta http-equiv="  " content="  "&gt;</a:t>
            </a:r>
            <a:endParaRPr lang="fr-FR" altLang="zh-CN" sz="1400" b="0" dirty="0">
              <a:solidFill>
                <a:srgbClr val="FF0000"/>
              </a:solidFill>
            </a:endParaRPr>
          </a:p>
          <a:p>
            <a:pPr marL="457200" lvl="1"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>
                <a:sym typeface="+mn-ea"/>
              </a:rPr>
              <a:t>name</a:t>
            </a:r>
            <a:r>
              <a:rPr lang="zh-CN" altLang="en-US" sz="1800" dirty="0">
                <a:sym typeface="+mn-ea"/>
              </a:rPr>
              <a:t>属性用于描述网页内容，便于搜索引擎机器人查找、分类。其中最重要的是</a:t>
            </a:r>
            <a:r>
              <a:rPr lang="en-US" altLang="zh-CN" sz="1800" dirty="0">
                <a:highlight>
                  <a:srgbClr val="FFFF00"/>
                </a:highlight>
                <a:sym typeface="+mn-ea"/>
              </a:rPr>
              <a:t>author</a:t>
            </a:r>
            <a:r>
              <a:rPr lang="zh-CN" altLang="en-US" sz="1800" dirty="0">
                <a:highlight>
                  <a:srgbClr val="FFFF00"/>
                </a:highlight>
                <a:sym typeface="+mn-ea"/>
              </a:rPr>
              <a:t>、</a:t>
            </a:r>
            <a:r>
              <a:rPr lang="en-US" altLang="zh-CN" sz="1800" dirty="0">
                <a:highlight>
                  <a:srgbClr val="FFFF00"/>
                </a:highlight>
                <a:sym typeface="+mn-ea"/>
              </a:rPr>
              <a:t>description</a:t>
            </a:r>
            <a:r>
              <a:rPr lang="zh-CN" altLang="en-US" sz="1800" dirty="0">
                <a:highlight>
                  <a:srgbClr val="FFFF00"/>
                </a:highlight>
                <a:sym typeface="+mn-ea"/>
              </a:rPr>
              <a:t>、</a:t>
            </a:r>
            <a:r>
              <a:rPr lang="en-US" altLang="zh-CN" sz="1800" dirty="0">
                <a:highlight>
                  <a:srgbClr val="FFFF00"/>
                </a:highlight>
                <a:sym typeface="+mn-ea"/>
              </a:rPr>
              <a:t>keywords</a:t>
            </a:r>
            <a:r>
              <a:rPr lang="zh-CN" altLang="en-US" sz="1800" dirty="0">
                <a:highlight>
                  <a:srgbClr val="FFFF00"/>
                </a:highlight>
                <a:sym typeface="+mn-ea"/>
              </a:rPr>
              <a:t>、</a:t>
            </a:r>
            <a:r>
              <a:rPr lang="en-US" altLang="zh-CN" sz="1800" dirty="0">
                <a:highlight>
                  <a:srgbClr val="FFFF00"/>
                </a:highlight>
                <a:sym typeface="+mn-ea"/>
              </a:rPr>
              <a:t>robots</a:t>
            </a:r>
            <a:r>
              <a:rPr lang="zh-CN" altLang="en-US" sz="1800" dirty="0">
                <a:highlight>
                  <a:srgbClr val="FFFF00"/>
                </a:highlight>
                <a:sym typeface="+mn-ea"/>
              </a:rPr>
              <a:t>、</a:t>
            </a:r>
            <a:r>
              <a:rPr lang="en-US" altLang="zh-CN" sz="1800" dirty="0">
                <a:highlight>
                  <a:srgbClr val="FFFF00"/>
                </a:highlight>
                <a:sym typeface="+mn-ea"/>
              </a:rPr>
              <a:t>generator</a:t>
            </a:r>
            <a:r>
              <a:rPr lang="zh-CN" altLang="en-US" sz="1800" dirty="0">
                <a:sym typeface="+mn-ea"/>
              </a:rPr>
              <a:t>等。</a:t>
            </a:r>
          </a:p>
          <a:p>
            <a:pPr marL="457200" lvl="1">
              <a:spcBef>
                <a:spcPts val="0"/>
              </a:spcBef>
              <a:spcAft>
                <a:spcPts val="0"/>
              </a:spcAft>
            </a:pPr>
            <a:endParaRPr lang="zh-CN" altLang="en-US" sz="1800" b="0" dirty="0"/>
          </a:p>
          <a:p>
            <a:pPr marL="457200" lvl="1"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>
                <a:sym typeface="+mn-ea"/>
              </a:rPr>
              <a:t>http-equiv</a:t>
            </a:r>
            <a:r>
              <a:rPr lang="zh-CN" altLang="en-US" sz="1800" dirty="0">
                <a:sym typeface="+mn-ea"/>
              </a:rPr>
              <a:t>属性用于提供</a:t>
            </a:r>
            <a:r>
              <a:rPr lang="en-US" altLang="zh-CN" sz="1800" dirty="0">
                <a:sym typeface="+mn-ea"/>
              </a:rPr>
              <a:t>HTTP</a:t>
            </a:r>
            <a:r>
              <a:rPr lang="zh-CN" altLang="en-US" sz="1800" dirty="0">
                <a:sym typeface="+mn-ea"/>
              </a:rPr>
              <a:t>协议的响应头报文，通常为网页加载前提供给浏览器使用。其中最重要的是</a:t>
            </a:r>
            <a:r>
              <a:rPr lang="en-US" altLang="zh-CN" sz="1800" dirty="0">
                <a:highlight>
                  <a:srgbClr val="FFFF00"/>
                </a:highlight>
                <a:sym typeface="+mn-ea"/>
              </a:rPr>
              <a:t>content-type</a:t>
            </a:r>
            <a:r>
              <a:rPr lang="zh-CN" altLang="en-US" sz="1800" dirty="0">
                <a:highlight>
                  <a:srgbClr val="FFFF00"/>
                </a:highlight>
                <a:sym typeface="+mn-ea"/>
              </a:rPr>
              <a:t>、</a:t>
            </a:r>
            <a:r>
              <a:rPr lang="en-US" altLang="zh-CN" sz="1800" strike="sngStrike" dirty="0" err="1">
                <a:highlight>
                  <a:srgbClr val="FFFF00"/>
                </a:highlight>
                <a:sym typeface="+mn-ea"/>
              </a:rPr>
              <a:t>charset</a:t>
            </a:r>
            <a:r>
              <a:rPr lang="zh-CN" altLang="en-US" sz="1800" dirty="0">
                <a:highlight>
                  <a:srgbClr val="FFFF00"/>
                </a:highlight>
                <a:sym typeface="+mn-ea"/>
              </a:rPr>
              <a:t>、</a:t>
            </a:r>
            <a:r>
              <a:rPr lang="en-US" altLang="zh-CN" sz="1800" dirty="0">
                <a:highlight>
                  <a:srgbClr val="FFFF00"/>
                </a:highlight>
                <a:sym typeface="+mn-ea"/>
              </a:rPr>
              <a:t>refresh</a:t>
            </a:r>
            <a:r>
              <a:rPr lang="zh-CN" altLang="en-US" sz="1800" dirty="0">
                <a:highlight>
                  <a:srgbClr val="FFFF00"/>
                </a:highlight>
                <a:sym typeface="+mn-ea"/>
              </a:rPr>
              <a:t>、</a:t>
            </a:r>
            <a:r>
              <a:rPr lang="en-US" altLang="zh-CN" sz="1800" dirty="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expires</a:t>
            </a:r>
            <a:r>
              <a:rPr lang="zh-CN" altLang="en-US" sz="1800" dirty="0">
                <a:highlight>
                  <a:srgbClr val="FFFF00"/>
                </a:highlight>
                <a:sym typeface="+mn-ea"/>
              </a:rPr>
              <a:t>、</a:t>
            </a:r>
            <a:r>
              <a:rPr lang="en-US" altLang="zh-CN" sz="1800" dirty="0">
                <a:highlight>
                  <a:srgbClr val="FFFF00"/>
                </a:highlight>
                <a:sym typeface="+mn-ea"/>
              </a:rPr>
              <a:t>set-cookie</a:t>
            </a:r>
            <a:r>
              <a:rPr lang="zh-CN" altLang="en-US" sz="1800" dirty="0">
                <a:sym typeface="+mn-ea"/>
              </a:rPr>
              <a:t>等。</a:t>
            </a:r>
          </a:p>
          <a:p>
            <a:pPr marL="457200" lvl="1">
              <a:spcBef>
                <a:spcPts val="0"/>
              </a:spcBef>
              <a:spcAft>
                <a:spcPts val="0"/>
              </a:spcAft>
            </a:pPr>
            <a:endParaRPr lang="zh-CN" altLang="en-US" sz="2200" b="0" dirty="0"/>
          </a:p>
          <a:p>
            <a:pPr marL="0">
              <a:spcBef>
                <a:spcPts val="0"/>
              </a:spcBef>
              <a:spcAft>
                <a:spcPts val="0"/>
              </a:spcAft>
            </a:pPr>
            <a:endParaRPr lang="zh-CN" altLang="en-US" sz="2200" b="0" dirty="0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元信息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&lt;meta&gt;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039495"/>
            <a:ext cx="7886700" cy="5130165"/>
          </a:xfrm>
        </p:spPr>
        <p:txBody>
          <a:bodyPr>
            <a:normAutofit fontScale="57500" lnSpcReduction="20000"/>
          </a:bodyPr>
          <a:lstStyle/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rgbClr val="660066"/>
              </a:buClr>
              <a:buFont typeface="Wingdings" panose="05000000000000000000" pitchFamily="2" charset="2"/>
              <a:buNone/>
            </a:pPr>
            <a:r>
              <a:rPr lang="zh-CN" altLang="en-US" sz="2200" dirty="0">
                <a:sym typeface="+mn-ea"/>
              </a:rPr>
              <a:t>使用示例</a:t>
            </a:r>
          </a:p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rgbClr val="660066"/>
              </a:buClr>
              <a:buFont typeface="Wingdings" panose="05000000000000000000" pitchFamily="2" charset="2"/>
              <a:buNone/>
            </a:pPr>
            <a:r>
              <a:rPr lang="zh-CN" altLang="en-US" sz="2200" dirty="0"/>
              <a:t> &lt;head&gt;</a:t>
            </a:r>
          </a:p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rgbClr val="660066"/>
              </a:buClr>
              <a:buFont typeface="Wingdings" panose="05000000000000000000" pitchFamily="2" charset="2"/>
              <a:buNone/>
            </a:pPr>
            <a:r>
              <a:rPr lang="zh-CN" altLang="en-US" sz="2200" dirty="0"/>
              <a:t>   </a:t>
            </a:r>
            <a:r>
              <a:rPr lang="en-US" altLang="zh-CN" sz="2200" dirty="0">
                <a:sym typeface="+mn-ea"/>
              </a:rPr>
              <a:t>&lt;meta http-equiv="Content-Type" content="text/html; charset=UTF-8"&gt;  &lt;!--H4</a:t>
            </a:r>
            <a:r>
              <a:rPr lang="zh-CN" altLang="en-US" sz="2200" dirty="0">
                <a:sym typeface="+mn-ea"/>
              </a:rPr>
              <a:t>得写这么长</a:t>
            </a:r>
            <a:r>
              <a:rPr lang="en-US" altLang="zh-CN" sz="2200" dirty="0">
                <a:sym typeface="+mn-ea"/>
              </a:rPr>
              <a:t>--&gt;</a:t>
            </a:r>
            <a:endParaRPr lang="zh-CN" altLang="en-US" sz="2200" dirty="0"/>
          </a:p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rgbClr val="660066"/>
              </a:buClr>
              <a:buFont typeface="Wingdings" panose="05000000000000000000" pitchFamily="2" charset="2"/>
              <a:buNone/>
            </a:pPr>
            <a:r>
              <a:rPr lang="zh-CN" altLang="en-US" sz="2200" dirty="0"/>
              <a:t>   &lt;meta charset="UTF-8"&gt;    </a:t>
            </a:r>
            <a:r>
              <a:rPr lang="en-US" altLang="zh-CN" sz="2200" dirty="0"/>
              <a:t>&lt;!--H5</a:t>
            </a:r>
            <a:r>
              <a:rPr lang="zh-CN" altLang="en-US" sz="2200" dirty="0"/>
              <a:t>可以简化为这个或不写，强制规则</a:t>
            </a:r>
            <a:r>
              <a:rPr lang="en-US" altLang="zh-CN" sz="2200" dirty="0"/>
              <a:t>--&gt;</a:t>
            </a:r>
            <a:endParaRPr lang="zh-CN" altLang="en-US" sz="2200" dirty="0"/>
          </a:p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rgbClr val="660066"/>
              </a:buClr>
              <a:buFont typeface="Wingdings" panose="05000000000000000000" pitchFamily="2" charset="2"/>
              <a:buNone/>
            </a:pPr>
            <a:endParaRPr lang="zh-CN" altLang="en-US" sz="2200" dirty="0"/>
          </a:p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rgbClr val="660066"/>
              </a:buClr>
              <a:buFont typeface="Wingdings" panose="05000000000000000000" pitchFamily="2" charset="2"/>
              <a:buNone/>
            </a:pPr>
            <a:r>
              <a:rPr lang="zh-CN" altLang="en-US" sz="2200" dirty="0"/>
              <a:t>   &lt;title&gt; 这是页面标题，例如深圳大学 &lt;/title&gt;</a:t>
            </a:r>
          </a:p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rgbClr val="660066"/>
              </a:buClr>
              <a:buFont typeface="Wingdings" panose="05000000000000000000" pitchFamily="2" charset="2"/>
              <a:buNone/>
            </a:pPr>
            <a:r>
              <a:rPr lang="zh-CN" altLang="en-US" sz="2200" dirty="0"/>
              <a:t>   &lt;meta name="keywords" content="关键字，搜索引擎经常使用的内容" /&gt;</a:t>
            </a:r>
          </a:p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rgbClr val="660066"/>
              </a:buClr>
              <a:buFont typeface="Wingdings" panose="05000000000000000000" pitchFamily="2" charset="2"/>
              <a:buNone/>
            </a:pPr>
            <a:r>
              <a:rPr lang="zh-CN" altLang="en-US" sz="2200" dirty="0"/>
              <a:t>   &lt;meta name="description" content="还是搜索引擎经常需要利用的内容" /&gt;</a:t>
            </a:r>
          </a:p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rgbClr val="660066"/>
              </a:buClr>
              <a:buFont typeface="Wingdings" panose="05000000000000000000" pitchFamily="2" charset="2"/>
              <a:buNone/>
            </a:pPr>
            <a:r>
              <a:rPr lang="zh-CN" altLang="en-US" sz="2200" dirty="0"/>
              <a:t>   &lt;meta name="copyright" content="具体内容。。。" /&gt;</a:t>
            </a:r>
          </a:p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rgbClr val="660066"/>
              </a:buClr>
              <a:buFont typeface="Wingdings" panose="05000000000000000000" pitchFamily="2" charset="2"/>
              <a:buNone/>
            </a:pPr>
            <a:r>
              <a:rPr lang="zh-CN" altLang="en-US" sz="2200" dirty="0"/>
              <a:t> &lt;/head&gt;</a:t>
            </a:r>
          </a:p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rgbClr val="660066"/>
              </a:buClr>
              <a:buFont typeface="Wingdings" panose="05000000000000000000" pitchFamily="2" charset="2"/>
              <a:buNone/>
            </a:pPr>
            <a:endParaRPr lang="zh-CN" altLang="en-US" sz="2200" dirty="0"/>
          </a:p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rgbClr val="660066"/>
              </a:buClr>
              <a:buFont typeface="Wingdings" panose="05000000000000000000" pitchFamily="2" charset="2"/>
              <a:buNone/>
            </a:pPr>
            <a:r>
              <a:rPr lang="zh-CN" altLang="en-US" sz="2200" dirty="0"/>
              <a:t>还有其他各种属性：</a:t>
            </a:r>
          </a:p>
          <a:p>
            <a:pPr marL="450850" indent="-184150" eaLnBrk="0" hangingPunct="0">
              <a:lnSpc>
                <a:spcPct val="90000"/>
              </a:lnSpc>
              <a:spcBef>
                <a:spcPct val="20000"/>
              </a:spcBef>
              <a:buClr>
                <a:srgbClr val="0000FA"/>
              </a:buClr>
            </a:pPr>
            <a:r>
              <a:rPr lang="en-US" altLang="zh-CN" sz="2200" dirty="0">
                <a:solidFill>
                  <a:srgbClr val="FF0000"/>
                </a:solidFill>
                <a:sym typeface="+mn-ea"/>
              </a:rPr>
              <a:t>&lt;meta name="generator" content="</a:t>
            </a:r>
            <a:r>
              <a:rPr lang="zh-CN" altLang="en-US" sz="2200" dirty="0">
                <a:solidFill>
                  <a:srgbClr val="FF0000"/>
                </a:solidFill>
                <a:sym typeface="+mn-ea"/>
              </a:rPr>
              <a:t>信息参数</a:t>
            </a:r>
            <a:r>
              <a:rPr lang="en-US" altLang="zh-CN" sz="2200" dirty="0">
                <a:solidFill>
                  <a:srgbClr val="FF0000"/>
                </a:solidFill>
                <a:sym typeface="+mn-ea"/>
              </a:rPr>
              <a:t>" /&gt; </a:t>
            </a:r>
            <a:endParaRPr lang="en-US" altLang="zh-CN" sz="2200" b="0" dirty="0">
              <a:solidFill>
                <a:srgbClr val="FF0000"/>
              </a:solidFill>
            </a:endParaRPr>
          </a:p>
          <a:p>
            <a:pPr marL="450850" indent="-184150" eaLnBrk="0" hangingPunct="0">
              <a:lnSpc>
                <a:spcPct val="90000"/>
              </a:lnSpc>
              <a:spcBef>
                <a:spcPct val="20000"/>
              </a:spcBef>
              <a:buClr>
                <a:srgbClr val="0000FA"/>
              </a:buClr>
            </a:pPr>
            <a:r>
              <a:rPr lang="en-US" altLang="zh-CN" sz="2200" dirty="0">
                <a:solidFill>
                  <a:srgbClr val="FF0000"/>
                </a:solidFill>
                <a:sym typeface="+mn-ea"/>
              </a:rPr>
              <a:t>&lt;meta name="author" content="</a:t>
            </a:r>
            <a:r>
              <a:rPr lang="zh-CN" altLang="en-US" sz="2200" dirty="0">
                <a:solidFill>
                  <a:srgbClr val="FF0000"/>
                </a:solidFill>
                <a:sym typeface="+mn-ea"/>
              </a:rPr>
              <a:t>信息参数</a:t>
            </a:r>
            <a:r>
              <a:rPr lang="en-US" altLang="zh-CN" sz="2200" dirty="0">
                <a:solidFill>
                  <a:srgbClr val="FF0000"/>
                </a:solidFill>
                <a:sym typeface="+mn-ea"/>
              </a:rPr>
              <a:t>"&gt; </a:t>
            </a:r>
            <a:endParaRPr lang="en-US" altLang="zh-CN" sz="2200" b="0" dirty="0">
              <a:solidFill>
                <a:srgbClr val="FF0000"/>
              </a:solidFill>
            </a:endParaRPr>
          </a:p>
          <a:p>
            <a:pPr marL="450850" indent="-184150" eaLnBrk="0" hangingPunct="0">
              <a:lnSpc>
                <a:spcPct val="90000"/>
              </a:lnSpc>
              <a:spcBef>
                <a:spcPct val="20000"/>
              </a:spcBef>
              <a:buClr>
                <a:srgbClr val="0000FA"/>
              </a:buClr>
            </a:pPr>
            <a:r>
              <a:rPr lang="en-US" altLang="zh-CN" sz="2200" dirty="0">
                <a:solidFill>
                  <a:srgbClr val="FF0000"/>
                </a:solidFill>
                <a:sym typeface="+mn-ea"/>
              </a:rPr>
              <a:t>&lt;meta name="robots" </a:t>
            </a:r>
            <a:r>
              <a:rPr lang="en-US" altLang="zh-CN" sz="2200" dirty="0" err="1">
                <a:solidFill>
                  <a:srgbClr val="FF0000"/>
                </a:solidFill>
                <a:sym typeface="+mn-ea"/>
              </a:rPr>
              <a:t>contect</a:t>
            </a:r>
            <a:r>
              <a:rPr lang="en-US" altLang="zh-CN" sz="2200" dirty="0">
                <a:solidFill>
                  <a:srgbClr val="FF0000"/>
                </a:solidFill>
                <a:sym typeface="+mn-ea"/>
              </a:rPr>
              <a:t>="</a:t>
            </a:r>
            <a:r>
              <a:rPr lang="zh-CN" altLang="en-US" sz="2200" dirty="0">
                <a:solidFill>
                  <a:srgbClr val="FF0000"/>
                </a:solidFill>
                <a:sym typeface="+mn-ea"/>
              </a:rPr>
              <a:t>信息参数</a:t>
            </a:r>
            <a:r>
              <a:rPr lang="en-US" altLang="zh-CN" sz="2200" dirty="0">
                <a:solidFill>
                  <a:srgbClr val="FF0000"/>
                </a:solidFill>
                <a:sym typeface="+mn-ea"/>
              </a:rPr>
              <a:t>"&gt; </a:t>
            </a:r>
            <a:endParaRPr lang="en-US" altLang="zh-CN" sz="2200" b="0" dirty="0">
              <a:solidFill>
                <a:srgbClr val="FF0000"/>
              </a:solidFill>
            </a:endParaRPr>
          </a:p>
          <a:p>
            <a:pPr marL="450850" indent="-184150" eaLnBrk="0" hangingPunct="0">
              <a:lnSpc>
                <a:spcPct val="90000"/>
              </a:lnSpc>
              <a:spcBef>
                <a:spcPct val="20000"/>
              </a:spcBef>
              <a:buClr>
                <a:srgbClr val="0000FA"/>
              </a:buClr>
            </a:pPr>
            <a:r>
              <a:rPr lang="en-US" altLang="zh-CN" sz="2200" dirty="0">
                <a:solidFill>
                  <a:srgbClr val="FF0000"/>
                </a:solidFill>
                <a:sym typeface="+mn-ea"/>
              </a:rPr>
              <a:t>&lt;meta http-</a:t>
            </a:r>
            <a:r>
              <a:rPr lang="en-US" altLang="zh-CN" sz="2200" dirty="0" err="1">
                <a:solidFill>
                  <a:srgbClr val="FF0000"/>
                </a:solidFill>
                <a:sym typeface="+mn-ea"/>
              </a:rPr>
              <a:t>equiv</a:t>
            </a:r>
            <a:r>
              <a:rPr lang="en-US" altLang="zh-CN" sz="2200" dirty="0">
                <a:solidFill>
                  <a:srgbClr val="FF0000"/>
                </a:solidFill>
                <a:sym typeface="+mn-ea"/>
              </a:rPr>
              <a:t>="refresh" content="</a:t>
            </a:r>
            <a:r>
              <a:rPr lang="zh-CN" altLang="en-US" sz="2200" dirty="0">
                <a:solidFill>
                  <a:srgbClr val="FF0000"/>
                </a:solidFill>
                <a:sym typeface="+mn-ea"/>
              </a:rPr>
              <a:t>时间； </a:t>
            </a:r>
            <a:r>
              <a:rPr lang="en-US" altLang="zh-CN" sz="2200" dirty="0" err="1">
                <a:solidFill>
                  <a:srgbClr val="FF0000"/>
                </a:solidFill>
                <a:sym typeface="+mn-ea"/>
              </a:rPr>
              <a:t>url</a:t>
            </a:r>
            <a:r>
              <a:rPr lang="en-US" altLang="zh-CN" sz="2200" dirty="0">
                <a:solidFill>
                  <a:srgbClr val="FF0000"/>
                </a:solidFill>
                <a:sym typeface="+mn-ea"/>
              </a:rPr>
              <a:t>=</a:t>
            </a:r>
            <a:r>
              <a:rPr lang="zh-CN" altLang="en-US" sz="2200" dirty="0">
                <a:solidFill>
                  <a:srgbClr val="FF0000"/>
                </a:solidFill>
                <a:sym typeface="+mn-ea"/>
              </a:rPr>
              <a:t>网址参数</a:t>
            </a:r>
            <a:r>
              <a:rPr lang="en-US" altLang="zh-CN" sz="2200" dirty="0">
                <a:solidFill>
                  <a:srgbClr val="FF0000"/>
                </a:solidFill>
                <a:sym typeface="+mn-ea"/>
              </a:rPr>
              <a:t>"&gt; </a:t>
            </a:r>
            <a:endParaRPr lang="zh-CN" altLang="en-US" sz="2200" b="0" dirty="0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字符集与编码规则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在屏幕上</a:t>
            </a:r>
            <a:r>
              <a:rPr lang="zh-CN" altLang="en-US" dirty="0">
                <a:highlight>
                  <a:srgbClr val="FFFF00"/>
                </a:highlight>
              </a:rPr>
              <a:t>显示一个字符（</a:t>
            </a:r>
            <a:r>
              <a:rPr dirty="0">
                <a:highlight>
                  <a:srgbClr val="FFFF00"/>
                </a:highlight>
                <a:sym typeface="+mn-ea"/>
              </a:rPr>
              <a:t>点阵、矢量）</a:t>
            </a:r>
            <a:r>
              <a:rPr lang="zh-CN" altLang="en-US" dirty="0">
                <a:highlight>
                  <a:srgbClr val="FFFF00"/>
                </a:highlight>
              </a:rPr>
              <a:t>、图片</a:t>
            </a:r>
          </a:p>
          <a:p>
            <a:r>
              <a:rPr lang="zh-CN" altLang="en-US" dirty="0"/>
              <a:t>字符集与编码规则</a:t>
            </a:r>
          </a:p>
          <a:p>
            <a:pPr lvl="1"/>
            <a:r>
              <a:rPr lang="en-US" altLang="zh-CN" dirty="0"/>
              <a:t>ASCII</a:t>
            </a:r>
            <a:r>
              <a:rPr dirty="0"/>
              <a:t>，</a:t>
            </a:r>
            <a:r>
              <a:rPr lang="en-US" altLang="zh-CN" dirty="0"/>
              <a:t>0</a:t>
            </a:r>
            <a:r>
              <a:rPr dirty="0"/>
              <a:t>（</a:t>
            </a:r>
            <a:r>
              <a:rPr lang="en-US" altLang="zh-CN" dirty="0"/>
              <a:t>0000 0000</a:t>
            </a:r>
            <a:r>
              <a:rPr dirty="0"/>
              <a:t>）</a:t>
            </a:r>
            <a:r>
              <a:rPr lang="en-US" altLang="zh-CN" dirty="0"/>
              <a:t>-127</a:t>
            </a:r>
            <a:r>
              <a:rPr dirty="0"/>
              <a:t>（</a:t>
            </a:r>
            <a:r>
              <a:rPr lang="en-US" altLang="zh-CN" dirty="0"/>
              <a:t>0111 1111</a:t>
            </a:r>
            <a:r>
              <a:rPr dirty="0"/>
              <a:t>）</a:t>
            </a:r>
            <a:r>
              <a:rPr lang="en-US" altLang="zh-CN" dirty="0"/>
              <a:t>,128</a:t>
            </a:r>
            <a:r>
              <a:rPr dirty="0"/>
              <a:t>个字符，阿拉伯数字</a:t>
            </a:r>
            <a:r>
              <a:rPr lang="en-US" altLang="zh-CN" dirty="0"/>
              <a:t>+</a:t>
            </a:r>
            <a:r>
              <a:rPr dirty="0"/>
              <a:t>大小写英文字母和一些简单符号，直接使用</a:t>
            </a:r>
            <a:r>
              <a:rPr lang="en-US" altLang="zh-CN" dirty="0">
                <a:highlight>
                  <a:srgbClr val="FFFF00"/>
                </a:highlight>
              </a:rPr>
              <a:t>1Byte</a:t>
            </a:r>
            <a:r>
              <a:rPr dirty="0">
                <a:highlight>
                  <a:srgbClr val="FFFF00"/>
                </a:highlight>
              </a:rPr>
              <a:t>表示</a:t>
            </a:r>
          </a:p>
          <a:p>
            <a:pPr lvl="2"/>
            <a:r>
              <a:rPr lang="en-US" altLang="zh-CN" dirty="0"/>
              <a:t>1Byte</a:t>
            </a:r>
            <a:r>
              <a:rPr dirty="0"/>
              <a:t>如何表示一个点阵</a:t>
            </a:r>
          </a:p>
          <a:p>
            <a:pPr lvl="1"/>
            <a:r>
              <a:rPr lang="en-US" altLang="zh-CN" dirty="0"/>
              <a:t>GB2312</a:t>
            </a:r>
            <a:r>
              <a:rPr dirty="0"/>
              <a:t>，中文国标（</a:t>
            </a:r>
            <a:r>
              <a:rPr lang="en-US" altLang="zh-CN" dirty="0"/>
              <a:t>1981</a:t>
            </a:r>
            <a:r>
              <a:rPr dirty="0"/>
              <a:t>年）字符集，</a:t>
            </a:r>
            <a:r>
              <a:rPr lang="en-US" altLang="zh-CN" dirty="0"/>
              <a:t>6763</a:t>
            </a:r>
            <a:r>
              <a:rPr dirty="0"/>
              <a:t>个汉字和一些全角字符，</a:t>
            </a:r>
            <a:r>
              <a:rPr dirty="0">
                <a:highlight>
                  <a:srgbClr val="FFFF00"/>
                </a:highlight>
              </a:rPr>
              <a:t>双字节</a:t>
            </a:r>
            <a:r>
              <a:rPr dirty="0"/>
              <a:t>表示，只有常用汉字，引起了许多</a:t>
            </a:r>
            <a:r>
              <a:rPr lang="en-US" altLang="zh-CN" dirty="0"/>
              <a:t>“</a:t>
            </a:r>
            <a:r>
              <a:rPr dirty="0"/>
              <a:t>不常用</a:t>
            </a:r>
            <a:r>
              <a:rPr lang="en-US" altLang="zh-CN" dirty="0"/>
              <a:t>”</a:t>
            </a:r>
            <a:r>
              <a:rPr dirty="0"/>
              <a:t>问题（人名）</a:t>
            </a:r>
          </a:p>
          <a:p>
            <a:pPr lvl="1"/>
            <a:r>
              <a:rPr lang="en-US" altLang="zh-CN" dirty="0">
                <a:highlight>
                  <a:srgbClr val="FFFF00"/>
                </a:highlight>
              </a:rPr>
              <a:t>BIG5</a:t>
            </a:r>
            <a:r>
              <a:rPr dirty="0">
                <a:highlight>
                  <a:srgbClr val="FFFF00"/>
                </a:highlight>
              </a:rPr>
              <a:t>（大五码，</a:t>
            </a:r>
            <a:r>
              <a:rPr lang="en-US" altLang="zh-CN" dirty="0">
                <a:highlight>
                  <a:srgbClr val="FFFF00"/>
                </a:highlight>
              </a:rPr>
              <a:t>1984</a:t>
            </a:r>
            <a:r>
              <a:rPr dirty="0">
                <a:highlight>
                  <a:srgbClr val="FFFF00"/>
                </a:highlight>
              </a:rPr>
              <a:t>年），台湾，繁体字</a:t>
            </a:r>
            <a:r>
              <a:rPr dirty="0"/>
              <a:t>，</a:t>
            </a:r>
            <a:r>
              <a:rPr lang="en-US" altLang="zh-CN" dirty="0"/>
              <a:t>1</a:t>
            </a:r>
            <a:r>
              <a:rPr dirty="0"/>
              <a:t>万多汉字</a:t>
            </a:r>
          </a:p>
          <a:p>
            <a:pPr lvl="1"/>
            <a:r>
              <a:rPr lang="en-US" altLang="zh-CN" dirty="0">
                <a:highlight>
                  <a:srgbClr val="FFFF00"/>
                </a:highlight>
              </a:rPr>
              <a:t>GBK</a:t>
            </a:r>
            <a:r>
              <a:rPr dirty="0">
                <a:highlight>
                  <a:srgbClr val="FFFF00"/>
                </a:highlight>
              </a:rPr>
              <a:t>（</a:t>
            </a:r>
            <a:r>
              <a:rPr lang="en-US" altLang="zh-CN" dirty="0">
                <a:highlight>
                  <a:srgbClr val="FFFF00"/>
                </a:highlight>
              </a:rPr>
              <a:t>K</a:t>
            </a:r>
            <a:r>
              <a:rPr dirty="0">
                <a:highlight>
                  <a:srgbClr val="FFFF00"/>
                </a:highlight>
              </a:rPr>
              <a:t>扩展，</a:t>
            </a:r>
            <a:r>
              <a:rPr lang="en-US" altLang="zh-CN" dirty="0">
                <a:highlight>
                  <a:srgbClr val="FFFF00"/>
                </a:highlight>
              </a:rPr>
              <a:t>1995</a:t>
            </a:r>
            <a:r>
              <a:rPr dirty="0">
                <a:highlight>
                  <a:srgbClr val="FFFF00"/>
                </a:highlight>
              </a:rPr>
              <a:t>年），简繁体都有，</a:t>
            </a:r>
            <a:r>
              <a:rPr lang="en-US" altLang="zh-CN" dirty="0">
                <a:highlight>
                  <a:srgbClr val="FFFF00"/>
                </a:highlight>
              </a:rPr>
              <a:t>2</a:t>
            </a:r>
            <a:r>
              <a:rPr dirty="0">
                <a:highlight>
                  <a:srgbClr val="FFFF00"/>
                </a:highlight>
              </a:rPr>
              <a:t>万多</a:t>
            </a:r>
            <a:r>
              <a:rPr dirty="0"/>
              <a:t>汉字，双字节</a:t>
            </a:r>
          </a:p>
          <a:p>
            <a:pPr lvl="1"/>
            <a:r>
              <a:rPr lang="en-US" altLang="zh-CN" dirty="0"/>
              <a:t>GB18030</a:t>
            </a:r>
            <a:r>
              <a:rPr dirty="0"/>
              <a:t>，中文国标（</a:t>
            </a:r>
            <a:r>
              <a:rPr lang="en-US" altLang="zh-CN" dirty="0"/>
              <a:t>2000</a:t>
            </a:r>
            <a:r>
              <a:rPr dirty="0"/>
              <a:t>年）字符集，</a:t>
            </a:r>
          </a:p>
          <a:p>
            <a:pPr marL="342900" lvl="1" indent="0">
              <a:buNone/>
            </a:pPr>
            <a:r>
              <a:rPr lang="en-US" altLang="zh-CN" dirty="0"/>
              <a:t>    </a:t>
            </a:r>
            <a:r>
              <a:rPr dirty="0"/>
              <a:t>变长的编码方式</a:t>
            </a:r>
          </a:p>
          <a:p>
            <a:pPr marL="342900" lvl="1" indent="0">
              <a:buNone/>
            </a:pPr>
            <a:endParaRPr dirty="0"/>
          </a:p>
          <a:p>
            <a:pPr lvl="1"/>
            <a:endParaRPr lang="zh-CN" altLang="en-US" dirty="0"/>
          </a:p>
          <a:p>
            <a:pPr lvl="1"/>
            <a:r>
              <a:rPr lang="en-US" altLang="zh-CN" dirty="0"/>
              <a:t>Unicode</a:t>
            </a:r>
            <a:r>
              <a:rPr dirty="0"/>
              <a:t>、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</a:rPr>
              <a:t>UTF-8</a:t>
            </a:r>
            <a:r>
              <a:rPr dirty="0">
                <a:highlight>
                  <a:srgbClr val="FFFF00"/>
                </a:highlight>
              </a:rPr>
              <a:t>、</a:t>
            </a:r>
            <a:r>
              <a:rPr lang="en-US" altLang="zh-CN" dirty="0">
                <a:highlight>
                  <a:srgbClr val="FFFF00"/>
                </a:highlight>
              </a:rPr>
              <a:t>UTF-16</a:t>
            </a:r>
            <a:r>
              <a:rPr dirty="0">
                <a:highlight>
                  <a:srgbClr val="FFFF00"/>
                </a:highlight>
              </a:rPr>
              <a:t>、</a:t>
            </a:r>
            <a:r>
              <a:rPr lang="en-US" altLang="zh-CN" dirty="0">
                <a:highlight>
                  <a:srgbClr val="FFFF00"/>
                </a:highlight>
              </a:rPr>
              <a:t>UTF-32</a:t>
            </a:r>
            <a:r>
              <a:rPr dirty="0"/>
              <a:t>，</a:t>
            </a:r>
            <a:r>
              <a:rPr lang="en-US" altLang="zh-CN" dirty="0"/>
              <a:t>3</a:t>
            </a:r>
            <a:r>
              <a:rPr dirty="0"/>
              <a:t>种编码方式（</a:t>
            </a:r>
            <a:r>
              <a:rPr lang="en-US" altLang="zh-CN" dirty="0"/>
              <a:t>2</a:t>
            </a:r>
            <a:r>
              <a:rPr dirty="0"/>
              <a:t>变长</a:t>
            </a:r>
            <a:r>
              <a:rPr lang="en-US" altLang="zh-CN" dirty="0"/>
              <a:t>+1</a:t>
            </a:r>
            <a:r>
              <a:rPr dirty="0"/>
              <a:t>定长）</a:t>
            </a:r>
          </a:p>
          <a:p>
            <a:r>
              <a:rPr lang="en-US" altLang="zh-CN" dirty="0" err="1"/>
              <a:t>URLEncode</a:t>
            </a:r>
            <a:r>
              <a:rPr lang="en-US" altLang="zh-CN" dirty="0"/>
              <a:t>/Decode</a:t>
            </a:r>
            <a:r>
              <a:rPr dirty="0"/>
              <a:t>，</a:t>
            </a:r>
            <a:r>
              <a:rPr lang="en-US" altLang="zh-CN" dirty="0"/>
              <a:t> </a:t>
            </a:r>
            <a:r>
              <a:rPr dirty="0"/>
              <a:t>经常见到的</a:t>
            </a:r>
            <a:r>
              <a:rPr lang="en-US" altLang="zh-CN" dirty="0"/>
              <a:t>“%20”</a:t>
            </a:r>
          </a:p>
          <a:p>
            <a:r>
              <a:rPr lang="en-US" altLang="zh-CN" dirty="0">
                <a:highlight>
                  <a:srgbClr val="FFFF00"/>
                </a:highlight>
              </a:rPr>
              <a:t>Base64</a:t>
            </a:r>
            <a:r>
              <a:rPr dirty="0">
                <a:highlight>
                  <a:srgbClr val="FFFF00"/>
                </a:highlight>
              </a:rPr>
              <a:t>，</a:t>
            </a:r>
            <a:r>
              <a:rPr lang="en-US" altLang="zh-CN" dirty="0">
                <a:highlight>
                  <a:srgbClr val="FFFF00"/>
                </a:highlight>
              </a:rPr>
              <a:t>64</a:t>
            </a:r>
            <a:r>
              <a:rPr dirty="0">
                <a:highlight>
                  <a:srgbClr val="FFFF00"/>
                </a:highlight>
              </a:rPr>
              <a:t>个可打印字符来表示</a:t>
            </a:r>
            <a:r>
              <a:rPr lang="en-US" altLang="zh-CN" dirty="0">
                <a:highlight>
                  <a:srgbClr val="FFFF00"/>
                </a:highlight>
              </a:rPr>
              <a:t>8bit</a:t>
            </a:r>
            <a:r>
              <a:rPr dirty="0">
                <a:highlight>
                  <a:srgbClr val="FFFF00"/>
                </a:highlight>
              </a:rPr>
              <a:t>二进制</a:t>
            </a:r>
            <a:r>
              <a:rPr dirty="0"/>
              <a:t>，</a:t>
            </a:r>
            <a:r>
              <a:rPr lang="en-US" altLang="zh-CN" dirty="0"/>
              <a:t>A-Za-z0-9+/</a:t>
            </a:r>
            <a:r>
              <a:rPr dirty="0"/>
              <a:t>表示</a:t>
            </a:r>
            <a:r>
              <a:rPr lang="en-US" altLang="zh-CN" dirty="0"/>
              <a:t>0-63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361815" y="3844290"/>
            <a:ext cx="4333240" cy="127508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被玩坏的搜索</a:t>
            </a:r>
            <a:r>
              <a:rPr lang="en-US" altLang="zh-CN"/>
              <a:t>/</a:t>
            </a:r>
            <a:r>
              <a:t>反搜和</a:t>
            </a:r>
            <a:r>
              <a:rPr lang="en-US" altLang="zh-CN"/>
              <a:t>SEO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1600"/>
              <a:t>&lt;meta name="robots" contect="信息参数"&gt; </a:t>
            </a:r>
          </a:p>
          <a:p>
            <a:pPr lvl="1"/>
            <a:r>
              <a:rPr sz="1600"/>
              <a:t>参数包括</a:t>
            </a:r>
            <a:r>
              <a:rPr lang="en-US" altLang="zh-CN" sz="1600"/>
              <a:t>:</a:t>
            </a:r>
            <a:r>
              <a:rPr sz="1600"/>
              <a:t>默认值</a:t>
            </a:r>
            <a:r>
              <a:rPr lang="en-US" altLang="zh-CN" sz="1600"/>
              <a:t>all</a:t>
            </a:r>
            <a:r>
              <a:rPr sz="1600"/>
              <a:t>、</a:t>
            </a:r>
            <a:r>
              <a:rPr lang="en-US" altLang="zh-CN" sz="1600"/>
              <a:t>index</a:t>
            </a:r>
            <a:r>
              <a:rPr sz="1600"/>
              <a:t>、</a:t>
            </a:r>
            <a:r>
              <a:rPr lang="en-US" altLang="zh-CN" sz="1600"/>
              <a:t>follow</a:t>
            </a:r>
            <a:r>
              <a:rPr sz="1600"/>
              <a:t>、</a:t>
            </a:r>
            <a:r>
              <a:rPr lang="en-US" altLang="zh-CN" sz="1600"/>
              <a:t>noindex</a:t>
            </a:r>
            <a:r>
              <a:rPr sz="1600"/>
              <a:t>、</a:t>
            </a:r>
            <a:r>
              <a:rPr lang="en-US" altLang="zh-CN" sz="1600"/>
              <a:t>nofollow</a:t>
            </a:r>
            <a:r>
              <a:rPr sz="1600"/>
              <a:t>、</a:t>
            </a:r>
            <a:r>
              <a:rPr lang="en-US" altLang="zh-CN" sz="1600"/>
              <a:t>none</a:t>
            </a:r>
          </a:p>
          <a:p>
            <a:pPr lvl="0"/>
            <a:endParaRPr sz="1600"/>
          </a:p>
          <a:p>
            <a:pPr lvl="0"/>
            <a:r>
              <a:rPr sz="1600"/>
              <a:t>三月爬虫季</a:t>
            </a:r>
          </a:p>
          <a:p>
            <a:pPr lvl="0"/>
            <a:r>
              <a:rPr sz="1600"/>
              <a:t>反爬</a:t>
            </a:r>
          </a:p>
          <a:p>
            <a:pPr lvl="0"/>
            <a:endParaRPr sz="1600"/>
          </a:p>
          <a:p>
            <a:pPr lvl="0"/>
            <a:r>
              <a:rPr lang="en-US" altLang="zh-CN" sz="1600"/>
              <a:t>keywords</a:t>
            </a:r>
            <a:r>
              <a:rPr sz="1600"/>
              <a:t>、</a:t>
            </a:r>
            <a:r>
              <a:rPr lang="en-US" altLang="zh-CN" sz="1600"/>
              <a:t>description</a:t>
            </a:r>
            <a:r>
              <a:rPr sz="1600"/>
              <a:t>、</a:t>
            </a:r>
            <a:r>
              <a:rPr lang="en-US" altLang="zh-CN" sz="1600"/>
              <a:t>SEO</a:t>
            </a:r>
            <a:r>
              <a:rPr sz="1600"/>
              <a:t>和广告</a:t>
            </a:r>
          </a:p>
          <a:p>
            <a:pPr lvl="0"/>
            <a:endParaRPr sz="1600"/>
          </a:p>
          <a:p>
            <a:pPr lvl="0"/>
            <a:r>
              <a:rPr lang="en-US" altLang="zh-CN" sz="1600"/>
              <a:t>&lt;meta name=”viewport” content=”width=device-width,initial-scale=1.0”&gt;</a:t>
            </a:r>
          </a:p>
          <a:p>
            <a:pPr lvl="1"/>
            <a:r>
              <a:rPr sz="1600"/>
              <a:t>视口，是指浏览器窗口内的内容区域</a:t>
            </a:r>
          </a:p>
          <a:p>
            <a:pPr lvl="1"/>
            <a:r>
              <a:rPr sz="1600"/>
              <a:t>移动设备上的显示问题</a:t>
            </a:r>
            <a:r>
              <a:rPr lang="en-US" altLang="zh-CN" sz="1600"/>
              <a:t> -&gt; </a:t>
            </a:r>
            <a:r>
              <a:rPr sz="1600"/>
              <a:t>响应式设计</a:t>
            </a: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http-</a:t>
            </a:r>
            <a:r>
              <a:rPr lang="en-US" altLang="zh-CN" dirty="0" err="1"/>
              <a:t>equiv</a:t>
            </a:r>
            <a:r>
              <a:rPr dirty="0"/>
              <a:t>属性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400" dirty="0">
                <a:highlight>
                  <a:srgbClr val="FFFF00"/>
                </a:highlight>
              </a:rPr>
              <a:t>expires</a:t>
            </a:r>
          </a:p>
          <a:p>
            <a:pPr lvl="1"/>
            <a:r>
              <a:rPr sz="1400" dirty="0"/>
              <a:t>缓存过期时间，如果过期，必须到服务器上重新下载。使用</a:t>
            </a:r>
            <a:r>
              <a:rPr lang="en-US" altLang="zh-CN" sz="1400" dirty="0"/>
              <a:t>GMT</a:t>
            </a:r>
            <a:r>
              <a:rPr sz="1400" dirty="0"/>
              <a:t>（格林威治</a:t>
            </a:r>
            <a:r>
              <a:rPr lang="en-US" altLang="zh-CN" sz="1400" dirty="0"/>
              <a:t>/Greenwich</a:t>
            </a:r>
            <a:r>
              <a:rPr sz="1400" dirty="0"/>
              <a:t>标准时间</a:t>
            </a:r>
            <a:r>
              <a:rPr lang="en-US" altLang="zh-CN" sz="1400" dirty="0" err="1"/>
              <a:t>MeanTime</a:t>
            </a:r>
            <a:r>
              <a:rPr sz="1400" dirty="0"/>
              <a:t>；北京（东</a:t>
            </a:r>
            <a:r>
              <a:rPr lang="en-US" altLang="zh-CN" sz="1400" dirty="0"/>
              <a:t>8</a:t>
            </a:r>
            <a:r>
              <a:rPr sz="1400" dirty="0"/>
              <a:t>）</a:t>
            </a:r>
            <a:r>
              <a:rPr lang="en-US" altLang="zh-CN" sz="1400" dirty="0"/>
              <a:t>-8</a:t>
            </a:r>
            <a:r>
              <a:rPr sz="1400" dirty="0"/>
              <a:t>）</a:t>
            </a:r>
          </a:p>
          <a:p>
            <a:pPr lvl="1"/>
            <a:r>
              <a:rPr lang="en-US" altLang="zh-CN" sz="1400" dirty="0"/>
              <a:t>&lt;meta http-</a:t>
            </a:r>
            <a:r>
              <a:rPr lang="en-US" altLang="zh-CN" sz="1400" dirty="0" err="1"/>
              <a:t>equiv</a:t>
            </a:r>
            <a:r>
              <a:rPr lang="en-US" altLang="zh-CN" sz="1400" dirty="0"/>
              <a:t>=”expires” content=”Tue, 14 Sep 2021 14:30:00 GMT”&gt;</a:t>
            </a:r>
          </a:p>
          <a:p>
            <a:pPr lvl="1"/>
            <a:r>
              <a:rPr lang="en-US" altLang="zh-CN" sz="1400" dirty="0"/>
              <a:t>UTC</a:t>
            </a:r>
            <a:r>
              <a:rPr sz="1400" dirty="0"/>
              <a:t>，</a:t>
            </a:r>
            <a:r>
              <a:rPr lang="en-US" altLang="zh-CN" sz="1400" dirty="0"/>
              <a:t>1967</a:t>
            </a:r>
            <a:r>
              <a:rPr sz="1400" dirty="0"/>
              <a:t>年的国际计量大会13th General Conference of Weights and Measures (CGPM)</a:t>
            </a:r>
            <a:r>
              <a:rPr lang="en-US" altLang="zh-CN" sz="1400" dirty="0"/>
              <a:t>/</a:t>
            </a:r>
            <a:r>
              <a:rPr lang="en-US" altLang="zh-CN" sz="1400" dirty="0">
                <a:sym typeface="+mn-ea"/>
              </a:rPr>
              <a:t>“</a:t>
            </a:r>
            <a:r>
              <a:rPr lang="en-US" altLang="zh-CN" sz="1400" dirty="0" err="1">
                <a:sym typeface="+mn-ea"/>
              </a:rPr>
              <a:t>Conférence</a:t>
            </a:r>
            <a:r>
              <a:rPr lang="en-US" altLang="zh-CN" sz="1400" dirty="0">
                <a:sym typeface="+mn-ea"/>
              </a:rPr>
              <a:t> Générale des </a:t>
            </a:r>
            <a:r>
              <a:rPr lang="en-US" altLang="zh-CN" sz="1400" dirty="0" err="1">
                <a:sym typeface="+mn-ea"/>
              </a:rPr>
              <a:t>Poids</a:t>
            </a:r>
            <a:r>
              <a:rPr lang="en-US" altLang="zh-CN" sz="1400" dirty="0">
                <a:sym typeface="+mn-ea"/>
              </a:rPr>
              <a:t> et </a:t>
            </a:r>
            <a:r>
              <a:rPr lang="en-US" altLang="zh-CN" sz="1400" dirty="0" err="1">
                <a:sym typeface="+mn-ea"/>
              </a:rPr>
              <a:t>Mesures</a:t>
            </a:r>
            <a:r>
              <a:rPr lang="en-US" altLang="zh-CN" sz="1400" dirty="0">
                <a:sym typeface="+mn-ea"/>
              </a:rPr>
              <a:t>”</a:t>
            </a:r>
            <a:r>
              <a:rPr sz="1400" dirty="0">
                <a:sym typeface="+mn-ea"/>
              </a:rPr>
              <a:t>，巴黎，确定秒</a:t>
            </a:r>
            <a:endParaRPr lang="en-US" altLang="zh-CN" sz="1400" dirty="0"/>
          </a:p>
          <a:p>
            <a:pPr lvl="0"/>
            <a:r>
              <a:rPr lang="en-US" altLang="zh-CN" sz="1400" dirty="0"/>
              <a:t>refresh</a:t>
            </a:r>
          </a:p>
          <a:p>
            <a:pPr lvl="1"/>
            <a:r>
              <a:rPr sz="1400" dirty="0"/>
              <a:t>刷新</a:t>
            </a:r>
            <a:r>
              <a:rPr lang="en-US" altLang="zh-CN" sz="1400" dirty="0"/>
              <a:t>or</a:t>
            </a:r>
            <a:r>
              <a:rPr sz="1400" dirty="0"/>
              <a:t>重定向</a:t>
            </a:r>
          </a:p>
          <a:p>
            <a:pPr lvl="1"/>
            <a:r>
              <a:rPr lang="en-US" altLang="zh-CN" sz="1400" dirty="0"/>
              <a:t>&lt;meta </a:t>
            </a:r>
            <a:r>
              <a:rPr lang="en-US" altLang="zh-CN" sz="1400" dirty="0" err="1"/>
              <a:t>http_equiv</a:t>
            </a:r>
            <a:r>
              <a:rPr lang="en-US" altLang="zh-CN" sz="1400" dirty="0"/>
              <a:t>=“refresh” content=”5; </a:t>
            </a:r>
            <a:r>
              <a:rPr lang="en-US" altLang="zh-CN" sz="1400" dirty="0" err="1"/>
              <a:t>url</a:t>
            </a:r>
            <a:r>
              <a:rPr lang="en-US" altLang="zh-CN" sz="1400" dirty="0"/>
              <a:t>=http://www1.szu.edu.cn/”&gt;</a:t>
            </a:r>
          </a:p>
          <a:p>
            <a:pPr lvl="1"/>
            <a:endParaRPr lang="en-US" altLang="zh-CN" dirty="0"/>
          </a:p>
          <a:p>
            <a:pPr lvl="0"/>
            <a:endParaRPr lang="en-US" altLang="zh-CN" dirty="0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主体</a:t>
            </a:r>
            <a:r>
              <a:rPr lang="en-US" altLang="zh-CN" dirty="0"/>
              <a:t>body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200" b="0" dirty="0"/>
              <a:t>body</a:t>
            </a:r>
            <a:r>
              <a:rPr lang="zh-CN" altLang="en-US" sz="2200" b="0" dirty="0"/>
              <a:t>是</a:t>
            </a:r>
            <a:r>
              <a:rPr lang="en-US" altLang="zh-CN" sz="2200" b="0" dirty="0"/>
              <a:t>Web</a:t>
            </a:r>
            <a:r>
              <a:rPr lang="zh-CN" altLang="en-US" sz="2200" b="0" dirty="0"/>
              <a:t>页面的主要展示部分。在</a:t>
            </a:r>
            <a:r>
              <a:rPr lang="en-US" altLang="zh-CN" sz="2200" b="0" dirty="0"/>
              <a:t>body</a:t>
            </a:r>
            <a:r>
              <a:rPr lang="zh-CN" altLang="en-US" sz="2200" b="0" dirty="0"/>
              <a:t>标记中可放置图片、图像、表格、文字、超链接等等元素。</a:t>
            </a:r>
          </a:p>
          <a:p>
            <a:pPr mar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zh-CN" altLang="en-US" sz="2200" b="0" dirty="0"/>
          </a:p>
          <a:p>
            <a:pPr mar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200" b="0" dirty="0"/>
              <a:t>body</a:t>
            </a:r>
            <a:r>
              <a:rPr lang="zh-CN" altLang="en-US" sz="2200" b="0" dirty="0"/>
              <a:t>标记</a:t>
            </a:r>
          </a:p>
          <a:p>
            <a:pPr marL="0">
              <a:spcBef>
                <a:spcPts val="0"/>
              </a:spcBef>
              <a:spcAft>
                <a:spcPts val="0"/>
              </a:spcAft>
            </a:pPr>
            <a:r>
              <a:rPr lang="zh-CN" altLang="en-US" sz="2200" b="0" dirty="0"/>
              <a:t>基本语法</a:t>
            </a:r>
          </a:p>
          <a:p>
            <a:pPr mar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800" b="0" dirty="0">
                <a:solidFill>
                  <a:srgbClr val="FF0000"/>
                </a:solidFill>
              </a:rPr>
              <a:t>       </a:t>
            </a:r>
            <a:r>
              <a:rPr lang="en-US" altLang="zh-CN" sz="1800" b="0" dirty="0">
                <a:solidFill>
                  <a:srgbClr val="FF0000"/>
                </a:solidFill>
              </a:rPr>
              <a:t>&lt;body&gt;…      &lt;/body&gt;</a:t>
            </a:r>
          </a:p>
          <a:p>
            <a:pPr mar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en-US" altLang="zh-CN" sz="1800" b="0" dirty="0">
              <a:solidFill>
                <a:srgbClr val="FF0000"/>
              </a:solidFill>
            </a:endParaRPr>
          </a:p>
          <a:p>
            <a:pPr mar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en-US" altLang="zh-CN" sz="1800" b="0" dirty="0">
              <a:solidFill>
                <a:srgbClr val="FF0000"/>
              </a:solidFill>
            </a:endParaRPr>
          </a:p>
          <a:p>
            <a:pPr mar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en-US" altLang="zh-CN" sz="1800" b="0" dirty="0">
              <a:solidFill>
                <a:srgbClr val="FF0000"/>
              </a:solidFill>
            </a:endParaRPr>
          </a:p>
          <a:p>
            <a:pPr mar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sz="1800" b="0" dirty="0">
                <a:solidFill>
                  <a:srgbClr val="FF0000"/>
                </a:solidFill>
              </a:rPr>
              <a:t>特别注意：传统</a:t>
            </a:r>
            <a:r>
              <a:rPr lang="en-US" altLang="zh-CN" sz="1800" b="0" dirty="0">
                <a:solidFill>
                  <a:srgbClr val="FF0000"/>
                </a:solidFill>
              </a:rPr>
              <a:t>HTML</a:t>
            </a:r>
            <a:r>
              <a:rPr sz="1800" b="0" dirty="0">
                <a:solidFill>
                  <a:srgbClr val="FF0000"/>
                </a:solidFill>
              </a:rPr>
              <a:t>的样式标签（如</a:t>
            </a:r>
            <a:r>
              <a:rPr lang="en-US" altLang="zh-CN" sz="1800" b="0" dirty="0">
                <a:solidFill>
                  <a:srgbClr val="FF0000"/>
                </a:solidFill>
              </a:rPr>
              <a:t>font</a:t>
            </a:r>
            <a:r>
              <a:rPr sz="1800" b="0" dirty="0">
                <a:solidFill>
                  <a:srgbClr val="FF0000"/>
                </a:solidFill>
              </a:rPr>
              <a:t>等）和普通标签的样式属性大部分现已被废弃（基本都剥离到</a:t>
            </a:r>
            <a:r>
              <a:rPr lang="en-US" altLang="zh-CN" sz="1800" b="0" dirty="0">
                <a:solidFill>
                  <a:srgbClr val="FF0000"/>
                </a:solidFill>
              </a:rPr>
              <a:t>CSS</a:t>
            </a:r>
            <a:r>
              <a:rPr sz="1800" b="0" dirty="0">
                <a:solidFill>
                  <a:srgbClr val="FF0000"/>
                </a:solidFill>
              </a:rPr>
              <a:t>中），但为了渐进学习方便，后续页面仍会介绍这些</a:t>
            </a:r>
            <a:r>
              <a:rPr lang="en-US" altLang="zh-CN" sz="1800" b="0" dirty="0">
                <a:solidFill>
                  <a:srgbClr val="FF0000"/>
                </a:solidFill>
              </a:rPr>
              <a:t>“</a:t>
            </a:r>
            <a:r>
              <a:rPr sz="1800" b="0" dirty="0">
                <a:solidFill>
                  <a:srgbClr val="FF0000"/>
                </a:solidFill>
              </a:rPr>
              <a:t>被废弃</a:t>
            </a:r>
            <a:r>
              <a:rPr lang="en-US" altLang="zh-CN" sz="1800" b="0" dirty="0">
                <a:solidFill>
                  <a:srgbClr val="FF0000"/>
                </a:solidFill>
              </a:rPr>
              <a:t>”</a:t>
            </a:r>
            <a:r>
              <a:rPr sz="1800" b="0" dirty="0">
                <a:solidFill>
                  <a:srgbClr val="FF0000"/>
                </a:solidFill>
              </a:rPr>
              <a:t>的样式标签或属性。在</a:t>
            </a:r>
            <a:r>
              <a:rPr lang="en-US" altLang="zh-CN" sz="1800" b="0" dirty="0">
                <a:solidFill>
                  <a:srgbClr val="FF0000"/>
                </a:solidFill>
              </a:rPr>
              <a:t>IDE</a:t>
            </a:r>
            <a:r>
              <a:rPr sz="1800" b="0" dirty="0">
                <a:solidFill>
                  <a:srgbClr val="FF0000"/>
                </a:solidFill>
              </a:rPr>
              <a:t>中，这些废弃标签、属性会被提示错误，可以直接使用记事本编辑</a:t>
            </a:r>
            <a:r>
              <a:rPr lang="en-US" altLang="zh-CN" sz="1800" b="0" dirty="0">
                <a:solidFill>
                  <a:srgbClr val="FF0000"/>
                </a:solidFill>
              </a:rPr>
              <a:t>+</a:t>
            </a:r>
            <a:r>
              <a:rPr sz="1800" b="0" dirty="0">
                <a:solidFill>
                  <a:srgbClr val="FF0000"/>
                </a:solidFill>
              </a:rPr>
              <a:t>浏览器直接打开。</a:t>
            </a:r>
            <a:endParaRPr lang="en-US" altLang="zh-CN" sz="1800" b="0" dirty="0">
              <a:solidFill>
                <a:srgbClr val="FF0000"/>
              </a:solidFill>
            </a:endParaRPr>
          </a:p>
          <a:p>
            <a:pPr marL="0">
              <a:spcBef>
                <a:spcPts val="0"/>
              </a:spcBef>
              <a:spcAft>
                <a:spcPts val="0"/>
              </a:spcAft>
            </a:pPr>
            <a:endParaRPr lang="zh-CN" altLang="en-US" sz="2200" b="0" dirty="0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AutoShape 2"/>
          <p:cNvSpPr>
            <a:spLocks noGrp="1" noChangeAspec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主体</a:t>
            </a:r>
            <a:r>
              <a:rPr lang="en-US" altLang="zh-CN" dirty="0"/>
              <a:t>body-</a:t>
            </a:r>
            <a:r>
              <a:rPr lang="zh-CN" altLang="en-US" dirty="0"/>
              <a:t>示例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405" y="1303655"/>
            <a:ext cx="8251825" cy="150812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28650" y="2750185"/>
            <a:ext cx="7530465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&lt;html lang="en"&gt;</a:t>
            </a:r>
          </a:p>
          <a:p>
            <a:r>
              <a:rPr lang="zh-CN" altLang="en-US"/>
              <a:t> &lt;head&gt;</a:t>
            </a:r>
          </a:p>
          <a:p>
            <a:r>
              <a:rPr lang="zh-CN" altLang="en-US"/>
              <a:t>   &lt;meta charset="UTF-8"&gt;</a:t>
            </a:r>
          </a:p>
          <a:p>
            <a:r>
              <a:rPr lang="zh-CN" altLang="en-US"/>
              <a:t>   &lt;title&gt; 这是页面标题，例如深圳大学 &lt;/title&gt;</a:t>
            </a:r>
          </a:p>
          <a:p>
            <a:r>
              <a:rPr lang="zh-CN" altLang="en-US"/>
              <a:t> &lt;/head&gt;</a:t>
            </a:r>
          </a:p>
          <a:p>
            <a:r>
              <a:rPr lang="zh-CN" altLang="en-US"/>
              <a:t>   &lt;body text="green"&gt;</a:t>
            </a:r>
          </a:p>
          <a:p>
            <a:r>
              <a:rPr lang="zh-CN" altLang="en-US"/>
              <a:t>     &lt;h3 align="center"&gt;Web前端开发技术课程简介&lt;/h3&gt;</a:t>
            </a:r>
          </a:p>
          <a:p>
            <a:r>
              <a:rPr lang="zh-CN" altLang="en-US"/>
              <a:t>     &lt;hr color="red"&gt;</a:t>
            </a:r>
          </a:p>
          <a:p>
            <a:r>
              <a:rPr lang="zh-CN" altLang="en-US"/>
              <a:t>     &lt;p&gt;课程将通过对Web前端HTML、CSS、JavaScript等技术的学习，通过实验培养学生进行Web前端设计与开发的能力。&lt;/p&gt;</a:t>
            </a:r>
          </a:p>
          <a:p>
            <a:r>
              <a:rPr lang="zh-CN" altLang="en-US"/>
              <a:t>   &lt;/body&gt;</a:t>
            </a:r>
          </a:p>
          <a:p>
            <a:r>
              <a:rPr lang="zh-CN" altLang="en-US"/>
              <a:t>&lt;/html&gt;</a:t>
            </a: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body</a:t>
            </a:r>
            <a:r>
              <a:rPr lang="zh-CN" altLang="en-US" dirty="0"/>
              <a:t>标记属性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b="0" dirty="0"/>
              <a:t>body</a:t>
            </a:r>
            <a:r>
              <a:rPr lang="zh-CN" altLang="en-US" sz="1800" b="0" dirty="0"/>
              <a:t>属性有</a:t>
            </a:r>
            <a:r>
              <a:rPr lang="en-US" altLang="zh-CN" sz="1800" b="0" dirty="0"/>
              <a:t>text</a:t>
            </a:r>
            <a:r>
              <a:rPr sz="1800" b="0" dirty="0"/>
              <a:t>（文本颜色）</a:t>
            </a:r>
            <a:r>
              <a:rPr lang="zh-CN" altLang="en-US" sz="1800" b="0" dirty="0"/>
              <a:t>、</a:t>
            </a:r>
            <a:r>
              <a:rPr lang="en-US" altLang="zh-CN" sz="1800" b="0" dirty="0"/>
              <a:t>bgcolor</a:t>
            </a:r>
            <a:r>
              <a:rPr sz="1800" b="0" dirty="0"/>
              <a:t>（背景颜色）</a:t>
            </a:r>
            <a:r>
              <a:rPr lang="zh-CN" altLang="en-US" sz="1800" b="0" dirty="0"/>
              <a:t>、</a:t>
            </a:r>
            <a:r>
              <a:rPr lang="en-US" altLang="zh-CN" sz="1800" b="0" dirty="0"/>
              <a:t>background</a:t>
            </a:r>
            <a:r>
              <a:rPr sz="1800" b="0" dirty="0"/>
              <a:t>（背景图片）</a:t>
            </a:r>
            <a:r>
              <a:rPr lang="zh-CN" altLang="en-US" sz="1800" b="0" dirty="0"/>
              <a:t>、</a:t>
            </a:r>
            <a:r>
              <a:rPr lang="en-US" altLang="zh-CN" sz="1800" b="0" dirty="0">
                <a:highlight>
                  <a:srgbClr val="FFFF00"/>
                </a:highlight>
              </a:rPr>
              <a:t>link</a:t>
            </a:r>
            <a:r>
              <a:rPr sz="1800" b="0" dirty="0">
                <a:highlight>
                  <a:srgbClr val="FFFF00"/>
                </a:highlight>
              </a:rPr>
              <a:t>（未访问链接颜色）</a:t>
            </a:r>
            <a:r>
              <a:rPr lang="zh-CN" altLang="en-US" sz="1800" b="0" dirty="0">
                <a:highlight>
                  <a:srgbClr val="FFFF00"/>
                </a:highlight>
              </a:rPr>
              <a:t>、</a:t>
            </a:r>
            <a:r>
              <a:rPr lang="en-US" altLang="zh-CN" sz="1800" b="0" dirty="0">
                <a:highlight>
                  <a:srgbClr val="FFFF00"/>
                </a:highlight>
              </a:rPr>
              <a:t>alink</a:t>
            </a:r>
            <a:r>
              <a:rPr sz="1800" b="0" dirty="0">
                <a:highlight>
                  <a:srgbClr val="FFFF00"/>
                </a:highlight>
              </a:rPr>
              <a:t>（活动链接颜色）</a:t>
            </a:r>
            <a:r>
              <a:rPr lang="zh-CN" altLang="en-US" sz="1800" b="0" dirty="0"/>
              <a:t>、</a:t>
            </a:r>
            <a:r>
              <a:rPr lang="en-US" altLang="zh-CN" sz="1800" b="0" dirty="0">
                <a:highlight>
                  <a:srgbClr val="FFFF00"/>
                </a:highlight>
              </a:rPr>
              <a:t>vlink</a:t>
            </a:r>
            <a:r>
              <a:rPr sz="1800" b="0" dirty="0">
                <a:highlight>
                  <a:srgbClr val="FFFF00"/>
                </a:highlight>
              </a:rPr>
              <a:t>（访问过链接颜色）</a:t>
            </a:r>
            <a:r>
              <a:rPr lang="zh-CN" altLang="en-US" sz="1800" b="0" dirty="0"/>
              <a:t>、</a:t>
            </a:r>
            <a:r>
              <a:rPr lang="en-US" altLang="zh-CN" sz="1800" b="0" dirty="0"/>
              <a:t>topmargin</a:t>
            </a:r>
            <a:r>
              <a:rPr sz="1800" b="0" dirty="0"/>
              <a:t>（上边距）</a:t>
            </a:r>
            <a:r>
              <a:rPr lang="zh-CN" altLang="en-US" sz="1800" b="0" dirty="0"/>
              <a:t>、</a:t>
            </a:r>
            <a:r>
              <a:rPr lang="en-US" altLang="zh-CN" sz="1800" b="0" dirty="0"/>
              <a:t>leftmargin</a:t>
            </a:r>
            <a:r>
              <a:rPr sz="1800" b="0" dirty="0"/>
              <a:t>（左边距）</a:t>
            </a:r>
            <a:r>
              <a:rPr lang="zh-CN" altLang="en-US" sz="1800" b="0" dirty="0"/>
              <a:t>等。</a:t>
            </a:r>
          </a:p>
          <a:p>
            <a:r>
              <a:rPr lang="zh-CN" altLang="en-US" sz="1800" dirty="0">
                <a:solidFill>
                  <a:srgbClr val="FF0000"/>
                </a:solidFill>
              </a:rPr>
              <a:t>样式属性少用</a:t>
            </a:r>
            <a:endParaRPr lang="zh-CN" altLang="en-US" sz="1800" dirty="0"/>
          </a:p>
          <a:p>
            <a:r>
              <a:rPr lang="zh-CN" altLang="en-US" sz="2200" b="0" dirty="0"/>
              <a:t>基本语法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1800" b="0" dirty="0">
                <a:solidFill>
                  <a:srgbClr val="FF0000"/>
                </a:solidFill>
              </a:rPr>
              <a:t>       </a:t>
            </a:r>
            <a:r>
              <a:rPr lang="en-US" altLang="zh-CN" sz="1800" b="0" dirty="0">
                <a:solidFill>
                  <a:srgbClr val="FF0000"/>
                </a:solidFill>
              </a:rPr>
              <a:t>&lt;body leftmargin="50px" topmargin="50px"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0" dirty="0">
                <a:solidFill>
                  <a:srgbClr val="FF0000"/>
                </a:solidFill>
              </a:rPr>
              <a:t>                  text="#000000" bgcolor="#339999"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0" dirty="0">
                <a:solidFill>
                  <a:srgbClr val="FF0000"/>
                </a:solidFill>
              </a:rPr>
              <a:t>                   link="blue" alink="white" vlink="red"    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b="0" dirty="0">
                <a:solidFill>
                  <a:srgbClr val="FF0000"/>
                </a:solidFill>
              </a:rPr>
              <a:t>                   background="body_image.jpg"&gt;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dirty="0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常用的全局属性</a:t>
            </a:r>
            <a:r>
              <a:rPr lang="en-US" altLang="zh-CN" dirty="0"/>
              <a:t>(H5)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219567"/>
              </p:ext>
            </p:extLst>
          </p:nvPr>
        </p:nvGraphicFramePr>
        <p:xfrm>
          <a:off x="600837" y="1639578"/>
          <a:ext cx="8140065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7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2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30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属性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说明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类名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一个元素可以有多个类，空格隔开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id</a:t>
                      </a:r>
                      <a:r>
                        <a:rPr lang="zh-CN" altLang="en-US"/>
                        <a:t>名不能包含空格，在一份文档中需唯一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style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行内样式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highlight>
                            <a:srgbClr val="FFFF00"/>
                          </a:highlight>
                        </a:rPr>
                        <a:t>提示文本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highlight>
                            <a:srgbClr val="FFFF00"/>
                          </a:highlight>
                        </a:rPr>
                        <a:t>区别于</a:t>
                      </a:r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title</a:t>
                      </a:r>
                      <a:r>
                        <a:rPr lang="zh-CN" altLang="en-US" dirty="0">
                          <a:highlight>
                            <a:srgbClr val="FFFF00"/>
                          </a:highlight>
                        </a:rPr>
                        <a:t>标签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 err="1"/>
                        <a:t>dir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ltr/rtl </a:t>
                      </a:r>
                      <a:r>
                        <a:rPr lang="zh-CN" altLang="en-US"/>
                        <a:t>文本方向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lang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语言代码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ISO</a:t>
                      </a:r>
                      <a:r>
                        <a:rPr lang="zh-CN" altLang="en-US" dirty="0"/>
                        <a:t>的语言代码，中文是</a:t>
                      </a:r>
                      <a:r>
                        <a:rPr lang="en-US" altLang="zh-CN" dirty="0"/>
                        <a:t>“</a:t>
                      </a:r>
                      <a:r>
                        <a:rPr lang="en-US" altLang="zh-CN" dirty="0" err="1"/>
                        <a:t>zh</a:t>
                      </a:r>
                      <a:r>
                        <a:rPr lang="en-US" altLang="zh-CN" dirty="0"/>
                        <a:t>”</a:t>
                      </a:r>
                      <a:r>
                        <a:rPr lang="zh-CN" altLang="en-US" dirty="0"/>
                        <a:t>，英文是</a:t>
                      </a:r>
                      <a:r>
                        <a:rPr lang="en-US" altLang="zh-CN" dirty="0"/>
                        <a:t>”</a:t>
                      </a:r>
                      <a:r>
                        <a:rPr lang="en-US" altLang="zh-CN" dirty="0" err="1"/>
                        <a:t>en</a:t>
                      </a:r>
                      <a:r>
                        <a:rPr lang="en-US" altLang="zh-CN" dirty="0"/>
                        <a:t>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 err="1">
                          <a:highlight>
                            <a:srgbClr val="FFFF00"/>
                          </a:highlight>
                        </a:rPr>
                        <a:t>contenteditable</a:t>
                      </a:r>
                      <a:endParaRPr lang="en-US" altLang="zh-CN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true/false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highlight>
                            <a:srgbClr val="FFFF00"/>
                          </a:highlight>
                        </a:rPr>
                        <a:t>draggable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highlight>
                            <a:srgbClr val="FFFF00"/>
                          </a:highlight>
                        </a:rPr>
                        <a:t>true/false/auto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auto</a:t>
                      </a:r>
                      <a:r>
                        <a:rPr lang="zh-CN" altLang="en-US" dirty="0">
                          <a:highlight>
                            <a:srgbClr val="FFFF00"/>
                          </a:highlight>
                        </a:rPr>
                        <a:t>是使用浏览器默认行为，链接和图像默认可拖拽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9D221B35-08B4-43E5-B156-78C531656A32}"/>
              </a:ext>
            </a:extLst>
          </p:cNvPr>
          <p:cNvSpPr/>
          <p:nvPr/>
        </p:nvSpPr>
        <p:spPr>
          <a:xfrm>
            <a:off x="5342467" y="618067"/>
            <a:ext cx="1667933" cy="4419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注释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200" dirty="0">
                <a:sym typeface="+mn-ea"/>
              </a:rPr>
              <a:t>2</a:t>
            </a:r>
            <a:r>
              <a:rPr lang="zh-CN" altLang="en-US" sz="2200" dirty="0">
                <a:sym typeface="+mn-ea"/>
              </a:rPr>
              <a:t>种</a:t>
            </a:r>
            <a:r>
              <a:rPr lang="zh-CN" altLang="en-US" sz="2200" b="0" dirty="0"/>
              <a:t>注释方法：</a:t>
            </a:r>
          </a:p>
          <a:p>
            <a:pPr marL="358775" indent="92075">
              <a:spcBef>
                <a:spcPts val="0"/>
              </a:spcBef>
              <a:spcAft>
                <a:spcPts val="0"/>
              </a:spcAft>
            </a:pPr>
            <a:r>
              <a:rPr lang="en-US" altLang="zh-CN" sz="2200" b="0" dirty="0">
                <a:solidFill>
                  <a:srgbClr val="FF0000"/>
                </a:solidFill>
              </a:rPr>
              <a:t>&lt;!-- </a:t>
            </a:r>
            <a:r>
              <a:rPr lang="zh-CN" altLang="en-US" sz="2200" b="0" dirty="0">
                <a:solidFill>
                  <a:srgbClr val="FF0000"/>
                </a:solidFill>
              </a:rPr>
              <a:t>注释信息 </a:t>
            </a:r>
            <a:r>
              <a:rPr lang="en-US" altLang="zh-CN" sz="2200" b="0" dirty="0">
                <a:solidFill>
                  <a:srgbClr val="FF0000"/>
                </a:solidFill>
              </a:rPr>
              <a:t>--&gt;</a:t>
            </a:r>
          </a:p>
          <a:p>
            <a:pPr marL="815975" lvl="1" indent="92075">
              <a:spcBef>
                <a:spcPts val="0"/>
              </a:spcBef>
              <a:spcAft>
                <a:spcPts val="0"/>
              </a:spcAft>
            </a:pPr>
            <a:r>
              <a:rPr lang="en-US" altLang="zh-CN" sz="1825" dirty="0">
                <a:solidFill>
                  <a:srgbClr val="FF0000"/>
                </a:solidFill>
                <a:sym typeface="+mn-ea"/>
              </a:rPr>
              <a:t>&lt;!-- </a:t>
            </a:r>
            <a:r>
              <a:rPr lang="zh-CN" altLang="en-US" sz="1825" dirty="0">
                <a:solidFill>
                  <a:srgbClr val="FF0000"/>
                </a:solidFill>
                <a:sym typeface="+mn-ea"/>
              </a:rPr>
              <a:t>后面的内容都是注释了，可以是一个段落  </a:t>
            </a:r>
            <a:r>
              <a:rPr lang="en-US" altLang="zh-CN" sz="1825" dirty="0">
                <a:solidFill>
                  <a:srgbClr val="FF0000"/>
                </a:solidFill>
                <a:sym typeface="+mn-ea"/>
              </a:rPr>
              <a:t>--&gt;</a:t>
            </a:r>
            <a:endParaRPr lang="en-US" altLang="zh-CN" sz="1825" dirty="0"/>
          </a:p>
          <a:p>
            <a:pPr marL="815975" lvl="1" indent="92075">
              <a:spcBef>
                <a:spcPts val="0"/>
              </a:spcBef>
              <a:spcAft>
                <a:spcPts val="0"/>
              </a:spcAft>
            </a:pPr>
            <a:endParaRPr lang="en-US" altLang="zh-CN" sz="1830" b="0" dirty="0">
              <a:solidFill>
                <a:srgbClr val="FF0000"/>
              </a:solidFill>
            </a:endParaRPr>
          </a:p>
          <a:p>
            <a:pPr marL="815975" lvl="1" indent="92075">
              <a:spcBef>
                <a:spcPts val="0"/>
              </a:spcBef>
              <a:spcAft>
                <a:spcPts val="0"/>
              </a:spcAft>
            </a:pPr>
            <a:endParaRPr lang="en-US" altLang="zh-CN" sz="1830" b="0" dirty="0">
              <a:solidFill>
                <a:srgbClr val="FF0000"/>
              </a:solidFill>
            </a:endParaRPr>
          </a:p>
          <a:p>
            <a:pPr marL="358775" indent="92075">
              <a:spcBef>
                <a:spcPts val="0"/>
              </a:spcBef>
              <a:spcAft>
                <a:spcPts val="0"/>
              </a:spcAft>
            </a:pPr>
            <a:r>
              <a:rPr lang="en-US" altLang="zh-CN" sz="2200" b="0" dirty="0">
                <a:solidFill>
                  <a:srgbClr val="FF0000"/>
                </a:solidFill>
              </a:rPr>
              <a:t>&lt;comment&gt;</a:t>
            </a:r>
            <a:r>
              <a:rPr lang="zh-CN" altLang="en-US" sz="2200" b="0" dirty="0">
                <a:solidFill>
                  <a:srgbClr val="FF0000"/>
                </a:solidFill>
              </a:rPr>
              <a:t>注释信息</a:t>
            </a:r>
            <a:r>
              <a:rPr lang="en-US" altLang="zh-CN" sz="2200" b="0" dirty="0">
                <a:solidFill>
                  <a:srgbClr val="FF0000"/>
                </a:solidFill>
              </a:rPr>
              <a:t>&lt;/comment&gt;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200" dirty="0">
                <a:sym typeface="+mn-ea"/>
              </a:rPr>
              <a:t>	</a:t>
            </a:r>
            <a:r>
              <a:rPr lang="zh-CN" altLang="en-US" sz="2200" dirty="0">
                <a:sym typeface="+mn-ea"/>
              </a:rPr>
              <a:t>在高版本的浏览器中，</a:t>
            </a:r>
            <a:r>
              <a:rPr lang="en-US" altLang="zh-CN" sz="2200" dirty="0">
                <a:sym typeface="+mn-ea"/>
              </a:rPr>
              <a:t>&lt;commnet&gt;</a:t>
            </a:r>
            <a:r>
              <a:rPr lang="zh-CN" altLang="en-US" sz="2200" dirty="0">
                <a:sym typeface="+mn-ea"/>
              </a:rPr>
              <a:t>均显示在页面上</a:t>
            </a:r>
            <a:endParaRPr lang="zh-CN" altLang="en-US" sz="2200" dirty="0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一般</a:t>
            </a:r>
            <a:r>
              <a:rPr lang="en-US" altLang="zh-CN" dirty="0"/>
              <a:t>HTML</a:t>
            </a:r>
            <a:r>
              <a:rPr lang="zh-CN" altLang="en-US" dirty="0"/>
              <a:t>文档编写规范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358775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dirty="0"/>
              <a:t>1.</a:t>
            </a:r>
            <a:r>
              <a:rPr lang="zh-CN" altLang="en-US" sz="2200" b="0" dirty="0"/>
              <a:t>所有标记均以“</a:t>
            </a:r>
            <a:r>
              <a:rPr lang="en-US" altLang="zh-CN" sz="2200" b="0" dirty="0"/>
              <a:t>&lt;”</a:t>
            </a:r>
            <a:r>
              <a:rPr lang="zh-CN" altLang="en-US" sz="2200" b="0" dirty="0"/>
              <a:t>开始、以“</a:t>
            </a:r>
            <a:r>
              <a:rPr lang="en-US" altLang="zh-CN" sz="2200" b="0" dirty="0"/>
              <a:t>&gt;”</a:t>
            </a:r>
            <a:r>
              <a:rPr lang="zh-CN" altLang="en-US" sz="2200" b="0" dirty="0"/>
              <a:t>结束。 </a:t>
            </a:r>
          </a:p>
          <a:p>
            <a:pPr marL="0" indent="358775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dirty="0"/>
              <a:t>2.</a:t>
            </a:r>
            <a:r>
              <a:rPr lang="zh-CN" altLang="en-US" sz="2200" b="0" dirty="0"/>
              <a:t>单个标记在右尖括号前加斜杠</a:t>
            </a:r>
            <a:r>
              <a:rPr lang="en-US" altLang="zh-CN" sz="2200" b="0" dirty="0"/>
              <a:t>/”</a:t>
            </a:r>
            <a:r>
              <a:rPr lang="zh-CN" altLang="en-US" sz="2200" b="0" dirty="0"/>
              <a:t>，如</a:t>
            </a:r>
            <a:r>
              <a:rPr lang="en-US" altLang="zh-CN" sz="2200" b="0" dirty="0"/>
              <a:t>&lt;br/&gt;</a:t>
            </a:r>
            <a:r>
              <a:rPr lang="zh-CN" altLang="en-US" sz="2200" b="0" dirty="0"/>
              <a:t>，成对标记确保同时具有起始标记和结束标记。</a:t>
            </a:r>
          </a:p>
          <a:p>
            <a:pPr marL="0" indent="358775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dirty="0"/>
              <a:t>3.</a:t>
            </a:r>
            <a:r>
              <a:rPr lang="zh-CN" altLang="en-US" sz="2200" b="0" dirty="0"/>
              <a:t>标记可以嵌套，但不能交叉。 </a:t>
            </a:r>
          </a:p>
          <a:p>
            <a:pPr marL="0" indent="358775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dirty="0"/>
              <a:t>4.HTML</a:t>
            </a:r>
            <a:r>
              <a:rPr lang="zh-CN" altLang="en-US" sz="2200" b="0" dirty="0"/>
              <a:t>代码不区分大小写，但建议使用小写标记</a:t>
            </a:r>
          </a:p>
          <a:p>
            <a:pPr marL="0" indent="358775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dirty="0"/>
              <a:t>5. </a:t>
            </a:r>
            <a:r>
              <a:rPr lang="zh-CN" altLang="en-US" sz="2200" b="0" dirty="0"/>
              <a:t>一行中一般不包括多个标记</a:t>
            </a:r>
          </a:p>
          <a:p>
            <a:pPr marL="0" indent="358775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dirty="0"/>
              <a:t>6.</a:t>
            </a:r>
            <a:r>
              <a:rPr lang="zh-CN" altLang="en-US" sz="2200" b="0" dirty="0"/>
              <a:t>标记属性值建议用双引号标注起来 </a:t>
            </a:r>
          </a:p>
          <a:p>
            <a:pPr marL="0" indent="358775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dirty="0"/>
              <a:t>7.</a:t>
            </a:r>
            <a:r>
              <a:rPr lang="zh-CN" altLang="en-US" sz="2200" b="0" dirty="0">
                <a:highlight>
                  <a:srgbClr val="FFFF00"/>
                </a:highlight>
              </a:rPr>
              <a:t>左尖括号与标记名或与斜杠“</a:t>
            </a:r>
            <a:r>
              <a:rPr lang="en-US" altLang="zh-CN" sz="2200" b="0" dirty="0">
                <a:highlight>
                  <a:srgbClr val="FFFF00"/>
                </a:highlight>
              </a:rPr>
              <a:t>/”</a:t>
            </a:r>
            <a:r>
              <a:rPr lang="zh-CN" altLang="en-US" sz="2200" b="0" dirty="0">
                <a:highlight>
                  <a:srgbClr val="FFFF00"/>
                </a:highlight>
              </a:rPr>
              <a:t>之间不能留有多余空格</a:t>
            </a:r>
            <a:r>
              <a:rPr lang="zh-CN" altLang="en-US" sz="2200" b="0" dirty="0"/>
              <a:t>。 </a:t>
            </a:r>
          </a:p>
          <a:p>
            <a:pPr marL="0" indent="358775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dirty="0"/>
              <a:t>8.</a:t>
            </a:r>
            <a:r>
              <a:rPr lang="zh-CN" altLang="en-US" sz="2200" b="0" dirty="0"/>
              <a:t>采用锯齿结构，形成良好的</a:t>
            </a:r>
            <a:r>
              <a:rPr lang="zh-CN" altLang="en-US" sz="2200" dirty="0">
                <a:sym typeface="+mn-ea"/>
              </a:rPr>
              <a:t>缩进风格</a:t>
            </a:r>
            <a:endParaRPr lang="en-US" altLang="zh-CN" sz="2200" b="0" dirty="0"/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HTML</a:t>
            </a:r>
            <a:r>
              <a:rPr lang="zh-CN" altLang="en-US" dirty="0"/>
              <a:t>文档编写规范（续）</a:t>
            </a:r>
          </a:p>
        </p:txBody>
      </p:sp>
      <p:sp>
        <p:nvSpPr>
          <p:cNvPr id="124932" name="Rectangle 4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79375">
              <a:spcBef>
                <a:spcPts val="0"/>
              </a:spcBef>
              <a:spcAft>
                <a:spcPts val="0"/>
              </a:spcAft>
            </a:pPr>
            <a:r>
              <a:rPr lang="en-US" altLang="zh-CN" sz="2200" b="0" dirty="0"/>
              <a:t>HTML</a:t>
            </a:r>
            <a:r>
              <a:rPr lang="zh-CN" altLang="en-US" sz="2200" b="0" dirty="0"/>
              <a:t>文档命名规则</a:t>
            </a:r>
          </a:p>
          <a:p>
            <a:pPr marL="536575" indent="-274955">
              <a:spcBef>
                <a:spcPts val="0"/>
              </a:spcBef>
              <a:spcAft>
                <a:spcPts val="0"/>
              </a:spcAft>
            </a:pPr>
            <a:r>
              <a:rPr lang="en-US" altLang="zh-CN" sz="2200" b="0" dirty="0"/>
              <a:t>1.</a:t>
            </a:r>
            <a:r>
              <a:rPr lang="zh-CN" altLang="en-US" sz="2200" b="0" dirty="0"/>
              <a:t>文档的扩展名为</a:t>
            </a:r>
            <a:r>
              <a:rPr lang="en-US" altLang="zh-CN" sz="2200" b="0" dirty="0"/>
              <a:t>html</a:t>
            </a:r>
            <a:r>
              <a:rPr lang="zh-CN" altLang="en-US" sz="2200" b="0" dirty="0"/>
              <a:t>或。</a:t>
            </a:r>
          </a:p>
          <a:p>
            <a:pPr marL="536575" indent="-274955">
              <a:spcBef>
                <a:spcPts val="0"/>
              </a:spcBef>
              <a:spcAft>
                <a:spcPts val="0"/>
              </a:spcAft>
            </a:pPr>
            <a:r>
              <a:rPr lang="en-US" altLang="zh-CN" sz="2200" b="0" dirty="0"/>
              <a:t>2.</a:t>
            </a:r>
            <a:r>
              <a:rPr lang="zh-CN" altLang="en-US" sz="2200" b="0" dirty="0"/>
              <a:t>文档名中只由英文字母、数字或下划线组成。</a:t>
            </a:r>
          </a:p>
          <a:p>
            <a:pPr marL="536575" indent="-274955">
              <a:spcBef>
                <a:spcPts val="0"/>
              </a:spcBef>
              <a:spcAft>
                <a:spcPts val="0"/>
              </a:spcAft>
            </a:pPr>
            <a:r>
              <a:rPr lang="en-US" altLang="zh-CN" sz="2200" b="0" dirty="0"/>
              <a:t>3.</a:t>
            </a:r>
            <a:r>
              <a:rPr lang="zh-CN" altLang="en-US" sz="2200" b="0" dirty="0"/>
              <a:t>文档名中不包含特殊符号，如</a:t>
            </a:r>
            <a:r>
              <a:rPr lang="zh-CN" altLang="en-US" sz="2200" b="0" dirty="0">
                <a:highlight>
                  <a:srgbClr val="FFFF00"/>
                </a:highlight>
              </a:rPr>
              <a:t>空格、</a:t>
            </a:r>
            <a:r>
              <a:rPr lang="en-US" altLang="zh-CN" sz="2200" b="0" dirty="0">
                <a:highlight>
                  <a:srgbClr val="FFFF00"/>
                </a:highlight>
              </a:rPr>
              <a:t>$</a:t>
            </a:r>
            <a:r>
              <a:rPr lang="zh-CN" altLang="en-US" sz="2200" b="0" dirty="0">
                <a:highlight>
                  <a:srgbClr val="FFFF00"/>
                </a:highlight>
              </a:rPr>
              <a:t>、</a:t>
            </a:r>
            <a:r>
              <a:rPr lang="en-US" altLang="zh-CN" sz="2200" b="0" dirty="0">
                <a:highlight>
                  <a:srgbClr val="FFFF00"/>
                </a:highlight>
              </a:rPr>
              <a:t>&amp;</a:t>
            </a:r>
            <a:r>
              <a:rPr lang="zh-CN" altLang="en-US" sz="2200" b="0" dirty="0"/>
              <a:t>等。</a:t>
            </a:r>
          </a:p>
          <a:p>
            <a:pPr marL="536575" indent="-274955">
              <a:spcBef>
                <a:spcPts val="0"/>
              </a:spcBef>
              <a:spcAft>
                <a:spcPts val="0"/>
              </a:spcAft>
            </a:pPr>
            <a:r>
              <a:rPr lang="en-US" altLang="zh-CN" sz="2200" b="0" dirty="0"/>
              <a:t>4.</a:t>
            </a:r>
            <a:r>
              <a:rPr lang="zh-CN" altLang="en-US" sz="2200" b="0" dirty="0"/>
              <a:t>文档名区分大小写。</a:t>
            </a:r>
          </a:p>
          <a:p>
            <a:pPr marL="536575" indent="-274955">
              <a:spcBef>
                <a:spcPts val="0"/>
              </a:spcBef>
              <a:spcAft>
                <a:spcPts val="0"/>
              </a:spcAft>
            </a:pPr>
            <a:r>
              <a:rPr lang="en-US" altLang="zh-CN" sz="2200" b="0" dirty="0">
                <a:highlight>
                  <a:srgbClr val="FFFF00"/>
                </a:highlight>
              </a:rPr>
              <a:t>5.Web</a:t>
            </a:r>
            <a:r>
              <a:rPr lang="zh-CN" altLang="en-US" sz="2200" b="0" dirty="0">
                <a:highlight>
                  <a:srgbClr val="FFFF00"/>
                </a:highlight>
              </a:rPr>
              <a:t>服务器应用默认主页一般是</a:t>
            </a:r>
            <a:r>
              <a:rPr lang="en-US" altLang="zh-CN" sz="2200" b="0" dirty="0">
                <a:highlight>
                  <a:srgbClr val="FFFF00"/>
                </a:highlight>
              </a:rPr>
              <a:t>index.html</a:t>
            </a:r>
            <a:r>
              <a:rPr lang="zh-CN" altLang="en-US" sz="2200" b="0" dirty="0">
                <a:highlight>
                  <a:srgbClr val="FFFF00"/>
                </a:highlight>
              </a:rPr>
              <a:t>或</a:t>
            </a:r>
            <a:r>
              <a:rPr lang="en-US" altLang="zh-CN" sz="2200" b="0" dirty="0">
                <a:highlight>
                  <a:srgbClr val="FFFF00"/>
                </a:highlight>
              </a:rPr>
              <a:t>default.html</a:t>
            </a:r>
            <a:r>
              <a:rPr lang="zh-CN" altLang="en-US" sz="2200" b="0" dirty="0">
                <a:highlight>
                  <a:srgbClr val="FFFF00"/>
                </a:highlight>
              </a:rPr>
              <a:t>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综合实例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02285" y="1132205"/>
            <a:ext cx="503936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阅读理解：</a:t>
            </a:r>
          </a:p>
          <a:p>
            <a:r>
              <a:rPr lang="zh-CN" altLang="en-US"/>
              <a:t>https://csse.szu.edu.cn/pages/university/index</a:t>
            </a:r>
          </a:p>
          <a:p>
            <a:r>
              <a:rPr lang="zh-CN" altLang="en-US"/>
              <a:t>https://www1.szu.edu.cn/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660" y="2282190"/>
            <a:ext cx="8165465" cy="278828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回顾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&lt;html&gt;</a:t>
            </a:r>
            <a:endParaRPr lang="en-US" altLang="zh-CN" b="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     &lt;head&gt;</a:t>
            </a:r>
          </a:p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rgbClr val="660066"/>
              </a:buClr>
              <a:buFont typeface="Wingdings" panose="05000000000000000000" pitchFamily="2" charset="2"/>
              <a:buNone/>
            </a:pPr>
            <a:r>
              <a:rPr>
                <a:solidFill>
                  <a:schemeClr val="tx1"/>
                </a:solidFill>
                <a:sym typeface="+mn-ea"/>
              </a:rPr>
              <a:t>  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        </a:t>
            </a:r>
            <a:r>
              <a:rPr>
                <a:solidFill>
                  <a:schemeClr val="tx1"/>
                </a:solidFill>
                <a:sym typeface="+mn-ea"/>
              </a:rPr>
              <a:t>&lt;meta charset="UTF-8"&gt;</a:t>
            </a:r>
            <a:endParaRPr lang="zh-CN" altLang="en-US" dirty="0">
              <a:solidFill>
                <a:schemeClr val="tx1"/>
              </a:solidFill>
            </a:endParaRPr>
          </a:p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rgbClr val="660066"/>
              </a:buClr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            </a:t>
            </a:r>
            <a:r>
              <a:rPr>
                <a:solidFill>
                  <a:schemeClr val="tx1"/>
                </a:solidFill>
                <a:sym typeface="+mn-ea"/>
              </a:rPr>
              <a:t>&lt;title&gt;页面标题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——</a:t>
            </a:r>
            <a:r>
              <a:rPr>
                <a:solidFill>
                  <a:schemeClr val="tx1"/>
                </a:solidFill>
                <a:sym typeface="+mn-ea"/>
              </a:rPr>
              <a:t>深圳大学 &lt;/title&gt;</a:t>
            </a:r>
            <a:endParaRPr lang="zh-CN" altLang="en-US" dirty="0">
              <a:solidFill>
                <a:schemeClr val="tx1"/>
              </a:solidFill>
            </a:endParaRPr>
          </a:p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rgbClr val="660066"/>
              </a:buClr>
              <a:buFont typeface="Wingdings" panose="05000000000000000000" pitchFamily="2" charset="2"/>
              <a:buNone/>
            </a:pPr>
            <a:r>
              <a:rPr>
                <a:solidFill>
                  <a:schemeClr val="tx1"/>
                </a:solidFill>
                <a:sym typeface="+mn-ea"/>
              </a:rPr>
              <a:t>  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        </a:t>
            </a:r>
            <a:r>
              <a:rPr>
                <a:solidFill>
                  <a:schemeClr val="tx1"/>
                </a:solidFill>
                <a:sym typeface="+mn-ea"/>
              </a:rPr>
              <a:t>&lt;meta name="keywords" content="关键字，搜索引擎建索引用" /&gt;</a:t>
            </a:r>
            <a:endParaRPr lang="zh-CN" altLang="en-US" dirty="0">
              <a:solidFill>
                <a:schemeClr val="tx1"/>
              </a:solidFill>
            </a:endParaRPr>
          </a:p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rgbClr val="660066"/>
              </a:buClr>
              <a:buFont typeface="Wingdings" panose="05000000000000000000" pitchFamily="2" charset="2"/>
              <a:buNone/>
            </a:pPr>
            <a:r>
              <a:rPr>
                <a:solidFill>
                  <a:schemeClr val="tx1"/>
                </a:solidFill>
                <a:sym typeface="+mn-ea"/>
              </a:rPr>
              <a:t>  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        </a:t>
            </a:r>
            <a:r>
              <a:rPr>
                <a:solidFill>
                  <a:schemeClr val="tx1"/>
                </a:solidFill>
                <a:sym typeface="+mn-ea"/>
              </a:rPr>
              <a:t>&lt;meta name="description" content="搜索引擎索引排序用" /&gt;</a:t>
            </a:r>
          </a:p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rgbClr val="660066"/>
              </a:buClr>
              <a:buFont typeface="Wingdings" panose="05000000000000000000" pitchFamily="2" charset="2"/>
              <a:buNone/>
            </a:pPr>
            <a:r>
              <a:rPr>
                <a:solidFill>
                  <a:schemeClr val="tx1"/>
                </a:solidFill>
                <a:sym typeface="+mn-ea"/>
              </a:rPr>
              <a:t>  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        </a:t>
            </a:r>
            <a:r>
              <a:rPr>
                <a:solidFill>
                  <a:schemeClr val="tx1"/>
                </a:solidFill>
                <a:sym typeface="+mn-ea"/>
              </a:rPr>
              <a:t>&lt;meta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http-equiv=</a:t>
            </a:r>
            <a:r>
              <a:rPr>
                <a:solidFill>
                  <a:schemeClr val="tx1"/>
                </a:solidFill>
                <a:sym typeface="+mn-ea"/>
              </a:rPr>
              <a:t>"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cache-control</a:t>
            </a:r>
            <a:r>
              <a:rPr>
                <a:solidFill>
                  <a:schemeClr val="tx1"/>
                </a:solidFill>
                <a:sym typeface="+mn-ea"/>
              </a:rPr>
              <a:t>"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content=</a:t>
            </a:r>
            <a:r>
              <a:rPr>
                <a:solidFill>
                  <a:schemeClr val="tx1"/>
                </a:solidFill>
                <a:sym typeface="+mn-ea"/>
              </a:rPr>
              <a:t>"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no-cache</a:t>
            </a:r>
            <a:r>
              <a:rPr>
                <a:solidFill>
                  <a:schemeClr val="tx1"/>
                </a:solidFill>
                <a:sym typeface="+mn-ea"/>
              </a:rPr>
              <a:t>" /&gt;</a:t>
            </a: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  <a:sym typeface="+mn-ea"/>
              </a:rPr>
              <a:t>  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        </a:t>
            </a:r>
            <a:r>
              <a:rPr>
                <a:solidFill>
                  <a:schemeClr val="tx1"/>
                </a:solidFill>
              </a:rPr>
              <a:t>&lt;meta http-equiv="refresh" content="2; url=http://www1.szu.edu.cn" /&gt;</a:t>
            </a: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  <a:sym typeface="+mn-ea"/>
              </a:rPr>
              <a:t>  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        </a:t>
            </a:r>
            <a:r>
              <a:rPr>
                <a:solidFill>
                  <a:schemeClr val="tx1"/>
                </a:solidFill>
                <a:sym typeface="+mn-ea"/>
              </a:rPr>
              <a:t>&lt;meta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http-equiv=</a:t>
            </a:r>
            <a:r>
              <a:rPr>
                <a:solidFill>
                  <a:schemeClr val="tx1"/>
                </a:solidFill>
                <a:sym typeface="+mn-ea"/>
              </a:rPr>
              <a:t>"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expires</a:t>
            </a:r>
            <a:r>
              <a:rPr>
                <a:solidFill>
                  <a:schemeClr val="tx1"/>
                </a:solidFill>
                <a:sym typeface="+mn-ea"/>
              </a:rPr>
              <a:t>"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content=</a:t>
            </a:r>
            <a:r>
              <a:rPr>
                <a:solidFill>
                  <a:schemeClr val="tx1"/>
                </a:solidFill>
                <a:sym typeface="+mn-ea"/>
              </a:rPr>
              <a:t>"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Tue, 20 Sep 2022 14:30:00 GMT</a:t>
            </a:r>
            <a:r>
              <a:rPr>
                <a:solidFill>
                  <a:schemeClr val="tx1"/>
                </a:solidFill>
                <a:sym typeface="+mn-ea"/>
              </a:rPr>
              <a:t>" /&gt;</a:t>
            </a: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            &lt;!-- </a:t>
            </a:r>
            <a:r>
              <a:rPr>
                <a:solidFill>
                  <a:schemeClr val="tx1"/>
                </a:solidFill>
                <a:sym typeface="+mn-ea"/>
              </a:rPr>
              <a:t>课后任务，查阅浏览器的缓存处理机制，包括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age</a:t>
            </a:r>
            <a:r>
              <a:rPr>
                <a:solidFill>
                  <a:schemeClr val="tx1"/>
                </a:solidFill>
                <a:sym typeface="+mn-ea"/>
              </a:rPr>
              <a:t>、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etag</a:t>
            </a:r>
            <a:r>
              <a:rPr>
                <a:solidFill>
                  <a:schemeClr val="tx1"/>
                </a:solidFill>
                <a:sym typeface="+mn-ea"/>
              </a:rPr>
              <a:t>等，理解问题及其解决思路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--&gt;</a:t>
            </a:r>
            <a:endParaRPr lang="en-US" altLang="zh-CN" b="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    &lt;/head&gt;</a:t>
            </a:r>
            <a:endParaRPr lang="en-US" altLang="zh-CN" b="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    &lt;body&gt;</a:t>
            </a: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        &lt;p&gt;p</a:t>
            </a:r>
            <a:r>
              <a:rPr>
                <a:solidFill>
                  <a:schemeClr val="tx1"/>
                </a:solidFill>
                <a:sym typeface="+mn-ea"/>
              </a:rPr>
              <a:t>是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paragraph</a:t>
            </a:r>
            <a:r>
              <a:rPr>
                <a:solidFill>
                  <a:schemeClr val="tx1"/>
                </a:solidFill>
                <a:sym typeface="+mn-ea"/>
              </a:rPr>
              <a:t>的缩写，代表一个段落，是一个成对标记。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&lt;/p&gt;</a:t>
            </a:r>
            <a:endParaRPr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    &lt;/body&gt;</a:t>
            </a:r>
            <a:endParaRPr lang="en-US" altLang="zh-CN" b="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&lt;/html&gt;</a:t>
            </a:r>
            <a:endParaRPr lang="en-US" altLang="zh-CN" b="0" dirty="0">
              <a:solidFill>
                <a:schemeClr val="tx1"/>
              </a:solidFill>
            </a:endParaRPr>
          </a:p>
          <a:p>
            <a:endParaRPr lang="en-US" altLang="zh-CN" b="0" dirty="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标题</a:t>
            </a:r>
            <a:r>
              <a:rPr lang="en-US" altLang="zh-CN"/>
              <a:t>&lt;h1&gt;-&lt;h6&gt;</a:t>
            </a:r>
            <a:r>
              <a:rPr lang="zh-CN" altLang="en-US"/>
              <a:t> 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idx="1"/>
          </p:nvPr>
        </p:nvSpPr>
        <p:spPr>
          <a:xfrm>
            <a:off x="502285" y="952500"/>
            <a:ext cx="8139430" cy="5591810"/>
          </a:xfrm>
        </p:spPr>
        <p:txBody>
          <a:bodyPr>
            <a:normAutofit fontScale="87500" lnSpcReduction="20000"/>
          </a:bodyPr>
          <a:lstStyle/>
          <a:p>
            <a:r>
              <a:rPr lang="zh-CN" altLang="en-US" sz="2000" dirty="0"/>
              <a:t>标题通过 </a:t>
            </a:r>
            <a:r>
              <a:rPr lang="en-US" altLang="zh-CN" sz="2000" dirty="0"/>
              <a:t>&lt;h1&gt; - &lt;h6&gt; </a:t>
            </a:r>
            <a:r>
              <a:rPr lang="zh-CN" altLang="en-US" sz="2000" dirty="0"/>
              <a:t>等标记进行定义，浏览器会自动在标题前后加空行</a:t>
            </a:r>
          </a:p>
          <a:p>
            <a:r>
              <a:rPr lang="zh-CN" altLang="en-US" dirty="0"/>
              <a:t>基本语法：</a:t>
            </a:r>
            <a:r>
              <a:rPr lang="en-US" altLang="zh-CN" sz="1800" dirty="0">
                <a:solidFill>
                  <a:srgbClr val="FF0000"/>
                </a:solidFill>
              </a:rPr>
              <a:t> &lt;h1</a:t>
            </a:r>
            <a:r>
              <a:rPr lang="zh-CN" altLang="en-US" sz="1800" dirty="0">
                <a:solidFill>
                  <a:srgbClr val="FF0000"/>
                </a:solidFill>
              </a:rPr>
              <a:t> </a:t>
            </a:r>
            <a:r>
              <a:rPr lang="en-US" altLang="zh-CN" sz="1800" dirty="0">
                <a:solidFill>
                  <a:srgbClr val="FF0000"/>
                </a:solidFill>
              </a:rPr>
              <a:t>align=“</a:t>
            </a:r>
            <a:r>
              <a:rPr lang="en-US" altLang="zh-CN" sz="1800" b="1" dirty="0" err="1">
                <a:solidFill>
                  <a:srgbClr val="FF0000"/>
                </a:solidFill>
              </a:rPr>
              <a:t>left|center|right</a:t>
            </a:r>
            <a:r>
              <a:rPr lang="en-US" altLang="zh-CN" sz="1800" b="1" dirty="0">
                <a:solidFill>
                  <a:srgbClr val="FF0000"/>
                </a:solidFill>
              </a:rPr>
              <a:t>| </a:t>
            </a:r>
            <a:r>
              <a:rPr lang="en-US" altLang="zh-CN" sz="2000" b="1" dirty="0">
                <a:solidFill>
                  <a:srgbClr val="FF0000"/>
                </a:solidFill>
              </a:rPr>
              <a:t>justify</a:t>
            </a:r>
            <a:r>
              <a:rPr lang="en-US" altLang="zh-CN" sz="1800" dirty="0">
                <a:solidFill>
                  <a:srgbClr val="FF0000"/>
                </a:solidFill>
              </a:rPr>
              <a:t> " &gt;1</a:t>
            </a:r>
            <a:r>
              <a:rPr lang="zh-CN" altLang="en-US" sz="1800" dirty="0">
                <a:solidFill>
                  <a:srgbClr val="FF0000"/>
                </a:solidFill>
              </a:rPr>
              <a:t>号标题字</a:t>
            </a:r>
            <a:r>
              <a:rPr lang="en-US" altLang="zh-CN" sz="1800" dirty="0">
                <a:solidFill>
                  <a:srgbClr val="FF0000"/>
                </a:solidFill>
              </a:rPr>
              <a:t>&lt;/h1&gt;</a:t>
            </a:r>
          </a:p>
          <a:p>
            <a:pPr lvl="1">
              <a:buNone/>
            </a:pPr>
            <a:r>
              <a:rPr lang="en-US" altLang="zh-CN" sz="1400" dirty="0"/>
              <a:t>	</a:t>
            </a: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&lt;h1 align="center"   &gt;Web</a:t>
            </a:r>
            <a:r>
              <a:rPr lang="zh-CN" altLang="en-US" sz="1400" dirty="0">
                <a:latin typeface="Verdana" panose="020B0604030504040204" pitchFamily="34" charset="0"/>
                <a:cs typeface="Verdana" panose="020B0604030504040204" pitchFamily="34" charset="0"/>
              </a:rPr>
              <a:t>前端开发技术</a:t>
            </a: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&lt;/h1&gt;</a:t>
            </a:r>
          </a:p>
          <a:p>
            <a:pPr lvl="1">
              <a:buNone/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&lt;h2 align="left"   &gt;Web</a:t>
            </a:r>
            <a:r>
              <a:rPr lang="zh-CN" altLang="en-US" sz="1400" dirty="0">
                <a:latin typeface="Verdana" panose="020B0604030504040204" pitchFamily="34" charset="0"/>
                <a:cs typeface="Verdana" panose="020B0604030504040204" pitchFamily="34" charset="0"/>
              </a:rPr>
              <a:t>前端开发技术</a:t>
            </a: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&lt;/h2&gt;</a:t>
            </a:r>
          </a:p>
          <a:p>
            <a:pPr lvl="1">
              <a:buNone/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&lt;h3 align="center"   &gt;Web</a:t>
            </a:r>
            <a:r>
              <a:rPr lang="zh-CN" altLang="en-US" sz="1400" dirty="0">
                <a:latin typeface="Verdana" panose="020B0604030504040204" pitchFamily="34" charset="0"/>
                <a:cs typeface="Verdana" panose="020B0604030504040204" pitchFamily="34" charset="0"/>
              </a:rPr>
              <a:t>前端开发技术</a:t>
            </a: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&lt;/h3&gt;</a:t>
            </a:r>
          </a:p>
          <a:p>
            <a:pPr lvl="1">
              <a:buNone/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&lt;h4 align="right"   &gt;Web</a:t>
            </a:r>
            <a:r>
              <a:rPr lang="zh-CN" altLang="en-US" sz="1400" dirty="0">
                <a:latin typeface="Verdana" panose="020B0604030504040204" pitchFamily="34" charset="0"/>
                <a:cs typeface="Verdana" panose="020B0604030504040204" pitchFamily="34" charset="0"/>
              </a:rPr>
              <a:t>前端开发技术</a:t>
            </a: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&lt;/h4&gt;</a:t>
            </a:r>
          </a:p>
          <a:p>
            <a:pPr lvl="1">
              <a:buNone/>
            </a:pPr>
            <a:r>
              <a:rPr lang="en-US" altLang="zh-CN" sz="140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&lt;h5 align=“justify”   &gt;Web</a:t>
            </a:r>
            <a:r>
              <a:rPr lang="zh-CN" altLang="en-US" sz="1400" dirty="0">
                <a:highlight>
                  <a:srgbClr val="FFFF00"/>
                </a:highlight>
                <a:latin typeface="Verdana" panose="020B0604030504040204" pitchFamily="34" charset="0"/>
                <a:cs typeface="Verdana" panose="020B0604030504040204" pitchFamily="34" charset="0"/>
              </a:rPr>
              <a:t>前端开发技术</a:t>
            </a:r>
            <a:r>
              <a:rPr lang="en-US" altLang="zh-CN" sz="140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&lt;/h5&gt;  </a:t>
            </a:r>
            <a:r>
              <a:rPr lang="zh-CN" altLang="en-US" sz="140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两端对齐</a:t>
            </a:r>
            <a:endParaRPr lang="en-US" altLang="zh-CN" sz="140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1">
              <a:buNone/>
            </a:pP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&lt;h6 align="center"   &gt;Web</a:t>
            </a:r>
            <a:r>
              <a:rPr lang="zh-CN" altLang="en-US" sz="1400" dirty="0">
                <a:latin typeface="Verdana" panose="020B0604030504040204" pitchFamily="34" charset="0"/>
                <a:cs typeface="Verdana" panose="020B0604030504040204" pitchFamily="34" charset="0"/>
              </a:rPr>
              <a:t>前端开发技术</a:t>
            </a: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&lt;/h6&gt;</a:t>
            </a:r>
          </a:p>
          <a:p>
            <a:pPr lvl="1">
              <a:buNone/>
            </a:pPr>
            <a:endParaRPr lang="en-US" altLang="zh-CN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1">
              <a:buNone/>
            </a:pPr>
            <a:endParaRPr lang="en-US" altLang="zh-CN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1">
              <a:buNone/>
            </a:pPr>
            <a:endParaRPr lang="en-US" altLang="zh-CN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1">
              <a:buNone/>
            </a:pPr>
            <a:endParaRPr lang="en-US" altLang="zh-CN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1">
              <a:buNone/>
            </a:pPr>
            <a:endParaRPr lang="en-US" altLang="zh-CN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1">
              <a:buNone/>
            </a:pPr>
            <a:endParaRPr lang="en-US" altLang="zh-CN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1">
              <a:buNone/>
            </a:pPr>
            <a:r>
              <a:rPr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但一般还是使用</a:t>
            </a:r>
            <a:r>
              <a:rPr lang="en-US" altLang="zh-CN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CSS</a:t>
            </a:r>
            <a:r>
              <a:rPr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样式来对齐。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785" y="3888105"/>
            <a:ext cx="5815330" cy="204787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换行</a:t>
            </a:r>
            <a:r>
              <a:rPr lang="en-US" altLang="zh-CN"/>
              <a:t>&lt;br/&gt; 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idx="1"/>
          </p:nvPr>
        </p:nvSpPr>
        <p:spPr>
          <a:xfrm>
            <a:off x="650875" y="1752600"/>
            <a:ext cx="8356600" cy="3733800"/>
          </a:xfrm>
        </p:spPr>
        <p:txBody>
          <a:bodyPr/>
          <a:lstStyle/>
          <a:p>
            <a:r>
              <a:rPr lang="zh-CN" altLang="en-US" sz="2000" dirty="0"/>
              <a:t>基本语法 </a:t>
            </a:r>
          </a:p>
          <a:p>
            <a:pPr lvl="1">
              <a:buNone/>
            </a:pPr>
            <a:r>
              <a:rPr lang="en-US" altLang="zh-CN" sz="2000" dirty="0"/>
              <a:t>&lt;br/&gt; </a:t>
            </a:r>
            <a:r>
              <a:rPr lang="zh-CN" altLang="en-US" sz="2000" dirty="0"/>
              <a:t>换行</a:t>
            </a:r>
            <a:endParaRPr lang="en-US" altLang="zh-CN" sz="2000" dirty="0"/>
          </a:p>
          <a:p>
            <a:pPr lvl="1"/>
            <a:r>
              <a:rPr lang="zh-CN" altLang="en-US" sz="2000" dirty="0"/>
              <a:t>文档中，</a:t>
            </a:r>
            <a:r>
              <a:rPr lang="en-US" altLang="zh-CN" sz="2000" dirty="0"/>
              <a:t>&lt;br/&gt;</a:t>
            </a:r>
            <a:r>
              <a:rPr lang="zh-CN" altLang="en-US" sz="2000" dirty="0"/>
              <a:t>元素属于单个标志，表示插入换行符。</a:t>
            </a:r>
            <a:endParaRPr lang="en-US" altLang="zh-CN" sz="2000" dirty="0"/>
          </a:p>
          <a:p>
            <a:pPr lvl="1">
              <a:buNone/>
            </a:pPr>
            <a:r>
              <a:rPr lang="zh-CN" altLang="en-US" sz="2000" dirty="0"/>
              <a:t>例如：</a:t>
            </a:r>
            <a:endParaRPr lang="en-US" altLang="zh-CN" sz="2000" dirty="0"/>
          </a:p>
          <a:p>
            <a:pPr lvl="1">
              <a:buNone/>
            </a:pPr>
            <a:r>
              <a:rPr lang="en-US" altLang="zh-CN" sz="1800" dirty="0">
                <a:solidFill>
                  <a:srgbClr val="FF0000"/>
                </a:solidFill>
              </a:rPr>
              <a:t>      &lt;p&gt;</a:t>
            </a:r>
            <a:r>
              <a:rPr lang="zh-CN" altLang="en-US" sz="1800" dirty="0">
                <a:solidFill>
                  <a:srgbClr val="FF0000"/>
                </a:solidFill>
              </a:rPr>
              <a:t>段落正文内容</a:t>
            </a:r>
            <a:r>
              <a:rPr lang="en-US" altLang="zh-CN" sz="1800" dirty="0">
                <a:solidFill>
                  <a:srgbClr val="FF0000"/>
                </a:solidFill>
              </a:rPr>
              <a:t>&lt;</a:t>
            </a:r>
            <a:r>
              <a:rPr lang="en-US" altLang="zh-CN" sz="1800" dirty="0" err="1">
                <a:solidFill>
                  <a:srgbClr val="FF0000"/>
                </a:solidFill>
              </a:rPr>
              <a:t>br/</a:t>
            </a:r>
            <a:r>
              <a:rPr lang="en-US" altLang="zh-CN" sz="1800" dirty="0">
                <a:solidFill>
                  <a:srgbClr val="FF0000"/>
                </a:solidFill>
              </a:rPr>
              <a:t>&gt;</a:t>
            </a:r>
            <a:r>
              <a:rPr lang="zh-CN" altLang="en-US" sz="1800" dirty="0">
                <a:solidFill>
                  <a:srgbClr val="FF0000"/>
                </a:solidFill>
              </a:rPr>
              <a:t>另起一行</a:t>
            </a:r>
            <a:r>
              <a:rPr lang="en-US" altLang="zh-CN" sz="1800" dirty="0">
                <a:solidFill>
                  <a:srgbClr val="FF0000"/>
                </a:solidFill>
              </a:rPr>
              <a:t>&lt;/p&gt; </a:t>
            </a:r>
            <a:r>
              <a:rPr lang="zh-CN" altLang="en-US" sz="1800" dirty="0">
                <a:solidFill>
                  <a:srgbClr val="FF0000"/>
                </a:solidFill>
              </a:rPr>
              <a:t> </a:t>
            </a:r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水平分隔线</a:t>
            </a:r>
            <a:r>
              <a:rPr lang="en-US" altLang="zh-CN"/>
              <a:t>&lt;hr</a:t>
            </a:r>
            <a:r>
              <a:rPr lang="en-US" altLang="zh-CN">
                <a:sym typeface="+mn-ea"/>
              </a:rPr>
              <a:t>/</a:t>
            </a:r>
            <a:r>
              <a:rPr lang="en-US" altLang="zh-CN"/>
              <a:t>&gt; </a:t>
            </a:r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02285" y="1373505"/>
            <a:ext cx="8340725" cy="1238885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/>
              <a:t>&lt;hr</a:t>
            </a:r>
            <a:r>
              <a:rPr lang="en-US" altLang="zh-CN" sz="1600">
                <a:sym typeface="+mn-ea"/>
              </a:rPr>
              <a:t>/</a:t>
            </a:r>
            <a:r>
              <a:rPr lang="en-US" altLang="zh-CN" sz="1600" dirty="0"/>
              <a:t>&gt;</a:t>
            </a:r>
            <a:r>
              <a:rPr lang="zh-CN" altLang="en-US" sz="1600" dirty="0"/>
              <a:t>元素可以浏览器上显示一条细线以分隔两个区域。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/>
              <a:t>基本语法 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chemeClr val="tx1"/>
                </a:solidFill>
              </a:rPr>
              <a:t>	</a:t>
            </a:r>
            <a:r>
              <a:rPr lang="en-US" altLang="zh-CN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&lt;hr</a:t>
            </a:r>
            <a:r>
              <a:rPr lang="en-US" altLang="zh-CN" sz="14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size=""  color=""   width=""  align=""    &gt;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en-US" altLang="zh-CN" sz="1400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121027" name="Group 195"/>
          <p:cNvGraphicFramePr>
            <a:graphicFrameLocks noGrp="1"/>
          </p:cNvGraphicFramePr>
          <p:nvPr>
            <p:ph sz="half" idx="2"/>
            <p:custDataLst>
              <p:tags r:id="rId2"/>
            </p:custDataLst>
          </p:nvPr>
        </p:nvGraphicFramePr>
        <p:xfrm>
          <a:off x="740410" y="2759075"/>
          <a:ext cx="7864475" cy="2061845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262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4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7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24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属性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值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说明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width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像素</a:t>
                      </a:r>
                      <a:r>
                        <a:rPr kumimoji="0" lang="en-US" altLang="zh-CN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px</a:t>
                      </a:r>
                      <a:r>
                        <a:rPr kumimoji="0" lang="zh-CN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或百分比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设置水平线宽度。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size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整数，单位</a:t>
                      </a:r>
                      <a:r>
                        <a:rPr kumimoji="0" lang="en-US" altLang="zh-CN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px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设置水平线高度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color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rgb</a:t>
                      </a:r>
                      <a:r>
                        <a:rPr kumimoji="0" lang="zh-CN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函数、十六进制数，颜色英文名称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设置水平线颜色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8325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align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left</a:t>
                      </a:r>
                      <a:r>
                        <a:rPr kumimoji="0" lang="zh-CN" alt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、</a:t>
                      </a:r>
                      <a:r>
                        <a:rPr kumimoji="0" lang="en-US" altLang="zh-CN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center</a:t>
                      </a:r>
                      <a:r>
                        <a:rPr kumimoji="0" lang="zh-CN" alt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、</a:t>
                      </a:r>
                      <a:r>
                        <a:rPr kumimoji="0" lang="en-US" altLang="zh-CN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right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设置水平线对齐方式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段落</a:t>
            </a:r>
            <a:r>
              <a:rPr lang="en-US" altLang="zh-CN"/>
              <a:t>&lt;p&gt; </a:t>
            </a:r>
          </a:p>
        </p:txBody>
      </p:sp>
      <p:sp>
        <p:nvSpPr>
          <p:cNvPr id="119815" name="Rectangle 7"/>
          <p:cNvSpPr>
            <a:spLocks noGrp="1" noChangeArrowheads="1"/>
          </p:cNvSpPr>
          <p:nvPr>
            <p:ph idx="1"/>
          </p:nvPr>
        </p:nvSpPr>
        <p:spPr>
          <a:xfrm>
            <a:off x="650875" y="1668145"/>
            <a:ext cx="8356600" cy="379222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zh-CN" altLang="en-US" sz="2000" b="0" dirty="0"/>
              <a:t>段落</a:t>
            </a:r>
            <a:r>
              <a:rPr lang="en-US" altLang="zh-CN" sz="2000" b="0" dirty="0"/>
              <a:t>&lt;p&gt;</a:t>
            </a:r>
            <a:r>
              <a:rPr lang="zh-CN" altLang="en-US" sz="2000" b="0" dirty="0"/>
              <a:t>标记用来起始一个段落，它是一个</a:t>
            </a:r>
            <a:r>
              <a:rPr lang="zh-CN" altLang="en-US" sz="2000" b="0" dirty="0">
                <a:solidFill>
                  <a:srgbClr val="FF0000"/>
                </a:solidFill>
              </a:rPr>
              <a:t>块级元素</a:t>
            </a:r>
            <a:r>
              <a:rPr lang="zh-CN" altLang="en-US" sz="2000" b="0" dirty="0"/>
              <a:t> 。段落</a:t>
            </a:r>
            <a:r>
              <a:rPr lang="en-US" sz="2000" b="0" dirty="0"/>
              <a:t>p</a:t>
            </a:r>
            <a:r>
              <a:rPr lang="zh-CN" altLang="en-US" sz="2000" b="0" dirty="0"/>
              <a:t>标记会自动在</a:t>
            </a:r>
            <a:r>
              <a:rPr lang="zh-CN" altLang="en-US" sz="2000" b="0" u="sng" dirty="0">
                <a:solidFill>
                  <a:srgbClr val="FF0000"/>
                </a:solidFill>
              </a:rPr>
              <a:t>其前后创建一些空白</a:t>
            </a:r>
            <a:r>
              <a:rPr lang="zh-CN" altLang="en-US" sz="2000" b="0" dirty="0"/>
              <a:t>。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zh-CN" altLang="en-US" sz="2000" b="0" dirty="0"/>
          </a:p>
          <a:p>
            <a:pPr marL="182880" lvl="1" indent="-182880">
              <a:spcBef>
                <a:spcPts val="0"/>
              </a:spcBef>
              <a:spcAft>
                <a:spcPts val="600"/>
              </a:spcAft>
              <a:buClr>
                <a:srgbClr val="0000CC"/>
              </a:buClr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基本语法      </a:t>
            </a:r>
            <a:r>
              <a:rPr lang="en-US" altLang="zh-CN" sz="16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&lt;p align="</a:t>
            </a:r>
            <a:r>
              <a:rPr lang="en-US" altLang="zh-CN" sz="1600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left|center|right</a:t>
            </a:r>
            <a:r>
              <a:rPr lang="en-US" altLang="zh-CN" sz="16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"&gt;</a:t>
            </a:r>
            <a:r>
              <a:rPr lang="zh-CN" altLang="en-US" sz="1600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段落正文内容</a:t>
            </a:r>
            <a:r>
              <a:rPr lang="en-US" altLang="zh-CN" sz="16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&lt;/p&gt; </a:t>
            </a:r>
          </a:p>
          <a:p>
            <a:pPr marL="182880" lvl="1" indent="-182880">
              <a:spcBef>
                <a:spcPts val="0"/>
              </a:spcBef>
              <a:spcAft>
                <a:spcPts val="600"/>
              </a:spcAft>
              <a:buClr>
                <a:srgbClr val="0000CC"/>
              </a:buClr>
              <a:buFont typeface="Wingdings" panose="05000000000000000000" pitchFamily="2" charset="2"/>
              <a:buChar char="l"/>
            </a:pPr>
            <a:endParaRPr lang="en-US" altLang="zh-CN" sz="1600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lvl="1" indent="0">
              <a:spcBef>
                <a:spcPts val="0"/>
              </a:spcBef>
              <a:spcAft>
                <a:spcPts val="600"/>
              </a:spcAft>
              <a:buClr>
                <a:srgbClr val="0000CC"/>
              </a:buClr>
              <a:buFont typeface="Wingdings" panose="05000000000000000000" pitchFamily="2" charset="2"/>
              <a:buNone/>
            </a:pP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Verdana" panose="020B0604030504040204" pitchFamily="34" charset="0"/>
              <a:ea typeface="宋体" panose="02010600030101010101" pitchFamily="2" charset="-122"/>
              <a:cs typeface="Verdana" panose="020B0604030504040204" pitchFamily="34" charset="0"/>
            </a:endParaRPr>
          </a:p>
          <a:p>
            <a:pPr marL="0" lvl="1" indent="0">
              <a:spcBef>
                <a:spcPts val="0"/>
              </a:spcBef>
              <a:spcAft>
                <a:spcPts val="600"/>
              </a:spcAft>
              <a:buClr>
                <a:srgbClr val="0000CC"/>
              </a:buClr>
              <a:buFont typeface="Wingdings" panose="05000000000000000000" pitchFamily="2" charset="2"/>
              <a:buNone/>
            </a:pP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块级元素：一块，另起一行开始，默认宽度是父元素的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100%</a:t>
            </a: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，默认高度是内容高，但高宽内外边距等均可以控制设置，可容纳其他块或行内元素。</a:t>
            </a:r>
          </a:p>
          <a:p>
            <a:pPr marL="0" lvl="1" indent="0">
              <a:spcBef>
                <a:spcPts val="0"/>
              </a:spcBef>
              <a:spcAft>
                <a:spcPts val="600"/>
              </a:spcAft>
              <a:buClr>
                <a:srgbClr val="0000CC"/>
              </a:buClr>
              <a:buFont typeface="Wingdings" panose="05000000000000000000" pitchFamily="2" charset="2"/>
              <a:buNone/>
            </a:pP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行内元素：行内，和其他元素同在一行，不换新行，默认宽度是内容宽，高宽内外边距多不可控（只能设置行高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line-height</a:t>
            </a: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控制不了元素高；只能设置左右外边距），</a:t>
            </a:r>
            <a:r>
              <a:rPr sz="160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  <a:sym typeface="+mn-ea"/>
              </a:rPr>
              <a:t>只能容纳文本或其他行内元素，</a:t>
            </a: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以后还会遇到可设置宽高的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“</a:t>
            </a: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行内块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”……</a:t>
            </a:r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空格与特殊符号 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0" dirty="0"/>
              <a:t>HTML</a:t>
            </a:r>
            <a:r>
              <a:rPr lang="zh-CN" altLang="en-US" b="0" dirty="0"/>
              <a:t>文件通过</a:t>
            </a:r>
            <a:r>
              <a:rPr lang="zh-CN" altLang="en-US" b="0" u="sng" dirty="0">
                <a:solidFill>
                  <a:srgbClr val="FF0000"/>
                </a:solidFill>
              </a:rPr>
              <a:t>代码控制</a:t>
            </a:r>
            <a:r>
              <a:rPr lang="zh-CN" altLang="en-US" b="0" dirty="0"/>
              <a:t>来</a:t>
            </a:r>
            <a:r>
              <a:rPr lang="zh-CN" altLang="en-US" b="0" dirty="0">
                <a:solidFill>
                  <a:srgbClr val="FF0000"/>
                </a:solidFill>
              </a:rPr>
              <a:t>添加空格</a:t>
            </a:r>
            <a:endParaRPr lang="zh-CN" altLang="en-US" b="0" dirty="0"/>
          </a:p>
          <a:p>
            <a:r>
              <a:rPr lang="zh-CN" altLang="en-US" b="0" dirty="0"/>
              <a:t>基本语法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b="0" dirty="0">
                <a:solidFill>
                  <a:srgbClr val="FF0000"/>
                </a:solidFill>
              </a:rPr>
              <a:t>&lt;body&gt;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b="0" dirty="0">
                <a:solidFill>
                  <a:srgbClr val="FF0000"/>
                </a:solidFill>
              </a:rPr>
              <a:t>	   &amp;</a:t>
            </a:r>
            <a:r>
              <a:rPr lang="en-US" altLang="zh-CN" b="0" dirty="0" err="1">
                <a:solidFill>
                  <a:srgbClr val="FF0000"/>
                </a:solidFill>
              </a:rPr>
              <a:t>nbsp</a:t>
            </a:r>
            <a:r>
              <a:rPr lang="en-US" altLang="zh-CN" b="0" dirty="0">
                <a:solidFill>
                  <a:srgbClr val="FF0000"/>
                </a:solidFill>
              </a:rPr>
              <a:t>;&amp;</a:t>
            </a:r>
            <a:r>
              <a:rPr lang="en-US" altLang="zh-CN" b="0" dirty="0" err="1">
                <a:solidFill>
                  <a:srgbClr val="FF0000"/>
                </a:solidFill>
              </a:rPr>
              <a:t>lt</a:t>
            </a:r>
            <a:r>
              <a:rPr lang="en-US" altLang="zh-CN" b="0" dirty="0">
                <a:solidFill>
                  <a:srgbClr val="FF0000"/>
                </a:solidFill>
              </a:rPr>
              <a:t>;&amp;</a:t>
            </a:r>
            <a:r>
              <a:rPr lang="en-US" altLang="zh-CN" b="0" dirty="0" err="1">
                <a:solidFill>
                  <a:srgbClr val="FF0000"/>
                </a:solidFill>
              </a:rPr>
              <a:t>reg</a:t>
            </a:r>
            <a:r>
              <a:rPr lang="en-US" altLang="zh-CN" b="0" dirty="0">
                <a:solidFill>
                  <a:srgbClr val="FF0000"/>
                </a:solidFill>
              </a:rPr>
              <a:t>;&amp;times; 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b="0" dirty="0">
                <a:solidFill>
                  <a:srgbClr val="FF0000"/>
                </a:solidFill>
              </a:rPr>
              <a:t>&lt;/body&gt;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b="0" dirty="0"/>
              <a:t>注：在b</a:t>
            </a:r>
            <a:r>
              <a:rPr lang="en-US" altLang="zh-CN" b="0" dirty="0" err="1"/>
              <a:t>ody</a:t>
            </a:r>
            <a:r>
              <a:rPr lang="zh-CN" altLang="en-US" b="0" dirty="0"/>
              <a:t>标记内无论输入多少空格、回车符，页面在显示时都会忽略。</a:t>
            </a:r>
            <a:endParaRPr lang="en-US" altLang="zh-CN" b="0" dirty="0"/>
          </a:p>
          <a:p>
            <a:pPr lvl="1"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lvl="1"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311" name="Group 263"/>
          <p:cNvGraphicFramePr>
            <a:graphicFrameLocks noGrp="1"/>
          </p:cNvGraphicFramePr>
          <p:nvPr>
            <p:ph sz="half" idx="2"/>
            <p:custDataLst>
              <p:tags r:id="rId2"/>
            </p:custDataLst>
          </p:nvPr>
        </p:nvGraphicFramePr>
        <p:xfrm>
          <a:off x="568960" y="1440180"/>
          <a:ext cx="8072755" cy="448310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0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4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2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06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8310">
                <a:tc>
                  <a:txBody>
                    <a:bodyPr/>
                    <a:lstStyle/>
                    <a:p>
                      <a:pPr marL="182880" marR="0" lvl="0" indent="-182880" algn="ctr" defTabSz="11588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显示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182880" marR="0" lvl="0" indent="-182880" algn="ctr" defTabSz="11588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说明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182880" marR="0" lvl="0" indent="-182880" algn="ctr" defTabSz="11588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Entity Name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182880" marR="0" lvl="0" indent="-182880" algn="ctr" defTabSz="11588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英文全称</a:t>
                      </a: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182880" marR="0" lvl="0" indent="-182880" algn="ctr" defTabSz="11588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Entity Number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310">
                <a:tc>
                  <a:txBody>
                    <a:bodyPr/>
                    <a:lstStyle/>
                    <a:p>
                      <a:pPr marL="182880" marR="0" lvl="0" indent="-182880" algn="l" defTabSz="11588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 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182880" marR="0" lvl="0" indent="-182880" algn="l" defTabSz="11588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显示一个空格 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182880" marR="0" lvl="0" indent="-182880" algn="l" defTabSz="11588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&amp;</a:t>
                      </a:r>
                      <a:r>
                        <a:rPr kumimoji="0" lang="en-US" altLang="zh-CN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nbsp</a:t>
                      </a: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;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182880" marR="0" lvl="0" indent="-182880" algn="l" defTabSz="11588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on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reaking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sp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182880" marR="0" lvl="0" indent="-182880" algn="l" defTabSz="11588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&amp;#160;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310">
                <a:tc>
                  <a:txBody>
                    <a:bodyPr/>
                    <a:lstStyle/>
                    <a:p>
                      <a:pPr marL="182880" marR="0" lvl="0" indent="-182880" algn="l" defTabSz="11588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&lt;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182880" marR="0" lvl="0" indent="-182880" algn="l" defTabSz="11588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小于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182880" marR="0" lvl="0" indent="-182880" algn="l" defTabSz="11588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&amp;</a:t>
                      </a:r>
                      <a:r>
                        <a:rPr kumimoji="0" lang="en-US" altLang="zh-CN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lt</a:t>
                      </a: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;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182880" marR="0" lvl="0" indent="-182880" algn="l" defTabSz="11588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ess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han</a:t>
                      </a: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182880" marR="0" lvl="0" indent="-182880" algn="l" defTabSz="11588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&amp;#60;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310">
                <a:tc>
                  <a:txBody>
                    <a:bodyPr/>
                    <a:lstStyle/>
                    <a:p>
                      <a:pPr marL="182880" marR="0" lvl="0" indent="-182880" algn="l" defTabSz="11588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&gt;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182880" marR="0" lvl="0" indent="-182880" algn="l" defTabSz="11588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大于 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182880" marR="0" lvl="0" indent="-182880" algn="l" defTabSz="11588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&amp;</a:t>
                      </a:r>
                      <a:r>
                        <a:rPr kumimoji="0" lang="en-US" altLang="zh-CN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gt</a:t>
                      </a: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;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182880" marR="0" lvl="0" indent="-182880" algn="l" defTabSz="11588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g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reater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han</a:t>
                      </a: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182880" marR="0" lvl="0" indent="-182880" algn="l" defTabSz="11588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&amp;#62;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310">
                <a:tc>
                  <a:txBody>
                    <a:bodyPr/>
                    <a:lstStyle/>
                    <a:p>
                      <a:pPr marL="182880" marR="0" lvl="0" indent="-182880" algn="l" defTabSz="11588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&amp;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182880" marR="0" lvl="0" indent="-182880" algn="l" defTabSz="11588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&amp;</a:t>
                      </a:r>
                      <a:r>
                        <a:rPr kumimoji="0" lang="zh-CN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符号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182880" marR="0" lvl="0" indent="-182880" algn="l" defTabSz="11588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&amp;amp;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182880" marR="0" lvl="0" indent="-182880" algn="l" defTabSz="11588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amp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ersand</a:t>
                      </a: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182880" marR="0" lvl="0" indent="-182880" algn="l" defTabSz="11588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&amp;#38;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310">
                <a:tc>
                  <a:txBody>
                    <a:bodyPr/>
                    <a:lstStyle/>
                    <a:p>
                      <a:pPr marL="182880" marR="0" lvl="0" indent="-182880" algn="l" defTabSz="11588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"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182880" marR="0" lvl="0" indent="-182880" algn="l" defTabSz="11588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双引号 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182880" marR="0" lvl="0" indent="-182880" algn="l" defTabSz="11588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&amp;</a:t>
                      </a:r>
                      <a:r>
                        <a:rPr kumimoji="0" lang="en-US" altLang="zh-CN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quot</a:t>
                      </a: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;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182880" marR="0" lvl="0" indent="-182880" algn="l" defTabSz="11588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quot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ation mark</a:t>
                      </a: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182880" marR="0" lvl="0" indent="-182880" algn="l" defTabSz="11588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&amp;#34;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310">
                <a:tc>
                  <a:txBody>
                    <a:bodyPr/>
                    <a:lstStyle/>
                    <a:p>
                      <a:pPr marL="182880" marR="0" lvl="0" indent="-182880" algn="l" defTabSz="11588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©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182880" marR="0" lvl="0" indent="-182880" algn="l" defTabSz="11588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版权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182880" marR="0" lvl="0" indent="-182880" algn="l" defTabSz="11588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&amp;copy; 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182880" marR="0" lvl="0" indent="-182880" algn="l" defTabSz="11588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copy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right</a:t>
                      </a: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182880" marR="0" lvl="0" indent="-182880" algn="l" defTabSz="11588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&amp;#169; 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310">
                <a:tc>
                  <a:txBody>
                    <a:bodyPr/>
                    <a:lstStyle/>
                    <a:p>
                      <a:pPr marL="182880" marR="0" lvl="0" indent="-182880" algn="l" defTabSz="11588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®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182880" marR="0" lvl="0" indent="-182880" algn="l" defTabSz="11588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注册商标 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182880" marR="0" lvl="0" indent="-182880" algn="l" defTabSz="11588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&amp;</a:t>
                      </a:r>
                      <a:r>
                        <a:rPr kumimoji="0" lang="en-US" altLang="zh-CN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reg</a:t>
                      </a: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; 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182880" marR="0" lvl="0" indent="-182880" algn="l" defTabSz="11588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reg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ister</a:t>
                      </a: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182880" marR="0" lvl="0" indent="-182880" algn="l" defTabSz="11588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&amp;#174; 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8310">
                <a:tc>
                  <a:txBody>
                    <a:bodyPr/>
                    <a:lstStyle/>
                    <a:p>
                      <a:pPr marL="182880" marR="0" lvl="0" indent="-182880" algn="l" defTabSz="11588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×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182880" marR="0" lvl="0" indent="-182880" algn="l" defTabSz="11588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乘号 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182880" marR="0" lvl="0" indent="-182880" algn="l" defTabSz="11588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&amp;times; 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182880" marR="0" lvl="0" indent="-182880" algn="l" defTabSz="11588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times</a:t>
                      </a: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182880" marR="0" lvl="0" indent="-182880" algn="l" defTabSz="11588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&amp;#215; 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8310">
                <a:tc>
                  <a:txBody>
                    <a:bodyPr/>
                    <a:lstStyle/>
                    <a:p>
                      <a:pPr marL="182880" marR="0" lvl="0" indent="-182880" algn="l" defTabSz="11588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÷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182880" marR="0" lvl="0" indent="-182880" algn="l" defTabSz="11588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除号 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182880" marR="0" lvl="0" indent="-182880" algn="l" defTabSz="11588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&amp;divide; 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182880" marR="0" lvl="0" indent="-182880" algn="l" defTabSz="11588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divide</a:t>
                      </a: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182880" marR="0" lvl="0" indent="-182880" algn="l" defTabSz="11588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+mj-ea"/>
                          <a:ea typeface="+mj-ea"/>
                        </a:rPr>
                        <a:t>&amp;#247; 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特殊符号 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73DCD9E-FFC2-428E-8533-CE7265C0031F}"/>
              </a:ext>
            </a:extLst>
          </p:cNvPr>
          <p:cNvSpPr/>
          <p:nvPr/>
        </p:nvSpPr>
        <p:spPr>
          <a:xfrm>
            <a:off x="5038165" y="510575"/>
            <a:ext cx="3200400" cy="652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拼音</a:t>
            </a:r>
            <a:r>
              <a:rPr lang="en-US" altLang="zh-CN" dirty="0"/>
              <a:t>/</a:t>
            </a:r>
            <a:r>
              <a:rPr lang="zh-CN" altLang="en-US" dirty="0"/>
              <a:t>音标注释</a:t>
            </a:r>
            <a:r>
              <a:rPr lang="en-US" altLang="zh-CN" dirty="0"/>
              <a:t>ruby</a:t>
            </a:r>
            <a:r>
              <a:rPr lang="zh-CN" altLang="en-US" dirty="0"/>
              <a:t>标记和</a:t>
            </a:r>
            <a:r>
              <a:rPr lang="en-US" altLang="zh-CN" dirty="0" err="1"/>
              <a:t>rt</a:t>
            </a:r>
            <a:r>
              <a:rPr lang="zh-CN" altLang="en-US" dirty="0"/>
              <a:t>标记</a:t>
            </a:r>
            <a:endParaRPr lang="en-US" altLang="zh-CN" dirty="0"/>
          </a:p>
        </p:txBody>
      </p:sp>
      <p:sp>
        <p:nvSpPr>
          <p:cNvPr id="106499" name="Rectangle 3"/>
          <p:cNvSpPr>
            <a:spLocks noGrp="1" noChangeArrowheads="1"/>
          </p:cNvSpPr>
          <p:nvPr>
            <p:ph idx="1"/>
          </p:nvPr>
        </p:nvSpPr>
        <p:spPr>
          <a:xfrm>
            <a:off x="595630" y="1226820"/>
            <a:ext cx="6096000" cy="1910080"/>
          </a:xfrm>
        </p:spPr>
        <p:txBody>
          <a:bodyPr>
            <a:normAutofit/>
          </a:bodyPr>
          <a:lstStyle/>
          <a:p>
            <a:pPr marL="0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/>
              <a:t>基本语法</a:t>
            </a:r>
          </a:p>
          <a:p>
            <a:pPr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rgbClr val="FF0000"/>
                </a:solidFill>
              </a:rPr>
              <a:t>&lt;ruby&gt;</a:t>
            </a:r>
          </a:p>
          <a:p>
            <a:pPr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rgbClr val="FF0000"/>
                </a:solidFill>
              </a:rPr>
              <a:t>      中&lt;rt&gt;zhong&lt;/rt&gt;</a:t>
            </a:r>
          </a:p>
          <a:p>
            <a:pPr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rgbClr val="FF0000"/>
                </a:solidFill>
              </a:rPr>
              <a:t>      国&lt;rt&gt;guo&lt;/rt&gt;</a:t>
            </a:r>
          </a:p>
          <a:p>
            <a:pPr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rgbClr val="FF0000"/>
                </a:solidFill>
              </a:rPr>
              <a:t>&lt;/ruby&gt;</a:t>
            </a:r>
          </a:p>
          <a:p>
            <a:pPr>
              <a:buNone/>
            </a:pPr>
            <a:endParaRPr lang="en-US" altLang="zh-CN" sz="20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39000" y="1905000"/>
            <a:ext cx="1000125" cy="72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矩形 5"/>
          <p:cNvSpPr/>
          <p:nvPr/>
        </p:nvSpPr>
        <p:spPr>
          <a:xfrm>
            <a:off x="685800" y="3336925"/>
            <a:ext cx="7948930" cy="163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 sz="2000" b="0" dirty="0"/>
              <a:t>ruby </a:t>
            </a:r>
            <a:r>
              <a:rPr lang="zh-CN" altLang="en-US" sz="2000" b="0" dirty="0"/>
              <a:t>标记定义</a:t>
            </a:r>
            <a:r>
              <a:rPr lang="en-US" altLang="zh-CN" sz="2000" b="0" dirty="0">
                <a:highlight>
                  <a:srgbClr val="FFFF00"/>
                </a:highlight>
              </a:rPr>
              <a:t>ruby</a:t>
            </a:r>
            <a:r>
              <a:rPr lang="zh-CN" altLang="en-US" sz="2000" b="0" dirty="0">
                <a:highlight>
                  <a:srgbClr val="FFFF00"/>
                </a:highlight>
              </a:rPr>
              <a:t>注释（中文注音或字符），</a:t>
            </a:r>
            <a:r>
              <a:rPr lang="zh-CN" altLang="en-US" sz="2000" b="0" dirty="0"/>
              <a:t>与</a:t>
            </a:r>
            <a:r>
              <a:rPr lang="en-US" altLang="zh-CN" sz="2000" b="0" dirty="0" err="1"/>
              <a:t>rt</a:t>
            </a:r>
            <a:r>
              <a:rPr lang="zh-CN" altLang="en-US" sz="2000" b="0" dirty="0"/>
              <a:t>标记一同使用。</a:t>
            </a:r>
            <a:endParaRPr lang="en-US" altLang="zh-CN" sz="2000" b="0" dirty="0"/>
          </a:p>
          <a:p>
            <a:pPr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zh-CN" altLang="en-US" sz="2000" b="0" dirty="0"/>
          </a:p>
          <a:p>
            <a:pPr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sz="2000" b="0" dirty="0"/>
              <a:t>还包括可选的</a:t>
            </a:r>
            <a:r>
              <a:rPr lang="en-US" altLang="zh-CN" sz="2000" b="0" dirty="0" err="1"/>
              <a:t>rp</a:t>
            </a:r>
            <a:r>
              <a:rPr lang="zh-CN" altLang="en-US" sz="2000" b="0" dirty="0"/>
              <a:t>标记，定义当浏览器不支持</a:t>
            </a:r>
            <a:r>
              <a:rPr lang="en-US" altLang="zh-CN" sz="2000" b="0" dirty="0"/>
              <a:t>ruby </a:t>
            </a:r>
            <a:r>
              <a:rPr lang="zh-CN" altLang="en-US" sz="2000" b="0" dirty="0"/>
              <a:t>标记时显示的内容，但支持 "ruby" 元素的</a:t>
            </a:r>
            <a:r>
              <a:rPr lang="zh-CN" altLang="en-US" sz="2000" b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浏览器不会显示 "rp" 元素的内容，而现有浏览器基本</a:t>
            </a:r>
            <a:r>
              <a:rPr lang="zh-CN" sz="2000" b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都支持</a:t>
            </a:r>
            <a:r>
              <a:rPr lang="en-US" altLang="zh-CN" sz="2000" b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ruby</a:t>
            </a:r>
            <a:r>
              <a:rPr lang="zh-CN" altLang="en-US" sz="2000" b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了。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AutoShape 2"/>
          <p:cNvSpPr>
            <a:spLocks noGrp="1" noChangeAspec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字体</a:t>
            </a:r>
            <a:r>
              <a:rPr lang="en-US" altLang="zh-CN" dirty="0"/>
              <a:t>font</a:t>
            </a:r>
            <a:r>
              <a:rPr lang="zh-CN" altLang="en-US" dirty="0"/>
              <a:t>标记</a:t>
            </a:r>
          </a:p>
        </p:txBody>
      </p:sp>
      <p:sp>
        <p:nvSpPr>
          <p:cNvPr id="118788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650875" y="1454150"/>
            <a:ext cx="8340725" cy="4678045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/>
              <a:t>font</a:t>
            </a:r>
            <a:r>
              <a:rPr lang="zh-CN" altLang="en-US" sz="1400" dirty="0"/>
              <a:t>标记用来改变默认的字体、颜色、大小等属性，这些更改分别通过不同的属性定义完成。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/>
              <a:t>基本语法 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&lt;font  face=""  size=""  color="" &gt;&lt;/font&gt;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/>
              <a:t>属性说明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zh-CN" altLang="en-US" sz="1400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zh-CN" altLang="en-US" sz="1400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zh-CN" altLang="en-US" sz="1400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zh-CN" altLang="en-US" sz="1400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zh-CN" altLang="en-US" sz="1400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zh-CN" altLang="en-US" sz="1400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zh-CN" altLang="en-US" sz="1400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zh-CN" altLang="en-US" sz="1400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zh-CN" altLang="en-US" sz="1400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zh-CN" altLang="en-US" sz="14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/>
              <a:t>重要的样式属性，</a:t>
            </a:r>
            <a:r>
              <a:rPr lang="en-US" altLang="zh-CN" sz="1400" dirty="0"/>
              <a:t>H5</a:t>
            </a:r>
            <a:r>
              <a:rPr lang="zh-CN" altLang="en-US" sz="1400" dirty="0"/>
              <a:t>换</a:t>
            </a:r>
            <a:r>
              <a:rPr lang="en-US" altLang="zh-CN" sz="1400" dirty="0"/>
              <a:t>CSS</a:t>
            </a:r>
            <a:r>
              <a:rPr lang="zh-CN" altLang="en-US" sz="1400" dirty="0"/>
              <a:t> </a:t>
            </a:r>
          </a:p>
        </p:txBody>
      </p:sp>
      <p:graphicFrame>
        <p:nvGraphicFramePr>
          <p:cNvPr id="119038" name="Group 254"/>
          <p:cNvGraphicFramePr>
            <a:graphicFrameLocks noGrp="1"/>
          </p:cNvGraphicFramePr>
          <p:nvPr>
            <p:ph sz="half" idx="2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23431920"/>
              </p:ext>
            </p:extLst>
          </p:nvPr>
        </p:nvGraphicFramePr>
        <p:xfrm>
          <a:off x="782320" y="2755741"/>
          <a:ext cx="8077200" cy="270510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854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4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8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62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属性</a:t>
                      </a: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值</a:t>
                      </a: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说明</a:t>
                      </a: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size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+1</a:t>
                      </a:r>
                      <a:r>
                        <a:rPr kumimoji="0" lang="zh-CN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～</a:t>
                      </a:r>
                      <a:r>
                        <a:rPr kumimoji="0" lang="en-US" altLang="zh-CN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+7</a:t>
                      </a:r>
                      <a:r>
                        <a:rPr kumimoji="0" lang="zh-CN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，</a:t>
                      </a:r>
                      <a:r>
                        <a:rPr kumimoji="0" lang="en-US" altLang="zh-CN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-1</a:t>
                      </a:r>
                      <a:r>
                        <a:rPr kumimoji="0" lang="zh-CN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～</a:t>
                      </a:r>
                      <a:r>
                        <a:rPr kumimoji="0" lang="en-US" altLang="zh-CN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-7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数字越大字号越大。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color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Symbol" panose="05050102010706020507" pitchFamily="18" charset="2"/>
                        <a:buChar char=""/>
                      </a:pPr>
                      <a:r>
                        <a:rPr kumimoji="0" lang="en-US" altLang="zh-CN" sz="14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rgb</a:t>
                      </a:r>
                      <a:r>
                        <a:rPr kumimoji="0" lang="en-US" altLang="zh-CN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0" lang="en-US" altLang="zh-CN" sz="14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r,g,b</a:t>
                      </a:r>
                      <a:r>
                        <a:rPr kumimoji="0" lang="en-US" altLang="zh-CN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 </a:t>
                      </a:r>
                      <a:r>
                        <a:rPr kumimoji="0" lang="en-US" altLang="zh-CN" sz="14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grb</a:t>
                      </a:r>
                      <a:r>
                        <a:rPr kumimoji="0" lang="en-US" altLang="zh-CN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0" lang="en-US" altLang="zh-CN" sz="14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r%,g%,b</a:t>
                      </a:r>
                      <a:r>
                        <a:rPr kumimoji="0" lang="en-US" altLang="zh-CN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%)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Symbol" panose="05050102010706020507" pitchFamily="18" charset="2"/>
                        <a:buChar char=""/>
                      </a:pPr>
                      <a:r>
                        <a:rPr kumimoji="0" lang="en-US" altLang="zh-CN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#</a:t>
                      </a:r>
                      <a:r>
                        <a:rPr kumimoji="0" lang="en-US" altLang="zh-CN" sz="14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rrggbb</a:t>
                      </a:r>
                      <a:r>
                        <a:rPr kumimoji="0" lang="en-US" altLang="zh-CN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|#</a:t>
                      </a:r>
                      <a:r>
                        <a:rPr kumimoji="0" lang="en-US" altLang="zh-CN" sz="14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rgb</a:t>
                      </a:r>
                      <a:endParaRPr kumimoji="0" lang="en-US" altLang="zh-CN" sz="14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colorname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规定文本的颜色。可以使用</a:t>
                      </a:r>
                      <a:r>
                        <a:rPr kumimoji="0" lang="en-US" altLang="zh-CN" sz="14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rgb</a:t>
                      </a:r>
                      <a:r>
                        <a:rPr kumimoji="0" lang="zh-CN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函数、十六进制数、颜色英文名称来表达。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05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face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字体</a:t>
                      </a:r>
                      <a:r>
                        <a:rPr kumimoji="0" lang="en-US" altLang="zh-CN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r>
                        <a:rPr kumimoji="0" lang="zh-CN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，字体</a:t>
                      </a:r>
                      <a:r>
                        <a:rPr kumimoji="0" lang="en-US" altLang="zh-CN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  <a:r>
                        <a:rPr kumimoji="0" lang="zh-CN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，</a:t>
                      </a:r>
                      <a:r>
                        <a:rPr kumimoji="0" lang="en-US" altLang="zh-CN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…</a:t>
                      </a:r>
                      <a:r>
                        <a:rPr kumimoji="0" lang="zh-CN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，字体</a:t>
                      </a:r>
                      <a:r>
                        <a:rPr kumimoji="0" lang="en-US" altLang="zh-CN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400" kern="1200" dirty="0">
                          <a:effectLst/>
                        </a:rPr>
                        <a:t>face</a:t>
                      </a:r>
                      <a:r>
                        <a:rPr lang="zh-CN" altLang="zh-CN" sz="1400" kern="1200" dirty="0">
                          <a:effectLst/>
                        </a:rPr>
                        <a:t>属性可以有多个值，用逗号分隔。字体使用方式为从左向右依次选用。只要前面的字体不存在，则使用后一个字体。都不存在，</a:t>
                      </a:r>
                      <a:r>
                        <a:rPr lang="zh-CN" altLang="zh-CN" sz="1400" kern="1200" dirty="0">
                          <a:effectLst/>
                          <a:highlight>
                            <a:srgbClr val="FFFF00"/>
                          </a:highlight>
                        </a:rPr>
                        <a:t>使用默认“宋体”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商用需注意字体侵权，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系统自带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的</a:t>
                      </a:r>
                      <a:r>
                        <a:rPr lang="zh-CN" alt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常见字体如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微软雅黑、苹方等，不可免费商用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Web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上取证特别容易，所以要特别小心</a:t>
                      </a:r>
                    </a:p>
                  </a:txBody>
                  <a:tcPr marT="34290" marB="3429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格式化文本标记 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/>
          <a:lstStyle/>
          <a:p>
            <a:endParaRPr lang="en-US" altLang="zh-CN" dirty="0">
              <a:ea typeface="宋体" panose="02010600030101010101" pitchFamily="2" charset="-122"/>
            </a:endParaRP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217295" y="1199833"/>
            <a:ext cx="635000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2254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normalizeH="0" baseline="0" dirty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文本修饰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(decoration)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标记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—— 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以后换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CSS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对应物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98377120"/>
              </p:ext>
            </p:extLst>
          </p:nvPr>
        </p:nvGraphicFramePr>
        <p:xfrm>
          <a:off x="455295" y="1913890"/>
          <a:ext cx="5789930" cy="3226883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{E8B1032C-EA38-4F05-BA0D-38AFFFC7BED3}</a:tableStyleId>
              </a:tblPr>
              <a:tblGrid>
                <a:gridCol w="3369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9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480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标记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说明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290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</a:rPr>
                        <a:t>&lt;b&gt;</a:t>
                      </a:r>
                      <a:r>
                        <a:rPr lang="zh-CN" sz="1600" b="0" kern="100" dirty="0">
                          <a:effectLst/>
                        </a:rPr>
                        <a:t>软件工程专业！</a:t>
                      </a:r>
                      <a:r>
                        <a:rPr lang="en-US" sz="1600" b="0" kern="100" dirty="0">
                          <a:effectLst/>
                        </a:rPr>
                        <a:t>&lt;/b&gt;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22606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effectLst/>
                        </a:rPr>
                        <a:t>定义粗体</a:t>
                      </a:r>
                      <a:r>
                        <a:rPr lang="en-US" altLang="zh-CN" sz="1600" b="0" kern="100" dirty="0">
                          <a:effectLst/>
                        </a:rPr>
                        <a:t>bold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827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</a:rPr>
                        <a:t>&lt;i&gt;</a:t>
                      </a:r>
                      <a:r>
                        <a:rPr lang="zh-CN" sz="1600" b="0" kern="100" dirty="0">
                          <a:effectLst/>
                        </a:rPr>
                        <a:t>软件工程专业！</a:t>
                      </a:r>
                      <a:r>
                        <a:rPr lang="en-US" sz="1600" b="0" kern="100" dirty="0">
                          <a:effectLst/>
                        </a:rPr>
                        <a:t>&lt;/i&gt;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22606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effectLst/>
                        </a:rPr>
                        <a:t>定义斜体italic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</a:rPr>
                        <a:t>&lt;u&gt;</a:t>
                      </a:r>
                      <a:r>
                        <a:rPr lang="zh-CN" sz="1600" b="0" kern="100" dirty="0">
                          <a:effectLst/>
                        </a:rPr>
                        <a:t>软件工程专业！</a:t>
                      </a:r>
                      <a:r>
                        <a:rPr lang="en-US" sz="1600" b="0" kern="100" dirty="0">
                          <a:effectLst/>
                        </a:rPr>
                        <a:t>&lt;/u&gt;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22606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effectLst/>
                        </a:rPr>
                        <a:t>定义下划线underline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851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</a:rPr>
                        <a:t>&lt;del&gt;</a:t>
                      </a:r>
                      <a:r>
                        <a:rPr lang="zh-CN" sz="1600" b="0" kern="100" dirty="0">
                          <a:effectLst/>
                        </a:rPr>
                        <a:t>软件工程专业！</a:t>
                      </a:r>
                      <a:r>
                        <a:rPr lang="en-US" sz="1600" b="0" kern="100" dirty="0">
                          <a:effectLst/>
                        </a:rPr>
                        <a:t> &lt;/del&gt;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22606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effectLst/>
                        </a:rPr>
                        <a:t>定义删除线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65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sz="1600" b="0" kern="100" dirty="0">
                          <a:effectLst/>
                        </a:rPr>
                        <a:t>X&lt;sup&gt;2&lt;/sup&gt;+2X+5=0&lt;br&gt;</a:t>
                      </a:r>
                      <a:endParaRPr lang="en-US" sz="1600" b="0" kern="100" dirty="0">
                        <a:effectLst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22606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effectLst/>
                        </a:rPr>
                        <a:t>定义上标superscript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sz="1600" b="0" kern="100" dirty="0">
                          <a:effectLst/>
                        </a:rPr>
                        <a:t>X&lt;sub&gt;1&lt;/sub&gt;=2&lt;br&gt;</a:t>
                      </a:r>
                      <a:endParaRPr lang="en-US" sz="1600" b="0" kern="100" dirty="0">
                        <a:effectLst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22606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effectLst/>
                        </a:rPr>
                        <a:t>定义下标subscript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</a:rPr>
                        <a:t>&lt;small&gt;</a:t>
                      </a:r>
                      <a:r>
                        <a:rPr lang="zh-CN" sz="1600" b="0" kern="100" dirty="0">
                          <a:effectLst/>
                        </a:rPr>
                        <a:t>软件工程专业！</a:t>
                      </a:r>
                      <a:r>
                        <a:rPr lang="en-US" sz="1600" b="0" kern="100" dirty="0">
                          <a:effectLst/>
                        </a:rPr>
                        <a:t>&lt;/sm</a:t>
                      </a:r>
                      <a:r>
                        <a:rPr lang="en-US" altLang="zh-CN" sz="1600" b="0" kern="100" dirty="0">
                          <a:effectLst/>
                        </a:rPr>
                        <a:t>a</a:t>
                      </a:r>
                      <a:r>
                        <a:rPr lang="en-US" sz="1600" b="0" kern="100" dirty="0">
                          <a:effectLst/>
                        </a:rPr>
                        <a:t>ll&gt;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dbl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22606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effectLst/>
                        </a:rPr>
                        <a:t>变小字号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dbl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</a:rPr>
                        <a:t>&lt;big&gt;</a:t>
                      </a:r>
                      <a:r>
                        <a:rPr lang="zh-CN" sz="1600" b="0" kern="100" dirty="0">
                          <a:effectLst/>
                        </a:rPr>
                        <a:t>软件工程专业！</a:t>
                      </a:r>
                      <a:r>
                        <a:rPr lang="en-US" sz="1600" b="0" kern="100" dirty="0">
                          <a:effectLst/>
                        </a:rPr>
                        <a:t>&lt;/big&gt;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dbl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22606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effectLst/>
                        </a:rPr>
                        <a:t>变大字号</a:t>
                      </a:r>
                      <a:endParaRPr lang="zh-CN" altLang="en-US" sz="1600" b="0" kern="100" dirty="0">
                        <a:effectLst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dbl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</a:rPr>
                        <a:t>&lt;strong&gt;</a:t>
                      </a:r>
                      <a:r>
                        <a:rPr lang="zh-CN" sz="1600" b="0" kern="100" dirty="0">
                          <a:effectLst/>
                        </a:rPr>
                        <a:t>软件工程专业！</a:t>
                      </a:r>
                      <a:r>
                        <a:rPr lang="en-US" sz="1600" b="0" kern="100" dirty="0">
                          <a:effectLst/>
                        </a:rPr>
                        <a:t>&lt;/strong&gt;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22606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effectLst/>
                        </a:rPr>
                        <a:t>定义着重文字，粗体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</a:rPr>
                        <a:t>&lt;</a:t>
                      </a:r>
                      <a:r>
                        <a:rPr lang="en-US" sz="1600" b="0" kern="100" dirty="0" err="1">
                          <a:effectLst/>
                        </a:rPr>
                        <a:t>em</a:t>
                      </a:r>
                      <a:r>
                        <a:rPr lang="en-US" sz="1600" b="0" kern="100" dirty="0">
                          <a:effectLst/>
                        </a:rPr>
                        <a:t>&gt;</a:t>
                      </a:r>
                      <a:r>
                        <a:rPr lang="zh-CN" sz="1600" b="0" kern="100" dirty="0">
                          <a:effectLst/>
                        </a:rPr>
                        <a:t>软件工程专业！</a:t>
                      </a:r>
                      <a:r>
                        <a:rPr lang="en-US" sz="1600" b="0" kern="100" dirty="0">
                          <a:effectLst/>
                        </a:rPr>
                        <a:t>&lt;/</a:t>
                      </a:r>
                      <a:r>
                        <a:rPr lang="en-US" sz="1600" b="0" kern="100" dirty="0" err="1">
                          <a:effectLst/>
                        </a:rPr>
                        <a:t>em</a:t>
                      </a:r>
                      <a:r>
                        <a:rPr lang="en-US" sz="1600" b="0" kern="100" dirty="0">
                          <a:effectLst/>
                        </a:rPr>
                        <a:t>&gt;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22606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effectLst/>
                        </a:rPr>
                        <a:t>定义加重语气，斜体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2220" y="1695450"/>
            <a:ext cx="1711325" cy="375602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0B116AC9-57F4-4448-8D7F-1738C9E854CB}"/>
              </a:ext>
            </a:extLst>
          </p:cNvPr>
          <p:cNvSpPr/>
          <p:nvPr/>
        </p:nvSpPr>
        <p:spPr>
          <a:xfrm>
            <a:off x="5082989" y="359431"/>
            <a:ext cx="3200400" cy="652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格式化文本标记</a:t>
            </a:r>
          </a:p>
        </p:txBody>
      </p:sp>
      <p:sp>
        <p:nvSpPr>
          <p:cNvPr id="4" name="Rectangle 5"/>
          <p:cNvSpPr txBox="1">
            <a:spLocks noChangeArrowheads="1"/>
          </p:cNvSpPr>
          <p:nvPr/>
        </p:nvSpPr>
        <p:spPr bwMode="auto">
          <a:xfrm>
            <a:off x="838200" y="4229100"/>
            <a:ext cx="7959725" cy="789384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182880" marR="0" lvl="0" indent="-182880" algn="l" defTabSz="115887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2000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Char char="l"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838200" y="1363184"/>
            <a:ext cx="815340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r>
              <a:rPr lang="zh-CN" altLang="zh-CN" sz="2000" dirty="0"/>
              <a:t>常用的引用和术语标记</a:t>
            </a:r>
            <a:endParaRPr kumimoji="0" lang="zh-CN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492125" y="1944370"/>
          <a:ext cx="8305800" cy="369697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{5DA37D80-6434-44D0-A028-1B22A696006F}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768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标记</a:t>
                      </a:r>
                      <a:endParaRPr lang="zh-CN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主要用途</a:t>
                      </a:r>
                      <a:endParaRPr lang="zh-CN" sz="18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&lt;</a:t>
                      </a:r>
                      <a:r>
                        <a:rPr lang="en-US" sz="1600" kern="100" dirty="0" err="1">
                          <a:effectLst/>
                        </a:rPr>
                        <a:t>abbr</a:t>
                      </a:r>
                      <a:r>
                        <a:rPr lang="en-US" sz="1600" kern="100" dirty="0">
                          <a:effectLst/>
                        </a:rPr>
                        <a:t>&gt;etc.&lt;/</a:t>
                      </a:r>
                      <a:r>
                        <a:rPr lang="en-US" sz="1600" kern="100" dirty="0" err="1">
                          <a:effectLst/>
                        </a:rPr>
                        <a:t>abbr</a:t>
                      </a:r>
                      <a:r>
                        <a:rPr lang="en-US" sz="1600" kern="100" dirty="0">
                          <a:effectLst/>
                        </a:rPr>
                        <a:t>&gt;</a:t>
                      </a:r>
                      <a:endParaRPr lang="zh-CN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1971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定义缩写</a:t>
                      </a:r>
                      <a:endParaRPr lang="zh-CN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68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&lt;address&gt;</a:t>
                      </a:r>
                      <a:r>
                        <a:rPr lang="zh-CN" sz="1600" kern="100" dirty="0">
                          <a:effectLst/>
                        </a:rPr>
                        <a:t>江苏南京市</a:t>
                      </a:r>
                      <a:r>
                        <a:rPr lang="en-US" sz="1600" kern="100" dirty="0">
                          <a:effectLst/>
                        </a:rPr>
                        <a:t>&lt;/address&gt;</a:t>
                      </a:r>
                      <a:endParaRPr lang="zh-CN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1971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定义地址</a:t>
                      </a:r>
                      <a:endParaRPr lang="zh-CN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&lt;blockquote&gt;</a:t>
                      </a:r>
                      <a:r>
                        <a:rPr lang="zh-CN" sz="1600" kern="100" dirty="0">
                          <a:effectLst/>
                        </a:rPr>
                        <a:t>长的引用</a:t>
                      </a:r>
                      <a:r>
                        <a:rPr lang="en-US" sz="1600" kern="100" dirty="0">
                          <a:effectLst/>
                        </a:rPr>
                        <a:t>&lt;/blockquote&gt;</a:t>
                      </a:r>
                      <a:endParaRPr lang="zh-CN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1971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定义长的引用</a:t>
                      </a:r>
                      <a:endParaRPr lang="zh-CN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&lt;cite&gt;</a:t>
                      </a:r>
                      <a:r>
                        <a:rPr lang="zh-CN" sz="1600" kern="100" dirty="0">
                          <a:effectLst/>
                        </a:rPr>
                        <a:t>引用、引证</a:t>
                      </a:r>
                      <a:r>
                        <a:rPr lang="en-US" sz="1600" kern="100" dirty="0">
                          <a:effectLst/>
                        </a:rPr>
                        <a:t>&lt;/cite&gt;</a:t>
                      </a:r>
                      <a:endParaRPr lang="zh-CN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1971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定义引用、引证</a:t>
                      </a:r>
                      <a:endParaRPr lang="zh-CN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768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&lt;q&gt;</a:t>
                      </a:r>
                      <a:r>
                        <a:rPr lang="zh-CN" sz="1600" kern="100">
                          <a:effectLst/>
                        </a:rPr>
                        <a:t>引用短语</a:t>
                      </a:r>
                      <a:r>
                        <a:rPr lang="en-US" sz="1600" kern="100">
                          <a:effectLst/>
                        </a:rPr>
                        <a:t>&lt;/q&gt;</a:t>
                      </a:r>
                      <a:endParaRPr lang="zh-CN" sz="18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1971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定义短的引用语，</a:t>
                      </a:r>
                      <a:r>
                        <a:rPr lang="en-US" sz="1600" kern="100" dirty="0">
                          <a:effectLst/>
                        </a:rPr>
                        <a:t>IE</a:t>
                      </a:r>
                      <a:r>
                        <a:rPr lang="zh-CN" sz="1600" kern="100" dirty="0">
                          <a:effectLst/>
                        </a:rPr>
                        <a:t>看不到引号，其余可以</a:t>
                      </a:r>
                      <a:endParaRPr lang="zh-CN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768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&lt;</a:t>
                      </a:r>
                      <a:r>
                        <a:rPr lang="en-US" sz="1800" kern="100" dirty="0" err="1">
                          <a:effectLst/>
                        </a:rPr>
                        <a:t>dfn</a:t>
                      </a:r>
                      <a:r>
                        <a:rPr lang="en-US" sz="1800" kern="100" dirty="0">
                          <a:effectLst/>
                        </a:rPr>
                        <a:t>&gt;</a:t>
                      </a:r>
                      <a:r>
                        <a:rPr lang="zh-CN" sz="1800" kern="100" dirty="0">
                          <a:effectLst/>
                        </a:rPr>
                        <a:t>定义项目</a:t>
                      </a:r>
                      <a:r>
                        <a:rPr lang="en-US" sz="1800" kern="100" dirty="0">
                          <a:effectLst/>
                        </a:rPr>
                        <a:t>&lt;/</a:t>
                      </a:r>
                      <a:r>
                        <a:rPr lang="en-US" sz="1800" kern="100" dirty="0" err="1">
                          <a:effectLst/>
                        </a:rPr>
                        <a:t>dfn</a:t>
                      </a:r>
                      <a:r>
                        <a:rPr lang="en-US" sz="1800" kern="100" dirty="0">
                          <a:effectLst/>
                        </a:rPr>
                        <a:t>&gt;</a:t>
                      </a:r>
                      <a:endParaRPr lang="zh-CN" sz="24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1971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定义一个定义项目</a:t>
                      </a:r>
                      <a:r>
                        <a:rPr lang="en-US" altLang="zh-CN" sz="1800" kern="100" dirty="0">
                          <a:effectLst/>
                        </a:rPr>
                        <a:t>/</a:t>
                      </a:r>
                      <a:r>
                        <a:rPr lang="zh-CN" altLang="en-US" sz="1800" kern="100" dirty="0">
                          <a:effectLst/>
                        </a:rPr>
                        <a:t>术语，少用</a:t>
                      </a:r>
                      <a:endParaRPr lang="zh-CN" sz="1800" kern="100" dirty="0">
                        <a:effectLst/>
                      </a:endParaRPr>
                    </a:p>
                    <a:p>
                      <a:pPr indent="21971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zh-CN" sz="24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段落缩进标记</a:t>
            </a:r>
            <a:r>
              <a:rPr lang="en-US" altLang="zh-CN" dirty="0"/>
              <a:t>&lt;</a:t>
            </a:r>
            <a:r>
              <a:rPr lang="en-US" altLang="zh-CN" dirty="0" err="1"/>
              <a:t>blockquote</a:t>
            </a:r>
            <a:r>
              <a:rPr lang="en-US" altLang="zh-CN" dirty="0"/>
              <a:t>&gt; </a:t>
            </a:r>
          </a:p>
        </p:txBody>
      </p:sp>
      <p:sp>
        <p:nvSpPr>
          <p:cNvPr id="121860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1800" dirty="0"/>
              <a:t>    </a:t>
            </a:r>
            <a:r>
              <a:rPr lang="zh-CN" altLang="zh-CN" sz="1800" dirty="0"/>
              <a:t>段落缩进</a:t>
            </a:r>
            <a:r>
              <a:rPr lang="en-US" altLang="zh-CN" sz="1800" dirty="0"/>
              <a:t>(</a:t>
            </a:r>
            <a:r>
              <a:rPr lang="zh-CN" altLang="zh-CN" sz="1800" dirty="0"/>
              <a:t>也称为“块引用”</a:t>
            </a:r>
            <a:r>
              <a:rPr lang="en-US" altLang="zh-CN" sz="1800" dirty="0"/>
              <a:t>)blockquote</a:t>
            </a:r>
            <a:r>
              <a:rPr lang="zh-CN" altLang="zh-CN" sz="1800" dirty="0"/>
              <a:t>标记引用的内容必须是块级标记，浏览器在</a:t>
            </a:r>
            <a:r>
              <a:rPr lang="en-US" altLang="zh-CN" sz="1800" dirty="0"/>
              <a:t> blockquote</a:t>
            </a:r>
            <a:r>
              <a:rPr lang="zh-CN" altLang="zh-CN" sz="1800" dirty="0"/>
              <a:t>标记前后添加了换行，并增加了外边距。</a:t>
            </a:r>
            <a:endParaRPr lang="en-US" altLang="zh-CN" sz="1800" dirty="0"/>
          </a:p>
          <a:p>
            <a:r>
              <a:rPr lang="en-US" altLang="zh-CN" sz="1800" dirty="0"/>
              <a:t> </a:t>
            </a:r>
            <a:r>
              <a:rPr lang="zh-CN" altLang="zh-CN" sz="1800" dirty="0"/>
              <a:t>一对</a:t>
            </a:r>
            <a:r>
              <a:rPr lang="en-US" altLang="zh-CN" sz="1800" dirty="0"/>
              <a:t>blockquote</a:t>
            </a:r>
            <a:r>
              <a:rPr lang="zh-CN" altLang="zh-CN" sz="1800" dirty="0"/>
              <a:t>标记能够向右缩进</a:t>
            </a:r>
            <a:r>
              <a:rPr lang="en-US" altLang="zh-CN" sz="1800" dirty="0"/>
              <a:t>5</a:t>
            </a:r>
            <a:r>
              <a:rPr lang="zh-CN" altLang="zh-CN" sz="1800" dirty="0"/>
              <a:t>个西文字符的位置。</a:t>
            </a:r>
          </a:p>
          <a:p>
            <a:r>
              <a:rPr lang="zh-CN" altLang="en-US" sz="1800" dirty="0">
                <a:latin typeface="+mj-ea"/>
                <a:ea typeface="+mj-ea"/>
              </a:rPr>
              <a:t>基本语法 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&lt;body&gt;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     &lt;blockquote cite=”url”&gt;</a:t>
            </a:r>
            <a:r>
              <a:rPr lang="zh-CN" altLang="en-US" sz="1800" dirty="0">
                <a:solidFill>
                  <a:srgbClr val="FF0000"/>
                </a:solidFill>
                <a:latin typeface="Verdana" panose="020B0604030504040204" pitchFamily="34" charset="0"/>
                <a:ea typeface="+mj-ea"/>
                <a:cs typeface="Verdana" panose="020B0604030504040204" pitchFamily="34" charset="0"/>
              </a:rPr>
              <a:t>引用的内容</a:t>
            </a:r>
            <a:r>
              <a:rPr lang="en-US" altLang="zh-CN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&lt;/blockquote&gt;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&lt;/body&gt; </a:t>
            </a:r>
            <a:endParaRPr lang="zh-CN" altLang="en-US" sz="1800" dirty="0">
              <a:solidFill>
                <a:srgbClr val="FF0000"/>
              </a:solidFill>
              <a:latin typeface="Verdana" panose="020B0604030504040204" pitchFamily="34" charset="0"/>
              <a:ea typeface="+mj-ea"/>
              <a:cs typeface="Verdana" panose="020B0604030504040204" pitchFamily="34" charset="0"/>
            </a:endParaRPr>
          </a:p>
          <a:p>
            <a:pPr marL="171450" lvl="1" algn="l" defTabSz="914400">
              <a:buClrTx/>
              <a:buSzTx/>
            </a:pPr>
            <a:r>
              <a:rPr sz="1800" dirty="0">
                <a:latin typeface="+mj-ea"/>
                <a:ea typeface="+mj-ea"/>
              </a:rPr>
              <a:t>浏览器通常不处理cite属性，而留给搜索引擎等处理</a:t>
            </a:r>
          </a:p>
          <a:p>
            <a:pPr marL="171450" lvl="1" algn="l" defTabSz="914400">
              <a:buClrTx/>
              <a:buSzTx/>
            </a:pPr>
            <a:endParaRPr sz="1800" dirty="0">
              <a:latin typeface="+mj-ea"/>
              <a:ea typeface="+mj-ea"/>
            </a:endParaRPr>
          </a:p>
          <a:p>
            <a:pPr marL="171450" lvl="1" algn="l" defTabSz="914400">
              <a:buClrTx/>
              <a:buSzTx/>
            </a:pPr>
            <a:r>
              <a:rPr sz="1800" dirty="0">
                <a:latin typeface="+mj-ea"/>
                <a:ea typeface="+mj-ea"/>
              </a:rPr>
              <a:t>短引用使用</a:t>
            </a:r>
            <a:r>
              <a:rPr lang="en-US" altLang="zh-CN" sz="1800" dirty="0">
                <a:latin typeface="+mj-ea"/>
                <a:ea typeface="+mj-ea"/>
              </a:rPr>
              <a:t>&lt;q&gt;</a:t>
            </a:r>
            <a:r>
              <a:rPr sz="1800" dirty="0">
                <a:latin typeface="+mj-ea"/>
                <a:ea typeface="+mj-ea"/>
              </a:rPr>
              <a:t>标记</a:t>
            </a:r>
          </a:p>
        </p:txBody>
      </p: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预格式化标记</a:t>
            </a:r>
            <a:r>
              <a:rPr lang="en-US" altLang="zh-CN"/>
              <a:t>&lt;pre&gt; 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2000" b="0" dirty="0"/>
              <a:t>&lt;pre&gt;&lt;/pre&gt;</a:t>
            </a:r>
            <a:r>
              <a:rPr lang="zh-CN" altLang="en-US" sz="2000" b="0" dirty="0"/>
              <a:t>标记对网页中的</a:t>
            </a:r>
            <a:r>
              <a:rPr lang="zh-CN" altLang="en-US" sz="2000" b="0" u="sng" dirty="0">
                <a:solidFill>
                  <a:srgbClr val="FF0000"/>
                </a:solidFill>
              </a:rPr>
              <a:t>文字段落进行预格式化</a:t>
            </a:r>
            <a:r>
              <a:rPr lang="zh-CN" altLang="en-US" sz="2000" b="0" dirty="0"/>
              <a:t>，浏览器会完整保留设计者</a:t>
            </a:r>
            <a:r>
              <a:rPr lang="zh-CN" altLang="en-US" sz="2000" b="0" u="sng" dirty="0">
                <a:solidFill>
                  <a:srgbClr val="FF0000"/>
                </a:solidFill>
              </a:rPr>
              <a:t>在源文件中所定义的格式</a:t>
            </a:r>
            <a:r>
              <a:rPr lang="zh-CN" altLang="en-US" sz="2000" b="0" dirty="0"/>
              <a:t>，包括各种</a:t>
            </a:r>
            <a:r>
              <a:rPr lang="zh-CN" altLang="en-US" sz="2000" b="0" u="sng" dirty="0">
                <a:solidFill>
                  <a:srgbClr val="FF0000"/>
                </a:solidFill>
              </a:rPr>
              <a:t>空格、缩进以及其他特殊格式</a:t>
            </a:r>
            <a:r>
              <a:rPr lang="zh-CN" altLang="en-US" sz="2000" b="0" dirty="0"/>
              <a:t>。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ea typeface="宋体" panose="02010600030101010101" pitchFamily="2" charset="-122"/>
              </a:rPr>
              <a:t>基本语法</a:t>
            </a:r>
          </a:p>
          <a:p>
            <a:pPr marL="288290"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	</a:t>
            </a:r>
            <a:r>
              <a:rPr lang="en-US" altLang="zh-CN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&lt;pre&gt;</a:t>
            </a:r>
            <a:r>
              <a:rPr lang="zh-CN" altLang="en-US" sz="1800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预格式化文本 </a:t>
            </a:r>
            <a:r>
              <a:rPr lang="en-US" altLang="zh-CN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&lt;/pre &gt; </a:t>
            </a:r>
          </a:p>
          <a:p>
            <a:pPr marL="288290" lvl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&lt;pre&gt;</a:t>
            </a:r>
          </a:p>
          <a:p>
            <a:pPr marL="288290" lv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	 </a:t>
            </a:r>
            <a:r>
              <a:rPr lang="zh-CN" altLang="en-US" sz="1600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春 晓 			    </a:t>
            </a:r>
          </a:p>
          <a:p>
            <a:pPr marL="288290" lvl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		       孟浩然 </a:t>
            </a:r>
          </a:p>
          <a:p>
            <a:pPr marL="288290" lvl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         春眠不觉晓，</a:t>
            </a:r>
          </a:p>
          <a:p>
            <a:pPr marL="288290" lvl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                  处处闻啼鸟。</a:t>
            </a:r>
          </a:p>
          <a:p>
            <a:pPr marL="288290" lvl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         夜来风雨声，</a:t>
            </a:r>
          </a:p>
          <a:p>
            <a:pPr marL="288290" lvl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                  花落知多少。</a:t>
            </a:r>
          </a:p>
          <a:p>
            <a:pPr marL="288290" lvl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  </a:t>
            </a:r>
            <a:r>
              <a:rPr lang="en-US" altLang="zh-CN" sz="16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&lt;/pre&gt;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列表 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53720" y="1357630"/>
            <a:ext cx="8039100" cy="1760855"/>
          </a:xfrm>
        </p:spPr>
        <p:txBody>
          <a:bodyPr/>
          <a:lstStyle/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1600" b="0" dirty="0"/>
              <a:t>列表能对网页中的相关信息进行合理的布局，将项目有序或无序地罗列在一起，从而方便用户浏览和操作。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600" b="0" dirty="0"/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dirty="0"/>
              <a:t>HTML</a:t>
            </a:r>
            <a:r>
              <a:rPr lang="zh-CN" altLang="zh-CN" sz="1600" b="0" dirty="0"/>
              <a:t>中列表一共有</a:t>
            </a:r>
            <a:r>
              <a:rPr lang="en-US" altLang="zh-CN" sz="1600" b="0" dirty="0"/>
              <a:t>5</a:t>
            </a:r>
            <a:r>
              <a:rPr lang="zh-CN" altLang="zh-CN" sz="1600" b="0" dirty="0"/>
              <a:t>种，分别是</a:t>
            </a:r>
            <a:r>
              <a:rPr lang="zh-CN" altLang="zh-CN" sz="1600" b="0" dirty="0">
                <a:highlight>
                  <a:srgbClr val="FFFF00"/>
                </a:highlight>
              </a:rPr>
              <a:t>无序列表、有序列表、定义列表、菜单列表和目录列表</a:t>
            </a:r>
            <a:r>
              <a:rPr lang="zh-CN" altLang="zh-CN" sz="1600" b="0" dirty="0"/>
              <a:t>。常用的列表有无序列表、有序列表、定义列表</a:t>
            </a:r>
            <a:r>
              <a:rPr lang="zh-CN" altLang="en-US" sz="1600" b="0" dirty="0"/>
              <a:t>等</a:t>
            </a:r>
            <a:r>
              <a:rPr lang="en-US" altLang="zh-CN" sz="1600" b="0" dirty="0"/>
              <a:t>3</a:t>
            </a:r>
            <a:r>
              <a:rPr lang="zh-CN" altLang="en-US" sz="1600" b="0" dirty="0"/>
              <a:t>种</a:t>
            </a:r>
            <a:r>
              <a:rPr lang="zh-CN" altLang="zh-CN" sz="1600" b="0" dirty="0"/>
              <a:t>。</a:t>
            </a:r>
            <a:endParaRPr lang="zh-CN" altLang="zh-CN" sz="1600" b="0" dirty="0">
              <a:ea typeface="宋体" panose="02010600030101010101" pitchFamily="2" charset="-122"/>
            </a:endParaRPr>
          </a:p>
        </p:txBody>
      </p:sp>
      <p:graphicFrame>
        <p:nvGraphicFramePr>
          <p:cNvPr id="97474" name="Group 194"/>
          <p:cNvGraphicFramePr>
            <a:graphicFrameLocks noGrp="1"/>
          </p:cNvGraphicFramePr>
          <p:nvPr>
            <p:ph sz="half" idx="2"/>
            <p:custDataLst>
              <p:tags r:id="rId2"/>
            </p:custDataLst>
          </p:nvPr>
        </p:nvGraphicFramePr>
        <p:xfrm>
          <a:off x="1217295" y="3521710"/>
          <a:ext cx="7012940" cy="205740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1993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45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1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列表类型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标记符号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备注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无序列表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&lt;</a:t>
                      </a:r>
                      <a:r>
                        <a:rPr kumimoji="0" lang="en-US" altLang="zh-CN" sz="12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ul</a:t>
                      </a:r>
                      <a:r>
                        <a:rPr kumimoji="0" lang="en-US" altLang="zh-CN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&gt;…&lt;/</a:t>
                      </a:r>
                      <a:r>
                        <a:rPr kumimoji="0" lang="en-US" altLang="zh-CN" sz="12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ul</a:t>
                      </a:r>
                      <a:r>
                        <a:rPr kumimoji="0" lang="en-US" altLang="zh-CN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&gt;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常用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菜单列表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&lt;menu&gt;…&lt;/menu&gt;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不常用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目录列表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&lt;dir&gt;…&lt;/dir&gt;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不常用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有序列表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&lt;</a:t>
                      </a:r>
                      <a:r>
                        <a:rPr kumimoji="0" lang="en-US" altLang="zh-CN" sz="12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ol</a:t>
                      </a:r>
                      <a:r>
                        <a:rPr kumimoji="0" lang="en-US" altLang="zh-CN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&gt;…&lt;/</a:t>
                      </a:r>
                      <a:r>
                        <a:rPr kumimoji="0" lang="en-US" altLang="zh-CN" sz="12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ol</a:t>
                      </a:r>
                      <a:r>
                        <a:rPr kumimoji="0" lang="en-US" altLang="zh-CN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&gt;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其实不太常用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定义列表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&lt;dl&gt;…&lt;/dl&gt;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常用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无序列表</a:t>
            </a:r>
            <a:r>
              <a:rPr lang="en-US" altLang="zh-CN" dirty="0"/>
              <a:t> 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423035"/>
            <a:ext cx="7948930" cy="4775200"/>
          </a:xfrm>
        </p:spPr>
        <p:txBody>
          <a:bodyPr>
            <a:normAutofit fontScale="77500" lnSpcReduction="20000"/>
          </a:bodyPr>
          <a:lstStyle/>
          <a:p>
            <a:r>
              <a:rPr lang="zh-CN" altLang="en-US" sz="2200" b="0" dirty="0"/>
              <a:t>无序列表（</a:t>
            </a:r>
            <a:r>
              <a:rPr lang="en-US" sz="2200" b="0" u="sng" dirty="0">
                <a:solidFill>
                  <a:srgbClr val="FF0000"/>
                </a:solidFill>
              </a:rPr>
              <a:t>U</a:t>
            </a:r>
            <a:r>
              <a:rPr lang="en-US" sz="2200" b="0" dirty="0"/>
              <a:t>nordered </a:t>
            </a:r>
            <a:r>
              <a:rPr lang="en-US" sz="2200" b="0" u="sng" dirty="0">
                <a:solidFill>
                  <a:srgbClr val="FF0000"/>
                </a:solidFill>
              </a:rPr>
              <a:t>L</a:t>
            </a:r>
            <a:r>
              <a:rPr lang="en-US" sz="2200" b="0" dirty="0"/>
              <a:t>ist ）</a:t>
            </a:r>
          </a:p>
          <a:p>
            <a:pPr>
              <a:buNone/>
            </a:pPr>
            <a:r>
              <a:rPr lang="zh-CN" altLang="en-US" sz="2200" b="0" dirty="0"/>
              <a:t>          在</a:t>
            </a:r>
            <a:r>
              <a:rPr lang="en-US" altLang="zh-CN" sz="2200" b="0" dirty="0"/>
              <a:t>HTML</a:t>
            </a:r>
            <a:r>
              <a:rPr lang="zh-CN" altLang="en-US" sz="2200" b="0" dirty="0"/>
              <a:t>文件中插入成对的标记</a:t>
            </a:r>
            <a:r>
              <a:rPr lang="en-US" altLang="zh-CN" sz="2200" b="0" dirty="0"/>
              <a:t>&lt;</a:t>
            </a:r>
            <a:r>
              <a:rPr lang="en-US" altLang="zh-CN" sz="2200" b="0" dirty="0" err="1"/>
              <a:t>ul</a:t>
            </a:r>
            <a:r>
              <a:rPr lang="en-US" altLang="zh-CN" sz="2200" b="0" dirty="0"/>
              <a:t>&gt;&lt;/</a:t>
            </a:r>
            <a:r>
              <a:rPr lang="en-US" altLang="zh-CN" sz="2200" b="0" dirty="0" err="1"/>
              <a:t>ul</a:t>
            </a:r>
            <a:r>
              <a:rPr lang="en-US" altLang="zh-CN" sz="2200" b="0" dirty="0"/>
              <a:t>&gt;</a:t>
            </a:r>
            <a:r>
              <a:rPr lang="zh-CN" altLang="en-US" sz="2200" b="0" dirty="0"/>
              <a:t>，完成无序列表的插入。 </a:t>
            </a:r>
          </a:p>
          <a:p>
            <a:r>
              <a:rPr lang="zh-CN" altLang="en-US" sz="2200" dirty="0">
                <a:sym typeface="+mn-ea"/>
              </a:rPr>
              <a:t>列表项</a:t>
            </a:r>
            <a:r>
              <a:rPr lang="en-US" altLang="zh-CN" sz="2200" dirty="0">
                <a:sym typeface="+mn-ea"/>
              </a:rPr>
              <a:t>(</a:t>
            </a:r>
            <a:r>
              <a:rPr lang="en-US" sz="2200" u="sng" dirty="0">
                <a:solidFill>
                  <a:srgbClr val="FF0000"/>
                </a:solidFill>
                <a:sym typeface="+mn-ea"/>
              </a:rPr>
              <a:t>L</a:t>
            </a:r>
            <a:r>
              <a:rPr lang="en-US" sz="2200" dirty="0">
                <a:sym typeface="+mn-ea"/>
              </a:rPr>
              <a:t>ist </a:t>
            </a:r>
            <a:r>
              <a:rPr lang="zh-CN" altLang="en-US" sz="2200" dirty="0">
                <a:sym typeface="+mn-ea"/>
              </a:rPr>
              <a:t> </a:t>
            </a:r>
            <a:r>
              <a:rPr lang="en-US" sz="2200" u="sng" dirty="0">
                <a:solidFill>
                  <a:srgbClr val="FF0000"/>
                </a:solidFill>
                <a:sym typeface="+mn-ea"/>
              </a:rPr>
              <a:t>I</a:t>
            </a:r>
            <a:r>
              <a:rPr lang="en-US" sz="2200" dirty="0">
                <a:sym typeface="+mn-ea"/>
              </a:rPr>
              <a:t>tems) </a:t>
            </a:r>
            <a:r>
              <a:rPr lang="en-US" sz="2200" dirty="0" err="1">
                <a:sym typeface="+mn-ea"/>
              </a:rPr>
              <a:t>li </a:t>
            </a:r>
            <a:r>
              <a:rPr lang="zh-CN" altLang="en-US" sz="2200" dirty="0">
                <a:sym typeface="+mn-ea"/>
              </a:rPr>
              <a:t>标记用于定义一个列表项。</a:t>
            </a:r>
            <a:endParaRPr lang="zh-CN" altLang="en-US" sz="2200" b="0" dirty="0"/>
          </a:p>
          <a:p>
            <a:r>
              <a:rPr lang="zh-CN" altLang="en-US" sz="2200" b="0" dirty="0"/>
              <a:t>基本语法 </a:t>
            </a:r>
          </a:p>
          <a:p>
            <a:pPr lvl="1">
              <a:buNone/>
            </a:pPr>
            <a:r>
              <a:rPr lang="en-US" altLang="zh-CN" sz="1900" b="0" dirty="0">
                <a:solidFill>
                  <a:srgbClr val="FF0000"/>
                </a:solidFill>
              </a:rPr>
              <a:t>&lt;</a:t>
            </a:r>
            <a:r>
              <a:rPr lang="en-US" altLang="zh-CN" sz="1900" b="0" dirty="0" err="1">
                <a:solidFill>
                  <a:srgbClr val="FF0000"/>
                </a:solidFill>
              </a:rPr>
              <a:t>ul</a:t>
            </a:r>
            <a:r>
              <a:rPr lang="en-US" altLang="zh-CN" sz="1900" b="0" dirty="0">
                <a:solidFill>
                  <a:srgbClr val="FF0000"/>
                </a:solidFill>
              </a:rPr>
              <a:t> type=“disc | circle | square"&gt; 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1900" b="0" dirty="0">
                <a:solidFill>
                  <a:srgbClr val="FF0000"/>
                </a:solidFill>
              </a:rPr>
              <a:t>		&lt;</a:t>
            </a:r>
            <a:r>
              <a:rPr lang="en-US" altLang="zh-CN" sz="1900" b="0" dirty="0" err="1">
                <a:solidFill>
                  <a:srgbClr val="FF0000"/>
                </a:solidFill>
              </a:rPr>
              <a:t>li</a:t>
            </a:r>
            <a:r>
              <a:rPr lang="en-US" altLang="zh-CN" sz="1900" b="0" dirty="0">
                <a:solidFill>
                  <a:srgbClr val="FF0000"/>
                </a:solidFill>
              </a:rPr>
              <a:t> type=""&gt;</a:t>
            </a:r>
            <a:r>
              <a:rPr lang="zh-CN" altLang="en-US" sz="1900" b="0" dirty="0">
                <a:solidFill>
                  <a:srgbClr val="FF0000"/>
                </a:solidFill>
              </a:rPr>
              <a:t>项目名称</a:t>
            </a:r>
            <a:r>
              <a:rPr lang="en-US" altLang="zh-CN" sz="1900" b="0" dirty="0">
                <a:solidFill>
                  <a:srgbClr val="FF0000"/>
                </a:solidFill>
              </a:rPr>
              <a:t>&lt;/</a:t>
            </a:r>
            <a:r>
              <a:rPr lang="en-US" altLang="zh-CN" sz="1900" b="0" dirty="0" err="1">
                <a:solidFill>
                  <a:srgbClr val="FF0000"/>
                </a:solidFill>
              </a:rPr>
              <a:t>li</a:t>
            </a:r>
            <a:r>
              <a:rPr lang="en-US" altLang="zh-CN" sz="1900" b="0" dirty="0">
                <a:solidFill>
                  <a:srgbClr val="FF0000"/>
                </a:solidFill>
              </a:rPr>
              <a:t>&gt; 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1900" b="0" dirty="0">
                <a:solidFill>
                  <a:srgbClr val="FF0000"/>
                </a:solidFill>
              </a:rPr>
              <a:t>    	&lt;</a:t>
            </a:r>
            <a:r>
              <a:rPr lang="en-US" altLang="zh-CN" sz="1900" b="0" dirty="0" err="1">
                <a:solidFill>
                  <a:srgbClr val="FF0000"/>
                </a:solidFill>
              </a:rPr>
              <a:t>li</a:t>
            </a:r>
            <a:r>
              <a:rPr lang="en-US" altLang="zh-CN" sz="1900" b="0" dirty="0">
                <a:solidFill>
                  <a:srgbClr val="FF0000"/>
                </a:solidFill>
              </a:rPr>
              <a:t> type=""&gt;</a:t>
            </a:r>
            <a:r>
              <a:rPr lang="zh-CN" altLang="en-US" sz="1900" b="0" dirty="0">
                <a:solidFill>
                  <a:srgbClr val="FF0000"/>
                </a:solidFill>
              </a:rPr>
              <a:t>项目名称</a:t>
            </a:r>
            <a:r>
              <a:rPr lang="en-US" altLang="zh-CN" sz="1900" b="0" dirty="0">
                <a:solidFill>
                  <a:srgbClr val="FF0000"/>
                </a:solidFill>
              </a:rPr>
              <a:t>&lt;/</a:t>
            </a:r>
            <a:r>
              <a:rPr lang="en-US" altLang="zh-CN" sz="1900" b="0" dirty="0" err="1">
                <a:solidFill>
                  <a:srgbClr val="FF0000"/>
                </a:solidFill>
              </a:rPr>
              <a:t>li</a:t>
            </a:r>
            <a:r>
              <a:rPr lang="en-US" altLang="zh-CN" sz="1900" b="0" dirty="0">
                <a:solidFill>
                  <a:srgbClr val="FF0000"/>
                </a:solidFill>
              </a:rPr>
              <a:t>&gt; 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1900" b="0" dirty="0">
                <a:solidFill>
                  <a:srgbClr val="FF0000"/>
                </a:solidFill>
              </a:rPr>
              <a:t>		&lt;</a:t>
            </a:r>
            <a:r>
              <a:rPr lang="en-US" altLang="zh-CN" sz="1900" b="0" dirty="0" err="1">
                <a:solidFill>
                  <a:srgbClr val="FF0000"/>
                </a:solidFill>
              </a:rPr>
              <a:t>li</a:t>
            </a:r>
            <a:r>
              <a:rPr lang="en-US" altLang="zh-CN" sz="1900" b="0" dirty="0">
                <a:solidFill>
                  <a:srgbClr val="FF0000"/>
                </a:solidFill>
              </a:rPr>
              <a:t> type=""&gt;</a:t>
            </a:r>
            <a:r>
              <a:rPr lang="zh-CN" altLang="en-US" sz="1900" b="0" dirty="0">
                <a:solidFill>
                  <a:srgbClr val="FF0000"/>
                </a:solidFill>
              </a:rPr>
              <a:t>项目名称</a:t>
            </a:r>
            <a:r>
              <a:rPr lang="en-US" altLang="zh-CN" sz="1900" b="0" dirty="0">
                <a:solidFill>
                  <a:srgbClr val="FF0000"/>
                </a:solidFill>
              </a:rPr>
              <a:t>&lt;/</a:t>
            </a:r>
            <a:r>
              <a:rPr lang="en-US" altLang="zh-CN" sz="1900" b="0" dirty="0" err="1">
                <a:solidFill>
                  <a:srgbClr val="FF0000"/>
                </a:solidFill>
              </a:rPr>
              <a:t>li</a:t>
            </a:r>
            <a:r>
              <a:rPr lang="en-US" altLang="zh-CN" sz="1900" b="0" dirty="0">
                <a:solidFill>
                  <a:srgbClr val="FF0000"/>
                </a:solidFill>
              </a:rPr>
              <a:t>&gt; 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1900" b="0" dirty="0">
                <a:solidFill>
                  <a:srgbClr val="FF0000"/>
                </a:solidFill>
              </a:rPr>
              <a:t>		…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1900" b="0" dirty="0">
                <a:solidFill>
                  <a:srgbClr val="FF0000"/>
                </a:solidFill>
              </a:rPr>
              <a:t>&lt;/</a:t>
            </a:r>
            <a:r>
              <a:rPr lang="en-US" altLang="zh-CN" sz="1900" b="0" dirty="0" err="1">
                <a:solidFill>
                  <a:srgbClr val="FF0000"/>
                </a:solidFill>
              </a:rPr>
              <a:t>ul</a:t>
            </a:r>
            <a:r>
              <a:rPr lang="en-US" altLang="zh-CN" sz="1900" b="0" dirty="0">
                <a:solidFill>
                  <a:srgbClr val="FF0000"/>
                </a:solidFill>
              </a:rPr>
              <a:t>&gt; </a:t>
            </a:r>
            <a:endParaRPr lang="en-US" altLang="zh-CN" b="0" dirty="0">
              <a:solidFill>
                <a:srgbClr val="FF0000"/>
              </a:solidFill>
            </a:endParaRPr>
          </a:p>
          <a:p>
            <a:pPr lvl="1">
              <a:buNone/>
            </a:pPr>
            <a:r>
              <a:rPr lang="zh-CN" altLang="en-US" sz="2200" b="0" dirty="0"/>
              <a:t>符号：</a:t>
            </a:r>
            <a:r>
              <a:rPr lang="en-US" altLang="zh-CN" sz="2200" b="0" dirty="0"/>
              <a:t> disc - </a:t>
            </a:r>
            <a:r>
              <a:rPr lang="zh-CN" altLang="en-US" sz="2200" b="0" dirty="0"/>
              <a:t>●；</a:t>
            </a:r>
            <a:r>
              <a:rPr lang="en-US" altLang="zh-CN" sz="2200" b="0" dirty="0"/>
              <a:t> circle -</a:t>
            </a:r>
            <a:r>
              <a:rPr lang="zh-CN" altLang="en-US" sz="2200" b="0" dirty="0"/>
              <a:t>○；</a:t>
            </a:r>
            <a:r>
              <a:rPr lang="en-US" altLang="zh-CN" sz="2200" b="0" dirty="0"/>
              <a:t> square -</a:t>
            </a:r>
            <a:r>
              <a:rPr lang="zh-CN" altLang="en-US" sz="2200" b="0" dirty="0"/>
              <a:t>■</a:t>
            </a:r>
          </a:p>
          <a:p>
            <a:pPr lvl="1">
              <a:buNone/>
            </a:pPr>
            <a:r>
              <a:rPr lang="en-US" altLang="zh-CN" sz="2200" b="0" dirty="0"/>
              <a:t>type</a:t>
            </a:r>
            <a:r>
              <a:rPr sz="2200" b="0" dirty="0"/>
              <a:t>以后少用</a:t>
            </a:r>
          </a:p>
        </p:txBody>
      </p:sp>
    </p:spTree>
    <p:custDataLst>
      <p:tags r:id="rId1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2800" dirty="0"/>
              <a:t>无序列表案例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3829685"/>
            <a:ext cx="4420870" cy="2556510"/>
          </a:xfrm>
        </p:spPr>
        <p:txBody>
          <a:bodyPr anchor="ctr">
            <a:normAutofit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1400" b="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&lt;h4&gt;学校概况&lt;/h4&gt;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1400" b="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&lt;ul&gt;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1400" b="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   &lt;li&gt;学校简介&lt;/li&gt;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1400" b="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   &lt;li&gt;深大标识&lt;/li&gt;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1400" b="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   &lt;li&gt;现任领导&lt;/li&gt;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1400" b="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   &lt;li&gt;杰出校友&lt;/li&gt;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1400" b="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   &lt;li&gt;校园地图&lt;/li&gt;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1400" b="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   &lt;li&gt;校园风光&lt;/li&gt;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   &lt;li&gt;</a:t>
            </a:r>
            <a:r>
              <a:rPr lang="zh-CN" altLang="zh-CN" sz="1400" b="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校历&lt;/li&gt;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dirty="0">
                <a:latin typeface="Verdana" panose="020B0604030504040204" pitchFamily="34" charset="0"/>
                <a:ea typeface="宋体" panose="02010600030101010101" pitchFamily="2" charset="-122"/>
                <a:cs typeface="Verdana" panose="020B0604030504040204" pitchFamily="34" charset="0"/>
              </a:rPr>
              <a:t>&lt;/ul&gt;</a:t>
            </a:r>
            <a:endParaRPr lang="zh-CN" altLang="zh-CN" sz="1400" b="0" dirty="0">
              <a:latin typeface="Verdana" panose="020B0604030504040204" pitchFamily="34" charset="0"/>
              <a:ea typeface="宋体" panose="02010600030101010101" pitchFamily="2" charset="-122"/>
              <a:cs typeface="Verdana" panose="020B060403050404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155" y="1975485"/>
            <a:ext cx="7670800" cy="18224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45440" y="1496060"/>
            <a:ext cx="29362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https://www.szu.edu.cn/</a:t>
            </a:r>
          </a:p>
        </p:txBody>
      </p:sp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有序列表</a:t>
            </a:r>
            <a:r>
              <a:rPr lang="en-US" altLang="zh-CN" dirty="0"/>
              <a:t> 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1800" b="0" dirty="0"/>
              <a:t>有序列表</a:t>
            </a:r>
            <a:r>
              <a:rPr lang="en-US" sz="1800" b="0" dirty="0"/>
              <a:t>(</a:t>
            </a:r>
            <a:r>
              <a:rPr lang="en-US" sz="1800" b="0" u="sng" dirty="0">
                <a:solidFill>
                  <a:srgbClr val="FF0000"/>
                </a:solidFill>
              </a:rPr>
              <a:t>O</a:t>
            </a:r>
            <a:r>
              <a:rPr lang="en-US" sz="1800" b="0" dirty="0"/>
              <a:t>rdered </a:t>
            </a:r>
            <a:r>
              <a:rPr lang="en-US" sz="1800" b="0" u="sng" dirty="0">
                <a:solidFill>
                  <a:srgbClr val="FF0000"/>
                </a:solidFill>
              </a:rPr>
              <a:t>L</a:t>
            </a:r>
            <a:r>
              <a:rPr lang="en-US" sz="1800" b="0" dirty="0"/>
              <a:t>ist) </a:t>
            </a:r>
            <a:r>
              <a:rPr lang="en-US" sz="1800" b="0" dirty="0" err="1"/>
              <a:t>ol </a:t>
            </a:r>
            <a:r>
              <a:rPr lang="zh-CN" altLang="en-US" sz="1800" b="0" dirty="0"/>
              <a:t>标记是成对标记。在</a:t>
            </a:r>
            <a:r>
              <a:rPr lang="en-US" altLang="zh-CN" sz="1800" b="0" dirty="0"/>
              <a:t>HTML</a:t>
            </a:r>
            <a:r>
              <a:rPr lang="zh-CN" altLang="en-US" sz="1800" b="0" dirty="0"/>
              <a:t>文件中插入成对的标记</a:t>
            </a:r>
            <a:r>
              <a:rPr lang="en-US" altLang="zh-CN" sz="1800" b="0" dirty="0"/>
              <a:t>&lt;</a:t>
            </a:r>
            <a:r>
              <a:rPr lang="en-US" altLang="zh-CN" sz="1800" b="0" dirty="0" err="1"/>
              <a:t>ol</a:t>
            </a:r>
            <a:r>
              <a:rPr lang="en-US" altLang="zh-CN" sz="1800" b="0" dirty="0"/>
              <a:t>&gt;&lt;/</a:t>
            </a:r>
            <a:r>
              <a:rPr lang="en-US" altLang="zh-CN" sz="1800" b="0" dirty="0" err="1"/>
              <a:t>ol</a:t>
            </a:r>
            <a:r>
              <a:rPr lang="en-US" altLang="zh-CN" sz="1800" b="0" dirty="0"/>
              <a:t>&gt;</a:t>
            </a:r>
            <a:r>
              <a:rPr lang="zh-CN" altLang="en-US" sz="1800" b="0" dirty="0"/>
              <a:t>，完成有序列表的插入。 </a:t>
            </a:r>
          </a:p>
          <a:p>
            <a:r>
              <a:rPr lang="zh-CN" altLang="en-US" sz="1800" b="0" dirty="0"/>
              <a:t>基本语法</a:t>
            </a:r>
            <a:endParaRPr lang="en-US" altLang="zh-CN" sz="1800" b="0" dirty="0"/>
          </a:p>
          <a:p>
            <a:pPr>
              <a:buNone/>
            </a:pPr>
            <a:r>
              <a:rPr lang="zh-CN" altLang="en-US" sz="2000" b="0" dirty="0">
                <a:latin typeface="Verdana" panose="020B0604030504040204" pitchFamily="34" charset="0"/>
                <a:cs typeface="Verdana" panose="020B0604030504040204" pitchFamily="34" charset="0"/>
              </a:rPr>
              <a:t>   </a:t>
            </a:r>
            <a:r>
              <a:rPr lang="en-US" altLang="zh-CN" sz="18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</a:t>
            </a:r>
            <a:r>
              <a:rPr lang="en-US" altLang="zh-CN" sz="1800" b="0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ol</a:t>
            </a:r>
            <a:r>
              <a:rPr lang="en-US" altLang="zh-CN" sz="18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type= " 1| A | a | I | </a:t>
            </a:r>
            <a:r>
              <a:rPr lang="en-US" altLang="zh-CN" sz="1800" b="0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</a:t>
            </a:r>
            <a:r>
              <a:rPr lang="en-US" altLang="zh-CN" sz="18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" start= " 2"&gt; 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18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     &lt;</a:t>
            </a:r>
            <a:r>
              <a:rPr lang="en-US" altLang="zh-CN" sz="1800" b="0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</a:t>
            </a:r>
            <a:r>
              <a:rPr lang="en-US" altLang="zh-CN" sz="18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type=""  value="n"&gt;</a:t>
            </a:r>
            <a:r>
              <a:rPr lang="zh-CN" altLang="en-US" sz="1800" b="0" dirty="0">
                <a:solidFill>
                  <a:srgbClr val="FF0000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项目名称</a:t>
            </a:r>
            <a:r>
              <a:rPr lang="en-US" altLang="zh-CN" sz="18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</a:t>
            </a:r>
            <a:r>
              <a:rPr lang="en-US" altLang="zh-CN" sz="1800" b="0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</a:t>
            </a:r>
            <a:r>
              <a:rPr lang="en-US" altLang="zh-CN" sz="18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 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18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&lt;</a:t>
            </a:r>
            <a:r>
              <a:rPr lang="en-US" altLang="zh-CN" sz="1800" b="0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</a:t>
            </a:r>
            <a:r>
              <a:rPr lang="en-US" altLang="zh-CN" sz="18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type=""  value="n"&gt;</a:t>
            </a:r>
            <a:r>
              <a:rPr lang="zh-CN" altLang="en-US" sz="1800" b="0" dirty="0">
                <a:solidFill>
                  <a:srgbClr val="FF0000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项目名称</a:t>
            </a:r>
            <a:r>
              <a:rPr lang="en-US" altLang="zh-CN" sz="18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</a:t>
            </a:r>
            <a:r>
              <a:rPr lang="en-US" altLang="zh-CN" sz="1800" b="0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</a:t>
            </a:r>
            <a:r>
              <a:rPr lang="en-US" altLang="zh-CN" sz="18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 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18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&lt;</a:t>
            </a:r>
            <a:r>
              <a:rPr lang="en-US" altLang="zh-CN" sz="1800" b="0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</a:t>
            </a:r>
            <a:r>
              <a:rPr lang="en-US" altLang="zh-CN" sz="18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type=""  value="n"&gt;</a:t>
            </a:r>
            <a:r>
              <a:rPr lang="zh-CN" altLang="en-US" sz="1800" b="0" dirty="0">
                <a:solidFill>
                  <a:srgbClr val="FF0000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项目名称</a:t>
            </a:r>
            <a:r>
              <a:rPr lang="en-US" altLang="zh-CN" sz="18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</a:t>
            </a:r>
            <a:r>
              <a:rPr lang="en-US" altLang="zh-CN" sz="1800" b="0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</a:t>
            </a:r>
            <a:r>
              <a:rPr lang="en-US" altLang="zh-CN" sz="18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 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18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…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18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</a:t>
            </a:r>
            <a:r>
              <a:rPr lang="en-US" altLang="zh-CN" sz="1800" b="0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ol</a:t>
            </a:r>
            <a:r>
              <a:rPr lang="en-US" altLang="zh-CN" sz="18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 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zh-CN" sz="1600">
              <a:sym typeface="+mn-ea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1600">
                <a:sym typeface="+mn-ea"/>
              </a:rPr>
              <a:t>type</a:t>
            </a:r>
            <a:r>
              <a:rPr sz="1600">
                <a:sym typeface="+mn-ea"/>
              </a:rPr>
              <a:t>以后也是少用</a:t>
            </a:r>
            <a:endParaRPr sz="2000" b="0" dirty="0"/>
          </a:p>
          <a:p>
            <a:pPr lvl="1">
              <a:buFont typeface="Wingdings" panose="05000000000000000000" pitchFamily="2" charset="2"/>
              <a:buNone/>
            </a:pPr>
            <a:endParaRPr lang="en-US" altLang="zh-CN" sz="2000" b="0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有序列表案例 </a:t>
            </a:r>
          </a:p>
        </p:txBody>
      </p:sp>
      <p:sp>
        <p:nvSpPr>
          <p:cNvPr id="117765" name="Rectangle 5"/>
          <p:cNvSpPr>
            <a:spLocks noGrp="1" noChangeArrowheads="1"/>
          </p:cNvSpPr>
          <p:nvPr>
            <p:ph idx="1"/>
          </p:nvPr>
        </p:nvSpPr>
        <p:spPr>
          <a:xfrm>
            <a:off x="367030" y="967740"/>
            <a:ext cx="4893945" cy="5281930"/>
          </a:xfrm>
        </p:spPr>
        <p:txBody>
          <a:bodyPr lIns="0" tIns="0" rIns="0" bIns="0">
            <a:noAutofit/>
          </a:bodyPr>
          <a:lstStyle/>
          <a:p>
            <a:pPr marL="0" indent="0" algn="l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1400" dirty="0">
                <a:latin typeface="Verdana" panose="020B0604030504040204" pitchFamily="34" charset="0"/>
                <a:cs typeface="Verdana" panose="020B0604030504040204" pitchFamily="34" charset="0"/>
              </a:rPr>
              <a:t>    &lt;h4&gt;1数字编号：&lt;/h4&gt;</a:t>
            </a:r>
          </a:p>
          <a:p>
            <a:pPr marL="0" indent="0" algn="l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1400" dirty="0">
                <a:latin typeface="Verdana" panose="020B0604030504040204" pitchFamily="34" charset="0"/>
                <a:cs typeface="Verdana" panose="020B0604030504040204" pitchFamily="34" charset="0"/>
              </a:rPr>
              <a:t>    &lt;ol&gt;      </a:t>
            </a:r>
          </a:p>
          <a:p>
            <a:pPr marL="0" indent="0" algn="l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1400" dirty="0">
                <a:latin typeface="Verdana" panose="020B0604030504040204" pitchFamily="34" charset="0"/>
                <a:cs typeface="Verdana" panose="020B0604030504040204" pitchFamily="34" charset="0"/>
              </a:rPr>
              <a:t>      &lt;li&gt;计算机科学与技术专业&lt;/li&gt;</a:t>
            </a:r>
          </a:p>
          <a:p>
            <a:pPr marL="0" indent="0" algn="l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1400" dirty="0">
                <a:latin typeface="Verdana" panose="020B0604030504040204" pitchFamily="34" charset="0"/>
                <a:cs typeface="Verdana" panose="020B0604030504040204" pitchFamily="34" charset="0"/>
              </a:rPr>
              <a:t>      &lt;li&gt;软件工程专业 &lt;/li&gt;</a:t>
            </a:r>
          </a:p>
          <a:p>
            <a:pPr marL="0" indent="0" algn="l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1400" dirty="0">
                <a:latin typeface="Verdana" panose="020B0604030504040204" pitchFamily="34" charset="0"/>
                <a:cs typeface="Verdana" panose="020B0604030504040204" pitchFamily="34" charset="0"/>
              </a:rPr>
              <a:t>      &lt;li&gt;网络与大数据专业&lt;/li&gt;</a:t>
            </a:r>
          </a:p>
          <a:p>
            <a:pPr marL="0" indent="0" algn="l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1400" dirty="0">
                <a:latin typeface="Verdana" panose="020B0604030504040204" pitchFamily="34" charset="0"/>
                <a:cs typeface="Verdana" panose="020B0604030504040204" pitchFamily="34" charset="0"/>
              </a:rPr>
              <a:t>      &lt;li&gt;人工智能专业&lt;/li&gt; </a:t>
            </a:r>
          </a:p>
          <a:p>
            <a:pPr marL="0" indent="0" algn="l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1400" dirty="0">
                <a:latin typeface="Verdana" panose="020B0604030504040204" pitchFamily="34" charset="0"/>
                <a:cs typeface="Verdana" panose="020B0604030504040204" pitchFamily="34" charset="0"/>
              </a:rPr>
              <a:t>    &lt;/ol&gt;</a:t>
            </a:r>
          </a:p>
          <a:p>
            <a:pPr marL="0" indent="0" algn="l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1400" dirty="0">
                <a:latin typeface="Verdana" panose="020B0604030504040204" pitchFamily="34" charset="0"/>
                <a:cs typeface="Verdana" panose="020B0604030504040204" pitchFamily="34" charset="0"/>
              </a:rPr>
              <a:t>    &lt;h4&gt;A字母编号：&lt;/h4&gt;</a:t>
            </a:r>
          </a:p>
          <a:p>
            <a:pPr marL="0" indent="0" algn="l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1400" dirty="0">
                <a:latin typeface="Verdana" panose="020B0604030504040204" pitchFamily="34" charset="0"/>
                <a:cs typeface="Verdana" panose="020B0604030504040204" pitchFamily="34" charset="0"/>
              </a:rPr>
              <a:t>    &lt;ol type="A"&gt;</a:t>
            </a:r>
          </a:p>
          <a:p>
            <a:pPr marL="0" indent="0" algn="l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1400" dirty="0">
                <a:latin typeface="Verdana" panose="020B0604030504040204" pitchFamily="34" charset="0"/>
                <a:cs typeface="Verdana" panose="020B0604030504040204" pitchFamily="34" charset="0"/>
              </a:rPr>
              <a:t>      &lt;li&gt;计算机科学与技术专业&lt;/li&gt;</a:t>
            </a:r>
          </a:p>
          <a:p>
            <a:pPr marL="0" indent="0" algn="l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1400" dirty="0">
                <a:latin typeface="Verdana" panose="020B0604030504040204" pitchFamily="34" charset="0"/>
                <a:cs typeface="Verdana" panose="020B0604030504040204" pitchFamily="34" charset="0"/>
              </a:rPr>
              <a:t>      &lt;li&gt;软件工程专业 &lt;/li&gt;</a:t>
            </a:r>
          </a:p>
          <a:p>
            <a:pPr marL="0" indent="0" algn="l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1400" dirty="0">
                <a:latin typeface="Verdana" panose="020B0604030504040204" pitchFamily="34" charset="0"/>
                <a:cs typeface="Verdana" panose="020B0604030504040204" pitchFamily="34" charset="0"/>
              </a:rPr>
              <a:t>      &lt;li&gt;网络与大数据专业&lt;/li&gt;</a:t>
            </a:r>
          </a:p>
          <a:p>
            <a:pPr marL="0" indent="0" algn="l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1400" dirty="0">
                <a:latin typeface="Verdana" panose="020B0604030504040204" pitchFamily="34" charset="0"/>
                <a:cs typeface="Verdana" panose="020B0604030504040204" pitchFamily="34" charset="0"/>
              </a:rPr>
              <a:t>      &lt;li&gt;人工智能专业&lt;/li&gt;</a:t>
            </a:r>
          </a:p>
          <a:p>
            <a:pPr marL="0" indent="0" algn="l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1400" dirty="0">
                <a:latin typeface="Verdana" panose="020B0604030504040204" pitchFamily="34" charset="0"/>
                <a:cs typeface="Verdana" panose="020B0604030504040204" pitchFamily="34" charset="0"/>
              </a:rPr>
              <a:t>    &lt;/ol&gt;</a:t>
            </a:r>
          </a:p>
          <a:p>
            <a:pPr marL="0" indent="0" algn="l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1400" dirty="0">
                <a:latin typeface="Verdana" panose="020B0604030504040204" pitchFamily="34" charset="0"/>
                <a:cs typeface="Verdana" panose="020B0604030504040204" pitchFamily="34" charset="0"/>
              </a:rPr>
              <a:t>    &lt;h4&gt;aI混合编号：&lt;/h4&gt;</a:t>
            </a:r>
          </a:p>
          <a:p>
            <a:pPr marL="0" indent="0" algn="l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1400" dirty="0">
                <a:latin typeface="Verdana" panose="020B0604030504040204" pitchFamily="34" charset="0"/>
                <a:cs typeface="Verdana" panose="020B0604030504040204" pitchFamily="34" charset="0"/>
              </a:rPr>
              <a:t>    &lt;ol type="a"&gt;</a:t>
            </a:r>
          </a:p>
          <a:p>
            <a:pPr marL="0" indent="0" algn="l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1400" dirty="0">
                <a:latin typeface="Verdana" panose="020B0604030504040204" pitchFamily="34" charset="0"/>
                <a:cs typeface="Verdana" panose="020B0604030504040204" pitchFamily="34" charset="0"/>
              </a:rPr>
              <a:t>      &lt;li&gt;计算机科学与技术专业&lt;/li&gt;</a:t>
            </a:r>
          </a:p>
          <a:p>
            <a:pPr marL="0" indent="0" algn="l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1400" dirty="0">
                <a:latin typeface="Verdana" panose="020B0604030504040204" pitchFamily="34" charset="0"/>
                <a:cs typeface="Verdana" panose="020B0604030504040204" pitchFamily="34" charset="0"/>
              </a:rPr>
              <a:t>      &lt;li type="I" value="8"&gt;软件工程专业&lt;/li&gt;</a:t>
            </a:r>
          </a:p>
          <a:p>
            <a:pPr marL="0" indent="0" algn="l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1400" dirty="0">
                <a:latin typeface="Verdana" panose="020B0604030504040204" pitchFamily="34" charset="0"/>
                <a:cs typeface="Verdana" panose="020B0604030504040204" pitchFamily="34" charset="0"/>
              </a:rPr>
              <a:t>      &lt;li&gt;网络与大数据专业&lt;/li&gt;</a:t>
            </a:r>
          </a:p>
          <a:p>
            <a:pPr marL="0" indent="0" algn="l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1400" dirty="0">
                <a:latin typeface="Verdana" panose="020B0604030504040204" pitchFamily="34" charset="0"/>
                <a:cs typeface="Verdana" panose="020B0604030504040204" pitchFamily="34" charset="0"/>
              </a:rPr>
              <a:t>      &lt;li&gt;人工智能专业&lt;/li&gt;</a:t>
            </a:r>
          </a:p>
          <a:p>
            <a:pPr marL="0" indent="0" algn="l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1400" dirty="0">
                <a:latin typeface="Verdana" panose="020B0604030504040204" pitchFamily="34" charset="0"/>
                <a:cs typeface="Verdana" panose="020B0604030504040204" pitchFamily="34" charset="0"/>
              </a:rPr>
              <a:t>      &lt;li&gt;电子科学与技术专业&lt;/li&gt;</a:t>
            </a:r>
          </a:p>
          <a:p>
            <a:pPr marL="0" indent="0" algn="l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1400" dirty="0">
                <a:latin typeface="Verdana" panose="020B0604030504040204" pitchFamily="34" charset="0"/>
                <a:cs typeface="Verdana" panose="020B0604030504040204" pitchFamily="34" charset="0"/>
              </a:rPr>
              <a:t>      &lt;li&gt;物联网工程专业&lt;/li&gt;</a:t>
            </a:r>
          </a:p>
          <a:p>
            <a:pPr marL="0" indent="0" algn="l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1400" dirty="0">
                <a:latin typeface="Verdana" panose="020B0604030504040204" pitchFamily="34" charset="0"/>
                <a:cs typeface="Verdana" panose="020B0604030504040204" pitchFamily="34" charset="0"/>
              </a:rPr>
              <a:t>    &lt;/ol&gt;</a:t>
            </a:r>
          </a:p>
          <a:p>
            <a:pPr marL="0" indent="0" algn="l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zh-CN" sz="1400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1475" y="967740"/>
            <a:ext cx="3073400" cy="4766310"/>
          </a:xfrm>
          <a:prstGeom prst="rect">
            <a:avLst/>
          </a:prstGeom>
        </p:spPr>
      </p:pic>
      <p:cxnSp>
        <p:nvCxnSpPr>
          <p:cNvPr id="4" name="直接箭头连接符 3"/>
          <p:cNvCxnSpPr/>
          <p:nvPr/>
        </p:nvCxnSpPr>
        <p:spPr>
          <a:xfrm flipV="1">
            <a:off x="4600575" y="4918075"/>
            <a:ext cx="1120775" cy="916305"/>
          </a:xfrm>
          <a:prstGeom prst="straightConnector1">
            <a:avLst/>
          </a:prstGeom>
          <a:ln w="349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列表嵌套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/>
              <a:t>       </a:t>
            </a:r>
            <a:r>
              <a:rPr lang="zh-CN" altLang="en-US" sz="1800" b="0" dirty="0"/>
              <a:t>在</a:t>
            </a:r>
            <a:r>
              <a:rPr lang="en-US" altLang="zh-CN" sz="1800" b="0" dirty="0"/>
              <a:t>HTML</a:t>
            </a:r>
            <a:r>
              <a:rPr lang="zh-CN" altLang="en-US" sz="1800" b="0" dirty="0"/>
              <a:t>文件中，列表嵌套使用</a:t>
            </a:r>
            <a:r>
              <a:rPr lang="zh-CN" altLang="en-US" sz="18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不仅使网页的内容布局更加美观</a:t>
            </a:r>
            <a:r>
              <a:rPr lang="zh-CN" altLang="en-US" sz="1800" b="0" dirty="0"/>
              <a:t>，而且使显示的内容更加清晰、明白。 </a:t>
            </a:r>
          </a:p>
          <a:p>
            <a:endParaRPr lang="zh-CN" altLang="en-US" sz="1800" b="0" dirty="0"/>
          </a:p>
          <a:p>
            <a:r>
              <a:rPr lang="zh-CN" altLang="en-US" sz="1800" b="0" dirty="0"/>
              <a:t>基本语法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19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</a:t>
            </a:r>
            <a:r>
              <a:rPr lang="en-US" altLang="zh-CN" sz="1900" b="0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ul</a:t>
            </a:r>
            <a:r>
              <a:rPr lang="en-US" altLang="zh-CN" sz="19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19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   </a:t>
            </a:r>
            <a:r>
              <a:rPr lang="en-US" altLang="zh-CN" sz="1900" b="0" u="sng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</a:t>
            </a:r>
            <a:r>
              <a:rPr lang="en-US" altLang="zh-CN" sz="1900" b="0" u="sng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</a:t>
            </a:r>
            <a:r>
              <a:rPr lang="en-US" altLang="zh-CN" sz="1900" b="0" u="sng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&gt;</a:t>
            </a:r>
            <a:r>
              <a:rPr lang="zh-CN" altLang="en-US" sz="1900" b="0" dirty="0">
                <a:solidFill>
                  <a:srgbClr val="FF0000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项目名称</a:t>
            </a:r>
            <a:endParaRPr lang="en-US" altLang="zh-CN" sz="1900" b="0" dirty="0">
              <a:solidFill>
                <a:srgbClr val="FF0000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1900" b="0" dirty="0">
                <a:solidFill>
                  <a:srgbClr val="FF0000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        </a:t>
            </a:r>
            <a:r>
              <a:rPr lang="zh-CN" altLang="en-US" sz="1900" b="0" dirty="0">
                <a:solidFill>
                  <a:srgbClr val="FF0000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19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</a:t>
            </a:r>
            <a:r>
              <a:rPr lang="en-US" altLang="zh-CN" sz="1900" b="0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ol</a:t>
            </a:r>
            <a:r>
              <a:rPr lang="en-US" altLang="zh-CN" sz="19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19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      &lt;li &gt;</a:t>
            </a:r>
            <a:r>
              <a:rPr lang="zh-CN" altLang="en-US" sz="1900" b="0" dirty="0">
                <a:solidFill>
                  <a:srgbClr val="FF0000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项目名称 </a:t>
            </a:r>
            <a:r>
              <a:rPr lang="en-US" altLang="zh-CN" sz="19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</a:t>
            </a:r>
            <a:r>
              <a:rPr lang="en-US" altLang="zh-CN" sz="1900" b="0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</a:t>
            </a:r>
            <a:r>
              <a:rPr lang="en-US" altLang="zh-CN" sz="19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19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       …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19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  &lt;/</a:t>
            </a:r>
            <a:r>
              <a:rPr lang="en-US" altLang="zh-CN" sz="1900" b="0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ol</a:t>
            </a:r>
            <a:r>
              <a:rPr lang="en-US" altLang="zh-CN" sz="19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9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</a:t>
            </a:r>
            <a:r>
              <a:rPr lang="en-US" altLang="zh-CN" sz="1900" b="0" u="sng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&lt;/li&gt;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19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…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19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</a:t>
            </a:r>
            <a:r>
              <a:rPr lang="en-US" altLang="zh-CN" sz="1900" b="0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ul</a:t>
            </a:r>
            <a:r>
              <a:rPr lang="en-US" altLang="zh-CN" sz="19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 </a:t>
            </a:r>
            <a:endParaRPr lang="en-US" altLang="zh-CN" sz="1600" b="0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AutoShape 2"/>
          <p:cNvSpPr>
            <a:spLocks noGrp="1" noChangeAspec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嵌套列表案例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420370" y="1117600"/>
            <a:ext cx="4564380" cy="5130165"/>
          </a:xfrm>
        </p:spPr>
        <p:txBody>
          <a:bodyPr>
            <a:noAutofit/>
          </a:bodyPr>
          <a:lstStyle/>
          <a:p>
            <a:pPr marL="0" indent="2622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&lt;h4&gt;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清华大学出版社图书分类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&lt;/h4&gt;</a:t>
            </a:r>
          </a:p>
          <a:p>
            <a:pPr marL="0" indent="2622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ol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type="1"&gt;</a:t>
            </a:r>
          </a:p>
          <a:p>
            <a:pPr marL="0" indent="2622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&lt;li&gt;</a:t>
            </a:r>
          </a:p>
          <a:p>
            <a:pPr marL="0" indent="2622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&lt;h4&gt;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计算机与电子信息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&lt;/h4&gt;	  </a:t>
            </a:r>
          </a:p>
          <a:p>
            <a:pPr marL="0" indent="2622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&lt;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ol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type="A"&gt;</a:t>
            </a:r>
          </a:p>
          <a:p>
            <a:pPr marL="0" indent="5365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&lt;li&gt;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数据库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&lt;/li&gt;</a:t>
            </a:r>
          </a:p>
          <a:p>
            <a:pPr marL="0" indent="5365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&lt;li&gt;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电子信息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&lt;/li&gt;</a:t>
            </a:r>
          </a:p>
          <a:p>
            <a:pPr marL="0" indent="5365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&lt;li&gt;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计算机组成与原理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&lt;/li&gt;</a:t>
            </a:r>
          </a:p>
          <a:p>
            <a:pPr marL="0" indent="5365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&lt;li&gt;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计算机基础</a:t>
            </a:r>
          </a:p>
          <a:p>
            <a:pPr marL="0" indent="812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ul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type="disc"&gt; </a:t>
            </a:r>
          </a:p>
          <a:p>
            <a:pPr marL="0" indent="812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&lt;li&gt;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计算机文化基础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&lt;/li&gt;</a:t>
            </a:r>
          </a:p>
          <a:p>
            <a:pPr marL="0" indent="812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&lt;li&gt;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公共基础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&lt;/li&gt;</a:t>
            </a:r>
          </a:p>
          <a:p>
            <a:pPr marL="0" indent="812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&lt;li&gt;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软件技术基础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&lt;/li&gt;</a:t>
            </a:r>
          </a:p>
          <a:p>
            <a:pPr marL="0" indent="812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&lt;li&gt;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计算机导论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&lt;/li&gt;</a:t>
            </a:r>
          </a:p>
          <a:p>
            <a:pPr marL="0" indent="812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&lt;li&gt;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计算思维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&lt;/li&gt;</a:t>
            </a:r>
          </a:p>
          <a:p>
            <a:pPr marL="0" indent="812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</a:t>
            </a:r>
            <a:r>
              <a:rPr lang="en-US" altLang="zh-CN" sz="14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ul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</a:t>
            </a:r>
          </a:p>
          <a:p>
            <a:pPr marL="0" indent="5365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&lt;/li&gt;</a:t>
            </a:r>
          </a:p>
          <a:p>
            <a:pPr marL="0" indent="2622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 &lt;/</a:t>
            </a:r>
            <a:r>
              <a:rPr lang="en-US" altLang="zh-CN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ol</a:t>
            </a:r>
            <a:r>
              <a:rPr lang="en-US" altLang="zh-CN" sz="1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&gt;</a:t>
            </a:r>
          </a:p>
          <a:p>
            <a:pPr marL="0" indent="2622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&lt;/li&gt;</a:t>
            </a:r>
          </a:p>
          <a:p>
            <a:pPr marL="0" indent="2622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&lt;li&gt;&lt;h4&gt;</a:t>
            </a:r>
            <a:r>
              <a:rPr sz="1400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理工</a:t>
            </a:r>
            <a:r>
              <a:rPr lang="en-US" altLang="zh-CN" sz="1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&lt;/h4&gt;&lt;/li&gt;</a:t>
            </a:r>
          </a:p>
          <a:p>
            <a:pPr marL="0" indent="2622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&lt;li&gt;&lt;h4&gt;</a:t>
            </a:r>
            <a:r>
              <a:rPr sz="1400">
                <a:latin typeface="Verdana" panose="020B0604030504040204" pitchFamily="34" charset="0"/>
                <a:cs typeface="Verdana" panose="020B0604030504040204" pitchFamily="34" charset="0"/>
                <a:sym typeface="+mn-ea"/>
              </a:rPr>
              <a:t>经管与人文</a:t>
            </a:r>
            <a:r>
              <a:rPr lang="en-US" altLang="zh-CN" sz="1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&lt;/h4&gt;&lt;/li&gt;  </a:t>
            </a:r>
            <a:endParaRPr lang="en-US" altLang="zh-CN" sz="14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 &lt;/</a:t>
            </a:r>
            <a:r>
              <a:rPr lang="en-US" altLang="zh-CN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ol</a:t>
            </a:r>
            <a:r>
              <a:rPr lang="en-US" altLang="zh-CN" sz="1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&gt;	</a:t>
            </a:r>
            <a:endParaRPr lang="en-US" altLang="zh-CN" sz="14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+mn-ea"/>
            </a:endParaRPr>
          </a:p>
        </p:txBody>
      </p:sp>
      <p:pic>
        <p:nvPicPr>
          <p:cNvPr id="8" name="图片 7"/>
          <p:cNvPicPr/>
          <p:nvPr/>
        </p:nvPicPr>
        <p:blipFill>
          <a:blip r:embed="rId3" cstate="print"/>
          <a:srcRect t="13732" r="35973"/>
          <a:stretch>
            <a:fillRect/>
          </a:stretch>
        </p:blipFill>
        <p:spPr>
          <a:xfrm>
            <a:off x="4862830" y="1185545"/>
            <a:ext cx="3721735" cy="448691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定义列表</a:t>
            </a:r>
            <a:endParaRPr lang="en-US" altLang="zh-CN" dirty="0"/>
          </a:p>
        </p:txBody>
      </p:sp>
      <p:sp>
        <p:nvSpPr>
          <p:cNvPr id="1044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1800" b="0" dirty="0"/>
              <a:t>       定义列表</a:t>
            </a:r>
            <a:r>
              <a:rPr lang="en-US" sz="1800" b="0" dirty="0"/>
              <a:t>(</a:t>
            </a:r>
            <a:r>
              <a:rPr lang="en-US" sz="1800" b="0" u="sng" dirty="0">
                <a:solidFill>
                  <a:srgbClr val="FF0000"/>
                </a:solidFill>
              </a:rPr>
              <a:t>D</a:t>
            </a:r>
            <a:r>
              <a:rPr lang="en-US" sz="1800" b="0" dirty="0"/>
              <a:t>efinition </a:t>
            </a:r>
            <a:r>
              <a:rPr lang="en-US" sz="1800" b="0" u="sng" dirty="0">
                <a:solidFill>
                  <a:srgbClr val="FF0000"/>
                </a:solidFill>
              </a:rPr>
              <a:t>L</a:t>
            </a:r>
            <a:r>
              <a:rPr lang="en-US" sz="1800" b="0" dirty="0"/>
              <a:t>ist)dl</a:t>
            </a:r>
            <a:r>
              <a:rPr lang="zh-CN" altLang="en-US" sz="1800" b="0" dirty="0"/>
              <a:t>标记是成对标记。在</a:t>
            </a:r>
            <a:r>
              <a:rPr lang="en-US" altLang="zh-CN" sz="1800" b="0" dirty="0"/>
              <a:t>HTML</a:t>
            </a:r>
            <a:r>
              <a:rPr lang="zh-CN" altLang="en-US" sz="1800" b="0" dirty="0"/>
              <a:t>文件中插入成对的标记</a:t>
            </a:r>
            <a:r>
              <a:rPr lang="en-US" altLang="zh-CN" sz="1800" b="0" dirty="0"/>
              <a:t>&lt;dl&gt;&lt;/dl&gt;</a:t>
            </a:r>
            <a:r>
              <a:rPr lang="zh-CN" altLang="en-US" sz="1800" b="0" dirty="0"/>
              <a:t>，</a:t>
            </a:r>
            <a:r>
              <a:rPr lang="zh-CN" altLang="en-US" sz="1800" b="0" dirty="0">
                <a:highlight>
                  <a:srgbClr val="FFFF00"/>
                </a:highlight>
              </a:rPr>
              <a:t>完成定义列表的插入</a:t>
            </a:r>
            <a:r>
              <a:rPr lang="zh-CN" altLang="en-US" sz="1800" b="0" dirty="0"/>
              <a:t>。 </a:t>
            </a:r>
          </a:p>
          <a:p>
            <a:r>
              <a:rPr lang="zh-CN" altLang="en-US" sz="1600" b="0" dirty="0"/>
              <a:t>基本语法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19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&lt;dl&gt;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19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    &lt;</a:t>
            </a:r>
            <a:r>
              <a:rPr lang="en-US" altLang="zh-CN" sz="1900" b="0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dt</a:t>
            </a:r>
            <a:r>
              <a:rPr lang="en-US" altLang="zh-CN" sz="19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</a:t>
            </a:r>
            <a:r>
              <a:rPr lang="zh-CN" altLang="en-US" sz="1900" b="0" dirty="0">
                <a:solidFill>
                  <a:srgbClr val="FF0000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项目</a:t>
            </a:r>
            <a:r>
              <a:rPr lang="en-US" altLang="zh-CN" sz="19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1&lt;/</a:t>
            </a:r>
            <a:r>
              <a:rPr lang="en-US" altLang="zh-CN" sz="1900" b="0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dt</a:t>
            </a:r>
            <a:r>
              <a:rPr lang="en-US" altLang="zh-CN" sz="19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 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19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      &lt;</a:t>
            </a:r>
            <a:r>
              <a:rPr lang="en-US" altLang="zh-CN" sz="1900" b="0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dd</a:t>
            </a:r>
            <a:r>
              <a:rPr lang="en-US" altLang="zh-CN" sz="19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</a:t>
            </a:r>
            <a:r>
              <a:rPr lang="zh-CN" altLang="en-US" sz="1900" b="0" dirty="0">
                <a:solidFill>
                  <a:srgbClr val="FF0000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说明</a:t>
            </a:r>
            <a:r>
              <a:rPr lang="en-US" altLang="zh-CN" sz="19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1&lt;</a:t>
            </a:r>
            <a:r>
              <a:rPr lang="en-US" altLang="zh-CN" sz="1900" b="0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dd</a:t>
            </a:r>
            <a:r>
              <a:rPr lang="en-US" altLang="zh-CN" sz="19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 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19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      &lt;</a:t>
            </a:r>
            <a:r>
              <a:rPr lang="en-US" altLang="zh-CN" sz="1900" b="0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dd</a:t>
            </a:r>
            <a:r>
              <a:rPr lang="en-US" altLang="zh-CN" sz="19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</a:t>
            </a:r>
            <a:r>
              <a:rPr lang="zh-CN" altLang="en-US" sz="1900" b="0" dirty="0">
                <a:solidFill>
                  <a:srgbClr val="FF0000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说明</a:t>
            </a:r>
            <a:r>
              <a:rPr lang="en-US" altLang="zh-CN" sz="19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2&lt;</a:t>
            </a:r>
            <a:r>
              <a:rPr lang="en-US" altLang="zh-CN" sz="1900" b="0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dd</a:t>
            </a:r>
            <a:r>
              <a:rPr lang="en-US" altLang="zh-CN" sz="19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 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19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 …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19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&lt;/dl&gt;</a:t>
            </a:r>
            <a:endParaRPr lang="en-US" altLang="zh-CN" sz="2000" b="0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1">
              <a:buNone/>
            </a:pPr>
            <a:r>
              <a:rPr lang="en-US" altLang="zh-CN" sz="2000" b="0" dirty="0" err="1"/>
              <a:t>dt</a:t>
            </a:r>
            <a:r>
              <a:rPr lang="zh-CN" altLang="en-US" sz="2000" b="0" dirty="0"/>
              <a:t>标记的由来</a:t>
            </a:r>
            <a:r>
              <a:rPr lang="en-US" altLang="zh-CN" sz="2000" b="0" dirty="0"/>
              <a:t>:</a:t>
            </a:r>
            <a:r>
              <a:rPr lang="en-US" sz="2000" b="0" u="sng" dirty="0">
                <a:solidFill>
                  <a:srgbClr val="FF0000"/>
                </a:solidFill>
              </a:rPr>
              <a:t>d</a:t>
            </a:r>
            <a:r>
              <a:rPr lang="en-US" sz="2000" b="0" dirty="0"/>
              <a:t>efinition </a:t>
            </a:r>
            <a:r>
              <a:rPr lang="en-US" sz="2000" b="0" u="sng" dirty="0">
                <a:solidFill>
                  <a:srgbClr val="FF0000"/>
                </a:solidFill>
              </a:rPr>
              <a:t>t</a:t>
            </a:r>
            <a:r>
              <a:rPr lang="en-US" sz="2000" b="0" dirty="0"/>
              <a:t>erm</a:t>
            </a:r>
            <a:endParaRPr lang="en-US" altLang="zh-CN" sz="2000" b="0" dirty="0"/>
          </a:p>
          <a:p>
            <a:pPr lvl="1">
              <a:buNone/>
            </a:pPr>
            <a:r>
              <a:rPr lang="en-US" altLang="zh-CN" sz="2000" b="0" dirty="0" err="1"/>
              <a:t>dd</a:t>
            </a:r>
            <a:r>
              <a:rPr lang="zh-CN" altLang="en-US" sz="2000" b="0" dirty="0"/>
              <a:t>标记的由来</a:t>
            </a:r>
            <a:r>
              <a:rPr lang="en-US" altLang="zh-CN" sz="2000" b="0" dirty="0"/>
              <a:t>: </a:t>
            </a:r>
            <a:r>
              <a:rPr lang="en-US" sz="2000" b="0" u="sng" dirty="0">
                <a:solidFill>
                  <a:srgbClr val="FF0000"/>
                </a:solidFill>
              </a:rPr>
              <a:t>d</a:t>
            </a:r>
            <a:r>
              <a:rPr lang="en-US" sz="2000" b="0" dirty="0"/>
              <a:t>efinition </a:t>
            </a:r>
            <a:r>
              <a:rPr lang="en-US" sz="2000" b="0" u="sng" dirty="0">
                <a:solidFill>
                  <a:srgbClr val="FF0000"/>
                </a:solidFill>
              </a:rPr>
              <a:t>d</a:t>
            </a:r>
            <a:r>
              <a:rPr lang="en-US" sz="2000" b="0" dirty="0"/>
              <a:t>escription</a:t>
            </a:r>
            <a:endParaRPr lang="en-US" altLang="zh-CN" sz="2000" b="0" dirty="0"/>
          </a:p>
        </p:txBody>
      </p:sp>
    </p:spTree>
    <p:custDataLst>
      <p:tags r:id="rId1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定义列表案例 </a:t>
            </a:r>
          </a:p>
        </p:txBody>
      </p:sp>
      <p:sp>
        <p:nvSpPr>
          <p:cNvPr id="4" name="矩形 3"/>
          <p:cNvSpPr/>
          <p:nvPr/>
        </p:nvSpPr>
        <p:spPr>
          <a:xfrm>
            <a:off x="608965" y="1337310"/>
            <a:ext cx="6013450" cy="2584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&lt;h4&gt;</a:t>
            </a:r>
            <a:r>
              <a:rPr lang="zh-CN" altLang="en-US" b="0" dirty="0">
                <a:latin typeface="Verdana" panose="020B0604030504040204" pitchFamily="34" charset="0"/>
                <a:cs typeface="Verdana" panose="020B0604030504040204" pitchFamily="34" charset="0"/>
              </a:rPr>
              <a:t>定义列表展示联系人信息</a:t>
            </a: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&lt;/h4&gt;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&lt;dl&gt;</a:t>
            </a:r>
          </a:p>
          <a:p>
            <a:pPr indent="266700"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</a:t>
            </a:r>
            <a:r>
              <a:rPr lang="en-US" altLang="zh-CN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dt</a:t>
            </a: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</a:t>
            </a:r>
            <a:r>
              <a:rPr lang="zh-CN" altLang="en-US" b="0" dirty="0">
                <a:latin typeface="Verdana" panose="020B0604030504040204" pitchFamily="34" charset="0"/>
                <a:cs typeface="Verdana" panose="020B0604030504040204" pitchFamily="34" charset="0"/>
              </a:rPr>
              <a:t>联系人</a:t>
            </a: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:&lt;/</a:t>
            </a:r>
            <a:r>
              <a:rPr lang="en-US" altLang="zh-CN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dt</a:t>
            </a: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</a:t>
            </a:r>
          </a:p>
          <a:p>
            <a:pPr indent="266700"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&lt;</a:t>
            </a:r>
            <a:r>
              <a:rPr lang="en-US" altLang="zh-CN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dd</a:t>
            </a: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</a:t>
            </a:r>
            <a:r>
              <a:rPr lang="zh-CN" altLang="en-US" b="0" dirty="0">
                <a:latin typeface="Verdana" panose="020B0604030504040204" pitchFamily="34" charset="0"/>
                <a:cs typeface="Verdana" panose="020B0604030504040204" pitchFamily="34" charset="0"/>
              </a:rPr>
              <a:t>张有为之</a:t>
            </a: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</a:t>
            </a:r>
            <a:r>
              <a:rPr lang="en-US" altLang="zh-CN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dd</a:t>
            </a: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</a:t>
            </a:r>
          </a:p>
          <a:p>
            <a:pPr indent="266700"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</a:t>
            </a:r>
            <a:r>
              <a:rPr lang="en-US" altLang="zh-CN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dt</a:t>
            </a: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</a:t>
            </a:r>
            <a:r>
              <a:rPr lang="zh-CN" altLang="en-US" b="0" dirty="0">
                <a:latin typeface="Verdana" panose="020B0604030504040204" pitchFamily="34" charset="0"/>
                <a:cs typeface="Verdana" panose="020B0604030504040204" pitchFamily="34" charset="0"/>
              </a:rPr>
              <a:t>联系地址</a:t>
            </a: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:&lt;/</a:t>
            </a:r>
            <a:r>
              <a:rPr lang="en-US" altLang="zh-CN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dt</a:t>
            </a: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</a:t>
            </a:r>
          </a:p>
          <a:p>
            <a:pPr indent="266700"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&lt;</a:t>
            </a:r>
            <a:r>
              <a:rPr lang="en-US" altLang="zh-CN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dd</a:t>
            </a: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</a:t>
            </a:r>
            <a:r>
              <a:rPr lang="zh-CN" altLang="en-US" b="0" dirty="0">
                <a:latin typeface="Verdana" panose="020B0604030504040204" pitchFamily="34" charset="0"/>
                <a:cs typeface="Verdana" panose="020B0604030504040204" pitchFamily="34" charset="0"/>
              </a:rPr>
              <a:t>上海市复旦大学计算机系</a:t>
            </a: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10</a:t>
            </a:r>
            <a:r>
              <a:rPr lang="zh-CN" altLang="en-US" b="0" dirty="0">
                <a:latin typeface="Verdana" panose="020B0604030504040204" pitchFamily="34" charset="0"/>
                <a:cs typeface="Verdana" panose="020B0604030504040204" pitchFamily="34" charset="0"/>
              </a:rPr>
              <a:t>计算机班</a:t>
            </a: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</a:t>
            </a:r>
            <a:r>
              <a:rPr lang="en-US" altLang="zh-CN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dd</a:t>
            </a: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</a:t>
            </a:r>
          </a:p>
          <a:p>
            <a:pPr indent="266700"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</a:t>
            </a:r>
            <a:r>
              <a:rPr lang="en-US" altLang="zh-CN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dt</a:t>
            </a: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</a:t>
            </a:r>
            <a:r>
              <a:rPr lang="zh-CN" altLang="en-US" b="0" dirty="0">
                <a:latin typeface="Verdana" panose="020B0604030504040204" pitchFamily="34" charset="0"/>
                <a:cs typeface="Verdana" panose="020B0604030504040204" pitchFamily="34" charset="0"/>
              </a:rPr>
              <a:t>邮政编码</a:t>
            </a: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:&lt;/</a:t>
            </a:r>
            <a:r>
              <a:rPr lang="en-US" altLang="zh-CN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dt</a:t>
            </a: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</a:t>
            </a:r>
          </a:p>
          <a:p>
            <a:pPr indent="266700"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&lt;</a:t>
            </a:r>
            <a:r>
              <a:rPr lang="en-US" altLang="zh-CN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dd</a:t>
            </a: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&gt;200433&lt;/</a:t>
            </a:r>
            <a:r>
              <a:rPr lang="en-US" altLang="zh-CN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dd</a:t>
            </a: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&lt;/dl&gt;</a:t>
            </a:r>
          </a:p>
        </p:txBody>
      </p:sp>
      <p:pic>
        <p:nvPicPr>
          <p:cNvPr id="119817" name="Picture 9"/>
          <p:cNvPicPr>
            <a:picLocks noChangeAspect="1" noChangeArrowheads="1"/>
          </p:cNvPicPr>
          <p:nvPr/>
        </p:nvPicPr>
        <p:blipFill>
          <a:blip r:embed="rId3" cstate="print"/>
          <a:srcRect t="19732"/>
          <a:stretch>
            <a:fillRect/>
          </a:stretch>
        </p:blipFill>
        <p:spPr bwMode="auto">
          <a:xfrm>
            <a:off x="3314700" y="3921760"/>
            <a:ext cx="4917440" cy="2085340"/>
          </a:xfrm>
          <a:prstGeom prst="rect">
            <a:avLst/>
          </a:prstGeom>
          <a:noFill/>
          <a:ln w="25400" cap="flat" cmpd="sng" algn="ctr">
            <a:noFill/>
            <a:prstDash val="solid"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</p:pic>
    </p:spTree>
    <p:custDataLst>
      <p:tags r:id="rId1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定义列表案例 </a:t>
            </a:r>
          </a:p>
        </p:txBody>
      </p:sp>
      <p:sp>
        <p:nvSpPr>
          <p:cNvPr id="4" name="矩形 3"/>
          <p:cNvSpPr/>
          <p:nvPr/>
        </p:nvSpPr>
        <p:spPr>
          <a:xfrm>
            <a:off x="1294765" y="4848225"/>
            <a:ext cx="5849620" cy="1537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600" b="0" dirty="0">
                <a:latin typeface="Verdana" panose="020B0604030504040204" pitchFamily="34" charset="0"/>
                <a:cs typeface="Verdana" panose="020B0604030504040204" pitchFamily="34" charset="0"/>
              </a:rPr>
              <a:t>&lt;dl&gt;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600" b="0" dirty="0">
                <a:latin typeface="Verdana" panose="020B0604030504040204" pitchFamily="34" charset="0"/>
                <a:cs typeface="Verdana" panose="020B0604030504040204" pitchFamily="34" charset="0"/>
              </a:rPr>
              <a:t>  &lt;dt&gt;A&lt;/dt&gt;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600" b="0" dirty="0">
                <a:latin typeface="Verdana" panose="020B0604030504040204" pitchFamily="34" charset="0"/>
                <a:cs typeface="Verdana" panose="020B0604030504040204" pitchFamily="34" charset="0"/>
              </a:rPr>
              <a:t>    &lt;dd&gt;阿坝 阿拉善盟 阿里 安康 安庆 安顺 安阳 鞍山&lt;/dd&gt;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600" b="0" dirty="0">
                <a:latin typeface="Verdana" panose="020B0604030504040204" pitchFamily="34" charset="0"/>
                <a:cs typeface="Verdana" panose="020B0604030504040204" pitchFamily="34" charset="0"/>
              </a:rPr>
              <a:t>&lt;/dl&gt;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760" y="1011555"/>
            <a:ext cx="5329555" cy="347662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定义列表案例 </a:t>
            </a:r>
          </a:p>
        </p:txBody>
      </p:sp>
      <p:sp>
        <p:nvSpPr>
          <p:cNvPr id="4" name="矩形 3"/>
          <p:cNvSpPr/>
          <p:nvPr/>
        </p:nvSpPr>
        <p:spPr>
          <a:xfrm>
            <a:off x="603885" y="2105025"/>
            <a:ext cx="3182620" cy="276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600" b="0" dirty="0">
                <a:latin typeface="Verdana" panose="020B0604030504040204" pitchFamily="34" charset="0"/>
                <a:cs typeface="Verdana" panose="020B0604030504040204" pitchFamily="34" charset="0"/>
              </a:rPr>
              <a:t>&lt;dl class="fore1"&gt;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600" b="0" dirty="0">
                <a:latin typeface="Verdana" panose="020B0604030504040204" pitchFamily="34" charset="0"/>
                <a:cs typeface="Verdana" panose="020B0604030504040204" pitchFamily="34" charset="0"/>
              </a:rPr>
              <a:t>  &lt;dt&gt;购物指南&lt;/dt&gt;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600" b="0" dirty="0">
                <a:latin typeface="Verdana" panose="020B0604030504040204" pitchFamily="34" charset="0"/>
                <a:cs typeface="Verdana" panose="020B0604030504040204" pitchFamily="34" charset="0"/>
              </a:rPr>
              <a:t>    &lt;dd&gt;购物流程&lt;/dd&gt;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600" b="0" dirty="0">
                <a:latin typeface="Verdana" panose="020B0604030504040204" pitchFamily="34" charset="0"/>
                <a:cs typeface="Verdana" panose="020B0604030504040204" pitchFamily="34" charset="0"/>
              </a:rPr>
              <a:t>    &lt;dd&gt;会员介绍&lt;/dd&gt;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600" b="0" dirty="0">
                <a:latin typeface="Verdana" panose="020B0604030504040204" pitchFamily="34" charset="0"/>
                <a:cs typeface="Verdana" panose="020B0604030504040204" pitchFamily="34" charset="0"/>
              </a:rPr>
              <a:t>    &lt;dd&gt;生活旅行/团购&lt;/dd&gt;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600" b="0" dirty="0">
                <a:latin typeface="Verdana" panose="020B0604030504040204" pitchFamily="34" charset="0"/>
                <a:cs typeface="Verdana" panose="020B0604030504040204" pitchFamily="34" charset="0"/>
              </a:rPr>
              <a:t>    &lt;dd&gt;常见问题&lt;/dd&gt;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600" b="0" dirty="0">
                <a:latin typeface="Verdana" panose="020B0604030504040204" pitchFamily="34" charset="0"/>
                <a:cs typeface="Verdana" panose="020B0604030504040204" pitchFamily="34" charset="0"/>
              </a:rPr>
              <a:t>    &lt;dd&gt;大家电&lt;/dd&gt;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600" b="0" dirty="0">
                <a:latin typeface="Verdana" panose="020B0604030504040204" pitchFamily="34" charset="0"/>
                <a:cs typeface="Verdana" panose="020B0604030504040204" pitchFamily="34" charset="0"/>
              </a:rPr>
              <a:t>    &lt;dd&gt;联系客服&lt;/dd&gt;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600" b="0" dirty="0">
                <a:latin typeface="Verdana" panose="020B0604030504040204" pitchFamily="34" charset="0"/>
                <a:cs typeface="Verdana" panose="020B0604030504040204" pitchFamily="34" charset="0"/>
              </a:rPr>
              <a:t>&lt;/dl&gt;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600" b="0" dirty="0">
                <a:latin typeface="Verdana" panose="020B0604030504040204" pitchFamily="34" charset="0"/>
                <a:cs typeface="Verdana" panose="020B0604030504040204" pitchFamily="34" charset="0"/>
              </a:rPr>
              <a:t>&lt;dl class="fore2"&gt;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b="0" dirty="0">
                <a:latin typeface="Verdana" panose="020B0604030504040204" pitchFamily="34" charset="0"/>
                <a:cs typeface="Verdana" panose="020B0604030504040204" pitchFamily="34" charset="0"/>
              </a:rPr>
              <a:t>……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700" y="2105025"/>
            <a:ext cx="3492500" cy="264795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超链接概述 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idx="1"/>
          </p:nvPr>
        </p:nvSpPr>
        <p:spPr>
          <a:xfrm>
            <a:off x="502285" y="1291511"/>
            <a:ext cx="8397875" cy="1684734"/>
          </a:xfrm>
        </p:spPr>
        <p:txBody>
          <a:bodyPr>
            <a:normAutofit/>
          </a:bodyPr>
          <a:lstStyle/>
          <a:p>
            <a:pPr marL="0" indent="0" algn="just">
              <a:spcBef>
                <a:spcPct val="20000"/>
              </a:spcBef>
            </a:pPr>
            <a:r>
              <a:rPr lang="zh-CN" altLang="en-US" sz="1600" u="sng" dirty="0"/>
              <a:t>超链接</a:t>
            </a:r>
            <a:r>
              <a:rPr lang="zh-CN" altLang="en-US" sz="1600" dirty="0"/>
              <a:t>是指从一个网页指向一个</a:t>
            </a:r>
            <a:r>
              <a:rPr lang="zh-CN" altLang="en-US" sz="1600" u="sng" dirty="0"/>
              <a:t>目标</a:t>
            </a:r>
            <a:r>
              <a:rPr lang="zh-CN" altLang="en-US" sz="1600" dirty="0"/>
              <a:t>的</a:t>
            </a:r>
            <a:r>
              <a:rPr lang="zh-CN" altLang="en-US" sz="1600" u="sng" dirty="0">
                <a:solidFill>
                  <a:srgbClr val="FF0000"/>
                </a:solidFill>
              </a:rPr>
              <a:t>连接关系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pPr marL="0" indent="0" algn="just">
              <a:spcBef>
                <a:spcPct val="20000"/>
              </a:spcBef>
              <a:buNone/>
            </a:pPr>
            <a:r>
              <a:rPr lang="en-US" altLang="zh-CN" sz="1600" dirty="0"/>
              <a:t>       </a:t>
            </a:r>
            <a:r>
              <a:rPr lang="zh-CN" altLang="en-US" sz="1600" dirty="0"/>
              <a:t>这个</a:t>
            </a:r>
            <a:r>
              <a:rPr lang="zh-CN" altLang="en-US" sz="1600" u="sng" dirty="0">
                <a:solidFill>
                  <a:srgbClr val="FF0000"/>
                </a:solidFill>
              </a:rPr>
              <a:t>目标</a:t>
            </a:r>
            <a:r>
              <a:rPr lang="zh-CN" altLang="en-US" sz="1600" dirty="0"/>
              <a:t>可以是：一个网页、图片、一个电子邮件地址、一个文件或是一个应用程序。</a:t>
            </a:r>
          </a:p>
          <a:p>
            <a:pPr marL="0" indent="0" algn="just">
              <a:spcBef>
                <a:spcPct val="20000"/>
              </a:spcBef>
              <a:buNone/>
            </a:pPr>
            <a:r>
              <a:rPr lang="zh-CN" altLang="en-US" sz="1600" dirty="0"/>
              <a:t>网页中</a:t>
            </a:r>
            <a:r>
              <a:rPr lang="zh-CN" altLang="en-US" sz="1600" u="sng" dirty="0">
                <a:solidFill>
                  <a:srgbClr val="FF0000"/>
                </a:solidFill>
              </a:rPr>
              <a:t>超链接的对象</a:t>
            </a:r>
            <a:r>
              <a:rPr lang="zh-CN" altLang="en-US" sz="1600" dirty="0"/>
              <a:t>是一段</a:t>
            </a:r>
            <a:r>
              <a:rPr lang="zh-CN" altLang="en-US" sz="1600" u="sng" dirty="0">
                <a:solidFill>
                  <a:srgbClr val="FF0000"/>
                </a:solidFill>
              </a:rPr>
              <a:t>文本</a:t>
            </a:r>
            <a:r>
              <a:rPr lang="zh-CN" altLang="en-US" sz="1600" dirty="0"/>
              <a:t>或者是一个</a:t>
            </a:r>
            <a:r>
              <a:rPr lang="zh-CN" altLang="en-US" sz="1600" u="sng" dirty="0">
                <a:solidFill>
                  <a:srgbClr val="FF0000"/>
                </a:solidFill>
              </a:rPr>
              <a:t>图片</a:t>
            </a:r>
            <a:r>
              <a:rPr lang="zh-CN" altLang="en-US" sz="1600" dirty="0"/>
              <a:t>。</a:t>
            </a:r>
            <a:r>
              <a:rPr lang="zh-CN" altLang="en-US" dirty="0"/>
              <a:t> 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37515" y="3507740"/>
            <a:ext cx="4145915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dirty="0"/>
              <a:t>    超链接在</a:t>
            </a:r>
            <a:r>
              <a:rPr lang="zh-CN" altLang="en-US" u="sng" dirty="0">
                <a:solidFill>
                  <a:srgbClr val="FF0000"/>
                </a:solidFill>
              </a:rPr>
              <a:t>本质上</a:t>
            </a:r>
            <a:r>
              <a:rPr lang="zh-CN" altLang="en-US" dirty="0"/>
              <a:t>属于一个网页的一部分，它是一种允许我们同其他网页或站点之间进行</a:t>
            </a:r>
            <a:r>
              <a:rPr lang="zh-CN" altLang="en-US" u="sng" dirty="0">
                <a:solidFill>
                  <a:srgbClr val="FF0000"/>
                </a:solidFill>
              </a:rPr>
              <a:t>连接</a:t>
            </a:r>
            <a:r>
              <a:rPr lang="zh-CN" altLang="en-US" dirty="0"/>
              <a:t>的</a:t>
            </a:r>
            <a:r>
              <a:rPr lang="zh-CN" altLang="en-US" u="sng" dirty="0">
                <a:solidFill>
                  <a:srgbClr val="FF0000"/>
                </a:solidFill>
              </a:rPr>
              <a:t>元素</a:t>
            </a:r>
            <a:r>
              <a:rPr lang="zh-CN" altLang="en-US" dirty="0"/>
              <a:t>。各个网页链接在一起后，才能真正构成一个网站。 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049270"/>
            <a:ext cx="3716020" cy="239077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超链接语法、路径及分类</a:t>
            </a:r>
            <a:endParaRPr lang="zh-CN" altLang="en-US" dirty="0"/>
          </a:p>
        </p:txBody>
      </p:sp>
      <p:sp>
        <p:nvSpPr>
          <p:cNvPr id="98307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209675"/>
            <a:ext cx="7891145" cy="4953000"/>
          </a:xfrm>
        </p:spPr>
        <p:txBody>
          <a:bodyPr>
            <a:normAutofit fontScale="90000"/>
          </a:bodyPr>
          <a:lstStyle/>
          <a:p>
            <a:pPr>
              <a:buNone/>
            </a:pPr>
            <a:r>
              <a:rPr lang="zh-CN" altLang="en-US" sz="1800"/>
              <a:t>超链接</a:t>
            </a:r>
            <a:r>
              <a:rPr lang="en-US" altLang="zh-CN" sz="1800"/>
              <a:t>a (Anchor </a:t>
            </a:r>
            <a:r>
              <a:rPr lang="zh-CN" altLang="en-US" sz="1800"/>
              <a:t>锚</a:t>
            </a:r>
            <a:r>
              <a:rPr lang="en-US" altLang="zh-CN" sz="1800"/>
              <a:t>)</a:t>
            </a:r>
            <a:r>
              <a:rPr lang="zh-CN" altLang="en-US" sz="1800"/>
              <a:t>标记语法 </a:t>
            </a:r>
            <a:endParaRPr lang="en-US" altLang="zh-CN" sz="1800"/>
          </a:p>
          <a:p>
            <a:pPr>
              <a:lnSpc>
                <a:spcPct val="90000"/>
              </a:lnSpc>
            </a:pPr>
            <a:r>
              <a:rPr lang="zh-CN" altLang="en-US" sz="1800"/>
              <a:t>基本语法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1800" dirty="0">
                <a:solidFill>
                  <a:srgbClr val="FF0000"/>
                </a:solidFill>
              </a:rPr>
              <a:t> &lt;a </a:t>
            </a:r>
            <a:r>
              <a:rPr lang="en-US" altLang="zh-CN" sz="1800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href</a:t>
            </a:r>
            <a:r>
              <a:rPr lang="en-US" altLang="zh-CN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="</a:t>
            </a:r>
            <a:r>
              <a:rPr lang="en-US" altLang="zh-CN" sz="1800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url</a:t>
            </a:r>
            <a:r>
              <a:rPr lang="en-US" altLang="zh-CN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  name="" title=""</a:t>
            </a:r>
            <a:r>
              <a:rPr lang="zh-CN" altLang="en-US" sz="1800" dirty="0">
                <a:solidFill>
                  <a:srgbClr val="FF0000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target=""&gt;</a:t>
            </a:r>
            <a:r>
              <a:rPr lang="zh-CN" altLang="en-US" sz="1800" dirty="0">
                <a:solidFill>
                  <a:srgbClr val="FF0000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超链接标题</a:t>
            </a:r>
            <a:r>
              <a:rPr lang="en-US" altLang="zh-CN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&lt;/a</a:t>
            </a:r>
            <a:r>
              <a:rPr lang="en-US" altLang="zh-CN" sz="1800" dirty="0">
                <a:solidFill>
                  <a:srgbClr val="FF0000"/>
                </a:solidFill>
              </a:rPr>
              <a:t>&gt;</a:t>
            </a:r>
          </a:p>
          <a:p>
            <a:pPr>
              <a:lnSpc>
                <a:spcPct val="90000"/>
              </a:lnSpc>
            </a:pPr>
            <a:endParaRPr lang="zh-CN" altLang="en-US" sz="1800" dirty="0"/>
          </a:p>
          <a:p>
            <a:pPr>
              <a:lnSpc>
                <a:spcPct val="90000"/>
              </a:lnSpc>
            </a:pPr>
            <a:r>
              <a:rPr lang="zh-CN" altLang="en-US" sz="1800" dirty="0"/>
              <a:t>语法说明</a:t>
            </a:r>
          </a:p>
          <a:p>
            <a:pPr lvl="1">
              <a:lnSpc>
                <a:spcPct val="90000"/>
              </a:lnSpc>
              <a:buNone/>
            </a:pPr>
            <a:r>
              <a:rPr lang="zh-CN" altLang="en-US" sz="2000" b="0" dirty="0"/>
              <a:t>超链接由目的地址、链接标题、打开方式等三部分组成。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2000" b="0" dirty="0"/>
              <a:t>1.href</a:t>
            </a:r>
            <a:r>
              <a:rPr lang="en-US" altLang="zh-CN" sz="2000" b="0" dirty="0">
                <a:solidFill>
                  <a:schemeClr val="accent1"/>
                </a:solidFill>
              </a:rPr>
              <a:t> </a:t>
            </a:r>
            <a:r>
              <a:rPr lang="en-US" altLang="zh-CN" sz="2000" b="0" dirty="0"/>
              <a:t>（</a:t>
            </a:r>
            <a:r>
              <a:rPr lang="en-US" altLang="zh-CN" sz="2000" b="0" dirty="0" err="1"/>
              <a:t>href</a:t>
            </a:r>
            <a:r>
              <a:rPr lang="en-US" altLang="zh-CN" sz="2000" b="0" dirty="0"/>
              <a:t>-Hypertext  reference）</a:t>
            </a:r>
            <a:r>
              <a:rPr lang="zh-CN" altLang="en-US" sz="2000" b="0" dirty="0"/>
              <a:t>：链接指向的目标文件。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2000" b="0" dirty="0"/>
              <a:t>2.title</a:t>
            </a:r>
            <a:r>
              <a:rPr lang="zh-CN" altLang="en-US" sz="2000" b="0" dirty="0"/>
              <a:t>：指向链接的提示信息</a:t>
            </a:r>
            <a:r>
              <a:rPr lang="en-US" altLang="zh-CN" sz="2000" b="0" dirty="0"/>
              <a:t>。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2000" b="0" dirty="0"/>
              <a:t>3.</a:t>
            </a:r>
            <a:r>
              <a:rPr lang="en-US" altLang="zh-CN" sz="2000" b="0" dirty="0">
                <a:solidFill>
                  <a:srgbClr val="FF0000"/>
                </a:solidFill>
              </a:rPr>
              <a:t>target</a:t>
            </a:r>
            <a:r>
              <a:rPr lang="zh-CN" altLang="en-US" sz="2000" b="0" dirty="0"/>
              <a:t>：指定打开的目标窗口 。有</a:t>
            </a:r>
            <a:r>
              <a:rPr lang="en-US" altLang="zh-CN" sz="2000" b="0" dirty="0"/>
              <a:t>5 </a:t>
            </a:r>
            <a:r>
              <a:rPr lang="zh-CN" altLang="en-US" sz="2000" b="0" dirty="0"/>
              <a:t>种取值：</a:t>
            </a:r>
            <a:r>
              <a:rPr lang="zh-CN" altLang="en-US" sz="2000" dirty="0"/>
              <a:t> </a:t>
            </a:r>
          </a:p>
          <a:p>
            <a:pPr lvl="5">
              <a:lnSpc>
                <a:spcPct val="90000"/>
              </a:lnSpc>
              <a:buNone/>
            </a:pPr>
            <a:r>
              <a:rPr lang="en-US" altLang="zh-CN" sz="2250" dirty="0"/>
              <a:t>		</a:t>
            </a:r>
            <a:r>
              <a:rPr lang="en-US" altLang="zh-CN" sz="1800" b="0" dirty="0"/>
              <a:t>_parent -</a:t>
            </a:r>
            <a:r>
              <a:rPr lang="zh-CN" altLang="en-US" sz="1800" b="0" dirty="0"/>
              <a:t>上一级窗口；</a:t>
            </a:r>
          </a:p>
          <a:p>
            <a:pPr lvl="5">
              <a:lnSpc>
                <a:spcPct val="90000"/>
              </a:lnSpc>
              <a:buNone/>
            </a:pPr>
            <a:r>
              <a:rPr lang="en-US" altLang="zh-CN" sz="1800" b="0" dirty="0"/>
              <a:t>		_blank-</a:t>
            </a:r>
            <a:r>
              <a:rPr lang="zh-CN" altLang="en-US" sz="1800" b="0" dirty="0"/>
              <a:t>新窗口； </a:t>
            </a:r>
          </a:p>
          <a:p>
            <a:pPr lvl="5">
              <a:lnSpc>
                <a:spcPct val="90000"/>
              </a:lnSpc>
              <a:buNone/>
            </a:pPr>
            <a:r>
              <a:rPr lang="en-US" altLang="zh-CN" sz="1800" b="0" dirty="0"/>
              <a:t>		</a:t>
            </a:r>
            <a:r>
              <a:rPr lang="en-US" altLang="zh-CN" sz="1800" dirty="0"/>
              <a:t>_self - </a:t>
            </a:r>
            <a:r>
              <a:rPr lang="zh-CN" altLang="en-US" sz="1800" dirty="0"/>
              <a:t>同一窗口，默认值；</a:t>
            </a:r>
          </a:p>
          <a:p>
            <a:pPr lvl="5">
              <a:lnSpc>
                <a:spcPct val="90000"/>
              </a:lnSpc>
              <a:buNone/>
            </a:pPr>
            <a:r>
              <a:rPr lang="en-US" altLang="zh-CN" sz="1800" dirty="0"/>
              <a:t>		_top - </a:t>
            </a:r>
            <a:r>
              <a:rPr lang="zh-CN" altLang="en-US" sz="1800" dirty="0"/>
              <a:t>整个窗口打开；</a:t>
            </a:r>
          </a:p>
          <a:p>
            <a:pPr lvl="5">
              <a:lnSpc>
                <a:spcPct val="90000"/>
              </a:lnSpc>
              <a:buNone/>
            </a:pPr>
            <a:r>
              <a:rPr lang="en-US" altLang="zh-CN" sz="1800" dirty="0">
                <a:solidFill>
                  <a:srgbClr val="FF0000"/>
                </a:solidFill>
              </a:rPr>
              <a:t>      </a:t>
            </a:r>
            <a:r>
              <a:rPr lang="en-US" altLang="zh-CN" sz="1800" dirty="0" err="1">
                <a:solidFill>
                  <a:schemeClr val="tx1"/>
                </a:solidFill>
              </a:rPr>
              <a:t>framename</a:t>
            </a:r>
            <a:r>
              <a:rPr lang="en-US" altLang="zh-CN" sz="1800" dirty="0">
                <a:solidFill>
                  <a:schemeClr val="tx1"/>
                </a:solidFill>
              </a:rPr>
              <a:t>-</a:t>
            </a:r>
            <a:r>
              <a:rPr lang="zh-CN" altLang="en-US" sz="1800" dirty="0"/>
              <a:t>框架或浮动框架名</a:t>
            </a:r>
          </a:p>
          <a:p>
            <a:pPr marL="2362200" lvl="4" indent="-533400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zh-CN" alt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sym typeface="+mn-ea"/>
              </a:rPr>
              <a:t>超链接案例</a:t>
            </a:r>
            <a:endParaRPr lang="zh-CN" altLang="en-US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685800" y="1676400"/>
            <a:ext cx="5333999" cy="3810000"/>
          </a:xfrm>
          <a:prstGeom prst="rect">
            <a:avLst/>
          </a:prstGeom>
        </p:spPr>
        <p:txBody>
          <a:bodyPr/>
          <a:lstStyle/>
          <a:p>
            <a:pPr marL="182880" marR="0" lvl="0" indent="-182880" algn="l" defTabSz="1158875" rtl="0" eaLnBrk="0" fontAlgn="base" latinLnBrk="0" hangingPunct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黑体" panose="02010609060101010101" charset="-122"/>
              <a:cs typeface="Verdana" panose="020B060403050404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65860" y="4635500"/>
            <a:ext cx="6919595" cy="1076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600" dirty="0"/>
              <a:t> &lt;li class="news-list" style="line-height:24px"&gt;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600" dirty="0"/>
              <a:t>    &lt;a href="info/1015/7081.htm" target="_blank" </a:t>
            </a:r>
            <a:r>
              <a:rPr lang="zh-CN" altLang="en-US" sz="1600" dirty="0">
                <a:solidFill>
                  <a:srgbClr val="FF0000"/>
                </a:solidFill>
              </a:rPr>
              <a:t>title</a:t>
            </a:r>
            <a:r>
              <a:rPr lang="zh-CN" altLang="en-US" sz="1600" dirty="0"/>
              <a:t>="荔园喜迎近万名新生入学"&gt;荔园喜迎近万名新生入学&lt;/a&gt;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600" dirty="0"/>
              <a:t>&lt;/li&gt;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0445" y="950595"/>
            <a:ext cx="3898900" cy="36195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超链接路径 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idx="1"/>
          </p:nvPr>
        </p:nvSpPr>
        <p:spPr>
          <a:xfrm>
            <a:off x="402590" y="1185545"/>
            <a:ext cx="8338185" cy="4989830"/>
          </a:xfrm>
        </p:spPr>
        <p:txBody>
          <a:bodyPr>
            <a:normAutofit fontScale="92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/>
              <a:t>超链接路径：</a:t>
            </a:r>
            <a:r>
              <a:rPr lang="zh-CN" altLang="en-US" sz="1800" dirty="0">
                <a:solidFill>
                  <a:srgbClr val="FF0000"/>
                </a:solidFill>
              </a:rPr>
              <a:t>绝对路径、相对路径</a:t>
            </a:r>
            <a:r>
              <a:rPr lang="zh-CN" altLang="en-US" sz="1800" dirty="0"/>
              <a:t>。 </a:t>
            </a:r>
          </a:p>
          <a:p>
            <a:pPr marL="0" indent="447675"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u="sng" dirty="0"/>
              <a:t>绝对路径</a:t>
            </a:r>
            <a:r>
              <a:rPr lang="zh-CN" altLang="en-US" sz="1800" dirty="0"/>
              <a:t>指文件的完整路径，</a:t>
            </a:r>
            <a:r>
              <a:rPr lang="zh-CN" altLang="zh-CN" sz="1800" dirty="0"/>
              <a:t>包括盘符或文件传输的协议</a:t>
            </a:r>
            <a:r>
              <a:rPr lang="en-US" altLang="zh-CN" sz="1800" dirty="0"/>
              <a:t>http</a:t>
            </a:r>
            <a:r>
              <a:rPr lang="zh-CN" altLang="zh-CN" sz="1800" dirty="0"/>
              <a:t>、</a:t>
            </a:r>
            <a:r>
              <a:rPr lang="en-US" altLang="zh-CN" sz="1800" dirty="0"/>
              <a:t>ftp</a:t>
            </a:r>
            <a:r>
              <a:rPr lang="zh-CN" altLang="zh-CN" sz="1800" dirty="0"/>
              <a:t>等，一般用于网站的外部链接。</a:t>
            </a:r>
            <a:r>
              <a:rPr lang="zh-CN" altLang="zh-CN" sz="1800" b="1" u="sng" dirty="0"/>
              <a:t>绝对路径</a:t>
            </a:r>
            <a:r>
              <a:rPr lang="zh-CN" altLang="zh-CN" sz="1800" dirty="0"/>
              <a:t>有</a:t>
            </a:r>
            <a:r>
              <a:rPr lang="en-US" altLang="zh-CN" sz="1800" dirty="0"/>
              <a:t>2</a:t>
            </a:r>
            <a:r>
              <a:rPr lang="zh-CN" altLang="zh-CN" sz="1800" dirty="0"/>
              <a:t>种</a:t>
            </a:r>
            <a:r>
              <a:rPr lang="zh-CN" altLang="en-US" sz="1800" dirty="0"/>
              <a:t>。</a:t>
            </a:r>
          </a:p>
          <a:p>
            <a:pPr marL="0" indent="447675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/>
              <a:t>  （</a:t>
            </a:r>
            <a:r>
              <a:rPr lang="en-US" altLang="zh-CN" sz="1800" dirty="0"/>
              <a:t>1）</a:t>
            </a:r>
            <a:r>
              <a:rPr lang="zh-CN" altLang="zh-CN" sz="1800" dirty="0"/>
              <a:t>从盘符开始定义的文件路径，如</a:t>
            </a:r>
            <a:r>
              <a:rPr lang="en-US" altLang="zh-CN" sz="1800" dirty="0"/>
              <a:t>file:///E:/web/index.html;</a:t>
            </a:r>
          </a:p>
          <a:p>
            <a:pPr marL="0" indent="447675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/>
              <a:t>  </a:t>
            </a:r>
            <a:r>
              <a:rPr lang="zh-CN" altLang="en-US" sz="1800" dirty="0"/>
              <a:t>（</a:t>
            </a:r>
            <a:r>
              <a:rPr lang="en-US" altLang="zh-CN" sz="1800" dirty="0"/>
              <a:t>2）</a:t>
            </a:r>
            <a:r>
              <a:rPr lang="zh-CN" altLang="zh-CN" sz="1800" dirty="0"/>
              <a:t>从协议开始定义的</a:t>
            </a:r>
            <a:r>
              <a:rPr lang="en-US" altLang="zh-CN" sz="1800" dirty="0"/>
              <a:t>URL</a:t>
            </a:r>
            <a:r>
              <a:rPr lang="zh-CN" altLang="zh-CN" sz="1800" dirty="0"/>
              <a:t>网址，例如</a:t>
            </a:r>
            <a:r>
              <a:rPr lang="en-US" altLang="zh-CN" sz="1800" dirty="0">
                <a:hlinkClick r:id="rId4"/>
              </a:rPr>
              <a:t>http://www.szu.edu.cn</a:t>
            </a:r>
            <a:r>
              <a:rPr lang="zh-CN" altLang="zh-CN" sz="1800" dirty="0"/>
              <a:t>。</a:t>
            </a:r>
          </a:p>
          <a:p>
            <a:pPr marL="0" indent="447675">
              <a:spcBef>
                <a:spcPts val="0"/>
              </a:spcBef>
              <a:spcAft>
                <a:spcPts val="0"/>
              </a:spcAft>
            </a:pPr>
            <a:endParaRPr lang="zh-CN" altLang="zh-CN" sz="1800" b="1" u="sng" dirty="0"/>
          </a:p>
          <a:p>
            <a:pPr marL="0" indent="447675">
              <a:spcBef>
                <a:spcPts val="0"/>
              </a:spcBef>
              <a:spcAft>
                <a:spcPts val="0"/>
              </a:spcAft>
            </a:pPr>
            <a:r>
              <a:rPr lang="zh-CN" altLang="zh-CN" sz="1800" b="1" u="sng" dirty="0"/>
              <a:t>相对路径</a:t>
            </a:r>
            <a:r>
              <a:rPr lang="zh-CN" altLang="zh-CN" sz="1800" dirty="0"/>
              <a:t>是指相对于当前文件的路径，从当前文件所在位置指向目的文件的路径。</a:t>
            </a:r>
            <a:r>
              <a:rPr lang="zh-CN" altLang="en-US" sz="1800" dirty="0"/>
              <a:t>例如</a:t>
            </a:r>
            <a:r>
              <a:rPr lang="en-US" altLang="zh-CN" sz="1800" dirty="0"/>
              <a:t> info/</a:t>
            </a:r>
            <a:r>
              <a:rPr lang="en-US" altLang="zh-CN" sz="1800" dirty="0" err="1"/>
              <a:t>1015/7101.html</a:t>
            </a:r>
            <a:r>
              <a:rPr lang="zh-CN" altLang="en-US" sz="1000" dirty="0"/>
              <a:t>。</a:t>
            </a:r>
            <a:endParaRPr lang="en-US" altLang="zh-CN" sz="1800" dirty="0"/>
          </a:p>
          <a:p>
            <a:pPr marL="0" indent="447675">
              <a:spcBef>
                <a:spcPts val="0"/>
              </a:spcBef>
              <a:spcAft>
                <a:spcPts val="0"/>
              </a:spcAft>
            </a:pPr>
            <a:endParaRPr lang="zh-CN" altLang="en-US" sz="1800" b="1" u="sng" dirty="0"/>
          </a:p>
          <a:p>
            <a:pPr marL="457200" lvl="1" indent="447675"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u="sng" dirty="0"/>
              <a:t>根路径</a:t>
            </a:r>
            <a:r>
              <a:rPr lang="zh-CN" altLang="en-US" sz="1800" dirty="0"/>
              <a:t>是</a:t>
            </a:r>
            <a:r>
              <a:rPr lang="zh-CN" altLang="zh-CN" sz="1800" dirty="0"/>
              <a:t>指从网站的最底层开始起，一般网站的根目录就是域名下对应的文件夹</a:t>
            </a:r>
            <a:r>
              <a:rPr lang="zh-CN" altLang="en-US" sz="1800" dirty="0"/>
              <a:t>。以一个斜杠</a:t>
            </a:r>
            <a:r>
              <a:rPr lang="en-US" altLang="zh-CN" sz="1800" dirty="0"/>
              <a:t>“</a:t>
            </a:r>
            <a:r>
              <a:rPr lang="en-US" altLang="zh-CN" sz="1800" dirty="0">
                <a:solidFill>
                  <a:srgbClr val="FF0000"/>
                </a:solidFill>
              </a:rPr>
              <a:t>/</a:t>
            </a:r>
            <a:r>
              <a:rPr lang="en-US" altLang="zh-CN" sz="1800" dirty="0"/>
              <a:t>”</a:t>
            </a:r>
            <a:r>
              <a:rPr lang="zh-CN" altLang="en-US" sz="1800" dirty="0"/>
              <a:t>开头，代表根目录，然后书写文件夹名，最后书写文件名。例如</a:t>
            </a:r>
            <a:r>
              <a:rPr lang="en-US" altLang="zh-CN" sz="1800" dirty="0"/>
              <a:t>/res/index.html</a:t>
            </a:r>
          </a:p>
          <a:p>
            <a:pPr marL="457200" lvl="1" indent="447675">
              <a:spcBef>
                <a:spcPts val="0"/>
              </a:spcBef>
              <a:spcAft>
                <a:spcPts val="0"/>
              </a:spcAft>
            </a:pPr>
            <a:endParaRPr sz="1800" dirty="0"/>
          </a:p>
          <a:p>
            <a:pPr marL="0" lvl="0" indent="447675">
              <a:spcBef>
                <a:spcPts val="0"/>
              </a:spcBef>
              <a:spcAft>
                <a:spcPts val="0"/>
              </a:spcAft>
            </a:pPr>
            <a:r>
              <a:rPr sz="1800" dirty="0"/>
              <a:t>路径中的</a:t>
            </a:r>
            <a:r>
              <a:rPr lang="en-US" altLang="zh-CN" sz="1800" dirty="0"/>
              <a:t>/</a:t>
            </a:r>
            <a:r>
              <a:rPr sz="1800" dirty="0"/>
              <a:t>与</a:t>
            </a:r>
            <a:r>
              <a:rPr lang="en-US" altLang="zh-CN" sz="1800" dirty="0"/>
              <a:t>\</a:t>
            </a:r>
          </a:p>
          <a:p>
            <a:pPr marL="457200" lvl="1" indent="447675"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/>
              <a:t>E:/web/index.htm</a:t>
            </a:r>
            <a:r>
              <a:rPr sz="1800" dirty="0"/>
              <a:t>与</a:t>
            </a:r>
            <a:r>
              <a:rPr lang="en-US" altLang="zh-CN" sz="1800" dirty="0"/>
              <a:t>E:\web\index.htm </a:t>
            </a:r>
          </a:p>
          <a:p>
            <a:pPr marL="457200" lvl="1" indent="447675"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/>
              <a:t>OS</a:t>
            </a:r>
            <a:r>
              <a:rPr sz="1800" dirty="0"/>
              <a:t>差异</a:t>
            </a:r>
          </a:p>
        </p:txBody>
      </p:sp>
    </p:spTree>
    <p:custDataLst>
      <p:tags r:id="rId1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超链接分类 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081405"/>
            <a:ext cx="8108950" cy="1123950"/>
          </a:xfrm>
        </p:spPr>
        <p:txBody>
          <a:bodyPr>
            <a:normAutofit/>
          </a:bodyPr>
          <a:lstStyle/>
          <a:p>
            <a:r>
              <a:rPr lang="zh-CN" altLang="en-US" sz="1600" b="0" dirty="0"/>
              <a:t>超链接可以分为</a:t>
            </a:r>
            <a:r>
              <a:rPr lang="zh-CN" altLang="en-US" sz="1600" b="0" u="sng" dirty="0">
                <a:solidFill>
                  <a:srgbClr val="FF0000"/>
                </a:solidFill>
              </a:rPr>
              <a:t>内部链接</a:t>
            </a:r>
            <a:r>
              <a:rPr lang="zh-CN" altLang="en-US" sz="1600" b="0" u="sng" dirty="0"/>
              <a:t>和</a:t>
            </a:r>
            <a:r>
              <a:rPr lang="zh-CN" altLang="en-US" sz="1600" b="0" u="sng" dirty="0">
                <a:solidFill>
                  <a:srgbClr val="FF0000"/>
                </a:solidFill>
              </a:rPr>
              <a:t>外部链接</a:t>
            </a:r>
            <a:r>
              <a:rPr lang="zh-CN" altLang="en-US" sz="1600" b="0" dirty="0"/>
              <a:t>两种。内部链接是指网站内部文件之间的链接，而外部链接是指网站内的文件链接到站点内容外的文件。</a:t>
            </a:r>
            <a:r>
              <a:rPr lang="zh-CN" altLang="en-US" b="0" dirty="0"/>
              <a:t> </a:t>
            </a:r>
            <a:endParaRPr lang="en-US" altLang="zh-CN" b="0" dirty="0"/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  <a:ea typeface="宋体" panose="02010600030101010101" pitchFamily="2" charset="-122"/>
              </a:rPr>
              <a:t>	</a:t>
            </a:r>
            <a:endParaRPr lang="zh-CN" altLang="en-US" sz="14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33400" y="3803194"/>
            <a:ext cx="8305800" cy="181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  <a:ea typeface="宋体" panose="02010600030101010101" pitchFamily="2" charset="-122"/>
              </a:rPr>
              <a:t>&lt;a href="http://www.uooc.net.cn" target=_blank&gt;&lt;img src="/images/uooc.png" border=0 title="UOOC优课联盟——课程平台"&gt;&lt;br&gt;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  <a:ea typeface="宋体" panose="02010600030101010101" pitchFamily="2" charset="-122"/>
              </a:rPr>
              <a:t>UOOC课程平台&lt;/a&gt;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4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  <a:ea typeface="宋体" panose="02010600030101010101" pitchFamily="2" charset="-122"/>
              </a:rPr>
              <a:t>&lt;a href="/v.asp?id=133" target=_blank&gt;&lt;img src="/images/index/szuoa2.png" border=0 title="欢迎安装深大OA移动版APP"&gt;&lt;BR&gt;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Verdana" panose="020B0604030504040204" pitchFamily="34" charset="0"/>
                <a:ea typeface="宋体" panose="02010600030101010101" pitchFamily="2" charset="-122"/>
              </a:rPr>
              <a:t>深大OA移动版&lt;/a&gt;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4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7155" y="2309495"/>
            <a:ext cx="3771900" cy="1143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超链接的应用 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251585"/>
            <a:ext cx="8057515" cy="48825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sz="1600" dirty="0"/>
              <a:t>创建</a:t>
            </a:r>
            <a:r>
              <a:rPr lang="en-US" altLang="zh-CN" sz="1600" dirty="0"/>
              <a:t>HTTP</a:t>
            </a:r>
            <a:r>
              <a:rPr lang="zh-CN" altLang="zh-CN" sz="1600" dirty="0"/>
              <a:t>文件下载超链接</a:t>
            </a:r>
            <a:endParaRPr lang="en-US" altLang="zh-CN" sz="1600" dirty="0"/>
          </a:p>
          <a:p>
            <a:pPr>
              <a:buNone/>
            </a:pPr>
            <a:r>
              <a:rPr lang="zh-CN" altLang="en-US" sz="1600" b="0" dirty="0"/>
              <a:t>  下载文件的链接指向文件所在的相对路径或绝对路径，文件类型：*</a:t>
            </a:r>
            <a:r>
              <a:rPr lang="en-US" altLang="zh-CN" sz="1600" b="0" dirty="0"/>
              <a:t>.doc/*.pdf/*.exe/*.rar</a:t>
            </a:r>
            <a:r>
              <a:rPr lang="zh-CN" altLang="en-US" sz="1600" b="0" dirty="0"/>
              <a:t>等</a:t>
            </a:r>
            <a:r>
              <a:rPr lang="zh-CN" altLang="en-US" b="0" dirty="0"/>
              <a:t>。 </a:t>
            </a:r>
          </a:p>
          <a:p>
            <a:r>
              <a:rPr lang="zh-CN" altLang="en-US" sz="1800" b="0" dirty="0"/>
              <a:t>基本语法：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&lt;a </a:t>
            </a:r>
            <a:r>
              <a:rPr lang="en-US" altLang="zh-CN" sz="1800" dirty="0" err="1">
                <a:solidFill>
                  <a:srgbClr val="FF0000"/>
                </a:solidFill>
                <a:ea typeface="宋体" panose="02010600030101010101" pitchFamily="2" charset="-122"/>
              </a:rPr>
              <a:t>href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=“</a:t>
            </a:r>
            <a:r>
              <a:rPr lang="en-US" altLang="zh-CN" sz="1800" dirty="0" err="1">
                <a:solidFill>
                  <a:srgbClr val="FF0000"/>
                </a:solidFill>
                <a:ea typeface="宋体" panose="02010600030101010101" pitchFamily="2" charset="-122"/>
              </a:rPr>
              <a:t>url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”&gt;</a:t>
            </a:r>
            <a:r>
              <a:rPr lang="zh-CN" altLang="en-US" sz="1800" dirty="0">
                <a:solidFill>
                  <a:srgbClr val="FF0000"/>
                </a:solidFill>
                <a:ea typeface="宋体" panose="02010600030101010101" pitchFamily="2" charset="-122"/>
              </a:rPr>
              <a:t>链接内容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&lt;/a&gt; </a:t>
            </a:r>
          </a:p>
          <a:p>
            <a:pPr>
              <a:buNone/>
            </a:pPr>
            <a:endParaRPr lang="en-US" altLang="zh-CN" sz="1600" dirty="0"/>
          </a:p>
          <a:p>
            <a:pPr>
              <a:buNone/>
            </a:pPr>
            <a:r>
              <a:rPr lang="zh-CN" altLang="zh-CN" sz="1600" dirty="0"/>
              <a:t>创建</a:t>
            </a:r>
            <a:r>
              <a:rPr lang="en-US" altLang="zh-CN" sz="1600" dirty="0"/>
              <a:t>FTP</a:t>
            </a:r>
            <a:r>
              <a:rPr lang="zh-CN" altLang="zh-CN" sz="1600" dirty="0"/>
              <a:t>站点访问超链接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/>
              <a:t>FTP</a:t>
            </a:r>
            <a:r>
              <a:rPr lang="zh-CN" altLang="en-US" sz="1600" dirty="0"/>
              <a:t>服务器链接和网页链接区别在于所用协议不同，浏览网页采用</a:t>
            </a:r>
            <a:r>
              <a:rPr lang="en-US" altLang="zh-CN" sz="1600" dirty="0"/>
              <a:t>http</a:t>
            </a:r>
            <a:r>
              <a:rPr lang="zh-CN" altLang="en-US" sz="1600" dirty="0"/>
              <a:t>协议，而</a:t>
            </a:r>
            <a:r>
              <a:rPr lang="en-US" altLang="zh-CN" sz="1600" dirty="0"/>
              <a:t>FTP</a:t>
            </a:r>
            <a:r>
              <a:rPr lang="zh-CN" altLang="en-US" sz="1600" dirty="0"/>
              <a:t>服务器采用</a:t>
            </a:r>
            <a:r>
              <a:rPr lang="en-US" altLang="zh-CN" sz="1600" dirty="0"/>
              <a:t>FTP</a:t>
            </a:r>
            <a:r>
              <a:rPr lang="zh-CN" altLang="en-US" sz="1600" dirty="0"/>
              <a:t>协议连接。</a:t>
            </a:r>
            <a:r>
              <a:rPr lang="zh-CN" altLang="en-US" dirty="0"/>
              <a:t> </a:t>
            </a:r>
          </a:p>
          <a:p>
            <a:r>
              <a:rPr lang="zh-CN" altLang="en-US" sz="1800" dirty="0"/>
              <a:t>基本语法 </a:t>
            </a:r>
            <a:r>
              <a:rPr lang="en-US" altLang="zh-CN" sz="1800" dirty="0">
                <a:solidFill>
                  <a:srgbClr val="FF0000"/>
                </a:solidFill>
              </a:rPr>
              <a:t>:&lt;a </a:t>
            </a:r>
            <a:r>
              <a:rPr lang="en-US" altLang="zh-CN" sz="1800" dirty="0" err="1">
                <a:solidFill>
                  <a:srgbClr val="FF0000"/>
                </a:solidFill>
              </a:rPr>
              <a:t>href</a:t>
            </a:r>
            <a:r>
              <a:rPr lang="en-US" altLang="zh-CN" sz="1800" dirty="0">
                <a:solidFill>
                  <a:srgbClr val="FF0000"/>
                </a:solidFill>
              </a:rPr>
              <a:t> = "ftp://</a:t>
            </a:r>
            <a:r>
              <a:rPr lang="zh-CN" altLang="en-US" sz="1800" dirty="0">
                <a:solidFill>
                  <a:srgbClr val="FF0000"/>
                </a:solidFill>
              </a:rPr>
              <a:t>服务器</a:t>
            </a:r>
            <a:r>
              <a:rPr lang="en-US" altLang="zh-CN" sz="1800" dirty="0">
                <a:solidFill>
                  <a:srgbClr val="FF0000"/>
                </a:solidFill>
              </a:rPr>
              <a:t>IP</a:t>
            </a:r>
            <a:r>
              <a:rPr lang="zh-CN" altLang="en-US" sz="1800" dirty="0">
                <a:solidFill>
                  <a:srgbClr val="FF0000"/>
                </a:solidFill>
              </a:rPr>
              <a:t>地址或域名</a:t>
            </a:r>
            <a:r>
              <a:rPr lang="en-US" altLang="zh-CN" sz="1800" dirty="0">
                <a:solidFill>
                  <a:srgbClr val="FF0000"/>
                </a:solidFill>
              </a:rPr>
              <a:t>"&gt;</a:t>
            </a:r>
            <a:r>
              <a:rPr lang="zh-CN" altLang="en-US" sz="1800" dirty="0">
                <a:solidFill>
                  <a:srgbClr val="FF0000"/>
                </a:solidFill>
              </a:rPr>
              <a:t>链接的文字</a:t>
            </a:r>
            <a:r>
              <a:rPr lang="en-US" altLang="zh-CN" sz="1800" dirty="0">
                <a:solidFill>
                  <a:srgbClr val="FF0000"/>
                </a:solidFill>
              </a:rPr>
              <a:t>&lt;/a&gt;</a:t>
            </a:r>
          </a:p>
          <a:p>
            <a:r>
              <a:rPr sz="1800" dirty="0">
                <a:ea typeface="宋体" panose="02010600030101010101" pitchFamily="2" charset="-122"/>
              </a:rPr>
              <a:t>浏览器从不支持</a:t>
            </a:r>
            <a:r>
              <a:rPr lang="en-US" altLang="zh-CN" sz="1800" dirty="0">
                <a:ea typeface="宋体" panose="02010600030101010101" pitchFamily="2" charset="-122"/>
              </a:rPr>
              <a:t>ftp</a:t>
            </a:r>
            <a:r>
              <a:rPr sz="1800" dirty="0">
                <a:ea typeface="宋体" panose="02010600030101010101" pitchFamily="2" charset="-122"/>
              </a:rPr>
              <a:t>到支持</a:t>
            </a:r>
            <a:r>
              <a:rPr lang="en-US" altLang="zh-CN" sz="1800" dirty="0">
                <a:ea typeface="宋体" panose="02010600030101010101" pitchFamily="2" charset="-122"/>
              </a:rPr>
              <a:t>ftp</a:t>
            </a:r>
            <a:r>
              <a:rPr sz="1800" dirty="0">
                <a:ea typeface="宋体" panose="02010600030101010101" pitchFamily="2" charset="-122"/>
              </a:rPr>
              <a:t>到逐渐废弃</a:t>
            </a:r>
            <a:r>
              <a:rPr lang="en-US" altLang="zh-CN" sz="1800" dirty="0">
                <a:ea typeface="宋体" panose="02010600030101010101" pitchFamily="2" charset="-122"/>
              </a:rPr>
              <a:t>ftp</a:t>
            </a:r>
            <a:r>
              <a:rPr sz="1800" dirty="0">
                <a:ea typeface="宋体" panose="02010600030101010101" pitchFamily="2" charset="-122"/>
              </a:rPr>
              <a:t>（</a:t>
            </a:r>
            <a:r>
              <a:rPr lang="en-US" altLang="zh-CN" sz="1800" dirty="0">
                <a:ea typeface="宋体" panose="02010600030101010101" pitchFamily="2" charset="-122"/>
              </a:rPr>
              <a:t>Chrome96</a:t>
            </a:r>
            <a:r>
              <a:rPr sz="1800" dirty="0">
                <a:ea typeface="宋体" panose="02010600030101010101" pitchFamily="2" charset="-122"/>
              </a:rPr>
              <a:t>之后）</a:t>
            </a:r>
          </a:p>
        </p:txBody>
      </p:sp>
    </p:spTree>
    <p:custDataLst>
      <p:tags r:id="rId1"/>
    </p:custData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AutoShape 2"/>
          <p:cNvSpPr>
            <a:spLocks noGrp="1" noChangeAspec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超链接的应用</a:t>
            </a:r>
          </a:p>
        </p:txBody>
      </p:sp>
      <p:sp>
        <p:nvSpPr>
          <p:cNvPr id="118788" name="Rectangle 4"/>
          <p:cNvSpPr>
            <a:spLocks noGrp="1" noChangeArrowheads="1"/>
          </p:cNvSpPr>
          <p:nvPr>
            <p:ph idx="1"/>
          </p:nvPr>
        </p:nvSpPr>
        <p:spPr>
          <a:xfrm>
            <a:off x="533400" y="1202055"/>
            <a:ext cx="7861935" cy="4817745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/>
              <a:t>创建图像链接</a:t>
            </a:r>
            <a:endParaRPr lang="en-US" altLang="zh-CN" sz="18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/>
              <a:t>      链接标题是一个图像，浏览时单击链接图像时，可以打开超接</a:t>
            </a:r>
            <a:r>
              <a:rPr lang="en-US" altLang="zh-CN" sz="1800" dirty="0" err="1"/>
              <a:t>href</a:t>
            </a:r>
            <a:r>
              <a:rPr lang="zh-CN" altLang="en-US" sz="1800" dirty="0"/>
              <a:t>所设置的</a:t>
            </a:r>
            <a:r>
              <a:rPr lang="en-US" altLang="zh-CN" sz="1800" dirty="0"/>
              <a:t>URL。</a:t>
            </a:r>
            <a:endParaRPr lang="zh-CN" altLang="en-US" sz="18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>
                <a:ea typeface="宋体" panose="02010600030101010101" pitchFamily="2" charset="-122"/>
              </a:rPr>
              <a:t>基本语法：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&lt;a </a:t>
            </a:r>
            <a:r>
              <a:rPr lang="en-US" altLang="zh-CN" sz="1800" dirty="0" err="1">
                <a:solidFill>
                  <a:srgbClr val="FF0000"/>
                </a:solidFill>
                <a:ea typeface="宋体" panose="02010600030101010101" pitchFamily="2" charset="-122"/>
              </a:rPr>
              <a:t>href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=“#”&gt;&lt;</a:t>
            </a:r>
            <a:r>
              <a:rPr lang="en-US" altLang="zh-CN" sz="1800" dirty="0" err="1">
                <a:solidFill>
                  <a:srgbClr val="FF0000"/>
                </a:solidFill>
                <a:ea typeface="宋体" panose="02010600030101010101" pitchFamily="2" charset="-122"/>
              </a:rPr>
              <a:t>img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1800" dirty="0" err="1">
                <a:solidFill>
                  <a:srgbClr val="FF0000"/>
                </a:solidFill>
                <a:ea typeface="宋体" panose="02010600030101010101" pitchFamily="2" charset="-122"/>
              </a:rPr>
              <a:t>src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=“</a:t>
            </a:r>
            <a:r>
              <a:rPr lang="en-US" altLang="zh-CN" sz="1800" dirty="0" err="1">
                <a:solidFill>
                  <a:srgbClr val="FF0000"/>
                </a:solidFill>
                <a:ea typeface="宋体" panose="02010600030101010101" pitchFamily="2" charset="-122"/>
              </a:rPr>
              <a:t>url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” width=“” height=“” align=“” border=“” alt=“”&gt;&lt;/a&gt;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dirty="0"/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/>
              <a:t>创建电子邮件超链接</a:t>
            </a:r>
            <a:endParaRPr lang="en-US" altLang="zh-CN" sz="1800" dirty="0"/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/>
              <a:t>          </a:t>
            </a:r>
            <a:r>
              <a:rPr lang="zh-CN" altLang="zh-CN" sz="1800" dirty="0"/>
              <a:t>一般网站上都会设置“联系我们”这样的栏目或超链接，目的是方便用户及时与网站管理员进行沟通与联系</a:t>
            </a:r>
            <a:r>
              <a:rPr lang="en-US" altLang="zh-CN" sz="1800" dirty="0"/>
              <a:t>--</a:t>
            </a:r>
            <a:r>
              <a:rPr lang="zh-CN" altLang="zh-CN" sz="1800" dirty="0"/>
              <a:t>电子邮件</a:t>
            </a:r>
            <a:r>
              <a:rPr lang="zh-CN" altLang="en-US" sz="1800" dirty="0"/>
              <a:t>超</a:t>
            </a:r>
            <a:r>
              <a:rPr lang="zh-CN" altLang="zh-CN" sz="1800" dirty="0"/>
              <a:t>链接。</a:t>
            </a:r>
            <a:endParaRPr lang="en-US" altLang="zh-CN" sz="1800" dirty="0"/>
          </a:p>
          <a:p>
            <a:r>
              <a:rPr lang="zh-CN" altLang="en-US" sz="1800" dirty="0">
                <a:solidFill>
                  <a:srgbClr val="FF0000"/>
                </a:solidFill>
                <a:ea typeface="宋体" panose="02010600030101010101" pitchFamily="2" charset="-122"/>
              </a:rPr>
              <a:t>基本语法：</a:t>
            </a:r>
          </a:p>
          <a:p>
            <a:pPr lvl="1">
              <a:buNone/>
            </a:pP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&lt;a </a:t>
            </a:r>
            <a:r>
              <a:rPr lang="en-US" altLang="zh-CN" sz="1800" dirty="0" err="1">
                <a:solidFill>
                  <a:srgbClr val="FF0000"/>
                </a:solidFill>
                <a:ea typeface="宋体" panose="02010600030101010101" pitchFamily="2" charset="-122"/>
              </a:rPr>
              <a:t>href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=“mailto:E-mail</a:t>
            </a:r>
            <a:r>
              <a:rPr lang="zh-CN" altLang="en-US" sz="1800" dirty="0">
                <a:solidFill>
                  <a:srgbClr val="FF0000"/>
                </a:solidFill>
                <a:ea typeface="宋体" panose="02010600030101010101" pitchFamily="2" charset="-122"/>
              </a:rPr>
              <a:t>地址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[ ?subject=</a:t>
            </a:r>
            <a:r>
              <a:rPr lang="zh-CN" altLang="en-US" sz="1800" dirty="0">
                <a:solidFill>
                  <a:srgbClr val="FF0000"/>
                </a:solidFill>
                <a:ea typeface="宋体" panose="02010600030101010101" pitchFamily="2" charset="-122"/>
              </a:rPr>
              <a:t>邮件主题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[&amp;</a:t>
            </a:r>
            <a:r>
              <a:rPr lang="zh-CN" altLang="en-US" sz="1800" dirty="0">
                <a:solidFill>
                  <a:srgbClr val="FF0000"/>
                </a:solidFill>
                <a:ea typeface="宋体" panose="02010600030101010101" pitchFamily="2" charset="-122"/>
              </a:rPr>
              <a:t>参数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=</a:t>
            </a:r>
            <a:r>
              <a:rPr lang="zh-CN" altLang="en-US" sz="1800" dirty="0">
                <a:solidFill>
                  <a:srgbClr val="FF0000"/>
                </a:solidFill>
                <a:ea typeface="宋体" panose="02010600030101010101" pitchFamily="2" charset="-122"/>
              </a:rPr>
              <a:t>参数值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]]”&gt;</a:t>
            </a:r>
            <a:r>
              <a:rPr lang="zh-CN" altLang="en-US" sz="1800" dirty="0">
                <a:solidFill>
                  <a:srgbClr val="FF0000"/>
                </a:solidFill>
                <a:ea typeface="宋体" panose="02010600030101010101" pitchFamily="2" charset="-122"/>
              </a:rPr>
              <a:t>链接内容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&lt;/a&gt;   </a:t>
            </a:r>
          </a:p>
          <a:p>
            <a:endParaRPr lang="en-US" altLang="zh-CN" sz="1400" dirty="0"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创建页面书签链接</a:t>
            </a:r>
            <a:endParaRPr lang="zh-CN" altLang="en-US" dirty="0"/>
          </a:p>
        </p:txBody>
      </p:sp>
      <p:sp>
        <p:nvSpPr>
          <p:cNvPr id="117765" name="Rectangle 5"/>
          <p:cNvSpPr>
            <a:spLocks noGrp="1" noChangeArrowheads="1"/>
          </p:cNvSpPr>
          <p:nvPr>
            <p:ph idx="1"/>
          </p:nvPr>
        </p:nvSpPr>
        <p:spPr>
          <a:xfrm>
            <a:off x="533400" y="1144270"/>
            <a:ext cx="7323455" cy="5072380"/>
          </a:xfrm>
        </p:spPr>
        <p:txBody>
          <a:bodyPr>
            <a:normAutofit fontScale="87500" lnSpcReduction="10000"/>
          </a:bodyPr>
          <a:lstStyle/>
          <a:p>
            <a:pPr marL="0" indent="0">
              <a:buNone/>
            </a:pPr>
            <a:r>
              <a:rPr lang="zh-CN" altLang="en-US" sz="1780" b="0" dirty="0"/>
              <a:t>       书签是指到文章</a:t>
            </a:r>
            <a:r>
              <a:rPr lang="zh-CN" altLang="en-US" sz="1780" b="0" u="sng" dirty="0"/>
              <a:t>内部的链接</a:t>
            </a:r>
            <a:r>
              <a:rPr lang="zh-CN" altLang="en-US" sz="1780" b="0" dirty="0"/>
              <a:t>，可是实现</a:t>
            </a:r>
            <a:r>
              <a:rPr lang="zh-CN" altLang="en-US" sz="1780" b="0" u="sng" dirty="0"/>
              <a:t>段落间</a:t>
            </a:r>
            <a:r>
              <a:rPr lang="zh-CN" altLang="en-US" sz="1780" b="0" dirty="0"/>
              <a:t>的任意</a:t>
            </a:r>
            <a:r>
              <a:rPr lang="zh-CN" altLang="en-US" sz="1780" b="0" u="sng" dirty="0"/>
              <a:t>跳转</a:t>
            </a:r>
            <a:r>
              <a:rPr lang="zh-CN" altLang="en-US" sz="1780" b="0" dirty="0"/>
              <a:t>。实现这样的链接要先定义</a:t>
            </a:r>
            <a:r>
              <a:rPr lang="zh-CN" altLang="en-US" sz="1780" b="0" u="sng" dirty="0"/>
              <a:t>书签名称和书签链接</a:t>
            </a:r>
            <a:r>
              <a:rPr lang="zh-CN" altLang="en-US" sz="1780" b="0" dirty="0"/>
              <a:t>。 </a:t>
            </a:r>
          </a:p>
          <a:p>
            <a:pPr marL="0" indent="0">
              <a:buNone/>
            </a:pPr>
            <a:endParaRPr lang="zh-CN" altLang="en-US" sz="1780" b="0" dirty="0"/>
          </a:p>
          <a:p>
            <a:pPr>
              <a:buNone/>
            </a:pPr>
            <a:r>
              <a:rPr lang="zh-CN" altLang="en-US" sz="1780" b="0" dirty="0"/>
              <a:t>书签定义步骤：</a:t>
            </a:r>
            <a:endParaRPr lang="en-US" altLang="zh-CN" sz="1780" b="0" dirty="0"/>
          </a:p>
          <a:p>
            <a:pPr>
              <a:buNone/>
            </a:pPr>
            <a:r>
              <a:rPr lang="en-US" altLang="zh-CN" sz="1780" b="0" dirty="0"/>
              <a:t>    1.</a:t>
            </a:r>
            <a:r>
              <a:rPr lang="zh-CN" altLang="en-US" sz="1780" b="0" dirty="0"/>
              <a:t>定义</a:t>
            </a:r>
            <a:r>
              <a:rPr lang="zh-CN" altLang="en-US" sz="1780" b="0" u="sng" dirty="0"/>
              <a:t>书签名：</a:t>
            </a:r>
            <a:r>
              <a:rPr lang="zh-CN" altLang="en-US" sz="1780" b="0" dirty="0"/>
              <a:t> </a:t>
            </a:r>
            <a:r>
              <a:rPr lang="en-US" altLang="zh-CN" sz="1780" b="0" dirty="0">
                <a:solidFill>
                  <a:srgbClr val="FF0000"/>
                </a:solidFill>
              </a:rPr>
              <a:t>&lt;a </a:t>
            </a:r>
            <a:r>
              <a:rPr lang="en-US" altLang="zh-CN" sz="1780" dirty="0">
                <a:solidFill>
                  <a:srgbClr val="FF0000"/>
                </a:solidFill>
                <a:highlight>
                  <a:srgbClr val="FFFF00"/>
                </a:highlight>
              </a:rPr>
              <a:t>name=“</a:t>
            </a:r>
            <a:r>
              <a:rPr lang="zh-CN" altLang="en-US" sz="1780" dirty="0">
                <a:solidFill>
                  <a:srgbClr val="FF0000"/>
                </a:solidFill>
                <a:highlight>
                  <a:srgbClr val="FFFF00"/>
                </a:highlight>
              </a:rPr>
              <a:t>书签名称</a:t>
            </a:r>
            <a:r>
              <a:rPr lang="en-US" altLang="zh-CN" sz="1780" dirty="0">
                <a:solidFill>
                  <a:srgbClr val="FF0000"/>
                </a:solidFill>
                <a:highlight>
                  <a:srgbClr val="FFFF00"/>
                </a:highlight>
              </a:rPr>
              <a:t>"&gt;</a:t>
            </a:r>
            <a:r>
              <a:rPr lang="zh-CN" altLang="en-US" sz="1780" dirty="0">
                <a:solidFill>
                  <a:srgbClr val="FF0000"/>
                </a:solidFill>
              </a:rPr>
              <a:t>书签</a:t>
            </a:r>
            <a:r>
              <a:rPr lang="zh-CN" altLang="en-US" sz="1780" b="0" dirty="0">
                <a:solidFill>
                  <a:srgbClr val="FF0000"/>
                </a:solidFill>
              </a:rPr>
              <a:t>标题</a:t>
            </a:r>
            <a:r>
              <a:rPr lang="en-US" altLang="zh-CN" sz="1780" b="0" dirty="0">
                <a:solidFill>
                  <a:srgbClr val="FF0000"/>
                </a:solidFill>
              </a:rPr>
              <a:t>&lt;/a&gt; </a:t>
            </a:r>
          </a:p>
          <a:p>
            <a:pPr>
              <a:buNone/>
            </a:pPr>
            <a:r>
              <a:rPr lang="en-US" altLang="zh-CN" sz="1780" b="0" dirty="0">
                <a:solidFill>
                  <a:srgbClr val="FF0000"/>
                </a:solidFill>
              </a:rPr>
              <a:t>			 </a:t>
            </a:r>
            <a:r>
              <a:rPr lang="en-US" altLang="zh-CN" sz="1775" dirty="0">
                <a:solidFill>
                  <a:srgbClr val="FF0000"/>
                </a:solidFill>
                <a:sym typeface="+mn-ea"/>
              </a:rPr>
              <a:t>&lt;a id=“</a:t>
            </a:r>
            <a:r>
              <a:rPr sz="1775" dirty="0">
                <a:solidFill>
                  <a:srgbClr val="FF0000"/>
                </a:solidFill>
                <a:sym typeface="+mn-ea"/>
              </a:rPr>
              <a:t>书签名称</a:t>
            </a:r>
            <a:r>
              <a:rPr lang="en-US" altLang="zh-CN" sz="1775" dirty="0">
                <a:solidFill>
                  <a:srgbClr val="FF0000"/>
                </a:solidFill>
                <a:sym typeface="+mn-ea"/>
              </a:rPr>
              <a:t>"&gt;</a:t>
            </a:r>
            <a:r>
              <a:rPr sz="1775" dirty="0">
                <a:solidFill>
                  <a:srgbClr val="FF0000"/>
                </a:solidFill>
                <a:sym typeface="+mn-ea"/>
              </a:rPr>
              <a:t>书签标题</a:t>
            </a:r>
            <a:r>
              <a:rPr lang="en-US" altLang="zh-CN" sz="1775" dirty="0">
                <a:solidFill>
                  <a:srgbClr val="FF0000"/>
                </a:solidFill>
                <a:sym typeface="+mn-ea"/>
              </a:rPr>
              <a:t>&lt;/a&gt;  </a:t>
            </a:r>
          </a:p>
          <a:p>
            <a:pPr>
              <a:buNone/>
            </a:pPr>
            <a:r>
              <a:rPr lang="en-US" altLang="zh-CN" sz="1780" dirty="0">
                <a:solidFill>
                  <a:schemeClr val="tx1"/>
                </a:solidFill>
              </a:rPr>
              <a:t>                    </a:t>
            </a:r>
            <a:r>
              <a:rPr sz="1780" dirty="0">
                <a:solidFill>
                  <a:schemeClr val="tx1"/>
                </a:solidFill>
              </a:rPr>
              <a:t>其他标签如</a:t>
            </a:r>
            <a:r>
              <a:rPr lang="en-US" altLang="zh-CN" sz="1780" dirty="0">
                <a:solidFill>
                  <a:srgbClr val="FF0000"/>
                </a:solidFill>
              </a:rPr>
              <a:t>&lt;h2 id=</a:t>
            </a:r>
            <a:r>
              <a:rPr lang="en-US" altLang="zh-CN" sz="1775" dirty="0">
                <a:solidFill>
                  <a:srgbClr val="FF0000"/>
                </a:solidFill>
                <a:sym typeface="+mn-ea"/>
              </a:rPr>
              <a:t>“</a:t>
            </a:r>
            <a:r>
              <a:rPr sz="1775" dirty="0">
                <a:solidFill>
                  <a:srgbClr val="FF0000"/>
                </a:solidFill>
                <a:sym typeface="+mn-ea"/>
              </a:rPr>
              <a:t>书签名称</a:t>
            </a:r>
            <a:r>
              <a:rPr lang="en-US" altLang="zh-CN" sz="1775" dirty="0">
                <a:solidFill>
                  <a:srgbClr val="FF0000"/>
                </a:solidFill>
                <a:sym typeface="+mn-ea"/>
              </a:rPr>
              <a:t>"&gt;</a:t>
            </a:r>
            <a:r>
              <a:rPr sz="1775" dirty="0">
                <a:solidFill>
                  <a:srgbClr val="FF0000"/>
                </a:solidFill>
                <a:sym typeface="+mn-ea"/>
              </a:rPr>
              <a:t>书签标题</a:t>
            </a:r>
            <a:r>
              <a:rPr lang="en-US" altLang="zh-CN" sz="1775" dirty="0">
                <a:solidFill>
                  <a:srgbClr val="FF0000"/>
                </a:solidFill>
                <a:sym typeface="+mn-ea"/>
              </a:rPr>
              <a:t>&lt;/a&gt;  </a:t>
            </a:r>
            <a:endParaRPr lang="en-US" altLang="zh-CN" sz="178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zh-CN" sz="1780" b="0" dirty="0">
                <a:solidFill>
                  <a:srgbClr val="FF0000"/>
                </a:solidFill>
              </a:rPr>
              <a:t>    </a:t>
            </a:r>
            <a:r>
              <a:rPr lang="en-US" altLang="zh-CN" sz="1780" b="0" dirty="0"/>
              <a:t>2.</a:t>
            </a:r>
            <a:r>
              <a:rPr lang="zh-CN" altLang="en-US" sz="1780" b="0" dirty="0"/>
              <a:t>定义</a:t>
            </a:r>
            <a:r>
              <a:rPr lang="zh-CN" altLang="en-US" sz="1780" b="0" u="sng" dirty="0"/>
              <a:t>书签链接</a:t>
            </a:r>
            <a:r>
              <a:rPr lang="zh-CN" altLang="en-US" sz="1780" b="0" dirty="0"/>
              <a:t>：</a:t>
            </a:r>
          </a:p>
          <a:p>
            <a:pPr lvl="1">
              <a:buNone/>
            </a:pPr>
            <a:r>
              <a:rPr lang="en-US" altLang="zh-CN" sz="1780" b="0" dirty="0">
                <a:solidFill>
                  <a:srgbClr val="FF0000"/>
                </a:solidFill>
              </a:rPr>
              <a:t>&lt;a </a:t>
            </a:r>
            <a:r>
              <a:rPr lang="en-US" altLang="zh-CN" sz="1780" b="0" dirty="0" err="1">
                <a:solidFill>
                  <a:srgbClr val="FF0000"/>
                </a:solidFill>
              </a:rPr>
              <a:t>href</a:t>
            </a:r>
            <a:r>
              <a:rPr lang="en-US" altLang="zh-CN" sz="1780" b="0" dirty="0">
                <a:solidFill>
                  <a:srgbClr val="FF0000"/>
                </a:solidFill>
                <a:highlight>
                  <a:srgbClr val="FFFF00"/>
                </a:highlight>
              </a:rPr>
              <a:t>="#</a:t>
            </a:r>
            <a:r>
              <a:rPr lang="zh-CN" altLang="en-US" sz="1780" b="0" dirty="0">
                <a:solidFill>
                  <a:srgbClr val="FF0000"/>
                </a:solidFill>
                <a:highlight>
                  <a:srgbClr val="FFFF00"/>
                </a:highlight>
              </a:rPr>
              <a:t>书签名称</a:t>
            </a:r>
            <a:r>
              <a:rPr lang="en-US" altLang="zh-CN" sz="1780" b="0" dirty="0">
                <a:solidFill>
                  <a:srgbClr val="FF0000"/>
                </a:solidFill>
              </a:rPr>
              <a:t>"&gt;</a:t>
            </a:r>
            <a:r>
              <a:rPr lang="zh-CN" altLang="en-US" sz="1780" b="0" dirty="0">
                <a:solidFill>
                  <a:srgbClr val="FF0000"/>
                </a:solidFill>
              </a:rPr>
              <a:t>书签标题</a:t>
            </a:r>
            <a:r>
              <a:rPr lang="en-US" altLang="zh-CN" sz="1780" b="0" dirty="0">
                <a:solidFill>
                  <a:srgbClr val="FF0000"/>
                </a:solidFill>
              </a:rPr>
              <a:t>&lt;/a&gt;  &lt;!-- </a:t>
            </a:r>
            <a:r>
              <a:rPr lang="zh-CN" altLang="en-US" sz="1780" b="0" dirty="0">
                <a:solidFill>
                  <a:srgbClr val="FF0000"/>
                </a:solidFill>
              </a:rPr>
              <a:t>同一页面内   </a:t>
            </a:r>
            <a:r>
              <a:rPr lang="en-US" altLang="zh-CN" sz="1780" b="0" dirty="0">
                <a:solidFill>
                  <a:srgbClr val="FF0000"/>
                </a:solidFill>
              </a:rPr>
              <a:t>--&gt; </a:t>
            </a:r>
          </a:p>
          <a:p>
            <a:pPr lvl="1">
              <a:buNone/>
            </a:pPr>
            <a:r>
              <a:rPr lang="en-US" altLang="zh-CN" sz="1780" b="0" dirty="0">
                <a:solidFill>
                  <a:srgbClr val="FF0000"/>
                </a:solidFill>
              </a:rPr>
              <a:t>&lt;a </a:t>
            </a:r>
            <a:r>
              <a:rPr lang="en-US" altLang="zh-CN" sz="1780" b="0" dirty="0" err="1">
                <a:solidFill>
                  <a:srgbClr val="FF0000"/>
                </a:solidFill>
              </a:rPr>
              <a:t>href</a:t>
            </a:r>
            <a:r>
              <a:rPr lang="en-US" altLang="zh-CN" sz="1780" b="0" dirty="0">
                <a:solidFill>
                  <a:srgbClr val="FF0000"/>
                </a:solidFill>
              </a:rPr>
              <a:t>="URL#</a:t>
            </a:r>
            <a:r>
              <a:rPr lang="zh-CN" altLang="en-US" sz="1780" b="0" dirty="0">
                <a:solidFill>
                  <a:srgbClr val="FF0000"/>
                </a:solidFill>
              </a:rPr>
              <a:t>书签名称</a:t>
            </a:r>
            <a:r>
              <a:rPr lang="en-US" altLang="zh-CN" sz="1780" b="0" dirty="0">
                <a:solidFill>
                  <a:srgbClr val="FF0000"/>
                </a:solidFill>
              </a:rPr>
              <a:t>"&gt;</a:t>
            </a:r>
            <a:r>
              <a:rPr lang="zh-CN" altLang="en-US" sz="1780" b="0" dirty="0">
                <a:solidFill>
                  <a:srgbClr val="FF0000"/>
                </a:solidFill>
              </a:rPr>
              <a:t>书签标题</a:t>
            </a:r>
            <a:r>
              <a:rPr lang="en-US" altLang="zh-CN" sz="1780" b="0" dirty="0">
                <a:solidFill>
                  <a:srgbClr val="FF0000"/>
                </a:solidFill>
              </a:rPr>
              <a:t>&lt;/a&gt;&lt;!--  </a:t>
            </a:r>
            <a:r>
              <a:rPr lang="zh-CN" altLang="en-US" sz="1780" b="0" dirty="0">
                <a:solidFill>
                  <a:srgbClr val="FF0000"/>
                </a:solidFill>
              </a:rPr>
              <a:t>不同页面间  </a:t>
            </a:r>
            <a:r>
              <a:rPr lang="en-US" altLang="zh-CN" sz="1780" b="0" dirty="0">
                <a:solidFill>
                  <a:srgbClr val="FF0000"/>
                </a:solidFill>
              </a:rPr>
              <a:t>--&gt; 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sz="1780" b="0" dirty="0"/>
              <a:t>  </a:t>
            </a:r>
            <a:r>
              <a:rPr lang="en-US" altLang="zh-CN" sz="1780" b="0" dirty="0"/>
              <a:t>URL：</a:t>
            </a:r>
            <a:r>
              <a:rPr lang="zh-CN" altLang="en-US" sz="1780" b="0" dirty="0"/>
              <a:t>是放置标记的</a:t>
            </a:r>
            <a:r>
              <a:rPr lang="en-US" altLang="zh-CN" sz="1780" b="0" dirty="0"/>
              <a:t>HTML</a:t>
            </a:r>
            <a:r>
              <a:rPr lang="zh-CN" altLang="en-US" sz="1780" b="0" dirty="0"/>
              <a:t>文件的</a:t>
            </a:r>
            <a:r>
              <a:rPr lang="en-US" altLang="zh-CN" sz="1780" b="0" dirty="0"/>
              <a:t>URL</a:t>
            </a:r>
            <a:r>
              <a:rPr lang="zh-CN" altLang="en-US" sz="1780" b="0" dirty="0"/>
              <a:t>，</a:t>
            </a:r>
            <a:r>
              <a:rPr lang="en-US" altLang="zh-CN" sz="1780" b="0" dirty="0"/>
              <a:t>name：</a:t>
            </a:r>
            <a:r>
              <a:rPr lang="zh-CN" altLang="en-US" sz="1780" b="0" dirty="0"/>
              <a:t>标记名。</a:t>
            </a:r>
            <a:endParaRPr lang="en-US" altLang="zh-CN" sz="1780" b="0" dirty="0"/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000" b="0" dirty="0"/>
              <a:t>      </a:t>
            </a:r>
            <a:endParaRPr lang="zh-CN" altLang="en-US" sz="2000" dirty="0">
              <a:ea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BF7D09-8EF2-4598-BC0D-A2BA7FAEA081}"/>
              </a:ext>
            </a:extLst>
          </p:cNvPr>
          <p:cNvSpPr/>
          <p:nvPr/>
        </p:nvSpPr>
        <p:spPr>
          <a:xfrm>
            <a:off x="4831976" y="443234"/>
            <a:ext cx="2662518" cy="4419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创建书签链接页面案例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r="28096"/>
          <a:stretch>
            <a:fillRect/>
          </a:stretch>
        </p:blipFill>
        <p:spPr>
          <a:xfrm>
            <a:off x="5076825" y="2809875"/>
            <a:ext cx="3623945" cy="372491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27050" y="2674620"/>
            <a:ext cx="4156075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&lt;li&gt;</a:t>
            </a:r>
          </a:p>
          <a:p>
            <a:r>
              <a:rPr lang="en-US" altLang="zh-CN"/>
              <a:t>  </a:t>
            </a:r>
            <a:r>
              <a:rPr lang="zh-CN" altLang="en-US"/>
              <a:t>&lt;a href="#1"&gt;历史沿革&lt;/a&gt;</a:t>
            </a:r>
          </a:p>
          <a:p>
            <a:r>
              <a:rPr lang="zh-CN" altLang="en-US"/>
              <a:t>&lt;/li&gt;</a:t>
            </a:r>
          </a:p>
          <a:p>
            <a:r>
              <a:rPr lang="zh-CN" altLang="en-US"/>
              <a:t>&lt;li&gt;</a:t>
            </a:r>
          </a:p>
          <a:p>
            <a:r>
              <a:rPr lang="zh-CN" altLang="en-US"/>
              <a:t>  &lt;a href="#2"&gt;办学条件&lt;/a&gt;</a:t>
            </a:r>
          </a:p>
          <a:p>
            <a:r>
              <a:rPr lang="zh-CN" altLang="en-US"/>
              <a:t>&lt;/li&gt;</a:t>
            </a:r>
          </a:p>
          <a:p>
            <a:r>
              <a:rPr lang="zh-CN" altLang="en-US"/>
              <a:t>&lt;li&gt;</a:t>
            </a:r>
          </a:p>
          <a:p>
            <a:r>
              <a:rPr lang="zh-CN" altLang="en-US"/>
              <a:t>  &lt;a href="#2_1"&gt;院系设置&lt;/a&gt;</a:t>
            </a:r>
          </a:p>
          <a:p>
            <a:r>
              <a:rPr lang="zh-CN" altLang="en-US"/>
              <a:t>&lt;/li&gt;</a:t>
            </a:r>
          </a:p>
          <a:p>
            <a:r>
              <a:rPr lang="en-US" altLang="zh-CN"/>
              <a:t>…………</a:t>
            </a:r>
          </a:p>
          <a:p>
            <a:r>
              <a:rPr lang="en-US" altLang="zh-CN"/>
              <a:t>&lt;a name="2"&gt;&lt;/a&gt;</a:t>
            </a:r>
          </a:p>
          <a:p>
            <a:r>
              <a:rPr lang="en-US" altLang="zh-CN"/>
              <a:t>&lt;a name="sub22064_2"&gt;&lt;/a&gt;</a:t>
            </a:r>
          </a:p>
          <a:p>
            <a:r>
              <a:rPr lang="en-US" altLang="zh-CN"/>
              <a:t>&lt;a name="办学条件"&lt;/a&gt;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6840" y="1052830"/>
            <a:ext cx="6927850" cy="145415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浮动框架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267460"/>
            <a:ext cx="7439025" cy="2801620"/>
          </a:xfrm>
        </p:spPr>
        <p:txBody>
          <a:bodyPr>
            <a:normAutofit fontScale="97500" lnSpcReduction="1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cs typeface="Verdana" panose="020B0604030504040204" pitchFamily="34" charset="0"/>
              </a:rPr>
              <a:t> </a:t>
            </a:r>
            <a:r>
              <a:rPr lang="zh-CN" altLang="en-US" sz="1800" dirty="0">
                <a:cs typeface="Verdana" panose="020B0604030504040204" pitchFamily="34" charset="0"/>
              </a:rPr>
              <a:t>      浏览器窗口含有孤立的子窗口称为浮动框架。在浏览器窗口中使用</a:t>
            </a:r>
            <a:r>
              <a:rPr lang="en-US" altLang="zh-CN" sz="1800" dirty="0">
                <a:cs typeface="Verdana" panose="020B0604030504040204" pitchFamily="34" charset="0"/>
              </a:rPr>
              <a:t>&lt;</a:t>
            </a:r>
            <a:r>
              <a:rPr lang="en-US" altLang="zh-CN" sz="1800" dirty="0" err="1">
                <a:cs typeface="Verdana" panose="020B0604030504040204" pitchFamily="34" charset="0"/>
              </a:rPr>
              <a:t>iframe</a:t>
            </a:r>
            <a:r>
              <a:rPr lang="en-US" altLang="zh-CN" sz="1800" dirty="0">
                <a:cs typeface="Verdana" panose="020B0604030504040204" pitchFamily="34" charset="0"/>
              </a:rPr>
              <a:t>&gt;&lt;/</a:t>
            </a:r>
            <a:r>
              <a:rPr lang="en-US" altLang="zh-CN" sz="1800" dirty="0" err="1">
                <a:cs typeface="Verdana" panose="020B0604030504040204" pitchFamily="34" charset="0"/>
              </a:rPr>
              <a:t>iframe</a:t>
            </a:r>
            <a:r>
              <a:rPr lang="en-US" altLang="zh-CN" sz="1800" dirty="0">
                <a:cs typeface="Verdana" panose="020B0604030504040204" pitchFamily="34" charset="0"/>
              </a:rPr>
              <a:t>&gt;</a:t>
            </a:r>
            <a:r>
              <a:rPr lang="zh-CN" altLang="en-US" sz="1800" dirty="0">
                <a:cs typeface="Verdana" panose="020B0604030504040204" pitchFamily="34" charset="0"/>
              </a:rPr>
              <a:t>标记，可以嵌入浮动框架。</a:t>
            </a:r>
            <a:endParaRPr lang="zh-CN" altLang="en-US" dirty="0">
              <a:cs typeface="Verdana" panose="020B060403050404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cs typeface="Verdana" panose="020B0604030504040204" pitchFamily="34" charset="0"/>
              </a:rPr>
              <a:t>   </a:t>
            </a:r>
            <a:r>
              <a:rPr lang="en-US" altLang="zh-CN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</a:t>
            </a:r>
            <a:r>
              <a:rPr lang="en-US" altLang="zh-CN" sz="1800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iframe</a:t>
            </a:r>
            <a:r>
              <a:rPr lang="en-US" altLang="zh-CN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name="</a:t>
            </a:r>
            <a:r>
              <a:rPr lang="en-US" altLang="zh-CN" sz="1800" dirty="0">
                <a:solidFill>
                  <a:srgbClr val="FF0000"/>
                </a:solidFill>
              </a:rPr>
              <a:t> </a:t>
            </a:r>
            <a:r>
              <a:rPr lang="en-US" altLang="zh-CN" sz="1800" u="sng" dirty="0">
                <a:solidFill>
                  <a:srgbClr val="FF0000"/>
                </a:solidFill>
              </a:rPr>
              <a:t>name</a:t>
            </a:r>
            <a:r>
              <a:rPr lang="en-US" altLang="zh-CN" sz="1800" dirty="0">
                <a:solidFill>
                  <a:srgbClr val="FF0000"/>
                </a:solidFill>
              </a:rPr>
              <a:t> </a:t>
            </a:r>
            <a:r>
              <a:rPr lang="en-US" altLang="zh-CN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 </a:t>
            </a:r>
            <a:r>
              <a:rPr lang="en-US" altLang="zh-CN" sz="1800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src</a:t>
            </a:r>
            <a:r>
              <a:rPr lang="en-US" altLang="zh-CN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="</a:t>
            </a:r>
            <a:r>
              <a:rPr lang="en-US" altLang="zh-CN" sz="1800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url</a:t>
            </a:r>
            <a:r>
              <a:rPr lang="en-US" altLang="zh-CN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  width=“" height=" "&gt; &lt;/</a:t>
            </a:r>
            <a:r>
              <a:rPr lang="en-US" altLang="zh-CN" sz="1800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iframe</a:t>
            </a:r>
            <a:r>
              <a:rPr lang="en-US" altLang="zh-CN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rgbClr val="FF0000"/>
                </a:solidFill>
              </a:rPr>
              <a:t>   &lt;a href="target.html" target= " </a:t>
            </a:r>
            <a:r>
              <a:rPr lang="en-US" altLang="zh-CN" sz="1800" u="sng" dirty="0">
                <a:solidFill>
                  <a:srgbClr val="FF0000"/>
                </a:solidFill>
              </a:rPr>
              <a:t>name</a:t>
            </a:r>
            <a:r>
              <a:rPr lang="en-US" altLang="zh-CN" sz="1800" dirty="0">
                <a:solidFill>
                  <a:srgbClr val="FF0000"/>
                </a:solidFill>
              </a:rPr>
              <a:t>" &gt;</a:t>
            </a:r>
            <a:r>
              <a:rPr lang="zh-CN" altLang="en-US" sz="1800" dirty="0">
                <a:solidFill>
                  <a:srgbClr val="FF0000"/>
                </a:solidFill>
              </a:rPr>
              <a:t>链接标题</a:t>
            </a:r>
            <a:r>
              <a:rPr lang="en-US" altLang="zh-CN" sz="1800" dirty="0">
                <a:solidFill>
                  <a:srgbClr val="FF0000"/>
                </a:solidFill>
              </a:rPr>
              <a:t>&lt;/a&gt;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dirty="0">
              <a:solidFill>
                <a:srgbClr val="FF0000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>
                <a:sym typeface="+mn-ea"/>
              </a:rPr>
              <a:t>iframe</a:t>
            </a:r>
            <a:r>
              <a:rPr sz="1800">
                <a:sym typeface="+mn-ea"/>
              </a:rPr>
              <a:t>虽然看起来使用方便（浏览器中嵌浏览器），但其能耗高，缺点明显，少用慎用（可用</a:t>
            </a:r>
            <a:r>
              <a:rPr lang="en-US" altLang="zh-CN" sz="1800">
                <a:sym typeface="+mn-ea"/>
              </a:rPr>
              <a:t>Ajax</a:t>
            </a:r>
            <a:r>
              <a:rPr sz="1800">
                <a:sym typeface="+mn-ea"/>
              </a:rPr>
              <a:t>、</a:t>
            </a:r>
            <a:r>
              <a:rPr lang="en-US" altLang="zh-CN" sz="1800">
                <a:sym typeface="+mn-ea"/>
              </a:rPr>
              <a:t>ShadowDom</a:t>
            </a:r>
            <a:r>
              <a:rPr sz="1800">
                <a:sym typeface="+mn-ea"/>
              </a:rPr>
              <a:t>等替代）</a:t>
            </a:r>
            <a:endParaRPr sz="1800" dirty="0"/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dirty="0">
              <a:solidFill>
                <a:srgbClr val="FF0000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502285" y="4069169"/>
          <a:ext cx="8153400" cy="219456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175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8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8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11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32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zh-CN" sz="18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属性</a:t>
                      </a:r>
                      <a:endParaRPr lang="zh-CN" sz="18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zh-CN" sz="18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说明</a:t>
                      </a:r>
                      <a:endParaRPr lang="zh-CN" sz="18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zh-CN" sz="18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属性</a:t>
                      </a:r>
                      <a:endParaRPr lang="zh-CN" sz="18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zh-CN" sz="18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说明</a:t>
                      </a:r>
                      <a:endParaRPr lang="zh-CN" sz="18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en-US" sz="1800" kern="100">
                          <a:latin typeface="微软雅黑" panose="020B0503020204020204" charset="-122"/>
                          <a:ea typeface="微软雅黑" panose="020B0503020204020204" charset="-122"/>
                        </a:rPr>
                        <a:t>src</a:t>
                      </a:r>
                      <a:endParaRPr lang="zh-CN" sz="1800" kern="10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zh-CN" sz="18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设置源文件属性</a:t>
                      </a:r>
                      <a:endParaRPr lang="zh-CN" sz="18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en-US" sz="18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scrolling</a:t>
                      </a:r>
                      <a:endParaRPr lang="zh-CN" sz="18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zh-CN" sz="18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设置框架滚动条</a:t>
                      </a:r>
                      <a:endParaRPr lang="zh-CN" sz="18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en-US" sz="18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name</a:t>
                      </a:r>
                      <a:endParaRPr lang="zh-CN" sz="18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zh-CN" sz="18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设置框架名称</a:t>
                      </a:r>
                      <a:endParaRPr lang="zh-CN" sz="18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en-US" sz="18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frameborder</a:t>
                      </a:r>
                      <a:endParaRPr lang="zh-CN" sz="18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zh-CN" sz="18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设置框架边框</a:t>
                      </a:r>
                      <a:endParaRPr lang="zh-CN" sz="18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en-US" sz="1800" kern="100">
                          <a:latin typeface="微软雅黑" panose="020B0503020204020204" charset="-122"/>
                          <a:ea typeface="微软雅黑" panose="020B0503020204020204" charset="-122"/>
                        </a:rPr>
                        <a:t>width</a:t>
                      </a:r>
                      <a:endParaRPr lang="zh-CN" sz="1800" kern="10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zh-CN" sz="18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设置浮动框架窗口宽度</a:t>
                      </a:r>
                      <a:endParaRPr lang="zh-CN" sz="18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en-US" sz="18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marginwidth</a:t>
                      </a:r>
                      <a:endParaRPr lang="zh-CN" sz="18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zh-CN" sz="18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设置框架左右边距</a:t>
                      </a:r>
                      <a:endParaRPr lang="zh-CN" sz="18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en-US" sz="1800" kern="100">
                          <a:latin typeface="微软雅黑" panose="020B0503020204020204" charset="-122"/>
                          <a:ea typeface="微软雅黑" panose="020B0503020204020204" charset="-122"/>
                        </a:rPr>
                        <a:t>height</a:t>
                      </a:r>
                      <a:endParaRPr lang="zh-CN" sz="1800" kern="10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zh-CN" sz="1800" kern="100">
                          <a:latin typeface="微软雅黑" panose="020B0503020204020204" charset="-122"/>
                          <a:ea typeface="微软雅黑" panose="020B0503020204020204" charset="-122"/>
                        </a:rPr>
                        <a:t>设置浮动框架窗口高度</a:t>
                      </a:r>
                      <a:endParaRPr lang="zh-CN" sz="1800" kern="10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en-US" sz="18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marginheight</a:t>
                      </a:r>
                      <a:endParaRPr lang="zh-CN" sz="18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zh-CN" sz="18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设置框架上下边距</a:t>
                      </a:r>
                      <a:endParaRPr lang="zh-CN" sz="18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en-US" sz="18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align</a:t>
                      </a:r>
                      <a:endParaRPr lang="zh-CN" sz="18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zh-CN" sz="18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设置框架对齐方式</a:t>
                      </a:r>
                      <a:endParaRPr lang="zh-CN" sz="18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endParaRPr lang="zh-CN" sz="18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endParaRPr lang="zh-CN" sz="18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图像</a:t>
            </a:r>
            <a:r>
              <a:rPr lang="en-US" altLang="zh-CN" dirty="0"/>
              <a:t> 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393700" y="1143000"/>
            <a:ext cx="8395335" cy="4994275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600" dirty="0">
                <a:ea typeface="宋体" panose="02010600030101010101" pitchFamily="2" charset="-122"/>
              </a:rPr>
              <a:t>       </a:t>
            </a:r>
            <a:r>
              <a:rPr lang="zh-CN" altLang="en-US" sz="1600" dirty="0"/>
              <a:t>网页上插入图像的方法就是使用</a:t>
            </a:r>
            <a:r>
              <a:rPr lang="en-US" altLang="zh-CN" sz="1600" dirty="0"/>
              <a:t>&lt;img&gt;</a:t>
            </a:r>
            <a:r>
              <a:rPr lang="zh-CN" altLang="en-US" sz="1600" dirty="0"/>
              <a:t>标记。它的众多属性可以控制图像的路径、尺寸和替换文字等各种功能。</a:t>
            </a:r>
          </a:p>
          <a:p>
            <a:r>
              <a:rPr lang="zh-CN" altLang="en-US" sz="1600" dirty="0"/>
              <a:t>基本语法</a:t>
            </a:r>
            <a:endParaRPr lang="en-US" altLang="zh-CN" sz="1600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None/>
            </a:pPr>
            <a:r>
              <a:rPr kumimoji="0" lang="en-US" altLang="zh-CN" sz="1600" dirty="0">
                <a:solidFill>
                  <a:srgbClr val="FF0000"/>
                </a:solidFill>
              </a:rPr>
              <a:t>       &lt;img src=</a:t>
            </a:r>
            <a:r>
              <a:rPr lang="en-US" altLang="zh-CN" sz="1600" dirty="0">
                <a:solidFill>
                  <a:srgbClr val="FF0000"/>
                </a:solidFill>
              </a:rPr>
              <a:t>“</a:t>
            </a:r>
            <a:r>
              <a:rPr kumimoji="0" lang="en-US" altLang="zh-CN" sz="1600" dirty="0" err="1">
                <a:solidFill>
                  <a:srgbClr val="FF0000"/>
                </a:solidFill>
              </a:rPr>
              <a:t>url</a:t>
            </a:r>
            <a:r>
              <a:rPr lang="en-US" altLang="zh-CN" sz="1600" dirty="0">
                <a:solidFill>
                  <a:srgbClr val="FF0000"/>
                </a:solidFill>
              </a:rPr>
              <a:t>”</a:t>
            </a:r>
            <a:r>
              <a:rPr kumimoji="0" lang="en-US" altLang="zh-CN" sz="1600" dirty="0">
                <a:solidFill>
                  <a:srgbClr val="FF0000"/>
                </a:solidFill>
              </a:rPr>
              <a:t> width=</a:t>
            </a:r>
            <a:r>
              <a:rPr lang="en-US" altLang="zh-CN" sz="1600" dirty="0">
                <a:solidFill>
                  <a:srgbClr val="FF0000"/>
                </a:solidFill>
              </a:rPr>
              <a:t>“”</a:t>
            </a:r>
            <a:r>
              <a:rPr kumimoji="0" lang="en-US" altLang="zh-CN" sz="1600" dirty="0">
                <a:solidFill>
                  <a:srgbClr val="FF0000"/>
                </a:solidFill>
              </a:rPr>
              <a:t> height=</a:t>
            </a:r>
            <a:r>
              <a:rPr lang="en-US" altLang="zh-CN" sz="1600" dirty="0">
                <a:solidFill>
                  <a:srgbClr val="FF0000"/>
                </a:solidFill>
              </a:rPr>
              <a:t>“”</a:t>
            </a:r>
            <a:r>
              <a:rPr kumimoji="0" lang="en-US" altLang="zh-CN" sz="1600" dirty="0">
                <a:solidFill>
                  <a:srgbClr val="FF0000"/>
                </a:solidFill>
              </a:rPr>
              <a:t> </a:t>
            </a:r>
            <a:r>
              <a:rPr kumimoji="0" lang="en-US" altLang="zh-CN" sz="1600" dirty="0" err="1">
                <a:solidFill>
                  <a:srgbClr val="FF0000"/>
                </a:solidFill>
                <a:highlight>
                  <a:srgbClr val="FFFF00"/>
                </a:highlight>
              </a:rPr>
              <a:t>hspace</a:t>
            </a:r>
            <a:r>
              <a:rPr kumimoji="0" lang="en-US" altLang="zh-CN" sz="1600" dirty="0">
                <a:solidFill>
                  <a:srgbClr val="FF0000"/>
                </a:solidFill>
                <a:highlight>
                  <a:srgbClr val="FFFF00"/>
                </a:highlight>
              </a:rPr>
              <a:t>=</a:t>
            </a:r>
            <a:r>
              <a:rPr lang="en-US" altLang="zh-CN" sz="1600" dirty="0">
                <a:solidFill>
                  <a:srgbClr val="FF0000"/>
                </a:solidFill>
                <a:highlight>
                  <a:srgbClr val="FFFF00"/>
                </a:highlight>
              </a:rPr>
              <a:t>“”</a:t>
            </a:r>
            <a:r>
              <a:rPr kumimoji="0" lang="en-US" altLang="zh-CN" sz="160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kumimoji="0" lang="en-US" altLang="zh-CN" sz="1600" dirty="0" err="1">
                <a:solidFill>
                  <a:srgbClr val="FF0000"/>
                </a:solidFill>
                <a:highlight>
                  <a:srgbClr val="FFFF00"/>
                </a:highlight>
              </a:rPr>
              <a:t>vspace</a:t>
            </a:r>
            <a:r>
              <a:rPr kumimoji="0" lang="en-US" altLang="zh-CN" sz="1600" dirty="0">
                <a:solidFill>
                  <a:srgbClr val="FF0000"/>
                </a:solidFill>
                <a:highlight>
                  <a:srgbClr val="FFFF00"/>
                </a:highlight>
              </a:rPr>
              <a:t>=</a:t>
            </a:r>
            <a:r>
              <a:rPr lang="en-US" altLang="zh-CN" sz="1600" dirty="0">
                <a:solidFill>
                  <a:srgbClr val="FF0000"/>
                </a:solidFill>
                <a:highlight>
                  <a:srgbClr val="FFFF00"/>
                </a:highlight>
              </a:rPr>
              <a:t>“”</a:t>
            </a:r>
            <a:r>
              <a:rPr kumimoji="0" lang="en-US" altLang="zh-CN" sz="160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kumimoji="0" lang="en-US" altLang="zh-CN" sz="1600" dirty="0">
                <a:solidFill>
                  <a:srgbClr val="FF0000"/>
                </a:solidFill>
              </a:rPr>
              <a:t>align=</a:t>
            </a:r>
            <a:r>
              <a:rPr lang="en-US" altLang="zh-CN" sz="1600" dirty="0">
                <a:solidFill>
                  <a:srgbClr val="FF0000"/>
                </a:solidFill>
              </a:rPr>
              <a:t>“”</a:t>
            </a:r>
            <a:r>
              <a:rPr kumimoji="0" lang="en-US" altLang="zh-CN" sz="1600" dirty="0">
                <a:solidFill>
                  <a:srgbClr val="FF0000"/>
                </a:solidFill>
              </a:rPr>
              <a:t> border=</a:t>
            </a:r>
            <a:r>
              <a:rPr lang="en-US" altLang="zh-CN" sz="1600" dirty="0">
                <a:solidFill>
                  <a:srgbClr val="FF0000"/>
                </a:solidFill>
              </a:rPr>
              <a:t>“”</a:t>
            </a:r>
            <a:r>
              <a:rPr kumimoji="0" lang="en-US" altLang="zh-CN" sz="1600" dirty="0">
                <a:solidFill>
                  <a:srgbClr val="FF0000"/>
                </a:solidFill>
              </a:rPr>
              <a:t> alt=</a:t>
            </a:r>
            <a:r>
              <a:rPr lang="en-US" altLang="zh-CN" sz="1600" dirty="0">
                <a:solidFill>
                  <a:srgbClr val="FF0000"/>
                </a:solidFill>
              </a:rPr>
              <a:t>“”</a:t>
            </a:r>
            <a:r>
              <a:rPr kumimoji="0" lang="en-US" altLang="zh-CN" sz="1600" dirty="0">
                <a:solidFill>
                  <a:srgbClr val="FF0000"/>
                </a:solidFill>
              </a:rPr>
              <a:t>&gt;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None/>
            </a:pPr>
            <a:endParaRPr kumimoji="0" lang="zh-CN" altLang="en-US" sz="1600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None/>
            </a:pPr>
            <a:r>
              <a:rPr kumimoji="0" lang="zh-CN" altLang="en-US" sz="1600" dirty="0"/>
              <a:t>属性说明：</a:t>
            </a:r>
            <a:endParaRPr kumimoji="0" lang="en-US" altLang="zh-CN" sz="1600" dirty="0"/>
          </a:p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None/>
            </a:pPr>
            <a:r>
              <a:rPr kumimoji="0" lang="en-US" altLang="zh-CN" sz="1600" dirty="0"/>
              <a:t>  </a:t>
            </a:r>
            <a:r>
              <a:rPr kumimoji="0" lang="en-US" altLang="zh-CN" sz="1600" dirty="0">
                <a:solidFill>
                  <a:srgbClr val="FF0000"/>
                </a:solidFill>
              </a:rPr>
              <a:t>src(</a:t>
            </a:r>
            <a:r>
              <a:rPr lang="en-US" sz="1600" dirty="0"/>
              <a:t>source):</a:t>
            </a:r>
            <a:r>
              <a:rPr lang="zh-CN" altLang="en-US" sz="1600" dirty="0"/>
              <a:t>图像的</a:t>
            </a:r>
            <a:r>
              <a:rPr lang="en-US" sz="1600" dirty="0"/>
              <a:t> URL</a:t>
            </a:r>
            <a:r>
              <a:rPr lang="zh-CN" altLang="en-US" sz="1600" dirty="0"/>
              <a:t>路径。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None/>
            </a:pPr>
            <a:r>
              <a:rPr lang="zh-CN" altLang="en-US" sz="1600" dirty="0"/>
              <a:t>  </a:t>
            </a:r>
            <a:r>
              <a:rPr kumimoji="0" lang="en-US" altLang="zh-CN" sz="1600" b="0" dirty="0"/>
              <a:t>alt </a:t>
            </a:r>
            <a:r>
              <a:rPr kumimoji="0" lang="zh-CN" altLang="en-US" sz="1600" b="0" dirty="0"/>
              <a:t>：添加图片的替代文字。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None/>
            </a:pPr>
            <a:r>
              <a:rPr kumimoji="0" lang="zh-CN" altLang="en-US" sz="1600" b="0" dirty="0"/>
              <a:t>  </a:t>
            </a:r>
            <a:r>
              <a:rPr kumimoji="0" lang="en-US" altLang="zh-CN" sz="1600" b="0" dirty="0"/>
              <a:t>width/height</a:t>
            </a:r>
            <a:r>
              <a:rPr kumimoji="0" lang="zh-CN" altLang="en-US" sz="1600" b="0" dirty="0"/>
              <a:t>：设置图片的宽度和高度</a:t>
            </a:r>
            <a:r>
              <a:rPr kumimoji="0" lang="en-US" altLang="zh-CN" sz="1600" b="0" dirty="0"/>
              <a:t>(</a:t>
            </a:r>
            <a:r>
              <a:rPr kumimoji="0" lang="en-US" altLang="zh-CN" sz="1600" b="0" dirty="0" err="1"/>
              <a:t>px</a:t>
            </a:r>
            <a:r>
              <a:rPr kumimoji="0" lang="en-US" altLang="zh-CN" sz="1600" b="0" dirty="0"/>
              <a:t>,%)</a:t>
            </a:r>
            <a:r>
              <a:rPr kumimoji="0" lang="zh-CN" altLang="en-US" sz="1600" b="0" dirty="0"/>
              <a:t>。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None/>
            </a:pPr>
            <a:r>
              <a:rPr kumimoji="0" lang="zh-CN" altLang="en-US" sz="1600" b="0" dirty="0"/>
              <a:t>  </a:t>
            </a:r>
            <a:r>
              <a:rPr kumimoji="0" lang="en-US" altLang="zh-CN" sz="1600" b="0" dirty="0"/>
              <a:t>border</a:t>
            </a:r>
            <a:r>
              <a:rPr kumimoji="0" lang="zh-CN" altLang="en-US" sz="1600" b="0" dirty="0"/>
              <a:t>：设置图片边框</a:t>
            </a:r>
            <a:r>
              <a:rPr kumimoji="0" lang="en-US" altLang="zh-CN" sz="1600" b="0" dirty="0"/>
              <a:t>(</a:t>
            </a:r>
            <a:r>
              <a:rPr kumimoji="0" lang="en-US" altLang="zh-CN" sz="1600" b="0" dirty="0" err="1"/>
              <a:t>px</a:t>
            </a:r>
            <a:r>
              <a:rPr kumimoji="0" lang="en-US" altLang="zh-CN" sz="1600" b="0" dirty="0"/>
              <a:t>);  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None/>
            </a:pPr>
            <a:r>
              <a:rPr kumimoji="0" lang="en-US" altLang="zh-CN" sz="1600" b="0" dirty="0"/>
              <a:t>  align:</a:t>
            </a:r>
            <a:r>
              <a:rPr kumimoji="0" lang="zh-CN" altLang="en-US" sz="1600" b="0" dirty="0"/>
              <a:t>设置图片对齐方式（水平</a:t>
            </a:r>
            <a:r>
              <a:rPr kumimoji="0" lang="en-US" altLang="zh-CN" sz="1600" b="0" dirty="0"/>
              <a:t>/</a:t>
            </a:r>
            <a:r>
              <a:rPr kumimoji="0" lang="zh-CN" altLang="en-US" sz="1600" b="0" dirty="0"/>
              <a:t>垂直两个方向）</a:t>
            </a:r>
            <a:r>
              <a:rPr kumimoji="0" lang="en-US" altLang="zh-CN" sz="1600" b="0" dirty="0"/>
              <a:t>;  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None/>
            </a:pPr>
            <a:r>
              <a:rPr kumimoji="0" lang="en-US" altLang="zh-CN" sz="1600" b="0" dirty="0">
                <a:highlight>
                  <a:srgbClr val="FFFF00"/>
                </a:highlight>
              </a:rPr>
              <a:t>  </a:t>
            </a:r>
            <a:r>
              <a:rPr kumimoji="0" lang="en-US" altLang="zh-CN" sz="1600" b="0" dirty="0" err="1">
                <a:highlight>
                  <a:srgbClr val="FFFF00"/>
                </a:highlight>
              </a:rPr>
              <a:t>hspase/vspase</a:t>
            </a:r>
            <a:r>
              <a:rPr kumimoji="0" lang="en-US" altLang="zh-CN" sz="1600" b="0" dirty="0">
                <a:highlight>
                  <a:srgbClr val="FFFF00"/>
                </a:highlight>
              </a:rPr>
              <a:t>:</a:t>
            </a:r>
            <a:r>
              <a:rPr kumimoji="0" lang="zh-CN" altLang="en-US" sz="1600" b="0" dirty="0">
                <a:highlight>
                  <a:srgbClr val="FFFF00"/>
                </a:highlight>
              </a:rPr>
              <a:t>设置图片的间距设置</a:t>
            </a:r>
            <a:r>
              <a:rPr kumimoji="0" lang="en-US" altLang="zh-CN" sz="1600" b="0" dirty="0">
                <a:highlight>
                  <a:srgbClr val="FFFF00"/>
                </a:highlight>
              </a:rPr>
              <a:t>(</a:t>
            </a:r>
            <a:r>
              <a:rPr kumimoji="0" lang="zh-CN" altLang="en-US" sz="1600" b="0" dirty="0">
                <a:highlight>
                  <a:srgbClr val="FFFF00"/>
                </a:highlight>
              </a:rPr>
              <a:t>单位不加</a:t>
            </a:r>
            <a:r>
              <a:rPr kumimoji="0" lang="en-US" altLang="zh-CN" sz="1600" b="0" dirty="0" err="1">
                <a:highlight>
                  <a:srgbClr val="FFFF00"/>
                </a:highlight>
              </a:rPr>
              <a:t>px</a:t>
            </a:r>
            <a:r>
              <a:rPr kumimoji="0" lang="en-US" altLang="zh-CN" sz="1600" b="0" dirty="0">
                <a:highlight>
                  <a:srgbClr val="FFFF00"/>
                </a:highlight>
              </a:rPr>
              <a:t>)</a:t>
            </a:r>
            <a:endParaRPr kumimoji="0" lang="en-US" altLang="zh-CN" sz="1600" dirty="0">
              <a:highlight>
                <a:srgbClr val="FFFF00"/>
              </a:highlight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插入图像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327025" y="4738370"/>
            <a:ext cx="8489950" cy="9779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&lt;img src="/layer/ueditor/net/upload/image/20190422/5370296_image.png" title="image.png" alt="image.png"/&gt;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600" dirty="0">
              <a:ea typeface="宋体" panose="02010600030101010101" pitchFamily="2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黑体" panose="02010609060101010101" charset="-122"/>
                <a:sym typeface="+mn-ea"/>
              </a:rPr>
              <a:t>alt</a:t>
            </a:r>
            <a:r>
              <a:rPr lang="zh-CN" altLang="en-US" sz="160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黑体" panose="02010609060101010101" charset="-122"/>
                <a:sym typeface="+mn-ea"/>
              </a:rPr>
              <a:t>：加载失败时，在</a:t>
            </a:r>
            <a:r>
              <a:rPr lang="zh-CN" altLang="en-US" sz="160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黑体" panose="02010609060101010101" charset="-122"/>
                <a:sym typeface="+mn-ea"/>
              </a:rPr>
              <a:t>图像的位置上出现替代文字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endParaRPr kumimoji="0" lang="zh-CN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152" name="Rectangle 8"/>
          <p:cNvSpPr>
            <a:spLocks noChangeArrowheads="1"/>
          </p:cNvSpPr>
          <p:nvPr/>
        </p:nvSpPr>
        <p:spPr bwMode="auto">
          <a:xfrm>
            <a:off x="4417060" y="2013427"/>
            <a:ext cx="309880" cy="245110"/>
          </a:xfrm>
          <a:prstGeom prst="rect">
            <a:avLst/>
          </a:prstGeom>
          <a:noFill/>
          <a:ln w="25400" cap="flat" cmpd="sng">
            <a:noFill/>
            <a:miter lim="800000"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600" y="1224280"/>
            <a:ext cx="5040000" cy="340210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zh-CN" altLang="en-US" dirty="0"/>
              <a:t>设置图像的宽度和高度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 dirty="0">
                <a:solidFill>
                  <a:srgbClr val="FF0000"/>
                </a:solidFill>
                <a:cs typeface="+mn-lt"/>
                <a:sym typeface="+mn-ea"/>
              </a:rPr>
              <a:t>语法：</a:t>
            </a:r>
            <a:r>
              <a:rPr lang="en-US" altLang="zh-CN" sz="1600" dirty="0">
                <a:solidFill>
                  <a:srgbClr val="FF0000"/>
                </a:solidFill>
                <a:cs typeface="+mn-lt"/>
                <a:sym typeface="+mn-ea"/>
              </a:rPr>
              <a:t>&lt;</a:t>
            </a:r>
            <a:r>
              <a:rPr lang="en-US" altLang="zh-CN" sz="1600" dirty="0" err="1">
                <a:solidFill>
                  <a:srgbClr val="FF0000"/>
                </a:solidFill>
                <a:cs typeface="+mn-lt"/>
                <a:sym typeface="+mn-ea"/>
              </a:rPr>
              <a:t>img</a:t>
            </a:r>
            <a:r>
              <a:rPr lang="en-US" altLang="zh-CN" sz="1600" dirty="0">
                <a:solidFill>
                  <a:srgbClr val="FF0000"/>
                </a:solidFill>
                <a:cs typeface="+mn-lt"/>
                <a:sym typeface="+mn-ea"/>
              </a:rPr>
              <a:t> </a:t>
            </a:r>
            <a:r>
              <a:rPr lang="en-US" altLang="zh-CN" sz="1600" dirty="0" err="1">
                <a:solidFill>
                  <a:srgbClr val="FF0000"/>
                </a:solidFill>
                <a:cs typeface="+mn-lt"/>
                <a:sym typeface="+mn-ea"/>
              </a:rPr>
              <a:t>src</a:t>
            </a:r>
            <a:r>
              <a:rPr lang="en-US" altLang="zh-CN" sz="1600" dirty="0">
                <a:solidFill>
                  <a:srgbClr val="FF0000"/>
                </a:solidFill>
                <a:cs typeface="+mn-lt"/>
                <a:sym typeface="+mn-ea"/>
              </a:rPr>
              <a:t>=</a:t>
            </a:r>
            <a:r>
              <a:rPr lang="en-US" altLang="zh-CN" sz="1600" dirty="0">
                <a:solidFill>
                  <a:srgbClr val="FF0000"/>
                </a:solidFill>
                <a:ea typeface="宋体" panose="02010600030101010101" pitchFamily="2" charset="-122"/>
                <a:cs typeface="+mn-lt"/>
                <a:sym typeface="+mn-ea"/>
              </a:rPr>
              <a:t>""</a:t>
            </a:r>
            <a:r>
              <a:rPr lang="en-US" altLang="zh-CN" sz="1600" dirty="0">
                <a:solidFill>
                  <a:srgbClr val="FF0000"/>
                </a:solidFill>
                <a:cs typeface="+mn-lt"/>
                <a:sym typeface="+mn-ea"/>
              </a:rPr>
              <a:t> width=</a:t>
            </a:r>
            <a:r>
              <a:rPr lang="en-US" altLang="zh-CN" sz="1600" dirty="0">
                <a:solidFill>
                  <a:srgbClr val="FF0000"/>
                </a:solidFill>
                <a:ea typeface="宋体" panose="02010600030101010101" pitchFamily="2" charset="-122"/>
                <a:cs typeface="+mn-lt"/>
                <a:sym typeface="+mn-ea"/>
              </a:rPr>
              <a:t>""  </a:t>
            </a:r>
            <a:r>
              <a:rPr lang="en-US" altLang="zh-CN" sz="1600" dirty="0">
                <a:solidFill>
                  <a:srgbClr val="FF0000"/>
                </a:solidFill>
                <a:cs typeface="+mn-lt"/>
                <a:sym typeface="+mn-ea"/>
              </a:rPr>
              <a:t>height=</a:t>
            </a:r>
            <a:r>
              <a:rPr lang="en-US" altLang="zh-CN" sz="1600" dirty="0">
                <a:solidFill>
                  <a:srgbClr val="FF0000"/>
                </a:solidFill>
                <a:ea typeface="宋体" panose="02010600030101010101" pitchFamily="2" charset="-122"/>
                <a:cs typeface="+mn-lt"/>
                <a:sym typeface="+mn-ea"/>
              </a:rPr>
              <a:t>""</a:t>
            </a:r>
            <a:r>
              <a:rPr lang="en-US" altLang="zh-CN" sz="1600" dirty="0">
                <a:solidFill>
                  <a:srgbClr val="FF0000"/>
                </a:solidFill>
                <a:cs typeface="+mn-lt"/>
                <a:sym typeface="+mn-ea"/>
              </a:rPr>
              <a:t>&gt;</a:t>
            </a:r>
            <a:endParaRPr lang="en-US" altLang="zh-CN" sz="1600" dirty="0">
              <a:solidFill>
                <a:srgbClr val="FF0000"/>
              </a:solidFill>
              <a:cs typeface="+mn-lt"/>
            </a:endParaRPr>
          </a:p>
          <a:p>
            <a:pPr marL="342900" lvl="0" indent="-342900"/>
            <a:r>
              <a:rPr lang="en-US" altLang="zh-CN" sz="1600" dirty="0">
                <a:cs typeface="+mn-lt"/>
                <a:sym typeface="+mn-ea"/>
              </a:rPr>
              <a:t>    </a:t>
            </a:r>
            <a:r>
              <a:rPr altLang="zh-CN" sz="1600" dirty="0">
                <a:cs typeface="+mn-lt"/>
                <a:sym typeface="+mn-ea"/>
              </a:rPr>
              <a:t>图像高度和宽度的单位可以是像素，也可以是百分比。</a:t>
            </a:r>
            <a:endParaRPr lang="zh-CN" altLang="zh-CN" sz="1600" b="0" dirty="0">
              <a:ea typeface="微软雅黑" panose="020B0503020204020204" charset="-122"/>
              <a:cs typeface="+mn-lt"/>
            </a:endParaRPr>
          </a:p>
          <a:p>
            <a:pPr marL="342900" lvl="0" indent="-342900"/>
            <a:r>
              <a:rPr altLang="zh-CN" sz="1600" dirty="0">
                <a:cs typeface="+mn-lt"/>
                <a:sym typeface="+mn-ea"/>
              </a:rPr>
              <a:t>    在设置图像的宽度和高度属性时，可以只设置宽度和高度中的其中之一，另一个属性将按原图</a:t>
            </a:r>
            <a:r>
              <a:rPr altLang="zh-CN" sz="1600" dirty="0">
                <a:highlight>
                  <a:srgbClr val="FFFF00"/>
                </a:highlight>
                <a:cs typeface="+mn-lt"/>
                <a:sym typeface="+mn-ea"/>
              </a:rPr>
              <a:t>像宽高等比例显示</a:t>
            </a:r>
            <a:r>
              <a:rPr altLang="zh-CN" sz="1600" dirty="0">
                <a:cs typeface="+mn-lt"/>
                <a:sym typeface="+mn-ea"/>
              </a:rPr>
              <a:t>；</a:t>
            </a:r>
            <a:endParaRPr lang="zh-CN" altLang="zh-CN" sz="1600" b="0" dirty="0">
              <a:ea typeface="微软雅黑" panose="020B0503020204020204" charset="-122"/>
              <a:cs typeface="+mn-lt"/>
            </a:endParaRPr>
          </a:p>
          <a:p>
            <a:pPr marL="342900" lvl="0" indent="-342900"/>
            <a:r>
              <a:rPr altLang="zh-CN" sz="1600" dirty="0">
                <a:cs typeface="+mn-lt"/>
                <a:sym typeface="+mn-ea"/>
              </a:rPr>
              <a:t>    同时设置两个属性时图像会发生变形。</a:t>
            </a:r>
            <a:endParaRPr lang="en-US" altLang="zh-CN" sz="1600" b="0" dirty="0">
              <a:ea typeface="微软雅黑" panose="020B0503020204020204" charset="-122"/>
              <a:cs typeface="+mn-lt"/>
            </a:endParaRPr>
          </a:p>
          <a:p>
            <a:pPr lvl="0">
              <a:spcBef>
                <a:spcPts val="600"/>
              </a:spcBef>
              <a:spcAft>
                <a:spcPts val="600"/>
              </a:spcAft>
            </a:pPr>
            <a:endParaRPr lang="en-US" altLang="zh-CN" sz="1600" kern="0" dirty="0">
              <a:cs typeface="+mn-lt"/>
            </a:endParaRPr>
          </a:p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sz="1600" kern="0" dirty="0">
                <a:cs typeface="+mn-lt"/>
                <a:sym typeface="+mn-ea"/>
              </a:rPr>
              <a:t>设置图像的边框</a:t>
            </a:r>
            <a:endParaRPr lang="en-US" altLang="zh-CN" sz="1600" kern="0" dirty="0">
              <a:cs typeface="+mn-lt"/>
            </a:endParaRPr>
          </a:p>
          <a:p>
            <a:pPr lvl="0"/>
            <a:r>
              <a:rPr sz="1600" dirty="0">
                <a:solidFill>
                  <a:srgbClr val="FF0000"/>
                </a:solidFill>
                <a:cs typeface="+mn-lt"/>
                <a:sym typeface="+mn-ea"/>
              </a:rPr>
              <a:t>语法：</a:t>
            </a:r>
            <a:r>
              <a:rPr lang="en-US" altLang="zh-CN" sz="1600" dirty="0">
                <a:solidFill>
                  <a:srgbClr val="FF0000"/>
                </a:solidFill>
                <a:ea typeface="Verdana" panose="020B0604030504040204" pitchFamily="34" charset="0"/>
                <a:cs typeface="+mn-lt"/>
                <a:sym typeface="+mn-ea"/>
              </a:rPr>
              <a:t>&lt;</a:t>
            </a:r>
            <a:r>
              <a:rPr lang="en-US" altLang="zh-CN" sz="1600" dirty="0" err="1">
                <a:solidFill>
                  <a:srgbClr val="FF0000"/>
                </a:solidFill>
                <a:ea typeface="Verdana" panose="020B0604030504040204" pitchFamily="34" charset="0"/>
                <a:cs typeface="+mn-lt"/>
                <a:sym typeface="+mn-ea"/>
              </a:rPr>
              <a:t>img</a:t>
            </a:r>
            <a:r>
              <a:rPr lang="en-US" altLang="zh-CN" sz="1600" dirty="0">
                <a:solidFill>
                  <a:srgbClr val="FF0000"/>
                </a:solidFill>
                <a:ea typeface="Verdana" panose="020B0604030504040204" pitchFamily="34" charset="0"/>
                <a:cs typeface="+mn-lt"/>
                <a:sym typeface="+mn-ea"/>
              </a:rPr>
              <a:t> </a:t>
            </a:r>
            <a:r>
              <a:rPr lang="en-US" altLang="zh-CN" sz="1600" dirty="0" err="1">
                <a:solidFill>
                  <a:srgbClr val="FF0000"/>
                </a:solidFill>
                <a:ea typeface="Verdana" panose="020B0604030504040204" pitchFamily="34" charset="0"/>
                <a:cs typeface="+mn-lt"/>
                <a:sym typeface="+mn-ea"/>
              </a:rPr>
              <a:t>src</a:t>
            </a:r>
            <a:r>
              <a:rPr lang="en-US" altLang="zh-CN" sz="1600" dirty="0">
                <a:solidFill>
                  <a:srgbClr val="FF0000"/>
                </a:solidFill>
                <a:ea typeface="Verdana" panose="020B0604030504040204" pitchFamily="34" charset="0"/>
                <a:cs typeface="+mn-lt"/>
                <a:sym typeface="+mn-ea"/>
              </a:rPr>
              <a:t>=</a:t>
            </a:r>
            <a:r>
              <a:rPr lang="en-US" altLang="zh-CN" sz="1600" dirty="0">
                <a:solidFill>
                  <a:srgbClr val="FF0000"/>
                </a:solidFill>
                <a:ea typeface="宋体" panose="02010600030101010101" pitchFamily="2" charset="-122"/>
                <a:cs typeface="+mn-lt"/>
                <a:sym typeface="+mn-ea"/>
              </a:rPr>
              <a:t>""</a:t>
            </a:r>
            <a:r>
              <a:rPr lang="en-US" altLang="zh-CN" sz="1600" dirty="0">
                <a:solidFill>
                  <a:srgbClr val="FF0000"/>
                </a:solidFill>
                <a:ea typeface="Verdana" panose="020B0604030504040204" pitchFamily="34" charset="0"/>
                <a:cs typeface="+mn-lt"/>
                <a:sym typeface="+mn-ea"/>
              </a:rPr>
              <a:t> border=</a:t>
            </a:r>
            <a:r>
              <a:rPr lang="en-US" altLang="zh-CN" sz="1600" dirty="0">
                <a:solidFill>
                  <a:srgbClr val="FF0000"/>
                </a:solidFill>
                <a:ea typeface="宋体" panose="02010600030101010101" pitchFamily="2" charset="-122"/>
                <a:cs typeface="+mn-lt"/>
                <a:sym typeface="+mn-ea"/>
              </a:rPr>
              <a:t>"</a:t>
            </a:r>
            <a:r>
              <a:rPr lang="en-US" altLang="zh-CN" sz="1600" dirty="0">
                <a:solidFill>
                  <a:srgbClr val="FF0000"/>
                </a:solidFill>
                <a:ea typeface="Verdana" panose="020B0604030504040204" pitchFamily="34" charset="0"/>
                <a:cs typeface="+mn-lt"/>
                <a:sym typeface="+mn-ea"/>
              </a:rPr>
              <a:t>value</a:t>
            </a:r>
            <a:r>
              <a:rPr lang="en-US" altLang="zh-CN" sz="1600" dirty="0">
                <a:solidFill>
                  <a:srgbClr val="FF0000"/>
                </a:solidFill>
                <a:ea typeface="宋体" panose="02010600030101010101" pitchFamily="2" charset="-122"/>
                <a:cs typeface="+mn-lt"/>
                <a:sym typeface="+mn-ea"/>
              </a:rPr>
              <a:t>"</a:t>
            </a:r>
            <a:r>
              <a:rPr lang="en-US" altLang="zh-CN" sz="1600" dirty="0">
                <a:solidFill>
                  <a:srgbClr val="FF0000"/>
                </a:solidFill>
                <a:ea typeface="Verdana" panose="020B0604030504040204" pitchFamily="34" charset="0"/>
                <a:cs typeface="+mn-lt"/>
                <a:sym typeface="+mn-ea"/>
              </a:rPr>
              <a:t>&gt;</a:t>
            </a:r>
            <a:endParaRPr lang="en-US" altLang="zh-CN" sz="1600" dirty="0">
              <a:solidFill>
                <a:srgbClr val="FF0000"/>
              </a:solidFill>
              <a:ea typeface="Verdana" panose="020B0604030504040204" pitchFamily="34" charset="0"/>
              <a:cs typeface="+mn-lt"/>
            </a:endParaRPr>
          </a:p>
          <a:p>
            <a:r>
              <a:rPr lang="en-US" altLang="zh-CN" sz="1600" dirty="0">
                <a:cs typeface="+mn-lt"/>
                <a:sym typeface="+mn-ea"/>
              </a:rPr>
              <a:t>    value</a:t>
            </a:r>
            <a:r>
              <a:rPr altLang="zh-CN" sz="1600" dirty="0">
                <a:cs typeface="+mn-lt"/>
                <a:sym typeface="+mn-ea"/>
              </a:rPr>
              <a:t>为边框线的宽度，用数字表示，单位为像素。</a:t>
            </a:r>
          </a:p>
          <a:p>
            <a:endParaRPr lang="en-US" altLang="zh-CN" sz="1600" dirty="0">
              <a:cs typeface="+mn-lt"/>
              <a:sym typeface="+mn-ea"/>
            </a:endParaRPr>
          </a:p>
          <a:p>
            <a:r>
              <a:rPr altLang="zh-CN" sz="1600" dirty="0">
                <a:cs typeface="+mn-lt"/>
                <a:sym typeface="+mn-ea"/>
              </a:rPr>
              <a:t>样式设置多让位于</a:t>
            </a:r>
            <a:r>
              <a:rPr lang="en-US" altLang="zh-CN" sz="1600" dirty="0">
                <a:cs typeface="+mn-lt"/>
                <a:sym typeface="+mn-ea"/>
              </a:rPr>
              <a:t>CSS</a:t>
            </a:r>
            <a:endParaRPr lang="en-US" altLang="zh-CN" sz="1600" dirty="0">
              <a:cs typeface="+mn-lt"/>
            </a:endParaRPr>
          </a:p>
          <a:p>
            <a:endParaRPr lang="en-US" altLang="zh-CN" sz="1600" dirty="0">
              <a:cs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410" y="1730188"/>
            <a:ext cx="6687820" cy="6451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endParaRPr lang="en-US" altLang="zh-CN" b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85902" y="3581396"/>
            <a:ext cx="8229484" cy="737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endParaRPr lang="en-US" altLang="zh-CN" sz="2400" dirty="0">
              <a:solidFill>
                <a:srgbClr val="000000"/>
              </a:solidFill>
            </a:endParaRPr>
          </a:p>
          <a:p>
            <a:pPr lvl="0"/>
            <a:endParaRPr lang="zh-CN" altLang="en-US" dirty="0">
              <a:solidFill>
                <a:srgbClr val="000000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6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设置图像对齐方式及间距</a:t>
            </a:r>
          </a:p>
        </p:txBody>
      </p:sp>
      <p:graphicFrame>
        <p:nvGraphicFramePr>
          <p:cNvPr id="4" name="Group 202"/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49952634"/>
              </p:ext>
            </p:extLst>
          </p:nvPr>
        </p:nvGraphicFramePr>
        <p:xfrm>
          <a:off x="488415" y="2829766"/>
          <a:ext cx="8153400" cy="2417318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766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939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00100" algn="l"/>
                        </a:tabLst>
                      </a:pPr>
                      <a:r>
                        <a:rPr kumimoji="0" lang="zh-CN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取值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00100" algn="l"/>
                        </a:tabLst>
                      </a:pPr>
                      <a:r>
                        <a:rPr kumimoji="0" lang="zh-CN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说明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00100" algn="l"/>
                        </a:tabLst>
                      </a:pP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top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4290" marB="34290" anchor="ctr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00100" algn="l"/>
                        </a:tabLst>
                      </a:pPr>
                      <a:r>
                        <a:rPr kumimoji="0" lang="zh-CN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图像的顶端和当前行的文字顶端对齐，当前行高度相应扩大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00100" algn="l"/>
                        </a:tabLst>
                      </a:pP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middle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4290" marB="34290" anchor="ctr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00100" algn="l"/>
                        </a:tabLst>
                      </a:pPr>
                      <a:r>
                        <a:rPr kumimoji="0" lang="zh-CN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图像</a:t>
                      </a:r>
                      <a:r>
                        <a:rPr kumimoji="0" lang="zh-CN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水平中线</a:t>
                      </a:r>
                      <a:r>
                        <a:rPr kumimoji="0" lang="zh-CN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和当前行的文字中线对齐，当前行高度相应扩大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2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00100" algn="l"/>
                        </a:tabLst>
                      </a:pP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bottom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4290" marB="34290" anchor="ctr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00100" algn="l"/>
                        </a:tabLst>
                      </a:pPr>
                      <a:r>
                        <a:rPr kumimoji="0" lang="zh-CN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图像的底端和当前行的文字底端对齐，当前行高度相应扩大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63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00100" algn="l"/>
                        </a:tabLst>
                      </a:pP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left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4290" marB="34290" anchor="ctr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00100" algn="l"/>
                        </a:tabLst>
                      </a:pPr>
                      <a:r>
                        <a:rPr kumimoji="0" lang="zh-CN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图像左对齐，浮动游离于文字之外，文字环绕图像周围，文字行高度没有任何变化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00100" algn="l"/>
                        </a:tabLst>
                      </a:pPr>
                      <a:r>
                        <a:rPr kumimoji="0" lang="en-US" altLang="zh-CN" sz="16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center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4290" marB="34290" anchor="ctr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00100" algn="l"/>
                        </a:tabLst>
                      </a:pPr>
                      <a:r>
                        <a:rPr kumimoji="0" lang="zh-CN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图像中线和当前行的文字中线对齐，当前行高度相应扩大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63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00100" algn="l"/>
                        </a:tabLst>
                      </a:pPr>
                      <a:r>
                        <a:rPr kumimoji="0" lang="en-US" altLang="zh-CN" sz="16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right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4290" marB="34290" anchor="ctr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00100" algn="l"/>
                        </a:tabLst>
                      </a:pPr>
                      <a:r>
                        <a:rPr kumimoji="0" lang="zh-CN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图像右对齐，浮动游离于文字之外，文字环绕图像周围，文字行高度没有任何变化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502285" y="1291590"/>
            <a:ext cx="7413625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800" dirty="0"/>
              <a:t>基本语法：</a:t>
            </a:r>
            <a:endParaRPr lang="en-US" altLang="zh-CN" sz="1800" dirty="0"/>
          </a:p>
          <a:p>
            <a:r>
              <a:rPr lang="en-US" altLang="zh-CN" sz="1800" dirty="0">
                <a:solidFill>
                  <a:srgbClr val="FF0000"/>
                </a:solidFill>
              </a:rPr>
              <a:t>    &lt;</a:t>
            </a:r>
            <a:r>
              <a:rPr lang="en-US" altLang="zh-CN" sz="1800" dirty="0" err="1">
                <a:solidFill>
                  <a:srgbClr val="FF0000"/>
                </a:solidFill>
              </a:rPr>
              <a:t>img</a:t>
            </a:r>
            <a:r>
              <a:rPr lang="en-US" altLang="zh-CN" sz="1800" dirty="0">
                <a:solidFill>
                  <a:srgbClr val="FF0000"/>
                </a:solidFill>
              </a:rPr>
              <a:t> </a:t>
            </a:r>
            <a:r>
              <a:rPr lang="en-US" altLang="zh-CN" sz="1800" dirty="0" err="1">
                <a:solidFill>
                  <a:srgbClr val="FF0000"/>
                </a:solidFill>
              </a:rPr>
              <a:t>src</a:t>
            </a:r>
            <a:r>
              <a:rPr lang="en-US" altLang="zh-CN" sz="1800" dirty="0">
                <a:solidFill>
                  <a:srgbClr val="FF0000"/>
                </a:solidFill>
              </a:rPr>
              <a:t>=" URL " align="value"&gt;</a:t>
            </a:r>
          </a:p>
          <a:p>
            <a:r>
              <a:rPr lang="en-US" altLang="zh-CN" sz="1800" dirty="0">
                <a:solidFill>
                  <a:srgbClr val="FF0000"/>
                </a:solidFill>
              </a:rPr>
              <a:t>    &lt;</a:t>
            </a:r>
            <a:r>
              <a:rPr lang="en-US" altLang="zh-CN" sz="1800" dirty="0" err="1">
                <a:solidFill>
                  <a:srgbClr val="FF0000"/>
                </a:solidFill>
              </a:rPr>
              <a:t>img</a:t>
            </a:r>
            <a:r>
              <a:rPr lang="en-US" altLang="zh-CN" sz="1800" dirty="0">
                <a:solidFill>
                  <a:srgbClr val="FF0000"/>
                </a:solidFill>
              </a:rPr>
              <a:t> </a:t>
            </a:r>
            <a:r>
              <a:rPr lang="en-US" altLang="zh-CN" sz="1800" dirty="0" err="1">
                <a:solidFill>
                  <a:srgbClr val="FF0000"/>
                </a:solidFill>
              </a:rPr>
              <a:t>src</a:t>
            </a:r>
            <a:r>
              <a:rPr lang="en-US" altLang="zh-CN" sz="1800" dirty="0">
                <a:solidFill>
                  <a:srgbClr val="FF0000"/>
                </a:solidFill>
              </a:rPr>
              <a:t>="URL" </a:t>
            </a:r>
            <a:r>
              <a:rPr lang="en-US" altLang="zh-CN" sz="1800" dirty="0" err="1">
                <a:solidFill>
                  <a:srgbClr val="FF0000"/>
                </a:solidFill>
              </a:rPr>
              <a:t>hspace</a:t>
            </a:r>
            <a:r>
              <a:rPr lang="en-US" altLang="zh-CN" sz="1800" dirty="0">
                <a:solidFill>
                  <a:srgbClr val="FF0000"/>
                </a:solidFill>
              </a:rPr>
              <a:t>="</a:t>
            </a:r>
            <a:r>
              <a:rPr lang="zh-CN" altLang="en-US" sz="1800" dirty="0">
                <a:solidFill>
                  <a:srgbClr val="FF0000"/>
                </a:solidFill>
              </a:rPr>
              <a:t>水平间距数值</a:t>
            </a:r>
            <a:r>
              <a:rPr lang="en-US" altLang="zh-CN" sz="1800" dirty="0">
                <a:solidFill>
                  <a:srgbClr val="FF0000"/>
                </a:solidFill>
              </a:rPr>
              <a:t>" </a:t>
            </a:r>
            <a:r>
              <a:rPr lang="en-US" altLang="zh-CN" sz="1800" dirty="0" err="1">
                <a:solidFill>
                  <a:srgbClr val="FF0000"/>
                </a:solidFill>
              </a:rPr>
              <a:t>vspace</a:t>
            </a:r>
            <a:r>
              <a:rPr lang="en-US" altLang="zh-CN" sz="1800" dirty="0">
                <a:solidFill>
                  <a:srgbClr val="FF0000"/>
                </a:solidFill>
              </a:rPr>
              <a:t>="</a:t>
            </a:r>
            <a:r>
              <a:rPr lang="zh-CN" altLang="en-US" sz="1800" dirty="0">
                <a:solidFill>
                  <a:srgbClr val="FF0000"/>
                </a:solidFill>
              </a:rPr>
              <a:t>垂直间距数值</a:t>
            </a:r>
            <a:r>
              <a:rPr lang="en-US" altLang="zh-CN" sz="1800" dirty="0">
                <a:solidFill>
                  <a:srgbClr val="FF0000"/>
                </a:solidFill>
              </a:rPr>
              <a:t>"&gt;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设置图像热区链接 </a:t>
            </a:r>
          </a:p>
        </p:txBody>
      </p:sp>
      <p:sp>
        <p:nvSpPr>
          <p:cNvPr id="120835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196975"/>
            <a:ext cx="8108315" cy="4924425"/>
          </a:xfrm>
        </p:spPr>
        <p:txBody>
          <a:bodyPr>
            <a:normAutofit lnSpcReduction="10000"/>
          </a:bodyPr>
          <a:lstStyle/>
          <a:p>
            <a:r>
              <a:rPr lang="zh-CN" altLang="en-US" sz="1780" dirty="0"/>
              <a:t>热区、映射图像</a:t>
            </a:r>
          </a:p>
          <a:p>
            <a:r>
              <a:rPr lang="zh-CN" altLang="en-US" sz="1780" dirty="0"/>
              <a:t>基本语法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80" dirty="0">
                <a:solidFill>
                  <a:srgbClr val="FF0000"/>
                </a:solidFill>
              </a:rPr>
              <a:t>      &lt;img src="</a:t>
            </a:r>
            <a:r>
              <a:rPr lang="zh-CN" altLang="en-US" sz="1780" dirty="0">
                <a:solidFill>
                  <a:srgbClr val="FF0000"/>
                </a:solidFill>
              </a:rPr>
              <a:t>图像地址</a:t>
            </a:r>
            <a:r>
              <a:rPr lang="en-US" sz="1780" dirty="0">
                <a:solidFill>
                  <a:srgbClr val="FF0000"/>
                </a:solidFill>
              </a:rPr>
              <a:t>" </a:t>
            </a:r>
            <a:r>
              <a:rPr lang="en-US" sz="1780" dirty="0" err="1">
                <a:solidFill>
                  <a:srgbClr val="FF0000"/>
                </a:solidFill>
              </a:rPr>
              <a:t>usemap</a:t>
            </a:r>
            <a:r>
              <a:rPr lang="en-US" sz="1780" dirty="0">
                <a:solidFill>
                  <a:srgbClr val="FF0000"/>
                </a:solidFill>
              </a:rPr>
              <a:t>="#</a:t>
            </a:r>
            <a:r>
              <a:rPr lang="zh-CN" altLang="en-US" sz="1780" dirty="0">
                <a:solidFill>
                  <a:srgbClr val="FF0000"/>
                </a:solidFill>
              </a:rPr>
              <a:t>映射图</a:t>
            </a:r>
            <a:r>
              <a:rPr sz="1775">
                <a:solidFill>
                  <a:srgbClr val="FF0000"/>
                </a:solidFill>
                <a:sym typeface="+mn-ea"/>
              </a:rPr>
              <a:t>像</a:t>
            </a:r>
            <a:r>
              <a:rPr lang="zh-CN" altLang="en-US" sz="1780" dirty="0">
                <a:solidFill>
                  <a:srgbClr val="FF0000"/>
                </a:solidFill>
              </a:rPr>
              <a:t>名称</a:t>
            </a:r>
            <a:r>
              <a:rPr lang="en-US" sz="1780" dirty="0">
                <a:solidFill>
                  <a:srgbClr val="FF0000"/>
                </a:solidFill>
              </a:rPr>
              <a:t>"&gt;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80" dirty="0">
                <a:solidFill>
                  <a:srgbClr val="FF0000"/>
                </a:solidFill>
              </a:rPr>
              <a:t>      &lt;map name="</a:t>
            </a:r>
            <a:r>
              <a:rPr lang="zh-CN" altLang="en-US" sz="1780" dirty="0">
                <a:solidFill>
                  <a:srgbClr val="FF0000"/>
                </a:solidFill>
              </a:rPr>
              <a:t>映射图</a:t>
            </a:r>
            <a:r>
              <a:rPr sz="1775">
                <a:solidFill>
                  <a:srgbClr val="FF0000"/>
                </a:solidFill>
                <a:sym typeface="+mn-ea"/>
              </a:rPr>
              <a:t>像</a:t>
            </a:r>
            <a:r>
              <a:rPr lang="zh-CN" altLang="en-US" sz="1780" dirty="0">
                <a:solidFill>
                  <a:srgbClr val="FF0000"/>
                </a:solidFill>
              </a:rPr>
              <a:t>名称</a:t>
            </a:r>
            <a:r>
              <a:rPr lang="en-US" sz="1780" dirty="0">
                <a:solidFill>
                  <a:srgbClr val="FF0000"/>
                </a:solidFill>
              </a:rPr>
              <a:t>"&gt;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80" dirty="0">
                <a:solidFill>
                  <a:srgbClr val="FF0000"/>
                </a:solidFill>
              </a:rPr>
              <a:t>           </a:t>
            </a:r>
            <a:r>
              <a:rPr lang="en-US" sz="1780" dirty="0">
                <a:solidFill>
                  <a:srgbClr val="FF0000"/>
                </a:solidFill>
              </a:rPr>
              <a:t>&lt;area  shape="</a:t>
            </a:r>
            <a:r>
              <a:rPr lang="zh-CN" altLang="en-US" sz="1780" dirty="0">
                <a:solidFill>
                  <a:srgbClr val="FF0000"/>
                </a:solidFill>
              </a:rPr>
              <a:t>热区形状</a:t>
            </a:r>
            <a:r>
              <a:rPr lang="en-US" sz="1780" dirty="0">
                <a:solidFill>
                  <a:srgbClr val="FF0000"/>
                </a:solidFill>
              </a:rPr>
              <a:t>" </a:t>
            </a:r>
            <a:r>
              <a:rPr lang="en-US" sz="1780" dirty="0" err="1">
                <a:solidFill>
                  <a:srgbClr val="FF0000"/>
                </a:solidFill>
              </a:rPr>
              <a:t>coords</a:t>
            </a:r>
            <a:r>
              <a:rPr lang="en-US" sz="1780" dirty="0">
                <a:solidFill>
                  <a:srgbClr val="FF0000"/>
                </a:solidFill>
              </a:rPr>
              <a:t>="</a:t>
            </a:r>
            <a:r>
              <a:rPr lang="zh-CN" altLang="en-US" sz="1780" dirty="0">
                <a:solidFill>
                  <a:srgbClr val="FF0000"/>
                </a:solidFill>
              </a:rPr>
              <a:t>热区坐标</a:t>
            </a:r>
            <a:r>
              <a:rPr lang="en-US" sz="1780" dirty="0">
                <a:solidFill>
                  <a:srgbClr val="FF0000"/>
                </a:solidFill>
              </a:rPr>
              <a:t>" </a:t>
            </a:r>
            <a:r>
              <a:rPr lang="en-US" sz="1780" dirty="0" err="1">
                <a:solidFill>
                  <a:srgbClr val="FF0000"/>
                </a:solidFill>
              </a:rPr>
              <a:t>href</a:t>
            </a:r>
            <a:r>
              <a:rPr lang="en-US" sz="1780" dirty="0">
                <a:solidFill>
                  <a:srgbClr val="FF0000"/>
                </a:solidFill>
              </a:rPr>
              <a:t>="URL"&gt;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80" dirty="0">
                <a:solidFill>
                  <a:srgbClr val="FF0000"/>
                </a:solidFill>
              </a:rPr>
              <a:t>     &lt;/map&gt;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endParaRPr lang="zh-CN" altLang="en-US" dirty="0"/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dirty="0"/>
              <a:t>其中：</a:t>
            </a:r>
            <a:r>
              <a:rPr lang="en-US" sz="2000" dirty="0" err="1"/>
              <a:t>shape:rect</a:t>
            </a:r>
            <a:r>
              <a:rPr lang="en-US" sz="2000" dirty="0"/>
              <a:t>(</a:t>
            </a:r>
            <a:r>
              <a:rPr lang="zh-CN" altLang="en-US" sz="2000" dirty="0"/>
              <a:t>矩形</a:t>
            </a:r>
            <a:r>
              <a:rPr lang="en-US" sz="2000" dirty="0"/>
              <a:t>)、 circle (</a:t>
            </a:r>
            <a:r>
              <a:rPr lang="zh-CN" altLang="en-US" sz="2000" dirty="0"/>
              <a:t>圆形</a:t>
            </a:r>
            <a:r>
              <a:rPr lang="en-US" sz="2000" dirty="0"/>
              <a:t>)、 poly (</a:t>
            </a:r>
            <a:r>
              <a:rPr lang="zh-CN" altLang="en-US" sz="2000" dirty="0"/>
              <a:t>多边形</a:t>
            </a:r>
            <a:r>
              <a:rPr lang="en-US" sz="2000" dirty="0"/>
              <a:t>) ；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            </a:t>
            </a:r>
            <a:r>
              <a:rPr lang="en-US" sz="2000" dirty="0" err="1"/>
              <a:t>coords</a:t>
            </a:r>
            <a:r>
              <a:rPr lang="zh-CN" altLang="en-US" sz="2000" dirty="0"/>
              <a:t>与</a:t>
            </a:r>
            <a:r>
              <a:rPr lang="en-US" altLang="zh-CN" sz="2000" dirty="0"/>
              <a:t>shape</a:t>
            </a:r>
            <a:r>
              <a:rPr lang="zh-CN" altLang="en-US" sz="2000" dirty="0"/>
              <a:t>对应的坐标值：</a:t>
            </a:r>
            <a:endParaRPr lang="en-US" altLang="zh-CN" sz="2000" dirty="0"/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            </a:t>
            </a:r>
            <a:r>
              <a:rPr lang="en-US" sz="2000" dirty="0" err="1"/>
              <a:t>rect</a:t>
            </a:r>
            <a:r>
              <a:rPr lang="en-US" sz="2000" dirty="0"/>
              <a:t>： x1,y1,x2,y2 (4 </a:t>
            </a:r>
            <a:r>
              <a:rPr lang="zh-CN" altLang="en-US" sz="2000" dirty="0"/>
              <a:t>个值</a:t>
            </a:r>
            <a:r>
              <a:rPr lang="en-US" sz="2000" dirty="0"/>
              <a:t>);</a:t>
            </a:r>
            <a:endParaRPr lang="en-US" altLang="zh-CN" sz="2000" dirty="0"/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            circle ： center-x</a:t>
            </a:r>
            <a:r>
              <a:rPr lang="zh-CN" altLang="en-US" sz="2000" dirty="0"/>
              <a:t>、</a:t>
            </a:r>
            <a:r>
              <a:rPr lang="en-US" sz="2000" dirty="0"/>
              <a:t>center-y</a:t>
            </a:r>
            <a:r>
              <a:rPr lang="zh-CN" altLang="en-US" sz="2000" dirty="0"/>
              <a:t>、</a:t>
            </a:r>
            <a:r>
              <a:rPr lang="en-US" sz="2000" dirty="0"/>
              <a:t>radius(3</a:t>
            </a:r>
            <a:r>
              <a:rPr lang="zh-CN" altLang="en-US" sz="2000" dirty="0"/>
              <a:t>个值</a:t>
            </a:r>
            <a:r>
              <a:rPr lang="en-US" sz="2000" dirty="0"/>
              <a:t>)</a:t>
            </a:r>
            <a:endParaRPr lang="en-US" altLang="zh-CN" sz="2000" dirty="0"/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            poly ：</a:t>
            </a:r>
            <a:r>
              <a:rPr lang="zh-CN" altLang="en-US" sz="2000" dirty="0"/>
              <a:t>（</a:t>
            </a:r>
            <a:r>
              <a:rPr lang="en-US" sz="2000" dirty="0"/>
              <a:t> </a:t>
            </a:r>
            <a:r>
              <a:rPr lang="en-US" sz="2000" u="sng" dirty="0">
                <a:solidFill>
                  <a:srgbClr val="FF0000"/>
                </a:solidFill>
              </a:rPr>
              <a:t>x1,y1</a:t>
            </a:r>
            <a:r>
              <a:rPr lang="en-US" sz="2000" dirty="0"/>
              <a:t>,x2,y2 ,…,</a:t>
            </a:r>
            <a:r>
              <a:rPr lang="en-US" sz="2000" dirty="0" err="1"/>
              <a:t>xi,yi</a:t>
            </a:r>
            <a:r>
              <a:rPr lang="en-US" sz="2000" dirty="0"/>
              <a:t>,…,xn,yn,</a:t>
            </a:r>
            <a:r>
              <a:rPr lang="en-US" sz="2000" u="sng" dirty="0">
                <a:solidFill>
                  <a:srgbClr val="FF0000"/>
                </a:solidFill>
              </a:rPr>
              <a:t>x1,y1</a:t>
            </a:r>
            <a:r>
              <a:rPr lang="zh-CN" altLang="en-US" sz="2000" dirty="0"/>
              <a:t>）</a:t>
            </a:r>
            <a:r>
              <a:rPr lang="en-US" altLang="zh-CN" sz="2000" dirty="0"/>
              <a:t>(</a:t>
            </a:r>
            <a:r>
              <a:rPr lang="zh-CN" altLang="en-US" sz="2000" dirty="0"/>
              <a:t>（</a:t>
            </a:r>
            <a:r>
              <a:rPr lang="en-US" altLang="zh-CN" sz="2000" dirty="0"/>
              <a:t>n+1</a:t>
            </a:r>
            <a:r>
              <a:rPr lang="zh-CN" altLang="en-US" sz="2000" dirty="0"/>
              <a:t>）</a:t>
            </a:r>
            <a:r>
              <a:rPr lang="en-US" altLang="zh-CN" sz="2000" dirty="0"/>
              <a:t>*2</a:t>
            </a:r>
            <a:r>
              <a:rPr lang="zh-CN" altLang="en-US" sz="2000" dirty="0"/>
              <a:t>个值，多边形的顶点数</a:t>
            </a:r>
            <a:r>
              <a:rPr lang="en-US" altLang="zh-CN" sz="2000" dirty="0"/>
              <a:t>)</a:t>
            </a:r>
            <a:r>
              <a:rPr lang="zh-CN" altLang="en-US" sz="2000" dirty="0"/>
              <a:t>。</a:t>
            </a:r>
          </a:p>
          <a:p>
            <a:pPr>
              <a:buNone/>
            </a:pPr>
            <a:endParaRPr lang="zh-CN" altLang="zh-CN" dirty="0"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图像热区链接案例</a:t>
            </a:r>
          </a:p>
        </p:txBody>
      </p:sp>
      <p:sp>
        <p:nvSpPr>
          <p:cNvPr id="32773" name="Rectangle 5"/>
          <p:cNvSpPr>
            <a:spLocks noChangeArrowheads="1"/>
          </p:cNvSpPr>
          <p:nvPr/>
        </p:nvSpPr>
        <p:spPr bwMode="auto">
          <a:xfrm>
            <a:off x="0" y="844550"/>
            <a:ext cx="309880" cy="368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2776" name="Rectangle 8"/>
          <p:cNvSpPr>
            <a:spLocks noChangeArrowheads="1"/>
          </p:cNvSpPr>
          <p:nvPr/>
        </p:nvSpPr>
        <p:spPr bwMode="auto">
          <a:xfrm>
            <a:off x="0" y="1016000"/>
            <a:ext cx="309880" cy="368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2777" name="Rectangle 9"/>
          <p:cNvSpPr>
            <a:spLocks noChangeArrowheads="1"/>
          </p:cNvSpPr>
          <p:nvPr/>
        </p:nvSpPr>
        <p:spPr bwMode="auto">
          <a:xfrm>
            <a:off x="4417060" y="2293779"/>
            <a:ext cx="309880" cy="3987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90" y="1384300"/>
            <a:ext cx="8465820" cy="431990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表格 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idx="1"/>
          </p:nvPr>
        </p:nvSpPr>
        <p:spPr>
          <a:xfrm>
            <a:off x="223520" y="1262936"/>
            <a:ext cx="8534400" cy="10751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400" dirty="0"/>
              <a:t>       表格以简洁明了和高效快捷的方式将图片、文本、数据和表单的元素</a:t>
            </a:r>
            <a:r>
              <a:rPr lang="zh-CN" altLang="en-US" sz="1400" b="1" dirty="0">
                <a:solidFill>
                  <a:srgbClr val="FF0000"/>
                </a:solidFill>
              </a:rPr>
              <a:t>有序的</a:t>
            </a:r>
            <a:r>
              <a:rPr lang="zh-CN" altLang="en-US" sz="1400" dirty="0"/>
              <a:t>显示在页面上。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52118" y="2395855"/>
          <a:ext cx="8305800" cy="251442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521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49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75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592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zh-CN" sz="160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标记</a:t>
                      </a:r>
                      <a:endParaRPr lang="zh-CN" sz="2000" b="1" kern="100" dirty="0">
                        <a:solidFill>
                          <a:srgbClr val="0000FA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zh-CN" sz="160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说明</a:t>
                      </a:r>
                      <a:endParaRPr lang="zh-CN" sz="2000" b="1" kern="100" dirty="0">
                        <a:solidFill>
                          <a:srgbClr val="0000FA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zh-CN" sz="160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标记</a:t>
                      </a:r>
                      <a:endParaRPr lang="zh-CN" sz="2000" b="1" kern="100" dirty="0">
                        <a:solidFill>
                          <a:srgbClr val="0000FA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zh-CN" sz="160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说明</a:t>
                      </a:r>
                      <a:endParaRPr lang="zh-CN" sz="2000" b="1" kern="100" dirty="0">
                        <a:solidFill>
                          <a:srgbClr val="0000FA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69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en-US" sz="160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&lt;table&gt;&lt;/table&gt;</a:t>
                      </a:r>
                      <a:endParaRPr lang="zh-CN" sz="20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表格标记</a:t>
                      </a:r>
                      <a:endParaRPr lang="zh-CN" sz="20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en-US" sz="160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&lt;</a:t>
                      </a:r>
                      <a:r>
                        <a:rPr lang="en-US" sz="1600" kern="100" dirty="0" err="1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thead</a:t>
                      </a:r>
                      <a:r>
                        <a:rPr lang="en-US" sz="160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&gt;&lt;/</a:t>
                      </a:r>
                      <a:r>
                        <a:rPr lang="en-US" sz="1600" kern="100" dirty="0" err="1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thead</a:t>
                      </a:r>
                      <a:r>
                        <a:rPr lang="en-US" sz="160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&gt;</a:t>
                      </a:r>
                      <a:endParaRPr lang="zh-CN" sz="20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定义表格的表头</a:t>
                      </a:r>
                      <a:endParaRPr lang="zh-CN" sz="2000" kern="10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699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en-US" sz="1600" kern="1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&lt;caption&gt;&lt;/caption&gt;</a:t>
                      </a:r>
                      <a:endParaRPr lang="zh-CN" sz="2000" kern="10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表</a:t>
                      </a:r>
                      <a:r>
                        <a:rPr lang="zh-CN" sz="160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格标</a:t>
                      </a:r>
                      <a:r>
                        <a:rPr lang="zh-CN" sz="16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题</a:t>
                      </a:r>
                      <a:r>
                        <a:rPr lang="zh-CN" sz="160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标记</a:t>
                      </a:r>
                      <a:endParaRPr lang="zh-CN" sz="20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en-US" sz="160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&lt;</a:t>
                      </a:r>
                      <a:r>
                        <a:rPr lang="en-US" sz="1600" kern="100" dirty="0" err="1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tbody</a:t>
                      </a:r>
                      <a:r>
                        <a:rPr lang="en-US" sz="160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&gt;&lt;/</a:t>
                      </a:r>
                      <a:r>
                        <a:rPr lang="en-US" sz="1600" kern="100" dirty="0" err="1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tbody</a:t>
                      </a:r>
                      <a:r>
                        <a:rPr lang="en-US" sz="160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&gt;</a:t>
                      </a:r>
                      <a:endParaRPr lang="zh-CN" sz="20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定义表格的主体</a:t>
                      </a:r>
                      <a:endParaRPr lang="zh-CN" sz="2000" kern="10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69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en-US" sz="160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&lt;</a:t>
                      </a:r>
                      <a:r>
                        <a:rPr lang="en-US" sz="1600" kern="100" dirty="0" err="1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th</a:t>
                      </a:r>
                      <a:r>
                        <a:rPr lang="en-US" sz="160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&gt;&lt;/</a:t>
                      </a:r>
                      <a:r>
                        <a:rPr lang="en-US" sz="1600" kern="100" dirty="0" err="1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th</a:t>
                      </a:r>
                      <a:r>
                        <a:rPr lang="en-US" sz="160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&gt;</a:t>
                      </a:r>
                      <a:endParaRPr lang="zh-CN" sz="20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表格表头标记</a:t>
                      </a:r>
                      <a:endParaRPr lang="zh-CN" sz="20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en-US" sz="160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&lt;</a:t>
                      </a:r>
                      <a:r>
                        <a:rPr lang="en-US" sz="1600" kern="100" dirty="0" err="1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tfoot</a:t>
                      </a:r>
                      <a:r>
                        <a:rPr lang="en-US" sz="160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&gt;&lt;/</a:t>
                      </a:r>
                      <a:r>
                        <a:rPr lang="en-US" sz="1600" kern="100" dirty="0" err="1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tfoot</a:t>
                      </a:r>
                      <a:r>
                        <a:rPr lang="en-US" sz="160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&gt;</a:t>
                      </a:r>
                      <a:endParaRPr lang="zh-CN" sz="20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定义表格的页脚</a:t>
                      </a:r>
                      <a:endParaRPr lang="zh-CN" sz="2000" kern="10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69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en-US" sz="1600" kern="1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&lt;tr&gt;&lt;/tr&gt;</a:t>
                      </a:r>
                      <a:endParaRPr lang="zh-CN" sz="2000" kern="10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表格的行标记</a:t>
                      </a:r>
                      <a:endParaRPr lang="zh-CN" sz="2000" kern="10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 </a:t>
                      </a:r>
                      <a:endParaRPr lang="zh-CN" sz="20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 </a:t>
                      </a:r>
                      <a:r>
                        <a:rPr lang="zh-CN" altLang="en-US" sz="10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兼容问题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69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en-US" sz="1600" kern="1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&lt;td&gt;&lt;/td&gt;</a:t>
                      </a:r>
                      <a:endParaRPr lang="zh-CN" sz="2000" kern="10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表格的列标记</a:t>
                      </a:r>
                      <a:endParaRPr lang="zh-CN" sz="2000" kern="10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 </a:t>
                      </a:r>
                      <a:endParaRPr lang="zh-CN" sz="20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 </a:t>
                      </a:r>
                      <a:endParaRPr lang="zh-CN" sz="20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学生表例子</a:t>
            </a:r>
          </a:p>
        </p:txBody>
      </p:sp>
      <p:sp>
        <p:nvSpPr>
          <p:cNvPr id="17410" name="内容占位符 3"/>
          <p:cNvSpPr>
            <a:spLocks noGrp="1"/>
          </p:cNvSpPr>
          <p:nvPr>
            <p:ph idx="1"/>
          </p:nvPr>
        </p:nvSpPr>
        <p:spPr>
          <a:xfrm>
            <a:off x="345440" y="1162685"/>
            <a:ext cx="3505200" cy="5039360"/>
          </a:xfrm>
          <a:ln>
            <a:solidFill>
              <a:schemeClr val="bg1"/>
            </a:solidFill>
          </a:ln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&lt;html&gt;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&lt;head&gt;&lt;/head&gt;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&lt;body&gt;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&lt;table border="1"&gt;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  &lt;</a:t>
            </a:r>
            <a:r>
              <a:rPr lang="en-US" altLang="zh-CN" sz="1600" dirty="0" err="1">
                <a:ea typeface="宋体" panose="02010600030101010101" pitchFamily="2" charset="-122"/>
              </a:rPr>
              <a:t>tr</a:t>
            </a:r>
            <a:r>
              <a:rPr lang="en-US" altLang="zh-CN" sz="1600" dirty="0">
                <a:ea typeface="宋体" panose="02010600030101010101" pitchFamily="2" charset="-122"/>
              </a:rPr>
              <a:t>&gt;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    &lt;</a:t>
            </a:r>
            <a:r>
              <a:rPr lang="en-US" altLang="zh-CN" sz="1600" dirty="0" err="1">
                <a:ea typeface="宋体" panose="02010600030101010101" pitchFamily="2" charset="-122"/>
              </a:rPr>
              <a:t>th</a:t>
            </a:r>
            <a:r>
              <a:rPr lang="en-US" altLang="zh-CN" sz="1600" dirty="0">
                <a:ea typeface="宋体" panose="02010600030101010101" pitchFamily="2" charset="-122"/>
              </a:rPr>
              <a:t>&gt;</a:t>
            </a:r>
            <a:r>
              <a:rPr lang="zh-CN" altLang="en-US" sz="1600" dirty="0">
                <a:ea typeface="宋体" panose="02010600030101010101" pitchFamily="2" charset="-122"/>
              </a:rPr>
              <a:t>姓名</a:t>
            </a:r>
            <a:r>
              <a:rPr lang="en-US" altLang="zh-CN" sz="1600" dirty="0">
                <a:ea typeface="宋体" panose="02010600030101010101" pitchFamily="2" charset="-122"/>
              </a:rPr>
              <a:t>&lt;/</a:t>
            </a:r>
            <a:r>
              <a:rPr lang="en-US" altLang="zh-CN" sz="1600" dirty="0" err="1">
                <a:ea typeface="宋体" panose="02010600030101010101" pitchFamily="2" charset="-122"/>
              </a:rPr>
              <a:t>th</a:t>
            </a:r>
            <a:r>
              <a:rPr lang="en-US" altLang="zh-CN" sz="1600" dirty="0">
                <a:ea typeface="宋体" panose="02010600030101010101" pitchFamily="2" charset="-122"/>
              </a:rPr>
              <a:t>&gt;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    &lt;</a:t>
            </a:r>
            <a:r>
              <a:rPr lang="en-US" altLang="zh-CN" sz="1600" dirty="0" err="1">
                <a:ea typeface="宋体" panose="02010600030101010101" pitchFamily="2" charset="-122"/>
              </a:rPr>
              <a:t>th</a:t>
            </a:r>
            <a:r>
              <a:rPr lang="en-US" altLang="zh-CN" sz="1600" dirty="0">
                <a:ea typeface="宋体" panose="02010600030101010101" pitchFamily="2" charset="-122"/>
              </a:rPr>
              <a:t>&gt;</a:t>
            </a:r>
            <a:r>
              <a:rPr lang="zh-CN" altLang="en-US" sz="1600" dirty="0">
                <a:ea typeface="宋体" panose="02010600030101010101" pitchFamily="2" charset="-122"/>
              </a:rPr>
              <a:t>单位</a:t>
            </a:r>
            <a:r>
              <a:rPr lang="en-US" altLang="zh-CN" sz="1600" dirty="0">
                <a:ea typeface="宋体" panose="02010600030101010101" pitchFamily="2" charset="-122"/>
              </a:rPr>
              <a:t>&lt;/</a:t>
            </a:r>
            <a:r>
              <a:rPr lang="en-US" altLang="zh-CN" sz="1600" dirty="0" err="1">
                <a:ea typeface="宋体" panose="02010600030101010101" pitchFamily="2" charset="-122"/>
              </a:rPr>
              <a:t>th</a:t>
            </a:r>
            <a:r>
              <a:rPr lang="en-US" altLang="zh-CN" sz="1600" dirty="0">
                <a:ea typeface="宋体" panose="02010600030101010101" pitchFamily="2" charset="-122"/>
              </a:rPr>
              <a:t>&gt;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    &lt;</a:t>
            </a:r>
            <a:r>
              <a:rPr lang="en-US" altLang="zh-CN" sz="1600" dirty="0" err="1">
                <a:ea typeface="宋体" panose="02010600030101010101" pitchFamily="2" charset="-122"/>
              </a:rPr>
              <a:t>th</a:t>
            </a:r>
            <a:r>
              <a:rPr lang="en-US" altLang="zh-CN" sz="1600" dirty="0">
                <a:ea typeface="宋体" panose="02010600030101010101" pitchFamily="2" charset="-122"/>
              </a:rPr>
              <a:t>&gt;</a:t>
            </a:r>
            <a:r>
              <a:rPr lang="zh-CN" altLang="en-US" sz="1600" dirty="0">
                <a:ea typeface="宋体" panose="02010600030101010101" pitchFamily="2" charset="-122"/>
              </a:rPr>
              <a:t>学号</a:t>
            </a:r>
            <a:r>
              <a:rPr lang="en-US" altLang="zh-CN" sz="1600" dirty="0">
                <a:ea typeface="宋体" panose="02010600030101010101" pitchFamily="2" charset="-122"/>
              </a:rPr>
              <a:t>&lt;/</a:t>
            </a:r>
            <a:r>
              <a:rPr lang="en-US" altLang="zh-CN" sz="1600" dirty="0" err="1">
                <a:ea typeface="宋体" panose="02010600030101010101" pitchFamily="2" charset="-122"/>
              </a:rPr>
              <a:t>th</a:t>
            </a:r>
            <a:r>
              <a:rPr lang="en-US" altLang="zh-CN" sz="1600" dirty="0">
                <a:ea typeface="宋体" panose="02010600030101010101" pitchFamily="2" charset="-122"/>
              </a:rPr>
              <a:t>&gt;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  &lt;/</a:t>
            </a:r>
            <a:r>
              <a:rPr lang="en-US" altLang="zh-CN" sz="1600" dirty="0" err="1">
                <a:ea typeface="宋体" panose="02010600030101010101" pitchFamily="2" charset="-122"/>
              </a:rPr>
              <a:t>tr</a:t>
            </a:r>
            <a:r>
              <a:rPr lang="en-US" altLang="zh-CN" sz="1600" dirty="0">
                <a:ea typeface="宋体" panose="02010600030101010101" pitchFamily="2" charset="-122"/>
              </a:rPr>
              <a:t>&gt;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  &lt;</a:t>
            </a:r>
            <a:r>
              <a:rPr lang="en-US" altLang="zh-CN" sz="1600" dirty="0" err="1">
                <a:ea typeface="宋体" panose="02010600030101010101" pitchFamily="2" charset="-122"/>
              </a:rPr>
              <a:t>tr</a:t>
            </a:r>
            <a:r>
              <a:rPr lang="en-US" altLang="zh-CN" sz="1600" dirty="0">
                <a:ea typeface="宋体" panose="02010600030101010101" pitchFamily="2" charset="-122"/>
              </a:rPr>
              <a:t>&gt;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    &lt;td&gt;</a:t>
            </a:r>
            <a:r>
              <a:rPr lang="zh-CN" altLang="en-US" sz="1600" dirty="0">
                <a:ea typeface="宋体" panose="02010600030101010101" pitchFamily="2" charset="-122"/>
              </a:rPr>
              <a:t>王小品</a:t>
            </a:r>
            <a:r>
              <a:rPr lang="en-US" altLang="zh-CN" sz="1600" dirty="0">
                <a:ea typeface="宋体" panose="02010600030101010101" pitchFamily="2" charset="-122"/>
              </a:rPr>
              <a:t>&lt;/td&gt;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    &lt;td&gt;</a:t>
            </a:r>
            <a:r>
              <a:rPr lang="zh-CN" altLang="en-US" sz="1600" dirty="0">
                <a:ea typeface="宋体" panose="02010600030101010101" pitchFamily="2" charset="-122"/>
              </a:rPr>
              <a:t>商学院</a:t>
            </a:r>
            <a:r>
              <a:rPr lang="en-US" altLang="zh-CN" sz="1600" dirty="0">
                <a:ea typeface="宋体" panose="02010600030101010101" pitchFamily="2" charset="-122"/>
              </a:rPr>
              <a:t>&lt;/td&gt;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    &lt;td&gt;110204&lt;/td&gt;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  &lt;/</a:t>
            </a:r>
            <a:r>
              <a:rPr lang="en-US" altLang="zh-CN" sz="1600" dirty="0" err="1">
                <a:ea typeface="宋体" panose="02010600030101010101" pitchFamily="2" charset="-122"/>
              </a:rPr>
              <a:t>tr</a:t>
            </a:r>
            <a:r>
              <a:rPr lang="en-US" altLang="zh-CN" sz="1600" dirty="0">
                <a:ea typeface="宋体" panose="02010600030101010101" pitchFamily="2" charset="-122"/>
              </a:rPr>
              <a:t>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None/>
            </a:pPr>
            <a:r>
              <a:rPr lang="en-US" altLang="zh-CN" sz="1600" dirty="0">
                <a:ea typeface="黑体" panose="02010609060101010101" charset="-122"/>
              </a:rPr>
              <a:t>    &lt;</a:t>
            </a:r>
            <a:r>
              <a:rPr lang="en-US" altLang="zh-CN" sz="1600" dirty="0" err="1">
                <a:ea typeface="黑体" panose="02010609060101010101" charset="-122"/>
              </a:rPr>
              <a:t>tr</a:t>
            </a:r>
            <a:r>
              <a:rPr lang="en-US" altLang="zh-CN" sz="1600" dirty="0">
                <a:ea typeface="黑体" panose="02010609060101010101" charset="-122"/>
              </a:rPr>
              <a:t>&gt;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None/>
            </a:pPr>
            <a:r>
              <a:rPr lang="en-US" altLang="zh-CN" sz="1600" dirty="0">
                <a:ea typeface="黑体" panose="02010609060101010101" charset="-122"/>
              </a:rPr>
              <a:t>      &lt;td&gt;</a:t>
            </a:r>
            <a:r>
              <a:rPr lang="zh-CN" altLang="en-US" sz="1600" dirty="0">
                <a:ea typeface="黑体" panose="02010609060101010101" charset="-122"/>
              </a:rPr>
              <a:t>李白</a:t>
            </a:r>
            <a:r>
              <a:rPr lang="en-US" altLang="zh-CN" sz="1600" dirty="0">
                <a:ea typeface="黑体" panose="02010609060101010101" charset="-122"/>
              </a:rPr>
              <a:t>&lt;/td&gt;</a:t>
            </a:r>
          </a:p>
          <a:p>
            <a:pPr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600" dirty="0">
                <a:ea typeface="黑体" panose="02010609060101010101" charset="-122"/>
                <a:sym typeface="+mn-ea"/>
              </a:rPr>
              <a:t>      &lt;td&gt;</a:t>
            </a:r>
            <a:r>
              <a:rPr lang="zh-CN" altLang="en-US" sz="1600" dirty="0">
                <a:ea typeface="黑体" panose="02010609060101010101" charset="-122"/>
                <a:sym typeface="+mn-ea"/>
              </a:rPr>
              <a:t>机械学院</a:t>
            </a:r>
            <a:r>
              <a:rPr lang="en-US" altLang="zh-CN" sz="1600" dirty="0">
                <a:ea typeface="黑体" panose="02010609060101010101" charset="-122"/>
                <a:sym typeface="+mn-ea"/>
              </a:rPr>
              <a:t>&lt;/td&gt;</a:t>
            </a:r>
            <a:endParaRPr lang="en-US" altLang="zh-CN" sz="1600" dirty="0">
              <a:ea typeface="黑体" panose="02010609060101010101" charset="-122"/>
            </a:endParaRPr>
          </a:p>
          <a:p>
            <a:pPr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600" dirty="0">
                <a:ea typeface="黑体" panose="02010609060101010101" charset="-122"/>
                <a:sym typeface="+mn-ea"/>
              </a:rPr>
              <a:t>      &lt;td&gt;100244&lt;/td&gt;</a:t>
            </a:r>
            <a:endParaRPr lang="en-US" altLang="zh-CN" sz="1600" dirty="0">
              <a:ea typeface="黑体" panose="02010609060101010101" charset="-122"/>
            </a:endParaRPr>
          </a:p>
          <a:p>
            <a:pPr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600" dirty="0">
                <a:ea typeface="黑体" panose="02010609060101010101" charset="-122"/>
                <a:sym typeface="+mn-ea"/>
              </a:rPr>
              <a:t>    &lt;/</a:t>
            </a:r>
            <a:r>
              <a:rPr lang="en-US" altLang="zh-CN" sz="1600" dirty="0" err="1">
                <a:ea typeface="黑体" panose="02010609060101010101" charset="-122"/>
                <a:sym typeface="+mn-ea"/>
              </a:rPr>
              <a:t>tr</a:t>
            </a:r>
            <a:r>
              <a:rPr lang="en-US" altLang="zh-CN" sz="1600" dirty="0">
                <a:ea typeface="黑体" panose="02010609060101010101" charset="-122"/>
                <a:sym typeface="+mn-ea"/>
              </a:rPr>
              <a:t>&gt;</a:t>
            </a:r>
            <a:endParaRPr lang="en-US" altLang="zh-CN" sz="1600" dirty="0">
              <a:ea typeface="黑体" panose="02010609060101010101" charset="-122"/>
            </a:endParaRPr>
          </a:p>
          <a:p>
            <a:pPr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600" dirty="0">
                <a:ea typeface="黑体" panose="02010609060101010101" charset="-122"/>
                <a:sym typeface="+mn-ea"/>
              </a:rPr>
              <a:t>  &lt;/table&gt;</a:t>
            </a:r>
            <a:endParaRPr lang="en-US" altLang="zh-CN" sz="1600" dirty="0">
              <a:ea typeface="黑体" panose="02010609060101010101" charset="-122"/>
            </a:endParaRPr>
          </a:p>
          <a:p>
            <a:pPr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600" dirty="0">
                <a:ea typeface="黑体" panose="02010609060101010101" charset="-122"/>
                <a:sym typeface="+mn-ea"/>
              </a:rPr>
              <a:t>&lt;/body&gt;</a:t>
            </a:r>
            <a:endParaRPr lang="en-US" altLang="zh-CN" sz="1600" dirty="0">
              <a:ea typeface="黑体" panose="02010609060101010101" charset="-122"/>
            </a:endParaRPr>
          </a:p>
          <a:p>
            <a:pPr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600" dirty="0">
                <a:ea typeface="黑体" panose="02010609060101010101" charset="-122"/>
                <a:sym typeface="+mn-ea"/>
              </a:rPr>
              <a:t>&lt;/html&gt;</a:t>
            </a:r>
            <a:endParaRPr lang="en-US" altLang="zh-CN" sz="1600" dirty="0">
              <a:ea typeface="宋体" panose="02010600030101010101" pitchFamily="2" charset="-122"/>
            </a:endParaRPr>
          </a:p>
        </p:txBody>
      </p:sp>
      <p:sp>
        <p:nvSpPr>
          <p:cNvPr id="17411" name="矩形 4"/>
          <p:cNvSpPr>
            <a:spLocks noChangeArrowheads="1"/>
          </p:cNvSpPr>
          <p:nvPr/>
        </p:nvSpPr>
        <p:spPr bwMode="auto">
          <a:xfrm>
            <a:off x="4572000" y="4239905"/>
            <a:ext cx="3124200" cy="28321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txBody>
          <a:bodyPr>
            <a:spAutoFit/>
          </a:bodyPr>
          <a:lstStyle/>
          <a:p>
            <a:pPr eaLnBrk="0" hangingPunct="0">
              <a:lnSpc>
                <a:spcPts val="150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endParaRPr lang="zh-CN" altLang="en-US" sz="2000" dirty="0">
              <a:ea typeface="黑体" panose="02010609060101010101" charset="-122"/>
            </a:endParaRPr>
          </a:p>
        </p:txBody>
      </p:sp>
      <p:pic>
        <p:nvPicPr>
          <p:cNvPr id="24577" name="Picture 1"/>
          <p:cNvPicPr>
            <a:picLocks noChangeAspect="1" noChangeArrowheads="1"/>
          </p:cNvPicPr>
          <p:nvPr/>
        </p:nvPicPr>
        <p:blipFill>
          <a:blip r:embed="rId2" cstate="print"/>
          <a:srcRect t="30338"/>
          <a:stretch>
            <a:fillRect/>
          </a:stretch>
        </p:blipFill>
        <p:spPr bwMode="auto">
          <a:xfrm>
            <a:off x="3256280" y="2503170"/>
            <a:ext cx="5205095" cy="2358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表格标记 </a:t>
            </a:r>
          </a:p>
        </p:txBody>
      </p:sp>
      <p:graphicFrame>
        <p:nvGraphicFramePr>
          <p:cNvPr id="6" name="Group 88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472124" y="2171700"/>
          <a:ext cx="2893060" cy="2809875"/>
        </p:xfrm>
        <a:graphic>
          <a:graphicData uri="http://schemas.openxmlformats.org/drawingml/2006/table">
            <a:tbl>
              <a:tblPr/>
              <a:tblGrid>
                <a:gridCol w="82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9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0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8485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学生信息表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0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宋体" panose="02010600030101010101" pitchFamily="2" charset="-122"/>
                        </a:rPr>
                        <a:t>姓名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宋体" panose="02010600030101010101" pitchFamily="2" charset="-122"/>
                        </a:rPr>
                        <a:t>院系名称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宋体" panose="02010600030101010101" pitchFamily="2" charset="-122"/>
                        </a:rPr>
                        <a:t>班级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微软雅黑" panose="020B0503020204020204" charset="-122"/>
                          <a:ea typeface="宋体" panose="02010600030101010101" pitchFamily="2" charset="-122"/>
                        </a:rPr>
                        <a:t>王小品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微软雅黑" panose="020B0503020204020204" charset="-122"/>
                          <a:ea typeface="宋体" panose="02010600030101010101" pitchFamily="2" charset="-122"/>
                        </a:rPr>
                        <a:t>商学院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微软雅黑" panose="020B0503020204020204" charset="-122"/>
                          <a:ea typeface="宋体" panose="02010600030101010101" pitchFamily="2" charset="-122"/>
                        </a:rPr>
                        <a:t>110204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0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微软雅黑" panose="020B0503020204020204" charset="-122"/>
                          <a:ea typeface="宋体" panose="02010600030101010101" pitchFamily="2" charset="-122"/>
                        </a:rPr>
                        <a:t>李白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微软雅黑" panose="020B0503020204020204" charset="-122"/>
                          <a:ea typeface="宋体" panose="02010600030101010101" pitchFamily="2" charset="-122"/>
                        </a:rPr>
                        <a:t>机械学院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微软雅黑" panose="020B0503020204020204" charset="-122"/>
                          <a:ea typeface="宋体" panose="02010600030101010101" pitchFamily="2" charset="-122"/>
                        </a:rPr>
                        <a:t>100244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微软雅黑" panose="020B0503020204020204" charset="-122"/>
                          <a:ea typeface="宋体" panose="02010600030101010101" pitchFamily="2" charset="-122"/>
                        </a:rPr>
                        <a:t>林之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微软雅黑" panose="020B0503020204020204" charset="-122"/>
                          <a:ea typeface="宋体" panose="02010600030101010101" pitchFamily="2" charset="-122"/>
                        </a:rPr>
                        <a:t>外语系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微软雅黑" panose="020B0503020204020204" charset="-122"/>
                          <a:ea typeface="宋体" panose="02010600030101010101" pitchFamily="2" charset="-122"/>
                        </a:rPr>
                        <a:t>090101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Box 46"/>
          <p:cNvSpPr txBox="1">
            <a:spLocks noChangeArrowheads="1"/>
          </p:cNvSpPr>
          <p:nvPr/>
        </p:nvSpPr>
        <p:spPr bwMode="gray">
          <a:xfrm>
            <a:off x="4013200" y="2171701"/>
            <a:ext cx="863600" cy="2953385"/>
          </a:xfrm>
          <a:prstGeom prst="rect">
            <a:avLst/>
          </a:prstGeom>
          <a:noFill/>
          <a:ln w="38100" algn="ctr">
            <a:solidFill>
              <a:schemeClr val="folHlink"/>
            </a:solidFill>
            <a:miter lim="800000"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FF0000"/>
                </a:solidFill>
                <a:ea typeface="微软雅黑" panose="020B0503020204020204" charset="-122"/>
              </a:rPr>
              <a:t>标题</a:t>
            </a:r>
            <a:endParaRPr lang="en-US" altLang="zh-CN" sz="2000" dirty="0">
              <a:solidFill>
                <a:srgbClr val="FF0000"/>
              </a:solidFill>
              <a:ea typeface="微软雅黑" panose="020B0503020204020204" charset="-122"/>
            </a:endParaRP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endParaRPr lang="en-US" altLang="zh-CN" sz="2000" dirty="0">
              <a:solidFill>
                <a:srgbClr val="FF0000"/>
              </a:solidFill>
              <a:ea typeface="微软雅黑" panose="020B0503020204020204" charset="-122"/>
            </a:endParaRP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 sz="2000" i="1" dirty="0">
                <a:solidFill>
                  <a:srgbClr val="FF0000"/>
                </a:solidFill>
                <a:ea typeface="微软雅黑" panose="020B0503020204020204" charset="-122"/>
              </a:rPr>
              <a:t>表头</a:t>
            </a:r>
            <a:endParaRPr lang="en-US" altLang="zh-CN" sz="2000" i="1" dirty="0">
              <a:solidFill>
                <a:srgbClr val="FF0000"/>
              </a:solidFill>
              <a:ea typeface="微软雅黑" panose="020B0503020204020204" charset="-122"/>
            </a:endParaRP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endParaRPr lang="zh-CN" altLang="en-US" sz="2000" i="1" dirty="0">
              <a:solidFill>
                <a:srgbClr val="FF0000"/>
              </a:solidFill>
              <a:ea typeface="微软雅黑" panose="020B0503020204020204" charset="-122"/>
            </a:endParaRP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FF0000"/>
                </a:solidFill>
                <a:ea typeface="微软雅黑" panose="020B0503020204020204" charset="-122"/>
              </a:rPr>
              <a:t>表体</a:t>
            </a:r>
            <a:endParaRPr lang="en-US" altLang="zh-CN" sz="2000" dirty="0">
              <a:solidFill>
                <a:srgbClr val="FF0000"/>
              </a:solidFill>
              <a:ea typeface="微软雅黑" panose="020B0503020204020204" charset="-122"/>
            </a:endParaRP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endParaRPr lang="zh-CN" altLang="en-US" sz="2000" dirty="0">
              <a:solidFill>
                <a:srgbClr val="FF0000"/>
              </a:solidFill>
              <a:ea typeface="微软雅黑" panose="020B0503020204020204" charset="-122"/>
            </a:endParaRP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FF0000"/>
                </a:solidFill>
                <a:ea typeface="微软雅黑" panose="020B0503020204020204" charset="-122"/>
              </a:rPr>
              <a:t>表尾</a:t>
            </a:r>
          </a:p>
        </p:txBody>
      </p:sp>
      <p:sp>
        <p:nvSpPr>
          <p:cNvPr id="10" name="Rectangle 49"/>
          <p:cNvSpPr>
            <a:spLocks noChangeArrowheads="1"/>
          </p:cNvSpPr>
          <p:nvPr/>
        </p:nvSpPr>
        <p:spPr bwMode="gray">
          <a:xfrm>
            <a:off x="5417185" y="2269093"/>
            <a:ext cx="3505200" cy="2758440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>
              <a:lnSpc>
                <a:spcPts val="160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FF0000"/>
                </a:solidFill>
                <a:ea typeface="黑体" panose="02010609060101010101" charset="-122"/>
              </a:rPr>
              <a:t>&lt;table&gt;</a:t>
            </a:r>
          </a:p>
          <a:p>
            <a:pPr eaLnBrk="0" hangingPunct="0">
              <a:lnSpc>
                <a:spcPts val="160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600" dirty="0">
                <a:ea typeface="黑体" panose="02010609060101010101" charset="-122"/>
              </a:rPr>
              <a:t>    </a:t>
            </a:r>
            <a:r>
              <a:rPr lang="en-US" altLang="zh-CN" sz="1600" dirty="0">
                <a:solidFill>
                  <a:srgbClr val="FF0000"/>
                </a:solidFill>
                <a:ea typeface="黑体" panose="02010609060101010101" charset="-122"/>
              </a:rPr>
              <a:t>&lt;caption&gt;…&lt;/caption&gt;</a:t>
            </a:r>
          </a:p>
          <a:p>
            <a:pPr eaLnBrk="0" hangingPunct="0">
              <a:lnSpc>
                <a:spcPts val="160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600" dirty="0">
                <a:ea typeface="黑体" panose="02010609060101010101" charset="-122"/>
              </a:rPr>
              <a:t>     </a:t>
            </a:r>
            <a:r>
              <a:rPr lang="en-US" altLang="zh-CN" sz="1600" dirty="0">
                <a:solidFill>
                  <a:srgbClr val="FF0000"/>
                </a:solidFill>
                <a:ea typeface="黑体" panose="02010609060101010101" charset="-122"/>
              </a:rPr>
              <a:t>&lt;</a:t>
            </a:r>
            <a:r>
              <a:rPr lang="en-US" altLang="zh-CN" sz="1600" dirty="0" err="1">
                <a:solidFill>
                  <a:srgbClr val="FF0000"/>
                </a:solidFill>
                <a:ea typeface="黑体" panose="02010609060101010101" charset="-122"/>
              </a:rPr>
              <a:t>tr</a:t>
            </a:r>
            <a:r>
              <a:rPr lang="en-US" altLang="zh-CN" sz="1600" dirty="0">
                <a:solidFill>
                  <a:srgbClr val="FF0000"/>
                </a:solidFill>
                <a:ea typeface="黑体" panose="02010609060101010101" charset="-122"/>
              </a:rPr>
              <a:t>&gt;&lt;</a:t>
            </a:r>
            <a:r>
              <a:rPr lang="en-US" altLang="zh-CN" sz="1600" dirty="0" err="1">
                <a:solidFill>
                  <a:srgbClr val="FF0000"/>
                </a:solidFill>
                <a:ea typeface="黑体" panose="02010609060101010101" charset="-122"/>
              </a:rPr>
              <a:t>th</a:t>
            </a:r>
            <a:r>
              <a:rPr lang="en-US" altLang="zh-CN" sz="1600" dirty="0">
                <a:solidFill>
                  <a:srgbClr val="FF0000"/>
                </a:solidFill>
                <a:ea typeface="黑体" panose="02010609060101010101" charset="-122"/>
              </a:rPr>
              <a:t>&gt;&lt;/</a:t>
            </a:r>
            <a:r>
              <a:rPr lang="en-US" altLang="zh-CN" sz="1600" dirty="0" err="1">
                <a:solidFill>
                  <a:srgbClr val="FF0000"/>
                </a:solidFill>
                <a:ea typeface="黑体" panose="02010609060101010101" charset="-122"/>
              </a:rPr>
              <a:t>th</a:t>
            </a:r>
            <a:r>
              <a:rPr lang="en-US" altLang="zh-CN" sz="1600" dirty="0">
                <a:solidFill>
                  <a:srgbClr val="FF0000"/>
                </a:solidFill>
                <a:ea typeface="黑体" panose="02010609060101010101" charset="-122"/>
              </a:rPr>
              <a:t>&gt;…&lt;</a:t>
            </a:r>
            <a:r>
              <a:rPr lang="en-US" altLang="zh-CN" sz="1600" dirty="0" err="1">
                <a:solidFill>
                  <a:srgbClr val="FF0000"/>
                </a:solidFill>
                <a:ea typeface="黑体" panose="02010609060101010101" charset="-122"/>
              </a:rPr>
              <a:t>th</a:t>
            </a:r>
            <a:r>
              <a:rPr lang="en-US" altLang="zh-CN" sz="1600" dirty="0">
                <a:solidFill>
                  <a:srgbClr val="FF0000"/>
                </a:solidFill>
                <a:ea typeface="黑体" panose="02010609060101010101" charset="-122"/>
              </a:rPr>
              <a:t>&gt;&lt;/</a:t>
            </a:r>
            <a:r>
              <a:rPr lang="en-US" altLang="zh-CN" sz="1600" dirty="0" err="1">
                <a:solidFill>
                  <a:srgbClr val="FF0000"/>
                </a:solidFill>
                <a:ea typeface="黑体" panose="02010609060101010101" charset="-122"/>
              </a:rPr>
              <a:t>th</a:t>
            </a:r>
            <a:r>
              <a:rPr lang="en-US" altLang="zh-CN" sz="1600" dirty="0">
                <a:solidFill>
                  <a:srgbClr val="FF0000"/>
                </a:solidFill>
                <a:ea typeface="黑体" panose="02010609060101010101" charset="-122"/>
              </a:rPr>
              <a:t>&gt;&lt;/</a:t>
            </a:r>
            <a:r>
              <a:rPr lang="en-US" altLang="zh-CN" sz="1600" dirty="0" err="1">
                <a:solidFill>
                  <a:srgbClr val="FF0000"/>
                </a:solidFill>
                <a:ea typeface="黑体" panose="02010609060101010101" charset="-122"/>
              </a:rPr>
              <a:t>tr</a:t>
            </a:r>
            <a:r>
              <a:rPr lang="en-US" altLang="zh-CN" sz="1600" dirty="0">
                <a:solidFill>
                  <a:srgbClr val="FF0000"/>
                </a:solidFill>
                <a:ea typeface="黑体" panose="02010609060101010101" charset="-122"/>
              </a:rPr>
              <a:t>&gt;</a:t>
            </a:r>
          </a:p>
          <a:p>
            <a:pPr eaLnBrk="0" hangingPunct="0">
              <a:lnSpc>
                <a:spcPts val="160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 sz="1600" dirty="0">
                <a:solidFill>
                  <a:srgbClr val="FF0000"/>
                </a:solidFill>
                <a:ea typeface="黑体" panose="02010609060101010101" charset="-122"/>
              </a:rPr>
              <a:t>    </a:t>
            </a:r>
            <a:r>
              <a:rPr lang="en-US" altLang="zh-CN" sz="1600" dirty="0">
                <a:solidFill>
                  <a:srgbClr val="FF0000"/>
                </a:solidFill>
                <a:ea typeface="黑体" panose="02010609060101010101" charset="-122"/>
              </a:rPr>
              <a:t>&lt;</a:t>
            </a:r>
            <a:r>
              <a:rPr lang="en-US" altLang="zh-CN" sz="1600" dirty="0" err="1">
                <a:solidFill>
                  <a:srgbClr val="FF0000"/>
                </a:solidFill>
                <a:ea typeface="黑体" panose="02010609060101010101" charset="-122"/>
              </a:rPr>
              <a:t>tr</a:t>
            </a:r>
            <a:r>
              <a:rPr lang="en-US" altLang="zh-CN" sz="1600" dirty="0">
                <a:solidFill>
                  <a:srgbClr val="FF0000"/>
                </a:solidFill>
                <a:ea typeface="黑体" panose="02010609060101010101" charset="-122"/>
              </a:rPr>
              <a:t>&gt; </a:t>
            </a:r>
          </a:p>
          <a:p>
            <a:pPr eaLnBrk="0" hangingPunct="0">
              <a:lnSpc>
                <a:spcPts val="160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600" dirty="0">
                <a:ea typeface="黑体" panose="02010609060101010101" charset="-122"/>
              </a:rPr>
              <a:t>        </a:t>
            </a:r>
            <a:r>
              <a:rPr lang="en-US" altLang="zh-CN" sz="1600" dirty="0">
                <a:solidFill>
                  <a:srgbClr val="FF0000"/>
                </a:solidFill>
                <a:ea typeface="黑体" panose="02010609060101010101" charset="-122"/>
              </a:rPr>
              <a:t>&lt;td&gt;</a:t>
            </a:r>
            <a:r>
              <a:rPr lang="zh-CN" altLang="en-US" sz="1600" dirty="0">
                <a:ea typeface="黑体" panose="02010609060101010101" charset="-122"/>
              </a:rPr>
              <a:t>李白</a:t>
            </a:r>
            <a:r>
              <a:rPr lang="en-US" altLang="zh-CN" sz="1600" dirty="0">
                <a:ea typeface="黑体" panose="02010609060101010101" charset="-122"/>
              </a:rPr>
              <a:t>&lt;/td&gt;</a:t>
            </a:r>
          </a:p>
          <a:p>
            <a:pPr eaLnBrk="0" hangingPunct="0">
              <a:lnSpc>
                <a:spcPts val="160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600" dirty="0">
                <a:ea typeface="黑体" panose="02010609060101010101" charset="-122"/>
              </a:rPr>
              <a:t>        </a:t>
            </a:r>
            <a:r>
              <a:rPr lang="en-US" altLang="zh-CN" sz="1600" dirty="0">
                <a:solidFill>
                  <a:srgbClr val="FF0000"/>
                </a:solidFill>
                <a:ea typeface="黑体" panose="02010609060101010101" charset="-122"/>
              </a:rPr>
              <a:t>&lt;td&gt;</a:t>
            </a:r>
            <a:r>
              <a:rPr lang="zh-CN" altLang="en-US" sz="1600" dirty="0">
                <a:ea typeface="黑体" panose="02010609060101010101" charset="-122"/>
              </a:rPr>
              <a:t>机械学院</a:t>
            </a:r>
            <a:r>
              <a:rPr lang="en-US" altLang="zh-CN" sz="1600" dirty="0">
                <a:ea typeface="黑体" panose="02010609060101010101" charset="-122"/>
              </a:rPr>
              <a:t>&lt;/td&gt;</a:t>
            </a:r>
          </a:p>
          <a:p>
            <a:pPr eaLnBrk="0" hangingPunct="0">
              <a:lnSpc>
                <a:spcPts val="160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600" dirty="0">
                <a:ea typeface="黑体" panose="02010609060101010101" charset="-122"/>
              </a:rPr>
              <a:t>        </a:t>
            </a:r>
            <a:r>
              <a:rPr lang="en-US" altLang="zh-CN" sz="1600" dirty="0">
                <a:solidFill>
                  <a:srgbClr val="FF0000"/>
                </a:solidFill>
                <a:ea typeface="黑体" panose="02010609060101010101" charset="-122"/>
              </a:rPr>
              <a:t>&lt;td&gt; </a:t>
            </a:r>
            <a:r>
              <a:rPr lang="en-US" altLang="zh-CN" sz="1600" dirty="0">
                <a:ea typeface="黑体" panose="02010609060101010101" charset="-122"/>
              </a:rPr>
              <a:t>100244 &lt;/td&gt;</a:t>
            </a:r>
          </a:p>
          <a:p>
            <a:pPr eaLnBrk="0" hangingPunct="0">
              <a:lnSpc>
                <a:spcPts val="160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600" dirty="0">
                <a:ea typeface="黑体" panose="02010609060101010101" charset="-122"/>
              </a:rPr>
              <a:t>        …</a:t>
            </a:r>
          </a:p>
          <a:p>
            <a:pPr eaLnBrk="0" hangingPunct="0">
              <a:lnSpc>
                <a:spcPts val="160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600" dirty="0">
                <a:ea typeface="黑体" panose="02010609060101010101" charset="-122"/>
              </a:rPr>
              <a:t>    &lt;/</a:t>
            </a:r>
            <a:r>
              <a:rPr lang="en-US" altLang="zh-CN" sz="1600" dirty="0" err="1">
                <a:ea typeface="黑体" panose="02010609060101010101" charset="-122"/>
              </a:rPr>
              <a:t>tr</a:t>
            </a:r>
            <a:r>
              <a:rPr lang="en-US" altLang="zh-CN" sz="1600" dirty="0">
                <a:ea typeface="黑体" panose="02010609060101010101" charset="-122"/>
              </a:rPr>
              <a:t>&gt;</a:t>
            </a:r>
          </a:p>
          <a:p>
            <a:pPr eaLnBrk="0" hangingPunct="0">
              <a:lnSpc>
                <a:spcPts val="160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600" dirty="0">
                <a:ea typeface="黑体" panose="02010609060101010101" charset="-122"/>
              </a:rPr>
              <a:t>   </a:t>
            </a:r>
            <a:r>
              <a:rPr lang="en-US" altLang="zh-CN" sz="1600" dirty="0">
                <a:solidFill>
                  <a:srgbClr val="FF0000"/>
                </a:solidFill>
                <a:ea typeface="黑体" panose="02010609060101010101" charset="-122"/>
              </a:rPr>
              <a:t>&lt;</a:t>
            </a:r>
            <a:r>
              <a:rPr lang="en-US" altLang="zh-CN" sz="1600" dirty="0" err="1">
                <a:solidFill>
                  <a:srgbClr val="FF0000"/>
                </a:solidFill>
                <a:ea typeface="黑体" panose="02010609060101010101" charset="-122"/>
              </a:rPr>
              <a:t>tr</a:t>
            </a:r>
            <a:r>
              <a:rPr lang="en-US" altLang="zh-CN" sz="1600" dirty="0">
                <a:solidFill>
                  <a:srgbClr val="FF0000"/>
                </a:solidFill>
                <a:ea typeface="黑体" panose="02010609060101010101" charset="-122"/>
              </a:rPr>
              <a:t>&gt;&lt;/</a:t>
            </a:r>
            <a:r>
              <a:rPr lang="en-US" altLang="zh-CN" sz="1600" dirty="0" err="1">
                <a:solidFill>
                  <a:srgbClr val="FF0000"/>
                </a:solidFill>
                <a:ea typeface="黑体" panose="02010609060101010101" charset="-122"/>
              </a:rPr>
              <a:t>tr</a:t>
            </a:r>
            <a:r>
              <a:rPr lang="en-US" altLang="zh-CN" sz="1600" dirty="0">
                <a:solidFill>
                  <a:srgbClr val="FF0000"/>
                </a:solidFill>
                <a:ea typeface="黑体" panose="02010609060101010101" charset="-122"/>
              </a:rPr>
              <a:t>&gt;</a:t>
            </a:r>
          </a:p>
          <a:p>
            <a:pPr eaLnBrk="0" hangingPunct="0">
              <a:lnSpc>
                <a:spcPts val="160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FF0000"/>
                </a:solidFill>
                <a:ea typeface="黑体" panose="02010609060101010101" charset="-122"/>
              </a:rPr>
              <a:t>   &lt;</a:t>
            </a:r>
            <a:r>
              <a:rPr lang="en-US" altLang="zh-CN" sz="1600" dirty="0" err="1">
                <a:solidFill>
                  <a:srgbClr val="FF0000"/>
                </a:solidFill>
                <a:ea typeface="黑体" panose="02010609060101010101" charset="-122"/>
              </a:rPr>
              <a:t>tr</a:t>
            </a:r>
            <a:r>
              <a:rPr lang="en-US" altLang="zh-CN" sz="1600" dirty="0">
                <a:solidFill>
                  <a:srgbClr val="FF0000"/>
                </a:solidFill>
                <a:ea typeface="黑体" panose="02010609060101010101" charset="-122"/>
              </a:rPr>
              <a:t>&gt;&lt;/</a:t>
            </a:r>
            <a:r>
              <a:rPr lang="en-US" altLang="zh-CN" sz="1600" dirty="0" err="1">
                <a:solidFill>
                  <a:srgbClr val="FF0000"/>
                </a:solidFill>
                <a:ea typeface="黑体" panose="02010609060101010101" charset="-122"/>
              </a:rPr>
              <a:t>tr</a:t>
            </a:r>
            <a:r>
              <a:rPr lang="en-US" altLang="zh-CN" sz="1600" dirty="0">
                <a:solidFill>
                  <a:srgbClr val="FF0000"/>
                </a:solidFill>
                <a:ea typeface="黑体" panose="02010609060101010101" charset="-122"/>
              </a:rPr>
              <a:t>&gt;</a:t>
            </a:r>
          </a:p>
          <a:p>
            <a:pPr eaLnBrk="0" hangingPunct="0">
              <a:lnSpc>
                <a:spcPts val="160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600" dirty="0">
                <a:ea typeface="黑体" panose="02010609060101010101" charset="-122"/>
              </a:rPr>
              <a:t>   …</a:t>
            </a:r>
          </a:p>
          <a:p>
            <a:pPr eaLnBrk="0" hangingPunct="0">
              <a:lnSpc>
                <a:spcPts val="160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FF0000"/>
                </a:solidFill>
                <a:ea typeface="黑体" panose="02010609060101010101" charset="-122"/>
              </a:rPr>
              <a:t>&lt;/table&gt;</a:t>
            </a:r>
          </a:p>
        </p:txBody>
      </p:sp>
      <p:sp>
        <p:nvSpPr>
          <p:cNvPr id="12" name="Text Box 83"/>
          <p:cNvSpPr txBox="1">
            <a:spLocks noChangeArrowheads="1"/>
          </p:cNvSpPr>
          <p:nvPr/>
        </p:nvSpPr>
        <p:spPr bwMode="gray">
          <a:xfrm>
            <a:off x="302895" y="5125085"/>
            <a:ext cx="8619490" cy="1630045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表格结构：</a:t>
            </a:r>
            <a:r>
              <a:rPr lang="en-US" altLang="zh-CN" sz="2000" dirty="0">
                <a:solidFill>
                  <a:srgbClr val="FF0000"/>
                </a:solidFill>
                <a:ea typeface="黑体" panose="02010609060101010101" charset="-122"/>
              </a:rPr>
              <a:t>&lt;</a:t>
            </a:r>
            <a:r>
              <a:rPr lang="en-US" altLang="zh-CN" sz="2000" dirty="0" err="1">
                <a:solidFill>
                  <a:srgbClr val="FF0000"/>
                </a:solidFill>
                <a:ea typeface="黑体" panose="02010609060101010101" charset="-122"/>
              </a:rPr>
              <a:t>thead</a:t>
            </a:r>
            <a:r>
              <a:rPr lang="en-US" altLang="zh-CN" sz="2000" dirty="0">
                <a:solidFill>
                  <a:srgbClr val="FF0000"/>
                </a:solidFill>
                <a:ea typeface="黑体" panose="02010609060101010101" charset="-122"/>
              </a:rPr>
              <a:t>&gt;</a:t>
            </a:r>
            <a:r>
              <a:rPr lang="zh-CN" altLang="en-US" sz="2000" dirty="0">
                <a:solidFill>
                  <a:srgbClr val="FF0000"/>
                </a:solidFill>
                <a:ea typeface="黑体" panose="02010609060101010101" charset="-122"/>
              </a:rPr>
              <a:t>、</a:t>
            </a:r>
            <a:r>
              <a:rPr lang="en-US" altLang="zh-CN" sz="2000" dirty="0">
                <a:solidFill>
                  <a:srgbClr val="FF0000"/>
                </a:solidFill>
                <a:ea typeface="黑体" panose="02010609060101010101" charset="-122"/>
              </a:rPr>
              <a:t>&lt;</a:t>
            </a:r>
            <a:r>
              <a:rPr lang="en-US" altLang="zh-CN" sz="2000" dirty="0" err="1">
                <a:solidFill>
                  <a:srgbClr val="FF0000"/>
                </a:solidFill>
                <a:ea typeface="黑体" panose="02010609060101010101" charset="-122"/>
              </a:rPr>
              <a:t>tbody</a:t>
            </a:r>
            <a:r>
              <a:rPr lang="en-US" altLang="zh-CN" sz="2000" dirty="0">
                <a:solidFill>
                  <a:srgbClr val="FF0000"/>
                </a:solidFill>
                <a:ea typeface="黑体" panose="02010609060101010101" charset="-122"/>
              </a:rPr>
              <a:t>&gt;</a:t>
            </a:r>
            <a:r>
              <a:rPr lang="zh-CN" altLang="en-US" sz="2000" dirty="0">
                <a:solidFill>
                  <a:srgbClr val="FF0000"/>
                </a:solidFill>
                <a:ea typeface="黑体" panose="02010609060101010101" charset="-122"/>
              </a:rPr>
              <a:t>、</a:t>
            </a:r>
            <a:r>
              <a:rPr lang="en-US" altLang="zh-CN" sz="2000" dirty="0">
                <a:solidFill>
                  <a:srgbClr val="FF0000"/>
                </a:solidFill>
                <a:ea typeface="黑体" panose="02010609060101010101" charset="-122"/>
              </a:rPr>
              <a:t>&lt;</a:t>
            </a:r>
            <a:r>
              <a:rPr lang="en-US" altLang="zh-CN" sz="2000" dirty="0" err="1">
                <a:solidFill>
                  <a:srgbClr val="FF0000"/>
                </a:solidFill>
                <a:ea typeface="黑体" panose="02010609060101010101" charset="-122"/>
              </a:rPr>
              <a:t>tfoot</a:t>
            </a:r>
            <a:r>
              <a:rPr lang="en-US" altLang="zh-CN" sz="2000" dirty="0">
                <a:solidFill>
                  <a:srgbClr val="FF0000"/>
                </a:solidFill>
                <a:ea typeface="黑体" panose="02010609060101010101" charset="-122"/>
              </a:rPr>
              <a:t>&gt;</a:t>
            </a:r>
          </a:p>
          <a:p>
            <a:pPr eaLnBrk="0" hangingPunct="0"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使用次序是thead、tfoot、tbody，使得可在收到所有数据前呈现页脚。</a:t>
            </a:r>
          </a:p>
          <a:p>
            <a:pPr eaLnBrk="0" hangingPunct="0"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长表格使用，表内滚动时冻结表头；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打印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时表头和页脚出现在每张页面。</a:t>
            </a:r>
          </a:p>
          <a:p>
            <a:pPr eaLnBrk="0" hangingPunct="0"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有一些浏览器兼容问题。</a:t>
            </a:r>
            <a:endParaRPr lang="zh-CN" altLang="en-US" sz="2000" dirty="0">
              <a:solidFill>
                <a:schemeClr val="tx1"/>
              </a:solidFill>
              <a:ea typeface="黑体" panose="02010609060101010101" charset="-122"/>
            </a:endParaRPr>
          </a:p>
          <a:p>
            <a:pPr eaLnBrk="0" hangingPunct="0"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endParaRPr lang="zh-CN" altLang="en-US" sz="2000" dirty="0">
              <a:solidFill>
                <a:schemeClr val="tx1"/>
              </a:solidFill>
              <a:ea typeface="黑体" panose="02010609060101010101" charset="-122"/>
            </a:endParaRPr>
          </a:p>
        </p:txBody>
      </p:sp>
      <p:sp>
        <p:nvSpPr>
          <p:cNvPr id="26" name="Text Box 47"/>
          <p:cNvSpPr txBox="1">
            <a:spLocks noChangeArrowheads="1"/>
          </p:cNvSpPr>
          <p:nvPr/>
        </p:nvSpPr>
        <p:spPr bwMode="gray">
          <a:xfrm>
            <a:off x="654050" y="1714501"/>
            <a:ext cx="3155950" cy="339725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00FA"/>
                </a:solidFill>
                <a:latin typeface="微软雅黑" panose="020B0503020204020204" charset="-122"/>
                <a:ea typeface="微软雅黑" panose="020B0503020204020204" charset="-122"/>
              </a:rPr>
              <a:t>Word</a:t>
            </a:r>
            <a:r>
              <a:rPr lang="zh-CN" altLang="en-US">
                <a:solidFill>
                  <a:srgbClr val="0000FA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>
                <a:solidFill>
                  <a:srgbClr val="0000FA"/>
                </a:solidFill>
                <a:latin typeface="微软雅黑" panose="020B0503020204020204" charset="-122"/>
                <a:ea typeface="微软雅黑" panose="020B0503020204020204" charset="-122"/>
              </a:rPr>
              <a:t>Execl</a:t>
            </a:r>
            <a:r>
              <a:rPr lang="zh-CN" altLang="en-US">
                <a:solidFill>
                  <a:srgbClr val="0000FA"/>
                </a:solidFill>
                <a:latin typeface="微软雅黑" panose="020B0503020204020204" charset="-122"/>
                <a:ea typeface="微软雅黑" panose="020B0503020204020204" charset="-122"/>
              </a:rPr>
              <a:t>中的表格</a:t>
            </a:r>
          </a:p>
        </p:txBody>
      </p:sp>
      <p:sp>
        <p:nvSpPr>
          <p:cNvPr id="27" name="Text Box 48"/>
          <p:cNvSpPr txBox="1">
            <a:spLocks noChangeArrowheads="1"/>
          </p:cNvSpPr>
          <p:nvPr/>
        </p:nvSpPr>
        <p:spPr bwMode="gray">
          <a:xfrm>
            <a:off x="6019800" y="1702594"/>
            <a:ext cx="2592388" cy="339725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0000FA"/>
                </a:solidFill>
                <a:latin typeface="微软雅黑" panose="020B0503020204020204" charset="-122"/>
                <a:ea typeface="微软雅黑" panose="020B0503020204020204" charset="-122"/>
              </a:rPr>
              <a:t>网页中的表格</a:t>
            </a:r>
          </a:p>
        </p:txBody>
      </p:sp>
      <p:sp>
        <p:nvSpPr>
          <p:cNvPr id="28" name="Rectangle 56"/>
          <p:cNvSpPr>
            <a:spLocks noChangeArrowheads="1"/>
          </p:cNvSpPr>
          <p:nvPr/>
        </p:nvSpPr>
        <p:spPr bwMode="gray">
          <a:xfrm>
            <a:off x="3667760" y="1702277"/>
            <a:ext cx="1554480" cy="339725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0000FA"/>
                </a:solidFill>
                <a:ea typeface="微软雅黑" panose="020B0503020204020204" charset="-122"/>
              </a:rPr>
              <a:t>表格构成元素</a:t>
            </a:r>
            <a:endParaRPr lang="en-US" altLang="zh-CN">
              <a:solidFill>
                <a:srgbClr val="0000FA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表格标记</a:t>
            </a:r>
            <a:r>
              <a:rPr lang="en-US" altLang="zh-CN" dirty="0"/>
              <a:t>-</a:t>
            </a:r>
            <a:r>
              <a:rPr lang="zh-CN" altLang="en-US" dirty="0"/>
              <a:t>语法 </a:t>
            </a:r>
          </a:p>
        </p:txBody>
      </p:sp>
      <p:sp>
        <p:nvSpPr>
          <p:cNvPr id="19458" name="Rectangle 3"/>
          <p:cNvSpPr>
            <a:spLocks noGrp="1" noChangeArrowheads="1"/>
          </p:cNvSpPr>
          <p:nvPr>
            <p:ph idx="1"/>
          </p:nvPr>
        </p:nvSpPr>
        <p:spPr>
          <a:xfrm>
            <a:off x="688975" y="1495425"/>
            <a:ext cx="7438390" cy="3867150"/>
          </a:xfrm>
        </p:spPr>
        <p:txBody>
          <a:bodyPr>
            <a:normAutofit/>
          </a:bodyPr>
          <a:lstStyle/>
          <a:p>
            <a:r>
              <a:rPr lang="zh-CN" altLang="en-US" sz="1400" dirty="0"/>
              <a:t>在</a:t>
            </a:r>
            <a:r>
              <a:rPr lang="en-US" altLang="zh-CN" sz="1400" dirty="0"/>
              <a:t>HTML</a:t>
            </a:r>
            <a:r>
              <a:rPr lang="zh-CN" altLang="en-US" sz="1400" dirty="0"/>
              <a:t>中，使用</a:t>
            </a:r>
            <a:r>
              <a:rPr lang="en-US" altLang="zh-CN" sz="1400" dirty="0"/>
              <a:t>&lt;table&gt;&lt;/table&gt;</a:t>
            </a:r>
            <a:r>
              <a:rPr lang="zh-CN" altLang="en-US" sz="1400" dirty="0"/>
              <a:t>标记可以创建表格。</a:t>
            </a:r>
            <a:endParaRPr lang="en-US" altLang="zh-CN" sz="1400" dirty="0"/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   &lt;table&gt; 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        &lt;caption&gt;</a:t>
            </a:r>
            <a:r>
              <a:rPr lang="zh-CN" altLang="en-US" sz="2000" dirty="0">
                <a:solidFill>
                  <a:srgbClr val="FF0000"/>
                </a:solidFill>
              </a:rPr>
              <a:t>插入表格标题</a:t>
            </a:r>
            <a:r>
              <a:rPr lang="en-US" altLang="zh-CN" sz="2000" dirty="0">
                <a:solidFill>
                  <a:srgbClr val="FF0000"/>
                </a:solidFill>
              </a:rPr>
              <a:t>&lt;/caption&gt;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       &lt;</a:t>
            </a:r>
            <a:r>
              <a:rPr lang="en-US" altLang="zh-CN" sz="2000" dirty="0" err="1">
                <a:solidFill>
                  <a:srgbClr val="FF0000"/>
                </a:solidFill>
              </a:rPr>
              <a:t>tr</a:t>
            </a:r>
            <a:r>
              <a:rPr lang="en-US" altLang="zh-CN" sz="2000" dirty="0">
                <a:solidFill>
                  <a:srgbClr val="FF0000"/>
                </a:solidFill>
              </a:rPr>
              <a:t>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           &lt;</a:t>
            </a:r>
            <a:r>
              <a:rPr lang="en-US" altLang="zh-CN" sz="2000" dirty="0" err="1">
                <a:solidFill>
                  <a:srgbClr val="FF0000"/>
                </a:solidFill>
              </a:rPr>
              <a:t>th</a:t>
            </a:r>
            <a:r>
              <a:rPr lang="en-US" altLang="zh-CN" sz="2000" dirty="0">
                <a:solidFill>
                  <a:srgbClr val="FF0000"/>
                </a:solidFill>
              </a:rPr>
              <a:t>&gt;&lt;/</a:t>
            </a:r>
            <a:r>
              <a:rPr lang="en-US" altLang="zh-CN" sz="2000" dirty="0" err="1">
                <a:solidFill>
                  <a:srgbClr val="FF0000"/>
                </a:solidFill>
              </a:rPr>
              <a:t>th</a:t>
            </a:r>
            <a:r>
              <a:rPr lang="en-US" altLang="zh-CN" sz="2000" dirty="0">
                <a:solidFill>
                  <a:srgbClr val="FF0000"/>
                </a:solidFill>
              </a:rPr>
              <a:t>&gt; &gt;&lt;</a:t>
            </a:r>
            <a:r>
              <a:rPr lang="en-US" altLang="zh-CN" sz="2000" dirty="0" err="1">
                <a:solidFill>
                  <a:srgbClr val="FF0000"/>
                </a:solidFill>
              </a:rPr>
              <a:t>th</a:t>
            </a:r>
            <a:r>
              <a:rPr lang="en-US" altLang="zh-CN" sz="2000" dirty="0">
                <a:solidFill>
                  <a:srgbClr val="FF0000"/>
                </a:solidFill>
              </a:rPr>
              <a:t>&gt;&lt;/</a:t>
            </a:r>
            <a:r>
              <a:rPr lang="en-US" altLang="zh-CN" sz="2000" dirty="0" err="1">
                <a:solidFill>
                  <a:srgbClr val="FF0000"/>
                </a:solidFill>
              </a:rPr>
              <a:t>th</a:t>
            </a:r>
            <a:r>
              <a:rPr lang="en-US" altLang="zh-CN" sz="2000" dirty="0">
                <a:solidFill>
                  <a:srgbClr val="FF0000"/>
                </a:solidFill>
              </a:rPr>
              <a:t>&gt; &gt;&lt;</a:t>
            </a:r>
            <a:r>
              <a:rPr lang="en-US" altLang="zh-CN" sz="2000" dirty="0" err="1">
                <a:solidFill>
                  <a:srgbClr val="FF0000"/>
                </a:solidFill>
              </a:rPr>
              <a:t>th</a:t>
            </a:r>
            <a:r>
              <a:rPr lang="en-US" altLang="zh-CN" sz="2000" dirty="0">
                <a:solidFill>
                  <a:srgbClr val="FF0000"/>
                </a:solidFill>
              </a:rPr>
              <a:t>&gt;&lt;/</a:t>
            </a:r>
            <a:r>
              <a:rPr lang="en-US" altLang="zh-CN" sz="2000" dirty="0" err="1">
                <a:solidFill>
                  <a:srgbClr val="FF0000"/>
                </a:solidFill>
              </a:rPr>
              <a:t>th</a:t>
            </a:r>
            <a:r>
              <a:rPr lang="en-US" altLang="zh-CN" sz="2000" dirty="0">
                <a:solidFill>
                  <a:srgbClr val="FF0000"/>
                </a:solidFill>
              </a:rPr>
              <a:t>&gt; …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      &lt;/</a:t>
            </a:r>
            <a:r>
              <a:rPr lang="en-US" altLang="zh-CN" sz="2000" dirty="0" err="1">
                <a:solidFill>
                  <a:srgbClr val="FF0000"/>
                </a:solidFill>
              </a:rPr>
              <a:t>tr</a:t>
            </a:r>
            <a:r>
              <a:rPr lang="en-US" altLang="zh-CN" sz="2000" dirty="0">
                <a:solidFill>
                  <a:srgbClr val="FF0000"/>
                </a:solidFill>
              </a:rPr>
              <a:t>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      &lt;</a:t>
            </a:r>
            <a:r>
              <a:rPr lang="en-US" altLang="zh-CN" sz="2000" dirty="0" err="1">
                <a:solidFill>
                  <a:srgbClr val="FF0000"/>
                </a:solidFill>
              </a:rPr>
              <a:t>tr</a:t>
            </a:r>
            <a:r>
              <a:rPr lang="en-US" altLang="zh-CN" sz="2000" dirty="0">
                <a:solidFill>
                  <a:srgbClr val="FF0000"/>
                </a:solidFill>
              </a:rPr>
              <a:t>&gt; 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           &lt;td &gt;&lt;/td&gt; &lt;td &gt;&lt;/td&gt; &lt;td &gt;&lt;/td&gt; …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      &lt;/</a:t>
            </a:r>
            <a:r>
              <a:rPr lang="en-US" altLang="zh-CN" sz="2000" dirty="0" err="1">
                <a:solidFill>
                  <a:srgbClr val="FF0000"/>
                </a:solidFill>
              </a:rPr>
              <a:t>tr</a:t>
            </a:r>
            <a:r>
              <a:rPr lang="en-US" altLang="zh-CN" sz="2000" dirty="0">
                <a:solidFill>
                  <a:srgbClr val="FF0000"/>
                </a:solidFill>
              </a:rPr>
              <a:t>&gt; 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  &lt;/table&gt;</a:t>
            </a:r>
          </a:p>
          <a:p>
            <a:r>
              <a:rPr lang="zh-CN" altLang="en-US" sz="1400" dirty="0"/>
              <a:t>语法说明</a:t>
            </a:r>
          </a:p>
          <a:p>
            <a:pPr>
              <a:buNone/>
            </a:pPr>
            <a:r>
              <a:rPr lang="zh-CN" altLang="en-US" sz="1400" dirty="0"/>
              <a:t>   </a:t>
            </a:r>
            <a:r>
              <a:rPr lang="en-US" altLang="zh-CN" sz="1400" dirty="0"/>
              <a:t>&lt;table&gt;&lt;/table&gt;</a:t>
            </a:r>
            <a:r>
              <a:rPr lang="zh-CN" altLang="en-US" sz="1400" dirty="0"/>
              <a:t>标记表示插入表格；</a:t>
            </a:r>
            <a:r>
              <a:rPr lang="en-US" altLang="zh-CN" sz="1400" dirty="0"/>
              <a:t>&lt;</a:t>
            </a:r>
            <a:r>
              <a:rPr lang="en-US" altLang="zh-CN" sz="1400" dirty="0" err="1"/>
              <a:t>tr</a:t>
            </a:r>
            <a:r>
              <a:rPr lang="en-US" altLang="zh-CN" sz="1400" dirty="0"/>
              <a:t>&gt;&lt;/</a:t>
            </a:r>
            <a:r>
              <a:rPr lang="en-US" altLang="zh-CN" sz="1400" dirty="0" err="1"/>
              <a:t>tr</a:t>
            </a:r>
            <a:r>
              <a:rPr lang="en-US" altLang="zh-CN" sz="1400" dirty="0"/>
              <a:t>&gt;</a:t>
            </a:r>
            <a:r>
              <a:rPr lang="zh-CN" altLang="en-US" sz="1400" dirty="0"/>
              <a:t>表示插入一行；</a:t>
            </a:r>
            <a:r>
              <a:rPr lang="en-US" altLang="zh-CN" sz="1400" dirty="0"/>
              <a:t>&lt;td&gt;&lt;/td&gt;</a:t>
            </a:r>
            <a:r>
              <a:rPr lang="zh-CN" altLang="en-US" sz="1400" dirty="0"/>
              <a:t>表示插入一列；</a:t>
            </a:r>
            <a:r>
              <a:rPr lang="en-US" altLang="zh-CN" sz="1400" dirty="0"/>
              <a:t>&lt;</a:t>
            </a:r>
            <a:r>
              <a:rPr lang="en-US" altLang="zh-CN" sz="1400" dirty="0" err="1"/>
              <a:t>th</a:t>
            </a:r>
            <a:r>
              <a:rPr lang="en-US" altLang="zh-CN" sz="1400" dirty="0"/>
              <a:t>&gt;&lt;/</a:t>
            </a:r>
            <a:r>
              <a:rPr lang="en-US" altLang="zh-CN" sz="1400" dirty="0" err="1"/>
              <a:t>th</a:t>
            </a:r>
            <a:r>
              <a:rPr lang="en-US" altLang="zh-CN" sz="1400" dirty="0"/>
              <a:t>&gt;</a:t>
            </a:r>
            <a:r>
              <a:rPr lang="zh-CN" altLang="en-US" sz="1400" dirty="0"/>
              <a:t>插入表头。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表格标记</a:t>
            </a:r>
            <a:r>
              <a:rPr lang="en-US" altLang="zh-CN" dirty="0"/>
              <a:t>-</a:t>
            </a:r>
            <a:r>
              <a:rPr lang="zh-CN" altLang="en-US" dirty="0"/>
              <a:t>案例</a:t>
            </a:r>
            <a:r>
              <a:rPr lang="en-US" altLang="zh-CN" dirty="0"/>
              <a:t> 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idx="1"/>
          </p:nvPr>
        </p:nvSpPr>
        <p:spPr>
          <a:xfrm>
            <a:off x="386080" y="1066800"/>
            <a:ext cx="5857240" cy="5351780"/>
          </a:xfrm>
          <a:ln>
            <a:solidFill>
              <a:schemeClr val="bg1"/>
            </a:solidFill>
          </a:ln>
        </p:spPr>
        <p:txBody>
          <a:bodyPr>
            <a:normAutofit fontScale="90000" lnSpcReduction="20000"/>
          </a:bodyPr>
          <a:lstStyle/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&lt;html&gt;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  &lt;head&gt;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    &lt;style type="text/</a:t>
            </a:r>
            <a:r>
              <a:rPr lang="en-US" altLang="zh-CN" sz="1400" dirty="0" err="1">
                <a:latin typeface="+mn-lt"/>
                <a:ea typeface="宋体" panose="02010600030101010101" pitchFamily="2" charset="-122"/>
                <a:cs typeface="+mn-lt"/>
              </a:rPr>
              <a:t>css</a:t>
            </a: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"&gt;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      td{text-</a:t>
            </a:r>
            <a:r>
              <a:rPr lang="en-US" altLang="zh-CN" sz="1400" dirty="0" err="1">
                <a:latin typeface="+mn-lt"/>
                <a:ea typeface="宋体" panose="02010600030101010101" pitchFamily="2" charset="-122"/>
                <a:cs typeface="+mn-lt"/>
              </a:rPr>
              <a:t>align:center</a:t>
            </a: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;}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      #tableOddLine{background:#E0E0E0;}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    &lt;/style&gt;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  &lt;/head&gt;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  &lt;body&gt;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    &lt;table width="700" height="150px" border="1"&gt;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      &lt;caption&gt;&lt;strong&gt;2012</a:t>
            </a:r>
            <a:r>
              <a:rPr lang="zh-CN" altLang="en-US" sz="1400" dirty="0">
                <a:latin typeface="+mn-lt"/>
                <a:ea typeface="宋体" panose="02010600030101010101" pitchFamily="2" charset="-122"/>
                <a:cs typeface="+mn-lt"/>
              </a:rPr>
              <a:t>软件工程班课程表</a:t>
            </a: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&lt;/strong&gt;&lt;/caption&gt;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      &lt;</a:t>
            </a:r>
            <a:r>
              <a:rPr lang="en-US" altLang="zh-CN" sz="1400" dirty="0" err="1">
                <a:latin typeface="+mn-lt"/>
                <a:ea typeface="宋体" panose="02010600030101010101" pitchFamily="2" charset="-122"/>
                <a:cs typeface="+mn-lt"/>
              </a:rPr>
              <a:t>tr</a:t>
            </a: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&gt;               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        &lt;</a:t>
            </a:r>
            <a:r>
              <a:rPr lang="en-US" altLang="zh-CN" sz="1400" dirty="0" err="1">
                <a:latin typeface="+mn-lt"/>
                <a:ea typeface="宋体" panose="02010600030101010101" pitchFamily="2" charset="-122"/>
                <a:cs typeface="+mn-lt"/>
              </a:rPr>
              <a:t>th</a:t>
            </a: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&gt;</a:t>
            </a:r>
            <a:r>
              <a:rPr lang="zh-CN" altLang="en-US" sz="1400" dirty="0">
                <a:latin typeface="+mn-lt"/>
                <a:ea typeface="宋体" panose="02010600030101010101" pitchFamily="2" charset="-122"/>
                <a:cs typeface="+mn-lt"/>
              </a:rPr>
              <a:t>节次</a:t>
            </a: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&lt;/</a:t>
            </a:r>
            <a:r>
              <a:rPr lang="en-US" altLang="zh-CN" sz="1400" dirty="0" err="1">
                <a:latin typeface="+mn-lt"/>
                <a:ea typeface="宋体" panose="02010600030101010101" pitchFamily="2" charset="-122"/>
                <a:cs typeface="+mn-lt"/>
              </a:rPr>
              <a:t>th</a:t>
            </a: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&gt;&lt;</a:t>
            </a:r>
            <a:r>
              <a:rPr lang="en-US" altLang="zh-CN" sz="1400" dirty="0" err="1">
                <a:latin typeface="+mn-lt"/>
                <a:ea typeface="宋体" panose="02010600030101010101" pitchFamily="2" charset="-122"/>
                <a:cs typeface="+mn-lt"/>
              </a:rPr>
              <a:t>th</a:t>
            </a: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&gt;</a:t>
            </a:r>
            <a:r>
              <a:rPr lang="zh-CN" altLang="en-US" sz="1400" dirty="0">
                <a:latin typeface="+mn-lt"/>
                <a:ea typeface="宋体" panose="02010600030101010101" pitchFamily="2" charset="-122"/>
                <a:cs typeface="+mn-lt"/>
              </a:rPr>
              <a:t>星期一</a:t>
            </a: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&lt;/</a:t>
            </a:r>
            <a:r>
              <a:rPr lang="en-US" altLang="zh-CN" sz="1400" dirty="0" err="1">
                <a:latin typeface="+mn-lt"/>
                <a:ea typeface="宋体" panose="02010600030101010101" pitchFamily="2" charset="-122"/>
                <a:cs typeface="+mn-lt"/>
              </a:rPr>
              <a:t>th</a:t>
            </a: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&gt;         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        &lt;</a:t>
            </a:r>
            <a:r>
              <a:rPr lang="en-US" altLang="zh-CN" sz="1400" dirty="0" err="1">
                <a:latin typeface="+mn-lt"/>
                <a:ea typeface="宋体" panose="02010600030101010101" pitchFamily="2" charset="-122"/>
                <a:cs typeface="+mn-lt"/>
              </a:rPr>
              <a:t>th</a:t>
            </a: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&gt;</a:t>
            </a:r>
            <a:r>
              <a:rPr lang="zh-CN" altLang="en-US" sz="1400" dirty="0">
                <a:latin typeface="+mn-lt"/>
                <a:ea typeface="宋体" panose="02010600030101010101" pitchFamily="2" charset="-122"/>
                <a:cs typeface="+mn-lt"/>
              </a:rPr>
              <a:t>星期二</a:t>
            </a: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&lt;/</a:t>
            </a:r>
            <a:r>
              <a:rPr lang="en-US" altLang="zh-CN" sz="1400" dirty="0" err="1">
                <a:latin typeface="+mn-lt"/>
                <a:ea typeface="宋体" panose="02010600030101010101" pitchFamily="2" charset="-122"/>
                <a:cs typeface="+mn-lt"/>
              </a:rPr>
              <a:t>th</a:t>
            </a: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&gt;&lt;</a:t>
            </a:r>
            <a:r>
              <a:rPr lang="en-US" altLang="zh-CN" sz="1400" dirty="0" err="1">
                <a:latin typeface="+mn-lt"/>
                <a:ea typeface="宋体" panose="02010600030101010101" pitchFamily="2" charset="-122"/>
                <a:cs typeface="+mn-lt"/>
              </a:rPr>
              <a:t>th</a:t>
            </a: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&gt;</a:t>
            </a:r>
            <a:r>
              <a:rPr lang="zh-CN" altLang="en-US" sz="1400" dirty="0">
                <a:latin typeface="+mn-lt"/>
                <a:ea typeface="宋体" panose="02010600030101010101" pitchFamily="2" charset="-122"/>
                <a:cs typeface="+mn-lt"/>
              </a:rPr>
              <a:t>星期三</a:t>
            </a: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&lt;/</a:t>
            </a:r>
            <a:r>
              <a:rPr lang="en-US" altLang="zh-CN" sz="1400" dirty="0" err="1">
                <a:latin typeface="+mn-lt"/>
                <a:ea typeface="宋体" panose="02010600030101010101" pitchFamily="2" charset="-122"/>
                <a:cs typeface="+mn-lt"/>
              </a:rPr>
              <a:t>th</a:t>
            </a: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&gt;         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        &lt;</a:t>
            </a:r>
            <a:r>
              <a:rPr lang="en-US" altLang="zh-CN" sz="1400" dirty="0" err="1">
                <a:latin typeface="+mn-lt"/>
                <a:ea typeface="宋体" panose="02010600030101010101" pitchFamily="2" charset="-122"/>
                <a:cs typeface="+mn-lt"/>
              </a:rPr>
              <a:t>th</a:t>
            </a: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&gt;</a:t>
            </a:r>
            <a:r>
              <a:rPr lang="zh-CN" altLang="en-US" sz="1400" dirty="0">
                <a:latin typeface="+mn-lt"/>
                <a:ea typeface="宋体" panose="02010600030101010101" pitchFamily="2" charset="-122"/>
                <a:cs typeface="+mn-lt"/>
              </a:rPr>
              <a:t>星期四</a:t>
            </a: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&lt;/</a:t>
            </a:r>
            <a:r>
              <a:rPr lang="en-US" altLang="zh-CN" sz="1400" dirty="0" err="1">
                <a:latin typeface="+mn-lt"/>
                <a:ea typeface="宋体" panose="02010600030101010101" pitchFamily="2" charset="-122"/>
                <a:cs typeface="+mn-lt"/>
              </a:rPr>
              <a:t>th</a:t>
            </a: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&gt;&lt;</a:t>
            </a:r>
            <a:r>
              <a:rPr lang="en-US" altLang="zh-CN" sz="1400" dirty="0" err="1">
                <a:latin typeface="+mn-lt"/>
                <a:ea typeface="宋体" panose="02010600030101010101" pitchFamily="2" charset="-122"/>
                <a:cs typeface="+mn-lt"/>
              </a:rPr>
              <a:t>th</a:t>
            </a: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&gt;</a:t>
            </a:r>
            <a:r>
              <a:rPr lang="zh-CN" altLang="en-US" sz="1400" dirty="0">
                <a:latin typeface="+mn-lt"/>
                <a:ea typeface="宋体" panose="02010600030101010101" pitchFamily="2" charset="-122"/>
                <a:cs typeface="+mn-lt"/>
              </a:rPr>
              <a:t>星期五</a:t>
            </a: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&lt;/</a:t>
            </a:r>
            <a:r>
              <a:rPr lang="en-US" altLang="zh-CN" sz="1400" dirty="0" err="1">
                <a:latin typeface="+mn-lt"/>
                <a:ea typeface="宋体" panose="02010600030101010101" pitchFamily="2" charset="-122"/>
                <a:cs typeface="+mn-lt"/>
              </a:rPr>
              <a:t>th</a:t>
            </a: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&gt;         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      &lt;/</a:t>
            </a:r>
            <a:r>
              <a:rPr lang="en-US" altLang="zh-CN" sz="1400" dirty="0" err="1">
                <a:latin typeface="+mn-lt"/>
                <a:ea typeface="宋体" panose="02010600030101010101" pitchFamily="2" charset="-122"/>
                <a:cs typeface="+mn-lt"/>
              </a:rPr>
              <a:t>tr</a:t>
            </a: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&gt;  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</a:rPr>
              <a:t>      &lt;</a:t>
            </a:r>
            <a:r>
              <a:rPr lang="en-US" altLang="zh-CN" sz="1400" dirty="0" err="1">
                <a:latin typeface="+mn-lt"/>
                <a:ea typeface="Verdana" panose="020B0604030504040204" pitchFamily="34" charset="0"/>
                <a:cs typeface="+mn-lt"/>
              </a:rPr>
              <a:t>tr</a:t>
            </a: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</a:rPr>
              <a:t> id="</a:t>
            </a: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  <a:sym typeface="+mn-ea"/>
              </a:rPr>
              <a:t>tableOddLine</a:t>
            </a: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</a:rPr>
              <a:t>"&gt; </a:t>
            </a:r>
            <a:endParaRPr lang="zh-CN" altLang="en-US" sz="1400" dirty="0">
              <a:latin typeface="+mn-lt"/>
              <a:cs typeface="+mn-lt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</a:rPr>
              <a:t>        &lt;td&gt;</a:t>
            </a:r>
            <a:r>
              <a:rPr lang="zh-CN" altLang="en-US" sz="1400" dirty="0">
                <a:latin typeface="+mn-lt"/>
                <a:cs typeface="+mn-lt"/>
              </a:rPr>
              <a:t>第</a:t>
            </a: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</a:rPr>
              <a:t>1-2</a:t>
            </a:r>
            <a:r>
              <a:rPr lang="zh-CN" altLang="en-US" sz="1400" dirty="0">
                <a:latin typeface="+mn-lt"/>
                <a:cs typeface="+mn-lt"/>
              </a:rPr>
              <a:t>节</a:t>
            </a: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</a:rPr>
              <a:t>&lt;/td&gt;&lt;td&gt;Java</a:t>
            </a:r>
            <a:r>
              <a:rPr lang="zh-CN" altLang="en-US" sz="1400" dirty="0">
                <a:latin typeface="+mn-lt"/>
                <a:cs typeface="+mn-lt"/>
              </a:rPr>
              <a:t>程序设计</a:t>
            </a: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</a:rPr>
              <a:t>&lt;/td&gt;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        &lt;td&gt;Web</a:t>
            </a:r>
            <a:r>
              <a:rPr lang="zh-CN" altLang="en-US" sz="1400" dirty="0">
                <a:latin typeface="+mn-lt"/>
                <a:cs typeface="+mn-lt"/>
                <a:sym typeface="+mn-ea"/>
              </a:rPr>
              <a:t>前端开发技术</a:t>
            </a: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&lt;/td&gt;         </a:t>
            </a:r>
            <a:endParaRPr lang="en-US" altLang="zh-CN" sz="1400" b="0" dirty="0">
              <a:latin typeface="+mn-lt"/>
              <a:ea typeface="Verdana" panose="020B0604030504040204" pitchFamily="34" charset="0"/>
              <a:cs typeface="+mn-lt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        &lt;td&gt;</a:t>
            </a:r>
            <a:r>
              <a:rPr lang="zh-CN" altLang="en-US" sz="1400" dirty="0">
                <a:latin typeface="+mn-lt"/>
                <a:cs typeface="+mn-lt"/>
                <a:sym typeface="+mn-ea"/>
              </a:rPr>
              <a:t>数字逻辑电路</a:t>
            </a: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&lt;/td&gt;         </a:t>
            </a:r>
            <a:endParaRPr lang="en-US" altLang="zh-CN" sz="1400" b="0" dirty="0">
              <a:latin typeface="+mn-lt"/>
              <a:ea typeface="Verdana" panose="020B0604030504040204" pitchFamily="34" charset="0"/>
              <a:cs typeface="+mn-lt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        &lt;td&gt;</a:t>
            </a:r>
            <a:r>
              <a:rPr lang="zh-CN" altLang="en-US" sz="1400" dirty="0">
                <a:latin typeface="+mn-lt"/>
                <a:cs typeface="+mn-lt"/>
                <a:sym typeface="+mn-ea"/>
              </a:rPr>
              <a:t>数据结构</a:t>
            </a: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&lt;/td&gt;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        &lt;td&gt;</a:t>
            </a:r>
            <a:r>
              <a:rPr lang="zh-CN" altLang="en-US" sz="1400" dirty="0">
                <a:latin typeface="+mn-lt"/>
                <a:cs typeface="+mn-lt"/>
                <a:sym typeface="+mn-ea"/>
              </a:rPr>
              <a:t>体育</a:t>
            </a: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&lt;/td&gt;         </a:t>
            </a:r>
            <a:endParaRPr lang="en-US" altLang="zh-CN" sz="1400" b="0" dirty="0">
              <a:latin typeface="+mn-lt"/>
              <a:ea typeface="Verdana" panose="020B0604030504040204" pitchFamily="34" charset="0"/>
              <a:cs typeface="+mn-lt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      &lt;/</a:t>
            </a:r>
            <a:r>
              <a:rPr lang="en-US" altLang="zh-CN" sz="1400" dirty="0" err="1">
                <a:latin typeface="+mn-lt"/>
                <a:ea typeface="Verdana" panose="020B0604030504040204" pitchFamily="34" charset="0"/>
                <a:cs typeface="+mn-lt"/>
                <a:sym typeface="+mn-ea"/>
              </a:rPr>
              <a:t>tr</a:t>
            </a: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&gt;</a:t>
            </a:r>
            <a:endParaRPr lang="en-US" altLang="zh-CN" sz="1400" b="0" dirty="0">
              <a:latin typeface="+mn-lt"/>
              <a:ea typeface="Verdana" panose="020B0604030504040204" pitchFamily="34" charset="0"/>
              <a:cs typeface="+mn-lt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      &lt;</a:t>
            </a:r>
            <a:r>
              <a:rPr lang="en-US" altLang="zh-CN" sz="1400" dirty="0" err="1">
                <a:latin typeface="+mn-lt"/>
                <a:ea typeface="Verdana" panose="020B0604030504040204" pitchFamily="34" charset="0"/>
                <a:cs typeface="+mn-lt"/>
                <a:sym typeface="+mn-ea"/>
              </a:rPr>
              <a:t>tr</a:t>
            </a: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&gt;               </a:t>
            </a:r>
            <a:endParaRPr lang="en-US" altLang="zh-CN" sz="1400" b="0" dirty="0">
              <a:latin typeface="+mn-lt"/>
              <a:ea typeface="Verdana" panose="020B0604030504040204" pitchFamily="34" charset="0"/>
              <a:cs typeface="+mn-lt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        &lt;td&gt;</a:t>
            </a:r>
            <a:r>
              <a:rPr lang="zh-CN" altLang="en-US" sz="1400" dirty="0">
                <a:latin typeface="+mn-lt"/>
                <a:cs typeface="+mn-lt"/>
                <a:sym typeface="+mn-ea"/>
              </a:rPr>
              <a:t>第</a:t>
            </a: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3-4</a:t>
            </a:r>
            <a:r>
              <a:rPr lang="zh-CN" altLang="en-US" sz="1400" dirty="0">
                <a:latin typeface="+mn-lt"/>
                <a:cs typeface="+mn-lt"/>
                <a:sym typeface="+mn-ea"/>
              </a:rPr>
              <a:t>节</a:t>
            </a: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&lt;/td&gt;&lt;td&gt;</a:t>
            </a:r>
            <a:r>
              <a:rPr lang="zh-CN" altLang="en-US" sz="1400" dirty="0">
                <a:latin typeface="+mn-lt"/>
                <a:cs typeface="+mn-lt"/>
                <a:sym typeface="+mn-ea"/>
              </a:rPr>
              <a:t>心理咨询</a:t>
            </a: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&lt;/td&gt;         </a:t>
            </a:r>
            <a:endParaRPr lang="en-US" altLang="zh-CN" sz="1400" b="0" dirty="0">
              <a:latin typeface="+mn-lt"/>
              <a:ea typeface="Verdana" panose="020B0604030504040204" pitchFamily="34" charset="0"/>
              <a:cs typeface="+mn-lt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        &lt;td&gt;</a:t>
            </a:r>
            <a:r>
              <a:rPr lang="zh-CN" altLang="en-US" sz="1400" dirty="0">
                <a:latin typeface="+mn-lt"/>
                <a:cs typeface="+mn-lt"/>
                <a:sym typeface="+mn-ea"/>
              </a:rPr>
              <a:t>线性代数</a:t>
            </a: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&lt;/td&gt;&lt;td&gt;</a:t>
            </a:r>
            <a:r>
              <a:rPr lang="zh-CN" altLang="en-US" sz="1400" dirty="0">
                <a:latin typeface="+mn-lt"/>
                <a:cs typeface="+mn-lt"/>
                <a:sym typeface="+mn-ea"/>
              </a:rPr>
              <a:t>数据结构</a:t>
            </a: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&lt;/td&gt;         </a:t>
            </a:r>
            <a:endParaRPr lang="en-US" altLang="zh-CN" sz="1400" b="0" dirty="0">
              <a:latin typeface="+mn-lt"/>
              <a:ea typeface="Verdana" panose="020B0604030504040204" pitchFamily="34" charset="0"/>
              <a:cs typeface="+mn-lt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        &lt;td&gt;</a:t>
            </a:r>
            <a:r>
              <a:rPr lang="zh-CN" altLang="en-US" sz="1400" dirty="0">
                <a:latin typeface="+mn-lt"/>
                <a:cs typeface="+mn-lt"/>
                <a:sym typeface="+mn-ea"/>
              </a:rPr>
              <a:t>数据结构</a:t>
            </a: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&lt;/td&gt;&lt;td&gt;Web</a:t>
            </a:r>
            <a:r>
              <a:rPr lang="zh-CN" altLang="en-US" sz="1400" dirty="0">
                <a:latin typeface="+mn-lt"/>
                <a:cs typeface="+mn-lt"/>
                <a:sym typeface="+mn-ea"/>
              </a:rPr>
              <a:t>前端开发技术</a:t>
            </a: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&lt;/td&gt;         </a:t>
            </a:r>
            <a:endParaRPr lang="en-US" altLang="zh-CN" sz="1400" b="0" dirty="0">
              <a:latin typeface="+mn-lt"/>
              <a:ea typeface="Verdana" panose="020B0604030504040204" pitchFamily="34" charset="0"/>
              <a:cs typeface="+mn-lt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      &lt;/</a:t>
            </a:r>
            <a:r>
              <a:rPr lang="en-US" altLang="zh-CN" sz="1400" dirty="0" err="1">
                <a:latin typeface="+mn-lt"/>
                <a:ea typeface="Verdana" panose="020B0604030504040204" pitchFamily="34" charset="0"/>
                <a:cs typeface="+mn-lt"/>
                <a:sym typeface="+mn-ea"/>
              </a:rPr>
              <a:t>tr</a:t>
            </a: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&gt;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    &lt;/table&gt;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  &lt;/body&gt;</a:t>
            </a:r>
            <a:endParaRPr lang="en-US" altLang="zh-CN" sz="1400" b="0" dirty="0">
              <a:latin typeface="+mn-lt"/>
              <a:ea typeface="Verdana" panose="020B0604030504040204" pitchFamily="34" charset="0"/>
              <a:cs typeface="+mn-lt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&lt;/html&gt;</a:t>
            </a:r>
            <a:endParaRPr lang="en-US" altLang="zh-CN" sz="1400" dirty="0">
              <a:latin typeface="+mn-lt"/>
              <a:ea typeface="宋体" panose="02010600030101010101" pitchFamily="2" charset="-122"/>
              <a:cs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495800" y="1676400"/>
            <a:ext cx="4495800" cy="257810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indent="363855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600" b="0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21505" name="Picture 1"/>
          <p:cNvPicPr>
            <a:picLocks noChangeAspect="1" noChangeArrowheads="1"/>
          </p:cNvPicPr>
          <p:nvPr/>
        </p:nvPicPr>
        <p:blipFill>
          <a:blip r:embed="rId2" cstate="print"/>
          <a:srcRect t="35142"/>
          <a:stretch>
            <a:fillRect/>
          </a:stretch>
        </p:blipFill>
        <p:spPr bwMode="auto">
          <a:xfrm>
            <a:off x="4146550" y="3048000"/>
            <a:ext cx="4997450" cy="1389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zh-CN" dirty="0"/>
              <a:t>表格单元格间距、单元格边距属性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33401" y="1657350"/>
            <a:ext cx="8534399" cy="222885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182880" marR="0" lvl="0" indent="-182880" algn="l" defTabSz="1158875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2000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基本语法：</a:t>
            </a:r>
          </a:p>
          <a:p>
            <a:pPr marL="182880" lvl="0" indent="-182880" defTabSz="1158875">
              <a:spcBef>
                <a:spcPct val="30000"/>
              </a:spcBef>
              <a:spcAft>
                <a:spcPct val="20000"/>
              </a:spcAft>
              <a:buClr>
                <a:srgbClr val="0000CC"/>
              </a:buClr>
              <a:buSzPct val="100000"/>
            </a:pP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      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&lt;table </a:t>
            </a: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cellspacing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=“5px” </a:t>
            </a: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cellpadding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=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黑体" panose="02010609060101010101" charset="-122"/>
                <a:cs typeface="+mn-cs"/>
              </a:rPr>
              <a:t>“5px”</a:t>
            </a:r>
            <a:r>
              <a:rPr lang="en-US" altLang="zh-CN" sz="1800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&gt;  &lt;/table &gt;</a:t>
            </a:r>
          </a:p>
          <a:p>
            <a:pPr marL="182880" marR="0" lvl="0" indent="-182880" algn="l" defTabSz="1158875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2000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    </a:t>
            </a:r>
            <a:r>
              <a:rPr kumimoji="0" lang="en-US" altLang="zh-CN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cellspacing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: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设置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表格的单元格和单元格之间的间距，默认值是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2px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，使得表格布局不会显得过于紧凑。</a:t>
            </a:r>
          </a:p>
          <a:p>
            <a:pPr marL="182880" marR="0" lvl="0" indent="-182880" algn="l" defTabSz="1158875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2000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    </a:t>
            </a:r>
            <a:r>
              <a:rPr kumimoji="0" lang="en-US" altLang="zh-CN" b="1" i="0" u="none" strike="noStrike" kern="0" cap="none" spc="0" normalizeH="0" baseline="0" noProof="0" dirty="0" err="1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cellpadding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: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设置单元的内容与边框的距离。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grpSp>
        <p:nvGrpSpPr>
          <p:cNvPr id="5" name="Group 13"/>
          <p:cNvGrpSpPr/>
          <p:nvPr/>
        </p:nvGrpSpPr>
        <p:grpSpPr bwMode="auto">
          <a:xfrm>
            <a:off x="3076575" y="4343401"/>
            <a:ext cx="4391025" cy="814388"/>
            <a:chOff x="930" y="3022"/>
            <a:chExt cx="1950" cy="590"/>
          </a:xfrm>
        </p:grpSpPr>
        <p:sp>
          <p:nvSpPr>
            <p:cNvPr id="6" name="Rectangle 4"/>
            <p:cNvSpPr>
              <a:spLocks noChangeArrowheads="1"/>
            </p:cNvSpPr>
            <p:nvPr/>
          </p:nvSpPr>
          <p:spPr bwMode="gray">
            <a:xfrm>
              <a:off x="930" y="3022"/>
              <a:ext cx="952" cy="590"/>
            </a:xfrm>
            <a:prstGeom prst="rect">
              <a:avLst/>
            </a:prstGeom>
            <a:solidFill>
              <a:srgbClr val="0000FA"/>
            </a:solidFill>
            <a:ln w="38100" algn="ctr">
              <a:solidFill>
                <a:schemeClr val="bg1"/>
              </a:solidFill>
              <a:miter lim="800000"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7" name="Rectangle 5"/>
            <p:cNvSpPr>
              <a:spLocks noChangeArrowheads="1"/>
            </p:cNvSpPr>
            <p:nvPr/>
          </p:nvSpPr>
          <p:spPr bwMode="gray">
            <a:xfrm>
              <a:off x="2109" y="3022"/>
              <a:ext cx="771" cy="590"/>
            </a:xfrm>
            <a:prstGeom prst="rect">
              <a:avLst/>
            </a:prstGeom>
            <a:solidFill>
              <a:srgbClr val="0000FA"/>
            </a:solidFill>
            <a:ln w="38100" algn="ctr">
              <a:solidFill>
                <a:srgbClr val="3333FF"/>
              </a:solidFill>
              <a:miter lim="800000"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8" name="Rectangle 6"/>
          <p:cNvSpPr>
            <a:spLocks noChangeArrowheads="1"/>
          </p:cNvSpPr>
          <p:nvPr/>
        </p:nvSpPr>
        <p:spPr bwMode="gray">
          <a:xfrm>
            <a:off x="6096000" y="4686301"/>
            <a:ext cx="1008062" cy="270272"/>
          </a:xfrm>
          <a:prstGeom prst="rect">
            <a:avLst/>
          </a:prstGeom>
          <a:solidFill>
            <a:srgbClr val="25C30B"/>
          </a:solidFill>
          <a:ln w="38100" algn="ctr">
            <a:noFill/>
            <a:miter lim="800000"/>
          </a:ln>
        </p:spPr>
        <p:txBody>
          <a:bodyPr wrap="none" anchor="ctr"/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ea typeface="黑体" panose="02010609060101010101" charset="-122"/>
              </a:rPr>
              <a:t>高等数学</a:t>
            </a:r>
          </a:p>
        </p:txBody>
      </p:sp>
      <p:sp>
        <p:nvSpPr>
          <p:cNvPr id="15" name="AutoShape 12"/>
          <p:cNvSpPr>
            <a:spLocks noChangeArrowheads="1"/>
          </p:cNvSpPr>
          <p:nvPr/>
        </p:nvSpPr>
        <p:spPr bwMode="gray">
          <a:xfrm>
            <a:off x="1219201" y="4375546"/>
            <a:ext cx="1152525" cy="729854"/>
          </a:xfrm>
          <a:prstGeom prst="wedgeRoundRectCallout">
            <a:avLst>
              <a:gd name="adj1" fmla="val 111686"/>
              <a:gd name="adj2" fmla="val 17486"/>
              <a:gd name="adj3" fmla="val 16667"/>
            </a:avLst>
          </a:prstGeom>
          <a:solidFill>
            <a:srgbClr val="3333FF"/>
          </a:solidFill>
          <a:ln w="38100" algn="ctr">
            <a:solidFill>
              <a:srgbClr val="3333FF"/>
            </a:solidFill>
            <a:miter lim="800000"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CN" b="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lang="zh-CN" altLang="en-US" b="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这是单元格</a:t>
            </a:r>
            <a:endParaRPr lang="en-US" altLang="zh-CN" b="0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2617470" y="2701925"/>
            <a:ext cx="3097530" cy="1871345"/>
            <a:chOff x="3941618" y="1589880"/>
            <a:chExt cx="1620982" cy="3364708"/>
          </a:xfrm>
        </p:grpSpPr>
        <p:cxnSp>
          <p:nvCxnSpPr>
            <p:cNvPr id="20" name="直接箭头连接符 19"/>
            <p:cNvCxnSpPr/>
            <p:nvPr/>
          </p:nvCxnSpPr>
          <p:spPr bwMode="auto">
            <a:xfrm>
              <a:off x="5309384" y="4940887"/>
              <a:ext cx="253216" cy="13701"/>
            </a:xfrm>
            <a:prstGeom prst="straightConnector1">
              <a:avLst/>
            </a:prstGeom>
            <a:gradFill rotWithShape="1">
              <a:gsLst>
                <a:gs pos="0">
                  <a:srgbClr val="000080">
                    <a:gamma/>
                    <a:shade val="46275"/>
                    <a:invGamma/>
                  </a:srgbClr>
                </a:gs>
                <a:gs pos="100000">
                  <a:srgbClr val="000080"/>
                </a:gs>
              </a:gsLst>
              <a:lin ang="5400000" scaled="1"/>
            </a:gradFill>
            <a:ln w="25400" cap="flat" cmpd="sng" algn="ctr">
              <a:solidFill>
                <a:srgbClr val="FF0000"/>
              </a:solidFill>
              <a:prstDash val="solid"/>
              <a:round/>
              <a:headEnd type="arrow"/>
              <a:tailEnd type="arrow"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</p:cxnSp>
        <p:cxnSp>
          <p:nvCxnSpPr>
            <p:cNvPr id="22" name="曲线连接符 21"/>
            <p:cNvCxnSpPr/>
            <p:nvPr/>
          </p:nvCxnSpPr>
          <p:spPr bwMode="auto">
            <a:xfrm>
              <a:off x="3941618" y="1589880"/>
              <a:ext cx="1316259" cy="3287070"/>
            </a:xfrm>
            <a:prstGeom prst="curvedConnector3">
              <a:avLst>
                <a:gd name="adj1" fmla="val 50013"/>
              </a:avLst>
            </a:prstGeom>
            <a:gradFill rotWithShape="1">
              <a:gsLst>
                <a:gs pos="0">
                  <a:srgbClr val="000080">
                    <a:gamma/>
                    <a:shade val="46275"/>
                    <a:invGamma/>
                  </a:srgbClr>
                </a:gs>
                <a:gs pos="100000">
                  <a:srgbClr val="000080"/>
                </a:gs>
              </a:gsLst>
              <a:lin ang="5400000" scaled="1"/>
            </a:gra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</p:cxnSp>
      </p:grpSp>
      <p:grpSp>
        <p:nvGrpSpPr>
          <p:cNvPr id="30" name="组合 29"/>
          <p:cNvGrpSpPr/>
          <p:nvPr/>
        </p:nvGrpSpPr>
        <p:grpSpPr>
          <a:xfrm>
            <a:off x="5715000" y="2590800"/>
            <a:ext cx="381000" cy="2286000"/>
            <a:chOff x="5715000" y="1733550"/>
            <a:chExt cx="381000" cy="2286000"/>
          </a:xfrm>
        </p:grpSpPr>
        <p:cxnSp>
          <p:nvCxnSpPr>
            <p:cNvPr id="19" name="直接箭头连接符 18"/>
            <p:cNvCxnSpPr/>
            <p:nvPr/>
          </p:nvCxnSpPr>
          <p:spPr bwMode="auto">
            <a:xfrm>
              <a:off x="5715000" y="4019550"/>
              <a:ext cx="381000" cy="0"/>
            </a:xfrm>
            <a:prstGeom prst="straightConnector1">
              <a:avLst/>
            </a:prstGeom>
            <a:gradFill rotWithShape="1">
              <a:gsLst>
                <a:gs pos="0">
                  <a:srgbClr val="000080">
                    <a:gamma/>
                    <a:shade val="46275"/>
                    <a:invGamma/>
                  </a:srgbClr>
                </a:gs>
                <a:gs pos="100000">
                  <a:srgbClr val="000080"/>
                </a:gs>
              </a:gsLst>
              <a:lin ang="5400000" scaled="1"/>
            </a:gradFill>
            <a:ln w="25400" cap="flat" cmpd="sng" algn="ctr">
              <a:solidFill>
                <a:srgbClr val="FFFFFF"/>
              </a:solidFill>
              <a:prstDash val="solid"/>
              <a:round/>
              <a:headEnd type="arrow"/>
              <a:tailEnd type="arrow"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</p:cxnSp>
        <p:cxnSp>
          <p:nvCxnSpPr>
            <p:cNvPr id="24" name="曲线连接符 23"/>
            <p:cNvCxnSpPr/>
            <p:nvPr/>
          </p:nvCxnSpPr>
          <p:spPr bwMode="auto">
            <a:xfrm rot="16200000" flipH="1">
              <a:off x="4738198" y="2786552"/>
              <a:ext cx="2266950" cy="160946"/>
            </a:xfrm>
            <a:prstGeom prst="curvedConnector3">
              <a:avLst>
                <a:gd name="adj1" fmla="val 50000"/>
              </a:avLst>
            </a:prstGeom>
            <a:gradFill rotWithShape="1">
              <a:gsLst>
                <a:gs pos="0">
                  <a:srgbClr val="000080">
                    <a:gamma/>
                    <a:shade val="46275"/>
                    <a:invGamma/>
                  </a:srgbClr>
                </a:gs>
                <a:gs pos="100000">
                  <a:srgbClr val="000080"/>
                </a:gs>
              </a:gsLst>
              <a:lin ang="5400000" scaled="1"/>
            </a:gradFill>
            <a:ln w="254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arrow"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</p:cxn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设置单元格的属性 </a:t>
            </a:r>
          </a:p>
        </p:txBody>
      </p:sp>
      <p:sp>
        <p:nvSpPr>
          <p:cNvPr id="128003" name="Rectangle 3"/>
          <p:cNvSpPr>
            <a:spLocks noGrp="1" noChangeArrowheads="1"/>
          </p:cNvSpPr>
          <p:nvPr>
            <p:ph idx="1"/>
          </p:nvPr>
        </p:nvSpPr>
        <p:spPr>
          <a:xfrm>
            <a:off x="641350" y="1373505"/>
            <a:ext cx="7999730" cy="124333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3600" dirty="0">
                <a:latin typeface="黑体" panose="02010609060101010101" charset="-122"/>
                <a:ea typeface="宋体" panose="02010600030101010101" pitchFamily="2" charset="-122"/>
              </a:rPr>
              <a:t>   </a:t>
            </a:r>
            <a:r>
              <a:rPr lang="zh-CN" altLang="en-US" sz="1600" dirty="0"/>
              <a:t>表格列标记</a:t>
            </a:r>
            <a:r>
              <a:rPr lang="en-US" altLang="zh-CN" sz="1600" dirty="0"/>
              <a:t>td</a:t>
            </a:r>
            <a:r>
              <a:rPr lang="zh-CN" altLang="en-US" sz="1600" dirty="0"/>
              <a:t>的属性可以设置表格单元格的显示风格。常用的属性如下表所示。单元格的颜色、边框和对齐属性与行</a:t>
            </a:r>
            <a:r>
              <a:rPr lang="en-US" altLang="zh-CN" sz="1600" dirty="0" err="1"/>
              <a:t>tr</a:t>
            </a:r>
            <a:r>
              <a:rPr lang="zh-CN" altLang="en-US" sz="1600" dirty="0"/>
              <a:t>标记一样。</a:t>
            </a:r>
            <a:endParaRPr lang="en-US" altLang="zh-CN" sz="1600" dirty="0">
              <a:latin typeface="黑体" panose="02010609060101010101" charset="-122"/>
              <a:ea typeface="宋体" panose="02010600030101010101" pitchFamily="2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5884432"/>
              </p:ext>
            </p:extLst>
          </p:nvPr>
        </p:nvGraphicFramePr>
        <p:xfrm>
          <a:off x="640715" y="2990216"/>
          <a:ext cx="8001000" cy="2040255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468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0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9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25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146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属性值</a:t>
                      </a:r>
                      <a:endParaRPr lang="zh-CN" sz="16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说明</a:t>
                      </a:r>
                      <a:endParaRPr lang="zh-CN" sz="16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属性</a:t>
                      </a:r>
                      <a:endParaRPr lang="zh-CN" sz="16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说明</a:t>
                      </a:r>
                      <a:endParaRPr lang="zh-CN" sz="16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align</a:t>
                      </a:r>
                      <a:endParaRPr lang="zh-CN" sz="16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302385" algn="r"/>
                        </a:tabLst>
                      </a:pPr>
                      <a:r>
                        <a:rPr lang="zh-CN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单元格内容水平对齐</a:t>
                      </a:r>
                      <a:endParaRPr lang="zh-CN" sz="16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bordercolorlight</a:t>
                      </a:r>
                      <a:endParaRPr lang="zh-CN" sz="1600" kern="100" dirty="0"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latin typeface="微软雅黑" panose="020B0503020204020204" charset="-122"/>
                          <a:ea typeface="微软雅黑" panose="020B0503020204020204" charset="-122"/>
                        </a:rPr>
                        <a:t>单元格的亮边框颜色</a:t>
                      </a:r>
                      <a:endParaRPr lang="zh-CN" sz="1600" kern="10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valign</a:t>
                      </a:r>
                      <a:endParaRPr lang="zh-CN" sz="16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单元格内容垂直对齐</a:t>
                      </a:r>
                      <a:endParaRPr lang="zh-CN" sz="16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bordercolordark</a:t>
                      </a:r>
                      <a:endParaRPr lang="zh-CN" sz="1600" kern="100" dirty="0"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单元格的暗边框颜色</a:t>
                      </a:r>
                      <a:endParaRPr lang="zh-CN" sz="16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bgcolor</a:t>
                      </a:r>
                      <a:endParaRPr lang="zh-CN" sz="16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单元格的背景颜色</a:t>
                      </a:r>
                      <a:endParaRPr lang="zh-CN" sz="16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rowspan</a:t>
                      </a:r>
                      <a:endParaRPr lang="en-US" sz="1600" kern="100" dirty="0" err="1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单元格跨行</a:t>
                      </a:r>
                      <a:endParaRPr lang="zh-CN" sz="1600" kern="100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background</a:t>
                      </a:r>
                      <a:endParaRPr lang="zh-CN" sz="16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单元格背景图像</a:t>
                      </a:r>
                      <a:endParaRPr lang="zh-CN" sz="16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colspan</a:t>
                      </a:r>
                      <a:endParaRPr lang="en-US" sz="1600" kern="100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单元格跨列</a:t>
                      </a:r>
                      <a:endParaRPr lang="zh-CN" sz="1600" kern="100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bordercolor</a:t>
                      </a:r>
                      <a:endParaRPr lang="zh-CN" sz="16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latin typeface="微软雅黑" panose="020B0503020204020204" charset="-122"/>
                          <a:ea typeface="微软雅黑" panose="020B0503020204020204" charset="-122"/>
                        </a:rPr>
                        <a:t>单元格的边框颜色</a:t>
                      </a:r>
                      <a:endParaRPr lang="zh-CN" sz="1600" kern="10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微软雅黑" panose="020B0503020204020204" charset="-122"/>
                          <a:ea typeface="微软雅黑" panose="020B0503020204020204" charset="-122"/>
                        </a:rPr>
                        <a:t>width</a:t>
                      </a:r>
                      <a:endParaRPr lang="zh-CN" sz="1600" kern="10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单元格宽度</a:t>
                      </a:r>
                      <a:endParaRPr lang="zh-CN" sz="16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kern="10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n-US" sz="1600" kern="10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微软雅黑" panose="020B0503020204020204" charset="-122"/>
                          <a:ea typeface="微软雅黑" panose="020B0503020204020204" charset="-122"/>
                        </a:rPr>
                        <a:t>height</a:t>
                      </a:r>
                      <a:endParaRPr lang="zh-CN" sz="1600" kern="10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单元格高度</a:t>
                      </a:r>
                      <a:endParaRPr lang="zh-CN" sz="16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设置单元格的属性</a:t>
            </a:r>
            <a:r>
              <a:rPr lang="en-US" altLang="zh-CN" dirty="0"/>
              <a:t>-</a:t>
            </a:r>
            <a:r>
              <a:rPr lang="zh-CN" altLang="en-US" dirty="0"/>
              <a:t>单元格跨行、列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33400" y="1657350"/>
            <a:ext cx="8534400" cy="177165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/>
          <a:lstStyle/>
          <a:p>
            <a:pPr marL="182880" indent="-182880" defTabSz="1158875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altLang="zh-CN" b="0" kern="0" dirty="0">
                <a:latin typeface="+mn-lt"/>
                <a:ea typeface="+mn-ea"/>
              </a:rPr>
              <a:t> </a:t>
            </a:r>
            <a:r>
              <a:rPr lang="en-US" altLang="zh-CN" b="0" kern="0" dirty="0">
                <a:latin typeface="黑体" panose="02010609060101010101" charset="-122"/>
                <a:ea typeface="黑体" panose="02010609060101010101" charset="-122"/>
              </a:rPr>
              <a:t>&lt;td&gt;</a:t>
            </a:r>
            <a:r>
              <a:rPr lang="zh-CN" altLang="en-US" b="0" kern="0" dirty="0">
                <a:latin typeface="黑体" panose="02010609060101010101" charset="-122"/>
                <a:ea typeface="黑体" panose="02010609060101010101" charset="-122"/>
              </a:rPr>
              <a:t>的属性用于设定表格中某一单元格的属性。</a:t>
            </a:r>
          </a:p>
          <a:p>
            <a:pPr marL="342900" indent="193675" defTabSz="1158875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zh-CN" altLang="en-US" b="0" kern="0" dirty="0">
                <a:latin typeface="黑体" panose="02010609060101010101" charset="-122"/>
                <a:ea typeface="黑体" panose="02010609060101010101" charset="-122"/>
              </a:rPr>
              <a:t> 单元格跨行</a:t>
            </a:r>
            <a:r>
              <a:rPr lang="en-US" altLang="zh-CN" b="0" kern="0" dirty="0" err="1">
                <a:latin typeface="黑体" panose="02010609060101010101" charset="-122"/>
                <a:ea typeface="黑体" panose="02010609060101010101" charset="-122"/>
              </a:rPr>
              <a:t>rowspan</a:t>
            </a:r>
            <a:r>
              <a:rPr lang="en-US" altLang="zh-CN" b="0" kern="0" dirty="0">
                <a:latin typeface="黑体" panose="02010609060101010101" charset="-122"/>
                <a:ea typeface="黑体" panose="02010609060101010101" charset="-122"/>
              </a:rPr>
              <a:t>(</a:t>
            </a:r>
            <a:r>
              <a:rPr lang="zh-CN" altLang="en-US" b="0" kern="0" dirty="0">
                <a:latin typeface="黑体" panose="02010609060101010101" charset="-122"/>
                <a:ea typeface="黑体" panose="02010609060101010101" charset="-122"/>
              </a:rPr>
              <a:t>跨行合并</a:t>
            </a:r>
            <a:r>
              <a:rPr lang="en-US" altLang="zh-CN" b="0" kern="0" dirty="0">
                <a:latin typeface="黑体" panose="02010609060101010101" charset="-122"/>
                <a:ea typeface="黑体" panose="02010609060101010101" charset="-122"/>
              </a:rPr>
              <a:t>-</a:t>
            </a:r>
            <a:r>
              <a:rPr lang="zh-CN" altLang="en-US" b="0" kern="0" dirty="0">
                <a:latin typeface="黑体" panose="02010609060101010101" charset="-122"/>
                <a:ea typeface="黑体" panose="02010609060101010101" charset="-122"/>
              </a:rPr>
              <a:t>纵向合并</a:t>
            </a:r>
            <a:r>
              <a:rPr lang="en-US" altLang="zh-CN" b="0" kern="0" dirty="0">
                <a:latin typeface="黑体" panose="02010609060101010101" charset="-122"/>
                <a:ea typeface="黑体" panose="02010609060101010101" charset="-122"/>
              </a:rPr>
              <a:t>)</a:t>
            </a:r>
          </a:p>
          <a:p>
            <a:pPr marL="342900" indent="193675" defTabSz="1158875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zh-CN" altLang="en-US" b="0" kern="0" dirty="0">
                <a:latin typeface="黑体" panose="02010609060101010101" charset="-122"/>
                <a:ea typeface="黑体" panose="02010609060101010101" charset="-122"/>
              </a:rPr>
              <a:t> 单元格跨列</a:t>
            </a:r>
            <a:r>
              <a:rPr lang="en-US" altLang="zh-CN" b="0" kern="0" dirty="0" err="1">
                <a:latin typeface="黑体" panose="02010609060101010101" charset="-122"/>
                <a:ea typeface="黑体" panose="02010609060101010101" charset="-122"/>
              </a:rPr>
              <a:t>colspan</a:t>
            </a:r>
            <a:r>
              <a:rPr lang="en-US" altLang="zh-CN" b="0" kern="0" dirty="0">
                <a:latin typeface="黑体" panose="02010609060101010101" charset="-122"/>
                <a:ea typeface="黑体" panose="02010609060101010101" charset="-122"/>
              </a:rPr>
              <a:t>(</a:t>
            </a:r>
            <a:r>
              <a:rPr lang="zh-CN" altLang="en-US" b="0" kern="0" dirty="0">
                <a:latin typeface="黑体" panose="02010609060101010101" charset="-122"/>
                <a:ea typeface="黑体" panose="02010609060101010101" charset="-122"/>
              </a:rPr>
              <a:t>跨列合并</a:t>
            </a:r>
            <a:r>
              <a:rPr lang="en-US" altLang="zh-CN" b="0" kern="0" dirty="0">
                <a:latin typeface="黑体" panose="02010609060101010101" charset="-122"/>
                <a:ea typeface="黑体" panose="02010609060101010101" charset="-122"/>
              </a:rPr>
              <a:t>-</a:t>
            </a:r>
            <a:r>
              <a:rPr lang="zh-CN" altLang="en-US" b="0" kern="0" dirty="0">
                <a:latin typeface="黑体" panose="02010609060101010101" charset="-122"/>
                <a:ea typeface="黑体" panose="02010609060101010101" charset="-122"/>
              </a:rPr>
              <a:t>横向合并</a:t>
            </a:r>
            <a:r>
              <a:rPr lang="en-US" altLang="zh-CN" b="0" kern="0" dirty="0">
                <a:latin typeface="黑体" panose="02010609060101010101" charset="-122"/>
                <a:ea typeface="黑体" panose="02010609060101010101" charset="-122"/>
              </a:rPr>
              <a:t>)</a:t>
            </a:r>
          </a:p>
          <a:p>
            <a:pPr marL="182880" indent="-182880" defTabSz="1158875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altLang="zh-CN" b="0" kern="0" dirty="0"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lang="zh-CN" altLang="en-US" b="0" kern="0" dirty="0">
                <a:latin typeface="黑体" panose="02010609060101010101" charset="-122"/>
                <a:ea typeface="黑体" panose="02010609060101010101" charset="-122"/>
              </a:rPr>
              <a:t>基本语法：</a:t>
            </a:r>
          </a:p>
          <a:p>
            <a:pPr marL="182880" indent="-182880" defTabSz="1158875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altLang="zh-CN" sz="1800" b="0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    &lt;td </a:t>
            </a:r>
            <a:r>
              <a:rPr lang="en-US" altLang="zh-CN" sz="1800" b="0" kern="0" dirty="0" err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rowspan</a:t>
            </a:r>
            <a:r>
              <a:rPr lang="en-US" altLang="zh-CN" sz="1800" b="0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=</a:t>
            </a:r>
            <a:r>
              <a:rPr lang="en-US" altLang="zh-CN" sz="1800" b="0" kern="0" dirty="0">
                <a:solidFill>
                  <a:srgbClr val="FF0000"/>
                </a:solidFill>
                <a:latin typeface="+mn-lt"/>
                <a:ea typeface="黑体" panose="02010609060101010101" charset="-122"/>
              </a:rPr>
              <a:t>“</a:t>
            </a:r>
            <a:r>
              <a:rPr lang="en-US" altLang="zh-CN" sz="1800" b="0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3</a:t>
            </a:r>
            <a:r>
              <a:rPr lang="en-US" altLang="zh-CN" sz="1800" b="0" kern="0" dirty="0">
                <a:solidFill>
                  <a:srgbClr val="FF0000"/>
                </a:solidFill>
                <a:latin typeface="+mn-lt"/>
                <a:ea typeface="黑体" panose="02010609060101010101" charset="-122"/>
              </a:rPr>
              <a:t>”</a:t>
            </a:r>
            <a:r>
              <a:rPr lang="en-US" altLang="zh-CN" sz="1800" b="0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&gt;</a:t>
            </a:r>
            <a:r>
              <a:rPr lang="en-US" altLang="zh-CN" sz="1800" b="0" kern="0" dirty="0">
                <a:solidFill>
                  <a:srgbClr val="FF0000"/>
                </a:solidFill>
                <a:latin typeface="+mn-lt"/>
                <a:ea typeface="黑体" panose="02010609060101010101" charset="-122"/>
              </a:rPr>
              <a:t>…</a:t>
            </a:r>
            <a:r>
              <a:rPr lang="en-US" altLang="zh-CN" sz="1800" b="0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&lt;/td&gt;      &lt;td </a:t>
            </a:r>
            <a:r>
              <a:rPr lang="en-US" altLang="zh-CN" sz="1800" b="0" kern="0" dirty="0" err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colspan</a:t>
            </a:r>
            <a:r>
              <a:rPr lang="en-US" altLang="zh-CN" sz="1800" b="0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=</a:t>
            </a:r>
            <a:r>
              <a:rPr lang="en-US" altLang="zh-CN" sz="1800" b="0" kern="0" dirty="0">
                <a:solidFill>
                  <a:srgbClr val="FF0000"/>
                </a:solidFill>
                <a:latin typeface="+mn-lt"/>
                <a:ea typeface="黑体" panose="02010609060101010101" charset="-122"/>
              </a:rPr>
              <a:t>“</a:t>
            </a:r>
            <a:r>
              <a:rPr lang="en-US" altLang="zh-CN" sz="1800" b="0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3</a:t>
            </a:r>
            <a:r>
              <a:rPr lang="en-US" altLang="zh-CN" sz="1800" b="0" kern="0" dirty="0">
                <a:solidFill>
                  <a:srgbClr val="FF0000"/>
                </a:solidFill>
                <a:latin typeface="+mn-lt"/>
                <a:ea typeface="黑体" panose="02010609060101010101" charset="-122"/>
              </a:rPr>
              <a:t>”</a:t>
            </a:r>
            <a:r>
              <a:rPr lang="en-US" altLang="zh-CN" sz="1800" b="0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&gt;</a:t>
            </a:r>
            <a:r>
              <a:rPr lang="en-US" altLang="zh-CN" sz="1800" b="0" kern="0" dirty="0">
                <a:solidFill>
                  <a:srgbClr val="FF0000"/>
                </a:solidFill>
                <a:latin typeface="+mn-lt"/>
                <a:ea typeface="黑体" panose="02010609060101010101" charset="-122"/>
              </a:rPr>
              <a:t>…</a:t>
            </a:r>
            <a:r>
              <a:rPr lang="en-US" altLang="zh-CN" sz="1800" b="0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&lt;/td&gt;</a:t>
            </a:r>
          </a:p>
        </p:txBody>
      </p:sp>
      <p:grpSp>
        <p:nvGrpSpPr>
          <p:cNvPr id="5" name="Group 17"/>
          <p:cNvGrpSpPr/>
          <p:nvPr/>
        </p:nvGrpSpPr>
        <p:grpSpPr bwMode="auto">
          <a:xfrm>
            <a:off x="1046163" y="4198144"/>
            <a:ext cx="1223962" cy="1079897"/>
            <a:chOff x="431" y="2432"/>
            <a:chExt cx="771" cy="907"/>
          </a:xfrm>
          <a:solidFill>
            <a:srgbClr val="3333FF"/>
          </a:solidFill>
        </p:grpSpPr>
        <p:sp>
          <p:nvSpPr>
            <p:cNvPr id="6" name="Rectangle 4"/>
            <p:cNvSpPr>
              <a:spLocks noChangeArrowheads="1"/>
            </p:cNvSpPr>
            <p:nvPr/>
          </p:nvSpPr>
          <p:spPr bwMode="gray">
            <a:xfrm>
              <a:off x="431" y="2432"/>
              <a:ext cx="771" cy="318"/>
            </a:xfrm>
            <a:prstGeom prst="rect">
              <a:avLst/>
            </a:prstGeom>
            <a:grpFill/>
            <a:ln w="38100" algn="ctr">
              <a:solidFill>
                <a:schemeClr val="bg1"/>
              </a:solidFill>
              <a:miter lim="800000"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  <a:buClr>
                  <a:srgbClr val="660066"/>
                </a:buClr>
                <a:buSzPct val="100000"/>
                <a:buFont typeface="Wingdings" panose="05000000000000000000" pitchFamily="2" charset="2"/>
                <a:buNone/>
                <a:defRPr/>
              </a:pPr>
              <a:endParaRPr lang="zh-CN" altLang="en-US">
                <a:ea typeface="黑体" panose="02010609060101010101" charset="-122"/>
              </a:endParaRPr>
            </a:p>
          </p:txBody>
        </p:sp>
        <p:sp>
          <p:nvSpPr>
            <p:cNvPr id="7" name="Rectangle 5"/>
            <p:cNvSpPr>
              <a:spLocks noChangeArrowheads="1"/>
            </p:cNvSpPr>
            <p:nvPr/>
          </p:nvSpPr>
          <p:spPr bwMode="gray">
            <a:xfrm>
              <a:off x="431" y="2749"/>
              <a:ext cx="771" cy="318"/>
            </a:xfrm>
            <a:prstGeom prst="rect">
              <a:avLst/>
            </a:prstGeom>
            <a:grpFill/>
            <a:ln w="38100" algn="ctr">
              <a:solidFill>
                <a:schemeClr val="bg1"/>
              </a:solidFill>
              <a:miter lim="800000"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  <a:buClr>
                  <a:srgbClr val="660066"/>
                </a:buClr>
                <a:buSzPct val="100000"/>
                <a:buFont typeface="Wingdings" panose="05000000000000000000" pitchFamily="2" charset="2"/>
                <a:buNone/>
                <a:defRPr/>
              </a:pPr>
              <a:endParaRPr lang="zh-CN" altLang="en-US">
                <a:ea typeface="黑体" panose="02010609060101010101" charset="-122"/>
              </a:endParaRPr>
            </a:p>
          </p:txBody>
        </p:sp>
        <p:sp>
          <p:nvSpPr>
            <p:cNvPr id="8" name="Rectangle 6"/>
            <p:cNvSpPr>
              <a:spLocks noChangeArrowheads="1"/>
            </p:cNvSpPr>
            <p:nvPr/>
          </p:nvSpPr>
          <p:spPr bwMode="gray">
            <a:xfrm>
              <a:off x="431" y="3021"/>
              <a:ext cx="771" cy="318"/>
            </a:xfrm>
            <a:prstGeom prst="rect">
              <a:avLst/>
            </a:prstGeom>
            <a:grpFill/>
            <a:ln w="38100" algn="ctr">
              <a:solidFill>
                <a:schemeClr val="bg1"/>
              </a:solidFill>
              <a:miter lim="800000"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  <a:buClr>
                  <a:srgbClr val="660066"/>
                </a:buClr>
                <a:buSzPct val="100000"/>
                <a:buFont typeface="Wingdings" panose="05000000000000000000" pitchFamily="2" charset="2"/>
                <a:buNone/>
                <a:defRPr/>
              </a:pPr>
              <a:endParaRPr lang="zh-CN" altLang="en-US">
                <a:ea typeface="黑体" panose="02010609060101010101" charset="-122"/>
              </a:endParaRPr>
            </a:p>
          </p:txBody>
        </p:sp>
      </p:grpSp>
      <p:sp>
        <p:nvSpPr>
          <p:cNvPr id="9" name="Rectangle 7"/>
          <p:cNvSpPr>
            <a:spLocks noChangeArrowheads="1"/>
          </p:cNvSpPr>
          <p:nvPr/>
        </p:nvSpPr>
        <p:spPr bwMode="gray">
          <a:xfrm>
            <a:off x="3278188" y="4198144"/>
            <a:ext cx="1079500" cy="1079897"/>
          </a:xfrm>
          <a:prstGeom prst="rect">
            <a:avLst/>
          </a:prstGeom>
          <a:solidFill>
            <a:srgbClr val="3333FF"/>
          </a:solidFill>
          <a:ln w="38100" algn="ctr">
            <a:solidFill>
              <a:schemeClr val="bg1"/>
            </a:solidFill>
            <a:miter lim="800000"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rgbClr val="660066"/>
              </a:buClr>
              <a:buSzPct val="100000"/>
              <a:buFont typeface="Wingdings" panose="05000000000000000000" pitchFamily="2" charset="2"/>
              <a:buNone/>
              <a:defRPr/>
            </a:pPr>
            <a:endParaRPr lang="zh-CN" altLang="en-US">
              <a:ea typeface="黑体" panose="02010609060101010101" charset="-122"/>
            </a:endParaRPr>
          </a:p>
        </p:txBody>
      </p:sp>
      <p:sp>
        <p:nvSpPr>
          <p:cNvPr id="10" name="AutoShape 8"/>
          <p:cNvSpPr>
            <a:spLocks noChangeArrowheads="1"/>
          </p:cNvSpPr>
          <p:nvPr/>
        </p:nvSpPr>
        <p:spPr bwMode="gray">
          <a:xfrm>
            <a:off x="2557464" y="4575572"/>
            <a:ext cx="649287" cy="432197"/>
          </a:xfrm>
          <a:prstGeom prst="rightArrow">
            <a:avLst>
              <a:gd name="adj1" fmla="val 50000"/>
              <a:gd name="adj2" fmla="val 28168"/>
            </a:avLst>
          </a:prstGeom>
          <a:solidFill>
            <a:srgbClr val="FFFF00"/>
          </a:solidFill>
          <a:ln w="38100" algn="ctr">
            <a:solidFill>
              <a:srgbClr val="CC0000"/>
            </a:solidFill>
            <a:miter lim="800000"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rgbClr val="660066"/>
              </a:buClr>
              <a:buSzPct val="100000"/>
              <a:buFont typeface="Wingdings" panose="05000000000000000000" pitchFamily="2" charset="2"/>
              <a:buNone/>
              <a:defRPr/>
            </a:pPr>
            <a:endParaRPr lang="zh-CN" altLang="en-US">
              <a:ea typeface="黑体" panose="02010609060101010101" charset="-122"/>
            </a:endParaRPr>
          </a:p>
        </p:txBody>
      </p:sp>
      <p:sp>
        <p:nvSpPr>
          <p:cNvPr id="11" name="Freeform 9"/>
          <p:cNvSpPr/>
          <p:nvPr/>
        </p:nvSpPr>
        <p:spPr bwMode="gray">
          <a:xfrm>
            <a:off x="2616200" y="3276600"/>
            <a:ext cx="279400" cy="1371600"/>
          </a:xfrm>
          <a:custGeom>
            <a:avLst/>
            <a:gdLst/>
            <a:ahLst/>
            <a:cxnLst>
              <a:cxn ang="0">
                <a:pos x="832" y="0"/>
              </a:cxn>
              <a:cxn ang="0">
                <a:pos x="106" y="182"/>
              </a:cxn>
              <a:cxn ang="0">
                <a:pos x="197" y="953"/>
              </a:cxn>
            </a:cxnLst>
            <a:rect l="0" t="0" r="r" b="b"/>
            <a:pathLst>
              <a:path w="832" h="953">
                <a:moveTo>
                  <a:pt x="832" y="0"/>
                </a:moveTo>
                <a:cubicBezTo>
                  <a:pt x="522" y="11"/>
                  <a:pt x="212" y="23"/>
                  <a:pt x="106" y="182"/>
                </a:cubicBezTo>
                <a:cubicBezTo>
                  <a:pt x="0" y="341"/>
                  <a:pt x="182" y="825"/>
                  <a:pt x="197" y="953"/>
                </a:cubicBezTo>
              </a:path>
            </a:pathLst>
          </a:cu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rgbClr val="660066"/>
              </a:buClr>
              <a:buSzPct val="100000"/>
              <a:buFont typeface="Wingdings" panose="05000000000000000000" pitchFamily="2" charset="2"/>
              <a:buNone/>
              <a:defRPr/>
            </a:pPr>
            <a:endParaRPr lang="zh-CN" altLang="en-US">
              <a:ea typeface="黑体" panose="02010609060101010101" charset="-122"/>
            </a:endParaRPr>
          </a:p>
        </p:txBody>
      </p:sp>
      <p:grpSp>
        <p:nvGrpSpPr>
          <p:cNvPr id="12" name="Group 19"/>
          <p:cNvGrpSpPr/>
          <p:nvPr/>
        </p:nvGrpSpPr>
        <p:grpSpPr bwMode="auto">
          <a:xfrm>
            <a:off x="4862513" y="3810000"/>
            <a:ext cx="3671887" cy="379810"/>
            <a:chOff x="2699" y="2386"/>
            <a:chExt cx="2313" cy="319"/>
          </a:xfrm>
          <a:solidFill>
            <a:srgbClr val="3333FF"/>
          </a:solidFill>
        </p:grpSpPr>
        <p:sp>
          <p:nvSpPr>
            <p:cNvPr id="13" name="Rectangle 10"/>
            <p:cNvSpPr>
              <a:spLocks noChangeArrowheads="1"/>
            </p:cNvSpPr>
            <p:nvPr/>
          </p:nvSpPr>
          <p:spPr bwMode="gray">
            <a:xfrm>
              <a:off x="2699" y="2387"/>
              <a:ext cx="771" cy="318"/>
            </a:xfrm>
            <a:prstGeom prst="rect">
              <a:avLst/>
            </a:prstGeom>
            <a:grpFill/>
            <a:ln w="38100" algn="ctr">
              <a:solidFill>
                <a:schemeClr val="bg1"/>
              </a:solidFill>
              <a:miter lim="800000"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  <a:buClr>
                  <a:srgbClr val="660066"/>
                </a:buClr>
                <a:buSzPct val="100000"/>
                <a:buFont typeface="Wingdings" panose="05000000000000000000" pitchFamily="2" charset="2"/>
                <a:buNone/>
                <a:defRPr/>
              </a:pPr>
              <a:endParaRPr lang="zh-CN" altLang="en-US">
                <a:ea typeface="黑体" panose="02010609060101010101" charset="-122"/>
              </a:endParaRPr>
            </a:p>
          </p:txBody>
        </p:sp>
        <p:sp>
          <p:nvSpPr>
            <p:cNvPr id="14" name="Rectangle 11"/>
            <p:cNvSpPr>
              <a:spLocks noChangeArrowheads="1"/>
            </p:cNvSpPr>
            <p:nvPr/>
          </p:nvSpPr>
          <p:spPr bwMode="gray">
            <a:xfrm>
              <a:off x="3470" y="2386"/>
              <a:ext cx="771" cy="318"/>
            </a:xfrm>
            <a:prstGeom prst="rect">
              <a:avLst/>
            </a:prstGeom>
            <a:grpFill/>
            <a:ln w="38100" algn="ctr">
              <a:solidFill>
                <a:schemeClr val="bg1"/>
              </a:solidFill>
              <a:miter lim="800000"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  <a:buClr>
                  <a:srgbClr val="660066"/>
                </a:buClr>
                <a:buSzPct val="100000"/>
                <a:buFont typeface="Wingdings" panose="05000000000000000000" pitchFamily="2" charset="2"/>
                <a:buNone/>
                <a:defRPr/>
              </a:pPr>
              <a:endParaRPr lang="zh-CN" altLang="en-US">
                <a:ea typeface="黑体" panose="02010609060101010101" charset="-122"/>
              </a:endParaRPr>
            </a:p>
          </p:txBody>
        </p:sp>
        <p:sp>
          <p:nvSpPr>
            <p:cNvPr id="15" name="Rectangle 12"/>
            <p:cNvSpPr>
              <a:spLocks noChangeArrowheads="1"/>
            </p:cNvSpPr>
            <p:nvPr/>
          </p:nvSpPr>
          <p:spPr bwMode="gray">
            <a:xfrm>
              <a:off x="4241" y="2387"/>
              <a:ext cx="771" cy="318"/>
            </a:xfrm>
            <a:prstGeom prst="rect">
              <a:avLst/>
            </a:prstGeom>
            <a:grpFill/>
            <a:ln w="38100" algn="ctr">
              <a:solidFill>
                <a:schemeClr val="bg1"/>
              </a:solidFill>
              <a:miter lim="800000"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  <a:buClr>
                  <a:srgbClr val="660066"/>
                </a:buClr>
                <a:buSzPct val="100000"/>
                <a:buFont typeface="Wingdings" panose="05000000000000000000" pitchFamily="2" charset="2"/>
                <a:buNone/>
                <a:defRPr/>
              </a:pPr>
              <a:endParaRPr lang="zh-CN" altLang="en-US">
                <a:ea typeface="黑体" panose="02010609060101010101" charset="-122"/>
              </a:endParaRPr>
            </a:p>
          </p:txBody>
        </p:sp>
      </p:grpSp>
      <p:sp>
        <p:nvSpPr>
          <p:cNvPr id="16" name="AutoShape 13"/>
          <p:cNvSpPr/>
          <p:nvPr/>
        </p:nvSpPr>
        <p:spPr bwMode="gray">
          <a:xfrm rot="16200000">
            <a:off x="6508949" y="2616003"/>
            <a:ext cx="377429" cy="3527425"/>
          </a:xfrm>
          <a:prstGeom prst="leftBrace">
            <a:avLst>
              <a:gd name="adj1" fmla="val 58412"/>
              <a:gd name="adj2" fmla="val 50000"/>
            </a:avLst>
          </a:prstGeom>
          <a:noFill/>
          <a:ln w="38100">
            <a:solidFill>
              <a:srgbClr val="CC0000"/>
            </a:solidFill>
            <a:rou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rgbClr val="660066"/>
              </a:buClr>
              <a:buSzPct val="100000"/>
              <a:buFont typeface="Wingdings" panose="05000000000000000000" pitchFamily="2" charset="2"/>
              <a:buNone/>
              <a:defRPr/>
            </a:pPr>
            <a:endParaRPr lang="zh-CN" altLang="en-US">
              <a:ea typeface="黑体" panose="02010609060101010101" charset="-122"/>
            </a:endParaRPr>
          </a:p>
        </p:txBody>
      </p:sp>
      <p:sp>
        <p:nvSpPr>
          <p:cNvPr id="17" name="AutoShape 14"/>
          <p:cNvSpPr>
            <a:spLocks noChangeArrowheads="1"/>
          </p:cNvSpPr>
          <p:nvPr/>
        </p:nvSpPr>
        <p:spPr bwMode="gray">
          <a:xfrm rot="5400000">
            <a:off x="6454974" y="4490840"/>
            <a:ext cx="486966" cy="649287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FF00"/>
          </a:solidFill>
          <a:ln w="38100" algn="ctr">
            <a:solidFill>
              <a:srgbClr val="CC0000"/>
            </a:solidFill>
            <a:miter lim="800000"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rgbClr val="660066"/>
              </a:buClr>
              <a:buSzPct val="100000"/>
              <a:buFont typeface="Wingdings" panose="05000000000000000000" pitchFamily="2" charset="2"/>
              <a:buNone/>
              <a:defRPr/>
            </a:pPr>
            <a:endParaRPr lang="zh-CN" altLang="en-US">
              <a:ea typeface="黑体" panose="02010609060101010101" charset="-122"/>
            </a:endParaRPr>
          </a:p>
        </p:txBody>
      </p:sp>
      <p:sp>
        <p:nvSpPr>
          <p:cNvPr id="18" name="Rectangle 15"/>
          <p:cNvSpPr>
            <a:spLocks noChangeArrowheads="1"/>
          </p:cNvSpPr>
          <p:nvPr/>
        </p:nvSpPr>
        <p:spPr bwMode="gray">
          <a:xfrm>
            <a:off x="4876800" y="5105400"/>
            <a:ext cx="3671888" cy="378619"/>
          </a:xfrm>
          <a:prstGeom prst="rect">
            <a:avLst/>
          </a:prstGeom>
          <a:solidFill>
            <a:srgbClr val="3333FF"/>
          </a:solidFill>
          <a:ln w="38100" algn="ctr">
            <a:solidFill>
              <a:schemeClr val="bg1"/>
            </a:solidFill>
            <a:miter lim="800000"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rgbClr val="660066"/>
              </a:buClr>
              <a:buSzPct val="100000"/>
              <a:buFont typeface="Wingdings" panose="05000000000000000000" pitchFamily="2" charset="2"/>
              <a:buNone/>
              <a:defRPr/>
            </a:pPr>
            <a:endParaRPr lang="zh-CN" altLang="en-US">
              <a:ea typeface="黑体" panose="02010609060101010101" charset="-122"/>
            </a:endParaRPr>
          </a:p>
        </p:txBody>
      </p:sp>
      <p:sp>
        <p:nvSpPr>
          <p:cNvPr id="19" name="Freeform 16"/>
          <p:cNvSpPr/>
          <p:nvPr/>
        </p:nvSpPr>
        <p:spPr bwMode="gray">
          <a:xfrm rot="21123884">
            <a:off x="5591753" y="3371442"/>
            <a:ext cx="377763" cy="155243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08" y="726"/>
              </a:cxn>
              <a:cxn ang="0">
                <a:pos x="635" y="1225"/>
              </a:cxn>
              <a:cxn ang="0">
                <a:pos x="1451" y="1270"/>
              </a:cxn>
            </a:cxnLst>
            <a:rect l="0" t="0" r="r" b="b"/>
            <a:pathLst>
              <a:path w="1451" h="1316">
                <a:moveTo>
                  <a:pt x="0" y="0"/>
                </a:moveTo>
                <a:cubicBezTo>
                  <a:pt x="151" y="261"/>
                  <a:pt x="302" y="522"/>
                  <a:pt x="408" y="726"/>
                </a:cubicBezTo>
                <a:cubicBezTo>
                  <a:pt x="514" y="930"/>
                  <a:pt x="461" y="1134"/>
                  <a:pt x="635" y="1225"/>
                </a:cubicBezTo>
                <a:cubicBezTo>
                  <a:pt x="809" y="1316"/>
                  <a:pt x="1315" y="1263"/>
                  <a:pt x="1451" y="1270"/>
                </a:cubicBezTo>
              </a:path>
            </a:pathLst>
          </a:custGeom>
          <a:noFill/>
          <a:ln w="38100" cap="flat" cmpd="sng">
            <a:solidFill>
              <a:srgbClr val="0000FA"/>
            </a:solidFill>
            <a:prstDash val="solid"/>
            <a:round/>
            <a:headEnd type="none" w="med" len="med"/>
            <a:tailEnd type="triangle" w="med" len="med"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rgbClr val="660066"/>
              </a:buClr>
              <a:buSzPct val="100000"/>
              <a:buFont typeface="Wingdings" panose="05000000000000000000" pitchFamily="2" charset="2"/>
              <a:buNone/>
              <a:defRPr/>
            </a:pPr>
            <a:endParaRPr lang="zh-CN" altLang="en-US">
              <a:ea typeface="黑体" panose="02010609060101010101" charset="-122"/>
            </a:endParaRPr>
          </a:p>
        </p:txBody>
      </p:sp>
      <p:sp>
        <p:nvSpPr>
          <p:cNvPr id="20" name="AutoShape 18"/>
          <p:cNvSpPr/>
          <p:nvPr/>
        </p:nvSpPr>
        <p:spPr bwMode="gray">
          <a:xfrm>
            <a:off x="2341563" y="4198144"/>
            <a:ext cx="144462" cy="1079897"/>
          </a:xfrm>
          <a:prstGeom prst="rightBrace">
            <a:avLst>
              <a:gd name="adj1" fmla="val 83059"/>
              <a:gd name="adj2" fmla="val 50000"/>
            </a:avLst>
          </a:prstGeom>
          <a:noFill/>
          <a:ln w="38100">
            <a:solidFill>
              <a:srgbClr val="CC0000"/>
            </a:solidFill>
            <a:rou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rgbClr val="660066"/>
              </a:buClr>
              <a:buSzPct val="100000"/>
              <a:buFont typeface="Wingdings" panose="05000000000000000000" pitchFamily="2" charset="2"/>
              <a:buNone/>
              <a:defRPr/>
            </a:pPr>
            <a:endParaRPr lang="zh-CN" altLang="en-US"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设置单元格的属性</a:t>
            </a:r>
            <a:r>
              <a:rPr lang="en-US" altLang="zh-CN" dirty="0"/>
              <a:t>-</a:t>
            </a:r>
            <a:r>
              <a:rPr lang="zh-CN" altLang="en-US" dirty="0"/>
              <a:t>案例 </a:t>
            </a:r>
          </a:p>
        </p:txBody>
      </p:sp>
      <p:sp>
        <p:nvSpPr>
          <p:cNvPr id="46083" name="矩形 5"/>
          <p:cNvSpPr>
            <a:spLocks noChangeArrowheads="1"/>
          </p:cNvSpPr>
          <p:nvPr/>
        </p:nvSpPr>
        <p:spPr bwMode="auto">
          <a:xfrm>
            <a:off x="387985" y="1538605"/>
            <a:ext cx="7832725" cy="50260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txBody>
          <a:bodyPr wrap="square">
            <a:spAutoFit/>
          </a:bodyPr>
          <a:lstStyle/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黑体" panose="02010609060101010101" charset="-122"/>
                <a:cs typeface="+mn-lt"/>
              </a:rPr>
              <a:t>  &lt;table border="1" width="500px" align="center" </a:t>
            </a:r>
            <a:r>
              <a:rPr lang="en-US" altLang="zh-CN" sz="1400" dirty="0" err="1">
                <a:ea typeface="黑体" panose="02010609060101010101" charset="-122"/>
                <a:cs typeface="+mn-lt"/>
              </a:rPr>
              <a:t>bordercolor</a:t>
            </a:r>
            <a:r>
              <a:rPr lang="en-US" altLang="zh-CN" sz="1400" dirty="0">
                <a:ea typeface="黑体" panose="02010609060101010101" charset="-122"/>
                <a:cs typeface="+mn-lt"/>
              </a:rPr>
              <a:t>="#3366ff"&gt;</a:t>
            </a:r>
          </a:p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黑体" panose="02010609060101010101" charset="-122"/>
                <a:cs typeface="+mn-lt"/>
              </a:rPr>
              <a:t>    &lt;caption&gt;</a:t>
            </a:r>
            <a:r>
              <a:rPr lang="zh-CN" altLang="en-US" sz="1400" dirty="0">
                <a:ea typeface="黑体" panose="02010609060101010101" charset="-122"/>
                <a:cs typeface="+mn-lt"/>
              </a:rPr>
              <a:t>云计算与物联网会议日程安排表</a:t>
            </a:r>
            <a:r>
              <a:rPr lang="en-US" altLang="zh-CN" sz="1400" dirty="0">
                <a:ea typeface="黑体" panose="02010609060101010101" charset="-122"/>
                <a:cs typeface="+mn-lt"/>
              </a:rPr>
              <a:t>&lt;/caption&gt;</a:t>
            </a:r>
          </a:p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黑体" panose="02010609060101010101" charset="-122"/>
                <a:cs typeface="+mn-lt"/>
              </a:rPr>
              <a:t>      &lt;</a:t>
            </a:r>
            <a:r>
              <a:rPr lang="en-US" altLang="zh-CN" sz="1400" dirty="0" err="1">
                <a:ea typeface="黑体" panose="02010609060101010101" charset="-122"/>
                <a:cs typeface="+mn-lt"/>
              </a:rPr>
              <a:t>tr</a:t>
            </a:r>
            <a:r>
              <a:rPr lang="en-US" altLang="zh-CN" sz="1400" dirty="0">
                <a:ea typeface="黑体" panose="02010609060101010101" charset="-122"/>
                <a:cs typeface="+mn-lt"/>
              </a:rPr>
              <a:t> align="center"&gt;</a:t>
            </a:r>
          </a:p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黑体" panose="02010609060101010101" charset="-122"/>
                <a:cs typeface="+mn-lt"/>
              </a:rPr>
              <a:t>        &lt;td </a:t>
            </a:r>
            <a:r>
              <a:rPr lang="en-US" altLang="zh-CN" sz="1400" dirty="0" err="1">
                <a:ea typeface="黑体" panose="02010609060101010101" charset="-122"/>
                <a:cs typeface="+mn-lt"/>
              </a:rPr>
              <a:t>colspan</a:t>
            </a:r>
            <a:r>
              <a:rPr lang="en-US" altLang="zh-CN" sz="1400" dirty="0">
                <a:ea typeface="黑体" panose="02010609060101010101" charset="-122"/>
                <a:cs typeface="+mn-lt"/>
              </a:rPr>
              <a:t>="2"&gt;</a:t>
            </a:r>
            <a:r>
              <a:rPr lang="zh-CN" altLang="en-US" sz="1400" dirty="0">
                <a:ea typeface="黑体" panose="02010609060101010101" charset="-122"/>
                <a:cs typeface="+mn-lt"/>
              </a:rPr>
              <a:t>上午</a:t>
            </a:r>
            <a:r>
              <a:rPr lang="en-US" altLang="zh-CN" sz="1400" dirty="0">
                <a:ea typeface="黑体" panose="02010609060101010101" charset="-122"/>
                <a:cs typeface="+mn-lt"/>
              </a:rPr>
              <a:t>&lt;/td&gt;</a:t>
            </a:r>
          </a:p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黑体" panose="02010609060101010101" charset="-122"/>
                <a:cs typeface="+mn-lt"/>
              </a:rPr>
              <a:t>        &lt;td </a:t>
            </a:r>
            <a:r>
              <a:rPr lang="en-US" altLang="zh-CN" sz="1400" dirty="0" err="1">
                <a:ea typeface="黑体" panose="02010609060101010101" charset="-122"/>
                <a:cs typeface="+mn-lt"/>
              </a:rPr>
              <a:t>colspan</a:t>
            </a:r>
            <a:r>
              <a:rPr lang="en-US" altLang="zh-CN" sz="1400" dirty="0">
                <a:ea typeface="黑体" panose="02010609060101010101" charset="-122"/>
                <a:cs typeface="+mn-lt"/>
              </a:rPr>
              <a:t>="2"&gt;</a:t>
            </a:r>
            <a:r>
              <a:rPr lang="zh-CN" altLang="en-US" sz="1400" dirty="0">
                <a:ea typeface="黑体" panose="02010609060101010101" charset="-122"/>
                <a:cs typeface="+mn-lt"/>
              </a:rPr>
              <a:t>下午</a:t>
            </a:r>
            <a:r>
              <a:rPr lang="en-US" altLang="zh-CN" sz="1400" dirty="0">
                <a:ea typeface="黑体" panose="02010609060101010101" charset="-122"/>
                <a:cs typeface="+mn-lt"/>
              </a:rPr>
              <a:t>&lt;/td&gt;  </a:t>
            </a:r>
          </a:p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黑体" panose="02010609060101010101" charset="-122"/>
                <a:cs typeface="+mn-lt"/>
              </a:rPr>
              <a:t>      &lt;/</a:t>
            </a:r>
            <a:r>
              <a:rPr lang="en-US" altLang="zh-CN" sz="1400" dirty="0" err="1">
                <a:ea typeface="黑体" panose="02010609060101010101" charset="-122"/>
                <a:cs typeface="+mn-lt"/>
              </a:rPr>
              <a:t>tr</a:t>
            </a:r>
            <a:r>
              <a:rPr lang="en-US" altLang="zh-CN" sz="1400" dirty="0">
                <a:ea typeface="黑体" panose="02010609060101010101" charset="-122"/>
                <a:cs typeface="+mn-lt"/>
              </a:rPr>
              <a:t>&gt;  </a:t>
            </a:r>
          </a:p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黑体" panose="02010609060101010101" charset="-122"/>
                <a:cs typeface="+mn-lt"/>
              </a:rPr>
              <a:t>      &lt;</a:t>
            </a:r>
            <a:r>
              <a:rPr lang="en-US" altLang="zh-CN" sz="1400" dirty="0" err="1">
                <a:ea typeface="黑体" panose="02010609060101010101" charset="-122"/>
                <a:cs typeface="+mn-lt"/>
              </a:rPr>
              <a:t>tr</a:t>
            </a:r>
            <a:r>
              <a:rPr lang="en-US" altLang="zh-CN" sz="1400" dirty="0">
                <a:ea typeface="黑体" panose="02010609060101010101" charset="-122"/>
                <a:cs typeface="+mn-lt"/>
              </a:rPr>
              <a:t> &gt;</a:t>
            </a:r>
          </a:p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黑体" panose="02010609060101010101" charset="-122"/>
                <a:cs typeface="+mn-lt"/>
              </a:rPr>
              <a:t>        &lt;td&gt;8:00-10:00&lt;/td&gt;</a:t>
            </a:r>
          </a:p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黑体" panose="02010609060101010101" charset="-122"/>
                <a:cs typeface="+mn-lt"/>
              </a:rPr>
              <a:t>        &lt;td&gt;10:10-12:00&lt;/td&gt;</a:t>
            </a:r>
          </a:p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黑体" panose="02010609060101010101" charset="-122"/>
                <a:cs typeface="+mn-lt"/>
              </a:rPr>
              <a:t>        &lt;td&gt;14:00-16:00&lt;/td&gt;</a:t>
            </a:r>
          </a:p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黑体" panose="02010609060101010101" charset="-122"/>
                <a:cs typeface="+mn-lt"/>
              </a:rPr>
              <a:t>        &lt;td&gt;16:10-18:00&lt;/td&gt;</a:t>
            </a:r>
          </a:p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黑体" panose="02010609060101010101" charset="-122"/>
                <a:cs typeface="+mn-lt"/>
              </a:rPr>
              <a:t>      &lt;/</a:t>
            </a:r>
            <a:r>
              <a:rPr lang="en-US" altLang="zh-CN" sz="1400" dirty="0" err="1">
                <a:ea typeface="黑体" panose="02010609060101010101" charset="-122"/>
                <a:cs typeface="+mn-lt"/>
              </a:rPr>
              <a:t>tr</a:t>
            </a:r>
            <a:r>
              <a:rPr lang="en-US" altLang="zh-CN" sz="1400" dirty="0">
                <a:ea typeface="黑体" panose="02010609060101010101" charset="-122"/>
                <a:cs typeface="+mn-lt"/>
              </a:rPr>
              <a:t>&gt;</a:t>
            </a:r>
          </a:p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黑体" panose="02010609060101010101" charset="-122"/>
                <a:cs typeface="+mn-lt"/>
              </a:rPr>
              <a:t>      &lt;</a:t>
            </a:r>
            <a:r>
              <a:rPr lang="en-US" altLang="zh-CN" sz="1400" dirty="0" err="1">
                <a:ea typeface="黑体" panose="02010609060101010101" charset="-122"/>
                <a:cs typeface="+mn-lt"/>
              </a:rPr>
              <a:t>tr</a:t>
            </a:r>
            <a:r>
              <a:rPr lang="en-US" altLang="zh-CN" sz="1400" dirty="0">
                <a:ea typeface="黑体" panose="02010609060101010101" charset="-122"/>
                <a:cs typeface="+mn-lt"/>
              </a:rPr>
              <a:t> align="center"&gt;</a:t>
            </a:r>
          </a:p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黑体" panose="02010609060101010101" charset="-122"/>
                <a:cs typeface="+mn-lt"/>
              </a:rPr>
              <a:t>        &lt;td </a:t>
            </a:r>
            <a:r>
              <a:rPr lang="en-US" altLang="zh-CN" sz="1400" dirty="0" err="1">
                <a:ea typeface="黑体" panose="02010609060101010101" charset="-122"/>
                <a:cs typeface="+mn-lt"/>
              </a:rPr>
              <a:t>rowspan</a:t>
            </a:r>
            <a:r>
              <a:rPr lang="en-US" altLang="zh-CN" sz="1400" dirty="0">
                <a:ea typeface="黑体" panose="02010609060101010101" charset="-122"/>
                <a:cs typeface="+mn-lt"/>
              </a:rPr>
              <a:t>="2"&gt;</a:t>
            </a:r>
            <a:r>
              <a:rPr lang="zh-CN" altLang="en-US" sz="1400" dirty="0">
                <a:ea typeface="黑体" panose="02010609060101010101" charset="-122"/>
                <a:cs typeface="+mn-lt"/>
              </a:rPr>
              <a:t>领导讲话 </a:t>
            </a:r>
            <a:r>
              <a:rPr lang="en-US" altLang="zh-CN" sz="1400" dirty="0">
                <a:ea typeface="黑体" panose="02010609060101010101" charset="-122"/>
                <a:cs typeface="+mn-lt"/>
              </a:rPr>
              <a:t>&lt;/td&gt;</a:t>
            </a:r>
          </a:p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Verdana" panose="020B0604030504040204" pitchFamily="34" charset="0"/>
                <a:cs typeface="+mn-lt"/>
                <a:sym typeface="+mn-ea"/>
              </a:rPr>
              <a:t>        </a:t>
            </a:r>
            <a:r>
              <a:rPr lang="en-US" altLang="zh-CN" sz="1400" dirty="0">
                <a:ea typeface="黑体" panose="02010609060101010101" charset="-122"/>
                <a:cs typeface="+mn-lt"/>
                <a:sym typeface="+mn-ea"/>
              </a:rPr>
              <a:t>&lt;td&gt;</a:t>
            </a:r>
            <a:r>
              <a:rPr lang="zh-CN" altLang="en-US" sz="1400" dirty="0">
                <a:ea typeface="黑体" panose="02010609060101010101" charset="-122"/>
                <a:cs typeface="+mn-lt"/>
                <a:sym typeface="+mn-ea"/>
              </a:rPr>
              <a:t>大会主题报告</a:t>
            </a:r>
            <a:r>
              <a:rPr lang="en-US" altLang="zh-CN" sz="1400" dirty="0">
                <a:ea typeface="Verdana" panose="020B0604030504040204" pitchFamily="34" charset="0"/>
                <a:cs typeface="+mn-lt"/>
                <a:sym typeface="+mn-ea"/>
              </a:rPr>
              <a:t>&lt;/td&gt;</a:t>
            </a:r>
          </a:p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Verdana" panose="020B0604030504040204" pitchFamily="34" charset="0"/>
                <a:cs typeface="+mn-lt"/>
                <a:sym typeface="+mn-ea"/>
              </a:rPr>
              <a:t>        &lt;td&gt;</a:t>
            </a:r>
            <a:r>
              <a:rPr lang="zh-CN" altLang="en-US" sz="1400" dirty="0">
                <a:ea typeface="黑体" panose="02010609060101010101" charset="-122"/>
                <a:cs typeface="+mn-lt"/>
                <a:sym typeface="+mn-ea"/>
              </a:rPr>
              <a:t>分会专题报告</a:t>
            </a:r>
            <a:r>
              <a:rPr lang="en-US" altLang="zh-CN" sz="1400" dirty="0">
                <a:ea typeface="Verdana" panose="020B0604030504040204" pitchFamily="34" charset="0"/>
                <a:cs typeface="+mn-lt"/>
                <a:sym typeface="+mn-ea"/>
              </a:rPr>
              <a:t>&lt;/td&gt;</a:t>
            </a:r>
            <a:endParaRPr lang="en-US" altLang="zh-CN" sz="1400" b="0" dirty="0">
              <a:ea typeface="Verdana" panose="020B0604030504040204" pitchFamily="34" charset="0"/>
              <a:cs typeface="+mn-lt"/>
            </a:endParaRPr>
          </a:p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Verdana" panose="020B0604030504040204" pitchFamily="34" charset="0"/>
                <a:cs typeface="+mn-lt"/>
                <a:sym typeface="+mn-ea"/>
              </a:rPr>
              <a:t>        &lt;td </a:t>
            </a:r>
            <a:r>
              <a:rPr lang="en-US" altLang="zh-CN" sz="1400" dirty="0" err="1">
                <a:ea typeface="Verdana" panose="020B0604030504040204" pitchFamily="34" charset="0"/>
                <a:cs typeface="+mn-lt"/>
                <a:sym typeface="+mn-ea"/>
              </a:rPr>
              <a:t>rowspan</a:t>
            </a:r>
            <a:r>
              <a:rPr lang="en-US" altLang="zh-CN" sz="1400" dirty="0">
                <a:ea typeface="Verdana" panose="020B0604030504040204" pitchFamily="34" charset="0"/>
                <a:cs typeface="+mn-lt"/>
                <a:sym typeface="+mn-ea"/>
              </a:rPr>
              <a:t>="2"&gt;</a:t>
            </a:r>
            <a:r>
              <a:rPr lang="zh-CN" altLang="en-US" sz="1400" dirty="0">
                <a:ea typeface="黑体" panose="02010609060101010101" charset="-122"/>
                <a:cs typeface="+mn-lt"/>
                <a:sym typeface="+mn-ea"/>
              </a:rPr>
              <a:t>总结报告</a:t>
            </a:r>
            <a:r>
              <a:rPr lang="en-US" altLang="zh-CN" sz="1400" dirty="0">
                <a:ea typeface="Verdana" panose="020B0604030504040204" pitchFamily="34" charset="0"/>
                <a:cs typeface="+mn-lt"/>
                <a:sym typeface="+mn-ea"/>
              </a:rPr>
              <a:t>&lt;/td&gt;</a:t>
            </a:r>
            <a:endParaRPr lang="en-US" altLang="zh-CN" sz="1400" b="0" dirty="0">
              <a:ea typeface="Verdana" panose="020B0604030504040204" pitchFamily="34" charset="0"/>
              <a:cs typeface="+mn-lt"/>
            </a:endParaRPr>
          </a:p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Verdana" panose="020B0604030504040204" pitchFamily="34" charset="0"/>
                <a:cs typeface="+mn-lt"/>
                <a:sym typeface="+mn-ea"/>
              </a:rPr>
              <a:t>      &lt;/</a:t>
            </a:r>
            <a:r>
              <a:rPr lang="en-US" altLang="zh-CN" sz="1400" dirty="0" err="1">
                <a:ea typeface="Verdana" panose="020B0604030504040204" pitchFamily="34" charset="0"/>
                <a:cs typeface="+mn-lt"/>
                <a:sym typeface="+mn-ea"/>
              </a:rPr>
              <a:t>tr</a:t>
            </a:r>
            <a:r>
              <a:rPr lang="en-US" altLang="zh-CN" sz="1400" dirty="0">
                <a:ea typeface="Verdana" panose="020B0604030504040204" pitchFamily="34" charset="0"/>
                <a:cs typeface="+mn-lt"/>
                <a:sym typeface="+mn-ea"/>
              </a:rPr>
              <a:t>&gt;</a:t>
            </a:r>
            <a:endParaRPr lang="en-US" altLang="zh-CN" sz="1400" b="0" dirty="0">
              <a:ea typeface="Verdana" panose="020B0604030504040204" pitchFamily="34" charset="0"/>
              <a:cs typeface="+mn-lt"/>
            </a:endParaRPr>
          </a:p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Verdana" panose="020B0604030504040204" pitchFamily="34" charset="0"/>
                <a:cs typeface="+mn-lt"/>
                <a:sym typeface="+mn-ea"/>
              </a:rPr>
              <a:t>      &lt;</a:t>
            </a:r>
            <a:r>
              <a:rPr lang="en-US" altLang="zh-CN" sz="1400" dirty="0" err="1">
                <a:ea typeface="Verdana" panose="020B0604030504040204" pitchFamily="34" charset="0"/>
                <a:cs typeface="+mn-lt"/>
                <a:sym typeface="+mn-ea"/>
              </a:rPr>
              <a:t>tr</a:t>
            </a:r>
            <a:r>
              <a:rPr lang="en-US" altLang="zh-CN" sz="1400" dirty="0">
                <a:ea typeface="Verdana" panose="020B0604030504040204" pitchFamily="34" charset="0"/>
                <a:cs typeface="+mn-lt"/>
                <a:sym typeface="+mn-ea"/>
              </a:rPr>
              <a:t> align="center"&gt;    </a:t>
            </a:r>
            <a:endParaRPr lang="en-US" altLang="zh-CN" sz="1400" b="0" dirty="0">
              <a:ea typeface="Verdana" panose="020B0604030504040204" pitchFamily="34" charset="0"/>
              <a:cs typeface="+mn-lt"/>
            </a:endParaRPr>
          </a:p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Verdana" panose="020B0604030504040204" pitchFamily="34" charset="0"/>
                <a:cs typeface="+mn-lt"/>
                <a:sym typeface="+mn-ea"/>
              </a:rPr>
              <a:t>        &lt;td&gt;</a:t>
            </a:r>
            <a:r>
              <a:rPr lang="zh-CN" altLang="en-US" sz="1400" dirty="0">
                <a:ea typeface="黑体" panose="02010609060101010101" charset="-122"/>
                <a:cs typeface="+mn-lt"/>
                <a:sym typeface="+mn-ea"/>
              </a:rPr>
              <a:t>专家报告</a:t>
            </a:r>
            <a:r>
              <a:rPr lang="en-US" altLang="zh-CN" sz="1400" dirty="0">
                <a:ea typeface="Verdana" panose="020B0604030504040204" pitchFamily="34" charset="0"/>
                <a:cs typeface="+mn-lt"/>
                <a:sym typeface="+mn-ea"/>
              </a:rPr>
              <a:t>&lt;/td&gt;</a:t>
            </a:r>
          </a:p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Verdana" panose="020B0604030504040204" pitchFamily="34" charset="0"/>
                <a:cs typeface="+mn-lt"/>
                <a:sym typeface="+mn-ea"/>
              </a:rPr>
              <a:t>        &lt;td&gt;</a:t>
            </a:r>
            <a:r>
              <a:rPr lang="zh-CN" altLang="en-US" sz="1400" dirty="0">
                <a:ea typeface="黑体" panose="02010609060101010101" charset="-122"/>
                <a:cs typeface="+mn-lt"/>
                <a:sym typeface="+mn-ea"/>
              </a:rPr>
              <a:t>分组讨论</a:t>
            </a:r>
            <a:r>
              <a:rPr lang="en-US" altLang="zh-CN" sz="1400" dirty="0">
                <a:ea typeface="Verdana" panose="020B0604030504040204" pitchFamily="34" charset="0"/>
                <a:cs typeface="+mn-lt"/>
                <a:sym typeface="+mn-ea"/>
              </a:rPr>
              <a:t>&lt;/td&gt; </a:t>
            </a:r>
            <a:endParaRPr lang="en-US" altLang="zh-CN" sz="1400" b="0" dirty="0">
              <a:ea typeface="Verdana" panose="020B0604030504040204" pitchFamily="34" charset="0"/>
              <a:cs typeface="+mn-lt"/>
            </a:endParaRPr>
          </a:p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Verdana" panose="020B0604030504040204" pitchFamily="34" charset="0"/>
                <a:cs typeface="+mn-lt"/>
                <a:sym typeface="+mn-ea"/>
              </a:rPr>
              <a:t>    &lt;/</a:t>
            </a:r>
            <a:r>
              <a:rPr lang="en-US" altLang="zh-CN" sz="1400" dirty="0" err="1">
                <a:ea typeface="Verdana" panose="020B0604030504040204" pitchFamily="34" charset="0"/>
                <a:cs typeface="+mn-lt"/>
                <a:sym typeface="+mn-ea"/>
              </a:rPr>
              <a:t>tr</a:t>
            </a:r>
            <a:r>
              <a:rPr lang="en-US" altLang="zh-CN" sz="1400" dirty="0">
                <a:ea typeface="Verdana" panose="020B0604030504040204" pitchFamily="34" charset="0"/>
                <a:cs typeface="+mn-lt"/>
                <a:sym typeface="+mn-ea"/>
              </a:rPr>
              <a:t>&gt;</a:t>
            </a:r>
            <a:endParaRPr lang="en-US" altLang="zh-CN" sz="1400" b="0" dirty="0">
              <a:ea typeface="Verdana" panose="020B0604030504040204" pitchFamily="34" charset="0"/>
              <a:cs typeface="+mn-lt"/>
            </a:endParaRPr>
          </a:p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Verdana" panose="020B0604030504040204" pitchFamily="34" charset="0"/>
                <a:cs typeface="+mn-lt"/>
                <a:sym typeface="+mn-ea"/>
              </a:rPr>
              <a:t>    &lt;</a:t>
            </a:r>
            <a:r>
              <a:rPr lang="en-US" altLang="zh-CN" sz="1400" dirty="0" err="1">
                <a:ea typeface="Verdana" panose="020B0604030504040204" pitchFamily="34" charset="0"/>
                <a:cs typeface="+mn-lt"/>
                <a:sym typeface="+mn-ea"/>
              </a:rPr>
              <a:t>tr</a:t>
            </a:r>
            <a:r>
              <a:rPr lang="en-US" altLang="zh-CN" sz="1400" dirty="0">
                <a:ea typeface="Verdana" panose="020B0604030504040204" pitchFamily="34" charset="0"/>
                <a:cs typeface="+mn-lt"/>
                <a:sym typeface="+mn-ea"/>
              </a:rPr>
              <a:t> align="center"&gt;</a:t>
            </a:r>
            <a:endParaRPr lang="en-US" altLang="zh-CN" sz="1400" b="0" dirty="0">
              <a:ea typeface="Verdana" panose="020B0604030504040204" pitchFamily="34" charset="0"/>
              <a:cs typeface="+mn-lt"/>
            </a:endParaRPr>
          </a:p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Verdana" panose="020B0604030504040204" pitchFamily="34" charset="0"/>
                <a:cs typeface="+mn-lt"/>
                <a:sym typeface="+mn-ea"/>
              </a:rPr>
              <a:t>      &lt;td </a:t>
            </a:r>
            <a:r>
              <a:rPr lang="en-US" altLang="zh-CN" sz="1400" dirty="0" err="1">
                <a:ea typeface="Verdana" panose="020B0604030504040204" pitchFamily="34" charset="0"/>
                <a:cs typeface="+mn-lt"/>
                <a:sym typeface="+mn-ea"/>
              </a:rPr>
              <a:t>colspan</a:t>
            </a:r>
            <a:r>
              <a:rPr lang="en-US" altLang="zh-CN" sz="1400" dirty="0">
                <a:ea typeface="Verdana" panose="020B0604030504040204" pitchFamily="34" charset="0"/>
                <a:cs typeface="+mn-lt"/>
                <a:sym typeface="+mn-ea"/>
              </a:rPr>
              <a:t>="4"&gt;</a:t>
            </a:r>
            <a:r>
              <a:rPr lang="zh-CN" altLang="en-US" sz="1400" dirty="0">
                <a:ea typeface="黑体" panose="02010609060101010101" charset="-122"/>
                <a:cs typeface="+mn-lt"/>
                <a:sym typeface="+mn-ea"/>
              </a:rPr>
              <a:t>全天参观考察无锡国家物联网中心</a:t>
            </a:r>
            <a:r>
              <a:rPr lang="en-US" altLang="zh-CN" sz="1400" dirty="0">
                <a:ea typeface="Verdana" panose="020B0604030504040204" pitchFamily="34" charset="0"/>
                <a:cs typeface="+mn-lt"/>
                <a:sym typeface="+mn-ea"/>
              </a:rPr>
              <a:t>&lt;/td&gt; </a:t>
            </a:r>
            <a:endParaRPr lang="en-US" altLang="zh-CN" sz="1400" b="0" dirty="0">
              <a:ea typeface="Verdana" panose="020B0604030504040204" pitchFamily="34" charset="0"/>
              <a:cs typeface="+mn-lt"/>
            </a:endParaRPr>
          </a:p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Verdana" panose="020B0604030504040204" pitchFamily="34" charset="0"/>
                <a:cs typeface="+mn-lt"/>
                <a:sym typeface="+mn-ea"/>
              </a:rPr>
              <a:t>    &lt;/</a:t>
            </a:r>
            <a:r>
              <a:rPr lang="en-US" altLang="zh-CN" sz="1400" dirty="0" err="1">
                <a:ea typeface="Verdana" panose="020B0604030504040204" pitchFamily="34" charset="0"/>
                <a:cs typeface="+mn-lt"/>
                <a:sym typeface="+mn-ea"/>
              </a:rPr>
              <a:t>tr</a:t>
            </a:r>
            <a:r>
              <a:rPr lang="en-US" altLang="zh-CN" sz="1400" dirty="0">
                <a:ea typeface="Verdana" panose="020B0604030504040204" pitchFamily="34" charset="0"/>
                <a:cs typeface="+mn-lt"/>
                <a:sym typeface="+mn-ea"/>
              </a:rPr>
              <a:t>&gt;</a:t>
            </a:r>
          </a:p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Verdana" panose="020B0604030504040204" pitchFamily="34" charset="0"/>
                <a:cs typeface="+mn-lt"/>
                <a:sym typeface="+mn-ea"/>
              </a:rPr>
              <a:t>  &lt;/table&gt;</a:t>
            </a:r>
          </a:p>
        </p:txBody>
      </p:sp>
      <p:sp>
        <p:nvSpPr>
          <p:cNvPr id="46084" name="矩形 6"/>
          <p:cNvSpPr>
            <a:spLocks noChangeArrowheads="1"/>
          </p:cNvSpPr>
          <p:nvPr/>
        </p:nvSpPr>
        <p:spPr bwMode="auto">
          <a:xfrm>
            <a:off x="4800600" y="1657350"/>
            <a:ext cx="4267200" cy="27051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txBody>
          <a:bodyPr wrap="square">
            <a:spAutoFit/>
          </a:bodyPr>
          <a:lstStyle/>
          <a:p>
            <a:pPr eaLnBrk="0" hangingPunct="0">
              <a:lnSpc>
                <a:spcPts val="140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endParaRPr lang="en-US" altLang="zh-CN" sz="12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7169" name="Picture 1"/>
          <p:cNvPicPr>
            <a:picLocks noChangeAspect="1" noChangeArrowheads="1"/>
          </p:cNvPicPr>
          <p:nvPr/>
        </p:nvPicPr>
        <p:blipFill>
          <a:blip r:embed="rId2" cstate="print"/>
          <a:srcRect t="39589"/>
          <a:stretch>
            <a:fillRect/>
          </a:stretch>
        </p:blipFill>
        <p:spPr bwMode="auto">
          <a:xfrm>
            <a:off x="3590925" y="2802255"/>
            <a:ext cx="5307965" cy="18332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表格嵌套 </a:t>
            </a:r>
          </a:p>
        </p:txBody>
      </p:sp>
      <p:sp>
        <p:nvSpPr>
          <p:cNvPr id="47106" name="Rectangle 3"/>
          <p:cNvSpPr>
            <a:spLocks noGrp="1" noChangeArrowheads="1"/>
          </p:cNvSpPr>
          <p:nvPr>
            <p:ph idx="1"/>
          </p:nvPr>
        </p:nvSpPr>
        <p:spPr>
          <a:xfrm>
            <a:off x="502285" y="1252776"/>
            <a:ext cx="8534400" cy="14561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sz="1800" dirty="0"/>
              <a:t>通常情况下，使用表格嵌套时，表格不宜过多使用，否则会降低网站访问速度。表格嵌套一般采用在单元格内嵌套表格。</a:t>
            </a:r>
          </a:p>
        </p:txBody>
      </p:sp>
      <p:pic>
        <p:nvPicPr>
          <p:cNvPr id="614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3200400"/>
            <a:ext cx="4351338" cy="23221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表格标记</a:t>
            </a:r>
            <a:r>
              <a:rPr lang="en-US" altLang="zh-CN" dirty="0"/>
              <a:t>-</a:t>
            </a:r>
            <a:r>
              <a:rPr lang="zh-CN" altLang="en-US" dirty="0"/>
              <a:t>语法 </a:t>
            </a:r>
          </a:p>
        </p:txBody>
      </p:sp>
      <p:sp>
        <p:nvSpPr>
          <p:cNvPr id="19458" name="Rectangle 3"/>
          <p:cNvSpPr>
            <a:spLocks noGrp="1" noChangeArrowheads="1"/>
          </p:cNvSpPr>
          <p:nvPr>
            <p:ph idx="1"/>
          </p:nvPr>
        </p:nvSpPr>
        <p:spPr>
          <a:xfrm>
            <a:off x="688975" y="1495425"/>
            <a:ext cx="7438390" cy="3867150"/>
          </a:xfrm>
        </p:spPr>
        <p:txBody>
          <a:bodyPr>
            <a:normAutofit/>
          </a:bodyPr>
          <a:lstStyle/>
          <a:p>
            <a:r>
              <a:rPr lang="zh-CN" altLang="en-US" sz="1400" dirty="0"/>
              <a:t>在</a:t>
            </a:r>
            <a:r>
              <a:rPr lang="en-US" altLang="zh-CN" sz="1400" dirty="0"/>
              <a:t>HTML</a:t>
            </a:r>
            <a:r>
              <a:rPr lang="zh-CN" altLang="en-US" sz="1400" dirty="0"/>
              <a:t>中，使用</a:t>
            </a:r>
            <a:r>
              <a:rPr lang="en-US" altLang="zh-CN" sz="1400" dirty="0"/>
              <a:t>&lt;table&gt;&lt;/table&gt;</a:t>
            </a:r>
            <a:r>
              <a:rPr lang="zh-CN" altLang="en-US" sz="1400" dirty="0"/>
              <a:t>标记可以创建表格。</a:t>
            </a:r>
            <a:endParaRPr lang="en-US" altLang="zh-CN" sz="1400" dirty="0"/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   &lt;table&gt; 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        &lt;caption&gt;</a:t>
            </a:r>
            <a:r>
              <a:rPr lang="zh-CN" altLang="en-US" sz="2000" dirty="0">
                <a:solidFill>
                  <a:srgbClr val="FF0000"/>
                </a:solidFill>
              </a:rPr>
              <a:t>插入表格标题</a:t>
            </a:r>
            <a:r>
              <a:rPr lang="en-US" altLang="zh-CN" sz="2000" dirty="0">
                <a:solidFill>
                  <a:srgbClr val="FF0000"/>
                </a:solidFill>
              </a:rPr>
              <a:t>&lt;/caption&gt;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       &lt;</a:t>
            </a:r>
            <a:r>
              <a:rPr lang="en-US" altLang="zh-CN" sz="2000" dirty="0" err="1">
                <a:solidFill>
                  <a:srgbClr val="FF0000"/>
                </a:solidFill>
              </a:rPr>
              <a:t>tr</a:t>
            </a:r>
            <a:r>
              <a:rPr lang="en-US" altLang="zh-CN" sz="2000" dirty="0">
                <a:solidFill>
                  <a:srgbClr val="FF0000"/>
                </a:solidFill>
              </a:rPr>
              <a:t>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           &lt;</a:t>
            </a:r>
            <a:r>
              <a:rPr lang="en-US" altLang="zh-CN" sz="2000" dirty="0" err="1">
                <a:solidFill>
                  <a:srgbClr val="FF0000"/>
                </a:solidFill>
              </a:rPr>
              <a:t>th</a:t>
            </a:r>
            <a:r>
              <a:rPr lang="en-US" altLang="zh-CN" sz="2000" dirty="0">
                <a:solidFill>
                  <a:srgbClr val="FF0000"/>
                </a:solidFill>
              </a:rPr>
              <a:t>&gt;&lt;/</a:t>
            </a:r>
            <a:r>
              <a:rPr lang="en-US" altLang="zh-CN" sz="2000" dirty="0" err="1">
                <a:solidFill>
                  <a:srgbClr val="FF0000"/>
                </a:solidFill>
              </a:rPr>
              <a:t>th</a:t>
            </a:r>
            <a:r>
              <a:rPr lang="en-US" altLang="zh-CN" sz="2000" dirty="0">
                <a:solidFill>
                  <a:srgbClr val="FF0000"/>
                </a:solidFill>
              </a:rPr>
              <a:t>&gt; &gt;&lt;</a:t>
            </a:r>
            <a:r>
              <a:rPr lang="en-US" altLang="zh-CN" sz="2000" dirty="0" err="1">
                <a:solidFill>
                  <a:srgbClr val="FF0000"/>
                </a:solidFill>
              </a:rPr>
              <a:t>th</a:t>
            </a:r>
            <a:r>
              <a:rPr lang="en-US" altLang="zh-CN" sz="2000" dirty="0">
                <a:solidFill>
                  <a:srgbClr val="FF0000"/>
                </a:solidFill>
              </a:rPr>
              <a:t>&gt;&lt;/</a:t>
            </a:r>
            <a:r>
              <a:rPr lang="en-US" altLang="zh-CN" sz="2000" dirty="0" err="1">
                <a:solidFill>
                  <a:srgbClr val="FF0000"/>
                </a:solidFill>
              </a:rPr>
              <a:t>th</a:t>
            </a:r>
            <a:r>
              <a:rPr lang="en-US" altLang="zh-CN" sz="2000" dirty="0">
                <a:solidFill>
                  <a:srgbClr val="FF0000"/>
                </a:solidFill>
              </a:rPr>
              <a:t>&gt; &gt;&lt;</a:t>
            </a:r>
            <a:r>
              <a:rPr lang="en-US" altLang="zh-CN" sz="2000" dirty="0" err="1">
                <a:solidFill>
                  <a:srgbClr val="FF0000"/>
                </a:solidFill>
              </a:rPr>
              <a:t>th</a:t>
            </a:r>
            <a:r>
              <a:rPr lang="en-US" altLang="zh-CN" sz="2000" dirty="0">
                <a:solidFill>
                  <a:srgbClr val="FF0000"/>
                </a:solidFill>
              </a:rPr>
              <a:t>&gt;&lt;/</a:t>
            </a:r>
            <a:r>
              <a:rPr lang="en-US" altLang="zh-CN" sz="2000" dirty="0" err="1">
                <a:solidFill>
                  <a:srgbClr val="FF0000"/>
                </a:solidFill>
              </a:rPr>
              <a:t>th</a:t>
            </a:r>
            <a:r>
              <a:rPr lang="en-US" altLang="zh-CN" sz="2000" dirty="0">
                <a:solidFill>
                  <a:srgbClr val="FF0000"/>
                </a:solidFill>
              </a:rPr>
              <a:t>&gt; …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      &lt;/</a:t>
            </a:r>
            <a:r>
              <a:rPr lang="en-US" altLang="zh-CN" sz="2000" dirty="0" err="1">
                <a:solidFill>
                  <a:srgbClr val="FF0000"/>
                </a:solidFill>
              </a:rPr>
              <a:t>tr</a:t>
            </a:r>
            <a:r>
              <a:rPr lang="en-US" altLang="zh-CN" sz="2000" dirty="0">
                <a:solidFill>
                  <a:srgbClr val="FF0000"/>
                </a:solidFill>
              </a:rPr>
              <a:t>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      &lt;</a:t>
            </a:r>
            <a:r>
              <a:rPr lang="en-US" altLang="zh-CN" sz="2000" dirty="0" err="1">
                <a:solidFill>
                  <a:srgbClr val="FF0000"/>
                </a:solidFill>
              </a:rPr>
              <a:t>tr</a:t>
            </a:r>
            <a:r>
              <a:rPr lang="en-US" altLang="zh-CN" sz="2000" dirty="0">
                <a:solidFill>
                  <a:srgbClr val="FF0000"/>
                </a:solidFill>
              </a:rPr>
              <a:t>&gt; 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           &lt;td &gt;&lt;/td&gt; &lt;td &gt;&lt;/td&gt; &lt;td &gt;&lt;/td&gt; …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      &lt;/</a:t>
            </a:r>
            <a:r>
              <a:rPr lang="en-US" altLang="zh-CN" sz="2000" dirty="0" err="1">
                <a:solidFill>
                  <a:srgbClr val="FF0000"/>
                </a:solidFill>
              </a:rPr>
              <a:t>tr</a:t>
            </a:r>
            <a:r>
              <a:rPr lang="en-US" altLang="zh-CN" sz="2000" dirty="0">
                <a:solidFill>
                  <a:srgbClr val="FF0000"/>
                </a:solidFill>
              </a:rPr>
              <a:t>&gt; 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  &lt;/table&gt;</a:t>
            </a:r>
          </a:p>
          <a:p>
            <a:r>
              <a:rPr lang="zh-CN" altLang="en-US" sz="1400" dirty="0"/>
              <a:t>语法说明</a:t>
            </a:r>
          </a:p>
          <a:p>
            <a:pPr>
              <a:buNone/>
            </a:pPr>
            <a:r>
              <a:rPr lang="zh-CN" altLang="en-US" sz="1400" dirty="0"/>
              <a:t>   </a:t>
            </a:r>
            <a:r>
              <a:rPr lang="en-US" altLang="zh-CN" sz="1400" dirty="0"/>
              <a:t>&lt;table&gt;&lt;/table&gt;</a:t>
            </a:r>
            <a:r>
              <a:rPr lang="zh-CN" altLang="en-US" sz="1400" dirty="0"/>
              <a:t>标记表示插入表格；</a:t>
            </a:r>
            <a:r>
              <a:rPr lang="en-US" altLang="zh-CN" sz="1400" dirty="0"/>
              <a:t>&lt;</a:t>
            </a:r>
            <a:r>
              <a:rPr lang="en-US" altLang="zh-CN" sz="1400" dirty="0" err="1"/>
              <a:t>tr</a:t>
            </a:r>
            <a:r>
              <a:rPr lang="en-US" altLang="zh-CN" sz="1400" dirty="0"/>
              <a:t>&gt;&lt;/</a:t>
            </a:r>
            <a:r>
              <a:rPr lang="en-US" altLang="zh-CN" sz="1400" dirty="0" err="1"/>
              <a:t>tr</a:t>
            </a:r>
            <a:r>
              <a:rPr lang="en-US" altLang="zh-CN" sz="1400" dirty="0"/>
              <a:t>&gt;</a:t>
            </a:r>
            <a:r>
              <a:rPr lang="zh-CN" altLang="en-US" sz="1400" dirty="0"/>
              <a:t>表示插入一行；</a:t>
            </a:r>
            <a:r>
              <a:rPr lang="en-US" altLang="zh-CN" sz="1400" dirty="0"/>
              <a:t>&lt;td&gt;&lt;/td&gt;</a:t>
            </a:r>
            <a:r>
              <a:rPr lang="zh-CN" altLang="en-US" sz="1400" dirty="0"/>
              <a:t>表示插入一列；</a:t>
            </a:r>
            <a:r>
              <a:rPr lang="en-US" altLang="zh-CN" sz="1400" dirty="0"/>
              <a:t>&lt;</a:t>
            </a:r>
            <a:r>
              <a:rPr lang="en-US" altLang="zh-CN" sz="1400" dirty="0" err="1"/>
              <a:t>th</a:t>
            </a:r>
            <a:r>
              <a:rPr lang="en-US" altLang="zh-CN" sz="1400" dirty="0"/>
              <a:t>&gt;&lt;/</a:t>
            </a:r>
            <a:r>
              <a:rPr lang="en-US" altLang="zh-CN" sz="1400" dirty="0" err="1"/>
              <a:t>th</a:t>
            </a:r>
            <a:r>
              <a:rPr lang="en-US" altLang="zh-CN" sz="1400" dirty="0"/>
              <a:t>&gt;</a:t>
            </a:r>
            <a:r>
              <a:rPr lang="zh-CN" altLang="en-US" sz="1400" dirty="0"/>
              <a:t>插入表头。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表格标记</a:t>
            </a:r>
            <a:r>
              <a:rPr lang="en-US" altLang="zh-CN" dirty="0"/>
              <a:t>-</a:t>
            </a:r>
            <a:r>
              <a:rPr lang="zh-CN" altLang="en-US" dirty="0"/>
              <a:t>案例</a:t>
            </a:r>
            <a:r>
              <a:rPr lang="en-US" altLang="zh-CN" dirty="0"/>
              <a:t> 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idx="1"/>
          </p:nvPr>
        </p:nvSpPr>
        <p:spPr>
          <a:xfrm>
            <a:off x="386080" y="1066800"/>
            <a:ext cx="5857240" cy="5351780"/>
          </a:xfrm>
          <a:ln>
            <a:solidFill>
              <a:schemeClr val="bg1"/>
            </a:solidFill>
          </a:ln>
        </p:spPr>
        <p:txBody>
          <a:bodyPr>
            <a:normAutofit fontScale="90000" lnSpcReduction="20000"/>
          </a:bodyPr>
          <a:lstStyle/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&lt;html&gt;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  &lt;head&gt;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    &lt;style type="text/</a:t>
            </a:r>
            <a:r>
              <a:rPr lang="en-US" altLang="zh-CN" sz="1400" dirty="0" err="1">
                <a:latin typeface="+mn-lt"/>
                <a:ea typeface="宋体" panose="02010600030101010101" pitchFamily="2" charset="-122"/>
                <a:cs typeface="+mn-lt"/>
              </a:rPr>
              <a:t>css</a:t>
            </a: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"&gt;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      td{text-</a:t>
            </a:r>
            <a:r>
              <a:rPr lang="en-US" altLang="zh-CN" sz="1400" dirty="0" err="1">
                <a:latin typeface="+mn-lt"/>
                <a:ea typeface="宋体" panose="02010600030101010101" pitchFamily="2" charset="-122"/>
                <a:cs typeface="+mn-lt"/>
              </a:rPr>
              <a:t>align:center</a:t>
            </a: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;}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      #tableOddLine{background:#E0E0E0;}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    &lt;/style&gt;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  &lt;/head&gt;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  &lt;body&gt;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    &lt;table width="700" height="150px" border="1"&gt;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      &lt;caption&gt;&lt;strong&gt;2012</a:t>
            </a:r>
            <a:r>
              <a:rPr lang="zh-CN" altLang="en-US" sz="1400" dirty="0">
                <a:latin typeface="+mn-lt"/>
                <a:ea typeface="宋体" panose="02010600030101010101" pitchFamily="2" charset="-122"/>
                <a:cs typeface="+mn-lt"/>
              </a:rPr>
              <a:t>软件工程班课程表</a:t>
            </a: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&lt;/strong&gt;&lt;/caption&gt;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      &lt;</a:t>
            </a:r>
            <a:r>
              <a:rPr lang="en-US" altLang="zh-CN" sz="1400" dirty="0" err="1">
                <a:latin typeface="+mn-lt"/>
                <a:ea typeface="宋体" panose="02010600030101010101" pitchFamily="2" charset="-122"/>
                <a:cs typeface="+mn-lt"/>
              </a:rPr>
              <a:t>tr</a:t>
            </a: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&gt;               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        &lt;</a:t>
            </a:r>
            <a:r>
              <a:rPr lang="en-US" altLang="zh-CN" sz="1400" dirty="0" err="1">
                <a:latin typeface="+mn-lt"/>
                <a:ea typeface="宋体" panose="02010600030101010101" pitchFamily="2" charset="-122"/>
                <a:cs typeface="+mn-lt"/>
              </a:rPr>
              <a:t>th</a:t>
            </a: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&gt;</a:t>
            </a:r>
            <a:r>
              <a:rPr lang="zh-CN" altLang="en-US" sz="1400" dirty="0">
                <a:latin typeface="+mn-lt"/>
                <a:ea typeface="宋体" panose="02010600030101010101" pitchFamily="2" charset="-122"/>
                <a:cs typeface="+mn-lt"/>
              </a:rPr>
              <a:t>节次</a:t>
            </a: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&lt;/</a:t>
            </a:r>
            <a:r>
              <a:rPr lang="en-US" altLang="zh-CN" sz="1400" dirty="0" err="1">
                <a:latin typeface="+mn-lt"/>
                <a:ea typeface="宋体" panose="02010600030101010101" pitchFamily="2" charset="-122"/>
                <a:cs typeface="+mn-lt"/>
              </a:rPr>
              <a:t>th</a:t>
            </a: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&gt;&lt;</a:t>
            </a:r>
            <a:r>
              <a:rPr lang="en-US" altLang="zh-CN" sz="1400" dirty="0" err="1">
                <a:latin typeface="+mn-lt"/>
                <a:ea typeface="宋体" panose="02010600030101010101" pitchFamily="2" charset="-122"/>
                <a:cs typeface="+mn-lt"/>
              </a:rPr>
              <a:t>th</a:t>
            </a: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&gt;</a:t>
            </a:r>
            <a:r>
              <a:rPr lang="zh-CN" altLang="en-US" sz="1400" dirty="0">
                <a:latin typeface="+mn-lt"/>
                <a:ea typeface="宋体" panose="02010600030101010101" pitchFamily="2" charset="-122"/>
                <a:cs typeface="+mn-lt"/>
              </a:rPr>
              <a:t>星期一</a:t>
            </a: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&lt;/</a:t>
            </a:r>
            <a:r>
              <a:rPr lang="en-US" altLang="zh-CN" sz="1400" dirty="0" err="1">
                <a:latin typeface="+mn-lt"/>
                <a:ea typeface="宋体" panose="02010600030101010101" pitchFamily="2" charset="-122"/>
                <a:cs typeface="+mn-lt"/>
              </a:rPr>
              <a:t>th</a:t>
            </a: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&gt;         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        &lt;</a:t>
            </a:r>
            <a:r>
              <a:rPr lang="en-US" altLang="zh-CN" sz="1400" dirty="0" err="1">
                <a:latin typeface="+mn-lt"/>
                <a:ea typeface="宋体" panose="02010600030101010101" pitchFamily="2" charset="-122"/>
                <a:cs typeface="+mn-lt"/>
              </a:rPr>
              <a:t>th</a:t>
            </a: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&gt;</a:t>
            </a:r>
            <a:r>
              <a:rPr lang="zh-CN" altLang="en-US" sz="1400" dirty="0">
                <a:latin typeface="+mn-lt"/>
                <a:ea typeface="宋体" panose="02010600030101010101" pitchFamily="2" charset="-122"/>
                <a:cs typeface="+mn-lt"/>
              </a:rPr>
              <a:t>星期二</a:t>
            </a: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&lt;/</a:t>
            </a:r>
            <a:r>
              <a:rPr lang="en-US" altLang="zh-CN" sz="1400" dirty="0" err="1">
                <a:latin typeface="+mn-lt"/>
                <a:ea typeface="宋体" panose="02010600030101010101" pitchFamily="2" charset="-122"/>
                <a:cs typeface="+mn-lt"/>
              </a:rPr>
              <a:t>th</a:t>
            </a: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&gt;&lt;</a:t>
            </a:r>
            <a:r>
              <a:rPr lang="en-US" altLang="zh-CN" sz="1400" dirty="0" err="1">
                <a:latin typeface="+mn-lt"/>
                <a:ea typeface="宋体" panose="02010600030101010101" pitchFamily="2" charset="-122"/>
                <a:cs typeface="+mn-lt"/>
              </a:rPr>
              <a:t>th</a:t>
            </a: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&gt;</a:t>
            </a:r>
            <a:r>
              <a:rPr lang="zh-CN" altLang="en-US" sz="1400" dirty="0">
                <a:latin typeface="+mn-lt"/>
                <a:ea typeface="宋体" panose="02010600030101010101" pitchFamily="2" charset="-122"/>
                <a:cs typeface="+mn-lt"/>
              </a:rPr>
              <a:t>星期三</a:t>
            </a: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&lt;/</a:t>
            </a:r>
            <a:r>
              <a:rPr lang="en-US" altLang="zh-CN" sz="1400" dirty="0" err="1">
                <a:latin typeface="+mn-lt"/>
                <a:ea typeface="宋体" panose="02010600030101010101" pitchFamily="2" charset="-122"/>
                <a:cs typeface="+mn-lt"/>
              </a:rPr>
              <a:t>th</a:t>
            </a: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&gt;         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        &lt;</a:t>
            </a:r>
            <a:r>
              <a:rPr lang="en-US" altLang="zh-CN" sz="1400" dirty="0" err="1">
                <a:latin typeface="+mn-lt"/>
                <a:ea typeface="宋体" panose="02010600030101010101" pitchFamily="2" charset="-122"/>
                <a:cs typeface="+mn-lt"/>
              </a:rPr>
              <a:t>th</a:t>
            </a: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&gt;</a:t>
            </a:r>
            <a:r>
              <a:rPr lang="zh-CN" altLang="en-US" sz="1400" dirty="0">
                <a:latin typeface="+mn-lt"/>
                <a:ea typeface="宋体" panose="02010600030101010101" pitchFamily="2" charset="-122"/>
                <a:cs typeface="+mn-lt"/>
              </a:rPr>
              <a:t>星期四</a:t>
            </a: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&lt;/</a:t>
            </a:r>
            <a:r>
              <a:rPr lang="en-US" altLang="zh-CN" sz="1400" dirty="0" err="1">
                <a:latin typeface="+mn-lt"/>
                <a:ea typeface="宋体" panose="02010600030101010101" pitchFamily="2" charset="-122"/>
                <a:cs typeface="+mn-lt"/>
              </a:rPr>
              <a:t>th</a:t>
            </a: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&gt;&lt;</a:t>
            </a:r>
            <a:r>
              <a:rPr lang="en-US" altLang="zh-CN" sz="1400" dirty="0" err="1">
                <a:latin typeface="+mn-lt"/>
                <a:ea typeface="宋体" panose="02010600030101010101" pitchFamily="2" charset="-122"/>
                <a:cs typeface="+mn-lt"/>
              </a:rPr>
              <a:t>th</a:t>
            </a: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&gt;</a:t>
            </a:r>
            <a:r>
              <a:rPr lang="zh-CN" altLang="en-US" sz="1400" dirty="0">
                <a:latin typeface="+mn-lt"/>
                <a:ea typeface="宋体" panose="02010600030101010101" pitchFamily="2" charset="-122"/>
                <a:cs typeface="+mn-lt"/>
              </a:rPr>
              <a:t>星期五</a:t>
            </a: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&lt;/</a:t>
            </a:r>
            <a:r>
              <a:rPr lang="en-US" altLang="zh-CN" sz="1400" dirty="0" err="1">
                <a:latin typeface="+mn-lt"/>
                <a:ea typeface="宋体" panose="02010600030101010101" pitchFamily="2" charset="-122"/>
                <a:cs typeface="+mn-lt"/>
              </a:rPr>
              <a:t>th</a:t>
            </a: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&gt;         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      &lt;/</a:t>
            </a:r>
            <a:r>
              <a:rPr lang="en-US" altLang="zh-CN" sz="1400" dirty="0" err="1">
                <a:latin typeface="+mn-lt"/>
                <a:ea typeface="宋体" panose="02010600030101010101" pitchFamily="2" charset="-122"/>
                <a:cs typeface="+mn-lt"/>
              </a:rPr>
              <a:t>tr</a:t>
            </a: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</a:rPr>
              <a:t>&gt;  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</a:rPr>
              <a:t>      &lt;</a:t>
            </a:r>
            <a:r>
              <a:rPr lang="en-US" altLang="zh-CN" sz="1400" dirty="0" err="1">
                <a:latin typeface="+mn-lt"/>
                <a:ea typeface="Verdana" panose="020B0604030504040204" pitchFamily="34" charset="0"/>
                <a:cs typeface="+mn-lt"/>
              </a:rPr>
              <a:t>tr</a:t>
            </a: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</a:rPr>
              <a:t> id="</a:t>
            </a:r>
            <a:r>
              <a:rPr lang="en-US" altLang="zh-CN" sz="1400" dirty="0">
                <a:latin typeface="+mn-lt"/>
                <a:ea typeface="宋体" panose="02010600030101010101" pitchFamily="2" charset="-122"/>
                <a:cs typeface="+mn-lt"/>
                <a:sym typeface="+mn-ea"/>
              </a:rPr>
              <a:t>tableOddLine</a:t>
            </a: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</a:rPr>
              <a:t>"&gt; </a:t>
            </a:r>
            <a:endParaRPr lang="zh-CN" altLang="en-US" sz="1400" dirty="0">
              <a:latin typeface="+mn-lt"/>
              <a:cs typeface="+mn-lt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</a:rPr>
              <a:t>        &lt;td&gt;</a:t>
            </a:r>
            <a:r>
              <a:rPr lang="zh-CN" altLang="en-US" sz="1400" dirty="0">
                <a:latin typeface="+mn-lt"/>
                <a:cs typeface="+mn-lt"/>
              </a:rPr>
              <a:t>第</a:t>
            </a: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</a:rPr>
              <a:t>1-2</a:t>
            </a:r>
            <a:r>
              <a:rPr lang="zh-CN" altLang="en-US" sz="1400" dirty="0">
                <a:latin typeface="+mn-lt"/>
                <a:cs typeface="+mn-lt"/>
              </a:rPr>
              <a:t>节</a:t>
            </a: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</a:rPr>
              <a:t>&lt;/td&gt;&lt;td&gt;Java</a:t>
            </a:r>
            <a:r>
              <a:rPr lang="zh-CN" altLang="en-US" sz="1400" dirty="0">
                <a:latin typeface="+mn-lt"/>
                <a:cs typeface="+mn-lt"/>
              </a:rPr>
              <a:t>程序设计</a:t>
            </a: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</a:rPr>
              <a:t>&lt;/td&gt;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        &lt;td&gt;Web</a:t>
            </a:r>
            <a:r>
              <a:rPr lang="zh-CN" altLang="en-US" sz="1400" dirty="0">
                <a:latin typeface="+mn-lt"/>
                <a:cs typeface="+mn-lt"/>
                <a:sym typeface="+mn-ea"/>
              </a:rPr>
              <a:t>前端开发技术</a:t>
            </a: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&lt;/td&gt;         </a:t>
            </a:r>
            <a:endParaRPr lang="en-US" altLang="zh-CN" sz="1400" b="0" dirty="0">
              <a:latin typeface="+mn-lt"/>
              <a:ea typeface="Verdana" panose="020B0604030504040204" pitchFamily="34" charset="0"/>
              <a:cs typeface="+mn-lt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        &lt;td&gt;</a:t>
            </a:r>
            <a:r>
              <a:rPr lang="zh-CN" altLang="en-US" sz="1400" dirty="0">
                <a:latin typeface="+mn-lt"/>
                <a:cs typeface="+mn-lt"/>
                <a:sym typeface="+mn-ea"/>
              </a:rPr>
              <a:t>数字逻辑电路</a:t>
            </a: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&lt;/td&gt;         </a:t>
            </a:r>
            <a:endParaRPr lang="en-US" altLang="zh-CN" sz="1400" b="0" dirty="0">
              <a:latin typeface="+mn-lt"/>
              <a:ea typeface="Verdana" panose="020B0604030504040204" pitchFamily="34" charset="0"/>
              <a:cs typeface="+mn-lt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        &lt;td&gt;</a:t>
            </a:r>
            <a:r>
              <a:rPr lang="zh-CN" altLang="en-US" sz="1400" dirty="0">
                <a:latin typeface="+mn-lt"/>
                <a:cs typeface="+mn-lt"/>
                <a:sym typeface="+mn-ea"/>
              </a:rPr>
              <a:t>数据结构</a:t>
            </a: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&lt;/td&gt;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        &lt;td&gt;</a:t>
            </a:r>
            <a:r>
              <a:rPr lang="zh-CN" altLang="en-US" sz="1400" dirty="0">
                <a:latin typeface="+mn-lt"/>
                <a:cs typeface="+mn-lt"/>
                <a:sym typeface="+mn-ea"/>
              </a:rPr>
              <a:t>体育</a:t>
            </a: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&lt;/td&gt;         </a:t>
            </a:r>
            <a:endParaRPr lang="en-US" altLang="zh-CN" sz="1400" b="0" dirty="0">
              <a:latin typeface="+mn-lt"/>
              <a:ea typeface="Verdana" panose="020B0604030504040204" pitchFamily="34" charset="0"/>
              <a:cs typeface="+mn-lt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      &lt;/</a:t>
            </a:r>
            <a:r>
              <a:rPr lang="en-US" altLang="zh-CN" sz="1400" dirty="0" err="1">
                <a:latin typeface="+mn-lt"/>
                <a:ea typeface="Verdana" panose="020B0604030504040204" pitchFamily="34" charset="0"/>
                <a:cs typeface="+mn-lt"/>
                <a:sym typeface="+mn-ea"/>
              </a:rPr>
              <a:t>tr</a:t>
            </a: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&gt;</a:t>
            </a:r>
            <a:endParaRPr lang="en-US" altLang="zh-CN" sz="1400" b="0" dirty="0">
              <a:latin typeface="+mn-lt"/>
              <a:ea typeface="Verdana" panose="020B0604030504040204" pitchFamily="34" charset="0"/>
              <a:cs typeface="+mn-lt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      &lt;</a:t>
            </a:r>
            <a:r>
              <a:rPr lang="en-US" altLang="zh-CN" sz="1400" dirty="0" err="1">
                <a:latin typeface="+mn-lt"/>
                <a:ea typeface="Verdana" panose="020B0604030504040204" pitchFamily="34" charset="0"/>
                <a:cs typeface="+mn-lt"/>
                <a:sym typeface="+mn-ea"/>
              </a:rPr>
              <a:t>tr</a:t>
            </a: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&gt;               </a:t>
            </a:r>
            <a:endParaRPr lang="en-US" altLang="zh-CN" sz="1400" b="0" dirty="0">
              <a:latin typeface="+mn-lt"/>
              <a:ea typeface="Verdana" panose="020B0604030504040204" pitchFamily="34" charset="0"/>
              <a:cs typeface="+mn-lt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        &lt;td&gt;</a:t>
            </a:r>
            <a:r>
              <a:rPr lang="zh-CN" altLang="en-US" sz="1400" dirty="0">
                <a:latin typeface="+mn-lt"/>
                <a:cs typeface="+mn-lt"/>
                <a:sym typeface="+mn-ea"/>
              </a:rPr>
              <a:t>第</a:t>
            </a: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3-4</a:t>
            </a:r>
            <a:r>
              <a:rPr lang="zh-CN" altLang="en-US" sz="1400" dirty="0">
                <a:latin typeface="+mn-lt"/>
                <a:cs typeface="+mn-lt"/>
                <a:sym typeface="+mn-ea"/>
              </a:rPr>
              <a:t>节</a:t>
            </a: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&lt;/td&gt;&lt;td&gt;</a:t>
            </a:r>
            <a:r>
              <a:rPr lang="zh-CN" altLang="en-US" sz="1400" dirty="0">
                <a:latin typeface="+mn-lt"/>
                <a:cs typeface="+mn-lt"/>
                <a:sym typeface="+mn-ea"/>
              </a:rPr>
              <a:t>心理咨询</a:t>
            </a: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&lt;/td&gt;         </a:t>
            </a:r>
            <a:endParaRPr lang="en-US" altLang="zh-CN" sz="1400" b="0" dirty="0">
              <a:latin typeface="+mn-lt"/>
              <a:ea typeface="Verdana" panose="020B0604030504040204" pitchFamily="34" charset="0"/>
              <a:cs typeface="+mn-lt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        &lt;td&gt;</a:t>
            </a:r>
            <a:r>
              <a:rPr lang="zh-CN" altLang="en-US" sz="1400" dirty="0">
                <a:latin typeface="+mn-lt"/>
                <a:cs typeface="+mn-lt"/>
                <a:sym typeface="+mn-ea"/>
              </a:rPr>
              <a:t>线性代数</a:t>
            </a: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&lt;/td&gt;&lt;td&gt;</a:t>
            </a:r>
            <a:r>
              <a:rPr lang="zh-CN" altLang="en-US" sz="1400" dirty="0">
                <a:latin typeface="+mn-lt"/>
                <a:cs typeface="+mn-lt"/>
                <a:sym typeface="+mn-ea"/>
              </a:rPr>
              <a:t>数据结构</a:t>
            </a: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&lt;/td&gt;         </a:t>
            </a:r>
            <a:endParaRPr lang="en-US" altLang="zh-CN" sz="1400" b="0" dirty="0">
              <a:latin typeface="+mn-lt"/>
              <a:ea typeface="Verdana" panose="020B0604030504040204" pitchFamily="34" charset="0"/>
              <a:cs typeface="+mn-lt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        &lt;td&gt;</a:t>
            </a:r>
            <a:r>
              <a:rPr lang="zh-CN" altLang="en-US" sz="1400" dirty="0">
                <a:latin typeface="+mn-lt"/>
                <a:cs typeface="+mn-lt"/>
                <a:sym typeface="+mn-ea"/>
              </a:rPr>
              <a:t>数据结构</a:t>
            </a: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&lt;/td&gt;&lt;td&gt;Web</a:t>
            </a:r>
            <a:r>
              <a:rPr lang="zh-CN" altLang="en-US" sz="1400" dirty="0">
                <a:latin typeface="+mn-lt"/>
                <a:cs typeface="+mn-lt"/>
                <a:sym typeface="+mn-ea"/>
              </a:rPr>
              <a:t>前端开发技术</a:t>
            </a: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&lt;/td&gt;         </a:t>
            </a:r>
            <a:endParaRPr lang="en-US" altLang="zh-CN" sz="1400" b="0" dirty="0">
              <a:latin typeface="+mn-lt"/>
              <a:ea typeface="Verdana" panose="020B0604030504040204" pitchFamily="34" charset="0"/>
              <a:cs typeface="+mn-lt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      &lt;/</a:t>
            </a:r>
            <a:r>
              <a:rPr lang="en-US" altLang="zh-CN" sz="1400" dirty="0" err="1">
                <a:latin typeface="+mn-lt"/>
                <a:ea typeface="Verdana" panose="020B0604030504040204" pitchFamily="34" charset="0"/>
                <a:cs typeface="+mn-lt"/>
                <a:sym typeface="+mn-ea"/>
              </a:rPr>
              <a:t>tr</a:t>
            </a: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&gt;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    &lt;/table&gt;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  &lt;/body&gt;</a:t>
            </a:r>
            <a:endParaRPr lang="en-US" altLang="zh-CN" sz="1400" b="0" dirty="0">
              <a:latin typeface="+mn-lt"/>
              <a:ea typeface="Verdana" panose="020B0604030504040204" pitchFamily="34" charset="0"/>
              <a:cs typeface="+mn-lt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latin typeface="+mn-lt"/>
                <a:ea typeface="Verdana" panose="020B0604030504040204" pitchFamily="34" charset="0"/>
                <a:cs typeface="+mn-lt"/>
                <a:sym typeface="+mn-ea"/>
              </a:rPr>
              <a:t>&lt;/html&gt;</a:t>
            </a:r>
            <a:endParaRPr lang="en-US" altLang="zh-CN" sz="1400" dirty="0">
              <a:latin typeface="+mn-lt"/>
              <a:ea typeface="宋体" panose="02010600030101010101" pitchFamily="2" charset="-122"/>
              <a:cs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495800" y="1676400"/>
            <a:ext cx="4495800" cy="257810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indent="363855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600" b="0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21505" name="Picture 1"/>
          <p:cNvPicPr>
            <a:picLocks noChangeAspect="1" noChangeArrowheads="1"/>
          </p:cNvPicPr>
          <p:nvPr/>
        </p:nvPicPr>
        <p:blipFill>
          <a:blip r:embed="rId2" cstate="print"/>
          <a:srcRect t="35142"/>
          <a:stretch>
            <a:fillRect/>
          </a:stretch>
        </p:blipFill>
        <p:spPr bwMode="auto">
          <a:xfrm>
            <a:off x="4146550" y="3048000"/>
            <a:ext cx="4997450" cy="1389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表格属性设置 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33400" y="4348162"/>
            <a:ext cx="8534400" cy="1195388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 indent="354330" defTabSz="1158875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tabLst>
                <a:tab pos="442595" algn="l"/>
              </a:tabLst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微软雅黑" panose="020B0503020204020204" charset="-122"/>
                <a:cs typeface="+mn-cs"/>
              </a:rPr>
              <a:t> 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" name="内容占位符 4"/>
          <p:cNvSpPr/>
          <p:nvPr/>
        </p:nvSpPr>
        <p:spPr bwMode="auto">
          <a:xfrm>
            <a:off x="533400" y="1657350"/>
            <a:ext cx="8516937" cy="4133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 latinLnBrk="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zh-CN" b="0" dirty="0"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kumimoji="0" lang="zh-CN" altLang="en-US" b="0" dirty="0">
                <a:latin typeface="微软雅黑" panose="020B0503020204020204" charset="-122"/>
                <a:ea typeface="微软雅黑" panose="020B0503020204020204" charset="-122"/>
              </a:rPr>
              <a:t>表格的边框属性</a:t>
            </a:r>
            <a:r>
              <a:rPr kumimoji="0" lang="en-US" altLang="zh-CN" b="0" dirty="0">
                <a:latin typeface="微软雅黑" panose="020B0503020204020204" charset="-122"/>
                <a:ea typeface="微软雅黑" panose="020B0503020204020204" charset="-122"/>
              </a:rPr>
              <a:t>--border</a:t>
            </a:r>
          </a:p>
          <a:p>
            <a:pPr marL="342900" indent="-342900" latinLnBrk="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zh-CN" b="0" dirty="0"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kumimoji="0" lang="zh-CN" altLang="en-US" b="0" dirty="0">
                <a:latin typeface="微软雅黑" panose="020B0503020204020204" charset="-122"/>
                <a:ea typeface="微软雅黑" panose="020B0503020204020204" charset="-122"/>
              </a:rPr>
              <a:t>边框的颜色</a:t>
            </a:r>
            <a:r>
              <a:rPr kumimoji="0" lang="en-US" altLang="zh-CN" b="0" dirty="0">
                <a:latin typeface="微软雅黑" panose="020B0503020204020204" charset="-122"/>
                <a:ea typeface="微软雅黑" panose="020B0503020204020204" charset="-122"/>
              </a:rPr>
              <a:t>--</a:t>
            </a:r>
            <a:r>
              <a:rPr kumimoji="0" lang="en-US" altLang="zh-CN" b="0" dirty="0" err="1">
                <a:latin typeface="微软雅黑" panose="020B0503020204020204" charset="-122"/>
                <a:ea typeface="微软雅黑" panose="020B0503020204020204" charset="-122"/>
              </a:rPr>
              <a:t>bordercolor</a:t>
            </a:r>
            <a:endParaRPr kumimoji="0" lang="zh-CN" altLang="en-US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latinLnBrk="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endParaRPr kumimoji="0" lang="en-US" altLang="zh-CN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latinLnBrk="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zh-CN" b="0" strike="sngStrike" dirty="0">
                <a:latin typeface="微软雅黑" panose="020B0503020204020204" charset="-122"/>
                <a:ea typeface="微软雅黑" panose="020B0503020204020204" charset="-122"/>
              </a:rPr>
              <a:t>3.</a:t>
            </a:r>
            <a:r>
              <a:rPr kumimoji="0" lang="zh-CN" altLang="en-US" b="0" strike="sngStrike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亮</a:t>
            </a:r>
            <a:r>
              <a:rPr kumimoji="0" lang="zh-CN" altLang="en-US" b="0" strike="sngStrike" dirty="0">
                <a:latin typeface="微软雅黑" panose="020B0503020204020204" charset="-122"/>
                <a:ea typeface="微软雅黑" panose="020B0503020204020204" charset="-122"/>
              </a:rPr>
              <a:t>边框的颜色</a:t>
            </a:r>
            <a:r>
              <a:rPr kumimoji="0" lang="en-US" altLang="zh-CN" b="0" strike="sngStrike" dirty="0">
                <a:latin typeface="微软雅黑" panose="020B0503020204020204" charset="-122"/>
                <a:ea typeface="微软雅黑" panose="020B0503020204020204" charset="-122"/>
              </a:rPr>
              <a:t>--</a:t>
            </a:r>
            <a:r>
              <a:rPr kumimoji="0" lang="en-US" altLang="zh-CN" b="0" strike="sngStrike" dirty="0" err="1">
                <a:latin typeface="微软雅黑" panose="020B0503020204020204" charset="-122"/>
                <a:ea typeface="微软雅黑" panose="020B0503020204020204" charset="-122"/>
              </a:rPr>
              <a:t>bordercolorlight</a:t>
            </a:r>
            <a:endParaRPr kumimoji="0" lang="en-US" altLang="zh-CN" b="0" strike="sngStrike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latinLnBrk="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zh-CN" b="0" strike="sngStrike" dirty="0">
                <a:latin typeface="微软雅黑" panose="020B0503020204020204" charset="-122"/>
                <a:ea typeface="微软雅黑" panose="020B0503020204020204" charset="-122"/>
              </a:rPr>
              <a:t>4.</a:t>
            </a:r>
            <a:r>
              <a:rPr kumimoji="0" lang="zh-CN" altLang="en-US" b="0" strike="sngStrike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暗</a:t>
            </a:r>
            <a:r>
              <a:rPr kumimoji="0" lang="zh-CN" altLang="en-US" b="0" strike="sngStrike" dirty="0">
                <a:latin typeface="微软雅黑" panose="020B0503020204020204" charset="-122"/>
                <a:ea typeface="微软雅黑" panose="020B0503020204020204" charset="-122"/>
              </a:rPr>
              <a:t>边框的颜色</a:t>
            </a:r>
            <a:r>
              <a:rPr kumimoji="0" lang="en-US" altLang="zh-CN" b="0" strike="sngStrike" dirty="0">
                <a:latin typeface="微软雅黑" panose="020B0503020204020204" charset="-122"/>
                <a:ea typeface="微软雅黑" panose="020B0503020204020204" charset="-122"/>
              </a:rPr>
              <a:t>– </a:t>
            </a:r>
            <a:r>
              <a:rPr kumimoji="0" lang="en-US" altLang="zh-CN" b="0" strike="sngStrike" dirty="0" err="1">
                <a:latin typeface="微软雅黑" panose="020B0503020204020204" charset="-122"/>
                <a:ea typeface="微软雅黑" panose="020B0503020204020204" charset="-122"/>
              </a:rPr>
              <a:t>bordercolordark</a:t>
            </a:r>
            <a:endParaRPr kumimoji="0" lang="en-US" altLang="zh-CN" b="0" strike="sngStrike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latinLnBrk="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endParaRPr kumimoji="0" lang="en-US" altLang="zh-CN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latinLnBrk="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zh-CN" b="0" dirty="0">
                <a:latin typeface="微软雅黑" panose="020B0503020204020204" charset="-122"/>
                <a:ea typeface="微软雅黑" panose="020B0503020204020204" charset="-122"/>
              </a:rPr>
              <a:t>5.</a:t>
            </a:r>
            <a:r>
              <a:rPr kumimoji="0" lang="zh-CN" altLang="en-US" b="0" dirty="0">
                <a:latin typeface="微软雅黑" panose="020B0503020204020204" charset="-122"/>
                <a:ea typeface="微软雅黑" panose="020B0503020204020204" charset="-122"/>
              </a:rPr>
              <a:t>背景颜色</a:t>
            </a:r>
            <a:r>
              <a:rPr kumimoji="0" lang="en-US" altLang="zh-CN" b="0" dirty="0">
                <a:latin typeface="微软雅黑" panose="020B0503020204020204" charset="-122"/>
                <a:ea typeface="微软雅黑" panose="020B0503020204020204" charset="-122"/>
              </a:rPr>
              <a:t>—bgcolor</a:t>
            </a:r>
          </a:p>
          <a:p>
            <a:pPr marL="342900" indent="-342900" latinLnBrk="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zh-CN" b="0" dirty="0">
                <a:latin typeface="微软雅黑" panose="020B0503020204020204" charset="-122"/>
                <a:ea typeface="微软雅黑" panose="020B0503020204020204" charset="-122"/>
              </a:rPr>
              <a:t>6.</a:t>
            </a:r>
            <a:r>
              <a:rPr kumimoji="0" lang="zh-CN" altLang="en-US" b="0" dirty="0">
                <a:latin typeface="微软雅黑" panose="020B0503020204020204" charset="-122"/>
                <a:ea typeface="微软雅黑" panose="020B0503020204020204" charset="-122"/>
              </a:rPr>
              <a:t>背景图像</a:t>
            </a:r>
            <a:r>
              <a:rPr kumimoji="0" lang="en-US" altLang="zh-CN" b="0" dirty="0">
                <a:latin typeface="微软雅黑" panose="020B0503020204020204" charset="-122"/>
                <a:ea typeface="微软雅黑" panose="020B0503020204020204" charset="-122"/>
              </a:rPr>
              <a:t>—background</a:t>
            </a:r>
          </a:p>
          <a:p>
            <a:pPr marL="342900" indent="-342900" latinLnBrk="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zh-CN" b="0" dirty="0">
                <a:latin typeface="微软雅黑" panose="020B0503020204020204" charset="-122"/>
                <a:ea typeface="微软雅黑" panose="020B0503020204020204" charset="-122"/>
              </a:rPr>
              <a:t>7.</a:t>
            </a:r>
            <a:r>
              <a:rPr kumimoji="0" lang="zh-CN" altLang="en-US" b="0" dirty="0">
                <a:latin typeface="微软雅黑" panose="020B0503020204020204" charset="-122"/>
                <a:ea typeface="微软雅黑" panose="020B0503020204020204" charset="-122"/>
              </a:rPr>
              <a:t>表格宽度与高度</a:t>
            </a:r>
            <a:r>
              <a:rPr kumimoji="0" lang="en-US" altLang="zh-CN" b="0" dirty="0">
                <a:latin typeface="微软雅黑" panose="020B0503020204020204" charset="-122"/>
                <a:ea typeface="微软雅黑" panose="020B0503020204020204" charset="-122"/>
              </a:rPr>
              <a:t>—width/height</a:t>
            </a:r>
          </a:p>
          <a:p>
            <a:pPr marL="342900" indent="-342900" latinLnBrk="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8.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表格对齐属性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-align</a:t>
            </a:r>
          </a:p>
          <a:p>
            <a:pPr lvl="0" indent="354330" defTabSz="1158875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tabLst>
                <a:tab pos="442595" algn="l"/>
              </a:tabLst>
            </a:pPr>
            <a:endParaRPr lang="zh-CN" altLang="en-US" sz="1800" kern="0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lvl="0" indent="354330" defTabSz="1158875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tabLst>
                <a:tab pos="442595" algn="l"/>
              </a:tabLst>
            </a:pPr>
            <a:r>
              <a:rPr lang="zh-CN" altLang="en-US" sz="1800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 基本语法：</a:t>
            </a:r>
            <a:endParaRPr lang="en-US" altLang="zh-CN" sz="1800" kern="0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lvl="0" indent="354330" defTabSz="1158875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tabLst>
                <a:tab pos="442595" algn="l"/>
              </a:tabLst>
            </a:pPr>
            <a:r>
              <a:rPr lang="en-US" altLang="zh-CN" sz="1800" b="0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&lt;table border=</a:t>
            </a:r>
            <a:r>
              <a:rPr lang="en-US" altLang="zh-CN" sz="1800" dirty="0">
                <a:solidFill>
                  <a:srgbClr val="FF0000"/>
                </a:solidFill>
              </a:rPr>
              <a:t>""</a:t>
            </a:r>
            <a:r>
              <a:rPr lang="en-US" altLang="zh-CN" sz="1800" b="0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lang="en-US" altLang="zh-CN" sz="1800" b="0" kern="0" dirty="0" err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bordercolor</a:t>
            </a:r>
            <a:r>
              <a:rPr lang="en-US" altLang="zh-CN" sz="1800" b="0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=</a:t>
            </a:r>
            <a:r>
              <a:rPr lang="en-US" altLang="zh-CN" sz="1800" dirty="0">
                <a:solidFill>
                  <a:srgbClr val="FF0000"/>
                </a:solidFill>
              </a:rPr>
              <a:t>""</a:t>
            </a:r>
            <a:r>
              <a:rPr lang="en-US" altLang="zh-CN" sz="1800" b="0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lang="en-US" altLang="zh-CN" sz="1800" b="0" kern="0" dirty="0" err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bordercolorlight</a:t>
            </a:r>
            <a:r>
              <a:rPr lang="en-US" altLang="zh-CN" sz="1800" dirty="0">
                <a:solidFill>
                  <a:srgbClr val="FF0000"/>
                </a:solidFill>
              </a:rPr>
              <a:t>""</a:t>
            </a:r>
            <a:r>
              <a:rPr lang="en-US" altLang="zh-CN" sz="1800" b="0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 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align=</a:t>
            </a:r>
            <a:r>
              <a:rPr lang="en-US" altLang="zh-CN" sz="1800" dirty="0">
                <a:solidFill>
                  <a:srgbClr val="FF0000"/>
                </a:solidFill>
              </a:rPr>
              <a:t>"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center</a:t>
            </a:r>
            <a:r>
              <a:rPr lang="en-US" altLang="zh-CN" sz="1800" dirty="0">
                <a:solidFill>
                  <a:srgbClr val="FF0000"/>
                </a:solidFill>
              </a:rPr>
              <a:t>"</a:t>
            </a:r>
            <a:r>
              <a:rPr lang="en-US" altLang="zh-CN" sz="1800" b="0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lang="en-US" altLang="zh-CN" sz="1800" b="0" kern="0" dirty="0" err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bordercolordark</a:t>
            </a:r>
            <a:r>
              <a:rPr lang="en-US" altLang="zh-CN" sz="1800" b="0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=</a:t>
            </a:r>
            <a:r>
              <a:rPr lang="en-US" altLang="zh-CN" sz="1800" dirty="0">
                <a:solidFill>
                  <a:srgbClr val="FF0000"/>
                </a:solidFill>
              </a:rPr>
              <a:t>""</a:t>
            </a:r>
            <a:r>
              <a:rPr lang="en-US" altLang="zh-CN" sz="1800" b="0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 &gt;</a:t>
            </a:r>
            <a:r>
              <a:rPr lang="en-US" altLang="zh-CN" sz="1800" b="0" kern="0" dirty="0">
                <a:solidFill>
                  <a:srgbClr val="FF0000"/>
                </a:solidFill>
                <a:ea typeface="微软雅黑" panose="020B0503020204020204" charset="-122"/>
              </a:rPr>
              <a:t> </a:t>
            </a:r>
            <a:r>
              <a:rPr lang="en-US" altLang="zh-CN" sz="1800" b="0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&lt;/table &gt;</a:t>
            </a:r>
            <a:endParaRPr lang="zh-CN" altLang="en-US" sz="1800" b="0" kern="0" dirty="0">
              <a:solidFill>
                <a:srgbClr val="FF0000"/>
              </a:solidFill>
              <a:ea typeface="微软雅黑" panose="020B0503020204020204" charset="-122"/>
            </a:endParaRPr>
          </a:p>
          <a:p>
            <a:pPr marL="342900" indent="-342900" latinLnBrk="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endParaRPr kumimoji="0" lang="en-US" altLang="zh-CN" b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表格边框属性 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533400" y="1676400"/>
            <a:ext cx="8534400" cy="1875234"/>
          </a:xfrm>
        </p:spPr>
        <p:txBody>
          <a:bodyPr>
            <a:norm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/>
              <a:t>&lt;body&gt;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/>
              <a:t>	&lt;table align="center" border="12" </a:t>
            </a:r>
            <a:r>
              <a:rPr lang="en-US" altLang="zh-CN" sz="1400" dirty="0" err="1"/>
              <a:t>bordercolor</a:t>
            </a:r>
            <a:r>
              <a:rPr lang="en-US" altLang="zh-CN" sz="1400" dirty="0"/>
              <a:t>="#0000FF"      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/>
              <a:t>     </a:t>
            </a:r>
            <a:r>
              <a:rPr lang="en-US" altLang="zh-CN" sz="1400" dirty="0" err="1"/>
              <a:t>bordercolorlight</a:t>
            </a:r>
            <a:r>
              <a:rPr lang="en-US" altLang="zh-CN" sz="1400" dirty="0"/>
              <a:t>="#ff0000" </a:t>
            </a:r>
            <a:r>
              <a:rPr lang="en-US" altLang="zh-CN" sz="1400" dirty="0" err="1"/>
              <a:t>bordercolordark</a:t>
            </a:r>
            <a:r>
              <a:rPr lang="en-US" altLang="zh-CN" sz="1400" dirty="0"/>
              <a:t>="#6600ff“  </a:t>
            </a:r>
            <a:r>
              <a:rPr lang="en-US" altLang="zh-CN" sz="1400" dirty="0" err="1"/>
              <a:t>bgcolor</a:t>
            </a:r>
            <a:r>
              <a:rPr lang="en-US" altLang="zh-CN" sz="1400" dirty="0"/>
              <a:t>="#99cccc“              width="500px" height="100px"&gt;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/>
              <a:t>	&lt;</a:t>
            </a:r>
            <a:r>
              <a:rPr lang="en-US" altLang="zh-CN" sz="1400" dirty="0" err="1"/>
              <a:t>tr</a:t>
            </a:r>
            <a:r>
              <a:rPr lang="en-US" altLang="zh-CN" sz="1400" dirty="0"/>
              <a:t>&gt;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/>
              <a:t>	  &lt;</a:t>
            </a:r>
            <a:r>
              <a:rPr lang="en-US" altLang="zh-CN" sz="1400" dirty="0" err="1"/>
              <a:t>th</a:t>
            </a:r>
            <a:r>
              <a:rPr lang="en-US" altLang="zh-CN" sz="1400" dirty="0"/>
              <a:t>&gt;</a:t>
            </a:r>
            <a:r>
              <a:rPr lang="zh-CN" altLang="en-US" sz="1400" dirty="0"/>
              <a:t>学号</a:t>
            </a:r>
            <a:r>
              <a:rPr lang="en-US" altLang="zh-CN" sz="1400" dirty="0"/>
              <a:t>&lt;/</a:t>
            </a:r>
            <a:r>
              <a:rPr lang="en-US" altLang="zh-CN" sz="1400" dirty="0" err="1"/>
              <a:t>th</a:t>
            </a:r>
            <a:r>
              <a:rPr lang="en-US" altLang="zh-CN" sz="1400" dirty="0"/>
              <a:t>&gt;&lt;</a:t>
            </a:r>
            <a:r>
              <a:rPr lang="en-US" altLang="zh-CN" sz="1400" dirty="0" err="1"/>
              <a:t>th</a:t>
            </a:r>
            <a:r>
              <a:rPr lang="en-US" altLang="zh-CN" sz="1400" dirty="0"/>
              <a:t>&gt;</a:t>
            </a:r>
            <a:r>
              <a:rPr lang="zh-CN" altLang="en-US" sz="1400" dirty="0"/>
              <a:t>姓名</a:t>
            </a:r>
            <a:r>
              <a:rPr lang="en-US" altLang="zh-CN" sz="1400" dirty="0"/>
              <a:t>&lt;/</a:t>
            </a:r>
            <a:r>
              <a:rPr lang="en-US" altLang="zh-CN" sz="1400" dirty="0" err="1"/>
              <a:t>th</a:t>
            </a:r>
            <a:r>
              <a:rPr lang="en-US" altLang="zh-CN" sz="1400" dirty="0"/>
              <a:t>&gt;&lt;</a:t>
            </a:r>
            <a:r>
              <a:rPr lang="en-US" altLang="zh-CN" sz="1400" dirty="0" err="1"/>
              <a:t>th</a:t>
            </a:r>
            <a:r>
              <a:rPr lang="en-US" altLang="zh-CN" sz="1400" dirty="0"/>
              <a:t>&gt;</a:t>
            </a:r>
            <a:r>
              <a:rPr lang="zh-CN" altLang="en-US" sz="1400" dirty="0"/>
              <a:t>所在院系</a:t>
            </a:r>
            <a:r>
              <a:rPr lang="en-US" altLang="zh-CN" sz="1400" dirty="0"/>
              <a:t>&lt;/</a:t>
            </a:r>
            <a:r>
              <a:rPr lang="en-US" altLang="zh-CN" sz="1400" dirty="0" err="1"/>
              <a:t>th</a:t>
            </a:r>
            <a:r>
              <a:rPr lang="en-US" altLang="zh-CN" sz="1400" dirty="0"/>
              <a:t>&gt;	&lt;/</a:t>
            </a:r>
            <a:r>
              <a:rPr lang="en-US" altLang="zh-CN" sz="1400" dirty="0" err="1"/>
              <a:t>tr</a:t>
            </a:r>
            <a:r>
              <a:rPr lang="en-US" altLang="zh-CN" sz="1400" dirty="0"/>
              <a:t>&gt;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/>
              <a:t>……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/>
              <a:t>&lt;/body&gt;</a:t>
            </a:r>
            <a:endParaRPr lang="zh-CN" altLang="en-US" sz="2000" dirty="0"/>
          </a:p>
        </p:txBody>
      </p:sp>
      <p:pic>
        <p:nvPicPr>
          <p:cNvPr id="11" name="图片 10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111"/>
          <a:stretch>
            <a:fillRect/>
          </a:stretch>
        </p:blipFill>
        <p:spPr bwMode="auto">
          <a:xfrm>
            <a:off x="3279140" y="4159885"/>
            <a:ext cx="5704205" cy="141097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曲线连接符 2"/>
          <p:cNvCxnSpPr/>
          <p:nvPr/>
        </p:nvCxnSpPr>
        <p:spPr bwMode="auto">
          <a:xfrm rot="5400000" flipV="1">
            <a:off x="2228215" y="2646680"/>
            <a:ext cx="1986915" cy="1176655"/>
          </a:xfrm>
          <a:prstGeom prst="curvedConnector3">
            <a:avLst>
              <a:gd name="adj1" fmla="val 50016"/>
            </a:avLst>
          </a:prstGeom>
          <a:gradFill rotWithShape="1">
            <a:gsLst>
              <a:gs pos="0">
                <a:srgbClr val="000080">
                  <a:gamma/>
                  <a:shade val="46275"/>
                  <a:invGamma/>
                </a:srgbClr>
              </a:gs>
              <a:gs pos="100000">
                <a:srgbClr val="000080"/>
              </a:gs>
            </a:gsLst>
            <a:lin ang="5400000" scaled="1"/>
          </a:gra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</p:cxnSp>
      <p:cxnSp>
        <p:nvCxnSpPr>
          <p:cNvPr id="15" name="曲线连接符 14"/>
          <p:cNvCxnSpPr/>
          <p:nvPr/>
        </p:nvCxnSpPr>
        <p:spPr bwMode="auto">
          <a:xfrm>
            <a:off x="4569460" y="2250440"/>
            <a:ext cx="3340100" cy="2516505"/>
          </a:xfrm>
          <a:prstGeom prst="curvedConnector3">
            <a:avLst>
              <a:gd name="adj1" fmla="val 50019"/>
            </a:avLst>
          </a:prstGeom>
          <a:gradFill rotWithShape="1">
            <a:gsLst>
              <a:gs pos="0">
                <a:srgbClr val="000080">
                  <a:gamma/>
                  <a:shade val="46275"/>
                  <a:invGamma/>
                </a:srgbClr>
              </a:gs>
              <a:gs pos="100000">
                <a:srgbClr val="000080"/>
              </a:gs>
            </a:gsLst>
            <a:lin ang="5400000" scaled="1"/>
          </a:gradFill>
          <a:ln w="25400" cap="flat" cmpd="sng" algn="ctr">
            <a:solidFill>
              <a:srgbClr val="3333FF"/>
            </a:solidFill>
            <a:prstDash val="solid"/>
            <a:round/>
            <a:headEnd type="none" w="med" len="med"/>
            <a:tailEnd type="arrow"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</p:cxnSp>
      <p:sp>
        <p:nvSpPr>
          <p:cNvPr id="9" name="矩形 8"/>
          <p:cNvSpPr/>
          <p:nvPr/>
        </p:nvSpPr>
        <p:spPr>
          <a:xfrm>
            <a:off x="533400" y="3581400"/>
            <a:ext cx="2971800" cy="1938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&lt;!-- 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第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</a:t>
            </a:r>
            <a:r>
              <a:rPr lang="zh-CN" altLang="en-US" sz="1400" b="0" dirty="0">
                <a:latin typeface="Verdana" panose="020B0604030504040204" pitchFamily="34" charset="0"/>
                <a:cs typeface="Verdana" panose="020B0604030504040204" pitchFamily="34" charset="0"/>
              </a:rPr>
              <a:t>个表格设置</a:t>
            </a: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ingdings" panose="05000000000000000000" pitchFamily="2" charset="2"/>
              </a:rPr>
              <a:t>--&gt;</a:t>
            </a:r>
            <a:endParaRPr lang="en-US" altLang="zh-CN" sz="14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ts val="1600"/>
              </a:lnSpc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&lt;table align="center" border="10px"  	       background="backimage1.jpg" 		       width="500px" height="100px"&gt;</a:t>
            </a:r>
          </a:p>
          <a:p>
            <a:pPr>
              <a:lnSpc>
                <a:spcPts val="1600"/>
              </a:lnSpc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……</a:t>
            </a:r>
          </a:p>
          <a:p>
            <a:pPr>
              <a:lnSpc>
                <a:spcPts val="1600"/>
              </a:lnSpc>
            </a:pPr>
            <a:r>
              <a:rPr lang="en-US" altLang="zh-CN" sz="1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&lt;/table&gt;</a:t>
            </a:r>
            <a:endParaRPr lang="zh-CN" altLang="en-US" sz="1400" b="0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19" name="曲线连接符 18"/>
          <p:cNvCxnSpPr/>
          <p:nvPr/>
        </p:nvCxnSpPr>
        <p:spPr bwMode="auto">
          <a:xfrm>
            <a:off x="2400300" y="4572000"/>
            <a:ext cx="1798320" cy="454025"/>
          </a:xfrm>
          <a:prstGeom prst="curvedConnector3">
            <a:avLst>
              <a:gd name="adj1" fmla="val 50035"/>
            </a:avLst>
          </a:prstGeom>
          <a:gradFill rotWithShape="1">
            <a:gsLst>
              <a:gs pos="0">
                <a:srgbClr val="000080">
                  <a:gamma/>
                  <a:shade val="46275"/>
                  <a:invGamma/>
                </a:srgbClr>
              </a:gs>
              <a:gs pos="100000">
                <a:srgbClr val="000080"/>
              </a:gs>
            </a:gsLst>
            <a:lin ang="5400000" scaled="1"/>
          </a:gradFill>
          <a:ln w="25400" cap="flat" cmpd="sng" algn="ctr">
            <a:solidFill>
              <a:srgbClr val="92D050"/>
            </a:solidFill>
            <a:prstDash val="solid"/>
            <a:round/>
            <a:headEnd type="none" w="med" len="med"/>
            <a:tailEnd type="arrow"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表格边框样式属性 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33400" y="1676400"/>
            <a:ext cx="8534400" cy="6858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182880" marR="0" lvl="0" indent="-182880" algn="l" defTabSz="115887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语法： 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&lt;table  frame=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黑体" panose="02010609060101010101" charset="-122"/>
                <a:cs typeface="+mn-cs"/>
              </a:rPr>
              <a:t>”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 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黑体" panose="02010609060101010101" charset="-122"/>
                <a:cs typeface="+mn-cs"/>
              </a:rPr>
              <a:t>”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 rules=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黑体" panose="02010609060101010101" charset="-122"/>
                <a:cs typeface="+mn-cs"/>
              </a:rPr>
              <a:t>”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 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黑体" panose="02010609060101010101" charset="-122"/>
                <a:cs typeface="+mn-cs"/>
              </a:rPr>
              <a:t>”</a:t>
            </a:r>
            <a:r>
              <a:rPr lang="en-US" altLang="zh-CN" sz="1800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&gt; &lt;/table &gt;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  <a:p>
            <a:pPr marL="182880" marR="0" lvl="0" indent="-182880" algn="l" defTabSz="115887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      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frame: 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设置表格边框样式；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 rules: 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设置表格内部边框样式</a:t>
            </a:r>
          </a:p>
          <a:p>
            <a:pPr marL="182880" marR="0" lvl="0" indent="-182880" algn="l" defTabSz="115887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  <a:p>
            <a:pPr marL="182880" marR="0" lvl="0" indent="-182880" algn="l" defTabSz="115887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  <a:p>
            <a:pPr marL="182880" marR="0" lvl="0" indent="-182880" algn="l" defTabSz="115887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  <a:p>
            <a:pPr marL="182880" marR="0" lvl="0" indent="-182880" algn="l" defTabSz="115887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  <a:p>
            <a:pPr marL="182880" marR="0" lvl="0" indent="-182880" algn="l" defTabSz="115887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  <a:p>
            <a:pPr marL="182880" marR="0" lvl="0" indent="-182880" algn="l" defTabSz="115887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  <a:p>
            <a:pPr marL="182880" marR="0" lvl="0" indent="-182880" algn="l" defTabSz="115887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  <a:p>
            <a:pPr marL="182880" marR="0" lvl="0" indent="-182880" algn="l" defTabSz="115887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  <a:p>
            <a:pPr marL="182880" marR="0" lvl="0" indent="-182880" algn="l" defTabSz="115887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  <a:p>
            <a:pPr marL="182880" marR="0" lvl="0" indent="-182880" algn="l" defTabSz="115887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  <a:p>
            <a:pPr marL="182880" marR="0" lvl="0" indent="-182880" algn="l" defTabSz="115887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  <a:p>
            <a:pPr marL="182880" marR="0" lvl="0" indent="-182880" algn="l" defTabSz="115887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  <a:p>
            <a:pPr marL="182880" marR="0" lvl="0" indent="-182880" algn="l" defTabSz="115887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					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H5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废弃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rules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属性</a:t>
            </a:r>
          </a:p>
          <a:p>
            <a:pPr marL="182880" marR="0" lvl="0" indent="-182880" algn="l" defTabSz="1158875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2000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Char char="l"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graphicFrame>
        <p:nvGraphicFramePr>
          <p:cNvPr id="5" name="Group 259"/>
          <p:cNvGraphicFramePr/>
          <p:nvPr>
            <p:custDataLst>
              <p:tags r:id="rId1"/>
            </p:custDataLst>
          </p:nvPr>
        </p:nvGraphicFramePr>
        <p:xfrm>
          <a:off x="624840" y="2613660"/>
          <a:ext cx="8153400" cy="279273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895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4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6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66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Verdana" panose="020B0604030504040204" pitchFamily="34" charset="0"/>
                        </a:rPr>
                        <a:t>frame</a:t>
                      </a:r>
                      <a:r>
                        <a:rPr kumimoji="0" lang="zh-CN" altLang="en-US" sz="15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Verdana" panose="020B0604030504040204" pitchFamily="34" charset="0"/>
                        </a:rPr>
                        <a:t>属性值</a:t>
                      </a:r>
                      <a:endParaRPr kumimoji="0" lang="zh-CN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Verdana" panose="020B0604030504040204" pitchFamily="34" charset="0"/>
                        </a:rPr>
                        <a:t>说明</a:t>
                      </a:r>
                      <a:endParaRPr kumimoji="0" lang="zh-CN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Verdana" panose="020B0604030504040204" pitchFamily="34" charset="0"/>
                        </a:rPr>
                        <a:t>rules</a:t>
                      </a:r>
                      <a:r>
                        <a:rPr kumimoji="0" lang="zh-CN" altLang="en-US" sz="15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Verdana" panose="020B0604030504040204" pitchFamily="34" charset="0"/>
                        </a:rPr>
                        <a:t>属性值</a:t>
                      </a:r>
                      <a:endParaRPr kumimoji="0" lang="zh-CN" alt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Verdana" panose="020B0604030504040204" pitchFamily="34" charset="0"/>
                        </a:rPr>
                        <a:t>说明</a:t>
                      </a:r>
                      <a:endParaRPr kumimoji="0" lang="zh-CN" alt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Verdana" panose="020B0604030504040204" pitchFamily="34" charset="0"/>
                        </a:rPr>
                        <a:t>above</a:t>
                      </a:r>
                      <a:endParaRPr kumimoji="0" lang="en-US" altLang="zh-CN" sz="1500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Verdana" panose="020B0604030504040204" pitchFamily="34" charset="0"/>
                        </a:rPr>
                        <a:t>显示上边框</a:t>
                      </a:r>
                      <a:endParaRPr kumimoji="0" lang="zh-CN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Verdana" panose="020B0604030504040204" pitchFamily="34" charset="0"/>
                        </a:rPr>
                        <a:t>all</a:t>
                      </a:r>
                      <a:endParaRPr kumimoji="0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Verdana" panose="020B0604030504040204" pitchFamily="34" charset="0"/>
                        </a:rPr>
                        <a:t>显示所有内部边框</a:t>
                      </a:r>
                      <a:endParaRPr kumimoji="0" lang="zh-CN" alt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Verdana" panose="020B0604030504040204" pitchFamily="34" charset="0"/>
                        </a:rPr>
                        <a:t>below</a:t>
                      </a:r>
                      <a:endParaRPr kumimoji="0" lang="en-US" altLang="zh-CN" sz="1500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Verdana" panose="020B0604030504040204" pitchFamily="34" charset="0"/>
                        </a:rPr>
                        <a:t>显示下边框</a:t>
                      </a:r>
                      <a:endParaRPr kumimoji="0" lang="zh-CN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Verdana" panose="020B0604030504040204" pitchFamily="34" charset="0"/>
                        </a:rPr>
                        <a:t>none</a:t>
                      </a:r>
                      <a:endParaRPr kumimoji="0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Verdana" panose="020B0604030504040204" pitchFamily="34" charset="0"/>
                        </a:rPr>
                        <a:t>不显示内部边框</a:t>
                      </a:r>
                      <a:endParaRPr kumimoji="0" lang="zh-CN" alt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Verdana" panose="020B0604030504040204" pitchFamily="34" charset="0"/>
                        </a:rPr>
                        <a:t>hsides</a:t>
                      </a:r>
                      <a:endParaRPr kumimoji="0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T="34290" marB="34290" anchor="ctr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Verdana" panose="020B0604030504040204" pitchFamily="34" charset="0"/>
                        </a:rPr>
                        <a:t>显示上下边框</a:t>
                      </a:r>
                      <a:endParaRPr kumimoji="0" lang="zh-CN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Verdana" panose="020B0604030504040204" pitchFamily="34" charset="0"/>
                        </a:rPr>
                        <a:t>rows</a:t>
                      </a:r>
                      <a:endParaRPr kumimoji="0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T="34290" marB="34290" anchor="ctr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Verdana" panose="020B0604030504040204" pitchFamily="34" charset="0"/>
                        </a:rPr>
                        <a:t>仅显示行边框</a:t>
                      </a:r>
                      <a:endParaRPr kumimoji="0" lang="zh-CN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Verdana" panose="020B0604030504040204" pitchFamily="34" charset="0"/>
                        </a:rPr>
                        <a:t>vsides</a:t>
                      </a:r>
                      <a:endParaRPr kumimoji="0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T="34290" marB="34290" anchor="ctr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Verdana" panose="020B0604030504040204" pitchFamily="34" charset="0"/>
                        </a:rPr>
                        <a:t>显示左右边框</a:t>
                      </a:r>
                      <a:endParaRPr kumimoji="0" lang="zh-CN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Verdana" panose="020B0604030504040204" pitchFamily="34" charset="0"/>
                        </a:rPr>
                        <a:t>cols</a:t>
                      </a:r>
                      <a:endParaRPr kumimoji="0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T="34290" marB="34290" anchor="ctr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Verdana" panose="020B0604030504040204" pitchFamily="34" charset="0"/>
                        </a:rPr>
                        <a:t>仅显示列边框</a:t>
                      </a:r>
                      <a:endParaRPr kumimoji="0" lang="zh-CN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Verdana" panose="020B0604030504040204" pitchFamily="34" charset="0"/>
                        </a:rPr>
                        <a:t>lhs</a:t>
                      </a:r>
                      <a:endParaRPr kumimoji="0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T="34290" marB="34290" anchor="ctr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Verdana" panose="020B0604030504040204" pitchFamily="34" charset="0"/>
                        </a:rPr>
                        <a:t>显示左边框</a:t>
                      </a:r>
                      <a:endParaRPr kumimoji="0" lang="zh-CN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Verdana" panose="020B0604030504040204" pitchFamily="34" charset="0"/>
                        </a:rPr>
                        <a:t>groups</a:t>
                      </a:r>
                      <a:endParaRPr kumimoji="0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Verdana" panose="020B0604030504040204" pitchFamily="34" charset="0"/>
                        </a:rPr>
                        <a:t>显示介于行列间边框</a:t>
                      </a:r>
                      <a:endParaRPr kumimoji="0" lang="zh-CN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502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Verdana" panose="020B0604030504040204" pitchFamily="34" charset="0"/>
                        </a:rPr>
                        <a:t>rhs</a:t>
                      </a:r>
                      <a:endParaRPr kumimoji="0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T="34290" marB="34290" anchor="ctr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Verdana" panose="020B0604030504040204" pitchFamily="34" charset="0"/>
                        </a:rPr>
                        <a:t>显示右边框</a:t>
                      </a:r>
                      <a:endParaRPr kumimoji="0" lang="zh-CN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44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Verdana" panose="020B0604030504040204" pitchFamily="34" charset="0"/>
                        </a:rPr>
                        <a:t>border</a:t>
                      </a:r>
                      <a:endParaRPr kumimoji="0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Verdana" panose="020B0604030504040204" pitchFamily="34" charset="0"/>
                        </a:rPr>
                        <a:t>显示上下、左右边框</a:t>
                      </a:r>
                      <a:endParaRPr kumimoji="0" lang="zh-CN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Verdana" panose="020B0604030504040204" pitchFamily="34" charset="0"/>
                        </a:rPr>
                        <a:t>void</a:t>
                      </a:r>
                      <a:endParaRPr kumimoji="0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T="34290" marB="34290" anchor="ctr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Verdana" panose="020B0604030504040204" pitchFamily="34" charset="0"/>
                        </a:rPr>
                        <a:t>不显示边框</a:t>
                      </a:r>
                      <a:endParaRPr kumimoji="0" lang="zh-CN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Verdana" panose="020B0604030504040204" pitchFamily="34" charset="0"/>
                      </a:endParaRPr>
                    </a:p>
                  </a:txBody>
                  <a:tcPr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表格边框样式属性</a:t>
            </a:r>
            <a:r>
              <a:rPr lang="en-US" altLang="zh-CN" dirty="0"/>
              <a:t>-</a:t>
            </a:r>
            <a:r>
              <a:rPr lang="zh-CN" altLang="en-US" dirty="0"/>
              <a:t>案例 </a:t>
            </a:r>
          </a:p>
        </p:txBody>
      </p:sp>
      <p:sp>
        <p:nvSpPr>
          <p:cNvPr id="6" name="矩形 5"/>
          <p:cNvSpPr/>
          <p:nvPr/>
        </p:nvSpPr>
        <p:spPr>
          <a:xfrm>
            <a:off x="533400" y="1655445"/>
            <a:ext cx="8183245" cy="470281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400" dirty="0"/>
              <a:t>&lt;table </a:t>
            </a:r>
            <a:r>
              <a:rPr lang="en-US" altLang="zh-CN" sz="1400" dirty="0">
                <a:solidFill>
                  <a:srgbClr val="FF0000"/>
                </a:solidFill>
              </a:rPr>
              <a:t>border="2"</a:t>
            </a:r>
            <a:r>
              <a:rPr lang="en-US" altLang="zh-CN" sz="1400" dirty="0"/>
              <a:t> </a:t>
            </a:r>
            <a:r>
              <a:rPr lang="en-US" altLang="zh-CN" sz="1400" dirty="0" err="1"/>
              <a:t>bordercolor</a:t>
            </a:r>
            <a:r>
              <a:rPr lang="en-US" altLang="zh-CN" sz="1400" dirty="0"/>
              <a:t>="#00cccc" width="400px" height="120px" frame="</a:t>
            </a:r>
            <a:r>
              <a:rPr lang="en-US" altLang="zh-CN" sz="1400" dirty="0" err="1"/>
              <a:t>hsides</a:t>
            </a:r>
            <a:r>
              <a:rPr lang="en-US" altLang="zh-CN" sz="1400" dirty="0"/>
              <a:t>" rules="all"&gt;</a:t>
            </a:r>
          </a:p>
          <a:p>
            <a:pPr>
              <a:lnSpc>
                <a:spcPts val="1400"/>
              </a:lnSpc>
            </a:pPr>
            <a:r>
              <a:rPr lang="en-US" altLang="zh-CN" sz="1400" dirty="0"/>
              <a:t>&lt;caption&gt;&lt;b&gt;</a:t>
            </a:r>
            <a:r>
              <a:rPr lang="zh-CN" altLang="en-US" sz="1400" dirty="0"/>
              <a:t>表格边框样式定义</a:t>
            </a:r>
            <a:r>
              <a:rPr lang="en-US" altLang="zh-CN" sz="1400" dirty="0"/>
              <a:t>&lt;/b&gt;&lt;/caption&gt;</a:t>
            </a:r>
          </a:p>
          <a:p>
            <a:pPr>
              <a:lnSpc>
                <a:spcPts val="1400"/>
              </a:lnSpc>
            </a:pPr>
            <a:r>
              <a:rPr lang="en-US" altLang="zh-CN" sz="1400" dirty="0"/>
              <a:t>&lt;</a:t>
            </a:r>
            <a:r>
              <a:rPr lang="en-US" altLang="zh-CN" sz="1400" dirty="0" err="1"/>
              <a:t>tr</a:t>
            </a:r>
            <a:r>
              <a:rPr lang="en-US" altLang="zh-CN" sz="1400" dirty="0"/>
              <a:t>&gt;</a:t>
            </a:r>
          </a:p>
          <a:p>
            <a:pPr indent="536575">
              <a:lnSpc>
                <a:spcPts val="1400"/>
              </a:lnSpc>
            </a:pPr>
            <a:r>
              <a:rPr lang="en-US" altLang="zh-CN" sz="1400" dirty="0"/>
              <a:t>&lt;</a:t>
            </a:r>
            <a:r>
              <a:rPr lang="en-US" altLang="zh-CN" sz="1400" dirty="0" err="1"/>
              <a:t>th</a:t>
            </a:r>
            <a:r>
              <a:rPr lang="en-US" altLang="zh-CN" sz="1400" dirty="0"/>
              <a:t>&gt;</a:t>
            </a:r>
            <a:r>
              <a:rPr lang="zh-CN" altLang="en-US" sz="1400" dirty="0"/>
              <a:t>姓名 </a:t>
            </a:r>
            <a:r>
              <a:rPr lang="en-US" altLang="zh-CN" sz="1400" dirty="0"/>
              <a:t>&lt;/</a:t>
            </a:r>
            <a:r>
              <a:rPr lang="en-US" altLang="zh-CN" sz="1400" dirty="0" err="1"/>
              <a:t>th</a:t>
            </a:r>
            <a:r>
              <a:rPr lang="en-US" altLang="zh-CN" sz="1400" dirty="0"/>
              <a:t>&gt;</a:t>
            </a:r>
          </a:p>
          <a:p>
            <a:pPr indent="536575">
              <a:lnSpc>
                <a:spcPts val="1400"/>
              </a:lnSpc>
            </a:pPr>
            <a:r>
              <a:rPr lang="en-US" altLang="zh-CN" sz="1400" dirty="0"/>
              <a:t>&lt;</a:t>
            </a:r>
            <a:r>
              <a:rPr lang="en-US" altLang="zh-CN" sz="1400" dirty="0" err="1"/>
              <a:t>th</a:t>
            </a:r>
            <a:r>
              <a:rPr lang="en-US" altLang="zh-CN" sz="1400" dirty="0"/>
              <a:t>&gt;</a:t>
            </a:r>
            <a:r>
              <a:rPr lang="zh-CN" altLang="en-US" sz="1400" dirty="0"/>
              <a:t>院系名称 </a:t>
            </a:r>
            <a:r>
              <a:rPr lang="en-US" altLang="zh-CN" sz="1400" dirty="0"/>
              <a:t>&lt;/</a:t>
            </a:r>
            <a:r>
              <a:rPr lang="en-US" altLang="zh-CN" sz="1400" dirty="0" err="1"/>
              <a:t>th</a:t>
            </a:r>
            <a:r>
              <a:rPr lang="en-US" altLang="zh-CN" sz="1400" dirty="0"/>
              <a:t>&gt;</a:t>
            </a:r>
          </a:p>
          <a:p>
            <a:pPr indent="536575">
              <a:lnSpc>
                <a:spcPts val="1400"/>
              </a:lnSpc>
            </a:pPr>
            <a:r>
              <a:rPr lang="en-US" altLang="zh-CN" sz="1400" dirty="0"/>
              <a:t>&lt;</a:t>
            </a:r>
            <a:r>
              <a:rPr lang="en-US" altLang="zh-CN" sz="1400" dirty="0" err="1"/>
              <a:t>th</a:t>
            </a:r>
            <a:r>
              <a:rPr lang="en-US" altLang="zh-CN" sz="1400" dirty="0"/>
              <a:t>&gt;</a:t>
            </a:r>
            <a:r>
              <a:rPr lang="zh-CN" altLang="en-US" sz="1400" dirty="0"/>
              <a:t>班级</a:t>
            </a:r>
            <a:r>
              <a:rPr lang="en-US" altLang="zh-CN" sz="1400" dirty="0"/>
              <a:t>&lt;/</a:t>
            </a:r>
            <a:r>
              <a:rPr lang="en-US" altLang="zh-CN" sz="1400" dirty="0" err="1"/>
              <a:t>th</a:t>
            </a:r>
            <a:r>
              <a:rPr lang="en-US" altLang="zh-CN" sz="1400" dirty="0"/>
              <a:t>&gt;</a:t>
            </a:r>
          </a:p>
          <a:p>
            <a:pPr>
              <a:lnSpc>
                <a:spcPts val="1400"/>
              </a:lnSpc>
            </a:pPr>
            <a:r>
              <a:rPr lang="en-US" altLang="zh-CN" sz="1400" dirty="0"/>
              <a:t>&lt;/</a:t>
            </a:r>
            <a:r>
              <a:rPr lang="en-US" altLang="zh-CN" sz="1400" dirty="0" err="1"/>
              <a:t>tr</a:t>
            </a:r>
            <a:r>
              <a:rPr lang="en-US" altLang="zh-CN" sz="1400" dirty="0"/>
              <a:t>&gt;</a:t>
            </a:r>
          </a:p>
          <a:p>
            <a:r>
              <a:rPr lang="en-US" altLang="zh-CN" sz="1600" dirty="0"/>
              <a:t>……</a:t>
            </a:r>
          </a:p>
          <a:p>
            <a:endParaRPr lang="en-US" altLang="zh-CN" sz="1400" dirty="0"/>
          </a:p>
          <a:p>
            <a:endParaRPr lang="en-US" altLang="zh-CN" sz="1400" dirty="0"/>
          </a:p>
          <a:p>
            <a:endParaRPr lang="en-US" altLang="zh-CN" sz="1400" dirty="0"/>
          </a:p>
          <a:p>
            <a:endParaRPr lang="en-US" altLang="zh-CN" sz="1400" dirty="0"/>
          </a:p>
          <a:p>
            <a:endParaRPr lang="en-US" altLang="zh-CN" sz="1400" dirty="0"/>
          </a:p>
          <a:p>
            <a:endParaRPr lang="en-US" altLang="zh-CN" sz="1400" dirty="0"/>
          </a:p>
          <a:p>
            <a:endParaRPr lang="en-US" altLang="zh-CN" sz="1400" dirty="0"/>
          </a:p>
          <a:p>
            <a:endParaRPr lang="en-US" altLang="zh-CN" sz="1400" dirty="0"/>
          </a:p>
          <a:p>
            <a:endParaRPr lang="en-US" altLang="zh-CN" sz="1400" dirty="0"/>
          </a:p>
          <a:p>
            <a:endParaRPr lang="en-US" altLang="zh-CN" sz="1400" dirty="0"/>
          </a:p>
          <a:p>
            <a:endParaRPr lang="en-US" altLang="zh-CN" sz="1400" dirty="0"/>
          </a:p>
          <a:p>
            <a:endParaRPr lang="en-US" altLang="zh-CN" sz="1400" dirty="0"/>
          </a:p>
          <a:p>
            <a:endParaRPr lang="en-US" altLang="zh-CN" sz="1400" dirty="0"/>
          </a:p>
          <a:p>
            <a:r>
              <a:rPr lang="zh-CN" altLang="en-US" sz="2000" dirty="0"/>
              <a:t>关于三线表</a:t>
            </a:r>
          </a:p>
        </p:txBody>
      </p:sp>
      <p:pic>
        <p:nvPicPr>
          <p:cNvPr id="16385" name="Picture 1"/>
          <p:cNvPicPr>
            <a:picLocks noChangeAspect="1" noChangeArrowheads="1"/>
          </p:cNvPicPr>
          <p:nvPr/>
        </p:nvPicPr>
        <p:blipFill>
          <a:blip r:embed="rId2" cstate="print"/>
          <a:srcRect t="34465"/>
          <a:stretch>
            <a:fillRect/>
          </a:stretch>
        </p:blipFill>
        <p:spPr bwMode="auto">
          <a:xfrm>
            <a:off x="1684020" y="3303270"/>
            <a:ext cx="6290310" cy="240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zh-CN" dirty="0"/>
              <a:t>表格单元格间距、单元格边距属性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33401" y="1657350"/>
            <a:ext cx="8534399" cy="222885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182880" marR="0" lvl="0" indent="-182880" algn="l" defTabSz="1158875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2000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基本语法：</a:t>
            </a:r>
          </a:p>
          <a:p>
            <a:pPr marL="182880" lvl="0" indent="-182880" defTabSz="1158875">
              <a:spcBef>
                <a:spcPct val="30000"/>
              </a:spcBef>
              <a:spcAft>
                <a:spcPct val="20000"/>
              </a:spcAft>
              <a:buClr>
                <a:srgbClr val="0000CC"/>
              </a:buClr>
              <a:buSzPct val="100000"/>
            </a:pP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      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&lt;table </a:t>
            </a: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cellspacing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=“5px” </a:t>
            </a: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cellpadding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=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黑体" panose="02010609060101010101" charset="-122"/>
                <a:cs typeface="+mn-cs"/>
              </a:rPr>
              <a:t>“5px”</a:t>
            </a:r>
            <a:r>
              <a:rPr lang="en-US" altLang="zh-CN" sz="1800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&gt;  &lt;/table &gt;</a:t>
            </a:r>
          </a:p>
          <a:p>
            <a:pPr marL="182880" marR="0" lvl="0" indent="-182880" algn="l" defTabSz="1158875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2000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    </a:t>
            </a:r>
            <a:r>
              <a:rPr kumimoji="0" lang="en-US" altLang="zh-CN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cellspacing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: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设置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表格的单元格和单元格之间的间距，默认值是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2px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，使得表格布局不会显得过于紧凑。</a:t>
            </a:r>
          </a:p>
          <a:p>
            <a:pPr marL="182880" marR="0" lvl="0" indent="-182880" algn="l" defTabSz="1158875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2000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    </a:t>
            </a:r>
            <a:r>
              <a:rPr kumimoji="0" lang="en-US" altLang="zh-CN" b="1" i="0" u="none" strike="noStrike" kern="0" cap="none" spc="0" normalizeH="0" baseline="0" noProof="0" dirty="0" err="1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cellpadding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: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设置单元的内容与边框的距离。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grpSp>
        <p:nvGrpSpPr>
          <p:cNvPr id="5" name="Group 13"/>
          <p:cNvGrpSpPr/>
          <p:nvPr/>
        </p:nvGrpSpPr>
        <p:grpSpPr bwMode="auto">
          <a:xfrm>
            <a:off x="3076575" y="4343401"/>
            <a:ext cx="4391025" cy="814388"/>
            <a:chOff x="930" y="3022"/>
            <a:chExt cx="1950" cy="590"/>
          </a:xfrm>
        </p:grpSpPr>
        <p:sp>
          <p:nvSpPr>
            <p:cNvPr id="6" name="Rectangle 4"/>
            <p:cNvSpPr>
              <a:spLocks noChangeArrowheads="1"/>
            </p:cNvSpPr>
            <p:nvPr/>
          </p:nvSpPr>
          <p:spPr bwMode="gray">
            <a:xfrm>
              <a:off x="930" y="3022"/>
              <a:ext cx="952" cy="590"/>
            </a:xfrm>
            <a:prstGeom prst="rect">
              <a:avLst/>
            </a:prstGeom>
            <a:solidFill>
              <a:srgbClr val="0000FA"/>
            </a:solidFill>
            <a:ln w="38100" algn="ctr">
              <a:solidFill>
                <a:schemeClr val="bg1"/>
              </a:solidFill>
              <a:miter lim="800000"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7" name="Rectangle 5"/>
            <p:cNvSpPr>
              <a:spLocks noChangeArrowheads="1"/>
            </p:cNvSpPr>
            <p:nvPr/>
          </p:nvSpPr>
          <p:spPr bwMode="gray">
            <a:xfrm>
              <a:off x="2109" y="3022"/>
              <a:ext cx="771" cy="590"/>
            </a:xfrm>
            <a:prstGeom prst="rect">
              <a:avLst/>
            </a:prstGeom>
            <a:solidFill>
              <a:srgbClr val="0000FA"/>
            </a:solidFill>
            <a:ln w="38100" algn="ctr">
              <a:solidFill>
                <a:srgbClr val="3333FF"/>
              </a:solidFill>
              <a:miter lim="800000"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8" name="Rectangle 6"/>
          <p:cNvSpPr>
            <a:spLocks noChangeArrowheads="1"/>
          </p:cNvSpPr>
          <p:nvPr/>
        </p:nvSpPr>
        <p:spPr bwMode="gray">
          <a:xfrm>
            <a:off x="6096000" y="4686301"/>
            <a:ext cx="1008062" cy="270272"/>
          </a:xfrm>
          <a:prstGeom prst="rect">
            <a:avLst/>
          </a:prstGeom>
          <a:solidFill>
            <a:srgbClr val="25C30B"/>
          </a:solidFill>
          <a:ln w="38100" algn="ctr">
            <a:noFill/>
            <a:miter lim="800000"/>
          </a:ln>
        </p:spPr>
        <p:txBody>
          <a:bodyPr wrap="none" anchor="ctr"/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ea typeface="黑体" panose="02010609060101010101" charset="-122"/>
              </a:rPr>
              <a:t>高等数学</a:t>
            </a:r>
          </a:p>
        </p:txBody>
      </p:sp>
      <p:sp>
        <p:nvSpPr>
          <p:cNvPr id="15" name="AutoShape 12"/>
          <p:cNvSpPr>
            <a:spLocks noChangeArrowheads="1"/>
          </p:cNvSpPr>
          <p:nvPr/>
        </p:nvSpPr>
        <p:spPr bwMode="gray">
          <a:xfrm>
            <a:off x="1219201" y="4375546"/>
            <a:ext cx="1152525" cy="729854"/>
          </a:xfrm>
          <a:prstGeom prst="wedgeRoundRectCallout">
            <a:avLst>
              <a:gd name="adj1" fmla="val 111686"/>
              <a:gd name="adj2" fmla="val 17486"/>
              <a:gd name="adj3" fmla="val 16667"/>
            </a:avLst>
          </a:prstGeom>
          <a:solidFill>
            <a:srgbClr val="3333FF"/>
          </a:solidFill>
          <a:ln w="38100" algn="ctr">
            <a:solidFill>
              <a:srgbClr val="3333FF"/>
            </a:solidFill>
            <a:miter lim="800000"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CN" b="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lang="zh-CN" altLang="en-US" b="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这是单元格</a:t>
            </a:r>
            <a:endParaRPr lang="en-US" altLang="zh-CN" b="0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2617470" y="2701925"/>
            <a:ext cx="3097530" cy="1871345"/>
            <a:chOff x="3941618" y="1589880"/>
            <a:chExt cx="1620982" cy="3364708"/>
          </a:xfrm>
        </p:grpSpPr>
        <p:cxnSp>
          <p:nvCxnSpPr>
            <p:cNvPr id="20" name="直接箭头连接符 19"/>
            <p:cNvCxnSpPr/>
            <p:nvPr/>
          </p:nvCxnSpPr>
          <p:spPr bwMode="auto">
            <a:xfrm>
              <a:off x="5309384" y="4940887"/>
              <a:ext cx="253216" cy="13701"/>
            </a:xfrm>
            <a:prstGeom prst="straightConnector1">
              <a:avLst/>
            </a:prstGeom>
            <a:gradFill rotWithShape="1">
              <a:gsLst>
                <a:gs pos="0">
                  <a:srgbClr val="000080">
                    <a:gamma/>
                    <a:shade val="46275"/>
                    <a:invGamma/>
                  </a:srgbClr>
                </a:gs>
                <a:gs pos="100000">
                  <a:srgbClr val="000080"/>
                </a:gs>
              </a:gsLst>
              <a:lin ang="5400000" scaled="1"/>
            </a:gradFill>
            <a:ln w="25400" cap="flat" cmpd="sng" algn="ctr">
              <a:solidFill>
                <a:srgbClr val="FF0000"/>
              </a:solidFill>
              <a:prstDash val="solid"/>
              <a:round/>
              <a:headEnd type="arrow"/>
              <a:tailEnd type="arrow"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</p:cxnSp>
        <p:cxnSp>
          <p:nvCxnSpPr>
            <p:cNvPr id="22" name="曲线连接符 21"/>
            <p:cNvCxnSpPr/>
            <p:nvPr/>
          </p:nvCxnSpPr>
          <p:spPr bwMode="auto">
            <a:xfrm>
              <a:off x="3941618" y="1589880"/>
              <a:ext cx="1316259" cy="3287070"/>
            </a:xfrm>
            <a:prstGeom prst="curvedConnector3">
              <a:avLst>
                <a:gd name="adj1" fmla="val 50013"/>
              </a:avLst>
            </a:prstGeom>
            <a:gradFill rotWithShape="1">
              <a:gsLst>
                <a:gs pos="0">
                  <a:srgbClr val="000080">
                    <a:gamma/>
                    <a:shade val="46275"/>
                    <a:invGamma/>
                  </a:srgbClr>
                </a:gs>
                <a:gs pos="100000">
                  <a:srgbClr val="000080"/>
                </a:gs>
              </a:gsLst>
              <a:lin ang="5400000" scaled="1"/>
            </a:gra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</p:cxnSp>
      </p:grpSp>
      <p:grpSp>
        <p:nvGrpSpPr>
          <p:cNvPr id="30" name="组合 29"/>
          <p:cNvGrpSpPr/>
          <p:nvPr/>
        </p:nvGrpSpPr>
        <p:grpSpPr>
          <a:xfrm>
            <a:off x="5715000" y="2590800"/>
            <a:ext cx="381000" cy="2286000"/>
            <a:chOff x="5715000" y="1733550"/>
            <a:chExt cx="381000" cy="2286000"/>
          </a:xfrm>
        </p:grpSpPr>
        <p:cxnSp>
          <p:nvCxnSpPr>
            <p:cNvPr id="19" name="直接箭头连接符 18"/>
            <p:cNvCxnSpPr/>
            <p:nvPr/>
          </p:nvCxnSpPr>
          <p:spPr bwMode="auto">
            <a:xfrm>
              <a:off x="5715000" y="4019550"/>
              <a:ext cx="381000" cy="0"/>
            </a:xfrm>
            <a:prstGeom prst="straightConnector1">
              <a:avLst/>
            </a:prstGeom>
            <a:gradFill rotWithShape="1">
              <a:gsLst>
                <a:gs pos="0">
                  <a:srgbClr val="000080">
                    <a:gamma/>
                    <a:shade val="46275"/>
                    <a:invGamma/>
                  </a:srgbClr>
                </a:gs>
                <a:gs pos="100000">
                  <a:srgbClr val="000080"/>
                </a:gs>
              </a:gsLst>
              <a:lin ang="5400000" scaled="1"/>
            </a:gradFill>
            <a:ln w="25400" cap="flat" cmpd="sng" algn="ctr">
              <a:solidFill>
                <a:srgbClr val="FFFFFF"/>
              </a:solidFill>
              <a:prstDash val="solid"/>
              <a:round/>
              <a:headEnd type="arrow"/>
              <a:tailEnd type="arrow"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</p:cxnSp>
        <p:cxnSp>
          <p:nvCxnSpPr>
            <p:cNvPr id="24" name="曲线连接符 23"/>
            <p:cNvCxnSpPr/>
            <p:nvPr/>
          </p:nvCxnSpPr>
          <p:spPr bwMode="auto">
            <a:xfrm rot="16200000" flipH="1">
              <a:off x="4738198" y="2786552"/>
              <a:ext cx="2266950" cy="160946"/>
            </a:xfrm>
            <a:prstGeom prst="curvedConnector3">
              <a:avLst>
                <a:gd name="adj1" fmla="val 50000"/>
              </a:avLst>
            </a:prstGeom>
            <a:gradFill rotWithShape="1">
              <a:gsLst>
                <a:gs pos="0">
                  <a:srgbClr val="000080">
                    <a:gamma/>
                    <a:shade val="46275"/>
                    <a:invGamma/>
                  </a:srgbClr>
                </a:gs>
                <a:gs pos="100000">
                  <a:srgbClr val="000080"/>
                </a:gs>
              </a:gsLst>
              <a:lin ang="5400000" scaled="1"/>
            </a:gradFill>
            <a:ln w="254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arrow"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</p:cxnSp>
      </p:grp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dirty="0"/>
              <a:t>表格单元格间距、边距属性设置</a:t>
            </a:r>
            <a:r>
              <a:rPr lang="en-US" altLang="zh-CN" dirty="0"/>
              <a:t>-</a:t>
            </a:r>
            <a:r>
              <a:rPr lang="zh-CN" altLang="en-US" dirty="0"/>
              <a:t>案例</a:t>
            </a:r>
          </a:p>
        </p:txBody>
      </p:sp>
      <p:sp>
        <p:nvSpPr>
          <p:cNvPr id="33794" name="Rectangle 3"/>
          <p:cNvSpPr>
            <a:spLocks noGrp="1" noChangeArrowheads="1"/>
          </p:cNvSpPr>
          <p:nvPr>
            <p:ph idx="1"/>
          </p:nvPr>
        </p:nvSpPr>
        <p:spPr>
          <a:xfrm>
            <a:off x="365760" y="1609090"/>
            <a:ext cx="8412480" cy="3905250"/>
          </a:xfrm>
        </p:spPr>
        <p:txBody>
          <a:bodyPr/>
          <a:lstStyle/>
          <a:p>
            <a: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&lt;body&gt;</a:t>
            </a:r>
          </a:p>
          <a:p>
            <a: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&lt;table width="500" border="4" </a:t>
            </a:r>
            <a:r>
              <a:rPr lang="en-US" altLang="zh-CN" sz="1600" dirty="0" err="1">
                <a:ea typeface="宋体" panose="02010600030101010101" pitchFamily="2" charset="-122"/>
              </a:rPr>
              <a:t>cellspacing</a:t>
            </a:r>
            <a:r>
              <a:rPr lang="en-US" altLang="zh-CN" sz="1600" dirty="0">
                <a:ea typeface="宋体" panose="02010600030101010101" pitchFamily="2" charset="-122"/>
              </a:rPr>
              <a:t>="50px" </a:t>
            </a:r>
            <a:r>
              <a:rPr lang="en-US" altLang="zh-CN" sz="1600" dirty="0" err="1">
                <a:ea typeface="宋体" panose="02010600030101010101" pitchFamily="2" charset="-122"/>
              </a:rPr>
              <a:t>cellpadding</a:t>
            </a:r>
            <a:r>
              <a:rPr lang="en-US" altLang="zh-CN" sz="1600" dirty="0">
                <a:ea typeface="宋体" panose="02010600030101010101" pitchFamily="2" charset="-122"/>
              </a:rPr>
              <a:t>="50px" </a:t>
            </a:r>
            <a:r>
              <a:rPr lang="en-US" altLang="zh-CN" sz="1600" dirty="0" err="1">
                <a:ea typeface="宋体" panose="02010600030101010101" pitchFamily="2" charset="-122"/>
              </a:rPr>
              <a:t>bgcolor</a:t>
            </a:r>
            <a:r>
              <a:rPr lang="en-US" altLang="zh-CN" sz="1600" dirty="0">
                <a:ea typeface="宋体" panose="02010600030101010101" pitchFamily="2" charset="-122"/>
              </a:rPr>
              <a:t>="#9966ff"&gt;    </a:t>
            </a:r>
          </a:p>
          <a:p>
            <a: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  &lt;</a:t>
            </a:r>
            <a:r>
              <a:rPr lang="en-US" altLang="zh-CN" sz="1600" dirty="0" err="1">
                <a:ea typeface="宋体" panose="02010600030101010101" pitchFamily="2" charset="-122"/>
              </a:rPr>
              <a:t>tr</a:t>
            </a:r>
            <a:r>
              <a:rPr lang="en-US" altLang="zh-CN" sz="1600" dirty="0">
                <a:ea typeface="宋体" panose="02010600030101010101" pitchFamily="2" charset="-122"/>
              </a:rPr>
              <a:t>&gt;</a:t>
            </a:r>
          </a:p>
          <a:p>
            <a: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    &lt;td&gt;&lt;strong&gt;</a:t>
            </a:r>
            <a:r>
              <a:rPr lang="zh-CN" altLang="en-US" sz="1600" dirty="0">
                <a:ea typeface="宋体" panose="02010600030101010101" pitchFamily="2" charset="-122"/>
              </a:rPr>
              <a:t>高等数学</a:t>
            </a:r>
            <a:r>
              <a:rPr lang="en-US" altLang="zh-CN" sz="1600" dirty="0">
                <a:ea typeface="宋体" panose="02010600030101010101" pitchFamily="2" charset="-122"/>
              </a:rPr>
              <a:t>&lt;/strong&gt;&lt;/td&gt;</a:t>
            </a:r>
          </a:p>
          <a:p>
            <a: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    &lt;td&gt;&lt;strong&gt;</a:t>
            </a:r>
            <a:r>
              <a:rPr lang="zh-CN" altLang="en-US" sz="1600" dirty="0">
                <a:ea typeface="宋体" panose="02010600030101010101" pitchFamily="2" charset="-122"/>
              </a:rPr>
              <a:t>大学英语</a:t>
            </a:r>
            <a:r>
              <a:rPr lang="en-US" altLang="zh-CN" sz="1600" dirty="0">
                <a:ea typeface="宋体" panose="02010600030101010101" pitchFamily="2" charset="-122"/>
              </a:rPr>
              <a:t>&lt;/strong&gt;&lt;/td&gt;	 </a:t>
            </a:r>
          </a:p>
          <a:p>
            <a: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  &lt;/</a:t>
            </a:r>
            <a:r>
              <a:rPr lang="en-US" altLang="zh-CN" sz="1600" dirty="0" err="1">
                <a:ea typeface="宋体" panose="02010600030101010101" pitchFamily="2" charset="-122"/>
              </a:rPr>
              <a:t>tr</a:t>
            </a:r>
            <a:r>
              <a:rPr lang="en-US" altLang="zh-CN" sz="1600" dirty="0">
                <a:ea typeface="宋体" panose="02010600030101010101" pitchFamily="2" charset="-122"/>
              </a:rPr>
              <a:t>&gt;</a:t>
            </a:r>
          </a:p>
          <a:p>
            <a: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&lt;/table&gt; </a:t>
            </a:r>
          </a:p>
          <a:p>
            <a: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&lt;/body&gt;</a:t>
            </a:r>
          </a:p>
          <a:p>
            <a: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600" dirty="0">
              <a:ea typeface="宋体" panose="02010600030101010101" pitchFamily="2" charset="-122"/>
            </a:endParaRPr>
          </a:p>
        </p:txBody>
      </p:sp>
      <p:pic>
        <p:nvPicPr>
          <p:cNvPr id="8" name="图片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47"/>
          <a:stretch>
            <a:fillRect/>
          </a:stretch>
        </p:blipFill>
        <p:spPr bwMode="auto">
          <a:xfrm>
            <a:off x="2236470" y="3701415"/>
            <a:ext cx="4531360" cy="2411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表格水平对齐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3400" y="1668066"/>
            <a:ext cx="4285343" cy="3792140"/>
          </a:xfrm>
        </p:spPr>
        <p:txBody>
          <a:bodyPr/>
          <a:lstStyle/>
          <a:p>
            <a:pPr marL="342900" indent="-34290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/>
              <a:t>……</a:t>
            </a:r>
          </a:p>
          <a:p>
            <a:pPr marL="342900" indent="-34290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/>
              <a:t>&lt;body&gt;</a:t>
            </a:r>
          </a:p>
          <a:p>
            <a:pPr marL="342900" indent="-34290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/>
              <a:t>&lt;div id="div1" class=""&gt;	</a:t>
            </a:r>
          </a:p>
          <a:p>
            <a:pPr marL="342900" indent="-34290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>
                <a:solidFill>
                  <a:srgbClr val="FF0000"/>
                </a:solidFill>
              </a:rPr>
              <a:t>&lt;table align="left"  border="2"&gt;</a:t>
            </a:r>
          </a:p>
          <a:p>
            <a:pPr marL="342900" indent="-34290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/>
              <a:t>  &lt;</a:t>
            </a:r>
            <a:r>
              <a:rPr lang="en-US" altLang="zh-CN" sz="1400" dirty="0" err="1"/>
              <a:t>csaption</a:t>
            </a:r>
            <a:r>
              <a:rPr lang="en-US" altLang="zh-CN" sz="1400" dirty="0"/>
              <a:t>&gt;</a:t>
            </a:r>
            <a:r>
              <a:rPr lang="zh-CN" altLang="en-US" sz="1400" dirty="0"/>
              <a:t>学生信息表</a:t>
            </a:r>
            <a:r>
              <a:rPr lang="en-US" altLang="zh-CN" sz="1400" dirty="0"/>
              <a:t>(</a:t>
            </a:r>
            <a:r>
              <a:rPr lang="zh-CN" altLang="en-US" sz="1400" dirty="0"/>
              <a:t>左对齐</a:t>
            </a:r>
            <a:r>
              <a:rPr lang="en-US" altLang="zh-CN" sz="1400" dirty="0"/>
              <a:t>)&lt;/caption&gt;</a:t>
            </a:r>
          </a:p>
          <a:p>
            <a:pPr marL="342900" indent="-34290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/>
              <a:t>  &lt;</a:t>
            </a:r>
            <a:r>
              <a:rPr lang="en-US" altLang="zh-CN" sz="1400" dirty="0" err="1"/>
              <a:t>tr</a:t>
            </a:r>
            <a:r>
              <a:rPr lang="en-US" altLang="zh-CN" sz="1400" dirty="0"/>
              <a:t>&gt;</a:t>
            </a:r>
          </a:p>
          <a:p>
            <a:pPr marL="342900" indent="-34290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/>
              <a:t>    &lt;td&gt;</a:t>
            </a:r>
            <a:r>
              <a:rPr lang="zh-CN" altLang="en-US" sz="1400" dirty="0"/>
              <a:t>王小品 </a:t>
            </a:r>
            <a:r>
              <a:rPr lang="en-US" altLang="zh-CN" sz="1400" dirty="0"/>
              <a:t>&lt;/td&gt;</a:t>
            </a:r>
          </a:p>
          <a:p>
            <a:pPr marL="342900" indent="-34290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/>
              <a:t>    &lt;td&gt;</a:t>
            </a:r>
            <a:r>
              <a:rPr lang="zh-CN" altLang="en-US" sz="1400" dirty="0"/>
              <a:t>商学院 </a:t>
            </a:r>
            <a:r>
              <a:rPr lang="en-US" altLang="zh-CN" sz="1400" dirty="0"/>
              <a:t>&lt;/td&gt;</a:t>
            </a:r>
          </a:p>
          <a:p>
            <a:pPr marL="342900" indent="-34290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/>
              <a:t>    &lt;td&gt;110204&lt;/td&gt;</a:t>
            </a:r>
          </a:p>
          <a:p>
            <a:pPr marL="342900" indent="-34290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/>
              <a:t>  &lt;/</a:t>
            </a:r>
            <a:r>
              <a:rPr lang="en-US" altLang="zh-CN" sz="1400" dirty="0" err="1"/>
              <a:t>tr</a:t>
            </a:r>
            <a:r>
              <a:rPr lang="en-US" altLang="zh-CN" sz="1400" dirty="0"/>
              <a:t>&gt;</a:t>
            </a:r>
          </a:p>
          <a:p>
            <a:pPr marL="342900" indent="-34290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/>
              <a:t>  &lt;</a:t>
            </a:r>
            <a:r>
              <a:rPr lang="en-US" altLang="zh-CN" sz="1400" dirty="0" err="1"/>
              <a:t>tr</a:t>
            </a:r>
            <a:r>
              <a:rPr lang="en-US" altLang="zh-CN" sz="1400" dirty="0"/>
              <a:t>&gt;</a:t>
            </a:r>
          </a:p>
          <a:p>
            <a:pPr marL="342900" indent="-34290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/>
              <a:t>    &lt;td&gt;</a:t>
            </a:r>
            <a:r>
              <a:rPr lang="zh-CN" altLang="en-US" sz="1400" dirty="0"/>
              <a:t>李白 </a:t>
            </a:r>
            <a:r>
              <a:rPr lang="en-US" altLang="zh-CN" sz="1400" dirty="0"/>
              <a:t>&lt;/td&gt;</a:t>
            </a:r>
          </a:p>
          <a:p>
            <a:pPr marL="342900" indent="-34290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/>
              <a:t>    &lt;td&gt;</a:t>
            </a:r>
            <a:r>
              <a:rPr lang="zh-CN" altLang="en-US" sz="1400" dirty="0"/>
              <a:t>机械学院 </a:t>
            </a:r>
            <a:r>
              <a:rPr lang="en-US" altLang="zh-CN" sz="1400" dirty="0"/>
              <a:t>&lt;/td&gt;</a:t>
            </a:r>
          </a:p>
          <a:p>
            <a:pPr marL="342900" indent="-34290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/>
              <a:t>    &lt;td&gt;100244&lt;/td&gt;</a:t>
            </a:r>
          </a:p>
          <a:p>
            <a:pPr marL="342900" indent="-34290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/>
              <a:t>  &lt;/</a:t>
            </a:r>
            <a:r>
              <a:rPr lang="en-US" altLang="zh-CN" sz="1400" dirty="0" err="1"/>
              <a:t>tr</a:t>
            </a:r>
            <a:r>
              <a:rPr lang="en-US" altLang="zh-CN" sz="1400" dirty="0"/>
              <a:t>&gt; </a:t>
            </a:r>
          </a:p>
          <a:p>
            <a:pPr marL="342900" indent="-34290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/>
              <a:t>&lt;/table&gt;</a:t>
            </a:r>
          </a:p>
          <a:p>
            <a:pPr marL="342900" indent="-34290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/>
              <a:t>&lt;/div&gt;</a:t>
            </a:r>
          </a:p>
          <a:p>
            <a:pPr marL="342900" indent="-34290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/>
              <a:t>……</a:t>
            </a:r>
          </a:p>
        </p:txBody>
      </p:sp>
      <p:sp>
        <p:nvSpPr>
          <p:cNvPr id="5" name="矩形 4"/>
          <p:cNvSpPr/>
          <p:nvPr/>
        </p:nvSpPr>
        <p:spPr>
          <a:xfrm>
            <a:off x="5029200" y="1752600"/>
            <a:ext cx="403860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&lt;table </a:t>
            </a:r>
            <a:r>
              <a:rPr lang="en-US" altLang="zh-CN" sz="16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align=</a:t>
            </a:r>
            <a:r>
              <a:rPr lang="en-US" altLang="zh-CN" sz="1600" dirty="0"/>
              <a:t>"</a:t>
            </a:r>
            <a:r>
              <a:rPr lang="en-US" altLang="zh-CN" sz="16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center</a:t>
            </a:r>
            <a:r>
              <a:rPr lang="en-US" altLang="zh-CN" sz="1600" dirty="0"/>
              <a:t>"</a:t>
            </a:r>
            <a:r>
              <a:rPr lang="en-US" altLang="zh-CN" sz="1600" b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</a:t>
            </a: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border=</a:t>
            </a:r>
            <a:r>
              <a:rPr lang="en-US" altLang="zh-CN" sz="1600" dirty="0"/>
              <a:t>"</a:t>
            </a: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</a:t>
            </a:r>
            <a:r>
              <a:rPr lang="en-US" altLang="zh-CN" sz="1600" dirty="0"/>
              <a:t>"</a:t>
            </a: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 &lt;/table&gt; </a:t>
            </a:r>
            <a:endParaRPr lang="zh-CN" altLang="en-US" b="0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 t="29379"/>
          <a:stretch>
            <a:fillRect/>
          </a:stretch>
        </p:blipFill>
        <p:spPr bwMode="auto">
          <a:xfrm>
            <a:off x="3387725" y="3579495"/>
            <a:ext cx="5608320" cy="2731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ChangeArrowheads="1"/>
          </p:cNvSpPr>
          <p:nvPr>
            <p:ph type="title"/>
          </p:nvPr>
        </p:nvSpPr>
        <p:spPr>
          <a:xfrm>
            <a:off x="443865" y="423545"/>
            <a:ext cx="7761288" cy="567929"/>
          </a:xfrm>
        </p:spPr>
        <p:txBody>
          <a:bodyPr>
            <a:normAutofit/>
          </a:bodyPr>
          <a:lstStyle/>
          <a:p>
            <a:r>
              <a:rPr lang="zh-CN" altLang="en-US" dirty="0"/>
              <a:t>设置表格行的属性 </a:t>
            </a:r>
          </a:p>
        </p:txBody>
      </p:sp>
      <p:sp>
        <p:nvSpPr>
          <p:cNvPr id="122883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894205"/>
            <a:ext cx="8534400" cy="8382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ea typeface="宋体" panose="02010600030101010101" pitchFamily="2" charset="-122"/>
              </a:rPr>
              <a:t>      </a:t>
            </a:r>
            <a:r>
              <a:rPr lang="zh-CN" altLang="en-US" sz="1800" dirty="0">
                <a:ea typeface="宋体" panose="02010600030101010101" pitchFamily="2" charset="-122"/>
              </a:rPr>
              <a:t>   </a:t>
            </a:r>
            <a:r>
              <a:rPr lang="zh-CN" altLang="en-US" sz="1800" b="0" dirty="0"/>
              <a:t>表格行</a:t>
            </a:r>
            <a:r>
              <a:rPr lang="en-US" altLang="zh-CN" sz="1800" b="0" dirty="0" err="1"/>
              <a:t>tr</a:t>
            </a:r>
            <a:r>
              <a:rPr lang="zh-CN" altLang="en-US" sz="1800" b="0" dirty="0"/>
              <a:t>标记的属性用于设置表格某一行的样式</a:t>
            </a:r>
          </a:p>
        </p:txBody>
      </p:sp>
      <p:graphicFrame>
        <p:nvGraphicFramePr>
          <p:cNvPr id="37919" name="Group 3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43865" y="3171190"/>
          <a:ext cx="8229600" cy="139065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653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5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2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87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5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属性值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说明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属性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说明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4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align</a:t>
                      </a:r>
                      <a:endParaRPr kumimoji="0" lang="zh-CN" altLang="zh-CN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01750" algn="r"/>
                        </a:tabLst>
                      </a:pPr>
                      <a:r>
                        <a:rPr kumimoji="0" lang="zh-CN" altLang="en-US" sz="15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行内容水平对齐</a:t>
                      </a:r>
                      <a:endParaRPr kumimoji="0" lang="zh-CN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bordercolor</a:t>
                      </a:r>
                      <a:endParaRPr kumimoji="0" lang="zh-CN" altLang="zh-CN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行的边框颜色</a:t>
                      </a:r>
                      <a:endParaRPr kumimoji="0" lang="zh-CN" alt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6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valign</a:t>
                      </a:r>
                      <a:endParaRPr kumimoji="0" lang="zh-CN" altLang="zh-CN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行内容垂直对齐</a:t>
                      </a:r>
                      <a:endParaRPr kumimoji="0" lang="zh-CN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bordercolorlight</a:t>
                      </a:r>
                      <a:endParaRPr kumimoji="0" lang="zh-CN" altLang="zh-CN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行的亮边框颜色</a:t>
                      </a:r>
                      <a:endParaRPr kumimoji="0" lang="zh-CN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bgcolor</a:t>
                      </a:r>
                      <a:endParaRPr kumimoji="0" lang="zh-CN" altLang="zh-CN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行的背景颜色</a:t>
                      </a:r>
                      <a:endParaRPr kumimoji="0" lang="zh-CN" alt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bordercolordark</a:t>
                      </a:r>
                      <a:endParaRPr kumimoji="0" lang="zh-CN" altLang="zh-CN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行的暗边框颜色</a:t>
                      </a:r>
                      <a:endParaRPr kumimoji="0" lang="zh-CN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表格行的属性</a:t>
            </a:r>
            <a:r>
              <a:rPr lang="en-US" altLang="zh-CN" dirty="0"/>
              <a:t>-</a:t>
            </a:r>
            <a:r>
              <a:rPr lang="zh-CN" altLang="en-US" dirty="0"/>
              <a:t>设置 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gray">
          <a:xfrm>
            <a:off x="1865313" y="2482454"/>
            <a:ext cx="309880" cy="368300"/>
          </a:xfrm>
          <a:prstGeom prst="rect">
            <a:avLst/>
          </a:prstGeom>
          <a:noFill/>
          <a:ln w="38100" algn="ctr">
            <a:noFill/>
            <a:miter lim="800000"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5" name="Group 4"/>
          <p:cNvGraphicFramePr>
            <a:graphicFrameLocks noGrp="1"/>
          </p:cNvGraphicFramePr>
          <p:nvPr/>
        </p:nvGraphicFramePr>
        <p:xfrm>
          <a:off x="1865313" y="2482453"/>
          <a:ext cx="5414645" cy="342900"/>
        </p:xfrm>
        <a:graphic>
          <a:graphicData uri="http://schemas.openxmlformats.org/drawingml/2006/table">
            <a:tbl>
              <a:tblPr/>
              <a:tblGrid>
                <a:gridCol w="5414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微软雅黑" panose="020B0503020204020204" charset="-122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 Box 10"/>
          <p:cNvSpPr txBox="1">
            <a:spLocks noChangeArrowheads="1"/>
          </p:cNvSpPr>
          <p:nvPr/>
        </p:nvSpPr>
        <p:spPr bwMode="gray">
          <a:xfrm>
            <a:off x="533400" y="1642571"/>
            <a:ext cx="8534400" cy="1753235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zh-CN" dirty="0">
                <a:latin typeface="微软雅黑" panose="020B0503020204020204" charset="-122"/>
                <a:ea typeface="微软雅黑" panose="020B0503020204020204" charset="-122"/>
              </a:rPr>
              <a:t>表格行内容水平对齐的属性</a:t>
            </a: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&lt;</a:t>
            </a:r>
            <a:r>
              <a:rPr lang="en-US" altLang="zh-CN" sz="180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tr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align="left | center | right"&gt; &lt;/</a:t>
            </a:r>
            <a:r>
              <a:rPr lang="en-US" altLang="zh-CN" sz="180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tr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&gt;</a:t>
            </a:r>
            <a:endParaRPr lang="zh-CN" altLang="zh-CN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zh-CN" dirty="0">
                <a:latin typeface="微软雅黑" panose="020B0503020204020204" charset="-122"/>
                <a:ea typeface="微软雅黑" panose="020B0503020204020204" charset="-122"/>
              </a:rPr>
              <a:t>表格行内容垂直对齐的属性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&lt;</a:t>
            </a:r>
            <a:r>
              <a:rPr lang="en-US" altLang="zh-CN" sz="180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tr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80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valign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="top | middle | bottom"&gt;&lt;/</a:t>
            </a:r>
            <a:r>
              <a:rPr lang="en-US" altLang="zh-CN" sz="180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tr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&gt;</a:t>
            </a:r>
            <a:endParaRPr lang="en-US" altLang="zh-CN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例：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&lt;</a:t>
            </a:r>
            <a:r>
              <a:rPr lang="en-US" altLang="zh-CN" sz="180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tr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align=“</a:t>
            </a:r>
            <a:r>
              <a:rPr lang="en-US" altLang="zh-CN" sz="180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left”valign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=“middle”&gt; &lt;/</a:t>
            </a:r>
            <a:r>
              <a:rPr lang="en-US" altLang="zh-CN" sz="180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tr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&gt;</a:t>
            </a:r>
          </a:p>
        </p:txBody>
      </p:sp>
      <p:sp>
        <p:nvSpPr>
          <p:cNvPr id="7" name="Rectangle 11"/>
          <p:cNvSpPr>
            <a:spLocks noChangeArrowheads="1"/>
          </p:cNvSpPr>
          <p:nvPr/>
        </p:nvSpPr>
        <p:spPr bwMode="gray">
          <a:xfrm>
            <a:off x="1619251" y="4191000"/>
            <a:ext cx="4629150" cy="1216819"/>
          </a:xfrm>
          <a:prstGeom prst="rect">
            <a:avLst/>
          </a:prstGeom>
          <a:solidFill>
            <a:schemeClr val="tx1"/>
          </a:solidFill>
          <a:ln w="38100" algn="ctr">
            <a:solidFill>
              <a:schemeClr val="bg1"/>
            </a:solidFill>
            <a:miter lim="800000"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Web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前端开发技术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15290"/>
            <a:ext cx="7761288" cy="625079"/>
          </a:xfrm>
        </p:spPr>
        <p:txBody>
          <a:bodyPr>
            <a:normAutofit/>
          </a:bodyPr>
          <a:lstStyle/>
          <a:p>
            <a:r>
              <a:rPr lang="zh-CN" altLang="en-US" dirty="0"/>
              <a:t>设置表格行的属性</a:t>
            </a:r>
            <a:r>
              <a:rPr lang="en-US" altLang="zh-CN" dirty="0"/>
              <a:t>-</a:t>
            </a:r>
            <a:r>
              <a:rPr lang="zh-CN" altLang="en-US" dirty="0"/>
              <a:t>案例</a:t>
            </a:r>
            <a:r>
              <a:rPr lang="en-US" altLang="zh-CN" dirty="0"/>
              <a:t> </a:t>
            </a:r>
          </a:p>
        </p:txBody>
      </p:sp>
      <p:sp>
        <p:nvSpPr>
          <p:cNvPr id="39941" name="Rectangle 5"/>
          <p:cNvSpPr>
            <a:spLocks noChangeArrowheads="1"/>
          </p:cNvSpPr>
          <p:nvPr/>
        </p:nvSpPr>
        <p:spPr bwMode="auto">
          <a:xfrm>
            <a:off x="533400" y="1699895"/>
            <a:ext cx="7712075" cy="47593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dirty="0"/>
              <a:t>&lt;body&gt;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dirty="0"/>
              <a:t>  &lt;table border="1" width="450px" height="240px" align="center" </a:t>
            </a:r>
            <a:r>
              <a:rPr lang="en-US" altLang="zh-CN" sz="1400" dirty="0" err="1"/>
              <a:t>bordercolor</a:t>
            </a:r>
            <a:r>
              <a:rPr lang="en-US" altLang="zh-CN" sz="1400" dirty="0"/>
              <a:t>="#6600ff"&gt;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dirty="0"/>
              <a:t>    &lt;caption&gt;&lt;b&gt;</a:t>
            </a:r>
            <a:r>
              <a:rPr lang="zh-CN" altLang="en-US" sz="1400" dirty="0"/>
              <a:t>学生信息表</a:t>
            </a:r>
            <a:r>
              <a:rPr lang="en-US" altLang="zh-CN" sz="1400" dirty="0"/>
              <a:t>(</a:t>
            </a:r>
            <a:r>
              <a:rPr lang="zh-CN" altLang="en-US" sz="1400" dirty="0"/>
              <a:t>设置表行内容对齐方式</a:t>
            </a:r>
            <a:r>
              <a:rPr lang="en-US" altLang="zh-CN" sz="1400" dirty="0"/>
              <a:t>)&lt;/b&gt;&lt;/caption&gt;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dirty="0"/>
              <a:t>    &lt;</a:t>
            </a:r>
            <a:r>
              <a:rPr lang="en-US" altLang="zh-CN" sz="1400" dirty="0" err="1"/>
              <a:t>tr</a:t>
            </a:r>
            <a:r>
              <a:rPr lang="en-US" altLang="zh-CN" sz="1400" dirty="0"/>
              <a:t> &gt;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dirty="0"/>
              <a:t>      &lt;</a:t>
            </a:r>
            <a:r>
              <a:rPr lang="en-US" altLang="zh-CN" sz="1400" dirty="0" err="1"/>
              <a:t>th</a:t>
            </a:r>
            <a:r>
              <a:rPr lang="en-US" altLang="zh-CN" sz="1400" dirty="0"/>
              <a:t>&gt;</a:t>
            </a:r>
            <a:r>
              <a:rPr lang="zh-CN" altLang="en-US" sz="1400" dirty="0"/>
              <a:t>姓名 </a:t>
            </a:r>
            <a:r>
              <a:rPr lang="en-US" altLang="zh-CN" sz="1400" dirty="0"/>
              <a:t>&lt;/</a:t>
            </a:r>
            <a:r>
              <a:rPr lang="en-US" altLang="zh-CN" sz="1400" dirty="0" err="1"/>
              <a:t>th</a:t>
            </a:r>
            <a:r>
              <a:rPr lang="en-US" altLang="zh-CN" sz="1400" dirty="0"/>
              <a:t>&gt;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dirty="0"/>
              <a:t>      &lt;</a:t>
            </a:r>
            <a:r>
              <a:rPr lang="en-US" altLang="zh-CN" sz="1400" dirty="0" err="1"/>
              <a:t>th</a:t>
            </a:r>
            <a:r>
              <a:rPr lang="en-US" altLang="zh-CN" sz="1400" dirty="0"/>
              <a:t>&gt;</a:t>
            </a:r>
            <a:r>
              <a:rPr lang="zh-CN" altLang="en-US" sz="1400" dirty="0"/>
              <a:t>院系名称 </a:t>
            </a:r>
            <a:r>
              <a:rPr lang="en-US" altLang="zh-CN" sz="1400" dirty="0"/>
              <a:t>&lt;/</a:t>
            </a:r>
            <a:r>
              <a:rPr lang="en-US" altLang="zh-CN" sz="1400" dirty="0" err="1"/>
              <a:t>th</a:t>
            </a:r>
            <a:r>
              <a:rPr lang="en-US" altLang="zh-CN" sz="1400" dirty="0"/>
              <a:t>&gt;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dirty="0"/>
              <a:t>      &lt;</a:t>
            </a:r>
            <a:r>
              <a:rPr lang="en-US" altLang="zh-CN" sz="1400" dirty="0" err="1"/>
              <a:t>th</a:t>
            </a:r>
            <a:r>
              <a:rPr lang="en-US" altLang="zh-CN" sz="1400" dirty="0"/>
              <a:t>&gt;</a:t>
            </a:r>
            <a:r>
              <a:rPr lang="zh-CN" altLang="en-US" sz="1400" dirty="0"/>
              <a:t>班级</a:t>
            </a:r>
            <a:r>
              <a:rPr lang="en-US" altLang="zh-CN" sz="1400" dirty="0"/>
              <a:t>&lt;/</a:t>
            </a:r>
            <a:r>
              <a:rPr lang="en-US" altLang="zh-CN" sz="1400" dirty="0" err="1"/>
              <a:t>th</a:t>
            </a:r>
            <a:r>
              <a:rPr lang="en-US" altLang="zh-CN" sz="1400" dirty="0"/>
              <a:t>&gt;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dirty="0"/>
              <a:t>    &lt;/</a:t>
            </a:r>
            <a:r>
              <a:rPr lang="en-US" altLang="zh-CN" sz="1400" dirty="0" err="1"/>
              <a:t>tr</a:t>
            </a:r>
            <a:r>
              <a:rPr lang="en-US" altLang="zh-CN" sz="1400" dirty="0"/>
              <a:t>&gt;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dirty="0"/>
              <a:t>    &lt;</a:t>
            </a:r>
            <a:r>
              <a:rPr lang="en-US" altLang="zh-CN" sz="1400" dirty="0" err="1"/>
              <a:t>tr</a:t>
            </a:r>
            <a:r>
              <a:rPr lang="en-US" altLang="zh-CN" sz="1400" dirty="0"/>
              <a:t>  align="left" </a:t>
            </a:r>
            <a:r>
              <a:rPr lang="en-US" altLang="zh-CN" sz="1400" dirty="0" err="1"/>
              <a:t>valign</a:t>
            </a:r>
            <a:r>
              <a:rPr lang="en-US" altLang="zh-CN" sz="1400" dirty="0"/>
              <a:t>="top"&gt;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dirty="0"/>
              <a:t>      &lt;td&gt;</a:t>
            </a:r>
            <a:r>
              <a:rPr lang="zh-CN" altLang="en-US" sz="1400" dirty="0"/>
              <a:t>王小品 </a:t>
            </a:r>
            <a:r>
              <a:rPr lang="en-US" altLang="zh-CN" sz="1400" dirty="0"/>
              <a:t>&lt;/td&gt;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dirty="0"/>
              <a:t>      &lt;td&gt;</a:t>
            </a:r>
            <a:r>
              <a:rPr lang="zh-CN" altLang="en-US" sz="1400" dirty="0"/>
              <a:t>商学院 </a:t>
            </a:r>
            <a:r>
              <a:rPr lang="en-US" altLang="zh-CN" sz="1400" dirty="0"/>
              <a:t>&lt;/td&gt;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dirty="0"/>
              <a:t>      &lt;td&gt;110204&lt;/td&gt;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dirty="0"/>
              <a:t>    &lt;/</a:t>
            </a:r>
            <a:r>
              <a:rPr lang="en-US" altLang="zh-CN" sz="1400" dirty="0" err="1"/>
              <a:t>tr</a:t>
            </a:r>
            <a:r>
              <a:rPr lang="en-US" altLang="zh-CN" sz="1400" dirty="0"/>
              <a:t>&gt;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dirty="0"/>
              <a:t>    &lt;</a:t>
            </a:r>
            <a:r>
              <a:rPr lang="en-US" altLang="zh-CN" sz="1400" dirty="0" err="1"/>
              <a:t>tr</a:t>
            </a:r>
            <a:r>
              <a:rPr lang="en-US" altLang="zh-CN" sz="1400" dirty="0"/>
              <a:t> align="center" </a:t>
            </a:r>
            <a:r>
              <a:rPr lang="en-US" altLang="zh-CN" sz="1400" dirty="0" err="1"/>
              <a:t>valign</a:t>
            </a:r>
            <a:r>
              <a:rPr lang="en-US" altLang="zh-CN" sz="1400" dirty="0"/>
              <a:t>="middle" &gt;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dirty="0"/>
              <a:t>      &lt;td&gt;</a:t>
            </a:r>
            <a:r>
              <a:rPr lang="zh-CN" altLang="en-US" sz="1400" dirty="0"/>
              <a:t>李白 </a:t>
            </a:r>
            <a:r>
              <a:rPr lang="en-US" altLang="zh-CN" sz="1400" dirty="0"/>
              <a:t>&lt;/td&gt;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400" dirty="0"/>
              <a:t>      &lt;td&gt;</a:t>
            </a:r>
            <a:r>
              <a:rPr lang="zh-CN" altLang="en-US" sz="1400" dirty="0"/>
              <a:t>机械学院 </a:t>
            </a:r>
            <a:r>
              <a:rPr lang="en-US" altLang="zh-CN" sz="1400" dirty="0"/>
              <a:t>&lt;/td&gt;</a:t>
            </a:r>
          </a:p>
          <a:p>
            <a:pPr>
              <a:lnSpc>
                <a:spcPts val="1400"/>
              </a:lnSpc>
            </a:pPr>
            <a:r>
              <a:rPr lang="en-US" altLang="zh-CN" sz="1400" dirty="0">
                <a:sym typeface="+mn-ea"/>
              </a:rPr>
              <a:t>     &lt;td&gt;100244&lt;/td&gt;</a:t>
            </a:r>
          </a:p>
          <a:p>
            <a:pPr>
              <a:lnSpc>
                <a:spcPts val="1400"/>
              </a:lnSpc>
            </a:pPr>
            <a:r>
              <a:rPr lang="en-US" altLang="zh-CN" sz="1400" dirty="0">
                <a:sym typeface="+mn-ea"/>
              </a:rPr>
              <a:t>    &lt;/tr&gt;</a:t>
            </a:r>
            <a:endParaRPr lang="en-US" altLang="zh-CN" sz="1400" dirty="0"/>
          </a:p>
          <a:p>
            <a:pPr>
              <a:lnSpc>
                <a:spcPts val="1400"/>
              </a:lnSpc>
            </a:pPr>
            <a:r>
              <a:rPr lang="en-US" altLang="zh-CN" sz="1400" dirty="0">
                <a:sym typeface="+mn-ea"/>
              </a:rPr>
              <a:t>    &lt;</a:t>
            </a:r>
            <a:r>
              <a:rPr lang="en-US" altLang="zh-CN" sz="1400" dirty="0" err="1">
                <a:sym typeface="+mn-ea"/>
              </a:rPr>
              <a:t>tr</a:t>
            </a:r>
            <a:r>
              <a:rPr lang="en-US" altLang="zh-CN" sz="1400" dirty="0">
                <a:sym typeface="+mn-ea"/>
              </a:rPr>
              <a:t> align="right" </a:t>
            </a:r>
            <a:r>
              <a:rPr lang="en-US" altLang="zh-CN" sz="1400" dirty="0" err="1">
                <a:sym typeface="+mn-ea"/>
              </a:rPr>
              <a:t>valign</a:t>
            </a:r>
            <a:r>
              <a:rPr lang="en-US" altLang="zh-CN" sz="1400" dirty="0">
                <a:sym typeface="+mn-ea"/>
              </a:rPr>
              <a:t>="bottom"&gt;</a:t>
            </a:r>
            <a:endParaRPr lang="en-US" altLang="zh-CN" sz="1400" dirty="0"/>
          </a:p>
          <a:p>
            <a:pPr>
              <a:lnSpc>
                <a:spcPts val="1400"/>
              </a:lnSpc>
            </a:pPr>
            <a:r>
              <a:rPr lang="en-US" altLang="zh-CN" sz="1400" dirty="0">
                <a:sym typeface="+mn-ea"/>
              </a:rPr>
              <a:t>      &lt;td&gt;</a:t>
            </a:r>
            <a:r>
              <a:rPr lang="zh-CN" altLang="en-US" sz="1400" dirty="0">
                <a:sym typeface="+mn-ea"/>
              </a:rPr>
              <a:t>林之 </a:t>
            </a:r>
            <a:r>
              <a:rPr lang="en-US" altLang="zh-CN" sz="1400" dirty="0">
                <a:sym typeface="+mn-ea"/>
              </a:rPr>
              <a:t>&lt;/td&gt;</a:t>
            </a:r>
            <a:endParaRPr lang="en-US" altLang="zh-CN" sz="1400" dirty="0"/>
          </a:p>
          <a:p>
            <a:pPr>
              <a:lnSpc>
                <a:spcPts val="1400"/>
              </a:lnSpc>
            </a:pPr>
            <a:r>
              <a:rPr lang="en-US" altLang="zh-CN" sz="1400" dirty="0">
                <a:sym typeface="+mn-ea"/>
              </a:rPr>
              <a:t>      &lt;td&gt;</a:t>
            </a:r>
            <a:r>
              <a:rPr lang="zh-CN" altLang="en-US" sz="1400" dirty="0">
                <a:sym typeface="+mn-ea"/>
              </a:rPr>
              <a:t>外语系 </a:t>
            </a:r>
            <a:r>
              <a:rPr lang="en-US" altLang="zh-CN" sz="1400" dirty="0">
                <a:sym typeface="+mn-ea"/>
              </a:rPr>
              <a:t>&lt;/td&gt;</a:t>
            </a:r>
            <a:endParaRPr lang="en-US" altLang="zh-CN" sz="1400" dirty="0"/>
          </a:p>
          <a:p>
            <a:pPr>
              <a:lnSpc>
                <a:spcPts val="1400"/>
              </a:lnSpc>
            </a:pPr>
            <a:r>
              <a:rPr lang="en-US" altLang="zh-CN" sz="1400" dirty="0">
                <a:sym typeface="+mn-ea"/>
              </a:rPr>
              <a:t>      &lt;td&gt;090101&lt;/td&gt;</a:t>
            </a:r>
            <a:endParaRPr lang="en-US" altLang="zh-CN" sz="1400" dirty="0"/>
          </a:p>
          <a:p>
            <a:pPr>
              <a:lnSpc>
                <a:spcPts val="1400"/>
              </a:lnSpc>
            </a:pPr>
            <a:r>
              <a:rPr lang="en-US" altLang="zh-CN" sz="1400" dirty="0">
                <a:sym typeface="+mn-ea"/>
              </a:rPr>
              <a:t>    &lt;/</a:t>
            </a:r>
            <a:r>
              <a:rPr lang="en-US" altLang="zh-CN" sz="1400" dirty="0" err="1">
                <a:sym typeface="+mn-ea"/>
              </a:rPr>
              <a:t>tr</a:t>
            </a:r>
            <a:r>
              <a:rPr lang="en-US" altLang="zh-CN" sz="1400" dirty="0">
                <a:sym typeface="+mn-ea"/>
              </a:rPr>
              <a:t>&gt;</a:t>
            </a:r>
          </a:p>
          <a:p>
            <a:pPr>
              <a:lnSpc>
                <a:spcPts val="1400"/>
              </a:lnSpc>
            </a:pPr>
            <a:r>
              <a:rPr lang="en-US" altLang="zh-CN" sz="1400" dirty="0">
                <a:sym typeface="+mn-ea"/>
              </a:rPr>
              <a:t>  &lt;/table&gt;</a:t>
            </a:r>
          </a:p>
          <a:p>
            <a:pPr>
              <a:lnSpc>
                <a:spcPts val="1400"/>
              </a:lnSpc>
            </a:pPr>
            <a:r>
              <a:rPr lang="en-US" altLang="zh-CN" sz="1400" dirty="0">
                <a:sym typeface="+mn-ea"/>
              </a:rPr>
              <a:t>&lt;/body&gt;</a:t>
            </a:r>
            <a:endParaRPr lang="en-US" altLang="zh-CN" sz="1400" dirty="0"/>
          </a:p>
          <a:p>
            <a:pPr>
              <a:lnSpc>
                <a:spcPts val="1400"/>
              </a:lnSpc>
              <a:spcBef>
                <a:spcPts val="0"/>
              </a:spcBef>
            </a:pPr>
            <a:endParaRPr lang="en-US" altLang="zh-CN" sz="1400" dirty="0"/>
          </a:p>
        </p:txBody>
      </p:sp>
      <p:pic>
        <p:nvPicPr>
          <p:cNvPr id="10241" name="Picture 1"/>
          <p:cNvPicPr>
            <a:picLocks noChangeAspect="1" noChangeArrowheads="1"/>
          </p:cNvPicPr>
          <p:nvPr/>
        </p:nvPicPr>
        <p:blipFill>
          <a:blip r:embed="rId2" cstate="print"/>
          <a:srcRect t="23220"/>
          <a:stretch>
            <a:fillRect/>
          </a:stretch>
        </p:blipFill>
        <p:spPr bwMode="auto">
          <a:xfrm>
            <a:off x="3851275" y="2769870"/>
            <a:ext cx="4900930" cy="2827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设置单元格的属性 </a:t>
            </a:r>
          </a:p>
        </p:txBody>
      </p:sp>
      <p:sp>
        <p:nvSpPr>
          <p:cNvPr id="128003" name="Rectangle 3"/>
          <p:cNvSpPr>
            <a:spLocks noGrp="1" noChangeArrowheads="1"/>
          </p:cNvSpPr>
          <p:nvPr>
            <p:ph idx="1"/>
          </p:nvPr>
        </p:nvSpPr>
        <p:spPr>
          <a:xfrm>
            <a:off x="641350" y="1373505"/>
            <a:ext cx="7999730" cy="124333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3600" dirty="0">
                <a:latin typeface="黑体" panose="02010609060101010101" charset="-122"/>
                <a:ea typeface="宋体" panose="02010600030101010101" pitchFamily="2" charset="-122"/>
              </a:rPr>
              <a:t>   </a:t>
            </a:r>
            <a:r>
              <a:rPr lang="zh-CN" altLang="en-US" sz="1600" dirty="0"/>
              <a:t>表格列标记</a:t>
            </a:r>
            <a:r>
              <a:rPr lang="en-US" altLang="zh-CN" sz="1600" dirty="0"/>
              <a:t>td</a:t>
            </a:r>
            <a:r>
              <a:rPr lang="zh-CN" altLang="en-US" sz="1600" dirty="0"/>
              <a:t>的属性可以设置表格单元格的显示风格。常用的属性如下表所示。单元格的颜色、边框和对齐属性与行</a:t>
            </a:r>
            <a:r>
              <a:rPr lang="en-US" altLang="zh-CN" sz="1600" dirty="0" err="1"/>
              <a:t>tr</a:t>
            </a:r>
            <a:r>
              <a:rPr lang="zh-CN" altLang="en-US" sz="1600" dirty="0"/>
              <a:t>标记一样。</a:t>
            </a:r>
            <a:endParaRPr lang="en-US" altLang="zh-CN" sz="1600" dirty="0">
              <a:latin typeface="黑体" panose="02010609060101010101" charset="-122"/>
              <a:ea typeface="宋体" panose="02010600030101010101" pitchFamily="2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40715" y="2990216"/>
          <a:ext cx="8001000" cy="2040255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468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0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9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25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146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属性值</a:t>
                      </a:r>
                      <a:endParaRPr lang="zh-CN" sz="16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说明</a:t>
                      </a:r>
                      <a:endParaRPr lang="zh-CN" sz="16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属性</a:t>
                      </a:r>
                      <a:endParaRPr lang="zh-CN" sz="16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说明</a:t>
                      </a:r>
                      <a:endParaRPr lang="zh-CN" sz="16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align</a:t>
                      </a:r>
                      <a:endParaRPr lang="zh-CN" sz="16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302385" algn="r"/>
                        </a:tabLst>
                      </a:pPr>
                      <a:r>
                        <a:rPr lang="zh-CN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单元格内容水平对齐</a:t>
                      </a:r>
                      <a:endParaRPr lang="zh-CN" sz="16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bordercolorlight</a:t>
                      </a:r>
                      <a:endParaRPr lang="zh-CN" sz="16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latin typeface="微软雅黑" panose="020B0503020204020204" charset="-122"/>
                          <a:ea typeface="微软雅黑" panose="020B0503020204020204" charset="-122"/>
                        </a:rPr>
                        <a:t>单元格的亮边框颜色</a:t>
                      </a:r>
                      <a:endParaRPr lang="zh-CN" sz="1600" kern="10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微软雅黑" panose="020B0503020204020204" charset="-122"/>
                          <a:ea typeface="微软雅黑" panose="020B0503020204020204" charset="-122"/>
                        </a:rPr>
                        <a:t>valign</a:t>
                      </a:r>
                      <a:endParaRPr lang="zh-CN" sz="1600" kern="10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单元格内容垂直对齐</a:t>
                      </a:r>
                      <a:endParaRPr lang="zh-CN" sz="16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bordercolordark</a:t>
                      </a:r>
                      <a:endParaRPr lang="zh-CN" sz="16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单元格的暗边框颜色</a:t>
                      </a:r>
                      <a:endParaRPr lang="zh-CN" sz="16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微软雅黑" panose="020B0503020204020204" charset="-122"/>
                          <a:ea typeface="微软雅黑" panose="020B0503020204020204" charset="-122"/>
                        </a:rPr>
                        <a:t>bgcolor</a:t>
                      </a:r>
                      <a:endParaRPr lang="zh-CN" sz="1600" kern="10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单元格的背景颜色</a:t>
                      </a:r>
                      <a:endParaRPr lang="zh-CN" sz="16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rowspan</a:t>
                      </a:r>
                      <a:endParaRPr lang="en-US" sz="1600" kern="100" dirty="0" err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单元格跨行</a:t>
                      </a:r>
                      <a:endParaRPr lang="zh-CN" sz="1600" kern="100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微软雅黑" panose="020B0503020204020204" charset="-122"/>
                          <a:ea typeface="微软雅黑" panose="020B0503020204020204" charset="-122"/>
                        </a:rPr>
                        <a:t>background</a:t>
                      </a:r>
                      <a:endParaRPr lang="zh-CN" sz="1600" kern="10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latin typeface="微软雅黑" panose="020B0503020204020204" charset="-122"/>
                          <a:ea typeface="微软雅黑" panose="020B0503020204020204" charset="-122"/>
                        </a:rPr>
                        <a:t>单元格背景图像</a:t>
                      </a:r>
                      <a:endParaRPr lang="zh-CN" sz="1600" kern="10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colspan</a:t>
                      </a:r>
                      <a:endParaRPr lang="en-US" sz="1600" kern="10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单元格跨列</a:t>
                      </a:r>
                      <a:endParaRPr lang="zh-CN" sz="1600" kern="100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微软雅黑" panose="020B0503020204020204" charset="-122"/>
                          <a:ea typeface="微软雅黑" panose="020B0503020204020204" charset="-122"/>
                        </a:rPr>
                        <a:t>bordercolor</a:t>
                      </a:r>
                      <a:endParaRPr lang="zh-CN" sz="1600" kern="10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latin typeface="微软雅黑" panose="020B0503020204020204" charset="-122"/>
                          <a:ea typeface="微软雅黑" panose="020B0503020204020204" charset="-122"/>
                        </a:rPr>
                        <a:t>单元格的边框颜色</a:t>
                      </a:r>
                      <a:endParaRPr lang="zh-CN" sz="1600" kern="10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微软雅黑" panose="020B0503020204020204" charset="-122"/>
                          <a:ea typeface="微软雅黑" panose="020B0503020204020204" charset="-122"/>
                        </a:rPr>
                        <a:t>width</a:t>
                      </a:r>
                      <a:endParaRPr lang="zh-CN" sz="1600" kern="10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单元格宽度</a:t>
                      </a:r>
                      <a:endParaRPr lang="zh-CN" sz="16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kern="10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n-US" sz="1600" kern="10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微软雅黑" panose="020B0503020204020204" charset="-122"/>
                          <a:ea typeface="微软雅黑" panose="020B0503020204020204" charset="-122"/>
                        </a:rPr>
                        <a:t>height</a:t>
                      </a:r>
                      <a:endParaRPr lang="zh-CN" sz="1600" kern="10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单元格高度</a:t>
                      </a:r>
                      <a:endParaRPr lang="zh-CN" sz="1600" kern="100" dirty="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设置单元格的属性</a:t>
            </a:r>
            <a:r>
              <a:rPr lang="en-US" altLang="zh-CN" dirty="0"/>
              <a:t>-</a:t>
            </a:r>
            <a:r>
              <a:rPr lang="zh-CN" altLang="en-US" dirty="0"/>
              <a:t>单元格跨行、列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33400" y="1657350"/>
            <a:ext cx="8534400" cy="177165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/>
          <a:lstStyle/>
          <a:p>
            <a:pPr marL="182880" indent="-182880" defTabSz="1158875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altLang="zh-CN" b="0" kern="0" dirty="0">
                <a:latin typeface="+mn-lt"/>
                <a:ea typeface="+mn-ea"/>
              </a:rPr>
              <a:t> </a:t>
            </a:r>
            <a:r>
              <a:rPr lang="en-US" altLang="zh-CN" b="0" kern="0" dirty="0">
                <a:latin typeface="黑体" panose="02010609060101010101" charset="-122"/>
                <a:ea typeface="黑体" panose="02010609060101010101" charset="-122"/>
              </a:rPr>
              <a:t>&lt;td&gt;</a:t>
            </a:r>
            <a:r>
              <a:rPr lang="zh-CN" altLang="en-US" b="0" kern="0" dirty="0">
                <a:latin typeface="黑体" panose="02010609060101010101" charset="-122"/>
                <a:ea typeface="黑体" panose="02010609060101010101" charset="-122"/>
              </a:rPr>
              <a:t>的属性用于设定表格中某一单元格的属性。</a:t>
            </a:r>
          </a:p>
          <a:p>
            <a:pPr marL="342900" indent="193675" defTabSz="1158875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zh-CN" altLang="en-US" b="0" kern="0" dirty="0">
                <a:latin typeface="黑体" panose="02010609060101010101" charset="-122"/>
                <a:ea typeface="黑体" panose="02010609060101010101" charset="-122"/>
              </a:rPr>
              <a:t> 单元格跨行</a:t>
            </a:r>
            <a:r>
              <a:rPr lang="en-US" altLang="zh-CN" b="0" kern="0" dirty="0" err="1">
                <a:latin typeface="黑体" panose="02010609060101010101" charset="-122"/>
                <a:ea typeface="黑体" panose="02010609060101010101" charset="-122"/>
              </a:rPr>
              <a:t>rowspan</a:t>
            </a:r>
            <a:r>
              <a:rPr lang="en-US" altLang="zh-CN" b="0" kern="0" dirty="0">
                <a:latin typeface="黑体" panose="02010609060101010101" charset="-122"/>
                <a:ea typeface="黑体" panose="02010609060101010101" charset="-122"/>
              </a:rPr>
              <a:t>(</a:t>
            </a:r>
            <a:r>
              <a:rPr lang="zh-CN" altLang="en-US" b="0" kern="0" dirty="0">
                <a:latin typeface="黑体" panose="02010609060101010101" charset="-122"/>
                <a:ea typeface="黑体" panose="02010609060101010101" charset="-122"/>
              </a:rPr>
              <a:t>跨行合并</a:t>
            </a:r>
            <a:r>
              <a:rPr lang="en-US" altLang="zh-CN" b="0" kern="0" dirty="0">
                <a:latin typeface="黑体" panose="02010609060101010101" charset="-122"/>
                <a:ea typeface="黑体" panose="02010609060101010101" charset="-122"/>
              </a:rPr>
              <a:t>-</a:t>
            </a:r>
            <a:r>
              <a:rPr lang="zh-CN" altLang="en-US" b="0" kern="0" dirty="0">
                <a:latin typeface="黑体" panose="02010609060101010101" charset="-122"/>
                <a:ea typeface="黑体" panose="02010609060101010101" charset="-122"/>
              </a:rPr>
              <a:t>纵向合并</a:t>
            </a:r>
            <a:r>
              <a:rPr lang="en-US" altLang="zh-CN" b="0" kern="0" dirty="0">
                <a:latin typeface="黑体" panose="02010609060101010101" charset="-122"/>
                <a:ea typeface="黑体" panose="02010609060101010101" charset="-122"/>
              </a:rPr>
              <a:t>)</a:t>
            </a:r>
          </a:p>
          <a:p>
            <a:pPr marL="342900" indent="193675" defTabSz="1158875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zh-CN" altLang="en-US" b="0" kern="0" dirty="0">
                <a:latin typeface="黑体" panose="02010609060101010101" charset="-122"/>
                <a:ea typeface="黑体" panose="02010609060101010101" charset="-122"/>
              </a:rPr>
              <a:t> 单元格跨列</a:t>
            </a:r>
            <a:r>
              <a:rPr lang="en-US" altLang="zh-CN" b="0" kern="0" dirty="0" err="1">
                <a:latin typeface="黑体" panose="02010609060101010101" charset="-122"/>
                <a:ea typeface="黑体" panose="02010609060101010101" charset="-122"/>
              </a:rPr>
              <a:t>colspan</a:t>
            </a:r>
            <a:r>
              <a:rPr lang="en-US" altLang="zh-CN" b="0" kern="0" dirty="0">
                <a:latin typeface="黑体" panose="02010609060101010101" charset="-122"/>
                <a:ea typeface="黑体" panose="02010609060101010101" charset="-122"/>
              </a:rPr>
              <a:t>(</a:t>
            </a:r>
            <a:r>
              <a:rPr lang="zh-CN" altLang="en-US" b="0" kern="0" dirty="0">
                <a:latin typeface="黑体" panose="02010609060101010101" charset="-122"/>
                <a:ea typeface="黑体" panose="02010609060101010101" charset="-122"/>
              </a:rPr>
              <a:t>跨列合并</a:t>
            </a:r>
            <a:r>
              <a:rPr lang="en-US" altLang="zh-CN" b="0" kern="0" dirty="0">
                <a:latin typeface="黑体" panose="02010609060101010101" charset="-122"/>
                <a:ea typeface="黑体" panose="02010609060101010101" charset="-122"/>
              </a:rPr>
              <a:t>-</a:t>
            </a:r>
            <a:r>
              <a:rPr lang="zh-CN" altLang="en-US" b="0" kern="0" dirty="0">
                <a:latin typeface="黑体" panose="02010609060101010101" charset="-122"/>
                <a:ea typeface="黑体" panose="02010609060101010101" charset="-122"/>
              </a:rPr>
              <a:t>横向合并</a:t>
            </a:r>
            <a:r>
              <a:rPr lang="en-US" altLang="zh-CN" b="0" kern="0" dirty="0">
                <a:latin typeface="黑体" panose="02010609060101010101" charset="-122"/>
                <a:ea typeface="黑体" panose="02010609060101010101" charset="-122"/>
              </a:rPr>
              <a:t>)</a:t>
            </a:r>
          </a:p>
          <a:p>
            <a:pPr marL="182880" indent="-182880" defTabSz="1158875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altLang="zh-CN" b="0" kern="0" dirty="0"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lang="zh-CN" altLang="en-US" b="0" kern="0" dirty="0">
                <a:latin typeface="黑体" panose="02010609060101010101" charset="-122"/>
                <a:ea typeface="黑体" panose="02010609060101010101" charset="-122"/>
              </a:rPr>
              <a:t>基本语法：</a:t>
            </a:r>
          </a:p>
          <a:p>
            <a:pPr marL="182880" indent="-182880" defTabSz="1158875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altLang="zh-CN" sz="1800" b="0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    &lt;td </a:t>
            </a:r>
            <a:r>
              <a:rPr lang="en-US" altLang="zh-CN" sz="1800" b="0" kern="0" dirty="0" err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rowspan</a:t>
            </a:r>
            <a:r>
              <a:rPr lang="en-US" altLang="zh-CN" sz="1800" b="0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=</a:t>
            </a:r>
            <a:r>
              <a:rPr lang="en-US" altLang="zh-CN" sz="1800" b="0" kern="0" dirty="0">
                <a:solidFill>
                  <a:srgbClr val="FF0000"/>
                </a:solidFill>
                <a:latin typeface="+mn-lt"/>
                <a:ea typeface="黑体" panose="02010609060101010101" charset="-122"/>
              </a:rPr>
              <a:t>“</a:t>
            </a:r>
            <a:r>
              <a:rPr lang="en-US" altLang="zh-CN" sz="1800" b="0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3</a:t>
            </a:r>
            <a:r>
              <a:rPr lang="en-US" altLang="zh-CN" sz="1800" b="0" kern="0" dirty="0">
                <a:solidFill>
                  <a:srgbClr val="FF0000"/>
                </a:solidFill>
                <a:latin typeface="+mn-lt"/>
                <a:ea typeface="黑体" panose="02010609060101010101" charset="-122"/>
              </a:rPr>
              <a:t>”</a:t>
            </a:r>
            <a:r>
              <a:rPr lang="en-US" altLang="zh-CN" sz="1800" b="0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&gt;</a:t>
            </a:r>
            <a:r>
              <a:rPr lang="en-US" altLang="zh-CN" sz="1800" b="0" kern="0" dirty="0">
                <a:solidFill>
                  <a:srgbClr val="FF0000"/>
                </a:solidFill>
                <a:latin typeface="+mn-lt"/>
                <a:ea typeface="黑体" panose="02010609060101010101" charset="-122"/>
              </a:rPr>
              <a:t>…</a:t>
            </a:r>
            <a:r>
              <a:rPr lang="en-US" altLang="zh-CN" sz="1800" b="0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&lt;/td&gt;      &lt;td </a:t>
            </a:r>
            <a:r>
              <a:rPr lang="en-US" altLang="zh-CN" sz="1800" b="0" kern="0" dirty="0" err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colspan</a:t>
            </a:r>
            <a:r>
              <a:rPr lang="en-US" altLang="zh-CN" sz="1800" b="0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=</a:t>
            </a:r>
            <a:r>
              <a:rPr lang="en-US" altLang="zh-CN" sz="1800" b="0" kern="0" dirty="0">
                <a:solidFill>
                  <a:srgbClr val="FF0000"/>
                </a:solidFill>
                <a:latin typeface="+mn-lt"/>
                <a:ea typeface="黑体" panose="02010609060101010101" charset="-122"/>
              </a:rPr>
              <a:t>“</a:t>
            </a:r>
            <a:r>
              <a:rPr lang="en-US" altLang="zh-CN" sz="1800" b="0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3</a:t>
            </a:r>
            <a:r>
              <a:rPr lang="en-US" altLang="zh-CN" sz="1800" b="0" kern="0" dirty="0">
                <a:solidFill>
                  <a:srgbClr val="FF0000"/>
                </a:solidFill>
                <a:latin typeface="+mn-lt"/>
                <a:ea typeface="黑体" panose="02010609060101010101" charset="-122"/>
              </a:rPr>
              <a:t>”</a:t>
            </a:r>
            <a:r>
              <a:rPr lang="en-US" altLang="zh-CN" sz="1800" b="0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&gt;</a:t>
            </a:r>
            <a:r>
              <a:rPr lang="en-US" altLang="zh-CN" sz="1800" b="0" kern="0" dirty="0">
                <a:solidFill>
                  <a:srgbClr val="FF0000"/>
                </a:solidFill>
                <a:latin typeface="+mn-lt"/>
                <a:ea typeface="黑体" panose="02010609060101010101" charset="-122"/>
              </a:rPr>
              <a:t>…</a:t>
            </a:r>
            <a:r>
              <a:rPr lang="en-US" altLang="zh-CN" sz="1800" b="0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&lt;/td&gt;</a:t>
            </a:r>
          </a:p>
        </p:txBody>
      </p:sp>
      <p:grpSp>
        <p:nvGrpSpPr>
          <p:cNvPr id="5" name="Group 17"/>
          <p:cNvGrpSpPr/>
          <p:nvPr/>
        </p:nvGrpSpPr>
        <p:grpSpPr bwMode="auto">
          <a:xfrm>
            <a:off x="1046163" y="4198144"/>
            <a:ext cx="1223962" cy="1079897"/>
            <a:chOff x="431" y="2432"/>
            <a:chExt cx="771" cy="907"/>
          </a:xfrm>
          <a:solidFill>
            <a:srgbClr val="3333FF"/>
          </a:solidFill>
        </p:grpSpPr>
        <p:sp>
          <p:nvSpPr>
            <p:cNvPr id="6" name="Rectangle 4"/>
            <p:cNvSpPr>
              <a:spLocks noChangeArrowheads="1"/>
            </p:cNvSpPr>
            <p:nvPr/>
          </p:nvSpPr>
          <p:spPr bwMode="gray">
            <a:xfrm>
              <a:off x="431" y="2432"/>
              <a:ext cx="771" cy="318"/>
            </a:xfrm>
            <a:prstGeom prst="rect">
              <a:avLst/>
            </a:prstGeom>
            <a:grpFill/>
            <a:ln w="38100" algn="ctr">
              <a:solidFill>
                <a:schemeClr val="bg1"/>
              </a:solidFill>
              <a:miter lim="800000"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  <a:buClr>
                  <a:srgbClr val="660066"/>
                </a:buClr>
                <a:buSzPct val="100000"/>
                <a:buFont typeface="Wingdings" panose="05000000000000000000" pitchFamily="2" charset="2"/>
                <a:buNone/>
                <a:defRPr/>
              </a:pPr>
              <a:endParaRPr lang="zh-CN" altLang="en-US">
                <a:ea typeface="黑体" panose="02010609060101010101" charset="-122"/>
              </a:endParaRPr>
            </a:p>
          </p:txBody>
        </p:sp>
        <p:sp>
          <p:nvSpPr>
            <p:cNvPr id="7" name="Rectangle 5"/>
            <p:cNvSpPr>
              <a:spLocks noChangeArrowheads="1"/>
            </p:cNvSpPr>
            <p:nvPr/>
          </p:nvSpPr>
          <p:spPr bwMode="gray">
            <a:xfrm>
              <a:off x="431" y="2749"/>
              <a:ext cx="771" cy="318"/>
            </a:xfrm>
            <a:prstGeom prst="rect">
              <a:avLst/>
            </a:prstGeom>
            <a:grpFill/>
            <a:ln w="38100" algn="ctr">
              <a:solidFill>
                <a:schemeClr val="bg1"/>
              </a:solidFill>
              <a:miter lim="800000"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  <a:buClr>
                  <a:srgbClr val="660066"/>
                </a:buClr>
                <a:buSzPct val="100000"/>
                <a:buFont typeface="Wingdings" panose="05000000000000000000" pitchFamily="2" charset="2"/>
                <a:buNone/>
                <a:defRPr/>
              </a:pPr>
              <a:endParaRPr lang="zh-CN" altLang="en-US">
                <a:ea typeface="黑体" panose="02010609060101010101" charset="-122"/>
              </a:endParaRPr>
            </a:p>
          </p:txBody>
        </p:sp>
        <p:sp>
          <p:nvSpPr>
            <p:cNvPr id="8" name="Rectangle 6"/>
            <p:cNvSpPr>
              <a:spLocks noChangeArrowheads="1"/>
            </p:cNvSpPr>
            <p:nvPr/>
          </p:nvSpPr>
          <p:spPr bwMode="gray">
            <a:xfrm>
              <a:off x="431" y="3021"/>
              <a:ext cx="771" cy="318"/>
            </a:xfrm>
            <a:prstGeom prst="rect">
              <a:avLst/>
            </a:prstGeom>
            <a:grpFill/>
            <a:ln w="38100" algn="ctr">
              <a:solidFill>
                <a:schemeClr val="bg1"/>
              </a:solidFill>
              <a:miter lim="800000"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  <a:buClr>
                  <a:srgbClr val="660066"/>
                </a:buClr>
                <a:buSzPct val="100000"/>
                <a:buFont typeface="Wingdings" panose="05000000000000000000" pitchFamily="2" charset="2"/>
                <a:buNone/>
                <a:defRPr/>
              </a:pPr>
              <a:endParaRPr lang="zh-CN" altLang="en-US">
                <a:ea typeface="黑体" panose="02010609060101010101" charset="-122"/>
              </a:endParaRPr>
            </a:p>
          </p:txBody>
        </p:sp>
      </p:grpSp>
      <p:sp>
        <p:nvSpPr>
          <p:cNvPr id="9" name="Rectangle 7"/>
          <p:cNvSpPr>
            <a:spLocks noChangeArrowheads="1"/>
          </p:cNvSpPr>
          <p:nvPr/>
        </p:nvSpPr>
        <p:spPr bwMode="gray">
          <a:xfrm>
            <a:off x="3278188" y="4198144"/>
            <a:ext cx="1079500" cy="1079897"/>
          </a:xfrm>
          <a:prstGeom prst="rect">
            <a:avLst/>
          </a:prstGeom>
          <a:solidFill>
            <a:srgbClr val="3333FF"/>
          </a:solidFill>
          <a:ln w="38100" algn="ctr">
            <a:solidFill>
              <a:schemeClr val="bg1"/>
            </a:solidFill>
            <a:miter lim="800000"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rgbClr val="660066"/>
              </a:buClr>
              <a:buSzPct val="100000"/>
              <a:buFont typeface="Wingdings" panose="05000000000000000000" pitchFamily="2" charset="2"/>
              <a:buNone/>
              <a:defRPr/>
            </a:pPr>
            <a:endParaRPr lang="zh-CN" altLang="en-US">
              <a:ea typeface="黑体" panose="02010609060101010101" charset="-122"/>
            </a:endParaRPr>
          </a:p>
        </p:txBody>
      </p:sp>
      <p:sp>
        <p:nvSpPr>
          <p:cNvPr id="10" name="AutoShape 8"/>
          <p:cNvSpPr>
            <a:spLocks noChangeArrowheads="1"/>
          </p:cNvSpPr>
          <p:nvPr/>
        </p:nvSpPr>
        <p:spPr bwMode="gray">
          <a:xfrm>
            <a:off x="2557464" y="4575572"/>
            <a:ext cx="649287" cy="432197"/>
          </a:xfrm>
          <a:prstGeom prst="rightArrow">
            <a:avLst>
              <a:gd name="adj1" fmla="val 50000"/>
              <a:gd name="adj2" fmla="val 28168"/>
            </a:avLst>
          </a:prstGeom>
          <a:solidFill>
            <a:srgbClr val="FFFF00"/>
          </a:solidFill>
          <a:ln w="38100" algn="ctr">
            <a:solidFill>
              <a:srgbClr val="CC0000"/>
            </a:solidFill>
            <a:miter lim="800000"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rgbClr val="660066"/>
              </a:buClr>
              <a:buSzPct val="100000"/>
              <a:buFont typeface="Wingdings" panose="05000000000000000000" pitchFamily="2" charset="2"/>
              <a:buNone/>
              <a:defRPr/>
            </a:pPr>
            <a:endParaRPr lang="zh-CN" altLang="en-US">
              <a:ea typeface="黑体" panose="02010609060101010101" charset="-122"/>
            </a:endParaRPr>
          </a:p>
        </p:txBody>
      </p:sp>
      <p:sp>
        <p:nvSpPr>
          <p:cNvPr id="11" name="Freeform 9"/>
          <p:cNvSpPr/>
          <p:nvPr/>
        </p:nvSpPr>
        <p:spPr bwMode="gray">
          <a:xfrm>
            <a:off x="2616200" y="3276600"/>
            <a:ext cx="279400" cy="1371600"/>
          </a:xfrm>
          <a:custGeom>
            <a:avLst/>
            <a:gdLst/>
            <a:ahLst/>
            <a:cxnLst>
              <a:cxn ang="0">
                <a:pos x="832" y="0"/>
              </a:cxn>
              <a:cxn ang="0">
                <a:pos x="106" y="182"/>
              </a:cxn>
              <a:cxn ang="0">
                <a:pos x="197" y="953"/>
              </a:cxn>
            </a:cxnLst>
            <a:rect l="0" t="0" r="r" b="b"/>
            <a:pathLst>
              <a:path w="832" h="953">
                <a:moveTo>
                  <a:pt x="832" y="0"/>
                </a:moveTo>
                <a:cubicBezTo>
                  <a:pt x="522" y="11"/>
                  <a:pt x="212" y="23"/>
                  <a:pt x="106" y="182"/>
                </a:cubicBezTo>
                <a:cubicBezTo>
                  <a:pt x="0" y="341"/>
                  <a:pt x="182" y="825"/>
                  <a:pt x="197" y="953"/>
                </a:cubicBezTo>
              </a:path>
            </a:pathLst>
          </a:cu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rgbClr val="660066"/>
              </a:buClr>
              <a:buSzPct val="100000"/>
              <a:buFont typeface="Wingdings" panose="05000000000000000000" pitchFamily="2" charset="2"/>
              <a:buNone/>
              <a:defRPr/>
            </a:pPr>
            <a:endParaRPr lang="zh-CN" altLang="en-US">
              <a:ea typeface="黑体" panose="02010609060101010101" charset="-122"/>
            </a:endParaRPr>
          </a:p>
        </p:txBody>
      </p:sp>
      <p:grpSp>
        <p:nvGrpSpPr>
          <p:cNvPr id="12" name="Group 19"/>
          <p:cNvGrpSpPr/>
          <p:nvPr/>
        </p:nvGrpSpPr>
        <p:grpSpPr bwMode="auto">
          <a:xfrm>
            <a:off x="4862513" y="3810000"/>
            <a:ext cx="3671887" cy="379810"/>
            <a:chOff x="2699" y="2386"/>
            <a:chExt cx="2313" cy="319"/>
          </a:xfrm>
          <a:solidFill>
            <a:srgbClr val="3333FF"/>
          </a:solidFill>
        </p:grpSpPr>
        <p:sp>
          <p:nvSpPr>
            <p:cNvPr id="13" name="Rectangle 10"/>
            <p:cNvSpPr>
              <a:spLocks noChangeArrowheads="1"/>
            </p:cNvSpPr>
            <p:nvPr/>
          </p:nvSpPr>
          <p:spPr bwMode="gray">
            <a:xfrm>
              <a:off x="2699" y="2387"/>
              <a:ext cx="771" cy="318"/>
            </a:xfrm>
            <a:prstGeom prst="rect">
              <a:avLst/>
            </a:prstGeom>
            <a:grpFill/>
            <a:ln w="38100" algn="ctr">
              <a:solidFill>
                <a:schemeClr val="bg1"/>
              </a:solidFill>
              <a:miter lim="800000"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  <a:buClr>
                  <a:srgbClr val="660066"/>
                </a:buClr>
                <a:buSzPct val="100000"/>
                <a:buFont typeface="Wingdings" panose="05000000000000000000" pitchFamily="2" charset="2"/>
                <a:buNone/>
                <a:defRPr/>
              </a:pPr>
              <a:endParaRPr lang="zh-CN" altLang="en-US">
                <a:ea typeface="黑体" panose="02010609060101010101" charset="-122"/>
              </a:endParaRPr>
            </a:p>
          </p:txBody>
        </p:sp>
        <p:sp>
          <p:nvSpPr>
            <p:cNvPr id="14" name="Rectangle 11"/>
            <p:cNvSpPr>
              <a:spLocks noChangeArrowheads="1"/>
            </p:cNvSpPr>
            <p:nvPr/>
          </p:nvSpPr>
          <p:spPr bwMode="gray">
            <a:xfrm>
              <a:off x="3470" y="2386"/>
              <a:ext cx="771" cy="318"/>
            </a:xfrm>
            <a:prstGeom prst="rect">
              <a:avLst/>
            </a:prstGeom>
            <a:grpFill/>
            <a:ln w="38100" algn="ctr">
              <a:solidFill>
                <a:schemeClr val="bg1"/>
              </a:solidFill>
              <a:miter lim="800000"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  <a:buClr>
                  <a:srgbClr val="660066"/>
                </a:buClr>
                <a:buSzPct val="100000"/>
                <a:buFont typeface="Wingdings" panose="05000000000000000000" pitchFamily="2" charset="2"/>
                <a:buNone/>
                <a:defRPr/>
              </a:pPr>
              <a:endParaRPr lang="zh-CN" altLang="en-US">
                <a:ea typeface="黑体" panose="02010609060101010101" charset="-122"/>
              </a:endParaRPr>
            </a:p>
          </p:txBody>
        </p:sp>
        <p:sp>
          <p:nvSpPr>
            <p:cNvPr id="15" name="Rectangle 12"/>
            <p:cNvSpPr>
              <a:spLocks noChangeArrowheads="1"/>
            </p:cNvSpPr>
            <p:nvPr/>
          </p:nvSpPr>
          <p:spPr bwMode="gray">
            <a:xfrm>
              <a:off x="4241" y="2387"/>
              <a:ext cx="771" cy="318"/>
            </a:xfrm>
            <a:prstGeom prst="rect">
              <a:avLst/>
            </a:prstGeom>
            <a:grpFill/>
            <a:ln w="38100" algn="ctr">
              <a:solidFill>
                <a:schemeClr val="bg1"/>
              </a:solidFill>
              <a:miter lim="800000"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  <a:buClr>
                  <a:srgbClr val="660066"/>
                </a:buClr>
                <a:buSzPct val="100000"/>
                <a:buFont typeface="Wingdings" panose="05000000000000000000" pitchFamily="2" charset="2"/>
                <a:buNone/>
                <a:defRPr/>
              </a:pPr>
              <a:endParaRPr lang="zh-CN" altLang="en-US">
                <a:ea typeface="黑体" panose="02010609060101010101" charset="-122"/>
              </a:endParaRPr>
            </a:p>
          </p:txBody>
        </p:sp>
      </p:grpSp>
      <p:sp>
        <p:nvSpPr>
          <p:cNvPr id="16" name="AutoShape 13"/>
          <p:cNvSpPr/>
          <p:nvPr/>
        </p:nvSpPr>
        <p:spPr bwMode="gray">
          <a:xfrm rot="16200000">
            <a:off x="6508949" y="2616003"/>
            <a:ext cx="377429" cy="3527425"/>
          </a:xfrm>
          <a:prstGeom prst="leftBrace">
            <a:avLst>
              <a:gd name="adj1" fmla="val 58412"/>
              <a:gd name="adj2" fmla="val 50000"/>
            </a:avLst>
          </a:prstGeom>
          <a:noFill/>
          <a:ln w="38100">
            <a:solidFill>
              <a:srgbClr val="CC0000"/>
            </a:solidFill>
            <a:rou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rgbClr val="660066"/>
              </a:buClr>
              <a:buSzPct val="100000"/>
              <a:buFont typeface="Wingdings" panose="05000000000000000000" pitchFamily="2" charset="2"/>
              <a:buNone/>
              <a:defRPr/>
            </a:pPr>
            <a:endParaRPr lang="zh-CN" altLang="en-US">
              <a:ea typeface="黑体" panose="02010609060101010101" charset="-122"/>
            </a:endParaRPr>
          </a:p>
        </p:txBody>
      </p:sp>
      <p:sp>
        <p:nvSpPr>
          <p:cNvPr id="17" name="AutoShape 14"/>
          <p:cNvSpPr>
            <a:spLocks noChangeArrowheads="1"/>
          </p:cNvSpPr>
          <p:nvPr/>
        </p:nvSpPr>
        <p:spPr bwMode="gray">
          <a:xfrm rot="5400000">
            <a:off x="6454974" y="4490840"/>
            <a:ext cx="486966" cy="649287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FF00"/>
          </a:solidFill>
          <a:ln w="38100" algn="ctr">
            <a:solidFill>
              <a:srgbClr val="CC0000"/>
            </a:solidFill>
            <a:miter lim="800000"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rgbClr val="660066"/>
              </a:buClr>
              <a:buSzPct val="100000"/>
              <a:buFont typeface="Wingdings" panose="05000000000000000000" pitchFamily="2" charset="2"/>
              <a:buNone/>
              <a:defRPr/>
            </a:pPr>
            <a:endParaRPr lang="zh-CN" altLang="en-US">
              <a:ea typeface="黑体" panose="02010609060101010101" charset="-122"/>
            </a:endParaRPr>
          </a:p>
        </p:txBody>
      </p:sp>
      <p:sp>
        <p:nvSpPr>
          <p:cNvPr id="18" name="Rectangle 15"/>
          <p:cNvSpPr>
            <a:spLocks noChangeArrowheads="1"/>
          </p:cNvSpPr>
          <p:nvPr/>
        </p:nvSpPr>
        <p:spPr bwMode="gray">
          <a:xfrm>
            <a:off x="4876800" y="5105400"/>
            <a:ext cx="3671888" cy="378619"/>
          </a:xfrm>
          <a:prstGeom prst="rect">
            <a:avLst/>
          </a:prstGeom>
          <a:solidFill>
            <a:srgbClr val="3333FF"/>
          </a:solidFill>
          <a:ln w="38100" algn="ctr">
            <a:solidFill>
              <a:schemeClr val="bg1"/>
            </a:solidFill>
            <a:miter lim="800000"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rgbClr val="660066"/>
              </a:buClr>
              <a:buSzPct val="100000"/>
              <a:buFont typeface="Wingdings" panose="05000000000000000000" pitchFamily="2" charset="2"/>
              <a:buNone/>
              <a:defRPr/>
            </a:pPr>
            <a:endParaRPr lang="zh-CN" altLang="en-US">
              <a:ea typeface="黑体" panose="02010609060101010101" charset="-122"/>
            </a:endParaRPr>
          </a:p>
        </p:txBody>
      </p:sp>
      <p:sp>
        <p:nvSpPr>
          <p:cNvPr id="19" name="Freeform 16"/>
          <p:cNvSpPr/>
          <p:nvPr/>
        </p:nvSpPr>
        <p:spPr bwMode="gray">
          <a:xfrm rot="21123884">
            <a:off x="5591753" y="3371442"/>
            <a:ext cx="377763" cy="155243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08" y="726"/>
              </a:cxn>
              <a:cxn ang="0">
                <a:pos x="635" y="1225"/>
              </a:cxn>
              <a:cxn ang="0">
                <a:pos x="1451" y="1270"/>
              </a:cxn>
            </a:cxnLst>
            <a:rect l="0" t="0" r="r" b="b"/>
            <a:pathLst>
              <a:path w="1451" h="1316">
                <a:moveTo>
                  <a:pt x="0" y="0"/>
                </a:moveTo>
                <a:cubicBezTo>
                  <a:pt x="151" y="261"/>
                  <a:pt x="302" y="522"/>
                  <a:pt x="408" y="726"/>
                </a:cubicBezTo>
                <a:cubicBezTo>
                  <a:pt x="514" y="930"/>
                  <a:pt x="461" y="1134"/>
                  <a:pt x="635" y="1225"/>
                </a:cubicBezTo>
                <a:cubicBezTo>
                  <a:pt x="809" y="1316"/>
                  <a:pt x="1315" y="1263"/>
                  <a:pt x="1451" y="1270"/>
                </a:cubicBezTo>
              </a:path>
            </a:pathLst>
          </a:custGeom>
          <a:noFill/>
          <a:ln w="38100" cap="flat" cmpd="sng">
            <a:solidFill>
              <a:srgbClr val="0000FA"/>
            </a:solidFill>
            <a:prstDash val="solid"/>
            <a:round/>
            <a:headEnd type="none" w="med" len="med"/>
            <a:tailEnd type="triangle" w="med" len="med"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rgbClr val="660066"/>
              </a:buClr>
              <a:buSzPct val="100000"/>
              <a:buFont typeface="Wingdings" panose="05000000000000000000" pitchFamily="2" charset="2"/>
              <a:buNone/>
              <a:defRPr/>
            </a:pPr>
            <a:endParaRPr lang="zh-CN" altLang="en-US">
              <a:ea typeface="黑体" panose="02010609060101010101" charset="-122"/>
            </a:endParaRPr>
          </a:p>
        </p:txBody>
      </p:sp>
      <p:sp>
        <p:nvSpPr>
          <p:cNvPr id="20" name="AutoShape 18"/>
          <p:cNvSpPr/>
          <p:nvPr/>
        </p:nvSpPr>
        <p:spPr bwMode="gray">
          <a:xfrm>
            <a:off x="2341563" y="4198144"/>
            <a:ext cx="144462" cy="1079897"/>
          </a:xfrm>
          <a:prstGeom prst="rightBrace">
            <a:avLst>
              <a:gd name="adj1" fmla="val 83059"/>
              <a:gd name="adj2" fmla="val 50000"/>
            </a:avLst>
          </a:prstGeom>
          <a:noFill/>
          <a:ln w="38100">
            <a:solidFill>
              <a:srgbClr val="CC0000"/>
            </a:solidFill>
            <a:rou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rgbClr val="660066"/>
              </a:buClr>
              <a:buSzPct val="100000"/>
              <a:buFont typeface="Wingdings" panose="05000000000000000000" pitchFamily="2" charset="2"/>
              <a:buNone/>
              <a:defRPr/>
            </a:pPr>
            <a:endParaRPr lang="zh-CN" altLang="en-US"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设置单元格的属性</a:t>
            </a:r>
            <a:r>
              <a:rPr lang="en-US" altLang="zh-CN" dirty="0"/>
              <a:t>-</a:t>
            </a:r>
            <a:r>
              <a:rPr lang="zh-CN" altLang="en-US" dirty="0"/>
              <a:t>案例 </a:t>
            </a:r>
          </a:p>
        </p:txBody>
      </p:sp>
      <p:sp>
        <p:nvSpPr>
          <p:cNvPr id="46083" name="矩形 5"/>
          <p:cNvSpPr>
            <a:spLocks noChangeArrowheads="1"/>
          </p:cNvSpPr>
          <p:nvPr/>
        </p:nvSpPr>
        <p:spPr bwMode="auto">
          <a:xfrm>
            <a:off x="387985" y="1538605"/>
            <a:ext cx="7832725" cy="50260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txBody>
          <a:bodyPr wrap="square">
            <a:spAutoFit/>
          </a:bodyPr>
          <a:lstStyle/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黑体" panose="02010609060101010101" charset="-122"/>
                <a:cs typeface="+mn-lt"/>
              </a:rPr>
              <a:t>  &lt;table border="1" width="500px" align="center" </a:t>
            </a:r>
            <a:r>
              <a:rPr lang="en-US" altLang="zh-CN" sz="1400" dirty="0" err="1">
                <a:ea typeface="黑体" panose="02010609060101010101" charset="-122"/>
                <a:cs typeface="+mn-lt"/>
              </a:rPr>
              <a:t>bordercolor</a:t>
            </a:r>
            <a:r>
              <a:rPr lang="en-US" altLang="zh-CN" sz="1400" dirty="0">
                <a:ea typeface="黑体" panose="02010609060101010101" charset="-122"/>
                <a:cs typeface="+mn-lt"/>
              </a:rPr>
              <a:t>="#3366ff"&gt;</a:t>
            </a:r>
          </a:p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黑体" panose="02010609060101010101" charset="-122"/>
                <a:cs typeface="+mn-lt"/>
              </a:rPr>
              <a:t>    &lt;caption&gt;</a:t>
            </a:r>
            <a:r>
              <a:rPr lang="zh-CN" altLang="en-US" sz="1400" dirty="0">
                <a:ea typeface="黑体" panose="02010609060101010101" charset="-122"/>
                <a:cs typeface="+mn-lt"/>
              </a:rPr>
              <a:t>云计算与物联网会议日程安排表</a:t>
            </a:r>
            <a:r>
              <a:rPr lang="en-US" altLang="zh-CN" sz="1400" dirty="0">
                <a:ea typeface="黑体" panose="02010609060101010101" charset="-122"/>
                <a:cs typeface="+mn-lt"/>
              </a:rPr>
              <a:t>&lt;/caption&gt;</a:t>
            </a:r>
          </a:p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黑体" panose="02010609060101010101" charset="-122"/>
                <a:cs typeface="+mn-lt"/>
              </a:rPr>
              <a:t>      &lt;</a:t>
            </a:r>
            <a:r>
              <a:rPr lang="en-US" altLang="zh-CN" sz="1400" dirty="0" err="1">
                <a:ea typeface="黑体" panose="02010609060101010101" charset="-122"/>
                <a:cs typeface="+mn-lt"/>
              </a:rPr>
              <a:t>tr</a:t>
            </a:r>
            <a:r>
              <a:rPr lang="en-US" altLang="zh-CN" sz="1400" dirty="0">
                <a:ea typeface="黑体" panose="02010609060101010101" charset="-122"/>
                <a:cs typeface="+mn-lt"/>
              </a:rPr>
              <a:t> align="center"&gt;</a:t>
            </a:r>
          </a:p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黑体" panose="02010609060101010101" charset="-122"/>
                <a:cs typeface="+mn-lt"/>
              </a:rPr>
              <a:t>        &lt;td </a:t>
            </a:r>
            <a:r>
              <a:rPr lang="en-US" altLang="zh-CN" sz="1400" dirty="0" err="1">
                <a:ea typeface="黑体" panose="02010609060101010101" charset="-122"/>
                <a:cs typeface="+mn-lt"/>
              </a:rPr>
              <a:t>colspan</a:t>
            </a:r>
            <a:r>
              <a:rPr lang="en-US" altLang="zh-CN" sz="1400" dirty="0">
                <a:ea typeface="黑体" panose="02010609060101010101" charset="-122"/>
                <a:cs typeface="+mn-lt"/>
              </a:rPr>
              <a:t>="2"&gt;</a:t>
            </a:r>
            <a:r>
              <a:rPr lang="zh-CN" altLang="en-US" sz="1400" dirty="0">
                <a:ea typeface="黑体" panose="02010609060101010101" charset="-122"/>
                <a:cs typeface="+mn-lt"/>
              </a:rPr>
              <a:t>上午</a:t>
            </a:r>
            <a:r>
              <a:rPr lang="en-US" altLang="zh-CN" sz="1400" dirty="0">
                <a:ea typeface="黑体" panose="02010609060101010101" charset="-122"/>
                <a:cs typeface="+mn-lt"/>
              </a:rPr>
              <a:t>&lt;/td&gt;</a:t>
            </a:r>
          </a:p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黑体" panose="02010609060101010101" charset="-122"/>
                <a:cs typeface="+mn-lt"/>
              </a:rPr>
              <a:t>        &lt;td </a:t>
            </a:r>
            <a:r>
              <a:rPr lang="en-US" altLang="zh-CN" sz="1400" dirty="0" err="1">
                <a:ea typeface="黑体" panose="02010609060101010101" charset="-122"/>
                <a:cs typeface="+mn-lt"/>
              </a:rPr>
              <a:t>colspan</a:t>
            </a:r>
            <a:r>
              <a:rPr lang="en-US" altLang="zh-CN" sz="1400" dirty="0">
                <a:ea typeface="黑体" panose="02010609060101010101" charset="-122"/>
                <a:cs typeface="+mn-lt"/>
              </a:rPr>
              <a:t>="2"&gt;</a:t>
            </a:r>
            <a:r>
              <a:rPr lang="zh-CN" altLang="en-US" sz="1400" dirty="0">
                <a:ea typeface="黑体" panose="02010609060101010101" charset="-122"/>
                <a:cs typeface="+mn-lt"/>
              </a:rPr>
              <a:t>下午</a:t>
            </a:r>
            <a:r>
              <a:rPr lang="en-US" altLang="zh-CN" sz="1400" dirty="0">
                <a:ea typeface="黑体" panose="02010609060101010101" charset="-122"/>
                <a:cs typeface="+mn-lt"/>
              </a:rPr>
              <a:t>&lt;/td&gt;  </a:t>
            </a:r>
          </a:p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黑体" panose="02010609060101010101" charset="-122"/>
                <a:cs typeface="+mn-lt"/>
              </a:rPr>
              <a:t>      &lt;/</a:t>
            </a:r>
            <a:r>
              <a:rPr lang="en-US" altLang="zh-CN" sz="1400" dirty="0" err="1">
                <a:ea typeface="黑体" panose="02010609060101010101" charset="-122"/>
                <a:cs typeface="+mn-lt"/>
              </a:rPr>
              <a:t>tr</a:t>
            </a:r>
            <a:r>
              <a:rPr lang="en-US" altLang="zh-CN" sz="1400" dirty="0">
                <a:ea typeface="黑体" panose="02010609060101010101" charset="-122"/>
                <a:cs typeface="+mn-lt"/>
              </a:rPr>
              <a:t>&gt;  </a:t>
            </a:r>
          </a:p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黑体" panose="02010609060101010101" charset="-122"/>
                <a:cs typeface="+mn-lt"/>
              </a:rPr>
              <a:t>      &lt;</a:t>
            </a:r>
            <a:r>
              <a:rPr lang="en-US" altLang="zh-CN" sz="1400" dirty="0" err="1">
                <a:ea typeface="黑体" panose="02010609060101010101" charset="-122"/>
                <a:cs typeface="+mn-lt"/>
              </a:rPr>
              <a:t>tr</a:t>
            </a:r>
            <a:r>
              <a:rPr lang="en-US" altLang="zh-CN" sz="1400" dirty="0">
                <a:ea typeface="黑体" panose="02010609060101010101" charset="-122"/>
                <a:cs typeface="+mn-lt"/>
              </a:rPr>
              <a:t> &gt;</a:t>
            </a:r>
          </a:p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黑体" panose="02010609060101010101" charset="-122"/>
                <a:cs typeface="+mn-lt"/>
              </a:rPr>
              <a:t>        &lt;td&gt;8:00-10:00&lt;/td&gt;</a:t>
            </a:r>
          </a:p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黑体" panose="02010609060101010101" charset="-122"/>
                <a:cs typeface="+mn-lt"/>
              </a:rPr>
              <a:t>        &lt;td&gt;10:10-12:00&lt;/td&gt;</a:t>
            </a:r>
          </a:p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黑体" panose="02010609060101010101" charset="-122"/>
                <a:cs typeface="+mn-lt"/>
              </a:rPr>
              <a:t>        &lt;td&gt;14:00-16:00&lt;/td&gt;</a:t>
            </a:r>
          </a:p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黑体" panose="02010609060101010101" charset="-122"/>
                <a:cs typeface="+mn-lt"/>
              </a:rPr>
              <a:t>        &lt;td&gt;16:10-18:00&lt;/td&gt;</a:t>
            </a:r>
          </a:p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黑体" panose="02010609060101010101" charset="-122"/>
                <a:cs typeface="+mn-lt"/>
              </a:rPr>
              <a:t>      &lt;/</a:t>
            </a:r>
            <a:r>
              <a:rPr lang="en-US" altLang="zh-CN" sz="1400" dirty="0" err="1">
                <a:ea typeface="黑体" panose="02010609060101010101" charset="-122"/>
                <a:cs typeface="+mn-lt"/>
              </a:rPr>
              <a:t>tr</a:t>
            </a:r>
            <a:r>
              <a:rPr lang="en-US" altLang="zh-CN" sz="1400" dirty="0">
                <a:ea typeface="黑体" panose="02010609060101010101" charset="-122"/>
                <a:cs typeface="+mn-lt"/>
              </a:rPr>
              <a:t>&gt;</a:t>
            </a:r>
          </a:p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黑体" panose="02010609060101010101" charset="-122"/>
                <a:cs typeface="+mn-lt"/>
              </a:rPr>
              <a:t>      &lt;</a:t>
            </a:r>
            <a:r>
              <a:rPr lang="en-US" altLang="zh-CN" sz="1400" dirty="0" err="1">
                <a:ea typeface="黑体" panose="02010609060101010101" charset="-122"/>
                <a:cs typeface="+mn-lt"/>
              </a:rPr>
              <a:t>tr</a:t>
            </a:r>
            <a:r>
              <a:rPr lang="en-US" altLang="zh-CN" sz="1400" dirty="0">
                <a:ea typeface="黑体" panose="02010609060101010101" charset="-122"/>
                <a:cs typeface="+mn-lt"/>
              </a:rPr>
              <a:t> align="center"&gt;</a:t>
            </a:r>
          </a:p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黑体" panose="02010609060101010101" charset="-122"/>
                <a:cs typeface="+mn-lt"/>
              </a:rPr>
              <a:t>        &lt;td </a:t>
            </a:r>
            <a:r>
              <a:rPr lang="en-US" altLang="zh-CN" sz="1400" dirty="0" err="1">
                <a:ea typeface="黑体" panose="02010609060101010101" charset="-122"/>
                <a:cs typeface="+mn-lt"/>
              </a:rPr>
              <a:t>rowspan</a:t>
            </a:r>
            <a:r>
              <a:rPr lang="en-US" altLang="zh-CN" sz="1400" dirty="0">
                <a:ea typeface="黑体" panose="02010609060101010101" charset="-122"/>
                <a:cs typeface="+mn-lt"/>
              </a:rPr>
              <a:t>="2"&gt;</a:t>
            </a:r>
            <a:r>
              <a:rPr lang="zh-CN" altLang="en-US" sz="1400" dirty="0">
                <a:ea typeface="黑体" panose="02010609060101010101" charset="-122"/>
                <a:cs typeface="+mn-lt"/>
              </a:rPr>
              <a:t>领导讲话 </a:t>
            </a:r>
            <a:r>
              <a:rPr lang="en-US" altLang="zh-CN" sz="1400" dirty="0">
                <a:ea typeface="黑体" panose="02010609060101010101" charset="-122"/>
                <a:cs typeface="+mn-lt"/>
              </a:rPr>
              <a:t>&lt;/td&gt;</a:t>
            </a:r>
          </a:p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Verdana" panose="020B0604030504040204" pitchFamily="34" charset="0"/>
                <a:cs typeface="+mn-lt"/>
                <a:sym typeface="+mn-ea"/>
              </a:rPr>
              <a:t>        </a:t>
            </a:r>
            <a:r>
              <a:rPr lang="en-US" altLang="zh-CN" sz="1400" dirty="0">
                <a:ea typeface="黑体" panose="02010609060101010101" charset="-122"/>
                <a:cs typeface="+mn-lt"/>
                <a:sym typeface="+mn-ea"/>
              </a:rPr>
              <a:t>&lt;td&gt;</a:t>
            </a:r>
            <a:r>
              <a:rPr lang="zh-CN" altLang="en-US" sz="1400" dirty="0">
                <a:ea typeface="黑体" panose="02010609060101010101" charset="-122"/>
                <a:cs typeface="+mn-lt"/>
                <a:sym typeface="+mn-ea"/>
              </a:rPr>
              <a:t>大会主题报告</a:t>
            </a:r>
            <a:r>
              <a:rPr lang="en-US" altLang="zh-CN" sz="1400" dirty="0">
                <a:ea typeface="Verdana" panose="020B0604030504040204" pitchFamily="34" charset="0"/>
                <a:cs typeface="+mn-lt"/>
                <a:sym typeface="+mn-ea"/>
              </a:rPr>
              <a:t>&lt;/td&gt;</a:t>
            </a:r>
          </a:p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Verdana" panose="020B0604030504040204" pitchFamily="34" charset="0"/>
                <a:cs typeface="+mn-lt"/>
                <a:sym typeface="+mn-ea"/>
              </a:rPr>
              <a:t>        &lt;td&gt;</a:t>
            </a:r>
            <a:r>
              <a:rPr lang="zh-CN" altLang="en-US" sz="1400" dirty="0">
                <a:ea typeface="黑体" panose="02010609060101010101" charset="-122"/>
                <a:cs typeface="+mn-lt"/>
                <a:sym typeface="+mn-ea"/>
              </a:rPr>
              <a:t>分会专题报告</a:t>
            </a:r>
            <a:r>
              <a:rPr lang="en-US" altLang="zh-CN" sz="1400" dirty="0">
                <a:ea typeface="Verdana" panose="020B0604030504040204" pitchFamily="34" charset="0"/>
                <a:cs typeface="+mn-lt"/>
                <a:sym typeface="+mn-ea"/>
              </a:rPr>
              <a:t>&lt;/td&gt;</a:t>
            </a:r>
            <a:endParaRPr lang="en-US" altLang="zh-CN" sz="1400" b="0" dirty="0">
              <a:ea typeface="Verdana" panose="020B0604030504040204" pitchFamily="34" charset="0"/>
              <a:cs typeface="+mn-lt"/>
            </a:endParaRPr>
          </a:p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Verdana" panose="020B0604030504040204" pitchFamily="34" charset="0"/>
                <a:cs typeface="+mn-lt"/>
                <a:sym typeface="+mn-ea"/>
              </a:rPr>
              <a:t>        &lt;td </a:t>
            </a:r>
            <a:r>
              <a:rPr lang="en-US" altLang="zh-CN" sz="1400" dirty="0" err="1">
                <a:ea typeface="Verdana" panose="020B0604030504040204" pitchFamily="34" charset="0"/>
                <a:cs typeface="+mn-lt"/>
                <a:sym typeface="+mn-ea"/>
              </a:rPr>
              <a:t>rowspan</a:t>
            </a:r>
            <a:r>
              <a:rPr lang="en-US" altLang="zh-CN" sz="1400" dirty="0">
                <a:ea typeface="Verdana" panose="020B0604030504040204" pitchFamily="34" charset="0"/>
                <a:cs typeface="+mn-lt"/>
                <a:sym typeface="+mn-ea"/>
              </a:rPr>
              <a:t>="2"&gt;</a:t>
            </a:r>
            <a:r>
              <a:rPr lang="zh-CN" altLang="en-US" sz="1400" dirty="0">
                <a:ea typeface="黑体" panose="02010609060101010101" charset="-122"/>
                <a:cs typeface="+mn-lt"/>
                <a:sym typeface="+mn-ea"/>
              </a:rPr>
              <a:t>总结报告</a:t>
            </a:r>
            <a:r>
              <a:rPr lang="en-US" altLang="zh-CN" sz="1400" dirty="0">
                <a:ea typeface="Verdana" panose="020B0604030504040204" pitchFamily="34" charset="0"/>
                <a:cs typeface="+mn-lt"/>
                <a:sym typeface="+mn-ea"/>
              </a:rPr>
              <a:t>&lt;/td&gt;</a:t>
            </a:r>
            <a:endParaRPr lang="en-US" altLang="zh-CN" sz="1400" b="0" dirty="0">
              <a:ea typeface="Verdana" panose="020B0604030504040204" pitchFamily="34" charset="0"/>
              <a:cs typeface="+mn-lt"/>
            </a:endParaRPr>
          </a:p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Verdana" panose="020B0604030504040204" pitchFamily="34" charset="0"/>
                <a:cs typeface="+mn-lt"/>
                <a:sym typeface="+mn-ea"/>
              </a:rPr>
              <a:t>      &lt;/</a:t>
            </a:r>
            <a:r>
              <a:rPr lang="en-US" altLang="zh-CN" sz="1400" dirty="0" err="1">
                <a:ea typeface="Verdana" panose="020B0604030504040204" pitchFamily="34" charset="0"/>
                <a:cs typeface="+mn-lt"/>
                <a:sym typeface="+mn-ea"/>
              </a:rPr>
              <a:t>tr</a:t>
            </a:r>
            <a:r>
              <a:rPr lang="en-US" altLang="zh-CN" sz="1400" dirty="0">
                <a:ea typeface="Verdana" panose="020B0604030504040204" pitchFamily="34" charset="0"/>
                <a:cs typeface="+mn-lt"/>
                <a:sym typeface="+mn-ea"/>
              </a:rPr>
              <a:t>&gt;</a:t>
            </a:r>
            <a:endParaRPr lang="en-US" altLang="zh-CN" sz="1400" b="0" dirty="0">
              <a:ea typeface="Verdana" panose="020B0604030504040204" pitchFamily="34" charset="0"/>
              <a:cs typeface="+mn-lt"/>
            </a:endParaRPr>
          </a:p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Verdana" panose="020B0604030504040204" pitchFamily="34" charset="0"/>
                <a:cs typeface="+mn-lt"/>
                <a:sym typeface="+mn-ea"/>
              </a:rPr>
              <a:t>      &lt;</a:t>
            </a:r>
            <a:r>
              <a:rPr lang="en-US" altLang="zh-CN" sz="1400" dirty="0" err="1">
                <a:ea typeface="Verdana" panose="020B0604030504040204" pitchFamily="34" charset="0"/>
                <a:cs typeface="+mn-lt"/>
                <a:sym typeface="+mn-ea"/>
              </a:rPr>
              <a:t>tr</a:t>
            </a:r>
            <a:r>
              <a:rPr lang="en-US" altLang="zh-CN" sz="1400" dirty="0">
                <a:ea typeface="Verdana" panose="020B0604030504040204" pitchFamily="34" charset="0"/>
                <a:cs typeface="+mn-lt"/>
                <a:sym typeface="+mn-ea"/>
              </a:rPr>
              <a:t> align="center"&gt;    </a:t>
            </a:r>
            <a:endParaRPr lang="en-US" altLang="zh-CN" sz="1400" b="0" dirty="0">
              <a:ea typeface="Verdana" panose="020B0604030504040204" pitchFamily="34" charset="0"/>
              <a:cs typeface="+mn-lt"/>
            </a:endParaRPr>
          </a:p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Verdana" panose="020B0604030504040204" pitchFamily="34" charset="0"/>
                <a:cs typeface="+mn-lt"/>
                <a:sym typeface="+mn-ea"/>
              </a:rPr>
              <a:t>        &lt;td&gt;</a:t>
            </a:r>
            <a:r>
              <a:rPr lang="zh-CN" altLang="en-US" sz="1400" dirty="0">
                <a:ea typeface="黑体" panose="02010609060101010101" charset="-122"/>
                <a:cs typeface="+mn-lt"/>
                <a:sym typeface="+mn-ea"/>
              </a:rPr>
              <a:t>专家报告</a:t>
            </a:r>
            <a:r>
              <a:rPr lang="en-US" altLang="zh-CN" sz="1400" dirty="0">
                <a:ea typeface="Verdana" panose="020B0604030504040204" pitchFamily="34" charset="0"/>
                <a:cs typeface="+mn-lt"/>
                <a:sym typeface="+mn-ea"/>
              </a:rPr>
              <a:t>&lt;/td&gt;</a:t>
            </a:r>
          </a:p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Verdana" panose="020B0604030504040204" pitchFamily="34" charset="0"/>
                <a:cs typeface="+mn-lt"/>
                <a:sym typeface="+mn-ea"/>
              </a:rPr>
              <a:t>        &lt;td&gt;</a:t>
            </a:r>
            <a:r>
              <a:rPr lang="zh-CN" altLang="en-US" sz="1400" dirty="0">
                <a:ea typeface="黑体" panose="02010609060101010101" charset="-122"/>
                <a:cs typeface="+mn-lt"/>
                <a:sym typeface="+mn-ea"/>
              </a:rPr>
              <a:t>分组讨论</a:t>
            </a:r>
            <a:r>
              <a:rPr lang="en-US" altLang="zh-CN" sz="1400" dirty="0">
                <a:ea typeface="Verdana" panose="020B0604030504040204" pitchFamily="34" charset="0"/>
                <a:cs typeface="+mn-lt"/>
                <a:sym typeface="+mn-ea"/>
              </a:rPr>
              <a:t>&lt;/td&gt; </a:t>
            </a:r>
            <a:endParaRPr lang="en-US" altLang="zh-CN" sz="1400" b="0" dirty="0">
              <a:ea typeface="Verdana" panose="020B0604030504040204" pitchFamily="34" charset="0"/>
              <a:cs typeface="+mn-lt"/>
            </a:endParaRPr>
          </a:p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Verdana" panose="020B0604030504040204" pitchFamily="34" charset="0"/>
                <a:cs typeface="+mn-lt"/>
                <a:sym typeface="+mn-ea"/>
              </a:rPr>
              <a:t>    &lt;/</a:t>
            </a:r>
            <a:r>
              <a:rPr lang="en-US" altLang="zh-CN" sz="1400" dirty="0" err="1">
                <a:ea typeface="Verdana" panose="020B0604030504040204" pitchFamily="34" charset="0"/>
                <a:cs typeface="+mn-lt"/>
                <a:sym typeface="+mn-ea"/>
              </a:rPr>
              <a:t>tr</a:t>
            </a:r>
            <a:r>
              <a:rPr lang="en-US" altLang="zh-CN" sz="1400" dirty="0">
                <a:ea typeface="Verdana" panose="020B0604030504040204" pitchFamily="34" charset="0"/>
                <a:cs typeface="+mn-lt"/>
                <a:sym typeface="+mn-ea"/>
              </a:rPr>
              <a:t>&gt;</a:t>
            </a:r>
            <a:endParaRPr lang="en-US" altLang="zh-CN" sz="1400" b="0" dirty="0">
              <a:ea typeface="Verdana" panose="020B0604030504040204" pitchFamily="34" charset="0"/>
              <a:cs typeface="+mn-lt"/>
            </a:endParaRPr>
          </a:p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Verdana" panose="020B0604030504040204" pitchFamily="34" charset="0"/>
                <a:cs typeface="+mn-lt"/>
                <a:sym typeface="+mn-ea"/>
              </a:rPr>
              <a:t>    &lt;</a:t>
            </a:r>
            <a:r>
              <a:rPr lang="en-US" altLang="zh-CN" sz="1400" dirty="0" err="1">
                <a:ea typeface="Verdana" panose="020B0604030504040204" pitchFamily="34" charset="0"/>
                <a:cs typeface="+mn-lt"/>
                <a:sym typeface="+mn-ea"/>
              </a:rPr>
              <a:t>tr</a:t>
            </a:r>
            <a:r>
              <a:rPr lang="en-US" altLang="zh-CN" sz="1400" dirty="0">
                <a:ea typeface="Verdana" panose="020B0604030504040204" pitchFamily="34" charset="0"/>
                <a:cs typeface="+mn-lt"/>
                <a:sym typeface="+mn-ea"/>
              </a:rPr>
              <a:t> align="center"&gt;</a:t>
            </a:r>
            <a:endParaRPr lang="en-US" altLang="zh-CN" sz="1400" b="0" dirty="0">
              <a:ea typeface="Verdana" panose="020B0604030504040204" pitchFamily="34" charset="0"/>
              <a:cs typeface="+mn-lt"/>
            </a:endParaRPr>
          </a:p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Verdana" panose="020B0604030504040204" pitchFamily="34" charset="0"/>
                <a:cs typeface="+mn-lt"/>
                <a:sym typeface="+mn-ea"/>
              </a:rPr>
              <a:t>      &lt;td </a:t>
            </a:r>
            <a:r>
              <a:rPr lang="en-US" altLang="zh-CN" sz="1400" dirty="0" err="1">
                <a:ea typeface="Verdana" panose="020B0604030504040204" pitchFamily="34" charset="0"/>
                <a:cs typeface="+mn-lt"/>
                <a:sym typeface="+mn-ea"/>
              </a:rPr>
              <a:t>colspan</a:t>
            </a:r>
            <a:r>
              <a:rPr lang="en-US" altLang="zh-CN" sz="1400" dirty="0">
                <a:ea typeface="Verdana" panose="020B0604030504040204" pitchFamily="34" charset="0"/>
                <a:cs typeface="+mn-lt"/>
                <a:sym typeface="+mn-ea"/>
              </a:rPr>
              <a:t>="4"&gt;</a:t>
            </a:r>
            <a:r>
              <a:rPr lang="zh-CN" altLang="en-US" sz="1400" dirty="0">
                <a:ea typeface="黑体" panose="02010609060101010101" charset="-122"/>
                <a:cs typeface="+mn-lt"/>
                <a:sym typeface="+mn-ea"/>
              </a:rPr>
              <a:t>全天参观考察无锡国家物联网中心</a:t>
            </a:r>
            <a:r>
              <a:rPr lang="en-US" altLang="zh-CN" sz="1400" dirty="0">
                <a:ea typeface="Verdana" panose="020B0604030504040204" pitchFamily="34" charset="0"/>
                <a:cs typeface="+mn-lt"/>
                <a:sym typeface="+mn-ea"/>
              </a:rPr>
              <a:t>&lt;/td&gt; </a:t>
            </a:r>
            <a:endParaRPr lang="en-US" altLang="zh-CN" sz="1400" b="0" dirty="0">
              <a:ea typeface="Verdana" panose="020B0604030504040204" pitchFamily="34" charset="0"/>
              <a:cs typeface="+mn-lt"/>
            </a:endParaRPr>
          </a:p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Verdana" panose="020B0604030504040204" pitchFamily="34" charset="0"/>
                <a:cs typeface="+mn-lt"/>
                <a:sym typeface="+mn-ea"/>
              </a:rPr>
              <a:t>    &lt;/</a:t>
            </a:r>
            <a:r>
              <a:rPr lang="en-US" altLang="zh-CN" sz="1400" dirty="0" err="1">
                <a:ea typeface="Verdana" panose="020B0604030504040204" pitchFamily="34" charset="0"/>
                <a:cs typeface="+mn-lt"/>
                <a:sym typeface="+mn-ea"/>
              </a:rPr>
              <a:t>tr</a:t>
            </a:r>
            <a:r>
              <a:rPr lang="en-US" altLang="zh-CN" sz="1400" dirty="0">
                <a:ea typeface="Verdana" panose="020B0604030504040204" pitchFamily="34" charset="0"/>
                <a:cs typeface="+mn-lt"/>
                <a:sym typeface="+mn-ea"/>
              </a:rPr>
              <a:t>&gt;</a:t>
            </a:r>
          </a:p>
          <a:p>
            <a:pPr eaLnBrk="0" fontAlgn="auto" hangingPunct="0">
              <a:lnSpc>
                <a:spcPts val="148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dirty="0">
                <a:ea typeface="Verdana" panose="020B0604030504040204" pitchFamily="34" charset="0"/>
                <a:cs typeface="+mn-lt"/>
                <a:sym typeface="+mn-ea"/>
              </a:rPr>
              <a:t>  &lt;/table&gt;</a:t>
            </a:r>
          </a:p>
        </p:txBody>
      </p:sp>
      <p:sp>
        <p:nvSpPr>
          <p:cNvPr id="46084" name="矩形 6"/>
          <p:cNvSpPr>
            <a:spLocks noChangeArrowheads="1"/>
          </p:cNvSpPr>
          <p:nvPr/>
        </p:nvSpPr>
        <p:spPr bwMode="auto">
          <a:xfrm>
            <a:off x="4800600" y="1657350"/>
            <a:ext cx="4267200" cy="27051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txBody>
          <a:bodyPr wrap="square">
            <a:spAutoFit/>
          </a:bodyPr>
          <a:lstStyle/>
          <a:p>
            <a:pPr eaLnBrk="0" hangingPunct="0">
              <a:lnSpc>
                <a:spcPts val="1400"/>
              </a:lnSpc>
              <a:buClr>
                <a:srgbClr val="660066"/>
              </a:buClr>
              <a:buSzPct val="100000"/>
              <a:buFont typeface="Wingdings" panose="05000000000000000000" pitchFamily="2" charset="2"/>
              <a:buNone/>
            </a:pPr>
            <a:endParaRPr lang="en-US" altLang="zh-CN" sz="12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7169" name="Picture 1"/>
          <p:cNvPicPr>
            <a:picLocks noChangeAspect="1" noChangeArrowheads="1"/>
          </p:cNvPicPr>
          <p:nvPr/>
        </p:nvPicPr>
        <p:blipFill>
          <a:blip r:embed="rId2" cstate="print"/>
          <a:srcRect t="39589"/>
          <a:stretch>
            <a:fillRect/>
          </a:stretch>
        </p:blipFill>
        <p:spPr bwMode="auto">
          <a:xfrm>
            <a:off x="3590925" y="2802255"/>
            <a:ext cx="5307965" cy="18332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表格嵌套 </a:t>
            </a:r>
          </a:p>
        </p:txBody>
      </p:sp>
      <p:sp>
        <p:nvSpPr>
          <p:cNvPr id="47106" name="Rectangle 3"/>
          <p:cNvSpPr>
            <a:spLocks noGrp="1" noChangeArrowheads="1"/>
          </p:cNvSpPr>
          <p:nvPr>
            <p:ph idx="1"/>
          </p:nvPr>
        </p:nvSpPr>
        <p:spPr>
          <a:xfrm>
            <a:off x="502285" y="1252776"/>
            <a:ext cx="8534400" cy="14561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sz="1800" dirty="0"/>
              <a:t>通常情况下，使用表格嵌套时，表格不宜过多使用，否则会降低网站访问速度。表格嵌套一般采用在单元格内嵌套表格。</a:t>
            </a:r>
          </a:p>
        </p:txBody>
      </p:sp>
      <p:pic>
        <p:nvPicPr>
          <p:cNvPr id="614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3200400"/>
            <a:ext cx="4351338" cy="23221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表格嵌套</a:t>
            </a:r>
            <a:r>
              <a:rPr lang="en-US" altLang="zh-CN" dirty="0"/>
              <a:t>-</a:t>
            </a:r>
            <a:r>
              <a:rPr lang="zh-CN" altLang="en-US" dirty="0"/>
              <a:t>语法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203575" y="1657350"/>
            <a:ext cx="3024188" cy="37719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/>
          <a:lstStyle/>
          <a:p>
            <a:pPr marL="182880" indent="-182880" defTabSz="1158875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altLang="zh-CN" sz="1800" kern="0" dirty="0">
                <a:solidFill>
                  <a:srgbClr val="FF0000"/>
                </a:solidFill>
                <a:latin typeface="+mn-lt"/>
                <a:ea typeface="+mn-ea"/>
              </a:rPr>
              <a:t>&lt;table&gt;</a:t>
            </a:r>
          </a:p>
          <a:p>
            <a:pPr marL="182880" indent="-182880" defTabSz="1158875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altLang="zh-CN" sz="1800" kern="0" dirty="0">
                <a:solidFill>
                  <a:srgbClr val="FF0000"/>
                </a:solidFill>
                <a:latin typeface="+mn-lt"/>
                <a:ea typeface="+mn-ea"/>
              </a:rPr>
              <a:t>    &lt;</a:t>
            </a:r>
            <a:r>
              <a:rPr lang="en-US" altLang="zh-CN" sz="1800" kern="0" dirty="0" err="1">
                <a:solidFill>
                  <a:srgbClr val="FF0000"/>
                </a:solidFill>
                <a:latin typeface="+mn-lt"/>
                <a:ea typeface="+mn-ea"/>
              </a:rPr>
              <a:t>tr</a:t>
            </a:r>
            <a:r>
              <a:rPr lang="en-US" altLang="zh-CN" sz="1800" kern="0" dirty="0">
                <a:solidFill>
                  <a:srgbClr val="FF0000"/>
                </a:solidFill>
                <a:latin typeface="+mn-lt"/>
                <a:ea typeface="+mn-ea"/>
              </a:rPr>
              <a:t>&gt;</a:t>
            </a:r>
          </a:p>
          <a:p>
            <a:pPr marL="182880" indent="-182880" defTabSz="1158875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altLang="zh-CN" sz="1800" kern="0" dirty="0">
                <a:solidFill>
                  <a:srgbClr val="FF0000"/>
                </a:solidFill>
                <a:latin typeface="+mn-lt"/>
                <a:ea typeface="+mn-ea"/>
              </a:rPr>
              <a:t>        </a:t>
            </a:r>
            <a:r>
              <a:rPr lang="en-US" altLang="zh-CN" sz="1800" kern="0" dirty="0">
                <a:solidFill>
                  <a:srgbClr val="FF0000"/>
                </a:solidFill>
                <a:latin typeface="Arial" panose="020B0604020202020204" pitchFamily="34" charset="0"/>
                <a:ea typeface="+mn-ea"/>
              </a:rPr>
              <a:t>…</a:t>
            </a:r>
            <a:r>
              <a:rPr lang="zh-CN" altLang="en-US" sz="1800" kern="0" dirty="0">
                <a:solidFill>
                  <a:srgbClr val="FF0000"/>
                </a:solidFill>
                <a:latin typeface="+mn-lt"/>
                <a:ea typeface="+mn-ea"/>
              </a:rPr>
              <a:t>          </a:t>
            </a:r>
          </a:p>
          <a:p>
            <a:pPr marL="182880" indent="-182880" defTabSz="1158875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altLang="zh-CN" sz="1800" kern="0" dirty="0">
                <a:solidFill>
                  <a:srgbClr val="FF0000"/>
                </a:solidFill>
                <a:latin typeface="+mn-lt"/>
                <a:ea typeface="+mn-ea"/>
              </a:rPr>
              <a:t>   &lt;/</a:t>
            </a:r>
            <a:r>
              <a:rPr lang="en-US" altLang="zh-CN" sz="1800" kern="0" dirty="0" err="1">
                <a:solidFill>
                  <a:srgbClr val="FF0000"/>
                </a:solidFill>
                <a:latin typeface="+mn-lt"/>
                <a:ea typeface="+mn-ea"/>
              </a:rPr>
              <a:t>tr</a:t>
            </a:r>
            <a:r>
              <a:rPr lang="en-US" altLang="zh-CN" sz="1800" kern="0" dirty="0">
                <a:solidFill>
                  <a:srgbClr val="FF0000"/>
                </a:solidFill>
                <a:latin typeface="+mn-lt"/>
                <a:ea typeface="+mn-ea"/>
              </a:rPr>
              <a:t>&gt;</a:t>
            </a:r>
          </a:p>
          <a:p>
            <a:pPr marL="182880" indent="-182880" defTabSz="1158875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altLang="zh-CN" sz="1800" kern="0" dirty="0">
                <a:solidFill>
                  <a:srgbClr val="FF0000"/>
                </a:solidFill>
                <a:latin typeface="+mn-lt"/>
                <a:ea typeface="+mn-ea"/>
              </a:rPr>
              <a:t>    &lt;</a:t>
            </a:r>
            <a:r>
              <a:rPr lang="en-US" altLang="zh-CN" sz="1800" kern="0" dirty="0" err="1">
                <a:solidFill>
                  <a:srgbClr val="FF0000"/>
                </a:solidFill>
                <a:latin typeface="+mn-lt"/>
                <a:ea typeface="+mn-ea"/>
              </a:rPr>
              <a:t>tr</a:t>
            </a:r>
            <a:r>
              <a:rPr lang="en-US" altLang="zh-CN" sz="1800" kern="0" dirty="0">
                <a:solidFill>
                  <a:srgbClr val="FF0000"/>
                </a:solidFill>
                <a:latin typeface="+mn-lt"/>
                <a:ea typeface="+mn-ea"/>
              </a:rPr>
              <a:t>&gt;</a:t>
            </a:r>
          </a:p>
          <a:p>
            <a:pPr marL="182880" indent="-182880" defTabSz="1158875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altLang="zh-CN" sz="1800" kern="0" dirty="0">
                <a:solidFill>
                  <a:srgbClr val="FF0000"/>
                </a:solidFill>
                <a:latin typeface="+mn-lt"/>
                <a:ea typeface="+mn-ea"/>
              </a:rPr>
              <a:t>        </a:t>
            </a:r>
            <a:r>
              <a:rPr lang="en-US" altLang="zh-CN" sz="1800" u="sng" kern="0" dirty="0">
                <a:solidFill>
                  <a:srgbClr val="FF0000"/>
                </a:solidFill>
                <a:latin typeface="+mn-lt"/>
                <a:ea typeface="+mn-ea"/>
              </a:rPr>
              <a:t>&lt;td&gt;</a:t>
            </a:r>
          </a:p>
          <a:p>
            <a:pPr marL="182880" indent="-182880" defTabSz="1158875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altLang="zh-CN" sz="1800" kern="0" dirty="0">
                <a:solidFill>
                  <a:srgbClr val="FF0000"/>
                </a:solidFill>
                <a:latin typeface="+mn-lt"/>
                <a:ea typeface="+mn-ea"/>
              </a:rPr>
              <a:t>            &lt;table&gt;</a:t>
            </a:r>
          </a:p>
          <a:p>
            <a:pPr marL="182880" indent="-182880" defTabSz="1158875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endParaRPr lang="en-US" altLang="zh-CN" sz="1800" kern="0" dirty="0">
              <a:solidFill>
                <a:srgbClr val="FF0000"/>
              </a:solidFill>
              <a:latin typeface="+mn-lt"/>
              <a:ea typeface="+mn-ea"/>
            </a:endParaRPr>
          </a:p>
          <a:p>
            <a:pPr marL="182880" indent="-182880" defTabSz="1158875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altLang="zh-CN" sz="1800" kern="0" dirty="0">
                <a:solidFill>
                  <a:srgbClr val="FF0000"/>
                </a:solidFill>
                <a:latin typeface="+mn-lt"/>
                <a:ea typeface="+mn-ea"/>
              </a:rPr>
              <a:t>           &lt;/table&gt;</a:t>
            </a:r>
          </a:p>
          <a:p>
            <a:pPr marL="182880" indent="-182880" defTabSz="1158875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altLang="zh-CN" sz="1800" kern="0" dirty="0">
                <a:solidFill>
                  <a:srgbClr val="FF0000"/>
                </a:solidFill>
                <a:latin typeface="+mn-lt"/>
                <a:ea typeface="+mn-ea"/>
              </a:rPr>
              <a:t>        </a:t>
            </a:r>
            <a:r>
              <a:rPr lang="en-US" altLang="zh-CN" sz="1800" u="sng" kern="0" dirty="0">
                <a:solidFill>
                  <a:srgbClr val="FF0000"/>
                </a:solidFill>
                <a:latin typeface="+mn-lt"/>
                <a:ea typeface="+mn-ea"/>
              </a:rPr>
              <a:t>&lt;/td&gt;</a:t>
            </a:r>
          </a:p>
          <a:p>
            <a:pPr marL="182880" indent="-182880" defTabSz="1158875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altLang="zh-CN" sz="1800" kern="0" dirty="0">
                <a:solidFill>
                  <a:srgbClr val="FF0000"/>
                </a:solidFill>
                <a:latin typeface="+mn-lt"/>
                <a:ea typeface="+mn-ea"/>
              </a:rPr>
              <a:t>   &lt;/</a:t>
            </a:r>
            <a:r>
              <a:rPr lang="en-US" altLang="zh-CN" sz="1800" kern="0" dirty="0" err="1">
                <a:solidFill>
                  <a:srgbClr val="FF0000"/>
                </a:solidFill>
                <a:latin typeface="+mn-lt"/>
                <a:ea typeface="+mn-ea"/>
              </a:rPr>
              <a:t>tr</a:t>
            </a:r>
            <a:r>
              <a:rPr lang="en-US" altLang="zh-CN" sz="1800" kern="0" dirty="0">
                <a:solidFill>
                  <a:srgbClr val="FF0000"/>
                </a:solidFill>
                <a:latin typeface="+mn-lt"/>
                <a:ea typeface="+mn-ea"/>
              </a:rPr>
              <a:t>&gt;</a:t>
            </a:r>
          </a:p>
          <a:p>
            <a:pPr marL="182880" indent="-182880" defTabSz="1158875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altLang="zh-CN" sz="1800" kern="0" dirty="0">
                <a:solidFill>
                  <a:srgbClr val="FF0000"/>
                </a:solidFill>
                <a:latin typeface="+mn-lt"/>
                <a:ea typeface="+mn-ea"/>
              </a:rPr>
              <a:t>    &lt;</a:t>
            </a:r>
            <a:r>
              <a:rPr lang="en-US" altLang="zh-CN" sz="1800" kern="0" dirty="0" err="1">
                <a:solidFill>
                  <a:srgbClr val="FF0000"/>
                </a:solidFill>
                <a:latin typeface="+mn-lt"/>
                <a:ea typeface="+mn-ea"/>
              </a:rPr>
              <a:t>tr</a:t>
            </a:r>
            <a:r>
              <a:rPr lang="en-US" altLang="zh-CN" sz="1800" kern="0" dirty="0">
                <a:solidFill>
                  <a:srgbClr val="FF0000"/>
                </a:solidFill>
                <a:latin typeface="+mn-lt"/>
                <a:ea typeface="+mn-ea"/>
              </a:rPr>
              <a:t>&gt;&lt;/</a:t>
            </a:r>
            <a:r>
              <a:rPr lang="en-US" altLang="zh-CN" sz="1800" kern="0" dirty="0" err="1">
                <a:solidFill>
                  <a:srgbClr val="FF0000"/>
                </a:solidFill>
                <a:latin typeface="+mn-lt"/>
                <a:ea typeface="+mn-ea"/>
              </a:rPr>
              <a:t>tr</a:t>
            </a:r>
            <a:r>
              <a:rPr lang="en-US" altLang="zh-CN" sz="1800" kern="0" dirty="0">
                <a:solidFill>
                  <a:srgbClr val="FF0000"/>
                </a:solidFill>
                <a:latin typeface="+mn-lt"/>
                <a:ea typeface="+mn-ea"/>
              </a:rPr>
              <a:t>&gt;</a:t>
            </a:r>
          </a:p>
          <a:p>
            <a:pPr marL="182880" indent="-182880" defTabSz="1158875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altLang="zh-CN" sz="1800" kern="0" dirty="0">
                <a:solidFill>
                  <a:srgbClr val="FF0000"/>
                </a:solidFill>
                <a:latin typeface="+mn-lt"/>
                <a:ea typeface="+mn-ea"/>
              </a:rPr>
              <a:t>&lt;/table&gt;</a:t>
            </a:r>
          </a:p>
        </p:txBody>
      </p:sp>
      <p:grpSp>
        <p:nvGrpSpPr>
          <p:cNvPr id="6" name="Group 20"/>
          <p:cNvGrpSpPr/>
          <p:nvPr/>
        </p:nvGrpSpPr>
        <p:grpSpPr bwMode="auto">
          <a:xfrm>
            <a:off x="5638800" y="3200400"/>
            <a:ext cx="3238500" cy="1419225"/>
            <a:chOff x="3470" y="2523"/>
            <a:chExt cx="2040" cy="680"/>
          </a:xfrm>
        </p:grpSpPr>
        <p:sp>
          <p:nvSpPr>
            <p:cNvPr id="7" name="AutoShape 18"/>
            <p:cNvSpPr/>
            <p:nvPr/>
          </p:nvSpPr>
          <p:spPr bwMode="gray">
            <a:xfrm>
              <a:off x="3470" y="2523"/>
              <a:ext cx="499" cy="453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38100">
              <a:solidFill>
                <a:srgbClr val="CC0000"/>
              </a:solidFill>
              <a:rou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  <a:buClr>
                  <a:srgbClr val="660066"/>
                </a:buClr>
                <a:buSzPct val="100000"/>
                <a:buFont typeface="Wingdings" panose="05000000000000000000" pitchFamily="2" charset="2"/>
                <a:buNone/>
                <a:defRPr/>
              </a:pPr>
              <a:endParaRPr lang="zh-CN" altLang="en-US">
                <a:ea typeface="黑体" panose="02010609060101010101" charset="-122"/>
              </a:endParaRPr>
            </a:p>
          </p:txBody>
        </p:sp>
        <p:sp>
          <p:nvSpPr>
            <p:cNvPr id="8" name="AutoShape 19"/>
            <p:cNvSpPr>
              <a:spLocks noChangeArrowheads="1"/>
            </p:cNvSpPr>
            <p:nvPr/>
          </p:nvSpPr>
          <p:spPr bwMode="gray">
            <a:xfrm>
              <a:off x="4830" y="2614"/>
              <a:ext cx="680" cy="589"/>
            </a:xfrm>
            <a:prstGeom prst="wedgeRoundRectCallout">
              <a:avLst>
                <a:gd name="adj1" fmla="val -155736"/>
                <a:gd name="adj2" fmla="val -19269"/>
                <a:gd name="adj3" fmla="val 16667"/>
              </a:avLst>
            </a:prstGeom>
            <a:solidFill>
              <a:srgbClr val="3333FF"/>
            </a:solidFill>
            <a:ln w="38100" algn="ctr">
              <a:solidFill>
                <a:schemeClr val="bg1"/>
              </a:solidFill>
              <a:miter lim="800000"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anchor="ctr"/>
            <a:lstStyle/>
            <a:p>
              <a:pPr algn="ctr" eaLnBrk="0" hangingPunct="0">
                <a:lnSpc>
                  <a:spcPct val="90000"/>
                </a:lnSpc>
                <a:spcBef>
                  <a:spcPct val="20000"/>
                </a:spcBef>
                <a:buClr>
                  <a:srgbClr val="660066"/>
                </a:buClr>
                <a:buSzPct val="100000"/>
                <a:buFont typeface="Wingdings" panose="05000000000000000000" pitchFamily="2" charset="2"/>
                <a:buNone/>
                <a:defRPr/>
              </a:pPr>
              <a:r>
                <a:rPr lang="zh-CN" altLang="en-US" dirty="0">
                  <a:solidFill>
                    <a:schemeClr val="bg1"/>
                  </a:solidFill>
                  <a:ea typeface="黑体" panose="02010609060101010101" charset="-122"/>
                </a:rPr>
                <a:t>单元格内嵌表</a:t>
              </a:r>
              <a:r>
                <a:rPr lang="en-US" altLang="zh-CN" dirty="0">
                  <a:solidFill>
                    <a:schemeClr val="bg1"/>
                  </a:solidFill>
                  <a:ea typeface="黑体" panose="02010609060101010101" charset="-122"/>
                </a:rPr>
                <a:t>2</a:t>
              </a:r>
            </a:p>
          </p:txBody>
        </p:sp>
      </p:grpSp>
      <p:grpSp>
        <p:nvGrpSpPr>
          <p:cNvPr id="9" name="Group 26"/>
          <p:cNvGrpSpPr/>
          <p:nvPr/>
        </p:nvGrpSpPr>
        <p:grpSpPr bwMode="auto">
          <a:xfrm>
            <a:off x="990600" y="1828800"/>
            <a:ext cx="1828800" cy="3371850"/>
            <a:chOff x="158" y="808"/>
            <a:chExt cx="1678" cy="3076"/>
          </a:xfrm>
        </p:grpSpPr>
        <p:sp>
          <p:nvSpPr>
            <p:cNvPr id="10" name="AutoShape 24"/>
            <p:cNvSpPr/>
            <p:nvPr/>
          </p:nvSpPr>
          <p:spPr bwMode="gray">
            <a:xfrm>
              <a:off x="1437" y="808"/>
              <a:ext cx="399" cy="3076"/>
            </a:xfrm>
            <a:prstGeom prst="leftBrace">
              <a:avLst>
                <a:gd name="adj1" fmla="val 24624"/>
                <a:gd name="adj2" fmla="val 49698"/>
              </a:avLst>
            </a:prstGeom>
            <a:noFill/>
            <a:ln w="38100">
              <a:solidFill>
                <a:srgbClr val="CC0000"/>
              </a:solidFill>
              <a:rou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  <a:buClr>
                  <a:srgbClr val="660066"/>
                </a:buClr>
                <a:buSzPct val="100000"/>
                <a:buFont typeface="Wingdings" panose="05000000000000000000" pitchFamily="2" charset="2"/>
                <a:buNone/>
                <a:defRPr/>
              </a:pPr>
              <a:endParaRPr lang="zh-CN" altLang="en-US">
                <a:ea typeface="黑体" panose="02010609060101010101" charset="-122"/>
              </a:endParaRPr>
            </a:p>
          </p:txBody>
        </p:sp>
        <p:sp>
          <p:nvSpPr>
            <p:cNvPr id="11" name="AutoShape 25"/>
            <p:cNvSpPr>
              <a:spLocks noChangeArrowheads="1"/>
            </p:cNvSpPr>
            <p:nvPr/>
          </p:nvSpPr>
          <p:spPr bwMode="gray">
            <a:xfrm>
              <a:off x="158" y="1752"/>
              <a:ext cx="680" cy="589"/>
            </a:xfrm>
            <a:prstGeom prst="wedgeRoundRectCallout">
              <a:avLst>
                <a:gd name="adj1" fmla="val 94704"/>
                <a:gd name="adj2" fmla="val 18083"/>
                <a:gd name="adj3" fmla="val 16667"/>
              </a:avLst>
            </a:prstGeom>
            <a:solidFill>
              <a:srgbClr val="3333FF"/>
            </a:solidFill>
            <a:ln w="38100" algn="ctr">
              <a:solidFill>
                <a:schemeClr val="bg1"/>
              </a:solidFill>
              <a:miter lim="800000"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anchor="ctr"/>
            <a:lstStyle/>
            <a:p>
              <a:pPr algn="ctr" eaLnBrk="0" hangingPunct="0">
                <a:lnSpc>
                  <a:spcPct val="90000"/>
                </a:lnSpc>
                <a:spcBef>
                  <a:spcPct val="20000"/>
                </a:spcBef>
                <a:buClr>
                  <a:srgbClr val="660066"/>
                </a:buClr>
                <a:buSzPct val="100000"/>
                <a:buFont typeface="Wingdings" panose="05000000000000000000" pitchFamily="2" charset="2"/>
                <a:buNone/>
                <a:defRPr/>
              </a:pPr>
              <a:r>
                <a:rPr lang="zh-CN" altLang="en-US" dirty="0">
                  <a:solidFill>
                    <a:schemeClr val="bg1"/>
                  </a:solidFill>
                  <a:ea typeface="黑体" panose="02010609060101010101" charset="-122"/>
                </a:rPr>
                <a:t>表</a:t>
              </a:r>
              <a:r>
                <a:rPr lang="en-US" altLang="zh-CN" dirty="0">
                  <a:solidFill>
                    <a:schemeClr val="bg1"/>
                  </a:solidFill>
                  <a:ea typeface="黑体" panose="02010609060101010101" charset="-122"/>
                </a:rPr>
                <a:t>1</a:t>
              </a:r>
              <a:endParaRPr lang="zh-CN" altLang="en-US" dirty="0">
                <a:solidFill>
                  <a:schemeClr val="bg1"/>
                </a:solidFill>
                <a:ea typeface="黑体" panose="02010609060101010101" charset="-122"/>
              </a:endParaRPr>
            </a:p>
          </p:txBody>
        </p:sp>
      </p:grp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表单概述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idx="1"/>
          </p:nvPr>
        </p:nvSpPr>
        <p:spPr>
          <a:xfrm>
            <a:off x="502285" y="1196975"/>
            <a:ext cx="8292465" cy="4464685"/>
          </a:xfrm>
        </p:spPr>
        <p:txBody>
          <a:bodyPr>
            <a:normAutofit/>
          </a:bodyPr>
          <a:lstStyle/>
          <a:p>
            <a:pPr marL="0" indent="457200">
              <a:buNone/>
            </a:pPr>
            <a:r>
              <a:rPr lang="en-US" altLang="zh-CN" sz="1400" dirty="0"/>
              <a:t>  </a:t>
            </a:r>
            <a:r>
              <a:rPr lang="zh-CN" altLang="zh-CN" sz="1400" dirty="0"/>
              <a:t>表单是较为复杂的</a:t>
            </a:r>
            <a:r>
              <a:rPr lang="en-US" altLang="zh-CN" sz="1400" dirty="0"/>
              <a:t>HTML</a:t>
            </a:r>
            <a:r>
              <a:rPr lang="zh-CN" altLang="zh-CN" sz="1400" dirty="0"/>
              <a:t>元素，经常与脚本、动态网页、后台数据处理等结合在一起使用，是设计动态网页的必备元素。</a:t>
            </a:r>
            <a:endParaRPr lang="en-US" altLang="zh-CN" sz="1400" dirty="0"/>
          </a:p>
          <a:p>
            <a:pPr marL="0" indent="457200">
              <a:buNone/>
            </a:pPr>
            <a:r>
              <a:rPr lang="en-US" altLang="zh-CN" sz="1400" dirty="0"/>
              <a:t>  </a:t>
            </a:r>
            <a:r>
              <a:rPr lang="zh-CN" altLang="zh-CN" sz="1400" dirty="0"/>
              <a:t>利用表单可以在</a:t>
            </a:r>
            <a:r>
              <a:rPr lang="en-US" altLang="zh-CN" sz="1400" dirty="0"/>
              <a:t>HTML</a:t>
            </a:r>
            <a:r>
              <a:rPr lang="zh-CN" altLang="zh-CN" sz="1400" dirty="0"/>
              <a:t>页面中插入一些表单控件</a:t>
            </a:r>
            <a:r>
              <a:rPr lang="en-US" altLang="zh-CN" sz="1400" dirty="0"/>
              <a:t>(</a:t>
            </a:r>
            <a:r>
              <a:rPr lang="zh-CN" altLang="zh-CN" sz="1400" dirty="0"/>
              <a:t>元素</a:t>
            </a:r>
            <a:r>
              <a:rPr lang="en-US" altLang="zh-CN" sz="1400" dirty="0"/>
              <a:t>)</a:t>
            </a:r>
            <a:r>
              <a:rPr lang="zh-CN" altLang="zh-CN" sz="1400" dirty="0"/>
              <a:t>，如文本框、提交按钮、重置按钮、单选按钮、复选框、下拉列表框等，完成各类信息的采集。</a:t>
            </a:r>
          </a:p>
          <a:p>
            <a:pPr marL="0" indent="457200">
              <a:buNone/>
            </a:pPr>
            <a:endParaRPr lang="en-US" altLang="zh-CN" dirty="0"/>
          </a:p>
          <a:p>
            <a:pPr lvl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zh-CN" dirty="0"/>
              <a:t>基本语法</a:t>
            </a:r>
            <a:r>
              <a:rPr lang="zh-CN" altLang="en-US" dirty="0"/>
              <a:t>：</a:t>
            </a:r>
            <a:endParaRPr lang="zh-CN" altLang="zh-CN" dirty="0"/>
          </a:p>
          <a:p>
            <a:pPr lvl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zh-CN" dirty="0">
                <a:ea typeface="宋体" panose="02010600030101010101" pitchFamily="2" charset="-122"/>
              </a:rPr>
              <a:t>     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&lt;form method="post" action=""&gt;</a:t>
            </a:r>
            <a:endParaRPr lang="zh-CN" altLang="en-US" sz="18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          &lt;input type="text" name=""&gt;</a:t>
            </a:r>
            <a:endParaRPr lang="zh-CN" altLang="en-US" sz="18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zh-CN" sz="1800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</a:rPr>
              <a:t>          &lt;</a:t>
            </a:r>
            <a:r>
              <a:rPr lang="en-US" altLang="zh-CN" sz="1800" dirty="0" err="1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</a:rPr>
              <a:t>textarea</a:t>
            </a:r>
            <a:r>
              <a:rPr lang="en-US" altLang="zh-CN" sz="1800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</a:rPr>
              <a:t> name="" rows="" cols=""&gt;&lt;/</a:t>
            </a:r>
            <a:r>
              <a:rPr lang="en-US" altLang="zh-CN" sz="1800" dirty="0" err="1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</a:rPr>
              <a:t>textarea</a:t>
            </a:r>
            <a:r>
              <a:rPr lang="en-US" altLang="zh-CN" sz="1800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</a:rPr>
              <a:t>&gt;</a:t>
            </a:r>
            <a:endParaRPr lang="zh-CN" altLang="en-US" sz="1800" dirty="0">
              <a:solidFill>
                <a:srgbClr val="FF0000"/>
              </a:solidFill>
              <a:highlight>
                <a:srgbClr val="FFFF00"/>
              </a:highlight>
              <a:ea typeface="宋体" panose="02010600030101010101" pitchFamily="2" charset="-122"/>
            </a:endParaRPr>
          </a:p>
          <a:p>
            <a:pPr lvl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zh-CN" sz="1800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</a:rPr>
              <a:t>         &lt;select name=""&gt;</a:t>
            </a:r>
            <a:endParaRPr lang="zh-CN" altLang="en-US" sz="1800" dirty="0">
              <a:solidFill>
                <a:srgbClr val="FF0000"/>
              </a:solidFill>
              <a:highlight>
                <a:srgbClr val="FFFF00"/>
              </a:highlight>
              <a:ea typeface="宋体" panose="02010600030101010101" pitchFamily="2" charset="-122"/>
            </a:endParaRPr>
          </a:p>
          <a:p>
            <a:pPr lvl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zh-CN" sz="1800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</a:rPr>
              <a:t>             &lt;option value="" selected&gt; &lt;/option &gt;</a:t>
            </a:r>
            <a:endParaRPr lang="zh-CN" altLang="en-US" sz="1800" dirty="0">
              <a:solidFill>
                <a:srgbClr val="FF0000"/>
              </a:solidFill>
              <a:highlight>
                <a:srgbClr val="FFFF00"/>
              </a:highlight>
              <a:ea typeface="宋体" panose="02010600030101010101" pitchFamily="2" charset="-122"/>
            </a:endParaRPr>
          </a:p>
          <a:p>
            <a:pPr lvl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zh-CN" sz="1800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</a:rPr>
              <a:t>        &lt;/select&gt;</a:t>
            </a:r>
            <a:endParaRPr lang="zh-CN" altLang="en-US" sz="1800" dirty="0">
              <a:solidFill>
                <a:srgbClr val="FF0000"/>
              </a:solidFill>
              <a:highlight>
                <a:srgbClr val="FFFF00"/>
              </a:highlight>
              <a:ea typeface="宋体" panose="02010600030101010101" pitchFamily="2" charset="-122"/>
            </a:endParaRPr>
          </a:p>
          <a:p>
            <a:pPr lvl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    &lt;/form&gt;</a:t>
            </a:r>
            <a:endParaRPr lang="en-US" altLang="zh-CN" sz="1800" dirty="0">
              <a:solidFill>
                <a:srgbClr val="FF0000"/>
              </a:solidFill>
            </a:endParaRPr>
          </a:p>
          <a:p>
            <a:pPr marL="0" indent="457200">
              <a:buNone/>
            </a:pPr>
            <a:endParaRPr dirty="0"/>
          </a:p>
          <a:p>
            <a:pPr marL="0" indent="457200">
              <a:buNone/>
            </a:pPr>
            <a:r>
              <a:rPr b="1" dirty="0"/>
              <a:t>凡输入，必校验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xfrm>
            <a:off x="517525" y="415686"/>
            <a:ext cx="7761288" cy="567929"/>
          </a:xfrm>
        </p:spPr>
        <p:txBody>
          <a:bodyPr>
            <a:normAutofit/>
          </a:bodyPr>
          <a:lstStyle/>
          <a:p>
            <a:r>
              <a:rPr lang="zh-CN" altLang="en-US" dirty="0"/>
              <a:t>表单概述</a:t>
            </a:r>
          </a:p>
        </p:txBody>
      </p:sp>
      <p:sp>
        <p:nvSpPr>
          <p:cNvPr id="3" name="矩形 2"/>
          <p:cNvSpPr/>
          <p:nvPr/>
        </p:nvSpPr>
        <p:spPr>
          <a:xfrm>
            <a:off x="421005" y="1096010"/>
            <a:ext cx="8302625" cy="3046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en-US" altLang="zh-CN" sz="1600" dirty="0"/>
              <a:t>&lt;body&gt;</a:t>
            </a:r>
          </a:p>
          <a:p>
            <a:pPr fontAlgn="auto">
              <a:lnSpc>
                <a:spcPct val="100000"/>
              </a:lnSpc>
            </a:pPr>
            <a:r>
              <a:rPr lang="en-US" altLang="zh-CN" sz="1600" dirty="0"/>
              <a:t>  &lt;form name="form1" method="post" action="</a:t>
            </a:r>
            <a:r>
              <a:rPr lang="en-US" altLang="zh-CN" sz="1600" dirty="0" err="1"/>
              <a:t>form_action.jsp</a:t>
            </a:r>
            <a:r>
              <a:rPr lang="en-US" altLang="zh-CN" sz="1600" dirty="0"/>
              <a:t>" </a:t>
            </a:r>
            <a:r>
              <a:rPr lang="en-US" altLang="zh-CN" sz="1600" dirty="0" err="1"/>
              <a:t>enctype</a:t>
            </a:r>
            <a:r>
              <a:rPr lang="en-US" altLang="zh-CN" sz="1600" dirty="0"/>
              <a:t>="text/plain"&gt;</a:t>
            </a:r>
          </a:p>
          <a:p>
            <a:pPr fontAlgn="auto">
              <a:lnSpc>
                <a:spcPct val="100000"/>
              </a:lnSpc>
            </a:pPr>
            <a:r>
              <a:rPr lang="en-US" altLang="zh-CN" sz="1600" dirty="0"/>
              <a:t>    &lt;h3&gt;</a:t>
            </a:r>
            <a:r>
              <a:rPr lang="zh-CN" altLang="en-US" sz="1600" dirty="0"/>
              <a:t>输入课程成绩</a:t>
            </a:r>
            <a:r>
              <a:rPr lang="en-US" altLang="zh-CN" sz="1600" dirty="0"/>
              <a:t>&lt;/h3&gt;</a:t>
            </a:r>
          </a:p>
          <a:p>
            <a:pPr fontAlgn="auto">
              <a:lnSpc>
                <a:spcPct val="100000"/>
              </a:lnSpc>
            </a:pPr>
            <a:r>
              <a:rPr lang="zh-CN" altLang="en-US" sz="1600" dirty="0"/>
              <a:t>    姓名</a:t>
            </a:r>
            <a:r>
              <a:rPr lang="en-US" altLang="zh-CN" sz="1600" dirty="0"/>
              <a:t>:&lt;input type="text"/&gt;&lt;</a:t>
            </a:r>
            <a:r>
              <a:rPr lang="en-US" altLang="zh-CN" sz="1600" dirty="0" err="1"/>
              <a:t>br</a:t>
            </a:r>
            <a:r>
              <a:rPr lang="en-US" altLang="zh-CN" sz="1600" dirty="0"/>
              <a:t>/&gt;</a:t>
            </a:r>
          </a:p>
          <a:p>
            <a:pPr fontAlgn="auto">
              <a:lnSpc>
                <a:spcPct val="100000"/>
              </a:lnSpc>
            </a:pPr>
            <a:r>
              <a:rPr lang="zh-CN" altLang="en-US" sz="1600" dirty="0"/>
              <a:t>    高等数学</a:t>
            </a:r>
            <a:r>
              <a:rPr lang="en-US" altLang="zh-CN" sz="1600" dirty="0"/>
              <a:t>:&lt;input type="text" size="15"/&gt;</a:t>
            </a:r>
          </a:p>
          <a:p>
            <a:pPr fontAlgn="auto">
              <a:lnSpc>
                <a:spcPct val="100000"/>
              </a:lnSpc>
            </a:pPr>
            <a:r>
              <a:rPr lang="zh-CN" altLang="en-US" sz="1600" dirty="0"/>
              <a:t>    大学物理</a:t>
            </a:r>
            <a:r>
              <a:rPr lang="en-US" altLang="zh-CN" sz="1600" dirty="0"/>
              <a:t>:&lt;input type="text" size="15"/&gt;</a:t>
            </a:r>
          </a:p>
          <a:p>
            <a:pPr fontAlgn="auto">
              <a:lnSpc>
                <a:spcPct val="100000"/>
              </a:lnSpc>
            </a:pPr>
            <a:r>
              <a:rPr lang="en-US" altLang="zh-CN" sz="1600" dirty="0"/>
              <a:t>    &lt;</a:t>
            </a:r>
            <a:r>
              <a:rPr lang="en-US" altLang="zh-CN" sz="1600" dirty="0" err="1"/>
              <a:t>br</a:t>
            </a:r>
            <a:r>
              <a:rPr lang="en-US" altLang="zh-CN" sz="1600" dirty="0"/>
              <a:t>/&gt;&lt;</a:t>
            </a:r>
            <a:r>
              <a:rPr lang="en-US" altLang="zh-CN" sz="1600" dirty="0" err="1"/>
              <a:t>br</a:t>
            </a:r>
            <a:r>
              <a:rPr lang="en-US" altLang="zh-CN" sz="1600" dirty="0"/>
              <a:t>/&gt;</a:t>
            </a:r>
          </a:p>
          <a:p>
            <a:pPr fontAlgn="auto">
              <a:lnSpc>
                <a:spcPct val="100000"/>
              </a:lnSpc>
            </a:pPr>
            <a:r>
              <a:rPr lang="en-US" altLang="zh-CN" sz="1600" dirty="0"/>
              <a:t>    &lt;input type="submit" value="</a:t>
            </a:r>
            <a:r>
              <a:rPr lang="zh-CN" altLang="en-US" sz="1600" dirty="0"/>
              <a:t>成绩提交</a:t>
            </a:r>
            <a:r>
              <a:rPr lang="en-US" altLang="zh-CN" sz="1600" dirty="0"/>
              <a:t>"/&gt;</a:t>
            </a:r>
          </a:p>
          <a:p>
            <a:pPr fontAlgn="auto">
              <a:lnSpc>
                <a:spcPct val="100000"/>
              </a:lnSpc>
            </a:pPr>
            <a:r>
              <a:rPr lang="en-US" altLang="zh-CN" sz="1600" dirty="0"/>
              <a:t>    &lt;input type="reset" value="</a:t>
            </a:r>
            <a:r>
              <a:rPr lang="zh-CN" altLang="en-US" sz="1600" dirty="0"/>
              <a:t>成绩重置</a:t>
            </a:r>
            <a:r>
              <a:rPr lang="en-US" altLang="zh-CN" sz="1600" dirty="0"/>
              <a:t>"/&gt;</a:t>
            </a:r>
          </a:p>
          <a:p>
            <a:pPr fontAlgn="auto">
              <a:lnSpc>
                <a:spcPct val="100000"/>
              </a:lnSpc>
            </a:pPr>
            <a:r>
              <a:rPr lang="en-US" altLang="zh-CN" sz="1600" dirty="0"/>
              <a:t>  &lt;/form&gt;</a:t>
            </a:r>
          </a:p>
          <a:p>
            <a:pPr fontAlgn="auto">
              <a:lnSpc>
                <a:spcPct val="100000"/>
              </a:lnSpc>
            </a:pPr>
            <a:r>
              <a:rPr lang="en-US" altLang="zh-CN" sz="1600" dirty="0"/>
              <a:t>&lt;/body&gt;</a:t>
            </a:r>
          </a:p>
          <a:p>
            <a:pPr fontAlgn="auto">
              <a:lnSpc>
                <a:spcPct val="100000"/>
              </a:lnSpc>
            </a:pPr>
            <a:endParaRPr lang="en-US" altLang="zh-CN" sz="16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 t="31767"/>
          <a:stretch>
            <a:fillRect/>
          </a:stretch>
        </p:blipFill>
        <p:spPr bwMode="auto">
          <a:xfrm>
            <a:off x="2388235" y="4255135"/>
            <a:ext cx="5440045" cy="202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>
          <a:xfrm>
            <a:off x="574675" y="374015"/>
            <a:ext cx="7761288" cy="567929"/>
          </a:xfrm>
        </p:spPr>
        <p:txBody>
          <a:bodyPr>
            <a:normAutofit/>
          </a:bodyPr>
          <a:lstStyle/>
          <a:p>
            <a:r>
              <a:rPr lang="zh-CN" altLang="en-US" dirty="0"/>
              <a:t>表单标记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574675" y="1195705"/>
            <a:ext cx="7573645" cy="4466590"/>
          </a:xfrm>
        </p:spPr>
        <p:txBody>
          <a:bodyPr>
            <a:noAutofit/>
          </a:bodyPr>
          <a:lstStyle/>
          <a:p>
            <a:pPr marL="381000" indent="-38100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/>
              <a:t>name:</a:t>
            </a:r>
            <a:r>
              <a:rPr lang="zh-CN" altLang="en-US" sz="1600" b="0" dirty="0"/>
              <a:t>给定表单名称，表单命名之后就可以用脚本语言</a:t>
            </a:r>
            <a:r>
              <a:rPr lang="en-US" altLang="zh-CN" sz="1600" b="0" dirty="0"/>
              <a:t>(</a:t>
            </a:r>
            <a:r>
              <a:rPr lang="zh-CN" altLang="en-US" sz="1600" b="0" dirty="0"/>
              <a:t>如</a:t>
            </a:r>
            <a:r>
              <a:rPr lang="en-US" altLang="zh-CN" sz="1600" dirty="0"/>
              <a:t>JavaScript</a:t>
            </a:r>
            <a:r>
              <a:rPr lang="en-US" altLang="zh-CN" sz="1600" b="0" dirty="0"/>
              <a:t>)</a:t>
            </a:r>
            <a:r>
              <a:rPr lang="zh-CN" altLang="en-US" sz="1600" b="0" dirty="0"/>
              <a:t>对它进行控制。</a:t>
            </a:r>
          </a:p>
          <a:p>
            <a:pPr marL="381000" indent="-381000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600" b="0" dirty="0"/>
          </a:p>
          <a:p>
            <a:pPr marL="381000" indent="-381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600" dirty="0"/>
              <a:t>action:</a:t>
            </a:r>
            <a:r>
              <a:rPr lang="zh-CN" altLang="en-US" sz="1600" b="0" dirty="0"/>
              <a:t>指定处理表单信息的服务器端应用程序。</a:t>
            </a:r>
          </a:p>
          <a:p>
            <a:pPr marL="381000" indent="-381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zh-CN" altLang="en-US" sz="1600" b="0" dirty="0"/>
          </a:p>
          <a:p>
            <a:pPr marL="381000" indent="-381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600" dirty="0"/>
              <a:t>method:</a:t>
            </a:r>
            <a:r>
              <a:rPr lang="zh-CN" altLang="en-US" sz="1600" b="0" dirty="0"/>
              <a:t>用于指定表单处理表单数据方法，</a:t>
            </a:r>
            <a:r>
              <a:rPr lang="en-US" altLang="zh-CN" sz="1600" b="0" dirty="0"/>
              <a:t>method</a:t>
            </a:r>
            <a:r>
              <a:rPr lang="zh-CN" altLang="en-US" sz="1600" b="0" dirty="0"/>
              <a:t>的值（</a:t>
            </a:r>
            <a:r>
              <a:rPr lang="en-US" altLang="zh-CN" sz="1600" b="0" dirty="0"/>
              <a:t>get</a:t>
            </a:r>
            <a:r>
              <a:rPr lang="zh-CN" altLang="en-US" sz="1600" b="0" dirty="0"/>
              <a:t>、</a:t>
            </a:r>
            <a:r>
              <a:rPr lang="en-US" altLang="zh-CN" sz="1600" b="0" dirty="0"/>
              <a:t>post</a:t>
            </a:r>
            <a:r>
              <a:rPr lang="zh-CN" altLang="en-US" sz="1600" b="0" dirty="0"/>
              <a:t>，默认</a:t>
            </a:r>
            <a:r>
              <a:rPr lang="en-US" altLang="zh-CN" sz="1600" b="0" dirty="0"/>
              <a:t>get</a:t>
            </a:r>
            <a:r>
              <a:rPr lang="zh-CN" altLang="en-US" sz="1600" b="0" dirty="0"/>
              <a:t>）。</a:t>
            </a:r>
          </a:p>
          <a:p>
            <a:pPr marL="381000" indent="-381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zh-CN" altLang="en-US" sz="1600" b="0" dirty="0"/>
          </a:p>
          <a:p>
            <a:pPr marL="381000" indent="-381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600" dirty="0" err="1"/>
              <a:t>enctype</a:t>
            </a:r>
            <a:r>
              <a:rPr lang="en-US" altLang="zh-CN" sz="1600" dirty="0"/>
              <a:t>:</a:t>
            </a:r>
            <a:r>
              <a:rPr lang="zh-CN" altLang="en-US" sz="1600" b="0" dirty="0"/>
              <a:t>规定表单数据在发送到服务器之前进行编码。有几种取值，分别如如下 ：</a:t>
            </a:r>
          </a:p>
          <a:p>
            <a:pPr marL="381000" indent="-22225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application/x-www-form-</a:t>
            </a:r>
            <a:r>
              <a:rPr lang="en-US" altLang="zh-CN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urlencoded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(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在发送前编码所有字符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默认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81000" indent="-22225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multipart/form-data(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不对字符编码 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</a:p>
          <a:p>
            <a:pPr marL="381000" indent="-22225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text/plain(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空格转换为 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“+”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加号，但不对特殊字符编码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。</a:t>
            </a:r>
          </a:p>
        </p:txBody>
      </p:sp>
      <p:sp>
        <p:nvSpPr>
          <p:cNvPr id="18435" name="Rectangle 4"/>
          <p:cNvSpPr>
            <a:spLocks noChangeArrowheads="1"/>
          </p:cNvSpPr>
          <p:nvPr/>
        </p:nvSpPr>
        <p:spPr bwMode="auto">
          <a:xfrm>
            <a:off x="0" y="2823845"/>
            <a:ext cx="127000" cy="276860"/>
          </a:xfrm>
          <a:prstGeom prst="rect">
            <a:avLst/>
          </a:prstGeom>
          <a:solidFill>
            <a:srgbClr val="F9F9F9"/>
          </a:solidFill>
          <a:ln w="9525">
            <a:noFill/>
            <a:miter lim="800000"/>
          </a:ln>
        </p:spPr>
        <p:txBody>
          <a:bodyPr wrap="none" lIns="0" tIns="0" rIns="0" bIns="0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24576"/>
            <a:ext cx="7761288" cy="567929"/>
          </a:xfrm>
        </p:spPr>
        <p:txBody>
          <a:bodyPr>
            <a:normAutofit/>
          </a:bodyPr>
          <a:lstStyle/>
          <a:p>
            <a:r>
              <a:rPr lang="zh-CN" altLang="en-US" dirty="0"/>
              <a:t>定义域和域标题</a:t>
            </a:r>
          </a:p>
        </p:txBody>
      </p:sp>
      <p:sp>
        <p:nvSpPr>
          <p:cNvPr id="41986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316276"/>
            <a:ext cx="8534399" cy="3875484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1800" dirty="0"/>
              <a:t>利用</a:t>
            </a:r>
            <a:r>
              <a:rPr lang="en-US" altLang="zh-CN" sz="1800" dirty="0"/>
              <a:t>&lt;</a:t>
            </a:r>
            <a:r>
              <a:rPr lang="en-US" altLang="zh-CN" sz="1800" dirty="0" err="1"/>
              <a:t>fieldset</a:t>
            </a:r>
            <a:r>
              <a:rPr lang="en-US" altLang="zh-CN" sz="1800" dirty="0"/>
              <a:t>&gt; &lt;/</a:t>
            </a:r>
            <a:r>
              <a:rPr lang="en-US" altLang="zh-CN" sz="1800" dirty="0" err="1"/>
              <a:t>fieldset</a:t>
            </a:r>
            <a:r>
              <a:rPr lang="en-US" altLang="zh-CN" sz="1800" dirty="0"/>
              <a:t>&gt;</a:t>
            </a:r>
            <a:r>
              <a:rPr lang="zh-CN" altLang="en-US" sz="1800" dirty="0"/>
              <a:t>域标记可将表单内的相关元素进行分组。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1800" dirty="0"/>
              <a:t>当一组表单元素放到</a:t>
            </a:r>
            <a:r>
              <a:rPr lang="en-US" altLang="zh-CN" sz="1800" dirty="0" err="1"/>
              <a:t>fieldset</a:t>
            </a:r>
            <a:r>
              <a:rPr lang="zh-CN" altLang="en-US" sz="1800" dirty="0"/>
              <a:t>标记内时，浏览器会以特殊方式来显示它们，它们可能有特殊的边界、</a:t>
            </a:r>
            <a:r>
              <a:rPr lang="en-US" altLang="zh-CN" sz="1800" dirty="0"/>
              <a:t>3D</a:t>
            </a:r>
            <a:r>
              <a:rPr lang="zh-CN" altLang="en-US" sz="1800" dirty="0"/>
              <a:t>效果，或者可创建一个子表单来处理这些元素。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dirty="0"/>
              <a:t>&lt;legend&gt; &lt;/legend&gt;</a:t>
            </a:r>
            <a:r>
              <a:rPr lang="zh-CN" altLang="en-US" sz="1800" dirty="0"/>
              <a:t>标记定义域标题。</a:t>
            </a:r>
            <a:endParaRPr lang="zh-CN" altLang="en-US" sz="1000" dirty="0"/>
          </a:p>
          <a:p>
            <a:pPr>
              <a:lnSpc>
                <a:spcPct val="90000"/>
              </a:lnSpc>
            </a:pPr>
            <a:r>
              <a:rPr lang="zh-CN" altLang="en-US" sz="1800" dirty="0">
                <a:ea typeface="宋体" panose="02010600030101010101" pitchFamily="2" charset="-122"/>
              </a:rPr>
              <a:t>基本语法	</a:t>
            </a:r>
          </a:p>
          <a:p>
            <a:pPr lvl="1">
              <a:lnSpc>
                <a:spcPts val="15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&lt;form&gt;</a:t>
            </a:r>
          </a:p>
          <a:p>
            <a:pPr lvl="1">
              <a:lnSpc>
                <a:spcPts val="15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</a:rPr>
              <a:t>    &lt;</a:t>
            </a:r>
            <a:r>
              <a:rPr lang="en-US" altLang="zh-CN" sz="1800" dirty="0" err="1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</a:rPr>
              <a:t>fieldset</a:t>
            </a:r>
            <a:r>
              <a:rPr lang="en-US" altLang="zh-CN" sz="1800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</a:rPr>
              <a:t>&gt;</a:t>
            </a:r>
          </a:p>
          <a:p>
            <a:pPr lvl="1">
              <a:lnSpc>
                <a:spcPts val="15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</a:rPr>
              <a:t>       &lt;legend align=“left | center | right”&gt;</a:t>
            </a:r>
            <a:r>
              <a:rPr lang="zh-CN" altLang="en-US" sz="1800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</a:rPr>
              <a:t>域标题</a:t>
            </a:r>
            <a:r>
              <a:rPr lang="en-US" altLang="zh-CN" sz="1800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</a:rPr>
              <a:t>&lt;/legend&gt;</a:t>
            </a:r>
          </a:p>
          <a:p>
            <a:pPr>
              <a:lnSpc>
                <a:spcPts val="15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</a:rPr>
              <a:t>             &lt;input name="" type="radio" value="" checked&gt;</a:t>
            </a:r>
          </a:p>
          <a:p>
            <a:pPr lvl="1">
              <a:lnSpc>
                <a:spcPts val="15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</a:rPr>
              <a:t>        ……</a:t>
            </a:r>
          </a:p>
          <a:p>
            <a:pPr lvl="1">
              <a:lnSpc>
                <a:spcPts val="15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</a:rPr>
              <a:t>    &lt;/</a:t>
            </a:r>
            <a:r>
              <a:rPr lang="en-US" altLang="zh-CN" sz="1800" dirty="0" err="1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</a:rPr>
              <a:t>fieldset</a:t>
            </a:r>
            <a:r>
              <a:rPr lang="en-US" altLang="zh-CN" sz="1800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</a:rPr>
              <a:t>&gt;</a:t>
            </a:r>
          </a:p>
          <a:p>
            <a:pPr lvl="1">
              <a:lnSpc>
                <a:spcPts val="15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&lt;/form&gt;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定义域和域标题</a:t>
            </a:r>
            <a:r>
              <a:rPr lang="en-US" altLang="zh-CN" dirty="0"/>
              <a:t>-</a:t>
            </a:r>
            <a:r>
              <a:rPr lang="zh-CN" altLang="en-US" dirty="0"/>
              <a:t>案例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t="27617"/>
          <a:stretch>
            <a:fillRect/>
          </a:stretch>
        </p:blipFill>
        <p:spPr bwMode="auto">
          <a:xfrm>
            <a:off x="2166620" y="4536440"/>
            <a:ext cx="6562725" cy="190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矩形 5"/>
          <p:cNvSpPr/>
          <p:nvPr/>
        </p:nvSpPr>
        <p:spPr>
          <a:xfrm>
            <a:off x="304800" y="1134110"/>
            <a:ext cx="8534400" cy="3692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505" indent="0" fontAlgn="auto"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/>
              <a:t>&lt;form&gt;</a:t>
            </a:r>
          </a:p>
          <a:p>
            <a:pPr marL="357505" indent="0" fontAlgn="auto"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/>
              <a:t>  &lt;</a:t>
            </a:r>
            <a:r>
              <a:rPr lang="en-US" altLang="zh-CN" b="0" dirty="0" err="1"/>
              <a:t>fieldset</a:t>
            </a:r>
            <a:r>
              <a:rPr lang="en-US" altLang="zh-CN" b="0" dirty="0"/>
              <a:t>&gt;</a:t>
            </a:r>
          </a:p>
          <a:p>
            <a:pPr marL="357505" indent="0" fontAlgn="auto"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/>
              <a:t>    &lt;legend align="center"&gt;</a:t>
            </a:r>
            <a:r>
              <a:rPr lang="zh-CN" altLang="en-US" b="0" dirty="0"/>
              <a:t>基本信息</a:t>
            </a:r>
            <a:r>
              <a:rPr lang="en-US" altLang="zh-CN" b="0" dirty="0"/>
              <a:t>&lt;/legend&gt;</a:t>
            </a:r>
          </a:p>
          <a:p>
            <a:pPr marL="357505" indent="0" fontAlgn="auto">
              <a:lnSpc>
                <a:spcPct val="100000"/>
              </a:lnSpc>
              <a:spcBef>
                <a:spcPts val="0"/>
              </a:spcBef>
            </a:pPr>
            <a:r>
              <a:rPr lang="zh-CN" altLang="en-US" b="0" dirty="0"/>
              <a:t>    姓名</a:t>
            </a:r>
            <a:r>
              <a:rPr lang="en-US" altLang="zh-CN" b="0" dirty="0"/>
              <a:t>: &lt;input name="name" type="text"&gt;</a:t>
            </a:r>
          </a:p>
          <a:p>
            <a:pPr marL="357505" indent="0" fontAlgn="auto">
              <a:lnSpc>
                <a:spcPct val="100000"/>
              </a:lnSpc>
              <a:spcBef>
                <a:spcPts val="0"/>
              </a:spcBef>
            </a:pPr>
            <a:r>
              <a:rPr lang="zh-CN" altLang="en-US" b="0" dirty="0"/>
              <a:t>    性别</a:t>
            </a:r>
            <a:r>
              <a:rPr lang="en-US" altLang="zh-CN" b="0" dirty="0"/>
              <a:t>: &lt;input name="sex" type="text"&gt;</a:t>
            </a:r>
          </a:p>
          <a:p>
            <a:pPr marL="357505" indent="0" fontAlgn="auto"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/>
              <a:t>  &lt;/</a:t>
            </a:r>
            <a:r>
              <a:rPr lang="en-US" altLang="zh-CN" b="0" dirty="0" err="1"/>
              <a:t>fieldset</a:t>
            </a:r>
            <a:r>
              <a:rPr lang="en-US" altLang="zh-CN" b="0" dirty="0"/>
              <a:t>&gt;</a:t>
            </a:r>
          </a:p>
          <a:p>
            <a:pPr marL="357505" indent="0" fontAlgn="auto"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/>
              <a:t>  &lt;</a:t>
            </a:r>
            <a:r>
              <a:rPr lang="en-US" altLang="zh-CN" b="0" dirty="0" err="1"/>
              <a:t>fieldset</a:t>
            </a:r>
            <a:r>
              <a:rPr lang="en-US" altLang="zh-CN" b="0" dirty="0"/>
              <a:t>&gt;</a:t>
            </a:r>
          </a:p>
          <a:p>
            <a:pPr marL="357505" indent="0" fontAlgn="auto"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/>
              <a:t>    &lt;legend align="center"&gt;</a:t>
            </a:r>
            <a:r>
              <a:rPr lang="zh-CN" altLang="en-US" b="0" dirty="0"/>
              <a:t>其他信息</a:t>
            </a:r>
            <a:r>
              <a:rPr lang="en-US" altLang="zh-CN" b="0" dirty="0"/>
              <a:t>&lt;/legend&gt;</a:t>
            </a:r>
          </a:p>
          <a:p>
            <a:pPr marL="357505" indent="0" fontAlgn="auto">
              <a:lnSpc>
                <a:spcPct val="100000"/>
              </a:lnSpc>
              <a:spcBef>
                <a:spcPts val="0"/>
              </a:spcBef>
            </a:pPr>
            <a:r>
              <a:rPr lang="zh-CN" altLang="en-US" b="0" dirty="0"/>
              <a:t>    身高</a:t>
            </a:r>
            <a:r>
              <a:rPr lang="en-US" altLang="zh-CN" b="0" dirty="0"/>
              <a:t>: &lt;input name="height" type="text"&gt;</a:t>
            </a:r>
          </a:p>
          <a:p>
            <a:pPr marL="357505" indent="0" fontAlgn="auto">
              <a:lnSpc>
                <a:spcPct val="100000"/>
              </a:lnSpc>
              <a:spcBef>
                <a:spcPts val="0"/>
              </a:spcBef>
            </a:pPr>
            <a:r>
              <a:rPr lang="zh-CN" altLang="en-US" b="0" dirty="0"/>
              <a:t>    体重</a:t>
            </a:r>
            <a:r>
              <a:rPr lang="en-US" altLang="zh-CN" b="0" dirty="0"/>
              <a:t>: &lt;input name="</a:t>
            </a:r>
            <a:r>
              <a:rPr lang="en-US" altLang="zh-CN" b="0" dirty="0" err="1"/>
              <a:t>weight"type</a:t>
            </a:r>
            <a:r>
              <a:rPr lang="en-US" altLang="zh-CN" b="0" dirty="0"/>
              <a:t>="text"&gt;</a:t>
            </a:r>
          </a:p>
          <a:p>
            <a:pPr marL="357505" indent="0" fontAlgn="auto"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/>
              <a:t>  &lt;/</a:t>
            </a:r>
            <a:r>
              <a:rPr lang="en-US" altLang="zh-CN" b="0" dirty="0" err="1"/>
              <a:t>fieldset</a:t>
            </a:r>
            <a:r>
              <a:rPr lang="en-US" altLang="zh-CN" b="0" dirty="0"/>
              <a:t>&gt;</a:t>
            </a:r>
          </a:p>
          <a:p>
            <a:pPr marL="357505" indent="0" fontAlgn="auto">
              <a:lnSpc>
                <a:spcPct val="100000"/>
              </a:lnSpc>
              <a:spcBef>
                <a:spcPts val="0"/>
              </a:spcBef>
            </a:pPr>
            <a:r>
              <a:rPr lang="en-US" altLang="zh-CN" b="0" dirty="0"/>
              <a:t>&lt;/form&gt;</a:t>
            </a:r>
          </a:p>
          <a:p>
            <a:pPr indent="0" fontAlgn="auto">
              <a:lnSpc>
                <a:spcPct val="100000"/>
              </a:lnSpc>
              <a:spcBef>
                <a:spcPts val="0"/>
              </a:spcBef>
            </a:pPr>
            <a:endParaRPr lang="en-US" altLang="zh-CN" b="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表单信息输入</a:t>
            </a:r>
            <a:endParaRPr lang="zh-CN" altLang="en-US" dirty="0"/>
          </a:p>
        </p:txBody>
      </p:sp>
      <p:sp>
        <p:nvSpPr>
          <p:cNvPr id="100355" name="Rectangle 3"/>
          <p:cNvSpPr>
            <a:spLocks noGrp="1" noChangeArrowheads="1"/>
          </p:cNvSpPr>
          <p:nvPr>
            <p:ph idx="1"/>
          </p:nvPr>
        </p:nvSpPr>
        <p:spPr>
          <a:xfrm>
            <a:off x="502285" y="1185545"/>
            <a:ext cx="8509000" cy="1295400"/>
          </a:xfrm>
        </p:spPr>
        <p:txBody>
          <a:bodyPr>
            <a:normAutofit/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1600" dirty="0">
                <a:ea typeface="宋体" panose="02010600030101010101" pitchFamily="2" charset="-122"/>
              </a:rPr>
              <a:t>       </a:t>
            </a:r>
            <a:r>
              <a:rPr lang="zh-CN" altLang="en-US" sz="1600" dirty="0">
                <a:latin typeface="+mj-ea"/>
                <a:ea typeface="+mj-ea"/>
              </a:rPr>
              <a:t>表单的主要功能是为用户提供输入信息的接口，将输入信息发送请求到服务器并等待服务器响应。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      &lt;form&gt;&lt;input name="" type=" "    &gt;&lt;/form&gt;</a:t>
            </a:r>
          </a:p>
        </p:txBody>
      </p:sp>
      <p:graphicFrame>
        <p:nvGraphicFramePr>
          <p:cNvPr id="19546" name="Group 90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0134200"/>
              </p:ext>
            </p:extLst>
          </p:nvPr>
        </p:nvGraphicFramePr>
        <p:xfrm>
          <a:off x="502285" y="2781300"/>
          <a:ext cx="8229600" cy="233045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152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1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163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800100" algn="l"/>
                        </a:tabLst>
                      </a:pPr>
                      <a:r>
                        <a:rPr kumimoji="0" lang="zh-CN" alt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属性</a:t>
                      </a:r>
                      <a:endParaRPr kumimoji="0" lang="zh-CN" altLang="en-US" sz="2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800100" algn="l"/>
                        </a:tabLst>
                      </a:pPr>
                      <a:r>
                        <a:rPr kumimoji="0" lang="zh-CN" alt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值</a:t>
                      </a:r>
                      <a:endParaRPr kumimoji="0" lang="zh-CN" altLang="en-US" sz="2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说明</a:t>
                      </a:r>
                      <a:endParaRPr kumimoji="0" lang="zh-CN" altLang="en-US" sz="2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800100" algn="l"/>
                        </a:tabLst>
                      </a:pPr>
                      <a:r>
                        <a:rPr kumimoji="0" lang="en-US" altLang="zh-CN" sz="14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name</a:t>
                      </a:r>
                      <a:endParaRPr kumimoji="0" lang="en-US" altLang="zh-CN" sz="2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name</a:t>
                      </a:r>
                      <a:endParaRPr kumimoji="0" lang="en-US" altLang="zh-CN" sz="2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5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定义</a:t>
                      </a:r>
                      <a:r>
                        <a:rPr kumimoji="0" lang="en-US" altLang="zh-CN" sz="15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input</a:t>
                      </a:r>
                      <a:r>
                        <a:rPr kumimoji="0" lang="zh-CN" altLang="en-US" sz="15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元素的名称。</a:t>
                      </a:r>
                      <a:endParaRPr kumimoji="0" lang="zh-CN" altLang="en-US" sz="3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800100" algn="l"/>
                        </a:tabLst>
                      </a:pPr>
                      <a:r>
                        <a:rPr kumimoji="0" lang="en-US" altLang="zh-CN" sz="14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type</a:t>
                      </a:r>
                      <a:endParaRPr kumimoji="0" lang="en-US" altLang="zh-CN" sz="2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26670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text |password |</a:t>
                      </a:r>
                    </a:p>
                    <a:p>
                      <a:pPr marL="0" marR="0" lvl="0" indent="26670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checkbox |radio |image |submit |reset |button |file |hidden</a:t>
                      </a:r>
                      <a:endParaRPr kumimoji="0" lang="en-US" altLang="zh-CN" sz="2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5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规定</a:t>
                      </a:r>
                      <a:r>
                        <a:rPr kumimoji="0" lang="en-US" altLang="zh-CN" sz="15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input</a:t>
                      </a:r>
                      <a:r>
                        <a:rPr kumimoji="0" lang="zh-CN" altLang="en-US" sz="15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元素的类型。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text</a:t>
                      </a:r>
                      <a:r>
                        <a:rPr kumimoji="0" lang="zh-CN" altLang="en-US" sz="15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为单行文本输入框，</a:t>
                      </a:r>
                      <a:r>
                        <a:rPr kumimoji="0" lang="en-US" altLang="zh-CN" sz="15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password</a:t>
                      </a:r>
                      <a:r>
                        <a:rPr kumimoji="0" lang="zh-CN" altLang="en-US" sz="15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为密码输入框，</a:t>
                      </a:r>
                      <a:r>
                        <a:rPr kumimoji="0" lang="en-US" altLang="zh-CN" sz="1500" u="none" strike="noStrike" cap="none" normalizeH="0" baseline="0" dirty="0">
                          <a:ln>
                            <a:noFill/>
                          </a:ln>
                          <a:effectLst/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checkbox</a:t>
                      </a:r>
                      <a:r>
                        <a:rPr kumimoji="0" lang="zh-CN" altLang="en-US" sz="1500" u="none" strike="noStrike" cap="none" normalizeH="0" baseline="0" dirty="0">
                          <a:ln>
                            <a:noFill/>
                          </a:ln>
                          <a:effectLst/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为复选框</a:t>
                      </a:r>
                      <a:r>
                        <a:rPr kumimoji="0" lang="zh-CN" altLang="en-US" sz="15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，</a:t>
                      </a:r>
                      <a:r>
                        <a:rPr kumimoji="0" lang="en-US" altLang="zh-CN" sz="1500" u="none" strike="noStrike" cap="none" normalizeH="0" baseline="0" dirty="0">
                          <a:ln>
                            <a:noFill/>
                          </a:ln>
                          <a:effectLst/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radio</a:t>
                      </a:r>
                      <a:r>
                        <a:rPr kumimoji="0" lang="zh-CN" altLang="en-US" sz="1500" u="none" strike="noStrike" cap="none" normalizeH="0" baseline="0" dirty="0">
                          <a:ln>
                            <a:noFill/>
                          </a:ln>
                          <a:effectLst/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为单选按钮</a:t>
                      </a:r>
                      <a:r>
                        <a:rPr kumimoji="0" lang="zh-CN" altLang="en-US" sz="15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，</a:t>
                      </a:r>
                      <a:r>
                        <a:rPr kumimoji="0" lang="en-US" altLang="zh-CN" sz="15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image</a:t>
                      </a:r>
                      <a:r>
                        <a:rPr kumimoji="0" lang="zh-CN" altLang="en-US" sz="15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为图像按钮，</a:t>
                      </a:r>
                      <a:r>
                        <a:rPr kumimoji="0" lang="en-US" altLang="zh-CN" sz="15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submit</a:t>
                      </a:r>
                      <a:r>
                        <a:rPr kumimoji="0" lang="zh-CN" altLang="en-US" sz="15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为提交按钮，</a:t>
                      </a:r>
                      <a:r>
                        <a:rPr kumimoji="0" lang="en-US" altLang="zh-CN" sz="15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reset</a:t>
                      </a:r>
                      <a:r>
                        <a:rPr kumimoji="0" lang="zh-CN" altLang="en-US" sz="15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为重置按钮，</a:t>
                      </a:r>
                      <a:r>
                        <a:rPr kumimoji="0" lang="en-US" altLang="zh-CN" sz="15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button</a:t>
                      </a:r>
                      <a:r>
                        <a:rPr kumimoji="0" lang="zh-CN" altLang="en-US" sz="15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为普通按钮，</a:t>
                      </a:r>
                      <a:r>
                        <a:rPr kumimoji="0" lang="en-US" altLang="zh-CN" sz="15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file</a:t>
                      </a:r>
                      <a:r>
                        <a:rPr kumimoji="0" lang="zh-CN" altLang="en-US" sz="15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为文件选择框，</a:t>
                      </a:r>
                      <a:r>
                        <a:rPr kumimoji="0" lang="en-US" altLang="zh-CN" sz="1500" u="none" strike="noStrike" cap="none" normalizeH="0" baseline="0" dirty="0">
                          <a:ln>
                            <a:noFill/>
                          </a:ln>
                          <a:effectLst/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hidden</a:t>
                      </a:r>
                      <a:r>
                        <a:rPr kumimoji="0" lang="zh-CN" altLang="en-US" sz="1500" u="none" strike="noStrike" cap="none" normalizeH="0" baseline="0" dirty="0">
                          <a:ln>
                            <a:noFill/>
                          </a:ln>
                          <a:effectLst/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为隐藏框。</a:t>
                      </a:r>
                      <a:endParaRPr kumimoji="0" lang="zh-CN" altLang="en-US" sz="3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34290" marB="3429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1"/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单行文本输入框、密码框文本框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idx="1"/>
          </p:nvPr>
        </p:nvSpPr>
        <p:spPr>
          <a:xfrm>
            <a:off x="377825" y="1428115"/>
            <a:ext cx="8493125" cy="4572635"/>
          </a:xfrm>
        </p:spPr>
        <p:txBody>
          <a:bodyPr>
            <a:normAutofit/>
          </a:bodyPr>
          <a:lstStyle/>
          <a:p>
            <a:pPr marL="0" lvl="1" indent="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     &lt;input name="" </a:t>
            </a:r>
            <a:r>
              <a:rPr lang="en-US" altLang="zh-CN" sz="1800" u="sng" dirty="0">
                <a:solidFill>
                  <a:srgbClr val="FF0000"/>
                </a:solidFill>
                <a:ea typeface="宋体" panose="02010600030101010101" pitchFamily="2" charset="-122"/>
              </a:rPr>
              <a:t>type="text"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1800" dirty="0" err="1">
                <a:solidFill>
                  <a:srgbClr val="FF0000"/>
                </a:solidFill>
                <a:ea typeface="宋体" panose="02010600030101010101" pitchFamily="2" charset="-122"/>
              </a:rPr>
              <a:t>maxlength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="" size="" value="“  </a:t>
            </a:r>
            <a:r>
              <a:rPr lang="en-US" altLang="zh-CN" sz="1800" dirty="0" err="1">
                <a:solidFill>
                  <a:srgbClr val="FF0000"/>
                </a:solidFill>
                <a:ea typeface="宋体" panose="02010600030101010101" pitchFamily="2" charset="-122"/>
              </a:rPr>
              <a:t>readonly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 &gt;</a:t>
            </a:r>
          </a:p>
          <a:p>
            <a:pPr marL="0" lvl="1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     &lt;input  name=</a:t>
            </a:r>
            <a:r>
              <a:rPr lang="en-US" altLang="zh-CN" sz="1800" dirty="0">
                <a:solidFill>
                  <a:srgbClr val="FF0000"/>
                </a:solidFill>
              </a:rPr>
              <a:t>" “ 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  type="password"  </a:t>
            </a:r>
            <a:r>
              <a:rPr lang="en-US" altLang="zh-CN" sz="1800" dirty="0" err="1">
                <a:solidFill>
                  <a:srgbClr val="FF0000"/>
                </a:solidFill>
                <a:ea typeface="宋体" panose="02010600030101010101" pitchFamily="2" charset="-122"/>
              </a:rPr>
              <a:t>maxlength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=""  size=""&gt;</a:t>
            </a:r>
          </a:p>
          <a:p>
            <a:pPr marL="0" lvl="1" indent="0">
              <a:spcBef>
                <a:spcPts val="600"/>
              </a:spcBef>
              <a:spcAft>
                <a:spcPts val="600"/>
              </a:spcAft>
              <a:buNone/>
            </a:pPr>
            <a:endParaRPr lang="en-US" altLang="zh-CN" sz="20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0" lvl="1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1600" dirty="0">
                <a:solidFill>
                  <a:schemeClr val="tx1"/>
                </a:solidFill>
                <a:latin typeface="+mj-ea"/>
              </a:rPr>
              <a:t>注：</a:t>
            </a:r>
            <a:r>
              <a:rPr lang="en-US" altLang="zh-CN" sz="1600" dirty="0" err="1">
                <a:solidFill>
                  <a:schemeClr val="tx1"/>
                </a:solidFill>
                <a:latin typeface="+mj-ea"/>
              </a:rPr>
              <a:t>maxlength</a:t>
            </a:r>
            <a:r>
              <a:rPr lang="zh-CN" altLang="en-US" sz="1600" dirty="0">
                <a:solidFill>
                  <a:schemeClr val="tx1"/>
                </a:solidFill>
                <a:latin typeface="+mj-ea"/>
              </a:rPr>
              <a:t>：设置单行输入框</a:t>
            </a:r>
            <a:r>
              <a:rPr lang="zh-CN" altLang="en-US" sz="1600" u="sng" dirty="0">
                <a:solidFill>
                  <a:schemeClr val="tx1"/>
                </a:solidFill>
                <a:latin typeface="+mj-ea"/>
              </a:rPr>
              <a:t>输入</a:t>
            </a:r>
            <a:r>
              <a:rPr lang="zh-CN" altLang="en-US" sz="1600" dirty="0">
                <a:solidFill>
                  <a:schemeClr val="tx1"/>
                </a:solidFill>
                <a:latin typeface="+mj-ea"/>
              </a:rPr>
              <a:t>的最大字符数；</a:t>
            </a:r>
            <a:endParaRPr lang="en-US" altLang="zh-CN" sz="1600" dirty="0">
              <a:solidFill>
                <a:schemeClr val="tx1"/>
              </a:solidFill>
              <a:latin typeface="+mj-ea"/>
            </a:endParaRPr>
          </a:p>
          <a:p>
            <a:pPr marL="541655" lvl="1" indent="-92075">
              <a:spcBef>
                <a:spcPts val="600"/>
              </a:spcBef>
              <a:spcAft>
                <a:spcPts val="600"/>
              </a:spcAft>
              <a:buNone/>
              <a:tabLst>
                <a:tab pos="541020" algn="l"/>
              </a:tabLst>
            </a:pPr>
            <a:r>
              <a:rPr lang="en-US" altLang="zh-CN" sz="1600" dirty="0">
                <a:solidFill>
                  <a:schemeClr val="tx1"/>
                </a:solidFill>
                <a:latin typeface="+mj-ea"/>
              </a:rPr>
              <a:t>size</a:t>
            </a:r>
            <a:r>
              <a:rPr lang="zh-CN" altLang="en-US" sz="1600" dirty="0">
                <a:solidFill>
                  <a:schemeClr val="tx1"/>
                </a:solidFill>
                <a:latin typeface="+mj-ea"/>
              </a:rPr>
              <a:t>：设置单行输入框可</a:t>
            </a:r>
            <a:r>
              <a:rPr lang="zh-CN" altLang="en-US" sz="1600" u="sng" dirty="0">
                <a:solidFill>
                  <a:schemeClr val="tx1"/>
                </a:solidFill>
                <a:latin typeface="+mj-ea"/>
              </a:rPr>
              <a:t>显示</a:t>
            </a:r>
            <a:r>
              <a:rPr lang="zh-CN" altLang="en-US" sz="1600" dirty="0">
                <a:solidFill>
                  <a:schemeClr val="tx1"/>
                </a:solidFill>
                <a:latin typeface="+mj-ea"/>
              </a:rPr>
              <a:t>的最大字符数；</a:t>
            </a:r>
            <a:endParaRPr lang="en-US" altLang="zh-CN" sz="1600" dirty="0">
              <a:solidFill>
                <a:schemeClr val="tx1"/>
              </a:solidFill>
              <a:latin typeface="+mj-ea"/>
            </a:endParaRPr>
          </a:p>
          <a:p>
            <a:pPr marL="541655" lvl="1" indent="-92075">
              <a:spcBef>
                <a:spcPts val="600"/>
              </a:spcBef>
              <a:spcAft>
                <a:spcPts val="600"/>
              </a:spcAft>
              <a:buNone/>
              <a:tabLst>
                <a:tab pos="541020" algn="l"/>
              </a:tabLst>
            </a:pPr>
            <a:r>
              <a:rPr lang="en-US" altLang="zh-CN" sz="1600" dirty="0">
                <a:solidFill>
                  <a:schemeClr val="tx1"/>
                </a:solidFill>
                <a:latin typeface="+mj-ea"/>
              </a:rPr>
              <a:t>value</a:t>
            </a:r>
            <a:r>
              <a:rPr lang="zh-CN" altLang="en-US" sz="1600" dirty="0">
                <a:solidFill>
                  <a:schemeClr val="tx1"/>
                </a:solidFill>
                <a:latin typeface="+mj-ea"/>
              </a:rPr>
              <a:t>：文本框的值，指定输入框中</a:t>
            </a:r>
            <a:r>
              <a:rPr lang="zh-CN" altLang="en-US" sz="1600" u="sng" dirty="0">
                <a:solidFill>
                  <a:schemeClr val="tx1"/>
                </a:solidFill>
                <a:latin typeface="+mj-ea"/>
              </a:rPr>
              <a:t>初始值</a:t>
            </a:r>
            <a:r>
              <a:rPr lang="zh-CN" altLang="en-US" sz="1600" dirty="0">
                <a:solidFill>
                  <a:schemeClr val="tx1"/>
                </a:solidFill>
                <a:latin typeface="+mj-ea"/>
              </a:rPr>
              <a:t>；</a:t>
            </a:r>
            <a:endParaRPr lang="en-US" altLang="zh-CN" sz="1600" dirty="0">
              <a:solidFill>
                <a:schemeClr val="tx1"/>
              </a:solidFill>
              <a:latin typeface="+mj-ea"/>
            </a:endParaRPr>
          </a:p>
          <a:p>
            <a:pPr marL="541655" lvl="1" indent="-92075">
              <a:spcBef>
                <a:spcPts val="600"/>
              </a:spcBef>
              <a:spcAft>
                <a:spcPts val="600"/>
              </a:spcAft>
              <a:buNone/>
              <a:tabLst>
                <a:tab pos="541020" algn="l"/>
              </a:tabLst>
            </a:pPr>
            <a:r>
              <a:rPr lang="en-US" altLang="zh-CN" sz="1600" dirty="0" err="1">
                <a:solidFill>
                  <a:schemeClr val="tx1"/>
                </a:solidFill>
                <a:latin typeface="+mj-ea"/>
              </a:rPr>
              <a:t>readonly</a:t>
            </a:r>
            <a:r>
              <a:rPr lang="en-US" altLang="zh-CN" sz="1600" dirty="0">
                <a:solidFill>
                  <a:schemeClr val="tx1"/>
                </a:solidFill>
                <a:latin typeface="+mj-ea"/>
              </a:rPr>
              <a:t>:</a:t>
            </a:r>
            <a:r>
              <a:rPr lang="zh-CN" altLang="en-US" sz="1600" dirty="0">
                <a:solidFill>
                  <a:schemeClr val="tx1"/>
                </a:solidFill>
                <a:latin typeface="+mj-ea"/>
              </a:rPr>
              <a:t>只读</a:t>
            </a:r>
            <a:r>
              <a:rPr lang="en-US" altLang="zh-CN" sz="1600" dirty="0">
                <a:solidFill>
                  <a:schemeClr val="tx1"/>
                </a:solidFill>
                <a:latin typeface="+mj-ea"/>
              </a:rPr>
              <a:t>,</a:t>
            </a:r>
            <a:r>
              <a:rPr lang="zh-CN" altLang="en-US" sz="1600" dirty="0">
                <a:solidFill>
                  <a:schemeClr val="tx1"/>
                </a:solidFill>
                <a:latin typeface="+mj-ea"/>
              </a:rPr>
              <a:t>文本框不可编辑。</a:t>
            </a:r>
            <a:endParaRPr lang="en-US" altLang="zh-CN" sz="1600" dirty="0">
              <a:solidFill>
                <a:schemeClr val="tx1"/>
              </a:solidFill>
              <a:latin typeface="+mj-ea"/>
            </a:endParaRPr>
          </a:p>
          <a:p>
            <a:pPr marL="0" lvl="1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1600" dirty="0">
                <a:solidFill>
                  <a:schemeClr val="tx1"/>
                </a:solidFill>
                <a:ea typeface="黑体" panose="02010609060101010101" charset="-122"/>
              </a:rPr>
              <a:t>     密码输入框与单行文本输入框的区别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1" y="517286"/>
            <a:ext cx="7761287" cy="567929"/>
          </a:xfrm>
        </p:spPr>
        <p:txBody>
          <a:bodyPr>
            <a:normAutofit/>
          </a:bodyPr>
          <a:lstStyle/>
          <a:p>
            <a:r>
              <a:rPr lang="zh-CN" altLang="en-US" dirty="0"/>
              <a:t>复选框、单选按钮</a:t>
            </a:r>
          </a:p>
        </p:txBody>
      </p:sp>
      <p:sp>
        <p:nvSpPr>
          <p:cNvPr id="22530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68145"/>
            <a:ext cx="8534400" cy="4598670"/>
          </a:xfrm>
        </p:spPr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&lt;input name="" type="checkbox" value="" checked&gt;</a:t>
            </a:r>
            <a:endParaRPr lang="en-US" altLang="zh-CN" dirty="0">
              <a:latin typeface="+mj-ea"/>
            </a:endParaRPr>
          </a:p>
          <a:p>
            <a:pPr lvl="1">
              <a:buNone/>
            </a:pP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&lt;input name="" type="radio"  value="" checked&gt;</a:t>
            </a:r>
          </a:p>
          <a:p>
            <a:pPr marL="0" lvl="1" indent="0">
              <a:buNone/>
            </a:pPr>
            <a:endParaRPr lang="zh-CN" altLang="en-US" dirty="0">
              <a:latin typeface="+mj-ea"/>
            </a:endParaRPr>
          </a:p>
          <a:p>
            <a:pPr marL="0" lvl="1" indent="0">
              <a:buNone/>
            </a:pPr>
            <a:endParaRPr lang="zh-CN" altLang="en-US" sz="1600" dirty="0">
              <a:latin typeface="+mj-ea"/>
            </a:endParaRPr>
          </a:p>
          <a:p>
            <a:pPr marL="0" lvl="1" indent="0">
              <a:buNone/>
            </a:pPr>
            <a:r>
              <a:rPr lang="zh-CN" altLang="en-US" sz="1600" dirty="0">
                <a:latin typeface="+mj-ea"/>
              </a:rPr>
              <a:t>注：</a:t>
            </a:r>
            <a:r>
              <a:rPr lang="en-US" altLang="zh-CN" sz="1600" dirty="0">
                <a:latin typeface="+mj-ea"/>
              </a:rPr>
              <a:t>checked</a:t>
            </a:r>
            <a:r>
              <a:rPr lang="zh-CN" altLang="en-US" sz="1600" dirty="0">
                <a:latin typeface="+mj-ea"/>
              </a:rPr>
              <a:t>表示预选中。</a:t>
            </a:r>
          </a:p>
          <a:p>
            <a:pPr marL="0" lvl="1" indent="0">
              <a:buNone/>
            </a:pPr>
            <a:r>
              <a:rPr lang="zh-CN" altLang="en-US" sz="1600" dirty="0">
                <a:highlight>
                  <a:srgbClr val="FFFF00"/>
                </a:highlight>
                <a:latin typeface="+mj-ea"/>
              </a:rPr>
              <a:t>每一个复选框</a:t>
            </a:r>
            <a:r>
              <a:rPr lang="en-US" altLang="zh-CN" sz="1600" dirty="0">
                <a:highlight>
                  <a:srgbClr val="FFFF00"/>
                </a:highlight>
                <a:latin typeface="+mj-ea"/>
              </a:rPr>
              <a:t>name</a:t>
            </a:r>
            <a:r>
              <a:rPr lang="zh-CN" altLang="en-US" sz="1600" dirty="0">
                <a:highlight>
                  <a:srgbClr val="FFFF00"/>
                </a:highlight>
                <a:latin typeface="+mj-ea"/>
              </a:rPr>
              <a:t>、</a:t>
            </a:r>
            <a:r>
              <a:rPr lang="en-US" altLang="zh-CN" sz="1600" dirty="0">
                <a:highlight>
                  <a:srgbClr val="FFFF00"/>
                </a:highlight>
                <a:latin typeface="+mj-ea"/>
              </a:rPr>
              <a:t>value</a:t>
            </a:r>
            <a:r>
              <a:rPr lang="zh-CN" altLang="en-US" sz="1600" dirty="0">
                <a:highlight>
                  <a:srgbClr val="FFFF00"/>
                </a:highlight>
                <a:latin typeface="+mj-ea"/>
              </a:rPr>
              <a:t>属性都是不同的。</a:t>
            </a:r>
          </a:p>
          <a:p>
            <a:pPr marL="0" lvl="1" indent="0">
              <a:buNone/>
            </a:pPr>
            <a:r>
              <a:rPr lang="zh-CN" altLang="en-US" sz="1600" dirty="0">
                <a:highlight>
                  <a:srgbClr val="FFFF00"/>
                </a:highlight>
                <a:latin typeface="+mj-ea"/>
              </a:rPr>
              <a:t>每组单选按钮的</a:t>
            </a:r>
            <a:r>
              <a:rPr lang="en-US" altLang="zh-CN" sz="1600" dirty="0">
                <a:highlight>
                  <a:srgbClr val="FFFF00"/>
                </a:highlight>
                <a:latin typeface="+mj-ea"/>
              </a:rPr>
              <a:t>name</a:t>
            </a:r>
            <a:r>
              <a:rPr lang="zh-CN" altLang="en-US" sz="1600" dirty="0">
                <a:highlight>
                  <a:srgbClr val="FFFF00"/>
                </a:highlight>
                <a:latin typeface="+mj-ea"/>
              </a:rPr>
              <a:t>值必须相同，而</a:t>
            </a:r>
            <a:r>
              <a:rPr lang="en-US" altLang="zh-CN" sz="1600" dirty="0">
                <a:highlight>
                  <a:srgbClr val="FFFF00"/>
                </a:highlight>
                <a:latin typeface="+mj-ea"/>
              </a:rPr>
              <a:t>value</a:t>
            </a:r>
            <a:r>
              <a:rPr lang="zh-CN" altLang="en-US" sz="1600" dirty="0">
                <a:highlight>
                  <a:srgbClr val="FFFF00"/>
                </a:highlight>
                <a:latin typeface="+mj-ea"/>
              </a:rPr>
              <a:t>属性值必须不同。</a:t>
            </a:r>
            <a:endParaRPr lang="zh-CN" altLang="en-US" sz="1600" dirty="0">
              <a:highlight>
                <a:srgbClr val="FFFF00"/>
              </a:highlight>
              <a:latin typeface="+mj-ea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单选按钮、复选框案例 </a:t>
            </a:r>
          </a:p>
        </p:txBody>
      </p:sp>
      <p:sp>
        <p:nvSpPr>
          <p:cNvPr id="23556" name="Rectangle 5"/>
          <p:cNvSpPr>
            <a:spLocks noChangeArrowheads="1"/>
          </p:cNvSpPr>
          <p:nvPr/>
        </p:nvSpPr>
        <p:spPr bwMode="auto">
          <a:xfrm>
            <a:off x="502285" y="1298575"/>
            <a:ext cx="7981950" cy="27997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en-US" altLang="zh-CN" sz="1600" dirty="0"/>
              <a:t>&lt;fieldset&gt;</a:t>
            </a:r>
          </a:p>
          <a:p>
            <a:pPr fontAlgn="auto">
              <a:lnSpc>
                <a:spcPct val="100000"/>
              </a:lnSpc>
            </a:pPr>
            <a:r>
              <a:rPr lang="en-US" altLang="zh-CN" sz="1600" dirty="0"/>
              <a:t>  &lt;legend&gt;</a:t>
            </a:r>
            <a:r>
              <a:rPr lang="zh-CN" altLang="en-US" sz="1600" dirty="0"/>
              <a:t>请填写个人信息</a:t>
            </a:r>
            <a:r>
              <a:rPr lang="en-US" altLang="zh-CN" sz="1600" dirty="0"/>
              <a:t>&lt;/legend&gt;&lt;</a:t>
            </a:r>
            <a:r>
              <a:rPr lang="en-US" altLang="zh-CN" sz="1600" dirty="0" err="1"/>
              <a:t>br</a:t>
            </a:r>
            <a:r>
              <a:rPr lang="en-US" altLang="zh-CN" sz="1600" dirty="0"/>
              <a:t>&gt;</a:t>
            </a:r>
          </a:p>
          <a:p>
            <a:pPr fontAlgn="auto">
              <a:lnSpc>
                <a:spcPct val="100000"/>
              </a:lnSpc>
            </a:pPr>
            <a:r>
              <a:rPr lang="zh-CN" altLang="en-US" sz="1600" dirty="0"/>
              <a:t>  姓名：</a:t>
            </a:r>
            <a:r>
              <a:rPr lang="en-US" altLang="zh-CN" sz="1600" dirty="0"/>
              <a:t>&lt;input type="text" name="</a:t>
            </a:r>
            <a:r>
              <a:rPr lang="en-US" altLang="zh-CN" sz="1600" dirty="0" err="1"/>
              <a:t>xm</a:t>
            </a:r>
            <a:r>
              <a:rPr lang="en-US" altLang="zh-CN" sz="1600" dirty="0"/>
              <a:t>" </a:t>
            </a:r>
            <a:r>
              <a:rPr lang="en-US" altLang="zh-CN" sz="1600" dirty="0" err="1"/>
              <a:t>maxlength</a:t>
            </a:r>
            <a:r>
              <a:rPr lang="en-US" altLang="zh-CN" sz="1600" dirty="0"/>
              <a:t>="10" size="10"&gt;&lt;</a:t>
            </a:r>
            <a:r>
              <a:rPr lang="en-US" altLang="zh-CN" sz="1600" dirty="0" err="1"/>
              <a:t>br</a:t>
            </a:r>
            <a:r>
              <a:rPr lang="en-US" altLang="zh-CN" sz="1600" dirty="0"/>
              <a:t>&gt;</a:t>
            </a:r>
          </a:p>
          <a:p>
            <a:pPr fontAlgn="auto">
              <a:lnSpc>
                <a:spcPct val="100000"/>
              </a:lnSpc>
            </a:pPr>
            <a:r>
              <a:rPr lang="zh-CN" altLang="en-US" sz="1600" dirty="0">
                <a:highlight>
                  <a:srgbClr val="FFFF00"/>
                </a:highlight>
              </a:rPr>
              <a:t>  爱好：</a:t>
            </a:r>
            <a:r>
              <a:rPr lang="en-US" altLang="zh-CN" sz="1600" dirty="0">
                <a:highlight>
                  <a:srgbClr val="FFFF00"/>
                </a:highlight>
              </a:rPr>
              <a:t>&lt;input type="checkbox" name="c1" value="</a:t>
            </a:r>
            <a:r>
              <a:rPr lang="zh-CN" altLang="en-US" sz="1600" dirty="0">
                <a:highlight>
                  <a:srgbClr val="FFFF00"/>
                </a:highlight>
              </a:rPr>
              <a:t>读书</a:t>
            </a:r>
            <a:r>
              <a:rPr lang="en-US" altLang="zh-CN" sz="1600" dirty="0">
                <a:highlight>
                  <a:srgbClr val="FFFF00"/>
                </a:highlight>
              </a:rPr>
              <a:t>"/&gt;</a:t>
            </a:r>
            <a:r>
              <a:rPr lang="zh-CN" altLang="en-US" sz="1600" dirty="0">
                <a:highlight>
                  <a:srgbClr val="FFFF00"/>
                </a:highlight>
              </a:rPr>
              <a:t>读书</a:t>
            </a:r>
          </a:p>
          <a:p>
            <a:pPr fontAlgn="auto">
              <a:lnSpc>
                <a:spcPct val="100000"/>
              </a:lnSpc>
            </a:pPr>
            <a:r>
              <a:rPr lang="en-US" altLang="zh-CN" sz="1600" dirty="0">
                <a:highlight>
                  <a:srgbClr val="FFFF00"/>
                </a:highlight>
              </a:rPr>
              <a:t>  &lt;input type="checkbox" name="c2" value="</a:t>
            </a:r>
            <a:r>
              <a:rPr lang="zh-CN" altLang="en-US" sz="1600" dirty="0">
                <a:highlight>
                  <a:srgbClr val="FFFF00"/>
                </a:highlight>
              </a:rPr>
              <a:t>唱歌</a:t>
            </a:r>
            <a:r>
              <a:rPr lang="en-US" altLang="zh-CN" sz="1600" dirty="0">
                <a:highlight>
                  <a:srgbClr val="FFFF00"/>
                </a:highlight>
              </a:rPr>
              <a:t>" checked="checked"/&gt;</a:t>
            </a:r>
            <a:r>
              <a:rPr lang="zh-CN" altLang="en-US" sz="1600" dirty="0">
                <a:highlight>
                  <a:srgbClr val="FFFF00"/>
                </a:highlight>
              </a:rPr>
              <a:t>唱歌</a:t>
            </a:r>
          </a:p>
          <a:p>
            <a:pPr fontAlgn="auto">
              <a:lnSpc>
                <a:spcPct val="100000"/>
              </a:lnSpc>
            </a:pPr>
            <a:r>
              <a:rPr lang="en-US" altLang="zh-CN" sz="1600" dirty="0">
                <a:highlight>
                  <a:srgbClr val="FFFF00"/>
                </a:highlight>
              </a:rPr>
              <a:t>  &lt;input type="checkbox" name="c3" value="</a:t>
            </a:r>
            <a:r>
              <a:rPr lang="zh-CN" altLang="en-US" sz="1600" dirty="0">
                <a:highlight>
                  <a:srgbClr val="FFFF00"/>
                </a:highlight>
              </a:rPr>
              <a:t>游戏</a:t>
            </a:r>
            <a:r>
              <a:rPr lang="en-US" altLang="zh-CN" sz="1600" dirty="0">
                <a:highlight>
                  <a:srgbClr val="FFFF00"/>
                </a:highlight>
              </a:rPr>
              <a:t>" checked="checked"/&gt;</a:t>
            </a:r>
            <a:r>
              <a:rPr lang="zh-CN" altLang="en-US" sz="1600" dirty="0">
                <a:highlight>
                  <a:srgbClr val="FFFF00"/>
                </a:highlight>
              </a:rPr>
              <a:t>游戏</a:t>
            </a:r>
            <a:r>
              <a:rPr lang="en-US" altLang="zh-CN" sz="1600" dirty="0">
                <a:highlight>
                  <a:srgbClr val="FFFF00"/>
                </a:highlight>
              </a:rPr>
              <a:t>&lt;</a:t>
            </a:r>
            <a:r>
              <a:rPr lang="en-US" altLang="zh-CN" sz="1600" dirty="0" err="1">
                <a:highlight>
                  <a:srgbClr val="FFFF00"/>
                </a:highlight>
              </a:rPr>
              <a:t>br</a:t>
            </a:r>
            <a:r>
              <a:rPr lang="en-US" altLang="zh-CN" sz="1600" dirty="0">
                <a:highlight>
                  <a:srgbClr val="FFFF00"/>
                </a:highlight>
              </a:rPr>
              <a:t>&gt;</a:t>
            </a:r>
          </a:p>
          <a:p>
            <a:pPr fontAlgn="auto">
              <a:lnSpc>
                <a:spcPct val="100000"/>
              </a:lnSpc>
            </a:pPr>
            <a:r>
              <a:rPr lang="zh-CN" altLang="en-US" sz="1600" dirty="0"/>
              <a:t>  性别：</a:t>
            </a:r>
          </a:p>
          <a:p>
            <a:pPr fontAlgn="auto">
              <a:lnSpc>
                <a:spcPct val="100000"/>
              </a:lnSpc>
            </a:pPr>
            <a:r>
              <a:rPr lang="en-US" altLang="zh-CN" sz="1600" dirty="0"/>
              <a:t>    &lt;input type="radio" name="sex" value="male" checked="checked"/&gt;</a:t>
            </a:r>
            <a:r>
              <a:rPr lang="zh-CN" altLang="en-US" sz="1600" dirty="0"/>
              <a:t>男性</a:t>
            </a:r>
          </a:p>
          <a:p>
            <a:pPr fontAlgn="auto">
              <a:lnSpc>
                <a:spcPct val="100000"/>
              </a:lnSpc>
            </a:pPr>
            <a:r>
              <a:rPr lang="en-US" altLang="zh-CN" sz="1600" dirty="0"/>
              <a:t>    &lt;input type="radio" name="sex" value="female"/&gt;</a:t>
            </a:r>
            <a:r>
              <a:rPr lang="zh-CN" altLang="en-US" sz="1600" dirty="0"/>
              <a:t>女性</a:t>
            </a:r>
          </a:p>
          <a:p>
            <a:pPr fontAlgn="auto">
              <a:lnSpc>
                <a:spcPct val="100000"/>
              </a:lnSpc>
            </a:pPr>
            <a:r>
              <a:rPr lang="en-US" altLang="zh-CN" sz="1600" dirty="0"/>
              <a:t>&lt;/</a:t>
            </a:r>
            <a:r>
              <a:rPr lang="en-US" altLang="zh-CN" sz="1600" dirty="0" err="1"/>
              <a:t>fieldset</a:t>
            </a:r>
            <a:r>
              <a:rPr lang="en-US" altLang="zh-CN" sz="1600" dirty="0"/>
              <a:t>&gt;	</a:t>
            </a:r>
          </a:p>
          <a:p>
            <a:pPr fontAlgn="auto">
              <a:lnSpc>
                <a:spcPct val="100000"/>
              </a:lnSpc>
            </a:pPr>
            <a:endParaRPr lang="en-US" altLang="zh-CN" sz="16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 t="32866"/>
          <a:stretch>
            <a:fillRect/>
          </a:stretch>
        </p:blipFill>
        <p:spPr bwMode="auto">
          <a:xfrm>
            <a:off x="1333500" y="4511675"/>
            <a:ext cx="49657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图像按钮 </a:t>
            </a:r>
          </a:p>
        </p:txBody>
      </p:sp>
      <p:sp>
        <p:nvSpPr>
          <p:cNvPr id="25602" name="Rectangle 3"/>
          <p:cNvSpPr>
            <a:spLocks noGrp="1" noChangeArrowheads="1"/>
          </p:cNvSpPr>
          <p:nvPr>
            <p:ph idx="1"/>
          </p:nvPr>
        </p:nvSpPr>
        <p:spPr>
          <a:xfrm>
            <a:off x="650875" y="1668066"/>
            <a:ext cx="8356600" cy="389334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&lt;input name="" type="image" </a:t>
            </a:r>
            <a:r>
              <a:rPr lang="en-US" altLang="zh-CN" sz="1800" dirty="0" err="1">
                <a:solidFill>
                  <a:srgbClr val="FF0000"/>
                </a:solidFill>
                <a:ea typeface="宋体" panose="02010600030101010101" pitchFamily="2" charset="-122"/>
              </a:rPr>
              <a:t>src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="" width="" height=" "  &gt;</a:t>
            </a:r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509270" y="2314575"/>
            <a:ext cx="7354570" cy="1168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400" dirty="0"/>
              <a:t>&lt;form&gt;</a:t>
            </a:r>
          </a:p>
          <a:p>
            <a:pPr>
              <a:lnSpc>
                <a:spcPts val="1400"/>
              </a:lnSpc>
            </a:pPr>
            <a:r>
              <a:rPr lang="en-US" altLang="zh-CN" sz="1400" dirty="0"/>
              <a:t>  &lt;h3&gt;</a:t>
            </a:r>
            <a:r>
              <a:rPr lang="zh-CN" altLang="en-US" sz="1400" dirty="0"/>
              <a:t>我国首艘航母辽宁号</a:t>
            </a:r>
            <a:r>
              <a:rPr lang="en-US" altLang="zh-CN" sz="1400" dirty="0"/>
              <a:t>&lt;/h3&gt;</a:t>
            </a:r>
          </a:p>
          <a:p>
            <a:pPr>
              <a:lnSpc>
                <a:spcPts val="1400"/>
              </a:lnSpc>
            </a:pPr>
            <a:r>
              <a:rPr lang="en-US" altLang="zh-CN" sz="1400" dirty="0"/>
              <a:t>  &lt;input type="image" name="image" </a:t>
            </a:r>
            <a:r>
              <a:rPr lang="en-US" altLang="zh-CN" sz="1400" dirty="0" err="1"/>
              <a:t>src</a:t>
            </a:r>
            <a:r>
              <a:rPr lang="en-US" altLang="zh-CN" sz="1400" dirty="0"/>
              <a:t>="liaoninghao.jpg" align="center" /&gt;</a:t>
            </a:r>
          </a:p>
          <a:p>
            <a:pPr>
              <a:lnSpc>
                <a:spcPts val="1400"/>
              </a:lnSpc>
            </a:pPr>
            <a:r>
              <a:rPr lang="en-US" altLang="zh-CN" sz="1400" dirty="0"/>
              <a:t>  &lt;input type="submit" value="</a:t>
            </a:r>
            <a:r>
              <a:rPr lang="zh-CN" altLang="en-US" sz="1400" dirty="0"/>
              <a:t>提交</a:t>
            </a:r>
            <a:r>
              <a:rPr lang="en-US" altLang="zh-CN" sz="1400" dirty="0"/>
              <a:t>"&gt;</a:t>
            </a:r>
          </a:p>
          <a:p>
            <a:pPr>
              <a:lnSpc>
                <a:spcPts val="1400"/>
              </a:lnSpc>
            </a:pPr>
            <a:r>
              <a:rPr lang="en-US" altLang="zh-CN" sz="1400" dirty="0"/>
              <a:t>&lt;/form&gt;</a:t>
            </a:r>
          </a:p>
          <a:p>
            <a:pPr>
              <a:lnSpc>
                <a:spcPts val="1400"/>
              </a:lnSpc>
            </a:pPr>
            <a:endParaRPr lang="zh-CN" altLang="en-US" sz="1600" dirty="0"/>
          </a:p>
        </p:txBody>
      </p:sp>
      <p:sp>
        <p:nvSpPr>
          <p:cNvPr id="25606" name="Rectangle 6"/>
          <p:cNvSpPr>
            <a:spLocks noChangeArrowheads="1"/>
          </p:cNvSpPr>
          <p:nvPr/>
        </p:nvSpPr>
        <p:spPr bwMode="auto">
          <a:xfrm>
            <a:off x="5565140" y="3535045"/>
            <a:ext cx="3048000" cy="9220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注：</a:t>
            </a:r>
            <a:r>
              <a:rPr lang="en-US" altLang="zh-CN" b="0" dirty="0" err="1">
                <a:latin typeface="微软雅黑" panose="020B0503020204020204" charset="-122"/>
                <a:ea typeface="微软雅黑" panose="020B0503020204020204" charset="-122"/>
              </a:rPr>
              <a:t>src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属性是必需的，它用于设置图像文件的路径。</a:t>
            </a:r>
          </a:p>
          <a:p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就是有图片的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submit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 t="32055"/>
          <a:stretch>
            <a:fillRect/>
          </a:stretch>
        </p:blipFill>
        <p:spPr bwMode="auto">
          <a:xfrm>
            <a:off x="822325" y="4106545"/>
            <a:ext cx="4122420" cy="1863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dirty="0"/>
              <a:t>提交按钮、重置按钮和普通按钮</a:t>
            </a:r>
          </a:p>
        </p:txBody>
      </p:sp>
      <p:sp>
        <p:nvSpPr>
          <p:cNvPr id="27650" name="Rectangle 3"/>
          <p:cNvSpPr>
            <a:spLocks noGrp="1" noChangeArrowheads="1"/>
          </p:cNvSpPr>
          <p:nvPr>
            <p:ph idx="1"/>
          </p:nvPr>
        </p:nvSpPr>
        <p:spPr>
          <a:xfrm>
            <a:off x="363220" y="1316355"/>
            <a:ext cx="8048625" cy="4729480"/>
          </a:xfrm>
        </p:spPr>
        <p:txBody>
          <a:bodyPr/>
          <a:lstStyle/>
          <a:p>
            <a:pPr lvl="1"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&lt;input name="" type="submit"  value=""&gt;</a:t>
            </a:r>
          </a:p>
          <a:p>
            <a:pPr lvl="1">
              <a:buNone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注：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value: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sz="1600" b="0" dirty="0">
                <a:latin typeface="微软雅黑" panose="020B0503020204020204" charset="-122"/>
                <a:ea typeface="微软雅黑" panose="020B0503020204020204" charset="-122"/>
              </a:rPr>
              <a:t>指定显示在提交按钮上的文字，默认值“提交查询内容”，需要给</a:t>
            </a:r>
            <a:r>
              <a:rPr lang="en-US" altLang="zh-CN" sz="1600" b="0" dirty="0">
                <a:latin typeface="微软雅黑" panose="020B0503020204020204" charset="-122"/>
                <a:ea typeface="微软雅黑" panose="020B0503020204020204" charset="-122"/>
              </a:rPr>
              <a:t>value</a:t>
            </a:r>
            <a:r>
              <a:rPr lang="zh-CN" altLang="en-US" sz="1600" b="0" dirty="0">
                <a:latin typeface="微软雅黑" panose="020B0503020204020204" charset="-122"/>
                <a:ea typeface="微软雅黑" panose="020B0503020204020204" charset="-122"/>
              </a:rPr>
              <a:t>赋个初值。点击提交按钮后，将表单数据提交给服务器。    </a:t>
            </a:r>
            <a:r>
              <a:rPr lang="zh-CN" altLang="en-US" sz="1400" b="0" dirty="0">
                <a:latin typeface="微软雅黑" panose="020B0503020204020204" charset="-122"/>
                <a:ea typeface="微软雅黑" panose="020B0503020204020204" charset="-122"/>
              </a:rPr>
              <a:t>   </a:t>
            </a:r>
            <a:endParaRPr lang="en-US" altLang="zh-CN" sz="1400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90000"/>
              </a:lnSpc>
              <a:buNone/>
            </a:pP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&lt;input name=" "    type="reset"    value=""&gt;</a:t>
            </a:r>
          </a:p>
          <a:p>
            <a:pPr lvl="1">
              <a:lnSpc>
                <a:spcPct val="90000"/>
              </a:lnSpc>
              <a:buNone/>
            </a:pPr>
            <a:r>
              <a:rPr lang="zh-CN" altLang="en-US" sz="1600" b="0" dirty="0">
                <a:ea typeface="黑体" panose="02010609060101010101" charset="-122"/>
              </a:rPr>
              <a:t>注：</a:t>
            </a:r>
            <a:r>
              <a:rPr lang="en-US" altLang="zh-CN" sz="1600" b="0" dirty="0">
                <a:ea typeface="黑体" panose="02010609060101010101" charset="-122"/>
              </a:rPr>
              <a:t>value</a:t>
            </a:r>
            <a:r>
              <a:rPr lang="zh-CN" altLang="en-US" sz="1600" b="0" dirty="0">
                <a:ea typeface="黑体" panose="02010609060101010101" charset="-122"/>
              </a:rPr>
              <a:t>值默认为“重置”，不需要定义，但可以改变。点击该按钮可将表单域的内容清空。</a:t>
            </a:r>
            <a:endParaRPr lang="en-US" altLang="zh-CN" sz="1600" b="0" dirty="0">
              <a:ea typeface="黑体" panose="02010609060101010101" charset="-122"/>
            </a:endParaRPr>
          </a:p>
          <a:p>
            <a:pPr lvl="1">
              <a:lnSpc>
                <a:spcPct val="90000"/>
              </a:lnSpc>
              <a:buNone/>
            </a:pP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&lt;input name="" type="button" value="" </a:t>
            </a:r>
            <a:r>
              <a:rPr lang="en-US" altLang="zh-CN" sz="2000" dirty="0" err="1">
                <a:solidFill>
                  <a:srgbClr val="FF0000"/>
                </a:solidFill>
                <a:ea typeface="宋体" panose="02010600030101010101" pitchFamily="2" charset="-122"/>
              </a:rPr>
              <a:t>onclick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=""&gt;</a:t>
            </a:r>
            <a:endParaRPr lang="en-US" altLang="zh-CN" sz="14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  <a:buNone/>
            </a:pPr>
            <a:r>
              <a:rPr lang="zh-CN" altLang="en-US" sz="1600" b="0" dirty="0">
                <a:ea typeface="黑体" panose="02010609060101010101" charset="-122"/>
              </a:rPr>
              <a:t>注：普通按钮需要定义</a:t>
            </a:r>
            <a:r>
              <a:rPr lang="en-US" altLang="zh-CN" sz="1600" b="0" dirty="0" err="1">
                <a:ea typeface="黑体" panose="02010609060101010101" charset="-122"/>
              </a:rPr>
              <a:t>onclick</a:t>
            </a:r>
            <a:r>
              <a:rPr lang="zh-CN" altLang="en-US" sz="1600" b="0" dirty="0">
                <a:ea typeface="黑体" panose="02010609060101010101" charset="-122"/>
              </a:rPr>
              <a:t>属性，才能进行表单处理。</a:t>
            </a:r>
            <a:r>
              <a:rPr lang="zh-CN" altLang="en-US" sz="3600" b="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按钮组合案例</a:t>
            </a:r>
          </a:p>
        </p:txBody>
      </p:sp>
      <p:sp>
        <p:nvSpPr>
          <p:cNvPr id="2" name="矩形 1"/>
          <p:cNvSpPr/>
          <p:nvPr/>
        </p:nvSpPr>
        <p:spPr>
          <a:xfrm>
            <a:off x="462280" y="1338580"/>
            <a:ext cx="8219440" cy="50731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&lt;style type="text/</a:t>
            </a:r>
            <a:r>
              <a:rPr lang="en-US" altLang="zh-CN" sz="16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css</a:t>
            </a: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"&gt;</a:t>
            </a:r>
          </a:p>
          <a:p>
            <a:pPr>
              <a:lnSpc>
                <a:spcPct val="100000"/>
              </a:lnSpc>
            </a:pP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input{width:100px;height:25px;}</a:t>
            </a:r>
          </a:p>
          <a:p>
            <a:pPr>
              <a:lnSpc>
                <a:spcPct val="100000"/>
              </a:lnSpc>
            </a:pP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body{text-</a:t>
            </a:r>
            <a:r>
              <a:rPr lang="en-US" altLang="zh-CN" sz="16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align:center</a:t>
            </a: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;}</a:t>
            </a:r>
          </a:p>
          <a:p>
            <a:pPr>
              <a:lnSpc>
                <a:spcPct val="100000"/>
              </a:lnSpc>
            </a:pPr>
            <a:r>
              <a:rPr lang="en-US" altLang="zh-CN" sz="16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fieldset</a:t>
            </a: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{width:400px;height:180px;}</a:t>
            </a:r>
          </a:p>
          <a:p>
            <a:pPr>
              <a:lnSpc>
                <a:spcPct val="100000"/>
              </a:lnSpc>
            </a:pP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&lt;/style&gt;</a:t>
            </a:r>
          </a:p>
          <a:p>
            <a:pPr>
              <a:lnSpc>
                <a:spcPct val="100000"/>
              </a:lnSpc>
            </a:pP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……</a:t>
            </a:r>
          </a:p>
          <a:p>
            <a:pPr>
              <a:lnSpc>
                <a:spcPct val="100000"/>
              </a:lnSpc>
            </a:pP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&lt;form&gt;</a:t>
            </a:r>
            <a:endParaRPr lang="en-US" altLang="zh-CN" sz="16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&lt;</a:t>
            </a:r>
            <a:r>
              <a:rPr lang="en-US" altLang="zh-CN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fieldset</a:t>
            </a: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&gt;</a:t>
            </a:r>
            <a:endParaRPr lang="en-US" altLang="zh-CN" sz="16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 &lt;legend&gt;</a:t>
            </a:r>
            <a:r>
              <a:rPr lang="zh-CN" altLang="en-US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三种按钮的应用</a:t>
            </a: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&lt;/legend&gt;</a:t>
            </a:r>
            <a:endParaRPr lang="en-US" altLang="zh-CN" sz="16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   &lt;h3&gt;</a:t>
            </a:r>
            <a:r>
              <a:rPr lang="zh-CN" altLang="en-US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请输入用户信息：</a:t>
            </a: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&lt;/h3&gt;</a:t>
            </a:r>
            <a:endParaRPr lang="en-US" altLang="zh-CN" sz="16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0000"/>
              </a:lnSpc>
            </a:pPr>
            <a:r>
              <a:rPr lang="zh-CN" altLang="en-US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   用户名：</a:t>
            </a: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&lt;input type="text" name="username" size="10"/&gt;</a:t>
            </a:r>
            <a:endParaRPr lang="en-US" altLang="zh-CN" sz="16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0000"/>
              </a:lnSpc>
            </a:pPr>
            <a:r>
              <a:rPr lang="zh-CN" altLang="en-US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   密码：</a:t>
            </a: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&lt;input type="password" name="password" size="10"/&gt;&lt;</a:t>
            </a:r>
            <a:r>
              <a:rPr lang="en-US" altLang="zh-CN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br</a:t>
            </a: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/&gt;&lt;</a:t>
            </a:r>
            <a:r>
              <a:rPr lang="en-US" altLang="zh-CN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br</a:t>
            </a: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&gt;</a:t>
            </a:r>
            <a:endParaRPr lang="en-US" altLang="zh-CN" sz="16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   &amp;</a:t>
            </a:r>
            <a:r>
              <a:rPr lang="en-US" altLang="zh-CN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nbsp;&amp;nbsp</a:t>
            </a: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;&lt;input type="submit" name="submit" value="</a:t>
            </a:r>
            <a:r>
              <a:rPr lang="zh-CN" altLang="en-US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提交</a:t>
            </a: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"/&gt;</a:t>
            </a:r>
            <a:endParaRPr lang="en-US" altLang="zh-CN" sz="16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   &lt;input type="reset" name="reset" value="</a:t>
            </a:r>
            <a:r>
              <a:rPr lang="zh-CN" altLang="en-US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重置</a:t>
            </a: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"/&gt;</a:t>
            </a:r>
            <a:endParaRPr lang="en-US" altLang="zh-CN" sz="16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   </a:t>
            </a:r>
            <a:r>
              <a:rPr lang="en-US" altLang="zh-CN" sz="160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&lt;input type="button" name="button" value="</a:t>
            </a:r>
            <a:r>
              <a:rPr lang="zh-CN" altLang="en-US" sz="160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注册新用户</a:t>
            </a:r>
            <a:r>
              <a:rPr lang="en-US" altLang="zh-CN" sz="160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" </a:t>
            </a:r>
            <a:r>
              <a:rPr lang="en-US" altLang="zh-CN" sz="1600" dirty="0" err="1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onclick</a:t>
            </a:r>
            <a:r>
              <a:rPr lang="en-US" altLang="zh-CN" sz="160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=""/&gt;</a:t>
            </a:r>
            <a:endParaRPr lang="en-US" altLang="zh-CN" sz="1600" b="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&lt;/</a:t>
            </a:r>
            <a:r>
              <a:rPr lang="en-US" altLang="zh-CN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fieldset</a:t>
            </a: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&gt;</a:t>
            </a:r>
            <a:endParaRPr lang="en-US" altLang="zh-CN" sz="16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&lt;/form&gt;</a:t>
            </a:r>
            <a:endParaRPr lang="en-US" altLang="zh-CN" sz="16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……</a:t>
            </a:r>
          </a:p>
          <a:p>
            <a:pPr>
              <a:lnSpc>
                <a:spcPts val="1400"/>
              </a:lnSpc>
            </a:pPr>
            <a:endParaRPr lang="en-US" altLang="zh-CN" sz="16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t="28074" r="47555"/>
          <a:stretch>
            <a:fillRect/>
          </a:stretch>
        </p:blipFill>
        <p:spPr bwMode="auto">
          <a:xfrm>
            <a:off x="4383405" y="770890"/>
            <a:ext cx="4553585" cy="229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文件选择框及隐藏框</a:t>
            </a:r>
          </a:p>
        </p:txBody>
      </p:sp>
      <p:sp>
        <p:nvSpPr>
          <p:cNvPr id="33794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57350"/>
            <a:ext cx="8534400" cy="46869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     </a:t>
            </a:r>
            <a:r>
              <a:rPr lang="en-US" altLang="zh-CN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&lt;input  name=""  type="file"&gt;</a:t>
            </a:r>
          </a:p>
          <a:p>
            <a:pPr>
              <a:buNone/>
            </a:pPr>
            <a:r>
              <a:rPr lang="zh-CN" altLang="en-US" sz="1600" b="0" dirty="0">
                <a:ea typeface="黑体" panose="02010609060101010101" charset="-122"/>
              </a:rPr>
              <a:t>注：</a:t>
            </a:r>
            <a:r>
              <a:rPr lang="zh-CN" altLang="en-US" sz="1600" b="0" dirty="0">
                <a:highlight>
                  <a:srgbClr val="FFFF00"/>
                </a:highlight>
                <a:ea typeface="黑体" panose="02010609060101010101" charset="-122"/>
              </a:rPr>
              <a:t>选择文件后并不能真正打开，只是将文件名回填到文件输入框内</a:t>
            </a:r>
            <a:r>
              <a:rPr lang="zh-CN" altLang="en-US" sz="1600" b="0" dirty="0">
                <a:ea typeface="黑体" panose="02010609060101010101" charset="-122"/>
              </a:rPr>
              <a:t>。</a:t>
            </a:r>
          </a:p>
          <a:p>
            <a:pPr>
              <a:buNone/>
            </a:pPr>
            <a:endParaRPr lang="en-US" altLang="zh-CN" b="0" dirty="0">
              <a:ea typeface="黑体" panose="02010609060101010101" charset="-122"/>
            </a:endParaRPr>
          </a:p>
          <a:p>
            <a:pPr lvl="1">
              <a:buNone/>
            </a:pPr>
            <a:r>
              <a:rPr lang="en-US" altLang="zh-CN" sz="1800" b="0" dirty="0">
                <a:solidFill>
                  <a:srgbClr val="FF0000"/>
                </a:solidFill>
                <a:ea typeface="宋体" panose="02010600030101010101" pitchFamily="2" charset="-122"/>
              </a:rPr>
              <a:t>&lt;input name="" type="hidden" value=""&gt;</a:t>
            </a:r>
          </a:p>
          <a:p>
            <a:pPr lvl="1">
              <a:buNone/>
            </a:pPr>
            <a:r>
              <a:rPr lang="zh-CN" altLang="en-US" sz="1600" b="0" dirty="0">
                <a:highlight>
                  <a:srgbClr val="FFFF00"/>
                </a:highlight>
                <a:ea typeface="黑体" panose="02010609060101010101" charset="-122"/>
              </a:rPr>
              <a:t>注：隐藏框不显示在表单中，随用户表单一起提交给服务器</a:t>
            </a:r>
            <a:r>
              <a:rPr lang="zh-CN" altLang="en-US" sz="3200" b="0" dirty="0">
                <a:ea typeface="黑体" panose="02010609060101010101" charset="-122"/>
              </a:rPr>
              <a:t>。</a:t>
            </a:r>
            <a:endParaRPr lang="en-US" altLang="zh-CN" sz="3200" b="0" dirty="0">
              <a:ea typeface="黑体" panose="02010609060101010101" charset="-122"/>
            </a:endParaRPr>
          </a:p>
          <a:p>
            <a:pPr lvl="1">
              <a:buNone/>
            </a:pPr>
            <a:endParaRPr lang="en-US" altLang="zh-CN" sz="2400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6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文件选择框、隐藏框案例</a:t>
            </a:r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502285" y="1267460"/>
            <a:ext cx="7597140" cy="3538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en-US" altLang="zh-CN" sz="1600" dirty="0"/>
              <a:t>&lt;form&gt;</a:t>
            </a:r>
          </a:p>
          <a:p>
            <a:pPr fontAlgn="auto">
              <a:lnSpc>
                <a:spcPct val="100000"/>
              </a:lnSpc>
            </a:pPr>
            <a:r>
              <a:rPr lang="en-US" altLang="zh-CN" sz="1600" dirty="0"/>
              <a:t>  &lt;</a:t>
            </a:r>
            <a:r>
              <a:rPr lang="en-US" altLang="zh-CN" sz="1600" dirty="0" err="1"/>
              <a:t>fieldset</a:t>
            </a:r>
            <a:r>
              <a:rPr lang="en-US" altLang="zh-CN" sz="1600" dirty="0"/>
              <a:t>&gt;</a:t>
            </a:r>
          </a:p>
          <a:p>
            <a:pPr fontAlgn="auto">
              <a:lnSpc>
                <a:spcPct val="100000"/>
              </a:lnSpc>
            </a:pPr>
            <a:r>
              <a:rPr lang="en-US" altLang="zh-CN" sz="1600" dirty="0"/>
              <a:t>    &lt;legend&gt;</a:t>
            </a:r>
            <a:r>
              <a:rPr lang="zh-CN" altLang="en-US" sz="1600" dirty="0"/>
              <a:t>文件选择框与隐藏框的应用例</a:t>
            </a:r>
            <a:r>
              <a:rPr lang="en-US" altLang="zh-CN" sz="1600" dirty="0"/>
              <a:t>&lt;/legend&gt;</a:t>
            </a:r>
          </a:p>
          <a:p>
            <a:pPr fontAlgn="auto">
              <a:lnSpc>
                <a:spcPct val="100000"/>
              </a:lnSpc>
            </a:pPr>
            <a:r>
              <a:rPr lang="en-US" altLang="zh-CN" sz="1600" dirty="0"/>
              <a:t>    &lt;h4&gt;</a:t>
            </a:r>
            <a:r>
              <a:rPr lang="zh-CN" altLang="en-US" sz="1600" dirty="0"/>
              <a:t>请输入个人信息：</a:t>
            </a:r>
            <a:r>
              <a:rPr lang="en-US" altLang="zh-CN" sz="1600" dirty="0"/>
              <a:t>&lt;/h4&gt; </a:t>
            </a:r>
          </a:p>
          <a:p>
            <a:pPr fontAlgn="auto">
              <a:lnSpc>
                <a:spcPct val="100000"/>
              </a:lnSpc>
            </a:pPr>
            <a:r>
              <a:rPr lang="en-US" altLang="zh-CN" sz="1600" dirty="0"/>
              <a:t>    </a:t>
            </a:r>
            <a:r>
              <a:rPr lang="zh-CN" altLang="en-US" sz="1600" dirty="0"/>
              <a:t>姓名</a:t>
            </a:r>
            <a:r>
              <a:rPr lang="en-US" altLang="zh-CN" sz="1600" dirty="0"/>
              <a:t>:&lt;input type="text" name="name" size="10"/&gt;</a:t>
            </a:r>
          </a:p>
          <a:p>
            <a:pPr fontAlgn="auto">
              <a:lnSpc>
                <a:spcPct val="100000"/>
              </a:lnSpc>
            </a:pPr>
            <a:r>
              <a:rPr lang="zh-CN" altLang="en-US" sz="1600" dirty="0"/>
              <a:t>    性别</a:t>
            </a:r>
            <a:r>
              <a:rPr lang="en-US" altLang="zh-CN" sz="1600" dirty="0"/>
              <a:t>:&lt;input type="radio" name="sex" value="male"/&gt;</a:t>
            </a:r>
            <a:r>
              <a:rPr lang="zh-CN" altLang="en-US" sz="1600" dirty="0"/>
              <a:t>男</a:t>
            </a:r>
          </a:p>
          <a:p>
            <a:pPr fontAlgn="auto">
              <a:lnSpc>
                <a:spcPct val="100000"/>
              </a:lnSpc>
            </a:pPr>
            <a:r>
              <a:rPr lang="zh-CN" altLang="en-US" sz="1600" dirty="0"/>
              <a:t>    </a:t>
            </a:r>
            <a:r>
              <a:rPr lang="en-US" altLang="zh-CN" sz="1600" dirty="0"/>
              <a:t>&lt;input type="radio" name="sex" value="female"/&gt;</a:t>
            </a:r>
            <a:r>
              <a:rPr lang="zh-CN" altLang="en-US" sz="1600" dirty="0"/>
              <a:t>女</a:t>
            </a:r>
            <a:r>
              <a:rPr lang="en-US" altLang="zh-CN" sz="1600" dirty="0"/>
              <a:t>&amp;</a:t>
            </a:r>
            <a:r>
              <a:rPr lang="en-US" altLang="zh-CN" sz="1600" dirty="0" err="1"/>
              <a:t>nbsp</a:t>
            </a:r>
            <a:r>
              <a:rPr lang="en-US" altLang="zh-CN" sz="1600" dirty="0"/>
              <a:t>;</a:t>
            </a:r>
          </a:p>
          <a:p>
            <a:pPr fontAlgn="auto">
              <a:lnSpc>
                <a:spcPct val="100000"/>
              </a:lnSpc>
            </a:pPr>
            <a:r>
              <a:rPr lang="en-US" altLang="zh-CN" sz="1600" dirty="0"/>
              <a:t>    </a:t>
            </a:r>
            <a:r>
              <a:rPr lang="zh-CN" altLang="en-US" sz="1600" dirty="0"/>
              <a:t>年龄</a:t>
            </a:r>
            <a:r>
              <a:rPr lang="en-US" altLang="zh-CN" sz="1600" dirty="0"/>
              <a:t>:&lt;input type="text" name="age" size="8"/&gt;</a:t>
            </a:r>
          </a:p>
          <a:p>
            <a:pPr fontAlgn="auto">
              <a:lnSpc>
                <a:spcPct val="100000"/>
              </a:lnSpc>
            </a:pPr>
            <a:r>
              <a:rPr lang="en-US" altLang="zh-CN" sz="1600" dirty="0"/>
              <a:t>    &lt;</a:t>
            </a:r>
            <a:r>
              <a:rPr lang="en-US" altLang="zh-CN" sz="1600" dirty="0" err="1"/>
              <a:t>br</a:t>
            </a:r>
            <a:r>
              <a:rPr lang="en-US" altLang="zh-CN" sz="1600" dirty="0"/>
              <a:t>/&gt;</a:t>
            </a:r>
          </a:p>
          <a:p>
            <a:pPr fontAlgn="auto">
              <a:lnSpc>
                <a:spcPct val="100000"/>
              </a:lnSpc>
            </a:pPr>
            <a:r>
              <a:rPr lang="en-US" altLang="zh-CN" sz="1600" dirty="0"/>
              <a:t>    &lt;h4&gt;</a:t>
            </a:r>
            <a:r>
              <a:rPr lang="zh-CN" altLang="en-US" sz="1600" dirty="0"/>
              <a:t>请选择文件：</a:t>
            </a:r>
            <a:r>
              <a:rPr lang="en-US" altLang="zh-CN" sz="1600" dirty="0"/>
              <a:t>&lt;/h4&gt;  </a:t>
            </a:r>
          </a:p>
          <a:p>
            <a:pPr fontAlgn="auto">
              <a:lnSpc>
                <a:spcPct val="100000"/>
              </a:lnSpc>
            </a:pPr>
            <a:r>
              <a:rPr lang="en-US" altLang="zh-CN" sz="1600" dirty="0"/>
              <a:t>    &lt;input type="file" name="file" size="40"&gt;&lt;</a:t>
            </a:r>
            <a:r>
              <a:rPr lang="en-US" altLang="zh-CN" sz="1600" dirty="0" err="1"/>
              <a:t>br</a:t>
            </a:r>
            <a:r>
              <a:rPr lang="en-US" altLang="zh-CN" sz="1600" dirty="0"/>
              <a:t>&gt;  </a:t>
            </a:r>
          </a:p>
          <a:p>
            <a:pPr fontAlgn="auto">
              <a:lnSpc>
                <a:spcPct val="100000"/>
              </a:lnSpc>
            </a:pPr>
            <a:r>
              <a:rPr lang="en-US" altLang="zh-CN" sz="1600" dirty="0"/>
              <a:t>    &lt;input type="hidden" name="admin" value="ABCD"&gt;</a:t>
            </a:r>
          </a:p>
          <a:p>
            <a:pPr fontAlgn="auto">
              <a:lnSpc>
                <a:spcPct val="100000"/>
              </a:lnSpc>
            </a:pPr>
            <a:r>
              <a:rPr lang="en-US" altLang="zh-CN" sz="1600" dirty="0"/>
              <a:t>&lt;/</a:t>
            </a:r>
            <a:r>
              <a:rPr lang="en-US" altLang="zh-CN" sz="1600" dirty="0" err="1"/>
              <a:t>fieldset</a:t>
            </a:r>
            <a:r>
              <a:rPr lang="en-US" altLang="zh-CN" sz="1600" dirty="0"/>
              <a:t>&gt;</a:t>
            </a:r>
          </a:p>
          <a:p>
            <a:pPr fontAlgn="auto">
              <a:lnSpc>
                <a:spcPct val="100000"/>
              </a:lnSpc>
            </a:pPr>
            <a:r>
              <a:rPr lang="en-US" altLang="zh-CN" sz="1600" dirty="0"/>
              <a:t>&lt;/form&gt;</a:t>
            </a: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4417060" y="906145"/>
            <a:ext cx="309880" cy="245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4417060" y="2120583"/>
            <a:ext cx="309880" cy="245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 t="26472"/>
          <a:stretch>
            <a:fillRect/>
          </a:stretch>
        </p:blipFill>
        <p:spPr bwMode="auto">
          <a:xfrm>
            <a:off x="3568700" y="4378325"/>
            <a:ext cx="4777740" cy="20389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多行文本输入框</a:t>
            </a:r>
          </a:p>
        </p:txBody>
      </p:sp>
      <p:sp>
        <p:nvSpPr>
          <p:cNvPr id="37890" name="Rectangle 3"/>
          <p:cNvSpPr>
            <a:spLocks noGrp="1" noChangeArrowheads="1"/>
          </p:cNvSpPr>
          <p:nvPr>
            <p:ph idx="1"/>
          </p:nvPr>
        </p:nvSpPr>
        <p:spPr>
          <a:xfrm>
            <a:off x="502285" y="1241981"/>
            <a:ext cx="8474075" cy="446484"/>
          </a:xfrm>
        </p:spPr>
        <p:txBody>
          <a:bodyPr/>
          <a:lstStyle/>
          <a:p>
            <a:pPr lvl="1" indent="-533400">
              <a:buFont typeface="Wingdings" panose="05000000000000000000" pitchFamily="2" charset="2"/>
              <a:buNone/>
              <a:tabLst>
                <a:tab pos="715645" algn="l"/>
              </a:tabLst>
            </a:pPr>
            <a:r>
              <a:rPr lang="zh-CN" altLang="en-US" sz="1800" dirty="0">
                <a:solidFill>
                  <a:srgbClr val="FF0000"/>
                </a:solidFill>
                <a:ea typeface="宋体" panose="02010600030101010101" pitchFamily="2" charset="-122"/>
              </a:rPr>
              <a:t>语法：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&lt;</a:t>
            </a:r>
            <a:r>
              <a:rPr lang="en-US" altLang="zh-CN" sz="1800" dirty="0" err="1">
                <a:solidFill>
                  <a:srgbClr val="FF0000"/>
                </a:solidFill>
                <a:ea typeface="宋体" panose="02010600030101010101" pitchFamily="2" charset="-122"/>
              </a:rPr>
              <a:t>textarea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 name=”” rows="" cols="" wrap=""&gt; &lt;/</a:t>
            </a:r>
            <a:r>
              <a:rPr lang="en-US" altLang="zh-CN" sz="1800" dirty="0" err="1">
                <a:solidFill>
                  <a:srgbClr val="FF0000"/>
                </a:solidFill>
                <a:ea typeface="宋体" panose="02010600030101010101" pitchFamily="2" charset="-122"/>
              </a:rPr>
              <a:t>textarea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&gt; </a:t>
            </a:r>
            <a:endParaRPr lang="en-US" altLang="zh-CN" sz="14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412750" y="1795780"/>
            <a:ext cx="8035290" cy="15684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en-US" altLang="zh-CN" sz="1600" dirty="0"/>
              <a:t>&lt;form&gt;</a:t>
            </a:r>
          </a:p>
          <a:p>
            <a:pPr fontAlgn="auto">
              <a:lnSpc>
                <a:spcPct val="100000"/>
              </a:lnSpc>
            </a:pPr>
            <a:r>
              <a:rPr lang="en-US" altLang="zh-CN" sz="1600" dirty="0"/>
              <a:t>  &lt;h3&gt;</a:t>
            </a:r>
            <a:r>
              <a:rPr lang="zh-CN" altLang="en-US" sz="1600" dirty="0"/>
              <a:t>请您填写宝贵意见：</a:t>
            </a:r>
            <a:r>
              <a:rPr lang="en-US" altLang="zh-CN" sz="1600" dirty="0"/>
              <a:t>&lt;/h3&gt;</a:t>
            </a:r>
          </a:p>
          <a:p>
            <a:pPr fontAlgn="auto">
              <a:lnSpc>
                <a:spcPct val="100000"/>
              </a:lnSpc>
            </a:pPr>
            <a:r>
              <a:rPr lang="en-US" altLang="zh-CN" sz="1600" dirty="0"/>
              <a:t>  &lt;</a:t>
            </a:r>
            <a:r>
              <a:rPr lang="en-US" altLang="zh-CN" sz="1600" dirty="0" err="1"/>
              <a:t>textarea</a:t>
            </a:r>
            <a:r>
              <a:rPr lang="en-US" altLang="zh-CN" sz="1600" dirty="0"/>
              <a:t> name="info" rows="4" cols="50" wrap="virtual"&gt;</a:t>
            </a:r>
          </a:p>
          <a:p>
            <a:pPr fontAlgn="auto">
              <a:lnSpc>
                <a:spcPct val="100000"/>
              </a:lnSpc>
            </a:pPr>
            <a:r>
              <a:rPr lang="en-US" altLang="zh-CN" sz="1600" dirty="0"/>
              <a:t>  &lt;/</a:t>
            </a:r>
            <a:r>
              <a:rPr lang="en-US" altLang="zh-CN" sz="1600" dirty="0" err="1"/>
              <a:t>textarea</a:t>
            </a:r>
            <a:r>
              <a:rPr lang="en-US" altLang="zh-CN" sz="1600" dirty="0"/>
              <a:t>&gt;</a:t>
            </a:r>
          </a:p>
          <a:p>
            <a:pPr fontAlgn="auto">
              <a:lnSpc>
                <a:spcPct val="100000"/>
              </a:lnSpc>
            </a:pPr>
            <a:r>
              <a:rPr lang="en-US" altLang="zh-CN" sz="1600" dirty="0"/>
              <a:t>&lt;/form&gt;</a:t>
            </a:r>
          </a:p>
          <a:p>
            <a:pPr fontAlgn="auto">
              <a:lnSpc>
                <a:spcPct val="100000"/>
              </a:lnSpc>
            </a:pPr>
            <a:endParaRPr lang="en-US" altLang="zh-CN" sz="1600" dirty="0"/>
          </a:p>
        </p:txBody>
      </p:sp>
      <p:sp>
        <p:nvSpPr>
          <p:cNvPr id="37894" name="Rectangle 6"/>
          <p:cNvSpPr>
            <a:spLocks noChangeArrowheads="1"/>
          </p:cNvSpPr>
          <p:nvPr/>
        </p:nvSpPr>
        <p:spPr bwMode="auto">
          <a:xfrm>
            <a:off x="322580" y="3470910"/>
            <a:ext cx="7955280" cy="175323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rows: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指定输入的行数；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cols: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指定输入的列数；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</a:rPr>
              <a:t>wrap: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指定文本自动换行，值分别为：</a:t>
            </a:r>
            <a:r>
              <a:rPr lang="en-US" altLang="zh-CN" b="0" dirty="0" err="1">
                <a:latin typeface="微软雅黑" panose="020B0503020204020204" charset="-122"/>
                <a:ea typeface="微软雅黑" panose="020B0503020204020204" charset="-122"/>
              </a:rPr>
              <a:t>off|physical|virtual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  <a:p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virtual：</a:t>
            </a:r>
            <a:r>
              <a:rPr lang="zh-CN" altLang="en-US" b="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文本区内自动换行显示，但传输给服务器时只在用户按下 Enter 键的地方进行换行，其他地方没有换行的效果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  <a:p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physical：文本区内自动换行，并以这种形式传送给服务器，就像用户真的那样键入的。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 t="38831"/>
          <a:stretch>
            <a:fillRect/>
          </a:stretch>
        </p:blipFill>
        <p:spPr bwMode="auto">
          <a:xfrm>
            <a:off x="2046605" y="5025390"/>
            <a:ext cx="4989195" cy="16294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下拉列表框</a:t>
            </a:r>
          </a:p>
        </p:txBody>
      </p:sp>
      <p:sp>
        <p:nvSpPr>
          <p:cNvPr id="39938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458200" cy="1885950"/>
          </a:xfrm>
          <a:ln>
            <a:solidFill>
              <a:schemeClr val="bg1"/>
            </a:solidFill>
          </a:ln>
        </p:spPr>
        <p:txBody>
          <a:bodyPr>
            <a:normAutofit fontScale="85000" lnSpcReduction="20000"/>
          </a:bodyPr>
          <a:lstStyle/>
          <a:p>
            <a:pPr lvl="1">
              <a:buFont typeface="Wingdings" panose="05000000000000000000" pitchFamily="2" charset="2"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&lt;select name="" 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size="" multiple</a:t>
            </a:r>
            <a:r>
              <a:rPr lang="en-US" altLang="zh-CN" sz="1800" dirty="0">
                <a:ea typeface="宋体" panose="02010600030101010101" pitchFamily="2" charset="-122"/>
              </a:rPr>
              <a:t>&gt;</a:t>
            </a:r>
          </a:p>
          <a:p>
            <a:pPr lvl="1"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      &lt;option value=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""</a:t>
            </a:r>
            <a:r>
              <a:rPr lang="en-US" altLang="zh-CN" sz="1800" dirty="0">
                <a:ea typeface="宋体" panose="02010600030101010101" pitchFamily="2" charset="-122"/>
              </a:rPr>
              <a:t>     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selected</a:t>
            </a:r>
            <a:r>
              <a:rPr lang="en-US" altLang="zh-CN" sz="1800" dirty="0">
                <a:ea typeface="宋体" panose="02010600030101010101" pitchFamily="2" charset="-122"/>
              </a:rPr>
              <a:t>  &gt;</a:t>
            </a:r>
            <a:r>
              <a:rPr lang="zh-CN" altLang="en-US" sz="1800" dirty="0">
                <a:ea typeface="宋体" panose="02010600030101010101" pitchFamily="2" charset="-122"/>
              </a:rPr>
              <a:t>选项内容</a:t>
            </a:r>
            <a:r>
              <a:rPr lang="en-US" altLang="zh-CN" sz="1800" dirty="0">
                <a:ea typeface="宋体" panose="02010600030101010101" pitchFamily="2" charset="-122"/>
              </a:rPr>
              <a:t>&lt;/option&gt;</a:t>
            </a:r>
          </a:p>
          <a:p>
            <a:pPr lvl="1"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     &lt;option     value=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""</a:t>
            </a:r>
            <a:r>
              <a:rPr lang="en-US" altLang="zh-CN" sz="1800" dirty="0">
                <a:ea typeface="宋体" panose="02010600030101010101" pitchFamily="2" charset="-122"/>
              </a:rPr>
              <a:t>  &gt;</a:t>
            </a:r>
            <a:r>
              <a:rPr lang="zh-CN" altLang="en-US" sz="1800" dirty="0">
                <a:ea typeface="宋体" panose="02010600030101010101" pitchFamily="2" charset="-122"/>
              </a:rPr>
              <a:t>选项内容</a:t>
            </a:r>
            <a:r>
              <a:rPr lang="en-US" altLang="zh-CN" sz="1800" dirty="0">
                <a:ea typeface="宋体" panose="02010600030101010101" pitchFamily="2" charset="-122"/>
              </a:rPr>
              <a:t>&lt;/option&gt;</a:t>
            </a:r>
          </a:p>
          <a:p>
            <a:pPr lvl="1"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    &lt;option value=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""</a:t>
            </a:r>
            <a:r>
              <a:rPr lang="en-US" altLang="zh-CN" sz="1800" dirty="0">
                <a:ea typeface="宋体" panose="02010600030101010101" pitchFamily="2" charset="-122"/>
              </a:rPr>
              <a:t>   &gt;</a:t>
            </a:r>
            <a:r>
              <a:rPr lang="zh-CN" altLang="en-US" sz="1800" dirty="0">
                <a:ea typeface="宋体" panose="02010600030101010101" pitchFamily="2" charset="-122"/>
              </a:rPr>
              <a:t>选项内容</a:t>
            </a:r>
            <a:r>
              <a:rPr lang="en-US" altLang="zh-CN" sz="1800" dirty="0">
                <a:ea typeface="宋体" panose="02010600030101010101" pitchFamily="2" charset="-122"/>
              </a:rPr>
              <a:t>&lt;/option&gt;  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 &lt;/select&gt;</a:t>
            </a:r>
          </a:p>
        </p:txBody>
      </p:sp>
      <p:sp>
        <p:nvSpPr>
          <p:cNvPr id="39943" name="Rectangle 7"/>
          <p:cNvSpPr>
            <a:spLocks noChangeArrowheads="1"/>
          </p:cNvSpPr>
          <p:nvPr/>
        </p:nvSpPr>
        <p:spPr bwMode="auto">
          <a:xfrm>
            <a:off x="533400" y="4210685"/>
            <a:ext cx="8458200" cy="92202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注：</a:t>
            </a:r>
            <a:r>
              <a:rPr lang="en-US" altLang="zh-CN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size</a:t>
            </a:r>
            <a:r>
              <a:rPr lang="zh-CN" altLang="en-US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定义下拉列表的大小；</a:t>
            </a:r>
            <a:endParaRPr lang="en-US" altLang="zh-CN" b="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449580"/>
            <a:r>
              <a:rPr lang="en-US" altLang="zh-CN" b="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multiple</a:t>
            </a:r>
            <a:r>
              <a:rPr lang="zh-CN" altLang="en-US" b="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设置列表框支持多选</a:t>
            </a:r>
            <a:r>
              <a:rPr lang="zh-CN" altLang="en-US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en-US" altLang="zh-CN" b="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449580"/>
            <a:r>
              <a:rPr lang="en-US" altLang="zh-CN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selected</a:t>
            </a:r>
            <a:r>
              <a:rPr lang="zh-CN" altLang="en-US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设置选项为预选状态。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下拉列表框</a:t>
            </a:r>
          </a:p>
        </p:txBody>
      </p:sp>
      <p:sp>
        <p:nvSpPr>
          <p:cNvPr id="39941" name="Rectangle 5"/>
          <p:cNvSpPr>
            <a:spLocks noChangeArrowheads="1"/>
          </p:cNvSpPr>
          <p:nvPr/>
        </p:nvSpPr>
        <p:spPr bwMode="auto">
          <a:xfrm>
            <a:off x="533400" y="1671320"/>
            <a:ext cx="6593840" cy="25533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en-US" altLang="zh-CN" sz="1600" dirty="0"/>
              <a:t>&lt;form&gt;</a:t>
            </a:r>
          </a:p>
          <a:p>
            <a:pPr fontAlgn="auto">
              <a:lnSpc>
                <a:spcPct val="100000"/>
              </a:lnSpc>
            </a:pPr>
            <a:r>
              <a:rPr lang="en-US" altLang="zh-CN" sz="1600" dirty="0"/>
              <a:t>  &lt;h3&gt;</a:t>
            </a:r>
            <a:r>
              <a:rPr lang="zh-CN" altLang="en-US" sz="1600" dirty="0"/>
              <a:t>请选择您的课程</a:t>
            </a:r>
            <a:r>
              <a:rPr lang="en-US" altLang="zh-CN" sz="1600" dirty="0"/>
              <a:t>:&lt;/h3&gt;</a:t>
            </a:r>
          </a:p>
          <a:p>
            <a:pPr fontAlgn="auto">
              <a:lnSpc>
                <a:spcPct val="100000"/>
              </a:lnSpc>
            </a:pPr>
            <a:r>
              <a:rPr lang="en-US" altLang="zh-CN" sz="1600" dirty="0"/>
              <a:t>  &lt;select name="course" size="4" multiple&gt;</a:t>
            </a:r>
          </a:p>
          <a:p>
            <a:pPr fontAlgn="auto">
              <a:lnSpc>
                <a:spcPct val="100000"/>
              </a:lnSpc>
            </a:pPr>
            <a:r>
              <a:rPr lang="en-US" altLang="zh-CN" sz="1600" dirty="0"/>
              <a:t>    &lt;option value="c1" selected&gt;C/C++</a:t>
            </a:r>
            <a:r>
              <a:rPr lang="zh-CN" altLang="en-US" sz="1600" dirty="0"/>
              <a:t>程序设计</a:t>
            </a:r>
            <a:r>
              <a:rPr lang="en-US" altLang="zh-CN" sz="1600" dirty="0"/>
              <a:t>&lt;/option&gt;</a:t>
            </a:r>
          </a:p>
          <a:p>
            <a:pPr fontAlgn="auto">
              <a:lnSpc>
                <a:spcPct val="100000"/>
              </a:lnSpc>
            </a:pPr>
            <a:r>
              <a:rPr lang="en-US" altLang="zh-CN" sz="1600" dirty="0"/>
              <a:t>    &lt;option value="c2"&gt;</a:t>
            </a:r>
            <a:r>
              <a:rPr lang="zh-CN" altLang="en-US" sz="1600" dirty="0"/>
              <a:t>计算机网络</a:t>
            </a:r>
            <a:r>
              <a:rPr lang="en-US" altLang="zh-CN" sz="1600" dirty="0"/>
              <a:t>&lt;/option&gt;</a:t>
            </a:r>
          </a:p>
          <a:p>
            <a:pPr fontAlgn="auto">
              <a:lnSpc>
                <a:spcPct val="100000"/>
              </a:lnSpc>
            </a:pPr>
            <a:r>
              <a:rPr lang="en-US" altLang="zh-CN" sz="1600" dirty="0"/>
              <a:t>    &lt;option value="c3" &gt;</a:t>
            </a:r>
            <a:r>
              <a:rPr lang="zh-CN" altLang="en-US" sz="1600" dirty="0"/>
              <a:t>数据结构</a:t>
            </a:r>
            <a:r>
              <a:rPr lang="en-US" altLang="zh-CN" sz="1600" dirty="0"/>
              <a:t>&lt;/option&gt;</a:t>
            </a:r>
          </a:p>
          <a:p>
            <a:pPr fontAlgn="auto">
              <a:lnSpc>
                <a:spcPct val="100000"/>
              </a:lnSpc>
            </a:pPr>
            <a:r>
              <a:rPr lang="en-US" altLang="zh-CN" sz="1600" dirty="0"/>
              <a:t>    &lt;option value="c4"&gt;Java</a:t>
            </a:r>
            <a:r>
              <a:rPr lang="zh-CN" altLang="en-US" sz="1600" dirty="0"/>
              <a:t>程序设计</a:t>
            </a:r>
            <a:r>
              <a:rPr lang="en-US" altLang="zh-CN" sz="1600" dirty="0"/>
              <a:t>&lt;/option&gt;</a:t>
            </a:r>
          </a:p>
          <a:p>
            <a:pPr fontAlgn="auto">
              <a:lnSpc>
                <a:spcPct val="100000"/>
              </a:lnSpc>
            </a:pPr>
            <a:r>
              <a:rPr lang="en-US" altLang="zh-CN" sz="1600" dirty="0"/>
              <a:t>    &lt;option value="c5"&gt;</a:t>
            </a:r>
            <a:r>
              <a:rPr lang="zh-CN" altLang="en-US" sz="1600" dirty="0"/>
              <a:t>计算机组成原理</a:t>
            </a:r>
            <a:r>
              <a:rPr lang="en-US" altLang="zh-CN" sz="1600" dirty="0"/>
              <a:t>&lt;/option&gt;	</a:t>
            </a:r>
          </a:p>
          <a:p>
            <a:pPr fontAlgn="auto">
              <a:lnSpc>
                <a:spcPct val="100000"/>
              </a:lnSpc>
            </a:pPr>
            <a:r>
              <a:rPr lang="en-US" altLang="zh-CN" sz="1600" dirty="0"/>
              <a:t>  &lt;/select&gt;</a:t>
            </a:r>
          </a:p>
          <a:p>
            <a:pPr fontAlgn="auto">
              <a:lnSpc>
                <a:spcPct val="100000"/>
              </a:lnSpc>
            </a:pPr>
            <a:r>
              <a:rPr lang="en-US" altLang="zh-CN" sz="1600" dirty="0"/>
              <a:t>&lt;/form&gt;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t="38687"/>
          <a:stretch>
            <a:fillRect/>
          </a:stretch>
        </p:blipFill>
        <p:spPr bwMode="auto">
          <a:xfrm>
            <a:off x="2538730" y="4224655"/>
            <a:ext cx="4819015" cy="22498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OC_GUID" val="{36d32639-1052-4bdd-aea4-6c6f298a18d4}"/>
  <p:tag name="KSO_WPP_MARK_KEY" val="be501f4f-3f48-4dfe-98ea-311cc6c27be8"/>
  <p:tag name="COMMONDATA" val="eyJoZGlkIjoiZTZiMGM5MmQ4ZjdjYWQzZmJhMGMwZDExYjZjYjk1ZW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0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0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0"/>
  <p:tag name="KSO_WM_TEMPLATE_MASTER_TYPE" val="1"/>
  <p:tag name="KSO_WM_TEMPLATE_COLOR_TYPE" val="1"/>
  <p:tag name="KSO_WM_TEMPLATE_MASTER_THUMB_INDEX" val="12"/>
  <p:tag name="KSO_WM_UNIT_SHOW_EDIT_AREA_INDICATION" val="0"/>
  <p:tag name="KSO_WM_TAG_VERSION" val="1.0"/>
  <p:tag name="KSO_WM_BEAUTIFY_FLAG" val="#wm#"/>
  <p:tag name="KSO_WM_TEMPLATE_CATEGORY" val="custom"/>
  <p:tag name="KSO_WM_TEMPLATE_INDEX" val="20202601"/>
  <p:tag name="KSO_WM_TEMPLATE_THUMBS_INDEX" val="1、4、7、8、9、10、11、13、14、1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TYPE" val="i"/>
  <p:tag name="KSO_WM_UNIT_INDEX" val="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leftRight"/>
  <p:tag name="KSO_WM_SLIDE_BK_DARK_LIGHT" val="2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SLIDE_BACKGROUND_TYPE" val="leftRight"/>
  <p:tag name="KSO_WM_SLIDE_BK_DARK_LIGHT" val="2"/>
  <p:tag name="KSO_WM_UNIT_TYPE" val="i"/>
  <p:tag name="KSO_WM_UNIT_INDEX" val="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topBottom"/>
  <p:tag name="KSO_WM_SLIDE_BK_DARK_LIGHT" val="2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  <p:tag name="KSO_WM_SLIDE_BK_DARK_LIGHT" val="2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2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navigation"/>
  <p:tag name="KSO_WM_SLIDE_BK_DARK_LIGHT" val="2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navigation"/>
  <p:tag name="KSO_WM_SLIDE_BK_DARK_LIGHT" val="2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2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1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2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2601"/>
  <p:tag name="KSO_WM_SLIDE_LAYOUT" val="a_b"/>
  <p:tag name="KSO_WM_SLIDE_LAYOUT_CNT" val="1_1"/>
  <p:tag name="KSO_WM_SLIDE_MODEL_TYPE" val="cov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空白演示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6435,&quot;width&quot;:21870}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39843d9e-f21c-43a0-88af-d3cf01328707}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af65e360-5077-4308-8621-b3c8d0c7065e}"/>
  <p:tag name="TABLE_ENDDRAG_ORIGIN_RECT" val="619*151"/>
  <p:tag name="TABLE_ENDDRAG_RECT" val="58*217*619*151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b78489cb-5328-462c-b870-382bb02ea08a}"/>
  <p:tag name="TABLE_ENDDRAG_ORIGIN_RECT" val="635*352"/>
  <p:tag name="TABLE_ENDDRAG_RECT" val="44*113*635*352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947cb21b-334e-4189-97fa-7edf8f514f38}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c26571d-8b7a-4a44-b59a-085161c359ee}"/>
  <p:tag name="TABLE_ENDDRAG_ORIGIN_RECT" val="455*254"/>
  <p:tag name="TABLE_ENDDRAG_RECT" val="35*150*455*254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8ab701b-4973-4c61-b700-ef56b0524b89}"/>
  <p:tag name="TABLE_ENDDRAG_ORIGIN_RECT" val="654*291"/>
  <p:tag name="TABLE_ENDDRAG_RECT" val="38*189*654*291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148511ae-154f-4f84-9ebd-a9b7713660bb}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d0587bc0-2496-4999-8476-de4c2f935dbc}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b1b4737-ad96-40b4-ac36-9f4ec3536532}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92f4e79a-4d2e-4487-8d17-9086be37d143}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143acefc-15b3-40be-82b7-03030929220f}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487059f-276e-421a-93cb-4383bf378257}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996d2a1-ee13-4996-a23e-b8b38784e6e1}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08236e5-cbb7-4f9d-926c-8f7be892fa14}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487059f-276e-421a-93cb-4383bf378257}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59f4230b-83b9-4f12-a10a-033cb552d8c0}"/>
</p:tagLst>
</file>

<file path=ppt/theme/theme1.xml><?xml version="1.0" encoding="utf-8"?>
<a:theme xmlns:a="http://schemas.openxmlformats.org/drawingml/2006/main" name="Office 主题​​">
  <a:themeElements>
    <a:clrScheme name="自定义 25">
      <a:dk1>
        <a:srgbClr val="000000"/>
      </a:dk1>
      <a:lt1>
        <a:srgbClr val="FFFFFF"/>
      </a:lt1>
      <a:dk2>
        <a:srgbClr val="E9F3FA"/>
      </a:dk2>
      <a:lt2>
        <a:srgbClr val="FFFFFF"/>
      </a:lt2>
      <a:accent1>
        <a:srgbClr val="4472C4"/>
      </a:accent1>
      <a:accent2>
        <a:srgbClr val="2A8DD4"/>
      </a:accent2>
      <a:accent3>
        <a:srgbClr val="2FA1CF"/>
      </a:accent3>
      <a:accent4>
        <a:srgbClr val="33B2B2"/>
      </a:accent4>
      <a:accent5>
        <a:srgbClr val="35BD81"/>
      </a:accent5>
      <a:accent6>
        <a:srgbClr val="59C54F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553</TotalTime>
  <Words>11030</Words>
  <Application>Microsoft Office PowerPoint</Application>
  <PresentationFormat>全屏显示(4:3)</PresentationFormat>
  <Paragraphs>1450</Paragraphs>
  <Slides>103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103</vt:i4>
      </vt:variant>
    </vt:vector>
  </HeadingPairs>
  <TitlesOfParts>
    <vt:vector size="114" baseType="lpstr">
      <vt:lpstr>黑体</vt:lpstr>
      <vt:lpstr>宋体</vt:lpstr>
      <vt:lpstr>微软雅黑</vt:lpstr>
      <vt:lpstr>Arial</vt:lpstr>
      <vt:lpstr>Calibri</vt:lpstr>
      <vt:lpstr>Symbol</vt:lpstr>
      <vt:lpstr>Times New Roman</vt:lpstr>
      <vt:lpstr>Verdana</vt:lpstr>
      <vt:lpstr>Viner Hand ITC</vt:lpstr>
      <vt:lpstr>Wingdings</vt:lpstr>
      <vt:lpstr>Office 主题​​</vt:lpstr>
      <vt:lpstr>Web编程</vt:lpstr>
      <vt:lpstr>HTML基础</vt:lpstr>
      <vt:lpstr>HTML文档示例</vt:lpstr>
      <vt:lpstr>HTML文档示例</vt:lpstr>
      <vt:lpstr>HTML文档示例</vt:lpstr>
      <vt:lpstr>头部&lt;head&gt;</vt:lpstr>
      <vt:lpstr>元信息&lt;meta&gt;</vt:lpstr>
      <vt:lpstr>元信息&lt;meta&gt;</vt:lpstr>
      <vt:lpstr>字符集与编码规则</vt:lpstr>
      <vt:lpstr>被玩坏的搜索/反搜和SEO</vt:lpstr>
      <vt:lpstr>http-equiv属性</vt:lpstr>
      <vt:lpstr>主体body</vt:lpstr>
      <vt:lpstr>主体body-示例</vt:lpstr>
      <vt:lpstr>body标记属性</vt:lpstr>
      <vt:lpstr>常用的全局属性(H5)</vt:lpstr>
      <vt:lpstr>注释</vt:lpstr>
      <vt:lpstr>一般HTML文档编写规范</vt:lpstr>
      <vt:lpstr>HTML文档编写规范（续）</vt:lpstr>
      <vt:lpstr>综合实例</vt:lpstr>
      <vt:lpstr>回顾</vt:lpstr>
      <vt:lpstr>标题&lt;h1&gt;-&lt;h6&gt; </vt:lpstr>
      <vt:lpstr>换行&lt;br/&gt; </vt:lpstr>
      <vt:lpstr>水平分隔线&lt;hr/&gt; </vt:lpstr>
      <vt:lpstr>段落&lt;p&gt; </vt:lpstr>
      <vt:lpstr>空格与特殊符号 </vt:lpstr>
      <vt:lpstr>特殊符号 </vt:lpstr>
      <vt:lpstr>拼音/音标注释ruby标记和rt标记</vt:lpstr>
      <vt:lpstr>字体font标记</vt:lpstr>
      <vt:lpstr>格式化文本标记 </vt:lpstr>
      <vt:lpstr>格式化文本标记</vt:lpstr>
      <vt:lpstr>段落缩进标记&lt;blockquote&gt; </vt:lpstr>
      <vt:lpstr>预格式化标记&lt;pre&gt; </vt:lpstr>
      <vt:lpstr>列表 </vt:lpstr>
      <vt:lpstr>无序列表 </vt:lpstr>
      <vt:lpstr>无序列表案例</vt:lpstr>
      <vt:lpstr>有序列表 </vt:lpstr>
      <vt:lpstr>有序列表案例 </vt:lpstr>
      <vt:lpstr>列表嵌套</vt:lpstr>
      <vt:lpstr>嵌套列表案例</vt:lpstr>
      <vt:lpstr>定义列表</vt:lpstr>
      <vt:lpstr>定义列表案例 </vt:lpstr>
      <vt:lpstr>定义列表案例 </vt:lpstr>
      <vt:lpstr>定义列表案例 </vt:lpstr>
      <vt:lpstr>超链接概述 </vt:lpstr>
      <vt:lpstr>超链接语法、路径及分类</vt:lpstr>
      <vt:lpstr>超链接案例</vt:lpstr>
      <vt:lpstr>超链接路径 </vt:lpstr>
      <vt:lpstr>超链接分类 </vt:lpstr>
      <vt:lpstr>超链接的应用 </vt:lpstr>
      <vt:lpstr>超链接的应用</vt:lpstr>
      <vt:lpstr>创建页面书签链接</vt:lpstr>
      <vt:lpstr>创建书签链接页面案例</vt:lpstr>
      <vt:lpstr>浮动框架</vt:lpstr>
      <vt:lpstr>图像 </vt:lpstr>
      <vt:lpstr>插入图像</vt:lpstr>
      <vt:lpstr>设置图像的宽度和高度</vt:lpstr>
      <vt:lpstr>设置图像对齐方式及间距</vt:lpstr>
      <vt:lpstr>设置图像热区链接 </vt:lpstr>
      <vt:lpstr>图像热区链接案例</vt:lpstr>
      <vt:lpstr>表格 </vt:lpstr>
      <vt:lpstr>学生表例子</vt:lpstr>
      <vt:lpstr>表格标记 </vt:lpstr>
      <vt:lpstr>表格标记-语法 </vt:lpstr>
      <vt:lpstr>表格标记-案例 </vt:lpstr>
      <vt:lpstr>表格单元格间距、单元格边距属性</vt:lpstr>
      <vt:lpstr>设置单元格的属性 </vt:lpstr>
      <vt:lpstr>设置单元格的属性-单元格跨行、列</vt:lpstr>
      <vt:lpstr>设置单元格的属性-案例 </vt:lpstr>
      <vt:lpstr>表格嵌套 </vt:lpstr>
      <vt:lpstr>表格标记-语法 </vt:lpstr>
      <vt:lpstr>表格标记-案例 </vt:lpstr>
      <vt:lpstr>表格属性设置 </vt:lpstr>
      <vt:lpstr>表格边框属性 </vt:lpstr>
      <vt:lpstr>表格边框样式属性 </vt:lpstr>
      <vt:lpstr>表格边框样式属性-案例 </vt:lpstr>
      <vt:lpstr>表格单元格间距、单元格边距属性</vt:lpstr>
      <vt:lpstr>表格单元格间距、边距属性设置-案例</vt:lpstr>
      <vt:lpstr>表格水平对齐</vt:lpstr>
      <vt:lpstr>设置表格行的属性 </vt:lpstr>
      <vt:lpstr>表格行的属性-设置 </vt:lpstr>
      <vt:lpstr>设置表格行的属性-案例 </vt:lpstr>
      <vt:lpstr>设置单元格的属性 </vt:lpstr>
      <vt:lpstr>设置单元格的属性-单元格跨行、列</vt:lpstr>
      <vt:lpstr>设置单元格的属性-案例 </vt:lpstr>
      <vt:lpstr>表格嵌套 </vt:lpstr>
      <vt:lpstr>表格嵌套-语法</vt:lpstr>
      <vt:lpstr>表单概述</vt:lpstr>
      <vt:lpstr>表单概述</vt:lpstr>
      <vt:lpstr>表单标记</vt:lpstr>
      <vt:lpstr>定义域和域标题</vt:lpstr>
      <vt:lpstr>定义域和域标题-案例</vt:lpstr>
      <vt:lpstr>表单信息输入</vt:lpstr>
      <vt:lpstr>单行文本输入框、密码框文本框</vt:lpstr>
      <vt:lpstr>复选框、单选按钮</vt:lpstr>
      <vt:lpstr>单选按钮、复选框案例 </vt:lpstr>
      <vt:lpstr>图像按钮 </vt:lpstr>
      <vt:lpstr>提交按钮、重置按钮和普通按钮</vt:lpstr>
      <vt:lpstr>按钮组合案例</vt:lpstr>
      <vt:lpstr>文件选择框及隐藏框</vt:lpstr>
      <vt:lpstr>文件选择框、隐藏框案例</vt:lpstr>
      <vt:lpstr>多行文本输入框</vt:lpstr>
      <vt:lpstr>下拉列表框</vt:lpstr>
      <vt:lpstr>下拉列表框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Web编程</dc:title>
  <dc:creator/>
  <cp:lastModifiedBy>王锦鸿</cp:lastModifiedBy>
  <cp:revision>235</cp:revision>
  <dcterms:created xsi:type="dcterms:W3CDTF">2019-06-19T02:08:00Z</dcterms:created>
  <dcterms:modified xsi:type="dcterms:W3CDTF">2024-10-24T14:09:49Z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2052-12.1.0.16120</vt:lpwstr>
  </property>
  <property fmtid="{D5CDD505-2E9C-101B-9397-08002B2CF9AE}" pid="3" name="ICV">
    <vt:lpwstr>BC25D836CD204255B058D07C3E5CBD23</vt:lpwstr>
  </property>
</Properties>
</file>