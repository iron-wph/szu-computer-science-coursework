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6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54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DD0B5-9BEA-465E-B0D2-D74011E36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51D12F-3B69-47AD-A2DF-5DC70B815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1121A-5054-4DD6-9550-F5B00DB5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30C7E4-2672-4D81-AEC2-9E4DE7E7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BD4285-8E5B-4577-9E08-05250444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6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DDC6F-5805-4FD5-B4AD-3BCAFBBC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47C2FD-30D2-45B9-B49C-5EB57BAF0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DAD5A-8E6E-41FA-8B56-916104C99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370793-CC39-4583-8D51-942C14F0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A31419-746E-49F2-9952-12FA9F798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660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BA9D7-C9E4-4979-8CD0-00E311AA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7C0534-6255-4415-A057-5E7FC1354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BD365C-6469-48D9-87FD-8CEBCF80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DAC46-8535-4A4C-88F8-24455830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FEDEA4-F2D4-4796-9A32-F1148582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28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0EC53-08D9-47B9-B5AC-3A666900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0C9FA1-3BC1-417A-BDDC-6CA754CFD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B29F73-AC15-4F75-AD11-B64263CD0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1E2D7B-5DD1-49DC-9593-CCD06A73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FFF3ED-DB98-4D78-B70C-AAC3996F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A8C793-B160-4780-864E-AA15E159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96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18276-458C-4415-A276-5F0E826F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649FF6-3529-4036-80F4-93117641C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65F620-50D0-4118-9984-E6BB8AF64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C7EF9D-682A-4CA1-B778-8433856E2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F50D56-0DD5-4D64-946A-80C94C274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E6B13F-C2B7-4FB9-ADA0-F92F0904A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0AC49A-3A36-492B-B938-7E501B3AD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DBCC1C-C088-43B4-937D-0F53FBAE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55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0A0DB-E2CC-4F2E-AC6F-BB1A03D98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6EE095-CDFD-41A6-86E5-32133C1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907173-172D-4A79-B5CE-516AE0DF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1FB902-0A27-4B79-8004-04EEF8FF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46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6181B2-E0E0-43B6-A4CB-468A5B22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95A0E7-74A8-498B-A96B-D7EFB2CD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CB004-FECB-43AD-9EC6-A10297668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45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1FAF9-823A-425F-9B83-DED68461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0380EB-3323-47A2-AFB7-F22945A81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6CAFFC-5F48-4A1F-BB05-45483299D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46646B-4856-488B-A7C8-769D264AB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1E3BA7-6A42-4952-A0B8-048436B7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E4BF58-52CF-47F5-91EF-8AB36F4B3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24ADD-06C9-4119-A6DE-1109EDA6F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8046F9-B8EF-4942-834C-3A0CBC1437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AD039C-25F9-45B4-B755-FED0D5936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DC880C-AC40-490E-BFC2-89D5D13CE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0BCF85-DAD7-4AC1-8AED-8E262EF2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78CBBC-6820-4471-A1F2-EFDADEC6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13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5A453-075C-4FFE-BD69-A9F0D6B6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AD5EE9-E214-47D1-ADB6-55F37A677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8D637B-7103-4FE0-B4CB-6E46093B9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38DB84-46D9-43F8-8D8E-59BA51524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FF833E-C2A8-4AAA-94F2-D32B5718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51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B82A36-DF4B-422E-9637-7594A8176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73C345-62F6-4665-B536-49233C86E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E51D00-396F-4E21-9078-115D60553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EF8598-5283-4F26-956D-0902C50A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92DB6A-945A-42B5-8527-9DB513A8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19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44E0FF-6412-4072-BDC8-605E258B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8267A0-A79C-4A4A-9B8D-59386CCD1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3F865-66E1-4A07-AADC-C4F7DB29A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2E31D-F2F8-481B-A0AA-96F609DA16F6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EBFAE7-CDF0-414A-A2CA-EA95877C4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A34719-E28F-446E-846F-971C15984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5E5A3-9F44-4A0B-9788-3568D9A54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335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34E0964-8856-4FEC-99E7-2B2DDA5A4B46}"/>
              </a:ext>
            </a:extLst>
          </p:cNvPr>
          <p:cNvSpPr txBox="1"/>
          <p:nvPr/>
        </p:nvSpPr>
        <p:spPr>
          <a:xfrm>
            <a:off x="352425" y="314325"/>
            <a:ext cx="2066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账户模块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485611-E628-4ED6-B35B-0338F106B326}"/>
              </a:ext>
            </a:extLst>
          </p:cNvPr>
          <p:cNvSpPr/>
          <p:nvPr/>
        </p:nvSpPr>
        <p:spPr>
          <a:xfrm>
            <a:off x="460274" y="1513762"/>
            <a:ext cx="1495425" cy="6619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用户</a:t>
            </a:r>
          </a:p>
        </p:txBody>
      </p:sp>
      <p:sp>
        <p:nvSpPr>
          <p:cNvPr id="23" name="菱形 22">
            <a:extLst>
              <a:ext uri="{FF2B5EF4-FFF2-40B4-BE49-F238E27FC236}">
                <a16:creationId xmlns:a16="http://schemas.microsoft.com/office/drawing/2014/main" id="{F5B09C34-16CA-46AE-AD5F-A51BF2A4239D}"/>
              </a:ext>
            </a:extLst>
          </p:cNvPr>
          <p:cNvSpPr/>
          <p:nvPr/>
        </p:nvSpPr>
        <p:spPr>
          <a:xfrm>
            <a:off x="4187974" y="3880083"/>
            <a:ext cx="1495425" cy="66198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登录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2A0BC06-C879-4B58-9AB8-B396C3E28350}"/>
              </a:ext>
            </a:extLst>
          </p:cNvPr>
          <p:cNvSpPr/>
          <p:nvPr/>
        </p:nvSpPr>
        <p:spPr>
          <a:xfrm>
            <a:off x="7146749" y="1512063"/>
            <a:ext cx="1495425" cy="6619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用户表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792C5F2-C00B-418D-A721-5D625E746933}"/>
              </a:ext>
            </a:extLst>
          </p:cNvPr>
          <p:cNvCxnSpPr>
            <a:cxnSpLocks/>
          </p:cNvCxnSpPr>
          <p:nvPr/>
        </p:nvCxnSpPr>
        <p:spPr>
          <a:xfrm>
            <a:off x="2091875" y="1825331"/>
            <a:ext cx="18213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951E1C3-5A42-46D2-B57B-9BAB8BD4AB56}"/>
              </a:ext>
            </a:extLst>
          </p:cNvPr>
          <p:cNvCxnSpPr>
            <a:cxnSpLocks/>
          </p:cNvCxnSpPr>
          <p:nvPr/>
        </p:nvCxnSpPr>
        <p:spPr>
          <a:xfrm>
            <a:off x="5683399" y="1827942"/>
            <a:ext cx="1027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3B578601-ECFA-42DC-9015-4436742BCF3E}"/>
              </a:ext>
            </a:extLst>
          </p:cNvPr>
          <p:cNvSpPr txBox="1"/>
          <p:nvPr/>
        </p:nvSpPr>
        <p:spPr>
          <a:xfrm>
            <a:off x="1951396" y="1040501"/>
            <a:ext cx="24394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账号、</a:t>
            </a:r>
            <a:br>
              <a:rPr lang="en-US" altLang="zh-CN" sz="1600" b="1" dirty="0"/>
            </a:br>
            <a:r>
              <a:rPr lang="zh-CN" altLang="en-US" sz="1600" b="1" dirty="0"/>
              <a:t>密码、</a:t>
            </a:r>
            <a:endParaRPr lang="en-US" altLang="zh-CN" sz="1600" b="1" dirty="0"/>
          </a:p>
          <a:p>
            <a:r>
              <a:rPr lang="zh-CN" altLang="en-US" sz="1600" b="1" dirty="0"/>
              <a:t>用户类型（教师或学生或管理员）、</a:t>
            </a:r>
            <a:endParaRPr lang="en-US" altLang="zh-CN" sz="1600" b="1" dirty="0"/>
          </a:p>
          <a:p>
            <a:r>
              <a:rPr lang="zh-CN" altLang="en-US" sz="1600" b="1" dirty="0"/>
              <a:t>账号状态、</a:t>
            </a:r>
            <a:endParaRPr lang="en-US" altLang="zh-CN" sz="1600" b="1" dirty="0"/>
          </a:p>
          <a:p>
            <a:r>
              <a:rPr lang="zh-CN" altLang="en-US" sz="1600" b="1" dirty="0"/>
              <a:t>注册日期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C5CDF73-A01E-4E03-A3EE-A91A7449D455}"/>
              </a:ext>
            </a:extLst>
          </p:cNvPr>
          <p:cNvCxnSpPr>
            <a:cxnSpLocks/>
          </p:cNvCxnSpPr>
          <p:nvPr/>
        </p:nvCxnSpPr>
        <p:spPr>
          <a:xfrm flipH="1">
            <a:off x="2128836" y="2704266"/>
            <a:ext cx="5017913" cy="11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95FDB4CD-88B6-4D1C-9FB4-9AA4AA881F1C}"/>
              </a:ext>
            </a:extLst>
          </p:cNvPr>
          <p:cNvSpPr txBox="1"/>
          <p:nvPr/>
        </p:nvSpPr>
        <p:spPr>
          <a:xfrm>
            <a:off x="3505201" y="2797828"/>
            <a:ext cx="2439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返回是否注册成功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45A0074F-AB1C-4088-A47C-8BF6F1E33123}"/>
              </a:ext>
            </a:extLst>
          </p:cNvPr>
          <p:cNvSpPr/>
          <p:nvPr/>
        </p:nvSpPr>
        <p:spPr>
          <a:xfrm>
            <a:off x="455971" y="3826138"/>
            <a:ext cx="1495425" cy="6619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用户</a:t>
            </a:r>
          </a:p>
        </p:txBody>
      </p:sp>
      <p:sp>
        <p:nvSpPr>
          <p:cNvPr id="36" name="菱形 35">
            <a:extLst>
              <a:ext uri="{FF2B5EF4-FFF2-40B4-BE49-F238E27FC236}">
                <a16:creationId xmlns:a16="http://schemas.microsoft.com/office/drawing/2014/main" id="{E6174A96-197A-490E-8363-47D27D65347A}"/>
              </a:ext>
            </a:extLst>
          </p:cNvPr>
          <p:cNvSpPr/>
          <p:nvPr/>
        </p:nvSpPr>
        <p:spPr>
          <a:xfrm>
            <a:off x="4280456" y="1646737"/>
            <a:ext cx="1495425" cy="66198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注册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A20F50E-6210-4568-846F-C96ED4336C5E}"/>
              </a:ext>
            </a:extLst>
          </p:cNvPr>
          <p:cNvSpPr/>
          <p:nvPr/>
        </p:nvSpPr>
        <p:spPr>
          <a:xfrm>
            <a:off x="7173639" y="3880083"/>
            <a:ext cx="1495425" cy="6619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用户表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0B62740-B352-4FA2-AEF7-030D8F2A2037}"/>
              </a:ext>
            </a:extLst>
          </p:cNvPr>
          <p:cNvSpPr txBox="1"/>
          <p:nvPr/>
        </p:nvSpPr>
        <p:spPr>
          <a:xfrm>
            <a:off x="2032111" y="3429000"/>
            <a:ext cx="21227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账号、</a:t>
            </a:r>
            <a:br>
              <a:rPr lang="en-US" altLang="zh-CN" sz="1800" b="1" dirty="0"/>
            </a:br>
            <a:r>
              <a:rPr lang="zh-CN" altLang="en-US" sz="1800" b="1" dirty="0"/>
              <a:t>密码、</a:t>
            </a:r>
            <a:endParaRPr lang="en-US" altLang="zh-CN" sz="1800" b="1" dirty="0"/>
          </a:p>
          <a:p>
            <a:r>
              <a:rPr lang="zh-CN" altLang="en-US" sz="1800" b="1" dirty="0"/>
              <a:t>用户类型（教师或学生或管理员）、设备号、</a:t>
            </a:r>
            <a:endParaRPr lang="en-US" altLang="zh-CN" sz="1800" b="1" dirty="0"/>
          </a:p>
          <a:p>
            <a:r>
              <a:rPr lang="en-US" altLang="zh-CN" sz="1800" b="1" dirty="0" err="1"/>
              <a:t>ip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MAC</a:t>
            </a:r>
            <a:r>
              <a:rPr lang="zh-CN" altLang="en-US" sz="1800" b="1" dirty="0"/>
              <a:t>地址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D71D7F9-A710-4A5B-AA10-B2329C333A70}"/>
              </a:ext>
            </a:extLst>
          </p:cNvPr>
          <p:cNvCxnSpPr>
            <a:cxnSpLocks/>
          </p:cNvCxnSpPr>
          <p:nvPr/>
        </p:nvCxnSpPr>
        <p:spPr>
          <a:xfrm>
            <a:off x="2032111" y="4303626"/>
            <a:ext cx="2182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8B479F0-F3CE-480B-B564-92F0522DECCA}"/>
              </a:ext>
            </a:extLst>
          </p:cNvPr>
          <p:cNvCxnSpPr>
            <a:cxnSpLocks/>
          </p:cNvCxnSpPr>
          <p:nvPr/>
        </p:nvCxnSpPr>
        <p:spPr>
          <a:xfrm>
            <a:off x="5711961" y="4266310"/>
            <a:ext cx="13729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6D3A2D9-FD5D-49DC-88E3-B07D709F9865}"/>
              </a:ext>
            </a:extLst>
          </p:cNvPr>
          <p:cNvCxnSpPr>
            <a:cxnSpLocks/>
          </p:cNvCxnSpPr>
          <p:nvPr/>
        </p:nvCxnSpPr>
        <p:spPr>
          <a:xfrm flipH="1">
            <a:off x="2032111" y="4836889"/>
            <a:ext cx="5017913" cy="11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C52545CA-CD35-4C54-AF01-370229298333}"/>
              </a:ext>
            </a:extLst>
          </p:cNvPr>
          <p:cNvSpPr txBox="1"/>
          <p:nvPr/>
        </p:nvSpPr>
        <p:spPr>
          <a:xfrm>
            <a:off x="4589916" y="4818715"/>
            <a:ext cx="3731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根据密码错误次数判断是否冻结账号</a:t>
            </a:r>
            <a:br>
              <a:rPr lang="en-US" altLang="zh-CN" sz="1600" b="1" dirty="0"/>
            </a:br>
            <a:br>
              <a:rPr lang="en-US" altLang="zh-CN" sz="1600" b="1" dirty="0"/>
            </a:br>
            <a:r>
              <a:rPr lang="zh-CN" altLang="en-US" sz="1600" b="1" dirty="0">
                <a:solidFill>
                  <a:srgbClr val="FF0000"/>
                </a:solidFill>
              </a:rPr>
              <a:t>返回：</a:t>
            </a:r>
            <a:r>
              <a:rPr lang="zh-CN" altLang="en-US" sz="1600" b="1" dirty="0"/>
              <a:t>是否登录成功或者是否冻结账号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BF64178-2AF4-445A-81F5-3973BDD1214C}"/>
              </a:ext>
            </a:extLst>
          </p:cNvPr>
          <p:cNvSpPr txBox="1"/>
          <p:nvPr/>
        </p:nvSpPr>
        <p:spPr>
          <a:xfrm>
            <a:off x="223521" y="6248103"/>
            <a:ext cx="8696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密码需要进行加盐哈希保护，传输的是密码密文</a:t>
            </a:r>
          </a:p>
        </p:txBody>
      </p:sp>
    </p:spTree>
    <p:extLst>
      <p:ext uri="{BB962C8B-B14F-4D97-AF65-F5344CB8AC3E}">
        <p14:creationId xmlns:p14="http://schemas.microsoft.com/office/powerpoint/2010/main" val="808805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884F3B1-EBE9-4B51-9C1A-359A17494670}"/>
              </a:ext>
            </a:extLst>
          </p:cNvPr>
          <p:cNvSpPr txBox="1"/>
          <p:nvPr/>
        </p:nvSpPr>
        <p:spPr>
          <a:xfrm>
            <a:off x="283600" y="245499"/>
            <a:ext cx="2066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课程管理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EDA7550-212A-4C55-A526-92640B1B0302}"/>
              </a:ext>
            </a:extLst>
          </p:cNvPr>
          <p:cNvSpPr/>
          <p:nvPr/>
        </p:nvSpPr>
        <p:spPr>
          <a:xfrm>
            <a:off x="757291" y="1572841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学生表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7D249BB-AB68-4FCF-8552-CAE8771213FF}"/>
              </a:ext>
            </a:extLst>
          </p:cNvPr>
          <p:cNvCxnSpPr>
            <a:cxnSpLocks/>
          </p:cNvCxnSpPr>
          <p:nvPr/>
        </p:nvCxnSpPr>
        <p:spPr>
          <a:xfrm>
            <a:off x="2163763" y="1807921"/>
            <a:ext cx="808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菱形 20">
            <a:extLst>
              <a:ext uri="{FF2B5EF4-FFF2-40B4-BE49-F238E27FC236}">
                <a16:creationId xmlns:a16="http://schemas.microsoft.com/office/drawing/2014/main" id="{103AC3D7-0B6E-4025-946B-6180D7A25525}"/>
              </a:ext>
            </a:extLst>
          </p:cNvPr>
          <p:cNvSpPr/>
          <p:nvPr/>
        </p:nvSpPr>
        <p:spPr>
          <a:xfrm>
            <a:off x="3149600" y="1461842"/>
            <a:ext cx="1612488" cy="66967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选课申请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95D71E8-71E2-435F-8031-C45CF6C9E5CC}"/>
              </a:ext>
            </a:extLst>
          </p:cNvPr>
          <p:cNvSpPr/>
          <p:nvPr/>
        </p:nvSpPr>
        <p:spPr>
          <a:xfrm>
            <a:off x="5935197" y="1572840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课程表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836E9A0-C5AF-4AE0-95AE-9497A0825886}"/>
              </a:ext>
            </a:extLst>
          </p:cNvPr>
          <p:cNvCxnSpPr>
            <a:cxnSpLocks/>
          </p:cNvCxnSpPr>
          <p:nvPr/>
        </p:nvCxnSpPr>
        <p:spPr>
          <a:xfrm>
            <a:off x="4931543" y="1811295"/>
            <a:ext cx="808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DD5B910-7843-476D-92D2-C6C9668FC085}"/>
              </a:ext>
            </a:extLst>
          </p:cNvPr>
          <p:cNvSpPr txBox="1"/>
          <p:nvPr/>
        </p:nvSpPr>
        <p:spPr>
          <a:xfrm>
            <a:off x="2012668" y="951823"/>
            <a:ext cx="1219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学号、账号、课程编号、教师编号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5F822EC-1609-43E5-A88B-BFCB125B0585}"/>
              </a:ext>
            </a:extLst>
          </p:cNvPr>
          <p:cNvCxnSpPr>
            <a:cxnSpLocks/>
          </p:cNvCxnSpPr>
          <p:nvPr/>
        </p:nvCxnSpPr>
        <p:spPr>
          <a:xfrm flipH="1">
            <a:off x="2094936" y="1991026"/>
            <a:ext cx="11579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831ADB4B-899F-4D91-A4C6-19D7BB8D214C}"/>
              </a:ext>
            </a:extLst>
          </p:cNvPr>
          <p:cNvSpPr txBox="1"/>
          <p:nvPr/>
        </p:nvSpPr>
        <p:spPr>
          <a:xfrm>
            <a:off x="5008879" y="2340732"/>
            <a:ext cx="1612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课程编号、</a:t>
            </a:r>
            <a:endParaRPr lang="en-US" altLang="zh-CN" sz="1600" b="1" dirty="0"/>
          </a:p>
          <a:p>
            <a:r>
              <a:rPr lang="zh-CN" altLang="en-US" sz="1600" b="1" dirty="0"/>
              <a:t>课件对应路径</a:t>
            </a:r>
            <a:endParaRPr lang="en-US" altLang="zh-CN" sz="1600" b="1" dirty="0"/>
          </a:p>
          <a:p>
            <a:endParaRPr lang="zh-CN" altLang="en-US" sz="1600" b="1" dirty="0"/>
          </a:p>
        </p:txBody>
      </p:sp>
      <p:sp>
        <p:nvSpPr>
          <p:cNvPr id="36" name="菱形 35">
            <a:extLst>
              <a:ext uri="{FF2B5EF4-FFF2-40B4-BE49-F238E27FC236}">
                <a16:creationId xmlns:a16="http://schemas.microsoft.com/office/drawing/2014/main" id="{71CB7A2B-1D04-425E-AEE1-00E0D3626E71}"/>
              </a:ext>
            </a:extLst>
          </p:cNvPr>
          <p:cNvSpPr/>
          <p:nvPr/>
        </p:nvSpPr>
        <p:spPr>
          <a:xfrm>
            <a:off x="3262346" y="2591979"/>
            <a:ext cx="1746533" cy="66967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是否有作业</a:t>
            </a: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6F148AF7-65BB-4640-B1A2-A5E476B04E39}"/>
              </a:ext>
            </a:extLst>
          </p:cNvPr>
          <p:cNvCxnSpPr>
            <a:cxnSpLocks/>
            <a:endCxn id="36" idx="3"/>
          </p:cNvCxnSpPr>
          <p:nvPr/>
        </p:nvCxnSpPr>
        <p:spPr>
          <a:xfrm rot="10800000" flipV="1">
            <a:off x="5008879" y="2159087"/>
            <a:ext cx="1535918" cy="767728"/>
          </a:xfrm>
          <a:prstGeom prst="bentConnector3">
            <a:avLst>
              <a:gd name="adj1" fmla="val -27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56101AAC-4147-4CAD-AC3F-42C9C2854EB8}"/>
              </a:ext>
            </a:extLst>
          </p:cNvPr>
          <p:cNvCxnSpPr>
            <a:cxnSpLocks/>
            <a:stCxn id="36" idx="1"/>
            <a:endCxn id="10" idx="2"/>
          </p:cNvCxnSpPr>
          <p:nvPr/>
        </p:nvCxnSpPr>
        <p:spPr>
          <a:xfrm rot="10800000">
            <a:off x="1366892" y="2020517"/>
            <a:ext cx="1895455" cy="9062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92266031-4B0D-4A57-ADF3-D3490608A193}"/>
              </a:ext>
            </a:extLst>
          </p:cNvPr>
          <p:cNvSpPr txBox="1"/>
          <p:nvPr/>
        </p:nvSpPr>
        <p:spPr>
          <a:xfrm>
            <a:off x="1553171" y="2341997"/>
            <a:ext cx="16124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课程编号、</a:t>
            </a:r>
            <a:endParaRPr lang="en-US" altLang="zh-CN" sz="1600" b="1" dirty="0"/>
          </a:p>
          <a:p>
            <a:r>
              <a:rPr lang="zh-CN" altLang="en-US" sz="1600" b="1" dirty="0"/>
              <a:t>课件对应路径、</a:t>
            </a:r>
            <a:endParaRPr lang="en-US" altLang="zh-CN" sz="1600" b="1" dirty="0"/>
          </a:p>
          <a:p>
            <a:r>
              <a:rPr lang="zh-CN" altLang="en-US" sz="1600" b="1" dirty="0"/>
              <a:t>作业名字、</a:t>
            </a:r>
            <a:endParaRPr lang="en-US" altLang="zh-CN" sz="1600" b="1" dirty="0"/>
          </a:p>
          <a:p>
            <a:r>
              <a:rPr lang="zh-CN" altLang="en-US" sz="1600" b="1" dirty="0"/>
              <a:t>作业简介、</a:t>
            </a:r>
            <a:endParaRPr lang="en-US" altLang="zh-CN" sz="1600" b="1" dirty="0"/>
          </a:p>
          <a:p>
            <a:r>
              <a:rPr lang="zh-CN" altLang="en-US" sz="1600" b="1" dirty="0"/>
              <a:t>作业关联的课程编号、</a:t>
            </a:r>
            <a:endParaRPr lang="en-US" altLang="zh-CN" sz="1600" b="1" dirty="0"/>
          </a:p>
          <a:p>
            <a:r>
              <a:rPr lang="zh-CN" altLang="en-US" sz="1600" b="1" dirty="0"/>
              <a:t>学习历史</a:t>
            </a:r>
            <a:endParaRPr lang="en-US" altLang="zh-CN" sz="1600" b="1" dirty="0"/>
          </a:p>
          <a:p>
            <a:endParaRPr lang="zh-CN" altLang="en-US" sz="1600" b="1" dirty="0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4262216F-CFB2-423B-83E8-55A26C5E3752}"/>
              </a:ext>
            </a:extLst>
          </p:cNvPr>
          <p:cNvSpPr/>
          <p:nvPr/>
        </p:nvSpPr>
        <p:spPr>
          <a:xfrm>
            <a:off x="757291" y="1569504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学生表</a:t>
            </a:r>
          </a:p>
        </p:txBody>
      </p:sp>
      <p:sp>
        <p:nvSpPr>
          <p:cNvPr id="47" name="菱形 46">
            <a:extLst>
              <a:ext uri="{FF2B5EF4-FFF2-40B4-BE49-F238E27FC236}">
                <a16:creationId xmlns:a16="http://schemas.microsoft.com/office/drawing/2014/main" id="{EE95F3EC-A1C4-4CCB-92CA-354FA0E6E3D4}"/>
              </a:ext>
            </a:extLst>
          </p:cNvPr>
          <p:cNvSpPr/>
          <p:nvPr/>
        </p:nvSpPr>
        <p:spPr>
          <a:xfrm>
            <a:off x="3149600" y="1458505"/>
            <a:ext cx="1612488" cy="66967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选课申请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68ADB29-0698-4F44-AE24-23F6D5E7B8E7}"/>
              </a:ext>
            </a:extLst>
          </p:cNvPr>
          <p:cNvSpPr/>
          <p:nvPr/>
        </p:nvSpPr>
        <p:spPr>
          <a:xfrm>
            <a:off x="5935197" y="1569503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课程表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B6A7368-63D9-43FA-A149-6EEE39AF4DCA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 flipV="1">
            <a:off x="2223282" y="4983792"/>
            <a:ext cx="11731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A613522-2626-4F8E-9F3C-0D6760BD2FAF}"/>
              </a:ext>
            </a:extLst>
          </p:cNvPr>
          <p:cNvCxnSpPr>
            <a:cxnSpLocks/>
          </p:cNvCxnSpPr>
          <p:nvPr/>
        </p:nvCxnSpPr>
        <p:spPr>
          <a:xfrm>
            <a:off x="5178334" y="5001746"/>
            <a:ext cx="808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A1B70267-8A06-4295-81CF-B8B77214BF0D}"/>
              </a:ext>
            </a:extLst>
          </p:cNvPr>
          <p:cNvSpPr txBox="1"/>
          <p:nvPr/>
        </p:nvSpPr>
        <p:spPr>
          <a:xfrm>
            <a:off x="2314619" y="4447066"/>
            <a:ext cx="12192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课程编号、教师编号、</a:t>
            </a:r>
            <a:endParaRPr lang="en-US" altLang="zh-CN" sz="1600" b="1" dirty="0"/>
          </a:p>
          <a:p>
            <a:r>
              <a:rPr lang="zh-CN" altLang="en-US" sz="1600" b="1" dirty="0"/>
              <a:t>课程名字、课程简介、发布时间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A1AB5C4D-1A34-49E0-8941-0EBE5EE4B0C2}"/>
              </a:ext>
            </a:extLst>
          </p:cNvPr>
          <p:cNvSpPr/>
          <p:nvPr/>
        </p:nvSpPr>
        <p:spPr>
          <a:xfrm>
            <a:off x="1004082" y="4759955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教师</a:t>
            </a:r>
          </a:p>
        </p:txBody>
      </p:sp>
      <p:sp>
        <p:nvSpPr>
          <p:cNvPr id="53" name="菱形 52">
            <a:extLst>
              <a:ext uri="{FF2B5EF4-FFF2-40B4-BE49-F238E27FC236}">
                <a16:creationId xmlns:a16="http://schemas.microsoft.com/office/drawing/2014/main" id="{383A96CA-8011-419D-BC22-6FB8D9161AF7}"/>
              </a:ext>
            </a:extLst>
          </p:cNvPr>
          <p:cNvSpPr/>
          <p:nvPr/>
        </p:nvSpPr>
        <p:spPr>
          <a:xfrm>
            <a:off x="3396391" y="4648956"/>
            <a:ext cx="1612488" cy="66967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课程注册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CE0FEF85-3FD5-4DB5-8BA8-3B1DDA42F57B}"/>
              </a:ext>
            </a:extLst>
          </p:cNvPr>
          <p:cNvSpPr/>
          <p:nvPr/>
        </p:nvSpPr>
        <p:spPr>
          <a:xfrm>
            <a:off x="6181988" y="4759954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课程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8BD0236-8255-4556-B0B1-3DD1441BE1FA}"/>
              </a:ext>
            </a:extLst>
          </p:cNvPr>
          <p:cNvSpPr txBox="1"/>
          <p:nvPr/>
        </p:nvSpPr>
        <p:spPr>
          <a:xfrm>
            <a:off x="3869979" y="5627020"/>
            <a:ext cx="1870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返回是否注册成功</a:t>
            </a:r>
          </a:p>
        </p:txBody>
      </p: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7368CC1E-A684-4A7F-BB20-AD9BA037DF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53172" y="5343293"/>
            <a:ext cx="5314988" cy="597615"/>
          </a:xfrm>
          <a:prstGeom prst="bentConnector3">
            <a:avLst>
              <a:gd name="adj1" fmla="val 1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51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3B4C366-9B8A-42FA-90A5-C75BAFA810C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149362" y="1201079"/>
            <a:ext cx="11731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0F79F4E-B620-4C39-A331-AD864B01EEF7}"/>
              </a:ext>
            </a:extLst>
          </p:cNvPr>
          <p:cNvCxnSpPr>
            <a:cxnSpLocks/>
          </p:cNvCxnSpPr>
          <p:nvPr/>
        </p:nvCxnSpPr>
        <p:spPr>
          <a:xfrm>
            <a:off x="8104414" y="1219033"/>
            <a:ext cx="808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5D5E8368-7432-4F4A-B840-F9944B28A713}"/>
              </a:ext>
            </a:extLst>
          </p:cNvPr>
          <p:cNvSpPr txBox="1"/>
          <p:nvPr/>
        </p:nvSpPr>
        <p:spPr>
          <a:xfrm>
            <a:off x="5162742" y="-41698"/>
            <a:ext cx="12192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作业编号、</a:t>
            </a:r>
            <a:endParaRPr lang="en-US" altLang="zh-CN" sz="1600" b="1" dirty="0"/>
          </a:p>
          <a:p>
            <a:r>
              <a:rPr lang="zh-CN" altLang="en-US" sz="1600" b="1" dirty="0"/>
              <a:t>作业名字、</a:t>
            </a:r>
            <a:endParaRPr lang="en-US" altLang="zh-CN" sz="1600" b="1" dirty="0"/>
          </a:p>
          <a:p>
            <a:r>
              <a:rPr lang="zh-CN" altLang="en-US" sz="1600" b="1" dirty="0"/>
              <a:t>作业简介、</a:t>
            </a:r>
            <a:endParaRPr lang="en-US" altLang="zh-CN" sz="1600" b="1" dirty="0"/>
          </a:p>
          <a:p>
            <a:r>
              <a:rPr lang="zh-CN" altLang="en-US" sz="1600" b="1" dirty="0"/>
              <a:t>教师账号、</a:t>
            </a:r>
            <a:endParaRPr lang="en-US" altLang="zh-CN" sz="1600" b="1" dirty="0"/>
          </a:p>
          <a:p>
            <a:r>
              <a:rPr lang="zh-CN" altLang="en-US" sz="1600" b="1" dirty="0"/>
              <a:t>课程编号、</a:t>
            </a:r>
            <a:endParaRPr lang="en-US" altLang="zh-CN" sz="1600" b="1" dirty="0"/>
          </a:p>
          <a:p>
            <a:r>
              <a:rPr lang="zh-CN" altLang="en-US" sz="1600" b="1" dirty="0"/>
              <a:t>发布时间、</a:t>
            </a:r>
            <a:endParaRPr lang="en-US" altLang="zh-CN" sz="1600" b="1" dirty="0"/>
          </a:p>
          <a:p>
            <a:r>
              <a:rPr lang="zh-CN" altLang="en-US" sz="1600" b="1" dirty="0"/>
              <a:t>作业总人数</a:t>
            </a:r>
            <a:endParaRPr lang="en-US" altLang="zh-CN" sz="1600" b="1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AF39F53-D8A3-486D-AB84-40079450EEB2}"/>
              </a:ext>
            </a:extLst>
          </p:cNvPr>
          <p:cNvSpPr/>
          <p:nvPr/>
        </p:nvSpPr>
        <p:spPr>
          <a:xfrm>
            <a:off x="3930162" y="977242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教师</a:t>
            </a: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458BD55D-FF71-48BE-8FC0-97ADE6AD25E5}"/>
              </a:ext>
            </a:extLst>
          </p:cNvPr>
          <p:cNvSpPr/>
          <p:nvPr/>
        </p:nvSpPr>
        <p:spPr>
          <a:xfrm>
            <a:off x="6322471" y="866243"/>
            <a:ext cx="1612488" cy="66967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作业发布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F364582-9712-402B-9315-D205E8B5548D}"/>
              </a:ext>
            </a:extLst>
          </p:cNvPr>
          <p:cNvSpPr/>
          <p:nvPr/>
        </p:nvSpPr>
        <p:spPr>
          <a:xfrm>
            <a:off x="9108068" y="977241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作业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A8679A-C183-45A1-B294-A670C431A33C}"/>
              </a:ext>
            </a:extLst>
          </p:cNvPr>
          <p:cNvSpPr txBox="1"/>
          <p:nvPr/>
        </p:nvSpPr>
        <p:spPr>
          <a:xfrm>
            <a:off x="8636000" y="1774184"/>
            <a:ext cx="1870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发布成功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CC9DDF3-691D-424D-BC60-9590198A0971}"/>
              </a:ext>
            </a:extLst>
          </p:cNvPr>
          <p:cNvCxnSpPr>
            <a:cxnSpLocks/>
          </p:cNvCxnSpPr>
          <p:nvPr/>
        </p:nvCxnSpPr>
        <p:spPr>
          <a:xfrm>
            <a:off x="9717668" y="1535915"/>
            <a:ext cx="0" cy="757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菱形 13">
            <a:extLst>
              <a:ext uri="{FF2B5EF4-FFF2-40B4-BE49-F238E27FC236}">
                <a16:creationId xmlns:a16="http://schemas.microsoft.com/office/drawing/2014/main" id="{181A6883-8707-408C-B47F-E06C47EB8CAF}"/>
              </a:ext>
            </a:extLst>
          </p:cNvPr>
          <p:cNvSpPr/>
          <p:nvPr/>
        </p:nvSpPr>
        <p:spPr>
          <a:xfrm>
            <a:off x="8733623" y="2350008"/>
            <a:ext cx="1968090" cy="924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更新学生作业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CB2D844-C294-4440-B1CC-80394E32D634}"/>
              </a:ext>
            </a:extLst>
          </p:cNvPr>
          <p:cNvCxnSpPr>
            <a:cxnSpLocks/>
          </p:cNvCxnSpPr>
          <p:nvPr/>
        </p:nvCxnSpPr>
        <p:spPr>
          <a:xfrm flipV="1">
            <a:off x="1487054" y="3907523"/>
            <a:ext cx="11731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1863003-91BE-41E6-84F0-5CC8BF2022FD}"/>
              </a:ext>
            </a:extLst>
          </p:cNvPr>
          <p:cNvCxnSpPr>
            <a:cxnSpLocks/>
          </p:cNvCxnSpPr>
          <p:nvPr/>
        </p:nvCxnSpPr>
        <p:spPr>
          <a:xfrm>
            <a:off x="4561669" y="3977038"/>
            <a:ext cx="808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F87FD3E0-2BD5-4966-82FD-2008D370A464}"/>
              </a:ext>
            </a:extLst>
          </p:cNvPr>
          <p:cNvSpPr txBox="1"/>
          <p:nvPr/>
        </p:nvSpPr>
        <p:spPr>
          <a:xfrm>
            <a:off x="1634002" y="3345274"/>
            <a:ext cx="12192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作业编号、</a:t>
            </a:r>
            <a:endParaRPr lang="en-US" altLang="zh-CN" sz="1600" b="1" dirty="0"/>
          </a:p>
          <a:p>
            <a:r>
              <a:rPr lang="zh-CN" altLang="en-US" sz="1600" b="1" dirty="0"/>
              <a:t>作业名字、</a:t>
            </a:r>
            <a:endParaRPr lang="en-US" altLang="zh-CN" sz="1600" b="1" dirty="0"/>
          </a:p>
          <a:p>
            <a:r>
              <a:rPr lang="zh-CN" altLang="en-US" sz="1600" b="1" dirty="0"/>
              <a:t>教师学号、</a:t>
            </a:r>
            <a:endParaRPr lang="en-US" altLang="zh-CN" sz="1600" b="1" dirty="0"/>
          </a:p>
          <a:p>
            <a:r>
              <a:rPr lang="zh-CN" altLang="en-US" sz="1600" b="1" dirty="0"/>
              <a:t>关联的课程编号</a:t>
            </a:r>
            <a:endParaRPr lang="en-US" altLang="zh-CN" sz="1600" b="1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75605ED-BBEB-4849-B5F1-332D96B0DD27}"/>
              </a:ext>
            </a:extLst>
          </p:cNvPr>
          <p:cNvSpPr/>
          <p:nvPr/>
        </p:nvSpPr>
        <p:spPr>
          <a:xfrm>
            <a:off x="414802" y="3675343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教师</a:t>
            </a:r>
          </a:p>
        </p:txBody>
      </p:sp>
      <p:sp>
        <p:nvSpPr>
          <p:cNvPr id="19" name="菱形 18">
            <a:extLst>
              <a:ext uri="{FF2B5EF4-FFF2-40B4-BE49-F238E27FC236}">
                <a16:creationId xmlns:a16="http://schemas.microsoft.com/office/drawing/2014/main" id="{4FB89C9B-BFC1-40E3-BCD8-4D241E5040AA}"/>
              </a:ext>
            </a:extLst>
          </p:cNvPr>
          <p:cNvSpPr/>
          <p:nvPr/>
        </p:nvSpPr>
        <p:spPr>
          <a:xfrm>
            <a:off x="2807111" y="3564344"/>
            <a:ext cx="1612488" cy="66967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作业批改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EFC8E23-BE1A-4C13-BEA9-2260911213BC}"/>
              </a:ext>
            </a:extLst>
          </p:cNvPr>
          <p:cNvSpPr/>
          <p:nvPr/>
        </p:nvSpPr>
        <p:spPr>
          <a:xfrm>
            <a:off x="5592708" y="3675342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作业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D80B631-CBAA-47F5-9319-815A99DFA369}"/>
              </a:ext>
            </a:extLst>
          </p:cNvPr>
          <p:cNvSpPr/>
          <p:nvPr/>
        </p:nvSpPr>
        <p:spPr>
          <a:xfrm>
            <a:off x="5618703" y="5928661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作业</a:t>
            </a: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80299B81-BF45-4D97-A939-47D4EABBD9B0}"/>
              </a:ext>
            </a:extLst>
          </p:cNvPr>
          <p:cNvSpPr/>
          <p:nvPr/>
        </p:nvSpPr>
        <p:spPr>
          <a:xfrm>
            <a:off x="5422060" y="4757777"/>
            <a:ext cx="1612488" cy="66967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作业批改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E276612-F1EE-4A5F-B67F-5097741980AE}"/>
              </a:ext>
            </a:extLst>
          </p:cNvPr>
          <p:cNvCxnSpPr>
            <a:cxnSpLocks/>
          </p:cNvCxnSpPr>
          <p:nvPr/>
        </p:nvCxnSpPr>
        <p:spPr>
          <a:xfrm flipH="1">
            <a:off x="6202308" y="4234016"/>
            <a:ext cx="1" cy="434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8170747-0BF7-404E-B9C9-F2CB7DB17E32}"/>
              </a:ext>
            </a:extLst>
          </p:cNvPr>
          <p:cNvCxnSpPr>
            <a:cxnSpLocks/>
          </p:cNvCxnSpPr>
          <p:nvPr/>
        </p:nvCxnSpPr>
        <p:spPr>
          <a:xfrm flipH="1">
            <a:off x="6228303" y="5456052"/>
            <a:ext cx="1" cy="434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797B708-7E8F-433C-81CB-2CED9596D35A}"/>
              </a:ext>
            </a:extLst>
          </p:cNvPr>
          <p:cNvSpPr txBox="1"/>
          <p:nvPr/>
        </p:nvSpPr>
        <p:spPr>
          <a:xfrm>
            <a:off x="6471923" y="4160929"/>
            <a:ext cx="12192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课程编号、</a:t>
            </a:r>
            <a:endParaRPr lang="en-US" altLang="zh-CN" sz="1600" b="1" dirty="0"/>
          </a:p>
          <a:p>
            <a:r>
              <a:rPr lang="zh-CN" altLang="en-US" sz="1600" b="1" dirty="0"/>
              <a:t>作业编号、</a:t>
            </a:r>
            <a:endParaRPr lang="en-US" altLang="zh-CN" sz="1600" b="1" dirty="0"/>
          </a:p>
          <a:p>
            <a:r>
              <a:rPr lang="zh-CN" altLang="en-US" sz="1600" b="1" dirty="0"/>
              <a:t>作业名字、</a:t>
            </a:r>
            <a:endParaRPr lang="en-US" altLang="zh-CN" sz="1600" b="1" dirty="0"/>
          </a:p>
          <a:p>
            <a:r>
              <a:rPr lang="zh-CN" altLang="en-US" sz="1600" b="1" dirty="0"/>
              <a:t>学生学号、</a:t>
            </a:r>
            <a:endParaRPr lang="en-US" altLang="zh-CN" sz="1600" b="1" dirty="0"/>
          </a:p>
          <a:p>
            <a:r>
              <a:rPr lang="zh-CN" altLang="en-US" sz="1600" b="1" dirty="0"/>
              <a:t>成绩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23000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1AC48D10-AF51-4F57-B123-4B469521D1A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416322" y="1092512"/>
            <a:ext cx="11731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7D0A4A10-12EF-478B-96F4-4D7C3EAA60DC}"/>
              </a:ext>
            </a:extLst>
          </p:cNvPr>
          <p:cNvCxnSpPr>
            <a:cxnSpLocks/>
          </p:cNvCxnSpPr>
          <p:nvPr/>
        </p:nvCxnSpPr>
        <p:spPr>
          <a:xfrm>
            <a:off x="5371374" y="1110466"/>
            <a:ext cx="808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51C35AB-A707-4DF2-BE98-32C5F1D61572}"/>
              </a:ext>
            </a:extLst>
          </p:cNvPr>
          <p:cNvSpPr txBox="1"/>
          <p:nvPr/>
        </p:nvSpPr>
        <p:spPr>
          <a:xfrm>
            <a:off x="2539685" y="453175"/>
            <a:ext cx="1219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课程编号、</a:t>
            </a:r>
            <a:endParaRPr lang="en-US" altLang="zh-CN" sz="1600" b="1" dirty="0"/>
          </a:p>
          <a:p>
            <a:r>
              <a:rPr lang="zh-CN" altLang="en-US" sz="1600" b="1" dirty="0"/>
              <a:t>课程名字、</a:t>
            </a:r>
            <a:endParaRPr lang="en-US" altLang="zh-CN" sz="1600" b="1" dirty="0"/>
          </a:p>
          <a:p>
            <a:endParaRPr lang="en-US" altLang="zh-CN" sz="1600" b="1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F89EE1E-222B-48CF-88D3-4DFE7911C5F4}"/>
              </a:ext>
            </a:extLst>
          </p:cNvPr>
          <p:cNvSpPr/>
          <p:nvPr/>
        </p:nvSpPr>
        <p:spPr>
          <a:xfrm>
            <a:off x="1197122" y="868675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管理员</a:t>
            </a: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CDC1B6E2-79F5-4EC9-9764-60351EC51270}"/>
              </a:ext>
            </a:extLst>
          </p:cNvPr>
          <p:cNvSpPr/>
          <p:nvPr/>
        </p:nvSpPr>
        <p:spPr>
          <a:xfrm>
            <a:off x="3589431" y="757676"/>
            <a:ext cx="1612488" cy="66967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课程推荐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C8F9B40-C9F9-48B1-9B69-14506C7BEDE9}"/>
              </a:ext>
            </a:extLst>
          </p:cNvPr>
          <p:cNvSpPr/>
          <p:nvPr/>
        </p:nvSpPr>
        <p:spPr>
          <a:xfrm>
            <a:off x="6375028" y="868674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课程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7C815D6-9335-4CD2-9392-14679F51B21B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2446801" y="2559456"/>
            <a:ext cx="1173109" cy="17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0732E01-F755-45B3-A780-51EB3F7D7D9F}"/>
              </a:ext>
            </a:extLst>
          </p:cNvPr>
          <p:cNvCxnSpPr>
            <a:cxnSpLocks/>
          </p:cNvCxnSpPr>
          <p:nvPr/>
        </p:nvCxnSpPr>
        <p:spPr>
          <a:xfrm>
            <a:off x="5401853" y="2577410"/>
            <a:ext cx="808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DC01050-F8E8-4E56-9A1F-27540A29A06A}"/>
              </a:ext>
            </a:extLst>
          </p:cNvPr>
          <p:cNvSpPr txBox="1"/>
          <p:nvPr/>
        </p:nvSpPr>
        <p:spPr>
          <a:xfrm>
            <a:off x="2498108" y="1920119"/>
            <a:ext cx="1219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课程编号、</a:t>
            </a:r>
            <a:endParaRPr lang="en-US" altLang="zh-CN" sz="1600" b="1" dirty="0"/>
          </a:p>
          <a:p>
            <a:r>
              <a:rPr lang="zh-CN" altLang="en-US" sz="1600" b="1" dirty="0"/>
              <a:t>课程名字</a:t>
            </a:r>
            <a:endParaRPr lang="en-US" altLang="zh-CN" sz="1600" b="1" dirty="0"/>
          </a:p>
          <a:p>
            <a:endParaRPr lang="en-US" altLang="zh-CN" sz="1600" b="1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122281A-D9A1-4D41-9060-8189BFDD38B6}"/>
              </a:ext>
            </a:extLst>
          </p:cNvPr>
          <p:cNvSpPr/>
          <p:nvPr/>
        </p:nvSpPr>
        <p:spPr>
          <a:xfrm>
            <a:off x="640080" y="2205980"/>
            <a:ext cx="1806721" cy="7428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</a:t>
            </a:r>
            <a:br>
              <a:rPr lang="en-US" altLang="zh-CN" dirty="0"/>
            </a:br>
            <a:r>
              <a:rPr lang="zh-CN" altLang="en-US" dirty="0"/>
              <a:t>（教师或学生）</a:t>
            </a:r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7A8CDFE0-3C3D-41A5-BE95-A9CFDCF7C8AC}"/>
              </a:ext>
            </a:extLst>
          </p:cNvPr>
          <p:cNvSpPr/>
          <p:nvPr/>
        </p:nvSpPr>
        <p:spPr>
          <a:xfrm>
            <a:off x="3619910" y="2224620"/>
            <a:ext cx="1612488" cy="66967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课程点赞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CCFBCC5-DC57-4047-B79C-F1B5798E27A9}"/>
              </a:ext>
            </a:extLst>
          </p:cNvPr>
          <p:cNvSpPr/>
          <p:nvPr/>
        </p:nvSpPr>
        <p:spPr>
          <a:xfrm>
            <a:off x="6405507" y="2335618"/>
            <a:ext cx="1219200" cy="4476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课程</a:t>
            </a:r>
          </a:p>
        </p:txBody>
      </p:sp>
    </p:spTree>
    <p:extLst>
      <p:ext uri="{BB962C8B-B14F-4D97-AF65-F5344CB8AC3E}">
        <p14:creationId xmlns:p14="http://schemas.microsoft.com/office/powerpoint/2010/main" val="180148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253</Words>
  <Application>Microsoft Office PowerPoint</Application>
  <PresentationFormat>宽屏</PresentationFormat>
  <Paragraphs>76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19</cp:revision>
  <dcterms:created xsi:type="dcterms:W3CDTF">2024-12-05T11:05:31Z</dcterms:created>
  <dcterms:modified xsi:type="dcterms:W3CDTF">2024-12-06T02:53:47Z</dcterms:modified>
</cp:coreProperties>
</file>