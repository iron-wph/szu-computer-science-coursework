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notesSlides/notesSlide1.xml" ContentType="application/vnd.openxmlformats-officedocument.presentationml.notesSlide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1303" r:id="rId3"/>
    <p:sldId id="1304" r:id="rId4"/>
    <p:sldId id="1305" r:id="rId5"/>
    <p:sldId id="1306" r:id="rId6"/>
    <p:sldId id="1307" r:id="rId7"/>
    <p:sldId id="1308" r:id="rId8"/>
    <p:sldId id="1314" r:id="rId9"/>
    <p:sldId id="1309" r:id="rId10"/>
    <p:sldId id="1310" r:id="rId11"/>
    <p:sldId id="1299" r:id="rId12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Cai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546" y="202"/>
      </p:cViewPr>
      <p:guideLst>
        <p:guide orient="horz" pos="2229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2024/12/25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tags" Target="../tags/tag19.xml"/><Relationship Id="rId2" Type="http://schemas.openxmlformats.org/officeDocument/2006/relationships/tags" Target="../tags/tag9.xml"/><Relationship Id="rId16" Type="http://schemas.openxmlformats.org/officeDocument/2006/relationships/image" Target="../media/image3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tags" Target="../tags/tag18.xml"/><Relationship Id="rId5" Type="http://schemas.openxmlformats.org/officeDocument/2006/relationships/tags" Target="../tags/tag12.xml"/><Relationship Id="rId15" Type="http://schemas.openxmlformats.org/officeDocument/2006/relationships/image" Target="../media/image2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2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6.png"/><Relationship Id="rId5" Type="http://schemas.openxmlformats.org/officeDocument/2006/relationships/tags" Target="../tags/tag36.xml"/><Relationship Id="rId10" Type="http://schemas.openxmlformats.org/officeDocument/2006/relationships/image" Target="../media/image5.png"/><Relationship Id="rId4" Type="http://schemas.openxmlformats.org/officeDocument/2006/relationships/tags" Target="../tags/tag35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image" Target="../media/image5.png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image" Target="../media/image6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4.xml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image" Target="../media/image7.png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9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10" Type="http://schemas.openxmlformats.org/officeDocument/2006/relationships/image" Target="../media/image9.png"/><Relationship Id="rId4" Type="http://schemas.openxmlformats.org/officeDocument/2006/relationships/tags" Target="../tags/tag74.xml"/><Relationship Id="rId9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7" Type="http://schemas.openxmlformats.org/officeDocument/2006/relationships/image" Target="../media/image1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2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image" Target="../media/image1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image" Target="../media/image11.png"/><Relationship Id="rId5" Type="http://schemas.openxmlformats.org/officeDocument/2006/relationships/tags" Target="../tags/tag8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6.xml"/><Relationship Id="rId9" Type="http://schemas.openxmlformats.org/officeDocument/2006/relationships/tags" Target="../tags/tag9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12.png"/><Relationship Id="rId2" Type="http://schemas.openxmlformats.org/officeDocument/2006/relationships/tags" Target="../tags/tag93.xml"/><Relationship Id="rId1" Type="http://schemas.openxmlformats.org/officeDocument/2006/relationships/tags" Target="../tags/tag9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6.xml"/><Relationship Id="rId4" Type="http://schemas.openxmlformats.org/officeDocument/2006/relationships/tags" Target="../tags/tag95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9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10" Type="http://schemas.openxmlformats.org/officeDocument/2006/relationships/image" Target="../media/image9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9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10" Type="http://schemas.openxmlformats.org/officeDocument/2006/relationships/image" Target="../media/image14.png"/><Relationship Id="rId4" Type="http://schemas.openxmlformats.org/officeDocument/2006/relationships/tags" Target="../tags/tag123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image" Target="../media/image15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tags" Target="../tags/tag13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32.xml"/><Relationship Id="rId10" Type="http://schemas.openxmlformats.org/officeDocument/2006/relationships/tags" Target="../tags/tag137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45.xml"/><Relationship Id="rId3" Type="http://schemas.openxmlformats.org/officeDocument/2006/relationships/tags" Target="../tags/tag140.xml"/><Relationship Id="rId7" Type="http://schemas.openxmlformats.org/officeDocument/2006/relationships/tags" Target="../tags/tag144.xml"/><Relationship Id="rId2" Type="http://schemas.openxmlformats.org/officeDocument/2006/relationships/tags" Target="../tags/tag139.xml"/><Relationship Id="rId1" Type="http://schemas.openxmlformats.org/officeDocument/2006/relationships/tags" Target="../tags/tag138.xml"/><Relationship Id="rId6" Type="http://schemas.openxmlformats.org/officeDocument/2006/relationships/tags" Target="../tags/tag143.xml"/><Relationship Id="rId11" Type="http://schemas.openxmlformats.org/officeDocument/2006/relationships/image" Target="../media/image17.png"/><Relationship Id="rId5" Type="http://schemas.openxmlformats.org/officeDocument/2006/relationships/tags" Target="../tags/tag142.xml"/><Relationship Id="rId10" Type="http://schemas.openxmlformats.org/officeDocument/2006/relationships/image" Target="../media/image16.png"/><Relationship Id="rId4" Type="http://schemas.openxmlformats.org/officeDocument/2006/relationships/tags" Target="../tags/tag141.xml"/><Relationship Id="rId9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9144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1662589" y="3503930"/>
            <a:ext cx="5819299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5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662351" y="2292046"/>
            <a:ext cx="5819299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45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3383279" y="4490846"/>
            <a:ext cx="1037320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4572000" y="4490846"/>
            <a:ext cx="1037319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9144000" cy="13245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35560"/>
            <a:ext cx="9144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3938615" y="2681555"/>
            <a:ext cx="2682787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33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3938615" y="3459937"/>
            <a:ext cx="2682788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79158" y="952508"/>
            <a:ext cx="3962432" cy="5388907"/>
          </a:xfrm>
        </p:spPr>
        <p:txBody>
          <a:bodyPr lIns="90000" tIns="46800" rIns="90000" bIns="46800">
            <a:normAutofit/>
          </a:bodyPr>
          <a:lstStyle>
            <a:lvl1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2382" y="5971592"/>
            <a:ext cx="2608970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6537457" y="5905492"/>
            <a:ext cx="2610830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02448" y="952508"/>
            <a:ext cx="396243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 flipH="1">
            <a:off x="6537457" y="5905492"/>
            <a:ext cx="2610830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2382" y="5971592"/>
            <a:ext cx="2608970" cy="9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15482"/>
            <a:ext cx="2737007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 rot="10800000">
            <a:off x="6406993" y="15483"/>
            <a:ext cx="2737007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: 圆角 13"/>
          <p:cNvSpPr/>
          <p:nvPr>
            <p:custDataLst>
              <p:tags r:id="rId7"/>
            </p:custDataLst>
          </p:nvPr>
        </p:nvSpPr>
        <p:spPr>
          <a:xfrm>
            <a:off x="4228624" y="1484173"/>
            <a:ext cx="6858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2024/12/25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 rot="5400000">
            <a:off x="-2534087" y="2809615"/>
            <a:ext cx="51435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9144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9144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9144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2344229" y="2421777"/>
            <a:ext cx="445554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9144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3474527" y="4417887"/>
            <a:ext cx="976576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4692899" y="4417887"/>
            <a:ext cx="976577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1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9144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14789" y="273050"/>
            <a:ext cx="8712041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961200" y="1249200"/>
            <a:ext cx="7219800" cy="723600"/>
          </a:xfrm>
        </p:spPr>
        <p:txBody>
          <a:bodyPr anchor="ctr"/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960835" y="2163600"/>
            <a:ext cx="7219950" cy="3445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5304452" y="4933186"/>
            <a:ext cx="3622376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3617595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437400" y="770400"/>
            <a:ext cx="2970000" cy="882000"/>
          </a:xfrm>
        </p:spPr>
        <p:txBody>
          <a:bodyPr anchor="ctr"/>
          <a:lstStyle>
            <a:lvl1pPr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40100" y="1764000"/>
            <a:ext cx="2967300" cy="4093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3825900" y="769938"/>
            <a:ext cx="4860000" cy="5087937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9000" y="781200"/>
            <a:ext cx="8232300" cy="626400"/>
          </a:xfrm>
        </p:spPr>
        <p:txBody>
          <a:bodyPr anchor="ctr"/>
          <a:lstStyle>
            <a:lvl1pPr algn="ctr"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459000" y="1659600"/>
            <a:ext cx="8231981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459581" y="2808000"/>
            <a:ext cx="8224200" cy="34308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173998" y="5327780"/>
            <a:ext cx="297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858" y="0"/>
            <a:ext cx="9144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3600" y="669600"/>
            <a:ext cx="8232300" cy="565200"/>
          </a:xfrm>
        </p:spPr>
        <p:txBody>
          <a:bodyPr anchor="ctr"/>
          <a:lstStyle>
            <a:lvl1pPr algn="ctr"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453628" y="1681200"/>
            <a:ext cx="8243100" cy="3211200"/>
          </a:xfrm>
        </p:spPr>
        <p:txBody>
          <a:bodyPr/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445500" y="5180400"/>
            <a:ext cx="82512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9144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350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34700" y="237600"/>
            <a:ext cx="8278200" cy="441964"/>
          </a:xfrm>
        </p:spPr>
        <p:txBody>
          <a:bodyPr>
            <a:normAutofit/>
          </a:bodyPr>
          <a:lstStyle>
            <a:lvl1pPr>
              <a:defRPr sz="2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34700" y="1663200"/>
            <a:ext cx="4006800" cy="28944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4681800" y="1663200"/>
            <a:ext cx="4025700" cy="28944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429300" y="4816800"/>
            <a:ext cx="4006800" cy="7812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4689900" y="4813200"/>
            <a:ext cx="4025700" cy="78120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9144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6321812" y="4917233"/>
            <a:ext cx="2822188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3535204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142100" y="1339200"/>
            <a:ext cx="6858000" cy="2386800"/>
          </a:xfrm>
        </p:spPr>
        <p:txBody>
          <a:bodyPr anchor="b"/>
          <a:lstStyle>
            <a:lvl1pPr algn="ctr">
              <a:defRPr sz="45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141810" y="3862800"/>
            <a:ext cx="6858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031" y="98455"/>
            <a:ext cx="7761287" cy="75723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50875" y="1081089"/>
            <a:ext cx="4102100" cy="5056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05375" y="1081089"/>
            <a:ext cx="4102100" cy="50561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9031" y="98448"/>
            <a:ext cx="7761287" cy="75723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50875" y="1081089"/>
            <a:ext cx="8356600" cy="50561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4.xml"/><Relationship Id="rId30" Type="http://schemas.openxmlformats.org/officeDocument/2006/relationships/tags" Target="../tags/tag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502412" y="952508"/>
            <a:ext cx="8139178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2024/12/25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3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Web</a:t>
            </a:r>
            <a:r>
              <a:rPr lang="zh-CN" altLang="en-US"/>
              <a:t>编程</a:t>
            </a: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——</a:t>
            </a:r>
            <a:r>
              <a:rPr lang="zh-CN" altLang="en-US"/>
              <a:t>前端开发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/>
              <a:t>蔡树彬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2024.11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《</a:t>
            </a:r>
            <a:r>
              <a:rPr>
                <a:sym typeface="+mn-ea"/>
              </a:rPr>
              <a:t>Web课程教学辅助系统</a:t>
            </a:r>
            <a:r>
              <a:t>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参考UOOC平台，</a:t>
            </a:r>
            <a:r>
              <a:rPr lang="zh-CN" altLang="en-US" sz="2000" dirty="0">
                <a:highlight>
                  <a:srgbClr val="FFFF00"/>
                </a:highlight>
              </a:rPr>
              <a:t>以“在线课程教学平台”为主题</a:t>
            </a:r>
            <a:r>
              <a:rPr lang="zh-CN" altLang="en-US" sz="2000" dirty="0"/>
              <a:t>，设计实现一个在线课程平台。系统中至少包括“游客”、“学生”、“教师”和“管理员”4类账号。“学生”用户具有查看、搜索平台上课程、注册课程、在线学习、提交作业和进行评测等功能，“游客”为功能受限的“学生”账号；“教师”用户具有创建课程、编排课程内容、设计习题和查看课程学习情况等统计功能，“管理员”用户具有常见系统功能管理。系统开发完成后进行演示答辩并提交设计报告，要求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①</a:t>
            </a:r>
            <a:r>
              <a:rPr lang="zh-CN" altLang="en-US" sz="2000" dirty="0">
                <a:highlight>
                  <a:srgbClr val="FFFF00"/>
                </a:highlight>
              </a:rPr>
              <a:t>默认</a:t>
            </a:r>
            <a:r>
              <a:rPr sz="2000" dirty="0">
                <a:highlight>
                  <a:srgbClr val="FFFF00"/>
                </a:highlight>
                <a:sym typeface="+mn-ea"/>
              </a:rPr>
              <a:t>由</a:t>
            </a:r>
            <a:r>
              <a:rPr lang="zh-CN" altLang="en-US" sz="2000" dirty="0">
                <a:highlight>
                  <a:srgbClr val="FFFF00"/>
                </a:highlight>
              </a:rPr>
              <a:t>团队（3-5人）完成</a:t>
            </a:r>
            <a:r>
              <a:rPr lang="zh-CN" altLang="en-US" sz="2000" dirty="0"/>
              <a:t>，其中①、②、③、④模块中的普通功能为必做功能；各个模块中的可选部分或</a:t>
            </a:r>
            <a:r>
              <a:rPr sz="2000" dirty="0">
                <a:sym typeface="+mn-ea"/>
              </a:rPr>
              <a:t>⑤、</a:t>
            </a:r>
            <a:r>
              <a:rPr lang="zh-CN" altLang="en-US" sz="2000" dirty="0"/>
              <a:t>⑥模块或更多功能的设计可以由团队成员进一步扩展设计。</a:t>
            </a:r>
            <a:r>
              <a:rPr lang="zh-CN" altLang="en-US" sz="2000" dirty="0">
                <a:highlight>
                  <a:srgbClr val="FFFF00"/>
                </a:highlight>
              </a:rPr>
              <a:t>但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要求每位团队成员都需要独立负责某个模块的前端设计、实现。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团队人数为1、2人时，非建议项，依然需要完成4大模块的必做功能。特别注意：</a:t>
            </a:r>
            <a:r>
              <a:rPr lang="zh-CN" altLang="en-US" sz="2000" b="1" dirty="0"/>
              <a:t>单人</a:t>
            </a:r>
            <a:r>
              <a:rPr lang="zh-CN" altLang="en-US" sz="2000" dirty="0"/>
              <a:t>项目没有额外工作量加分，反而有无团队协作的扣分项。</a:t>
            </a:r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①</a:t>
            </a:r>
            <a:r>
              <a:rPr lang="zh-CN" altLang="en-US"/>
              <a:t>首页模块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lang="zh-CN" altLang="en-US" sz="1600" dirty="0"/>
              <a:t>①必须包括</a:t>
            </a:r>
            <a:r>
              <a:rPr lang="zh-CN" altLang="en-US" sz="1600" dirty="0">
                <a:highlight>
                  <a:srgbClr val="FFFF00"/>
                </a:highlight>
              </a:rPr>
              <a:t>“游客”可浏览的首页</a:t>
            </a:r>
            <a:r>
              <a:rPr lang="zh-CN" altLang="en-US" sz="1600" dirty="0"/>
              <a:t>等页面内容。页面内容至少包括：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1)基础的页首Logo、导航菜单、</a:t>
            </a:r>
            <a:br>
              <a:rPr lang="en-US" altLang="zh-CN" sz="1600" dirty="0">
                <a:highlight>
                  <a:srgbClr val="FFFF00"/>
                </a:highlight>
              </a:rPr>
            </a:br>
            <a:r>
              <a:rPr lang="zh-CN" altLang="en-US" sz="1600" dirty="0">
                <a:highlight>
                  <a:srgbClr val="FFFF00"/>
                </a:highlight>
              </a:rPr>
              <a:t>课程轮播图、课程类别列表、推荐课程、热门课程和最新课程列表和页脚信息等；点击课程类别项可查看对应课程列表，列表课程可按多种字段内容进行筛选、排序，如按发布时间、注册人数、更新时间、点赞人数等升降序排序；点击</a:t>
            </a:r>
            <a:r>
              <a:rPr lang="zh-CN" altLang="en-US" sz="1600" dirty="0"/>
              <a:t>具体课程项可查看课程详情。课程详情包括文档、音视频等课件、课程简介、讨论区（游客不可评论）和个人笔记（游客不可见）等内容。</a:t>
            </a:r>
          </a:p>
          <a:p>
            <a:r>
              <a:rPr lang="zh-CN" altLang="en-US" sz="1600" dirty="0"/>
              <a:t>2)注册、登录的入口信息</a:t>
            </a:r>
            <a:r>
              <a:rPr lang="zh-CN" altLang="en-US" sz="1600" dirty="0">
                <a:highlight>
                  <a:srgbClr val="FFFF00"/>
                </a:highlight>
              </a:rPr>
              <a:t>和站内搜索功能</a:t>
            </a:r>
          </a:p>
          <a:p>
            <a:r>
              <a:rPr lang="zh-CN" altLang="en-US" sz="1600" dirty="0"/>
              <a:t>3</a:t>
            </a:r>
            <a:r>
              <a:rPr lang="zh-CN" altLang="en-US" sz="1600" dirty="0">
                <a:highlight>
                  <a:srgbClr val="FFFF00"/>
                </a:highlight>
              </a:rPr>
              <a:t>)多个“学生”账号注册课程、发布课程内容问答后，热门课程能及时更新到首页恰当位置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4)“教师”账号发布课程内容后，最新课程能及时更新到首页恰当位置。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5)“管理员”账号设置推荐课程后，推荐课程能及时更新到首页恰当位置。</a:t>
            </a:r>
          </a:p>
          <a:p>
            <a:r>
              <a:rPr lang="zh-CN" altLang="en-US" sz="1600" dirty="0"/>
              <a:t>6)可选部分，推荐、热门、最新的课程，若提供轮播图，可更新至页首的课程轮播图中；</a:t>
            </a:r>
          </a:p>
          <a:p>
            <a:r>
              <a:rPr lang="zh-CN" altLang="en-US" sz="1600" dirty="0"/>
              <a:t>7)可选部分，首页刷新时，如对比上次首页内容，有课程等内容更新等，设计动效提示用户新近变化的内容，包括但不限于跑马灯消息、</a:t>
            </a:r>
            <a:r>
              <a:rPr lang="zh-CN" altLang="en-US" sz="1600" dirty="0">
                <a:highlight>
                  <a:srgbClr val="FFFF00"/>
                </a:highlight>
              </a:rPr>
              <a:t>“新”标记等。</a:t>
            </a:r>
          </a:p>
          <a:p>
            <a:r>
              <a:rPr lang="zh-CN" altLang="en-US" sz="1600" dirty="0"/>
              <a:t>8)前述内容的视觉细节要体现视觉美感；</a:t>
            </a:r>
          </a:p>
          <a:p>
            <a:r>
              <a:rPr lang="zh-CN" altLang="en-US" sz="1600" dirty="0"/>
              <a:t>前述功能的交互设计要有良好的用户体验。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30157B-C8D8-4B2E-B796-754AF25AE971}"/>
              </a:ext>
            </a:extLst>
          </p:cNvPr>
          <p:cNvSpPr/>
          <p:nvPr/>
        </p:nvSpPr>
        <p:spPr>
          <a:xfrm>
            <a:off x="7637929" y="4141694"/>
            <a:ext cx="3137647" cy="4419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直接返回课程然后，设置吧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②账户模块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 lnSpcReduction="10000"/>
          </a:bodyPr>
          <a:lstStyle/>
          <a:p>
            <a:r>
              <a:rPr lang="zh-CN" altLang="en-US" sz="1600" dirty="0"/>
              <a:t>②必须包括的“账户”模块，除了游客外，还有“学生”、“教师”和“系统管理员”三类账号，</a:t>
            </a:r>
          </a:p>
          <a:p>
            <a:r>
              <a:rPr lang="zh-CN" altLang="en-US" sz="1600" dirty="0"/>
              <a:t>1)学生具有</a:t>
            </a:r>
            <a:r>
              <a:rPr lang="zh-CN" altLang="en-US" sz="1600" dirty="0">
                <a:highlight>
                  <a:srgbClr val="FFFF00"/>
                </a:highlight>
              </a:rPr>
              <a:t>自主注册功能</a:t>
            </a:r>
            <a:r>
              <a:rPr lang="zh-CN" altLang="en-US" sz="1600" dirty="0"/>
              <a:t>，注册流程顺畅，有良好的操作引导、输入校验、差错和异常提示。可使用学号（可选：或校内邮箱验证码）进行注册。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2)学生个人中心的资料设置，除学号外，其他个人信息可在用户登录后进行修改，包括头像、昵称、签名档、个人待办事项、学习历史、学习笔记、我的收藏</a:t>
            </a:r>
            <a:r>
              <a:rPr lang="zh-CN" altLang="en-US" sz="1600" dirty="0">
                <a:highlight>
                  <a:srgbClr val="FF0000"/>
                </a:highlight>
              </a:rPr>
              <a:t>、我的错题、我的讨论</a:t>
            </a:r>
            <a:r>
              <a:rPr lang="zh-CN" altLang="en-US" sz="1600" dirty="0">
                <a:highlight>
                  <a:srgbClr val="FFFF00"/>
                </a:highlight>
              </a:rPr>
              <a:t>等内容。</a:t>
            </a:r>
          </a:p>
          <a:p>
            <a:r>
              <a:rPr lang="zh-CN" altLang="en-US" sz="1600" dirty="0"/>
              <a:t>3)登录功能，登录流程简便，有包括</a:t>
            </a:r>
            <a:r>
              <a:rPr lang="zh-CN" altLang="en-US" sz="1600" dirty="0">
                <a:highlight>
                  <a:srgbClr val="FFFF00"/>
                </a:highlight>
              </a:rPr>
              <a:t>记住账号、显示密码</a:t>
            </a:r>
            <a:r>
              <a:rPr lang="zh-CN" altLang="en-US" sz="1600" dirty="0"/>
              <a:t>、忘记密码、同意《隐私政策》等功能。</a:t>
            </a:r>
          </a:p>
          <a:p>
            <a:r>
              <a:rPr lang="zh-CN" altLang="en-US" sz="1600" dirty="0"/>
              <a:t>4)安全保护部分，对用户的登录凭据，如用户名和密码，采用</a:t>
            </a:r>
            <a:r>
              <a:rPr lang="zh-CN" altLang="en-US" sz="1600" dirty="0">
                <a:highlight>
                  <a:srgbClr val="FFFF00"/>
                </a:highlight>
              </a:rPr>
              <a:t>加盐哈希</a:t>
            </a:r>
            <a:r>
              <a:rPr lang="zh-CN" altLang="en-US" sz="1600" dirty="0"/>
              <a:t>等方法进行保护，</a:t>
            </a:r>
            <a:r>
              <a:rPr lang="zh-CN" altLang="en-US" sz="1600" dirty="0">
                <a:highlight>
                  <a:srgbClr val="FFFF00"/>
                </a:highlight>
              </a:rPr>
              <a:t>不明文存储用户密码等关键信息</a:t>
            </a:r>
            <a:r>
              <a:rPr lang="zh-CN" altLang="en-US" sz="1600" dirty="0"/>
              <a:t>；</a:t>
            </a:r>
            <a:r>
              <a:rPr lang="zh-CN" altLang="en-US" sz="1600" dirty="0">
                <a:highlight>
                  <a:srgbClr val="FFFF00"/>
                </a:highlight>
              </a:rPr>
              <a:t>多次密码输入错误有恰当的验证加强和登录冻结保护机制，可采用但不限于冻结用户账号、“设备号”、IP、MAC地址等。</a:t>
            </a:r>
          </a:p>
          <a:p>
            <a:r>
              <a:rPr lang="zh-CN" altLang="en-US" sz="1600" dirty="0"/>
              <a:t>5)注册、登录的</a:t>
            </a:r>
            <a:r>
              <a:rPr lang="zh-CN" altLang="en-US" sz="1600" dirty="0">
                <a:highlight>
                  <a:srgbClr val="FFFF00"/>
                </a:highlight>
              </a:rPr>
              <a:t>输入校验、差错和异常提示等交互细节要</a:t>
            </a:r>
            <a:r>
              <a:rPr lang="zh-CN" altLang="en-US" sz="1600" dirty="0"/>
              <a:t>清晰易懂、易用。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6)“教师”账号可管理所有已注册的学生用户，包括“重置密码”、“禁用”和“删除”学生账号（可选：支持批量操作）。删除操作要有提示和校验流程。</a:t>
            </a:r>
          </a:p>
          <a:p>
            <a:r>
              <a:rPr lang="zh-CN" altLang="en-US" sz="1600" dirty="0"/>
              <a:t>7)“学生自主注册功能”仅在</a:t>
            </a:r>
            <a:r>
              <a:rPr lang="zh-CN" altLang="en-US" sz="1600" dirty="0">
                <a:highlight>
                  <a:srgbClr val="FFFF00"/>
                </a:highlight>
              </a:rPr>
              <a:t>教师账号开放学生自主注册时可用；关闭后不可再自由注册。</a:t>
            </a:r>
          </a:p>
          <a:p>
            <a:r>
              <a:rPr lang="zh-CN" altLang="en-US" sz="1600" dirty="0">
                <a:highlight>
                  <a:srgbClr val="FF0000"/>
                </a:highlight>
              </a:rPr>
              <a:t>8)可选部分：教师账号可（多次）导入用户名单（xls文件），系统自动为名单中的学生创建账号、设置默认密码（如果未主动注册）；提示系统中已注册但未在名单中的用户清单，提示管理员忽略或禁用这些账号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712B4C-21EE-48A2-A6CE-277DEA711A4B}"/>
              </a:ext>
            </a:extLst>
          </p:cNvPr>
          <p:cNvSpPr/>
          <p:nvPr/>
        </p:nvSpPr>
        <p:spPr>
          <a:xfrm>
            <a:off x="-982133" y="2446867"/>
            <a:ext cx="1422400" cy="12107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记住账号可以通过</a:t>
            </a:r>
            <a:r>
              <a:rPr lang="en-US" altLang="zh-CN" dirty="0" err="1"/>
              <a:t>localStorage</a:t>
            </a:r>
            <a:r>
              <a:rPr lang="zh-CN" altLang="en-US" dirty="0"/>
              <a:t>实现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EF23AD-9468-4B69-825D-541A2B086AF2}"/>
              </a:ext>
            </a:extLst>
          </p:cNvPr>
          <p:cNvSpPr/>
          <p:nvPr/>
        </p:nvSpPr>
        <p:spPr>
          <a:xfrm>
            <a:off x="8386482" y="4287120"/>
            <a:ext cx="2232212" cy="7978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开放注册貌似变成了管理员部分</a:t>
            </a:r>
            <a:endParaRPr lang="en-US" altLang="zh-CN" dirty="0"/>
          </a:p>
          <a:p>
            <a:pPr algn="ctr"/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③教师相关模块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1600" dirty="0"/>
              <a:t>③必须包括教师账号的“ ”和“课程发布”模块，</a:t>
            </a:r>
          </a:p>
          <a:p>
            <a:r>
              <a:rPr lang="zh-CN" altLang="en-US" sz="1600" dirty="0"/>
              <a:t>1)登录教师账号可在“课件管理”模块上传课件，课件包括文档、图片和音视频等形式，多媒体内容可来自</a:t>
            </a:r>
            <a:r>
              <a:rPr lang="zh-CN" altLang="en-US" sz="1600" dirty="0">
                <a:highlight>
                  <a:srgbClr val="FFFF00"/>
                </a:highlight>
              </a:rPr>
              <a:t>本机或网络</a:t>
            </a:r>
            <a:r>
              <a:rPr lang="zh-CN" altLang="en-US" sz="1600" dirty="0"/>
              <a:t>。（可选）支持批量上传和课件内容的打标管理。标签内容按树形组织。</a:t>
            </a:r>
          </a:p>
          <a:p>
            <a:r>
              <a:rPr lang="zh-CN" altLang="en-US" sz="1600" dirty="0"/>
              <a:t>2)发布课程前，可以调整修改课程详情页展示的额外内容，例如候选首页轮播图、课程内多图轮播的</a:t>
            </a:r>
            <a:r>
              <a:rPr lang="zh-CN" altLang="en-US" sz="1600" dirty="0">
                <a:highlight>
                  <a:srgbClr val="FFFF00"/>
                </a:highlight>
              </a:rPr>
              <a:t>拖拽排序</a:t>
            </a:r>
            <a:r>
              <a:rPr lang="zh-CN" altLang="en-US" sz="1600" dirty="0"/>
              <a:t>，还包括课程简介，</a:t>
            </a:r>
            <a:r>
              <a:rPr lang="zh-CN" altLang="en-US" sz="1600" dirty="0">
                <a:highlight>
                  <a:srgbClr val="FFFF00"/>
                </a:highlight>
              </a:rPr>
              <a:t>是否打开课程评论区和课程笔记区域等内容；发布前还可进行预览。发布后，还可以进行修改、撤回发布、删除或查看已发布课程的情况。</a:t>
            </a:r>
          </a:p>
          <a:p>
            <a:r>
              <a:rPr lang="zh-CN" altLang="en-US" sz="1600" dirty="0"/>
              <a:t>3)课程发布过程中用户输入的内容，需要进行必要的存储和提示，减少因用户输入差错而导致需要发生重复输入，提升用户体验。</a:t>
            </a:r>
          </a:p>
          <a:p>
            <a:r>
              <a:rPr lang="zh-CN" altLang="en-US" sz="1600" dirty="0"/>
              <a:t>4)在课程发布前后，教师均可为</a:t>
            </a:r>
            <a:r>
              <a:rPr lang="zh-CN" altLang="en-US" sz="1600" dirty="0">
                <a:highlight>
                  <a:srgbClr val="FFFF00"/>
                </a:highlight>
              </a:rPr>
              <a:t>课程布置作业，要求学生提交作业。布置作业包括设置作业要求、提交截止时间等内容。</a:t>
            </a:r>
          </a:p>
          <a:p>
            <a:r>
              <a:rPr lang="zh-CN" altLang="en-US" sz="1600" dirty="0"/>
              <a:t>5)可选部分，可支持emoji、H5标签和CSS属性的富文本；可选图片缩放、裁剪等编辑功能和音视频的剪辑功能、视频播放的弹幕功能等。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可选部分，自动检查功能，发布前预览时，可利用大语言模型或知识库，自动检查用户待发布的课程内容是否存在错字等问题并进行提示、便利修改。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学生相关模块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600" dirty="0"/>
              <a:t>④必须包括学生账号的“注册课程|”、</a:t>
            </a:r>
            <a:r>
              <a:rPr lang="zh-CN" altLang="en-US" sz="1600" dirty="0">
                <a:highlight>
                  <a:srgbClr val="FF0000"/>
                </a:highlight>
              </a:rPr>
              <a:t>“在线学习”、</a:t>
            </a:r>
            <a:r>
              <a:rPr lang="zh-CN" altLang="en-US" sz="1600" dirty="0"/>
              <a:t>“</a:t>
            </a:r>
            <a:r>
              <a:rPr lang="zh-CN" altLang="en-US" sz="1600" dirty="0">
                <a:highlight>
                  <a:srgbClr val="FF0000"/>
                </a:highlight>
              </a:rPr>
              <a:t>完成测练”</a:t>
            </a:r>
            <a:r>
              <a:rPr lang="zh-CN" altLang="en-US" sz="1600" dirty="0"/>
              <a:t>等功能</a:t>
            </a:r>
          </a:p>
          <a:p>
            <a:r>
              <a:rPr lang="zh-CN" altLang="en-US" sz="1600" dirty="0"/>
              <a:t>1)学生账号登录后，可对教师账号发布的</a:t>
            </a:r>
            <a:r>
              <a:rPr lang="zh-CN" altLang="en-US" sz="1600" dirty="0">
                <a:highlight>
                  <a:srgbClr val="FFFF00"/>
                </a:highlight>
              </a:rPr>
              <a:t>课程进行注册</a:t>
            </a:r>
            <a:r>
              <a:rPr lang="zh-CN" altLang="en-US" sz="1600" dirty="0"/>
              <a:t>（课程注册，非系统注册），课程注册后，可在学生账号的“我的学习”首页查看到已注册的课程、待完成的学习任务等内容。学习任务指包括，查看文档课件、观看音视频课件、提交作业、（可选的）完成练习、完成在线考试、参与课程讨论等内容。提交作业包括直接输入文本内容或上传文件等。内容形式支持文字（代码）、图片、（可选的）音视频等多种形式。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2)学生注册的课程中，教师有布置了作业时，需要在学生的“个人待办事项”中添加该作业要求。学生提交作业后，进入“已完成待办事项”列表可查看自己已提交的作业和（可选的练习、在线考试等的评测结果）。</a:t>
            </a:r>
          </a:p>
          <a:p>
            <a:r>
              <a:rPr lang="zh-CN" altLang="en-US" sz="1600" dirty="0">
                <a:highlight>
                  <a:srgbClr val="FF0000"/>
                </a:highlight>
              </a:rPr>
              <a:t>3)教师账号可查看注册了对应课程下的所有学生账号、所有作业的提交情况并（可选的）导出成绩xls文件。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4)可选部分：利用LLM分析学生提交的作业并给出分析结果，自动评分</a:t>
            </a:r>
            <a:r>
              <a:rPr lang="zh-CN" altLang="en-US" sz="1600" dirty="0"/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⑤自测题库模块</a:t>
            </a:r>
            <a:r>
              <a:rPr>
                <a:latin typeface="微软雅黑" panose="020B0503020204020204" charset="-122"/>
                <a:sym typeface="+mn-ea"/>
              </a:rPr>
              <a:t>⑥创新模块</a:t>
            </a:r>
            <a:endParaRPr lang="en-US" altLang="zh-CN">
              <a:latin typeface="微软雅黑" panose="020B0503020204020204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2083" y="891855"/>
            <a:ext cx="8139178" cy="5388907"/>
          </a:xfrm>
        </p:spPr>
        <p:txBody>
          <a:bodyPr/>
          <a:lstStyle/>
          <a:p>
            <a:r>
              <a:rPr lang="zh-CN" altLang="en-US" sz="1600" dirty="0"/>
              <a:t>⑤可选的“自测题库”模块</a:t>
            </a:r>
          </a:p>
          <a:p>
            <a:r>
              <a:rPr lang="zh-CN" altLang="en-US" sz="1600" dirty="0"/>
              <a:t>1)学生和教师账号在</a:t>
            </a:r>
            <a:r>
              <a:rPr lang="zh-CN" altLang="en-US" sz="1600" dirty="0">
                <a:highlight>
                  <a:srgbClr val="FFFF00"/>
                </a:highlight>
              </a:rPr>
              <a:t>自测题库</a:t>
            </a:r>
            <a:r>
              <a:rPr lang="zh-CN" altLang="en-US" sz="1600" dirty="0"/>
              <a:t>中，可以创建在线自测题目，题目包括单选、多选和判断题（含答案），还可包括填空、简答等。</a:t>
            </a:r>
          </a:p>
          <a:p>
            <a:r>
              <a:rPr lang="zh-CN" altLang="en-US" sz="1600" dirty="0"/>
              <a:t>2)学生和教师账号可利用自测题库，自动生成一份自测试卷，生成试卷时，可在自测题目中随机或选定一些题目</a:t>
            </a:r>
            <a:r>
              <a:rPr lang="zh-CN" altLang="en-US" sz="1600" dirty="0">
                <a:highlight>
                  <a:srgbClr val="FFFF00"/>
                </a:highlight>
              </a:rPr>
              <a:t>，选择题还可控制答案选项随机排列</a:t>
            </a:r>
            <a:r>
              <a:rPr lang="zh-CN" altLang="en-US" sz="1600" dirty="0"/>
              <a:t>，控制参数还包括是否允许答题后查看答案、回退答题等。</a:t>
            </a:r>
          </a:p>
          <a:p>
            <a:r>
              <a:rPr lang="zh-CN" altLang="en-US" sz="1600" dirty="0"/>
              <a:t>3)教师账号创建的自测试题可以发布给选定课程的所有学生（细节处理，如待完成试卷、答题情况等类似课程作业）；学生创建的自测试题只可以自用。</a:t>
            </a:r>
          </a:p>
          <a:p>
            <a:r>
              <a:rPr lang="zh-CN" altLang="en-US" sz="1600" dirty="0"/>
              <a:t>4)学生按自测试卷进行答题、自测。</a:t>
            </a:r>
            <a:r>
              <a:rPr lang="zh-CN" altLang="en-US" sz="1600" dirty="0">
                <a:highlight>
                  <a:srgbClr val="FFFF00"/>
                </a:highlight>
              </a:rPr>
              <a:t>测试过程和结果展示按试卷控制参数设置进行处理。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5)可选部分：利用LLM自动评测简答题的回答情况。</a:t>
            </a:r>
          </a:p>
          <a:p>
            <a:r>
              <a:rPr lang="zh-CN" altLang="en-US" sz="1600" dirty="0">
                <a:highlight>
                  <a:srgbClr val="FFFF00"/>
                </a:highlight>
              </a:rPr>
              <a:t>⑥可选“讨论区气氛组”（自动评论机器人）、“个人学习历史”（个性化学习分析助手）等新模块功能的设计。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特殊情况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>
                <a:sym typeface="+mn-ea"/>
              </a:rPr>
              <a:t>本学期开放</a:t>
            </a:r>
            <a:r>
              <a:rPr lang="en-US" altLang="zh-CN" sz="1800" dirty="0">
                <a:sym typeface="+mn-ea"/>
              </a:rPr>
              <a:t>Web3.0</a:t>
            </a:r>
            <a:r>
              <a:rPr sz="1800" dirty="0">
                <a:sym typeface="+mn-ea"/>
              </a:rPr>
              <a:t>的</a:t>
            </a:r>
            <a:r>
              <a:rPr lang="en-US" altLang="zh-CN" sz="1800" dirty="0" err="1">
                <a:sym typeface="+mn-ea"/>
              </a:rPr>
              <a:t>dApp</a:t>
            </a:r>
            <a:r>
              <a:rPr sz="1800" dirty="0">
                <a:sym typeface="+mn-ea"/>
              </a:rPr>
              <a:t>创新系统设计选题，可以基于</a:t>
            </a:r>
            <a:r>
              <a:rPr lang="en-US" altLang="zh-CN" sz="1800" dirty="0">
                <a:sym typeface="+mn-ea"/>
              </a:rPr>
              <a:t>Solidity</a:t>
            </a:r>
            <a:r>
              <a:rPr sz="1800" dirty="0">
                <a:sym typeface="+mn-ea"/>
              </a:rPr>
              <a:t>，设计有新意的应用系统（严禁直接抄或在（开源）现有</a:t>
            </a:r>
            <a:r>
              <a:rPr lang="en-US" altLang="zh-CN" sz="1800" dirty="0" err="1">
                <a:sym typeface="+mn-ea"/>
              </a:rPr>
              <a:t>dApp</a:t>
            </a:r>
            <a:r>
              <a:rPr sz="1800" dirty="0">
                <a:sym typeface="+mn-ea"/>
              </a:rPr>
              <a:t>上小改提交。</a:t>
            </a:r>
          </a:p>
          <a:p>
            <a:pPr lvl="1"/>
            <a:r>
              <a:rPr sz="1800" dirty="0">
                <a:sym typeface="+mn-ea"/>
              </a:rPr>
              <a:t>选择该选题需要今天（</a:t>
            </a:r>
            <a:r>
              <a:rPr lang="en-US" altLang="zh-CN" sz="1800" dirty="0">
                <a:sym typeface="+mn-ea"/>
              </a:rPr>
              <a:t>11.28</a:t>
            </a:r>
            <a:r>
              <a:rPr sz="1800" dirty="0">
                <a:sym typeface="+mn-ea"/>
              </a:rPr>
              <a:t>）前跟我明确，并在后续讨论明确题目内容跟前述系统必做功能的对应关系。</a:t>
            </a:r>
          </a:p>
          <a:p>
            <a:pPr lvl="1"/>
            <a:r>
              <a:rPr sz="1800" dirty="0">
                <a:sym typeface="+mn-ea"/>
              </a:rPr>
              <a:t>该选题团队成员应有更清晰的财富价值观</a:t>
            </a:r>
            <a:endParaRPr lang="zh-CN" altLang="en-US" sz="1800" dirty="0">
              <a:sym typeface="+mn-ea"/>
            </a:endParaRPr>
          </a:p>
          <a:p>
            <a:pPr lvl="1"/>
            <a:r>
              <a:rPr lang="zh-CN" altLang="en-US" sz="1800" dirty="0">
                <a:sym typeface="+mn-ea"/>
              </a:rPr>
              <a:t>该选题</a:t>
            </a:r>
            <a:r>
              <a:rPr lang="en-US" altLang="zh-CN" sz="1800" dirty="0">
                <a:sym typeface="+mn-ea"/>
              </a:rPr>
              <a:t>1</a:t>
            </a:r>
            <a:r>
              <a:rPr sz="1800" dirty="0">
                <a:sym typeface="+mn-ea"/>
              </a:rPr>
              <a:t>人团队不扣无协作分</a:t>
            </a:r>
          </a:p>
          <a:p>
            <a:pPr lvl="1"/>
            <a:endParaRPr sz="1800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评分要点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1600" dirty="0"/>
              <a:t>（4）项目设计完成后需要在课堂上对设计结果进行演示、答辩（70分），演示答辩主要评分关注点：</a:t>
            </a:r>
          </a:p>
          <a:p>
            <a:r>
              <a:rPr lang="zh-CN" altLang="en-US" sz="1600" dirty="0"/>
              <a:t>①网站各功能模块基本完整、页面和代码结构清晰（45分），</a:t>
            </a:r>
          </a:p>
          <a:p>
            <a:r>
              <a:rPr lang="zh-CN" altLang="en-US" sz="1600" dirty="0"/>
              <a:t>②网站安全防护和适配兼容等性能指标合理（5分）</a:t>
            </a:r>
          </a:p>
          <a:p>
            <a:r>
              <a:rPr lang="zh-CN" altLang="en-US" sz="1600" dirty="0"/>
              <a:t>③网站交互设计效果好，用户体验良好（5分）；</a:t>
            </a:r>
          </a:p>
          <a:p>
            <a:r>
              <a:rPr lang="zh-CN" altLang="en-US" sz="1600" dirty="0"/>
              <a:t>④网站视觉设计有细节，能体现一定的美感（5分）</a:t>
            </a:r>
          </a:p>
          <a:p>
            <a:r>
              <a:rPr lang="zh-CN" altLang="en-US" sz="1600" dirty="0"/>
              <a:t>⑤网站有特色、一些功能点的设计实现有新意（5分）</a:t>
            </a:r>
          </a:p>
          <a:p>
            <a:r>
              <a:rPr lang="zh-CN" altLang="en-US" sz="1600" dirty="0"/>
              <a:t>⑥团队分工合理，每位成员均有恰当贡献（5分）。</a:t>
            </a:r>
          </a:p>
          <a:p>
            <a:r>
              <a:rPr lang="zh-CN" altLang="en-US" sz="1600" dirty="0"/>
              <a:t>（5）项目报告由个人独立完成，需要符合深圳大学相关的格式规范（一般为6-8页），第18周提交项目设计报告电子版到Blackboard系统，纸质版交到任课老师处。项目设计报告（30分）包括：</a:t>
            </a:r>
          </a:p>
          <a:p>
            <a:r>
              <a:rPr lang="zh-CN" altLang="en-US" sz="1600" dirty="0"/>
              <a:t>①对网站的整体分析、设计（5分）</a:t>
            </a:r>
          </a:p>
          <a:p>
            <a:r>
              <a:rPr lang="zh-CN" altLang="en-US" sz="1600" dirty="0"/>
              <a:t>②个人实现部分（HTML5、CSS3和JS）的分析、设计说明和结果呈现（20分）</a:t>
            </a:r>
          </a:p>
          <a:p>
            <a:r>
              <a:rPr lang="zh-CN" altLang="en-US" sz="1600" dirty="0"/>
              <a:t>③项目的复盘反思（5）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答辩安排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15</a:t>
            </a:r>
            <a:r>
              <a:rPr dirty="0"/>
              <a:t>、</a:t>
            </a:r>
            <a:r>
              <a:rPr lang="en-US" altLang="zh-CN" dirty="0"/>
              <a:t>16</a:t>
            </a:r>
            <a:r>
              <a:rPr dirty="0"/>
              <a:t>周、</a:t>
            </a:r>
            <a:r>
              <a:rPr lang="en-US" altLang="zh-CN" dirty="0"/>
              <a:t>17</a:t>
            </a:r>
            <a:r>
              <a:rPr dirty="0"/>
              <a:t>周</a:t>
            </a:r>
          </a:p>
          <a:p>
            <a:pPr lvl="1"/>
            <a:r>
              <a:rPr lang="en-US" altLang="zh-CN" dirty="0">
                <a:highlight>
                  <a:srgbClr val="FFFF00"/>
                </a:highlight>
              </a:rPr>
              <a:t>15</a:t>
            </a:r>
            <a:r>
              <a:rPr dirty="0">
                <a:highlight>
                  <a:srgbClr val="FFFF00"/>
                </a:highlight>
              </a:rPr>
              <a:t>周答辩，答辩成绩为现场得分</a:t>
            </a:r>
            <a:r>
              <a:rPr lang="en-US" altLang="zh-CN" dirty="0">
                <a:highlight>
                  <a:srgbClr val="FFFF00"/>
                </a:highlight>
              </a:rPr>
              <a:t>*1.1</a:t>
            </a:r>
            <a:r>
              <a:rPr dirty="0">
                <a:highlight>
                  <a:srgbClr val="FFFF00"/>
                </a:highlight>
              </a:rPr>
              <a:t>；</a:t>
            </a:r>
            <a:r>
              <a:rPr lang="en-US" altLang="zh-CN" dirty="0">
                <a:highlight>
                  <a:srgbClr val="FFFF00"/>
                </a:highlight>
              </a:rPr>
              <a:t>16</a:t>
            </a:r>
            <a:r>
              <a:rPr dirty="0">
                <a:highlight>
                  <a:srgbClr val="FFFF00"/>
                </a:highlight>
              </a:rPr>
              <a:t>周为</a:t>
            </a:r>
            <a:r>
              <a:rPr dirty="0">
                <a:highlight>
                  <a:srgbClr val="FFFF00"/>
                </a:highlight>
                <a:sym typeface="+mn-ea"/>
              </a:rPr>
              <a:t>现场</a:t>
            </a:r>
            <a:r>
              <a:rPr dirty="0">
                <a:highlight>
                  <a:srgbClr val="FFFF00"/>
                </a:highlight>
              </a:rPr>
              <a:t>得分</a:t>
            </a:r>
            <a:r>
              <a:rPr lang="en-US" altLang="zh-CN" dirty="0">
                <a:highlight>
                  <a:srgbClr val="FFFF00"/>
                </a:highlight>
              </a:rPr>
              <a:t>*1.05</a:t>
            </a:r>
            <a:r>
              <a:rPr dirty="0">
                <a:highlight>
                  <a:srgbClr val="FFFF00"/>
                </a:highlight>
              </a:rPr>
              <a:t>；</a:t>
            </a:r>
            <a:r>
              <a:rPr lang="en-US" altLang="zh-CN" dirty="0">
                <a:highlight>
                  <a:srgbClr val="FFFF00"/>
                </a:highlight>
              </a:rPr>
              <a:t>17</a:t>
            </a:r>
            <a:r>
              <a:rPr dirty="0">
                <a:highlight>
                  <a:srgbClr val="FFFF00"/>
                </a:highlight>
              </a:rPr>
              <a:t>周为</a:t>
            </a:r>
            <a:r>
              <a:rPr dirty="0">
                <a:highlight>
                  <a:srgbClr val="FFFF00"/>
                </a:highlight>
                <a:sym typeface="+mn-ea"/>
              </a:rPr>
              <a:t>现场</a:t>
            </a:r>
            <a:r>
              <a:rPr dirty="0">
                <a:highlight>
                  <a:srgbClr val="FFFF00"/>
                </a:highlight>
              </a:rPr>
              <a:t>得分</a:t>
            </a:r>
            <a:r>
              <a:rPr lang="en-US" altLang="zh-CN" dirty="0">
                <a:highlight>
                  <a:srgbClr val="FFFF00"/>
                </a:highlight>
              </a:rPr>
              <a:t>*1</a:t>
            </a:r>
            <a:r>
              <a:rPr dirty="0">
                <a:highlight>
                  <a:srgbClr val="FFFF00"/>
                </a:highlight>
              </a:rPr>
              <a:t>。</a:t>
            </a:r>
          </a:p>
          <a:p>
            <a:pPr lvl="1"/>
            <a:r>
              <a:rPr lang="en-US" altLang="zh-CN" dirty="0"/>
              <a:t>17</a:t>
            </a:r>
            <a:r>
              <a:rPr dirty="0"/>
              <a:t>周后另约时间的延迟答辩，</a:t>
            </a:r>
            <a:r>
              <a:rPr dirty="0">
                <a:sym typeface="+mn-ea"/>
              </a:rPr>
              <a:t>答辩成绩为现场得分</a:t>
            </a:r>
            <a:r>
              <a:rPr lang="en-US" altLang="zh-CN" dirty="0">
                <a:sym typeface="+mn-ea"/>
              </a:rPr>
              <a:t>*0.9</a:t>
            </a:r>
          </a:p>
          <a:p>
            <a:r>
              <a:rPr dirty="0"/>
              <a:t>答辩安排</a:t>
            </a:r>
            <a:r>
              <a:rPr lang="en-US" altLang="zh-CN" dirty="0"/>
              <a:t> </a:t>
            </a:r>
            <a:r>
              <a:rPr dirty="0"/>
              <a:t>https://kdocs.cn/l/cpJ6wnjrbycP</a:t>
            </a:r>
          </a:p>
          <a:p>
            <a:pPr lvl="1"/>
            <a:r>
              <a:rPr dirty="0"/>
              <a:t>队长先在</a:t>
            </a:r>
            <a:r>
              <a:rPr lang="en-US" altLang="zh-CN" dirty="0"/>
              <a:t>“</a:t>
            </a:r>
            <a:r>
              <a:rPr dirty="0"/>
              <a:t>队长取号</a:t>
            </a:r>
            <a:r>
              <a:rPr lang="en-US" altLang="zh-CN" dirty="0"/>
              <a:t>”sheet</a:t>
            </a:r>
            <a:r>
              <a:rPr dirty="0"/>
              <a:t>页</a:t>
            </a:r>
            <a:r>
              <a:rPr dirty="0">
                <a:sym typeface="+mn-ea"/>
              </a:rPr>
              <a:t>填写、</a:t>
            </a:r>
            <a:r>
              <a:rPr dirty="0"/>
              <a:t>选择答辩次序（答辩时间是预估参考，主要是依序号答辩）</a:t>
            </a:r>
          </a:p>
          <a:p>
            <a:pPr lvl="1"/>
            <a:r>
              <a:rPr dirty="0"/>
              <a:t>再在</a:t>
            </a:r>
            <a:r>
              <a:rPr lang="en-US" altLang="zh-CN" dirty="0"/>
              <a:t>“</a:t>
            </a:r>
            <a:r>
              <a:rPr dirty="0"/>
              <a:t>确定成员</a:t>
            </a:r>
            <a:r>
              <a:rPr lang="en-US" altLang="zh-CN" dirty="0"/>
              <a:t>”sheet</a:t>
            </a:r>
            <a:r>
              <a:rPr dirty="0"/>
              <a:t>为本队所有成员填写相同的答辩号</a:t>
            </a:r>
          </a:p>
          <a:p>
            <a:pPr lvl="0"/>
            <a:r>
              <a:rPr dirty="0"/>
              <a:t>答辩基础材料</a:t>
            </a:r>
          </a:p>
          <a:p>
            <a:pPr lvl="1"/>
            <a:r>
              <a:rPr dirty="0"/>
              <a:t>前面文档中，取号、）</a:t>
            </a:r>
          </a:p>
          <a:p>
            <a:pPr lvl="1"/>
            <a:r>
              <a:rPr dirty="0"/>
              <a:t>特色列表（小组特色、小组自</a:t>
            </a:r>
            <a:r>
              <a:rPr lang="zh-CN" altLang="en-US" dirty="0"/>
              <a:t>确定队员</a:t>
            </a:r>
          </a:p>
          <a:p>
            <a:pPr lvl="1"/>
            <a:r>
              <a:rPr lang="en-US" altLang="zh-CN" dirty="0"/>
              <a:t>PPT</a:t>
            </a:r>
            <a:r>
              <a:rPr lang="zh-CN" altLang="en-US" dirty="0"/>
              <a:t>：首页的成员信息要全；接下来</a:t>
            </a:r>
            <a:r>
              <a:rPr lang="en-US" altLang="zh-CN" dirty="0"/>
              <a:t>1-2</a:t>
            </a:r>
            <a:r>
              <a:rPr lang="zh-CN" altLang="en-US" dirty="0"/>
              <a:t>页的概览概述；汇总的</a:t>
            </a:r>
          </a:p>
          <a:p>
            <a:r>
              <a:rPr lang="zh-CN" altLang="en-US" dirty="0"/>
              <a:t>成员分工和工作量比例说明（必须），下面的可选：</a:t>
            </a:r>
          </a:p>
          <a:p>
            <a:pPr lvl="2"/>
            <a:r>
              <a:rPr lang="zh-CN" altLang="en-US" dirty="0"/>
              <a:t>功能列表（功能点及特点一览或特色功能强调）</a:t>
            </a:r>
          </a:p>
          <a:p>
            <a:pPr lvl="2"/>
            <a:r>
              <a:rPr lang="zh-CN" altLang="en-US" dirty="0"/>
              <a:t>性能列表（安全性、兼容性等情况说明）</a:t>
            </a:r>
          </a:p>
          <a:p>
            <a:pPr lvl="2"/>
            <a:r>
              <a:rPr lang="zh-CN" altLang="en-US" dirty="0"/>
              <a:t>交互列表（特殊设计的、增强用户体验的交互</a:t>
            </a:r>
            <a:r>
              <a:rPr dirty="0"/>
              <a:t>评认为做得好、出彩的地方）</a:t>
            </a:r>
          </a:p>
          <a:p>
            <a:pPr lvl="1"/>
            <a:r>
              <a:rPr dirty="0"/>
              <a:t>小组成员每人完成主要功能的演示（浏览器中操作，注意提前设计好演示内容）</a:t>
            </a:r>
          </a:p>
          <a:p>
            <a:pPr lvl="2"/>
            <a:r>
              <a:rPr dirty="0">
                <a:highlight>
                  <a:srgbClr val="FFFF00"/>
                </a:highlight>
              </a:rPr>
              <a:t>若有后台系统，提前做好演示前的冒烟测试，避免现场演示卡壳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t>个无后台的例子</a:t>
            </a:r>
          </a:p>
        </p:txBody>
      </p:sp>
      <p:graphicFrame>
        <p:nvGraphicFramePr>
          <p:cNvPr id="4" name="内容占位符 3">
            <a:hlinkClick r:id="" action="ppaction://ole?verb=0"/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071372"/>
              </p:ext>
            </p:extLst>
          </p:nvPr>
        </p:nvGraphicFramePr>
        <p:xfrm>
          <a:off x="5057775" y="1952625"/>
          <a:ext cx="2200275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包装程序外壳对象" showAsIcon="1" r:id="rId3" imgW="2199600" imgH="688680" progId="Package">
                  <p:embed/>
                </p:oleObj>
              </mc:Choice>
              <mc:Fallback>
                <p:oleObj name="包装程序外壳对象" showAsIcon="1" r:id="rId3" imgW="2199600" imgH="68868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57775" y="1952625"/>
                        <a:ext cx="2200275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042314"/>
              </p:ext>
            </p:extLst>
          </p:nvPr>
        </p:nvGraphicFramePr>
        <p:xfrm>
          <a:off x="1466850" y="1952625"/>
          <a:ext cx="23352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包装程序外壳对象" showAsIcon="1" r:id="rId5" imgW="2333880" imgH="688680" progId="Package">
                  <p:embed/>
                </p:oleObj>
              </mc:Choice>
              <mc:Fallback>
                <p:oleObj name="包装程序外壳对象" showAsIcon="1" r:id="rId5" imgW="2333880" imgH="688680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66850" y="1952625"/>
                        <a:ext cx="2335213" cy="688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e98d2cf-974b-4b41-b80a-4c9b96789aea"/>
  <p:tag name="COMMONDATA" val="eyJoZGlkIjoiZTZiMGM5MmQ4ZjdjYWQzZmJhMGMwZDExYjZjYjk1Z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"/>
  <p:tag name="KSO_WM_SLIDE_ID" val="custom20187308_1"/>
  <p:tag name="KSO_WM_TEMPLATE_SUBCATEGORY" val="0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601"/>
  <p:tag name="KSO_WM_SLIDE_LAYOUT" val="a_b"/>
  <p:tag name="KSO_WM_SLIDE_LAYOUT_CNT" val="1_1"/>
  <p:tag name="KSO_WM_SLIDE_MODEL_TYPE" val="cov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空白演示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87308_1*a*1"/>
  <p:tag name="KSO_WM_TEMPLATE_CATEGORY" val="custom"/>
  <p:tag name="KSO_WM_TEMPLATE_INDEX" val="20187308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heme/theme1.xml><?xml version="1.0" encoding="utf-8"?>
<a:theme xmlns:a="http://schemas.openxmlformats.org/drawingml/2006/main" name="Office 主题​​">
  <a:themeElements>
    <a:clrScheme name="自定义 25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</TotalTime>
  <Words>2087</Words>
  <Application>Microsoft Office PowerPoint</Application>
  <PresentationFormat>全屏显示(4:3)</PresentationFormat>
  <Paragraphs>90</Paragraphs>
  <Slides>11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Arial</vt:lpstr>
      <vt:lpstr>Viner Hand ITC</vt:lpstr>
      <vt:lpstr>Office 主题​​</vt:lpstr>
      <vt:lpstr>包装程序外壳对象</vt:lpstr>
      <vt:lpstr>Web编程</vt:lpstr>
      <vt:lpstr>《Web课程教学辅助系统》</vt:lpstr>
      <vt:lpstr>①首页模块</vt:lpstr>
      <vt:lpstr>②账户模块</vt:lpstr>
      <vt:lpstr>③教师相关模块</vt:lpstr>
      <vt:lpstr>学生相关模块</vt:lpstr>
      <vt:lpstr>⑤自测题库模块⑥创新模块</vt:lpstr>
      <vt:lpstr>特殊情况</vt:lpstr>
      <vt:lpstr>评分要点</vt:lpstr>
      <vt:lpstr>答辩安排</vt:lpstr>
      <vt:lpstr>2个无后台的例子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Web编程</dc:title>
  <dc:creator/>
  <cp:lastModifiedBy>王锦鸿</cp:lastModifiedBy>
  <cp:revision>278</cp:revision>
  <dcterms:created xsi:type="dcterms:W3CDTF">2019-06-19T02:08:00Z</dcterms:created>
  <dcterms:modified xsi:type="dcterms:W3CDTF">2024-12-26T13:59:03Z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2052-12.1.0.16120</vt:lpwstr>
  </property>
  <property fmtid="{D5CDD505-2E9C-101B-9397-08002B2CF9AE}" pid="3" name="ICV">
    <vt:lpwstr>6C33EB052C624D12AB73DCA1C588974A</vt:lpwstr>
  </property>
</Properties>
</file>