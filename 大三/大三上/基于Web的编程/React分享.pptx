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2" r:id="rId4"/>
    <p:sldId id="259" r:id="rId5"/>
    <p:sldId id="260" r:id="rId6"/>
    <p:sldId id="261" r:id="rId7"/>
    <p:sldId id="264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9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5D2FC-0053-4577-ACDD-60EA0F346624}" type="datetimeFigureOut">
              <a:rPr lang="zh-CN" altLang="en-US" smtClean="0"/>
              <a:t>2024/12/12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C491A0-CEA7-4147-901F-BFBF3C83F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52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1112DD-8981-4E40-9302-39A875E42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04E691-E47B-4088-8596-600412D9C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E363C8-D910-4C2F-9D2C-D512D81943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DE7EB8-8411-4DF0-A650-C9ABB1496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560CFA-35B1-4E84-A482-13A446FF3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913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266DF-0970-4B77-B278-BA479BE7A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8647D9-FA51-4726-B270-AE2D1351D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36E89F-30E7-45CC-8C23-23230F7AC0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0A7232-6B95-4839-A3AB-4FACC0D31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5E0907-0E73-401C-95F2-1F10CCAE3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806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5B073-5661-4148-A767-DE2C2D8C3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2B74A6-FF07-475A-9037-C633B41D2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F4049D-E4F6-430F-BF86-5DAD2ED654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B98466-FE52-4763-9BDB-94F7F547B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69EE32-7834-4B9A-95D2-157BB0EF2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88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87D35-DD70-4E6C-BAC5-52B697D84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C6E612-C05B-4657-A786-DFA1217989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3BAE7E-88A6-4193-9DBD-994F4AFC6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20FC6A-D3C5-4EB0-81BA-2FC4CAC2D7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2024/12/12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05AC99-8DC0-41F9-B9AC-2E2D4B249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7AC9AF-38D4-4011-A829-C26096842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499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0A786A-03F2-4BD7-9186-9C6D891A9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7EFC5C-03C7-49C8-9971-991DE8F00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EC40BA-B388-4594-B3C3-9FD050146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D5743FC-05C4-45BE-A874-74D6F12603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F68EC56-70FA-4728-A2B1-FEC6766347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80754B7-CFA6-4430-AFC5-C69279C2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2024/12/12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F8F923D-782F-45D2-966A-21F1CC8E1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86ABE42-28DE-410E-97AE-E3B1AD08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174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6503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734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96FA94-48E5-4408-A84C-478A4A9E2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1CC83-D2BD-4F08-A8DC-8CA049A13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2455AB-5DD2-477D-9A06-0A6CBEE3E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361608-89FA-4161-B948-A4B680D3A3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2024/12/12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D41081-5947-4DBC-A51B-2E3F99D22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7AE719-44E1-40A6-BB2A-052EEAC8C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02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11BEF3-F0AB-4CC6-895D-84627AF2B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EFEEBE2-AA89-476C-9EB9-6F0DA4CC9D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2D65A8-4778-49EA-8EC5-7DD811E90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EB9F7E-E7E1-4077-A124-E471683FAA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2024/12/12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D761B1-5CCE-48EA-A303-83DBE6E1E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748356-7AD6-46D8-BA16-11DDEB51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893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D3960B-61E0-46A6-8619-7FAC2E562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AFEC3D-88EF-43A9-9A55-6C9DADB15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259F07-7CCA-4DE1-9F7A-B14B83C153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3397DD-D59F-4D52-9614-18FDAE063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735DE5-D2D6-4B93-A630-3B93F49AC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601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9F9D9BA-E8CB-4D5F-A748-FDA1EFE935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771C70-215C-4A10-BBA8-67DF26CA8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A37420-17CA-4FCB-A773-FC9B448DC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4F871B-594E-4DF1-8B10-6915FE036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2165E-71AD-4CB9-B7D1-857296005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87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D16CBF5-3148-4855-80DC-3B040B39D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5A26E2-0787-466C-8824-9767451B4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4C6DBBD-07AC-4C93-B67A-C4A7EEB7B840}"/>
              </a:ext>
            </a:extLst>
          </p:cNvPr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CB6F5C1-A267-4220-9A7E-011DFEC9D91E}"/>
              </a:ext>
            </a:extLst>
          </p:cNvPr>
          <p:cNvGrpSpPr/>
          <p:nvPr userDrawn="1"/>
        </p:nvGrpSpPr>
        <p:grpSpPr>
          <a:xfrm>
            <a:off x="9814110" y="267547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C8228B81-FC58-4AAD-A68D-C43D2D2BA1EE}"/>
                </a:ext>
              </a:extLst>
            </p:cNvPr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2BC1BF2F-CE3F-428A-9301-AD5CA752F0AA}"/>
                </a:ext>
              </a:extLst>
            </p:cNvPr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57FFC7C-7617-481A-BFA3-E82A9EEAE369}"/>
                </a:ext>
              </a:extLst>
            </p:cNvPr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08FEB1F9-55AF-4293-AF93-7601C4AD7B22}"/>
                </a:ext>
              </a:extLst>
            </p:cNvPr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743B6497-7E90-4F59-AE6E-2471CAAF3275}"/>
                </a:ext>
              </a:extLst>
            </p:cNvPr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D0599C50-3E67-45B2-A5B3-B17A89F2F63A}"/>
                </a:ext>
              </a:extLst>
            </p:cNvPr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3F9128D3-F57C-4A24-B359-63E24F4CC0D1}"/>
                </a:ext>
              </a:extLst>
            </p:cNvPr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5332D40A-0FE1-4E50-AE1D-284D2938B898}"/>
                </a:ext>
              </a:extLst>
            </p:cNvPr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2CCF84BB-E524-4A74-8992-2C6E53E418FD}"/>
                </a:ext>
              </a:extLst>
            </p:cNvPr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6CABE5F8-0C5E-4437-9217-2D0073B7AE1A}"/>
                </a:ext>
              </a:extLst>
            </p:cNvPr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262B9A3D-95F9-4AFD-83E6-3E0596960004}"/>
                </a:ext>
              </a:extLst>
            </p:cNvPr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5CEB9BDD-A8A4-46A4-A3E2-985D307D04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4AB31F96-C4FA-4DB7-89CD-196C091D2948}"/>
                </a:ext>
              </a:extLst>
            </p:cNvPr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4A532EEA-34DB-4B6A-8758-2A679F300CEE}"/>
                </a:ext>
              </a:extLst>
            </p:cNvPr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82946486-57F0-494B-BD81-BA558C5568D2}"/>
                </a:ext>
              </a:extLst>
            </p:cNvPr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AFC65EC8-264C-4D22-A363-05FACDE4082A}"/>
                </a:ext>
              </a:extLst>
            </p:cNvPr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7CA4D19D-4614-46BE-9A6E-75DAC0210556}"/>
                </a:ext>
              </a:extLst>
            </p:cNvPr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DDA05FD5-B222-46BC-865D-9C27F10C5929}"/>
                </a:ext>
              </a:extLst>
            </p:cNvPr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92E3D73B-95A3-46A5-ACE9-6EA7A9DFD23B}"/>
                </a:ext>
              </a:extLst>
            </p:cNvPr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678ED444-F92B-41A2-A737-2F883A1812CA}"/>
                </a:ext>
              </a:extLst>
            </p:cNvPr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FF952589-38C7-4AC5-A415-02A9B03AED3E}"/>
                </a:ext>
              </a:extLst>
            </p:cNvPr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7B567DE5-E7F9-43EA-816E-72CD6FA48722}"/>
                </a:ext>
              </a:extLst>
            </p:cNvPr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793BAF81-7A78-465A-8C74-8F23EE0D38B3}"/>
                </a:ext>
              </a:extLst>
            </p:cNvPr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9ABA7DFC-41D0-4955-A97B-7005B4D10491}"/>
                </a:ext>
              </a:extLst>
            </p:cNvPr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5A2A47DF-F3B7-4E61-93C6-253B07420310}"/>
                </a:ext>
              </a:extLst>
            </p:cNvPr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30">
              <a:extLst>
                <a:ext uri="{FF2B5EF4-FFF2-40B4-BE49-F238E27FC236}">
                  <a16:creationId xmlns:a16="http://schemas.microsoft.com/office/drawing/2014/main" id="{6B4C2E1E-AC30-4E1D-956E-479AD90ECECA}"/>
                </a:ext>
              </a:extLst>
            </p:cNvPr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Freeform 31">
              <a:extLst>
                <a:ext uri="{FF2B5EF4-FFF2-40B4-BE49-F238E27FC236}">
                  <a16:creationId xmlns:a16="http://schemas.microsoft.com/office/drawing/2014/main" id="{66DCC96E-39D1-4B57-A167-9AA8A9BEB388}"/>
                </a:ext>
              </a:extLst>
            </p:cNvPr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Freeform 32">
              <a:extLst>
                <a:ext uri="{FF2B5EF4-FFF2-40B4-BE49-F238E27FC236}">
                  <a16:creationId xmlns:a16="http://schemas.microsoft.com/office/drawing/2014/main" id="{61C85765-FC37-470C-8849-E2B65CB157CF}"/>
                </a:ext>
              </a:extLst>
            </p:cNvPr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7" name="Freeform 33">
              <a:extLst>
                <a:ext uri="{FF2B5EF4-FFF2-40B4-BE49-F238E27FC236}">
                  <a16:creationId xmlns:a16="http://schemas.microsoft.com/office/drawing/2014/main" id="{64809160-5A80-4ADA-8879-1F70727998E4}"/>
                </a:ext>
              </a:extLst>
            </p:cNvPr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34">
              <a:extLst>
                <a:ext uri="{FF2B5EF4-FFF2-40B4-BE49-F238E27FC236}">
                  <a16:creationId xmlns:a16="http://schemas.microsoft.com/office/drawing/2014/main" id="{8BF8F2FB-CDA9-4679-B9F8-A7F7627A0DF4}"/>
                </a:ext>
              </a:extLst>
            </p:cNvPr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Freeform 35">
              <a:extLst>
                <a:ext uri="{FF2B5EF4-FFF2-40B4-BE49-F238E27FC236}">
                  <a16:creationId xmlns:a16="http://schemas.microsoft.com/office/drawing/2014/main" id="{5ED4A48C-1C8F-4F5E-A045-21CED012D0BA}"/>
                </a:ext>
              </a:extLst>
            </p:cNvPr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Freeform 36">
              <a:extLst>
                <a:ext uri="{FF2B5EF4-FFF2-40B4-BE49-F238E27FC236}">
                  <a16:creationId xmlns:a16="http://schemas.microsoft.com/office/drawing/2014/main" id="{159868D8-47BD-4CEE-AB00-71A6C19C59E8}"/>
                </a:ext>
              </a:extLst>
            </p:cNvPr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Freeform 37">
              <a:extLst>
                <a:ext uri="{FF2B5EF4-FFF2-40B4-BE49-F238E27FC236}">
                  <a16:creationId xmlns:a16="http://schemas.microsoft.com/office/drawing/2014/main" id="{FCEECF7F-6C74-4B10-A099-A764BEE13643}"/>
                </a:ext>
              </a:extLst>
            </p:cNvPr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38">
              <a:extLst>
                <a:ext uri="{FF2B5EF4-FFF2-40B4-BE49-F238E27FC236}">
                  <a16:creationId xmlns:a16="http://schemas.microsoft.com/office/drawing/2014/main" id="{99D81AD3-DAC0-41AE-AB0C-107862285A6B}"/>
                </a:ext>
              </a:extLst>
            </p:cNvPr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3" name="Freeform 39">
              <a:extLst>
                <a:ext uri="{FF2B5EF4-FFF2-40B4-BE49-F238E27FC236}">
                  <a16:creationId xmlns:a16="http://schemas.microsoft.com/office/drawing/2014/main" id="{2012720E-1542-4D40-B1EC-FFF4F21663C8}"/>
                </a:ext>
              </a:extLst>
            </p:cNvPr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Freeform 40">
              <a:extLst>
                <a:ext uri="{FF2B5EF4-FFF2-40B4-BE49-F238E27FC236}">
                  <a16:creationId xmlns:a16="http://schemas.microsoft.com/office/drawing/2014/main" id="{47B13C56-6140-4AF5-8077-4FF0FF871081}"/>
                </a:ext>
              </a:extLst>
            </p:cNvPr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41">
              <a:extLst>
                <a:ext uri="{FF2B5EF4-FFF2-40B4-BE49-F238E27FC236}">
                  <a16:creationId xmlns:a16="http://schemas.microsoft.com/office/drawing/2014/main" id="{CF396CE8-4AF7-4D4C-956D-C9534941A96B}"/>
                </a:ext>
              </a:extLst>
            </p:cNvPr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Freeform 42">
              <a:extLst>
                <a:ext uri="{FF2B5EF4-FFF2-40B4-BE49-F238E27FC236}">
                  <a16:creationId xmlns:a16="http://schemas.microsoft.com/office/drawing/2014/main" id="{B8C689D6-B689-4280-8381-209D6367042F}"/>
                </a:ext>
              </a:extLst>
            </p:cNvPr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Freeform 43">
              <a:extLst>
                <a:ext uri="{FF2B5EF4-FFF2-40B4-BE49-F238E27FC236}">
                  <a16:creationId xmlns:a16="http://schemas.microsoft.com/office/drawing/2014/main" id="{C99D4740-F866-44AB-8800-AFC1CEF66D50}"/>
                </a:ext>
              </a:extLst>
            </p:cNvPr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Freeform 44">
              <a:extLst>
                <a:ext uri="{FF2B5EF4-FFF2-40B4-BE49-F238E27FC236}">
                  <a16:creationId xmlns:a16="http://schemas.microsoft.com/office/drawing/2014/main" id="{3160C1B4-741A-490C-B563-CA107967B3B6}"/>
                </a:ext>
              </a:extLst>
            </p:cNvPr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45">
              <a:extLst>
                <a:ext uri="{FF2B5EF4-FFF2-40B4-BE49-F238E27FC236}">
                  <a16:creationId xmlns:a16="http://schemas.microsoft.com/office/drawing/2014/main" id="{47994210-767C-45F8-B8B6-36D33B1F235C}"/>
                </a:ext>
              </a:extLst>
            </p:cNvPr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Freeform 46">
              <a:extLst>
                <a:ext uri="{FF2B5EF4-FFF2-40B4-BE49-F238E27FC236}">
                  <a16:creationId xmlns:a16="http://schemas.microsoft.com/office/drawing/2014/main" id="{AB80CE9C-B445-49F3-B067-6AF2A8E7A8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" name="Freeform 47">
              <a:extLst>
                <a:ext uri="{FF2B5EF4-FFF2-40B4-BE49-F238E27FC236}">
                  <a16:creationId xmlns:a16="http://schemas.microsoft.com/office/drawing/2014/main" id="{E3621689-50EF-41C6-8786-C64E61538A5B}"/>
                </a:ext>
              </a:extLst>
            </p:cNvPr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2" name="Freeform 48">
              <a:extLst>
                <a:ext uri="{FF2B5EF4-FFF2-40B4-BE49-F238E27FC236}">
                  <a16:creationId xmlns:a16="http://schemas.microsoft.com/office/drawing/2014/main" id="{6F3D6C57-4152-44C2-8EB4-E951A8443CDA}"/>
                </a:ext>
              </a:extLst>
            </p:cNvPr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49">
              <a:extLst>
                <a:ext uri="{FF2B5EF4-FFF2-40B4-BE49-F238E27FC236}">
                  <a16:creationId xmlns:a16="http://schemas.microsoft.com/office/drawing/2014/main" id="{0A9EEF0C-4ACA-41FA-9B26-B66FFDF1E598}"/>
                </a:ext>
              </a:extLst>
            </p:cNvPr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4" name="Freeform 50">
              <a:extLst>
                <a:ext uri="{FF2B5EF4-FFF2-40B4-BE49-F238E27FC236}">
                  <a16:creationId xmlns:a16="http://schemas.microsoft.com/office/drawing/2014/main" id="{54C43DE5-597E-4040-BE94-652E278E79E5}"/>
                </a:ext>
              </a:extLst>
            </p:cNvPr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5" name="Freeform 51">
              <a:extLst>
                <a:ext uri="{FF2B5EF4-FFF2-40B4-BE49-F238E27FC236}">
                  <a16:creationId xmlns:a16="http://schemas.microsoft.com/office/drawing/2014/main" id="{9B64D178-55E9-4092-B5B3-0F984D682476}"/>
                </a:ext>
              </a:extLst>
            </p:cNvPr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52">
              <a:extLst>
                <a:ext uri="{FF2B5EF4-FFF2-40B4-BE49-F238E27FC236}">
                  <a16:creationId xmlns:a16="http://schemas.microsoft.com/office/drawing/2014/main" id="{82EC6162-5BCE-486D-ADC9-B7ACAA4EEDD0}"/>
                </a:ext>
              </a:extLst>
            </p:cNvPr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7" name="Freeform 53">
              <a:extLst>
                <a:ext uri="{FF2B5EF4-FFF2-40B4-BE49-F238E27FC236}">
                  <a16:creationId xmlns:a16="http://schemas.microsoft.com/office/drawing/2014/main" id="{B6DD090A-F7FF-43CA-8DCF-93B5A5C5D994}"/>
                </a:ext>
              </a:extLst>
            </p:cNvPr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8" name="Freeform 54">
              <a:extLst>
                <a:ext uri="{FF2B5EF4-FFF2-40B4-BE49-F238E27FC236}">
                  <a16:creationId xmlns:a16="http://schemas.microsoft.com/office/drawing/2014/main" id="{C7564C87-458A-48EF-8B4B-474BAA716919}"/>
                </a:ext>
              </a:extLst>
            </p:cNvPr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9" name="Freeform 55">
              <a:extLst>
                <a:ext uri="{FF2B5EF4-FFF2-40B4-BE49-F238E27FC236}">
                  <a16:creationId xmlns:a16="http://schemas.microsoft.com/office/drawing/2014/main" id="{F253B46F-C3E4-454D-8D2F-4FAE4EB3F8FC}"/>
                </a:ext>
              </a:extLst>
            </p:cNvPr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56">
              <a:extLst>
                <a:ext uri="{FF2B5EF4-FFF2-40B4-BE49-F238E27FC236}">
                  <a16:creationId xmlns:a16="http://schemas.microsoft.com/office/drawing/2014/main" id="{7DA68F6B-EBE9-4022-9DEF-E6CAE8F3D838}"/>
                </a:ext>
              </a:extLst>
            </p:cNvPr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Freeform 57">
              <a:extLst>
                <a:ext uri="{FF2B5EF4-FFF2-40B4-BE49-F238E27FC236}">
                  <a16:creationId xmlns:a16="http://schemas.microsoft.com/office/drawing/2014/main" id="{725C70F8-83C2-43B0-93D7-A8F4EC4300DD}"/>
                </a:ext>
              </a:extLst>
            </p:cNvPr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Freeform 58">
              <a:extLst>
                <a:ext uri="{FF2B5EF4-FFF2-40B4-BE49-F238E27FC236}">
                  <a16:creationId xmlns:a16="http://schemas.microsoft.com/office/drawing/2014/main" id="{3DADF282-B8B9-477D-9AAD-ED39F38E9587}"/>
                </a:ext>
              </a:extLst>
            </p:cNvPr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Oval 59">
              <a:extLst>
                <a:ext uri="{FF2B5EF4-FFF2-40B4-BE49-F238E27FC236}">
                  <a16:creationId xmlns:a16="http://schemas.microsoft.com/office/drawing/2014/main" id="{FB14CEEC-AD36-4FD7-BCDE-1F8C642F3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Oval 60">
              <a:extLst>
                <a:ext uri="{FF2B5EF4-FFF2-40B4-BE49-F238E27FC236}">
                  <a16:creationId xmlns:a16="http://schemas.microsoft.com/office/drawing/2014/main" id="{22CA0FC2-F802-4D9C-AA94-EA15A4194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Freeform 61">
              <a:extLst>
                <a:ext uri="{FF2B5EF4-FFF2-40B4-BE49-F238E27FC236}">
                  <a16:creationId xmlns:a16="http://schemas.microsoft.com/office/drawing/2014/main" id="{24070B4C-AE2A-434C-AD45-9874DB7188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Freeform 62">
              <a:extLst>
                <a:ext uri="{FF2B5EF4-FFF2-40B4-BE49-F238E27FC236}">
                  <a16:creationId xmlns:a16="http://schemas.microsoft.com/office/drawing/2014/main" id="{AC46E7D2-5051-46A9-8FC8-A0782B2E8892}"/>
                </a:ext>
              </a:extLst>
            </p:cNvPr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63">
              <a:extLst>
                <a:ext uri="{FF2B5EF4-FFF2-40B4-BE49-F238E27FC236}">
                  <a16:creationId xmlns:a16="http://schemas.microsoft.com/office/drawing/2014/main" id="{328ABAEC-01B9-4189-A9B8-713DC7C635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Freeform 64">
              <a:extLst>
                <a:ext uri="{FF2B5EF4-FFF2-40B4-BE49-F238E27FC236}">
                  <a16:creationId xmlns:a16="http://schemas.microsoft.com/office/drawing/2014/main" id="{24BC99B6-C40B-4965-94A7-E127D8AF6A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Freeform 65">
              <a:extLst>
                <a:ext uri="{FF2B5EF4-FFF2-40B4-BE49-F238E27FC236}">
                  <a16:creationId xmlns:a16="http://schemas.microsoft.com/office/drawing/2014/main" id="{B51211BC-2E48-442A-A187-5F2C540E6D8C}"/>
                </a:ext>
              </a:extLst>
            </p:cNvPr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Freeform 66">
              <a:extLst>
                <a:ext uri="{FF2B5EF4-FFF2-40B4-BE49-F238E27FC236}">
                  <a16:creationId xmlns:a16="http://schemas.microsoft.com/office/drawing/2014/main" id="{1E894441-7C1B-411F-83BD-93CB7830D9A2}"/>
                </a:ext>
              </a:extLst>
            </p:cNvPr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67">
              <a:extLst>
                <a:ext uri="{FF2B5EF4-FFF2-40B4-BE49-F238E27FC236}">
                  <a16:creationId xmlns:a16="http://schemas.microsoft.com/office/drawing/2014/main" id="{95D13EB6-465C-4962-BC80-DD7EE48FDB23}"/>
                </a:ext>
              </a:extLst>
            </p:cNvPr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Freeform 68">
              <a:extLst>
                <a:ext uri="{FF2B5EF4-FFF2-40B4-BE49-F238E27FC236}">
                  <a16:creationId xmlns:a16="http://schemas.microsoft.com/office/drawing/2014/main" id="{31FE8A95-095B-49D3-A2BD-4A7D7932E0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Freeform 69">
              <a:extLst>
                <a:ext uri="{FF2B5EF4-FFF2-40B4-BE49-F238E27FC236}">
                  <a16:creationId xmlns:a16="http://schemas.microsoft.com/office/drawing/2014/main" id="{A76F9C97-FEC5-42CD-98C5-4F8EF79A9433}"/>
                </a:ext>
              </a:extLst>
            </p:cNvPr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Freeform 70">
              <a:extLst>
                <a:ext uri="{FF2B5EF4-FFF2-40B4-BE49-F238E27FC236}">
                  <a16:creationId xmlns:a16="http://schemas.microsoft.com/office/drawing/2014/main" id="{5F3B9024-EC86-4FE3-A8C6-F99138510B73}"/>
                </a:ext>
              </a:extLst>
            </p:cNvPr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2B5DF48F-2C6D-47A4-9D73-F45525BE0BAB}"/>
              </a:ext>
            </a:extLst>
          </p:cNvPr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rgbClr val="79D6F3"/>
          </a:solidFill>
        </p:grpSpPr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E7E55880-D997-41E8-BB38-74AC35CFC4E2}"/>
                </a:ext>
              </a:extLst>
            </p:cNvPr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C0D97052-A12B-4A0C-9D92-8DEF5A900F49}"/>
                </a:ext>
              </a:extLst>
            </p:cNvPr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C1BA5D31-2246-4C76-B233-023268C387C9}"/>
                </a:ext>
              </a:extLst>
            </p:cNvPr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4ABC57BE-536A-407C-8BDB-1CADDAE6D3A5}"/>
                </a:ext>
              </a:extLst>
            </p:cNvPr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B96E6337-43A0-4893-A64D-8E462C48E489}"/>
                </a:ext>
              </a:extLst>
            </p:cNvPr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600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7%94%A8%E6%88%B7%E7%95%8C%E9%9D%A2/6582461?fromModule=lemma_inlink" TargetMode="External"/><Relationship Id="rId2" Type="http://schemas.openxmlformats.org/officeDocument/2006/relationships/hyperlink" Target="https://baike.baidu.com/item/Facebook/7449587?fromModule=lemma_inlink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zh-hans.react.dev/learn" TargetMode="External"/><Relationship Id="rId5" Type="http://schemas.openxmlformats.org/officeDocument/2006/relationships/image" Target="../media/image1.png"/><Relationship Id="rId4" Type="http://schemas.openxmlformats.org/officeDocument/2006/relationships/hyperlink" Target="https://baike.baidu.com/item/UI/393851?fromModule=lemma_inlink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F982B670-0A70-4375-A9B0-7718E3568E76}"/>
              </a:ext>
            </a:extLst>
          </p:cNvPr>
          <p:cNvSpPr txBox="1"/>
          <p:nvPr/>
        </p:nvSpPr>
        <p:spPr>
          <a:xfrm>
            <a:off x="3048866" y="2453557"/>
            <a:ext cx="6094268" cy="1096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4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React</a:t>
            </a:r>
            <a:r>
              <a:rPr lang="zh-CN" altLang="en-US" sz="4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的基本了解</a:t>
            </a:r>
            <a:endParaRPr lang="zh-CN" altLang="zh-CN" sz="4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D0BD38D-99CC-45BE-A196-9A327F0A1695}"/>
              </a:ext>
            </a:extLst>
          </p:cNvPr>
          <p:cNvSpPr txBox="1"/>
          <p:nvPr/>
        </p:nvSpPr>
        <p:spPr>
          <a:xfrm>
            <a:off x="3182470" y="3549883"/>
            <a:ext cx="6096000" cy="1476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22</a:t>
            </a:r>
            <a:r>
              <a:rPr lang="zh-CN" altLang="en-US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计科卓越班</a:t>
            </a:r>
            <a:br>
              <a:rPr lang="en-US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en-US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王培鸿</a:t>
            </a:r>
          </a:p>
        </p:txBody>
      </p:sp>
    </p:spTree>
    <p:extLst>
      <p:ext uri="{BB962C8B-B14F-4D97-AF65-F5344CB8AC3E}">
        <p14:creationId xmlns:p14="http://schemas.microsoft.com/office/powerpoint/2010/main" val="3924720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52956B8F-D5ED-439A-BE7D-D14250674D25}"/>
              </a:ext>
            </a:extLst>
          </p:cNvPr>
          <p:cNvSpPr/>
          <p:nvPr/>
        </p:nvSpPr>
        <p:spPr>
          <a:xfrm>
            <a:off x="3505201" y="3304028"/>
            <a:ext cx="4993341" cy="12738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2D75C97-7397-49D0-8405-2879F9675DE5}"/>
              </a:ext>
            </a:extLst>
          </p:cNvPr>
          <p:cNvSpPr txBox="1"/>
          <p:nvPr/>
        </p:nvSpPr>
        <p:spPr>
          <a:xfrm>
            <a:off x="1090793" y="257175"/>
            <a:ext cx="2659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什么是</a:t>
            </a:r>
            <a:r>
              <a:rPr lang="en-US" altLang="zh-CN" sz="3600" dirty="0"/>
              <a:t>React</a:t>
            </a:r>
            <a:endParaRPr lang="zh-CN" altLang="en-US" sz="36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27D2A65-A904-4CF6-809B-6D17CE6A3FCE}"/>
              </a:ext>
            </a:extLst>
          </p:cNvPr>
          <p:cNvSpPr txBox="1"/>
          <p:nvPr/>
        </p:nvSpPr>
        <p:spPr>
          <a:xfrm>
            <a:off x="669452" y="1331732"/>
            <a:ext cx="1036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-apple-system"/>
              </a:rPr>
              <a:t>         React</a:t>
            </a:r>
            <a:r>
              <a:rPr lang="zh-CN" altLang="en-US" sz="2000" dirty="0">
                <a:latin typeface="-apple-system"/>
              </a:rPr>
              <a:t>是由</a:t>
            </a:r>
            <a:r>
              <a:rPr lang="en-US" altLang="zh-CN" sz="2000" dirty="0">
                <a:latin typeface="-apple-syste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Facebook</a:t>
            </a:r>
            <a:r>
              <a:rPr lang="zh-CN" altLang="en-US" sz="2000" dirty="0">
                <a:latin typeface="-apple-system"/>
              </a:rPr>
              <a:t>开源的用于构建</a:t>
            </a:r>
            <a:r>
              <a:rPr lang="zh-CN" altLang="en-US" sz="2000" dirty="0">
                <a:latin typeface="-apple-syste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用户界面</a:t>
            </a:r>
            <a:r>
              <a:rPr lang="zh-CN" altLang="en-US" sz="2000" dirty="0">
                <a:latin typeface="-apple-system"/>
              </a:rPr>
              <a:t>的</a:t>
            </a:r>
            <a:r>
              <a:rPr lang="en-US" altLang="zh-CN" sz="2000" dirty="0">
                <a:latin typeface="-apple-system"/>
              </a:rPr>
              <a:t>JavaScript</a:t>
            </a:r>
            <a:r>
              <a:rPr lang="zh-CN" altLang="en-US" sz="2000" dirty="0">
                <a:latin typeface="-apple-system"/>
              </a:rPr>
              <a:t>库，主要用于构建</a:t>
            </a:r>
            <a:r>
              <a:rPr lang="en-US" altLang="zh-CN" sz="2000" dirty="0"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UI</a:t>
            </a:r>
            <a:r>
              <a:rPr lang="zh-CN" altLang="en-US" sz="2000" dirty="0">
                <a:latin typeface="-apple-system"/>
              </a:rPr>
              <a:t>。</a:t>
            </a:r>
            <a:r>
              <a:rPr lang="en-US" altLang="zh-CN" sz="2000" dirty="0">
                <a:latin typeface="-apple-system"/>
              </a:rPr>
              <a:t>React </a:t>
            </a:r>
            <a:r>
              <a:rPr lang="zh-CN" altLang="en-US" sz="2000" dirty="0">
                <a:latin typeface="-apple-system"/>
              </a:rPr>
              <a:t>使用 </a:t>
            </a:r>
            <a:r>
              <a:rPr lang="en-US" altLang="zh-CN" sz="2000" dirty="0">
                <a:latin typeface="-apple-system"/>
              </a:rPr>
              <a:t>JSX </a:t>
            </a:r>
            <a:r>
              <a:rPr lang="zh-CN" altLang="en-US" sz="2000" dirty="0">
                <a:latin typeface="-apple-system"/>
              </a:rPr>
              <a:t>来替代常规的 </a:t>
            </a:r>
            <a:r>
              <a:rPr lang="en-US" altLang="zh-CN" sz="2000" dirty="0">
                <a:latin typeface="-apple-system"/>
              </a:rPr>
              <a:t>JavaScript</a:t>
            </a:r>
            <a:r>
              <a:rPr lang="zh-CN" altLang="en-US" sz="2000" dirty="0">
                <a:latin typeface="-apple-system"/>
              </a:rPr>
              <a:t>，也用</a:t>
            </a:r>
            <a:r>
              <a:rPr lang="en-US" altLang="zh-CN" sz="2000" dirty="0">
                <a:latin typeface="-apple-system"/>
              </a:rPr>
              <a:t>JSX</a:t>
            </a:r>
            <a:r>
              <a:rPr lang="zh-CN" altLang="en-US" sz="2000" dirty="0">
                <a:latin typeface="-apple-system"/>
              </a:rPr>
              <a:t>声明</a:t>
            </a:r>
            <a:r>
              <a:rPr lang="en-US" altLang="zh-CN" sz="2000" dirty="0">
                <a:latin typeface="-apple-system"/>
              </a:rPr>
              <a:t>React</a:t>
            </a:r>
            <a:r>
              <a:rPr lang="zh-CN" altLang="en-US" sz="2000" dirty="0">
                <a:latin typeface="-apple-system"/>
              </a:rPr>
              <a:t>当中的元素。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A57AC1C-2E1C-4399-97D1-3DD3ACD437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52" y="4612775"/>
            <a:ext cx="1650367" cy="182698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522347-7330-4135-AD7A-B840B1315836}"/>
              </a:ext>
            </a:extLst>
          </p:cNvPr>
          <p:cNvSpPr txBox="1"/>
          <p:nvPr/>
        </p:nvSpPr>
        <p:spPr>
          <a:xfrm>
            <a:off x="947357" y="2561255"/>
            <a:ext cx="106171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0" dirty="0">
                <a:effectLst/>
                <a:latin typeface="-apple-system"/>
              </a:rPr>
              <a:t>         JSX</a:t>
            </a:r>
            <a:r>
              <a:rPr lang="zh-CN" altLang="en-US" sz="2000" b="0" i="0" dirty="0">
                <a:effectLst/>
                <a:latin typeface="-apple-system"/>
              </a:rPr>
              <a:t>（</a:t>
            </a:r>
            <a:r>
              <a:rPr lang="en-US" altLang="zh-CN" sz="2000" b="0" i="0" dirty="0">
                <a:effectLst/>
                <a:latin typeface="-apple-system"/>
              </a:rPr>
              <a:t>JavaScript XML</a:t>
            </a:r>
            <a:r>
              <a:rPr lang="zh-CN" altLang="en-US" sz="2000" b="0" i="0" dirty="0">
                <a:effectLst/>
                <a:latin typeface="-apple-system"/>
              </a:rPr>
              <a:t>）是一种</a:t>
            </a:r>
            <a:r>
              <a:rPr lang="en-US" altLang="zh-CN" sz="2000" b="0" i="0" dirty="0">
                <a:effectLst/>
                <a:latin typeface="-apple-system"/>
              </a:rPr>
              <a:t>JavaScript</a:t>
            </a:r>
            <a:r>
              <a:rPr lang="zh-CN" altLang="en-US" sz="2000" b="0" i="0" dirty="0">
                <a:effectLst/>
                <a:latin typeface="-apple-system"/>
              </a:rPr>
              <a:t>的语法扩展，它允许在</a:t>
            </a:r>
            <a:r>
              <a:rPr lang="en-US" altLang="zh-CN" sz="2000" b="0" i="0" dirty="0">
                <a:effectLst/>
                <a:latin typeface="-apple-system"/>
              </a:rPr>
              <a:t>JavaScript</a:t>
            </a:r>
            <a:r>
              <a:rPr lang="zh-CN" altLang="en-US" sz="2000" b="0" i="0" dirty="0">
                <a:effectLst/>
                <a:latin typeface="-apple-system"/>
              </a:rPr>
              <a:t>代码中编写类似于</a:t>
            </a:r>
            <a:r>
              <a:rPr lang="en-US" altLang="zh-CN" sz="2000" b="0" i="0" dirty="0">
                <a:effectLst/>
                <a:latin typeface="-apple-system"/>
              </a:rPr>
              <a:t>HTML</a:t>
            </a:r>
            <a:r>
              <a:rPr lang="zh-CN" altLang="en-US" sz="2000" b="0" i="0" dirty="0">
                <a:effectLst/>
                <a:latin typeface="-apple-system"/>
              </a:rPr>
              <a:t>的标记。</a:t>
            </a:r>
            <a:endParaRPr lang="zh-CN" altLang="en-US" sz="20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482E91C-02B7-4C75-94BA-28C6E14C089B}"/>
              </a:ext>
            </a:extLst>
          </p:cNvPr>
          <p:cNvSpPr txBox="1"/>
          <p:nvPr/>
        </p:nvSpPr>
        <p:spPr>
          <a:xfrm>
            <a:off x="3593398" y="3425555"/>
            <a:ext cx="46182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const name = 'Kimi’;</a:t>
            </a:r>
            <a:br>
              <a:rPr lang="en-US" altLang="zh-CN" dirty="0"/>
            </a:br>
            <a:endParaRPr lang="en-US" altLang="zh-CN" dirty="0"/>
          </a:p>
          <a:p>
            <a:r>
              <a:rPr lang="zh-CN" altLang="en-US" dirty="0"/>
              <a:t>const element = </a:t>
            </a:r>
            <a:r>
              <a:rPr lang="zh-CN" altLang="en-US" dirty="0">
                <a:highlight>
                  <a:srgbClr val="FFFF00"/>
                </a:highlight>
              </a:rPr>
              <a:t>&lt;h1&gt;</a:t>
            </a:r>
            <a:r>
              <a:rPr lang="zh-CN" altLang="en-US" dirty="0"/>
              <a:t>Hello, {name</a:t>
            </a:r>
            <a:r>
              <a:rPr lang="en-US" altLang="zh-CN" dirty="0"/>
              <a:t>} </a:t>
            </a:r>
            <a:r>
              <a:rPr lang="zh-CN" altLang="en-US" dirty="0">
                <a:highlight>
                  <a:srgbClr val="FFFF00"/>
                </a:highlight>
              </a:rPr>
              <a:t>&lt;/h1&gt;</a:t>
            </a:r>
            <a:r>
              <a:rPr lang="zh-CN" altLang="en-US" dirty="0"/>
              <a:t>;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62EF011-6996-4E3C-9550-B513058C01D6}"/>
              </a:ext>
            </a:extLst>
          </p:cNvPr>
          <p:cNvSpPr txBox="1"/>
          <p:nvPr/>
        </p:nvSpPr>
        <p:spPr>
          <a:xfrm>
            <a:off x="3593398" y="53416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-apple-system"/>
              </a:rPr>
              <a:t>参考文档：</a:t>
            </a:r>
            <a:r>
              <a:rPr lang="zh-CN" altLang="en-US" dirty="0">
                <a:hlinkClick r:id="rId6"/>
              </a:rPr>
              <a:t>快速入门 </a:t>
            </a:r>
            <a:r>
              <a:rPr lang="en-US" altLang="zh-CN" dirty="0">
                <a:hlinkClick r:id="rId6"/>
              </a:rPr>
              <a:t>– React </a:t>
            </a:r>
            <a:r>
              <a:rPr lang="zh-CN" altLang="en-US" dirty="0">
                <a:hlinkClick r:id="rId6"/>
              </a:rPr>
              <a:t>中文文档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8E68932-D444-46ED-AFEE-2FA032F0FFC0}"/>
              </a:ext>
            </a:extLst>
          </p:cNvPr>
          <p:cNvSpPr txBox="1"/>
          <p:nvPr/>
        </p:nvSpPr>
        <p:spPr>
          <a:xfrm>
            <a:off x="5253318" y="46127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>
                <a:effectLst/>
                <a:latin typeface="-apple-system"/>
              </a:rPr>
              <a:t>JSX</a:t>
            </a:r>
            <a:r>
              <a:rPr lang="zh-CN" altLang="en-US" sz="1800" b="0" i="0" dirty="0">
                <a:effectLst/>
                <a:latin typeface="-apple-system"/>
              </a:rPr>
              <a:t>示例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7488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FC6BE2E-31F3-4A77-9EDF-C51BC59C0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537" y="1536850"/>
            <a:ext cx="8013251" cy="401618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B9599E0-BEB8-42C3-AA7F-E74872B7F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191" y="5795122"/>
            <a:ext cx="3009900" cy="81915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D744EB4-7F4A-485C-8F48-6319B231209F}"/>
              </a:ext>
            </a:extLst>
          </p:cNvPr>
          <p:cNvSpPr txBox="1"/>
          <p:nvPr/>
        </p:nvSpPr>
        <p:spPr>
          <a:xfrm>
            <a:off x="1633537" y="1035512"/>
            <a:ext cx="9859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先创建渲染的根节点</a:t>
            </a:r>
            <a:r>
              <a:rPr lang="en-US" altLang="zh-CN" dirty="0"/>
              <a:t>(</a:t>
            </a:r>
            <a:r>
              <a:rPr lang="zh-CN" altLang="en-US" dirty="0"/>
              <a:t>常见的元素获取方法</a:t>
            </a:r>
            <a:r>
              <a:rPr lang="en-US" altLang="zh-CN" dirty="0"/>
              <a:t>)</a:t>
            </a:r>
            <a:r>
              <a:rPr lang="zh-CN" altLang="en-US" dirty="0"/>
              <a:t>，后调用</a:t>
            </a:r>
            <a:r>
              <a:rPr lang="en-US" altLang="zh-CN" dirty="0"/>
              <a:t>render()</a:t>
            </a:r>
            <a:r>
              <a:rPr lang="zh-CN" altLang="en-US" dirty="0"/>
              <a:t>进行元素渲染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E93481A-7F39-4FFC-8E19-F4E263089F07}"/>
              </a:ext>
            </a:extLst>
          </p:cNvPr>
          <p:cNvSpPr txBox="1"/>
          <p:nvPr/>
        </p:nvSpPr>
        <p:spPr>
          <a:xfrm>
            <a:off x="1090793" y="257175"/>
            <a:ext cx="31213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React</a:t>
            </a:r>
            <a:r>
              <a:rPr lang="zh-CN" altLang="en-US" sz="3600" dirty="0"/>
              <a:t>渲染示例</a:t>
            </a:r>
          </a:p>
        </p:txBody>
      </p:sp>
    </p:spTree>
    <p:extLst>
      <p:ext uri="{BB962C8B-B14F-4D97-AF65-F5344CB8AC3E}">
        <p14:creationId xmlns:p14="http://schemas.microsoft.com/office/powerpoint/2010/main" val="2300962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E209BE5-A8D1-430F-8954-CB69383E292B}"/>
              </a:ext>
            </a:extLst>
          </p:cNvPr>
          <p:cNvSpPr/>
          <p:nvPr/>
        </p:nvSpPr>
        <p:spPr>
          <a:xfrm>
            <a:off x="421343" y="2782670"/>
            <a:ext cx="6795246" cy="35912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import React from 'react';</a:t>
            </a:r>
          </a:p>
          <a:p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// 定义一个函数组件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function Welcome(props) {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  return &lt;h1&gt;Hello, {props.name}!&lt;/h1&gt;;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}</a:t>
            </a:r>
          </a:p>
          <a:p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export default Welcome;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b="1" i="0" dirty="0">
                <a:solidFill>
                  <a:srgbClr val="000066"/>
                </a:solidFill>
                <a:effectLst/>
                <a:latin typeface="Menlo"/>
              </a:rPr>
              <a:t>const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 root </a:t>
            </a:r>
            <a:r>
              <a:rPr lang="en-US" altLang="zh-CN" b="0" i="0" dirty="0">
                <a:solidFill>
                  <a:srgbClr val="339933"/>
                </a:solidFill>
                <a:effectLst/>
                <a:latin typeface="Menlo"/>
              </a:rPr>
              <a:t>=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 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Menlo"/>
              </a:rPr>
              <a:t>ReactDOM.</a:t>
            </a:r>
            <a:r>
              <a:rPr lang="en-US" altLang="zh-CN" b="0" i="0" dirty="0" err="1">
                <a:solidFill>
                  <a:srgbClr val="660066"/>
                </a:solidFill>
                <a:effectLst/>
                <a:latin typeface="Menlo"/>
              </a:rPr>
              <a:t>createRoot</a:t>
            </a:r>
            <a:r>
              <a:rPr lang="en-US" altLang="zh-CN" b="0" i="0" dirty="0">
                <a:solidFill>
                  <a:srgbClr val="009900"/>
                </a:solidFill>
                <a:effectLst/>
                <a:latin typeface="Menlo"/>
              </a:rPr>
              <a:t>(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Menlo"/>
              </a:rPr>
              <a:t>document.</a:t>
            </a:r>
            <a:r>
              <a:rPr lang="en-US" altLang="zh-CN" b="0" i="0" dirty="0" err="1">
                <a:solidFill>
                  <a:srgbClr val="660066"/>
                </a:solidFill>
                <a:effectLst/>
                <a:latin typeface="Menlo"/>
              </a:rPr>
              <a:t>getElementById</a:t>
            </a:r>
            <a:r>
              <a:rPr lang="en-US" altLang="zh-CN" b="0" i="0" dirty="0">
                <a:solidFill>
                  <a:srgbClr val="009900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3366CC"/>
                </a:solidFill>
                <a:effectLst/>
                <a:latin typeface="Menlo"/>
              </a:rPr>
              <a:t>"root"</a:t>
            </a:r>
            <a:r>
              <a:rPr lang="en-US" altLang="zh-CN" b="0" i="0" dirty="0">
                <a:solidFill>
                  <a:srgbClr val="009900"/>
                </a:solidFill>
                <a:effectLst/>
                <a:latin typeface="Menlo"/>
              </a:rPr>
              <a:t>))</a:t>
            </a:r>
            <a:r>
              <a:rPr lang="en-US" altLang="zh-CN" b="0" i="0" dirty="0">
                <a:solidFill>
                  <a:srgbClr val="339933"/>
                </a:solidFill>
                <a:effectLst/>
                <a:latin typeface="Menlo"/>
              </a:rPr>
              <a:t>;</a:t>
            </a:r>
            <a:br>
              <a:rPr lang="en-US" altLang="zh-CN" dirty="0"/>
            </a:br>
            <a:r>
              <a:rPr lang="en-US" altLang="zh-CN" b="0" i="1" dirty="0">
                <a:solidFill>
                  <a:srgbClr val="006600"/>
                </a:solidFill>
                <a:effectLst/>
                <a:latin typeface="Menlo"/>
              </a:rPr>
              <a:t>// </a:t>
            </a:r>
            <a:r>
              <a:rPr lang="zh-CN" altLang="en-US" b="0" i="1" dirty="0">
                <a:solidFill>
                  <a:srgbClr val="006600"/>
                </a:solidFill>
                <a:effectLst/>
                <a:latin typeface="Menlo"/>
              </a:rPr>
              <a:t>渲染 </a:t>
            </a:r>
            <a:r>
              <a:rPr lang="en-US" altLang="zh-CN" b="0" i="1" dirty="0">
                <a:solidFill>
                  <a:srgbClr val="006600"/>
                </a:solidFill>
                <a:effectLst/>
                <a:latin typeface="Menlo"/>
              </a:rPr>
              <a:t>Welcome </a:t>
            </a:r>
            <a:r>
              <a:rPr lang="zh-CN" altLang="en-US" b="0" i="1" dirty="0">
                <a:solidFill>
                  <a:srgbClr val="006600"/>
                </a:solidFill>
                <a:effectLst/>
                <a:latin typeface="Menlo"/>
              </a:rPr>
              <a:t>组件，并传递 </a:t>
            </a:r>
            <a:r>
              <a:rPr lang="en-US" altLang="zh-CN" b="0" i="1" dirty="0">
                <a:solidFill>
                  <a:srgbClr val="006600"/>
                </a:solidFill>
                <a:effectLst/>
                <a:latin typeface="Menlo"/>
              </a:rPr>
              <a:t>name </a:t>
            </a:r>
            <a:r>
              <a:rPr lang="zh-CN" altLang="en-US" b="0" i="1" dirty="0">
                <a:solidFill>
                  <a:srgbClr val="006600"/>
                </a:solidFill>
                <a:effectLst/>
                <a:latin typeface="Menlo"/>
              </a:rPr>
              <a:t>属性</a:t>
            </a:r>
            <a:br>
              <a:rPr lang="zh-CN" altLang="en-US" dirty="0"/>
            </a:br>
            <a:r>
              <a:rPr lang="en-US" altLang="zh-CN" b="0" i="0" dirty="0" err="1">
                <a:solidFill>
                  <a:srgbClr val="000000"/>
                </a:solidFill>
                <a:effectLst/>
                <a:latin typeface="Menlo"/>
              </a:rPr>
              <a:t>root.</a:t>
            </a:r>
            <a:r>
              <a:rPr lang="en-US" altLang="zh-CN" b="0" i="0" dirty="0" err="1">
                <a:solidFill>
                  <a:srgbClr val="660066"/>
                </a:solidFill>
                <a:effectLst/>
                <a:latin typeface="Menlo"/>
              </a:rPr>
              <a:t>render</a:t>
            </a:r>
            <a:r>
              <a:rPr lang="en-US" altLang="zh-CN" b="0" i="0" dirty="0">
                <a:solidFill>
                  <a:srgbClr val="009900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339933"/>
                </a:solidFill>
                <a:effectLst/>
                <a:latin typeface="Menlo"/>
              </a:rPr>
              <a:t>&lt;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Welcome name</a:t>
            </a:r>
            <a:r>
              <a:rPr lang="en-US" altLang="zh-CN" b="0" i="0" dirty="0">
                <a:solidFill>
                  <a:srgbClr val="339933"/>
                </a:solidFill>
                <a:effectLst/>
                <a:latin typeface="Menlo"/>
              </a:rPr>
              <a:t>=</a:t>
            </a:r>
            <a:r>
              <a:rPr lang="en-US" altLang="zh-CN" b="0" i="0" dirty="0">
                <a:solidFill>
                  <a:srgbClr val="3366CC"/>
                </a:solidFill>
                <a:effectLst/>
                <a:latin typeface="Menlo"/>
              </a:rPr>
              <a:t>"World"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 </a:t>
            </a:r>
            <a:r>
              <a:rPr lang="en-US" altLang="zh-CN" b="0" i="0" dirty="0">
                <a:solidFill>
                  <a:srgbClr val="339933"/>
                </a:solidFill>
                <a:effectLst/>
                <a:latin typeface="Menlo"/>
              </a:rPr>
              <a:t>/&gt;</a:t>
            </a:r>
            <a:r>
              <a:rPr lang="en-US" altLang="zh-CN" b="0" i="0" dirty="0">
                <a:solidFill>
                  <a:srgbClr val="009900"/>
                </a:solidFill>
                <a:effectLst/>
                <a:latin typeface="Menlo"/>
              </a:rPr>
              <a:t>)</a:t>
            </a:r>
            <a:r>
              <a:rPr lang="en-US" altLang="zh-CN" b="0" i="0" dirty="0">
                <a:solidFill>
                  <a:srgbClr val="339933"/>
                </a:solidFill>
                <a:effectLst/>
                <a:latin typeface="Menlo"/>
              </a:rPr>
              <a:t>;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2D75C97-7397-49D0-8405-2879F9675DE5}"/>
              </a:ext>
            </a:extLst>
          </p:cNvPr>
          <p:cNvSpPr txBox="1"/>
          <p:nvPr/>
        </p:nvSpPr>
        <p:spPr>
          <a:xfrm>
            <a:off x="1090793" y="257175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特色功能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9775CB-CEF7-45AA-BD7C-A35924AFA1D3}"/>
              </a:ext>
            </a:extLst>
          </p:cNvPr>
          <p:cNvSpPr txBox="1"/>
          <p:nvPr/>
        </p:nvSpPr>
        <p:spPr>
          <a:xfrm>
            <a:off x="693644" y="1023865"/>
            <a:ext cx="1762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组件化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59BA11-3A0F-4FA6-BDEB-E2B6F2D8C4BD}"/>
              </a:ext>
            </a:extLst>
          </p:cNvPr>
          <p:cNvSpPr txBox="1"/>
          <p:nvPr/>
        </p:nvSpPr>
        <p:spPr>
          <a:xfrm>
            <a:off x="1281393" y="1554315"/>
            <a:ext cx="98342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React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组件是构建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React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应用的基本单元。组件化是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React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应用中的核心特性之一，使得项目具有清晰的组织结构。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651C29-FCB5-4895-9FDF-00A33D2EC9C8}"/>
              </a:ext>
            </a:extLst>
          </p:cNvPr>
          <p:cNvSpPr txBox="1"/>
          <p:nvPr/>
        </p:nvSpPr>
        <p:spPr>
          <a:xfrm>
            <a:off x="1281393" y="2243970"/>
            <a:ext cx="6962215" cy="369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React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组件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分为：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函数组件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类组件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。下面以函数组件为例子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24D3C5A-3F3A-46DB-97C0-FD7FA4603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7539" y="3218366"/>
            <a:ext cx="3009900" cy="81915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2F7AA7A-AE5F-48A3-A4F0-977C556C0684}"/>
              </a:ext>
            </a:extLst>
          </p:cNvPr>
          <p:cNvSpPr txBox="1"/>
          <p:nvPr/>
        </p:nvSpPr>
        <p:spPr>
          <a:xfrm>
            <a:off x="2581275" y="6416159"/>
            <a:ext cx="1730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函数组件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25AF140-BF37-4AC3-A607-1322813ECFDE}"/>
              </a:ext>
            </a:extLst>
          </p:cNvPr>
          <p:cNvSpPr txBox="1"/>
          <p:nvPr/>
        </p:nvSpPr>
        <p:spPr>
          <a:xfrm>
            <a:off x="8297395" y="4100635"/>
            <a:ext cx="1730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运行效果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CB999ED-466A-433A-BC8C-49C33D8CF02B}"/>
              </a:ext>
            </a:extLst>
          </p:cNvPr>
          <p:cNvSpPr txBox="1"/>
          <p:nvPr/>
        </p:nvSpPr>
        <p:spPr>
          <a:xfrm>
            <a:off x="7413812" y="4802446"/>
            <a:ext cx="402658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i="0" dirty="0">
                <a:solidFill>
                  <a:srgbClr val="333333"/>
                </a:solidFill>
                <a:effectLst/>
                <a:latin typeface="Helvetica Neue"/>
              </a:rPr>
              <a:t>组件的好处：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封装每个组件特有的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DOM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元素以及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DOM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所需的数据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3842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2D75C97-7397-49D0-8405-2879F9675DE5}"/>
              </a:ext>
            </a:extLst>
          </p:cNvPr>
          <p:cNvSpPr txBox="1"/>
          <p:nvPr/>
        </p:nvSpPr>
        <p:spPr>
          <a:xfrm>
            <a:off x="1090793" y="257175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特色功能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9775CB-CEF7-45AA-BD7C-A35924AFA1D3}"/>
              </a:ext>
            </a:extLst>
          </p:cNvPr>
          <p:cNvSpPr txBox="1"/>
          <p:nvPr/>
        </p:nvSpPr>
        <p:spPr>
          <a:xfrm>
            <a:off x="819150" y="1076325"/>
            <a:ext cx="1762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Hooks</a:t>
            </a:r>
            <a:endParaRPr lang="zh-CN" altLang="en-US" sz="24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C947582-8F94-4047-B2CF-9FAE8871D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1475" y="2840101"/>
            <a:ext cx="9998548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latin typeface="+mn-lt"/>
              </a:rPr>
              <a:t>      </a:t>
            </a:r>
            <a:r>
              <a:rPr lang="zh-CN" altLang="zh-CN" dirty="0">
                <a:latin typeface="+mn-lt"/>
              </a:rPr>
              <a:t>主要的 Hooks </a:t>
            </a:r>
            <a:r>
              <a:rPr lang="zh-CN" altLang="en-US" dirty="0">
                <a:latin typeface="+mn-lt"/>
              </a:rPr>
              <a:t>包括</a:t>
            </a:r>
            <a:r>
              <a:rPr lang="zh-CN" altLang="zh-CN" dirty="0">
                <a:latin typeface="+mn-lt"/>
              </a:rPr>
              <a:t> useState, useEffect, useContext, useReducer, useCallback, useMemo, useRef, 和 useImperativeHandle 等。 </a:t>
            </a:r>
            <a:r>
              <a:rPr lang="zh-CN" altLang="en-US" dirty="0">
                <a:latin typeface="+mn-lt"/>
              </a:rPr>
              <a:t>下面主要介绍</a:t>
            </a:r>
            <a:r>
              <a:rPr lang="zh-CN" altLang="zh-CN" dirty="0">
                <a:latin typeface="+mn-lt"/>
              </a:rPr>
              <a:t> useState, useEffect</a:t>
            </a:r>
            <a:r>
              <a:rPr lang="zh-CN" altLang="en-US" dirty="0">
                <a:latin typeface="+mn-lt"/>
              </a:rPr>
              <a:t>。</a:t>
            </a:r>
            <a:endParaRPr lang="zh-CN" altLang="zh-CN" dirty="0">
              <a:latin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20BFE3-568B-4CC6-AC85-6CB861B42B66}"/>
              </a:ext>
            </a:extLst>
          </p:cNvPr>
          <p:cNvSpPr txBox="1"/>
          <p:nvPr/>
        </p:nvSpPr>
        <p:spPr>
          <a:xfrm>
            <a:off x="1171475" y="1978847"/>
            <a:ext cx="10219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latin typeface="+mn-lt"/>
              </a:rPr>
              <a:t>React Hooks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使函数组件能够拥有类组件的一些特性，例如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状态管理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生命周期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方法的使用。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249B9A-C8DC-4378-BE39-FA05F57BCCB5}"/>
              </a:ext>
            </a:extLst>
          </p:cNvPr>
          <p:cNvSpPr txBox="1"/>
          <p:nvPr/>
        </p:nvSpPr>
        <p:spPr>
          <a:xfrm>
            <a:off x="1171474" y="4508398"/>
            <a:ext cx="95563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effectLst/>
                <a:latin typeface="-apple-system"/>
              </a:rPr>
              <a:t>Hooks </a:t>
            </a:r>
            <a:r>
              <a:rPr lang="zh-CN" altLang="en-US" b="0" i="0" dirty="0">
                <a:effectLst/>
                <a:latin typeface="-apple-system"/>
              </a:rPr>
              <a:t>使得 </a:t>
            </a:r>
            <a:r>
              <a:rPr lang="en-US" altLang="zh-CN" b="0" i="0" dirty="0">
                <a:effectLst/>
                <a:latin typeface="-apple-system"/>
              </a:rPr>
              <a:t>React </a:t>
            </a:r>
            <a:r>
              <a:rPr lang="zh-CN" altLang="en-US" b="0" i="0" dirty="0">
                <a:effectLst/>
                <a:latin typeface="-apple-system"/>
              </a:rPr>
              <a:t>能够实现</a:t>
            </a:r>
            <a:r>
              <a:rPr lang="zh-CN" altLang="en-US" sz="2400" b="1" i="0" dirty="0">
                <a:effectLst/>
                <a:latin typeface="-apple-system"/>
              </a:rPr>
              <a:t>数据驱动</a:t>
            </a:r>
            <a:r>
              <a:rPr lang="zh-CN" altLang="en-US" b="0" i="0" dirty="0">
                <a:effectLst/>
                <a:latin typeface="-apple-system"/>
              </a:rPr>
              <a:t>的</a:t>
            </a:r>
            <a:r>
              <a:rPr lang="zh-CN" altLang="en-US" sz="2400" b="1" i="0" dirty="0">
                <a:effectLst/>
                <a:latin typeface="-apple-system"/>
              </a:rPr>
              <a:t>渲染</a:t>
            </a:r>
            <a:r>
              <a:rPr lang="zh-CN" altLang="en-US" b="0" i="0" dirty="0">
                <a:effectLst/>
                <a:latin typeface="-apple-system"/>
              </a:rPr>
              <a:t>，以及</a:t>
            </a:r>
            <a:r>
              <a:rPr lang="zh-CN" altLang="en-US" sz="2400" b="1" i="0" dirty="0">
                <a:effectLst/>
                <a:latin typeface="-apple-system"/>
              </a:rPr>
              <a:t>状态改变后的事件执行</a:t>
            </a:r>
            <a:r>
              <a:rPr lang="zh-CN" altLang="en-US" b="0" i="0" dirty="0">
                <a:effectLst/>
                <a:latin typeface="-apple-system"/>
              </a:rPr>
              <a:t>。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A317CB-C588-443C-98A2-46F40CBFC33F}"/>
              </a:ext>
            </a:extLst>
          </p:cNvPr>
          <p:cNvSpPr txBox="1"/>
          <p:nvPr/>
        </p:nvSpPr>
        <p:spPr>
          <a:xfrm>
            <a:off x="1171474" y="5064498"/>
            <a:ext cx="95563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而常规的</a:t>
            </a:r>
            <a:r>
              <a:rPr lang="en-US" altLang="zh-CN" dirty="0"/>
              <a:t>JS</a:t>
            </a:r>
            <a:r>
              <a:rPr lang="zh-CN" altLang="en-US" dirty="0"/>
              <a:t>使用一般只能监听网页中</a:t>
            </a:r>
            <a:r>
              <a:rPr lang="en-US" altLang="zh-CN" b="1" dirty="0"/>
              <a:t>DOM</a:t>
            </a:r>
            <a:r>
              <a:rPr lang="zh-CN" altLang="en-US" b="1" dirty="0"/>
              <a:t>对象</a:t>
            </a:r>
            <a:r>
              <a:rPr lang="zh-CN" altLang="en-US" dirty="0"/>
              <a:t>的事件（如鼠标、键盘），并非是</a:t>
            </a:r>
            <a:r>
              <a:rPr lang="en-US" altLang="zh-CN" dirty="0"/>
              <a:t>DOM</a:t>
            </a:r>
            <a:r>
              <a:rPr lang="zh-CN" altLang="en-US" dirty="0"/>
              <a:t>对象中的数据，</a:t>
            </a:r>
            <a:r>
              <a:rPr lang="en-US" altLang="zh-CN" dirty="0"/>
              <a:t>Hooks</a:t>
            </a:r>
            <a:r>
              <a:rPr lang="zh-CN" altLang="en-US" dirty="0"/>
              <a:t>提供了更加灵活的方式。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4262E31-7DCC-4274-BD2E-93C193525221}"/>
              </a:ext>
            </a:extLst>
          </p:cNvPr>
          <p:cNvSpPr txBox="1"/>
          <p:nvPr/>
        </p:nvSpPr>
        <p:spPr>
          <a:xfrm>
            <a:off x="705971" y="4044632"/>
            <a:ext cx="176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区别</a:t>
            </a:r>
          </a:p>
        </p:txBody>
      </p:sp>
    </p:spTree>
    <p:extLst>
      <p:ext uri="{BB962C8B-B14F-4D97-AF65-F5344CB8AC3E}">
        <p14:creationId xmlns:p14="http://schemas.microsoft.com/office/powerpoint/2010/main" val="853191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2D75C97-7397-49D0-8405-2879F9675DE5}"/>
              </a:ext>
            </a:extLst>
          </p:cNvPr>
          <p:cNvSpPr txBox="1"/>
          <p:nvPr/>
        </p:nvSpPr>
        <p:spPr>
          <a:xfrm>
            <a:off x="1090793" y="257175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特色功能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9775CB-CEF7-45AA-BD7C-A35924AFA1D3}"/>
              </a:ext>
            </a:extLst>
          </p:cNvPr>
          <p:cNvSpPr txBox="1"/>
          <p:nvPr/>
        </p:nvSpPr>
        <p:spPr>
          <a:xfrm>
            <a:off x="2468095" y="1236142"/>
            <a:ext cx="6586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更新状态变量的值，并触发页面的重新渲染，</a:t>
            </a:r>
            <a:r>
              <a:rPr lang="zh-CN" altLang="en-US" sz="2400" b="1" dirty="0"/>
              <a:t>实时更新</a:t>
            </a:r>
            <a:r>
              <a:rPr lang="en-US" altLang="zh-CN" sz="2400" b="1" dirty="0"/>
              <a:t>UI</a:t>
            </a:r>
            <a:endParaRPr lang="zh-CN" altLang="en-US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B61A8F-D14D-45B4-9D1E-BFCEF6E56482}"/>
              </a:ext>
            </a:extLst>
          </p:cNvPr>
          <p:cNvSpPr txBox="1"/>
          <p:nvPr/>
        </p:nvSpPr>
        <p:spPr>
          <a:xfrm>
            <a:off x="705971" y="1143809"/>
            <a:ext cx="1762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useState</a:t>
            </a:r>
            <a:endParaRPr lang="zh-CN" altLang="en-US" sz="24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B6B7F2-D22B-4E41-89BB-137F5B0BB477}"/>
              </a:ext>
            </a:extLst>
          </p:cNvPr>
          <p:cNvSpPr txBox="1"/>
          <p:nvPr/>
        </p:nvSpPr>
        <p:spPr>
          <a:xfrm>
            <a:off x="705971" y="2167400"/>
            <a:ext cx="176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基础使用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3DBD69A-A63A-4672-994B-FC4134C9A6A4}"/>
              </a:ext>
            </a:extLst>
          </p:cNvPr>
          <p:cNvSpPr txBox="1"/>
          <p:nvPr/>
        </p:nvSpPr>
        <p:spPr>
          <a:xfrm>
            <a:off x="2468096" y="221356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// variable </a:t>
            </a:r>
            <a:r>
              <a:rPr lang="zh-CN" altLang="en-US" dirty="0"/>
              <a:t>为监听变量，</a:t>
            </a:r>
            <a:r>
              <a:rPr lang="en-US" altLang="zh-CN" dirty="0" err="1"/>
              <a:t>setState</a:t>
            </a:r>
            <a:r>
              <a:rPr lang="zh-CN" altLang="en-US" dirty="0"/>
              <a:t>为更新状态的函数</a:t>
            </a:r>
            <a:br>
              <a:rPr lang="en-US" altLang="zh-CN" dirty="0"/>
            </a:br>
            <a:r>
              <a:rPr lang="zh-CN" altLang="en-US" dirty="0"/>
              <a:t>const [</a:t>
            </a:r>
            <a:r>
              <a:rPr lang="en-US" altLang="zh-CN" dirty="0"/>
              <a:t>variable</a:t>
            </a:r>
            <a:r>
              <a:rPr lang="zh-CN" altLang="en-US" dirty="0"/>
              <a:t>, setState] = useState(initialState);</a:t>
            </a:r>
            <a:r>
              <a:rPr lang="en-US" altLang="zh-CN" dirty="0"/>
              <a:t>	</a:t>
            </a:r>
            <a:endParaRPr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26E12B23-6B20-458E-9E29-28057028F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010" y="3210847"/>
            <a:ext cx="2581275" cy="176212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D9BA996-40DC-4CF5-B9F0-0DC41BB85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096" y="3210847"/>
            <a:ext cx="2396378" cy="176575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131F78AD-44F4-446E-98D0-E9AAF6DFE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840" y="3210846"/>
            <a:ext cx="4215652" cy="3165361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E9AB261D-34C6-4245-8D83-EFA0504F3362}"/>
              </a:ext>
            </a:extLst>
          </p:cNvPr>
          <p:cNvSpPr txBox="1"/>
          <p:nvPr/>
        </p:nvSpPr>
        <p:spPr>
          <a:xfrm>
            <a:off x="7125262" y="5139256"/>
            <a:ext cx="2877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点击按钮后重新渲染</a:t>
            </a:r>
          </a:p>
        </p:txBody>
      </p:sp>
    </p:spTree>
    <p:extLst>
      <p:ext uri="{BB962C8B-B14F-4D97-AF65-F5344CB8AC3E}">
        <p14:creationId xmlns:p14="http://schemas.microsoft.com/office/powerpoint/2010/main" val="4083646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2D75C97-7397-49D0-8405-2879F9675DE5}"/>
              </a:ext>
            </a:extLst>
          </p:cNvPr>
          <p:cNvSpPr txBox="1"/>
          <p:nvPr/>
        </p:nvSpPr>
        <p:spPr>
          <a:xfrm>
            <a:off x="1090793" y="257175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特色功能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B61A8F-D14D-45B4-9D1E-BFCEF6E56482}"/>
              </a:ext>
            </a:extLst>
          </p:cNvPr>
          <p:cNvSpPr txBox="1"/>
          <p:nvPr/>
        </p:nvSpPr>
        <p:spPr>
          <a:xfrm>
            <a:off x="705971" y="1143810"/>
            <a:ext cx="2718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未使用</a:t>
            </a:r>
            <a:r>
              <a:rPr lang="zh-CN" altLang="zh-CN" sz="2400" b="1" dirty="0"/>
              <a:t>useState</a:t>
            </a:r>
            <a:endParaRPr lang="zh-CN" altLang="en-US" sz="2400" b="1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AB261D-34C6-4245-8D83-EFA0504F3362}"/>
              </a:ext>
            </a:extLst>
          </p:cNvPr>
          <p:cNvSpPr txBox="1"/>
          <p:nvPr/>
        </p:nvSpPr>
        <p:spPr>
          <a:xfrm>
            <a:off x="6923396" y="4162103"/>
            <a:ext cx="3619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点击按钮后页面</a:t>
            </a:r>
            <a:r>
              <a:rPr lang="zh-CN" altLang="en-US" sz="2400" b="1" dirty="0"/>
              <a:t>不发生改变</a:t>
            </a:r>
            <a:endParaRPr lang="zh-CN" altLang="en-US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E98614E-245E-4615-9992-D644A266F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84" y="2113203"/>
            <a:ext cx="4287651" cy="360098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939FB3C-C0F4-4C1F-8F3E-FA7313AA7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810" y="2224729"/>
            <a:ext cx="2581275" cy="176212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2FB7740-6B27-47A8-88F3-7C50B3449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645" y="2224729"/>
            <a:ext cx="2581275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155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3DEE261E-BD55-4E93-80F7-370227F0BEC2}"/>
              </a:ext>
            </a:extLst>
          </p:cNvPr>
          <p:cNvSpPr/>
          <p:nvPr/>
        </p:nvSpPr>
        <p:spPr>
          <a:xfrm>
            <a:off x="2259102" y="1531555"/>
            <a:ext cx="3469343" cy="17726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2D75C97-7397-49D0-8405-2879F9675DE5}"/>
              </a:ext>
            </a:extLst>
          </p:cNvPr>
          <p:cNvSpPr txBox="1"/>
          <p:nvPr/>
        </p:nvSpPr>
        <p:spPr>
          <a:xfrm>
            <a:off x="1090793" y="257175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特色功能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9775CB-CEF7-45AA-BD7C-A35924AFA1D3}"/>
              </a:ext>
            </a:extLst>
          </p:cNvPr>
          <p:cNvSpPr txBox="1"/>
          <p:nvPr/>
        </p:nvSpPr>
        <p:spPr>
          <a:xfrm>
            <a:off x="742110" y="1084480"/>
            <a:ext cx="1762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useEffect</a:t>
            </a:r>
            <a:endParaRPr lang="zh-CN" altLang="en-US" sz="24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702BF0-D7C2-45E9-BF61-1FD92AF31383}"/>
              </a:ext>
            </a:extLst>
          </p:cNvPr>
          <p:cNvSpPr txBox="1"/>
          <p:nvPr/>
        </p:nvSpPr>
        <p:spPr>
          <a:xfrm>
            <a:off x="2312892" y="1512083"/>
            <a:ext cx="33796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useEffect(() =&gt; {</a:t>
            </a:r>
          </a:p>
          <a:p>
            <a:r>
              <a:rPr lang="zh-CN" altLang="en-US" dirty="0"/>
              <a:t>  // 执行副作用操作</a:t>
            </a:r>
          </a:p>
          <a:p>
            <a:r>
              <a:rPr lang="zh-CN" altLang="en-US" dirty="0"/>
              <a:t>  return () =&gt; {</a:t>
            </a:r>
          </a:p>
          <a:p>
            <a:r>
              <a:rPr lang="zh-CN" altLang="en-US" dirty="0"/>
              <a:t>    // 清理操作</a:t>
            </a:r>
          </a:p>
          <a:p>
            <a:r>
              <a:rPr lang="zh-CN" altLang="en-US" dirty="0"/>
              <a:t>  };</a:t>
            </a:r>
          </a:p>
          <a:p>
            <a:r>
              <a:rPr lang="zh-CN" altLang="en-US" dirty="0"/>
              <a:t>}, [dependencies]); // 依赖数组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76D192-C33D-4506-974F-A602FEFECF3F}"/>
              </a:ext>
            </a:extLst>
          </p:cNvPr>
          <p:cNvSpPr txBox="1"/>
          <p:nvPr/>
        </p:nvSpPr>
        <p:spPr>
          <a:xfrm>
            <a:off x="705971" y="1634786"/>
            <a:ext cx="176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基础使用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7510A04-EBDA-49BE-AB81-DD2AD62C42F9}"/>
              </a:ext>
            </a:extLst>
          </p:cNvPr>
          <p:cNvSpPr txBox="1"/>
          <p:nvPr/>
        </p:nvSpPr>
        <p:spPr>
          <a:xfrm>
            <a:off x="2268069" y="1104969"/>
            <a:ext cx="9654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用于执行状态变量变化后的副作用操作（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事件驱动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），比如数据获取、订阅或手动更改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DOM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CAF58D7-37CA-4451-AB70-04102FB3B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455" y="3429000"/>
            <a:ext cx="3469343" cy="330826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A7F8302-495E-4358-A6D6-E424193D1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4904" y="3429000"/>
            <a:ext cx="2286000" cy="273367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7B6AA0DD-5363-4BD1-BDD5-136E83E31B51}"/>
              </a:ext>
            </a:extLst>
          </p:cNvPr>
          <p:cNvSpPr txBox="1"/>
          <p:nvPr/>
        </p:nvSpPr>
        <p:spPr>
          <a:xfrm>
            <a:off x="5992904" y="22045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当依赖数组变化时，执行</a:t>
            </a:r>
            <a:r>
              <a:rPr lang="en-US" altLang="zh-CN" b="1" dirty="0" err="1"/>
              <a:t>useEffect</a:t>
            </a:r>
            <a:r>
              <a:rPr lang="zh-CN" altLang="en-US" b="1" dirty="0"/>
              <a:t>中的事件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DE37FE6-E3F3-44BE-A920-4CC70D03DF52}"/>
              </a:ext>
            </a:extLst>
          </p:cNvPr>
          <p:cNvSpPr txBox="1"/>
          <p:nvPr/>
        </p:nvSpPr>
        <p:spPr>
          <a:xfrm>
            <a:off x="6754904" y="5746209"/>
            <a:ext cx="266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执行</a:t>
            </a:r>
            <a:r>
              <a:rPr lang="en-US" altLang="zh-CN" b="1" dirty="0" err="1"/>
              <a:t>useEffect</a:t>
            </a:r>
            <a:r>
              <a:rPr lang="zh-CN" altLang="en-US" b="1" dirty="0"/>
              <a:t>中的事件</a:t>
            </a:r>
          </a:p>
        </p:txBody>
      </p:sp>
    </p:spTree>
    <p:extLst>
      <p:ext uri="{BB962C8B-B14F-4D97-AF65-F5344CB8AC3E}">
        <p14:creationId xmlns:p14="http://schemas.microsoft.com/office/powerpoint/2010/main" val="2895709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1863</TotalTime>
  <Words>531</Words>
  <Application>Microsoft Office PowerPoint</Application>
  <PresentationFormat>宽屏</PresentationFormat>
  <Paragraphs>54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-apple-system</vt:lpstr>
      <vt:lpstr>Helvetica Neue</vt:lpstr>
      <vt:lpstr>Menlo</vt:lpstr>
      <vt:lpstr>等线</vt:lpstr>
      <vt:lpstr>等线 Light</vt:lpstr>
      <vt:lpstr>思源黑体 CN Heavy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王锦鸿</dc:creator>
  <cp:lastModifiedBy>王锦鸿</cp:lastModifiedBy>
  <cp:revision>54</cp:revision>
  <dcterms:created xsi:type="dcterms:W3CDTF">2024-06-20T14:31:57Z</dcterms:created>
  <dcterms:modified xsi:type="dcterms:W3CDTF">2024-12-12T05:37:15Z</dcterms:modified>
</cp:coreProperties>
</file>