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4"/>
  </p:notesMasterIdLst>
  <p:sldIdLst>
    <p:sldId id="416" r:id="rId2"/>
    <p:sldId id="379" r:id="rId3"/>
    <p:sldId id="380" r:id="rId4"/>
    <p:sldId id="381" r:id="rId5"/>
    <p:sldId id="383" r:id="rId6"/>
    <p:sldId id="409" r:id="rId7"/>
    <p:sldId id="382" r:id="rId8"/>
    <p:sldId id="258" r:id="rId9"/>
    <p:sldId id="298" r:id="rId10"/>
    <p:sldId id="420" r:id="rId11"/>
    <p:sldId id="277" r:id="rId12"/>
    <p:sldId id="313" r:id="rId13"/>
    <p:sldId id="378" r:id="rId14"/>
    <p:sldId id="332" r:id="rId15"/>
    <p:sldId id="314" r:id="rId16"/>
    <p:sldId id="279" r:id="rId17"/>
    <p:sldId id="388" r:id="rId18"/>
    <p:sldId id="280" r:id="rId19"/>
    <p:sldId id="316" r:id="rId20"/>
    <p:sldId id="335" r:id="rId21"/>
    <p:sldId id="317" r:id="rId22"/>
    <p:sldId id="318" r:id="rId23"/>
    <p:sldId id="319" r:id="rId24"/>
    <p:sldId id="410" r:id="rId25"/>
    <p:sldId id="411" r:id="rId26"/>
    <p:sldId id="412" r:id="rId27"/>
    <p:sldId id="389" r:id="rId28"/>
    <p:sldId id="337" r:id="rId29"/>
    <p:sldId id="370" r:id="rId30"/>
    <p:sldId id="371" r:id="rId31"/>
    <p:sldId id="372" r:id="rId32"/>
    <p:sldId id="377" r:id="rId33"/>
    <p:sldId id="373" r:id="rId34"/>
    <p:sldId id="374" r:id="rId35"/>
    <p:sldId id="375" r:id="rId36"/>
    <p:sldId id="376" r:id="rId37"/>
    <p:sldId id="417" r:id="rId38"/>
    <p:sldId id="418" r:id="rId39"/>
    <p:sldId id="419" r:id="rId40"/>
    <p:sldId id="414" r:id="rId41"/>
    <p:sldId id="393" r:id="rId42"/>
    <p:sldId id="415" r:id="rId4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B1F0"/>
    <a:srgbClr val="464DD9"/>
    <a:srgbClr val="BDD7EE"/>
    <a:srgbClr val="A50021"/>
    <a:srgbClr val="7030A0"/>
    <a:srgbClr val="5B9BD5"/>
    <a:srgbClr val="D5A6DF"/>
    <a:srgbClr val="FF91C8"/>
    <a:srgbClr val="99CC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554" autoAdjust="0"/>
    <p:restoredTop sz="93883" autoAdjust="0"/>
  </p:normalViewPr>
  <p:slideViewPr>
    <p:cSldViewPr snapToGrid="0">
      <p:cViewPr varScale="1">
        <p:scale>
          <a:sx n="85" d="100"/>
          <a:sy n="85" d="100"/>
        </p:scale>
        <p:origin x="84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0-29T06:55:41.2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16651 15134 0,'18'0'31,"-18"-17"-31,0-1 0,35 0 0,-35 1 0,18 17 16,-1-36-16,-17 19 0,18 17 0,0-18 0,-1 0 0,-17 1 15,36-1-15,-36 0 0,35-17 0,-18 18 0,36-36 16,0 0-16,-17 0 15,-1 0-15,-18 35 0,1 1 0,17-36 16,-17 17-16,17 19 0,-17-54 0,0 54 16,-1-1-16,-17-17 0,18 17 0,17-17 15,-17-18-15,-18 35 0,17-17 0,1 0 16,-18-1-16,0 1 0,35 0 0,-35 0 0,36-18 16,-36 17-16,17 1 0,-17 0 0,18 0 0,-18-1 0,17-17 15,-17 36-15,18-19 0,-18 19 0,0-36 0,18 53 0,-1-71 16,1 18-16,-18 36 0,18-19 15,-18 19-15,17-18 0,1-1 0,0 1 0,-18 0 16,17-1-16,1 1 0,17-53 0,-17 35 16,-18 18-16,17-1 0,1 1 0,0 0 0,-18 17 0,0-17 15,0 17-15,17-17 0,-17 17 0,18-17 0,-18 18 16,18-19-16,-18 19 0,0-36 0,0 35 16,0 0-16,0-17 0,17 0 15,-17 17-15,0-17 16,0 17-16,0 1 0,0-1 0,18-17 15,-18-1-15,0 19 16,0-1-16,0 1 16,0-1-16,0 0 15,0 1-15,0-19 0,0 19 16,0-1-16,0 0 0,0 1 16,0-1-16,18 18 0,-18-17 31</inkml:trace>
  <inkml:trace contextRef="#ctx0" brushRef="#br0" timeOffset="532.75">17621 12083 0,'0'-18'31,"18"18"-15,0 0-16,-1 0 0,1 0 0,-1 0 15,1-18-15,0 18 0,-1 0 0,1-17 16,0 17-16,-1 0 0,1 0 0,0 0 16,-1 0-16,1 0 0,-1 0 15,1 0-15,0 0 0,-1 0 16,1 0-1,0 0 17,-18 17-32,17 1 15,-17 0-15,0-1 16,18-17-16,-18 18 0,18-18 16,-18 18 30,0-1-46,0 1 0,0-1 16,0 1-16,0 0 0,0-1 16,0 1-16,0 0 0,0-1 15,0 1-15</inkml:trace>
  <inkml:trace contextRef="#ctx0" brushRef="#br0" timeOffset="2040.85">18450 11853 0,'18'0'31,"-18"-17"0,0-1-15,0 0-16,0 1 15,0-1 1,0 0 0,-18 18-16,18-17 0,-17-1 15,-1 18-15,0 0 31,18-17-31,-17 17 16,-1 0 0,0 0-16,1 0 15,-1 0-15,1 0 16,17 17-16,-18-17 0,18 18 16,-18-1-16,18 1 0,-17 0 15,17-1-15,0 1 16,0 0-16,0-1 15,0 1-15,17-18 16,-17 18-16,18-18 0,17 17 16,-17-17-16,-1 0 15,1 0-15,0 0 0,-1 0 16,1 0 0,0 0-16,-1 0 15,1 0 1,-18-17-16,0 34 125,0 1-125,0 0 0,0-1 15,0 1-15,-18-1 16,1 1-16,-1 0 0,18-1 16,-18-17-16,1 18 15,17 0 1,-18-18 15,0 0-15,1 17-1,-1-17 48,1 0-47,-1 0 15,0 0-31,1 0 47,-1 0-32,36 0 79,-1 0-94,1 0 16,0 0-16,-1 0 0,1 0 15,-1 0-15,1 0 0,17 0 16,-17 0-16,0 18 16,-1-18-16,19 0 0,-36 18 15,17-18-15,1 0 0,-1 0 110,1 0-110,0 0 15,-1-18-15</inkml:trace>
  <inkml:trace contextRef="#ctx0" brushRef="#br0" timeOffset="2397.66">18591 11889 0,'18'0'47,"0"0"-32,-1 0-15,1 0 16,0 0-16,-1 0 15,1 0-15</inkml:trace>
  <inkml:trace contextRef="#ctx0" brushRef="#br0" timeOffset="2785.54">18627 11994 0,'17'0'32,"1"0"-32,-18 18 15,35-18-15,-17 0 0,-1 0 16,1 0-16,0 0 15,-1 0 64,1 0-79</inkml:trace>
  <inkml:trace contextRef="#ctx0" brushRef="#br0" timeOffset="4540.81">19385 11271 0,'18'0'109,"-18"18"-93,17 0-16,-17-1 0,0 1 16,0-1-16,0 1 0,0 0 15,0 17-15,-17-35 16,17 18-16,0-1 0,0 1 15,-35-18-15,35 18 0,0-1 16,-18-17-16,0 0 16,1 0-16,17 18 0,0-1 15,-18-17 1,18-17 62,18 17-62,-1-35-16,1 17 15,0 0-15,-1 1 0,-17-1 0,18 0 16,-18 1-16,17-1 16,-17 0-16,18 18 15,-18-17 1,0-1-1,0 1 17,0-1-32,0 36 140,0-1-108,0 1-32,0-1 0,0 1 15,0 0-15,0-1 0,0 1 16,0 0-16,18-1 15,-18 1-15,17-18 0,-17 18 0,0-1 16,18-17-16,0 0 31,-1 0-15,-17 18-16,18-1 31,0-17-31</inkml:trace>
  <inkml:trace contextRef="#ctx0" brushRef="#br0" timeOffset="5803.3">19332 11201 0,'18'0'32,"0"0"-32,-1 0 0,1 0 15,-1 0-15,1 0 16,-18 17 0,0 1-1,0 0 1,18-18-16,-18 17 15,0 1-15,0 0 0,0-1 16,0 1 0,-18-1-16,18 1 15,-18-18-15,18 18 16,-17-18-16,17 17 16,-18-17-16,18 18 0,-17-18 46,17-18 79,17 18-125,-17-17 0,35-19 16,-17 19-16,0-1 16,-1 18-16,-17-17 0,18-1 15,0 0-15,-1 18 16,-17-17-16,0-1 78,0 0 0,0 1-78,0 34 156,-17-17-156,17 36 0,0-19 16,0 1 0,0 0-16,0-1 15,0 1-15,17-1 16,-17 1 0,18-18 15</inkml:trace>
  <inkml:trace contextRef="#ctx0" brushRef="#br0" timeOffset="6427.64">19632 11465 0,'0'18'47,"0"0"-47,0-1 0,0 1 16,0-1-16,0 1 0,0 0 15,0-1-15,0 1 0,0 0 0,0-1 16,0 1-16,0 0 0,0-1 16,0 1-1,0-1-15,0 1 0,0 0 16,0-36 62,0 0-62,0 1-16,0-1 0,18-52 0,-18 52 15,0-17-15,0 17 0,0-17 16,0 17-16</inkml:trace>
  <inkml:trace contextRef="#ctx0" brushRef="#br0" timeOffset="6943.24">19650 11412 0,'17'0'62,"1"0"-62,0 18 16,-1-18-16,1 0 0,-18 18 15,18-18-15,-1 17 16,1-17-16,-18 18 63,0 0-48,0-1-15,0 1 16,-18 17-1,1-35-15,17 18 0,0-1 0,0 1 16,-18 0-16,0-18 16,1 0 62</inkml:trace>
  <inkml:trace contextRef="#ctx0" brushRef="#br0" timeOffset="8161.64">19491 12083 0,'0'17'32,"18"1"-17,-1-18 1,-17 18-16,0-1 15,36-17 17,-19 0-17,1 0-15,-18-17 0,17 17 0,-17-18 16,0 0-16,18 18 16,-18-17-16,0-1 15,0 0 1,0 1 15,0-1-31,0 0 31,0 36 32,0 0-63,0-1 15,0 1-15,0 0 0,0-1 16,0 1-16,-18 0 0,18-1 16,-17 18-16,17-17 0,-18-18 0,18 35 15,0-17-15,0 0 0,0-1 0,-17 1 0,17 0 16,-18-18-16,18 17 0,0 1 0,0-1 16,0 1-16,0 0 0,-18-18 15,18 17-15,0 1 16,-17-18 46,-1 0-62,0-18 16,1 18-16,17-17 0,-18-19 16,0 1-16,18 18 0,0-1 0,0 0 15,0 1-15,0-1 0</inkml:trace>
  <inkml:trace contextRef="#ctx0" brushRef="#br0" timeOffset="8671.29">19667 12188 0,'0'18'32,"0"0"-17,0-1-15,0 1 0,0 0 0,0-1 16,0 1-16,0 0 16,0-1-16,0 1 0,0-1 15,0 1-15,0 0 16,0-1-16,0 1 0,0 0 15,0-1-15,18-17 63,-18-17-63,0-1 16,0 0-16,0-17 0,0 17 15,0 1-15,0-1 0</inkml:trace>
  <inkml:trace contextRef="#ctx0" brushRef="#br0" timeOffset="9041.56">19685 12224 0,'18'0'15,"-1"0"1,1 0 0,0 0-1,-1 0-15,1 0 0,-1-18 16,1 18 0,-18 18 30,0-1-46,0 1 32,-18 0-32,18-1 15,-17-17-15,-1 0 0,1 0 0,17 18 16,-18-18-16,0 0 16,18 18-16,-17-18 15</inkml:trace>
  <inkml:trace contextRef="#ctx0" brushRef="#br0" timeOffset="9894.89">19509 12682 0,'17'0'16,"-17"-17"-16,18 17 16,0-18-16,17 0 0,-18 1 0,1 17 15,0 0-15,-1 0 31,-17 17 16,0 1-31,0 0-16,-17-18 16,-1 17-16,0-17 0,1 0 15,17 18-15,-18 0 0,-17-1 16,35 1-16,-35 0 15,35-1-15,-18 1 0,0-18 16,1 0-16,17 17 0,-18 1 0,0 0 0,1-1 16,-1 1-16,1-18 0,-1 18 15,18-1-15,-18-17 16,36 0 78,0 0-94,17 0 0,-18 0 15,1 0-15,0 0 0,-1 0 0,1 0 0,17-17 16,1 17-16,-1 0 16,-18 0-16,-17-18 109,0 0-109</inkml:trace>
  <inkml:trace contextRef="#ctx0" brushRef="#br0" timeOffset="10390.89">19420 12735 0,'18'0'31,"-18"18"-15,18-18-16,-1 0 15,-17 18-15,18-18 16,-18 17-1,18-17-15,-18 18 0,17-1 0,1 1 16,0-18-16,-18 18 0,17-18 16,1 0 15,-1 0-31</inkml:trace>
  <inkml:trace contextRef="#ctx0" brushRef="#br0" timeOffset="10858.57">19738 12788 0,'0'18'32,"0"-1"-17,0 1-15,-18 0 0,18-1 16,0 1-16,0 17 15,0-17-15,0 0 0,0-1 0,0 18 16,0-17-16,0 0 16,0-1-16,0 1 31,18-36 47,-18 1-78,18-1 16,-18 0-16,0 1 0,17-1 0,-17 1 0</inkml:trace>
  <inkml:trace contextRef="#ctx0" brushRef="#br0" timeOffset="11271.35">19791 12788 0,'17'0'31,"1"0"-31,0 0 16,-18 18-16,17-18 0,-4056 17 15,8096 1-15,-4057 0 0,0 17 16,0-17-16,0-1 16,0 1-16,0 0 15,0-1-15,-18-17 16,18 18-1,-17-18-15,17 17 16,-18-17 0,0 0-16,1 0 31,-1 0-31,1 0 0,-1 0 16</inkml:trace>
  <inkml:trace contextRef="#ctx0" brushRef="#br0" timeOffset="11985.85">19597 13353 0,'0'17'31,"0"1"-15,0 0 0,0-1-16,0 1 15,0-1 1,0 1-16,0 0 0,0-1 16,0 1-16,0 0 0</inkml:trace>
  <inkml:trace contextRef="#ctx0" brushRef="#br0" timeOffset="12671.76">19015 11060 0,'17'0'31,"1"0"-31,0 0 0,-1 0 16,1 0-16,0 0 0,-1 0 0,1 0 16,-1 0-16,1 0 0,0 0 15,-1 0-15,-17-18 0</inkml:trace>
  <inkml:trace contextRef="#ctx0" brushRef="#br0" timeOffset="13560.28">19103 11307 0,'0'35'0,"0"-70"0,0 105 16,0-52-16,0 17 0,0 0 16,0-17-16,0 17 0,0 18 15,0-18-15,0 18 0,0-35 16,0 0-16,0 34 0,0-34 0,0 0 15,0 35-15,0-36 0,0 19 16,0-19-16,0 1 0,0 17 16,-18-17-16,18-1 0,0 1 0,0 17 15,0-17-15,0 0 0,0-1 0,0 1 16,0 0-16,0-1 16,0 1-16,0-1 0,0 19 15,0-19-15,0 1 0,0 0 16,0-1-16,0 1 0,0 0 0,0 17 15,0-18-15,0 1 0,0 17 16,0-17-16,0 0 0,0-1 16,0 19-16,0-19 0,0 19 15,0-19-15,0 1 0,0 17 16,0-17-16,0-1 0,0 1 0,0 35 16,0-35-16,0-1 15,-17-17-15,17 35 0,0-17 16,0 0-16,0-1 0,0 19 15,0-19-15,0 19 16,0-1-16,-18-18 0,18 1 0,0 0 16,-18-1-16,18 1 0,-17 0 0,17 17 15,0-17-15,-18-1 0,18 19 16,-18-36-16,18 17 0,0 1 16,0-1-16,0 1 15,-17-18-15,17 18 0,0-1 16,0 1-16,0 0 0,-18-18 15,18 17-15,0 1 16,0 0-16,0-1 63,18-17-17,-1 0-46,1 0 0,17 0 16,1 0-16,-19 18 0,19-18 16,-19 0-16,1 0 47,-1 0-32,1-18-15,0 18 16,-1-17-16,-17-1 0,18 18 0,0-18 0</inkml:trace>
  <inkml:trace contextRef="#ctx0" brushRef="#br0" timeOffset="15228.59">19985 11130 0,'17'0'32,"1"0"-17,0 0-15,-18 18 0,17-18 0,-17 17 16,18 1-16,0-18 16,-18 18-16,0-1 15,17-17-15,-17 18 16,18-18-16,-18 18 0,18 17 15,-18-17-15,0-1 16,0 1-16,0-1 0,0 1 0,17 0 16,-17-1-16,0 1 15,0 0-15,18-18 0,-18 35 0,0-17 16,0-1-16,0 1 0,0-1 0,0 19 16,0-1-16,0 0 0,0-17 0,0 0 15,0 17-15,0-18 0,0 1 16,0 0-16,0-1 0,0 1 0,0 17 0,0-17 15,0 0-15,18 17 0,-1 18 16,-17-36-16,0 1 0,0 0 16,0-1-16,0 1 0,0 17 15,0-17-15,0 0 0,0-1 0,0 18 16,0-17-16,18 0 16,-18-1-16,0 19 0,0 17 0,0-18 15,0 0-15,0-17 0,0-1 16,0 1-16,0 17 0,0 1 0,0 17 15,0-1-15,0 1 16,0-35-16,0 0 0,0 17 0,0 0 16,0-17-16,-18-1 0,18 19 15,0-19-15,0 1 0,0 0 16,0 17-16,-17-17 16,17 17-16,0 0 15,0-17-15,0-1 0,0 1 16,0 0-16,0-1 0,0 1 15,0 0-15,0-1 0,0 1 0,0 0 16,0-1-16,0 1 0,0-1 16,-18-17-16,18 18 15,0 0-15,0-1 16,0 1-16,0 0 0,0-1 16,0 1-16,-18 0 15,18 17-15,-17-35 16,17 35-16,0-17 15,-18-1-15,0-17 16,18 18-16,-17-18 16,17 18-1,-18-18-15,0 0 16,18 17-16,-17-17 16,-1 0-16,0 0 15,1 0-15,-1 0 16,1 0-1,-1 0-15,18-17 110,0-1-95,18 18-15,-1 0 16,-17-18-16,18 18 0,-1-17 0,1 17 0,0 0 16,-1 0 46,1 0-31,0 0-31,-18-18 0,17 0 16,1 1-16,0-18 0,-1-1 16</inkml:trace>
  <inkml:trace contextRef="#ctx0" brushRef="#br0" timeOffset="15966.13">19967 11130 0,'18'0'47,"-1"0"-47,1 0 16,0 0-16,-1 0 0,1 0 31,0 0 0</inkml:trace>
  <inkml:trace contextRef="#ctx0" brushRef="#br0" timeOffset="16764.84">20567 12259 0</inkml:trace>
  <inkml:trace contextRef="#ctx0" brushRef="#br0" timeOffset="47868.07">20973 11642 0,'17'0'125,"1"0"-109,0 0-16,-1 0 16,1 0-16,-1 0 31,1 0-15,0 0-1,-18 17-15,0 1 31,0 0-15,0-1-16,0 1 0,0-1 16,-18-17-16,0 18 15,18 0-15,-35-1 16,35 1-16,-17 0 0,-1-1 16,0 1-16,18 0 0,-17-1 15,-1-17-15,0 18 16,18 0-16,-17-18 0,17 17 0,-18-17 15,18 18-15,-18-18 0,1 17 0,17 1 16,-18 0-16,1-18 0,-1 0 16,18 17-16,0 1 15,-18-18 32,36 0 94,0 0-141,-1 0 0,18 0 15,-17-18-15,0 18 0,-1 0 0,19 0 16,-1 0 0,-17 0-16,-1 0 0,1 0 15,-1 0-15,1 0 16</inkml:trace>
  <inkml:trace contextRef="#ctx0" brushRef="#br0" timeOffset="48414.67">20902 11730 0,'18'0'47,"-1"0"-31,-17 17-16,18 1 0,0 0 16,-18-1-16,17 1 0,1 0 15,0-1-15,-18 1 16,17 0-16,-17-1 0,18-17 0,-18 18 15,0 0 48,17-18-47,-17 17-16,18 1 15,-18-1-15,0 1 0</inkml:trace>
  <inkml:trace contextRef="#ctx0" brushRef="#br0" timeOffset="49161.85">20708 12347 0,'18'0'63,"-1"0"-63,19 0 15,-19 0-15,19-17 0,-19 17 16,1 0-16,17 0 0,0 0 16,-17 0-16,0 0 0,-1 0 15,1 0-15,0 0 0,-1 0 0,1 0 16,-1 0-16,1 0 0,0 0 16,-1 0-16,1 0 0,17 0 15,-17 0 1,0 0-16,-1 0 0,1 0 15,-1 0 1,1 0-16,0 0 0,-1 0 16,1 0-16,0 0 15,-1 0 1</inkml:trace>
  <inkml:trace contextRef="#ctx0" brushRef="#br0" timeOffset="50467.33">21114 12682 0,'0'-17'16,"0"-1"-16,0 0 16,0 1-16,0-1 15,0 1-15,0-1 16,0 0-16,0 1 16,-18-1-16,0 18 15,1 0 1,-1 0 93,1 0-109,-1 0 16,0 0-16,1 0 15,-19 35-15,1-17 16,17 0-16,1-18 0,-1 17 0,18 1 16,-17-1-16,-1-17 0,0 36 15,1-36-15,17 17 0,-18-17 0,18 18 16,0 0-16,0-1 16,0 1-1,18-18 16,-1 0-31,1 0 16,0 0-16,-1 0 0,18 0 0,1 0 16,17-18-16,-18 1 0,-17 17 15,17 0-15,-18-18 16,1 0-16,0 18 0,-1-17 16,1 17-16,-18-36 0,18 36 15,-1-17-15,-17-1 0,18 18 0,0 0 16,-18-35-16,17 35 0,1-35 15,-1 35-15,-17-18 0,18 0 16,-18 1-16,18 17 16,-18-18-16,0 0 0,0 1 15,17 17-15,-17-18 16,0 0 15,-17 36 79,-1-18-110,18 18 15,0-1-15,0 1 0,-18-18 0,18 18 16,0-1-16,-17-17 0,17 18 15,0 0-15,0-1 0,0 1 0,0 0 16,-18-18-16,18 17 0,0 1 16,-17-1-16,17 19 0,0-19 15,0 1-15,0 0 78,17-18-62,1 0-16</inkml:trace>
  <inkml:trace contextRef="#ctx0" brushRef="#br0" timeOffset="50920.67">21766 11889 0,'18'0'78,"0"0"-78,-1 0 0,-17 17 0,18-17 16,0 0-16,-18 18 0,17-18 0,1 0 15,0 0-15,-1 0 32,1 0-17</inkml:trace>
  <inkml:trace contextRef="#ctx0" brushRef="#br0" timeOffset="51344.03">21678 12294 0,'18'0'62,"-1"0"-62,1 0 0,0 0 16,-1 0-16,1 18 0,0-18 0,-1 0 0,1 0 16,0 0-1,-1 0 1,19 0-1,-19 0-15,1 0 0,17 0 16,-17 0-16,-1 0 0</inkml:trace>
  <inkml:trace contextRef="#ctx0" brushRef="#br0" timeOffset="51962.75">22560 11695 0,'-18'0'0,"1"0"15,17 17-15,0 1 0,-18-1 0,18 1 0,0 0 16,0-1-16,0 1 0,0 0 0,-17-1 0,17 1 15,0 0-15,-18 17 0,18-17 16,0-1-16,0 1 0,0 17 0,0 0 0,0 18 16,0-35-16,0 0 0,-18 17 0,18-18 0,0 19 15,0-19-15,0 19 0,0-19 16,0 1-16,0 0 16,0-1-16,0 1 15,0-1-15,0 1 16,0 0-16,0-1 15,0 1 1,0 0-16,0-1 16,0 1-16,0 0 15,0-1 1,0 1-16,-17-18 16,17 18-16,0-1 0,0-34 62,17-1-62</inkml:trace>
  <inkml:trace contextRef="#ctx0" brushRef="#br0" timeOffset="52605.05">22507 11836 0,'0'-18'16,"18"18"0,-1 0 15,1 0-31,0 0 15,-18 18 1,17-1-16,1 1 16,-18 0-16,0-1 15,0 1 1,0 0-16,0-1 16,0 1-16,0-1 15,0 1-15,0 0 16,0-1 15,0 1-31,-18-18 31,18 18-31,-17-18 32,17 17-32,-18-17 15,0 0-15</inkml:trace>
  <inkml:trace contextRef="#ctx0" brushRef="#br0" timeOffset="53045.89">22878 11994 0,'0'-17'31,"17"17"-31,1 0 15,0 0-15,-1 0 16,1 0 0,-1 0-16,1 0 15,0 0 1,-1 0 0,1 0-1</inkml:trace>
  <inkml:trace contextRef="#ctx0" brushRef="#br0" timeOffset="53476.52">22948 12188 0,'0'18'62,"18"-18"-62,-1 0 16,1 0-16,0 0 15,-1 0-15,1 0 0,0 0 16,-1 0 0</inkml:trace>
  <inkml:trace contextRef="#ctx0" brushRef="#br0" timeOffset="54400.43">23971 11183 0,'0'-18'15,"18"18"48,-18 18-63,18-18 16,-18 18-16,17-1 0,1-17 0,-18 18 15,17 0-15,1-1 0,-18 19 16,18-36-16,-18 17 0,0 1 15,17-18-15,-17 35 0,18-35 16,-18 18-16,0-1 0,0 1 16,0 0-16,18-1 15,-18 1-15,17-18 0,-17 18 16,0-1-16,0 1 31,18-18 47,0 0-78,-1 0 16,-17-18-16,18 1 0,-1-1 16</inkml:trace>
  <inkml:trace contextRef="#ctx0" brushRef="#br0" timeOffset="54947.66">24148 11165 0,'-18'0'31,"0"0"-16,18 18-15,0 0 16,-17-1-16,17 1 16,0 0-1,0-1 1,0 1-16,-18 0 16,18-1-16,-18 1 15,18-1-15,0 1 0,-17-18 16,17 18-16,0-1 15,-18-17-15,18 18 16,-17-18-16,17 18 0,0-1 16,-18-17-1,18 18-15,-18 0 16,18-1 0,-17-17-1,17 18-15,-18-18 16,0 0-16,18 17 15</inkml:trace>
  <inkml:trace contextRef="#ctx0" brushRef="#br0" timeOffset="55829.11">23936 11959 0,'18'0'47,"-18"18"-31,0-1-16,17-17 0,-17 18 15,0 0-15,18-1 0,-18 1 16,0 0-16,18-18 0,-1 0 15,1 0-15,-18 17 0,35-17 16,-17 0-16,-1 0 16,1 0-16,-18-17 0,18-1 0,-1 18 15,-17-18-15,36-17 0,-19 17 16,-17 1-16,0-1 0,0 1 16,18 17-16,-18-18 0,0 36 93,-18-18-93,1 35 16,17-18-16,-18 1 0,18 0 16,0 17-16,0-17 0,-18-18 0,18 17 15,-17 1-15,17 17 0,0-17 0,0-1 16,0 1-16,0 0 0,0 17 0,0-17 15,0-1-15,-18-17 0,18 18 0,0 0 0,-18-1 0,18 1 16,0-1-16,0 1 16,-17-18-16,-1 0 62,0 0-46,18-18-16,-17 1 0,-1 17 0,1-18 0,17 1 15,0-1-15,-18 0 0</inkml:trace>
  <inkml:trace contextRef="#ctx0" brushRef="#br0" timeOffset="56589.1">23830 12647 0,'18'0'16,"-1"0"-16,1 0 16,0 0-16,-1 0 0,19 0 0,-1-18 15,0 18-15,-17 0 0,17 0 16,-17 0-16,-1 0 15,-17 18 32,-17-18-31,17 18-16,0-1 16,-18-17-16,18 18 0,-18-18 15,18 18-15,-17-1 0,-1-17 0,1 18 0,-1 0 16,0-18-16,1 35 0,-1-18 0,0-17 15,1 18-15,-19 0 0,19-18 0,-19 35 0,1-17 16,0-18-16,35 17 0,-35 1 16,-18 0-16,53-1 0,-18-17 15,0 18-15,36-18 63,0 0-48,-1 0-15,19 0 0,-19 0 0,36 0 16,0 0-16,-35 0 0,52-18 16,1 18-16,-36 0 0,0 0 0,1 0 15,-19 0-15,19 0 0,-19-17 16,1 17 62</inkml:trace>
  <inkml:trace contextRef="#ctx0" brushRef="#br0" timeOffset="57115.72">23742 12771 0,'18'0'16,"17"0"-1,-18 0-15,-4021 0 16,8061 0-16,-4039 17 0,0-17 0,17 18 16,-17-18-16,-1 0 15,1 0-15,-18 17 0,18-17 31,-1 0-31,-17 18 16,18-18-16,-1 18 16,1-18-16,-18 17 0,0 1 15</inkml:trace>
  <inkml:trace contextRef="#ctx0" brushRef="#br0" timeOffset="58017.96">23795 13529 0,'0'-18'16,"17"1"-16,-17-1 15,36 18-15,-19 0 0,1-18 0,17 1 16,-17 17-16,0 0 16,-1 0-16,1 0 0,0 0 15,-1 0-15,1 0 0,-1 0 16,-17 17 46,-17-17-46,17 18-16,0 0 0,-35-1 16,35 1-16,-36 0 0,19-1 15,-19 19-15,36-19 16,-17 1-16,-1-18 0,0 35 0,-17-17 16,0-1-16,-18 1 15,35-18-15,1 18 0,-1-1 16,0-17-16,36 0 78,0 0-62,-1-17-16,36 17 15,-35 0-15,-1 0 0,1 0 16,17 0-16,-17 0 0,17 0 0,-17 0 0,0 0 15,-1 0-15,1 0 0,0 0 16,-1 0 0,1 0-1</inkml:trace>
  <inkml:trace contextRef="#ctx0" brushRef="#br0" timeOffset="58364.23">23812 13547 0,'18'0'32,"0"0"-17,-1 0-15,19 0 16,-19 0-16,1 0 0,0 0 0,17 0 15,-35 17-15,0 1 0,18 0 16,-1-18-16,1 35 0,-18-18 0,0 19 16,-18-36-16,18 35 0,-17-35 15</inkml:trace>
  <inkml:trace contextRef="#ctx0" brushRef="#br0" timeOffset="58808.03">23301 13988 0,'0'-18'15,"0"0"-15,18 18 0,17 0 16,0 0-16,18-17 0,-35 17 0,35-36 16,-18 36-16,18-17 0,-36 17 0,72 0 0,-54 0 15,35 0-15,-34 0 0,34 0 0,-52 0 0,53 0 16,-36-18-16,18 18 0,-18 0 0,0 0 0,-17 0 0,0 0 15,17 0-15,-18 0 16,1 0-16,0 0 16,-1 0-16,1 0 0,0 0 15,17 0-15,-17 0 0,-1 0 16,1 0-16,-1 0 0,1 0 31,-36 0-15,1 0-16</inkml:trace>
  <inkml:trace contextRef="#ctx0" brushRef="#br0" timeOffset="59730.22">23848 14376 0,'0'0'0,"0"-18"16,0-53 0,0 54-16,0-1 15,-4040 1-15,8080-1 16,-4040 0-16,0 1 0,0-1 15,0 0 1,-18 36 62,18 0-78,-35-18 0,17 35 16,-17-35-16,17 53 0,1-53 15,-1 17-15,18 1 0,0 0 16,0-1-16,-18 1 16,18 0-1,18-18 1,17 0-16,-17 0 16,35 0-16,-36 0 0,19-18 0,-1 0 0,53 1 15,-70-1-15,17 18 0,-17 0 0,-1-18 16,1 1-16,0 17 15,-1 0-15,-17-18 32,18 1-32,-18-1 0,18 0 0,-18 1 15,17-1-15,-17 0 16,0 1-16,18 17 0,-36 0 203,18 17-187,0 1-16,-17-18 0,-1 18 15,18-1-15,0 1 0,-18 0 16,18-1-16,-17 1 0,17 17 16,-18-35-16,18 35 0,0-17 0,0 0 15,0 17-15,0-17 16,0-1-16,0 1 0,0 17 15</inkml:trace>
  <inkml:trace contextRef="#ctx0" brushRef="#br0" timeOffset="60446.9">23636 10954 0,'0'17'0,"0"-34"0,18 34 0,-1-17 0,1 0 0,17 18 16,1-18-16,-19 0 0,18 18 16,1-18-1,-19 17-15</inkml:trace>
  <inkml:trace contextRef="#ctx0" brushRef="#br0" timeOffset="61265.14">23601 11183 0,'0'18'0,"0"-36"0,0 53 0,0-17 0,0 35 16,0 17-16,0 72 16,0-125-16,0 18 0,0-17 0,-18 70 0,1-35 0,17-18 15,-18 36-15,18-36 0,-18 36 0,18 17 16,-17-53-16,17 18 0,-18 35 0,18-17 15,0-36-15,0 18 0,0-18 0,0 1 16,0-1-16,-18 18 0,18-18 0,0 18 0,0-35 16,-17 35-16,17-36 0,-18 54 0,18-36 0,-18 36 15,1-54-15,17 54 0,-18-53 0,18 52 0,0-52 0,-17 52 16,17-52-16,-18 17 0,18-17 0,-18 17 16,18 0-16,0-17 0,0 0 0,0-1 0,-17 1 0,17 17 15,0 1-15,-18 16 16,0 1-16,18-35 0,0 35 0,0-35 0,0-1 15,0 1-15,-17 17 0,17-17 0,0-1 0,-18 36 16,18-17-16,0-1 16,0 0-16,-18-17 0,1 17 15,17-17-15,0-1 0,-18 1 16,18 0-16,0-1 0,0 1 16,0 0-16,0-1 15,-18 1-15,18-1 0,-17-17 16,17 18-16,0 0 0,0-1 0,0 1 15,0 0-15,-18-18 0,18 17 16,0 1 78,0 0-79,18-18 17,-18 17-32,17-17 15,1 0-15,17 0 16,-17 0-16,17 0 0,-17 0 0</inkml:trace>
  <inkml:trace contextRef="#ctx0" brushRef="#br0" timeOffset="62597.08">24783 11289 0,'17'0'15,"1"0"1,17 0-16,-17 18 0,-1-18 15,-17 17-15,18-17 0,0 0 0,-18 18 16,17-18-16,-17 17 0,18-17 0,0 0 0,-18 18 16,0 0-16,17-1 15,-17 19-15,0-19 16,0 1-16,0 0 0,0-1 0,0 1 0,0 17 16,0-17-16,0-1 0,0 1 0,0 35 15,0-18-15,0 18 0,0 18 16,0-18-16,0 17 0,0 1 15,0-1-15,-17-17 16,17-18-16,0 18 0,0-17 0,0 17 0,0-18 0,0 18 16,0-18-16,0 18 0,-18-18 0,18 18 15,0-35-15,0 35 0,0-18 0,-18 18 0,18-18 16,0 18-16,0-18 0,0 36 0,0-36 0,0 36 16,0-36-16,0 36 0,-17-36 0,17 18 0,-18-36 15,18 54-15,0-53 0,0 17 0,-18 0 0,18 0 0,0 1 0,0-1 16,0 0-16,0 1 0,0-1 0,0 18 15,0-18-15,0-17 0,0 17 0,0-17 16,0 35-16,-17-18 0,17 0 0,-18 36 16,18-54-16,0 19 0,-17-1 0,17 0 15,0 0-15,0 1 0,-18 17 16,0-18-16,1 18 16,17-18-16,0 0 0,-18 1 0,0 17 15,18-18-15,-17 0 0,17-17 0,-18 17 16,0-17-16,18 17 0,0-17 0,0-1 15,-17 1-15,-1-18 0,18 17 0,-17 1 0,17 0 16,0-1-16,-18-17 16,18 18-16,-18-18 15,1 0 1,-1 0-16,0 0 0,1 0 16,-1 0-16,0 0 0,-17 0 15,0 0-15,-18-18 0,18 1 16,17 17-16,0 0 15,1 0-15,-1 0 16,0-18-16,1 18 16,-1 0-16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264AA-669E-4804-A1D5-94FA36B6DCCD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C56F0-BEE5-4715-8E33-DABC78619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748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</a:t>
            </a:r>
            <a:r>
              <a:rPr lang="en-US" altLang="zh-CN" baseline="0" dirty="0"/>
              <a:t> section correspond to sec. 2.6 of the text book.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669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</a:t>
            </a:r>
            <a:r>
              <a:rPr lang="en-US" altLang="zh-CN" baseline="0" dirty="0"/>
              <a:t> section correspond to sec. 2.6 of the text book.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8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</a:t>
            </a:r>
            <a:r>
              <a:rPr lang="en-US" altLang="zh-CN" baseline="0" dirty="0"/>
              <a:t> section correspond to sec. 2.7 of the text book.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252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</a:t>
            </a:r>
            <a:r>
              <a:rPr lang="en-US" altLang="zh-CN" baseline="0" dirty="0"/>
              <a:t> section correspond to sec. 2.7 of the text book.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472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</a:t>
            </a:r>
            <a:r>
              <a:rPr lang="en-US" altLang="zh-CN" baseline="0" dirty="0"/>
              <a:t> section correspond to sec. 2.7 of the text book.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005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E31F-852E-4C21-A5BF-45A621D063B7}" type="datetime1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465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8B5D-A758-4441-AB52-89DDE7AF36E5}" type="datetime1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8318" y="6492875"/>
            <a:ext cx="775255" cy="365125"/>
          </a:xfrm>
        </p:spPr>
        <p:txBody>
          <a:bodyPr/>
          <a:lstStyle>
            <a:lvl1pPr algn="ctr">
              <a:defRPr/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1152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7614-659B-42BB-94D6-453193BCDAC9}" type="datetime1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2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A146-8CD6-4CAA-B3D3-2C21DC42388C}" type="datetime1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20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B5B9-9CF5-47F0-9553-3F68E4080617}" type="datetime1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259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754A2-9B8A-4D21-BA10-2D4311C5CCE9}" type="datetime1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5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1895-D564-41D2-A6FC-FB534A168770}" type="datetime1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0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337D-A0CC-4C7E-87C9-35D7F76F26E6}" type="datetime1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49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11D75-C662-4506-9923-F360C490CD83}" type="datetime1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82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D6D4-6C22-42E4-BD00-B5AB433AEB75}" type="datetime1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77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94D1-277E-4F0D-A9D3-6C723ED9405F}" type="datetime1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9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121" y="95705"/>
            <a:ext cx="7886700" cy="532945"/>
          </a:xfrm>
          <a:prstGeom prst="rect">
            <a:avLst/>
          </a:prstGeom>
          <a:noFill/>
        </p:spPr>
        <p:txBody>
          <a:bodyPr/>
          <a:lstStyle/>
          <a:p>
            <a:pPr marL="0" lv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1683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204977B-C4EC-482F-96C1-0349DC329330}" type="datetime1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8186286" y="144689"/>
            <a:ext cx="6543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SZU</a:t>
            </a:r>
          </a:p>
        </p:txBody>
      </p:sp>
    </p:spTree>
    <p:extLst>
      <p:ext uri="{BB962C8B-B14F-4D97-AF65-F5344CB8AC3E}">
        <p14:creationId xmlns:p14="http://schemas.microsoft.com/office/powerpoint/2010/main" val="233328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3200" b="1" kern="1200" cap="none" spc="0" dirty="0">
          <a:ln w="0"/>
          <a:solidFill>
            <a:schemeClr val="bg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Clr>
          <a:srgbClr val="94003F"/>
        </a:buClr>
        <a:buSzPct val="70000"/>
        <a:buFont typeface="Wingdings" panose="05000000000000000000" pitchFamily="2" charset="2"/>
        <a:buChar char="u"/>
        <a:defRPr sz="2800" b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04b" panose="00000400000000000000" pitchFamily="2" charset="0"/>
        <a:buChar char="-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2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31.emf"/><Relationship Id="rId4" Type="http://schemas.openxmlformats.org/officeDocument/2006/relationships/image" Target="../media/image30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13" Type="http://schemas.openxmlformats.org/officeDocument/2006/relationships/image" Target="../media/image49.png"/><Relationship Id="rId3" Type="http://schemas.openxmlformats.org/officeDocument/2006/relationships/image" Target="../media/image42.emf"/><Relationship Id="rId7" Type="http://schemas.openxmlformats.org/officeDocument/2006/relationships/image" Target="../media/image46.emf"/><Relationship Id="rId12" Type="http://schemas.openxmlformats.org/officeDocument/2006/relationships/image" Target="../media/image48.png"/><Relationship Id="rId2" Type="http://schemas.openxmlformats.org/officeDocument/2006/relationships/image" Target="../media/image41.emf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emf"/><Relationship Id="rId11" Type="http://schemas.openxmlformats.org/officeDocument/2006/relationships/image" Target="../media/image43.png"/><Relationship Id="rId5" Type="http://schemas.openxmlformats.org/officeDocument/2006/relationships/image" Target="../media/image44.emf"/><Relationship Id="rId15" Type="http://schemas.openxmlformats.org/officeDocument/2006/relationships/image" Target="../media/image490.png"/><Relationship Id="rId10" Type="http://schemas.openxmlformats.org/officeDocument/2006/relationships/image" Target="../media/image42.png"/><Relationship Id="rId4" Type="http://schemas.openxmlformats.org/officeDocument/2006/relationships/image" Target="../media/image43.emf"/><Relationship Id="rId14" Type="http://schemas.openxmlformats.org/officeDocument/2006/relationships/image" Target="../media/image47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emf"/><Relationship Id="rId5" Type="http://schemas.openxmlformats.org/officeDocument/2006/relationships/image" Target="../media/image54.emf"/><Relationship Id="rId4" Type="http://schemas.openxmlformats.org/officeDocument/2006/relationships/image" Target="../media/image53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7" Type="http://schemas.openxmlformats.org/officeDocument/2006/relationships/image" Target="../media/image66.png"/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0.png"/><Relationship Id="rId3" Type="http://schemas.openxmlformats.org/officeDocument/2006/relationships/image" Target="../media/image620.png"/><Relationship Id="rId7" Type="http://schemas.openxmlformats.org/officeDocument/2006/relationships/image" Target="../media/image36.emf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emf"/><Relationship Id="rId11" Type="http://schemas.openxmlformats.org/officeDocument/2006/relationships/image" Target="../media/image67.png"/><Relationship Id="rId5" Type="http://schemas.openxmlformats.org/officeDocument/2006/relationships/image" Target="../media/image70.emf"/><Relationship Id="rId10" Type="http://schemas.openxmlformats.org/officeDocument/2006/relationships/image" Target="../media/image660.png"/><Relationship Id="rId4" Type="http://schemas.openxmlformats.org/officeDocument/2006/relationships/image" Target="../media/image69.emf"/><Relationship Id="rId9" Type="http://schemas.openxmlformats.org/officeDocument/2006/relationships/image" Target="../media/image65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0.png"/><Relationship Id="rId13" Type="http://schemas.openxmlformats.org/officeDocument/2006/relationships/image" Target="../media/image71.wmf"/><Relationship Id="rId3" Type="http://schemas.openxmlformats.org/officeDocument/2006/relationships/image" Target="../media/image620.png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6.emf"/><Relationship Id="rId11" Type="http://schemas.openxmlformats.org/officeDocument/2006/relationships/image" Target="../media/image67.png"/><Relationship Id="rId5" Type="http://schemas.openxmlformats.org/officeDocument/2006/relationships/image" Target="../media/image31.emf"/><Relationship Id="rId15" Type="http://schemas.openxmlformats.org/officeDocument/2006/relationships/image" Target="../media/image72.wmf"/><Relationship Id="rId10" Type="http://schemas.openxmlformats.org/officeDocument/2006/relationships/image" Target="../media/image660.png"/><Relationship Id="rId4" Type="http://schemas.openxmlformats.org/officeDocument/2006/relationships/image" Target="../media/image69.emf"/><Relationship Id="rId9" Type="http://schemas.openxmlformats.org/officeDocument/2006/relationships/image" Target="../media/image650.png"/><Relationship Id="rId14" Type="http://schemas.openxmlformats.org/officeDocument/2006/relationships/oleObject" Target="../embeddings/oleObject2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94003F"/>
                </a:solidFill>
              </a:rPr>
              <a:t>第四章 观察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4725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平面几何投影的分类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21" y="1347144"/>
            <a:ext cx="8693251" cy="480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776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1"/>
          <p:cNvGrpSpPr>
            <a:grpSpLocks/>
          </p:cNvGrpSpPr>
          <p:nvPr/>
        </p:nvGrpSpPr>
        <p:grpSpPr bwMode="auto">
          <a:xfrm>
            <a:off x="1158803" y="1279986"/>
            <a:ext cx="7429500" cy="4354513"/>
            <a:chOff x="446" y="1230"/>
            <a:chExt cx="4680" cy="2743"/>
          </a:xfrm>
        </p:grpSpPr>
        <p:pic>
          <p:nvPicPr>
            <p:cNvPr id="10" name="Picture 4" descr="an05f0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5" y="1230"/>
              <a:ext cx="3726" cy="26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3080" y="3022"/>
              <a:ext cx="1388" cy="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1pPr>
              <a:lvl2pPr marL="742950" indent="-28575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2pPr>
              <a:lvl3pPr marL="11430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3pPr>
              <a:lvl4pPr marL="16002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4pPr>
              <a:lvl5pPr marL="20574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Arial" charset="0"/>
                  <a:ea typeface="楷体_GB2312" charset="0"/>
                </a:rPr>
                <a:t>投影平面</a:t>
              </a: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1568" y="1781"/>
              <a:ext cx="931" cy="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1pPr>
              <a:lvl2pPr marL="742950" indent="-28575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2pPr>
              <a:lvl3pPr marL="11430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3pPr>
              <a:lvl4pPr marL="16002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4pPr>
              <a:lvl5pPr marL="20574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Arial" charset="0"/>
                  <a:ea typeface="楷体_GB2312" charset="0"/>
                </a:rPr>
                <a:t>投影线</a:t>
              </a: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4195" y="1344"/>
              <a:ext cx="931" cy="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1pPr>
              <a:lvl2pPr marL="742950" indent="-28575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2pPr>
              <a:lvl3pPr marL="11430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3pPr>
              <a:lvl4pPr marL="16002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4pPr>
              <a:lvl5pPr marL="20574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Arial" charset="0"/>
                  <a:ea typeface="楷体_GB2312" charset="0"/>
                </a:rPr>
                <a:t>对象</a:t>
              </a:r>
            </a:p>
          </p:txBody>
        </p: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446" y="3685"/>
              <a:ext cx="953" cy="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1pPr>
              <a:lvl2pPr marL="742950" indent="-28575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2pPr>
              <a:lvl3pPr marL="11430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3pPr>
              <a:lvl4pPr marL="16002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4pPr>
              <a:lvl5pPr marL="20574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Arial" charset="0"/>
                  <a:ea typeface="楷体_GB2312" charset="0"/>
                </a:rPr>
                <a:t>投影中心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透视投影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73" y="1253763"/>
            <a:ext cx="2876295" cy="30448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467" y="3046141"/>
            <a:ext cx="1557000" cy="34467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6627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340" y="1273126"/>
            <a:ext cx="6532368" cy="4361373"/>
          </a:xfrm>
          <a:prstGeom prst="rect">
            <a:avLst/>
          </a:prstGeom>
        </p:spPr>
      </p:pic>
      <p:grpSp>
        <p:nvGrpSpPr>
          <p:cNvPr id="9" name="Group 11"/>
          <p:cNvGrpSpPr>
            <a:grpSpLocks/>
          </p:cNvGrpSpPr>
          <p:nvPr/>
        </p:nvGrpSpPr>
        <p:grpSpPr bwMode="auto">
          <a:xfrm>
            <a:off x="1158803" y="1573673"/>
            <a:ext cx="7593013" cy="3603625"/>
            <a:chOff x="446" y="1415"/>
            <a:chExt cx="4783" cy="2270"/>
          </a:xfrm>
        </p:grpSpPr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3175" y="3397"/>
              <a:ext cx="1523" cy="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1pPr>
              <a:lvl2pPr marL="742950" indent="-28575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2pPr>
              <a:lvl3pPr marL="11430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3pPr>
              <a:lvl4pPr marL="16002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4pPr>
              <a:lvl5pPr marL="20574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Arial" charset="0"/>
                  <a:ea typeface="楷体_GB2312" charset="0"/>
                </a:rPr>
                <a:t>投影平面</a:t>
              </a: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3628" y="2762"/>
              <a:ext cx="956" cy="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1pPr>
              <a:lvl2pPr marL="742950" indent="-28575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2pPr>
              <a:lvl3pPr marL="11430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3pPr>
              <a:lvl4pPr marL="16002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4pPr>
              <a:lvl5pPr marL="20574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Arial" charset="0"/>
                  <a:ea typeface="楷体_GB2312" charset="0"/>
                </a:rPr>
                <a:t>投影线</a:t>
              </a: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4298" y="1415"/>
              <a:ext cx="931" cy="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1pPr>
              <a:lvl2pPr marL="742950" indent="-28575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2pPr>
              <a:lvl3pPr marL="11430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3pPr>
              <a:lvl4pPr marL="16002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4pPr>
              <a:lvl5pPr marL="20574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Arial" charset="0"/>
                  <a:ea typeface="楷体_GB2312" charset="0"/>
                </a:rPr>
                <a:t>对象</a:t>
              </a:r>
            </a:p>
          </p:txBody>
        </p: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446" y="3271"/>
              <a:ext cx="953" cy="2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1pPr>
              <a:lvl2pPr marL="742950" indent="-28575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2pPr>
              <a:lvl3pPr marL="11430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3pPr>
              <a:lvl4pPr marL="16002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4pPr>
              <a:lvl5pPr marL="2057400" indent="-228600" eaLnBrk="0" hangingPunct="0"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Arial" charset="0"/>
                  <a:ea typeface="楷体_GB2312" charset="0"/>
                </a:rPr>
                <a:t>投影方向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平行投影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投影中心在无穷远处</a:t>
            </a:r>
            <a:endParaRPr lang="en-US" altLang="zh-CN" dirty="0"/>
          </a:p>
          <a:p>
            <a:r>
              <a:rPr lang="zh-CN" altLang="en-US" dirty="0"/>
              <a:t>投影方向平行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367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 err="1"/>
              <a:t>LookAt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err="1"/>
              <a:t>LookAt</a:t>
            </a:r>
            <a:r>
              <a:rPr lang="zh-CN" altLang="en-US" sz="2400" dirty="0"/>
              <a:t>函数：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函数解读：</a:t>
            </a:r>
            <a:endParaRPr lang="zh-CN" altLang="en-US" sz="1800" dirty="0"/>
          </a:p>
          <a:p>
            <a:pPr lvl="1">
              <a:buClr>
                <a:schemeClr val="tx1"/>
              </a:buClr>
            </a:pPr>
            <a:r>
              <a:rPr lang="en-US" altLang="zh-CN" sz="1800" b="1" dirty="0"/>
              <a:t>eye</a:t>
            </a:r>
            <a:r>
              <a:rPr lang="en-US" altLang="zh-CN" sz="1800" dirty="0"/>
              <a:t> point</a:t>
            </a:r>
            <a:r>
              <a:rPr lang="zh-CN" altLang="en-US" sz="1800" dirty="0"/>
              <a:t>：视点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en-US" altLang="zh-CN" sz="1800" b="1" dirty="0"/>
              <a:t>at</a:t>
            </a:r>
            <a:r>
              <a:rPr lang="en-US" altLang="zh-CN" sz="1800" dirty="0"/>
              <a:t> point</a:t>
            </a:r>
            <a:r>
              <a:rPr lang="zh-CN" altLang="en-US" sz="1800" dirty="0"/>
              <a:t>：参考点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en-US" altLang="zh-CN" sz="1800" b="1" dirty="0" err="1"/>
              <a:t>vpn</a:t>
            </a:r>
            <a:r>
              <a:rPr lang="en-US" altLang="zh-CN" sz="1800" dirty="0"/>
              <a:t> = </a:t>
            </a:r>
            <a:r>
              <a:rPr lang="en-US" altLang="zh-CN" sz="1800" b="1" dirty="0">
                <a:solidFill>
                  <a:srgbClr val="FF0000"/>
                </a:solidFill>
              </a:rPr>
              <a:t>eye</a:t>
            </a:r>
            <a:r>
              <a:rPr lang="zh-CN" altLang="en-US" sz="1800" b="1" dirty="0">
                <a:solidFill>
                  <a:srgbClr val="FF0000"/>
                </a:solidFill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</a:rPr>
              <a:t>–</a:t>
            </a:r>
            <a:r>
              <a:rPr lang="zh-CN" altLang="en-US" sz="1800" b="1" dirty="0">
                <a:solidFill>
                  <a:srgbClr val="FF0000"/>
                </a:solidFill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</a:rPr>
              <a:t>at</a:t>
            </a:r>
            <a:r>
              <a:rPr lang="zh-CN" altLang="en-US" sz="1800" b="1" dirty="0">
                <a:solidFill>
                  <a:srgbClr val="FF0000"/>
                </a:solidFill>
              </a:rPr>
              <a:t>（指向相机）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792" y="3492500"/>
            <a:ext cx="4928254" cy="3286538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076756" y="1849788"/>
            <a:ext cx="6344879" cy="1477328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mat4 </a:t>
            </a:r>
            <a:r>
              <a:rPr lang="en-US" altLang="zh-CN" b="1" dirty="0" err="1">
                <a:latin typeface="ZztexMono-Regular"/>
              </a:rPr>
              <a:t>LookAt</a:t>
            </a:r>
            <a:r>
              <a:rPr lang="en-US" altLang="zh-CN" b="1" dirty="0">
                <a:latin typeface="ZztexMono-Regular"/>
              </a:rPr>
              <a:t>(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point4 </a:t>
            </a:r>
            <a:r>
              <a:rPr lang="en-US" altLang="zh-CN" b="1" dirty="0">
                <a:latin typeface="ZztexMono-Regular"/>
              </a:rPr>
              <a:t>eye,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point4 </a:t>
            </a:r>
            <a:r>
              <a:rPr lang="en-US" altLang="zh-CN" b="1" dirty="0">
                <a:latin typeface="ZztexMono-Regular"/>
              </a:rPr>
              <a:t>at,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vec4 </a:t>
            </a:r>
            <a:r>
              <a:rPr lang="en-US" altLang="zh-CN" b="1" dirty="0" err="1">
                <a:latin typeface="ZztexMono-Regular"/>
              </a:rPr>
              <a:t>v</a:t>
            </a:r>
            <a:r>
              <a:rPr lang="en-US" altLang="zh-CN" b="1" baseline="-25000" dirty="0" err="1">
                <a:latin typeface="ZztexMono-Regular"/>
              </a:rPr>
              <a:t>up</a:t>
            </a:r>
            <a:r>
              <a:rPr lang="en-US" altLang="zh-CN" b="1" dirty="0">
                <a:latin typeface="ZztexMono-Regular"/>
              </a:rPr>
              <a:t>)</a:t>
            </a:r>
          </a:p>
          <a:p>
            <a:endParaRPr lang="en-US" altLang="zh-CN" b="1" dirty="0">
              <a:latin typeface="ZztexMono-Regular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mat4</a:t>
            </a:r>
            <a:r>
              <a:rPr lang="en-US" altLang="zh-CN" b="1" dirty="0">
                <a:latin typeface="ZztexMono-Regular"/>
              </a:rPr>
              <a:t> </a:t>
            </a:r>
            <a:r>
              <a:rPr lang="en-US" altLang="zh-CN" b="1" dirty="0" err="1">
                <a:latin typeface="ZztexMono-Regular"/>
              </a:rPr>
              <a:t>LookAt</a:t>
            </a:r>
            <a:r>
              <a:rPr lang="en-US" altLang="zh-CN" b="1" dirty="0">
                <a:latin typeface="ZztexMono-Regular"/>
              </a:rPr>
              <a:t>(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latin typeface="ZztexMono-Regular"/>
              </a:rPr>
              <a:t> </a:t>
            </a:r>
            <a:r>
              <a:rPr lang="en-US" altLang="zh-CN" b="1" dirty="0" err="1">
                <a:latin typeface="ZztexMono-Regular"/>
              </a:rPr>
              <a:t>eyex</a:t>
            </a:r>
            <a:r>
              <a:rPr lang="en-US" altLang="zh-CN" b="1" dirty="0">
                <a:latin typeface="ZztexMono-Regular"/>
              </a:rPr>
              <a:t>,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 err="1">
                <a:latin typeface="ZztexMono-Regular"/>
              </a:rPr>
              <a:t>eyey</a:t>
            </a:r>
            <a:r>
              <a:rPr lang="en-US" altLang="zh-CN" b="1" dirty="0">
                <a:latin typeface="ZztexMono-Regular"/>
              </a:rPr>
              <a:t>,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latin typeface="ZztexMono-Regular"/>
              </a:rPr>
              <a:t> </a:t>
            </a:r>
            <a:r>
              <a:rPr lang="en-US" altLang="zh-CN" b="1" dirty="0" err="1">
                <a:latin typeface="ZztexMono-Regular"/>
              </a:rPr>
              <a:t>eyez</a:t>
            </a:r>
            <a:r>
              <a:rPr lang="en-US" altLang="zh-CN" b="1" dirty="0">
                <a:latin typeface="ZztexMono-Regular"/>
              </a:rPr>
              <a:t>,</a:t>
            </a:r>
          </a:p>
          <a:p>
            <a:pPr lvl="3"/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latin typeface="ZztexMono-Regular"/>
              </a:rPr>
              <a:t> </a:t>
            </a:r>
            <a:r>
              <a:rPr lang="en-US" altLang="zh-CN" b="1" dirty="0" err="1">
                <a:latin typeface="ZztexMono-Regular"/>
              </a:rPr>
              <a:t>atx</a:t>
            </a:r>
            <a:r>
              <a:rPr lang="en-US" altLang="zh-CN" b="1" dirty="0">
                <a:latin typeface="ZztexMono-Regular"/>
              </a:rPr>
              <a:t>,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latin typeface="ZztexMono-Regular"/>
              </a:rPr>
              <a:t> </a:t>
            </a:r>
            <a:r>
              <a:rPr lang="en-US" altLang="zh-CN" b="1" dirty="0" err="1">
                <a:latin typeface="ZztexMono-Regular"/>
              </a:rPr>
              <a:t>aty</a:t>
            </a:r>
            <a:r>
              <a:rPr lang="en-US" altLang="zh-CN" b="1" dirty="0">
                <a:latin typeface="ZztexMono-Regular"/>
              </a:rPr>
              <a:t>,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 err="1">
                <a:latin typeface="ZztexMono-Regular"/>
              </a:rPr>
              <a:t>atz</a:t>
            </a:r>
            <a:r>
              <a:rPr lang="en-US" altLang="zh-CN" b="1" dirty="0">
                <a:latin typeface="ZztexMono-Regular"/>
              </a:rPr>
              <a:t>,</a:t>
            </a:r>
          </a:p>
          <a:p>
            <a:pPr lvl="3"/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latin typeface="ZztexMono-Regular"/>
              </a:rPr>
              <a:t> </a:t>
            </a:r>
            <a:r>
              <a:rPr lang="en-US" altLang="zh-CN" b="1" dirty="0" err="1">
                <a:latin typeface="ZztexMono-Regular"/>
              </a:rPr>
              <a:t>upx</a:t>
            </a:r>
            <a:r>
              <a:rPr lang="en-US" altLang="zh-CN" b="1" dirty="0">
                <a:latin typeface="ZztexMono-Regular"/>
              </a:rPr>
              <a:t>,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 err="1">
                <a:latin typeface="ZztexMono-Regular"/>
              </a:rPr>
              <a:t>upy</a:t>
            </a:r>
            <a:r>
              <a:rPr lang="en-US" altLang="zh-CN" b="1" dirty="0">
                <a:latin typeface="ZztexMono-Regular"/>
              </a:rPr>
              <a:t>,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latin typeface="ZztexMono-Regular"/>
              </a:rPr>
              <a:t> </a:t>
            </a:r>
            <a:r>
              <a:rPr lang="en-US" altLang="zh-CN" b="1" dirty="0" err="1">
                <a:latin typeface="ZztexMono-Regular"/>
              </a:rPr>
              <a:t>upz</a:t>
            </a:r>
            <a:r>
              <a:rPr lang="en-US" altLang="zh-CN" b="1" dirty="0">
                <a:latin typeface="ZztexMono-Regular"/>
              </a:rPr>
              <a:t>)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324" y="5135769"/>
            <a:ext cx="1109759" cy="55592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6390" y="5083633"/>
            <a:ext cx="1272542" cy="6053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146018" y="5924462"/>
                <a:ext cx="1360372" cy="6219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dirty="0" smtClean="0">
                          <a:latin typeface="Cambria Math" charset="0"/>
                        </a:rPr>
                        <m:t>𝐯</m:t>
                      </m:r>
                      <m:r>
                        <a:rPr lang="zh-CN" altLang="en-US" b="1" i="0" dirty="0" smtClean="0">
                          <a:latin typeface="Cambria Math" charset="0"/>
                        </a:rPr>
                        <m:t> </m:t>
                      </m:r>
                      <m:r>
                        <a:rPr lang="en-US" altLang="zh-CN" b="1" i="0" dirty="0" smtClean="0">
                          <a:latin typeface="Cambria Math" charset="0"/>
                        </a:rPr>
                        <m:t>=</m:t>
                      </m:r>
                      <m:r>
                        <a:rPr lang="zh-CN" altLang="en-US" b="1" i="0" dirty="0" smtClean="0">
                          <a:latin typeface="Cambria Math" charset="0"/>
                        </a:rPr>
                        <m:t> </m:t>
                      </m:r>
                      <m:f>
                        <m:fPr>
                          <m:ctrlPr>
                            <a:rPr lang="mr-IN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0" dirty="0" smtClean="0">
                              <a:latin typeface="Cambria Math" charset="0"/>
                            </a:rPr>
                            <m:t>𝐧</m:t>
                          </m:r>
                          <m:r>
                            <a:rPr lang="en-US" altLang="zh-CN" b="1" i="0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</m:t>
                          </m:r>
                          <m:r>
                            <a:rPr lang="en-US" altLang="zh-CN" b="1" i="0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𝐮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hr-HR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0" dirty="0">
                                  <a:latin typeface="Cambria Math" charset="0"/>
                                </a:rPr>
                                <m:t>𝐧</m:t>
                              </m:r>
                              <m:r>
                                <a:rPr lang="en-US" altLang="zh-CN" b="1" i="0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US" altLang="zh-CN" b="1" i="0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𝐮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018" y="5924462"/>
                <a:ext cx="1360372" cy="6219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79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标架的变换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把基的改变方法推广可有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>
              <a:buNone/>
            </a:pP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>
              <a:buNone/>
            </a:pP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>
              <a:buNone/>
            </a:pP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由此定义了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4×4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阶矩阵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1029"/>
              <p:cNvSpPr txBox="1">
                <a:spLocks noChangeArrowheads="1"/>
              </p:cNvSpPr>
              <p:nvPr/>
            </p:nvSpPr>
            <p:spPr>
              <a:xfrm>
                <a:off x="2017073" y="1954510"/>
                <a:ext cx="4728487" cy="1676400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𝑢</m:t>
                      </m:r>
                      <m:r>
                        <a:rPr lang="en-US" altLang="zh-CN" sz="2400" i="1" baseline="-25000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1 </m:t>
                      </m:r>
                      <m:r>
                        <a:rPr lang="en-US" altLang="zh-CN" sz="2400" i="1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=</m:t>
                      </m:r>
                      <m:r>
                        <a:rPr lang="en-US" altLang="zh-CN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𝛾</m:t>
                      </m:r>
                      <m:r>
                        <a:rPr lang="en-US" altLang="zh-CN" sz="2400" i="1" baseline="-25000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11</m:t>
                      </m:r>
                      <m:r>
                        <a:rPr lang="en-US" altLang="zh-CN" sz="2400" i="1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𝑣</m:t>
                      </m:r>
                      <m:r>
                        <a:rPr lang="en-US" altLang="zh-CN" sz="2400" i="1" baseline="-25000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1</m:t>
                      </m:r>
                      <m:r>
                        <a:rPr lang="en-US" altLang="zh-CN" sz="2400" i="1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+</m:t>
                      </m:r>
                      <m:r>
                        <a:rPr lang="en-US" altLang="zh-CN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𝛾</m:t>
                      </m:r>
                      <m:r>
                        <a:rPr lang="en-US" altLang="zh-CN" sz="2400" i="1" baseline="-25000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12</m:t>
                      </m:r>
                      <m:r>
                        <a:rPr lang="en-US" altLang="zh-CN" sz="2400" i="1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𝑣</m:t>
                      </m:r>
                      <m:r>
                        <a:rPr lang="en-US" altLang="zh-CN" sz="2400" i="1" baseline="-25000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2</m:t>
                      </m:r>
                      <m:r>
                        <a:rPr lang="en-US" altLang="zh-CN" sz="2400" i="1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+</m:t>
                      </m:r>
                      <m:r>
                        <a:rPr lang="en-US" altLang="zh-CN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𝛾</m:t>
                      </m:r>
                      <m:r>
                        <a:rPr lang="en-US" altLang="zh-CN" sz="2400" i="1" baseline="-25000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13</m:t>
                      </m:r>
                      <m:r>
                        <a:rPr lang="en-US" altLang="zh-CN" sz="2400" i="1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𝑣</m:t>
                      </m:r>
                      <m:r>
                        <a:rPr lang="en-US" altLang="zh-CN" sz="2400" i="1" baseline="-25000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3</m:t>
                      </m:r>
                    </m:oMath>
                  </m:oMathPara>
                </a14:m>
                <a:endParaRPr lang="en-US" altLang="zh-CN" sz="2400" baseline="-250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𝑢</m:t>
                      </m:r>
                      <m:r>
                        <a:rPr lang="en-US" altLang="zh-CN" sz="2400" i="1" baseline="-25000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2 </m:t>
                      </m:r>
                      <m:r>
                        <a:rPr lang="en-US" altLang="zh-CN" sz="2400" i="1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=</m:t>
                      </m:r>
                      <m:r>
                        <a:rPr lang="en-US" altLang="zh-CN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𝛾</m:t>
                      </m:r>
                      <m:r>
                        <a:rPr lang="en-US" altLang="zh-CN" sz="2400" i="1" baseline="-25000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21</m:t>
                      </m:r>
                      <m:r>
                        <a:rPr lang="en-US" altLang="zh-CN" sz="2400" i="1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𝑣</m:t>
                      </m:r>
                      <m:r>
                        <a:rPr lang="en-US" altLang="zh-CN" sz="2400" i="1" baseline="-25000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1</m:t>
                      </m:r>
                      <m:r>
                        <a:rPr lang="en-US" altLang="zh-CN" sz="2400" i="1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+</m:t>
                      </m:r>
                      <m:r>
                        <a:rPr lang="en-US" altLang="zh-CN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𝛾</m:t>
                      </m:r>
                      <m:r>
                        <a:rPr lang="en-US" altLang="zh-CN" sz="2400" i="1" baseline="-25000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22</m:t>
                      </m:r>
                      <m:r>
                        <a:rPr lang="en-US" altLang="zh-CN" sz="2400" i="1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𝑣</m:t>
                      </m:r>
                      <m:r>
                        <a:rPr lang="en-US" altLang="zh-CN" sz="2400" i="1" baseline="-25000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2</m:t>
                      </m:r>
                      <m:r>
                        <a:rPr lang="en-US" altLang="zh-CN" sz="2400" i="1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+</m:t>
                      </m:r>
                      <m:r>
                        <a:rPr lang="en-US" altLang="zh-CN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𝛾</m:t>
                      </m:r>
                      <m:r>
                        <a:rPr lang="en-US" altLang="zh-CN" sz="2400" i="1" baseline="-25000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23</m:t>
                      </m:r>
                      <m:r>
                        <a:rPr lang="en-US" altLang="zh-CN" sz="2400" i="1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𝑣</m:t>
                      </m:r>
                      <m:r>
                        <a:rPr lang="en-US" altLang="zh-CN" sz="2400" i="1" baseline="-25000" dirty="0" smtClean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3</m:t>
                      </m:r>
                    </m:oMath>
                  </m:oMathPara>
                </a14:m>
                <a:endParaRPr lang="en-US" altLang="zh-CN" sz="24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𝑢</m:t>
                      </m:r>
                      <m:r>
                        <a:rPr lang="en-US" altLang="zh-CN" sz="2400" i="1" baseline="-25000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3 </m:t>
                      </m:r>
                      <m:r>
                        <a:rPr lang="en-US" altLang="zh-CN" sz="2400" i="1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=</m:t>
                      </m:r>
                      <m:r>
                        <a:rPr lang="en-US" altLang="zh-CN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𝛾</m:t>
                      </m:r>
                      <m:r>
                        <a:rPr lang="en-US" altLang="zh-CN" sz="2400" i="1" baseline="-25000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31</m:t>
                      </m:r>
                      <m:r>
                        <a:rPr lang="en-US" altLang="zh-CN" sz="2400" i="1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𝑣</m:t>
                      </m:r>
                      <m:r>
                        <a:rPr lang="en-US" altLang="zh-CN" sz="2400" i="1" baseline="-25000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1</m:t>
                      </m:r>
                      <m:r>
                        <a:rPr lang="en-US" altLang="zh-CN" sz="2400" i="1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+</m:t>
                      </m:r>
                      <m:r>
                        <a:rPr lang="en-US" altLang="zh-CN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𝛾</m:t>
                      </m:r>
                      <m:r>
                        <a:rPr lang="en-US" altLang="zh-CN" sz="2400" i="1" baseline="-25000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32</m:t>
                      </m:r>
                      <m:r>
                        <a:rPr lang="en-US" altLang="zh-CN" sz="2400" i="1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𝑣</m:t>
                      </m:r>
                      <m:r>
                        <a:rPr lang="en-US" altLang="zh-CN" sz="2400" i="1" baseline="-25000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2</m:t>
                      </m:r>
                      <m:r>
                        <a:rPr lang="en-US" altLang="zh-CN" sz="2400" i="1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+</m:t>
                      </m:r>
                      <m:r>
                        <a:rPr lang="en-US" altLang="zh-CN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𝛾</m:t>
                      </m:r>
                      <m:r>
                        <a:rPr lang="en-US" altLang="zh-CN" sz="2400" i="1" baseline="-25000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33</m:t>
                      </m:r>
                      <m:r>
                        <a:rPr lang="en-US" altLang="zh-CN" sz="2400" i="1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𝑣</m:t>
                      </m:r>
                      <m:r>
                        <a:rPr lang="en-US" altLang="zh-CN" sz="2400" i="1" baseline="-25000" dirty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3</m:t>
                      </m:r>
                    </m:oMath>
                  </m:oMathPara>
                </a14:m>
                <a:endParaRPr lang="en-US" altLang="zh-CN" sz="2400" i="1" baseline="-25000" dirty="0">
                  <a:latin typeface="Cambria Math" charset="0"/>
                  <a:ea typeface="Microsoft YaHei" charset="-122"/>
                  <a:cs typeface="Microsoft YaHei" charset="-122"/>
                </a:endParaRP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𝑄</m:t>
                      </m:r>
                      <m:r>
                        <a:rPr kumimoji="0" lang="en-US" altLang="zh-CN" sz="2400" b="0" i="1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0 </m:t>
                      </m:r>
                      <m:r>
                        <a:rPr kumimoji="0" lang="en-US" altLang="zh-CN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=</m:t>
                      </m:r>
                      <m:r>
                        <a:rPr lang="en-US" altLang="zh-CN" sz="2400" i="1" dirty="0">
                          <a:solidFill>
                            <a:srgbClr val="0000FF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𝛾</m:t>
                      </m:r>
                      <m:r>
                        <a:rPr kumimoji="0" lang="en-US" altLang="zh-CN" sz="2400" b="0" i="1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41</m:t>
                      </m:r>
                      <m:r>
                        <a:rPr kumimoji="0" lang="en-US" altLang="zh-CN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𝑣</m:t>
                      </m:r>
                      <m:r>
                        <a:rPr kumimoji="0" lang="en-US" altLang="zh-CN" sz="2400" b="0" i="1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1</m:t>
                      </m:r>
                      <m:r>
                        <a:rPr kumimoji="0" lang="en-US" altLang="zh-CN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+</m:t>
                      </m:r>
                      <m:r>
                        <a:rPr lang="en-US" altLang="zh-CN" sz="2400" i="1" dirty="0">
                          <a:solidFill>
                            <a:srgbClr val="0000FF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𝛾</m:t>
                      </m:r>
                      <m:r>
                        <a:rPr kumimoji="0" lang="en-US" altLang="zh-CN" sz="2400" b="0" i="1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42</m:t>
                      </m:r>
                      <m:r>
                        <a:rPr kumimoji="0" lang="en-US" altLang="zh-CN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𝑣</m:t>
                      </m:r>
                      <m:r>
                        <a:rPr kumimoji="0" lang="en-US" altLang="zh-CN" sz="2400" b="0" i="1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2</m:t>
                      </m:r>
                      <m:r>
                        <a:rPr kumimoji="0" lang="en-US" altLang="zh-CN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+</m:t>
                      </m:r>
                      <m:r>
                        <a:rPr lang="en-US" altLang="zh-CN" sz="2400" i="1" dirty="0">
                          <a:solidFill>
                            <a:srgbClr val="0000FF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𝛾</m:t>
                      </m:r>
                      <m:r>
                        <a:rPr kumimoji="0" lang="en-US" altLang="zh-CN" sz="2400" b="0" i="1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43</m:t>
                      </m:r>
                      <m:r>
                        <a:rPr kumimoji="0" lang="en-US" altLang="zh-CN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𝑣</m:t>
                      </m:r>
                      <m:r>
                        <a:rPr kumimoji="0" lang="en-US" altLang="zh-CN" sz="2400" b="0" i="1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3 </m:t>
                      </m:r>
                      <m:r>
                        <a:rPr kumimoji="0" lang="en-US" altLang="zh-CN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+</m:t>
                      </m:r>
                      <m:r>
                        <a:rPr kumimoji="0" lang="en-US" altLang="zh-CN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𝑃</m:t>
                      </m:r>
                      <m:r>
                        <a:rPr kumimoji="0" lang="en-US" altLang="zh-CN" sz="2400" b="0" i="1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0</m:t>
                      </m:r>
                    </m:oMath>
                  </m:oMathPara>
                </a14:m>
                <a:endPara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marL="228600" marR="0" lvl="0" indent="-360000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94003F"/>
                  </a:buClr>
                  <a:buSzPct val="70000"/>
                  <a:buFontTx/>
                  <a:buNone/>
                  <a:tabLst/>
                  <a:defRPr/>
                </a:pPr>
                <a:endPara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5" name="Text Box 10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073" y="1954510"/>
                <a:ext cx="4728487" cy="1676400"/>
              </a:xfrm>
              <a:prstGeom prst="rect">
                <a:avLst/>
              </a:prstGeom>
              <a:blipFill rotWithShape="0">
                <a:blip r:embed="rId2"/>
                <a:stretch>
                  <a:fillRect l="-902" t="-3273" b="-22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4"/>
              <p:cNvSpPr txBox="1">
                <a:spLocks noChangeArrowheads="1"/>
              </p:cNvSpPr>
              <p:nvPr/>
            </p:nvSpPr>
            <p:spPr bwMode="auto">
              <a:xfrm>
                <a:off x="555418" y="4609292"/>
                <a:ext cx="4655890" cy="160608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 anchorCtr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𝑀</m:t>
                      </m:r>
                      <m:r>
                        <a:rPr lang="en-US" altLang="zh-CN" sz="2800" b="0" i="1" dirty="0" smtClean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altLang="zh-CN" sz="2800" b="0" i="1" dirty="0" smtClean="0">
                              <a:latin typeface="Cambria Math" panose="02040503050406030204" pitchFamily="18" charset="0"/>
                              <a:ea typeface="Microsoft YaHei" charset="-122"/>
                              <a:cs typeface="Microsoft YaHei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altLang="zh-CN" sz="2800" b="0" i="1" dirty="0" smtClean="0">
                                  <a:latin typeface="Cambria Math" panose="02040503050406030204" pitchFamily="18" charset="0"/>
                                  <a:ea typeface="Microsoft YaHei" charset="-122"/>
                                  <a:cs typeface="Microsoft YaHei" charset="-122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uk-UA" altLang="zh-CN" sz="2800" i="1" dirty="0">
                                        <a:latin typeface="Cambria Math" panose="02040503050406030204" pitchFamily="18" charset="0"/>
                                        <a:ea typeface="Microsoft YaHei" charset="-122"/>
                                        <a:cs typeface="Microsoft YaHei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800" i="1" dirty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𝛾</m:t>
                                      </m:r>
                                      <m:r>
                                        <a:rPr lang="en-US" altLang="zh-CN" sz="2800" i="1" baseline="-25000" dirty="0">
                                          <a:latin typeface="Cambria Math" charset="0"/>
                                          <a:ea typeface="Microsoft YaHei" charset="-122"/>
                                          <a:cs typeface="Microsoft YaHei" charset="-122"/>
                                        </a:rPr>
                                        <m:t>11</m:t>
                                      </m:r>
                                    </m:e>
                                    <m:e>
                                      <m:r>
                                        <a:rPr lang="en-US" altLang="zh-CN" sz="2800" i="1" dirty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𝛾</m:t>
                                      </m:r>
                                      <m:r>
                                        <a:rPr lang="en-US" altLang="zh-CN" sz="2800" i="1" baseline="-25000" dirty="0">
                                          <a:latin typeface="Cambria Math" charset="0"/>
                                          <a:ea typeface="Microsoft YaHei" charset="-122"/>
                                          <a:cs typeface="Microsoft YaHei" charset="-122"/>
                                        </a:rPr>
                                        <m:t>12</m:t>
                                      </m:r>
                                    </m:e>
                                    <m:e>
                                      <m:r>
                                        <a:rPr lang="en-US" altLang="zh-CN" sz="2800" i="1" dirty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𝛾</m:t>
                                      </m:r>
                                      <m:r>
                                        <a:rPr lang="en-US" altLang="zh-CN" sz="2800" i="1" baseline="-25000" dirty="0">
                                          <a:latin typeface="Cambria Math" charset="0"/>
                                          <a:ea typeface="Microsoft YaHei" charset="-122"/>
                                          <a:cs typeface="Microsoft YaHei" charset="-122"/>
                                        </a:rPr>
                                        <m:t>13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800" i="1" dirty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𝛾</m:t>
                                      </m:r>
                                      <m:r>
                                        <a:rPr lang="en-US" altLang="zh-CN" sz="2800" i="1" baseline="-25000" dirty="0">
                                          <a:latin typeface="Cambria Math" charset="0"/>
                                          <a:ea typeface="Microsoft YaHei" charset="-122"/>
                                          <a:cs typeface="Microsoft YaHei" charset="-122"/>
                                        </a:rPr>
                                        <m:t>21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i="1" dirty="0">
                                              <a:latin typeface="Cambria Math" panose="02040503050406030204" pitchFamily="18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i="1" dirty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𝛾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i="1" dirty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22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altLang="zh-CN" sz="2800" i="1" dirty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𝛾</m:t>
                                      </m:r>
                                      <m:r>
                                        <a:rPr lang="en-US" altLang="zh-CN" sz="2800" i="1" baseline="-25000" dirty="0">
                                          <a:latin typeface="Cambria Math" charset="0"/>
                                          <a:ea typeface="Microsoft YaHei" charset="-122"/>
                                          <a:cs typeface="Microsoft YaHei" charset="-122"/>
                                        </a:rPr>
                                        <m:t>23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800" i="1" dirty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𝛾</m:t>
                                      </m:r>
                                      <m:r>
                                        <a:rPr lang="en-US" altLang="zh-CN" sz="2800" i="1" baseline="-25000" dirty="0">
                                          <a:latin typeface="Cambria Math" charset="0"/>
                                          <a:ea typeface="Microsoft YaHei" charset="-122"/>
                                          <a:cs typeface="Microsoft YaHei" charset="-122"/>
                                        </a:rPr>
                                        <m:t>31</m:t>
                                      </m:r>
                                    </m:e>
                                    <m:e>
                                      <m:r>
                                        <a:rPr lang="en-US" altLang="zh-CN" sz="2800" i="1" dirty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𝛾</m:t>
                                      </m:r>
                                      <m:r>
                                        <a:rPr lang="en-US" altLang="zh-CN" sz="2800" i="1" baseline="-25000" dirty="0">
                                          <a:latin typeface="Cambria Math" charset="0"/>
                                          <a:ea typeface="Microsoft YaHei" charset="-122"/>
                                          <a:cs typeface="Microsoft YaHei" charset="-122"/>
                                        </a:rPr>
                                        <m:t>32</m:t>
                                      </m:r>
                                    </m:e>
                                    <m:e>
                                      <m:r>
                                        <a:rPr lang="en-US" altLang="zh-CN" sz="2800" i="1" dirty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𝛾</m:t>
                                      </m:r>
                                      <m:r>
                                        <a:rPr lang="en-US" altLang="zh-CN" sz="2800" i="1" baseline="-25000" dirty="0">
                                          <a:latin typeface="Cambria Math" charset="0"/>
                                          <a:ea typeface="Microsoft YaHei" charset="-122"/>
                                          <a:cs typeface="Microsoft YaHei" charset="-122"/>
                                        </a:rPr>
                                        <m:t>33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cs-CZ" altLang="zh-CN" sz="2800" b="0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Microsoft YaHei" charset="-122"/>
                                        <a:cs typeface="Microsoft YaHei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0" i="1" dirty="0" smtClean="0">
                                          <a:solidFill>
                                            <a:srgbClr val="0000FF"/>
                                          </a:solidFill>
                                          <a:latin typeface="Cambria Math" charset="0"/>
                                          <a:ea typeface="Microsoft YaHei" charset="-122"/>
                                          <a:cs typeface="Microsoft YaHei" charset="-122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800" b="0" i="1" dirty="0" smtClean="0">
                                          <a:solidFill>
                                            <a:srgbClr val="0000FF"/>
                                          </a:solidFill>
                                          <a:latin typeface="Cambria Math" charset="0"/>
                                          <a:ea typeface="Microsoft YaHei" charset="-122"/>
                                          <a:cs typeface="Microsoft YaHei" charset="-122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800" b="0" i="1" dirty="0" smtClean="0">
                                          <a:solidFill>
                                            <a:srgbClr val="0000FF"/>
                                          </a:solidFill>
                                          <a:latin typeface="Cambria Math" charset="0"/>
                                          <a:ea typeface="Microsoft YaHei" charset="-122"/>
                                          <a:cs typeface="Microsoft YaHei" charset="-122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uk-UA" altLang="zh-CN" sz="2800" b="0" i="1" dirty="0" smtClean="0">
                                        <a:latin typeface="Cambria Math" panose="02040503050406030204" pitchFamily="18" charset="0"/>
                                        <a:ea typeface="Microsoft YaHei" charset="-122"/>
                                        <a:cs typeface="Microsoft YaHei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800" i="1" dirty="0" smtClean="0">
                                          <a:solidFill>
                                            <a:srgbClr val="0000FF"/>
                                          </a:solidFill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𝛾</m:t>
                                      </m:r>
                                      <m:r>
                                        <a:rPr lang="en-US" altLang="zh-CN" sz="2800" b="0" i="1" baseline="-25000" dirty="0" smtClean="0">
                                          <a:solidFill>
                                            <a:srgbClr val="0000FF"/>
                                          </a:solidFill>
                                          <a:latin typeface="Cambria Math" charset="0"/>
                                          <a:ea typeface="Microsoft YaHei" charset="-122"/>
                                          <a:cs typeface="Microsoft YaHei" charset="-122"/>
                                        </a:rPr>
                                        <m:t>4</m:t>
                                      </m:r>
                                      <m:r>
                                        <a:rPr lang="en-US" altLang="zh-CN" sz="2800" i="1" baseline="-25000" dirty="0">
                                          <a:solidFill>
                                            <a:srgbClr val="0000FF"/>
                                          </a:solidFill>
                                          <a:latin typeface="Cambria Math" charset="0"/>
                                          <a:ea typeface="Microsoft YaHei" charset="-122"/>
                                          <a:cs typeface="Microsoft YaHei" charset="-122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2800" i="1" dirty="0">
                                          <a:solidFill>
                                            <a:srgbClr val="0000FF"/>
                                          </a:solidFill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𝛾</m:t>
                                      </m:r>
                                      <m:r>
                                        <a:rPr lang="en-US" altLang="zh-CN" sz="2800" b="0" i="1" baseline="-25000" dirty="0" smtClean="0">
                                          <a:solidFill>
                                            <a:srgbClr val="0000FF"/>
                                          </a:solidFill>
                                          <a:latin typeface="Cambria Math" charset="0"/>
                                          <a:ea typeface="Microsoft YaHei" charset="-122"/>
                                          <a:cs typeface="Microsoft YaHei" charset="-122"/>
                                        </a:rPr>
                                        <m:t>42</m:t>
                                      </m:r>
                                    </m:e>
                                    <m:e>
                                      <m:r>
                                        <a:rPr lang="en-US" altLang="zh-CN" sz="2800" i="1" dirty="0">
                                          <a:solidFill>
                                            <a:srgbClr val="0000FF"/>
                                          </a:solidFill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𝛾</m:t>
                                      </m:r>
                                      <m:r>
                                        <a:rPr lang="en-US" altLang="zh-CN" sz="2800" b="0" i="1" baseline="-25000" dirty="0" smtClean="0">
                                          <a:solidFill>
                                            <a:srgbClr val="0000FF"/>
                                          </a:solidFill>
                                          <a:latin typeface="Cambria Math" charset="0"/>
                                          <a:ea typeface="Microsoft YaHei" charset="-122"/>
                                          <a:cs typeface="Microsoft YaHei" charset="-122"/>
                                        </a:rPr>
                                        <m:t>43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altLang="zh-CN" sz="2800" b="0" i="1" dirty="0" smtClean="0">
                                    <a:solidFill>
                                      <a:srgbClr val="0000FF"/>
                                    </a:solidFill>
                                    <a:latin typeface="Cambria Math" charset="0"/>
                                    <a:ea typeface="Microsoft YaHei" charset="-122"/>
                                    <a:cs typeface="Microsoft YaHei" charset="-122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800" baseline="-250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8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5418" y="4609292"/>
                <a:ext cx="4655890" cy="1606081"/>
              </a:xfrm>
              <a:prstGeom prst="rect">
                <a:avLst/>
              </a:prstGeom>
              <a:blipFill>
                <a:blip r:embed="rId3"/>
                <a:stretch>
                  <a:fillRect b="-3150"/>
                </a:stretch>
              </a:blipFill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4">
                <a:extLst>
                  <a:ext uri="{FF2B5EF4-FFF2-40B4-BE49-F238E27FC236}">
                    <a16:creationId xmlns:a16="http://schemas.microsoft.com/office/drawing/2014/main" id="{D3BFE3F0-E9A7-794B-8457-5B79DE8D8A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66576" y="5820883"/>
                <a:ext cx="3627602" cy="40011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 anchorCtr="1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𝒃</m:t>
                    </m:r>
                    <m:r>
                      <a:rPr lang="en-US" altLang="zh-CN" sz="2000" b="0" i="1" dirty="0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Microsoft YaHei" charset="-122"/>
                          </a:rPr>
                        </m:ctrlPr>
                      </m:sSup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Microsoft YaHei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Microsoft YaHei" charset="-122"/>
                                <a:cs typeface="Microsoft YaHei" charset="-122"/>
                              </a:rPr>
                            </m:ctrlPr>
                          </m:sSupPr>
                          <m:e>
                            <m:r>
                              <a:rPr lang="en-US" altLang="zh-CN" sz="2000" i="1" dirty="0">
                                <a:latin typeface="Cambria Math" charset="0"/>
                                <a:ea typeface="Microsoft YaHei" charset="-122"/>
                                <a:cs typeface="Microsoft YaHei" charset="-122"/>
                              </a:rPr>
                              <m:t>𝑀</m:t>
                            </m:r>
                          </m:e>
                          <m:sup>
                            <m:r>
                              <a:rPr lang="en-US" altLang="zh-CN" sz="2000" i="1" dirty="0">
                                <a:latin typeface="Cambria Math" charset="0"/>
                                <a:ea typeface="Microsoft YaHei" charset="-122"/>
                                <a:cs typeface="Microsoft YaHei" charset="-122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Microsoft YaHei" charset="-122"/>
                          </a:rPr>
                          <m:t>)</m:t>
                        </m:r>
                      </m:e>
                      <m:sup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Microsoft YaHei" charset="-122"/>
                          </a:rPr>
                          <m:t>−1</m:t>
                        </m:r>
                      </m:sup>
                    </m:sSup>
                    <m:r>
                      <a:rPr lang="en-US" altLang="zh-CN" sz="2000" b="1" i="1" dirty="0" smtClean="0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𝒂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Microsoft YaHei" charset="-122"/>
                          </a:rPr>
                        </m:ctrlPr>
                      </m:sSup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Microsoft YaHei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Microsoft YaHei" charset="-12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000" dirty="0">
                    <a:ea typeface="Microsoft YaHei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Microsoft YaHei" charset="-122"/>
                          </a:rPr>
                        </m:ctrlPr>
                      </m:sSup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Microsoft YaHei" charset="-122"/>
                          </a:rPr>
                          <m:t>𝑇</m:t>
                        </m:r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Microsoft YaHei" charset="-12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000" b="1" dirty="0">
                    <a:ea typeface="Microsoft YaHei" charset="-122"/>
                    <a:cs typeface="Microsoft YaHei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dirty="0"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𝒂</m:t>
                    </m:r>
                  </m:oMath>
                </a14:m>
                <a:endParaRPr lang="en-US" altLang="zh-CN" sz="2000" b="1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7" name="Text Box 4">
                <a:extLst>
                  <a:ext uri="{FF2B5EF4-FFF2-40B4-BE49-F238E27FC236}">
                    <a16:creationId xmlns:a16="http://schemas.microsoft.com/office/drawing/2014/main" id="{D3BFE3F0-E9A7-794B-8457-5B79DE8D8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66576" y="5820883"/>
                <a:ext cx="3627602" cy="400110"/>
              </a:xfrm>
              <a:prstGeom prst="rect">
                <a:avLst/>
              </a:prstGeom>
              <a:blipFill>
                <a:blip r:embed="rId4"/>
                <a:stretch>
                  <a:fillRect b="-12121"/>
                </a:stretch>
              </a:blipFill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Arrow 8">
            <a:extLst>
              <a:ext uri="{FF2B5EF4-FFF2-40B4-BE49-F238E27FC236}">
                <a16:creationId xmlns:a16="http://schemas.microsoft.com/office/drawing/2014/main" id="{AAA06622-6A76-094E-A364-F6D31069DBA1}"/>
              </a:ext>
            </a:extLst>
          </p:cNvPr>
          <p:cNvSpPr/>
          <p:nvPr/>
        </p:nvSpPr>
        <p:spPr>
          <a:xfrm>
            <a:off x="5102504" y="5213927"/>
            <a:ext cx="364072" cy="3968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3D70CCF-05B5-5044-BA14-24C7D906BA97}"/>
                  </a:ext>
                </a:extLst>
              </p:cNvPr>
              <p:cNvSpPr/>
              <p:nvPr/>
            </p:nvSpPr>
            <p:spPr>
              <a:xfrm>
                <a:off x="7596708" y="5213927"/>
                <a:ext cx="124418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  <a:ea typeface="Microsoft YaHei" charset="-122"/>
                              <a:cs typeface="Microsoft YaHei" charset="-122"/>
                            </a:rPr>
                          </m:ctrlPr>
                        </m:sSupPr>
                        <m:e>
                          <m:r>
                            <a:rPr lang="en-US" altLang="zh-CN" sz="2000" i="1" dirty="0"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  <m:t>𝑀</m:t>
                          </m:r>
                        </m:e>
                        <m:sup>
                          <m:r>
                            <a:rPr lang="en-US" altLang="zh-CN" sz="2000" i="1" dirty="0"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  <m:t>𝑇</m:t>
                          </m:r>
                        </m:sup>
                      </m:sSup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Microsoft YaHei" charset="-122"/>
                          <a:cs typeface="Microsoft YaHei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i="1" dirty="0">
                          <a:latin typeface="Cambria Math" panose="02040503050406030204" pitchFamily="18" charset="0"/>
                          <a:ea typeface="Microsoft YaHei" charset="-122"/>
                          <a:cs typeface="Microsoft YaHei" charset="-122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altLang="zh-CN" sz="2000" i="1" dirty="0" smtClean="0">
                          <a:latin typeface="Cambria Math" panose="02040503050406030204" pitchFamily="18" charset="0"/>
                          <a:ea typeface="Microsoft YaHei" charset="-122"/>
                          <a:cs typeface="Microsoft YaHei" charset="-122"/>
                        </a:rPr>
                        <m:t>R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3D70CCF-05B5-5044-BA14-24C7D906BA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6708" y="5213927"/>
                <a:ext cx="1244187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4">
                <a:extLst>
                  <a:ext uri="{FF2B5EF4-FFF2-40B4-BE49-F238E27FC236}">
                    <a16:creationId xmlns:a16="http://schemas.microsoft.com/office/drawing/2014/main" id="{8D86BDF1-D698-1B49-B2F8-7778C595BF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93629" y="5121743"/>
                <a:ext cx="2728623" cy="522194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 anchorCtr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dirty="0" smtClean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𝒂</m:t>
                      </m:r>
                      <m:r>
                        <a:rPr lang="en-US" altLang="zh-CN" sz="2800" b="0" i="1" dirty="0" smtClean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Microsoft YaHei" charset="-122"/>
                              <a:cs typeface="Microsoft YaHei" charset="-122"/>
                            </a:rPr>
                          </m:ctrlPr>
                        </m:sSupPr>
                        <m:e>
                          <m:r>
                            <a:rPr lang="en-US" altLang="zh-CN" sz="2800" b="0" i="1" dirty="0" smtClean="0"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  <m:t>𝑀</m:t>
                          </m:r>
                        </m:e>
                        <m:sup>
                          <m:r>
                            <a:rPr lang="en-US" altLang="zh-CN" sz="2800" b="0" i="1" dirty="0" smtClean="0"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  <m:t>𝑇</m:t>
                          </m:r>
                        </m:sup>
                      </m:sSup>
                      <m:r>
                        <a:rPr lang="en-US" altLang="zh-CN" sz="2800" b="1" i="1" dirty="0" smtClean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𝒃</m:t>
                      </m:r>
                    </m:oMath>
                  </m:oMathPara>
                </a14:m>
                <a:endParaRPr lang="en-US" altLang="zh-CN" sz="2800" b="1" baseline="-250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10" name="Text Box 4">
                <a:extLst>
                  <a:ext uri="{FF2B5EF4-FFF2-40B4-BE49-F238E27FC236}">
                    <a16:creationId xmlns:a16="http://schemas.microsoft.com/office/drawing/2014/main" id="{8D86BDF1-D698-1B49-B2F8-7778C595B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93629" y="5121743"/>
                <a:ext cx="2728623" cy="5221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980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模型视图矩阵的计算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设</a:t>
                </a:r>
                <a:r>
                  <a:rPr lang="en-US" altLang="zh-CN" sz="2400" dirty="0"/>
                  <a:t>VRP</a:t>
                </a:r>
                <a:r>
                  <a:rPr lang="zh-CN" altLang="en-US" sz="2400" dirty="0"/>
                  <a:t>点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charset="0"/>
                      </a:rPr>
                      <m:t>𝒑</m:t>
                    </m:r>
                    <m:r>
                      <a:rPr lang="en-US" altLang="zh-CN" sz="2400" i="1" dirty="0">
                        <a:latin typeface="Cambria Math" charset="0"/>
                      </a:rPr>
                      <m:t>=[</m:t>
                    </m:r>
                    <m:r>
                      <a:rPr lang="en-US" altLang="zh-CN" sz="2400" i="1" dirty="0">
                        <a:latin typeface="Cambria Math" charset="0"/>
                      </a:rPr>
                      <m:t>𝑥</m:t>
                    </m:r>
                    <m:r>
                      <a:rPr lang="en-US" altLang="zh-CN" sz="2400" i="1" dirty="0">
                        <a:latin typeface="Cambria Math" charset="0"/>
                      </a:rPr>
                      <m:t>,</m:t>
                    </m:r>
                    <m:r>
                      <a:rPr lang="en-US" altLang="zh-CN" sz="2400" i="1" dirty="0">
                        <a:latin typeface="Cambria Math" charset="0"/>
                      </a:rPr>
                      <m:t>𝑦</m:t>
                    </m:r>
                    <m:r>
                      <a:rPr lang="en-US" altLang="zh-CN" sz="2400" i="1" dirty="0">
                        <a:latin typeface="Cambria Math" charset="0"/>
                      </a:rPr>
                      <m:t>,</m:t>
                    </m:r>
                    <m:r>
                      <a:rPr lang="en-US" altLang="zh-CN" sz="2400" i="1" dirty="0">
                        <a:latin typeface="Cambria Math" charset="0"/>
                      </a:rPr>
                      <m:t>𝑧</m:t>
                    </m:r>
                    <m:r>
                      <a:rPr lang="en-US" altLang="zh-CN" sz="2400" i="1" dirty="0">
                        <a:latin typeface="Cambria Math" charset="0"/>
                      </a:rPr>
                      <m:t>,1]</m:t>
                    </m:r>
                    <m:r>
                      <a:rPr lang="en-US" altLang="zh-CN" sz="2400" i="1" baseline="30000" dirty="0">
                        <a:latin typeface="Cambria Math" charset="0"/>
                      </a:rPr>
                      <m:t>𝑇</m:t>
                    </m:r>
                  </m:oMath>
                </a14:m>
                <a:r>
                  <a:rPr lang="en-US" altLang="zh-CN" sz="2400" dirty="0"/>
                  <a:t>, </a:t>
                </a:r>
                <a:r>
                  <a:rPr lang="zh-CN" altLang="en-US" sz="2400" dirty="0"/>
                  <a:t>视平面法向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charset="0"/>
                      </a:rPr>
                      <m:t>𝒏</m:t>
                    </m:r>
                    <m:r>
                      <a:rPr lang="en-US" altLang="zh-CN" sz="2400" i="1" dirty="0">
                        <a:latin typeface="Cambria Math" charset="0"/>
                      </a:rPr>
                      <m:t>=[</m:t>
                    </m:r>
                    <m:r>
                      <a:rPr lang="en-US" altLang="zh-CN" sz="2400" i="1" dirty="0">
                        <a:latin typeface="Cambria Math" charset="0"/>
                      </a:rPr>
                      <m:t>𝑛𝑥</m:t>
                    </m:r>
                    <m:r>
                      <a:rPr lang="en-US" altLang="zh-CN" sz="2400" i="1" dirty="0">
                        <a:latin typeface="Cambria Math" charset="0"/>
                      </a:rPr>
                      <m:t>,</m:t>
                    </m:r>
                    <m:r>
                      <a:rPr lang="en-US" altLang="zh-CN" sz="2400" i="1" dirty="0">
                        <a:latin typeface="Cambria Math" charset="0"/>
                      </a:rPr>
                      <m:t>𝑛𝑦</m:t>
                    </m:r>
                    <m:r>
                      <a:rPr lang="en-US" altLang="zh-CN" sz="2400" i="1" dirty="0">
                        <a:latin typeface="Cambria Math" charset="0"/>
                      </a:rPr>
                      <m:t>,</m:t>
                    </m:r>
                    <m:r>
                      <a:rPr lang="en-US" altLang="zh-CN" sz="2400" i="1" dirty="0">
                        <a:latin typeface="Cambria Math" charset="0"/>
                      </a:rPr>
                      <m:t>𝑛𝑧</m:t>
                    </m:r>
                    <m:r>
                      <a:rPr lang="en-US" altLang="zh-CN" sz="2400" i="1" dirty="0">
                        <a:latin typeface="Cambria Math" charset="0"/>
                      </a:rPr>
                      <m:t>,0]</m:t>
                    </m:r>
                    <m:r>
                      <a:rPr lang="en-US" altLang="zh-CN" sz="2400" i="1" baseline="30000" dirty="0">
                        <a:latin typeface="Cambria Math" charset="0"/>
                      </a:rPr>
                      <m:t>𝑇</m:t>
                    </m:r>
                  </m:oMath>
                </a14:m>
                <a:r>
                  <a:rPr lang="en-US" altLang="zh-CN" sz="2400" dirty="0"/>
                  <a:t>,</a:t>
                </a:r>
              </a:p>
              <a:p>
                <a:pPr marL="0" indent="0">
                  <a:buNone/>
                </a:pPr>
                <a:r>
                  <a:rPr lang="zh-CN" altLang="en-US" sz="2400" dirty="0"/>
                  <a:t>    上方向量为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charset="0"/>
                      </a:rPr>
                      <m:t>𝒗</m:t>
                    </m:r>
                    <m:r>
                      <a:rPr lang="en-US" altLang="zh-CN" sz="2400" i="1" baseline="-25000" dirty="0" err="1">
                        <a:latin typeface="Cambria Math" charset="0"/>
                      </a:rPr>
                      <m:t>𝑢𝑝</m:t>
                    </m:r>
                    <m:r>
                      <a:rPr lang="en-US" altLang="zh-CN" sz="2400" i="1" dirty="0">
                        <a:latin typeface="Cambria Math" charset="0"/>
                      </a:rPr>
                      <m:t>=[</m:t>
                    </m:r>
                    <m:r>
                      <a:rPr lang="en-US" altLang="zh-CN" sz="2400" i="1" dirty="0" err="1">
                        <a:latin typeface="Cambria Math" charset="0"/>
                      </a:rPr>
                      <m:t>𝑣</m:t>
                    </m:r>
                    <m:r>
                      <a:rPr lang="en-US" altLang="zh-CN" sz="2400" i="1" baseline="-25000" dirty="0" err="1">
                        <a:latin typeface="Cambria Math" charset="0"/>
                      </a:rPr>
                      <m:t>𝑢𝑝𝑥</m:t>
                    </m:r>
                    <m:r>
                      <a:rPr lang="en-US" altLang="zh-CN" sz="2400" i="1" dirty="0">
                        <a:latin typeface="Cambria Math" charset="0"/>
                      </a:rPr>
                      <m:t>, </m:t>
                    </m:r>
                    <m:r>
                      <a:rPr lang="en-US" altLang="zh-CN" sz="2400" i="1" dirty="0" err="1">
                        <a:latin typeface="Cambria Math" charset="0"/>
                      </a:rPr>
                      <m:t>𝑣</m:t>
                    </m:r>
                    <m:r>
                      <a:rPr lang="en-US" altLang="zh-CN" sz="2400" i="1" baseline="-25000" dirty="0" err="1">
                        <a:latin typeface="Cambria Math" charset="0"/>
                      </a:rPr>
                      <m:t>𝑢𝑝𝑦</m:t>
                    </m:r>
                    <m:r>
                      <a:rPr lang="en-US" altLang="zh-CN" sz="2400" i="1" dirty="0">
                        <a:latin typeface="Cambria Math" charset="0"/>
                      </a:rPr>
                      <m:t>, </m:t>
                    </m:r>
                    <m:r>
                      <a:rPr lang="en-US" altLang="zh-CN" sz="2400" i="1" dirty="0" err="1">
                        <a:latin typeface="Cambria Math" charset="0"/>
                      </a:rPr>
                      <m:t>𝑣</m:t>
                    </m:r>
                    <m:r>
                      <a:rPr lang="en-US" altLang="zh-CN" sz="2400" i="1" baseline="-25000" dirty="0" err="1">
                        <a:latin typeface="Cambria Math" charset="0"/>
                      </a:rPr>
                      <m:t>𝑢𝑝𝑧</m:t>
                    </m:r>
                    <m:r>
                      <a:rPr lang="en-US" altLang="zh-CN" sz="2400" i="1" dirty="0">
                        <a:latin typeface="Cambria Math" charset="0"/>
                      </a:rPr>
                      <m:t>, 0]</m:t>
                    </m:r>
                    <m:r>
                      <a:rPr lang="en-US" altLang="zh-CN" sz="2400" i="1" baseline="30000" dirty="0">
                        <a:latin typeface="Cambria Math" charset="0"/>
                      </a:rPr>
                      <m:t>𝑇</m:t>
                    </m:r>
                  </m:oMath>
                </a14:m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charset="0"/>
                      </a:rPr>
                      <m:t>𝒗</m:t>
                    </m:r>
                    <m:r>
                      <a:rPr lang="en-US" altLang="zh-CN" sz="2400" i="1" dirty="0">
                        <a:latin typeface="Cambria Math" charset="0"/>
                      </a:rPr>
                      <m:t> = </m:t>
                    </m:r>
                    <m:r>
                      <a:rPr lang="en-US" altLang="zh-CN" sz="2400" b="1" i="1" dirty="0" err="1">
                        <a:latin typeface="Cambria Math" charset="0"/>
                      </a:rPr>
                      <m:t>𝒗</m:t>
                    </m:r>
                    <m:r>
                      <a:rPr lang="en-US" altLang="zh-CN" sz="2400" i="1" baseline="-25000" dirty="0" err="1">
                        <a:latin typeface="Cambria Math" charset="0"/>
                      </a:rPr>
                      <m:t>𝑢𝑝</m:t>
                    </m:r>
                    <m:r>
                      <a:rPr lang="en-US" altLang="zh-CN" sz="2400" i="1" dirty="0">
                        <a:latin typeface="Cambria Math" charset="0"/>
                      </a:rPr>
                      <m:t>−(</m:t>
                    </m:r>
                    <m:r>
                      <a:rPr lang="en-US" altLang="zh-CN" sz="2400" b="1" i="1" dirty="0" err="1">
                        <a:latin typeface="Cambria Math" charset="0"/>
                      </a:rPr>
                      <m:t>𝒗</m:t>
                    </m:r>
                    <m:r>
                      <a:rPr lang="en-US" altLang="zh-CN" sz="2400" i="1" baseline="-25000" dirty="0" err="1">
                        <a:latin typeface="Cambria Math" charset="0"/>
                      </a:rPr>
                      <m:t>𝑢𝑝</m:t>
                    </m:r>
                    <m:r>
                      <a:rPr lang="en-US" altLang="zh-CN" sz="2400" i="1" dirty="0" err="1">
                        <a:latin typeface="Cambria Math" charset="0"/>
                      </a:rPr>
                      <m:t>⋅</m:t>
                    </m:r>
                    <m:r>
                      <a:rPr lang="en-US" altLang="zh-CN" sz="2400" b="1" i="1" dirty="0" err="1">
                        <a:latin typeface="Cambria Math" charset="0"/>
                      </a:rPr>
                      <m:t>𝒏</m:t>
                    </m:r>
                    <m:r>
                      <a:rPr lang="en-US" altLang="zh-CN" sz="2400" i="1" dirty="0">
                        <a:latin typeface="Cambria Math" charset="0"/>
                      </a:rPr>
                      <m:t>)/(</m:t>
                    </m:r>
                    <m:r>
                      <a:rPr lang="en-US" altLang="zh-CN" sz="2400" b="1" i="1" dirty="0" err="1">
                        <a:latin typeface="Cambria Math" charset="0"/>
                      </a:rPr>
                      <m:t>𝒏</m:t>
                    </m:r>
                    <m:r>
                      <a:rPr lang="en-US" altLang="zh-CN" sz="2400" i="1" dirty="0" err="1">
                        <a:latin typeface="Cambria Math" charset="0"/>
                      </a:rPr>
                      <m:t>⋅</m:t>
                    </m:r>
                    <m:r>
                      <a:rPr lang="en-US" altLang="zh-CN" sz="2400" b="1" i="1" dirty="0" err="1">
                        <a:latin typeface="Cambria Math" charset="0"/>
                      </a:rPr>
                      <m:t>𝒏</m:t>
                    </m:r>
                    <m:r>
                      <a:rPr lang="en-US" altLang="zh-CN" sz="2400" i="1" dirty="0">
                        <a:latin typeface="Cambria Math" charset="0"/>
                      </a:rPr>
                      <m:t>)</m:t>
                    </m:r>
                    <m:r>
                      <a:rPr lang="en-US" altLang="zh-CN" sz="2400" b="1" i="1" dirty="0">
                        <a:latin typeface="Cambria Math" charset="0"/>
                      </a:rPr>
                      <m:t>𝒏</m:t>
                    </m:r>
                  </m:oMath>
                </a14:m>
                <a:r>
                  <a:rPr lang="en-US" altLang="zh-CN" sz="2400" dirty="0"/>
                  <a:t>, </a:t>
                </a:r>
                <a:r>
                  <a:rPr lang="zh-CN" altLang="en-US" sz="2400" dirty="0"/>
                  <a:t>把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charset="0"/>
                      </a:rPr>
                      <m:t>𝒗</m:t>
                    </m:r>
                    <m:r>
                      <a:rPr lang="en-US" altLang="zh-CN" sz="2400" i="1" dirty="0">
                        <a:latin typeface="Cambria Math" charset="0"/>
                      </a:rPr>
                      <m:t>, </m:t>
                    </m:r>
                    <m:r>
                      <a:rPr lang="en-US" altLang="zh-CN" sz="2400" b="1" i="1" dirty="0">
                        <a:latin typeface="Cambria Math" charset="0"/>
                      </a:rPr>
                      <m:t>𝒏</m:t>
                    </m:r>
                  </m:oMath>
                </a14:m>
                <a:r>
                  <a:rPr lang="zh-CN" altLang="en-US" sz="2400" dirty="0"/>
                  <a:t>单位化</a:t>
                </a:r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charset="0"/>
                      </a:rPr>
                      <m:t>𝒖</m:t>
                    </m:r>
                    <m:r>
                      <a:rPr lang="en-US" altLang="zh-CN" sz="2400" i="1" dirty="0">
                        <a:latin typeface="Cambria Math" charset="0"/>
                      </a:rPr>
                      <m:t> = </m:t>
                    </m:r>
                    <m:r>
                      <a:rPr lang="en-US" altLang="zh-CN" sz="2400" b="1" i="1" dirty="0">
                        <a:latin typeface="Cambria Math" charset="0"/>
                      </a:rPr>
                      <m:t>𝒗</m:t>
                    </m:r>
                    <m:r>
                      <a:rPr lang="en-US" altLang="zh-CN" sz="2400" i="1" dirty="0">
                        <a:latin typeface="Cambria Math" charset="0"/>
                      </a:rPr>
                      <m:t> </m:t>
                    </m:r>
                    <m:r>
                      <a:rPr lang="en-US" altLang="zh-CN" sz="2400" i="1" dirty="0">
                        <a:latin typeface="Cambria Math" charset="0"/>
                      </a:rPr>
                      <m:t>𝑥</m:t>
                    </m:r>
                    <m:r>
                      <a:rPr lang="en-US" altLang="zh-CN" sz="2400" i="1" dirty="0">
                        <a:latin typeface="Cambria Math" charset="0"/>
                      </a:rPr>
                      <m:t> </m:t>
                    </m:r>
                    <m:r>
                      <a:rPr lang="en-US" altLang="zh-CN" sz="2400" b="1" i="1" dirty="0">
                        <a:latin typeface="Cambria Math" charset="0"/>
                      </a:rPr>
                      <m:t>𝒏</m:t>
                    </m:r>
                  </m:oMath>
                </a14:m>
                <a:endParaRPr lang="en-US" altLang="zh-CN" sz="2400" b="1" dirty="0"/>
              </a:p>
              <a:p>
                <a:r>
                  <a:rPr lang="zh-CN" altLang="en-US" sz="2400" dirty="0"/>
                  <a:t>模型视图矩阵为：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230" y="3878293"/>
            <a:ext cx="5018953" cy="22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107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3650349" y="1520687"/>
            <a:ext cx="2177274" cy="2177274"/>
          </a:xfrm>
          <a:prstGeom prst="ellips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180792" y="3850885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观察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028428" y="2780384"/>
            <a:ext cx="1532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Chapter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328896" y="1367763"/>
            <a:ext cx="931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500" b="1" dirty="0">
                <a:solidFill>
                  <a:schemeClr val="bg1"/>
                </a:solidFill>
              </a:rPr>
              <a:t>4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663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内容提要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5338493"/>
          </a:xfrm>
        </p:spPr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dirty="0"/>
              <a:t>经典视图</a:t>
            </a: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/>
              <a:t>计算机视图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solidFill>
                  <a:srgbClr val="00B0F0"/>
                </a:solidFill>
              </a:rPr>
              <a:t>Ope</a:t>
            </a:r>
            <a:r>
              <a:rPr lang="en-US" altLang="zh-CN" dirty="0">
                <a:solidFill>
                  <a:srgbClr val="00B1F0"/>
                </a:solidFill>
              </a:rPr>
              <a:t>nGL</a:t>
            </a:r>
            <a:r>
              <a:rPr lang="zh-CN" altLang="en-US" dirty="0"/>
              <a:t>的平行投影</a:t>
            </a:r>
            <a:endParaRPr lang="en-US" altLang="zh-CN" dirty="0"/>
          </a:p>
          <a:p>
            <a:r>
              <a:rPr lang="en-US" altLang="zh-CN" dirty="0">
                <a:solidFill>
                  <a:srgbClr val="00B0F0"/>
                </a:solidFill>
              </a:rPr>
              <a:t>OpenGL</a:t>
            </a:r>
            <a:r>
              <a:rPr lang="zh-CN" altLang="en-US" dirty="0"/>
              <a:t>的透视投影</a:t>
            </a:r>
            <a:endParaRPr lang="en-US" altLang="zh-CN" dirty="0"/>
          </a:p>
          <a:p>
            <a:r>
              <a:rPr lang="zh-CN" altLang="en-US" dirty="0"/>
              <a:t>隐藏面消除</a:t>
            </a:r>
            <a:endParaRPr lang="en-US" altLang="zh-CN" dirty="0"/>
          </a:p>
          <a:p>
            <a:r>
              <a:rPr lang="zh-CN" altLang="en-US" dirty="0"/>
              <a:t>网格曲面的绘制</a:t>
            </a:r>
            <a:endParaRPr lang="en-US" altLang="zh-CN" dirty="0"/>
          </a:p>
          <a:p>
            <a:r>
              <a:rPr lang="zh-CN" altLang="en-US" dirty="0"/>
              <a:t>投影和阴影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501328" y="1114153"/>
            <a:ext cx="7722704" cy="142368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464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0D902-9F07-1C6D-D67C-8794FC2A4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DC529-C0B2-8FAF-4C65-C3D6184E0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</a:t>
            </a:r>
            <a:r>
              <a:rPr lang="en-US" altLang="zh-CN"/>
              <a:t>3.2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2A271-C882-0833-1155-80EFE2059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阴影</a:t>
            </a:r>
            <a:endParaRPr lang="en-US" altLang="zh-CN" dirty="0"/>
          </a:p>
          <a:p>
            <a:pPr lvl="1"/>
            <a:r>
              <a:rPr lang="zh-CN" altLang="en-US" dirty="0"/>
              <a:t>了解使用投影变换实现场景的硬阴影效果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745A6-EAF7-587F-7B3D-F26737BE4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pic>
        <p:nvPicPr>
          <p:cNvPr id="7" name="图片 6" descr="图片包含 图形用户界面&#10;&#10;描述已自动生成">
            <a:extLst>
              <a:ext uri="{FF2B5EF4-FFF2-40B4-BE49-F238E27FC236}">
                <a16:creationId xmlns:a16="http://schemas.microsoft.com/office/drawing/2014/main" id="{C3501CD5-8932-F8AB-439F-3F73BECC0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548" y="2439091"/>
            <a:ext cx="4544909" cy="432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881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398754" y="3389111"/>
            <a:ext cx="4354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00B1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OpenGL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的平行投影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79" y="1913900"/>
            <a:ext cx="6142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1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601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010" y="1729840"/>
            <a:ext cx="3916978" cy="300022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正交投影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正交投影原理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平行投影的特殊情况</a:t>
                </a: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投影方向与投影平面垂直</a:t>
                </a: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>
                    <a:highlight>
                      <a:srgbClr val="FFFF00"/>
                    </a:highlight>
                  </a:rPr>
                  <a:t>投影矩阵（投影平面为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highlight>
                          <a:srgbClr val="FFFF00"/>
                        </a:highlight>
                        <a:latin typeface="Cambria Math" charset="0"/>
                      </a:rPr>
                      <m:t>𝑧</m:t>
                    </m:r>
                    <m:r>
                      <a:rPr lang="en-US" altLang="zh-CN" sz="1800" i="1" dirty="0" smtClean="0">
                        <a:highlight>
                          <a:srgbClr val="FFFF00"/>
                        </a:highlight>
                        <a:latin typeface="Cambria Math" charset="0"/>
                      </a:rPr>
                      <m:t>=0</m:t>
                    </m:r>
                  </m:oMath>
                </a14:m>
                <a:r>
                  <a:rPr lang="zh-CN" altLang="en-US" sz="1800" dirty="0">
                    <a:highlight>
                      <a:srgbClr val="FFFF00"/>
                    </a:highlight>
                  </a:rPr>
                  <a:t>）：</a:t>
                </a:r>
                <a:endParaRPr lang="en-US" altLang="zh-CN" sz="1800" dirty="0">
                  <a:highlight>
                    <a:srgbClr val="FFFF00"/>
                  </a:highlight>
                </a:endParaRPr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r>
                  <a:rPr lang="zh-CN" altLang="en-US" sz="2400" dirty="0"/>
                  <a:t>特点：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>
                    <a:highlight>
                      <a:srgbClr val="FFFF00"/>
                    </a:highlight>
                  </a:rPr>
                  <a:t>保持</a:t>
                </a:r>
                <a:r>
                  <a:rPr lang="en-US" altLang="zh-CN" sz="1800" dirty="0">
                    <a:highlight>
                      <a:srgbClr val="FFFF00"/>
                    </a:highlight>
                  </a:rPr>
                  <a:t>x</a:t>
                </a:r>
                <a:r>
                  <a:rPr lang="zh-CN" altLang="en-US" sz="1800" dirty="0">
                    <a:highlight>
                      <a:srgbClr val="FFFF00"/>
                    </a:highlight>
                  </a:rPr>
                  <a:t>，</a:t>
                </a:r>
                <a:r>
                  <a:rPr lang="en-US" altLang="zh-CN" sz="1800" dirty="0">
                    <a:highlight>
                      <a:srgbClr val="FFFF00"/>
                    </a:highlight>
                  </a:rPr>
                  <a:t>y</a:t>
                </a:r>
                <a:r>
                  <a:rPr lang="zh-CN" altLang="en-US" sz="1800" dirty="0">
                    <a:highlight>
                      <a:srgbClr val="FFFF00"/>
                    </a:highlight>
                  </a:rPr>
                  <a:t>方向上尺寸不变</a:t>
                </a:r>
                <a:endParaRPr lang="en-US" altLang="zh-CN" sz="1800" dirty="0">
                  <a:highlight>
                    <a:srgbClr val="FFFF00"/>
                  </a:highlight>
                </a:endParaRP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>
                    <a:highlight>
                      <a:srgbClr val="FFFF00"/>
                    </a:highlight>
                  </a:rPr>
                  <a:t>默认观察范围是以原点为中心，边长为</a:t>
                </a:r>
                <a:r>
                  <a:rPr lang="en-US" altLang="zh-CN" sz="1800" dirty="0">
                    <a:highlight>
                      <a:srgbClr val="FFFF00"/>
                    </a:highlight>
                  </a:rPr>
                  <a:t>2</a:t>
                </a:r>
                <a:r>
                  <a:rPr lang="zh-CN" altLang="en-US" sz="1800" dirty="0">
                    <a:highlight>
                      <a:srgbClr val="FFFF00"/>
                    </a:highlight>
                  </a:rPr>
                  <a:t>的立方体区域</a:t>
                </a:r>
                <a:endParaRPr lang="en-US" altLang="zh-CN" sz="1800" dirty="0">
                  <a:highlight>
                    <a:srgbClr val="FFFF00"/>
                  </a:highlight>
                </a:endParaRPr>
              </a:p>
              <a:p>
                <a:pPr lvl="1">
                  <a:buClr>
                    <a:schemeClr val="tx1"/>
                  </a:buClr>
                </a:pPr>
                <a:endParaRPr lang="zh-CN" altLang="en-US" sz="1800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09" t="-1961" b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9792" y="2829260"/>
            <a:ext cx="2658679" cy="164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888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对投影的理解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经典投影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r>
              <a:rPr lang="zh-CN" altLang="en-US" dirty="0"/>
              <a:t>射影变换，三维到二维的映射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r>
              <a:rPr lang="zh-CN" altLang="en-US" dirty="0"/>
              <a:t>不可逆，将同一直线上的点映射为像平面上的一个点</a:t>
            </a:r>
            <a:endParaRPr lang="en-US" altLang="zh-CN" dirty="0"/>
          </a:p>
          <a:p>
            <a:pPr lvl="1"/>
            <a:endParaRPr lang="en-US" dirty="0"/>
          </a:p>
          <a:p>
            <a:r>
              <a:rPr lang="zh-CN" altLang="en-US" dirty="0"/>
              <a:t>计算机投影</a:t>
            </a:r>
            <a:endParaRPr lang="en-US" altLang="zh-CN" dirty="0"/>
          </a:p>
          <a:p>
            <a:pPr lvl="1"/>
            <a:r>
              <a:rPr lang="zh-CN" altLang="en-US" dirty="0"/>
              <a:t>在思维空间里使用齐次坐标来计算投影</a:t>
            </a:r>
            <a:endParaRPr lang="en-US" altLang="zh-CN" dirty="0"/>
          </a:p>
          <a:p>
            <a:pPr lvl="1"/>
            <a:r>
              <a:rPr lang="zh-CN" altLang="en-US" dirty="0"/>
              <a:t>尽量保留深度信息，进行隐藏面消除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zh-CN" altLang="en-US" b="1" dirty="0"/>
              <a:t>投影规范化技术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2757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投影规范化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400" b="1" dirty="0"/>
                  <a:t>投影规范化</a:t>
                </a:r>
                <a:r>
                  <a:rPr lang="zh-CN" altLang="en-US" sz="2400" dirty="0"/>
                  <a:t>：先把对象变形，使得变形后的对象的正交投影图与</a:t>
                </a:r>
                <a:r>
                  <a:rPr lang="zh-CN" altLang="en-US" sz="2400" dirty="0">
                    <a:highlight>
                      <a:srgbClr val="FFFF00"/>
                    </a:highlight>
                  </a:rPr>
                  <a:t>原来想要得到的对象的投影图相同</a:t>
                </a:r>
                <a:r>
                  <a:rPr lang="zh-CN" altLang="en-US" sz="2400" dirty="0"/>
                  <a:t>，这</a:t>
                </a:r>
                <a:r>
                  <a:rPr lang="zh-CN" altLang="en-US" sz="2400" dirty="0">
                    <a:highlight>
                      <a:srgbClr val="FFFF00"/>
                    </a:highlight>
                  </a:rPr>
                  <a:t>样就</a:t>
                </a:r>
                <a:r>
                  <a:rPr lang="zh-CN" altLang="en-US" sz="2400" dirty="0">
                    <a:solidFill>
                      <a:srgbClr val="0000FF"/>
                    </a:solidFill>
                    <a:highlight>
                      <a:srgbClr val="FFFF00"/>
                    </a:highlight>
                  </a:rPr>
                  <a:t>把所有的投影都转化为正交投影</a:t>
                </a:r>
                <a:endParaRPr lang="zh-CN" altLang="en-US" sz="1800" dirty="0">
                  <a:solidFill>
                    <a:srgbClr val="0000FF"/>
                  </a:solidFill>
                  <a:highlight>
                    <a:srgbClr val="FFFF00"/>
                  </a:highlight>
                </a:endParaRP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适用于图形管线的另外一种处理方式：</a:t>
                </a:r>
                <a:r>
                  <a:rPr lang="zh-CN" altLang="en-US" sz="1800" b="1" dirty="0">
                    <a:solidFill>
                      <a:srgbClr val="00B050"/>
                    </a:solidFill>
                  </a:rPr>
                  <a:t>射影畸变</a:t>
                </a:r>
                <a:r>
                  <a:rPr lang="en-US" altLang="zh-CN" sz="1800" b="1" dirty="0">
                    <a:solidFill>
                      <a:srgbClr val="00B050"/>
                    </a:solidFill>
                  </a:rPr>
                  <a:t>+</a:t>
                </a:r>
                <a:r>
                  <a:rPr lang="zh-CN" altLang="en-US" sz="1800" b="1" dirty="0">
                    <a:solidFill>
                      <a:srgbClr val="00B050"/>
                    </a:solidFill>
                  </a:rPr>
                  <a:t>正交投影</a:t>
                </a:r>
                <a:endParaRPr lang="en-US" altLang="zh-CN" sz="1800" b="1" dirty="0">
                  <a:solidFill>
                    <a:srgbClr val="00B050"/>
                  </a:solidFill>
                </a:endParaRP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不想为每种类型的投影设计不同的投影矩阵，所以把所有的投影转化为具有默认视见体的正交投影：</a:t>
                </a:r>
                <a:r>
                  <a:rPr lang="zh-CN" altLang="en-US" sz="1800" dirty="0">
                    <a:solidFill>
                      <a:srgbClr val="FF0000"/>
                    </a:solidFill>
                    <a:highlight>
                      <a:srgbClr val="FFFF00"/>
                    </a:highlight>
                  </a:rPr>
                  <a:t>规范视见体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charset="0"/>
                      </a:rPr>
                      <m:t>𝑥</m:t>
                    </m:r>
                    <m:r>
                      <a:rPr lang="en-US" altLang="zh-CN" sz="1800" b="0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charset="0"/>
                      </a:rPr>
                      <m:t>=±1,</m:t>
                    </m:r>
                    <m:r>
                      <a:rPr lang="en-US" altLang="zh-CN" sz="1800" b="0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charset="0"/>
                      </a:rPr>
                      <m:t>𝑦</m:t>
                    </m:r>
                    <m:r>
                      <a:rPr lang="en-US" altLang="zh-CN" sz="1800" i="1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charset="0"/>
                      </a:rPr>
                      <m:t>=±1</m:t>
                    </m:r>
                    <m:r>
                      <a:rPr lang="en-US" altLang="zh-CN" sz="1800" b="0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charset="0"/>
                      </a:rPr>
                      <m:t>,</m:t>
                    </m:r>
                    <m:r>
                      <a:rPr lang="en-US" altLang="zh-CN" sz="1800" b="0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charset="0"/>
                      </a:rPr>
                      <m:t>𝑧</m:t>
                    </m:r>
                    <m:r>
                      <a:rPr lang="en-US" altLang="zh-CN" sz="1800" i="1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charset="0"/>
                      </a:rPr>
                      <m:t>=±1</m:t>
                    </m:r>
                  </m:oMath>
                </a14:m>
                <a:endParaRPr lang="en-US" altLang="zh-CN" sz="1800" dirty="0">
                  <a:solidFill>
                    <a:srgbClr val="FF0000"/>
                  </a:solidFill>
                  <a:highlight>
                    <a:srgbClr val="FFFF00"/>
                  </a:highlight>
                </a:endParaRP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这种策略可以使我们在流水线中应用标准变换，同样的绘制流水线可以既支持透视投影又支持平行投影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1961" r="-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70" y="3949060"/>
            <a:ext cx="2943205" cy="213146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6694" y="4559774"/>
            <a:ext cx="4621795" cy="74524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E96426E-463F-4525-9708-ADC6AA125128}"/>
              </a:ext>
            </a:extLst>
          </p:cNvPr>
          <p:cNvSpPr txBox="1"/>
          <p:nvPr/>
        </p:nvSpPr>
        <p:spPr>
          <a:xfrm>
            <a:off x="2182907" y="6077432"/>
            <a:ext cx="46168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B050"/>
                </a:solidFill>
              </a:rPr>
              <a:t>射影畸变</a:t>
            </a:r>
            <a:r>
              <a:rPr lang="zh-CN" altLang="en-US" b="1" dirty="0">
                <a:solidFill>
                  <a:srgbClr val="00B050"/>
                </a:solidFill>
              </a:rPr>
              <a:t>：先把物体变成近大远小，再进行正交投影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913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投影规范化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在模型－视图变换和投影变换的过程中，始终使用四维齐次坐标系：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这些变换都是非奇异的，即可逆的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默认值为正交视图</a:t>
            </a:r>
          </a:p>
          <a:p>
            <a:r>
              <a:rPr lang="zh-CN" altLang="en-US" sz="2400" dirty="0">
                <a:highlight>
                  <a:srgbClr val="FFFF00"/>
                </a:highlight>
              </a:rPr>
              <a:t>规范化使得任意投影类型，都相对于默认立方体裁剪</a:t>
            </a:r>
            <a:endParaRPr lang="en-US" altLang="zh-CN" sz="2400" dirty="0">
              <a:highlight>
                <a:srgbClr val="FFFF00"/>
              </a:highlight>
            </a:endParaRP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投影</a:t>
            </a:r>
            <a:r>
              <a:rPr lang="zh-CN" altLang="en-US" sz="1800" dirty="0">
                <a:highlight>
                  <a:srgbClr val="FFFF00"/>
                </a:highlight>
              </a:rPr>
              <a:t>直到最后时刻才</a:t>
            </a:r>
            <a:r>
              <a:rPr lang="zh-CN" altLang="en-US" sz="1800" dirty="0"/>
              <a:t>进行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从而可以尽可能的保留深度信息，这对隐藏面消除是非常重要的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552" y="4012520"/>
            <a:ext cx="5663169" cy="266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019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OpenGL</a:t>
            </a:r>
            <a:r>
              <a:rPr lang="zh-CN" altLang="en-US" dirty="0"/>
              <a:t>中的正交投影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在</a:t>
            </a:r>
            <a:r>
              <a:rPr lang="en-US" altLang="zh-CN" sz="2400" dirty="0"/>
              <a:t>OpenGL</a:t>
            </a:r>
            <a:r>
              <a:rPr lang="zh-CN" altLang="en-US" sz="2400" dirty="0"/>
              <a:t>中采用下述函数指定正交投影：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正交投影的视见体：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zh-CN" altLang="en-US" sz="18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758" y="3581311"/>
            <a:ext cx="4705685" cy="291156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029726" y="1892522"/>
            <a:ext cx="7485623" cy="646331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mat4 </a:t>
            </a:r>
            <a:r>
              <a:rPr lang="en-US" altLang="zh-CN" b="1" dirty="0">
                <a:latin typeface="ZztexMono-Regular"/>
              </a:rPr>
              <a:t>Ortho(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dirty="0">
                <a:latin typeface="ZztexMono-Regular"/>
              </a:rPr>
              <a:t>left,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dirty="0">
                <a:latin typeface="ZztexMono-Regular"/>
              </a:rPr>
              <a:t>right,</a:t>
            </a:r>
            <a:r>
              <a:rPr lang="en-US" altLang="zh-CN" b="1" dirty="0">
                <a:latin typeface="ZztexMono-Regular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dirty="0">
                <a:latin typeface="ZztexMono-Regular"/>
              </a:rPr>
              <a:t>bottom,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    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          </a:t>
            </a:r>
            <a:r>
              <a:rPr lang="zh-CN" altLang="en-US" b="1" dirty="0">
                <a:solidFill>
                  <a:srgbClr val="0000FF"/>
                </a:solidFill>
                <a:latin typeface="ZztexMono-Regular"/>
              </a:rPr>
              <a:t>         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dirty="0">
                <a:latin typeface="ZztexMono-Regular"/>
              </a:rPr>
              <a:t>top,</a:t>
            </a:r>
            <a:r>
              <a:rPr lang="zh-CN" altLang="en-US" dirty="0">
                <a:latin typeface="ZztexMono-Regular"/>
              </a:rPr>
              <a:t> 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dirty="0">
                <a:latin typeface="ZztexMono-Regular"/>
              </a:rPr>
              <a:t>near,</a:t>
            </a:r>
            <a:r>
              <a:rPr lang="en-US" altLang="zh-CN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dirty="0">
                <a:latin typeface="ZztexMono-Regular"/>
              </a:rPr>
              <a:t>far)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2737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正交投影矩阵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zh-CN" sz="2400" dirty="0"/>
              </a:p>
              <a:p>
                <a:r>
                  <a:rPr lang="zh-CN" altLang="en-US" sz="2400" dirty="0"/>
                  <a:t>正交矩阵的构造：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>
                    <a:solidFill>
                      <a:srgbClr val="FF0000"/>
                    </a:solidFill>
                  </a:rPr>
                  <a:t>把中心移到原点</a:t>
                </a:r>
                <a:r>
                  <a:rPr lang="zh-CN" altLang="en-US" sz="1800" dirty="0"/>
                  <a:t>，对应的变换为：</a:t>
                </a:r>
                <a:endParaRPr lang="en-US" altLang="zh-CN" sz="1800" dirty="0"/>
              </a:p>
              <a:p>
                <a:pPr marL="457200" lvl="1" indent="0">
                  <a:buClr>
                    <a:schemeClr val="tx1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800" b="1" i="1" dirty="0">
                          <a:latin typeface="Cambria Math" charset="0"/>
                        </a:rPr>
                        <m:t>	</m:t>
                      </m:r>
                      <m:r>
                        <a:rPr lang="en-US" altLang="zh-CN" sz="1800" b="1" i="1" dirty="0" smtClean="0">
                          <a:latin typeface="Cambria Math" charset="0"/>
                        </a:rPr>
                        <m:t>𝑻</m:t>
                      </m:r>
                      <m:r>
                        <a:rPr lang="en-US" altLang="zh-CN" sz="1800" i="1" dirty="0" smtClean="0">
                          <a:latin typeface="Cambria Math" charset="0"/>
                        </a:rPr>
                        <m:t>(−</m:t>
                      </m:r>
                      <m:f>
                        <m:fPr>
                          <m:ctrlPr>
                            <a:rPr lang="en-US" altLang="zh-CN" sz="1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dirty="0" smtClean="0">
                              <a:latin typeface="Cambria Math" charset="0"/>
                            </a:rPr>
                            <m:t>𝑙𝑒𝑓𝑡</m:t>
                          </m:r>
                          <m:r>
                            <a:rPr lang="en-US" altLang="zh-CN" sz="1800" i="1" dirty="0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altLang="zh-CN" sz="1800" i="1" dirty="0" smtClean="0">
                              <a:latin typeface="Cambria Math" charset="0"/>
                            </a:rPr>
                            <m:t>𝑟𝑖𝑔h𝑡</m:t>
                          </m:r>
                        </m:num>
                        <m:den>
                          <m:r>
                            <a:rPr lang="en-US" altLang="zh-CN" sz="1800" i="1" dirty="0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800" i="1" dirty="0" smtClean="0">
                          <a:latin typeface="Cambria Math" charset="0"/>
                        </a:rPr>
                        <m:t>, −</m:t>
                      </m:r>
                      <m:f>
                        <m:f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dirty="0" smtClean="0">
                              <a:latin typeface="Cambria Math" charset="0"/>
                            </a:rPr>
                            <m:t>𝑏𝑜𝑡𝑡𝑜𝑚</m:t>
                          </m:r>
                          <m:r>
                            <a:rPr lang="en-US" altLang="zh-CN" sz="1800" i="1" dirty="0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altLang="zh-CN" sz="1800" i="1" dirty="0" smtClean="0">
                              <a:latin typeface="Cambria Math" charset="0"/>
                            </a:rPr>
                            <m:t>𝑡𝑜𝑝</m:t>
                          </m:r>
                        </m:num>
                        <m:den>
                          <m:r>
                            <a:rPr lang="en-US" altLang="zh-CN" sz="1800" i="1" dirty="0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800" i="1" dirty="0" smtClean="0">
                          <a:latin typeface="Cambria Math" charset="0"/>
                        </a:rPr>
                        <m:t>,</m:t>
                      </m:r>
                      <m:f>
                        <m:f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dirty="0" smtClean="0">
                              <a:latin typeface="Cambria Math" charset="0"/>
                            </a:rPr>
                            <m:t>𝑛𝑒𝑎𝑟</m:t>
                          </m:r>
                          <m:r>
                            <a:rPr lang="en-US" altLang="zh-CN" sz="1800" i="1" dirty="0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altLang="zh-CN" sz="1800" i="1" dirty="0" smtClean="0">
                              <a:latin typeface="Cambria Math" charset="0"/>
                            </a:rPr>
                            <m:t>𝑓𝑎𝑟</m:t>
                          </m:r>
                        </m:num>
                        <m:den>
                          <m:r>
                            <a:rPr lang="en-US" altLang="zh-CN" sz="1800" i="1" dirty="0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800" i="1" dirty="0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>
                    <a:solidFill>
                      <a:srgbClr val="FF0000"/>
                    </a:solidFill>
                  </a:rPr>
                  <a:t>进行放缩从而使视见体的边长为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2</a:t>
                </a:r>
                <a:r>
                  <a:rPr lang="zh-CN" altLang="en-US" sz="1800" dirty="0"/>
                  <a:t>：</a:t>
                </a:r>
                <a:endParaRPr lang="en-US" altLang="zh-CN" sz="1800" dirty="0"/>
              </a:p>
              <a:p>
                <a:pPr marL="457200" lvl="1" indent="0">
                  <a:buClr>
                    <a:schemeClr val="tx1"/>
                  </a:buClr>
                  <a:buNone/>
                </a:pPr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800" b="1" i="1" dirty="0">
                        <a:latin typeface="Cambria Math" charset="0"/>
                      </a:rPr>
                      <m:t>𝑺</m:t>
                    </m:r>
                    <m:d>
                      <m:dPr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1800" b="1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b="1" i="1" dirty="0">
                                <a:latin typeface="Cambria Math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1800" b="1" i="1" dirty="0">
                                <a:latin typeface="Cambria Math" charset="0"/>
                              </a:rPr>
                              <m:t>𝑟𝑖𝑔h𝑡</m:t>
                            </m:r>
                            <m:r>
                              <a:rPr lang="en-US" altLang="zh-CN" sz="1800" b="1" i="1" dirty="0"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altLang="zh-CN" sz="1800" b="1" i="1" dirty="0">
                                <a:latin typeface="Cambria Math" charset="0"/>
                              </a:rPr>
                              <m:t>𝑙𝑒𝑓𝑡</m:t>
                            </m:r>
                          </m:den>
                        </m:f>
                        <m:r>
                          <a:rPr lang="en-US" altLang="zh-CN" sz="1800" b="1" i="1" dirty="0">
                            <a:latin typeface="Cambria Math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1800" b="1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b="1" i="1" dirty="0">
                                <a:latin typeface="Cambria Math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1800" b="1" i="1" dirty="0">
                                <a:latin typeface="Cambria Math" charset="0"/>
                              </a:rPr>
                              <m:t>𝑡𝑜𝑝</m:t>
                            </m:r>
                            <m:r>
                              <a:rPr lang="en-US" altLang="zh-CN" sz="1800" b="1" i="1" dirty="0">
                                <a:latin typeface="Cambria Math" charset="0"/>
                              </a:rPr>
                              <m:t> − </m:t>
                            </m:r>
                            <m:r>
                              <a:rPr lang="en-US" altLang="zh-CN" sz="1800" b="1" i="1" dirty="0">
                                <a:latin typeface="Cambria Math" charset="0"/>
                              </a:rPr>
                              <m:t>𝑏𝑜𝑡𝑡𝑜𝑚</m:t>
                            </m:r>
                          </m:den>
                        </m:f>
                        <m:r>
                          <a:rPr lang="en-US" altLang="zh-CN" sz="1800" b="1" i="1" dirty="0">
                            <a:latin typeface="Cambria Math" charset="0"/>
                          </a:rPr>
                          <m:t>, </m:t>
                        </m:r>
                        <m:r>
                          <a:rPr lang="en-US" altLang="zh-CN" sz="1800" b="1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800" b="1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b="1" i="1" dirty="0">
                                <a:latin typeface="Cambria Math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1800" b="1" i="1" dirty="0">
                                <a:latin typeface="Cambria Math" charset="0"/>
                              </a:rPr>
                              <m:t>𝑓𝑎𝑟</m:t>
                            </m:r>
                            <m:r>
                              <a:rPr lang="en-US" altLang="zh-CN" sz="1800" b="1" i="1" dirty="0"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altLang="zh-CN" sz="1800" b="1" i="1" dirty="0">
                                <a:latin typeface="Cambria Math" charset="0"/>
                              </a:rPr>
                              <m:t>𝑛𝑒𝑎𝑟</m:t>
                            </m:r>
                          </m:den>
                        </m:f>
                      </m:e>
                    </m:d>
                  </m:oMath>
                </a14:m>
                <a:endParaRPr lang="en-US" altLang="zh-CN" sz="1800" b="1" i="1" dirty="0">
                  <a:latin typeface="Cambria Math" charset="0"/>
                </a:endParaRPr>
              </a:p>
              <a:p>
                <a:pPr marL="457200" lvl="1" indent="0">
                  <a:buClr>
                    <a:schemeClr val="tx1"/>
                  </a:buClr>
                  <a:buNone/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2400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02591" y="1197679"/>
            <a:ext cx="7272959" cy="36933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mat4 </a:t>
            </a:r>
            <a:r>
              <a:rPr lang="en-US" altLang="zh-CN" b="1" dirty="0">
                <a:latin typeface="ZztexMono-Regular"/>
              </a:rPr>
              <a:t>N = Ortho</a:t>
            </a:r>
            <a:r>
              <a:rPr lang="en-US" altLang="zh-CN" dirty="0">
                <a:latin typeface="ZztexMono-Regular"/>
              </a:rPr>
              <a:t>(left, right, bottom, top, near, far);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232" y="1559098"/>
            <a:ext cx="3756025" cy="139218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0389" y="3967246"/>
            <a:ext cx="3057929" cy="50644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0042" y="4896192"/>
            <a:ext cx="4798275" cy="15439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643233" y="5865620"/>
            <a:ext cx="203999" cy="129159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760706" y="5865619"/>
            <a:ext cx="182894" cy="129160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723828" y="4186694"/>
            <a:ext cx="199585" cy="130124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57BC3B-7D5E-4D9C-9619-018E10D11FC5}"/>
              </a:ext>
            </a:extLst>
          </p:cNvPr>
          <p:cNvSpPr/>
          <p:nvPr/>
        </p:nvSpPr>
        <p:spPr>
          <a:xfrm>
            <a:off x="155120" y="2294964"/>
            <a:ext cx="2686691" cy="532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先移到原点再放缩到一定范围内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C54B14F-1994-4462-BDA8-91CDF5A6F3C2}"/>
              </a:ext>
            </a:extLst>
          </p:cNvPr>
          <p:cNvSpPr/>
          <p:nvPr/>
        </p:nvSpPr>
        <p:spPr>
          <a:xfrm>
            <a:off x="2040042" y="823420"/>
            <a:ext cx="2969245" cy="3450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基于相机坐标系确定参数</a:t>
            </a:r>
          </a:p>
        </p:txBody>
      </p:sp>
    </p:spTree>
    <p:extLst>
      <p:ext uri="{BB962C8B-B14F-4D97-AF65-F5344CB8AC3E}">
        <p14:creationId xmlns:p14="http://schemas.microsoft.com/office/powerpoint/2010/main" val="2304057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341843" y="3389111"/>
            <a:ext cx="44678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00B1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OpenGL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的透视投影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79" y="1913900"/>
            <a:ext cx="6142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2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914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透视投影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透视投影的概念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投影中心</a:t>
            </a:r>
            <a:r>
              <a:rPr lang="en-US" altLang="zh-CN" sz="1800" dirty="0"/>
              <a:t>(COP)/</a:t>
            </a:r>
            <a:r>
              <a:rPr lang="zh-CN" altLang="en-US" sz="1800" dirty="0"/>
              <a:t>透镜模型中的焦点在</a:t>
            </a:r>
            <a:endParaRPr lang="en-US" altLang="zh-CN" sz="1800" dirty="0"/>
          </a:p>
          <a:p>
            <a:pPr marL="457200" lvl="1" indent="0">
              <a:buClr>
                <a:schemeClr val="tx1"/>
              </a:buClr>
              <a:buNone/>
            </a:pPr>
            <a:r>
              <a:rPr lang="en-US" altLang="zh-CN" sz="1800" dirty="0"/>
              <a:t>   </a:t>
            </a:r>
            <a:r>
              <a:rPr lang="zh-CN" altLang="en-US" sz="1800" dirty="0"/>
              <a:t>有限远位置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>
                <a:highlight>
                  <a:srgbClr val="FFFF00"/>
                </a:highlight>
              </a:rPr>
              <a:t>透视变换是保直线的，但不是仿射变换</a:t>
            </a:r>
            <a:endParaRPr lang="en-US" altLang="zh-CN" sz="1800" dirty="0">
              <a:highlight>
                <a:srgbClr val="FFFF00"/>
              </a:highlight>
            </a:endParaRPr>
          </a:p>
          <a:p>
            <a:pPr marL="457200" lvl="1" indent="0">
              <a:buClr>
                <a:schemeClr val="tx1"/>
              </a:buClr>
              <a:buNone/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endParaRPr lang="en-US" altLang="zh-CN" sz="2400" dirty="0"/>
          </a:p>
          <a:p>
            <a:pPr lvl="1"/>
            <a:endParaRPr lang="en-US" altLang="zh-CN" sz="16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透视投影的类型：</a:t>
            </a:r>
            <a:endParaRPr lang="en-US" altLang="zh-CN" sz="18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272" y="5094846"/>
            <a:ext cx="3059720" cy="16180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193" y="2851504"/>
            <a:ext cx="3658513" cy="151769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578" y="666510"/>
            <a:ext cx="2653414" cy="20024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609" y="2668965"/>
            <a:ext cx="2666873" cy="199750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500143" y="2144224"/>
            <a:ext cx="461665" cy="100283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b="1" dirty="0"/>
              <a:t>焦距增大</a:t>
            </a:r>
          </a:p>
        </p:txBody>
      </p:sp>
      <p:sp>
        <p:nvSpPr>
          <p:cNvPr id="12" name="箭头: 下 11"/>
          <p:cNvSpPr/>
          <p:nvPr/>
        </p:nvSpPr>
        <p:spPr>
          <a:xfrm>
            <a:off x="7154350" y="2384317"/>
            <a:ext cx="311679" cy="569295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786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9" y="2589750"/>
            <a:ext cx="6599652" cy="178099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简单透视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400" dirty="0"/>
                  <a:t>透视投影的概念</a:t>
                </a:r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投影中心在原点</a:t>
                </a: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投影平面为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charset="0"/>
                      </a:rPr>
                      <m:t>𝑧</m:t>
                    </m:r>
                    <m:r>
                      <a:rPr lang="en-US" altLang="zh-CN" sz="1800" i="1" dirty="0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charset="0"/>
                      </a:rPr>
                      <m:t>=</m:t>
                    </m:r>
                    <m:r>
                      <a:rPr lang="en-US" altLang="zh-CN" sz="1800" i="1" dirty="0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charset="0"/>
                      </a:rPr>
                      <m:t>𝑑</m:t>
                    </m:r>
                    <m:r>
                      <a:rPr lang="en-US" altLang="zh-CN" sz="1800" i="1" dirty="0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charset="0"/>
                      </a:rPr>
                      <m:t>, </m:t>
                    </m:r>
                    <m:r>
                      <a:rPr lang="en-US" altLang="zh-CN" sz="1800" i="1" dirty="0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charset="0"/>
                      </a:rPr>
                      <m:t>𝑑</m:t>
                    </m:r>
                    <m:r>
                      <a:rPr lang="en-US" altLang="zh-CN" sz="1800" i="1" dirty="0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charset="0"/>
                      </a:rPr>
                      <m:t>&lt;0</m:t>
                    </m:r>
                  </m:oMath>
                </a14:m>
                <a:endParaRPr lang="en-US" altLang="zh-CN" sz="1800" dirty="0">
                  <a:highlight>
                    <a:srgbClr val="FFFF00"/>
                  </a:highlight>
                </a:endParaRP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近大远小</a:t>
                </a: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r>
                  <a:rPr lang="zh-CN" altLang="en-US" sz="2400" dirty="0"/>
                  <a:t>透视方程：</a:t>
                </a:r>
                <a:endParaRPr lang="en-US" altLang="zh-CN" sz="1800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09" t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2948" y="5010661"/>
            <a:ext cx="1284362" cy="1679578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988" y="4986851"/>
            <a:ext cx="3975600" cy="162394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5121773" y="461751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齐次坐标表达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D9C289-4FA1-49C1-BB8C-51ECFD2A28C5}"/>
              </a:ext>
            </a:extLst>
          </p:cNvPr>
          <p:cNvSpPr/>
          <p:nvPr/>
        </p:nvSpPr>
        <p:spPr>
          <a:xfrm>
            <a:off x="221348" y="5622206"/>
            <a:ext cx="1371600" cy="430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相似三角形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C23CE028-C7D5-4A51-B9AD-66E300FB9424}"/>
                  </a:ext>
                </a:extLst>
              </p14:cNvPr>
              <p14:cNvContentPartPr/>
              <p14:nvPr/>
            </p14:nvContentPartPr>
            <p14:xfrm>
              <a:off x="5695920" y="3943440"/>
              <a:ext cx="3302280" cy="15051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C23CE028-C7D5-4A51-B9AD-66E300FB94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86560" y="3934080"/>
                <a:ext cx="3321000" cy="152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2999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透视除法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400" dirty="0"/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charset="0"/>
                      </a:rPr>
                      <m:t>𝑤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≠1</m:t>
                    </m:r>
                  </m:oMath>
                </a14:m>
                <a:r>
                  <a:rPr lang="en-US" altLang="zh-CN" sz="2400" dirty="0"/>
                  <a:t>, </a:t>
                </a:r>
                <a:r>
                  <a:rPr lang="zh-CN" altLang="en-US" sz="2400" dirty="0"/>
                  <a:t>那么必须</a:t>
                </a:r>
                <a:r>
                  <a:rPr lang="zh-CN" altLang="en-US" sz="2400" dirty="0">
                    <a:highlight>
                      <a:srgbClr val="FFFF00"/>
                    </a:highlight>
                  </a:rPr>
                  <a:t>从齐次坐标中除以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highlight>
                          <a:srgbClr val="FFFF00"/>
                        </a:highlight>
                        <a:latin typeface="Cambria Math" charset="0"/>
                      </a:rPr>
                      <m:t>𝑤</m:t>
                    </m:r>
                  </m:oMath>
                </a14:m>
                <a:r>
                  <a:rPr lang="zh-CN" altLang="en-US" sz="2400" dirty="0"/>
                  <a:t>而得到所表示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sz="2400" dirty="0"/>
                  <a:t>    </a:t>
                </a:r>
                <a:r>
                  <a:rPr lang="zh-CN" altLang="en-US" sz="2400" dirty="0"/>
                  <a:t>的点，这就是透视除法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1961" r="-5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9" y="2615033"/>
            <a:ext cx="7940701" cy="96353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1941" y="4046957"/>
            <a:ext cx="2095658" cy="22808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078" y="3969498"/>
            <a:ext cx="2274450" cy="2435778"/>
          </a:xfrm>
          <a:prstGeom prst="rect">
            <a:avLst/>
          </a:prstGeom>
        </p:spPr>
      </p:pic>
      <p:sp>
        <p:nvSpPr>
          <p:cNvPr id="10" name="箭头: 右 9"/>
          <p:cNvSpPr/>
          <p:nvPr/>
        </p:nvSpPr>
        <p:spPr>
          <a:xfrm>
            <a:off x="4241837" y="4912664"/>
            <a:ext cx="614837" cy="5494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502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127" y="3533666"/>
            <a:ext cx="5219828" cy="31417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OpenGL</a:t>
            </a:r>
            <a:r>
              <a:rPr lang="zh-CN" altLang="en-US" dirty="0"/>
              <a:t>的透视投影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可视范围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只有位于视角内的对象才会出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zh-CN" altLang="en-US" sz="1800" dirty="0"/>
              <a:t>   现在视图中</a:t>
            </a:r>
            <a:endParaRPr lang="en-US" altLang="zh-CN" dirty="0"/>
          </a:p>
          <a:p>
            <a:endParaRPr lang="en-US" altLang="zh-CN" sz="3000" dirty="0"/>
          </a:p>
          <a:p>
            <a:r>
              <a:rPr lang="zh-CN" altLang="en-US" dirty="0"/>
              <a:t>视见体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若胶卷是矩形的，那么由视角张成</a:t>
            </a:r>
            <a:endParaRPr lang="en-US" altLang="zh-CN" sz="1800" dirty="0"/>
          </a:p>
          <a:p>
            <a:pPr marL="457200" lvl="1" indent="0">
              <a:buClr>
                <a:schemeClr val="tx1"/>
              </a:buClr>
              <a:buNone/>
            </a:pPr>
            <a:r>
              <a:rPr lang="zh-CN" altLang="en-US" sz="1800" dirty="0"/>
              <a:t>    一个半无穷的棱台，这称为视见体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其顶点就是</a:t>
            </a:r>
            <a:r>
              <a:rPr lang="en-US" altLang="zh-CN" sz="1800" dirty="0"/>
              <a:t>COP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但实际的视景体通常有前后裁剪面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不在视景体内的物体被裁剪掉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883" y="628650"/>
            <a:ext cx="3230072" cy="287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541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921" y="905208"/>
            <a:ext cx="4775079" cy="256705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981" y="3434628"/>
            <a:ext cx="4171455" cy="318154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OpenGL</a:t>
            </a:r>
            <a:r>
              <a:rPr lang="zh-CN" altLang="en-US" dirty="0"/>
              <a:t>的透视投影函数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视见体函数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透视函数：</a:t>
            </a:r>
            <a:r>
              <a:rPr lang="en-US" altLang="zh-CN" dirty="0"/>
              <a:t>  </a:t>
            </a:r>
          </a:p>
          <a:p>
            <a:endParaRPr lang="en-US" altLang="zh-CN" dirty="0"/>
          </a:p>
          <a:p>
            <a:pPr marL="457200" lvl="1" indent="0">
              <a:buClr>
                <a:schemeClr val="tx1"/>
              </a:buClr>
              <a:buNone/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64750" y="1938726"/>
            <a:ext cx="3980985" cy="1754326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mat4 </a:t>
            </a:r>
            <a:r>
              <a:rPr lang="en-US" altLang="zh-CN" b="1" dirty="0">
                <a:latin typeface="ZztexMono-Regular"/>
              </a:rPr>
              <a:t>Frustum(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left,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</a:p>
          <a:p>
            <a:pPr lvl="3"/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right,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</a:p>
          <a:p>
            <a:pPr lvl="3"/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bottom,     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           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top,</a:t>
            </a:r>
          </a:p>
          <a:p>
            <a:pPr lvl="3"/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near,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</a:p>
          <a:p>
            <a:pPr lvl="3"/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far);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64748" y="4941842"/>
            <a:ext cx="4575347" cy="1200329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mat4 </a:t>
            </a:r>
            <a:r>
              <a:rPr lang="en-US" altLang="zh-CN" b="1" dirty="0">
                <a:latin typeface="ZztexMono-Regular"/>
              </a:rPr>
              <a:t>Perspective(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 err="1">
                <a:latin typeface="ZztexMono-Regular"/>
              </a:rPr>
              <a:t>fovy</a:t>
            </a:r>
            <a:r>
              <a:rPr lang="en-US" altLang="zh-CN" b="1" dirty="0">
                <a:latin typeface="ZztexMono-Regular"/>
              </a:rPr>
              <a:t>,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	</a:t>
            </a:r>
            <a:r>
              <a:rPr lang="zh-CN" altLang="en-US" b="1" dirty="0">
                <a:solidFill>
                  <a:srgbClr val="0000FF"/>
                </a:solidFill>
                <a:latin typeface="ZztexMono-Regular"/>
              </a:rPr>
              <a:t>        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aspect,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</a:p>
          <a:p>
            <a:r>
              <a:rPr lang="zh-CN" altLang="en-US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	</a:t>
            </a:r>
            <a:r>
              <a:rPr lang="zh-CN" altLang="en-US" b="1" dirty="0">
                <a:solidFill>
                  <a:srgbClr val="0000FF"/>
                </a:solidFill>
                <a:latin typeface="ZztexMono-Regular"/>
              </a:rPr>
              <a:t>        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near, </a:t>
            </a:r>
          </a:p>
          <a:p>
            <a:r>
              <a:rPr lang="en-US" altLang="zh-CN" b="1" dirty="0">
                <a:latin typeface="ZztexMono-Regular"/>
              </a:rPr>
              <a:t>	</a:t>
            </a:r>
            <a:r>
              <a:rPr lang="zh-CN" altLang="en-US" b="1">
                <a:latin typeface="ZztexMono-Regular"/>
              </a:rPr>
              <a:t>         </a:t>
            </a:r>
            <a:r>
              <a:rPr lang="en-US" altLang="zh-CN" b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far);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0251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842" y="1506818"/>
            <a:ext cx="2460224" cy="2005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透视规范化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导出透视规范化矩阵：</a:t>
            </a:r>
            <a:endParaRPr lang="en-US" altLang="zh-CN" sz="1200" dirty="0"/>
          </a:p>
          <a:p>
            <a:pPr marL="457200" lvl="1" indent="0">
              <a:buClr>
                <a:schemeClr val="tx1"/>
              </a:buClr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548" y="3846920"/>
            <a:ext cx="1774518" cy="102731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1086" y="3705239"/>
            <a:ext cx="1174463" cy="1284131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1048327" y="5290348"/>
            <a:ext cx="1982621" cy="1394346"/>
            <a:chOff x="1492905" y="4961378"/>
            <a:chExt cx="1982621" cy="1394346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92905" y="4961378"/>
              <a:ext cx="1982621" cy="676800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92905" y="5680686"/>
              <a:ext cx="1962087" cy="675038"/>
            </a:xfrm>
            <a:prstGeom prst="rect">
              <a:avLst/>
            </a:prstGeom>
          </p:spPr>
        </p:pic>
      </p:grpSp>
      <p:grpSp>
        <p:nvGrpSpPr>
          <p:cNvPr id="22" name="组合 21"/>
          <p:cNvGrpSpPr/>
          <p:nvPr/>
        </p:nvGrpSpPr>
        <p:grpSpPr>
          <a:xfrm>
            <a:off x="825098" y="3599722"/>
            <a:ext cx="4774477" cy="1429743"/>
            <a:chOff x="565288" y="3342928"/>
            <a:chExt cx="4950338" cy="1482406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5288" y="3342928"/>
              <a:ext cx="4950338" cy="1482406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46508" y="3460160"/>
              <a:ext cx="97792" cy="97478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97612" y="4628267"/>
              <a:ext cx="97792" cy="97478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38875" y="4034332"/>
              <a:ext cx="97792" cy="97478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763618" y="4041307"/>
              <a:ext cx="97792" cy="97478"/>
            </a:xfrm>
            <a:prstGeom prst="rect">
              <a:avLst/>
            </a:prstGeom>
          </p:spPr>
        </p:pic>
      </p:grpSp>
      <p:sp>
        <p:nvSpPr>
          <p:cNvPr id="24" name="Rectangle 23"/>
          <p:cNvSpPr/>
          <p:nvPr/>
        </p:nvSpPr>
        <p:spPr>
          <a:xfrm>
            <a:off x="6966208" y="4398379"/>
            <a:ext cx="568919" cy="237261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010563" y="5322470"/>
            <a:ext cx="2158582" cy="1385763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72289" y="2622732"/>
                <a:ext cx="9586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=±</m:t>
                      </m:r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𝑧</m:t>
                      </m:r>
                    </m:oMath>
                  </m:oMathPara>
                </a14:m>
                <a:endParaRPr lang="en-US" altLang="zh-CN" b="0" dirty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289" y="2622732"/>
                <a:ext cx="958659" cy="369332"/>
              </a:xfrm>
              <a:prstGeom prst="rect">
                <a:avLst/>
              </a:prstGeom>
              <a:blipFill rotWithShape="0">
                <a:blip r:embed="rId10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072289" y="2980307"/>
                <a:ext cx="9586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𝑦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=±</m:t>
                      </m:r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𝑧</m:t>
                      </m:r>
                    </m:oMath>
                  </m:oMathPara>
                </a14:m>
                <a:endParaRPr lang="en-US" altLang="zh-CN" b="0" dirty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289" y="2980307"/>
                <a:ext cx="958659" cy="369332"/>
              </a:xfrm>
              <a:prstGeom prst="rect">
                <a:avLst/>
              </a:prstGeom>
              <a:blipFill rotWithShape="0"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318135" y="2988042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/>
          </a:p>
        </p:txBody>
      </p:sp>
      <p:sp>
        <p:nvSpPr>
          <p:cNvPr id="28" name="Left-Right Arrow 27"/>
          <p:cNvSpPr/>
          <p:nvPr/>
        </p:nvSpPr>
        <p:spPr>
          <a:xfrm>
            <a:off x="3306726" y="5539563"/>
            <a:ext cx="322728" cy="12860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09807" y="6177590"/>
            <a:ext cx="558800" cy="292100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49529" y="5495398"/>
            <a:ext cx="609600" cy="266700"/>
          </a:xfrm>
          <a:prstGeom prst="rect">
            <a:avLst/>
          </a:prstGeom>
        </p:spPr>
      </p:pic>
      <p:sp>
        <p:nvSpPr>
          <p:cNvPr id="37" name="Left-Right Arrow 36"/>
          <p:cNvSpPr/>
          <p:nvPr/>
        </p:nvSpPr>
        <p:spPr>
          <a:xfrm>
            <a:off x="3306606" y="6292047"/>
            <a:ext cx="322728" cy="12860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/>
          <p:nvPr/>
        </p:nvSpPr>
        <p:spPr>
          <a:xfrm>
            <a:off x="5192540" y="5773183"/>
            <a:ext cx="350920" cy="4729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1022097" y="1919305"/>
                <a:ext cx="377699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dirty="0"/>
                  <a:t>给定由下面</a:t>
                </a:r>
                <a:r>
                  <a:rPr lang="en-US" altLang="zh-CN" sz="1600" dirty="0"/>
                  <a:t>4</a:t>
                </a:r>
                <a:r>
                  <a:rPr lang="zh-CN" altLang="en-US" sz="1600" dirty="0"/>
                  <a:t>个平面构成的半无穷棱锥：</a:t>
                </a:r>
                <a:endParaRPr lang="en-US" altLang="zh-CN" sz="1600" dirty="0"/>
              </a:p>
              <a:p>
                <a:r>
                  <a:rPr lang="zh-CN" altLang="en-US" sz="1600" dirty="0"/>
                  <a:t>（侧面与投影平面夹角 </a:t>
                </a:r>
                <a:r>
                  <a:rPr lang="en-US" altLang="zh-CN" sz="1600" dirty="0"/>
                  <a:t>=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45</a:t>
                </a:r>
                <a14:m>
                  <m:oMath xmlns:m="http://schemas.openxmlformats.org/officeDocument/2006/math">
                    <m:r>
                      <a:rPr lang="it-IT" altLang="zh-CN" sz="1600" i="1">
                        <a:latin typeface="Cambria Math" charset="0"/>
                        <a:ea typeface="Cambria Math" charset="0"/>
                        <a:cs typeface="Cambria Math" charset="0"/>
                      </a:rPr>
                      <m:t>°</m:t>
                    </m:r>
                    <m:r>
                      <a:rPr lang="zh-CN" altLang="en-US" sz="1600" i="1">
                        <a:latin typeface="Cambria Math" charset="0"/>
                        <a:ea typeface="Cambria Math" charset="0"/>
                        <a:cs typeface="Cambria Math" charset="0"/>
                      </a:rPr>
                      <m:t>）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97" y="1919305"/>
                <a:ext cx="3776996" cy="584775"/>
              </a:xfrm>
              <a:prstGeom prst="rect">
                <a:avLst/>
              </a:prstGeom>
              <a:blipFill rotWithShape="0">
                <a:blip r:embed="rId14"/>
                <a:stretch>
                  <a:fillRect l="-969" t="-5208" b="-13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232F8B-EA90-3E47-806E-6A3332C3459D}"/>
                  </a:ext>
                </a:extLst>
              </p:cNvPr>
              <p:cNvSpPr txBox="1"/>
              <p:nvPr/>
            </p:nvSpPr>
            <p:spPr>
              <a:xfrm>
                <a:off x="6042579" y="6063656"/>
                <a:ext cx="2046008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far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near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far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near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232F8B-EA90-3E47-806E-6A3332C34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2579" y="6063656"/>
                <a:ext cx="2046008" cy="526554"/>
              </a:xfrm>
              <a:prstGeom prst="rect">
                <a:avLst/>
              </a:prstGeom>
              <a:blipFill>
                <a:blip r:embed="rId15"/>
                <a:stretch>
                  <a:fillRect l="-3704" r="-617" b="-27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1003523-360E-EB4C-A1BB-12732C933BE0}"/>
                  </a:ext>
                </a:extLst>
              </p:cNvPr>
              <p:cNvSpPr/>
              <p:nvPr/>
            </p:nvSpPr>
            <p:spPr>
              <a:xfrm>
                <a:off x="6001525" y="5351168"/>
                <a:ext cx="1987275" cy="618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far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CN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near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far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zh-CN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near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1003523-360E-EB4C-A1BB-12732C933B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1525" y="5351168"/>
                <a:ext cx="1987275" cy="618887"/>
              </a:xfrm>
              <a:prstGeom prst="rect">
                <a:avLst/>
              </a:prstGeom>
              <a:blipFill>
                <a:blip r:embed="rId1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2334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OpenGL</a:t>
            </a:r>
            <a:r>
              <a:rPr lang="zh-CN" altLang="en-US" dirty="0"/>
              <a:t>的透视变换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dirty="0"/>
              <a:t>视见体函数的矩阵</a:t>
            </a:r>
            <a:r>
              <a:rPr lang="en-US" altLang="zh-CN" dirty="0"/>
              <a:t>?</a:t>
            </a:r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847302" y="1907578"/>
            <a:ext cx="3506047" cy="1754326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mat4 </a:t>
            </a:r>
            <a:r>
              <a:rPr lang="en-US" altLang="zh-CN" b="1" dirty="0">
                <a:latin typeface="ZztexMono-Regular"/>
              </a:rPr>
              <a:t>Frustum(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left,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</a:p>
          <a:p>
            <a:pPr lvl="3"/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right,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</a:p>
          <a:p>
            <a:pPr lvl="3"/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bottom,     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           </a:t>
            </a:r>
            <a:r>
              <a:rPr lang="zh-CN" altLang="en-US" b="1" dirty="0">
                <a:solidFill>
                  <a:srgbClr val="0000FF"/>
                </a:solidFill>
                <a:latin typeface="ZztexMono-Regular"/>
              </a:rPr>
              <a:t>            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ZztexMono-Regular"/>
              </a:rPr>
              <a:t> 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top,</a:t>
            </a:r>
          </a:p>
          <a:p>
            <a:pPr lvl="3"/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near,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</a:p>
          <a:p>
            <a:pPr lvl="3"/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far);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19986"/>
            <a:ext cx="4167667" cy="1764239"/>
          </a:xfrm>
          <a:prstGeom prst="rect">
            <a:avLst/>
          </a:prstGeom>
        </p:spPr>
      </p:pic>
      <p:pic>
        <p:nvPicPr>
          <p:cNvPr id="14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151" y="3742070"/>
            <a:ext cx="2460224" cy="200565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847302" y="3829955"/>
                <a:ext cx="3862921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rgbClr val="FF0000"/>
                    </a:solidFill>
                    <a:highlight>
                      <a:srgbClr val="FFFF00"/>
                    </a:highlight>
                  </a:rPr>
                  <a:t>注意：</a:t>
                </a:r>
                <a:r>
                  <a:rPr lang="en-US" altLang="zh-CN" b="1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ZztexMono-Regular"/>
                  </a:rPr>
                  <a:t>Frustum</a:t>
                </a:r>
                <a:r>
                  <a:rPr lang="zh-CN" altLang="en-US" b="1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ZztexMono-Regular"/>
                  </a:rPr>
                  <a:t>函数没有限制视见体一定是对称的棱台！</a:t>
                </a:r>
                <a:endParaRPr lang="en-US" altLang="zh-CN" b="1" dirty="0">
                  <a:solidFill>
                    <a:srgbClr val="FF0000"/>
                  </a:solidFill>
                  <a:highlight>
                    <a:srgbClr val="FFFF00"/>
                  </a:highlight>
                  <a:latin typeface="ZztexMono-Regular"/>
                </a:endParaRPr>
              </a:p>
              <a:p>
                <a:endParaRPr lang="en-US" b="1" dirty="0">
                  <a:latin typeface="ZztexMono-Regular"/>
                </a:endParaRP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⇒</m:t>
                    </m:r>
                  </m:oMath>
                </a14:m>
                <a:r>
                  <a:rPr lang="zh-CN" altLang="en-US" b="1" dirty="0"/>
                  <a:t> 需要先</a:t>
                </a:r>
                <a:r>
                  <a:rPr lang="zh-CN" altLang="en-US" b="1" dirty="0">
                    <a:solidFill>
                      <a:srgbClr val="FF0000"/>
                    </a:solidFill>
                    <a:highlight>
                      <a:srgbClr val="FFFF00"/>
                    </a:highlight>
                  </a:rPr>
                  <a:t>将棱台变为对称标准的棱台，再做透视归一化变换</a:t>
                </a:r>
                <a:endParaRPr lang="en-US" b="1" dirty="0">
                  <a:solidFill>
                    <a:srgbClr val="FF0000"/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302" y="3829955"/>
                <a:ext cx="3862921" cy="1477328"/>
              </a:xfrm>
              <a:prstGeom prst="rect">
                <a:avLst/>
              </a:prstGeom>
              <a:blipFill>
                <a:blip r:embed="rId4"/>
                <a:stretch>
                  <a:fillRect l="-1420" t="-3292" b="-4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21"/>
          <p:cNvGrpSpPr/>
          <p:nvPr/>
        </p:nvGrpSpPr>
        <p:grpSpPr>
          <a:xfrm>
            <a:off x="954487" y="5428255"/>
            <a:ext cx="4774477" cy="1429743"/>
            <a:chOff x="565288" y="3342928"/>
            <a:chExt cx="4950338" cy="1482406"/>
          </a:xfrm>
        </p:grpSpPr>
        <p:pic>
          <p:nvPicPr>
            <p:cNvPr id="18" name="图片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5288" y="3342928"/>
              <a:ext cx="4950338" cy="1482406"/>
            </a:xfrm>
            <a:prstGeom prst="rect">
              <a:avLst/>
            </a:prstGeom>
          </p:spPr>
        </p:pic>
        <p:pic>
          <p:nvPicPr>
            <p:cNvPr id="19" name="图片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46508" y="3460160"/>
              <a:ext cx="97792" cy="97478"/>
            </a:xfrm>
            <a:prstGeom prst="rect">
              <a:avLst/>
            </a:prstGeom>
          </p:spPr>
        </p:pic>
        <p:pic>
          <p:nvPicPr>
            <p:cNvPr id="20" name="图片 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97612" y="4628267"/>
              <a:ext cx="97792" cy="97478"/>
            </a:xfrm>
            <a:prstGeom prst="rect">
              <a:avLst/>
            </a:prstGeom>
          </p:spPr>
        </p:pic>
        <p:pic>
          <p:nvPicPr>
            <p:cNvPr id="21" name="图片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38875" y="4034332"/>
              <a:ext cx="97792" cy="97478"/>
            </a:xfrm>
            <a:prstGeom prst="rect">
              <a:avLst/>
            </a:prstGeom>
          </p:spPr>
        </p:pic>
        <p:pic>
          <p:nvPicPr>
            <p:cNvPr id="22" name="图片 2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63618" y="4041307"/>
              <a:ext cx="97792" cy="97478"/>
            </a:xfrm>
            <a:prstGeom prst="rect">
              <a:avLst/>
            </a:prstGeom>
          </p:spPr>
        </p:pic>
      </p:grpSp>
      <p:cxnSp>
        <p:nvCxnSpPr>
          <p:cNvPr id="8" name="Elbow Connector 7"/>
          <p:cNvCxnSpPr/>
          <p:nvPr/>
        </p:nvCxnSpPr>
        <p:spPr>
          <a:xfrm rot="10800000" flipV="1">
            <a:off x="6277563" y="5906081"/>
            <a:ext cx="844593" cy="391485"/>
          </a:xfrm>
          <a:prstGeom prst="bentConnector3">
            <a:avLst>
              <a:gd name="adj1" fmla="val -6651"/>
            </a:avLst>
          </a:prstGeom>
          <a:ln w="1047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7122156" y="3162891"/>
            <a:ext cx="0" cy="579179"/>
          </a:xfrm>
          <a:prstGeom prst="straightConnector1">
            <a:avLst/>
          </a:prstGeom>
          <a:ln w="1047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1499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OpenGL</a:t>
            </a:r>
            <a:r>
              <a:rPr lang="zh-CN" altLang="en-US" dirty="0"/>
              <a:t>的透视变换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rgbClr val="94003F"/>
                  </a:buClr>
                </a:pPr>
                <a:r>
                  <a:rPr lang="zh-CN" altLang="en-US" dirty="0"/>
                  <a:t>视见体函数的矩阵</a:t>
                </a:r>
                <a:r>
                  <a:rPr lang="en-US" altLang="zh-CN" dirty="0"/>
                  <a:t>?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zh-CN" altLang="en-US" dirty="0">
                    <a:solidFill>
                      <a:srgbClr val="0000FF"/>
                    </a:solidFill>
                  </a:rPr>
                  <a:t>错切变换</a:t>
                </a:r>
                <a:r>
                  <a:rPr lang="zh-CN" altLang="en-US" dirty="0"/>
                  <a:t>：把不对称棱台变成对称</a:t>
                </a:r>
                <a:r>
                  <a:rPr lang="en-US" altLang="zh-CN" dirty="0"/>
                  <a:t>+</a:t>
                </a:r>
                <a:r>
                  <a:rPr lang="zh-CN" altLang="en-US" dirty="0"/>
                  <a:t>对称平面过原点</a:t>
                </a:r>
                <a:endParaRPr lang="en-US" altLang="zh-CN" dirty="0"/>
              </a:p>
              <a:p>
                <a:pPr lvl="1">
                  <a:buClr>
                    <a:schemeClr val="tx1"/>
                  </a:buClr>
                </a:pPr>
                <a:endParaRPr lang="en-US" altLang="zh-CN" dirty="0"/>
              </a:p>
              <a:p>
                <a:pPr lvl="1">
                  <a:buClr>
                    <a:schemeClr val="tx1"/>
                  </a:buClr>
                </a:pPr>
                <a:endParaRPr lang="en-US" altLang="zh-CN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dirty="0">
                    <a:solidFill>
                      <a:srgbClr val="0000FF"/>
                    </a:solidFill>
                  </a:rPr>
                  <a:t>缩放变换</a:t>
                </a:r>
                <a:r>
                  <a:rPr lang="zh-CN" altLang="en-US" dirty="0"/>
                  <a:t>：把棱台的侧面变成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𝑥</m:t>
                    </m:r>
                    <m:r>
                      <a:rPr lang="en-US" altLang="zh-CN" i="1">
                        <a:latin typeface="Cambria Math" charset="0"/>
                      </a:rPr>
                      <m:t>=±</m:t>
                    </m:r>
                    <m:r>
                      <a:rPr lang="en-US" altLang="zh-CN" i="1">
                        <a:latin typeface="Cambria Math" charset="0"/>
                        <a:ea typeface="Cambria Math" charset="0"/>
                        <a:cs typeface="Cambria Math" charset="0"/>
                      </a:rPr>
                      <m:t>𝑧</m:t>
                    </m:r>
                  </m:oMath>
                </a14:m>
                <a:r>
                  <a:rPr lang="zh-CN" altLang="en-US" dirty="0">
                    <a:ea typeface="Cambria Math" charset="0"/>
                    <a:cs typeface="Cambria Math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𝑦</m:t>
                    </m:r>
                    <m:r>
                      <a:rPr lang="en-US" altLang="zh-CN" i="1">
                        <a:latin typeface="Cambria Math" charset="0"/>
                      </a:rPr>
                      <m:t>=±</m:t>
                    </m:r>
                    <m:r>
                      <a:rPr lang="en-US" altLang="zh-CN" i="1">
                        <a:latin typeface="Cambria Math" charset="0"/>
                        <a:ea typeface="Cambria Math" charset="0"/>
                        <a:cs typeface="Cambria Math" charset="0"/>
                      </a:rPr>
                      <m:t>𝑧</m:t>
                    </m:r>
                  </m:oMath>
                </a14:m>
                <a:endParaRPr lang="en-US" altLang="zh-CN" dirty="0"/>
              </a:p>
              <a:p>
                <a:pPr lvl="1">
                  <a:buClr>
                    <a:schemeClr val="tx1"/>
                  </a:buClr>
                </a:pPr>
                <a:endParaRPr lang="en-US" altLang="zh-CN" dirty="0"/>
              </a:p>
              <a:p>
                <a:pPr lvl="1">
                  <a:buClr>
                    <a:schemeClr val="tx1"/>
                  </a:buClr>
                </a:pPr>
                <a:endParaRPr lang="en-US" altLang="zh-CN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dirty="0">
                    <a:solidFill>
                      <a:srgbClr val="0000FF"/>
                    </a:solidFill>
                  </a:rPr>
                  <a:t>透视归一化变换</a:t>
                </a:r>
              </a:p>
              <a:p>
                <a:pPr lvl="1">
                  <a:buClr>
                    <a:schemeClr val="tx1"/>
                  </a:buClr>
                </a:pPr>
                <a:endParaRPr lang="en-US" altLang="zh-CN" dirty="0"/>
              </a:p>
              <a:p>
                <a:pPr lvl="1">
                  <a:buClr>
                    <a:srgbClr val="94003F"/>
                  </a:buClr>
                </a:pPr>
                <a:endParaRPr lang="en-US" altLang="zh-CN" dirty="0"/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 marL="0" indent="0">
                  <a:buClr>
                    <a:srgbClr val="94003F"/>
                  </a:buClr>
                  <a:buNone/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18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547" y="2144635"/>
            <a:ext cx="5439846" cy="580969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934" y="3278860"/>
            <a:ext cx="5511073" cy="306737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8547" y="4440070"/>
            <a:ext cx="2137283" cy="1226457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4963" y="4281148"/>
            <a:ext cx="5095442" cy="1417313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3646406" y="4866148"/>
            <a:ext cx="296272" cy="2473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189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OpenGL</a:t>
            </a:r>
            <a:r>
              <a:rPr lang="zh-CN" altLang="en-US" dirty="0"/>
              <a:t>的透视变换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dirty="0"/>
              <a:t>透视函数的矩阵</a:t>
            </a:r>
            <a:r>
              <a:rPr lang="en-US" altLang="zh-CN" dirty="0"/>
              <a:t>?</a:t>
            </a:r>
          </a:p>
          <a:p>
            <a:pPr lvl="1">
              <a:buClr>
                <a:schemeClr val="tx1"/>
              </a:buClr>
            </a:pPr>
            <a:endParaRPr lang="en-US" altLang="zh-CN" dirty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10" name="矩形 6"/>
          <p:cNvSpPr/>
          <p:nvPr/>
        </p:nvSpPr>
        <p:spPr>
          <a:xfrm>
            <a:off x="1073094" y="2081684"/>
            <a:ext cx="3929798" cy="1200329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mat4 </a:t>
            </a:r>
            <a:r>
              <a:rPr lang="en-US" altLang="zh-CN" b="1" dirty="0">
                <a:latin typeface="ZztexMono-Regular"/>
              </a:rPr>
              <a:t>Perspective(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 err="1">
                <a:latin typeface="ZztexMono-Regular"/>
              </a:rPr>
              <a:t>fovy</a:t>
            </a:r>
            <a:r>
              <a:rPr lang="en-US" altLang="zh-CN" b="1" dirty="0">
                <a:latin typeface="ZztexMono-Regular"/>
              </a:rPr>
              <a:t>,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		</a:t>
            </a:r>
            <a:r>
              <a:rPr lang="zh-CN" altLang="en-US" b="1" dirty="0">
                <a:solidFill>
                  <a:srgbClr val="0000FF"/>
                </a:solidFill>
                <a:latin typeface="ZztexMono-Regular"/>
              </a:rPr>
              <a:t>             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aspect,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	</a:t>
            </a:r>
            <a:r>
              <a:rPr lang="zh-CN" altLang="en-US" b="1" dirty="0">
                <a:solidFill>
                  <a:srgbClr val="0000FF"/>
                </a:solidFill>
                <a:latin typeface="ZztexMono-Regular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	</a:t>
            </a:r>
            <a:r>
              <a:rPr lang="zh-CN" altLang="en-US" b="1" dirty="0">
                <a:solidFill>
                  <a:srgbClr val="0000FF"/>
                </a:solidFill>
                <a:latin typeface="ZztexMono-Regular"/>
              </a:rPr>
              <a:t>             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near, 		</a:t>
            </a:r>
            <a:r>
              <a:rPr lang="zh-CN" altLang="en-US" b="1" dirty="0">
                <a:latin typeface="ZztexMono-Regular"/>
              </a:rPr>
              <a:t>              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GLfloat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far);</a:t>
            </a:r>
            <a:endParaRPr lang="zh-CN" altLang="en-US" dirty="0"/>
          </a:p>
        </p:txBody>
      </p:sp>
      <p:sp>
        <p:nvSpPr>
          <p:cNvPr id="5" name="Right Arrow 4"/>
          <p:cNvSpPr/>
          <p:nvPr/>
        </p:nvSpPr>
        <p:spPr>
          <a:xfrm>
            <a:off x="5380074" y="2509284"/>
            <a:ext cx="180754" cy="2764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890438" y="2046333"/>
            <a:ext cx="1274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left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-right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303673" y="2046333"/>
            <a:ext cx="1496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bottom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-top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890438" y="2504852"/>
            <a:ext cx="2111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top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near</a:t>
            </a:r>
            <a:r>
              <a:rPr lang="zh-CN" altLang="en-US" dirty="0"/>
              <a:t>*</a:t>
            </a:r>
            <a:r>
              <a:rPr lang="en-US" altLang="zh-CN" dirty="0"/>
              <a:t>tan(</a:t>
            </a:r>
            <a:r>
              <a:rPr lang="en-US" altLang="zh-CN" dirty="0" err="1"/>
              <a:t>fovy</a:t>
            </a:r>
            <a:r>
              <a:rPr lang="en-US" altLang="zh-CN" dirty="0"/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234" y="2913267"/>
            <a:ext cx="18909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right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top</a:t>
            </a:r>
            <a:r>
              <a:rPr lang="zh-CN" altLang="en-US" dirty="0"/>
              <a:t>*</a:t>
            </a:r>
            <a:r>
              <a:rPr lang="en-US" altLang="zh-CN" dirty="0"/>
              <a:t>aspect</a:t>
            </a:r>
            <a:endParaRPr lang="en-US" dirty="0"/>
          </a:p>
        </p:txBody>
      </p:sp>
      <p:pic>
        <p:nvPicPr>
          <p:cNvPr id="16" name="图片 26"/>
          <p:cNvPicPr>
            <a:picLocks noChangeAspect="1"/>
          </p:cNvPicPr>
          <p:nvPr/>
        </p:nvPicPr>
        <p:blipFill rotWithShape="1">
          <a:blip r:embed="rId2"/>
          <a:srcRect l="19946"/>
          <a:stretch/>
        </p:blipFill>
        <p:spPr>
          <a:xfrm>
            <a:off x="874741" y="4062205"/>
            <a:ext cx="4079067" cy="1417313"/>
          </a:xfrm>
          <a:prstGeom prst="rect">
            <a:avLst/>
          </a:prstGeom>
        </p:spPr>
      </p:pic>
      <p:sp>
        <p:nvSpPr>
          <p:cNvPr id="11" name="Right Arrow 10"/>
          <p:cNvSpPr/>
          <p:nvPr/>
        </p:nvSpPr>
        <p:spPr>
          <a:xfrm>
            <a:off x="5231797" y="4514025"/>
            <a:ext cx="164805" cy="2977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l="8827"/>
          <a:stretch/>
        </p:blipFill>
        <p:spPr>
          <a:xfrm>
            <a:off x="5746859" y="3974137"/>
            <a:ext cx="2835164" cy="150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4004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投影变换总结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采用上述变换方式的优势：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endParaRPr lang="en-US" altLang="zh-CN" dirty="0"/>
          </a:p>
          <a:p>
            <a:pPr lvl="1">
              <a:buClr>
                <a:schemeClr val="tx1"/>
              </a:buClr>
            </a:pPr>
            <a:r>
              <a:rPr lang="zh-CN" altLang="en-US" sz="2400" dirty="0"/>
              <a:t>规范化使得只需要一个流水线体系就可以进行透视投影和正交投影</a:t>
            </a:r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2400" dirty="0"/>
              <a:t>尽可能位于四维齐次空间中，以便保持隐藏面消除和明暗处理所需要的三维信息</a:t>
            </a:r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2400" dirty="0"/>
              <a:t>简化了裁剪的操作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8233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329307" y="3389111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隐藏面消除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79" y="1913900"/>
            <a:ext cx="6142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3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6156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隐藏面消除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仅绘制那些位于其它</a:t>
            </a:r>
            <a:r>
              <a:rPr lang="zh-CN" altLang="en-US" dirty="0">
                <a:highlight>
                  <a:srgbClr val="FFFF00"/>
                </a:highlight>
              </a:rPr>
              <a:t>面前面的曲面或平面片</a:t>
            </a:r>
            <a:endParaRPr lang="en-US" altLang="zh-CN" sz="2400" dirty="0">
              <a:highlight>
                <a:srgbClr val="FFFF00"/>
              </a:highlight>
            </a:endParaRPr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OpenGL</a:t>
            </a:r>
            <a:r>
              <a:rPr lang="zh-CN" altLang="en-US" dirty="0"/>
              <a:t>采用称为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en-US" altLang="zh-CN" dirty="0">
                <a:solidFill>
                  <a:srgbClr val="00B050"/>
                </a:solidFill>
              </a:rPr>
              <a:t>z</a:t>
            </a:r>
            <a:r>
              <a:rPr lang="zh-CN" altLang="en-US" dirty="0">
                <a:solidFill>
                  <a:srgbClr val="00B050"/>
                </a:solidFill>
              </a:rPr>
              <a:t>缓冲区</a:t>
            </a:r>
            <a:r>
              <a:rPr lang="zh-CN" altLang="en-US" dirty="0"/>
              <a:t>的算法进行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en-US" dirty="0"/>
              <a:t>隐藏面消除，在</a:t>
            </a:r>
            <a:r>
              <a:rPr lang="en-US" altLang="zh-CN" dirty="0"/>
              <a:t>z</a:t>
            </a:r>
            <a:r>
              <a:rPr lang="zh-CN" altLang="en-US" dirty="0"/>
              <a:t>缓冲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en-US" dirty="0"/>
              <a:t>区中存贮着对象的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en-US" dirty="0"/>
              <a:t>深度信息，</a:t>
            </a:r>
            <a:r>
              <a:rPr lang="zh-CN" altLang="en-US" dirty="0">
                <a:highlight>
                  <a:srgbClr val="FFFF00"/>
                </a:highlight>
              </a:rPr>
              <a:t>从而只有</a:t>
            </a:r>
            <a:endParaRPr lang="en-US" altLang="zh-CN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zh-CN" altLang="en-US" dirty="0">
                <a:highlight>
                  <a:srgbClr val="FFFF00"/>
                </a:highlight>
              </a:rPr>
              <a:t>   前面的对象出现在图像中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35904"/>
            <a:ext cx="4114099" cy="301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4352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隐藏面消除算法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5024009"/>
          </a:xfrm>
        </p:spPr>
        <p:txBody>
          <a:bodyPr>
            <a:normAutofit/>
          </a:bodyPr>
          <a:lstStyle/>
          <a:p>
            <a:r>
              <a:rPr lang="zh-CN" altLang="en-US" dirty="0"/>
              <a:t>算法分类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r>
              <a:rPr lang="zh-CN" altLang="en-US" dirty="0"/>
              <a:t>对象空间算法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r>
              <a:rPr lang="zh-CN" altLang="en-US" dirty="0"/>
              <a:t>图像空间算法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>
                <a:solidFill>
                  <a:srgbClr val="00B050"/>
                </a:solidFill>
              </a:rPr>
              <a:t>z</a:t>
            </a:r>
            <a:r>
              <a:rPr lang="zh-CN" altLang="en-US" dirty="0">
                <a:solidFill>
                  <a:srgbClr val="00B050"/>
                </a:solidFill>
              </a:rPr>
              <a:t>缓冲区</a:t>
            </a:r>
            <a:r>
              <a:rPr lang="zh-CN" altLang="en-US" dirty="0"/>
              <a:t>的算法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r>
              <a:rPr lang="zh-CN" altLang="en-US" dirty="0"/>
              <a:t>该算法创建专门的缓冲区（称为</a:t>
            </a:r>
            <a:r>
              <a:rPr lang="en-US" altLang="zh-CN" dirty="0"/>
              <a:t>z</a:t>
            </a:r>
            <a:r>
              <a:rPr lang="zh-CN" altLang="en-US" dirty="0"/>
              <a:t>缓冲区）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r>
              <a:rPr lang="zh-CN" altLang="en-US" dirty="0"/>
              <a:t>当几何体经过流水线各步骤时，存贮着该</a:t>
            </a:r>
            <a:r>
              <a:rPr lang="zh-CN" altLang="en-US" dirty="0">
                <a:highlight>
                  <a:srgbClr val="FFFF00"/>
                </a:highlight>
              </a:rPr>
              <a:t>几何体的深度信息</a:t>
            </a:r>
            <a:endParaRPr lang="en-US" altLang="zh-CN" dirty="0">
              <a:highlight>
                <a:srgbClr val="FFFF00"/>
              </a:highlight>
            </a:endParaRPr>
          </a:p>
          <a:p>
            <a:pPr marL="457200" lvl="1" indent="0">
              <a:buClr>
                <a:schemeClr val="tx1"/>
              </a:buClr>
              <a:buNone/>
            </a:pPr>
            <a:r>
              <a:rPr lang="zh-CN" altLang="en-US" dirty="0"/>
              <a:t>   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31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800" y="875426"/>
            <a:ext cx="3222019" cy="275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590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隐藏面消除算法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16831"/>
            <a:ext cx="8515350" cy="4351338"/>
          </a:xfrm>
        </p:spPr>
        <p:txBody>
          <a:bodyPr/>
          <a:lstStyle/>
          <a:p>
            <a:r>
              <a:rPr lang="zh-CN" altLang="en-US" dirty="0"/>
              <a:t>启用该算法的要素</a:t>
            </a:r>
          </a:p>
          <a:p>
            <a:pPr lvl="1">
              <a:buClr>
                <a:schemeClr val="tx1"/>
              </a:buClr>
            </a:pPr>
            <a:r>
              <a:rPr lang="zh-CN" altLang="en-US" dirty="0"/>
              <a:t>在</a:t>
            </a:r>
            <a:r>
              <a:rPr lang="en-US" altLang="zh-CN" dirty="0" err="1"/>
              <a:t>init</a:t>
            </a:r>
            <a:r>
              <a:rPr lang="en-US" altLang="zh-CN" dirty="0"/>
              <a:t>()</a:t>
            </a:r>
            <a:r>
              <a:rPr lang="zh-CN" altLang="en-US" dirty="0"/>
              <a:t>中激活</a:t>
            </a:r>
            <a:r>
              <a:rPr lang="en-US" altLang="zh-CN" dirty="0"/>
              <a:t>Z-Buffer</a:t>
            </a:r>
            <a:r>
              <a:rPr lang="zh-CN" altLang="en-US" dirty="0"/>
              <a:t>隐藏面消除算法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glEnable</a:t>
            </a:r>
            <a:r>
              <a:rPr lang="en-US" altLang="zh-CN" dirty="0"/>
              <a:t>(GL_DEPTH_TEST);</a:t>
            </a:r>
          </a:p>
          <a:p>
            <a:pPr lvl="1">
              <a:buClr>
                <a:schemeClr val="tx1"/>
              </a:buClr>
            </a:pPr>
            <a:r>
              <a:rPr lang="zh-CN" altLang="en-US" dirty="0"/>
              <a:t>在显示回调函数中清空深度缓冲区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glClear</a:t>
            </a:r>
            <a:r>
              <a:rPr lang="en-US" altLang="zh-CN" dirty="0"/>
              <a:t>(GL_COLOR_BUFFER_BIT|GL_DEPTH_BUFFER_BIT);</a:t>
            </a:r>
            <a:endParaRPr lang="zh-CN" alt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32</a:t>
            </a:fld>
            <a:endParaRPr lang="zh-CN" alt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476182" y="5038209"/>
            <a:ext cx="11342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实验 </a:t>
            </a:r>
            <a:r>
              <a:rPr lang="en-US" altLang="zh-CN" b="1" dirty="0"/>
              <a:t>2.2: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71CA51-7701-E84B-86A9-17E77CE9A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695" y="3898689"/>
            <a:ext cx="2520981" cy="26483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A80269-F079-F24A-AFD6-B357AAB77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415" y="3877681"/>
            <a:ext cx="2522645" cy="265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594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867650" y="3389111"/>
            <a:ext cx="3416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网格曲面的绘制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78" y="1913900"/>
            <a:ext cx="6142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4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837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592" y="911873"/>
            <a:ext cx="2187269" cy="187166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曲面的表示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高度场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r>
              <a:rPr lang="en-US" altLang="zh-CN" dirty="0"/>
              <a:t>2.5</a:t>
            </a:r>
            <a:r>
              <a:rPr lang="zh-CN" altLang="en-US" dirty="0"/>
              <a:t>维曲面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endParaRPr lang="en-US" altLang="zh-CN" dirty="0"/>
          </a:p>
          <a:p>
            <a:r>
              <a:rPr lang="zh-CN" altLang="en-US" dirty="0"/>
              <a:t>网格曲面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r>
              <a:rPr lang="zh-CN" altLang="en-US" dirty="0"/>
              <a:t>由多边形彼此相接构成的网格</a:t>
            </a:r>
          </a:p>
          <a:p>
            <a:pPr lvl="1">
              <a:buClr>
                <a:schemeClr val="tx1"/>
              </a:buClr>
            </a:pPr>
            <a:r>
              <a:rPr lang="zh-CN" altLang="en-US" dirty="0"/>
              <a:t>多边形称为网格的面，多边形的顶点也称为网格的顶点</a:t>
            </a:r>
          </a:p>
          <a:p>
            <a:pPr lvl="1">
              <a:buClr>
                <a:schemeClr val="tx1"/>
              </a:buClr>
            </a:pPr>
            <a:r>
              <a:rPr lang="zh-CN" altLang="en-US" dirty="0"/>
              <a:t>一般要求两张相邻面的公共边完全相同，即不能出现某一面的一个顶点在另一面的边中间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34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518" y="878305"/>
            <a:ext cx="2460484" cy="160868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952" y="1137780"/>
            <a:ext cx="1315451" cy="333992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520348" y="251372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曲面上的高度场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592104"/>
            <a:ext cx="1346330" cy="20301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2356" y="4264635"/>
            <a:ext cx="3029646" cy="209171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5039" y="4797021"/>
            <a:ext cx="2899106" cy="162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6355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113" y="4254329"/>
            <a:ext cx="5218205" cy="25533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高度场的绘制显示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369180"/>
          </a:xfrm>
        </p:spPr>
        <p:txBody>
          <a:bodyPr>
            <a:normAutofit/>
          </a:bodyPr>
          <a:lstStyle/>
          <a:p>
            <a:r>
              <a:rPr lang="zh-CN" altLang="en-US" dirty="0"/>
              <a:t>显示方法：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r>
              <a:rPr lang="zh-CN" altLang="en-US" dirty="0"/>
              <a:t>构建</a:t>
            </a:r>
            <a:r>
              <a:rPr lang="en-US" altLang="zh-CN" dirty="0"/>
              <a:t>x</a:t>
            </a:r>
            <a:r>
              <a:rPr lang="zh-CN" altLang="en-US" dirty="0"/>
              <a:t>，</a:t>
            </a:r>
            <a:r>
              <a:rPr lang="en-US" altLang="zh-CN" dirty="0"/>
              <a:t>z</a:t>
            </a:r>
            <a:r>
              <a:rPr lang="zh-CN" altLang="en-US" dirty="0"/>
              <a:t>向的二维数组，采用网格线绘制显示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r>
              <a:rPr lang="zh-CN" altLang="en-US" dirty="0"/>
              <a:t>两组</a:t>
            </a:r>
            <a:r>
              <a:rPr lang="en-US" altLang="zh-CN" dirty="0"/>
              <a:t>STRIP_LINE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00B050"/>
                </a:solidFill>
              </a:rPr>
              <a:t>请思考</a:t>
            </a:r>
            <a:r>
              <a:rPr lang="zh-CN" altLang="en-US" dirty="0"/>
              <a:t>）</a:t>
            </a:r>
            <a:r>
              <a:rPr lang="en-US" altLang="zh-CN" dirty="0"/>
              <a:t>,</a:t>
            </a:r>
            <a:r>
              <a:rPr lang="zh-CN" altLang="en-US" dirty="0"/>
              <a:t>其中一组数据如下：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endParaRPr lang="en-US" altLang="zh-CN" dirty="0"/>
          </a:p>
          <a:p>
            <a:pPr lvl="1">
              <a:buClr>
                <a:schemeClr val="tx1"/>
              </a:buClr>
            </a:pPr>
            <a:endParaRPr lang="en-US" altLang="zh-CN" dirty="0"/>
          </a:p>
          <a:p>
            <a:pPr lvl="1">
              <a:buClr>
                <a:schemeClr val="tx1"/>
              </a:buClr>
            </a:pPr>
            <a:endParaRPr lang="en-US" altLang="zh-CN" dirty="0"/>
          </a:p>
          <a:p>
            <a:pPr lvl="1">
              <a:buClr>
                <a:schemeClr val="tx1"/>
              </a:buClr>
            </a:pPr>
            <a:endParaRPr lang="en-US" altLang="zh-CN" dirty="0"/>
          </a:p>
          <a:p>
            <a:pPr lvl="1">
              <a:buClr>
                <a:schemeClr val="tx1"/>
              </a:buClr>
            </a:pP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问题：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r>
              <a:rPr lang="en-US" altLang="zh-CN" dirty="0"/>
              <a:t>GPU</a:t>
            </a:r>
            <a:r>
              <a:rPr lang="zh-CN" altLang="en-US" dirty="0"/>
              <a:t>数据传输负载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r>
              <a:rPr lang="zh-CN" altLang="en-US" dirty="0"/>
              <a:t>隐藏面消除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r>
              <a:rPr lang="zh-CN" altLang="en-US" dirty="0"/>
              <a:t>线绘制“瑕疵”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575327" y="2469820"/>
            <a:ext cx="5515021" cy="1754326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for</a:t>
            </a:r>
            <a:r>
              <a:rPr lang="en-US" altLang="zh-CN" b="1" dirty="0">
                <a:latin typeface="ZztexMono-Regular"/>
              </a:rPr>
              <a:t>(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int</a:t>
            </a:r>
            <a:r>
              <a:rPr lang="en-US" altLang="zh-CN" b="1" dirty="0">
                <a:latin typeface="ZztexMono-Regular"/>
              </a:rPr>
              <a:t> </a:t>
            </a:r>
            <a:r>
              <a:rPr lang="en-US" altLang="zh-CN" b="1" dirty="0" err="1">
                <a:latin typeface="ZztexMono-Regular"/>
              </a:rPr>
              <a:t>i</a:t>
            </a:r>
            <a:r>
              <a:rPr lang="en-US" altLang="zh-CN" b="1" dirty="0">
                <a:latin typeface="ZztexMono-Regular"/>
              </a:rPr>
              <a:t> = 0; </a:t>
            </a:r>
            <a:r>
              <a:rPr lang="en-US" altLang="zh-CN" b="1" dirty="0" err="1">
                <a:latin typeface="ZztexMono-Regular"/>
              </a:rPr>
              <a:t>i</a:t>
            </a:r>
            <a:r>
              <a:rPr lang="en-US" altLang="zh-CN" b="1" dirty="0">
                <a:latin typeface="ZztexMono-Regular"/>
              </a:rPr>
              <a:t>&lt;M; </a:t>
            </a:r>
            <a:r>
              <a:rPr lang="en-US" altLang="zh-CN" b="1" dirty="0" err="1">
                <a:latin typeface="ZztexMono-Regular"/>
              </a:rPr>
              <a:t>i</a:t>
            </a:r>
            <a:r>
              <a:rPr lang="en-US" altLang="zh-CN" b="1" dirty="0">
                <a:latin typeface="ZztexMono-Regular"/>
              </a:rPr>
              <a:t>++) </a:t>
            </a:r>
          </a:p>
          <a:p>
            <a:r>
              <a:rPr lang="zh-CN" altLang="en-US" b="1" dirty="0">
                <a:latin typeface="ZztexMono-Regular"/>
              </a:rPr>
              <a:t>    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for</a:t>
            </a:r>
            <a:r>
              <a:rPr lang="en-US" altLang="zh-CN" b="1" dirty="0">
                <a:latin typeface="ZztexMono-Regular"/>
              </a:rPr>
              <a:t>(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int</a:t>
            </a:r>
            <a:r>
              <a:rPr lang="en-US" altLang="zh-CN" b="1" dirty="0">
                <a:latin typeface="ZztexMono-Regular"/>
              </a:rPr>
              <a:t> j=0; j&lt;N; </a:t>
            </a:r>
            <a:r>
              <a:rPr lang="en-US" altLang="zh-CN" b="1" dirty="0" err="1">
                <a:latin typeface="ZztexMono-Regular"/>
              </a:rPr>
              <a:t>j++</a:t>
            </a:r>
            <a:r>
              <a:rPr lang="en-US" altLang="zh-CN" b="1" dirty="0">
                <a:latin typeface="ZztexMono-Regular"/>
              </a:rPr>
              <a:t>)</a:t>
            </a:r>
          </a:p>
          <a:p>
            <a:r>
              <a:rPr lang="en-US" altLang="zh-CN" b="1" dirty="0">
                <a:latin typeface="ZztexMono-Regular"/>
              </a:rPr>
              <a:t>{</a:t>
            </a:r>
          </a:p>
          <a:p>
            <a:pPr lvl="1"/>
            <a:r>
              <a:rPr lang="en-US" altLang="zh-CN" b="1" dirty="0">
                <a:latin typeface="ZztexMono-Regular"/>
              </a:rPr>
              <a:t>vertices[k] = 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point4</a:t>
            </a:r>
            <a:r>
              <a:rPr lang="en-US" altLang="zh-CN" b="1" dirty="0">
                <a:latin typeface="ZztexMono-Regular"/>
              </a:rPr>
              <a:t>(j, data[j][</a:t>
            </a:r>
            <a:r>
              <a:rPr lang="en-US" altLang="zh-CN" b="1" dirty="0" err="1">
                <a:latin typeface="ZztexMono-Regular"/>
              </a:rPr>
              <a:t>i</a:t>
            </a:r>
            <a:r>
              <a:rPr lang="en-US" altLang="zh-CN" b="1" dirty="0">
                <a:latin typeface="ZztexMono-Regular"/>
              </a:rPr>
              <a:t>],</a:t>
            </a:r>
            <a:r>
              <a:rPr lang="zh-CN" altLang="en-US" b="1" dirty="0">
                <a:latin typeface="ZztexMono-Regular"/>
              </a:rPr>
              <a:t> </a:t>
            </a:r>
            <a:r>
              <a:rPr lang="en-US" altLang="zh-CN" b="1" dirty="0" err="1">
                <a:latin typeface="ZztexMono-Regular"/>
              </a:rPr>
              <a:t>i</a:t>
            </a:r>
            <a:r>
              <a:rPr lang="en-US" altLang="zh-CN" b="1" dirty="0">
                <a:latin typeface="ZztexMono-Regular"/>
              </a:rPr>
              <a:t>,</a:t>
            </a:r>
            <a:r>
              <a:rPr lang="zh-CN" altLang="en-US" b="1" dirty="0"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1.0);</a:t>
            </a:r>
          </a:p>
          <a:p>
            <a:pPr lvl="1"/>
            <a:r>
              <a:rPr lang="en-US" altLang="zh-CN" b="1" dirty="0">
                <a:latin typeface="ZztexMono-Regular"/>
              </a:rPr>
              <a:t>k++;</a:t>
            </a:r>
          </a:p>
          <a:p>
            <a:r>
              <a:rPr lang="en-US" altLang="zh-CN" b="1" dirty="0">
                <a:latin typeface="ZztexMono-Regular"/>
              </a:rPr>
              <a:t>}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439" y="4291238"/>
            <a:ext cx="1645882" cy="41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5318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网格曲面的绘制显示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338612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三角形网格的产生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r>
              <a:rPr lang="zh-CN" altLang="en-US" dirty="0"/>
              <a:t>一个四边形剖分为两个三角形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r>
              <a:rPr lang="zh-CN" altLang="en-US" dirty="0"/>
              <a:t>三角化（</a:t>
            </a:r>
            <a:r>
              <a:rPr lang="en-US" altLang="zh-CN" dirty="0"/>
              <a:t>Triangulation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“面”绘制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r>
              <a:rPr lang="en-US" altLang="zh-CN" dirty="0"/>
              <a:t>GL_FILL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25376" y="2463240"/>
            <a:ext cx="7736522" cy="286232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for</a:t>
            </a:r>
            <a:r>
              <a:rPr lang="en-US" altLang="zh-CN" b="1" dirty="0">
                <a:latin typeface="ZztexMono-Regular"/>
              </a:rPr>
              <a:t>(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int</a:t>
            </a:r>
            <a:r>
              <a:rPr lang="en-US" altLang="zh-CN" b="1" dirty="0">
                <a:latin typeface="ZztexMono-Regular"/>
              </a:rPr>
              <a:t> </a:t>
            </a:r>
            <a:r>
              <a:rPr lang="en-US" altLang="zh-CN" b="1" dirty="0" err="1">
                <a:latin typeface="ZztexMono-Regular"/>
              </a:rPr>
              <a:t>i</a:t>
            </a:r>
            <a:r>
              <a:rPr lang="en-US" altLang="zh-CN" b="1" dirty="0">
                <a:latin typeface="ZztexMono-Regular"/>
              </a:rPr>
              <a:t>=0; </a:t>
            </a:r>
            <a:r>
              <a:rPr lang="en-US" altLang="zh-CN" b="1" dirty="0" err="1">
                <a:latin typeface="ZztexMono-Regular"/>
              </a:rPr>
              <a:t>i</a:t>
            </a:r>
            <a:r>
              <a:rPr lang="en-US" altLang="zh-CN" b="1" dirty="0">
                <a:latin typeface="ZztexMono-Regular"/>
              </a:rPr>
              <a:t>&lt;N-1; </a:t>
            </a:r>
            <a:r>
              <a:rPr lang="en-US" altLang="zh-CN" b="1" dirty="0" err="1">
                <a:latin typeface="ZztexMono-Regular"/>
              </a:rPr>
              <a:t>i</a:t>
            </a:r>
            <a:r>
              <a:rPr lang="en-US" altLang="zh-CN" b="1" dirty="0">
                <a:latin typeface="ZztexMono-Regular"/>
              </a:rPr>
              <a:t>++) </a:t>
            </a:r>
          </a:p>
          <a:p>
            <a:r>
              <a:rPr lang="zh-CN" altLang="en-US" b="1" dirty="0">
                <a:latin typeface="ZztexMono-Regular"/>
              </a:rPr>
              <a:t>     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for</a:t>
            </a:r>
            <a:r>
              <a:rPr lang="en-US" altLang="zh-CN" b="1" dirty="0">
                <a:latin typeface="ZztexMono-Regular"/>
              </a:rPr>
              <a:t>(</a:t>
            </a:r>
            <a:r>
              <a:rPr lang="en-US" altLang="zh-CN" b="1" dirty="0" err="1">
                <a:solidFill>
                  <a:srgbClr val="0000FF"/>
                </a:solidFill>
                <a:latin typeface="ZztexMono-Regular"/>
              </a:rPr>
              <a:t>int</a:t>
            </a:r>
            <a:r>
              <a:rPr lang="en-US" altLang="zh-CN" b="1" dirty="0">
                <a:latin typeface="ZztexMono-Regular"/>
              </a:rPr>
              <a:t> j=0; j&lt;M-1;j++)</a:t>
            </a:r>
          </a:p>
          <a:p>
            <a:r>
              <a:rPr lang="en-US" altLang="zh-CN" b="1" dirty="0">
                <a:solidFill>
                  <a:srgbClr val="00B050"/>
                </a:solidFill>
                <a:latin typeface="ZztexMono-Regular"/>
              </a:rPr>
              <a:t>//NM quads, 2 triangles/quad</a:t>
            </a:r>
          </a:p>
          <a:p>
            <a:r>
              <a:rPr lang="en-US" altLang="zh-CN" b="1" dirty="0">
                <a:latin typeface="ZztexMono-Regular"/>
              </a:rPr>
              <a:t>{</a:t>
            </a:r>
          </a:p>
          <a:p>
            <a:pPr lvl="1"/>
            <a:r>
              <a:rPr lang="en-US" altLang="zh-CN" b="1" dirty="0">
                <a:latin typeface="ZztexMono-Regular"/>
              </a:rPr>
              <a:t>triangles[k] = 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vec4</a:t>
            </a:r>
            <a:r>
              <a:rPr lang="en-US" altLang="zh-CN" b="1" dirty="0">
                <a:latin typeface="ZztexMono-Regular"/>
              </a:rPr>
              <a:t>(2.0*(</a:t>
            </a:r>
            <a:r>
              <a:rPr lang="en-US" altLang="zh-CN" b="1" dirty="0" err="1">
                <a:latin typeface="ZztexMono-Regular"/>
              </a:rPr>
              <a:t>i</a:t>
            </a:r>
            <a:r>
              <a:rPr lang="en-US" altLang="zh-CN" b="1" dirty="0">
                <a:latin typeface="ZztexMono-Regular"/>
              </a:rPr>
              <a:t>/fn-0.5), data[</a:t>
            </a:r>
            <a:r>
              <a:rPr lang="en-US" altLang="zh-CN" b="1" dirty="0" err="1">
                <a:latin typeface="ZztexMono-Regular"/>
              </a:rPr>
              <a:t>i</a:t>
            </a:r>
            <a:r>
              <a:rPr lang="en-US" altLang="zh-CN" b="1" dirty="0">
                <a:latin typeface="ZztexMono-Regular"/>
              </a:rPr>
              <a:t>][j]/</a:t>
            </a:r>
            <a:r>
              <a:rPr lang="en-US" altLang="zh-CN" b="1" dirty="0" err="1">
                <a:latin typeface="ZztexMono-Regular"/>
              </a:rPr>
              <a:t>fmax</a:t>
            </a:r>
            <a:r>
              <a:rPr lang="en-US" altLang="zh-CN" b="1" dirty="0">
                <a:latin typeface="ZztexMono-Regular"/>
              </a:rPr>
              <a:t>, -j/fm,1.0); </a:t>
            </a:r>
          </a:p>
          <a:p>
            <a:pPr lvl="1"/>
            <a:r>
              <a:rPr lang="en-US" altLang="zh-CN" b="1" dirty="0">
                <a:latin typeface="ZztexMono-Regular"/>
              </a:rPr>
              <a:t>k++;</a:t>
            </a:r>
          </a:p>
          <a:p>
            <a:pPr lvl="1"/>
            <a:r>
              <a:rPr lang="en-US" altLang="zh-CN" b="1" dirty="0">
                <a:latin typeface="ZztexMono-Regular"/>
              </a:rPr>
              <a:t>triangles[k] = </a:t>
            </a:r>
            <a:r>
              <a:rPr lang="en-US" altLang="zh-CN" b="1" dirty="0">
                <a:solidFill>
                  <a:srgbClr val="0000FF"/>
                </a:solidFill>
                <a:latin typeface="ZztexMono-Regular"/>
              </a:rPr>
              <a:t>vec4</a:t>
            </a:r>
            <a:r>
              <a:rPr lang="en-US" altLang="zh-CN" b="1" dirty="0">
                <a:latin typeface="ZztexMono-Regular"/>
              </a:rPr>
              <a:t>(2.0*((i+1)/fn-0.5), data[i+1][j]/</a:t>
            </a:r>
            <a:r>
              <a:rPr lang="en-US" altLang="zh-CN" b="1" dirty="0" err="1">
                <a:latin typeface="ZztexMono-Regular"/>
              </a:rPr>
              <a:t>fmax</a:t>
            </a:r>
            <a:r>
              <a:rPr lang="en-US" altLang="zh-CN" b="1" dirty="0">
                <a:latin typeface="ZztexMono-Regular"/>
              </a:rPr>
              <a:t>,</a:t>
            </a:r>
          </a:p>
          <a:p>
            <a:pPr lvl="1"/>
            <a:r>
              <a:rPr lang="en-US" altLang="zh-CN" b="1" dirty="0">
                <a:latin typeface="ZztexMono-Regular"/>
              </a:rPr>
              <a:t>-j/</a:t>
            </a:r>
            <a:r>
              <a:rPr lang="en-US" altLang="zh-CN" b="1" dirty="0" err="1">
                <a:latin typeface="ZztexMono-Regular"/>
              </a:rPr>
              <a:t>fm</a:t>
            </a:r>
            <a:r>
              <a:rPr lang="en-US" altLang="zh-CN" b="1" dirty="0">
                <a:latin typeface="ZztexMono-Regular"/>
              </a:rPr>
              <a:t>, 1.0); </a:t>
            </a:r>
          </a:p>
          <a:p>
            <a:pPr lvl="1"/>
            <a:r>
              <a:rPr lang="en-US" altLang="zh-CN" b="1" dirty="0">
                <a:latin typeface="ZztexMono-Regular"/>
              </a:rPr>
              <a:t>k++;  ……</a:t>
            </a:r>
          </a:p>
          <a:p>
            <a:r>
              <a:rPr lang="en-US" altLang="zh-CN" b="1" dirty="0">
                <a:latin typeface="ZztexMono-Regular"/>
              </a:rPr>
              <a:t>}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E9B68F-18FC-4552-B28B-2805C4E3BEC6}"/>
              </a:ext>
            </a:extLst>
          </p:cNvPr>
          <p:cNvSpPr txBox="1"/>
          <p:nvPr/>
        </p:nvSpPr>
        <p:spPr>
          <a:xfrm>
            <a:off x="5531800" y="4620488"/>
            <a:ext cx="3332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完整代码，请见教材</a:t>
            </a:r>
            <a:r>
              <a:rPr lang="en-US" altLang="zh-CN" dirty="0"/>
              <a:t>P170-171</a:t>
            </a:r>
          </a:p>
          <a:p>
            <a:r>
              <a:rPr lang="zh-CN" altLang="en-US" dirty="0"/>
              <a:t>但是那个代码有一点小错误</a:t>
            </a:r>
          </a:p>
        </p:txBody>
      </p:sp>
    </p:spTree>
    <p:extLst>
      <p:ext uri="{BB962C8B-B14F-4D97-AF65-F5344CB8AC3E}">
        <p14:creationId xmlns:p14="http://schemas.microsoft.com/office/powerpoint/2010/main" val="12876886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308481" y="3389111"/>
            <a:ext cx="25346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投影和阴影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78" y="1913900"/>
            <a:ext cx="6142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5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0253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阴影效果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计算机产生的阴影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r>
              <a:rPr lang="zh-CN" altLang="en-US" dirty="0"/>
              <a:t>光源照射不到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r>
              <a:rPr lang="zh-CN" altLang="en-US" dirty="0"/>
              <a:t>视角观察不到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阴影的投影矩阵</a:t>
            </a:r>
            <a:endParaRPr lang="en-US" altLang="zh-CN" dirty="0"/>
          </a:p>
          <a:p>
            <a:pPr lvl="1">
              <a:buClr>
                <a:schemeClr val="tx1"/>
              </a:buClr>
            </a:pPr>
            <a:r>
              <a:rPr lang="zh-CN" altLang="en-US" dirty="0"/>
              <a:t>向三维空间中的平面投影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38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803" y="708383"/>
            <a:ext cx="3246185" cy="31445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525" y="3972079"/>
            <a:ext cx="2393621" cy="27667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010" y="4190035"/>
            <a:ext cx="3577637" cy="216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787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021496" y="4120326"/>
                <a:ext cx="4440767" cy="2585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zh-CN" altLang="en-US" dirty="0"/>
                  <a:t>将投影中心移至原点：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mr-IN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  <a:sym typeface="Wingdings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𝑙</m:t>
                            </m:r>
                          </m:sub>
                        </m:sSub>
                        <m:r>
                          <a:rPr lang="en-US" altLang="zh-CN" i="1">
                            <a:latin typeface="Cambria Math" charset="0"/>
                            <a:sym typeface="Wingdings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charset="0"/>
                            <a:sym typeface="Wingdings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𝑙</m:t>
                            </m:r>
                          </m:sub>
                        </m:sSub>
                        <m:r>
                          <a:rPr lang="en-US" altLang="zh-CN" i="1">
                            <a:latin typeface="Cambria Math" charset="0"/>
                            <a:sym typeface="Wingdings"/>
                          </a:rPr>
                          <m:t>,</m:t>
                        </m:r>
                        <m:r>
                          <a:rPr lang="zh-CN" altLang="en-US" i="1">
                            <a:latin typeface="Cambria Math" charset="0"/>
                            <a:sym typeface="Wingdings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  <a:sym typeface="Wingdings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 marL="342900" indent="-342900">
                  <a:buAutoNum type="arabicPeriod"/>
                </a:pPr>
                <a:r>
                  <a:rPr lang="zh-CN" altLang="en-US" dirty="0"/>
                  <a:t>投影至平面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  <a:sym typeface="Wingdings"/>
                      </a:rPr>
                      <m:t>𝑦</m:t>
                    </m:r>
                    <m:r>
                      <a:rPr lang="en-US" altLang="zh-CN" i="1" dirty="0">
                        <a:latin typeface="Cambria Math" charset="0"/>
                        <a:sym typeface="Wingdings"/>
                      </a:rPr>
                      <m:t>=−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  <a:sym typeface="Wingdings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  <a:sym typeface="Wingdings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zh-CN" dirty="0"/>
                  <a:t>:</a:t>
                </a:r>
              </a:p>
              <a:p>
                <a:pPr marL="342900" indent="-342900">
                  <a:buAutoNum type="arabicPeriod"/>
                </a:pPr>
                <a:endParaRPr lang="en-US" dirty="0"/>
              </a:p>
              <a:p>
                <a:pPr marL="342900" indent="-342900">
                  <a:buAutoNum type="arabicPeriod"/>
                </a:pPr>
                <a:endParaRPr lang="en-US" dirty="0"/>
              </a:p>
              <a:p>
                <a:pPr marL="342900" indent="-342900">
                  <a:buAutoNum type="arabicPeriod"/>
                </a:pPr>
                <a:endParaRPr lang="en-US" dirty="0"/>
              </a:p>
              <a:p>
                <a:pPr marL="342900" indent="-342900">
                  <a:buAutoNum type="arabicPeriod"/>
                </a:pPr>
                <a:endParaRPr lang="en-US" altLang="zh-CN" dirty="0"/>
              </a:p>
              <a:p>
                <a:pPr marL="342900" indent="-342900">
                  <a:buAutoNum type="arabicPeriod"/>
                </a:pPr>
                <a:endParaRPr lang="en-US" altLang="zh-CN" dirty="0"/>
              </a:p>
              <a:p>
                <a:pPr marL="342900" indent="-342900">
                  <a:buAutoNum type="arabicPeriod"/>
                </a:pPr>
                <a:endParaRPr lang="en-US" altLang="zh-CN" dirty="0"/>
              </a:p>
              <a:p>
                <a:pPr marL="342900" indent="-342900">
                  <a:buAutoNum type="arabicPeriod"/>
                </a:pPr>
                <a:r>
                  <a:rPr lang="zh-CN" altLang="en-US" dirty="0"/>
                  <a:t>将投影中心移回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mr-IN" altLang="zh-CN" i="1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𝑙</m:t>
                            </m:r>
                          </m:sub>
                        </m:sSub>
                        <m:r>
                          <a:rPr lang="en-US" altLang="zh-CN" i="1">
                            <a:latin typeface="Cambria Math" charset="0"/>
                            <a:sym typeface="Wingdings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𝑙</m:t>
                            </m:r>
                          </m:sub>
                        </m:sSub>
                        <m:r>
                          <a:rPr lang="en-US" altLang="zh-CN" i="1">
                            <a:latin typeface="Cambria Math" charset="0"/>
                            <a:sym typeface="Wingdings"/>
                          </a:rPr>
                          <m:t>,</m:t>
                        </m:r>
                        <m:r>
                          <a:rPr lang="zh-CN" altLang="en-US" i="1">
                            <a:latin typeface="Cambria Math" charset="0"/>
                            <a:sym typeface="Wingdings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mr-I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𝑙</m:t>
                            </m:r>
                          </m:sub>
                        </m:sSub>
                        <m:r>
                          <a:rPr lang="en-US" altLang="zh-CN" i="1">
                            <a:latin typeface="Cambria Math" charset="0"/>
                            <a:sym typeface="Wingdings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𝑙</m:t>
                            </m:r>
                          </m:sub>
                        </m:sSub>
                        <m:r>
                          <a:rPr lang="en-US" altLang="zh-CN" i="1">
                            <a:latin typeface="Cambria Math" charset="0"/>
                            <a:sym typeface="Wingdings"/>
                          </a:rPr>
                          <m:t>,</m:t>
                        </m:r>
                        <m:r>
                          <a:rPr lang="zh-CN" altLang="en-US" i="1">
                            <a:latin typeface="Cambria Math" charset="0"/>
                            <a:sym typeface="Wingdings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496" y="4120326"/>
                <a:ext cx="4440767" cy="2585323"/>
              </a:xfrm>
              <a:prstGeom prst="rect">
                <a:avLst/>
              </a:prstGeom>
              <a:blipFill rotWithShape="0">
                <a:blip r:embed="rId2"/>
                <a:stretch>
                  <a:fillRect l="-1236" t="-2123" b="-3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阴影效果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透视投影矩阵：</a:t>
                </a:r>
                <a:endParaRPr lang="en-US" altLang="zh-CN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dirty="0"/>
                  <a:t>投影中心在原点</a:t>
                </a:r>
                <a:endParaRPr lang="en-US" altLang="zh-CN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dirty="0"/>
                  <a:t>投影平面为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𝑧</m:t>
                    </m:r>
                    <m:r>
                      <a:rPr lang="en-US" altLang="zh-CN" i="1" dirty="0">
                        <a:latin typeface="Cambria Math" charset="0"/>
                      </a:rPr>
                      <m:t>=</m:t>
                    </m:r>
                    <m:r>
                      <a:rPr lang="en-US" altLang="zh-CN" i="1" dirty="0">
                        <a:latin typeface="Cambria Math" charset="0"/>
                      </a:rPr>
                      <m:t>𝑑</m:t>
                    </m:r>
                    <m:r>
                      <a:rPr lang="en-US" altLang="zh-CN" i="1" dirty="0">
                        <a:latin typeface="Cambria Math" charset="0"/>
                      </a:rPr>
                      <m:t>, </m:t>
                    </m:r>
                    <m:r>
                      <a:rPr lang="en-US" altLang="zh-CN" i="1" dirty="0">
                        <a:latin typeface="Cambria Math" charset="0"/>
                      </a:rPr>
                      <m:t>𝑑</m:t>
                    </m:r>
                    <m:r>
                      <a:rPr lang="en-US" altLang="zh-CN" i="1" dirty="0">
                        <a:latin typeface="Cambria Math" charset="0"/>
                      </a:rPr>
                      <m:t>&lt;0</m:t>
                    </m:r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zh-CN" altLang="en-US" dirty="0"/>
                  <a:t>阴影投影矩阵：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投影中心在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mr-IN" altLang="zh-CN" i="1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𝑙</m:t>
                            </m:r>
                          </m:sub>
                        </m:sSub>
                        <m:r>
                          <a:rPr lang="en-US" altLang="zh-CN" i="1">
                            <a:latin typeface="Cambria Math" charset="0"/>
                            <a:sym typeface="Wingdings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𝑙</m:t>
                            </m:r>
                          </m:sub>
                        </m:sSub>
                        <m:r>
                          <a:rPr lang="en-US" altLang="zh-CN" i="1">
                            <a:latin typeface="Cambria Math" charset="0"/>
                            <a:sym typeface="Wingdings"/>
                          </a:rPr>
                          <m:t>,</m:t>
                        </m:r>
                        <m:r>
                          <a:rPr lang="zh-CN" altLang="en-US" i="1">
                            <a:latin typeface="Cambria Math" charset="0"/>
                            <a:sym typeface="Wingdings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zh-CN" altLang="en-US" dirty="0">
                    <a:sym typeface="Wingdings"/>
                  </a:rPr>
                  <a:t>投影平面为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  <a:sym typeface="Wingdings"/>
                      </a:rPr>
                      <m:t>𝑦</m:t>
                    </m:r>
                    <m:r>
                      <a:rPr lang="en-US" altLang="zh-CN" i="1" dirty="0">
                        <a:latin typeface="Cambria Math" charset="0"/>
                        <a:sym typeface="Wingdings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18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39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5109" y="2673043"/>
            <a:ext cx="1562208" cy="180574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3336" y="4888397"/>
            <a:ext cx="2143492" cy="1297918"/>
          </a:xfrm>
          <a:prstGeom prst="rect">
            <a:avLst/>
          </a:prstGeom>
        </p:spPr>
      </p:pic>
      <p:pic>
        <p:nvPicPr>
          <p:cNvPr id="10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3003" y="1145028"/>
            <a:ext cx="3600035" cy="1470535"/>
          </a:xfrm>
          <a:prstGeom prst="rect">
            <a:avLst/>
          </a:prstGeom>
        </p:spPr>
      </p:pic>
      <p:pic>
        <p:nvPicPr>
          <p:cNvPr id="11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6241" y="1581357"/>
            <a:ext cx="933264" cy="9994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845940" y="1963855"/>
                <a:ext cx="2532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940" y="1963855"/>
                <a:ext cx="253274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16667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12"/>
          <p:cNvSpPr/>
          <p:nvPr/>
        </p:nvSpPr>
        <p:spPr>
          <a:xfrm>
            <a:off x="673027" y="4194969"/>
            <a:ext cx="170120" cy="2551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/>
          <p:cNvSpPr/>
          <p:nvPr/>
        </p:nvSpPr>
        <p:spPr>
          <a:xfrm>
            <a:off x="3786525" y="5392358"/>
            <a:ext cx="282143" cy="282143"/>
          </a:xfrm>
          <a:prstGeom prst="plus">
            <a:avLst>
              <a:gd name="adj" fmla="val 400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134623" y="534876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</a:rPr>
              <a:t>透视除法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21" name="Right Brace 20"/>
          <p:cNvSpPr/>
          <p:nvPr/>
        </p:nvSpPr>
        <p:spPr>
          <a:xfrm>
            <a:off x="5383708" y="4322559"/>
            <a:ext cx="447767" cy="2199680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201577" y="4644980"/>
                <a:ext cx="1907382" cy="5216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𝑙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−</m:t>
                      </m:r>
                      <m:f>
                        <m:fPr>
                          <m:ctrlPr>
                            <a:rPr lang="mr-IN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charset="0"/>
                            </a:rPr>
                            <m:t>𝑦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577" y="4644980"/>
                <a:ext cx="1907382" cy="52168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235431" y="5267158"/>
                <a:ext cx="709489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=0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431" y="5267158"/>
                <a:ext cx="709489" cy="298415"/>
              </a:xfrm>
              <a:prstGeom prst="rect">
                <a:avLst/>
              </a:prstGeom>
              <a:blipFill rotWithShape="0">
                <a:blip r:embed="rId10"/>
                <a:stretch>
                  <a:fillRect l="-7759" r="-7759" b="-20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235431" y="5793512"/>
                <a:ext cx="1892762" cy="5216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𝑙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−</m:t>
                      </m:r>
                      <m:f>
                        <m:fPr>
                          <m:ctrlPr>
                            <a:rPr lang="mr-IN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</a:rPr>
                            <m:t>𝑧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charset="0"/>
                            </a:rPr>
                            <m:t>𝑦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431" y="5793512"/>
                <a:ext cx="1892762" cy="521681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42938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阴影效果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透视投影矩阵：</a:t>
                </a:r>
                <a:endParaRPr lang="en-US" altLang="zh-CN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dirty="0"/>
                  <a:t>投影中心在原点</a:t>
                </a:r>
                <a:endParaRPr lang="en-US" altLang="zh-CN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dirty="0"/>
                  <a:t>投影平面为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𝑧</m:t>
                    </m:r>
                    <m:r>
                      <a:rPr lang="en-US" altLang="zh-CN" i="1" dirty="0">
                        <a:latin typeface="Cambria Math" charset="0"/>
                      </a:rPr>
                      <m:t>=</m:t>
                    </m:r>
                    <m:r>
                      <a:rPr lang="en-US" altLang="zh-CN" i="1" dirty="0">
                        <a:latin typeface="Cambria Math" charset="0"/>
                      </a:rPr>
                      <m:t>𝑑</m:t>
                    </m:r>
                    <m:r>
                      <a:rPr lang="en-US" altLang="zh-CN" i="1" dirty="0">
                        <a:latin typeface="Cambria Math" charset="0"/>
                      </a:rPr>
                      <m:t>, </m:t>
                    </m:r>
                    <m:r>
                      <a:rPr lang="en-US" altLang="zh-CN" i="1" dirty="0">
                        <a:latin typeface="Cambria Math" charset="0"/>
                      </a:rPr>
                      <m:t>𝑑</m:t>
                    </m:r>
                    <m:r>
                      <a:rPr lang="en-US" altLang="zh-CN" i="1" dirty="0">
                        <a:latin typeface="Cambria Math" charset="0"/>
                      </a:rPr>
                      <m:t>&lt;0</m:t>
                    </m:r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zh-CN" altLang="en-US" dirty="0"/>
                  <a:t>阴影投影矩阵：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投影中心在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mr-IN" altLang="zh-CN" i="1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𝑙</m:t>
                            </m:r>
                          </m:sub>
                        </m:sSub>
                        <m:r>
                          <a:rPr lang="en-US" altLang="zh-CN" i="1">
                            <a:latin typeface="Cambria Math" charset="0"/>
                            <a:sym typeface="Wingdings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𝑙</m:t>
                            </m:r>
                          </m:sub>
                        </m:sSub>
                        <m:r>
                          <a:rPr lang="en-US" altLang="zh-CN" i="1">
                            <a:latin typeface="Cambria Math" charset="0"/>
                            <a:sym typeface="Wingdings"/>
                          </a:rPr>
                          <m:t>,</m:t>
                        </m:r>
                        <m:r>
                          <a:rPr lang="zh-CN" altLang="en-US" i="1">
                            <a:latin typeface="Cambria Math" charset="0"/>
                            <a:sym typeface="Wingdings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  <a:sym typeface="Wingdings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zh-CN" altLang="en-US" dirty="0">
                    <a:sym typeface="Wingdings"/>
                  </a:rPr>
                  <a:t>投影平面为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  <a:sym typeface="Wingdings"/>
                      </a:rPr>
                      <m:t>𝑦</m:t>
                    </m:r>
                    <m:r>
                      <a:rPr lang="en-US" altLang="zh-CN" i="1" dirty="0">
                        <a:latin typeface="Cambria Math" charset="0"/>
                        <a:sym typeface="Wingdings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18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40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5109" y="2673043"/>
            <a:ext cx="1562208" cy="1805743"/>
          </a:xfrm>
          <a:prstGeom prst="rect">
            <a:avLst/>
          </a:prstGeom>
        </p:spPr>
      </p:pic>
      <p:pic>
        <p:nvPicPr>
          <p:cNvPr id="10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3003" y="1145028"/>
            <a:ext cx="3600035" cy="1470535"/>
          </a:xfrm>
          <a:prstGeom prst="rect">
            <a:avLst/>
          </a:prstGeom>
        </p:spPr>
      </p:pic>
      <p:pic>
        <p:nvPicPr>
          <p:cNvPr id="11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6241" y="1581357"/>
            <a:ext cx="933264" cy="9994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845940" y="1963855"/>
                <a:ext cx="2532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940" y="1963855"/>
                <a:ext cx="253274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16667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12"/>
          <p:cNvSpPr/>
          <p:nvPr/>
        </p:nvSpPr>
        <p:spPr>
          <a:xfrm flipH="1">
            <a:off x="5661850" y="5475659"/>
            <a:ext cx="170120" cy="2551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201577" y="4644980"/>
                <a:ext cx="1907382" cy="5216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𝑙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−</m:t>
                      </m:r>
                      <m:f>
                        <m:fPr>
                          <m:ctrlPr>
                            <a:rPr lang="mr-IN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charset="0"/>
                            </a:rPr>
                            <m:t>𝑦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577" y="4644980"/>
                <a:ext cx="1907382" cy="52168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235431" y="5267158"/>
                <a:ext cx="709489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=0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431" y="5267158"/>
                <a:ext cx="709489" cy="298415"/>
              </a:xfrm>
              <a:prstGeom prst="rect">
                <a:avLst/>
              </a:prstGeom>
              <a:blipFill rotWithShape="0">
                <a:blip r:embed="rId10"/>
                <a:stretch>
                  <a:fillRect l="-7759" r="-7759" b="-20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235431" y="5793512"/>
                <a:ext cx="1892762" cy="5216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𝑙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−</m:t>
                      </m:r>
                      <m:f>
                        <m:fPr>
                          <m:ctrlPr>
                            <a:rPr lang="mr-IN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</a:rPr>
                            <m:t>𝑧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charset="0"/>
                            </a:rPr>
                            <m:t>𝑦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431" y="5793512"/>
                <a:ext cx="1892762" cy="521681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Object 18">
            <a:extLst>
              <a:ext uri="{FF2B5EF4-FFF2-40B4-BE49-F238E27FC236}">
                <a16:creationId xmlns:a16="http://schemas.microsoft.com/office/drawing/2014/main" id="{113A3349-FE32-4E35-80AB-1B161C7C53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6120" y="4516556"/>
          <a:ext cx="4005695" cy="1300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12" imgW="2908300" imgH="939800" progId="Equation.DSMT4">
                  <p:embed/>
                </p:oleObj>
              </mc:Choice>
              <mc:Fallback>
                <p:oleObj name="Equation" r:id="rId12" imgW="2908300" imgH="939800" progId="Equation.DSMT4">
                  <p:embed/>
                  <p:pic>
                    <p:nvPicPr>
                      <p:cNvPr id="20" name="Object 18">
                        <a:extLst>
                          <a:ext uri="{FF2B5EF4-FFF2-40B4-BE49-F238E27FC236}">
                            <a16:creationId xmlns:a16="http://schemas.microsoft.com/office/drawing/2014/main" id="{113A3349-FE32-4E35-80AB-1B161C7C53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6120" y="4516556"/>
                        <a:ext cx="4005695" cy="130020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ounded Rectangle 23">
            <a:extLst>
              <a:ext uri="{FF2B5EF4-FFF2-40B4-BE49-F238E27FC236}">
                <a16:creationId xmlns:a16="http://schemas.microsoft.com/office/drawing/2014/main" id="{556F2B58-27BF-412C-9DC7-E25A19C678B0}"/>
              </a:ext>
            </a:extLst>
          </p:cNvPr>
          <p:cNvSpPr/>
          <p:nvPr/>
        </p:nvSpPr>
        <p:spPr>
          <a:xfrm>
            <a:off x="2909935" y="4507871"/>
            <a:ext cx="1833909" cy="1265072"/>
          </a:xfrm>
          <a:prstGeom prst="roundRect">
            <a:avLst>
              <a:gd name="adj" fmla="val 14431"/>
            </a:avLst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Rounded Rectangular Callout 25">
            <a:extLst>
              <a:ext uri="{FF2B5EF4-FFF2-40B4-BE49-F238E27FC236}">
                <a16:creationId xmlns:a16="http://schemas.microsoft.com/office/drawing/2014/main" id="{0C9715B8-F486-486C-B094-FF791E00E569}"/>
              </a:ext>
            </a:extLst>
          </p:cNvPr>
          <p:cNvSpPr/>
          <p:nvPr/>
        </p:nvSpPr>
        <p:spPr>
          <a:xfrm>
            <a:off x="3826889" y="5917033"/>
            <a:ext cx="1644650" cy="360579"/>
          </a:xfrm>
          <a:prstGeom prst="wedgeRoundRectCallout">
            <a:avLst>
              <a:gd name="adj1" fmla="val -28053"/>
              <a:gd name="adj2" fmla="val -8139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阴影投影矩阵</a:t>
            </a:r>
            <a:endParaRPr lang="zh-CN" altLang="en-US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02D941DF-C7E3-42F1-B20F-A4424684EB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6120" y="6133988"/>
          <a:ext cx="2418259" cy="604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r:id="rId14" imgW="1676400" imgH="431800" progId="Equation.DSMT4">
                  <p:embed/>
                </p:oleObj>
              </mc:Choice>
              <mc:Fallback>
                <p:oleObj r:id="rId14" imgW="1676400" imgH="43180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02D941DF-C7E3-42F1-B20F-A4424684EB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6120" y="6133988"/>
                        <a:ext cx="2418259" cy="6045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9502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</a:t>
            </a:r>
            <a:r>
              <a:rPr lang="en-US" altLang="zh-CN"/>
              <a:t>3.2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阴影</a:t>
            </a:r>
            <a:endParaRPr lang="en-US" altLang="zh-CN" dirty="0"/>
          </a:p>
          <a:p>
            <a:pPr lvl="1"/>
            <a:r>
              <a:rPr lang="zh-CN" altLang="en-US" dirty="0"/>
              <a:t>了解使用投影变换实现场景的硬阴影效果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41</a:t>
            </a:fld>
            <a:endParaRPr lang="zh-CN" altLang="en-US" dirty="0"/>
          </a:p>
        </p:txBody>
      </p:sp>
      <p:pic>
        <p:nvPicPr>
          <p:cNvPr id="7" name="图片 6" descr="图片包含 图形用户界面&#10;&#10;描述已自动生成">
            <a:extLst>
              <a:ext uri="{FF2B5EF4-FFF2-40B4-BE49-F238E27FC236}">
                <a16:creationId xmlns:a16="http://schemas.microsoft.com/office/drawing/2014/main" id="{85066155-5EEC-4C8F-A9AD-BB536B419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548" y="2439091"/>
            <a:ext cx="4544909" cy="432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2340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0B98E-8864-42B4-B920-54C03D088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实验常见问题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34AC94-8B9C-4615-B634-2F13BF7C7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glm</a:t>
            </a:r>
            <a:r>
              <a:rPr lang="en-US" altLang="zh-CN" dirty="0"/>
              <a:t>::mat4</a:t>
            </a:r>
            <a:r>
              <a:rPr lang="zh-CN" altLang="en-US" dirty="0"/>
              <a:t>的转置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3149B2-0DEF-467E-8ED6-3CE1CACB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42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36EDD33-CAC7-4F03-A9A1-F0135C9A9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785" y="2335045"/>
            <a:ext cx="4635426" cy="145230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AC0B72D-AD71-4DBA-82DE-3278A839E689}"/>
              </a:ext>
            </a:extLst>
          </p:cNvPr>
          <p:cNvSpPr txBox="1"/>
          <p:nvPr/>
        </p:nvSpPr>
        <p:spPr>
          <a:xfrm>
            <a:off x="4017870" y="2535194"/>
            <a:ext cx="1444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第 </a:t>
            </a:r>
            <a:r>
              <a:rPr lang="en-US" altLang="zh-CN" sz="1200" dirty="0"/>
              <a:t>1 </a:t>
            </a:r>
            <a:r>
              <a:rPr lang="zh-CN" altLang="en-US" sz="1200" dirty="0"/>
              <a:t>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35DEFFB-5CA8-4898-81D3-9E160AFCFE19}"/>
              </a:ext>
            </a:extLst>
          </p:cNvPr>
          <p:cNvSpPr txBox="1"/>
          <p:nvPr/>
        </p:nvSpPr>
        <p:spPr>
          <a:xfrm>
            <a:off x="4017870" y="2785556"/>
            <a:ext cx="1444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第 </a:t>
            </a:r>
            <a:r>
              <a:rPr lang="en-US" altLang="zh-CN" sz="1200" dirty="0"/>
              <a:t>2 </a:t>
            </a:r>
            <a:r>
              <a:rPr lang="zh-CN" altLang="en-US" sz="1200" dirty="0"/>
              <a:t>列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19917BC-8ED5-4F90-B451-315B3DE5B5C4}"/>
              </a:ext>
            </a:extLst>
          </p:cNvPr>
          <p:cNvSpPr txBox="1"/>
          <p:nvPr/>
        </p:nvSpPr>
        <p:spPr>
          <a:xfrm>
            <a:off x="4017870" y="3033371"/>
            <a:ext cx="1444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第 </a:t>
            </a:r>
            <a:r>
              <a:rPr lang="en-US" altLang="zh-CN" sz="1200" dirty="0"/>
              <a:t>3 </a:t>
            </a:r>
            <a:r>
              <a:rPr lang="zh-CN" altLang="en-US" sz="1200" dirty="0"/>
              <a:t>列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3520BAA-1FC2-408C-A838-AAAA2184C4F2}"/>
              </a:ext>
            </a:extLst>
          </p:cNvPr>
          <p:cNvSpPr txBox="1"/>
          <p:nvPr/>
        </p:nvSpPr>
        <p:spPr>
          <a:xfrm>
            <a:off x="4017870" y="3271458"/>
            <a:ext cx="1444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第 </a:t>
            </a:r>
            <a:r>
              <a:rPr lang="en-US" altLang="zh-CN" sz="1200" dirty="0"/>
              <a:t>4 </a:t>
            </a:r>
            <a:r>
              <a:rPr lang="zh-CN" altLang="en-US" sz="1200" dirty="0"/>
              <a:t>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43C102A-8A9C-4115-BDD9-A1BEC5D794BE}"/>
                  </a:ext>
                </a:extLst>
              </p:cNvPr>
              <p:cNvSpPr txBox="1"/>
              <p:nvPr/>
            </p:nvSpPr>
            <p:spPr>
              <a:xfrm>
                <a:off x="6277231" y="2477138"/>
                <a:ext cx="1853392" cy="10346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43C102A-8A9C-4115-BDD9-A1BEC5D79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231" y="2477138"/>
                <a:ext cx="1853392" cy="10346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4F82D081-0BF6-4FF2-AA6C-11E498F99673}"/>
              </a:ext>
            </a:extLst>
          </p:cNvPr>
          <p:cNvSpPr txBox="1"/>
          <p:nvPr/>
        </p:nvSpPr>
        <p:spPr>
          <a:xfrm>
            <a:off x="1056785" y="4311289"/>
            <a:ext cx="2248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matrix[2][3]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F2B2CF6-C445-4FEC-B477-F13AD3E75CFF}"/>
              </a:ext>
            </a:extLst>
          </p:cNvPr>
          <p:cNvSpPr txBox="1"/>
          <p:nvPr/>
        </p:nvSpPr>
        <p:spPr>
          <a:xfrm>
            <a:off x="1056785" y="1888408"/>
            <a:ext cx="203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矩阵（按列存储）：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949E176-1009-40BE-9350-797976A2A05B}"/>
              </a:ext>
            </a:extLst>
          </p:cNvPr>
          <p:cNvSpPr txBox="1"/>
          <p:nvPr/>
        </p:nvSpPr>
        <p:spPr>
          <a:xfrm>
            <a:off x="1056785" y="3994322"/>
            <a:ext cx="203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矩阵下标访问：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E336F1C-A002-415B-864D-8F98853646D1}"/>
              </a:ext>
            </a:extLst>
          </p:cNvPr>
          <p:cNvSpPr txBox="1"/>
          <p:nvPr/>
        </p:nvSpPr>
        <p:spPr>
          <a:xfrm>
            <a:off x="2708380" y="4363654"/>
            <a:ext cx="1630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第 </a:t>
            </a:r>
            <a:r>
              <a:rPr lang="en-US" altLang="zh-CN" sz="1400" dirty="0"/>
              <a:t>3 </a:t>
            </a:r>
            <a:r>
              <a:rPr lang="zh-CN" altLang="en-US" sz="1400" dirty="0"/>
              <a:t>列</a:t>
            </a:r>
            <a:r>
              <a:rPr lang="en-US" altLang="zh-CN" sz="1400" dirty="0"/>
              <a:t>,</a:t>
            </a:r>
            <a:r>
              <a:rPr lang="zh-CN" altLang="en-US" sz="1400" dirty="0"/>
              <a:t>第 </a:t>
            </a:r>
            <a:r>
              <a:rPr lang="en-US" altLang="zh-CN" sz="1400" dirty="0"/>
              <a:t>4 </a:t>
            </a:r>
            <a:r>
              <a:rPr lang="zh-CN" altLang="en-US" sz="1400" dirty="0"/>
              <a:t>行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F07CA47-15D5-4B69-AFAC-43D4980FF271}"/>
              </a:ext>
            </a:extLst>
          </p:cNvPr>
          <p:cNvSpPr/>
          <p:nvPr/>
        </p:nvSpPr>
        <p:spPr>
          <a:xfrm>
            <a:off x="2708380" y="2335045"/>
            <a:ext cx="213993" cy="2396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36B002D-A62B-4894-A6E4-83D7F83604BF}"/>
                  </a:ext>
                </a:extLst>
              </p:cNvPr>
              <p:cNvSpPr txBox="1"/>
              <p:nvPr/>
            </p:nvSpPr>
            <p:spPr>
              <a:xfrm>
                <a:off x="1016277" y="5103012"/>
                <a:ext cx="7809668" cy="668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当我们将矩阵中的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CN" dirty="0"/>
                  <a:t>(</a:t>
                </a:r>
                <a:r>
                  <a:rPr lang="zh-CN" altLang="en-US" dirty="0"/>
                  <a:t>第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行</m:t>
                    </m:r>
                  </m:oMath>
                </a14:m>
                <a:r>
                  <a:rPr lang="zh-CN" altLang="en-US" dirty="0"/>
                  <a:t>，第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/>
                  <a:t>列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赋值给 </a:t>
                </a:r>
                <a:r>
                  <a:rPr lang="en-US" altLang="zh-CN" dirty="0" err="1"/>
                  <a:t>glm</a:t>
                </a:r>
                <a:r>
                  <a:rPr lang="en-US" altLang="zh-CN" dirty="0"/>
                  <a:t>::mat4 </a:t>
                </a:r>
                <a:r>
                  <a:rPr lang="zh-CN" altLang="en-US" dirty="0"/>
                  <a:t>的 </a:t>
                </a:r>
                <a:r>
                  <a:rPr lang="en-US" altLang="zh-CN" dirty="0" err="1"/>
                  <a:t>matirx</a:t>
                </a:r>
                <a:r>
                  <a:rPr lang="en-US" altLang="zh-CN" dirty="0"/>
                  <a:t>[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][j] </a:t>
                </a:r>
                <a:r>
                  <a:rPr lang="zh-CN" altLang="en-US" dirty="0"/>
                  <a:t>来进行矩阵的初始化（按行存储），那么就需要对结果进行转置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glm</a:t>
                </a:r>
                <a:r>
                  <a:rPr lang="en-US" altLang="zh-CN" dirty="0"/>
                  <a:t>::transpose(matrix)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36B002D-A62B-4894-A6E4-83D7F8360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277" y="5103012"/>
                <a:ext cx="7809668" cy="668645"/>
              </a:xfrm>
              <a:prstGeom prst="rect">
                <a:avLst/>
              </a:prstGeom>
              <a:blipFill>
                <a:blip r:embed="rId4"/>
                <a:stretch>
                  <a:fillRect l="-812" t="-7407" r="-974" b="-1481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7827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6037</TotalTime>
  <Words>2058</Words>
  <Application>Microsoft Office PowerPoint</Application>
  <PresentationFormat>全屏显示(4:3)</PresentationFormat>
  <Paragraphs>447</Paragraphs>
  <Slides>42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42</vt:i4>
      </vt:variant>
    </vt:vector>
  </HeadingPairs>
  <TitlesOfParts>
    <vt:vector size="54" baseType="lpstr">
      <vt:lpstr>04b</vt:lpstr>
      <vt:lpstr>ZztexMono-Regular</vt:lpstr>
      <vt:lpstr>楷体</vt:lpstr>
      <vt:lpstr>微软雅黑</vt:lpstr>
      <vt:lpstr>微软雅黑</vt:lpstr>
      <vt:lpstr>Arial</vt:lpstr>
      <vt:lpstr>Calibri</vt:lpstr>
      <vt:lpstr>Cambria Math</vt:lpstr>
      <vt:lpstr>Wingdings</vt:lpstr>
      <vt:lpstr>Office 主题</vt:lpstr>
      <vt:lpstr>Equation</vt:lpstr>
      <vt:lpstr>Equation.DSMT4</vt:lpstr>
      <vt:lpstr>第四章 观察</vt:lpstr>
      <vt:lpstr>知识点回顾 - 平面几何投影的分类</vt:lpstr>
      <vt:lpstr>知识点回顾 - 透视投影</vt:lpstr>
      <vt:lpstr>知识点回顾 - 平行投影</vt:lpstr>
      <vt:lpstr>知识点回顾 - LookAt函数</vt:lpstr>
      <vt:lpstr>知识点回顾 - 标架的变换</vt:lpstr>
      <vt:lpstr>知识点回顾 - 模型视图矩阵的计算</vt:lpstr>
      <vt:lpstr>大纲</vt:lpstr>
      <vt:lpstr>内容提要</vt:lpstr>
      <vt:lpstr>实验3.2</vt:lpstr>
      <vt:lpstr>大纲</vt:lpstr>
      <vt:lpstr>正交投影</vt:lpstr>
      <vt:lpstr>对投影的理解</vt:lpstr>
      <vt:lpstr>投影规范化</vt:lpstr>
      <vt:lpstr>投影规范化</vt:lpstr>
      <vt:lpstr>OpenGL中的正交投影</vt:lpstr>
      <vt:lpstr>正交投影矩阵</vt:lpstr>
      <vt:lpstr>大纲</vt:lpstr>
      <vt:lpstr>透视投影</vt:lpstr>
      <vt:lpstr>简单透视</vt:lpstr>
      <vt:lpstr>透视除法</vt:lpstr>
      <vt:lpstr>OpenGL的透视投影</vt:lpstr>
      <vt:lpstr>OpenGL的透视投影函数</vt:lpstr>
      <vt:lpstr>透视规范化</vt:lpstr>
      <vt:lpstr>OpenGL的透视变换</vt:lpstr>
      <vt:lpstr>OpenGL的透视变换</vt:lpstr>
      <vt:lpstr>OpenGL的透视变换</vt:lpstr>
      <vt:lpstr>投影变换总结</vt:lpstr>
      <vt:lpstr>大纲</vt:lpstr>
      <vt:lpstr>隐藏面消除</vt:lpstr>
      <vt:lpstr>隐藏面消除算法</vt:lpstr>
      <vt:lpstr>隐藏面消除算法</vt:lpstr>
      <vt:lpstr>大纲</vt:lpstr>
      <vt:lpstr>曲面的表示</vt:lpstr>
      <vt:lpstr>高度场的绘制显示</vt:lpstr>
      <vt:lpstr>网格曲面的绘制显示</vt:lpstr>
      <vt:lpstr>大纲</vt:lpstr>
      <vt:lpstr>阴影效果</vt:lpstr>
      <vt:lpstr>阴影效果</vt:lpstr>
      <vt:lpstr>阴影效果</vt:lpstr>
      <vt:lpstr>实验3.2</vt:lpstr>
      <vt:lpstr>实验常见问题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Ruizhen Hu</dc:creator>
  <cp:lastModifiedBy>王锦鸿</cp:lastModifiedBy>
  <cp:revision>554</cp:revision>
  <dcterms:created xsi:type="dcterms:W3CDTF">2016-08-04T07:29:19Z</dcterms:created>
  <dcterms:modified xsi:type="dcterms:W3CDTF">2024-10-29T08:13:16Z</dcterms:modified>
</cp:coreProperties>
</file>