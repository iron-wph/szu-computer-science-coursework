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8.jp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9"/>
  </p:notesMasterIdLst>
  <p:sldIdLst>
    <p:sldId id="396" r:id="rId2"/>
    <p:sldId id="305" r:id="rId3"/>
    <p:sldId id="386" r:id="rId4"/>
    <p:sldId id="394" r:id="rId5"/>
    <p:sldId id="392" r:id="rId6"/>
    <p:sldId id="390" r:id="rId7"/>
    <p:sldId id="391" r:id="rId8"/>
    <p:sldId id="258" r:id="rId9"/>
    <p:sldId id="298" r:id="rId10"/>
    <p:sldId id="398" r:id="rId11"/>
    <p:sldId id="261" r:id="rId12"/>
    <p:sldId id="357" r:id="rId13"/>
    <p:sldId id="358" r:id="rId14"/>
    <p:sldId id="359" r:id="rId15"/>
    <p:sldId id="363" r:id="rId16"/>
    <p:sldId id="332" r:id="rId17"/>
    <p:sldId id="361" r:id="rId18"/>
    <p:sldId id="364" r:id="rId19"/>
    <p:sldId id="362" r:id="rId20"/>
    <p:sldId id="335" r:id="rId21"/>
    <p:sldId id="367" r:id="rId22"/>
    <p:sldId id="369" r:id="rId23"/>
    <p:sldId id="336" r:id="rId24"/>
    <p:sldId id="368" r:id="rId25"/>
    <p:sldId id="365" r:id="rId26"/>
    <p:sldId id="370" r:id="rId27"/>
    <p:sldId id="371" r:id="rId28"/>
    <p:sldId id="373" r:id="rId29"/>
    <p:sldId id="372" r:id="rId30"/>
    <p:sldId id="329" r:id="rId31"/>
    <p:sldId id="331" r:id="rId32"/>
    <p:sldId id="375" r:id="rId33"/>
    <p:sldId id="376" r:id="rId34"/>
    <p:sldId id="377" r:id="rId35"/>
    <p:sldId id="378" r:id="rId36"/>
    <p:sldId id="379" r:id="rId37"/>
    <p:sldId id="381" r:id="rId38"/>
    <p:sldId id="306" r:id="rId39"/>
    <p:sldId id="304" r:id="rId40"/>
    <p:sldId id="312" r:id="rId41"/>
    <p:sldId id="382" r:id="rId42"/>
    <p:sldId id="279" r:id="rId43"/>
    <p:sldId id="355" r:id="rId44"/>
    <p:sldId id="387" r:id="rId45"/>
    <p:sldId id="397" r:id="rId46"/>
    <p:sldId id="383" r:id="rId47"/>
    <p:sldId id="395"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00FF"/>
    <a:srgbClr val="464DD9"/>
    <a:srgbClr val="BDD7EE"/>
    <a:srgbClr val="7030A0"/>
    <a:srgbClr val="5B9BD5"/>
    <a:srgbClr val="D5A6DF"/>
    <a:srgbClr val="FF91C8"/>
    <a:srgbClr val="99CC67"/>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17" autoAdjust="0"/>
    <p:restoredTop sz="95840" autoAdjust="0"/>
  </p:normalViewPr>
  <p:slideViewPr>
    <p:cSldViewPr snapToGrid="0">
      <p:cViewPr varScale="1">
        <p:scale>
          <a:sx n="108" d="100"/>
          <a:sy n="108" d="100"/>
        </p:scale>
        <p:origin x="12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2024/12/27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a:t>
            </a:fld>
            <a:endParaRPr lang="zh-CN" altLang="en-US"/>
          </a:p>
        </p:txBody>
      </p:sp>
    </p:spTree>
    <p:extLst>
      <p:ext uri="{BB962C8B-B14F-4D97-AF65-F5344CB8AC3E}">
        <p14:creationId xmlns:p14="http://schemas.microsoft.com/office/powerpoint/2010/main" val="3952941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11</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25</a:t>
            </a:fld>
            <a:endParaRPr lang="zh-CN" altLang="en-US"/>
          </a:p>
        </p:txBody>
      </p:sp>
    </p:spTree>
    <p:extLst>
      <p:ext uri="{BB962C8B-B14F-4D97-AF65-F5344CB8AC3E}">
        <p14:creationId xmlns:p14="http://schemas.microsoft.com/office/powerpoint/2010/main" val="1700463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2024/12/27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2024/12/27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2024/12/27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2024/12/27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3.jpe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0.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2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0.png"/><Relationship Id="rId7" Type="http://schemas.openxmlformats.org/officeDocument/2006/relationships/image" Target="../media/image481.png"/><Relationship Id="rId2" Type="http://schemas.openxmlformats.org/officeDocument/2006/relationships/image" Target="../media/image430.png"/><Relationship Id="rId1" Type="http://schemas.openxmlformats.org/officeDocument/2006/relationships/slideLayout" Target="../slideLayouts/slideLayout2.xml"/><Relationship Id="rId6" Type="http://schemas.openxmlformats.org/officeDocument/2006/relationships/image" Target="../media/image470.png"/><Relationship Id="rId5" Type="http://schemas.openxmlformats.org/officeDocument/2006/relationships/image" Target="../media/image46.png"/><Relationship Id="rId4" Type="http://schemas.openxmlformats.org/officeDocument/2006/relationships/image" Target="../media/image450.png"/></Relationships>
</file>

<file path=ppt/slides/_rels/slide3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0.jpeg"/><Relationship Id="rId7" Type="http://schemas.openxmlformats.org/officeDocument/2006/relationships/image" Target="../media/image61.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png"/><Relationship Id="rId10" Type="http://schemas.openxmlformats.org/officeDocument/2006/relationships/image" Target="../media/image64.png"/><Relationship Id="rId4" Type="http://schemas.openxmlformats.org/officeDocument/2006/relationships/image" Target="../media/image480.png"/><Relationship Id="rId9"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0.png"/></Relationships>
</file>

<file path=ppt/slides/_rels/slide38.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4.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4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31222" y="902711"/>
            <a:ext cx="8281555" cy="2387600"/>
          </a:xfrm>
        </p:spPr>
        <p:txBody>
          <a:bodyPr/>
          <a:lstStyle/>
          <a:p>
            <a:r>
              <a:rPr lang="zh-CN" altLang="en-US" dirty="0">
                <a:solidFill>
                  <a:srgbClr val="94003F"/>
                </a:solidFill>
              </a:rPr>
              <a:t>第三章 几何对象和变换</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09363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a:t>
            </a:r>
          </a:p>
        </p:txBody>
      </p:sp>
      <p:sp>
        <p:nvSpPr>
          <p:cNvPr id="3" name="内容占位符 2"/>
          <p:cNvSpPr>
            <a:spLocks noGrp="1"/>
          </p:cNvSpPr>
          <p:nvPr>
            <p:ph idx="1"/>
          </p:nvPr>
        </p:nvSpPr>
        <p:spPr/>
        <p:txBody>
          <a:bodyPr>
            <a:normAutofit/>
          </a:bodyPr>
          <a:lstStyle/>
          <a:p>
            <a:pPr>
              <a:buClr>
                <a:srgbClr val="94003F"/>
              </a:buClr>
            </a:pPr>
            <a:r>
              <a:rPr lang="zh-CN" altLang="en-US" sz="2400" dirty="0"/>
              <a:t>在图形编程领域，正发生着剧烈的技术变革：</a:t>
            </a:r>
          </a:p>
          <a:p>
            <a:pPr lvl="1">
              <a:buClr>
                <a:schemeClr val="tx1"/>
              </a:buClr>
            </a:pPr>
            <a:r>
              <a:rPr lang="zh-CN" altLang="en-US" sz="1800" dirty="0"/>
              <a:t>如乔布斯在</a:t>
            </a:r>
            <a:r>
              <a:rPr lang="en-US" altLang="zh-CN" sz="1800" dirty="0"/>
              <a:t>2010</a:t>
            </a:r>
            <a:r>
              <a:rPr lang="zh-CN" altLang="en-US" sz="1800" dirty="0"/>
              <a:t>年预言的，目前</a:t>
            </a:r>
            <a:r>
              <a:rPr lang="en-US" altLang="zh-CN" sz="1800" dirty="0" err="1"/>
              <a:t>WebGL</a:t>
            </a:r>
            <a:r>
              <a:rPr lang="zh-CN" altLang="en-US" sz="1800" dirty="0"/>
              <a:t>全面取代</a:t>
            </a:r>
            <a:r>
              <a:rPr lang="en-US" altLang="zh-CN" sz="1800" dirty="0"/>
              <a:t>Flash</a:t>
            </a:r>
          </a:p>
          <a:p>
            <a:pPr lvl="1">
              <a:buClr>
                <a:schemeClr val="tx1"/>
              </a:buClr>
            </a:pPr>
            <a:r>
              <a:rPr lang="zh-CN" altLang="en-US" sz="1800" dirty="0"/>
              <a:t>除了</a:t>
            </a:r>
            <a:r>
              <a:rPr lang="en-US" altLang="zh-CN" sz="1800" dirty="0"/>
              <a:t>Win</a:t>
            </a:r>
            <a:r>
              <a:rPr lang="zh-CN" altLang="en-US" sz="1800" dirty="0"/>
              <a:t>平台下的游戏领域，</a:t>
            </a:r>
            <a:r>
              <a:rPr lang="en-US" altLang="zh-CN" sz="1800" dirty="0"/>
              <a:t>OpenGL</a:t>
            </a:r>
            <a:r>
              <a:rPr lang="zh-CN" altLang="en-US" sz="1800" dirty="0"/>
              <a:t>已经全面超越</a:t>
            </a:r>
            <a:r>
              <a:rPr lang="en-US" altLang="zh-CN" sz="1800" dirty="0"/>
              <a:t>Microsoft</a:t>
            </a:r>
            <a:r>
              <a:rPr lang="en-US" altLang="zh-CN" sz="1800" b="1" baseline="30000" dirty="0"/>
              <a:t>®</a:t>
            </a:r>
            <a:r>
              <a:rPr lang="zh-CN" altLang="en-US" sz="1800" dirty="0"/>
              <a:t>的</a:t>
            </a:r>
            <a:r>
              <a:rPr lang="en-US" altLang="zh-CN" sz="1800" dirty="0"/>
              <a:t>Direct3D</a:t>
            </a:r>
            <a:r>
              <a:rPr lang="zh-CN" altLang="en-US" sz="1800" dirty="0"/>
              <a:t>成为图形编程的主流</a:t>
            </a:r>
            <a:r>
              <a:rPr lang="en-US" altLang="zh-CN" sz="1800" dirty="0"/>
              <a:t>API</a:t>
            </a:r>
          </a:p>
          <a:p>
            <a:pPr lvl="1">
              <a:buClr>
                <a:schemeClr val="tx1"/>
              </a:buClr>
            </a:pPr>
            <a:r>
              <a:rPr lang="zh-CN" altLang="en-US" sz="1800" dirty="0"/>
              <a:t>最新的</a:t>
            </a:r>
            <a:r>
              <a:rPr lang="en-US" altLang="zh-CN" sz="1800" dirty="0"/>
              <a:t>OpenGL4.3</a:t>
            </a:r>
            <a:r>
              <a:rPr lang="zh-CN" altLang="en-US" sz="1800" dirty="0"/>
              <a:t>将着色器作为基础组件，其处理管线如下图：</a:t>
            </a:r>
            <a:endParaRPr lang="en-US" altLang="zh-CN" sz="1800" dirty="0"/>
          </a:p>
          <a:p>
            <a:pPr lvl="1">
              <a:buClr>
                <a:schemeClr val="tx1"/>
              </a:buClr>
            </a:pPr>
            <a:endParaRPr lang="zh-CN" altLang="en-US" sz="1800" dirty="0"/>
          </a:p>
          <a:p>
            <a:endParaRPr lang="zh-CN" altLang="en-US" dirty="0"/>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2</a:t>
            </a:fld>
            <a:endParaRPr lang="zh-CN" altLang="en-US"/>
          </a:p>
        </p:txBody>
      </p:sp>
      <p:pic>
        <p:nvPicPr>
          <p:cNvPr id="6" name="图片 5"/>
          <p:cNvPicPr>
            <a:picLocks noChangeAspect="1"/>
          </p:cNvPicPr>
          <p:nvPr/>
        </p:nvPicPr>
        <p:blipFill rotWithShape="1">
          <a:blip r:embed="rId3"/>
          <a:srcRect r="430"/>
          <a:stretch/>
        </p:blipFill>
        <p:spPr>
          <a:xfrm>
            <a:off x="2574318" y="3064969"/>
            <a:ext cx="5546578" cy="3549606"/>
          </a:xfrm>
          <a:prstGeom prst="rect">
            <a:avLst/>
          </a:prstGeom>
        </p:spPr>
      </p:pic>
      <p:sp>
        <p:nvSpPr>
          <p:cNvPr id="7" name="矩形 6"/>
          <p:cNvSpPr/>
          <p:nvPr/>
        </p:nvSpPr>
        <p:spPr>
          <a:xfrm>
            <a:off x="545910" y="3680460"/>
            <a:ext cx="2973599" cy="2862322"/>
          </a:xfrm>
          <a:prstGeom prst="rect">
            <a:avLst/>
          </a:prstGeom>
          <a:solidFill>
            <a:srgbClr val="BDD7EE">
              <a:alpha val="52941"/>
            </a:srgbClr>
          </a:solidFill>
        </p:spPr>
        <p:txBody>
          <a:bodyPr wrap="square">
            <a:spAutoFit/>
          </a:bodyPr>
          <a:lstStyle/>
          <a:p>
            <a:r>
              <a:rPr lang="en-US" altLang="zh-CN" b="1" dirty="0">
                <a:solidFill>
                  <a:srgbClr val="464DD9"/>
                </a:solidFill>
                <a:latin typeface="ZztexMono-Regular"/>
              </a:rPr>
              <a:t> - </a:t>
            </a:r>
            <a:r>
              <a:rPr lang="zh-CN" altLang="en-US" b="1" dirty="0">
                <a:solidFill>
                  <a:srgbClr val="464DD9"/>
                </a:solidFill>
                <a:latin typeface="ZztexMono-Regular"/>
              </a:rPr>
              <a:t>着色器</a:t>
            </a:r>
            <a:r>
              <a:rPr lang="en-US" altLang="zh-CN" b="1" dirty="0">
                <a:solidFill>
                  <a:srgbClr val="464DD9"/>
                </a:solidFill>
                <a:latin typeface="ZztexMono-Regular"/>
              </a:rPr>
              <a:t>(</a:t>
            </a:r>
            <a:r>
              <a:rPr lang="en-US" altLang="zh-CN" b="1" dirty="0" err="1">
                <a:solidFill>
                  <a:srgbClr val="464DD9"/>
                </a:solidFill>
                <a:latin typeface="ZztexMono-Regular"/>
              </a:rPr>
              <a:t>Shader</a:t>
            </a:r>
            <a:r>
              <a:rPr lang="en-US" altLang="zh-CN" b="1" dirty="0">
                <a:solidFill>
                  <a:srgbClr val="464DD9"/>
                </a:solidFill>
                <a:latin typeface="ZztexMono-Regular"/>
              </a:rPr>
              <a:t>)</a:t>
            </a:r>
            <a:r>
              <a:rPr lang="zh-CN" altLang="en-US" b="1" dirty="0">
                <a:solidFill>
                  <a:srgbClr val="464DD9"/>
                </a:solidFill>
                <a:latin typeface="ZztexMono-Regular"/>
              </a:rPr>
              <a:t>的概念：</a:t>
            </a:r>
            <a:endParaRPr lang="en-US" altLang="zh-CN" b="1" dirty="0">
              <a:solidFill>
                <a:srgbClr val="464DD9"/>
              </a:solidFill>
              <a:latin typeface="ZztexMono-Regular"/>
            </a:endParaRPr>
          </a:p>
          <a:p>
            <a:r>
              <a:rPr lang="en-US" altLang="zh-CN" b="1" dirty="0">
                <a:solidFill>
                  <a:srgbClr val="464DD9"/>
                </a:solidFill>
                <a:latin typeface="ZztexMono-Regular"/>
              </a:rPr>
              <a:t>    GPU</a:t>
            </a:r>
            <a:r>
              <a:rPr lang="zh-CN" altLang="en-US" b="1" dirty="0">
                <a:solidFill>
                  <a:srgbClr val="464DD9"/>
                </a:solidFill>
                <a:latin typeface="ZztexMono-Regular"/>
              </a:rPr>
              <a:t>的图元处理小程序</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着色器的种类：</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顶点着色器、片段着色  </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器、几何着色器</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着色器语言： </a:t>
            </a:r>
            <a:endParaRPr lang="en-US" altLang="zh-CN" b="1" dirty="0">
              <a:solidFill>
                <a:srgbClr val="464DD9"/>
              </a:solidFill>
              <a:latin typeface="ZztexMono-Regular"/>
            </a:endParaRPr>
          </a:p>
          <a:p>
            <a:r>
              <a:rPr lang="en-US" altLang="zh-CN" b="1" dirty="0">
                <a:solidFill>
                  <a:srgbClr val="464DD9"/>
                </a:solidFill>
                <a:latin typeface="ZztexMono-Regular"/>
              </a:rPr>
              <a:t>    OpenGL Shading  </a:t>
            </a:r>
          </a:p>
          <a:p>
            <a:r>
              <a:rPr lang="en-US" altLang="zh-CN" b="1" dirty="0">
                <a:solidFill>
                  <a:srgbClr val="464DD9"/>
                </a:solidFill>
                <a:latin typeface="ZztexMono-Regular"/>
              </a:rPr>
              <a:t>    Language / GLSL</a:t>
            </a:r>
            <a:endParaRPr lang="en-US" altLang="zh-CN" dirty="0">
              <a:latin typeface="ZztexMono-Regular"/>
            </a:endParaRPr>
          </a:p>
        </p:txBody>
      </p:sp>
      <p:sp>
        <p:nvSpPr>
          <p:cNvPr id="8" name="Rectangle 7">
            <a:extLst>
              <a:ext uri="{FF2B5EF4-FFF2-40B4-BE49-F238E27FC236}">
                <a16:creationId xmlns:a16="http://schemas.microsoft.com/office/drawing/2014/main" id="{342AF005-DC8E-7442-A7C0-7A70A07540E4}"/>
              </a:ext>
            </a:extLst>
          </p:cNvPr>
          <p:cNvSpPr/>
          <p:nvPr/>
        </p:nvSpPr>
        <p:spPr>
          <a:xfrm>
            <a:off x="4973608" y="732056"/>
            <a:ext cx="3991798" cy="584775"/>
          </a:xfrm>
          <a:prstGeom prst="rect">
            <a:avLst/>
          </a:prstGeom>
        </p:spPr>
        <p:txBody>
          <a:bodyPr wrap="none">
            <a:spAutoFit/>
          </a:bodyPr>
          <a:lstStyle/>
          <a:p>
            <a:r>
              <a:rPr lang="en-US" altLang="zh-CN" sz="3200" b="1" dirty="0">
                <a:solidFill>
                  <a:srgbClr val="A50021"/>
                </a:solidFill>
              </a:rPr>
              <a:t>OpenGL</a:t>
            </a:r>
            <a:r>
              <a:rPr lang="zh-CN" altLang="en-US" sz="3200" b="1" dirty="0">
                <a:solidFill>
                  <a:srgbClr val="A50021"/>
                </a:solidFill>
              </a:rPr>
              <a:t>着色器与</a:t>
            </a:r>
            <a:r>
              <a:rPr lang="en-US" altLang="zh-CN" sz="3200" b="1" dirty="0">
                <a:solidFill>
                  <a:srgbClr val="A50021"/>
                </a:solidFill>
              </a:rPr>
              <a:t>GLSL</a:t>
            </a:r>
            <a:endParaRPr lang="en-US" sz="3200" b="1" dirty="0">
              <a:solidFill>
                <a:srgbClr val="A50021"/>
              </a:solidFill>
            </a:endParaRPr>
          </a:p>
        </p:txBody>
      </p:sp>
    </p:spTree>
    <p:extLst>
      <p:ext uri="{BB962C8B-B14F-4D97-AF65-F5344CB8AC3E}">
        <p14:creationId xmlns:p14="http://schemas.microsoft.com/office/powerpoint/2010/main" val="325432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rcRect/>
          <a:stretch/>
        </p:blipFill>
        <p:spPr>
          <a:xfrm>
            <a:off x="5196192" y="3302096"/>
            <a:ext cx="3947808" cy="3555179"/>
          </a:xfrm>
          <a:prstGeom prst="rect">
            <a:avLst/>
          </a:prstGeom>
        </p:spPr>
      </p:pic>
      <p:sp>
        <p:nvSpPr>
          <p:cNvPr id="2" name="Title 1"/>
          <p:cNvSpPr>
            <a:spLocks noGrp="1"/>
          </p:cNvSpPr>
          <p:nvPr>
            <p:ph type="title"/>
          </p:nvPr>
        </p:nvSpPr>
        <p:spPr/>
        <p:txBody>
          <a:bodyPr/>
          <a:lstStyle/>
          <a:p>
            <a:r>
              <a:rPr lang="zh-CN" altLang="en-US" dirty="0"/>
              <a:t>知识点回顾</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5" name="Picture 4"/>
          <p:cNvPicPr>
            <a:picLocks noChangeAspect="1"/>
          </p:cNvPicPr>
          <p:nvPr/>
        </p:nvPicPr>
        <p:blipFill>
          <a:blip r:embed="rId3"/>
          <a:stretch>
            <a:fillRect/>
          </a:stretch>
        </p:blipFill>
        <p:spPr>
          <a:xfrm>
            <a:off x="155121" y="1420813"/>
            <a:ext cx="4842211" cy="5072062"/>
          </a:xfrm>
          <a:prstGeom prst="rect">
            <a:avLst/>
          </a:prstGeom>
        </p:spPr>
      </p:pic>
      <p:sp>
        <p:nvSpPr>
          <p:cNvPr id="6" name="Rectangle 5"/>
          <p:cNvSpPr/>
          <p:nvPr/>
        </p:nvSpPr>
        <p:spPr>
          <a:xfrm>
            <a:off x="6907130" y="732344"/>
            <a:ext cx="1531188" cy="584775"/>
          </a:xfrm>
          <a:prstGeom prst="rect">
            <a:avLst/>
          </a:prstGeom>
        </p:spPr>
        <p:txBody>
          <a:bodyPr wrap="none">
            <a:spAutoFit/>
          </a:bodyPr>
          <a:lstStyle/>
          <a:p>
            <a:r>
              <a:rPr lang="zh-CN" altLang="en-US" sz="3200" b="1" dirty="0">
                <a:solidFill>
                  <a:srgbClr val="A50021"/>
                </a:solidFill>
              </a:rPr>
              <a:t>实验</a:t>
            </a:r>
            <a:r>
              <a:rPr lang="en-US" altLang="zh-CN" sz="3200" b="1" dirty="0">
                <a:solidFill>
                  <a:srgbClr val="A50021"/>
                </a:solidFill>
              </a:rPr>
              <a:t>1.2</a:t>
            </a:r>
            <a:endParaRPr lang="en-US" sz="3200" b="1" dirty="0">
              <a:solidFill>
                <a:srgbClr val="A50021"/>
              </a:solidFill>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rcRect/>
          <a:stretch/>
        </p:blipFill>
        <p:spPr>
          <a:xfrm>
            <a:off x="5196192" y="1420813"/>
            <a:ext cx="3630718" cy="1700002"/>
          </a:xfrm>
          <a:prstGeom prst="rect">
            <a:avLst/>
          </a:prstGeom>
        </p:spPr>
      </p:pic>
    </p:spTree>
    <p:extLst>
      <p:ext uri="{BB962C8B-B14F-4D97-AF65-F5344CB8AC3E}">
        <p14:creationId xmlns:p14="http://schemas.microsoft.com/office/powerpoint/2010/main" val="1089484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B6A67-4CE5-4B53-983C-8D1BF75C4028}"/>
              </a:ext>
            </a:extLst>
          </p:cNvPr>
          <p:cNvSpPr>
            <a:spLocks noGrp="1"/>
          </p:cNvSpPr>
          <p:nvPr>
            <p:ph type="title"/>
          </p:nvPr>
        </p:nvSpPr>
        <p:spPr/>
        <p:txBody>
          <a:bodyPr/>
          <a:lstStyle/>
          <a:p>
            <a:r>
              <a:rPr lang="zh-CN" altLang="en-US" dirty="0"/>
              <a:t>常见问题</a:t>
            </a:r>
          </a:p>
        </p:txBody>
      </p:sp>
      <p:sp>
        <p:nvSpPr>
          <p:cNvPr id="3" name="内容占位符 2">
            <a:extLst>
              <a:ext uri="{FF2B5EF4-FFF2-40B4-BE49-F238E27FC236}">
                <a16:creationId xmlns:a16="http://schemas.microsoft.com/office/drawing/2014/main" id="{1B11811A-64E1-4149-9201-A9A31CFB859F}"/>
              </a:ext>
            </a:extLst>
          </p:cNvPr>
          <p:cNvSpPr>
            <a:spLocks noGrp="1"/>
          </p:cNvSpPr>
          <p:nvPr>
            <p:ph idx="1"/>
          </p:nvPr>
        </p:nvSpPr>
        <p:spPr/>
        <p:txBody>
          <a:bodyPr>
            <a:normAutofit/>
          </a:bodyPr>
          <a:lstStyle/>
          <a:p>
            <a:r>
              <a:rPr lang="zh-CN" altLang="en-US" dirty="0"/>
              <a:t>关于“颜色”的代码拼写错误（错误案例）</a:t>
            </a:r>
            <a:endParaRPr lang="en-US" altLang="zh-CN" dirty="0"/>
          </a:p>
          <a:p>
            <a:pPr lvl="1"/>
            <a:endParaRPr lang="en-US" altLang="zh-CN" dirty="0"/>
          </a:p>
          <a:p>
            <a:pPr lvl="1"/>
            <a:endParaRPr lang="en-US" altLang="zh-CN" dirty="0"/>
          </a:p>
          <a:p>
            <a:pPr lvl="1"/>
            <a:endParaRPr lang="en-US" altLang="zh-CN" dirty="0"/>
          </a:p>
        </p:txBody>
      </p:sp>
      <p:sp>
        <p:nvSpPr>
          <p:cNvPr id="4" name="灯片编号占位符 3">
            <a:extLst>
              <a:ext uri="{FF2B5EF4-FFF2-40B4-BE49-F238E27FC236}">
                <a16:creationId xmlns:a16="http://schemas.microsoft.com/office/drawing/2014/main" id="{10F88F71-F127-4A29-B958-ACBAB8C8C83C}"/>
              </a:ext>
            </a:extLst>
          </p:cNvPr>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6" name="图片 5">
            <a:extLst>
              <a:ext uri="{FF2B5EF4-FFF2-40B4-BE49-F238E27FC236}">
                <a16:creationId xmlns:a16="http://schemas.microsoft.com/office/drawing/2014/main" id="{07D041CB-CA9B-469E-B7F3-DB2833ADF2F1}"/>
              </a:ext>
            </a:extLst>
          </p:cNvPr>
          <p:cNvPicPr>
            <a:picLocks noChangeAspect="1"/>
          </p:cNvPicPr>
          <p:nvPr/>
        </p:nvPicPr>
        <p:blipFill>
          <a:blip r:embed="rId2"/>
          <a:stretch>
            <a:fillRect/>
          </a:stretch>
        </p:blipFill>
        <p:spPr>
          <a:xfrm>
            <a:off x="5028156" y="1968882"/>
            <a:ext cx="2038938" cy="2089127"/>
          </a:xfrm>
          <a:prstGeom prst="rect">
            <a:avLst/>
          </a:prstGeom>
        </p:spPr>
      </p:pic>
      <p:sp>
        <p:nvSpPr>
          <p:cNvPr id="7" name="文本框 6">
            <a:extLst>
              <a:ext uri="{FF2B5EF4-FFF2-40B4-BE49-F238E27FC236}">
                <a16:creationId xmlns:a16="http://schemas.microsoft.com/office/drawing/2014/main" id="{DA29A290-5F2B-4632-8F2A-5C4064A4FCA9}"/>
              </a:ext>
            </a:extLst>
          </p:cNvPr>
          <p:cNvSpPr txBox="1"/>
          <p:nvPr/>
        </p:nvSpPr>
        <p:spPr>
          <a:xfrm>
            <a:off x="1902286" y="4178991"/>
            <a:ext cx="1404508" cy="369332"/>
          </a:xfrm>
          <a:prstGeom prst="rect">
            <a:avLst/>
          </a:prstGeom>
          <a:noFill/>
        </p:spPr>
        <p:txBody>
          <a:bodyPr wrap="square" rtlCol="0">
            <a:spAutoFit/>
          </a:bodyPr>
          <a:lstStyle/>
          <a:p>
            <a:pPr algn="ctr"/>
            <a:r>
              <a:rPr lang="zh-CN" altLang="en-US" dirty="0"/>
              <a:t>正确结果</a:t>
            </a:r>
          </a:p>
        </p:txBody>
      </p:sp>
      <p:pic>
        <p:nvPicPr>
          <p:cNvPr id="10" name="图片 9">
            <a:extLst>
              <a:ext uri="{FF2B5EF4-FFF2-40B4-BE49-F238E27FC236}">
                <a16:creationId xmlns:a16="http://schemas.microsoft.com/office/drawing/2014/main" id="{EF80270D-B400-4D85-8F11-72127854AF84}"/>
              </a:ext>
            </a:extLst>
          </p:cNvPr>
          <p:cNvPicPr>
            <a:picLocks noChangeAspect="1"/>
          </p:cNvPicPr>
          <p:nvPr/>
        </p:nvPicPr>
        <p:blipFill>
          <a:blip r:embed="rId3"/>
          <a:stretch>
            <a:fillRect/>
          </a:stretch>
        </p:blipFill>
        <p:spPr>
          <a:xfrm>
            <a:off x="4970198" y="4584537"/>
            <a:ext cx="2154853" cy="2089128"/>
          </a:xfrm>
          <a:prstGeom prst="rect">
            <a:avLst/>
          </a:prstGeom>
        </p:spPr>
      </p:pic>
      <p:pic>
        <p:nvPicPr>
          <p:cNvPr id="12" name="图片 11">
            <a:extLst>
              <a:ext uri="{FF2B5EF4-FFF2-40B4-BE49-F238E27FC236}">
                <a16:creationId xmlns:a16="http://schemas.microsoft.com/office/drawing/2014/main" id="{5A8B5933-287F-49BD-AFD7-0F42C77436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29180" y="1995599"/>
            <a:ext cx="1950720" cy="2035695"/>
          </a:xfrm>
          <a:prstGeom prst="rect">
            <a:avLst/>
          </a:prstGeom>
        </p:spPr>
      </p:pic>
      <p:sp>
        <p:nvSpPr>
          <p:cNvPr id="14" name="文本框 13">
            <a:extLst>
              <a:ext uri="{FF2B5EF4-FFF2-40B4-BE49-F238E27FC236}">
                <a16:creationId xmlns:a16="http://schemas.microsoft.com/office/drawing/2014/main" id="{D201FC5A-6100-4C85-89A6-FAA617AF8450}"/>
              </a:ext>
            </a:extLst>
          </p:cNvPr>
          <p:cNvSpPr txBox="1"/>
          <p:nvPr/>
        </p:nvSpPr>
        <p:spPr>
          <a:xfrm>
            <a:off x="5345371" y="4136607"/>
            <a:ext cx="1404508" cy="369332"/>
          </a:xfrm>
          <a:prstGeom prst="rect">
            <a:avLst/>
          </a:prstGeom>
          <a:noFill/>
        </p:spPr>
        <p:txBody>
          <a:bodyPr wrap="square" rtlCol="0">
            <a:spAutoFit/>
          </a:bodyPr>
          <a:lstStyle/>
          <a:p>
            <a:pPr algn="ctr"/>
            <a:r>
              <a:rPr lang="zh-CN" altLang="en-US" dirty="0"/>
              <a:t>颜色不对</a:t>
            </a:r>
          </a:p>
        </p:txBody>
      </p:sp>
      <p:pic>
        <p:nvPicPr>
          <p:cNvPr id="15" name="图片 14">
            <a:extLst>
              <a:ext uri="{FF2B5EF4-FFF2-40B4-BE49-F238E27FC236}">
                <a16:creationId xmlns:a16="http://schemas.microsoft.com/office/drawing/2014/main" id="{ABE1C101-E7AA-4E26-A938-15E467E70D09}"/>
              </a:ext>
            </a:extLst>
          </p:cNvPr>
          <p:cNvPicPr>
            <a:picLocks noChangeAspect="1"/>
          </p:cNvPicPr>
          <p:nvPr/>
        </p:nvPicPr>
        <p:blipFill>
          <a:blip r:embed="rId5"/>
          <a:stretch>
            <a:fillRect/>
          </a:stretch>
        </p:blipFill>
        <p:spPr>
          <a:xfrm>
            <a:off x="1641644" y="4717625"/>
            <a:ext cx="2015288" cy="2140375"/>
          </a:xfrm>
          <a:prstGeom prst="rect">
            <a:avLst/>
          </a:prstGeom>
        </p:spPr>
      </p:pic>
    </p:spTree>
    <p:extLst>
      <p:ext uri="{BB962C8B-B14F-4D97-AF65-F5344CB8AC3E}">
        <p14:creationId xmlns:p14="http://schemas.microsoft.com/office/powerpoint/2010/main" val="3644516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B6A67-4CE5-4B53-983C-8D1BF75C4028}"/>
              </a:ext>
            </a:extLst>
          </p:cNvPr>
          <p:cNvSpPr>
            <a:spLocks noGrp="1"/>
          </p:cNvSpPr>
          <p:nvPr>
            <p:ph type="title"/>
          </p:nvPr>
        </p:nvSpPr>
        <p:spPr/>
        <p:txBody>
          <a:bodyPr/>
          <a:lstStyle/>
          <a:p>
            <a:r>
              <a:rPr lang="zh-CN" altLang="en-US" dirty="0"/>
              <a:t>常见问题</a:t>
            </a:r>
          </a:p>
        </p:txBody>
      </p:sp>
      <p:sp>
        <p:nvSpPr>
          <p:cNvPr id="3" name="内容占位符 2">
            <a:extLst>
              <a:ext uri="{FF2B5EF4-FFF2-40B4-BE49-F238E27FC236}">
                <a16:creationId xmlns:a16="http://schemas.microsoft.com/office/drawing/2014/main" id="{1B11811A-64E1-4149-9201-A9A31CFB859F}"/>
              </a:ext>
            </a:extLst>
          </p:cNvPr>
          <p:cNvSpPr>
            <a:spLocks noGrp="1"/>
          </p:cNvSpPr>
          <p:nvPr>
            <p:ph idx="1"/>
          </p:nvPr>
        </p:nvSpPr>
        <p:spPr/>
        <p:txBody>
          <a:bodyPr>
            <a:normAutofit/>
          </a:bodyPr>
          <a:lstStyle/>
          <a:p>
            <a:r>
              <a:rPr lang="zh-CN" altLang="en-US" dirty="0"/>
              <a:t>关于“颜色”的代码拼写错误</a:t>
            </a:r>
            <a:endParaRPr lang="en-US" altLang="zh-CN" dirty="0"/>
          </a:p>
          <a:p>
            <a:pPr lvl="1"/>
            <a:r>
              <a:rPr lang="zh-CN" altLang="en-US" dirty="0"/>
              <a:t>错误使用 </a:t>
            </a:r>
            <a:r>
              <a:rPr lang="en-US" altLang="zh-CN" dirty="0">
                <a:solidFill>
                  <a:srgbClr val="FF0000"/>
                </a:solidFill>
              </a:rPr>
              <a:t>vec2</a:t>
            </a:r>
            <a:r>
              <a:rPr lang="en-US" altLang="zh-CN" dirty="0"/>
              <a:t> </a:t>
            </a:r>
            <a:r>
              <a:rPr lang="zh-CN" altLang="en-US" dirty="0"/>
              <a:t>初始化颜色数据</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关联顶点数据时，参数设置错误</a:t>
            </a:r>
            <a:endParaRPr lang="en-US" altLang="zh-CN" dirty="0"/>
          </a:p>
        </p:txBody>
      </p:sp>
      <p:sp>
        <p:nvSpPr>
          <p:cNvPr id="4" name="灯片编号占位符 3">
            <a:extLst>
              <a:ext uri="{FF2B5EF4-FFF2-40B4-BE49-F238E27FC236}">
                <a16:creationId xmlns:a16="http://schemas.microsoft.com/office/drawing/2014/main" id="{10F88F71-F127-4A29-B958-ACBAB8C8C83C}"/>
              </a:ext>
            </a:extLst>
          </p:cNvPr>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8" name="图片 7">
            <a:extLst>
              <a:ext uri="{FF2B5EF4-FFF2-40B4-BE49-F238E27FC236}">
                <a16:creationId xmlns:a16="http://schemas.microsoft.com/office/drawing/2014/main" id="{577EFDF9-80A4-4C1D-8345-F99BA2BC206C}"/>
              </a:ext>
            </a:extLst>
          </p:cNvPr>
          <p:cNvPicPr>
            <a:picLocks noChangeAspect="1"/>
          </p:cNvPicPr>
          <p:nvPr/>
        </p:nvPicPr>
        <p:blipFill>
          <a:blip r:embed="rId2"/>
          <a:stretch>
            <a:fillRect/>
          </a:stretch>
        </p:blipFill>
        <p:spPr>
          <a:xfrm>
            <a:off x="1211766" y="2138127"/>
            <a:ext cx="6846650" cy="1504606"/>
          </a:xfrm>
          <a:prstGeom prst="rect">
            <a:avLst/>
          </a:prstGeom>
        </p:spPr>
      </p:pic>
      <p:pic>
        <p:nvPicPr>
          <p:cNvPr id="16" name="图片 15">
            <a:extLst>
              <a:ext uri="{FF2B5EF4-FFF2-40B4-BE49-F238E27FC236}">
                <a16:creationId xmlns:a16="http://schemas.microsoft.com/office/drawing/2014/main" id="{8EA503DF-9DAE-4010-8353-572BDDA202A2}"/>
              </a:ext>
            </a:extLst>
          </p:cNvPr>
          <p:cNvPicPr>
            <a:picLocks noChangeAspect="1"/>
          </p:cNvPicPr>
          <p:nvPr/>
        </p:nvPicPr>
        <p:blipFill>
          <a:blip r:embed="rId3"/>
          <a:stretch>
            <a:fillRect/>
          </a:stretch>
        </p:blipFill>
        <p:spPr>
          <a:xfrm>
            <a:off x="1211766" y="4228034"/>
            <a:ext cx="6838971" cy="1198894"/>
          </a:xfrm>
          <a:prstGeom prst="rect">
            <a:avLst/>
          </a:prstGeom>
        </p:spPr>
      </p:pic>
    </p:spTree>
    <p:extLst>
      <p:ext uri="{BB962C8B-B14F-4D97-AF65-F5344CB8AC3E}">
        <p14:creationId xmlns:p14="http://schemas.microsoft.com/office/powerpoint/2010/main" val="81067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46047C-42B6-4B70-B564-FE1C690DFBAA}"/>
              </a:ext>
            </a:extLst>
          </p:cNvPr>
          <p:cNvSpPr>
            <a:spLocks noGrp="1"/>
          </p:cNvSpPr>
          <p:nvPr>
            <p:ph type="title"/>
          </p:nvPr>
        </p:nvSpPr>
        <p:spPr/>
        <p:txBody>
          <a:bodyPr/>
          <a:lstStyle/>
          <a:p>
            <a:r>
              <a:rPr lang="zh-CN" altLang="en-US" dirty="0"/>
              <a:t>常见问题</a:t>
            </a:r>
          </a:p>
        </p:txBody>
      </p:sp>
      <p:sp>
        <p:nvSpPr>
          <p:cNvPr id="3" name="内容占位符 2">
            <a:extLst>
              <a:ext uri="{FF2B5EF4-FFF2-40B4-BE49-F238E27FC236}">
                <a16:creationId xmlns:a16="http://schemas.microsoft.com/office/drawing/2014/main" id="{31455CB8-1906-45FA-BD16-140F44D4C0A0}"/>
              </a:ext>
            </a:extLst>
          </p:cNvPr>
          <p:cNvSpPr>
            <a:spLocks noGrp="1"/>
          </p:cNvSpPr>
          <p:nvPr>
            <p:ph idx="1"/>
          </p:nvPr>
        </p:nvSpPr>
        <p:spPr/>
        <p:txBody>
          <a:bodyPr>
            <a:normAutofit/>
          </a:bodyPr>
          <a:lstStyle/>
          <a:p>
            <a:r>
              <a:rPr lang="en-US" altLang="zh-CN" sz="2400" dirty="0"/>
              <a:t>program, </a:t>
            </a:r>
            <a:r>
              <a:rPr lang="en-US" altLang="zh-CN" sz="2400" dirty="0" err="1"/>
              <a:t>vao</a:t>
            </a:r>
            <a:r>
              <a:rPr lang="en-US" altLang="zh-CN" sz="2400" dirty="0"/>
              <a:t> </a:t>
            </a:r>
            <a:r>
              <a:rPr lang="zh-CN" altLang="en-US" sz="2400" dirty="0"/>
              <a:t>的错误使用，导致没有任何显示</a:t>
            </a:r>
          </a:p>
        </p:txBody>
      </p:sp>
      <p:sp>
        <p:nvSpPr>
          <p:cNvPr id="4" name="灯片编号占位符 3">
            <a:extLst>
              <a:ext uri="{FF2B5EF4-FFF2-40B4-BE49-F238E27FC236}">
                <a16:creationId xmlns:a16="http://schemas.microsoft.com/office/drawing/2014/main" id="{CAFE107D-AC50-42A1-B883-415D24BAA770}"/>
              </a:ext>
            </a:extLst>
          </p:cNvPr>
          <p:cNvSpPr>
            <a:spLocks noGrp="1"/>
          </p:cNvSpPr>
          <p:nvPr>
            <p:ph type="sldNum" sz="quarter" idx="12"/>
          </p:nvPr>
        </p:nvSpPr>
        <p:spPr/>
        <p:txBody>
          <a:bodyPr/>
          <a:lstStyle/>
          <a:p>
            <a:fld id="{EB792F4E-54C0-4D36-B331-9C6FCFE9A340}" type="slidenum">
              <a:rPr lang="zh-CN" altLang="en-US" smtClean="0"/>
              <a:pPr/>
              <a:t>6</a:t>
            </a:fld>
            <a:endParaRPr lang="zh-CN" altLang="en-US" dirty="0"/>
          </a:p>
        </p:txBody>
      </p:sp>
      <p:pic>
        <p:nvPicPr>
          <p:cNvPr id="8" name="图片 7">
            <a:extLst>
              <a:ext uri="{FF2B5EF4-FFF2-40B4-BE49-F238E27FC236}">
                <a16:creationId xmlns:a16="http://schemas.microsoft.com/office/drawing/2014/main" id="{2DBFD226-4842-4B68-8AE4-36E661C64A9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2833" y="1804953"/>
            <a:ext cx="6428116" cy="3043542"/>
          </a:xfrm>
          <a:prstGeom prst="rect">
            <a:avLst/>
          </a:prstGeom>
        </p:spPr>
      </p:pic>
      <p:pic>
        <p:nvPicPr>
          <p:cNvPr id="12" name="图片 11">
            <a:extLst>
              <a:ext uri="{FF2B5EF4-FFF2-40B4-BE49-F238E27FC236}">
                <a16:creationId xmlns:a16="http://schemas.microsoft.com/office/drawing/2014/main" id="{FE8F4350-71D1-4705-9722-FA9FCA2F5A31}"/>
              </a:ext>
            </a:extLst>
          </p:cNvPr>
          <p:cNvPicPr>
            <a:picLocks noChangeAspect="1"/>
          </p:cNvPicPr>
          <p:nvPr/>
        </p:nvPicPr>
        <p:blipFill>
          <a:blip r:embed="rId3"/>
          <a:stretch>
            <a:fillRect/>
          </a:stretch>
        </p:blipFill>
        <p:spPr>
          <a:xfrm>
            <a:off x="1062833" y="4973897"/>
            <a:ext cx="6428116" cy="1884103"/>
          </a:xfrm>
          <a:prstGeom prst="rect">
            <a:avLst/>
          </a:prstGeom>
        </p:spPr>
      </p:pic>
    </p:spTree>
    <p:extLst>
      <p:ext uri="{BB962C8B-B14F-4D97-AF65-F5344CB8AC3E}">
        <p14:creationId xmlns:p14="http://schemas.microsoft.com/office/powerpoint/2010/main" val="3319247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86415-231F-4016-A4B5-1536C49ED787}"/>
              </a:ext>
            </a:extLst>
          </p:cNvPr>
          <p:cNvSpPr>
            <a:spLocks noGrp="1"/>
          </p:cNvSpPr>
          <p:nvPr>
            <p:ph type="title"/>
          </p:nvPr>
        </p:nvSpPr>
        <p:spPr/>
        <p:txBody>
          <a:bodyPr/>
          <a:lstStyle/>
          <a:p>
            <a:r>
              <a:rPr lang="zh-CN" altLang="en-US" dirty="0"/>
              <a:t>常见问题</a:t>
            </a:r>
          </a:p>
        </p:txBody>
      </p:sp>
      <p:sp>
        <p:nvSpPr>
          <p:cNvPr id="3" name="内容占位符 2">
            <a:extLst>
              <a:ext uri="{FF2B5EF4-FFF2-40B4-BE49-F238E27FC236}">
                <a16:creationId xmlns:a16="http://schemas.microsoft.com/office/drawing/2014/main" id="{6A7B3233-BDF6-465C-9CCC-1B546CD67C7E}"/>
              </a:ext>
            </a:extLst>
          </p:cNvPr>
          <p:cNvSpPr>
            <a:spLocks noGrp="1"/>
          </p:cNvSpPr>
          <p:nvPr>
            <p:ph idx="1"/>
          </p:nvPr>
        </p:nvSpPr>
        <p:spPr/>
        <p:txBody>
          <a:bodyPr/>
          <a:lstStyle/>
          <a:p>
            <a:r>
              <a:rPr lang="en-US" altLang="zh-CN" dirty="0" err="1"/>
              <a:t>glBindBuffer</a:t>
            </a:r>
            <a:r>
              <a:rPr lang="en-US" altLang="zh-CN" dirty="0"/>
              <a:t> </a:t>
            </a:r>
            <a:r>
              <a:rPr lang="zh-CN" altLang="en-US" dirty="0"/>
              <a:t>绑定错误，导致没有任何显示</a:t>
            </a:r>
          </a:p>
        </p:txBody>
      </p:sp>
      <p:sp>
        <p:nvSpPr>
          <p:cNvPr id="4" name="灯片编号占位符 3">
            <a:extLst>
              <a:ext uri="{FF2B5EF4-FFF2-40B4-BE49-F238E27FC236}">
                <a16:creationId xmlns:a16="http://schemas.microsoft.com/office/drawing/2014/main" id="{AC51185D-E45B-4C2C-B53D-F8C6774A11C7}"/>
              </a:ext>
            </a:extLst>
          </p:cNvPr>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pic>
        <p:nvPicPr>
          <p:cNvPr id="9" name="图片 8">
            <a:extLst>
              <a:ext uri="{FF2B5EF4-FFF2-40B4-BE49-F238E27FC236}">
                <a16:creationId xmlns:a16="http://schemas.microsoft.com/office/drawing/2014/main" id="{37A3E8E0-4C83-481E-9CA9-20A81B793A16}"/>
              </a:ext>
            </a:extLst>
          </p:cNvPr>
          <p:cNvPicPr>
            <a:picLocks noChangeAspect="1"/>
          </p:cNvPicPr>
          <p:nvPr/>
        </p:nvPicPr>
        <p:blipFill>
          <a:blip r:embed="rId2"/>
          <a:stretch>
            <a:fillRect/>
          </a:stretch>
        </p:blipFill>
        <p:spPr>
          <a:xfrm>
            <a:off x="1101740" y="1833195"/>
            <a:ext cx="5382880" cy="4842242"/>
          </a:xfrm>
          <a:prstGeom prst="rect">
            <a:avLst/>
          </a:prstGeom>
        </p:spPr>
      </p:pic>
      <p:cxnSp>
        <p:nvCxnSpPr>
          <p:cNvPr id="11" name="直接箭头连接符 10">
            <a:extLst>
              <a:ext uri="{FF2B5EF4-FFF2-40B4-BE49-F238E27FC236}">
                <a16:creationId xmlns:a16="http://schemas.microsoft.com/office/drawing/2014/main" id="{62CC9416-DFBF-406B-9070-FF502BEC4B95}"/>
              </a:ext>
            </a:extLst>
          </p:cNvPr>
          <p:cNvCxnSpPr/>
          <p:nvPr/>
        </p:nvCxnSpPr>
        <p:spPr>
          <a:xfrm>
            <a:off x="2994660" y="3116580"/>
            <a:ext cx="40386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AC415F72-0215-4423-BF3B-04ABD872B6A8}"/>
              </a:ext>
            </a:extLst>
          </p:cNvPr>
          <p:cNvSpPr txBox="1"/>
          <p:nvPr/>
        </p:nvSpPr>
        <p:spPr>
          <a:xfrm>
            <a:off x="7040880" y="2924740"/>
            <a:ext cx="2026920" cy="369332"/>
          </a:xfrm>
          <a:prstGeom prst="rect">
            <a:avLst/>
          </a:prstGeom>
          <a:noFill/>
        </p:spPr>
        <p:txBody>
          <a:bodyPr wrap="square" rtlCol="0">
            <a:spAutoFit/>
          </a:bodyPr>
          <a:lstStyle/>
          <a:p>
            <a:r>
              <a:rPr lang="en-US" altLang="zh-CN" dirty="0" err="1"/>
              <a:t>vbo</a:t>
            </a:r>
            <a:r>
              <a:rPr lang="en-US" altLang="zh-CN" dirty="0"/>
              <a:t>[0]</a:t>
            </a:r>
            <a:r>
              <a:rPr lang="zh-CN" altLang="en-US" dirty="0"/>
              <a:t>，用于位置</a:t>
            </a:r>
          </a:p>
        </p:txBody>
      </p:sp>
      <p:cxnSp>
        <p:nvCxnSpPr>
          <p:cNvPr id="13" name="直接箭头连接符 12">
            <a:extLst>
              <a:ext uri="{FF2B5EF4-FFF2-40B4-BE49-F238E27FC236}">
                <a16:creationId xmlns:a16="http://schemas.microsoft.com/office/drawing/2014/main" id="{A4C89E88-CFC2-4C6F-A93B-CC97CBB42777}"/>
              </a:ext>
            </a:extLst>
          </p:cNvPr>
          <p:cNvCxnSpPr/>
          <p:nvPr/>
        </p:nvCxnSpPr>
        <p:spPr>
          <a:xfrm>
            <a:off x="2994660" y="3794760"/>
            <a:ext cx="40386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CFF11CAE-CF04-40F8-BC77-BF51CB8F7809}"/>
              </a:ext>
            </a:extLst>
          </p:cNvPr>
          <p:cNvSpPr txBox="1"/>
          <p:nvPr/>
        </p:nvSpPr>
        <p:spPr>
          <a:xfrm>
            <a:off x="7040880" y="3610094"/>
            <a:ext cx="1947560" cy="369332"/>
          </a:xfrm>
          <a:prstGeom prst="rect">
            <a:avLst/>
          </a:prstGeom>
          <a:noFill/>
        </p:spPr>
        <p:txBody>
          <a:bodyPr wrap="square" rtlCol="0">
            <a:spAutoFit/>
          </a:bodyPr>
          <a:lstStyle/>
          <a:p>
            <a:r>
              <a:rPr lang="en-US" altLang="zh-CN" dirty="0" err="1"/>
              <a:t>vbo</a:t>
            </a:r>
            <a:r>
              <a:rPr lang="en-US" altLang="zh-CN" dirty="0"/>
              <a:t>[1]</a:t>
            </a:r>
            <a:r>
              <a:rPr lang="zh-CN" altLang="en-US" dirty="0"/>
              <a:t>，用于颜色</a:t>
            </a:r>
          </a:p>
        </p:txBody>
      </p:sp>
      <p:sp>
        <p:nvSpPr>
          <p:cNvPr id="15" name="文本框 14">
            <a:extLst>
              <a:ext uri="{FF2B5EF4-FFF2-40B4-BE49-F238E27FC236}">
                <a16:creationId xmlns:a16="http://schemas.microsoft.com/office/drawing/2014/main" id="{C358776B-29D7-4AD9-A422-2C5D94A65FE1}"/>
              </a:ext>
            </a:extLst>
          </p:cNvPr>
          <p:cNvSpPr txBox="1"/>
          <p:nvPr/>
        </p:nvSpPr>
        <p:spPr>
          <a:xfrm>
            <a:off x="7281560" y="2302916"/>
            <a:ext cx="116586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当前</a:t>
            </a:r>
            <a:r>
              <a:rPr lang="en-US" altLang="zh-CN" dirty="0" err="1">
                <a:latin typeface="微软雅黑" panose="020B0503020204020204" pitchFamily="34" charset="-122"/>
                <a:ea typeface="微软雅黑" panose="020B0503020204020204" pitchFamily="34" charset="-122"/>
              </a:rPr>
              <a:t>vbo</a:t>
            </a:r>
            <a:endParaRPr lang="zh-CN" altLang="en-US" dirty="0">
              <a:latin typeface="微软雅黑" panose="020B0503020204020204" pitchFamily="34" charset="-122"/>
              <a:ea typeface="微软雅黑" panose="020B0503020204020204" pitchFamily="34" charset="-122"/>
            </a:endParaRPr>
          </a:p>
        </p:txBody>
      </p:sp>
      <p:sp>
        <p:nvSpPr>
          <p:cNvPr id="16" name="右大括号 15">
            <a:extLst>
              <a:ext uri="{FF2B5EF4-FFF2-40B4-BE49-F238E27FC236}">
                <a16:creationId xmlns:a16="http://schemas.microsoft.com/office/drawing/2014/main" id="{52303B2F-EDEF-4D95-8D38-3A4BE36DEE97}"/>
              </a:ext>
            </a:extLst>
          </p:cNvPr>
          <p:cNvSpPr/>
          <p:nvPr/>
        </p:nvSpPr>
        <p:spPr>
          <a:xfrm>
            <a:off x="6484620" y="5113020"/>
            <a:ext cx="205740" cy="838199"/>
          </a:xfrm>
          <a:prstGeom prst="rightBrace">
            <a:avLst>
              <a:gd name="adj1" fmla="val 47463"/>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A4CA9586-44E9-4D3A-917B-F07B6BC8F02C}"/>
              </a:ext>
            </a:extLst>
          </p:cNvPr>
          <p:cNvSpPr txBox="1"/>
          <p:nvPr/>
        </p:nvSpPr>
        <p:spPr>
          <a:xfrm>
            <a:off x="6740540" y="5202306"/>
            <a:ext cx="2247900" cy="646331"/>
          </a:xfrm>
          <a:prstGeom prst="rect">
            <a:avLst/>
          </a:prstGeom>
          <a:noFill/>
        </p:spPr>
        <p:txBody>
          <a:bodyPr wrap="square" rtlCol="0">
            <a:spAutoFit/>
          </a:bodyPr>
          <a:lstStyle/>
          <a:p>
            <a:r>
              <a:rPr lang="en-US" altLang="zh-CN" dirty="0" err="1"/>
              <a:t>vPosition</a:t>
            </a:r>
            <a:r>
              <a:rPr lang="zh-CN" altLang="en-US" dirty="0"/>
              <a:t>错误地关联了</a:t>
            </a:r>
            <a:r>
              <a:rPr lang="en-US" altLang="zh-CN" dirty="0" err="1"/>
              <a:t>vbo</a:t>
            </a:r>
            <a:r>
              <a:rPr lang="en-US" altLang="zh-CN" dirty="0"/>
              <a:t>[1]</a:t>
            </a:r>
            <a:endParaRPr lang="zh-CN" altLang="en-US" dirty="0"/>
          </a:p>
        </p:txBody>
      </p:sp>
    </p:spTree>
    <p:extLst>
      <p:ext uri="{BB962C8B-B14F-4D97-AF65-F5344CB8AC3E}">
        <p14:creationId xmlns:p14="http://schemas.microsoft.com/office/powerpoint/2010/main" val="3308286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26632" y="3850885"/>
            <a:ext cx="341632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几何对象和变换</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3</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t>OpenGL</a:t>
            </a:r>
            <a:r>
              <a:rPr lang="zh-CN" altLang="en-US" dirty="0"/>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2" name="Rectangle 1"/>
          <p:cNvSpPr/>
          <p:nvPr/>
        </p:nvSpPr>
        <p:spPr>
          <a:xfrm>
            <a:off x="710648" y="4051507"/>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实验 </a:t>
            </a:r>
            <a:r>
              <a:rPr lang="en-US" altLang="zh-CN"/>
              <a:t>2.2</a:t>
            </a:r>
            <a:endParaRPr lang="en-US" dirty="0"/>
          </a:p>
        </p:txBody>
      </p:sp>
      <p:sp>
        <p:nvSpPr>
          <p:cNvPr id="3" name="Content Placeholder 2"/>
          <p:cNvSpPr>
            <a:spLocks noGrp="1"/>
          </p:cNvSpPr>
          <p:nvPr>
            <p:ph idx="1"/>
          </p:nvPr>
        </p:nvSpPr>
        <p:spPr/>
        <p:txBody>
          <a:bodyPr/>
          <a:lstStyle/>
          <a:p>
            <a:r>
              <a:rPr lang="en-US" dirty="0"/>
              <a:t>OFF</a:t>
            </a:r>
            <a:r>
              <a:rPr lang="zh-CN" altLang="en-US" dirty="0"/>
              <a:t>格式的模型显示</a:t>
            </a:r>
            <a:endParaRPr lang="en-US" altLang="zh-CN" dirty="0"/>
          </a:p>
          <a:p>
            <a:pPr lvl="1"/>
            <a:r>
              <a:rPr lang="zh-CN" altLang="en-US" dirty="0"/>
              <a:t>了解和熟悉</a:t>
            </a:r>
            <a:r>
              <a:rPr lang="en-US" altLang="zh-CN" dirty="0"/>
              <a:t>OFF</a:t>
            </a:r>
            <a:r>
              <a:rPr lang="zh-CN" altLang="en-US" dirty="0"/>
              <a:t>模型文件格式</a:t>
            </a:r>
          </a:p>
          <a:p>
            <a:pPr lvl="1"/>
            <a:r>
              <a:rPr lang="zh-CN" altLang="en-US" dirty="0"/>
              <a:t>掌握读取</a:t>
            </a:r>
            <a:r>
              <a:rPr lang="en-US" altLang="zh-CN" dirty="0"/>
              <a:t>OFF</a:t>
            </a:r>
            <a:r>
              <a:rPr lang="zh-CN" altLang="en-US" dirty="0"/>
              <a:t>模型文件</a:t>
            </a:r>
          </a:p>
          <a:p>
            <a:pPr lvl="1"/>
            <a:r>
              <a:rPr lang="zh-CN" altLang="en-US" dirty="0"/>
              <a:t>了解基本</a:t>
            </a:r>
            <a:r>
              <a:rPr lang="en-US" altLang="zh-CN" dirty="0"/>
              <a:t>3D</a:t>
            </a:r>
            <a:r>
              <a:rPr lang="zh-CN" altLang="en-US" dirty="0"/>
              <a:t>图元的绘制</a:t>
            </a:r>
          </a:p>
          <a:p>
            <a:pPr lvl="1"/>
            <a:r>
              <a:rPr lang="zh-CN" altLang="en-US" dirty="0"/>
              <a:t>了解深度测试技术</a:t>
            </a:r>
          </a:p>
          <a:p>
            <a:pPr lvl="1"/>
            <a:r>
              <a:rPr lang="zh-CN" altLang="en-US" dirty="0"/>
              <a:t>了解面剔除技术</a:t>
            </a:r>
          </a:p>
          <a:p>
            <a:pPr lvl="1"/>
            <a:r>
              <a:rPr lang="zh-CN" altLang="en-US" dirty="0"/>
              <a:t>实验时间：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8</a:t>
            </a:r>
            <a:r>
              <a:rPr lang="zh-CN" altLang="en-US" b="1" dirty="0">
                <a:solidFill>
                  <a:srgbClr val="FF0000"/>
                </a:solidFill>
              </a:rPr>
              <a:t>日</a:t>
            </a:r>
            <a:r>
              <a:rPr lang="en-US" altLang="zh-CN" b="1" dirty="0">
                <a:solidFill>
                  <a:srgbClr val="FF0000"/>
                </a:solidFill>
              </a:rPr>
              <a:t> </a:t>
            </a:r>
            <a:endParaRPr lang="zh-CN" altLang="en-US" dirty="0"/>
          </a:p>
          <a:p>
            <a:pPr lvl="1"/>
            <a:r>
              <a:rPr lang="zh-CN" altLang="en-US" dirty="0"/>
              <a:t>截止时间：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14</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分</a:t>
            </a:r>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pic>
        <p:nvPicPr>
          <p:cNvPr id="5" name="Picture 4" descr="QQ截图201608240806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6031" y="1316831"/>
            <a:ext cx="2690377" cy="2792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685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98453" y="3389111"/>
            <a:ext cx="295465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几何对象实体</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几何对象与图形学</a:t>
            </a:r>
            <a:endParaRPr lang="en-US" dirty="0"/>
          </a:p>
        </p:txBody>
      </p:sp>
      <p:sp>
        <p:nvSpPr>
          <p:cNvPr id="3" name="Content Placeholder 2"/>
          <p:cNvSpPr>
            <a:spLocks noGrp="1"/>
          </p:cNvSpPr>
          <p:nvPr>
            <p:ph idx="1"/>
          </p:nvPr>
        </p:nvSpPr>
        <p:spPr/>
        <p:txBody>
          <a:bodyPr>
            <a:normAutofit/>
          </a:bodyPr>
          <a:lstStyle/>
          <a:p>
            <a:r>
              <a:rPr lang="zh-CN" altLang="en-US" dirty="0"/>
              <a:t>几何对象主要指三维空间对象</a:t>
            </a:r>
            <a:endParaRPr lang="en-US" altLang="zh-CN" dirty="0"/>
          </a:p>
          <a:p>
            <a:pPr lvl="1"/>
            <a:r>
              <a:rPr lang="zh-CN" altLang="en-US" dirty="0"/>
              <a:t>点、线、面、体</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图形学是利用计算机对几何对象进行操作与显示的技术</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pic>
        <p:nvPicPr>
          <p:cNvPr id="5" name="图片 4"/>
          <p:cNvPicPr>
            <a:picLocks noChangeAspect="1"/>
          </p:cNvPicPr>
          <p:nvPr/>
        </p:nvPicPr>
        <p:blipFill>
          <a:blip r:embed="rId2"/>
          <a:stretch>
            <a:fillRect/>
          </a:stretch>
        </p:blipFill>
        <p:spPr>
          <a:xfrm>
            <a:off x="945240" y="2296051"/>
            <a:ext cx="1838548" cy="1847143"/>
          </a:xfrm>
          <a:prstGeom prst="rect">
            <a:avLst/>
          </a:prstGeom>
        </p:spPr>
      </p:pic>
      <p:pic>
        <p:nvPicPr>
          <p:cNvPr id="6" name="图片 5"/>
          <p:cNvPicPr>
            <a:picLocks noChangeAspect="1"/>
          </p:cNvPicPr>
          <p:nvPr/>
        </p:nvPicPr>
        <p:blipFill>
          <a:blip r:embed="rId3"/>
          <a:stretch>
            <a:fillRect/>
          </a:stretch>
        </p:blipFill>
        <p:spPr>
          <a:xfrm>
            <a:off x="3362576" y="2307979"/>
            <a:ext cx="2262590" cy="1835215"/>
          </a:xfrm>
          <a:prstGeom prst="rect">
            <a:avLst/>
          </a:prstGeom>
        </p:spPr>
      </p:pic>
      <p:pic>
        <p:nvPicPr>
          <p:cNvPr id="7" name="图片 7"/>
          <p:cNvPicPr>
            <a:picLocks noChangeAspect="1"/>
          </p:cNvPicPr>
          <p:nvPr/>
        </p:nvPicPr>
        <p:blipFill>
          <a:blip r:embed="rId4"/>
          <a:stretch>
            <a:fillRect/>
          </a:stretch>
        </p:blipFill>
        <p:spPr>
          <a:xfrm>
            <a:off x="6203954" y="2388447"/>
            <a:ext cx="934305" cy="905112"/>
          </a:xfrm>
          <a:prstGeom prst="rect">
            <a:avLst/>
          </a:prstGeom>
        </p:spPr>
      </p:pic>
      <p:pic>
        <p:nvPicPr>
          <p:cNvPr id="8" name="图片 12"/>
          <p:cNvPicPr>
            <a:picLocks noChangeAspect="1"/>
          </p:cNvPicPr>
          <p:nvPr/>
        </p:nvPicPr>
        <p:blipFill>
          <a:blip r:embed="rId5"/>
          <a:stretch>
            <a:fillRect/>
          </a:stretch>
        </p:blipFill>
        <p:spPr>
          <a:xfrm>
            <a:off x="7385510" y="2388447"/>
            <a:ext cx="801378" cy="792844"/>
          </a:xfrm>
          <a:prstGeom prst="rect">
            <a:avLst/>
          </a:prstGeom>
        </p:spPr>
      </p:pic>
      <p:pic>
        <p:nvPicPr>
          <p:cNvPr id="9" name="图片 13"/>
          <p:cNvPicPr>
            <a:picLocks noChangeAspect="1"/>
          </p:cNvPicPr>
          <p:nvPr/>
        </p:nvPicPr>
        <p:blipFill>
          <a:blip r:embed="rId6"/>
          <a:stretch>
            <a:fillRect/>
          </a:stretch>
        </p:blipFill>
        <p:spPr>
          <a:xfrm>
            <a:off x="6507729" y="3293559"/>
            <a:ext cx="1408029" cy="916958"/>
          </a:xfrm>
          <a:prstGeom prst="rect">
            <a:avLst/>
          </a:prstGeom>
        </p:spPr>
      </p:pic>
    </p:spTree>
    <p:extLst>
      <p:ext uri="{BB962C8B-B14F-4D97-AF65-F5344CB8AC3E}">
        <p14:creationId xmlns:p14="http://schemas.microsoft.com/office/powerpoint/2010/main" val="50381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p:cNvPicPr>
            <a:picLocks noChangeAspect="1"/>
          </p:cNvPicPr>
          <p:nvPr/>
        </p:nvPicPr>
        <p:blipFill>
          <a:blip r:embed="rId2"/>
          <a:stretch>
            <a:fillRect/>
          </a:stretch>
        </p:blipFill>
        <p:spPr>
          <a:xfrm>
            <a:off x="4174437" y="4157602"/>
            <a:ext cx="1423148" cy="1440000"/>
          </a:xfrm>
          <a:prstGeom prst="rect">
            <a:avLst/>
          </a:prstGeom>
        </p:spPr>
      </p:pic>
      <p:sp>
        <p:nvSpPr>
          <p:cNvPr id="2" name="Title 1"/>
          <p:cNvSpPr>
            <a:spLocks noGrp="1"/>
          </p:cNvSpPr>
          <p:nvPr>
            <p:ph type="title"/>
          </p:nvPr>
        </p:nvSpPr>
        <p:spPr/>
        <p:txBody>
          <a:bodyPr/>
          <a:lstStyle/>
          <a:p>
            <a:r>
              <a:rPr lang="zh-CN" altLang="en-US" dirty="0"/>
              <a:t>基本几何要素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316831"/>
                <a:ext cx="7886700" cy="4806794"/>
              </a:xfrm>
            </p:spPr>
            <p:txBody>
              <a:bodyPr>
                <a:normAutofit/>
              </a:bodyPr>
              <a:lstStyle/>
              <a:p>
                <a:r>
                  <a:rPr lang="zh-CN" altLang="en-US" sz="2400" dirty="0"/>
                  <a:t>点（</a:t>
                </a:r>
                <a:r>
                  <a:rPr lang="en-US" altLang="zh-CN" sz="2400" dirty="0"/>
                  <a:t>point</a:t>
                </a:r>
                <a:r>
                  <a:rPr lang="zh-CN" altLang="en-US" sz="2400" dirty="0"/>
                  <a:t>）</a:t>
                </a:r>
                <a:r>
                  <a:rPr lang="en-US" altLang="zh-CN" sz="2400" dirty="0"/>
                  <a:t>--</a:t>
                </a:r>
                <a:r>
                  <a:rPr lang="zh-CN" altLang="en-US" sz="2400" dirty="0"/>
                  <a:t> </a:t>
                </a:r>
                <a14:m>
                  <m:oMath xmlns:m="http://schemas.openxmlformats.org/officeDocument/2006/math">
                    <m:r>
                      <a:rPr lang="en-US" altLang="zh-CN" sz="2400" b="0" i="1" dirty="0" smtClean="0">
                        <a:solidFill>
                          <a:srgbClr val="FF0000"/>
                        </a:solidFill>
                        <a:latin typeface="Cambria Math" charset="0"/>
                      </a:rPr>
                      <m:t>𝑃</m:t>
                    </m:r>
                    <m:r>
                      <a:rPr lang="en-US" altLang="zh-CN" sz="2400" b="0" i="1" dirty="0" smtClean="0">
                        <a:solidFill>
                          <a:srgbClr val="FF0000"/>
                        </a:solidFill>
                        <a:latin typeface="Cambria Math" charset="0"/>
                      </a:rPr>
                      <m:t>,</m:t>
                    </m:r>
                    <m:r>
                      <a:rPr lang="en-US" altLang="zh-CN" sz="2400" b="0" i="1" dirty="0" smtClean="0">
                        <a:solidFill>
                          <a:srgbClr val="FF0000"/>
                        </a:solidFill>
                        <a:latin typeface="Cambria Math" charset="0"/>
                      </a:rPr>
                      <m:t>𝑄</m:t>
                    </m:r>
                    <m:r>
                      <a:rPr lang="en-US" altLang="zh-CN" sz="2400" b="0" i="1" dirty="0" smtClean="0">
                        <a:solidFill>
                          <a:srgbClr val="FF0000"/>
                        </a:solidFill>
                        <a:latin typeface="Cambria Math" charset="0"/>
                      </a:rPr>
                      <m:t>…</m:t>
                    </m:r>
                  </m:oMath>
                </a14:m>
                <a:endParaRPr lang="en-US" altLang="zh-CN" sz="1800" dirty="0">
                  <a:solidFill>
                    <a:srgbClr val="FF0000"/>
                  </a:solidFill>
                </a:endParaRPr>
              </a:p>
              <a:p>
                <a:pPr lvl="1">
                  <a:buClr>
                    <a:schemeClr val="tx1"/>
                  </a:buClr>
                </a:pPr>
                <a:r>
                  <a:rPr lang="zh-CN" altLang="en-US" sz="1800" dirty="0"/>
                  <a:t>三维空间的一个位置</a:t>
                </a:r>
                <a:endParaRPr lang="en-US" altLang="zh-CN" sz="1800" dirty="0"/>
              </a:p>
              <a:p>
                <a:pPr lvl="1">
                  <a:buClr>
                    <a:schemeClr val="tx1"/>
                  </a:buClr>
                </a:pPr>
                <a:endParaRPr lang="en-US" altLang="zh-CN" sz="1800" dirty="0"/>
              </a:p>
              <a:p>
                <a:r>
                  <a:rPr lang="zh-CN" altLang="en-US" sz="2400" dirty="0"/>
                  <a:t>标量（</a:t>
                </a:r>
                <a:r>
                  <a:rPr lang="en-US" altLang="zh-CN" sz="2400" dirty="0"/>
                  <a:t>scalar</a:t>
                </a:r>
                <a:r>
                  <a:rPr lang="zh-CN" altLang="en-US" sz="2400" dirty="0"/>
                  <a:t>）</a:t>
                </a:r>
                <a:r>
                  <a:rPr lang="en-US" altLang="zh-CN" sz="2400" dirty="0"/>
                  <a:t>--</a:t>
                </a:r>
                <a:r>
                  <a:rPr lang="zh-CN" altLang="en-US" sz="2400" dirty="0"/>
                  <a:t> </a:t>
                </a:r>
                <a14:m>
                  <m:oMath xmlns:m="http://schemas.openxmlformats.org/officeDocument/2006/math">
                    <m:r>
                      <a:rPr lang="zh-CN" altLang="en-US" sz="2400" i="1" dirty="0" smtClean="0">
                        <a:solidFill>
                          <a:srgbClr val="FF0000"/>
                        </a:solidFill>
                        <a:latin typeface="Cambria Math" charset="0"/>
                        <a:ea typeface="Cambria Math" charset="0"/>
                        <a:cs typeface="Cambria Math" charset="0"/>
                      </a:rPr>
                      <m:t>𝛼</m:t>
                    </m:r>
                    <m:r>
                      <a:rPr lang="en-US" altLang="zh-CN" sz="2400" i="1" dirty="0">
                        <a:solidFill>
                          <a:srgbClr val="FF0000"/>
                        </a:solidFill>
                        <a:latin typeface="Cambria Math" charset="0"/>
                      </a:rPr>
                      <m:t>,</m:t>
                    </m:r>
                    <m:r>
                      <a:rPr lang="en-US" altLang="zh-CN" sz="2400" i="1" dirty="0" smtClean="0">
                        <a:solidFill>
                          <a:srgbClr val="FF0000"/>
                        </a:solidFill>
                        <a:latin typeface="Cambria Math" charset="0"/>
                        <a:ea typeface="Cambria Math" charset="0"/>
                        <a:cs typeface="Cambria Math" charset="0"/>
                      </a:rPr>
                      <m:t>𝛽</m:t>
                    </m:r>
                    <m:r>
                      <a:rPr lang="en-US" altLang="zh-CN" sz="2400" i="1" dirty="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确定数量、度量长短</a:t>
                </a:r>
                <a:r>
                  <a:rPr lang="is-IS" altLang="zh-CN" sz="1800" dirty="0"/>
                  <a:t>…</a:t>
                </a:r>
                <a:endParaRPr lang="en-US" altLang="zh-CN" sz="1800" dirty="0"/>
              </a:p>
              <a:p>
                <a:pPr lvl="1">
                  <a:buClr>
                    <a:schemeClr val="tx1"/>
                  </a:buClr>
                </a:pPr>
                <a:r>
                  <a:rPr lang="zh-CN" altLang="en-US" sz="1800" dirty="0">
                    <a:highlight>
                      <a:srgbClr val="FFFF00"/>
                    </a:highlight>
                  </a:rPr>
                  <a:t>满足运算规则：乘法、加法、逆元</a:t>
                </a:r>
                <a:endParaRPr lang="en-US" altLang="zh-CN" sz="1800" dirty="0">
                  <a:highlight>
                    <a:srgbClr val="FFFF00"/>
                  </a:highlight>
                </a:endParaRPr>
              </a:p>
              <a:p>
                <a:pPr lvl="1">
                  <a:buClr>
                    <a:schemeClr val="tx1"/>
                  </a:buClr>
                </a:pPr>
                <a:r>
                  <a:rPr lang="zh-CN" altLang="en-US" sz="1800" dirty="0"/>
                  <a:t>例：实数、复数</a:t>
                </a:r>
                <a:endParaRPr lang="en-US" altLang="zh-CN" sz="1800" dirty="0"/>
              </a:p>
              <a:p>
                <a:pPr lvl="1">
                  <a:buClr>
                    <a:schemeClr val="tx1"/>
                  </a:buClr>
                </a:pPr>
                <a:r>
                  <a:rPr lang="zh-CN" altLang="en-US" sz="1800" dirty="0"/>
                  <a:t>标量自身没有几何属性</a:t>
                </a:r>
              </a:p>
              <a:p>
                <a:pPr lvl="1">
                  <a:buClr>
                    <a:schemeClr val="tx1"/>
                  </a:buClr>
                </a:pPr>
                <a:endParaRPr lang="en-US" altLang="zh-CN" sz="1800" dirty="0">
                  <a:solidFill>
                    <a:srgbClr val="FF0000"/>
                  </a:solidFill>
                </a:endParaRPr>
              </a:p>
              <a:p>
                <a:r>
                  <a:rPr lang="zh-CN" altLang="en-US" sz="2400" dirty="0"/>
                  <a:t>向量（</a:t>
                </a:r>
                <a:r>
                  <a:rPr lang="en-US" altLang="zh-CN" sz="2400" dirty="0"/>
                  <a:t>vector</a:t>
                </a:r>
                <a:r>
                  <a:rPr lang="zh-CN" altLang="en-US" sz="2400" dirty="0"/>
                  <a:t>）</a:t>
                </a:r>
                <a:r>
                  <a:rPr lang="en-US" altLang="zh-CN" sz="2400" dirty="0"/>
                  <a:t>--</a:t>
                </a:r>
                <a:r>
                  <a:rPr lang="zh-CN" altLang="en-US" sz="2400" dirty="0"/>
                  <a:t> </a:t>
                </a:r>
                <a14:m>
                  <m:oMath xmlns:m="http://schemas.openxmlformats.org/officeDocument/2006/math">
                    <m:r>
                      <a:rPr lang="en-US" altLang="zh-CN" sz="2400" b="1" i="1" dirty="0" smtClean="0">
                        <a:solidFill>
                          <a:srgbClr val="FF0000"/>
                        </a:solidFill>
                        <a:latin typeface="Cambria Math" charset="0"/>
                      </a:rPr>
                      <m:t>𝒖</m:t>
                    </m:r>
                    <m:r>
                      <a:rPr lang="en-US" altLang="zh-CN" sz="2400" i="1" dirty="0">
                        <a:solidFill>
                          <a:srgbClr val="FF0000"/>
                        </a:solidFill>
                        <a:latin typeface="Cambria Math" charset="0"/>
                      </a:rPr>
                      <m:t>,</m:t>
                    </m:r>
                    <m:r>
                      <a:rPr lang="en-US" altLang="zh-CN" sz="2400" b="1" i="1" dirty="0" smtClean="0">
                        <a:solidFill>
                          <a:srgbClr val="FF0000"/>
                        </a:solidFill>
                        <a:latin typeface="Cambria Math" charset="0"/>
                      </a:rPr>
                      <m:t>𝒗</m:t>
                    </m:r>
                    <m:r>
                      <a:rPr lang="en-US" altLang="zh-CN" sz="2400" i="1" dirty="0" smtClean="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方向</a:t>
                </a:r>
                <a:r>
                  <a:rPr lang="en-US" altLang="zh-CN" sz="1800" dirty="0"/>
                  <a:t>+</a:t>
                </a:r>
                <a:r>
                  <a:rPr lang="zh-CN" altLang="en-US" sz="1800" dirty="0"/>
                  <a:t>长度</a:t>
                </a:r>
                <a14:m>
                  <m:oMath xmlns:m="http://schemas.openxmlformats.org/officeDocument/2006/math">
                    <m:d>
                      <m:dPr>
                        <m:begChr m:val="|"/>
                        <m:endChr m:val="|"/>
                        <m:ctrlPr>
                          <a:rPr lang="hr-HR" altLang="zh-CN" sz="1800" i="1" smtClean="0">
                            <a:latin typeface="Cambria Math" panose="02040503050406030204" pitchFamily="18" charset="0"/>
                          </a:rPr>
                        </m:ctrlPr>
                      </m:dPr>
                      <m:e>
                        <m:r>
                          <a:rPr lang="en-US" altLang="zh-CN" sz="1800" b="1" i="1" smtClean="0">
                            <a:latin typeface="Cambria Math" charset="0"/>
                          </a:rPr>
                          <m:t>𝒖</m:t>
                        </m:r>
                      </m:e>
                    </m:d>
                  </m:oMath>
                </a14:m>
                <a:endParaRPr lang="en-US" altLang="zh-CN" sz="1800" dirty="0"/>
              </a:p>
              <a:p>
                <a:pPr lvl="1">
                  <a:buClr>
                    <a:schemeClr val="tx1"/>
                  </a:buClr>
                </a:pPr>
                <a:r>
                  <a:rPr lang="zh-CN" altLang="en-US" sz="1800" dirty="0"/>
                  <a:t>例：速度，力</a:t>
                </a:r>
                <a:endParaRPr lang="en-US" altLang="zh-CN" sz="1800" dirty="0"/>
              </a:p>
              <a:p>
                <a:pPr lvl="1">
                  <a:buClr>
                    <a:schemeClr val="tx1"/>
                  </a:buClr>
                </a:pPr>
                <a:r>
                  <a:rPr lang="zh-CN" altLang="en-US" sz="1800" dirty="0">
                    <a:highlight>
                      <a:srgbClr val="FFFF00"/>
                    </a:highlight>
                  </a:rPr>
                  <a:t>向量没有位置信息</a:t>
                </a:r>
                <a:endParaRPr lang="en-US" altLang="zh-CN" sz="1800" dirty="0">
                  <a:highlight>
                    <a:srgbClr val="FFFF00"/>
                  </a:highlight>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316831"/>
                <a:ext cx="7886700" cy="4806794"/>
              </a:xfrm>
              <a:blipFill>
                <a:blip r:embed="rId3"/>
                <a:stretch>
                  <a:fillRect l="-309" t="-177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pic>
        <p:nvPicPr>
          <p:cNvPr id="6" name="图片 8"/>
          <p:cNvPicPr>
            <a:picLocks noChangeAspect="1"/>
          </p:cNvPicPr>
          <p:nvPr/>
        </p:nvPicPr>
        <p:blipFill>
          <a:blip r:embed="rId4"/>
          <a:stretch>
            <a:fillRect/>
          </a:stretch>
        </p:blipFill>
        <p:spPr>
          <a:xfrm>
            <a:off x="6388242" y="4157602"/>
            <a:ext cx="1336451" cy="1440000"/>
          </a:xfrm>
          <a:prstGeom prst="rect">
            <a:avLst/>
          </a:prstGeom>
        </p:spPr>
      </p:pic>
      <p:sp>
        <p:nvSpPr>
          <p:cNvPr id="7" name="TextBox 6"/>
          <p:cNvSpPr txBox="1"/>
          <p:nvPr/>
        </p:nvSpPr>
        <p:spPr>
          <a:xfrm>
            <a:off x="3741125" y="5711190"/>
            <a:ext cx="2289771" cy="369332"/>
          </a:xfrm>
          <a:prstGeom prst="rect">
            <a:avLst/>
          </a:prstGeom>
          <a:noFill/>
        </p:spPr>
        <p:txBody>
          <a:bodyPr wrap="square" rtlCol="0">
            <a:spAutoFit/>
          </a:bodyPr>
          <a:lstStyle/>
          <a:p>
            <a:r>
              <a:rPr lang="zh-CN" altLang="en-US" dirty="0">
                <a:latin typeface="华文新魏" pitchFamily="2" charset="-122"/>
                <a:ea typeface="华文新魏" pitchFamily="2" charset="-122"/>
              </a:rPr>
              <a:t>连接两点的有向线段</a:t>
            </a:r>
          </a:p>
        </p:txBody>
      </p:sp>
      <p:sp>
        <p:nvSpPr>
          <p:cNvPr id="8" name="TextBox 7"/>
          <p:cNvSpPr txBox="1"/>
          <p:nvPr/>
        </p:nvSpPr>
        <p:spPr>
          <a:xfrm>
            <a:off x="6505809" y="5754293"/>
            <a:ext cx="1860957" cy="369332"/>
          </a:xfrm>
          <a:prstGeom prst="rect">
            <a:avLst/>
          </a:prstGeom>
          <a:noFill/>
        </p:spPr>
        <p:txBody>
          <a:bodyPr wrap="square" rtlCol="0">
            <a:spAutoFit/>
          </a:bodyPr>
          <a:lstStyle/>
          <a:p>
            <a:r>
              <a:rPr lang="zh-CN" altLang="en-US" dirty="0">
                <a:latin typeface="华文新魏" pitchFamily="2" charset="-122"/>
                <a:ea typeface="华文新魏" pitchFamily="2" charset="-122"/>
              </a:rPr>
              <a:t>相同的向量</a:t>
            </a:r>
          </a:p>
        </p:txBody>
      </p:sp>
      <p:pic>
        <p:nvPicPr>
          <p:cNvPr id="9" name="图片 5"/>
          <p:cNvPicPr>
            <a:picLocks noChangeAspect="1"/>
          </p:cNvPicPr>
          <p:nvPr/>
        </p:nvPicPr>
        <p:blipFill>
          <a:blip r:embed="rId5"/>
          <a:stretch>
            <a:fillRect/>
          </a:stretch>
        </p:blipFill>
        <p:spPr>
          <a:xfrm>
            <a:off x="4886010" y="714774"/>
            <a:ext cx="3905851" cy="2076852"/>
          </a:xfrm>
          <a:prstGeom prst="rect">
            <a:avLst/>
          </a:prstGeom>
        </p:spPr>
      </p:pic>
    </p:spTree>
    <p:extLst>
      <p:ext uri="{BB962C8B-B14F-4D97-AF65-F5344CB8AC3E}">
        <p14:creationId xmlns:p14="http://schemas.microsoft.com/office/powerpoint/2010/main" val="1419053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标量</a:t>
            </a:r>
            <a:r>
              <a:rPr lang="en-US" altLang="zh-CN" dirty="0"/>
              <a:t>-</a:t>
            </a:r>
            <a:r>
              <a:rPr lang="zh-CN" altLang="en-US" dirty="0"/>
              <a:t>向量运算</a:t>
            </a:r>
            <a:endParaRPr lang="en-US" dirty="0"/>
          </a:p>
        </p:txBody>
      </p:sp>
      <p:sp>
        <p:nvSpPr>
          <p:cNvPr id="3" name="Content Placeholder 2"/>
          <p:cNvSpPr>
            <a:spLocks noGrp="1"/>
          </p:cNvSpPr>
          <p:nvPr>
            <p:ph idx="1"/>
          </p:nvPr>
        </p:nvSpPr>
        <p:spPr/>
        <p:txBody>
          <a:bodyPr/>
          <a:lstStyle/>
          <a:p>
            <a:r>
              <a:rPr lang="zh-CN" altLang="en-US" dirty="0"/>
              <a:t>每个向量都有</a:t>
            </a:r>
            <a:r>
              <a:rPr lang="zh-CN" altLang="en-US" dirty="0">
                <a:highlight>
                  <a:srgbClr val="FFFF00"/>
                </a:highlight>
              </a:rPr>
              <a:t>逆</a:t>
            </a:r>
          </a:p>
          <a:p>
            <a:pPr lvl="1"/>
            <a:r>
              <a:rPr lang="zh-CN" altLang="en-US" dirty="0"/>
              <a:t>同样长度但是指向相反的方向</a:t>
            </a:r>
            <a:endParaRPr lang="en-US" altLang="zh-CN" dirty="0"/>
          </a:p>
          <a:p>
            <a:pPr lvl="1"/>
            <a:endParaRPr lang="en-US" altLang="zh-CN" dirty="0"/>
          </a:p>
          <a:p>
            <a:pPr lvl="1"/>
            <a:endParaRPr lang="zh-CN" altLang="en-US" dirty="0"/>
          </a:p>
          <a:p>
            <a:r>
              <a:rPr lang="zh-CN" altLang="en-US" dirty="0"/>
              <a:t>每个向量都可以</a:t>
            </a:r>
            <a:r>
              <a:rPr lang="zh-CN" altLang="en-US" dirty="0">
                <a:highlight>
                  <a:srgbClr val="FFFF00"/>
                </a:highlight>
              </a:rPr>
              <a:t>与标量相乘</a:t>
            </a:r>
          </a:p>
          <a:p>
            <a:pPr lvl="1"/>
            <a:r>
              <a:rPr lang="zh-CN" altLang="en-US" dirty="0"/>
              <a:t>有一个零向量</a:t>
            </a:r>
          </a:p>
          <a:p>
            <a:pPr lvl="2"/>
            <a:r>
              <a:rPr lang="zh-CN" altLang="en-US" dirty="0">
                <a:highlight>
                  <a:srgbClr val="FFFF00"/>
                </a:highlight>
              </a:rPr>
              <a:t>零长度，方向不定</a:t>
            </a:r>
            <a:endParaRPr lang="en-US" altLang="zh-CN" dirty="0">
              <a:highlight>
                <a:srgbClr val="FFFF00"/>
              </a:highlight>
            </a:endParaRPr>
          </a:p>
          <a:p>
            <a:pPr lvl="2"/>
            <a:endParaRPr lang="en-US" altLang="zh-CN" dirty="0"/>
          </a:p>
          <a:p>
            <a:pPr lvl="2"/>
            <a:endParaRPr lang="zh-CN" altLang="en-US" dirty="0"/>
          </a:p>
          <a:p>
            <a:r>
              <a:rPr lang="zh-CN" altLang="en-US" dirty="0"/>
              <a:t>两个向量的和为向量</a:t>
            </a:r>
          </a:p>
          <a:p>
            <a:pPr lvl="1"/>
            <a:r>
              <a:rPr lang="zh-CN" altLang="en-US" dirty="0"/>
              <a:t>三角形法则</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5" name="Picture 2" descr="E:\CG\交互式计算机图形学—基于OpenGL着色器的自顶向下方法（第六版）\Figures\CHAPTER03 JPEG\an03f03b.jpg"/>
          <p:cNvPicPr>
            <a:picLocks noChangeAspect="1" noChangeArrowheads="1"/>
          </p:cNvPicPr>
          <p:nvPr/>
        </p:nvPicPr>
        <p:blipFill>
          <a:blip r:embed="rId2" cstate="print"/>
          <a:srcRect/>
          <a:stretch>
            <a:fillRect/>
          </a:stretch>
        </p:blipFill>
        <p:spPr bwMode="auto">
          <a:xfrm>
            <a:off x="5760039" y="4536175"/>
            <a:ext cx="1692822" cy="1716943"/>
          </a:xfrm>
          <a:prstGeom prst="rect">
            <a:avLst/>
          </a:prstGeom>
          <a:noFill/>
        </p:spPr>
      </p:pic>
      <p:pic>
        <p:nvPicPr>
          <p:cNvPr id="6" name="Picture 3" descr="E:\CG\交互式计算机图形学—基于OpenGL着色器的自顶向下方法（第六版）\Figures\CHAPTER03 JPEG\an03f03a.jpg"/>
          <p:cNvPicPr>
            <a:picLocks noChangeAspect="1" noChangeArrowheads="1"/>
          </p:cNvPicPr>
          <p:nvPr/>
        </p:nvPicPr>
        <p:blipFill>
          <a:blip r:embed="rId3" cstate="print"/>
          <a:srcRect/>
          <a:stretch>
            <a:fillRect/>
          </a:stretch>
        </p:blipFill>
        <p:spPr bwMode="auto">
          <a:xfrm>
            <a:off x="5494132" y="2746048"/>
            <a:ext cx="2041249" cy="1571781"/>
          </a:xfrm>
          <a:prstGeom prst="rect">
            <a:avLst/>
          </a:prstGeom>
          <a:noFill/>
        </p:spPr>
      </p:pic>
      <p:pic>
        <p:nvPicPr>
          <p:cNvPr id="7" name="Picture 2" descr="E:\CG\交互式计算机图形学—基于OpenGL着色器的自顶向下方法（第六版）\Figures\CHAPTER03 JPEG\an03f04.jpg"/>
          <p:cNvPicPr>
            <a:picLocks noChangeAspect="1" noChangeArrowheads="1"/>
          </p:cNvPicPr>
          <p:nvPr/>
        </p:nvPicPr>
        <p:blipFill>
          <a:blip r:embed="rId4" cstate="print"/>
          <a:srcRect/>
          <a:stretch>
            <a:fillRect/>
          </a:stretch>
        </p:blipFill>
        <p:spPr bwMode="auto">
          <a:xfrm>
            <a:off x="5629171" y="731882"/>
            <a:ext cx="1729314" cy="1568775"/>
          </a:xfrm>
          <a:prstGeom prst="rect">
            <a:avLst/>
          </a:prstGeom>
          <a:noFill/>
        </p:spPr>
      </p:pic>
      <p:sp>
        <p:nvSpPr>
          <p:cNvPr id="8" name="TextBox 7"/>
          <p:cNvSpPr txBox="1"/>
          <p:nvPr/>
        </p:nvSpPr>
        <p:spPr>
          <a:xfrm>
            <a:off x="7596642" y="1374300"/>
            <a:ext cx="902910" cy="369332"/>
          </a:xfrm>
          <a:prstGeom prst="rect">
            <a:avLst/>
          </a:prstGeom>
          <a:noFill/>
        </p:spPr>
        <p:txBody>
          <a:bodyPr wrap="square" rtlCol="0">
            <a:spAutoFit/>
          </a:bodyPr>
          <a:lstStyle/>
          <a:p>
            <a:r>
              <a:rPr lang="zh-CN" altLang="en-US" dirty="0">
                <a:latin typeface="华文新魏" pitchFamily="2" charset="-122"/>
                <a:ea typeface="华文新魏" pitchFamily="2" charset="-122"/>
              </a:rPr>
              <a:t>逆向量</a:t>
            </a:r>
          </a:p>
        </p:txBody>
      </p:sp>
      <p:sp>
        <p:nvSpPr>
          <p:cNvPr id="9" name="TextBox 8"/>
          <p:cNvSpPr txBox="1"/>
          <p:nvPr/>
        </p:nvSpPr>
        <p:spPr>
          <a:xfrm>
            <a:off x="7571932" y="5262400"/>
            <a:ext cx="1210051" cy="369332"/>
          </a:xfrm>
          <a:prstGeom prst="rect">
            <a:avLst/>
          </a:prstGeom>
          <a:noFill/>
        </p:spPr>
        <p:txBody>
          <a:bodyPr wrap="square" rtlCol="0">
            <a:spAutoFit/>
          </a:bodyPr>
          <a:lstStyle/>
          <a:p>
            <a:r>
              <a:rPr lang="zh-CN" altLang="en-US" dirty="0">
                <a:latin typeface="华文新魏" pitchFamily="2" charset="-122"/>
                <a:ea typeface="华文新魏" pitchFamily="2" charset="-122"/>
              </a:rPr>
              <a:t>向量加法</a:t>
            </a:r>
          </a:p>
        </p:txBody>
      </p:sp>
      <p:sp>
        <p:nvSpPr>
          <p:cNvPr id="10" name="TextBox 9"/>
          <p:cNvSpPr txBox="1"/>
          <p:nvPr/>
        </p:nvSpPr>
        <p:spPr>
          <a:xfrm>
            <a:off x="7535381" y="3491698"/>
            <a:ext cx="1283155" cy="369332"/>
          </a:xfrm>
          <a:prstGeom prst="rect">
            <a:avLst/>
          </a:prstGeom>
          <a:noFill/>
        </p:spPr>
        <p:txBody>
          <a:bodyPr wrap="square" rtlCol="0">
            <a:spAutoFit/>
          </a:bodyPr>
          <a:lstStyle/>
          <a:p>
            <a:r>
              <a:rPr lang="zh-CN" altLang="en-US" dirty="0">
                <a:latin typeface="华文新魏" pitchFamily="2" charset="-122"/>
                <a:ea typeface="华文新魏" pitchFamily="2" charset="-122"/>
              </a:rPr>
              <a:t>向量数乘</a:t>
            </a:r>
          </a:p>
        </p:txBody>
      </p:sp>
    </p:spTree>
    <p:extLst>
      <p:ext uri="{BB962C8B-B14F-4D97-AF65-F5344CB8AC3E}">
        <p14:creationId xmlns:p14="http://schemas.microsoft.com/office/powerpoint/2010/main" val="1893524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向量空间</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又称为线性空间，处理向量的数学系统</a:t>
                </a:r>
                <a:endParaRPr lang="en-US" altLang="zh-CN" dirty="0"/>
              </a:p>
              <a:p>
                <a:pPr lvl="1"/>
                <a:r>
                  <a:rPr lang="zh-CN" altLang="en-US" dirty="0"/>
                  <a:t>包含两种实体：向量</a:t>
                </a:r>
                <a:r>
                  <a:rPr lang="en-US" altLang="zh-CN" dirty="0"/>
                  <a:t>+</a:t>
                </a:r>
                <a:r>
                  <a:rPr lang="zh-CN" altLang="en-US" dirty="0"/>
                  <a:t>标量</a:t>
                </a:r>
                <a:endParaRPr lang="en-US" altLang="zh-CN" dirty="0"/>
              </a:p>
              <a:p>
                <a:endParaRPr lang="en-US" dirty="0"/>
              </a:p>
              <a:p>
                <a:r>
                  <a:rPr lang="zh-CN" altLang="en-US" dirty="0"/>
                  <a:t>运算</a:t>
                </a:r>
              </a:p>
              <a:p>
                <a:pPr lvl="1"/>
                <a:r>
                  <a:rPr lang="zh-CN" altLang="en-US" dirty="0"/>
                  <a:t>标量</a:t>
                </a:r>
                <a:r>
                  <a:rPr lang="en-US" altLang="zh-CN" dirty="0"/>
                  <a:t>-</a:t>
                </a:r>
                <a:r>
                  <a:rPr lang="zh-CN" altLang="en-US" dirty="0"/>
                  <a:t>向量乘法：</a:t>
                </a:r>
                <a14:m>
                  <m:oMath xmlns:m="http://schemas.openxmlformats.org/officeDocument/2006/math">
                    <m:r>
                      <a:rPr lang="en-US" altLang="zh-CN" b="1" i="1" dirty="0" smtClean="0">
                        <a:latin typeface="Cambria Math" charset="0"/>
                      </a:rPr>
                      <m:t>𝒖</m:t>
                    </m:r>
                    <m:r>
                      <a:rPr lang="en-US" altLang="zh-CN" i="1" dirty="0" smtClean="0">
                        <a:latin typeface="Cambria Math" charset="0"/>
                      </a:rPr>
                      <m:t> = </m:t>
                    </m:r>
                    <m:r>
                      <a:rPr lang="en-US" altLang="zh-CN" i="1" dirty="0" smtClean="0">
                        <a:latin typeface="Cambria Math" charset="0"/>
                      </a:rPr>
                      <m:t>𝛼</m:t>
                    </m:r>
                    <m:r>
                      <a:rPr lang="en-US" altLang="zh-CN" i="1" dirty="0" smtClean="0">
                        <a:latin typeface="Cambria Math" charset="0"/>
                      </a:rPr>
                      <m:t> </m:t>
                    </m:r>
                    <m:r>
                      <a:rPr lang="en-US" altLang="zh-CN" b="1" i="1" dirty="0" smtClean="0">
                        <a:latin typeface="Cambria Math" charset="0"/>
                      </a:rPr>
                      <m:t>𝒗</m:t>
                    </m:r>
                  </m:oMath>
                </a14:m>
                <a:endParaRPr lang="en-US" altLang="zh-CN" b="1" dirty="0"/>
              </a:p>
              <a:p>
                <a:pPr lvl="1"/>
                <a:r>
                  <a:rPr lang="zh-CN" altLang="en-US" dirty="0"/>
                  <a:t>向量</a:t>
                </a:r>
                <a:r>
                  <a:rPr lang="en-US" altLang="zh-CN" dirty="0"/>
                  <a:t>-</a:t>
                </a:r>
                <a:r>
                  <a:rPr lang="zh-CN" altLang="en-US" dirty="0"/>
                  <a:t>向量加法：</a:t>
                </a:r>
                <a14:m>
                  <m:oMath xmlns:m="http://schemas.openxmlformats.org/officeDocument/2006/math">
                    <m:r>
                      <a:rPr lang="en-US" altLang="zh-CN" b="1" i="1" dirty="0" smtClean="0">
                        <a:latin typeface="Cambria Math" charset="0"/>
                      </a:rPr>
                      <m:t>𝒘</m:t>
                    </m:r>
                    <m:r>
                      <a:rPr lang="en-US" altLang="zh-CN" i="1" dirty="0" smtClean="0">
                        <a:latin typeface="Cambria Math" charset="0"/>
                      </a:rPr>
                      <m:t> = </m:t>
                    </m:r>
                    <m:r>
                      <a:rPr lang="en-US" altLang="zh-CN" b="1" i="1" dirty="0" smtClean="0">
                        <a:latin typeface="Cambria Math" charset="0"/>
                      </a:rPr>
                      <m:t>𝒖</m:t>
                    </m:r>
                    <m:r>
                      <a:rPr lang="en-US" altLang="zh-CN" i="1" dirty="0" smtClean="0">
                        <a:latin typeface="Cambria Math" charset="0"/>
                      </a:rPr>
                      <m:t> + </m:t>
                    </m:r>
                    <m:r>
                      <a:rPr lang="en-US" altLang="zh-CN" b="1" i="1" dirty="0" smtClean="0">
                        <a:latin typeface="Cambria Math" charset="0"/>
                      </a:rPr>
                      <m:t>𝒗</m:t>
                    </m:r>
                  </m:oMath>
                </a14:m>
                <a:endParaRPr lang="en-US" altLang="zh-CN" b="1" dirty="0"/>
              </a:p>
              <a:p>
                <a:pPr lvl="1"/>
                <a:endParaRPr lang="en-US" altLang="zh-CN" b="1" dirty="0"/>
              </a:p>
              <a:p>
                <a:r>
                  <a:rPr lang="zh-CN" altLang="en-US" dirty="0"/>
                  <a:t>向量空间</a:t>
                </a:r>
                <a:r>
                  <a:rPr lang="zh-CN" altLang="en-US" dirty="0">
                    <a:highlight>
                      <a:srgbClr val="FFFF00"/>
                    </a:highlight>
                  </a:rPr>
                  <a:t>不一定要有度量</a:t>
                </a:r>
                <a:endParaRPr lang="en-US" altLang="zh-CN" dirty="0">
                  <a:highlight>
                    <a:srgbClr val="FFFF00"/>
                  </a:highlight>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15</a:t>
            </a:fld>
            <a:endParaRPr lang="zh-CN" altLang="en-US" dirty="0"/>
          </a:p>
        </p:txBody>
      </p:sp>
    </p:spTree>
    <p:extLst>
      <p:ext uri="{BB962C8B-B14F-4D97-AF65-F5344CB8AC3E}">
        <p14:creationId xmlns:p14="http://schemas.microsoft.com/office/powerpoint/2010/main" val="1986723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E:\CG\交互式计算机图形学—基于OpenGL着色器的自顶向下方法（第六版）\Figures\CHAPTER03 JPEG\an03f14.jpg"/>
          <p:cNvPicPr>
            <a:picLocks noChangeAspect="1" noChangeArrowheads="1"/>
          </p:cNvPicPr>
          <p:nvPr/>
        </p:nvPicPr>
        <p:blipFill>
          <a:blip r:embed="rId2" cstate="print"/>
          <a:srcRect/>
          <a:stretch>
            <a:fillRect/>
          </a:stretch>
        </p:blipFill>
        <p:spPr bwMode="auto">
          <a:xfrm>
            <a:off x="6122010" y="1453356"/>
            <a:ext cx="2703935" cy="1746230"/>
          </a:xfrm>
          <a:prstGeom prst="rect">
            <a:avLst/>
          </a:prstGeom>
          <a:noFill/>
        </p:spPr>
      </p:pic>
      <p:sp>
        <p:nvSpPr>
          <p:cNvPr id="2" name="标题 1"/>
          <p:cNvSpPr>
            <a:spLocks noGrp="1"/>
          </p:cNvSpPr>
          <p:nvPr>
            <p:ph type="title"/>
          </p:nvPr>
        </p:nvSpPr>
        <p:spPr/>
        <p:txBody>
          <a:bodyPr/>
          <a:lstStyle/>
          <a:p>
            <a:r>
              <a:rPr lang="zh-CN" altLang="en-US" dirty="0"/>
              <a:t>点积和叉积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spcBef>
                    <a:spcPts val="1500"/>
                  </a:spcBef>
                </a:pPr>
                <a:r>
                  <a:rPr lang="zh-CN" altLang="en-US" sz="3000" dirty="0">
                    <a:highlight>
                      <a:srgbClr val="FFFF00"/>
                    </a:highlight>
                  </a:rPr>
                  <a:t>点积</a:t>
                </a:r>
                <a:r>
                  <a:rPr lang="en-US" altLang="zh-CN" sz="3000" dirty="0">
                    <a:highlight>
                      <a:srgbClr val="FFFF00"/>
                    </a:highlight>
                  </a:rPr>
                  <a:t>/</a:t>
                </a:r>
                <a:r>
                  <a:rPr lang="zh-CN" altLang="en-US" sz="3000" dirty="0">
                    <a:highlight>
                      <a:srgbClr val="FFFF00"/>
                    </a:highlight>
                  </a:rPr>
                  <a:t>内积</a:t>
                </a:r>
                <a:r>
                  <a:rPr lang="zh-CN" altLang="en-US" sz="3000" dirty="0"/>
                  <a:t>：</a:t>
                </a:r>
                <a14:m>
                  <m:oMath xmlns:m="http://schemas.openxmlformats.org/officeDocument/2006/math">
                    <m:r>
                      <a:rPr lang="en-US" altLang="zh-CN" sz="3200" b="1" i="1" dirty="0">
                        <a:latin typeface="Cambria Math" charset="0"/>
                      </a:rPr>
                      <m:t>𝒖</m:t>
                    </m:r>
                    <m:r>
                      <a:rPr lang="en-US" altLang="zh-CN" sz="3200" b="1" i="1" dirty="0">
                        <a:latin typeface="Cambria Math" charset="0"/>
                      </a:rPr>
                      <m:t>⋅</m:t>
                    </m:r>
                    <m:r>
                      <a:rPr lang="en-US" altLang="zh-CN" sz="3200" b="1" i="1" dirty="0">
                        <a:latin typeface="Cambria Math" charset="0"/>
                      </a:rPr>
                      <m:t>𝒗</m:t>
                    </m:r>
                    <m:r>
                      <a:rPr lang="en-US" altLang="zh-CN" sz="3200" i="1" dirty="0">
                        <a:latin typeface="Cambria Math" charset="0"/>
                      </a:rPr>
                      <m:t> = |</m:t>
                    </m:r>
                    <m:r>
                      <a:rPr lang="en-US" altLang="zh-CN" sz="3200" b="1" i="1" dirty="0">
                        <a:latin typeface="Cambria Math" charset="0"/>
                      </a:rPr>
                      <m:t>𝒖</m:t>
                    </m:r>
                    <m:r>
                      <a:rPr lang="en-US" altLang="zh-CN" sz="3200" i="1" dirty="0">
                        <a:latin typeface="Cambria Math" charset="0"/>
                      </a:rPr>
                      <m:t>| |</m:t>
                    </m:r>
                    <m:r>
                      <a:rPr lang="en-US" altLang="zh-CN" sz="3200" b="1" i="1" dirty="0">
                        <a:latin typeface="Cambria Math" charset="0"/>
                      </a:rPr>
                      <m:t>𝒗</m:t>
                    </m:r>
                    <m:r>
                      <a:rPr lang="en-US" altLang="zh-CN" sz="3200" i="1" dirty="0">
                        <a:latin typeface="Cambria Math" charset="0"/>
                      </a:rPr>
                      <m:t>| </m:t>
                    </m:r>
                    <m:r>
                      <m:rPr>
                        <m:sty m:val="p"/>
                      </m:rPr>
                      <a:rPr lang="en-US" altLang="zh-CN" sz="3200" i="1" dirty="0" err="1">
                        <a:latin typeface="Cambria Math" charset="0"/>
                      </a:rPr>
                      <m:t>cos</m:t>
                    </m:r>
                    <m:r>
                      <a:rPr lang="en-US" altLang="zh-CN" sz="3200" i="1" dirty="0" err="1">
                        <a:latin typeface="Cambria Math" charset="0"/>
                      </a:rPr>
                      <m:t>𝜃</m:t>
                    </m:r>
                  </m:oMath>
                </a14:m>
                <a:endParaRPr lang="en-US" altLang="zh-CN" sz="3000" dirty="0"/>
              </a:p>
              <a:p>
                <a:pPr lvl="1">
                  <a:spcBef>
                    <a:spcPts val="1500"/>
                  </a:spcBef>
                </a:pPr>
                <a14:m>
                  <m:oMath xmlns:m="http://schemas.openxmlformats.org/officeDocument/2006/math">
                    <m:r>
                      <a:rPr lang="en-US" altLang="zh-CN" sz="2200" i="1" dirty="0" smtClean="0">
                        <a:latin typeface="Cambria Math" charset="0"/>
                      </a:rPr>
                      <m:t>𝜃</m:t>
                    </m:r>
                  </m:oMath>
                </a14:m>
                <a:r>
                  <a:rPr lang="zh-CN" altLang="en-US" sz="2200" dirty="0"/>
                  <a:t>为两个向量的夹角</a:t>
                </a:r>
                <a:endParaRPr lang="en-US" altLang="zh-CN" sz="2200" dirty="0"/>
              </a:p>
              <a:p>
                <a:pPr lvl="1">
                  <a:buClr>
                    <a:schemeClr val="tx1"/>
                  </a:buClr>
                </a:pPr>
                <a14:m>
                  <m:oMath xmlns:m="http://schemas.openxmlformats.org/officeDocument/2006/math">
                    <m:r>
                      <a:rPr lang="pl-PL" altLang="zh-CN" sz="2200" b="1" i="1" dirty="0" smtClean="0">
                        <a:latin typeface="Cambria Math" charset="0"/>
                      </a:rPr>
                      <m:t>𝒖</m:t>
                    </m:r>
                    <m:r>
                      <a:rPr lang="pl-PL" altLang="zh-CN" sz="2200" b="1" i="1" dirty="0" smtClean="0">
                        <a:latin typeface="Cambria Math" charset="0"/>
                      </a:rPr>
                      <m:t> ⋅ </m:t>
                    </m:r>
                    <m:r>
                      <a:rPr lang="pl-PL" altLang="zh-CN" sz="2200" b="1" i="1" dirty="0" smtClean="0">
                        <a:latin typeface="Cambria Math" charset="0"/>
                      </a:rPr>
                      <m:t>𝒗</m:t>
                    </m:r>
                    <m:r>
                      <a:rPr lang="pl-PL" altLang="zh-CN" sz="2200" i="1" dirty="0">
                        <a:latin typeface="Cambria Math" charset="0"/>
                      </a:rPr>
                      <m:t> = 0 ⇔ </m:t>
                    </m:r>
                    <m:r>
                      <a:rPr lang="pl-PL" altLang="zh-CN" sz="2200" b="1" i="1" dirty="0">
                        <a:latin typeface="Cambria Math" charset="0"/>
                      </a:rPr>
                      <m:t>𝒖</m:t>
                    </m:r>
                    <m:r>
                      <a:rPr lang="pl-PL" altLang="zh-CN" sz="2200" b="1" i="1" dirty="0">
                        <a:latin typeface="Cambria Math" charset="0"/>
                      </a:rPr>
                      <m:t> </m:t>
                    </m:r>
                    <m:r>
                      <a:rPr lang="pl-PL" altLang="zh-CN" sz="2200" i="1" dirty="0">
                        <a:latin typeface="Cambria Math" charset="0"/>
                      </a:rPr>
                      <m:t>⊥ </m:t>
                    </m:r>
                    <m:r>
                      <a:rPr lang="pl-PL" altLang="zh-CN" sz="2200" b="1" i="1" dirty="0">
                        <a:latin typeface="Cambria Math" charset="0"/>
                      </a:rPr>
                      <m:t>𝒗</m:t>
                    </m:r>
                  </m:oMath>
                </a14:m>
                <a:endParaRPr lang="en-US" altLang="zh-CN" sz="2200" b="1" dirty="0"/>
              </a:p>
              <a:p>
                <a:pPr marL="457200" lvl="1" indent="0">
                  <a:buClr>
                    <a:schemeClr val="tx1"/>
                  </a:buClr>
                  <a:buNone/>
                </a:pPr>
                <a:r>
                  <a:rPr lang="zh-CN" altLang="en-US" sz="2200" b="1" dirty="0">
                    <a:highlight>
                      <a:srgbClr val="FFFF00"/>
                    </a:highlight>
                  </a:rPr>
                  <a:t>判断是否为</a:t>
                </a:r>
                <a:r>
                  <a:rPr lang="en-US" altLang="zh-CN" sz="2200" b="1" dirty="0">
                    <a:highlight>
                      <a:srgbClr val="FFFF00"/>
                    </a:highlight>
                  </a:rPr>
                  <a:t>0</a:t>
                </a:r>
                <a:r>
                  <a:rPr lang="zh-CN" altLang="en-US" sz="2200" b="1" dirty="0">
                    <a:highlight>
                      <a:srgbClr val="FFFF00"/>
                    </a:highlight>
                  </a:rPr>
                  <a:t>：</a:t>
                </a:r>
                <a:r>
                  <a:rPr lang="en-US" altLang="zh-CN" sz="2200" b="1" dirty="0">
                    <a:highlight>
                      <a:srgbClr val="FFFF00"/>
                    </a:highlight>
                  </a:rPr>
                  <a:t>Abs(a-b)&lt;=1e-5</a:t>
                </a:r>
              </a:p>
              <a:p>
                <a:endParaRPr lang="en-US" altLang="zh-CN" dirty="0"/>
              </a:p>
              <a:p>
                <a:r>
                  <a:rPr lang="zh-CN" altLang="en-US" dirty="0"/>
                  <a:t>外积：</a:t>
                </a:r>
                <a14:m>
                  <m:oMath xmlns:m="http://schemas.openxmlformats.org/officeDocument/2006/math">
                    <m:r>
                      <a:rPr lang="en-US" altLang="zh-CN" b="1" i="1" dirty="0" smtClean="0">
                        <a:latin typeface="Cambria Math" charset="0"/>
                      </a:rPr>
                      <m:t>𝒏</m:t>
                    </m:r>
                    <m:r>
                      <a:rPr lang="en-US" altLang="zh-CN" b="1" i="1" dirty="0" smtClean="0">
                        <a:latin typeface="Cambria Math" charset="0"/>
                      </a:rPr>
                      <m:t>=</m:t>
                    </m:r>
                    <m:r>
                      <a:rPr lang="en-US" altLang="zh-CN" b="1" i="1" dirty="0">
                        <a:latin typeface="Cambria Math" charset="0"/>
                      </a:rPr>
                      <m:t>𝒖</m:t>
                    </m:r>
                    <m:r>
                      <a:rPr lang="en-US" altLang="zh-CN" i="1" dirty="0">
                        <a:latin typeface="Cambria Math" charset="0"/>
                      </a:rPr>
                      <m:t> </m:t>
                    </m:r>
                    <m:r>
                      <a:rPr lang="en-US" altLang="zh-CN" i="1" dirty="0">
                        <a:highlight>
                          <a:srgbClr val="FFFF00"/>
                        </a:highlight>
                        <a:latin typeface="Cambria Math" charset="0"/>
                      </a:rPr>
                      <m:t>×</m:t>
                    </m:r>
                    <m:r>
                      <a:rPr lang="en-US" altLang="zh-CN" i="1" dirty="0">
                        <a:latin typeface="Cambria Math" charset="0"/>
                      </a:rPr>
                      <m:t> </m:t>
                    </m:r>
                    <m:r>
                      <a:rPr lang="en-US" altLang="zh-CN" b="1" i="1" dirty="0">
                        <a:latin typeface="Cambria Math" charset="0"/>
                      </a:rPr>
                      <m:t>𝒗</m:t>
                    </m:r>
                  </m:oMath>
                </a14:m>
                <a:r>
                  <a:rPr lang="zh-CN" altLang="en-US" dirty="0"/>
                  <a:t>，</a:t>
                </a:r>
                <a14:m>
                  <m:oMath xmlns:m="http://schemas.openxmlformats.org/officeDocument/2006/math">
                    <m:r>
                      <a:rPr lang="en-US" altLang="zh-CN" b="1" i="1" dirty="0" smtClean="0">
                        <a:latin typeface="Cambria Math" charset="0"/>
                      </a:rPr>
                      <m:t>𝒏</m:t>
                    </m:r>
                  </m:oMath>
                </a14:m>
                <a:r>
                  <a:rPr lang="zh-CN" altLang="en-US" dirty="0"/>
                  <a:t>为向量</a:t>
                </a:r>
                <a:endParaRPr lang="en-US" altLang="zh-CN" dirty="0"/>
              </a:p>
              <a:p>
                <a:pPr lvl="1"/>
                <a14:m>
                  <m:oMath xmlns:m="http://schemas.openxmlformats.org/officeDocument/2006/math">
                    <m:r>
                      <a:rPr lang="en-US" altLang="zh-CN" b="1" i="1" dirty="0">
                        <a:highlight>
                          <a:srgbClr val="FFFF00"/>
                        </a:highlight>
                        <a:latin typeface="Cambria Math" charset="0"/>
                      </a:rPr>
                      <m:t>𝒏</m:t>
                    </m:r>
                  </m:oMath>
                </a14:m>
                <a:r>
                  <a:rPr lang="zh-CN" altLang="en-US" dirty="0">
                    <a:highlight>
                      <a:srgbClr val="FFFF00"/>
                    </a:highlight>
                  </a:rPr>
                  <a:t>的长度等于</a:t>
                </a:r>
                <a14:m>
                  <m:oMath xmlns:m="http://schemas.openxmlformats.org/officeDocument/2006/math">
                    <m:d>
                      <m:dPr>
                        <m:begChr m:val="|"/>
                        <m:endChr m:val="|"/>
                        <m:ctrlPr>
                          <a:rPr lang="en-US" altLang="zh-CN" b="1" i="1" dirty="0" smtClean="0">
                            <a:highlight>
                              <a:srgbClr val="FFFF00"/>
                            </a:highlight>
                            <a:latin typeface="Cambria Math" panose="02040503050406030204" pitchFamily="18" charset="0"/>
                          </a:rPr>
                        </m:ctrlPr>
                      </m:dPr>
                      <m:e>
                        <m:r>
                          <a:rPr lang="en-US" altLang="zh-CN" b="1" i="1" dirty="0" smtClean="0">
                            <a:highlight>
                              <a:srgbClr val="FFFF00"/>
                            </a:highlight>
                            <a:latin typeface="Cambria Math" charset="0"/>
                          </a:rPr>
                          <m:t>𝒖</m:t>
                        </m:r>
                      </m:e>
                    </m:d>
                    <m:d>
                      <m:dPr>
                        <m:begChr m:val="|"/>
                        <m:endChr m:val="|"/>
                        <m:ctrlPr>
                          <a:rPr lang="en-US" altLang="zh-CN" b="1" i="1" dirty="0" smtClean="0">
                            <a:highlight>
                              <a:srgbClr val="FFFF00"/>
                            </a:highlight>
                            <a:latin typeface="Cambria Math" panose="02040503050406030204" pitchFamily="18" charset="0"/>
                          </a:rPr>
                        </m:ctrlPr>
                      </m:dPr>
                      <m:e>
                        <m:r>
                          <a:rPr lang="en-US" altLang="zh-CN" b="1" i="1" dirty="0" smtClean="0">
                            <a:highlight>
                              <a:srgbClr val="FFFF00"/>
                            </a:highlight>
                            <a:latin typeface="Cambria Math" charset="0"/>
                          </a:rPr>
                          <m:t>𝒗</m:t>
                        </m:r>
                      </m:e>
                    </m:d>
                    <m:r>
                      <m:rPr>
                        <m:sty m:val="p"/>
                      </m:rPr>
                      <a:rPr lang="en-US" altLang="zh-CN" i="1" dirty="0" err="1" smtClean="0">
                        <a:highlight>
                          <a:srgbClr val="FFFF00"/>
                        </a:highlight>
                        <a:latin typeface="Cambria Math" charset="0"/>
                      </a:rPr>
                      <m:t>sin</m:t>
                    </m:r>
                    <m:r>
                      <a:rPr lang="en-US" altLang="zh-CN" i="1" dirty="0" smtClean="0">
                        <a:highlight>
                          <a:srgbClr val="FFFF00"/>
                        </a:highlight>
                        <a:latin typeface="Cambria Math" charset="0"/>
                      </a:rPr>
                      <m:t>𝜃</m:t>
                    </m:r>
                  </m:oMath>
                </a14:m>
                <a:r>
                  <a:rPr lang="zh-CN" altLang="en-US" dirty="0">
                    <a:highlight>
                      <a:srgbClr val="FFFF00"/>
                    </a:highlight>
                  </a:rPr>
                  <a:t>，</a:t>
                </a:r>
                <a:r>
                  <a:rPr lang="zh-CN" altLang="en-US" dirty="0"/>
                  <a:t>其中</a:t>
                </a:r>
                <a14:m>
                  <m:oMath xmlns:m="http://schemas.openxmlformats.org/officeDocument/2006/math">
                    <m:r>
                      <a:rPr lang="en-US" altLang="zh-CN" i="1" dirty="0" smtClean="0">
                        <a:latin typeface="Cambria Math" charset="0"/>
                      </a:rPr>
                      <m:t>𝜃</m:t>
                    </m:r>
                  </m:oMath>
                </a14:m>
                <a:r>
                  <a:rPr lang="zh-CN" altLang="en-US" dirty="0"/>
                  <a:t>为两个向量的夹角</a:t>
                </a:r>
                <a:endParaRPr lang="en-US" altLang="zh-CN" dirty="0"/>
              </a:p>
              <a:p>
                <a:pPr lvl="1"/>
                <a14:m>
                  <m:oMath xmlns:m="http://schemas.openxmlformats.org/officeDocument/2006/math">
                    <m:r>
                      <a:rPr lang="en-US" altLang="zh-CN" b="1" i="1" dirty="0">
                        <a:highlight>
                          <a:srgbClr val="FFFF00"/>
                        </a:highlight>
                        <a:latin typeface="Cambria Math" charset="0"/>
                      </a:rPr>
                      <m:t>𝒏</m:t>
                    </m:r>
                  </m:oMath>
                </a14:m>
                <a:r>
                  <a:rPr lang="zh-CN" altLang="en-US" dirty="0">
                    <a:highlight>
                      <a:srgbClr val="FFFF00"/>
                    </a:highlight>
                  </a:rPr>
                  <a:t>的方向垂直于</a:t>
                </a:r>
                <a14:m>
                  <m:oMath xmlns:m="http://schemas.openxmlformats.org/officeDocument/2006/math">
                    <m:r>
                      <a:rPr lang="en-US" altLang="zh-CN" b="1" i="1" dirty="0" smtClean="0">
                        <a:highlight>
                          <a:srgbClr val="FFFF00"/>
                        </a:highlight>
                        <a:latin typeface="Cambria Math" charset="0"/>
                      </a:rPr>
                      <m:t>𝒖</m:t>
                    </m:r>
                    <m:r>
                      <a:rPr lang="en-US" altLang="zh-CN" i="1" dirty="0" smtClean="0">
                        <a:highlight>
                          <a:srgbClr val="FFFF00"/>
                        </a:highlight>
                        <a:latin typeface="Cambria Math" charset="0"/>
                      </a:rPr>
                      <m:t>, </m:t>
                    </m:r>
                    <m:r>
                      <a:rPr lang="en-US" altLang="zh-CN" b="1" i="1" dirty="0" smtClean="0">
                        <a:highlight>
                          <a:srgbClr val="FFFF00"/>
                        </a:highlight>
                        <a:latin typeface="Cambria Math" charset="0"/>
                      </a:rPr>
                      <m:t>𝒗</m:t>
                    </m:r>
                  </m:oMath>
                </a14:m>
                <a:r>
                  <a:rPr lang="zh-CN" altLang="en-US" dirty="0">
                    <a:highlight>
                      <a:srgbClr val="FFFF00"/>
                    </a:highlight>
                  </a:rPr>
                  <a:t>所在的平面</a:t>
                </a:r>
                <a:endParaRPr lang="en-US" altLang="zh-CN" dirty="0">
                  <a:highlight>
                    <a:srgbClr val="FFFF00"/>
                  </a:highlight>
                </a:endParaRPr>
              </a:p>
              <a:p>
                <a:pPr lvl="1"/>
                <a14:m>
                  <m:oMath xmlns:m="http://schemas.openxmlformats.org/officeDocument/2006/math">
                    <m:r>
                      <a:rPr lang="en-US" altLang="zh-CN" b="1" i="1" dirty="0" smtClean="0">
                        <a:latin typeface="Cambria Math" charset="0"/>
                      </a:rPr>
                      <m:t>𝒖</m:t>
                    </m:r>
                    <m:r>
                      <a:rPr lang="en-US" altLang="zh-CN" i="1" dirty="0">
                        <a:latin typeface="Cambria Math" charset="0"/>
                      </a:rPr>
                      <m:t>, </m:t>
                    </m:r>
                    <m:r>
                      <a:rPr lang="en-US" altLang="zh-CN" b="1" i="1" dirty="0">
                        <a:latin typeface="Cambria Math" charset="0"/>
                      </a:rPr>
                      <m:t>𝒗</m:t>
                    </m:r>
                    <m:r>
                      <a:rPr lang="en-US" altLang="zh-CN" i="1" dirty="0">
                        <a:latin typeface="Cambria Math" charset="0"/>
                      </a:rPr>
                      <m:t>,</m:t>
                    </m:r>
                    <m:r>
                      <a:rPr lang="en-US" altLang="zh-CN" b="1" i="1" dirty="0">
                        <a:latin typeface="Cambria Math" charset="0"/>
                      </a:rPr>
                      <m:t>𝒏</m:t>
                    </m:r>
                  </m:oMath>
                </a14:m>
                <a:r>
                  <a:rPr lang="zh-CN" altLang="en-US" dirty="0"/>
                  <a:t>构成一个</a:t>
                </a:r>
                <a:r>
                  <a:rPr lang="zh-CN" altLang="en-US" dirty="0">
                    <a:highlight>
                      <a:srgbClr val="FFFF00"/>
                    </a:highlight>
                  </a:rPr>
                  <a:t>右手坐标系</a:t>
                </a:r>
                <a:endParaRPr lang="en-US" altLang="zh-CN" dirty="0">
                  <a:highlight>
                    <a:srgbClr val="FFFF00"/>
                  </a:highlight>
                </a:endParaRPr>
              </a:p>
              <a:p>
                <a:pPr lvl="1">
                  <a:buClr>
                    <a:schemeClr val="tx1"/>
                  </a:buClr>
                </a:pPr>
                <a14:m>
                  <m:oMath xmlns:m="http://schemas.openxmlformats.org/officeDocument/2006/math">
                    <m:r>
                      <a:rPr lang="pl-PL" altLang="zh-CN" b="1" i="1" dirty="0" smtClean="0">
                        <a:latin typeface="Cambria Math" charset="0"/>
                      </a:rPr>
                      <m:t>𝒖</m:t>
                    </m:r>
                    <m:r>
                      <a:rPr lang="pl-PL" altLang="zh-CN" i="1" dirty="0">
                        <a:latin typeface="Cambria Math" charset="0"/>
                      </a:rPr>
                      <m:t> × </m:t>
                    </m:r>
                    <m:r>
                      <a:rPr lang="pl-PL" altLang="zh-CN" b="1" i="1" dirty="0">
                        <a:latin typeface="Cambria Math" charset="0"/>
                      </a:rPr>
                      <m:t>𝒗</m:t>
                    </m:r>
                    <m:r>
                      <a:rPr lang="en-US" altLang="zh-CN" b="1" i="1" dirty="0" smtClean="0">
                        <a:latin typeface="Cambria Math" charset="0"/>
                      </a:rPr>
                      <m:t>=</m:t>
                    </m:r>
                    <m:r>
                      <a:rPr lang="pl-PL" altLang="zh-CN" b="1" i="1" dirty="0">
                        <a:latin typeface="Cambria Math" charset="0"/>
                      </a:rPr>
                      <m:t>𝟎</m:t>
                    </m:r>
                    <m:r>
                      <a:rPr lang="pl-PL" altLang="zh-CN" i="1" dirty="0">
                        <a:latin typeface="Cambria Math" charset="0"/>
                      </a:rPr>
                      <m:t> ⇔ </m:t>
                    </m:r>
                    <m:r>
                      <a:rPr lang="pl-PL" altLang="zh-CN" b="1" i="1" dirty="0">
                        <a:latin typeface="Cambria Math" charset="0"/>
                      </a:rPr>
                      <m:t>𝒖</m:t>
                    </m:r>
                    <m:r>
                      <a:rPr lang="pl-PL" altLang="zh-CN" i="1" dirty="0">
                        <a:latin typeface="Cambria Math" charset="0"/>
                      </a:rPr>
                      <m:t> // </m:t>
                    </m:r>
                    <m:r>
                      <a:rPr lang="pl-PL" altLang="zh-CN" b="1" i="1" dirty="0">
                        <a:latin typeface="Cambria Math" charset="0"/>
                      </a:rPr>
                      <m:t>𝒗</m:t>
                    </m:r>
                  </m:oMath>
                </a14:m>
                <a:endParaRPr lang="en-US" altLang="zh-CN" b="1"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773"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5" name="Picture 2" descr="E:\CG\交互式计算机图形学—基于OpenGL着色器的自顶向下方法（第六版）\Figures\CHAPTER03 JPEG\AN03F15.jpg"/>
          <p:cNvPicPr>
            <a:picLocks noChangeAspect="1" noChangeArrowheads="1"/>
          </p:cNvPicPr>
          <p:nvPr/>
        </p:nvPicPr>
        <p:blipFill>
          <a:blip r:embed="rId4" cstate="print"/>
          <a:srcRect/>
          <a:stretch>
            <a:fillRect/>
          </a:stretch>
        </p:blipFill>
        <p:spPr bwMode="auto">
          <a:xfrm>
            <a:off x="6122010" y="4250706"/>
            <a:ext cx="1921442" cy="2042738"/>
          </a:xfrm>
          <a:prstGeom prst="rect">
            <a:avLst/>
          </a:prstGeom>
          <a:noFill/>
        </p:spPr>
      </p:pic>
    </p:spTree>
    <p:extLst>
      <p:ext uri="{BB962C8B-B14F-4D97-AF65-F5344CB8AC3E}">
        <p14:creationId xmlns:p14="http://schemas.microsoft.com/office/powerpoint/2010/main" val="241582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点</a:t>
            </a:r>
            <a:r>
              <a:rPr lang="en-US" altLang="zh-CN" dirty="0"/>
              <a:t>-</a:t>
            </a:r>
            <a:r>
              <a:rPr lang="zh-CN" altLang="en-US" dirty="0"/>
              <a:t>向量运算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点与向量之间可进行的运算</a:t>
                </a:r>
              </a:p>
              <a:p>
                <a:pPr lvl="1"/>
                <a:r>
                  <a:rPr lang="zh-CN" altLang="en-US" dirty="0"/>
                  <a:t>点与点相减得到一个向量</a:t>
                </a:r>
              </a:p>
              <a:p>
                <a:pPr lvl="1"/>
                <a:r>
                  <a:rPr lang="zh-CN" altLang="en-US" dirty="0"/>
                  <a:t>等价地，点与向量相加得到新点</a:t>
                </a:r>
              </a:p>
              <a:p>
                <a:endParaRPr lang="en-US" altLang="zh-CN" dirty="0"/>
              </a:p>
              <a:p>
                <a:r>
                  <a:rPr lang="zh-CN" altLang="en-US" dirty="0">
                    <a:highlight>
                      <a:srgbClr val="FFFF00"/>
                    </a:highlight>
                  </a:rPr>
                  <a:t>点</a:t>
                </a:r>
                <a:r>
                  <a:rPr lang="en-US" altLang="zh-CN" dirty="0">
                    <a:highlight>
                      <a:srgbClr val="FFFF00"/>
                    </a:highlight>
                  </a:rPr>
                  <a:t>-</a:t>
                </a:r>
                <a:r>
                  <a:rPr lang="zh-CN" altLang="en-US" dirty="0">
                    <a:highlight>
                      <a:srgbClr val="FFFF00"/>
                    </a:highlight>
                  </a:rPr>
                  <a:t>向量加法</a:t>
                </a:r>
              </a:p>
              <a:p>
                <a:pPr lvl="1"/>
                <a14:m>
                  <m:oMath xmlns:m="http://schemas.openxmlformats.org/officeDocument/2006/math">
                    <m:r>
                      <a:rPr lang="en-US" altLang="zh-CN" i="1" dirty="0" smtClean="0">
                        <a:highlight>
                          <a:srgbClr val="FFFF00"/>
                        </a:highlight>
                        <a:latin typeface="Cambria Math" charset="0"/>
                      </a:rPr>
                      <m:t>𝑃</m:t>
                    </m:r>
                    <m:r>
                      <a:rPr lang="en-US" altLang="zh-CN" i="1" dirty="0" smtClean="0">
                        <a:highlight>
                          <a:srgbClr val="FFFF00"/>
                        </a:highlight>
                        <a:latin typeface="Cambria Math" charset="0"/>
                      </a:rPr>
                      <m:t> = </m:t>
                    </m:r>
                    <m:r>
                      <a:rPr lang="en-US" altLang="zh-CN" i="1" dirty="0">
                        <a:highlight>
                          <a:srgbClr val="FFFF00"/>
                        </a:highlight>
                        <a:latin typeface="Cambria Math" charset="0"/>
                      </a:rPr>
                      <m:t>𝑄</m:t>
                    </m:r>
                    <m:r>
                      <a:rPr lang="en-US" altLang="zh-CN" i="1" dirty="0">
                        <a:highlight>
                          <a:srgbClr val="FFFF00"/>
                        </a:highlight>
                        <a:latin typeface="Cambria Math" charset="0"/>
                      </a:rPr>
                      <m:t> + </m:t>
                    </m:r>
                    <m:r>
                      <a:rPr lang="en-US" altLang="zh-CN" b="1" i="1" dirty="0">
                        <a:highlight>
                          <a:srgbClr val="FFFF00"/>
                        </a:highlight>
                        <a:latin typeface="Cambria Math" charset="0"/>
                      </a:rPr>
                      <m:t>𝒗</m:t>
                    </m:r>
                  </m:oMath>
                </a14:m>
                <a:endParaRPr lang="en-US" altLang="zh-CN" b="1" dirty="0">
                  <a:highlight>
                    <a:srgbClr val="FFFF00"/>
                  </a:highlight>
                </a:endParaRPr>
              </a:p>
              <a:p>
                <a:endParaRPr lang="en-US" altLang="zh-CN" dirty="0"/>
              </a:p>
              <a:p>
                <a:r>
                  <a:rPr lang="zh-CN" altLang="en-US" dirty="0"/>
                  <a:t>点</a:t>
                </a:r>
                <a:r>
                  <a:rPr lang="en-US" altLang="zh-CN" dirty="0"/>
                  <a:t>-</a:t>
                </a:r>
                <a:r>
                  <a:rPr lang="zh-CN" altLang="en-US" dirty="0"/>
                  <a:t>点减法</a:t>
                </a:r>
              </a:p>
              <a:p>
                <a:pPr lvl="1"/>
                <a14:m>
                  <m:oMath xmlns:m="http://schemas.openxmlformats.org/officeDocument/2006/math">
                    <m:r>
                      <a:rPr lang="en-US" altLang="zh-CN" b="1" i="1" dirty="0" smtClean="0">
                        <a:latin typeface="Cambria Math" charset="0"/>
                      </a:rPr>
                      <m:t>𝒗</m:t>
                    </m:r>
                    <m:r>
                      <a:rPr lang="en-US" altLang="zh-CN" i="1" dirty="0" smtClean="0">
                        <a:latin typeface="Cambria Math" charset="0"/>
                      </a:rPr>
                      <m:t> </m:t>
                    </m:r>
                    <m:r>
                      <a:rPr lang="en-US" altLang="zh-CN" i="1" dirty="0">
                        <a:latin typeface="Cambria Math" charset="0"/>
                      </a:rPr>
                      <m:t>= </m:t>
                    </m:r>
                    <m:r>
                      <a:rPr lang="en-US" altLang="zh-CN" i="1" dirty="0">
                        <a:latin typeface="Cambria Math" charset="0"/>
                      </a:rPr>
                      <m:t>𝑃</m:t>
                    </m:r>
                    <m:r>
                      <a:rPr lang="en-US" altLang="zh-CN" i="1" dirty="0">
                        <a:latin typeface="Cambria Math" charset="0"/>
                      </a:rPr>
                      <m:t> − </m:t>
                    </m:r>
                    <m:r>
                      <a:rPr lang="en-US" altLang="zh-CN" i="1" dirty="0">
                        <a:latin typeface="Cambria Math" charset="0"/>
                      </a:rPr>
                      <m:t>𝑄</m:t>
                    </m:r>
                  </m:oMath>
                </a14:m>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pic>
        <p:nvPicPr>
          <p:cNvPr id="5" name="Picture 2" descr="E:\CG\交互式计算机图形学—基于OpenGL着色器的自顶向下方法（第六版）\Figures\CHAPTER03 JPEG\AN03F05.jpg"/>
          <p:cNvPicPr>
            <a:picLocks noChangeAspect="1" noChangeArrowheads="1"/>
          </p:cNvPicPr>
          <p:nvPr/>
        </p:nvPicPr>
        <p:blipFill>
          <a:blip r:embed="rId3" cstate="print"/>
          <a:srcRect/>
          <a:stretch>
            <a:fillRect/>
          </a:stretch>
        </p:blipFill>
        <p:spPr bwMode="auto">
          <a:xfrm>
            <a:off x="3774073" y="2996975"/>
            <a:ext cx="2181704" cy="1488205"/>
          </a:xfrm>
          <a:prstGeom prst="rect">
            <a:avLst/>
          </a:prstGeom>
          <a:noFill/>
        </p:spPr>
      </p:pic>
      <p:sp>
        <p:nvSpPr>
          <p:cNvPr id="6" name="矩形 5"/>
          <p:cNvSpPr/>
          <p:nvPr/>
        </p:nvSpPr>
        <p:spPr>
          <a:xfrm>
            <a:off x="4202473" y="4604683"/>
            <a:ext cx="1409360" cy="369332"/>
          </a:xfrm>
          <a:prstGeom prst="rect">
            <a:avLst/>
          </a:prstGeom>
        </p:spPr>
        <p:txBody>
          <a:bodyPr wrap="none">
            <a:spAutoFit/>
          </a:bodyPr>
          <a:lstStyle/>
          <a:p>
            <a:r>
              <a:rPr lang="zh-CN" altLang="en-US" dirty="0">
                <a:latin typeface="华文新魏" pitchFamily="2" charset="-122"/>
                <a:ea typeface="华文新魏" pitchFamily="2" charset="-122"/>
              </a:rPr>
              <a:t>点</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向量加法</a:t>
            </a:r>
            <a:endParaRPr lang="en-US" altLang="zh-CN" dirty="0">
              <a:latin typeface="华文新魏" pitchFamily="2" charset="-122"/>
              <a:ea typeface="华文新魏" pitchFamily="2" charset="-122"/>
            </a:endParaRPr>
          </a:p>
        </p:txBody>
      </p:sp>
    </p:spTree>
    <p:extLst>
      <p:ext uri="{BB962C8B-B14F-4D97-AF65-F5344CB8AC3E}">
        <p14:creationId xmlns:p14="http://schemas.microsoft.com/office/powerpoint/2010/main" val="2011005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仿射空间</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是向量空间的扩展，加入了另一对象：点</a:t>
                </a:r>
                <a:endParaRPr lang="en-US" altLang="zh-CN" dirty="0"/>
              </a:p>
              <a:p>
                <a:endParaRPr lang="en-US" altLang="zh-CN" dirty="0"/>
              </a:p>
              <a:p>
                <a:r>
                  <a:rPr lang="zh-CN" altLang="en-US" dirty="0"/>
                  <a:t>运算：</a:t>
                </a:r>
              </a:p>
              <a:p>
                <a:pPr lvl="1"/>
                <a:r>
                  <a:rPr lang="zh-CN" altLang="en-US" dirty="0"/>
                  <a:t>标量</a:t>
                </a:r>
                <a:r>
                  <a:rPr lang="en-US" altLang="zh-CN" dirty="0"/>
                  <a:t>-</a:t>
                </a:r>
                <a:r>
                  <a:rPr lang="zh-CN" altLang="en-US" dirty="0"/>
                  <a:t>向量乘法 </a:t>
                </a:r>
                <a14:m>
                  <m:oMath xmlns:m="http://schemas.openxmlformats.org/officeDocument/2006/math">
                    <m:r>
                      <a:rPr lang="is-IS" altLang="zh-CN" i="1" dirty="0" smtClean="0">
                        <a:latin typeface="Cambria Math" charset="0"/>
                        <a:ea typeface="Cambria Math" charset="0"/>
                        <a:cs typeface="Cambria Math" charset="0"/>
                      </a:rPr>
                      <m:t>→</m:t>
                    </m:r>
                  </m:oMath>
                </a14:m>
                <a:r>
                  <a:rPr lang="en-US" altLang="zh-CN" dirty="0"/>
                  <a:t> </a:t>
                </a:r>
                <a:r>
                  <a:rPr lang="zh-CN" altLang="en-US" dirty="0"/>
                  <a:t>向量</a:t>
                </a:r>
              </a:p>
              <a:p>
                <a:pPr lvl="1"/>
                <a:r>
                  <a:rPr lang="zh-CN" altLang="en-US" dirty="0"/>
                  <a:t>向量</a:t>
                </a:r>
                <a:r>
                  <a:rPr lang="en-US" altLang="zh-CN" dirty="0"/>
                  <a:t>-</a:t>
                </a:r>
                <a:r>
                  <a:rPr lang="zh-CN" altLang="en-US" dirty="0"/>
                  <a:t>向量加法 </a:t>
                </a:r>
                <a14:m>
                  <m:oMath xmlns:m="http://schemas.openxmlformats.org/officeDocument/2006/math">
                    <m:r>
                      <a:rPr lang="is-IS" altLang="zh-CN" i="1" dirty="0">
                        <a:latin typeface="Cambria Math" charset="0"/>
                        <a:ea typeface="Cambria Math" charset="0"/>
                        <a:cs typeface="Cambria Math" charset="0"/>
                      </a:rPr>
                      <m:t>→</m:t>
                    </m:r>
                  </m:oMath>
                </a14:m>
                <a:r>
                  <a:rPr lang="en-US" altLang="zh-CN" dirty="0"/>
                  <a:t> </a:t>
                </a:r>
                <a:r>
                  <a:rPr lang="zh-CN" altLang="en-US" dirty="0"/>
                  <a:t>向量</a:t>
                </a:r>
              </a:p>
              <a:p>
                <a:pPr lvl="1"/>
                <a:r>
                  <a:rPr lang="zh-CN" altLang="en-US" dirty="0"/>
                  <a:t>点</a:t>
                </a:r>
                <a:r>
                  <a:rPr lang="en-US" altLang="zh-CN" dirty="0"/>
                  <a:t>-</a:t>
                </a:r>
                <a:r>
                  <a:rPr lang="zh-CN" altLang="en-US" dirty="0"/>
                  <a:t>向量加法 </a:t>
                </a:r>
                <a14:m>
                  <m:oMath xmlns:m="http://schemas.openxmlformats.org/officeDocument/2006/math">
                    <m:r>
                      <a:rPr lang="is-IS" altLang="zh-CN" i="1" dirty="0">
                        <a:latin typeface="Cambria Math" charset="0"/>
                        <a:ea typeface="Cambria Math" charset="0"/>
                        <a:cs typeface="Cambria Math" charset="0"/>
                      </a:rPr>
                      <m:t>→</m:t>
                    </m:r>
                  </m:oMath>
                </a14:m>
                <a:r>
                  <a:rPr lang="zh-CN" altLang="en-US" dirty="0"/>
                  <a:t> 点</a:t>
                </a:r>
                <a:endParaRPr lang="en-US" altLang="zh-CN" dirty="0"/>
              </a:p>
              <a:p>
                <a:pPr lvl="1"/>
                <a:r>
                  <a:rPr lang="zh-CN" altLang="en-US" dirty="0"/>
                  <a:t>点</a:t>
                </a:r>
                <a:r>
                  <a:rPr lang="en-US" altLang="zh-CN" dirty="0"/>
                  <a:t>-</a:t>
                </a:r>
                <a:r>
                  <a:rPr lang="zh-CN" altLang="en-US" dirty="0"/>
                  <a:t>点减法 </a:t>
                </a:r>
                <a14:m>
                  <m:oMath xmlns:m="http://schemas.openxmlformats.org/officeDocument/2006/math">
                    <m:r>
                      <a:rPr lang="is-IS" altLang="zh-CN" i="1" dirty="0">
                        <a:latin typeface="Cambria Math" charset="0"/>
                        <a:ea typeface="Cambria Math" charset="0"/>
                        <a:cs typeface="Cambria Math" charset="0"/>
                      </a:rPr>
                      <m:t>→</m:t>
                    </m:r>
                  </m:oMath>
                </a14:m>
                <a:r>
                  <a:rPr lang="en-US" altLang="zh-CN" dirty="0"/>
                  <a:t> </a:t>
                </a:r>
                <a:r>
                  <a:rPr lang="zh-CN" altLang="en-US" dirty="0"/>
                  <a:t>向量</a:t>
                </a:r>
              </a:p>
              <a:p>
                <a:endParaRPr lang="en-US" altLang="zh-CN" dirty="0"/>
              </a:p>
              <a:p>
                <a:r>
                  <a:rPr lang="zh-CN" altLang="en-US" dirty="0"/>
                  <a:t>上述运算均是</a:t>
                </a:r>
                <a:r>
                  <a:rPr lang="zh-CN" altLang="en-US" dirty="0">
                    <a:highlight>
                      <a:srgbClr val="FFFF00"/>
                    </a:highlight>
                  </a:rPr>
                  <a:t>与坐标无关</a:t>
                </a:r>
                <a:r>
                  <a:rPr lang="zh-CN" altLang="en-US" dirty="0"/>
                  <a:t>的</a:t>
                </a:r>
              </a:p>
              <a:p>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spTree>
    <p:extLst>
      <p:ext uri="{BB962C8B-B14F-4D97-AF65-F5344CB8AC3E}">
        <p14:creationId xmlns:p14="http://schemas.microsoft.com/office/powerpoint/2010/main" val="1928077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与坐标无关的几何</a:t>
            </a:r>
            <a:endParaRPr lang="en-US" dirty="0"/>
          </a:p>
        </p:txBody>
      </p:sp>
      <p:sp>
        <p:nvSpPr>
          <p:cNvPr id="3" name="Content Placeholder 2"/>
          <p:cNvSpPr>
            <a:spLocks noGrp="1"/>
          </p:cNvSpPr>
          <p:nvPr>
            <p:ph idx="1"/>
          </p:nvPr>
        </p:nvSpPr>
        <p:spPr/>
        <p:txBody>
          <a:bodyPr/>
          <a:lstStyle/>
          <a:p>
            <a:r>
              <a:rPr lang="zh-CN" altLang="en-US" dirty="0"/>
              <a:t>几何对象</a:t>
            </a:r>
            <a:r>
              <a:rPr lang="zh-CN" altLang="en-US" dirty="0">
                <a:highlight>
                  <a:srgbClr val="FFFF00"/>
                </a:highlight>
              </a:rPr>
              <a:t>中点</a:t>
            </a:r>
            <a:r>
              <a:rPr lang="zh-CN" altLang="en-US" dirty="0"/>
              <a:t>的坐标实现</a:t>
            </a:r>
            <a:r>
              <a:rPr lang="zh-CN" altLang="en-US" dirty="0">
                <a:highlight>
                  <a:srgbClr val="FFFF00"/>
                </a:highlight>
              </a:rPr>
              <a:t>相对于一个原点和两个坐标轴的方向而言的</a:t>
            </a:r>
            <a:endParaRPr lang="en-US" altLang="zh-CN" dirty="0">
              <a:highlight>
                <a:srgbClr val="FFFF00"/>
              </a:highlight>
            </a:endParaRPr>
          </a:p>
          <a:p>
            <a:r>
              <a:rPr lang="zh-CN" altLang="en-US" dirty="0"/>
              <a:t>原点的</a:t>
            </a:r>
            <a:r>
              <a:rPr lang="zh-CN" altLang="en-US" dirty="0">
                <a:highlight>
                  <a:srgbClr val="FFFF00"/>
                </a:highlight>
              </a:rPr>
              <a:t>位置和坐标轴的方向</a:t>
            </a:r>
            <a:r>
              <a:rPr lang="zh-CN" altLang="en-US" dirty="0"/>
              <a:t>是可以任意指定的</a:t>
            </a:r>
            <a:endParaRPr lang="en-US" altLang="zh-CN" dirty="0"/>
          </a:p>
          <a:p>
            <a:r>
              <a:rPr lang="zh-CN" altLang="en-US" dirty="0"/>
              <a:t>重要的是</a:t>
            </a:r>
            <a:r>
              <a:rPr lang="zh-CN" altLang="en-US" dirty="0">
                <a:solidFill>
                  <a:srgbClr val="0000FF"/>
                </a:solidFill>
              </a:rPr>
              <a:t>保持不变的基本几何关系</a:t>
            </a:r>
            <a:endParaRPr lang="en-US" altLang="zh-CN" dirty="0">
              <a:solidFill>
                <a:srgbClr val="0000FF"/>
              </a:solidFill>
            </a:endParaRPr>
          </a:p>
          <a:p>
            <a:pPr lvl="1"/>
            <a:r>
              <a:rPr lang="zh-CN" altLang="en-US" dirty="0"/>
              <a:t>不管在何种坐标系下，正方形依旧是正方形，边和边的夹角，点和点的距离都保持不变。</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pic>
        <p:nvPicPr>
          <p:cNvPr id="5" name="Picture 2" descr="E:\CG\交互式计算机图形学—基于OpenGL着色器的自顶向下方法（第六版）\Figures\CHAPTER03 JPEG\AN03F07.jpg"/>
          <p:cNvPicPr>
            <a:picLocks noChangeAspect="1" noChangeArrowheads="1"/>
          </p:cNvPicPr>
          <p:nvPr/>
        </p:nvPicPr>
        <p:blipFill>
          <a:blip r:embed="rId2" cstate="print"/>
          <a:srcRect/>
          <a:stretch>
            <a:fillRect/>
          </a:stretch>
        </p:blipFill>
        <p:spPr bwMode="auto">
          <a:xfrm>
            <a:off x="5745463" y="4630975"/>
            <a:ext cx="1529898" cy="1449547"/>
          </a:xfrm>
          <a:prstGeom prst="rect">
            <a:avLst/>
          </a:prstGeom>
          <a:noFill/>
        </p:spPr>
      </p:pic>
      <p:pic>
        <p:nvPicPr>
          <p:cNvPr id="6" name="Picture 3" descr="E:\CG\交互式计算机图形学—基于OpenGL着色器的自顶向下方法（第六版）\Figures\CHAPTER03 JPEG\AN03F06.jpg"/>
          <p:cNvPicPr>
            <a:picLocks noChangeAspect="1" noChangeArrowheads="1"/>
          </p:cNvPicPr>
          <p:nvPr/>
        </p:nvPicPr>
        <p:blipFill>
          <a:blip r:embed="rId3" cstate="print"/>
          <a:srcRect/>
          <a:stretch>
            <a:fillRect/>
          </a:stretch>
        </p:blipFill>
        <p:spPr bwMode="auto">
          <a:xfrm>
            <a:off x="1754479" y="4123153"/>
            <a:ext cx="2461979" cy="1957369"/>
          </a:xfrm>
          <a:prstGeom prst="rect">
            <a:avLst/>
          </a:prstGeom>
          <a:noFill/>
        </p:spPr>
      </p:pic>
      <p:sp>
        <p:nvSpPr>
          <p:cNvPr id="7" name="TextBox 6"/>
          <p:cNvSpPr txBox="1"/>
          <p:nvPr/>
        </p:nvSpPr>
        <p:spPr>
          <a:xfrm>
            <a:off x="2144287" y="6171684"/>
            <a:ext cx="1682361" cy="369332"/>
          </a:xfrm>
          <a:prstGeom prst="rect">
            <a:avLst/>
          </a:prstGeom>
          <a:noFill/>
        </p:spPr>
        <p:txBody>
          <a:bodyPr wrap="square" rtlCol="0">
            <a:spAutoFit/>
          </a:bodyPr>
          <a:lstStyle/>
          <a:p>
            <a:r>
              <a:rPr lang="zh-CN" altLang="en-US">
                <a:latin typeface="华文新魏" pitchFamily="2" charset="-122"/>
                <a:ea typeface="华文新魏" pitchFamily="2" charset="-122"/>
              </a:rPr>
              <a:t>对象和坐标系</a:t>
            </a:r>
            <a:endParaRPr lang="zh-CN" altLang="en-US" dirty="0">
              <a:latin typeface="华文新魏" pitchFamily="2" charset="-122"/>
              <a:ea typeface="华文新魏" pitchFamily="2" charset="-122"/>
            </a:endParaRPr>
          </a:p>
        </p:txBody>
      </p:sp>
      <p:sp>
        <p:nvSpPr>
          <p:cNvPr id="8" name="TextBox 7"/>
          <p:cNvSpPr txBox="1"/>
          <p:nvPr/>
        </p:nvSpPr>
        <p:spPr>
          <a:xfrm>
            <a:off x="5212747" y="6171684"/>
            <a:ext cx="2595329" cy="369332"/>
          </a:xfrm>
          <a:prstGeom prst="rect">
            <a:avLst/>
          </a:prstGeom>
          <a:noFill/>
        </p:spPr>
        <p:txBody>
          <a:bodyPr wrap="square" rtlCol="0">
            <a:spAutoFit/>
          </a:bodyPr>
          <a:lstStyle/>
          <a:p>
            <a:r>
              <a:rPr lang="zh-CN" altLang="en-US">
                <a:latin typeface="华文新魏" pitchFamily="2" charset="-122"/>
                <a:ea typeface="华文新魏" pitchFamily="2" charset="-122"/>
              </a:rPr>
              <a:t>只有对象，没有坐标系</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1937511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6160850" y="1841714"/>
            <a:ext cx="2665095" cy="2063139"/>
          </a:xfrm>
          <a:prstGeom prst="rect">
            <a:avLst/>
          </a:prstGeom>
        </p:spPr>
      </p:pic>
      <p:sp>
        <p:nvSpPr>
          <p:cNvPr id="2" name="标题 1"/>
          <p:cNvSpPr>
            <a:spLocks noGrp="1"/>
          </p:cNvSpPr>
          <p:nvPr>
            <p:ph type="title"/>
          </p:nvPr>
        </p:nvSpPr>
        <p:spPr/>
        <p:txBody>
          <a:bodyPr/>
          <a:lstStyle/>
          <a:p>
            <a:r>
              <a:rPr lang="zh-CN" altLang="en-US" dirty="0"/>
              <a:t>直线</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437930"/>
              </a:xfrm>
            </p:spPr>
            <p:txBody>
              <a:bodyPr>
                <a:normAutofit/>
              </a:bodyPr>
              <a:lstStyle/>
              <a:p>
                <a:pPr>
                  <a:spcBef>
                    <a:spcPts val="1500"/>
                  </a:spcBef>
                </a:pPr>
                <a:r>
                  <a:rPr lang="zh-CN" altLang="en-US" dirty="0"/>
                  <a:t>考虑具有下述形式的所有点</a:t>
                </a:r>
              </a:p>
              <a:p>
                <a:pPr lvl="1">
                  <a:buClr>
                    <a:schemeClr val="tx1"/>
                  </a:buClr>
                </a:pPr>
                <a14:m>
                  <m:oMath xmlns:m="http://schemas.openxmlformats.org/officeDocument/2006/math">
                    <m:r>
                      <a:rPr lang="en-US" altLang="zh-CN" i="1" dirty="0" smtClean="0">
                        <a:highlight>
                          <a:srgbClr val="FFFF00"/>
                        </a:highlight>
                        <a:latin typeface="Cambria Math" charset="0"/>
                      </a:rPr>
                      <m:t>𝑃</m:t>
                    </m:r>
                    <m:r>
                      <a:rPr lang="en-US" altLang="zh-CN" i="1" dirty="0" smtClean="0">
                        <a:highlight>
                          <a:srgbClr val="FFFF00"/>
                        </a:highlight>
                        <a:latin typeface="Cambria Math" charset="0"/>
                      </a:rPr>
                      <m:t>(</m:t>
                    </m:r>
                    <m:r>
                      <a:rPr lang="en-US" altLang="zh-CN" i="1" dirty="0" smtClean="0">
                        <a:highlight>
                          <a:srgbClr val="FFFF00"/>
                        </a:highlight>
                        <a:latin typeface="Cambria Math" charset="0"/>
                      </a:rPr>
                      <m:t>𝛼</m:t>
                    </m:r>
                    <m:r>
                      <a:rPr lang="en-US" altLang="zh-CN" i="1" dirty="0" smtClean="0">
                        <a:highlight>
                          <a:srgbClr val="FFFF00"/>
                        </a:highlight>
                        <a:latin typeface="Cambria Math" charset="0"/>
                      </a:rPr>
                      <m:t>) = </m:t>
                    </m:r>
                    <m:r>
                      <a:rPr lang="en-US" altLang="zh-CN" i="1" dirty="0" smtClean="0">
                        <a:highlight>
                          <a:srgbClr val="FFFF00"/>
                        </a:highlight>
                        <a:latin typeface="Cambria Math" charset="0"/>
                      </a:rPr>
                      <m:t>𝑃</m:t>
                    </m:r>
                    <m:r>
                      <a:rPr lang="en-US" altLang="zh-CN" i="1" baseline="-25000" dirty="0">
                        <a:highlight>
                          <a:srgbClr val="FFFF00"/>
                        </a:highlight>
                        <a:latin typeface="Cambria Math" charset="0"/>
                      </a:rPr>
                      <m:t>0 </m:t>
                    </m:r>
                    <m:r>
                      <a:rPr lang="en-US" altLang="zh-CN" i="1" dirty="0">
                        <a:highlight>
                          <a:srgbClr val="FFFF00"/>
                        </a:highlight>
                        <a:latin typeface="Cambria Math" charset="0"/>
                      </a:rPr>
                      <m:t>+ </m:t>
                    </m:r>
                    <m:r>
                      <a:rPr lang="en-US" altLang="zh-CN" i="1" dirty="0">
                        <a:highlight>
                          <a:srgbClr val="FFFF00"/>
                        </a:highlight>
                        <a:latin typeface="Cambria Math" charset="0"/>
                      </a:rPr>
                      <m:t>𝛼</m:t>
                    </m:r>
                    <m:r>
                      <a:rPr lang="en-US" altLang="zh-CN" b="1" i="1" dirty="0">
                        <a:highlight>
                          <a:srgbClr val="FFFF00"/>
                        </a:highlight>
                        <a:latin typeface="Cambria Math" charset="0"/>
                      </a:rPr>
                      <m:t>𝒅</m:t>
                    </m:r>
                  </m:oMath>
                </a14:m>
                <a:endParaRPr lang="en-US" altLang="zh-CN" b="1" dirty="0">
                  <a:highlight>
                    <a:srgbClr val="FFFF00"/>
                  </a:highlight>
                </a:endParaRPr>
              </a:p>
              <a:p>
                <a:pPr lvl="1">
                  <a:buClr>
                    <a:schemeClr val="tx1"/>
                  </a:buClr>
                </a:pPr>
                <a:r>
                  <a:rPr lang="zh-CN" altLang="en-US" dirty="0"/>
                  <a:t>即</a:t>
                </a:r>
                <a:r>
                  <a:rPr lang="zh-CN" altLang="en-US" dirty="0">
                    <a:highlight>
                      <a:srgbClr val="FFFF00"/>
                    </a:highlight>
                  </a:rPr>
                  <a:t>所有过</a:t>
                </a:r>
                <a14:m>
                  <m:oMath xmlns:m="http://schemas.openxmlformats.org/officeDocument/2006/math">
                    <m:r>
                      <a:rPr lang="en-US" altLang="zh-CN" i="1" dirty="0" smtClean="0">
                        <a:highlight>
                          <a:srgbClr val="FFFF00"/>
                        </a:highlight>
                        <a:latin typeface="Cambria Math" charset="0"/>
                      </a:rPr>
                      <m:t>𝑃</m:t>
                    </m:r>
                    <m:r>
                      <a:rPr lang="en-US" altLang="zh-CN" i="1" baseline="-25000" dirty="0">
                        <a:highlight>
                          <a:srgbClr val="FFFF00"/>
                        </a:highlight>
                        <a:latin typeface="Cambria Math" charset="0"/>
                      </a:rPr>
                      <m:t>0</m:t>
                    </m:r>
                  </m:oMath>
                </a14:m>
                <a:r>
                  <a:rPr lang="zh-CN" altLang="en-US" dirty="0">
                    <a:highlight>
                      <a:srgbClr val="FFFF00"/>
                    </a:highlight>
                  </a:rPr>
                  <a:t>点，与</a:t>
                </a:r>
                <a14:m>
                  <m:oMath xmlns:m="http://schemas.openxmlformats.org/officeDocument/2006/math">
                    <m:r>
                      <a:rPr lang="en-US" altLang="zh-CN" i="1" dirty="0" smtClean="0">
                        <a:highlight>
                          <a:srgbClr val="FFFF00"/>
                        </a:highlight>
                        <a:latin typeface="Cambria Math" charset="0"/>
                      </a:rPr>
                      <m:t>𝑃</m:t>
                    </m:r>
                    <m:r>
                      <a:rPr lang="en-US" altLang="zh-CN" i="1" baseline="-25000" dirty="0">
                        <a:highlight>
                          <a:srgbClr val="FFFF00"/>
                        </a:highlight>
                        <a:latin typeface="Cambria Math" charset="0"/>
                      </a:rPr>
                      <m:t>0</m:t>
                    </m:r>
                  </m:oMath>
                </a14:m>
                <a:r>
                  <a:rPr lang="zh-CN" altLang="en-US" dirty="0">
                    <a:highlight>
                      <a:srgbClr val="FFFF00"/>
                    </a:highlight>
                  </a:rPr>
                  <a:t>连线平行于向量</a:t>
                </a:r>
                <a14:m>
                  <m:oMath xmlns:m="http://schemas.openxmlformats.org/officeDocument/2006/math">
                    <m:r>
                      <a:rPr lang="en-US" altLang="zh-CN" b="1" i="1" dirty="0" smtClean="0">
                        <a:highlight>
                          <a:srgbClr val="FFFF00"/>
                        </a:highlight>
                        <a:latin typeface="Cambria Math" charset="0"/>
                      </a:rPr>
                      <m:t>𝒅</m:t>
                    </m:r>
                  </m:oMath>
                </a14:m>
                <a:r>
                  <a:rPr lang="zh-CN" altLang="en-US" dirty="0">
                    <a:highlight>
                      <a:srgbClr val="FFFF00"/>
                    </a:highlight>
                  </a:rPr>
                  <a:t>的点</a:t>
                </a:r>
                <a:endParaRPr lang="en-US" altLang="zh-CN" b="1" dirty="0">
                  <a:highlight>
                    <a:srgbClr val="FFFF00"/>
                  </a:highlight>
                </a:endParaRPr>
              </a:p>
              <a:p>
                <a:pPr>
                  <a:spcBef>
                    <a:spcPts val="1500"/>
                  </a:spcBef>
                </a:pPr>
                <a:r>
                  <a:rPr lang="zh-CN" altLang="en-US" dirty="0"/>
                  <a:t>上述定义直线的形式称为</a:t>
                </a:r>
                <a:r>
                  <a:rPr lang="zh-CN" altLang="en-US" dirty="0">
                    <a:solidFill>
                      <a:srgbClr val="0000FF"/>
                    </a:solidFill>
                  </a:rPr>
                  <a:t>参数形式</a:t>
                </a:r>
              </a:p>
              <a:p>
                <a:pPr lvl="1">
                  <a:buClr>
                    <a:schemeClr val="tx1"/>
                  </a:buClr>
                </a:pPr>
                <a:r>
                  <a:rPr lang="zh-CN" altLang="en-US" dirty="0"/>
                  <a:t>比其它形式更一般和稳定</a:t>
                </a:r>
              </a:p>
              <a:p>
                <a:pPr lvl="1">
                  <a:buClr>
                    <a:schemeClr val="tx1"/>
                  </a:buClr>
                </a:pPr>
                <a:r>
                  <a:rPr lang="zh-CN" altLang="en-US" dirty="0"/>
                  <a:t>可以推广到曲线和曲面</a:t>
                </a:r>
                <a:endParaRPr lang="en-US" altLang="zh-CN" dirty="0"/>
              </a:p>
              <a:p>
                <a:pPr lvl="1">
                  <a:buClr>
                    <a:schemeClr val="tx1"/>
                  </a:buClr>
                </a:pPr>
                <a:endParaRPr lang="en-US" altLang="zh-CN" dirty="0"/>
              </a:p>
              <a:p>
                <a:pPr>
                  <a:spcBef>
                    <a:spcPts val="1500"/>
                  </a:spcBef>
                </a:pPr>
                <a:r>
                  <a:rPr lang="zh-CN" altLang="en-US" dirty="0"/>
                  <a:t>射线</a:t>
                </a:r>
              </a:p>
              <a:p>
                <a:pPr lvl="1">
                  <a:buClr>
                    <a:schemeClr val="tx1"/>
                  </a:buClr>
                </a:pPr>
                <a:r>
                  <a:rPr lang="zh-CN" altLang="en-US" dirty="0"/>
                  <a:t>如果限定</a:t>
                </a:r>
                <a14:m>
                  <m:oMath xmlns:m="http://schemas.openxmlformats.org/officeDocument/2006/math">
                    <m:r>
                      <a:rPr lang="en-US" altLang="zh-CN" i="1" dirty="0" smtClean="0">
                        <a:latin typeface="Cambria Math" charset="0"/>
                      </a:rPr>
                      <m:t>𝛼</m:t>
                    </m:r>
                    <m:r>
                      <a:rPr lang="en-US" altLang="zh-CN" i="1" dirty="0" smtClean="0">
                        <a:latin typeface="Cambria Math" charset="0"/>
                      </a:rPr>
                      <m:t>&gt;0</m:t>
                    </m:r>
                  </m:oMath>
                </a14:m>
                <a:r>
                  <a:rPr lang="en-US" altLang="zh-CN" dirty="0"/>
                  <a:t>, </a:t>
                </a:r>
                <a:r>
                  <a:rPr lang="zh-CN" altLang="en-US" dirty="0"/>
                  <a:t>那么</a:t>
                </a:r>
                <a14:m>
                  <m:oMath xmlns:m="http://schemas.openxmlformats.org/officeDocument/2006/math">
                    <m:r>
                      <a:rPr lang="en-US" altLang="zh-CN" i="1" dirty="0" smtClean="0">
                        <a:latin typeface="Cambria Math" charset="0"/>
                      </a:rPr>
                      <m:t>𝑃</m:t>
                    </m:r>
                    <m:r>
                      <a:rPr lang="en-US" altLang="zh-CN" i="1" dirty="0" smtClean="0">
                        <a:latin typeface="Cambria Math" charset="0"/>
                      </a:rPr>
                      <m:t>(</m:t>
                    </m:r>
                    <m:r>
                      <a:rPr lang="en-US" altLang="zh-CN" i="1" dirty="0" smtClean="0">
                        <a:latin typeface="Cambria Math" charset="0"/>
                      </a:rPr>
                      <m:t>𝛼</m:t>
                    </m:r>
                    <m:r>
                      <a:rPr lang="en-US" altLang="zh-CN" i="1" dirty="0" smtClean="0">
                        <a:latin typeface="Cambria Math" charset="0"/>
                      </a:rPr>
                      <m:t>)</m:t>
                    </m:r>
                  </m:oMath>
                </a14:m>
                <a:r>
                  <a:rPr lang="zh-CN" altLang="en-US" dirty="0"/>
                  <a:t>就是从</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出发，方向为</a:t>
                </a:r>
                <a14:m>
                  <m:oMath xmlns:m="http://schemas.openxmlformats.org/officeDocument/2006/math">
                    <m:r>
                      <a:rPr lang="en-US" altLang="zh-CN" b="1" i="1" dirty="0" smtClean="0">
                        <a:latin typeface="Cambria Math" charset="0"/>
                      </a:rPr>
                      <m:t>𝒅</m:t>
                    </m:r>
                  </m:oMath>
                </a14:m>
                <a:r>
                  <a:rPr lang="zh-CN" altLang="en-US" dirty="0"/>
                  <a:t>的射线</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437930"/>
              </a:xfrm>
              <a:blipFill>
                <a:blip r:embed="rId3"/>
                <a:stretch>
                  <a:fillRect l="-618" t="-190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Tree>
    <p:extLst>
      <p:ext uri="{BB962C8B-B14F-4D97-AF65-F5344CB8AC3E}">
        <p14:creationId xmlns:p14="http://schemas.microsoft.com/office/powerpoint/2010/main" val="731566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E:\CG\交互式计算机图形学—基于OpenGL着色器的自顶向下方法（第六版）\Figures\CHAPTER03 JPEG\AN03F12.jpg"/>
          <p:cNvPicPr>
            <a:picLocks noChangeAspect="1" noChangeArrowheads="1"/>
          </p:cNvPicPr>
          <p:nvPr/>
        </p:nvPicPr>
        <p:blipFill rotWithShape="1">
          <a:blip r:embed="rId2" cstate="print"/>
          <a:srcRect l="8156" t="6144" r="3846" b="5942"/>
          <a:stretch/>
        </p:blipFill>
        <p:spPr bwMode="auto">
          <a:xfrm>
            <a:off x="6872748" y="1453356"/>
            <a:ext cx="1843549" cy="1953522"/>
          </a:xfrm>
          <a:prstGeom prst="rect">
            <a:avLst/>
          </a:prstGeom>
          <a:noFill/>
        </p:spPr>
      </p:pic>
      <p:sp>
        <p:nvSpPr>
          <p:cNvPr id="2" name="Title 1"/>
          <p:cNvSpPr>
            <a:spLocks noGrp="1"/>
          </p:cNvSpPr>
          <p:nvPr>
            <p:ph type="title"/>
          </p:nvPr>
        </p:nvSpPr>
        <p:spPr/>
        <p:txBody>
          <a:bodyPr/>
          <a:lstStyle/>
          <a:p>
            <a:r>
              <a:rPr lang="zh-CN" altLang="en-US" dirty="0"/>
              <a:t>仿射加法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如果采用两点定义向量</a:t>
                </a:r>
                <a14:m>
                  <m:oMath xmlns:m="http://schemas.openxmlformats.org/officeDocument/2006/math">
                    <m:r>
                      <a:rPr lang="en-US" altLang="zh-CN" b="1" i="1" dirty="0">
                        <a:latin typeface="Cambria Math" charset="0"/>
                      </a:rPr>
                      <m:t>𝒅</m:t>
                    </m:r>
                  </m:oMath>
                </a14:m>
                <a:r>
                  <a:rPr lang="en-US" altLang="zh-CN" dirty="0"/>
                  <a:t>, </a:t>
                </a:r>
                <a:r>
                  <a:rPr lang="zh-CN" altLang="en-US" dirty="0"/>
                  <a:t>那么</a:t>
                </a:r>
                <a:endParaRPr lang="zh-CN" altLang="en-US" sz="26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          </m:t>
                      </m:r>
                    </m:oMath>
                  </m:oMathPara>
                </a14:m>
                <a:endParaRPr lang="en-US" altLang="zh-CN" sz="1800"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𝑃</m:t>
                      </m:r>
                      <m:r>
                        <a:rPr lang="en-US" altLang="zh-CN" sz="1800" i="1" dirty="0">
                          <a:latin typeface="Cambria Math" charset="0"/>
                        </a:rPr>
                        <m:t>(</m:t>
                      </m:r>
                      <m:r>
                        <a:rPr lang="en-US" altLang="zh-CN" sz="1800" i="1" dirty="0">
                          <a:latin typeface="Cambria Math" charset="0"/>
                        </a:rPr>
                        <m:t>𝛼</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0 </m:t>
                      </m:r>
                      <m:r>
                        <a:rPr lang="en-US" altLang="zh-CN" sz="1800" i="1" dirty="0">
                          <a:latin typeface="Cambria Math" charset="0"/>
                        </a:rPr>
                        <m:t>+ </m:t>
                      </m:r>
                      <m:r>
                        <a:rPr lang="en-US" altLang="zh-CN" sz="1800" i="1" dirty="0">
                          <a:latin typeface="Cambria Math" charset="0"/>
                        </a:rPr>
                        <m:t>𝛼</m:t>
                      </m:r>
                      <m:r>
                        <a:rPr lang="en-US" altLang="zh-CN" sz="1800" i="1" dirty="0">
                          <a:latin typeface="Cambria Math" charset="0"/>
                        </a:rPr>
                        <m:t> (</m:t>
                      </m:r>
                      <m:r>
                        <a:rPr lang="en-US" altLang="zh-CN" sz="1800" i="1" dirty="0">
                          <a:highlight>
                            <a:srgbClr val="FFFF00"/>
                          </a:highlight>
                          <a:latin typeface="Cambria Math" charset="0"/>
                        </a:rPr>
                        <m:t>𝑃</m:t>
                      </m:r>
                      <m:r>
                        <a:rPr lang="en-US" altLang="zh-CN" sz="1800" i="1" baseline="-25000" dirty="0">
                          <a:highlight>
                            <a:srgbClr val="FFFF00"/>
                          </a:highlight>
                          <a:latin typeface="Cambria Math" charset="0"/>
                        </a:rPr>
                        <m:t>1</m:t>
                      </m:r>
                      <m:r>
                        <a:rPr lang="en-US" altLang="zh-CN" sz="1800" i="1" dirty="0">
                          <a:highlight>
                            <a:srgbClr val="FFFF00"/>
                          </a:highlight>
                          <a:latin typeface="Cambria Math" charset="0"/>
                        </a:rPr>
                        <m:t> – </m:t>
                      </m:r>
                      <m:r>
                        <a:rPr lang="en-US" altLang="zh-CN" sz="1800" i="1" dirty="0">
                          <a:highlight>
                            <a:srgbClr val="FFFF00"/>
                          </a:highlight>
                          <a:latin typeface="Cambria Math" charset="0"/>
                        </a:rPr>
                        <m:t>𝑃</m:t>
                      </m:r>
                      <m:r>
                        <a:rPr lang="en-US" altLang="zh-CN" sz="1800" i="1" baseline="-25000" dirty="0">
                          <a:highlight>
                            <a:srgbClr val="FFFF00"/>
                          </a:highlight>
                          <a:latin typeface="Cambria Math" charset="0"/>
                        </a:rPr>
                        <m:t>0</m:t>
                      </m:r>
                      <m:r>
                        <a:rPr lang="en-US" altLang="zh-CN" sz="1800" i="1" dirty="0">
                          <a:highlight>
                            <a:srgbClr val="FFFF00"/>
                          </a:highlight>
                          <a:latin typeface="Cambria Math" charset="0"/>
                        </a:rPr>
                        <m:t>) </m:t>
                      </m:r>
                      <m:r>
                        <a:rPr lang="en-US" altLang="zh-CN" sz="1800" i="1" dirty="0">
                          <a:latin typeface="Cambria Math" charset="0"/>
                        </a:rPr>
                        <m:t>= (1 –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0</m:t>
                      </m:r>
                      <m:r>
                        <a:rPr lang="en-US" altLang="zh-CN" sz="1800" i="1" dirty="0">
                          <a:latin typeface="Cambria Math" charset="0"/>
                        </a:rPr>
                        <m:t> +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1</m:t>
                      </m:r>
                    </m:oMath>
                  </m:oMathPara>
                </a14:m>
                <a:endParaRPr lang="en-US" altLang="zh-CN" sz="1800" baseline="-25000" dirty="0"/>
              </a:p>
              <a:p>
                <a:pPr lvl="1">
                  <a:buClr>
                    <a:schemeClr val="tx1"/>
                  </a:buClr>
                </a:pPr>
                <a:endParaRPr lang="en-US" altLang="zh-CN" sz="1800" dirty="0"/>
              </a:p>
              <a:p>
                <a:pPr lvl="1">
                  <a:buClr>
                    <a:schemeClr val="tx1"/>
                  </a:buClr>
                </a:pPr>
                <a:r>
                  <a:rPr lang="zh-CN" altLang="en-US" sz="1800" dirty="0"/>
                  <a:t>当</a:t>
                </a:r>
                <a14:m>
                  <m:oMath xmlns:m="http://schemas.openxmlformats.org/officeDocument/2006/math">
                    <m:r>
                      <a:rPr lang="en-US" altLang="zh-CN" sz="1800" i="1" dirty="0">
                        <a:latin typeface="Cambria Math" charset="0"/>
                      </a:rPr>
                      <m:t>0≤</m:t>
                    </m:r>
                    <m:r>
                      <a:rPr lang="en-US" altLang="zh-CN" sz="1800" i="1" dirty="0">
                        <a:latin typeface="Cambria Math" charset="0"/>
                      </a:rPr>
                      <m:t>𝛼</m:t>
                    </m:r>
                    <m:r>
                      <a:rPr lang="en-US" altLang="zh-CN" sz="1800" i="1" dirty="0">
                        <a:latin typeface="Cambria Math" charset="0"/>
                      </a:rPr>
                      <m:t>≤1</m:t>
                    </m:r>
                  </m:oMath>
                </a14:m>
                <a:r>
                  <a:rPr lang="zh-CN" altLang="en-US" sz="1800" dirty="0"/>
                  <a:t>，那么就会得到连接</a:t>
                </a:r>
                <a14:m>
                  <m:oMath xmlns:m="http://schemas.openxmlformats.org/officeDocument/2006/math">
                    <m:r>
                      <a:rPr lang="en-US" altLang="zh-CN" sz="1800" i="1" dirty="0">
                        <a:highlight>
                          <a:srgbClr val="FFFF00"/>
                        </a:highlight>
                        <a:latin typeface="Cambria Math" charset="0"/>
                      </a:rPr>
                      <m:t>𝑃</m:t>
                    </m:r>
                    <m:r>
                      <a:rPr lang="en-US" altLang="zh-CN" sz="1800" i="1" baseline="-25000" dirty="0">
                        <a:highlight>
                          <a:srgbClr val="FFFF00"/>
                        </a:highlight>
                        <a:latin typeface="Cambria Math" charset="0"/>
                      </a:rPr>
                      <m:t>0</m:t>
                    </m:r>
                  </m:oMath>
                </a14:m>
                <a:r>
                  <a:rPr lang="zh-CN" altLang="en-US" sz="1800" dirty="0">
                    <a:highlight>
                      <a:srgbClr val="FFFF00"/>
                    </a:highlight>
                  </a:rPr>
                  <a:t>与</a:t>
                </a:r>
                <a14:m>
                  <m:oMath xmlns:m="http://schemas.openxmlformats.org/officeDocument/2006/math">
                    <m:r>
                      <a:rPr lang="en-US" altLang="zh-CN" sz="1800" i="1" dirty="0">
                        <a:highlight>
                          <a:srgbClr val="FFFF00"/>
                        </a:highlight>
                        <a:latin typeface="Cambria Math" charset="0"/>
                      </a:rPr>
                      <m:t>𝑃</m:t>
                    </m:r>
                    <m:r>
                      <a:rPr lang="en-US" altLang="zh-CN" sz="1800" i="1" baseline="-25000" dirty="0">
                        <a:highlight>
                          <a:srgbClr val="FFFF00"/>
                        </a:highlight>
                        <a:latin typeface="Cambria Math" charset="0"/>
                      </a:rPr>
                      <m:t>1</m:t>
                    </m:r>
                  </m:oMath>
                </a14:m>
                <a:r>
                  <a:rPr lang="zh-CN" altLang="en-US" sz="1800" dirty="0"/>
                  <a:t>两点的线段</a:t>
                </a:r>
                <a:endParaRPr lang="en-US" altLang="zh-CN" sz="1800" dirty="0"/>
              </a:p>
              <a:p>
                <a:endParaRPr lang="en-US" altLang="zh-CN" dirty="0"/>
              </a:p>
              <a:p>
                <a:r>
                  <a:rPr lang="zh-CN" altLang="en-US" dirty="0"/>
                  <a:t>仿射加法</a:t>
                </a:r>
              </a:p>
              <a:p>
                <a:pPr lvl="1"/>
                <a:r>
                  <a:rPr lang="zh-CN" altLang="en-US" dirty="0"/>
                  <a:t>上述表达可以写成另一种形式：</a:t>
                </a:r>
                <a:endParaRPr lang="en-US" altLang="zh-CN"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i="1" dirty="0">
                          <a:latin typeface="Cambria Math" charset="0"/>
                        </a:rPr>
                        <m:t>          </m:t>
                      </m:r>
                    </m:oMath>
                  </m:oMathPara>
                </a14:m>
                <a:endParaRPr lang="en-US" altLang="zh-CN"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i="1" dirty="0">
                          <a:highlight>
                            <a:srgbClr val="FFFF00"/>
                          </a:highlight>
                          <a:latin typeface="Cambria Math" charset="0"/>
                        </a:rPr>
                        <m:t>𝑃</m:t>
                      </m:r>
                      <m:r>
                        <a:rPr lang="en-US" altLang="zh-CN" i="1" dirty="0">
                          <a:highlight>
                            <a:srgbClr val="FFFF00"/>
                          </a:highlight>
                          <a:latin typeface="Cambria Math" charset="0"/>
                        </a:rPr>
                        <m:t> = </m:t>
                      </m:r>
                      <m:sSub>
                        <m:sSubPr>
                          <m:ctrlPr>
                            <a:rPr lang="en-US" altLang="zh-CN" i="1" dirty="0">
                              <a:highlight>
                                <a:srgbClr val="FFFF00"/>
                              </a:highlight>
                              <a:latin typeface="Cambria Math" panose="02040503050406030204" pitchFamily="18" charset="0"/>
                            </a:rPr>
                          </m:ctrlPr>
                        </m:sSubPr>
                        <m:e>
                          <m:r>
                            <a:rPr lang="en-US" altLang="zh-CN" i="1" dirty="0">
                              <a:highlight>
                                <a:srgbClr val="FFFF00"/>
                              </a:highlight>
                              <a:latin typeface="Cambria Math" charset="0"/>
                            </a:rPr>
                            <m:t>𝛼</m:t>
                          </m:r>
                        </m:e>
                        <m:sub>
                          <m:r>
                            <a:rPr lang="en-US" altLang="zh-CN" i="1" dirty="0">
                              <a:highlight>
                                <a:srgbClr val="FFFF00"/>
                              </a:highlight>
                              <a:latin typeface="Cambria Math" charset="0"/>
                            </a:rPr>
                            <m:t>0</m:t>
                          </m:r>
                        </m:sub>
                      </m:sSub>
                      <m:r>
                        <a:rPr lang="en-US" altLang="zh-CN" i="1" dirty="0">
                          <a:highlight>
                            <a:srgbClr val="FFFF00"/>
                          </a:highlight>
                          <a:latin typeface="Cambria Math" charset="0"/>
                        </a:rPr>
                        <m:t>𝑃</m:t>
                      </m:r>
                      <m:r>
                        <a:rPr lang="en-US" altLang="zh-CN" i="1" baseline="-25000" dirty="0">
                          <a:highlight>
                            <a:srgbClr val="FFFF00"/>
                          </a:highlight>
                          <a:latin typeface="Cambria Math" charset="0"/>
                        </a:rPr>
                        <m:t>0</m:t>
                      </m:r>
                      <m:r>
                        <a:rPr lang="en-US" altLang="zh-CN" i="1" dirty="0">
                          <a:highlight>
                            <a:srgbClr val="FFFF00"/>
                          </a:highlight>
                          <a:latin typeface="Cambria Math" charset="0"/>
                        </a:rPr>
                        <m:t> + </m:t>
                      </m:r>
                      <m:sSub>
                        <m:sSubPr>
                          <m:ctrlPr>
                            <a:rPr lang="en-US" altLang="zh-CN" i="1" dirty="0">
                              <a:highlight>
                                <a:srgbClr val="FFFF00"/>
                              </a:highlight>
                              <a:latin typeface="Cambria Math" panose="02040503050406030204" pitchFamily="18" charset="0"/>
                            </a:rPr>
                          </m:ctrlPr>
                        </m:sSubPr>
                        <m:e>
                          <m:r>
                            <a:rPr lang="en-US" altLang="zh-CN" i="1" dirty="0">
                              <a:highlight>
                                <a:srgbClr val="FFFF00"/>
                              </a:highlight>
                              <a:latin typeface="Cambria Math" charset="0"/>
                            </a:rPr>
                            <m:t>𝛼</m:t>
                          </m:r>
                        </m:e>
                        <m:sub>
                          <m:r>
                            <a:rPr lang="en-US" altLang="zh-CN" i="1" dirty="0">
                              <a:highlight>
                                <a:srgbClr val="FFFF00"/>
                              </a:highlight>
                              <a:latin typeface="Cambria Math" charset="0"/>
                            </a:rPr>
                            <m:t>1</m:t>
                          </m:r>
                        </m:sub>
                      </m:sSub>
                      <m:r>
                        <a:rPr lang="en-US" altLang="zh-CN" i="1" dirty="0">
                          <a:highlight>
                            <a:srgbClr val="FFFF00"/>
                          </a:highlight>
                          <a:latin typeface="Cambria Math" charset="0"/>
                        </a:rPr>
                        <m:t> </m:t>
                      </m:r>
                      <m:r>
                        <a:rPr lang="en-US" altLang="zh-CN" i="1" dirty="0">
                          <a:highlight>
                            <a:srgbClr val="FFFF00"/>
                          </a:highlight>
                          <a:latin typeface="Cambria Math" charset="0"/>
                        </a:rPr>
                        <m:t>𝑃</m:t>
                      </m:r>
                      <m:r>
                        <a:rPr lang="en-US" altLang="zh-CN" i="1" baseline="-25000" dirty="0">
                          <a:highlight>
                            <a:srgbClr val="FFFF00"/>
                          </a:highlight>
                          <a:latin typeface="Cambria Math" charset="0"/>
                        </a:rPr>
                        <m:t>1</m:t>
                      </m:r>
                      <m:r>
                        <a:rPr lang="zh-CN" altLang="en-US" baseline="-25000" dirty="0">
                          <a:highlight>
                            <a:srgbClr val="FFFF00"/>
                          </a:highlight>
                          <a:latin typeface="Cambria Math" charset="0"/>
                        </a:rPr>
                        <m:t>，</m:t>
                      </m:r>
                      <m:r>
                        <m:rPr>
                          <m:nor/>
                        </m:rPr>
                        <a:rPr lang="zh-CN" altLang="en-US" dirty="0">
                          <a:highlight>
                            <a:srgbClr val="FFFF00"/>
                          </a:highlight>
                        </a:rPr>
                        <m:t>其中 </m:t>
                      </m:r>
                      <m:sSub>
                        <m:sSubPr>
                          <m:ctrlPr>
                            <a:rPr lang="en-US" altLang="zh-CN" i="1" dirty="0">
                              <a:highlight>
                                <a:srgbClr val="FFFF00"/>
                              </a:highlight>
                              <a:latin typeface="Cambria Math" panose="02040503050406030204" pitchFamily="18" charset="0"/>
                            </a:rPr>
                          </m:ctrlPr>
                        </m:sSubPr>
                        <m:e>
                          <m:r>
                            <a:rPr lang="en-US" altLang="zh-CN" i="1" dirty="0">
                              <a:highlight>
                                <a:srgbClr val="FFFF00"/>
                              </a:highlight>
                              <a:latin typeface="Cambria Math" charset="0"/>
                            </a:rPr>
                            <m:t>𝛼</m:t>
                          </m:r>
                        </m:e>
                        <m:sub>
                          <m:r>
                            <a:rPr lang="en-US" altLang="zh-CN" i="1" dirty="0">
                              <a:highlight>
                                <a:srgbClr val="FFFF00"/>
                              </a:highlight>
                              <a:latin typeface="Cambria Math" charset="0"/>
                            </a:rPr>
                            <m:t>0</m:t>
                          </m:r>
                        </m:sub>
                      </m:sSub>
                      <m:r>
                        <a:rPr lang="en-US" altLang="zh-CN" i="1" dirty="0">
                          <a:highlight>
                            <a:srgbClr val="FFFF00"/>
                          </a:highlight>
                          <a:latin typeface="Cambria Math" charset="0"/>
                        </a:rPr>
                        <m:t>+</m:t>
                      </m:r>
                      <m:sSub>
                        <m:sSubPr>
                          <m:ctrlPr>
                            <a:rPr lang="en-US" altLang="zh-CN" i="1" dirty="0">
                              <a:highlight>
                                <a:srgbClr val="FFFF00"/>
                              </a:highlight>
                              <a:latin typeface="Cambria Math" panose="02040503050406030204" pitchFamily="18" charset="0"/>
                            </a:rPr>
                          </m:ctrlPr>
                        </m:sSubPr>
                        <m:e>
                          <m:r>
                            <a:rPr lang="en-US" altLang="zh-CN" i="1" dirty="0">
                              <a:highlight>
                                <a:srgbClr val="FFFF00"/>
                              </a:highlight>
                              <a:latin typeface="Cambria Math" charset="0"/>
                            </a:rPr>
                            <m:t>𝛼</m:t>
                          </m:r>
                        </m:e>
                        <m:sub>
                          <m:r>
                            <a:rPr lang="en-US" altLang="zh-CN" i="1" dirty="0">
                              <a:highlight>
                                <a:srgbClr val="FFFF00"/>
                              </a:highlight>
                              <a:latin typeface="Cambria Math" charset="0"/>
                            </a:rPr>
                            <m:t>1</m:t>
                          </m:r>
                        </m:sub>
                      </m:sSub>
                      <m:r>
                        <a:rPr lang="en-US" altLang="zh-CN" i="1" dirty="0">
                          <a:highlight>
                            <a:srgbClr val="FFFF00"/>
                          </a:highlight>
                          <a:latin typeface="Cambria Math" charset="0"/>
                        </a:rPr>
                        <m:t>=1</m:t>
                      </m:r>
                    </m:oMath>
                  </m:oMathPara>
                </a14:m>
                <a:endParaRPr lang="en-US" altLang="zh-CN" dirty="0">
                  <a:highlight>
                    <a:srgbClr val="FFFF00"/>
                  </a:highlight>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2000" i="1" dirty="0" smtClean="0">
                          <a:latin typeface="Cambria Math" charset="0"/>
                        </a:rPr>
                        <m:t>0≤</m:t>
                      </m:r>
                      <m:r>
                        <a:rPr lang="en-US" altLang="zh-CN" sz="2000" i="1" dirty="0" smtClean="0">
                          <a:latin typeface="Cambria Math" charset="0"/>
                        </a:rPr>
                        <m:t>𝛼</m:t>
                      </m:r>
                      <m:r>
                        <a:rPr lang="en-US" altLang="zh-CN" i="1" dirty="0">
                          <a:latin typeface="Cambria Math" panose="02040503050406030204" pitchFamily="18" charset="0"/>
                        </a:rPr>
                        <m:t>0</m:t>
                      </m:r>
                      <m:r>
                        <a:rPr lang="zh-CN" altLang="en-US" i="1" dirty="0" smtClean="0">
                          <a:latin typeface="Cambria Math" panose="02040503050406030204" pitchFamily="18" charset="0"/>
                        </a:rPr>
                        <m:t>，</m:t>
                      </m:r>
                      <m:r>
                        <a:rPr lang="en-US" altLang="zh-CN" i="1" dirty="0">
                          <a:latin typeface="Cambria Math" charset="0"/>
                        </a:rPr>
                        <m:t>𝛼</m:t>
                      </m:r>
                      <m:r>
                        <a:rPr lang="en-US" altLang="zh-CN" i="1" dirty="0" smtClean="0">
                          <a:latin typeface="Cambria Math" panose="02040503050406030204" pitchFamily="18" charset="0"/>
                        </a:rPr>
                        <m:t>1</m:t>
                      </m:r>
                      <m:r>
                        <a:rPr lang="en-US" altLang="zh-CN" sz="2000" i="1" dirty="0" smtClean="0">
                          <a:latin typeface="Cambria Math" charset="0"/>
                        </a:rPr>
                        <m:t>≤1</m:t>
                      </m:r>
                    </m:oMath>
                  </m:oMathPara>
                </a14:m>
                <a:endParaRPr lang="en-US" altLang="zh-CN" dirty="0">
                  <a:highlight>
                    <a:srgbClr val="FFFF00"/>
                  </a:highlight>
                </a:endParaRPr>
              </a:p>
              <a:p>
                <a:pPr lvl="1"/>
                <a:endParaRPr lang="zh-CN" altLang="en-US" dirty="0"/>
              </a:p>
              <a:p>
                <a:endParaRPr lang="zh-CN"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sp>
        <p:nvSpPr>
          <p:cNvPr id="7" name="矩形 6"/>
          <p:cNvSpPr/>
          <p:nvPr/>
        </p:nvSpPr>
        <p:spPr>
          <a:xfrm>
            <a:off x="8195890" y="2042618"/>
            <a:ext cx="316112" cy="369332"/>
          </a:xfrm>
          <a:prstGeom prst="rect">
            <a:avLst/>
          </a:prstGeom>
        </p:spPr>
        <p:txBody>
          <a:bodyPr wrap="none">
            <a:spAutoFit/>
          </a:bodyPr>
          <a:lstStyle/>
          <a:p>
            <a:r>
              <a:rPr lang="el-GR" altLang="zh-CN" dirty="0">
                <a:ea typeface="华文新魏" pitchFamily="2" charset="-122"/>
              </a:rPr>
              <a:t>α</a:t>
            </a:r>
            <a:endParaRPr lang="zh-CN" altLang="en-US" dirty="0"/>
          </a:p>
        </p:txBody>
      </p:sp>
      <mc:AlternateContent xmlns:mc="http://schemas.openxmlformats.org/markup-compatibility/2006" xmlns:a14="http://schemas.microsoft.com/office/drawing/2010/main">
        <mc:Choice Requires="a14">
          <p:sp>
            <p:nvSpPr>
              <p:cNvPr id="8" name="TextBox 7"/>
              <p:cNvSpPr txBox="1"/>
              <p:nvPr/>
            </p:nvSpPr>
            <p:spPr>
              <a:xfrm>
                <a:off x="6653651" y="3144627"/>
                <a:ext cx="2780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𝑃</m:t>
                          </m:r>
                        </m:e>
                        <m:sub>
                          <m:r>
                            <a:rPr lang="en-US" altLang="zh-CN" b="0" i="1" smtClean="0">
                              <a:latin typeface="Cambria Math" charset="0"/>
                            </a:rPr>
                            <m:t>0</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653651" y="3144627"/>
                <a:ext cx="278089" cy="276999"/>
              </a:xfrm>
              <a:prstGeom prst="rect">
                <a:avLst/>
              </a:prstGeom>
              <a:blipFill rotWithShape="0">
                <a:blip r:embed="rId4"/>
                <a:stretch>
                  <a:fillRect l="-19565" r="-8696"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524571" y="1246880"/>
                <a:ext cx="2727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𝑃</m:t>
                          </m:r>
                        </m:e>
                        <m:sub>
                          <m:r>
                            <a:rPr lang="en-US" altLang="zh-CN" b="0" i="1" smtClean="0">
                              <a:latin typeface="Cambria Math" charset="0"/>
                            </a:rPr>
                            <m:t>1</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8524571" y="1246880"/>
                <a:ext cx="272767" cy="276999"/>
              </a:xfrm>
              <a:prstGeom prst="rect">
                <a:avLst/>
              </a:prstGeom>
              <a:blipFill rotWithShape="0">
                <a:blip r:embed="rId5"/>
                <a:stretch>
                  <a:fillRect l="-20000" r="-8889" b="-15556"/>
                </a:stretch>
              </a:blipFill>
            </p:spPr>
            <p:txBody>
              <a:bodyPr/>
              <a:lstStyle/>
              <a:p>
                <a:r>
                  <a:rPr lang="en-US">
                    <a:noFill/>
                  </a:rPr>
                  <a:t> </a:t>
                </a:r>
              </a:p>
            </p:txBody>
          </p:sp>
        </mc:Fallback>
      </mc:AlternateContent>
      <p:cxnSp>
        <p:nvCxnSpPr>
          <p:cNvPr id="10" name="直接箭头连接符 9">
            <a:extLst>
              <a:ext uri="{FF2B5EF4-FFF2-40B4-BE49-F238E27FC236}">
                <a16:creationId xmlns:a16="http://schemas.microsoft.com/office/drawing/2014/main" id="{9F4EF09C-D81C-48D6-8220-3861323CEC1A}"/>
              </a:ext>
            </a:extLst>
          </p:cNvPr>
          <p:cNvCxnSpPr/>
          <p:nvPr/>
        </p:nvCxnSpPr>
        <p:spPr>
          <a:xfrm flipH="1">
            <a:off x="5307291" y="2328421"/>
            <a:ext cx="593888" cy="21116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743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三角形</a:t>
            </a:r>
            <a:endParaRPr lang="en-US" dirty="0"/>
          </a:p>
        </p:txBody>
      </p:sp>
      <p:sp>
        <p:nvSpPr>
          <p:cNvPr id="3" name="Content Placeholder 2"/>
          <p:cNvSpPr>
            <a:spLocks noGrp="1"/>
          </p:cNvSpPr>
          <p:nvPr>
            <p:ph idx="1"/>
          </p:nvPr>
        </p:nvSpPr>
        <p:spPr/>
        <p:txBody>
          <a:bodyPr/>
          <a:lstStyle/>
          <a:p>
            <a:r>
              <a:rPr lang="zh-CN" altLang="en-US" dirty="0"/>
              <a:t>推广直线的参数形式到平面：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22</a:t>
            </a:fld>
            <a:endParaRPr lang="zh-CN" altLang="en-US" dirty="0"/>
          </a:p>
        </p:txBody>
      </p:sp>
      <p:pic>
        <p:nvPicPr>
          <p:cNvPr id="5" name="Picture 2" descr="E:\CG\交互式计算机图形学—基于OpenGL着色器的自顶向下方法（第六版）\Figures\CHAPTER03 JPEG\AN03F16.jpg"/>
          <p:cNvPicPr>
            <a:picLocks noChangeAspect="1" noChangeArrowheads="1"/>
          </p:cNvPicPr>
          <p:nvPr/>
        </p:nvPicPr>
        <p:blipFill>
          <a:blip r:embed="rId2" cstate="print"/>
          <a:srcRect/>
          <a:stretch>
            <a:fillRect/>
          </a:stretch>
        </p:blipFill>
        <p:spPr bwMode="auto">
          <a:xfrm>
            <a:off x="2432809" y="2000003"/>
            <a:ext cx="4102216" cy="3131278"/>
          </a:xfrm>
          <a:prstGeom prst="rect">
            <a:avLst/>
          </a:prstGeom>
          <a:noFill/>
        </p:spPr>
      </p:pic>
      <p:sp>
        <p:nvSpPr>
          <p:cNvPr id="6" name="Line 6"/>
          <p:cNvSpPr>
            <a:spLocks noChangeShapeType="1"/>
          </p:cNvSpPr>
          <p:nvPr/>
        </p:nvSpPr>
        <p:spPr bwMode="auto">
          <a:xfrm>
            <a:off x="2202810" y="3171737"/>
            <a:ext cx="2729658" cy="1394570"/>
          </a:xfrm>
          <a:prstGeom prst="line">
            <a:avLst/>
          </a:prstGeom>
          <a:noFill/>
          <a:ln w="12700">
            <a:solidFill>
              <a:schemeClr val="accent2"/>
            </a:solidFill>
            <a:round/>
            <a:headEnd type="none" w="sm" len="sm"/>
            <a:tailEnd type="triangle" w="med" len="med"/>
          </a:ln>
        </p:spPr>
        <p:txBody>
          <a:bodyPr anchor="ctr" anchorCtr="1"/>
          <a:lstStyle/>
          <a:p>
            <a:endParaRPr lang="zh-CN" altLang="en-US"/>
          </a:p>
        </p:txBody>
      </p:sp>
      <p:sp>
        <p:nvSpPr>
          <p:cNvPr id="7" name="Line 8"/>
          <p:cNvSpPr>
            <a:spLocks noChangeShapeType="1"/>
          </p:cNvSpPr>
          <p:nvPr/>
        </p:nvSpPr>
        <p:spPr bwMode="auto">
          <a:xfrm flipH="1">
            <a:off x="5308896" y="2762773"/>
            <a:ext cx="1385519" cy="865329"/>
          </a:xfrm>
          <a:prstGeom prst="line">
            <a:avLst/>
          </a:prstGeom>
          <a:noFill/>
          <a:ln w="12700">
            <a:solidFill>
              <a:schemeClr val="accent2"/>
            </a:solidFill>
            <a:round/>
            <a:headEnd type="none" w="sm" len="sm"/>
            <a:tailEnd type="triangle" w="med" len="med"/>
          </a:ln>
        </p:spPr>
        <p:txBody>
          <a:bodyPr anchor="ctr" anchorCtr="1"/>
          <a:lstStyle/>
          <a:p>
            <a:endParaRPr lang="zh-CN" altLang="en-US"/>
          </a:p>
        </p:txBody>
      </p:sp>
      <p:sp>
        <p:nvSpPr>
          <p:cNvPr id="8" name="Text Box 12"/>
          <p:cNvSpPr txBox="1">
            <a:spLocks noChangeArrowheads="1"/>
          </p:cNvSpPr>
          <p:nvPr/>
        </p:nvSpPr>
        <p:spPr>
          <a:xfrm>
            <a:off x="707472" y="2780251"/>
            <a:ext cx="3200400" cy="457200"/>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pPr>
            <a:r>
              <a:rPr lang="en-US" altLang="zh-CN" sz="2400" dirty="0"/>
              <a:t>P</a:t>
            </a:r>
            <a:r>
              <a:rPr lang="zh-CN" altLang="en-US" sz="2400" dirty="0"/>
              <a:t>与</a:t>
            </a:r>
            <a:r>
              <a:rPr lang="en-US" altLang="zh-CN" sz="2400" dirty="0"/>
              <a:t>Q</a:t>
            </a:r>
            <a:r>
              <a:rPr lang="zh-CN" altLang="en-US" sz="2400" dirty="0"/>
              <a:t>的凸组合</a:t>
            </a:r>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cs typeface="+mn-cs"/>
            </a:endParaRPr>
          </a:p>
        </p:txBody>
      </p:sp>
      <p:sp>
        <p:nvSpPr>
          <p:cNvPr id="9" name="Text Box 14"/>
          <p:cNvSpPr txBox="1">
            <a:spLocks noChangeArrowheads="1"/>
          </p:cNvSpPr>
          <p:nvPr/>
        </p:nvSpPr>
        <p:spPr bwMode="auto">
          <a:xfrm>
            <a:off x="5902690" y="2382473"/>
            <a:ext cx="2133963" cy="369332"/>
          </a:xfrm>
          <a:prstGeom prst="rect">
            <a:avLst/>
          </a:prstGeom>
          <a:noFill/>
          <a:ln w="12700">
            <a:noFill/>
            <a:miter lim="800000"/>
            <a:headEnd type="none" w="sm" len="sm"/>
            <a:tailEnd type="none" w="sm" len="sm"/>
          </a:ln>
        </p:spPr>
        <p:txBody>
          <a:bodyPr wrap="square" anchorCtr="1">
            <a:spAutoFit/>
          </a:bodyPr>
          <a:lstStyle/>
          <a:p>
            <a:r>
              <a:rPr lang="en-US" altLang="zh-CN" dirty="0"/>
              <a:t>S(</a:t>
            </a:r>
            <a:r>
              <a:rPr lang="en-US" altLang="zh-CN" dirty="0">
                <a:latin typeface="Symbol" charset="2"/>
              </a:rPr>
              <a:t>a</a:t>
            </a:r>
            <a:r>
              <a:rPr lang="en-US" altLang="zh-CN" dirty="0"/>
              <a:t>) and R</a:t>
            </a:r>
            <a:r>
              <a:rPr lang="zh-CN" altLang="en-US" dirty="0"/>
              <a:t>的凸组合</a:t>
            </a:r>
            <a:endParaRPr lang="en-US" altLang="zh-CN" dirty="0"/>
          </a:p>
        </p:txBody>
      </p:sp>
      <mc:AlternateContent xmlns:mc="http://schemas.openxmlformats.org/markup-compatibility/2006" xmlns:a14="http://schemas.microsoft.com/office/drawing/2010/main">
        <mc:Choice Requires="a14">
          <p:sp>
            <p:nvSpPr>
              <p:cNvPr id="10" name="Text Box 15"/>
              <p:cNvSpPr txBox="1">
                <a:spLocks noChangeArrowheads="1"/>
              </p:cNvSpPr>
              <p:nvPr/>
            </p:nvSpPr>
            <p:spPr bwMode="auto">
              <a:xfrm>
                <a:off x="2127579" y="5445121"/>
                <a:ext cx="5167953" cy="369332"/>
              </a:xfrm>
              <a:prstGeom prst="rect">
                <a:avLst/>
              </a:prstGeom>
              <a:noFill/>
              <a:ln w="12700">
                <a:noFill/>
                <a:miter lim="800000"/>
                <a:headEnd type="none" w="sm" len="sm"/>
                <a:tailEnd type="none" w="sm" len="sm"/>
              </a:ln>
            </p:spPr>
            <p:txBody>
              <a:bodyPr wrap="none" anchorCtr="1">
                <a:spAutoFit/>
              </a:bodyPr>
              <a:lstStyle/>
              <a:p>
                <a:r>
                  <a:rPr lang="zh-CN" altLang="en-US" dirty="0"/>
                  <a:t>当</a:t>
                </a:r>
                <a:r>
                  <a:rPr lang="en-US" altLang="zh-CN" dirty="0"/>
                  <a:t> </a:t>
                </a:r>
                <a14:m>
                  <m:oMath xmlns:m="http://schemas.openxmlformats.org/officeDocument/2006/math">
                    <m:r>
                      <a:rPr lang="en-US" altLang="zh-CN" i="1" dirty="0" smtClean="0">
                        <a:latin typeface="Cambria Math" charset="0"/>
                      </a:rPr>
                      <m:t>0</m:t>
                    </m:r>
                    <m:r>
                      <a:rPr lang="en-US" altLang="zh-CN" i="1" dirty="0" smtClean="0">
                        <a:latin typeface="Cambria Math" charset="0"/>
                        <a:ea typeface="Cambria Math" charset="0"/>
                        <a:cs typeface="Cambria Math" charset="0"/>
                      </a:rPr>
                      <m:t>≤</m:t>
                    </m:r>
                    <m:r>
                      <a:rPr lang="en-US" altLang="zh-CN" i="1" dirty="0" smtClean="0">
                        <a:latin typeface="Cambria Math" charset="0"/>
                        <a:ea typeface="Cambria Math" charset="0"/>
                        <a:cs typeface="Cambria Math" charset="0"/>
                      </a:rPr>
                      <m:t>𝛼</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𝛽</m:t>
                    </m:r>
                    <m:r>
                      <a:rPr lang="en-US" altLang="zh-CN" i="1" dirty="0" smtClean="0">
                        <a:latin typeface="Cambria Math" charset="0"/>
                        <a:ea typeface="Cambria Math" charset="0"/>
                        <a:cs typeface="Cambria Math" charset="0"/>
                      </a:rPr>
                      <m:t>≤</m:t>
                    </m:r>
                    <m:r>
                      <a:rPr lang="en-US" altLang="zh-CN" i="1" dirty="0" smtClean="0">
                        <a:latin typeface="Cambria Math" charset="0"/>
                      </a:rPr>
                      <m:t>1</m:t>
                    </m:r>
                  </m:oMath>
                </a14:m>
                <a:r>
                  <a:rPr lang="zh-CN" altLang="en-US" dirty="0"/>
                  <a:t>时，可以定义在三角形内的所有点</a:t>
                </a:r>
                <a:endParaRPr lang="en-US" altLang="zh-CN" dirty="0"/>
              </a:p>
            </p:txBody>
          </p:sp>
        </mc:Choice>
        <mc:Fallback xmlns="">
          <p:sp>
            <p:nvSpPr>
              <p:cNvPr id="10" name="Text Box 15"/>
              <p:cNvSpPr txBox="1">
                <a:spLocks noRot="1" noChangeAspect="1" noMove="1" noResize="1" noEditPoints="1" noAdjustHandles="1" noChangeArrowheads="1" noChangeShapeType="1" noTextEdit="1"/>
              </p:cNvSpPr>
              <p:nvPr/>
            </p:nvSpPr>
            <p:spPr bwMode="auto">
              <a:xfrm>
                <a:off x="2127579" y="5445121"/>
                <a:ext cx="5167953" cy="369332"/>
              </a:xfrm>
              <a:prstGeom prst="rect">
                <a:avLst/>
              </a:prstGeom>
              <a:blipFill rotWithShape="0">
                <a:blip r:embed="rId3"/>
                <a:stretch>
                  <a:fillRect l="-472" t="-13115" r="-943" b="-19672"/>
                </a:stretch>
              </a:blipFill>
              <a:ln w="12700">
                <a:noFill/>
                <a:miter lim="800000"/>
                <a:headEnd type="none" w="sm" len="sm"/>
                <a:tailEnd type="none" w="sm" len="sm"/>
              </a:ln>
            </p:spPr>
            <p:txBody>
              <a:bodyPr/>
              <a:lstStyle/>
              <a:p>
                <a:r>
                  <a:rPr lang="en-US">
                    <a:noFill/>
                  </a:rPr>
                  <a:t> </a:t>
                </a:r>
              </a:p>
            </p:txBody>
          </p:sp>
        </mc:Fallback>
      </mc:AlternateContent>
      <p:sp>
        <p:nvSpPr>
          <p:cNvPr id="11" name="矩形 11"/>
          <p:cNvSpPr/>
          <p:nvPr/>
        </p:nvSpPr>
        <p:spPr>
          <a:xfrm>
            <a:off x="4932468" y="4741004"/>
            <a:ext cx="376428" cy="369332"/>
          </a:xfrm>
          <a:prstGeom prst="rect">
            <a:avLst/>
          </a:prstGeom>
        </p:spPr>
        <p:txBody>
          <a:bodyPr wrap="square">
            <a:spAutoFit/>
          </a:bodyPr>
          <a:lstStyle/>
          <a:p>
            <a:r>
              <a:rPr lang="el-GR" altLang="zh-CN" dirty="0">
                <a:ea typeface="华文新魏" pitchFamily="2" charset="-122"/>
              </a:rPr>
              <a:t>α</a:t>
            </a:r>
            <a:endParaRPr lang="zh-CN" altLang="en-US" dirty="0"/>
          </a:p>
        </p:txBody>
      </p:sp>
      <p:sp>
        <p:nvSpPr>
          <p:cNvPr id="12" name="矩形 12"/>
          <p:cNvSpPr/>
          <p:nvPr/>
        </p:nvSpPr>
        <p:spPr>
          <a:xfrm>
            <a:off x="4525405" y="3462448"/>
            <a:ext cx="311304" cy="369332"/>
          </a:xfrm>
          <a:prstGeom prst="rect">
            <a:avLst/>
          </a:prstGeom>
        </p:spPr>
        <p:txBody>
          <a:bodyPr wrap="none">
            <a:spAutoFit/>
          </a:bodyPr>
          <a:lstStyle/>
          <a:p>
            <a:r>
              <a:rPr lang="en-US" altLang="zh-CN" dirty="0">
                <a:latin typeface="Symbol" charset="2"/>
              </a:rPr>
              <a:t>b</a:t>
            </a:r>
            <a:endParaRPr lang="zh-CN" altLang="en-US" dirty="0"/>
          </a:p>
        </p:txBody>
      </p:sp>
      <p:sp>
        <p:nvSpPr>
          <p:cNvPr id="13" name="矩形 13"/>
          <p:cNvSpPr/>
          <p:nvPr/>
        </p:nvSpPr>
        <p:spPr>
          <a:xfrm>
            <a:off x="4321470" y="3450497"/>
            <a:ext cx="376428" cy="369332"/>
          </a:xfrm>
          <a:prstGeom prst="rect">
            <a:avLst/>
          </a:prstGeom>
        </p:spPr>
        <p:txBody>
          <a:bodyPr wrap="square">
            <a:spAutoFit/>
          </a:bodyPr>
          <a:lstStyle/>
          <a:p>
            <a:r>
              <a:rPr lang="el-GR" altLang="zh-CN" dirty="0">
                <a:ea typeface="华文新魏" pitchFamily="2" charset="-122"/>
              </a:rPr>
              <a:t>α</a:t>
            </a:r>
            <a:endParaRPr lang="zh-CN" altLang="en-US" dirty="0"/>
          </a:p>
        </p:txBody>
      </p:sp>
    </p:spTree>
    <p:extLst>
      <p:ext uri="{BB962C8B-B14F-4D97-AF65-F5344CB8AC3E}">
        <p14:creationId xmlns:p14="http://schemas.microsoft.com/office/powerpoint/2010/main" val="306549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pPr>
                  <a:spcBef>
                    <a:spcPts val="1500"/>
                  </a:spcBef>
                </a:pPr>
                <a:r>
                  <a:rPr lang="zh-CN" altLang="en-US" sz="2400" dirty="0"/>
                  <a:t>平面是由</a:t>
                </a:r>
                <a:r>
                  <a:rPr lang="zh-CN" altLang="en-US" sz="2400" dirty="0">
                    <a:highlight>
                      <a:srgbClr val="FFFF00"/>
                    </a:highlight>
                  </a:rPr>
                  <a:t>一个点与两个向量或者三个点</a:t>
                </a:r>
                <a:r>
                  <a:rPr lang="zh-CN" altLang="en-US" sz="2400" dirty="0"/>
                  <a:t>确定的</a:t>
                </a: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r>
                  <a:rPr lang="zh-CN" altLang="en-US" sz="2400" dirty="0"/>
                  <a:t>法向量</a:t>
                </a:r>
              </a:p>
              <a:p>
                <a:pPr lvl="1">
                  <a:buClr>
                    <a:schemeClr val="tx1"/>
                  </a:buClr>
                </a:pPr>
                <a:r>
                  <a:rPr lang="zh-CN" altLang="en-US" sz="1800" dirty="0"/>
                  <a:t>每个平面都有一个</a:t>
                </a:r>
                <a:r>
                  <a:rPr lang="zh-CN" altLang="en-US" sz="1800" dirty="0">
                    <a:highlight>
                      <a:srgbClr val="FFFF00"/>
                    </a:highlight>
                  </a:rPr>
                  <a:t>垂直于自身的向量</a:t>
                </a:r>
                <a:r>
                  <a:rPr lang="en-US" altLang="zh-CN" sz="1800" b="1" dirty="0">
                    <a:highlight>
                      <a:srgbClr val="FFFF00"/>
                    </a:highlight>
                  </a:rPr>
                  <a:t>n</a:t>
                </a:r>
              </a:p>
              <a:p>
                <a:pPr lvl="1">
                  <a:buClr>
                    <a:schemeClr val="tx1"/>
                  </a:buClr>
                </a:pPr>
                <a:r>
                  <a:rPr lang="zh-CN" altLang="en-US" sz="1800" dirty="0"/>
                  <a:t>在平面的点与二向量形式</a:t>
                </a:r>
              </a:p>
              <a:p>
                <a:pPr marL="457200" lvl="1" indent="0">
                  <a:buClr>
                    <a:schemeClr val="tx1"/>
                  </a:buClr>
                  <a:buNone/>
                </a:pPr>
                <a:r>
                  <a:rPr lang="en-US" altLang="zh-CN" sz="1800" dirty="0"/>
                  <a:t>   </a:t>
                </a:r>
                <a14:m>
                  <m:oMath xmlns:m="http://schemas.openxmlformats.org/officeDocument/2006/math">
                    <m:r>
                      <a:rPr lang="en-US" altLang="zh-CN" sz="1800" i="1" dirty="0" smtClean="0">
                        <a:highlight>
                          <a:srgbClr val="FFFF00"/>
                        </a:highlight>
                        <a:latin typeface="Cambria Math" charset="0"/>
                      </a:rPr>
                      <m:t>𝑃</m:t>
                    </m:r>
                    <m:r>
                      <a:rPr lang="en-US" altLang="zh-CN" sz="1800" i="1" dirty="0" smtClean="0">
                        <a:highlight>
                          <a:srgbClr val="FFFF00"/>
                        </a:highlight>
                        <a:latin typeface="Cambria Math" charset="0"/>
                      </a:rPr>
                      <m:t>(</m:t>
                    </m:r>
                    <m:r>
                      <a:rPr lang="el-GR" altLang="zh-CN" sz="1800" i="1" dirty="0">
                        <a:highlight>
                          <a:srgbClr val="FFFF00"/>
                        </a:highlight>
                        <a:latin typeface="Cambria Math" charset="0"/>
                      </a:rPr>
                      <m:t>𝛼</m:t>
                    </m:r>
                    <m:r>
                      <a:rPr lang="el-GR" altLang="zh-CN" sz="1800" i="1" dirty="0">
                        <a:highlight>
                          <a:srgbClr val="FFFF00"/>
                        </a:highlight>
                        <a:latin typeface="Cambria Math" charset="0"/>
                      </a:rPr>
                      <m:t>, </m:t>
                    </m:r>
                    <m:r>
                      <a:rPr lang="el-GR" altLang="zh-CN" sz="1800" i="1" dirty="0">
                        <a:highlight>
                          <a:srgbClr val="FFFF00"/>
                        </a:highlight>
                        <a:latin typeface="Cambria Math" charset="0"/>
                      </a:rPr>
                      <m:t>𝛽</m:t>
                    </m:r>
                    <m:r>
                      <a:rPr lang="el-GR" altLang="zh-CN" sz="1800" i="1" dirty="0">
                        <a:highlight>
                          <a:srgbClr val="FFFF00"/>
                        </a:highlight>
                        <a:latin typeface="Cambria Math" charset="0"/>
                      </a:rPr>
                      <m:t>) = </m:t>
                    </m:r>
                    <m:r>
                      <a:rPr lang="en-US" altLang="zh-CN" sz="1800" i="1" dirty="0">
                        <a:highlight>
                          <a:srgbClr val="FFFF00"/>
                        </a:highlight>
                        <a:latin typeface="Cambria Math" charset="0"/>
                      </a:rPr>
                      <m:t>𝑅</m:t>
                    </m:r>
                    <m:r>
                      <a:rPr lang="en-US" altLang="zh-CN" sz="1800" i="1" dirty="0">
                        <a:highlight>
                          <a:srgbClr val="FFFF00"/>
                        </a:highlight>
                        <a:latin typeface="Cambria Math" charset="0"/>
                      </a:rPr>
                      <m:t> + </m:t>
                    </m:r>
                    <m:r>
                      <a:rPr lang="el-GR" altLang="zh-CN" sz="1800" i="1" dirty="0">
                        <a:highlight>
                          <a:srgbClr val="FFFF00"/>
                        </a:highlight>
                        <a:latin typeface="Cambria Math" charset="0"/>
                      </a:rPr>
                      <m:t>𝛼</m:t>
                    </m:r>
                    <m:r>
                      <a:rPr lang="en-US" altLang="zh-CN" sz="1800" b="1" i="1" dirty="0">
                        <a:highlight>
                          <a:srgbClr val="FFFF00"/>
                        </a:highlight>
                        <a:latin typeface="Cambria Math" charset="0"/>
                      </a:rPr>
                      <m:t>𝒖</m:t>
                    </m:r>
                    <m:r>
                      <a:rPr lang="en-US" altLang="zh-CN" sz="1800" i="1" dirty="0">
                        <a:highlight>
                          <a:srgbClr val="FFFF00"/>
                        </a:highlight>
                        <a:latin typeface="Cambria Math" charset="0"/>
                      </a:rPr>
                      <m:t> + </m:t>
                    </m:r>
                    <m:r>
                      <a:rPr lang="el-GR" altLang="zh-CN" sz="1800" i="1" dirty="0">
                        <a:highlight>
                          <a:srgbClr val="FFFF00"/>
                        </a:highlight>
                        <a:latin typeface="Cambria Math" charset="0"/>
                      </a:rPr>
                      <m:t>𝛽</m:t>
                    </m:r>
                    <m:r>
                      <a:rPr lang="en-US" altLang="zh-CN" sz="1800" b="1" i="1" dirty="0">
                        <a:highlight>
                          <a:srgbClr val="FFFF00"/>
                        </a:highlight>
                        <a:latin typeface="Cambria Math" charset="0"/>
                      </a:rPr>
                      <m:t>𝒗</m:t>
                    </m:r>
                    <m:r>
                      <a:rPr lang="zh-CN" altLang="en-US" sz="1800" i="1" dirty="0">
                        <a:highlight>
                          <a:srgbClr val="FFFF00"/>
                        </a:highlight>
                        <a:latin typeface="Cambria Math" charset="0"/>
                      </a:rPr>
                      <m:t>中</m:t>
                    </m:r>
                  </m:oMath>
                </a14:m>
                <a:r>
                  <a:rPr lang="zh-CN" altLang="en-US" sz="1800" dirty="0"/>
                  <a:t>，可以</a:t>
                </a:r>
              </a:p>
              <a:p>
                <a:pPr marL="457200" lvl="1" indent="0">
                  <a:buClr>
                    <a:schemeClr val="tx1"/>
                  </a:buClr>
                  <a:buNone/>
                </a:pPr>
                <a:r>
                  <a:rPr lang="zh-CN" altLang="en-US" sz="1800" dirty="0"/>
                  <a:t>   应用向量的外积得到 </a:t>
                </a:r>
                <a:r>
                  <a:rPr lang="en-US" altLang="zh-CN" sz="1800" b="1" dirty="0">
                    <a:highlight>
                      <a:srgbClr val="FFFF00"/>
                    </a:highlight>
                  </a:rPr>
                  <a:t>n</a:t>
                </a:r>
                <a:r>
                  <a:rPr lang="en-US" altLang="zh-CN" sz="1800" dirty="0">
                    <a:highlight>
                      <a:srgbClr val="FFFF00"/>
                    </a:highlight>
                  </a:rPr>
                  <a:t> = </a:t>
                </a:r>
                <a:r>
                  <a:rPr lang="en-US" altLang="zh-CN" sz="1800" b="1" dirty="0">
                    <a:highlight>
                      <a:srgbClr val="FFFF00"/>
                    </a:highlight>
                  </a:rPr>
                  <a:t>u</a:t>
                </a:r>
                <a:r>
                  <a:rPr lang="en-US" altLang="zh-CN" sz="1800" dirty="0">
                    <a:highlight>
                      <a:srgbClr val="FFFF00"/>
                    </a:highlight>
                  </a:rPr>
                  <a:t> × </a:t>
                </a:r>
                <a:r>
                  <a:rPr lang="en-US" altLang="zh-CN" sz="1800" b="1" dirty="0">
                    <a:highlight>
                      <a:srgbClr val="FFFF00"/>
                    </a:highlight>
                  </a:rPr>
                  <a:t>v</a:t>
                </a:r>
              </a:p>
              <a:p>
                <a:pPr>
                  <a:spcBef>
                    <a:spcPts val="1500"/>
                  </a:spcBef>
                </a:pPr>
                <a:endParaRPr lang="zh-CN" altLang="en-US" sz="2400"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a:blip r:embed="rId2"/>
                <a:stretch>
                  <a:fillRect l="-309" t="-164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8" name="图片 7"/>
          <p:cNvPicPr>
            <a:picLocks noChangeAspect="1"/>
          </p:cNvPicPr>
          <p:nvPr/>
        </p:nvPicPr>
        <p:blipFill>
          <a:blip r:embed="rId3"/>
          <a:stretch>
            <a:fillRect/>
          </a:stretch>
        </p:blipFill>
        <p:spPr>
          <a:xfrm>
            <a:off x="1329754" y="1682049"/>
            <a:ext cx="6073937" cy="2328627"/>
          </a:xfrm>
          <a:prstGeom prst="rect">
            <a:avLst/>
          </a:prstGeom>
        </p:spPr>
      </p:pic>
      <p:pic>
        <p:nvPicPr>
          <p:cNvPr id="10" name="图片 9"/>
          <p:cNvPicPr>
            <a:picLocks noChangeAspect="1"/>
          </p:cNvPicPr>
          <p:nvPr/>
        </p:nvPicPr>
        <p:blipFill>
          <a:blip r:embed="rId4"/>
          <a:stretch>
            <a:fillRect/>
          </a:stretch>
        </p:blipFill>
        <p:spPr>
          <a:xfrm>
            <a:off x="5283793" y="4354767"/>
            <a:ext cx="2480977" cy="1915162"/>
          </a:xfrm>
          <a:prstGeom prst="rect">
            <a:avLst/>
          </a:prstGeom>
        </p:spPr>
      </p:pic>
    </p:spTree>
    <p:extLst>
      <p:ext uri="{BB962C8B-B14F-4D97-AF65-F5344CB8AC3E}">
        <p14:creationId xmlns:p14="http://schemas.microsoft.com/office/powerpoint/2010/main" val="4272772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凸性</a:t>
            </a:r>
            <a:br>
              <a:rPr lang="zh-CN" alt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把仿射和概念推广到</a:t>
                </a:r>
                <a14:m>
                  <m:oMath xmlns:m="http://schemas.openxmlformats.org/officeDocument/2006/math">
                    <m:r>
                      <a:rPr lang="en-US" altLang="zh-CN" b="0" i="1" smtClean="0">
                        <a:latin typeface="Cambria Math" charset="0"/>
                      </a:rPr>
                      <m:t>𝑛</m:t>
                    </m:r>
                  </m:oMath>
                </a14:m>
                <a:r>
                  <a:rPr lang="zh-CN" altLang="en-US" dirty="0"/>
                  <a:t>个点：</a:t>
                </a:r>
                <a:endParaRPr lang="zh-CN" altLang="en-US" sz="26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          </m:t>
                      </m:r>
                    </m:oMath>
                  </m:oMathPara>
                </a14:m>
                <a:endParaRPr lang="en-US" altLang="zh-CN" sz="1800"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𝑃</m:t>
                      </m:r>
                      <m:r>
                        <a:rPr lang="en-US" altLang="zh-CN" sz="1800" i="1" dirty="0">
                          <a:latin typeface="Cambria Math" charset="0"/>
                        </a:rPr>
                        <m:t> = </m:t>
                      </m:r>
                      <m:r>
                        <a:rPr lang="el-GR" altLang="zh-CN" sz="1800" i="1" dirty="0">
                          <a:latin typeface="Cambria Math" charset="0"/>
                        </a:rPr>
                        <m:t>𝛼</m:t>
                      </m:r>
                      <m:r>
                        <a:rPr lang="el-GR" altLang="zh-CN" sz="1800" i="1" baseline="-25000" dirty="0">
                          <a:latin typeface="Cambria Math" charset="0"/>
                        </a:rPr>
                        <m:t>1</m:t>
                      </m:r>
                      <m:r>
                        <a:rPr lang="en-US" altLang="zh-CN" sz="1800" i="1" dirty="0">
                          <a:latin typeface="Cambria Math" charset="0"/>
                        </a:rPr>
                        <m:t>𝑃</m:t>
                      </m:r>
                      <m:r>
                        <a:rPr lang="en-US" altLang="zh-CN" sz="1800" i="1" baseline="-25000" dirty="0">
                          <a:latin typeface="Cambria Math" charset="0"/>
                        </a:rPr>
                        <m:t>1</m:t>
                      </m:r>
                      <m:r>
                        <a:rPr lang="en-US" altLang="zh-CN" sz="1800" i="1" dirty="0">
                          <a:latin typeface="Cambria Math" charset="0"/>
                        </a:rPr>
                        <m:t>+ </m:t>
                      </m:r>
                      <m:r>
                        <a:rPr lang="el-GR" altLang="zh-CN" sz="1800" i="1" dirty="0">
                          <a:latin typeface="Cambria Math" charset="0"/>
                        </a:rPr>
                        <m:t>𝛼</m:t>
                      </m:r>
                      <m:r>
                        <a:rPr lang="el-GR" altLang="zh-CN" sz="1800" i="1" baseline="-25000" dirty="0">
                          <a:latin typeface="Cambria Math" charset="0"/>
                        </a:rPr>
                        <m:t>2</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l-GR" altLang="zh-CN" sz="1800" i="1" dirty="0">
                          <a:latin typeface="Cambria Math" charset="0"/>
                        </a:rPr>
                        <m:t>𝛼</m:t>
                      </m:r>
                      <m:r>
                        <a:rPr lang="en-US" altLang="zh-CN" sz="1800" i="1" baseline="-25000" dirty="0" err="1">
                          <a:latin typeface="Cambria Math" charset="0"/>
                        </a:rPr>
                        <m:t>𝑛</m:t>
                      </m:r>
                      <m:r>
                        <a:rPr lang="en-US" altLang="zh-CN" sz="1800" i="1" dirty="0" err="1">
                          <a:latin typeface="Cambria Math" charset="0"/>
                        </a:rPr>
                        <m:t>𝑃</m:t>
                      </m:r>
                      <m:r>
                        <a:rPr lang="en-US" altLang="zh-CN" sz="1800" i="1" baseline="-25000" dirty="0" err="1">
                          <a:latin typeface="Cambria Math" charset="0"/>
                        </a:rPr>
                        <m:t>𝑛</m:t>
                      </m:r>
                    </m:oMath>
                  </m:oMathPara>
                </a14:m>
                <a:endParaRPr lang="en-US" altLang="zh-CN" sz="1800" baseline="-25000" dirty="0"/>
              </a:p>
              <a:p>
                <a:pPr lvl="1">
                  <a:buClr>
                    <a:schemeClr val="tx1"/>
                  </a:buClr>
                </a:pPr>
                <a:endParaRPr lang="en-US" altLang="zh-CN" sz="1800" dirty="0"/>
              </a:p>
              <a:p>
                <a:pPr lvl="1">
                  <a:buClr>
                    <a:schemeClr val="tx1"/>
                  </a:buClr>
                </a:pPr>
                <a:r>
                  <a:rPr lang="zh-CN" altLang="en-US" sz="1800" dirty="0">
                    <a:highlight>
                      <a:srgbClr val="FFFF00"/>
                    </a:highlight>
                  </a:rPr>
                  <a:t>当</a:t>
                </a:r>
                <a14:m>
                  <m:oMath xmlns:m="http://schemas.openxmlformats.org/officeDocument/2006/math">
                    <m:sSub>
                      <m:sSubPr>
                        <m:ctrlPr>
                          <a:rPr lang="en-US" altLang="zh-CN" sz="1800" b="0" i="1" dirty="0" smtClean="0">
                            <a:highlight>
                              <a:srgbClr val="FFFF00"/>
                            </a:highlight>
                            <a:latin typeface="Cambria Math" panose="02040503050406030204" pitchFamily="18" charset="0"/>
                          </a:rPr>
                        </m:ctrlPr>
                      </m:sSubPr>
                      <m:e>
                        <m:r>
                          <a:rPr lang="en-US" altLang="zh-CN" sz="1800" i="1" dirty="0" smtClean="0">
                            <a:highlight>
                              <a:srgbClr val="FFFF00"/>
                            </a:highlight>
                            <a:latin typeface="Cambria Math" charset="0"/>
                          </a:rPr>
                          <m:t>𝛼</m:t>
                        </m:r>
                      </m:e>
                      <m:sub>
                        <m:r>
                          <a:rPr lang="en-US" altLang="zh-CN" sz="1800" b="0" i="1" dirty="0" smtClean="0">
                            <a:highlight>
                              <a:srgbClr val="FFFF00"/>
                            </a:highlight>
                            <a:latin typeface="Cambria Math" charset="0"/>
                          </a:rPr>
                          <m:t>1</m:t>
                        </m:r>
                      </m:sub>
                    </m:sSub>
                    <m:r>
                      <a:rPr lang="en-US" altLang="zh-CN" sz="1800" i="1" dirty="0">
                        <a:highlight>
                          <a:srgbClr val="FFFF00"/>
                        </a:highlight>
                        <a:latin typeface="Cambria Math" charset="0"/>
                      </a:rPr>
                      <m:t>+</m:t>
                    </m:r>
                    <m:r>
                      <a:rPr lang="en-US" altLang="zh-CN" sz="1800" i="1" dirty="0">
                        <a:highlight>
                          <a:srgbClr val="FFFF00"/>
                        </a:highlight>
                        <a:latin typeface="Cambria Math" charset="0"/>
                      </a:rPr>
                      <m:t>𝛼</m:t>
                    </m:r>
                    <m:r>
                      <a:rPr lang="en-US" altLang="zh-CN" sz="1800" i="1" baseline="-25000" dirty="0">
                        <a:highlight>
                          <a:srgbClr val="FFFF00"/>
                        </a:highlight>
                        <a:latin typeface="Cambria Math" charset="0"/>
                      </a:rPr>
                      <m:t>2</m:t>
                    </m:r>
                    <m:r>
                      <a:rPr lang="en-US" altLang="zh-CN" sz="1800" i="1" dirty="0">
                        <a:highlight>
                          <a:srgbClr val="FFFF00"/>
                        </a:highlight>
                        <a:latin typeface="Cambria Math" charset="0"/>
                      </a:rPr>
                      <m:t>+…+</m:t>
                    </m:r>
                    <m:r>
                      <a:rPr lang="en-US" altLang="zh-CN" sz="1800" i="1" dirty="0">
                        <a:highlight>
                          <a:srgbClr val="FFFF00"/>
                        </a:highlight>
                        <a:latin typeface="Cambria Math" charset="0"/>
                      </a:rPr>
                      <m:t>𝛼</m:t>
                    </m:r>
                    <m:r>
                      <a:rPr lang="en-US" altLang="zh-CN" sz="1800" i="1" baseline="-25000" dirty="0">
                        <a:highlight>
                          <a:srgbClr val="FFFF00"/>
                        </a:highlight>
                        <a:latin typeface="Cambria Math" charset="0"/>
                      </a:rPr>
                      <m:t>𝑛</m:t>
                    </m:r>
                    <m:r>
                      <a:rPr lang="en-US" altLang="zh-CN" sz="1800" i="1" dirty="0">
                        <a:highlight>
                          <a:srgbClr val="FFFF00"/>
                        </a:highlight>
                        <a:latin typeface="Cambria Math" charset="0"/>
                      </a:rPr>
                      <m:t>=1</m:t>
                    </m:r>
                  </m:oMath>
                </a14:m>
                <a:r>
                  <a:rPr lang="zh-CN" altLang="en-US" sz="1800" dirty="0">
                    <a:highlight>
                      <a:srgbClr val="FFFF00"/>
                    </a:highlight>
                  </a:rPr>
                  <a:t>时，上述有意义，称为</a:t>
                </a:r>
                <a14:m>
                  <m:oMath xmlns:m="http://schemas.openxmlformats.org/officeDocument/2006/math">
                    <m:r>
                      <a:rPr lang="en-US" altLang="zh-CN" sz="1800" b="0" i="0" dirty="0" smtClean="0">
                        <a:highlight>
                          <a:srgbClr val="FFFF00"/>
                        </a:highlight>
                        <a:latin typeface="Cambria Math" charset="0"/>
                      </a:rPr>
                      <m:t>{</m:t>
                    </m:r>
                    <m:r>
                      <a:rPr lang="en-US" altLang="zh-CN" sz="1800" i="1" dirty="0" smtClean="0">
                        <a:highlight>
                          <a:srgbClr val="FFFF00"/>
                        </a:highlight>
                        <a:latin typeface="Cambria Math" charset="0"/>
                      </a:rPr>
                      <m:t>𝑃</m:t>
                    </m:r>
                    <m:r>
                      <a:rPr lang="en-US" altLang="zh-CN" sz="1800" i="1" baseline="-25000" dirty="0">
                        <a:highlight>
                          <a:srgbClr val="FFFF00"/>
                        </a:highlight>
                        <a:latin typeface="Cambria Math" charset="0"/>
                      </a:rPr>
                      <m:t>1</m:t>
                    </m:r>
                    <m:r>
                      <a:rPr lang="en-US" altLang="zh-CN" sz="1800" i="1" dirty="0">
                        <a:highlight>
                          <a:srgbClr val="FFFF00"/>
                        </a:highlight>
                        <a:latin typeface="Cambria Math" charset="0"/>
                      </a:rPr>
                      <m:t>, </m:t>
                    </m:r>
                    <m:r>
                      <a:rPr lang="en-US" altLang="zh-CN" sz="1800" i="1" dirty="0">
                        <a:highlight>
                          <a:srgbClr val="FFFF00"/>
                        </a:highlight>
                        <a:latin typeface="Cambria Math" charset="0"/>
                      </a:rPr>
                      <m:t>𝑃</m:t>
                    </m:r>
                    <m:r>
                      <a:rPr lang="en-US" altLang="zh-CN" sz="1800" i="1" baseline="-25000" dirty="0">
                        <a:highlight>
                          <a:srgbClr val="FFFF00"/>
                        </a:highlight>
                        <a:latin typeface="Cambria Math" charset="0"/>
                      </a:rPr>
                      <m:t>2</m:t>
                    </m:r>
                    <m:r>
                      <a:rPr lang="en-US" altLang="zh-CN" sz="1800" i="1" dirty="0">
                        <a:highlight>
                          <a:srgbClr val="FFFF00"/>
                        </a:highlight>
                        <a:latin typeface="Cambria Math" charset="0"/>
                      </a:rPr>
                      <m:t> ,…, </m:t>
                    </m:r>
                    <m:r>
                      <a:rPr lang="en-US" altLang="zh-CN" sz="1800" i="1" dirty="0" err="1">
                        <a:highlight>
                          <a:srgbClr val="FFFF00"/>
                        </a:highlight>
                        <a:latin typeface="Cambria Math" charset="0"/>
                      </a:rPr>
                      <m:t>𝑃</m:t>
                    </m:r>
                    <m:r>
                      <a:rPr lang="en-US" altLang="zh-CN" sz="1800" i="1" baseline="-25000" dirty="0" err="1">
                        <a:highlight>
                          <a:srgbClr val="FFFF00"/>
                        </a:highlight>
                        <a:latin typeface="Cambria Math" charset="0"/>
                      </a:rPr>
                      <m:t>𝑛</m:t>
                    </m:r>
                    <m:r>
                      <a:rPr lang="en-US" altLang="zh-CN" sz="1800" i="1" dirty="0" smtClean="0">
                        <a:highlight>
                          <a:srgbClr val="FFFF00"/>
                        </a:highlight>
                        <a:latin typeface="Cambria Math" charset="0"/>
                      </a:rPr>
                      <m:t>}</m:t>
                    </m:r>
                  </m:oMath>
                </a14:m>
                <a:r>
                  <a:rPr lang="zh-CN" altLang="en-US" sz="1800" dirty="0">
                    <a:highlight>
                      <a:srgbClr val="FFFF00"/>
                    </a:highlight>
                  </a:rPr>
                  <a:t>的</a:t>
                </a:r>
                <a:r>
                  <a:rPr lang="zh-CN" altLang="en-US" sz="1800" dirty="0">
                    <a:solidFill>
                      <a:srgbClr val="0000FF"/>
                    </a:solidFill>
                    <a:highlight>
                      <a:srgbClr val="FFFF00"/>
                    </a:highlight>
                  </a:rPr>
                  <a:t>仿射和</a:t>
                </a:r>
                <a:endParaRPr lang="en-US" altLang="zh-CN" sz="1800" dirty="0">
                  <a:solidFill>
                    <a:srgbClr val="0000FF"/>
                  </a:solidFill>
                  <a:highlight>
                    <a:srgbClr val="FFFF00"/>
                  </a:highlight>
                </a:endParaRPr>
              </a:p>
              <a:p>
                <a:pPr lvl="1">
                  <a:buClr>
                    <a:schemeClr val="tx1"/>
                  </a:buClr>
                </a:pPr>
                <a:endParaRPr lang="en-US" altLang="zh-CN" sz="1800" dirty="0"/>
              </a:p>
              <a:p>
                <a:pPr lvl="1">
                  <a:buClr>
                    <a:schemeClr val="tx1"/>
                  </a:buClr>
                </a:pPr>
                <a:r>
                  <a:rPr lang="zh-CN" altLang="en-US" sz="1800" dirty="0"/>
                  <a:t>如果</a:t>
                </a:r>
                <a14:m>
                  <m:oMath xmlns:m="http://schemas.openxmlformats.org/officeDocument/2006/math">
                    <m:r>
                      <a:rPr lang="el-GR" altLang="zh-CN" sz="1800" i="1" dirty="0" smtClean="0">
                        <a:latin typeface="Cambria Math" charset="0"/>
                      </a:rPr>
                      <m:t>𝛼</m:t>
                    </m:r>
                    <m:r>
                      <a:rPr lang="en-US" altLang="zh-CN" sz="1800" i="1" baseline="-25000" dirty="0">
                        <a:latin typeface="Cambria Math" charset="0"/>
                      </a:rPr>
                      <m:t>𝑖</m:t>
                    </m:r>
                    <m:r>
                      <a:rPr lang="en-US" altLang="zh-CN" sz="1800" i="1" dirty="0">
                        <a:latin typeface="Cambria Math" charset="0"/>
                      </a:rPr>
                      <m:t>≥0</m:t>
                    </m:r>
                  </m:oMath>
                </a14:m>
                <a:r>
                  <a:rPr lang="zh-CN" altLang="en-US" sz="1800" dirty="0"/>
                  <a:t>，那么得到</a:t>
                </a:r>
                <a14:m>
                  <m:oMath xmlns:m="http://schemas.openxmlformats.org/officeDocument/2006/math">
                    <m:r>
                      <a:rPr lang="en-US" altLang="zh-CN" sz="1800" b="0" i="0" dirty="0" smtClean="0">
                        <a:latin typeface="Cambria Math" charset="0"/>
                      </a:rPr>
                      <m:t>{</m:t>
                    </m:r>
                    <m:r>
                      <a:rPr lang="en-US" altLang="zh-CN" sz="1800" i="1" dirty="0" smtClean="0">
                        <a:latin typeface="Cambria Math" charset="0"/>
                      </a:rPr>
                      <m:t>𝑃</m:t>
                    </m:r>
                    <m:r>
                      <a:rPr lang="en-US" altLang="zh-CN" sz="1800" i="1" baseline="-25000" dirty="0">
                        <a:latin typeface="Cambria Math" charset="0"/>
                      </a:rPr>
                      <m:t>1</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n-US" altLang="zh-CN" sz="1800" i="1" dirty="0" err="1">
                        <a:latin typeface="Cambria Math" charset="0"/>
                      </a:rPr>
                      <m:t>𝑃</m:t>
                    </m:r>
                    <m:r>
                      <a:rPr lang="en-US" altLang="zh-CN" sz="1800" i="1" baseline="-25000" dirty="0" err="1">
                        <a:latin typeface="Cambria Math" charset="0"/>
                      </a:rPr>
                      <m:t>𝑛</m:t>
                    </m:r>
                    <m:r>
                      <a:rPr lang="en-US" altLang="zh-CN" sz="1800" i="1" dirty="0" smtClean="0">
                        <a:latin typeface="Cambria Math" charset="0"/>
                      </a:rPr>
                      <m:t>}</m:t>
                    </m:r>
                  </m:oMath>
                </a14:m>
                <a:r>
                  <a:rPr lang="zh-CN" altLang="en-US" sz="1800" dirty="0"/>
                  <a:t>的</a:t>
                </a:r>
                <a:r>
                  <a:rPr lang="zh-CN" altLang="en-US" sz="1800" dirty="0">
                    <a:solidFill>
                      <a:srgbClr val="0000FF"/>
                    </a:solidFill>
                    <a:highlight>
                      <a:srgbClr val="FFFF00"/>
                    </a:highlight>
                  </a:rPr>
                  <a:t>凸包（</a:t>
                </a:r>
                <a:r>
                  <a:rPr lang="en-US" altLang="zh-CN" sz="1800" dirty="0">
                    <a:solidFill>
                      <a:srgbClr val="0000FF"/>
                    </a:solidFill>
                    <a:highlight>
                      <a:srgbClr val="FFFF00"/>
                    </a:highlight>
                  </a:rPr>
                  <a:t>convex hull</a:t>
                </a:r>
                <a:r>
                  <a:rPr lang="zh-CN" altLang="en-US" sz="1800" dirty="0">
                    <a:solidFill>
                      <a:srgbClr val="0000FF"/>
                    </a:solidFill>
                    <a:highlight>
                      <a:srgbClr val="FFFF00"/>
                    </a:highlight>
                  </a:rPr>
                  <a:t>）</a:t>
                </a:r>
                <a:endParaRPr lang="en-US" altLang="zh-CN" sz="1800" dirty="0">
                  <a:solidFill>
                    <a:srgbClr val="0000FF"/>
                  </a:solidFill>
                  <a:highlight>
                    <a:srgbClr val="FFFF00"/>
                  </a:highlight>
                </a:endParaRPr>
              </a:p>
              <a:p>
                <a:pPr lvl="2">
                  <a:buClr>
                    <a:schemeClr val="tx1"/>
                  </a:buClr>
                </a:pPr>
                <a:r>
                  <a:rPr lang="zh-CN" altLang="en-US" sz="1800" dirty="0"/>
                  <a:t>包含这些点的最小凸对象</a:t>
                </a:r>
                <a:endParaRPr lang="en-US" altLang="zh-CN" sz="1800" dirty="0"/>
              </a:p>
              <a:p>
                <a:pPr lvl="1">
                  <a:buClr>
                    <a:schemeClr val="tx1"/>
                  </a:buClr>
                </a:pPr>
                <a:endParaRPr lang="en-US" altLang="zh-CN" sz="1800" b="1" dirty="0">
                  <a:solidFill>
                    <a:srgbClr val="00B0F0"/>
                  </a:solidFill>
                </a:endParaRPr>
              </a:p>
              <a:p>
                <a:pPr lvl="1">
                  <a:buClr>
                    <a:schemeClr val="tx1"/>
                  </a:buClr>
                </a:pPr>
                <a:endParaRPr lang="en-US" altLang="zh-CN" sz="1800" b="1" dirty="0">
                  <a:solidFill>
                    <a:srgbClr val="00B0F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pic>
        <p:nvPicPr>
          <p:cNvPr id="5" name="Picture 2" descr="E:\CG\交互式计算机图形学—基于OpenGL着色器的自顶向下方法（第六版）\Figures\CHAPTER03 JPEG\AN03F13.jpg"/>
          <p:cNvPicPr>
            <a:picLocks noChangeAspect="1" noChangeArrowheads="1"/>
          </p:cNvPicPr>
          <p:nvPr/>
        </p:nvPicPr>
        <p:blipFill>
          <a:blip r:embed="rId3" cstate="print"/>
          <a:srcRect/>
          <a:stretch>
            <a:fillRect/>
          </a:stretch>
        </p:blipFill>
        <p:spPr bwMode="auto">
          <a:xfrm>
            <a:off x="988765" y="4280400"/>
            <a:ext cx="2689510" cy="1877918"/>
          </a:xfrm>
          <a:prstGeom prst="rect">
            <a:avLst/>
          </a:prstGeom>
          <a:noFill/>
        </p:spPr>
      </p:pic>
      <p:pic>
        <p:nvPicPr>
          <p:cNvPr id="6"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9901" y="3874947"/>
            <a:ext cx="721360" cy="721360"/>
          </a:xfrm>
          <a:prstGeom prst="rect">
            <a:avLst/>
          </a:prstGeom>
        </p:spPr>
      </p:pic>
      <p:sp>
        <p:nvSpPr>
          <p:cNvPr id="7" name="矩形 10"/>
          <p:cNvSpPr/>
          <p:nvPr/>
        </p:nvSpPr>
        <p:spPr>
          <a:xfrm>
            <a:off x="5940063" y="3815900"/>
            <a:ext cx="2796739" cy="923330"/>
          </a:xfrm>
          <a:prstGeom prst="rect">
            <a:avLst/>
          </a:prstGeom>
          <a:solidFill>
            <a:srgbClr val="BDD7EE">
              <a:alpha val="52941"/>
            </a:srgbClr>
          </a:solidFill>
        </p:spPr>
        <p:txBody>
          <a:bodyPr wrap="square">
            <a:spAutoFit/>
          </a:bodyPr>
          <a:lstStyle/>
          <a:p>
            <a:r>
              <a:rPr lang="zh-CN" altLang="en-US" b="1" dirty="0">
                <a:solidFill>
                  <a:srgbClr val="464DD9"/>
                </a:solidFill>
                <a:latin typeface="ZztexMono-Regular"/>
              </a:rPr>
              <a:t>一个对象是凸的当且仅当在对象中任何两点的连接线段也在该对象内。</a:t>
            </a:r>
          </a:p>
        </p:txBody>
      </p:sp>
      <p:pic>
        <p:nvPicPr>
          <p:cNvPr id="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5254945" y="4965746"/>
            <a:ext cx="1370217" cy="1668283"/>
          </a:xfrm>
          <a:prstGeom prst="rect">
            <a:avLst/>
          </a:prstGeom>
          <a:noFill/>
        </p:spPr>
      </p:pic>
      <p:pic>
        <p:nvPicPr>
          <p:cNvPr id="9"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a:xfrm>
            <a:off x="6956166" y="4965746"/>
            <a:ext cx="1222295" cy="1667170"/>
          </a:xfrm>
          <a:prstGeom prst="rect">
            <a:avLst/>
          </a:prstGeom>
          <a:noFill/>
        </p:spPr>
      </p:pic>
      <p:sp>
        <p:nvSpPr>
          <p:cNvPr id="10" name="Text Box 9"/>
          <p:cNvSpPr txBox="1">
            <a:spLocks noChangeArrowheads="1"/>
          </p:cNvSpPr>
          <p:nvPr/>
        </p:nvSpPr>
        <p:spPr bwMode="auto">
          <a:xfrm>
            <a:off x="6308794" y="6371575"/>
            <a:ext cx="2891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algn="l" eaLnBrk="1" hangingPunct="1"/>
            <a:r>
              <a:rPr lang="zh-CN" altLang="en-US" sz="1800" dirty="0">
                <a:solidFill>
                  <a:schemeClr val="tx1"/>
                </a:solidFill>
                <a:latin typeface="Arial" charset="0"/>
                <a:ea typeface="楷体_GB2312" charset="-122"/>
              </a:rPr>
              <a:t>凸</a:t>
            </a:r>
          </a:p>
        </p:txBody>
      </p:sp>
      <p:sp>
        <p:nvSpPr>
          <p:cNvPr id="11" name="Text Box 10"/>
          <p:cNvSpPr txBox="1">
            <a:spLocks noChangeArrowheads="1"/>
          </p:cNvSpPr>
          <p:nvPr/>
        </p:nvSpPr>
        <p:spPr bwMode="auto">
          <a:xfrm>
            <a:off x="7706233" y="6365022"/>
            <a:ext cx="707001"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122"/>
              </a:rPr>
              <a:t>非凸</a:t>
            </a:r>
          </a:p>
        </p:txBody>
      </p:sp>
      <p:sp>
        <p:nvSpPr>
          <p:cNvPr id="12" name="Text Box 9"/>
          <p:cNvSpPr txBox="1">
            <a:spLocks noChangeArrowheads="1"/>
          </p:cNvSpPr>
          <p:nvPr/>
        </p:nvSpPr>
        <p:spPr bwMode="auto">
          <a:xfrm flipH="1">
            <a:off x="3414591" y="6153320"/>
            <a:ext cx="730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algn="l" eaLnBrk="1" hangingPunct="1"/>
            <a:r>
              <a:rPr lang="zh-CN" altLang="en-US" sz="1800">
                <a:solidFill>
                  <a:schemeClr val="tx1"/>
                </a:solidFill>
                <a:latin typeface="Arial" charset="0"/>
                <a:ea typeface="楷体_GB2312" charset="-122"/>
              </a:rPr>
              <a:t>凸包</a:t>
            </a:r>
            <a:endParaRPr lang="zh-CN" altLang="en-US" sz="1800" dirty="0">
              <a:solidFill>
                <a:schemeClr val="tx1"/>
              </a:solidFill>
              <a:latin typeface="Arial" charset="0"/>
              <a:ea typeface="楷体_GB2312" charset="-122"/>
            </a:endParaRPr>
          </a:p>
        </p:txBody>
      </p:sp>
      <p:sp>
        <p:nvSpPr>
          <p:cNvPr id="13" name="矩形 12">
            <a:extLst>
              <a:ext uri="{FF2B5EF4-FFF2-40B4-BE49-F238E27FC236}">
                <a16:creationId xmlns:a16="http://schemas.microsoft.com/office/drawing/2014/main" id="{1C3505A3-A335-48FC-A72F-0124CED69DA7}"/>
              </a:ext>
            </a:extLst>
          </p:cNvPr>
          <p:cNvSpPr/>
          <p:nvPr/>
        </p:nvSpPr>
        <p:spPr>
          <a:xfrm>
            <a:off x="-118333" y="5880158"/>
            <a:ext cx="5373278" cy="6631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两点直线、三点三边形、四点四边形</a:t>
            </a:r>
          </a:p>
        </p:txBody>
      </p:sp>
    </p:spTree>
    <p:extLst>
      <p:ext uri="{BB962C8B-B14F-4D97-AF65-F5344CB8AC3E}">
        <p14:creationId xmlns:p14="http://schemas.microsoft.com/office/powerpoint/2010/main" val="1082530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98461" y="3389111"/>
            <a:ext cx="295465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几何对象表示</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0329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线性相关性</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线性相关：</a:t>
                </a:r>
                <a:endParaRPr lang="en-US" altLang="zh-CN" dirty="0"/>
              </a:p>
              <a:p>
                <a:pPr lvl="1"/>
                <a:r>
                  <a:rPr lang="zh-CN" altLang="en-US" dirty="0"/>
                  <a:t>一组向量是</a:t>
                </a:r>
                <a:r>
                  <a:rPr lang="zh-CN" altLang="en-US" dirty="0">
                    <a:solidFill>
                      <a:srgbClr val="0000FF"/>
                    </a:solidFill>
                  </a:rPr>
                  <a:t>线性相关</a:t>
                </a:r>
                <a:r>
                  <a:rPr lang="zh-CN" altLang="en-US" dirty="0"/>
                  <a:t>的，如果其中每一个向量都可以表示为其它向量的线性组合      </a:t>
                </a:r>
                <a:r>
                  <a:rPr lang="zh-CN" altLang="en-US" dirty="0">
                    <a:highlight>
                      <a:srgbClr val="FFFF00"/>
                    </a:highlight>
                  </a:rPr>
                  <a:t>行列式的值为</a:t>
                </a:r>
                <a:r>
                  <a:rPr lang="en-US" altLang="zh-CN" dirty="0">
                    <a:highlight>
                      <a:srgbClr val="FFFF00"/>
                    </a:highlight>
                  </a:rPr>
                  <a:t>0</a:t>
                </a:r>
              </a:p>
              <a:p>
                <a:pPr lvl="1"/>
                <a:endParaRPr lang="en-US" altLang="zh-CN" dirty="0"/>
              </a:p>
              <a:p>
                <a:r>
                  <a:rPr lang="zh-CN" altLang="en-US" dirty="0"/>
                  <a:t>线性无关：</a:t>
                </a:r>
                <a:endParaRPr lang="en-US" altLang="zh-CN" dirty="0"/>
              </a:p>
              <a:p>
                <a:pPr lvl="1"/>
                <a:r>
                  <a:rPr lang="zh-CN" altLang="en-US" dirty="0"/>
                  <a:t>一组向量是</a:t>
                </a:r>
                <a:r>
                  <a:rPr lang="zh-CN" altLang="en-US" dirty="0">
                    <a:solidFill>
                      <a:srgbClr val="0000FF"/>
                    </a:solidFill>
                  </a:rPr>
                  <a:t>线性无关</a:t>
                </a:r>
                <a:r>
                  <a:rPr lang="zh-CN" altLang="en-US" dirty="0"/>
                  <a:t>的，如果其中</a:t>
                </a:r>
                <a:r>
                  <a:rPr lang="zh-CN" altLang="en-US" dirty="0">
                    <a:highlight>
                      <a:srgbClr val="FFFF00"/>
                    </a:highlight>
                  </a:rPr>
                  <a:t>每一个向量都不能表示为其它向量的线性组合</a:t>
                </a:r>
                <a:endParaRPr lang="en-US" altLang="zh-CN" dirty="0">
                  <a:highlight>
                    <a:srgbClr val="FFFF00"/>
                  </a:highlight>
                </a:endParaRPr>
              </a:p>
              <a:p>
                <a:pPr lvl="1"/>
                <a:r>
                  <a:rPr lang="zh-CN" altLang="en-US" dirty="0"/>
                  <a:t>一组向量</a:t>
                </a:r>
                <a14:m>
                  <m:oMath xmlns:m="http://schemas.openxmlformats.org/officeDocument/2006/math">
                    <m:r>
                      <a:rPr lang="en-US" altLang="zh-CN" i="1" dirty="0" smtClean="0">
                        <a:latin typeface="Cambria Math" charset="0"/>
                      </a:rPr>
                      <m:t>𝑣</m:t>
                    </m:r>
                    <m:r>
                      <a:rPr lang="en-US" altLang="zh-CN" i="1" baseline="-25000" dirty="0">
                        <a:latin typeface="Cambria Math" charset="0"/>
                      </a:rPr>
                      <m:t>1</m:t>
                    </m:r>
                    <m:r>
                      <a:rPr lang="en-US" altLang="zh-CN" i="1" dirty="0">
                        <a:latin typeface="Cambria Math" charset="0"/>
                      </a:rPr>
                      <m:t>, </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n-US" altLang="zh-CN" i="1" dirty="0" err="1">
                        <a:latin typeface="Cambria Math" charset="0"/>
                      </a:rPr>
                      <m:t>𝑣</m:t>
                    </m:r>
                    <m:r>
                      <a:rPr lang="en-US" altLang="zh-CN" i="1" baseline="-25000" dirty="0" err="1">
                        <a:latin typeface="Cambria Math" charset="0"/>
                      </a:rPr>
                      <m:t>𝑛</m:t>
                    </m:r>
                  </m:oMath>
                </a14:m>
                <a:r>
                  <a:rPr lang="zh-CN" altLang="en-US" dirty="0"/>
                  <a:t>称为</a:t>
                </a:r>
                <a:r>
                  <a:rPr lang="zh-CN" altLang="en-US" dirty="0">
                    <a:highlight>
                      <a:srgbClr val="FFFF00"/>
                    </a:highlight>
                  </a:rPr>
                  <a:t>线性无关</a:t>
                </a:r>
                <a:r>
                  <a:rPr lang="zh-CN" altLang="en-US" dirty="0"/>
                  <a:t>的，是指：</a:t>
                </a:r>
              </a:p>
              <a:p>
                <a:pPr>
                  <a:buNone/>
                </a:pPr>
                <a:r>
                  <a:rPr lang="zh-CN" altLang="en-US" i="1" dirty="0">
                    <a:highlight>
                      <a:srgbClr val="FFFF00"/>
                    </a:highlight>
                    <a:latin typeface="Times New Roman" charset="0"/>
                  </a:rPr>
                  <a:t>                </a:t>
                </a:r>
                <a:r>
                  <a:rPr lang="en-US" altLang="zh-CN" i="1" dirty="0">
                    <a:highlight>
                      <a:srgbClr val="FFFF00"/>
                    </a:highlight>
                    <a:latin typeface="Times New Roman" charset="0"/>
                  </a:rPr>
                  <a:t> </a:t>
                </a:r>
                <a14:m>
                  <m:oMath xmlns:m="http://schemas.openxmlformats.org/officeDocument/2006/math">
                    <m:r>
                      <a:rPr lang="en-US" altLang="zh-CN" i="1" dirty="0" smtClean="0">
                        <a:highlight>
                          <a:srgbClr val="FFFF00"/>
                        </a:highlight>
                        <a:latin typeface="Cambria Math" charset="0"/>
                      </a:rPr>
                      <m:t>𝑎</m:t>
                    </m:r>
                    <m:r>
                      <a:rPr lang="en-US" altLang="zh-CN" i="1" baseline="-25000" dirty="0">
                        <a:highlight>
                          <a:srgbClr val="FFFF00"/>
                        </a:highlight>
                        <a:latin typeface="Cambria Math" charset="0"/>
                      </a:rPr>
                      <m:t>1</m:t>
                    </m:r>
                    <m:r>
                      <a:rPr lang="en-US" altLang="zh-CN" i="1" dirty="0">
                        <a:highlight>
                          <a:srgbClr val="FFFF00"/>
                        </a:highlight>
                        <a:latin typeface="Cambria Math" charset="0"/>
                      </a:rPr>
                      <m:t>𝑣</m:t>
                    </m:r>
                    <m:r>
                      <a:rPr lang="en-US" altLang="zh-CN" i="1" baseline="-25000" dirty="0">
                        <a:highlight>
                          <a:srgbClr val="FFFF00"/>
                        </a:highlight>
                        <a:latin typeface="Cambria Math" charset="0"/>
                      </a:rPr>
                      <m:t>1</m:t>
                    </m:r>
                    <m:r>
                      <a:rPr lang="en-US" altLang="zh-CN" i="1" dirty="0">
                        <a:highlight>
                          <a:srgbClr val="FFFF00"/>
                        </a:highlight>
                        <a:latin typeface="Cambria Math" charset="0"/>
                      </a:rPr>
                      <m:t>+</m:t>
                    </m:r>
                    <m:r>
                      <a:rPr lang="en-US" altLang="zh-CN" i="1" dirty="0">
                        <a:highlight>
                          <a:srgbClr val="FFFF00"/>
                        </a:highlight>
                        <a:latin typeface="Cambria Math" charset="0"/>
                      </a:rPr>
                      <m:t>𝑎</m:t>
                    </m:r>
                    <m:r>
                      <a:rPr lang="en-US" altLang="zh-CN" i="1" baseline="-25000" dirty="0">
                        <a:highlight>
                          <a:srgbClr val="FFFF00"/>
                        </a:highlight>
                        <a:latin typeface="Cambria Math" charset="0"/>
                      </a:rPr>
                      <m:t>2</m:t>
                    </m:r>
                    <m:r>
                      <a:rPr lang="en-US" altLang="zh-CN" i="1" dirty="0">
                        <a:highlight>
                          <a:srgbClr val="FFFF00"/>
                        </a:highlight>
                        <a:latin typeface="Cambria Math" charset="0"/>
                      </a:rPr>
                      <m:t>𝑣</m:t>
                    </m:r>
                    <m:r>
                      <a:rPr lang="en-US" altLang="zh-CN" i="1" baseline="-25000" dirty="0">
                        <a:highlight>
                          <a:srgbClr val="FFFF00"/>
                        </a:highlight>
                        <a:latin typeface="Cambria Math" charset="0"/>
                      </a:rPr>
                      <m:t>2</m:t>
                    </m:r>
                    <m:r>
                      <a:rPr lang="en-US" altLang="zh-CN" i="1" dirty="0">
                        <a:highlight>
                          <a:srgbClr val="FFFF00"/>
                        </a:highlight>
                        <a:latin typeface="Cambria Math" charset="0"/>
                      </a:rPr>
                      <m:t>+</m:t>
                    </m:r>
                    <m:r>
                      <a:rPr lang="en-US" altLang="zh-CN" b="0" i="1" dirty="0" smtClean="0">
                        <a:highlight>
                          <a:srgbClr val="FFFF00"/>
                        </a:highlight>
                        <a:latin typeface="Cambria Math" charset="0"/>
                      </a:rPr>
                      <m:t>…+</m:t>
                    </m:r>
                    <m:r>
                      <a:rPr lang="zh-CN" altLang="en-US" b="0" i="1" dirty="0" smtClean="0">
                        <a:highlight>
                          <a:srgbClr val="FFFF00"/>
                        </a:highlight>
                        <a:latin typeface="Cambria Math" charset="0"/>
                      </a:rPr>
                      <m:t> </m:t>
                    </m:r>
                    <m:r>
                      <a:rPr lang="en-US" altLang="zh-CN" i="1" dirty="0" err="1">
                        <a:highlight>
                          <a:srgbClr val="FFFF00"/>
                        </a:highlight>
                        <a:latin typeface="Cambria Math" charset="0"/>
                      </a:rPr>
                      <m:t>𝑎</m:t>
                    </m:r>
                    <m:r>
                      <a:rPr lang="en-US" altLang="zh-CN" i="1" baseline="-25000" dirty="0" err="1">
                        <a:highlight>
                          <a:srgbClr val="FFFF00"/>
                        </a:highlight>
                        <a:latin typeface="Cambria Math" charset="0"/>
                      </a:rPr>
                      <m:t>𝑛</m:t>
                    </m:r>
                    <m:r>
                      <a:rPr lang="en-US" altLang="zh-CN" i="1" dirty="0" err="1">
                        <a:highlight>
                          <a:srgbClr val="FFFF00"/>
                        </a:highlight>
                        <a:latin typeface="Cambria Math" charset="0"/>
                      </a:rPr>
                      <m:t>𝑣</m:t>
                    </m:r>
                    <m:r>
                      <a:rPr lang="en-US" altLang="zh-CN" i="1" baseline="-25000" dirty="0" err="1">
                        <a:highlight>
                          <a:srgbClr val="FFFF00"/>
                        </a:highlight>
                        <a:latin typeface="Cambria Math" charset="0"/>
                      </a:rPr>
                      <m:t>𝑛</m:t>
                    </m:r>
                    <m:r>
                      <a:rPr lang="en-US" altLang="zh-CN" i="1" dirty="0">
                        <a:highlight>
                          <a:srgbClr val="FFFF00"/>
                        </a:highlight>
                        <a:latin typeface="Cambria Math" charset="0"/>
                      </a:rPr>
                      <m:t>=0 </m:t>
                    </m:r>
                  </m:oMath>
                </a14:m>
                <a:endParaRPr lang="en-US" altLang="zh-CN" dirty="0">
                  <a:highlight>
                    <a:srgbClr val="FFFF00"/>
                  </a:highlight>
                </a:endParaRPr>
              </a:p>
              <a:p>
                <a:pPr>
                  <a:buNone/>
                </a:pPr>
                <a:r>
                  <a:rPr lang="zh-CN" altLang="en-US" dirty="0">
                    <a:highlight>
                      <a:srgbClr val="FFFF00"/>
                    </a:highlight>
                    <a:latin typeface="华文新魏" pitchFamily="2" charset="-122"/>
                    <a:ea typeface="华文新魏" pitchFamily="2" charset="-122"/>
                  </a:rPr>
                  <a:t>     </a:t>
                </a:r>
                <a:r>
                  <a:rPr lang="zh-CN" altLang="en-US" sz="2000" dirty="0">
                    <a:highlight>
                      <a:srgbClr val="FFFF00"/>
                    </a:highlight>
                  </a:rPr>
                  <a:t>当且仅当</a:t>
                </a:r>
                <a:r>
                  <a:rPr lang="zh-CN" altLang="en-US" dirty="0">
                    <a:highlight>
                      <a:srgbClr val="FFFF00"/>
                    </a:highlight>
                    <a:latin typeface="华文新魏" pitchFamily="2" charset="-122"/>
                    <a:ea typeface="华文新魏" pitchFamily="2" charset="-122"/>
                  </a:rPr>
                  <a:t> </a:t>
                </a:r>
                <a14:m>
                  <m:oMath xmlns:m="http://schemas.openxmlformats.org/officeDocument/2006/math">
                    <m:r>
                      <a:rPr lang="en-US" altLang="zh-CN" i="1" dirty="0" smtClean="0">
                        <a:highlight>
                          <a:srgbClr val="FFFF00"/>
                        </a:highlight>
                        <a:latin typeface="Cambria Math" charset="0"/>
                      </a:rPr>
                      <m:t>𝑎</m:t>
                    </m:r>
                    <m:r>
                      <a:rPr lang="en-US" altLang="zh-CN" i="1" baseline="-25000" dirty="0">
                        <a:highlight>
                          <a:srgbClr val="FFFF00"/>
                        </a:highlight>
                        <a:latin typeface="Cambria Math" charset="0"/>
                      </a:rPr>
                      <m:t>1</m:t>
                    </m:r>
                    <m:r>
                      <a:rPr lang="en-US" altLang="zh-CN" i="1" dirty="0">
                        <a:highlight>
                          <a:srgbClr val="FFFF00"/>
                        </a:highlight>
                        <a:latin typeface="Cambria Math" charset="0"/>
                      </a:rPr>
                      <m:t>=</m:t>
                    </m:r>
                    <m:r>
                      <a:rPr lang="en-US" altLang="zh-CN" i="1" dirty="0">
                        <a:highlight>
                          <a:srgbClr val="FFFF00"/>
                        </a:highlight>
                        <a:latin typeface="Cambria Math" charset="0"/>
                      </a:rPr>
                      <m:t>𝑎</m:t>
                    </m:r>
                    <m:r>
                      <a:rPr lang="en-US" altLang="zh-CN" i="1" baseline="-25000" dirty="0">
                        <a:highlight>
                          <a:srgbClr val="FFFF00"/>
                        </a:highlight>
                        <a:latin typeface="Cambria Math" charset="0"/>
                      </a:rPr>
                      <m:t>2</m:t>
                    </m:r>
                    <m:r>
                      <a:rPr lang="en-US" altLang="zh-CN" i="1" dirty="0">
                        <a:highlight>
                          <a:srgbClr val="FFFF00"/>
                        </a:highlight>
                        <a:latin typeface="Cambria Math" charset="0"/>
                      </a:rPr>
                      <m:t>=…</m:t>
                    </m:r>
                    <m:sSub>
                      <m:sSubPr>
                        <m:ctrlPr>
                          <a:rPr lang="en-US" altLang="zh-CN" b="0" i="1" dirty="0" smtClean="0">
                            <a:highlight>
                              <a:srgbClr val="FFFF00"/>
                            </a:highlight>
                            <a:latin typeface="Cambria Math" panose="02040503050406030204" pitchFamily="18" charset="0"/>
                          </a:rPr>
                        </m:ctrlPr>
                      </m:sSubPr>
                      <m:e>
                        <m:r>
                          <a:rPr lang="en-US" altLang="zh-CN" b="0" i="1" dirty="0" smtClean="0">
                            <a:highlight>
                              <a:srgbClr val="FFFF00"/>
                            </a:highlight>
                            <a:latin typeface="Cambria Math" charset="0"/>
                          </a:rPr>
                          <m:t>=</m:t>
                        </m:r>
                        <m:r>
                          <a:rPr lang="en-US" altLang="zh-CN" b="0" i="1" dirty="0" smtClean="0">
                            <a:highlight>
                              <a:srgbClr val="FFFF00"/>
                            </a:highlight>
                            <a:latin typeface="Cambria Math" charset="0"/>
                          </a:rPr>
                          <m:t>𝑎</m:t>
                        </m:r>
                      </m:e>
                      <m:sub>
                        <m:r>
                          <a:rPr lang="en-US" altLang="zh-CN" b="0" i="1" dirty="0" smtClean="0">
                            <a:highlight>
                              <a:srgbClr val="FFFF00"/>
                            </a:highlight>
                            <a:latin typeface="Cambria Math" charset="0"/>
                          </a:rPr>
                          <m:t>𝑛</m:t>
                        </m:r>
                      </m:sub>
                    </m:sSub>
                    <m:r>
                      <a:rPr lang="en-US" altLang="zh-CN" i="1" dirty="0">
                        <a:highlight>
                          <a:srgbClr val="FFFF00"/>
                        </a:highlight>
                        <a:latin typeface="Cambria Math" charset="0"/>
                      </a:rPr>
                      <m:t>=0</m:t>
                    </m:r>
                  </m:oMath>
                </a14:m>
                <a:endParaRPr lang="en-US" altLang="zh-CN" b="1" i="1" dirty="0">
                  <a:highlight>
                    <a:srgbClr val="FFFF00"/>
                  </a:highlight>
                  <a:latin typeface="华文新魏" pitchFamily="2" charset="-122"/>
                  <a:ea typeface="华文新魏" pitchFamily="2" charset="-122"/>
                </a:endParaRPr>
              </a:p>
              <a:p>
                <a:pPr lvl="1"/>
                <a:endParaRPr lang="zh-CN" alt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spTree>
    <p:extLst>
      <p:ext uri="{BB962C8B-B14F-4D97-AF65-F5344CB8AC3E}">
        <p14:creationId xmlns:p14="http://schemas.microsoft.com/office/powerpoint/2010/main" val="336459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维数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维数：</a:t>
                </a:r>
                <a:endParaRPr lang="en-US" altLang="zh-CN" dirty="0"/>
              </a:p>
              <a:p>
                <a:pPr lvl="1"/>
                <a:r>
                  <a:rPr lang="zh-CN" altLang="en-US" dirty="0"/>
                  <a:t>在向量空间中，</a:t>
                </a:r>
                <a:r>
                  <a:rPr lang="zh-CN" altLang="en-US" dirty="0">
                    <a:solidFill>
                      <a:srgbClr val="FF0000"/>
                    </a:solidFill>
                    <a:highlight>
                      <a:srgbClr val="FFFF00"/>
                    </a:highlight>
                  </a:rPr>
                  <a:t>最大</a:t>
                </a:r>
                <a:r>
                  <a:rPr lang="zh-CN" altLang="en-US" dirty="0">
                    <a:highlight>
                      <a:srgbClr val="FFFF00"/>
                    </a:highlight>
                  </a:rPr>
                  <a:t>的线性无关向量组的元素个数是固定的</a:t>
                </a:r>
                <a:r>
                  <a:rPr lang="zh-CN" altLang="en-US" dirty="0"/>
                  <a:t>，这个数就称为空间的</a:t>
                </a:r>
                <a:r>
                  <a:rPr lang="zh-CN" altLang="en-US" dirty="0">
                    <a:solidFill>
                      <a:srgbClr val="0000FF"/>
                    </a:solidFill>
                  </a:rPr>
                  <a:t>维数</a:t>
                </a:r>
              </a:p>
              <a:p>
                <a:endParaRPr lang="en-US" altLang="zh-CN" dirty="0"/>
              </a:p>
              <a:p>
                <a:r>
                  <a:rPr lang="zh-CN" altLang="en-US" dirty="0"/>
                  <a:t>基：</a:t>
                </a:r>
                <a:endParaRPr lang="en-US" altLang="zh-CN" dirty="0"/>
              </a:p>
              <a:p>
                <a:pPr lvl="1"/>
                <a:r>
                  <a:rPr lang="zh-CN" altLang="en-US" dirty="0"/>
                  <a:t>在</a:t>
                </a:r>
                <a14:m>
                  <m:oMath xmlns:m="http://schemas.openxmlformats.org/officeDocument/2006/math">
                    <m:r>
                      <a:rPr lang="en-US" altLang="zh-CN" i="1" dirty="0" smtClean="0">
                        <a:latin typeface="Cambria Math" charset="0"/>
                      </a:rPr>
                      <m:t>𝑛</m:t>
                    </m:r>
                  </m:oMath>
                </a14:m>
                <a:r>
                  <a:rPr lang="zh-CN" altLang="en-US" dirty="0"/>
                  <a:t>维空间中，</a:t>
                </a:r>
                <a:r>
                  <a:rPr lang="zh-CN" altLang="en-US" dirty="0">
                    <a:highlight>
                      <a:srgbClr val="FFFF00"/>
                    </a:highlight>
                  </a:rPr>
                  <a:t>任意</a:t>
                </a:r>
                <a14:m>
                  <m:oMath xmlns:m="http://schemas.openxmlformats.org/officeDocument/2006/math">
                    <m:r>
                      <a:rPr lang="en-US" altLang="zh-CN" i="1" dirty="0" smtClean="0">
                        <a:highlight>
                          <a:srgbClr val="FFFF00"/>
                        </a:highlight>
                        <a:latin typeface="Cambria Math" charset="0"/>
                      </a:rPr>
                      <m:t>𝑛</m:t>
                    </m:r>
                  </m:oMath>
                </a14:m>
                <a:r>
                  <a:rPr lang="zh-CN" altLang="en-US" dirty="0">
                    <a:highlight>
                      <a:srgbClr val="FFFF00"/>
                    </a:highlight>
                  </a:rPr>
                  <a:t>个线性无关的向量</a:t>
                </a:r>
                <a:r>
                  <a:rPr lang="zh-CN" altLang="en-US" dirty="0"/>
                  <a:t>构成空间的</a:t>
                </a:r>
                <a:r>
                  <a:rPr lang="zh-CN" altLang="en-US" dirty="0">
                    <a:solidFill>
                      <a:srgbClr val="0000FF"/>
                    </a:solidFill>
                  </a:rPr>
                  <a:t>基</a:t>
                </a:r>
                <a:endParaRPr lang="en-US" altLang="zh-CN" dirty="0"/>
              </a:p>
              <a:p>
                <a:pPr lvl="1"/>
                <a:r>
                  <a:rPr lang="zh-CN" altLang="en-US" dirty="0"/>
                  <a:t>给定空间的一组基</a:t>
                </a:r>
                <a14:m>
                  <m:oMath xmlns:m="http://schemas.openxmlformats.org/officeDocument/2006/math">
                    <m:r>
                      <a:rPr lang="en-US" altLang="zh-CN" i="1" dirty="0" smtClean="0">
                        <a:latin typeface="Cambria Math" charset="0"/>
                      </a:rPr>
                      <m:t>𝑣</m:t>
                    </m:r>
                    <m:r>
                      <a:rPr lang="en-US" altLang="zh-CN" i="1" baseline="-25000" dirty="0">
                        <a:latin typeface="Cambria Math" charset="0"/>
                      </a:rPr>
                      <m:t>1</m:t>
                    </m:r>
                    <m:r>
                      <a:rPr lang="en-US" altLang="zh-CN" i="1" dirty="0">
                        <a:latin typeface="Cambria Math" charset="0"/>
                      </a:rPr>
                      <m:t>, </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m:t>
                    </m:r>
                    <m:r>
                      <a:rPr lang="en-US" altLang="zh-CN" i="1" dirty="0" err="1">
                        <a:latin typeface="Cambria Math" charset="0"/>
                      </a:rPr>
                      <m:t>𝑣</m:t>
                    </m:r>
                    <m:r>
                      <a:rPr lang="en-US" altLang="zh-CN" i="1" baseline="-25000" dirty="0" smtClean="0">
                        <a:latin typeface="Cambria Math" charset="0"/>
                      </a:rPr>
                      <m:t>𝑛</m:t>
                    </m:r>
                    <m:r>
                      <a:rPr lang="en-US" altLang="zh-CN" i="1" baseline="-25000" dirty="0" smtClean="0">
                        <a:latin typeface="Cambria Math" charset="0"/>
                      </a:rPr>
                      <m:t> </m:t>
                    </m:r>
                  </m:oMath>
                </a14:m>
                <a:r>
                  <a:rPr lang="zh-CN" altLang="en-US" dirty="0"/>
                  <a:t>，空间中</a:t>
                </a:r>
                <a:r>
                  <a:rPr lang="zh-CN" altLang="en-US" dirty="0">
                    <a:highlight>
                      <a:srgbClr val="FFFF00"/>
                    </a:highlight>
                  </a:rPr>
                  <a:t>任意向量</a:t>
                </a:r>
                <a14:m>
                  <m:oMath xmlns:m="http://schemas.openxmlformats.org/officeDocument/2006/math">
                    <m:r>
                      <a:rPr lang="en-US" altLang="zh-CN" i="1" dirty="0" smtClean="0">
                        <a:highlight>
                          <a:srgbClr val="FFFF00"/>
                        </a:highlight>
                        <a:latin typeface="Cambria Math" charset="0"/>
                      </a:rPr>
                      <m:t>𝑣</m:t>
                    </m:r>
                  </m:oMath>
                </a14:m>
                <a:r>
                  <a:rPr lang="zh-CN" altLang="en-US" dirty="0"/>
                  <a:t>都可以表示为</a:t>
                </a:r>
                <a:endParaRPr lang="en-US" altLang="zh-CN" dirty="0"/>
              </a:p>
              <a:p>
                <a:pPr>
                  <a:buNone/>
                </a:pPr>
                <a:r>
                  <a:rPr lang="zh-CN" altLang="en-US" sz="2400" dirty="0"/>
                  <a:t>              </a:t>
                </a:r>
                <a14:m>
                  <m:oMath xmlns:m="http://schemas.openxmlformats.org/officeDocument/2006/math">
                    <m:r>
                      <a:rPr lang="en-US" altLang="zh-CN" sz="2400" i="1" dirty="0" smtClean="0">
                        <a:latin typeface="Cambria Math" charset="0"/>
                      </a:rPr>
                      <m:t>𝑣</m:t>
                    </m:r>
                    <m:r>
                      <a:rPr lang="en-US" altLang="zh-CN" sz="2400" i="1" dirty="0" smtClean="0">
                        <a:latin typeface="Cambria Math" charset="0"/>
                      </a:rPr>
                      <m:t>=</m:t>
                    </m:r>
                    <m:r>
                      <a:rPr lang="en-US" altLang="zh-CN" sz="2400" i="1" dirty="0" smtClean="0">
                        <a:latin typeface="Cambria Math" charset="0"/>
                      </a:rPr>
                      <m:t>𝑎</m:t>
                    </m:r>
                    <m:r>
                      <a:rPr lang="en-US" altLang="zh-CN" sz="2400" i="1" baseline="-25000" dirty="0" smtClean="0">
                        <a:latin typeface="Cambria Math" charset="0"/>
                      </a:rPr>
                      <m:t>1</m:t>
                    </m:r>
                    <m:r>
                      <a:rPr lang="en-US" altLang="zh-CN" sz="2400" i="1" dirty="0" smtClean="0">
                        <a:latin typeface="Cambria Math" charset="0"/>
                      </a:rPr>
                      <m:t>𝑣</m:t>
                    </m:r>
                    <m:r>
                      <a:rPr lang="en-US" altLang="zh-CN" sz="2400" i="1" baseline="-25000" dirty="0" smtClean="0">
                        <a:latin typeface="Cambria Math" charset="0"/>
                      </a:rPr>
                      <m:t>1</m:t>
                    </m:r>
                    <m:r>
                      <a:rPr lang="en-US" altLang="zh-CN" sz="2400" i="1" dirty="0">
                        <a:latin typeface="Cambria Math" charset="0"/>
                      </a:rPr>
                      <m:t>+ </m:t>
                    </m:r>
                    <m:r>
                      <a:rPr lang="en-US" altLang="zh-CN" sz="2400" i="1" dirty="0">
                        <a:latin typeface="Cambria Math" charset="0"/>
                      </a:rPr>
                      <m:t>𝑎</m:t>
                    </m:r>
                    <m:r>
                      <a:rPr lang="en-US" altLang="zh-CN" sz="2400" i="1" baseline="-25000" dirty="0">
                        <a:latin typeface="Cambria Math" charset="0"/>
                      </a:rPr>
                      <m:t>2</m:t>
                    </m:r>
                    <m:r>
                      <a:rPr lang="en-US" altLang="zh-CN" sz="2400" i="1" dirty="0">
                        <a:latin typeface="Cambria Math" charset="0"/>
                      </a:rPr>
                      <m:t>𝑣</m:t>
                    </m:r>
                    <m:r>
                      <a:rPr lang="en-US" altLang="zh-CN" sz="2400" i="1" baseline="-25000" dirty="0">
                        <a:latin typeface="Cambria Math" charset="0"/>
                      </a:rPr>
                      <m:t>2</m:t>
                    </m:r>
                    <m:r>
                      <a:rPr lang="en-US" altLang="zh-CN" sz="2400" i="1" dirty="0">
                        <a:latin typeface="Cambria Math" charset="0"/>
                      </a:rPr>
                      <m:t> +…+</m:t>
                    </m:r>
                    <m:r>
                      <a:rPr lang="en-US" altLang="zh-CN" sz="2400" i="1" dirty="0" err="1" smtClean="0">
                        <a:latin typeface="Cambria Math" charset="0"/>
                      </a:rPr>
                      <m:t>𝑎</m:t>
                    </m:r>
                    <m:r>
                      <a:rPr lang="en-US" altLang="zh-CN" sz="2400" i="1" baseline="-25000" dirty="0" err="1" smtClean="0">
                        <a:latin typeface="Cambria Math" charset="0"/>
                      </a:rPr>
                      <m:t>𝑛</m:t>
                    </m:r>
                    <m:r>
                      <a:rPr lang="en-US" altLang="zh-CN" sz="2400" i="1" dirty="0" err="1" smtClean="0">
                        <a:latin typeface="Cambria Math" charset="0"/>
                      </a:rPr>
                      <m:t>𝑣</m:t>
                    </m:r>
                    <m:r>
                      <a:rPr lang="en-US" altLang="zh-CN" sz="2400" i="1" baseline="-25000" dirty="0" err="1" smtClean="0">
                        <a:latin typeface="Cambria Math" charset="0"/>
                      </a:rPr>
                      <m:t>𝑛</m:t>
                    </m:r>
                  </m:oMath>
                </a14:m>
                <a:r>
                  <a:rPr lang="en-US" altLang="zh-CN" sz="2000" dirty="0"/>
                  <a:t>,</a:t>
                </a:r>
                <a:r>
                  <a:rPr lang="zh-CN" altLang="en-US" sz="2000" dirty="0"/>
                  <a:t>   </a:t>
                </a:r>
                <a:r>
                  <a:rPr lang="zh-CN" altLang="en-US" sz="2000" dirty="0">
                    <a:highlight>
                      <a:srgbClr val="FFFF00"/>
                    </a:highlight>
                  </a:rPr>
                  <a:t>其中</a:t>
                </a:r>
                <a14:m>
                  <m:oMath xmlns:m="http://schemas.openxmlformats.org/officeDocument/2006/math">
                    <m:r>
                      <a:rPr lang="en-US" altLang="zh-CN" sz="2400" i="1" dirty="0" smtClean="0">
                        <a:highlight>
                          <a:srgbClr val="FFFF00"/>
                        </a:highlight>
                        <a:latin typeface="Cambria Math" charset="0"/>
                      </a:rPr>
                      <m:t>{</m:t>
                    </m:r>
                    <m:r>
                      <a:rPr lang="en-US" altLang="zh-CN" sz="2400" i="1" dirty="0" err="1">
                        <a:highlight>
                          <a:srgbClr val="FFFF00"/>
                        </a:highlight>
                        <a:latin typeface="Cambria Math" charset="0"/>
                      </a:rPr>
                      <m:t>𝑎</m:t>
                    </m:r>
                    <m:r>
                      <a:rPr lang="en-US" altLang="zh-CN" sz="2400" i="1" baseline="-25000" dirty="0" err="1">
                        <a:highlight>
                          <a:srgbClr val="FFFF00"/>
                        </a:highlight>
                        <a:latin typeface="Cambria Math" charset="0"/>
                      </a:rPr>
                      <m:t>𝑖</m:t>
                    </m:r>
                    <m:r>
                      <a:rPr lang="en-US" altLang="zh-CN" sz="2400" i="1" dirty="0">
                        <a:highlight>
                          <a:srgbClr val="FFFF00"/>
                        </a:highlight>
                        <a:latin typeface="Cambria Math" charset="0"/>
                      </a:rPr>
                      <m:t>}</m:t>
                    </m:r>
                  </m:oMath>
                </a14:m>
                <a:r>
                  <a:rPr lang="zh-CN" altLang="en-US" sz="2000" dirty="0">
                    <a:highlight>
                      <a:srgbClr val="FFFF00"/>
                    </a:highlight>
                  </a:rPr>
                  <a:t>是唯一的</a:t>
                </a:r>
                <a:endParaRPr lang="en-US" altLang="zh-CN" sz="2000" dirty="0">
                  <a:highlight>
                    <a:srgbClr val="FFFF00"/>
                  </a:highlight>
                </a:endParaRPr>
              </a:p>
              <a:p>
                <a:pPr>
                  <a:buNone/>
                </a:pPr>
                <a:endParaRPr lang="en-US" altLang="zh-CN" sz="2000" dirty="0">
                  <a:highlight>
                    <a:srgbClr val="FFFF00"/>
                  </a:highlight>
                </a:endParaRPr>
              </a:p>
              <a:p>
                <a:pPr>
                  <a:buNone/>
                </a:pPr>
                <a:r>
                  <a:rPr lang="zh-CN" altLang="en-US" sz="2000" dirty="0">
                    <a:highlight>
                      <a:srgbClr val="FFFF00"/>
                    </a:highlight>
                  </a:rPr>
                  <a:t>基的选择很多，同一组基旋转不同角度也为不同的基</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73" t="-2381" r="-77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spTree>
    <p:extLst>
      <p:ext uri="{BB962C8B-B14F-4D97-AF65-F5344CB8AC3E}">
        <p14:creationId xmlns:p14="http://schemas.microsoft.com/office/powerpoint/2010/main" val="726869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a:t>
            </a:r>
            <a:endParaRPr lang="en-US" dirty="0"/>
          </a:p>
        </p:txBody>
      </p:sp>
      <p:sp>
        <p:nvSpPr>
          <p:cNvPr id="3" name="Content Placeholder 2"/>
          <p:cNvSpPr>
            <a:spLocks noGrp="1"/>
          </p:cNvSpPr>
          <p:nvPr>
            <p:ph idx="1"/>
          </p:nvPr>
        </p:nvSpPr>
        <p:spPr/>
        <p:txBody>
          <a:bodyPr/>
          <a:lstStyle/>
          <a:p>
            <a:r>
              <a:rPr lang="zh-CN" altLang="en-US" dirty="0"/>
              <a:t>空间由一组线性无关的基组成</a:t>
            </a:r>
          </a:p>
          <a:p>
            <a:r>
              <a:rPr lang="zh-CN" altLang="en-US" dirty="0"/>
              <a:t>一组基向量定义了坐标系</a:t>
            </a:r>
          </a:p>
          <a:p>
            <a:r>
              <a:rPr lang="zh-CN" altLang="en-US" dirty="0"/>
              <a:t>在坐标系中，</a:t>
            </a:r>
            <a:r>
              <a:rPr lang="zh-CN" altLang="en-US" dirty="0">
                <a:solidFill>
                  <a:srgbClr val="0000FF"/>
                </a:solidFill>
              </a:rPr>
              <a:t>向量</a:t>
            </a:r>
            <a:r>
              <a:rPr lang="zh-CN" altLang="en-US" dirty="0"/>
              <a:t>可表示为：</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pic>
        <p:nvPicPr>
          <p:cNvPr id="5" name="图片 4"/>
          <p:cNvPicPr>
            <a:picLocks noChangeAspect="1"/>
          </p:cNvPicPr>
          <p:nvPr/>
        </p:nvPicPr>
        <p:blipFill>
          <a:blip r:embed="rId2"/>
          <a:stretch>
            <a:fillRect/>
          </a:stretch>
        </p:blipFill>
        <p:spPr>
          <a:xfrm>
            <a:off x="4571197" y="2868199"/>
            <a:ext cx="3867121" cy="3488151"/>
          </a:xfrm>
          <a:prstGeom prst="rect">
            <a:avLst/>
          </a:prstGeom>
        </p:spPr>
      </p:pic>
      <p:pic>
        <p:nvPicPr>
          <p:cNvPr id="6" name="图片 15"/>
          <p:cNvPicPr>
            <a:picLocks noChangeAspect="1"/>
          </p:cNvPicPr>
          <p:nvPr/>
        </p:nvPicPr>
        <p:blipFill>
          <a:blip r:embed="rId3"/>
          <a:stretch>
            <a:fillRect/>
          </a:stretch>
        </p:blipFill>
        <p:spPr>
          <a:xfrm>
            <a:off x="1864175" y="3177550"/>
            <a:ext cx="2117203" cy="945503"/>
          </a:xfrm>
          <a:prstGeom prst="rect">
            <a:avLst/>
          </a:prstGeom>
        </p:spPr>
      </p:pic>
    </p:spTree>
    <p:extLst>
      <p:ext uri="{BB962C8B-B14F-4D97-AF65-F5344CB8AC3E}">
        <p14:creationId xmlns:p14="http://schemas.microsoft.com/office/powerpoint/2010/main" val="1456472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坐标系</a:t>
            </a:r>
          </a:p>
        </p:txBody>
      </p:sp>
      <p:sp>
        <p:nvSpPr>
          <p:cNvPr id="6" name="Content Placeholder 5"/>
          <p:cNvSpPr>
            <a:spLocks noGrp="1"/>
          </p:cNvSpPr>
          <p:nvPr>
            <p:ph idx="1"/>
          </p:nvPr>
        </p:nvSpPr>
        <p:spPr/>
        <p:txBody>
          <a:bodyPr/>
          <a:lstStyle/>
          <a:p>
            <a:r>
              <a:rPr lang="zh-CN" altLang="en-US" dirty="0"/>
              <a:t>向量没有位置信息，如何用</a:t>
            </a:r>
            <a:r>
              <a:rPr lang="zh-CN" altLang="en-US" dirty="0">
                <a:highlight>
                  <a:srgbClr val="FFFF00"/>
                </a:highlight>
              </a:rPr>
              <a:t>向量坐标系表示点</a:t>
            </a:r>
            <a:r>
              <a:rPr lang="zh-CN" altLang="en-US" dirty="0"/>
              <a:t>？</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23" name="图片 22"/>
          <p:cNvPicPr>
            <a:picLocks noChangeAspect="1"/>
          </p:cNvPicPr>
          <p:nvPr/>
        </p:nvPicPr>
        <p:blipFill>
          <a:blip r:embed="rId2"/>
          <a:stretch>
            <a:fillRect/>
          </a:stretch>
        </p:blipFill>
        <p:spPr>
          <a:xfrm>
            <a:off x="1087041" y="2495734"/>
            <a:ext cx="6818310" cy="2879650"/>
          </a:xfrm>
          <a:prstGeom prst="rect">
            <a:avLst/>
          </a:prstGeom>
        </p:spPr>
      </p:pic>
    </p:spTree>
    <p:extLst>
      <p:ext uri="{BB962C8B-B14F-4D97-AF65-F5344CB8AC3E}">
        <p14:creationId xmlns:p14="http://schemas.microsoft.com/office/powerpoint/2010/main" val="564086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标架</a:t>
            </a:r>
          </a:p>
        </p:txBody>
      </p:sp>
      <p:sp>
        <p:nvSpPr>
          <p:cNvPr id="6" name="Content Placeholder 5"/>
          <p:cNvSpPr>
            <a:spLocks noGrp="1"/>
          </p:cNvSpPr>
          <p:nvPr>
            <p:ph idx="1"/>
          </p:nvPr>
        </p:nvSpPr>
        <p:spPr/>
        <p:txBody>
          <a:bodyPr/>
          <a:lstStyle/>
          <a:p>
            <a:r>
              <a:rPr lang="zh-CN" altLang="en-US" dirty="0">
                <a:highlight>
                  <a:srgbClr val="FFFF00"/>
                </a:highlight>
              </a:rPr>
              <a:t>标架 </a:t>
            </a:r>
            <a:r>
              <a:rPr lang="en-US" altLang="zh-CN" dirty="0">
                <a:highlight>
                  <a:srgbClr val="FFFF00"/>
                </a:highlight>
              </a:rPr>
              <a:t>= </a:t>
            </a:r>
            <a:r>
              <a:rPr lang="zh-CN" altLang="en-US" dirty="0">
                <a:highlight>
                  <a:srgbClr val="FFFF00"/>
                </a:highlight>
              </a:rPr>
              <a:t>原点</a:t>
            </a:r>
            <a:r>
              <a:rPr lang="en-US" altLang="zh-CN" dirty="0">
                <a:highlight>
                  <a:srgbClr val="FFFF00"/>
                </a:highlight>
              </a:rPr>
              <a:t>+</a:t>
            </a:r>
            <a:r>
              <a:rPr lang="zh-CN" altLang="en-US" dirty="0">
                <a:highlight>
                  <a:srgbClr val="FFFF00"/>
                </a:highlight>
              </a:rPr>
              <a:t>基向量</a:t>
            </a:r>
          </a:p>
          <a:p>
            <a:r>
              <a:rPr lang="zh-CN" altLang="en-US" dirty="0"/>
              <a:t>将向量坐标系</a:t>
            </a:r>
            <a:r>
              <a:rPr lang="zh-CN" altLang="en-US" dirty="0">
                <a:highlight>
                  <a:srgbClr val="FFFF00"/>
                </a:highlight>
              </a:rPr>
              <a:t>固定在原点</a:t>
            </a:r>
            <a:r>
              <a:rPr lang="en-US" altLang="zh-CN" dirty="0">
                <a:highlight>
                  <a:srgbClr val="FFFF00"/>
                </a:highlight>
              </a:rPr>
              <a:t>P0</a:t>
            </a:r>
            <a:r>
              <a:rPr lang="zh-CN" altLang="en-US" dirty="0"/>
              <a:t>上</a:t>
            </a:r>
          </a:p>
          <a:p>
            <a:r>
              <a:rPr lang="zh-CN" altLang="en-US" dirty="0"/>
              <a:t>能够表示</a:t>
            </a:r>
            <a:r>
              <a:rPr lang="zh-CN" altLang="en-US" dirty="0">
                <a:solidFill>
                  <a:srgbClr val="0000FF"/>
                </a:solidFill>
              </a:rPr>
              <a:t>点</a:t>
            </a:r>
            <a:r>
              <a:rPr lang="zh-CN" altLang="en-US" dirty="0"/>
              <a:t>：</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18" name="图片 17"/>
          <p:cNvPicPr>
            <a:picLocks noChangeAspect="1"/>
          </p:cNvPicPr>
          <p:nvPr/>
        </p:nvPicPr>
        <p:blipFill>
          <a:blip r:embed="rId2"/>
          <a:stretch>
            <a:fillRect/>
          </a:stretch>
        </p:blipFill>
        <p:spPr>
          <a:xfrm>
            <a:off x="5054094" y="2906464"/>
            <a:ext cx="3261676" cy="3449886"/>
          </a:xfrm>
          <a:prstGeom prst="rect">
            <a:avLst/>
          </a:prstGeom>
        </p:spPr>
      </p:pic>
      <p:pic>
        <p:nvPicPr>
          <p:cNvPr id="19" name="图片 18"/>
          <p:cNvPicPr>
            <a:picLocks noChangeAspect="1"/>
          </p:cNvPicPr>
          <p:nvPr/>
        </p:nvPicPr>
        <p:blipFill>
          <a:blip r:embed="rId3"/>
          <a:stretch>
            <a:fillRect/>
          </a:stretch>
        </p:blipFill>
        <p:spPr>
          <a:xfrm>
            <a:off x="1075485" y="3059404"/>
            <a:ext cx="4359643" cy="344471"/>
          </a:xfrm>
          <a:prstGeom prst="rect">
            <a:avLst/>
          </a:prstGeom>
        </p:spPr>
      </p:pic>
      <p:sp>
        <p:nvSpPr>
          <p:cNvPr id="8" name="文本框 7">
            <a:extLst>
              <a:ext uri="{FF2B5EF4-FFF2-40B4-BE49-F238E27FC236}">
                <a16:creationId xmlns:a16="http://schemas.microsoft.com/office/drawing/2014/main" id="{6EB49A14-1FC9-429E-8264-2109FEBA7DCA}"/>
              </a:ext>
            </a:extLst>
          </p:cNvPr>
          <p:cNvSpPr txBox="1"/>
          <p:nvPr/>
        </p:nvSpPr>
        <p:spPr>
          <a:xfrm>
            <a:off x="3570402" y="686363"/>
            <a:ext cx="4614420" cy="369332"/>
          </a:xfrm>
          <a:prstGeom prst="rect">
            <a:avLst/>
          </a:prstGeom>
          <a:noFill/>
        </p:spPr>
        <p:txBody>
          <a:bodyPr wrap="square">
            <a:spAutoFit/>
          </a:bodyPr>
          <a:lstStyle/>
          <a:p>
            <a:r>
              <a:rPr lang="zh-CN" altLang="en-US" b="1" dirty="0">
                <a:highlight>
                  <a:srgbClr val="FFFF00"/>
                </a:highlight>
              </a:rPr>
              <a:t>给定原点表达其他点</a:t>
            </a:r>
          </a:p>
        </p:txBody>
      </p:sp>
    </p:spTree>
    <p:extLst>
      <p:ext uri="{BB962C8B-B14F-4D97-AF65-F5344CB8AC3E}">
        <p14:creationId xmlns:p14="http://schemas.microsoft.com/office/powerpoint/2010/main" val="41068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点与向量的混淆</a:t>
            </a:r>
            <a:br>
              <a:rPr lang="zh-CN" altLang="en-US" dirty="0"/>
            </a:b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4442947"/>
              </a:xfrm>
            </p:spPr>
            <p:txBody>
              <a:bodyPr>
                <a:normAutofit/>
              </a:bodyPr>
              <a:lstStyle/>
              <a:p>
                <a:r>
                  <a:rPr lang="zh-CN" altLang="en-US" dirty="0"/>
                  <a:t>考虑点与向量</a:t>
                </a:r>
              </a:p>
              <a:p>
                <a:pPr lvl="1">
                  <a:buClr>
                    <a:schemeClr val="tx1"/>
                  </a:buClr>
                </a:pPr>
                <a14:m>
                  <m:oMath xmlns:m="http://schemas.openxmlformats.org/officeDocument/2006/math">
                    <m:r>
                      <a:rPr lang="en-US" altLang="zh-CN" i="1" dirty="0" smtClean="0">
                        <a:latin typeface="Cambria Math" charset="0"/>
                      </a:rPr>
                      <m:t>𝑣</m:t>
                    </m:r>
                    <m:r>
                      <a:rPr lang="en-US"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n-US" altLang="zh-CN" i="1" dirty="0">
                        <a:latin typeface="Cambria Math" charset="0"/>
                      </a:rPr>
                      <m:t>𝑣</m:t>
                    </m:r>
                    <m:r>
                      <a:rPr lang="en-US" altLang="zh-CN" i="1" baseline="-25000" dirty="0">
                        <a:latin typeface="Cambria Math" charset="0"/>
                      </a:rPr>
                      <m:t>1</m:t>
                    </m:r>
                    <m:r>
                      <a:rPr lang="en-US"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l-GR" altLang="zh-CN" i="1" dirty="0">
                        <a:latin typeface="Cambria Math" charset="0"/>
                      </a:rPr>
                      <m:t>𝛼</m:t>
                    </m:r>
                    <m:r>
                      <a:rPr lang="en-US" altLang="zh-CN" i="1" baseline="-25000" dirty="0" err="1">
                        <a:latin typeface="Cambria Math" charset="0"/>
                      </a:rPr>
                      <m:t>𝑛</m:t>
                    </m:r>
                    <m:r>
                      <a:rPr lang="en-US" altLang="zh-CN" i="1" dirty="0" err="1">
                        <a:latin typeface="Cambria Math" charset="0"/>
                      </a:rPr>
                      <m:t>𝑣</m:t>
                    </m:r>
                    <m:r>
                      <a:rPr lang="en-US" altLang="zh-CN" i="1" baseline="-25000" dirty="0" err="1">
                        <a:latin typeface="Cambria Math" charset="0"/>
                      </a:rPr>
                      <m:t>𝑛</m:t>
                    </m:r>
                  </m:oMath>
                </a14:m>
                <a:endParaRPr lang="en-US" altLang="zh-CN" baseline="-25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m:t>
                    </m:r>
                    <m:sSub>
                      <m:sSubPr>
                        <m:ctrlPr>
                          <a:rPr lang="en-US" altLang="zh-CN" b="0" i="1" dirty="0" smtClean="0">
                            <a:latin typeface="Cambria Math" panose="02040503050406030204" pitchFamily="18" charset="0"/>
                          </a:rPr>
                        </m:ctrlPr>
                      </m:sSubPr>
                      <m:e>
                        <m:r>
                          <a:rPr lang="en-US" altLang="zh-CN" b="0" i="1" dirty="0" smtClean="0">
                            <a:latin typeface="Cambria Math" charset="0"/>
                          </a:rPr>
                          <m:t>𝑃</m:t>
                        </m:r>
                      </m:e>
                      <m:sub>
                        <m:r>
                          <a:rPr lang="en-US" altLang="zh-CN" b="0" i="1" dirty="0" smtClean="0">
                            <a:latin typeface="Cambria Math" charset="0"/>
                          </a:rPr>
                          <m:t>0</m:t>
                        </m:r>
                      </m:sub>
                    </m:sSub>
                    <m:r>
                      <a:rPr lang="pt-BR" altLang="zh-CN" i="1" dirty="0" smtClean="0">
                        <a:latin typeface="Cambria Math" charset="0"/>
                      </a:rPr>
                      <m:t>+ </m:t>
                    </m:r>
                    <m:r>
                      <a:rPr lang="pt-BR" altLang="zh-CN" i="1" dirty="0" smtClean="0">
                        <a:latin typeface="Cambria Math" charset="0"/>
                      </a:rPr>
                      <m:t>𝛽</m:t>
                    </m:r>
                    <m:r>
                      <a:rPr lang="pt-BR" altLang="zh-CN" i="1" baseline="-25000" dirty="0">
                        <a:latin typeface="Cambria Math" charset="0"/>
                      </a:rPr>
                      <m:t>1</m:t>
                    </m:r>
                    <m:r>
                      <a:rPr lang="pt-BR" altLang="zh-CN" i="1" dirty="0">
                        <a:latin typeface="Cambria Math" charset="0"/>
                      </a:rPr>
                      <m:t>𝑣</m:t>
                    </m:r>
                    <m:r>
                      <a:rPr lang="pt-BR" altLang="zh-CN" i="1" baseline="-25000" dirty="0">
                        <a:latin typeface="Cambria Math" charset="0"/>
                      </a:rPr>
                      <m:t>1</m:t>
                    </m:r>
                    <m:r>
                      <a:rPr lang="pt-BR" altLang="zh-CN" i="1" dirty="0">
                        <a:latin typeface="Cambria Math" charset="0"/>
                      </a:rPr>
                      <m:t>+ </m:t>
                    </m:r>
                    <m:r>
                      <a:rPr lang="pt-BR" altLang="zh-CN" i="1" dirty="0">
                        <a:latin typeface="Cambria Math" charset="0"/>
                      </a:rPr>
                      <m:t>𝛽</m:t>
                    </m:r>
                    <m:r>
                      <a:rPr lang="pt-BR" altLang="zh-CN" i="1" baseline="-25000" dirty="0">
                        <a:latin typeface="Cambria Math" charset="0"/>
                      </a:rPr>
                      <m:t>2</m:t>
                    </m:r>
                    <m:r>
                      <a:rPr lang="pt-BR" altLang="zh-CN" i="1" dirty="0">
                        <a:latin typeface="Cambria Math" charset="0"/>
                      </a:rPr>
                      <m:t>𝑣</m:t>
                    </m:r>
                    <m:r>
                      <a:rPr lang="pt-BR" altLang="zh-CN" i="1" baseline="-25000" dirty="0">
                        <a:latin typeface="Cambria Math" charset="0"/>
                      </a:rPr>
                      <m:t>2</m:t>
                    </m:r>
                    <m:r>
                      <a:rPr lang="pt-BR" altLang="zh-CN" i="1" dirty="0">
                        <a:latin typeface="Cambria Math" charset="0"/>
                      </a:rPr>
                      <m:t> +…+ </m:t>
                    </m:r>
                    <m:r>
                      <a:rPr lang="pt-BR" altLang="zh-CN" i="1" dirty="0">
                        <a:latin typeface="Cambria Math" charset="0"/>
                      </a:rPr>
                      <m:t>𝛽</m:t>
                    </m:r>
                    <m:r>
                      <a:rPr lang="pt-BR" altLang="zh-CN" i="1" baseline="-25000" dirty="0">
                        <a:latin typeface="Cambria Math" charset="0"/>
                      </a:rPr>
                      <m:t>𝑛</m:t>
                    </m:r>
                    <m:r>
                      <a:rPr lang="pt-BR" altLang="zh-CN" i="1" dirty="0">
                        <a:latin typeface="Cambria Math" charset="0"/>
                      </a:rPr>
                      <m:t>𝑣</m:t>
                    </m:r>
                    <m:r>
                      <a:rPr lang="pt-BR" altLang="zh-CN" i="1" baseline="-25000" dirty="0">
                        <a:latin typeface="Cambria Math" charset="0"/>
                      </a:rPr>
                      <m:t>𝑛</m:t>
                    </m:r>
                  </m:oMath>
                </a14:m>
                <a:endParaRPr lang="pt-BR" altLang="zh-CN" baseline="-25000" dirty="0"/>
              </a:p>
              <a:p>
                <a:pPr lvl="1">
                  <a:buClr>
                    <a:schemeClr val="tx1"/>
                  </a:buClr>
                </a:pPr>
                <a:endParaRPr lang="pt-BR" altLang="zh-CN" baseline="-25000" dirty="0"/>
              </a:p>
              <a:p>
                <a:r>
                  <a:rPr lang="zh-CN" altLang="en-US" dirty="0"/>
                  <a:t>它们看起来具有相似的表示：</a:t>
                </a:r>
                <a:endParaRPr lang="en-US" altLang="zh-CN" sz="2000" baseline="-25000" dirty="0"/>
              </a:p>
              <a:p>
                <a:pPr lvl="1">
                  <a:buClr>
                    <a:schemeClr val="tx1"/>
                  </a:buClr>
                </a:pPr>
                <a14:m>
                  <m:oMath xmlns:m="http://schemas.openxmlformats.org/officeDocument/2006/math">
                    <m:r>
                      <a:rPr lang="pt-BR" altLang="zh-CN" i="1" dirty="0" smtClean="0">
                        <a:latin typeface="Cambria Math" charset="0"/>
                      </a:rPr>
                      <m:t>𝑣</m:t>
                    </m:r>
                    <m:r>
                      <a:rPr lang="pt-BR"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baseline="30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 </m:t>
                    </m:r>
                    <m:r>
                      <a:rPr lang="el-GR" altLang="zh-CN" i="1" dirty="0">
                        <a:latin typeface="Cambria Math" charset="0"/>
                      </a:rPr>
                      <m:t>𝛽</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pt-BR" altLang="zh-CN" dirty="0"/>
              </a:p>
              <a:p>
                <a:r>
                  <a:rPr lang="zh-CN" altLang="en-US" dirty="0"/>
                  <a:t>这导致点与向量很容易混淆</a:t>
                </a:r>
                <a:endParaRPr lang="en-US" altLang="zh-CN" sz="2000" baseline="-25000" dirty="0"/>
              </a:p>
              <a:p>
                <a:pPr lvl="1">
                  <a:buClr>
                    <a:schemeClr val="tx1"/>
                  </a:buClr>
                </a:pPr>
                <a:r>
                  <a:rPr lang="zh-CN" altLang="en-US" dirty="0"/>
                  <a:t>解决方案：</a:t>
                </a:r>
                <a:r>
                  <a:rPr lang="zh-CN" altLang="en-US" b="1" dirty="0">
                    <a:solidFill>
                      <a:srgbClr val="00B0F0"/>
                    </a:solidFill>
                  </a:rPr>
                  <a:t>齐次坐标</a:t>
                </a:r>
                <a:endParaRPr lang="pt-BR" altLang="zh-CN" b="1" baseline="30000" dirty="0">
                  <a:solidFill>
                    <a:srgbClr val="00B0F0"/>
                  </a:solidFill>
                </a:endParaRPr>
              </a:p>
              <a:p>
                <a:pPr lvl="1">
                  <a:buClr>
                    <a:schemeClr val="tx1"/>
                  </a:buClr>
                </a:pPr>
                <a14:m>
                  <m:oMath xmlns:m="http://schemas.openxmlformats.org/officeDocument/2006/math">
                    <m:r>
                      <a:rPr lang="pt-BR" altLang="zh-CN" i="1" dirty="0">
                        <a:highlight>
                          <a:srgbClr val="FFFF00"/>
                        </a:highlight>
                        <a:latin typeface="Cambria Math" charset="0"/>
                      </a:rPr>
                      <m:t>𝑣</m:t>
                    </m:r>
                    <m:r>
                      <a:rPr lang="pt-BR" altLang="zh-CN" i="1" dirty="0">
                        <a:highlight>
                          <a:srgbClr val="FFFF00"/>
                        </a:highlight>
                        <a:latin typeface="Cambria Math" charset="0"/>
                      </a:rPr>
                      <m:t> = [</m:t>
                    </m:r>
                    <m:r>
                      <a:rPr lang="el-GR" altLang="zh-CN" i="1" dirty="0">
                        <a:highlight>
                          <a:srgbClr val="FFFF00"/>
                        </a:highlight>
                        <a:latin typeface="Cambria Math" charset="0"/>
                      </a:rPr>
                      <m:t>𝛼</m:t>
                    </m:r>
                    <m:r>
                      <a:rPr lang="el-GR" altLang="zh-CN" i="1" baseline="-25000" dirty="0">
                        <a:highlight>
                          <a:srgbClr val="FFFF00"/>
                        </a:highlight>
                        <a:latin typeface="Cambria Math" charset="0"/>
                      </a:rPr>
                      <m:t>1</m:t>
                    </m:r>
                    <m:r>
                      <a:rPr lang="el-GR" altLang="zh-CN" i="1" dirty="0">
                        <a:highlight>
                          <a:srgbClr val="FFFF00"/>
                        </a:highlight>
                        <a:latin typeface="Cambria Math" charset="0"/>
                      </a:rPr>
                      <m:t>, </m:t>
                    </m:r>
                    <m:r>
                      <a:rPr lang="el-GR" altLang="zh-CN" i="1" dirty="0">
                        <a:highlight>
                          <a:srgbClr val="FFFF00"/>
                        </a:highlight>
                        <a:latin typeface="Cambria Math" charset="0"/>
                      </a:rPr>
                      <m:t>𝛼</m:t>
                    </m:r>
                    <m:r>
                      <a:rPr lang="el-GR" altLang="zh-CN" i="1" baseline="-25000" dirty="0">
                        <a:highlight>
                          <a:srgbClr val="FFFF00"/>
                        </a:highlight>
                        <a:latin typeface="Cambria Math" charset="0"/>
                      </a:rPr>
                      <m:t>2</m:t>
                    </m:r>
                    <m:r>
                      <a:rPr lang="el-GR" altLang="zh-CN" i="1" dirty="0">
                        <a:highlight>
                          <a:srgbClr val="FFFF00"/>
                        </a:highlight>
                        <a:latin typeface="Cambria Math" charset="0"/>
                      </a:rPr>
                      <m:t> ,…,</m:t>
                    </m:r>
                    <m:r>
                      <a:rPr lang="el-GR" altLang="zh-CN" i="1" dirty="0">
                        <a:highlight>
                          <a:srgbClr val="FFFF00"/>
                        </a:highlight>
                        <a:latin typeface="Cambria Math" charset="0"/>
                      </a:rPr>
                      <m:t>𝛼</m:t>
                    </m:r>
                    <m:r>
                      <a:rPr lang="pt-BR" altLang="zh-CN" i="1" baseline="-25000" dirty="0">
                        <a:highlight>
                          <a:srgbClr val="FFFF00"/>
                        </a:highlight>
                        <a:latin typeface="Cambria Math" charset="0"/>
                      </a:rPr>
                      <m:t>𝑛</m:t>
                    </m:r>
                    <m:r>
                      <a:rPr lang="en-US" altLang="zh-CN" b="0" i="1" dirty="0" smtClean="0">
                        <a:highlight>
                          <a:srgbClr val="FFFF00"/>
                        </a:highlight>
                        <a:latin typeface="Cambria Math" charset="0"/>
                      </a:rPr>
                      <m:t>,0</m:t>
                    </m:r>
                    <m:r>
                      <a:rPr lang="pt-BR" altLang="zh-CN" i="1" dirty="0">
                        <a:highlight>
                          <a:srgbClr val="FFFF00"/>
                        </a:highlight>
                        <a:latin typeface="Cambria Math" charset="0"/>
                      </a:rPr>
                      <m:t>]</m:t>
                    </m:r>
                    <m:r>
                      <a:rPr lang="pt-BR" altLang="zh-CN" i="1" baseline="30000" dirty="0">
                        <a:highlight>
                          <a:srgbClr val="FFFF00"/>
                        </a:highlight>
                        <a:latin typeface="Cambria Math" charset="0"/>
                      </a:rPr>
                      <m:t>𝑇</m:t>
                    </m:r>
                  </m:oMath>
                </a14:m>
                <a:r>
                  <a:rPr lang="en-US" altLang="zh-CN" i="1" dirty="0">
                    <a:highlight>
                      <a:srgbClr val="FFFF00"/>
                    </a:highlight>
                    <a:latin typeface="Cambria Math" charset="0"/>
                  </a:rPr>
                  <a:t>             0</a:t>
                </a:r>
                <a:r>
                  <a:rPr lang="zh-CN" altLang="en-US" i="1" dirty="0">
                    <a:highlight>
                      <a:srgbClr val="FFFF00"/>
                    </a:highlight>
                    <a:latin typeface="Cambria Math" charset="0"/>
                  </a:rPr>
                  <a:t>表示向量，</a:t>
                </a:r>
                <a:r>
                  <a:rPr lang="en-US" altLang="zh-CN" i="1" dirty="0">
                    <a:highlight>
                      <a:srgbClr val="FFFF00"/>
                    </a:highlight>
                    <a:latin typeface="Cambria Math" charset="0"/>
                  </a:rPr>
                  <a:t>1</a:t>
                </a:r>
                <a:r>
                  <a:rPr lang="zh-CN" altLang="en-US" i="1" dirty="0">
                    <a:highlight>
                      <a:srgbClr val="FFFF00"/>
                    </a:highlight>
                    <a:latin typeface="Cambria Math" charset="0"/>
                  </a:rPr>
                  <a:t>表示点</a:t>
                </a:r>
                <a:endParaRPr lang="en-US" altLang="zh-CN" i="1" dirty="0">
                  <a:highlight>
                    <a:srgbClr val="FFFF00"/>
                  </a:highlight>
                  <a:latin typeface="Cambria Math" charset="0"/>
                </a:endParaRPr>
              </a:p>
              <a:p>
                <a:pPr lvl="1">
                  <a:buClr>
                    <a:schemeClr val="tx1"/>
                  </a:buClr>
                </a:pPr>
                <a14:m>
                  <m:oMath xmlns:m="http://schemas.openxmlformats.org/officeDocument/2006/math">
                    <m:r>
                      <a:rPr lang="pt-BR" altLang="zh-CN" i="1" dirty="0" smtClean="0">
                        <a:highlight>
                          <a:srgbClr val="FFFF00"/>
                        </a:highlight>
                        <a:latin typeface="Cambria Math" charset="0"/>
                      </a:rPr>
                      <m:t>𝑃</m:t>
                    </m:r>
                    <m:r>
                      <a:rPr lang="pt-BR" altLang="zh-CN" i="1" dirty="0" smtClean="0">
                        <a:highlight>
                          <a:srgbClr val="FFFF00"/>
                        </a:highlight>
                        <a:latin typeface="Cambria Math" charset="0"/>
                      </a:rPr>
                      <m:t> = </m:t>
                    </m:r>
                    <m:d>
                      <m:dPr>
                        <m:begChr m:val="["/>
                        <m:endChr m:val="]"/>
                        <m:ctrlPr>
                          <a:rPr lang="pt-BR" altLang="zh-CN" i="1" dirty="0" smtClean="0">
                            <a:highlight>
                              <a:srgbClr val="FFFF00"/>
                            </a:highlight>
                            <a:latin typeface="Cambria Math" panose="02040503050406030204" pitchFamily="18" charset="0"/>
                          </a:rPr>
                        </m:ctrlPr>
                      </m:dPr>
                      <m:e>
                        <m:r>
                          <a:rPr lang="el-GR" altLang="zh-CN" i="1" dirty="0">
                            <a:highlight>
                              <a:srgbClr val="FFFF00"/>
                            </a:highlight>
                            <a:latin typeface="Cambria Math" charset="0"/>
                          </a:rPr>
                          <m:t>𝛽</m:t>
                        </m:r>
                        <m:r>
                          <a:rPr lang="el-GR" altLang="zh-CN" i="1" baseline="-25000" dirty="0">
                            <a:highlight>
                              <a:srgbClr val="FFFF00"/>
                            </a:highlight>
                            <a:latin typeface="Cambria Math" charset="0"/>
                          </a:rPr>
                          <m:t>1</m:t>
                        </m:r>
                        <m:r>
                          <a:rPr lang="el-GR" altLang="zh-CN" i="1" dirty="0">
                            <a:highlight>
                              <a:srgbClr val="FFFF00"/>
                            </a:highlight>
                            <a:latin typeface="Cambria Math" charset="0"/>
                          </a:rPr>
                          <m:t>, </m:t>
                        </m:r>
                        <m:r>
                          <a:rPr lang="el-GR" altLang="zh-CN" i="1" dirty="0">
                            <a:highlight>
                              <a:srgbClr val="FFFF00"/>
                            </a:highlight>
                            <a:latin typeface="Cambria Math" charset="0"/>
                          </a:rPr>
                          <m:t>𝛽</m:t>
                        </m:r>
                        <m:r>
                          <a:rPr lang="el-GR" altLang="zh-CN" i="1" baseline="-25000" dirty="0">
                            <a:highlight>
                              <a:srgbClr val="FFFF00"/>
                            </a:highlight>
                            <a:latin typeface="Cambria Math" charset="0"/>
                          </a:rPr>
                          <m:t>2</m:t>
                        </m:r>
                        <m:r>
                          <a:rPr lang="el-GR" altLang="zh-CN" i="1" dirty="0">
                            <a:highlight>
                              <a:srgbClr val="FFFF00"/>
                            </a:highlight>
                            <a:latin typeface="Cambria Math" charset="0"/>
                          </a:rPr>
                          <m:t> ,…,</m:t>
                        </m:r>
                        <m:sSub>
                          <m:sSubPr>
                            <m:ctrlPr>
                              <a:rPr lang="en-US" altLang="zh-CN" b="0" i="1" dirty="0" smtClean="0">
                                <a:highlight>
                                  <a:srgbClr val="FFFF00"/>
                                </a:highlight>
                                <a:latin typeface="Cambria Math" panose="02040503050406030204" pitchFamily="18" charset="0"/>
                              </a:rPr>
                            </m:ctrlPr>
                          </m:sSubPr>
                          <m:e>
                            <m:r>
                              <a:rPr lang="el-GR" altLang="zh-CN" i="1" dirty="0">
                                <a:highlight>
                                  <a:srgbClr val="FFFF00"/>
                                </a:highlight>
                                <a:latin typeface="Cambria Math" charset="0"/>
                              </a:rPr>
                              <m:t>𝛽</m:t>
                            </m:r>
                          </m:e>
                          <m:sub>
                            <m:r>
                              <a:rPr lang="en-US" altLang="zh-CN" b="0" i="1" dirty="0" smtClean="0">
                                <a:highlight>
                                  <a:srgbClr val="FFFF00"/>
                                </a:highlight>
                                <a:latin typeface="Cambria Math" charset="0"/>
                              </a:rPr>
                              <m:t>𝑛</m:t>
                            </m:r>
                          </m:sub>
                        </m:sSub>
                        <m:r>
                          <a:rPr lang="en-US" altLang="zh-CN" b="0" i="1" dirty="0" smtClean="0">
                            <a:highlight>
                              <a:srgbClr val="FFFF00"/>
                            </a:highlight>
                            <a:latin typeface="Cambria Math" charset="0"/>
                          </a:rPr>
                          <m:t>,1</m:t>
                        </m:r>
                      </m:e>
                    </m:d>
                    <m:r>
                      <a:rPr lang="pt-BR" altLang="zh-CN" i="1" baseline="30000" dirty="0">
                        <a:highlight>
                          <a:srgbClr val="FFFF00"/>
                        </a:highlight>
                        <a:latin typeface="Cambria Math" charset="0"/>
                      </a:rPr>
                      <m:t>𝑇</m:t>
                    </m:r>
                    <m:r>
                      <a:rPr lang="en-US" altLang="zh-CN" b="0" i="1" baseline="30000" dirty="0" smtClean="0">
                        <a:highlight>
                          <a:srgbClr val="FFFF00"/>
                        </a:highlight>
                        <a:latin typeface="Cambria Math" panose="02040503050406030204" pitchFamily="18" charset="0"/>
                      </a:rPr>
                      <m:t>               </m:t>
                    </m:r>
                  </m:oMath>
                </a14:m>
                <a:endParaRPr lang="pt-BR" altLang="zh-CN" dirty="0">
                  <a:highlight>
                    <a:srgbClr val="FFFF00"/>
                  </a:highlight>
                </a:endParaRPr>
              </a:p>
              <a:p>
                <a:pPr lvl="1">
                  <a:buClr>
                    <a:schemeClr val="tx1"/>
                  </a:buClr>
                </a:pPr>
                <a:endParaRPr lang="en-US" altLang="zh-CN" baseline="-25000" dirty="0"/>
              </a:p>
              <a:p>
                <a:pPr lvl="1">
                  <a:buClr>
                    <a:schemeClr val="tx1"/>
                  </a:buClr>
                </a:pPr>
                <a:endParaRPr lang="en-US" altLang="zh-CN" baseline="-25000" dirty="0"/>
              </a:p>
              <a:p>
                <a:pPr lvl="1">
                  <a:buClr>
                    <a:schemeClr val="tx1"/>
                  </a:buClr>
                </a:pPr>
                <a:endParaRPr lang="zh-CN" altLang="en-US" dirty="0"/>
              </a:p>
              <a:p>
                <a:endParaRPr lang="zh-CN" altLang="en-US" sz="3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4442947"/>
              </a:xfrm>
              <a:blipFill>
                <a:blip r:embed="rId2"/>
                <a:stretch>
                  <a:fillRect l="-618" t="-2332" b="-233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Tree>
    <p:extLst>
      <p:ext uri="{BB962C8B-B14F-4D97-AF65-F5344CB8AC3E}">
        <p14:creationId xmlns:p14="http://schemas.microsoft.com/office/powerpoint/2010/main" val="2207983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齐次坐标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highlight>
                      <a:srgbClr val="FFFF00"/>
                    </a:highlight>
                  </a:rPr>
                  <a:t>三维空间的四维齐次坐标的一般形式为</a:t>
                </a:r>
                <a:endParaRPr lang="en-US" altLang="zh-CN" dirty="0">
                  <a:highlight>
                    <a:srgbClr val="FFFF00"/>
                  </a:highlight>
                </a:endParaRPr>
              </a:p>
              <a:p>
                <a:pPr lvl="1"/>
                <a14:m>
                  <m:oMath xmlns:m="http://schemas.openxmlformats.org/officeDocument/2006/math">
                    <m:r>
                      <a:rPr lang="pl-PL" altLang="zh-CN" i="1" dirty="0">
                        <a:highlight>
                          <a:srgbClr val="FFFF00"/>
                        </a:highlight>
                        <a:latin typeface="Cambria Math" charset="0"/>
                      </a:rPr>
                      <m:t>𝑃</m:t>
                    </m:r>
                    <m:r>
                      <a:rPr lang="pl-PL" altLang="zh-CN" i="1" dirty="0">
                        <a:highlight>
                          <a:srgbClr val="FFFF00"/>
                        </a:highlight>
                        <a:latin typeface="Cambria Math" charset="0"/>
                      </a:rPr>
                      <m:t> = [</m:t>
                    </m:r>
                    <m:r>
                      <a:rPr lang="pl-PL" altLang="zh-CN" i="1" dirty="0">
                        <a:highlight>
                          <a:srgbClr val="FFFF00"/>
                        </a:highlight>
                        <a:latin typeface="Cambria Math" charset="0"/>
                      </a:rPr>
                      <m:t>𝑥</m:t>
                    </m:r>
                    <m:r>
                      <a:rPr lang="pl-PL" altLang="zh-CN" i="1" dirty="0">
                        <a:highlight>
                          <a:srgbClr val="FFFF00"/>
                        </a:highlight>
                        <a:latin typeface="Cambria Math" charset="0"/>
                      </a:rPr>
                      <m:t>, </m:t>
                    </m:r>
                    <m:r>
                      <a:rPr lang="pl-PL" altLang="zh-CN" i="1" dirty="0">
                        <a:highlight>
                          <a:srgbClr val="FFFF00"/>
                        </a:highlight>
                        <a:latin typeface="Cambria Math" charset="0"/>
                      </a:rPr>
                      <m:t>𝑦</m:t>
                    </m:r>
                    <m:r>
                      <a:rPr lang="pl-PL" altLang="zh-CN" i="1" dirty="0">
                        <a:highlight>
                          <a:srgbClr val="FFFF00"/>
                        </a:highlight>
                        <a:latin typeface="Cambria Math" charset="0"/>
                      </a:rPr>
                      <m:t>, </m:t>
                    </m:r>
                    <m:r>
                      <a:rPr lang="pl-PL" altLang="zh-CN" i="1" dirty="0">
                        <a:highlight>
                          <a:srgbClr val="FFFF00"/>
                        </a:highlight>
                        <a:latin typeface="Cambria Math" charset="0"/>
                      </a:rPr>
                      <m:t>𝑧</m:t>
                    </m:r>
                    <m:r>
                      <a:rPr lang="pl-PL" altLang="zh-CN" i="1" dirty="0">
                        <a:highlight>
                          <a:srgbClr val="FFFF00"/>
                        </a:highlight>
                        <a:latin typeface="Cambria Math" charset="0"/>
                      </a:rPr>
                      <m:t>, </m:t>
                    </m:r>
                    <m:r>
                      <a:rPr lang="pl-PL" altLang="zh-CN" i="1" dirty="0">
                        <a:highlight>
                          <a:srgbClr val="FFFF00"/>
                        </a:highlight>
                        <a:latin typeface="Cambria Math" charset="0"/>
                      </a:rPr>
                      <m:t>𝑤</m:t>
                    </m:r>
                    <m:r>
                      <a:rPr lang="pl-PL" altLang="zh-CN" i="1" dirty="0">
                        <a:highlight>
                          <a:srgbClr val="FFFF00"/>
                        </a:highlight>
                        <a:latin typeface="Cambria Math" charset="0"/>
                      </a:rPr>
                      <m:t>]</m:t>
                    </m:r>
                    <m:r>
                      <a:rPr lang="pl-PL" altLang="zh-CN" i="1" baseline="30000" dirty="0">
                        <a:highlight>
                          <a:srgbClr val="FFFF00"/>
                        </a:highlight>
                        <a:latin typeface="Cambria Math" charset="0"/>
                      </a:rPr>
                      <m:t>𝑇</m:t>
                    </m:r>
                  </m:oMath>
                </a14:m>
                <a:endParaRPr lang="en-US" altLang="zh-CN" i="1" dirty="0">
                  <a:highlight>
                    <a:srgbClr val="FFFF00"/>
                  </a:highlight>
                  <a:latin typeface="Cambria Math" charset="0"/>
                </a:endParaRPr>
              </a:p>
              <a:p>
                <a:pPr lvl="1"/>
                <a14:m>
                  <m:oMath xmlns:m="http://schemas.openxmlformats.org/officeDocument/2006/math">
                    <m:r>
                      <a:rPr lang="en-US" altLang="zh-CN" i="1" dirty="0">
                        <a:highlight>
                          <a:srgbClr val="FFFF00"/>
                        </a:highlight>
                        <a:latin typeface="Cambria Math" charset="0"/>
                      </a:rPr>
                      <m:t>𝑤</m:t>
                    </m:r>
                    <m:r>
                      <a:rPr lang="en-US" altLang="zh-CN" i="1" dirty="0">
                        <a:highlight>
                          <a:srgbClr val="FFFF00"/>
                        </a:highlight>
                        <a:latin typeface="Cambria Math" charset="0"/>
                      </a:rPr>
                      <m:t>=0</m:t>
                    </m:r>
                  </m:oMath>
                </a14:m>
                <a:r>
                  <a:rPr lang="en-US" altLang="zh-CN" dirty="0">
                    <a:highlight>
                      <a:srgbClr val="FFFF00"/>
                    </a:highlight>
                  </a:rPr>
                  <a:t>:</a:t>
                </a:r>
                <a:r>
                  <a:rPr lang="zh-CN" altLang="en-US" dirty="0">
                    <a:highlight>
                      <a:srgbClr val="FFFF00"/>
                    </a:highlight>
                  </a:rPr>
                  <a:t> 向量</a:t>
                </a:r>
                <a:endParaRPr lang="en-US" altLang="zh-CN" i="1" dirty="0">
                  <a:highlight>
                    <a:srgbClr val="FFFF00"/>
                  </a:highlight>
                  <a:latin typeface="Cambria Math" charset="0"/>
                </a:endParaRPr>
              </a:p>
              <a:p>
                <a:pPr lvl="1"/>
                <a14:m>
                  <m:oMath xmlns:m="http://schemas.openxmlformats.org/officeDocument/2006/math">
                    <m:r>
                      <a:rPr lang="en-US" altLang="zh-CN" i="1" dirty="0">
                        <a:highlight>
                          <a:srgbClr val="FFFF00"/>
                        </a:highlight>
                        <a:latin typeface="Cambria Math" charset="0"/>
                      </a:rPr>
                      <m:t>𝑤</m:t>
                    </m:r>
                    <m:r>
                      <a:rPr lang="en-US" altLang="zh-CN" i="1" dirty="0">
                        <a:highlight>
                          <a:srgbClr val="FFFF00"/>
                        </a:highlight>
                        <a:latin typeface="Cambria Math" charset="0"/>
                      </a:rPr>
                      <m:t>=1</m:t>
                    </m:r>
                  </m:oMath>
                </a14:m>
                <a:r>
                  <a:rPr lang="en-US" altLang="zh-CN" dirty="0">
                    <a:highlight>
                      <a:srgbClr val="FFFF00"/>
                    </a:highlight>
                  </a:rPr>
                  <a:t>:</a:t>
                </a:r>
                <a:r>
                  <a:rPr lang="zh-CN" altLang="en-US" dirty="0">
                    <a:highlight>
                      <a:srgbClr val="FFFF00"/>
                    </a:highlight>
                  </a:rPr>
                  <a:t> 点</a:t>
                </a:r>
                <a:endParaRPr lang="en-US" altLang="zh-CN" dirty="0">
                  <a:highlight>
                    <a:srgbClr val="FFFF00"/>
                  </a:highlight>
                </a:endParaRPr>
              </a:p>
              <a:p>
                <a:pPr lvl="1"/>
                <a:endParaRPr lang="zh-CN" altLang="en-US" dirty="0"/>
              </a:p>
              <a:p>
                <a:r>
                  <a:rPr lang="zh-CN" altLang="en-US" dirty="0"/>
                  <a:t>齐次坐标是所有计算机图形系统的关键</a:t>
                </a:r>
              </a:p>
              <a:p>
                <a:pPr lvl="1"/>
                <a:r>
                  <a:rPr lang="zh-CN" altLang="en-US" dirty="0"/>
                  <a:t>所有标准变换（旋转、平移、放缩）都可以</a:t>
                </a:r>
                <a:r>
                  <a:rPr lang="zh-CN" altLang="en-US" b="1" dirty="0">
                    <a:solidFill>
                      <a:srgbClr val="FF0000"/>
                    </a:solidFill>
                    <a:highlight>
                      <a:srgbClr val="FFFF00"/>
                    </a:highlight>
                  </a:rPr>
                  <a:t>应用</a:t>
                </a:r>
                <a:r>
                  <a:rPr lang="en-US" altLang="zh-CN" b="1" dirty="0">
                    <a:solidFill>
                      <a:srgbClr val="FF0000"/>
                    </a:solidFill>
                    <a:highlight>
                      <a:srgbClr val="FFFF00"/>
                    </a:highlight>
                  </a:rPr>
                  <a:t>4×4</a:t>
                </a:r>
                <a:r>
                  <a:rPr lang="zh-CN" altLang="en-US" b="1" dirty="0">
                    <a:solidFill>
                      <a:srgbClr val="FF0000"/>
                    </a:solidFill>
                    <a:highlight>
                      <a:srgbClr val="FFFF00"/>
                    </a:highlight>
                  </a:rPr>
                  <a:t>阶</a:t>
                </a:r>
                <a:r>
                  <a:rPr lang="zh-CN" altLang="en-US" dirty="0"/>
                  <a:t>矩阵的乘法实现</a:t>
                </a:r>
              </a:p>
              <a:p>
                <a:pPr lvl="1"/>
                <a:r>
                  <a:rPr lang="zh-CN" altLang="en-US" dirty="0"/>
                  <a:t>硬件流水线体系可以应用四维表示</a:t>
                </a:r>
              </a:p>
              <a:p>
                <a:pPr lvl="1"/>
                <a:r>
                  <a:rPr lang="zh-CN" altLang="en-US" dirty="0"/>
                  <a:t>对于</a:t>
                </a:r>
                <a:r>
                  <a:rPr lang="zh-CN" altLang="en-US" dirty="0">
                    <a:highlight>
                      <a:srgbClr val="FF0000"/>
                    </a:highlight>
                  </a:rPr>
                  <a:t>正交投</a:t>
                </a:r>
                <a:r>
                  <a:rPr lang="zh-CN" altLang="en-US" dirty="0"/>
                  <a:t>影，可以通过</a:t>
                </a:r>
                <a:r>
                  <a:rPr lang="en-US" altLang="zh-CN" dirty="0"/>
                  <a:t>w = 0</a:t>
                </a:r>
                <a:r>
                  <a:rPr lang="zh-CN" altLang="en-US" dirty="0"/>
                  <a:t>保证向量，</a:t>
                </a:r>
                <a:r>
                  <a:rPr lang="en-US" altLang="zh-CN" dirty="0"/>
                  <a:t>w = 1</a:t>
                </a:r>
                <a:r>
                  <a:rPr lang="zh-CN" altLang="en-US" dirty="0"/>
                  <a:t>保证点</a:t>
                </a:r>
              </a:p>
              <a:p>
                <a:pPr lvl="1"/>
                <a:r>
                  <a:rPr lang="zh-CN" altLang="en-US" dirty="0"/>
                  <a:t>对于</a:t>
                </a:r>
                <a:r>
                  <a:rPr lang="zh-CN" altLang="en-US" dirty="0">
                    <a:highlight>
                      <a:srgbClr val="FF0000"/>
                    </a:highlight>
                  </a:rPr>
                  <a:t>透视投影</a:t>
                </a:r>
                <a:r>
                  <a:rPr lang="zh-CN" altLang="en-US" dirty="0"/>
                  <a:t>，需要进行特别的处理：</a:t>
                </a:r>
                <a:r>
                  <a:rPr lang="zh-CN" altLang="en-US" dirty="0">
                    <a:solidFill>
                      <a:srgbClr val="FF0000"/>
                    </a:solidFill>
                    <a:highlight>
                      <a:srgbClr val="FFFF00"/>
                    </a:highlight>
                  </a:rPr>
                  <a:t>透视除法（近大远小，除法保证</a:t>
                </a:r>
                <a:r>
                  <a:rPr lang="en-US" altLang="zh-CN" dirty="0">
                    <a:solidFill>
                      <a:srgbClr val="FF0000"/>
                    </a:solidFill>
                    <a:highlight>
                      <a:srgbClr val="FFFF00"/>
                    </a:highlight>
                  </a:rPr>
                  <a:t>w</a:t>
                </a:r>
                <a:r>
                  <a:rPr lang="zh-CN" altLang="en-US" dirty="0">
                    <a:solidFill>
                      <a:srgbClr val="FF0000"/>
                    </a:solidFill>
                    <a:highlight>
                      <a:srgbClr val="FFFF00"/>
                    </a:highlight>
                  </a:rPr>
                  <a:t>为</a:t>
                </a:r>
                <a:r>
                  <a:rPr lang="en-US" altLang="zh-CN" dirty="0">
                    <a:solidFill>
                      <a:srgbClr val="FF0000"/>
                    </a:solidFill>
                    <a:highlight>
                      <a:srgbClr val="FFFF00"/>
                    </a:highlight>
                  </a:rPr>
                  <a:t>1</a:t>
                </a:r>
                <a:r>
                  <a:rPr lang="zh-CN" altLang="en-US" dirty="0">
                    <a:solidFill>
                      <a:srgbClr val="FF0000"/>
                    </a:solidFill>
                    <a:highlight>
                      <a:srgbClr val="FFFF00"/>
                    </a:highlight>
                  </a:rPr>
                  <a:t>，否则不一定为</a:t>
                </a:r>
                <a:r>
                  <a:rPr lang="en-US" altLang="zh-CN" dirty="0">
                    <a:solidFill>
                      <a:srgbClr val="FF0000"/>
                    </a:solidFill>
                    <a:highlight>
                      <a:srgbClr val="FFFF00"/>
                    </a:highlight>
                  </a:rPr>
                  <a:t>1</a:t>
                </a:r>
                <a:r>
                  <a:rPr lang="zh-CN" altLang="en-US" dirty="0">
                    <a:solidFill>
                      <a:srgbClr val="FF0000"/>
                    </a:solidFill>
                    <a:highlight>
                      <a:srgbClr val="FFFF00"/>
                    </a:highlight>
                  </a:rPr>
                  <a:t>）</a:t>
                </a:r>
              </a:p>
              <a:p>
                <a:endParaRPr lang="zh-CN"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spTree>
    <p:extLst>
      <p:ext uri="{BB962C8B-B14F-4D97-AF65-F5344CB8AC3E}">
        <p14:creationId xmlns:p14="http://schemas.microsoft.com/office/powerpoint/2010/main" val="1977382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其中</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mc:AlternateContent xmlns:mc="http://schemas.openxmlformats.org/markup-compatibility/2006" xmlns:a14="http://schemas.microsoft.com/office/drawing/2010/main">
        <mc:Choice Requires="a14">
          <p:sp>
            <p:nvSpPr>
              <p:cNvPr id="5" name="Text Box 6"/>
              <p:cNvSpPr txBox="1">
                <a:spLocks noChangeArrowheads="1"/>
              </p:cNvSpPr>
              <p:nvPr/>
            </p:nvSpPr>
            <p:spPr bwMode="auto">
              <a:xfrm>
                <a:off x="3154960" y="2268523"/>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5" name="Text Box 6"/>
              <p:cNvSpPr txBox="1">
                <a:spLocks noRot="1" noChangeAspect="1" noMove="1" noResize="1" noEditPoints="1" noAdjustHandles="1" noChangeArrowheads="1" noChangeShapeType="1" noTextEdit="1"/>
              </p:cNvSpPr>
              <p:nvPr/>
            </p:nvSpPr>
            <p:spPr bwMode="auto">
              <a:xfrm>
                <a:off x="3154960" y="2268523"/>
                <a:ext cx="2616422" cy="507831"/>
              </a:xfrm>
              <a:prstGeom prst="rect">
                <a:avLst/>
              </a:prstGeom>
              <a:blipFill rotWithShape="0">
                <a:blip r:embed="rId2"/>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7"/>
              <p:cNvSpPr txBox="1">
                <a:spLocks noChangeArrowheads="1"/>
              </p:cNvSpPr>
              <p:nvPr/>
            </p:nvSpPr>
            <p:spPr bwMode="auto">
              <a:xfrm>
                <a:off x="3218810" y="2776354"/>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6" name="Text Box 7"/>
              <p:cNvSpPr txBox="1">
                <a:spLocks noRot="1" noChangeAspect="1" noMove="1" noResize="1" noEditPoints="1" noAdjustHandles="1" noChangeArrowheads="1" noChangeShapeType="1" noTextEdit="1"/>
              </p:cNvSpPr>
              <p:nvPr/>
            </p:nvSpPr>
            <p:spPr bwMode="auto">
              <a:xfrm>
                <a:off x="3218810" y="2776354"/>
                <a:ext cx="2552571" cy="506870"/>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1128983" y="4072898"/>
                <a:ext cx="7636001" cy="1314719"/>
              </a:xfrm>
              <a:prstGeom prst="rect">
                <a:avLst/>
              </a:prstGeom>
              <a:noFill/>
              <a:ln w="12700">
                <a:noFill/>
                <a:miter lim="800000"/>
                <a:headEnd type="none" w="sm" len="sm"/>
                <a:tailEnd type="none" w="sm" len="sm"/>
              </a:ln>
            </p:spPr>
            <p:txBody>
              <a:bodyPr wrap="squar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700" b="1" i="1" dirty="0" smtClean="0">
                          <a:latin typeface="Cambria Math" panose="02040503050406030204" pitchFamily="18" charset="0"/>
                          <a:ea typeface="Microsoft YaHei" charset="-122"/>
                          <a:cs typeface="Microsoft YaHei" charset="-122"/>
                        </a:rPr>
                        <m:t>𝒘</m:t>
                      </m:r>
                      <m:r>
                        <a:rPr lang="en-US" altLang="zh-CN" sz="2700" i="1" dirty="0" smtClean="0">
                          <a:latin typeface="Cambria Math" charset="0"/>
                          <a:ea typeface="Microsoft YaHei" charset="-122"/>
                          <a:cs typeface="Microsoft YaHei" charset="-122"/>
                        </a:rPr>
                        <m:t>=</m:t>
                      </m:r>
                      <m:r>
                        <a:rPr lang="en-US" altLang="zh-CN" sz="2700" i="1" dirty="0" smtClean="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3 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baseline="30000" dirty="0">
                          <a:latin typeface="Cambria Math" charset="0"/>
                          <a:ea typeface="Microsoft YaHei" charset="-122"/>
                          <a:cs typeface="Microsoft YaHei" charset="-122"/>
                        </a:rPr>
                        <m:t>𝑇</m:t>
                      </m:r>
                    </m:oMath>
                  </m:oMathPara>
                </a14:m>
                <a:endParaRPr lang="en-US" altLang="zh-CN" sz="2700" baseline="30000" dirty="0">
                  <a:latin typeface="Microsoft YaHei" charset="-122"/>
                  <a:ea typeface="Microsoft YaHei" charset="-122"/>
                  <a:cs typeface="Microsoft YaHei" charset="-122"/>
                </a:endParaRPr>
              </a:p>
              <a:p>
                <a:pPr>
                  <a:spcBef>
                    <a:spcPct val="20000"/>
                  </a:spcBef>
                </a:pPr>
                <a:r>
                  <a:rPr lang="zh-CN" altLang="en-US" sz="2700" dirty="0">
                    <a:ea typeface="Microsoft YaHei" charset="-122"/>
                    <a:cs typeface="Microsoft YaHei" charset="-122"/>
                  </a:rPr>
                  <a:t>     </a:t>
                </a:r>
                <a14:m>
                  <m:oMath xmlns:m="http://schemas.openxmlformats.org/officeDocument/2006/math">
                    <m:r>
                      <a:rPr lang="zh-CN" altLang="en-US" sz="2700" b="0" i="0" dirty="0" smtClean="0">
                        <a:latin typeface="Cambria Math" panose="02040503050406030204" pitchFamily="18" charset="0"/>
                        <a:ea typeface="Microsoft YaHei" charset="-122"/>
                        <a:cs typeface="Microsoft YaHei" charset="-122"/>
                      </a:rPr>
                      <m:t>  </m:t>
                    </m:r>
                    <m:r>
                      <a:rPr lang="zh-CN" altLang="en-US" sz="2700" b="0" i="1" dirty="0" smtClean="0">
                        <a:latin typeface="Cambria Math" panose="02040503050406030204" pitchFamily="18"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m:t>
                    </m:r>
                    <m:r>
                      <a:rPr lang="en-US" altLang="zh-CN" sz="2700" i="1" dirty="0" smtClean="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3 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2700" i="1" baseline="30000" dirty="0">
                        <a:latin typeface="Cambria Math" charset="0"/>
                        <a:ea typeface="Microsoft YaHei" charset="-122"/>
                        <a:cs typeface="Microsoft YaHei" charset="-122"/>
                      </a:rPr>
                      <m:t>𝑇</m:t>
                    </m:r>
                  </m:oMath>
                </a14:m>
                <a:endParaRPr lang="en-US" altLang="zh-CN" sz="2700" baseline="30000"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1128983" y="4072898"/>
                <a:ext cx="7636001" cy="1314719"/>
              </a:xfrm>
              <a:prstGeom prst="rect">
                <a:avLst/>
              </a:prstGeom>
              <a:blipFill>
                <a:blip r:embed="rId4"/>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267360C-B4AB-094F-BFC6-A9F39384ABC8}"/>
                  </a:ext>
                </a:extLst>
              </p:cNvPr>
              <p:cNvSpPr/>
              <p:nvPr/>
            </p:nvSpPr>
            <p:spPr>
              <a:xfrm>
                <a:off x="1647622" y="5445667"/>
                <a:ext cx="166821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dirty="0">
                          <a:latin typeface="Cambria Math" panose="02040503050406030204" pitchFamily="18" charset="0"/>
                          <a:ea typeface="Microsoft YaHei" charset="-122"/>
                          <a:cs typeface="Microsoft YaHei" charset="-122"/>
                        </a:rPr>
                        <m:t>𝑉</m:t>
                      </m:r>
                      <m:r>
                        <a:rPr lang="en-US" altLang="zh-CN" sz="2800" b="1" i="1" dirty="0">
                          <a:latin typeface="Cambria Math" charset="0"/>
                          <a:ea typeface="Microsoft YaHei" charset="-122"/>
                          <a:cs typeface="Microsoft YaHei" charset="-122"/>
                        </a:rPr>
                        <m:t>𝒂</m:t>
                      </m:r>
                      <m:r>
                        <a:rPr lang="en-US" altLang="zh-CN" sz="2800" b="1" i="1" dirty="0" smtClean="0">
                          <a:latin typeface="Cambria Math" panose="02040503050406030204" pitchFamily="18" charset="0"/>
                          <a:ea typeface="Microsoft YaHei" charset="-122"/>
                          <a:cs typeface="Microsoft YaHei" charset="-122"/>
                        </a:rPr>
                        <m:t>=</m:t>
                      </m:r>
                      <m:r>
                        <a:rPr lang="en-US" altLang="zh-CN" sz="2800" b="0" i="1" dirty="0" smtClean="0">
                          <a:latin typeface="Cambria Math" panose="02040503050406030204" pitchFamily="18" charset="0"/>
                          <a:ea typeface="Microsoft YaHei" charset="-122"/>
                          <a:cs typeface="Microsoft YaHei" charset="-122"/>
                        </a:rPr>
                        <m:t>𝑈</m:t>
                      </m:r>
                      <m:r>
                        <a:rPr lang="en-US" altLang="zh-CN" sz="2800" b="1" i="1" dirty="0">
                          <a:latin typeface="Cambria Math" panose="02040503050406030204" pitchFamily="18" charset="0"/>
                          <a:ea typeface="Microsoft YaHei" charset="-122"/>
                          <a:cs typeface="Microsoft YaHei" charset="-122"/>
                        </a:rPr>
                        <m:t>𝒃</m:t>
                      </m:r>
                    </m:oMath>
                  </m:oMathPara>
                </a14:m>
                <a:endParaRPr lang="en-US" sz="2800" b="1" i="1" dirty="0"/>
              </a:p>
            </p:txBody>
          </p:sp>
        </mc:Choice>
        <mc:Fallback xmlns="">
          <p:sp>
            <p:nvSpPr>
              <p:cNvPr id="8" name="Rectangle 7">
                <a:extLst>
                  <a:ext uri="{FF2B5EF4-FFF2-40B4-BE49-F238E27FC236}">
                    <a16:creationId xmlns:a16="http://schemas.microsoft.com/office/drawing/2014/main" id="{A267360C-B4AB-094F-BFC6-A9F39384ABC8}"/>
                  </a:ext>
                </a:extLst>
              </p:cNvPr>
              <p:cNvSpPr>
                <a:spLocks noRot="1" noChangeAspect="1" noMove="1" noResize="1" noEditPoints="1" noAdjustHandles="1" noChangeArrowheads="1" noChangeShapeType="1" noTextEdit="1"/>
              </p:cNvSpPr>
              <p:nvPr/>
            </p:nvSpPr>
            <p:spPr>
              <a:xfrm>
                <a:off x="1647622" y="5445667"/>
                <a:ext cx="1668213" cy="523220"/>
              </a:xfrm>
              <a:prstGeom prst="rect">
                <a:avLst/>
              </a:prstGeom>
              <a:blipFill>
                <a:blip r:embed="rId5"/>
                <a:stretch>
                  <a:fillRect/>
                </a:stretch>
              </a:blipFill>
            </p:spPr>
            <p:txBody>
              <a:bodyPr/>
              <a:lstStyle/>
              <a:p>
                <a:r>
                  <a:rPr lang="en-US">
                    <a:noFill/>
                  </a:rPr>
                  <a:t> </a:t>
                </a:r>
              </a:p>
            </p:txBody>
          </p:sp>
        </mc:Fallback>
      </mc:AlternateContent>
      <p:sp>
        <p:nvSpPr>
          <p:cNvPr id="9" name="Right Arrow 8">
            <a:extLst>
              <a:ext uri="{FF2B5EF4-FFF2-40B4-BE49-F238E27FC236}">
                <a16:creationId xmlns:a16="http://schemas.microsoft.com/office/drawing/2014/main" id="{D754E1EE-FAC2-BE4F-951D-E454A7CAE62C}"/>
              </a:ext>
            </a:extLst>
          </p:cNvPr>
          <p:cNvSpPr/>
          <p:nvPr/>
        </p:nvSpPr>
        <p:spPr>
          <a:xfrm>
            <a:off x="992221" y="5544766"/>
            <a:ext cx="291830" cy="3510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25F1A99-614D-054D-94BA-9C224B715701}"/>
                  </a:ext>
                </a:extLst>
              </p:cNvPr>
              <p:cNvSpPr/>
              <p:nvPr/>
            </p:nvSpPr>
            <p:spPr>
              <a:xfrm>
                <a:off x="4734558" y="6019723"/>
                <a:ext cx="1869230" cy="4165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ea typeface="Microsoft YaHei" charset="-122"/>
                          <a:cs typeface="Microsoft YaHei" charset="-122"/>
                        </a:rPr>
                        <m:t>𝑈</m:t>
                      </m:r>
                      <m:r>
                        <a:rPr lang="en-US" altLang="zh-CN" sz="2000" b="1" i="1" dirty="0">
                          <a:latin typeface="Cambria Math" panose="02040503050406030204" pitchFamily="18" charset="0"/>
                          <a:ea typeface="Microsoft YaHei" charset="-122"/>
                          <a:cs typeface="Microsoft YaHei" charset="-122"/>
                        </a:rPr>
                        <m:t>=</m:t>
                      </m:r>
                      <m:r>
                        <a:rPr lang="en-US" altLang="zh-CN" sz="2000" i="1" dirty="0">
                          <a:latin typeface="Cambria Math" charset="0"/>
                          <a:ea typeface="Microsoft YaHei" charset="-122"/>
                          <a:cs typeface="Microsoft YaHei" charset="-122"/>
                        </a:rPr>
                        <m:t>[</m:t>
                      </m:r>
                      <m:r>
                        <a:rPr lang="en-US" altLang="zh-CN" sz="2000" b="0" i="1" dirty="0" smtClean="0">
                          <a:latin typeface="Cambria Math" panose="02040503050406030204" pitchFamily="18"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b="0" i="1" dirty="0" smtClean="0">
                          <a:latin typeface="Cambria Math" panose="02040503050406030204" pitchFamily="18"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b="0" i="1" dirty="0" smtClean="0">
                          <a:latin typeface="Cambria Math" panose="02040503050406030204" pitchFamily="18"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oMath>
                  </m:oMathPara>
                </a14:m>
                <a:endParaRPr lang="en-US" altLang="zh-CN" sz="3200" baseline="30000" dirty="0">
                  <a:latin typeface="Microsoft YaHei" charset="-122"/>
                  <a:ea typeface="Microsoft YaHei" charset="-122"/>
                  <a:cs typeface="Microsoft YaHei" charset="-122"/>
                </a:endParaRPr>
              </a:p>
            </p:txBody>
          </p:sp>
        </mc:Choice>
        <mc:Fallback xmlns="">
          <p:sp>
            <p:nvSpPr>
              <p:cNvPr id="10" name="Rectangle 9">
                <a:extLst>
                  <a:ext uri="{FF2B5EF4-FFF2-40B4-BE49-F238E27FC236}">
                    <a16:creationId xmlns:a16="http://schemas.microsoft.com/office/drawing/2014/main" id="{125F1A99-614D-054D-94BA-9C224B715701}"/>
                  </a:ext>
                </a:extLst>
              </p:cNvPr>
              <p:cNvSpPr>
                <a:spLocks noRot="1" noChangeAspect="1" noMove="1" noResize="1" noEditPoints="1" noAdjustHandles="1" noChangeArrowheads="1" noChangeShapeType="1" noTextEdit="1"/>
              </p:cNvSpPr>
              <p:nvPr/>
            </p:nvSpPr>
            <p:spPr>
              <a:xfrm>
                <a:off x="4734558" y="6019723"/>
                <a:ext cx="1869230" cy="416524"/>
              </a:xfrm>
              <a:prstGeom prst="rect">
                <a:avLst/>
              </a:prstGeom>
              <a:blipFill>
                <a:blip r:embed="rId6"/>
                <a:stretch>
                  <a:fillRect t="-2941" r="-676"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E45F879-767D-AA43-94D1-4CE38CDA4AD7}"/>
                  </a:ext>
                </a:extLst>
              </p:cNvPr>
              <p:cNvSpPr/>
              <p:nvPr/>
            </p:nvSpPr>
            <p:spPr>
              <a:xfrm>
                <a:off x="4769825" y="5435646"/>
                <a:ext cx="1825948" cy="4165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ea typeface="Microsoft YaHei" charset="-122"/>
                          <a:cs typeface="Microsoft YaHei" charset="-122"/>
                        </a:rPr>
                        <m:t>𝑉</m:t>
                      </m:r>
                      <m:r>
                        <a:rPr lang="en-US" altLang="zh-CN" sz="2000" b="1" i="1" dirty="0">
                          <a:latin typeface="Cambria Math" panose="02040503050406030204" pitchFamily="18" charset="0"/>
                          <a:ea typeface="Microsoft YaHei" charset="-122"/>
                          <a:cs typeface="Microsoft YaHei" charset="-122"/>
                        </a:rPr>
                        <m:t>=</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oMath>
                  </m:oMathPara>
                </a14:m>
                <a:endParaRPr lang="en-US" altLang="zh-CN" sz="3200" baseline="30000" dirty="0">
                  <a:latin typeface="Microsoft YaHei" charset="-122"/>
                  <a:ea typeface="Microsoft YaHei" charset="-122"/>
                  <a:cs typeface="Microsoft YaHei" charset="-122"/>
                </a:endParaRPr>
              </a:p>
            </p:txBody>
          </p:sp>
        </mc:Choice>
        <mc:Fallback xmlns="">
          <p:sp>
            <p:nvSpPr>
              <p:cNvPr id="11" name="Rectangle 10">
                <a:extLst>
                  <a:ext uri="{FF2B5EF4-FFF2-40B4-BE49-F238E27FC236}">
                    <a16:creationId xmlns:a16="http://schemas.microsoft.com/office/drawing/2014/main" id="{4E45F879-767D-AA43-94D1-4CE38CDA4AD7}"/>
                  </a:ext>
                </a:extLst>
              </p:cNvPr>
              <p:cNvSpPr>
                <a:spLocks noRot="1" noChangeAspect="1" noMove="1" noResize="1" noEditPoints="1" noAdjustHandles="1" noChangeArrowheads="1" noChangeShapeType="1" noTextEdit="1"/>
              </p:cNvSpPr>
              <p:nvPr/>
            </p:nvSpPr>
            <p:spPr>
              <a:xfrm>
                <a:off x="4769825" y="5435646"/>
                <a:ext cx="1825948" cy="416524"/>
              </a:xfrm>
              <a:prstGeom prst="rect">
                <a:avLst/>
              </a:prstGeom>
              <a:blipFill>
                <a:blip r:embed="rId7"/>
                <a:stretch>
                  <a:fillRect t="-2941" r="-1389" b="-20588"/>
                </a:stretch>
              </a:blipFill>
            </p:spPr>
            <p:txBody>
              <a:bodyPr/>
              <a:lstStyle/>
              <a:p>
                <a:r>
                  <a:rPr lang="en-US">
                    <a:noFill/>
                  </a:rPr>
                  <a:t> </a:t>
                </a:r>
              </a:p>
            </p:txBody>
          </p:sp>
        </mc:Fallback>
      </mc:AlternateContent>
    </p:spTree>
    <p:extLst>
      <p:ext uri="{BB962C8B-B14F-4D97-AF65-F5344CB8AC3E}">
        <p14:creationId xmlns:p14="http://schemas.microsoft.com/office/powerpoint/2010/main" val="956103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altLang="zh-CN" i="1" dirty="0" smtClean="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1</m:t>
                    </m:r>
                    <m:r>
                      <a:rPr lang="zh-CN" altLang="en-US" i="1" baseline="-25000" dirty="0" smtClean="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2</m:t>
                    </m:r>
                    <m:r>
                      <a:rPr lang="zh-CN" altLang="en-US" i="1" baseline="-25000"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3</m:t>
                    </m:r>
                  </m:oMath>
                </a14:m>
                <a:r>
                  <a:rPr lang="zh-CN" altLang="en-US" dirty="0">
                    <a:latin typeface="Microsoft YaHei" charset="-122"/>
                    <a:ea typeface="Microsoft YaHei" charset="-122"/>
                    <a:cs typeface="Microsoft YaHei" charset="-122"/>
                  </a:rPr>
                  <a:t>中</a:t>
                </a:r>
                <a:r>
                  <a:rPr lang="zh-CN" altLang="en-US" dirty="0">
                    <a:highlight>
                      <a:srgbClr val="FFFF00"/>
                    </a:highlight>
                    <a:latin typeface="Microsoft YaHei" charset="-122"/>
                    <a:ea typeface="Microsoft YaHei" charset="-122"/>
                    <a:cs typeface="Microsoft YaHei" charset="-122"/>
                  </a:rPr>
                  <a:t>每个向量都可以用第一组表示出来</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pic>
        <p:nvPicPr>
          <p:cNvPr id="5" name="Picture 9" descr="AN04F24"/>
          <p:cNvPicPr>
            <a:picLocks noChangeAspect="1" noChangeArrowheads="1"/>
          </p:cNvPicPr>
          <p:nvPr/>
        </p:nvPicPr>
        <p:blipFill>
          <a:blip r:embed="rId3" cstate="print"/>
          <a:srcRect/>
          <a:stretch>
            <a:fillRect/>
          </a:stretch>
        </p:blipFill>
        <p:spPr bwMode="auto">
          <a:xfrm>
            <a:off x="5747711" y="1992483"/>
            <a:ext cx="2704986" cy="3189799"/>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6" name="Text Box 4"/>
              <p:cNvSpPr txBox="1">
                <a:spLocks noChangeArrowheads="1"/>
              </p:cNvSpPr>
              <p:nvPr/>
            </p:nvSpPr>
            <p:spPr bwMode="auto">
              <a:xfrm>
                <a:off x="893856" y="1992483"/>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6" name="Text Box 4"/>
              <p:cNvSpPr txBox="1">
                <a:spLocks noRot="1" noChangeAspect="1" noMove="1" noResize="1" noEditPoints="1" noAdjustHandles="1" noChangeArrowheads="1" noChangeShapeType="1" noTextEdit="1"/>
              </p:cNvSpPr>
              <p:nvPr/>
            </p:nvSpPr>
            <p:spPr bwMode="auto">
              <a:xfrm>
                <a:off x="893856" y="1992483"/>
                <a:ext cx="465589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985649" y="3721569"/>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985649" y="3721569"/>
                <a:ext cx="4655890" cy="1227516"/>
              </a:xfrm>
              <a:prstGeom prst="rect">
                <a:avLst/>
              </a:prstGeom>
              <a:blipFill rotWithShape="0">
                <a:blip r:embed="rId5"/>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495294" y="5562564"/>
                <a:ext cx="4655890"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sSup>
                        <m:sSupPr>
                          <m:ctrlPr>
                            <a:rPr lang="en-US" altLang="zh-CN" sz="280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panose="02040503050406030204" pitchFamily="18" charset="0"/>
                              <a:ea typeface="Microsoft YaHei" charset="-122"/>
                              <a:cs typeface="Microsoft YaHei" charset="-122"/>
                            </a:rPr>
                            <m:t>𝑈</m:t>
                          </m:r>
                        </m:e>
                        <m:sup>
                          <m:r>
                            <a:rPr lang="en-US" altLang="zh-CN" sz="2800" i="1" dirty="0">
                              <a:latin typeface="Cambria Math" charset="0"/>
                              <a:ea typeface="Microsoft YaHei" charset="-122"/>
                              <a:cs typeface="Microsoft YaHei" charset="-122"/>
                            </a:rPr>
                            <m:t>𝑇</m:t>
                          </m:r>
                        </m:sup>
                      </m:sSup>
                      <m:r>
                        <a:rPr lang="en-US" altLang="zh-CN" sz="2800" b="0" i="1" dirty="0" smtClean="0">
                          <a:latin typeface="Cambria Math" panose="02040503050406030204" pitchFamily="18" charset="0"/>
                          <a:ea typeface="Microsoft YaHei" charset="-122"/>
                          <a:cs typeface="Microsoft YaHei" charset="-122"/>
                        </a:rPr>
                        <m:t>=</m:t>
                      </m:r>
                      <m:r>
                        <a:rPr lang="en-US" altLang="zh-CN" sz="2800" b="0" i="1" dirty="0" smtClean="0">
                          <a:latin typeface="Cambria Math" charset="0"/>
                          <a:ea typeface="Microsoft YaHei" charset="-122"/>
                          <a:cs typeface="Microsoft YaHei" charset="-122"/>
                        </a:rPr>
                        <m:t>𝑀</m:t>
                      </m:r>
                      <m:sSup>
                        <m:sSupPr>
                          <m:ctrlPr>
                            <a:rPr lang="en-US" altLang="zh-CN" sz="2800" i="1" dirty="0">
                              <a:latin typeface="Cambria Math" panose="02040503050406030204" pitchFamily="18" charset="0"/>
                              <a:ea typeface="Microsoft YaHei" charset="-122"/>
                              <a:cs typeface="Microsoft YaHei" charset="-122"/>
                            </a:rPr>
                          </m:ctrlPr>
                        </m:sSupPr>
                        <m:e>
                          <m:r>
                            <a:rPr lang="en-US" altLang="zh-CN" sz="2800" b="0" i="1" dirty="0" smtClean="0">
                              <a:latin typeface="Cambria Math" panose="02040503050406030204" pitchFamily="18" charset="0"/>
                              <a:ea typeface="Microsoft YaHei" charset="-122"/>
                              <a:cs typeface="Microsoft YaHei" charset="-122"/>
                            </a:rPr>
                            <m:t>𝑉</m:t>
                          </m:r>
                        </m:e>
                        <m:sup>
                          <m:r>
                            <a:rPr lang="en-US" altLang="zh-CN" sz="2800" i="1" dirty="0">
                              <a:latin typeface="Cambria Math" charset="0"/>
                              <a:ea typeface="Microsoft YaHei" charset="-122"/>
                              <a:cs typeface="Microsoft YaHei" charset="-122"/>
                            </a:rPr>
                            <m:t>𝑇</m:t>
                          </m:r>
                        </m:sup>
                      </m:sSup>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495294" y="5562564"/>
                <a:ext cx="4655890" cy="522194"/>
              </a:xfrm>
              <a:prstGeom prst="rect">
                <a:avLst/>
              </a:prstGeom>
              <a:blipFill>
                <a:blip r:embed="rId6"/>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TextBox 9"/>
          <p:cNvSpPr txBox="1"/>
          <p:nvPr/>
        </p:nvSpPr>
        <p:spPr>
          <a:xfrm>
            <a:off x="1091821" y="4135272"/>
            <a:ext cx="441146" cy="400110"/>
          </a:xfrm>
          <a:prstGeom prst="rect">
            <a:avLst/>
          </a:prstGeom>
          <a:noFill/>
        </p:spPr>
        <p:txBody>
          <a:bodyPr wrap="none" rtlCol="0">
            <a:spAutoFit/>
          </a:bodyPr>
          <a:lstStyle/>
          <a:p>
            <a:r>
              <a:rPr lang="zh-CN" altLang="en-US" sz="2000" dirty="0">
                <a:latin typeface="Microsoft YaHei" charset="-122"/>
                <a:ea typeface="Microsoft YaHei" charset="-122"/>
                <a:cs typeface="Microsoft YaHei" charset="-122"/>
              </a:rPr>
              <a:t>记</a:t>
            </a:r>
            <a:endParaRPr lang="en-US" sz="2000" dirty="0">
              <a:latin typeface="Microsoft YaHei" charset="-122"/>
              <a:ea typeface="Microsoft YaHei" charset="-122"/>
              <a:cs typeface="Microsoft YaHei" charset="-122"/>
            </a:endParaRPr>
          </a:p>
        </p:txBody>
      </p:sp>
      <p:sp>
        <p:nvSpPr>
          <p:cNvPr id="11" name="Right Arrow 10"/>
          <p:cNvSpPr/>
          <p:nvPr/>
        </p:nvSpPr>
        <p:spPr>
          <a:xfrm>
            <a:off x="1350931" y="562525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3983398" y="562525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6379775" y="553466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highlight>
                            <a:srgbClr val="FFFF00"/>
                          </a:highlight>
                          <a:latin typeface="Cambria Math" charset="0"/>
                          <a:ea typeface="Microsoft YaHei" charset="-122"/>
                          <a:cs typeface="Microsoft YaHei" charset="-122"/>
                        </a:rPr>
                        <m:t>𝒂</m:t>
                      </m:r>
                      <m:r>
                        <a:rPr lang="en-US" altLang="zh-CN" sz="2800" b="0" i="1" dirty="0" smtClean="0">
                          <a:highlight>
                            <a:srgbClr val="FFFF00"/>
                          </a:highlight>
                          <a:latin typeface="Cambria Math" charset="0"/>
                          <a:ea typeface="Microsoft YaHei" charset="-122"/>
                          <a:cs typeface="Microsoft YaHei" charset="-122"/>
                        </a:rPr>
                        <m:t>=</m:t>
                      </m:r>
                      <m:sSup>
                        <m:sSupPr>
                          <m:ctrlPr>
                            <a:rPr lang="en-US" altLang="zh-CN" sz="2800" b="0" i="1" dirty="0" smtClean="0">
                              <a:highlight>
                                <a:srgbClr val="FFFF00"/>
                              </a:highlight>
                              <a:latin typeface="Cambria Math" panose="02040503050406030204" pitchFamily="18" charset="0"/>
                              <a:ea typeface="Microsoft YaHei" charset="-122"/>
                              <a:cs typeface="Microsoft YaHei" charset="-122"/>
                            </a:rPr>
                          </m:ctrlPr>
                        </m:sSupPr>
                        <m:e>
                          <m:r>
                            <a:rPr lang="en-US" altLang="zh-CN" sz="2800" b="0" i="1" dirty="0" smtClean="0">
                              <a:highlight>
                                <a:srgbClr val="FFFF00"/>
                              </a:highlight>
                              <a:latin typeface="Cambria Math" charset="0"/>
                              <a:ea typeface="Microsoft YaHei" charset="-122"/>
                              <a:cs typeface="Microsoft YaHei" charset="-122"/>
                            </a:rPr>
                            <m:t>𝑀</m:t>
                          </m:r>
                        </m:e>
                        <m:sup>
                          <m:r>
                            <a:rPr lang="en-US" altLang="zh-CN" sz="2800" b="0" i="1" dirty="0" smtClean="0">
                              <a:highlight>
                                <a:srgbClr val="FFFF00"/>
                              </a:highlight>
                              <a:latin typeface="Cambria Math" charset="0"/>
                              <a:ea typeface="Microsoft YaHei" charset="-122"/>
                              <a:cs typeface="Microsoft YaHei" charset="-122"/>
                            </a:rPr>
                            <m:t>𝑇</m:t>
                          </m:r>
                        </m:sup>
                      </m:sSup>
                      <m:r>
                        <a:rPr lang="en-US" altLang="zh-CN" sz="2800" b="1" i="1" dirty="0" smtClean="0">
                          <a:highlight>
                            <a:srgbClr val="FFFF00"/>
                          </a:highlight>
                          <a:latin typeface="Cambria Math" charset="0"/>
                          <a:ea typeface="Microsoft YaHei" charset="-122"/>
                          <a:cs typeface="Microsoft YaHei" charset="-122"/>
                        </a:rPr>
                        <m:t>𝒃</m:t>
                      </m:r>
                    </m:oMath>
                  </m:oMathPara>
                </a14:m>
                <a:endParaRPr lang="en-US" altLang="zh-CN" sz="2800" b="1" baseline="-25000" dirty="0">
                  <a:highlight>
                    <a:srgbClr val="FFFF00"/>
                  </a:highlight>
                  <a:latin typeface="Microsoft YaHei" charset="-122"/>
                  <a:ea typeface="Microsoft YaHei" charset="-122"/>
                  <a:cs typeface="Microsoft YaHei"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6379775" y="5534664"/>
                <a:ext cx="2728623" cy="522194"/>
              </a:xfrm>
              <a:prstGeom prst="rect">
                <a:avLst/>
              </a:prstGeom>
              <a:blipFill>
                <a:blip r:embed="rId7"/>
                <a:stretch>
                  <a:fillRect/>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 Box 4">
                <a:extLst>
                  <a:ext uri="{FF2B5EF4-FFF2-40B4-BE49-F238E27FC236}">
                    <a16:creationId xmlns:a16="http://schemas.microsoft.com/office/drawing/2014/main" id="{A2A92CB3-FB51-DB45-B892-A76ECA23613A}"/>
                  </a:ext>
                </a:extLst>
              </p:cNvPr>
              <p:cNvSpPr txBox="1">
                <a:spLocks noChangeArrowheads="1"/>
              </p:cNvSpPr>
              <p:nvPr/>
            </p:nvSpPr>
            <p:spPr bwMode="auto">
              <a:xfrm>
                <a:off x="3999031" y="5609699"/>
                <a:ext cx="2585612"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Microsoft YaHei" charset="-122"/>
                          <a:cs typeface="Microsoft YaHei" charset="-122"/>
                        </a:rPr>
                        <m:t>𝑈</m:t>
                      </m:r>
                      <m:r>
                        <a:rPr lang="en-US" altLang="zh-CN" sz="2800" b="0" i="1" dirty="0" smtClean="0">
                          <a:latin typeface="Cambria Math" panose="02040503050406030204" pitchFamily="18" charset="0"/>
                          <a:ea typeface="Microsoft YaHei" charset="-122"/>
                          <a:cs typeface="Microsoft YaHei" charset="-122"/>
                        </a:rPr>
                        <m:t>=</m:t>
                      </m:r>
                      <m:r>
                        <a:rPr lang="en-US" altLang="zh-CN" sz="2800" b="0" i="1" dirty="0" smtClean="0">
                          <a:latin typeface="Cambria Math" panose="02040503050406030204" pitchFamily="18" charset="0"/>
                          <a:ea typeface="Microsoft YaHei" charset="-122"/>
                          <a:cs typeface="Microsoft YaHei" charset="-122"/>
                        </a:rPr>
                        <m:t>𝑉</m:t>
                      </m:r>
                      <m:sSup>
                        <m:sSupPr>
                          <m:ctrlPr>
                            <a:rPr lang="en-US" altLang="zh-CN" sz="2800" i="1" dirty="0">
                              <a:latin typeface="Cambria Math" panose="02040503050406030204" pitchFamily="18" charset="0"/>
                              <a:ea typeface="Microsoft YaHei" charset="-122"/>
                              <a:cs typeface="Microsoft YaHei" charset="-122"/>
                            </a:rPr>
                          </m:ctrlPr>
                        </m:sSupPr>
                        <m:e>
                          <m:r>
                            <a:rPr lang="en-US" altLang="zh-CN" sz="2800" b="0" i="1" dirty="0" smtClean="0">
                              <a:latin typeface="Cambria Math" panose="02040503050406030204" pitchFamily="18" charset="0"/>
                              <a:ea typeface="Microsoft YaHei" charset="-122"/>
                              <a:cs typeface="Microsoft YaHei" charset="-122"/>
                            </a:rPr>
                            <m:t>𝑀</m:t>
                          </m:r>
                        </m:e>
                        <m:sup>
                          <m:r>
                            <a:rPr lang="en-US" altLang="zh-CN" sz="2800" i="1" dirty="0">
                              <a:latin typeface="Cambria Math" charset="0"/>
                              <a:ea typeface="Microsoft YaHei" charset="-122"/>
                              <a:cs typeface="Microsoft YaHei" charset="-122"/>
                            </a:rPr>
                            <m:t>𝑇</m:t>
                          </m:r>
                        </m:sup>
                      </m:sSup>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4" name="Text Box 4">
                <a:extLst>
                  <a:ext uri="{FF2B5EF4-FFF2-40B4-BE49-F238E27FC236}">
                    <a16:creationId xmlns:a16="http://schemas.microsoft.com/office/drawing/2014/main" id="{A2A92CB3-FB51-DB45-B892-A76ECA23613A}"/>
                  </a:ext>
                </a:extLst>
              </p:cNvPr>
              <p:cNvSpPr txBox="1">
                <a:spLocks noRot="1" noChangeAspect="1" noMove="1" noResize="1" noEditPoints="1" noAdjustHandles="1" noChangeArrowheads="1" noChangeShapeType="1" noTextEdit="1"/>
              </p:cNvSpPr>
              <p:nvPr/>
            </p:nvSpPr>
            <p:spPr bwMode="auto">
              <a:xfrm>
                <a:off x="3999031" y="5609699"/>
                <a:ext cx="2585612" cy="522194"/>
              </a:xfrm>
              <a:prstGeom prst="rect">
                <a:avLst/>
              </a:prstGeom>
              <a:blipFill>
                <a:blip r:embed="rId8"/>
                <a:stretch>
                  <a:fillRect/>
                </a:stretch>
              </a:blipFill>
              <a:ln w="12700">
                <a:noFill/>
                <a:miter lim="800000"/>
                <a:headEnd type="none" w="sm" len="sm"/>
                <a:tailEnd type="none" w="sm" len="sm"/>
              </a:ln>
            </p:spPr>
            <p:txBody>
              <a:bodyPr/>
              <a:lstStyle/>
              <a:p>
                <a:r>
                  <a:rPr lang="zh-CN" altLang="en-US">
                    <a:noFill/>
                  </a:rPr>
                  <a:t> </a:t>
                </a:r>
              </a:p>
            </p:txBody>
          </p:sp>
        </mc:Fallback>
      </mc:AlternateContent>
      <p:sp>
        <p:nvSpPr>
          <p:cNvPr id="15" name="Right Arrow 14">
            <a:extLst>
              <a:ext uri="{FF2B5EF4-FFF2-40B4-BE49-F238E27FC236}">
                <a16:creationId xmlns:a16="http://schemas.microsoft.com/office/drawing/2014/main" id="{0BAFE174-27D5-8147-8E17-D5944041CC17}"/>
              </a:ext>
            </a:extLst>
          </p:cNvPr>
          <p:cNvSpPr/>
          <p:nvPr/>
        </p:nvSpPr>
        <p:spPr>
          <a:xfrm>
            <a:off x="6310628" y="562525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4C606916-072D-9C41-9676-7051C3A8F800}"/>
                  </a:ext>
                </a:extLst>
              </p:cNvPr>
              <p:cNvSpPr/>
              <p:nvPr/>
            </p:nvSpPr>
            <p:spPr>
              <a:xfrm>
                <a:off x="4241699" y="6148138"/>
                <a:ext cx="164577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dirty="0">
                          <a:highlight>
                            <a:srgbClr val="FFFF00"/>
                          </a:highlight>
                          <a:latin typeface="Cambria Math" panose="02040503050406030204" pitchFamily="18" charset="0"/>
                          <a:ea typeface="Microsoft YaHei" charset="-122"/>
                          <a:cs typeface="Microsoft YaHei" charset="-122"/>
                        </a:rPr>
                        <m:t>𝑉</m:t>
                      </m:r>
                      <m:r>
                        <a:rPr lang="en-US" altLang="zh-CN" sz="2800" b="1" i="1" dirty="0">
                          <a:highlight>
                            <a:srgbClr val="FFFF00"/>
                          </a:highlight>
                          <a:latin typeface="Cambria Math" charset="0"/>
                          <a:ea typeface="Microsoft YaHei" charset="-122"/>
                          <a:cs typeface="Microsoft YaHei" charset="-122"/>
                        </a:rPr>
                        <m:t>𝒂</m:t>
                      </m:r>
                      <m:r>
                        <a:rPr lang="en-US" altLang="zh-CN" sz="2800" b="1" i="1" dirty="0" smtClean="0">
                          <a:highlight>
                            <a:srgbClr val="FFFF00"/>
                          </a:highlight>
                          <a:latin typeface="Cambria Math" panose="02040503050406030204" pitchFamily="18" charset="0"/>
                          <a:ea typeface="Microsoft YaHei" charset="-122"/>
                          <a:cs typeface="Microsoft YaHei" charset="-122"/>
                        </a:rPr>
                        <m:t>=</m:t>
                      </m:r>
                      <m:r>
                        <a:rPr lang="en-US" altLang="zh-CN" sz="2800" b="0" i="1" dirty="0" smtClean="0">
                          <a:highlight>
                            <a:srgbClr val="FFFF00"/>
                          </a:highlight>
                          <a:latin typeface="Cambria Math" panose="02040503050406030204" pitchFamily="18" charset="0"/>
                          <a:ea typeface="Microsoft YaHei" charset="-122"/>
                          <a:cs typeface="Microsoft YaHei" charset="-122"/>
                        </a:rPr>
                        <m:t>𝑈</m:t>
                      </m:r>
                      <m:r>
                        <a:rPr lang="en-US" altLang="zh-CN" sz="2800" b="1" i="1" dirty="0">
                          <a:highlight>
                            <a:srgbClr val="FFFF00"/>
                          </a:highlight>
                          <a:latin typeface="Cambria Math" panose="02040503050406030204" pitchFamily="18" charset="0"/>
                          <a:ea typeface="Microsoft YaHei" charset="-122"/>
                          <a:cs typeface="Microsoft YaHei" charset="-122"/>
                        </a:rPr>
                        <m:t>𝒃</m:t>
                      </m:r>
                    </m:oMath>
                  </m:oMathPara>
                </a14:m>
                <a:endParaRPr lang="en-US" sz="2800" b="1" i="1" dirty="0">
                  <a:highlight>
                    <a:srgbClr val="FFFF00"/>
                  </a:highlight>
                </a:endParaRPr>
              </a:p>
            </p:txBody>
          </p:sp>
        </mc:Choice>
        <mc:Fallback xmlns="">
          <p:sp>
            <p:nvSpPr>
              <p:cNvPr id="16" name="Rectangle 15">
                <a:extLst>
                  <a:ext uri="{FF2B5EF4-FFF2-40B4-BE49-F238E27FC236}">
                    <a16:creationId xmlns:a16="http://schemas.microsoft.com/office/drawing/2014/main" id="{4C606916-072D-9C41-9676-7051C3A8F800}"/>
                  </a:ext>
                </a:extLst>
              </p:cNvPr>
              <p:cNvSpPr>
                <a:spLocks noRot="1" noChangeAspect="1" noMove="1" noResize="1" noEditPoints="1" noAdjustHandles="1" noChangeArrowheads="1" noChangeShapeType="1" noTextEdit="1"/>
              </p:cNvSpPr>
              <p:nvPr/>
            </p:nvSpPr>
            <p:spPr>
              <a:xfrm>
                <a:off x="4241699" y="6148138"/>
                <a:ext cx="1645772" cy="52322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5">
                <a:extLst>
                  <a:ext uri="{FF2B5EF4-FFF2-40B4-BE49-F238E27FC236}">
                    <a16:creationId xmlns:a16="http://schemas.microsoft.com/office/drawing/2014/main" id="{BFC5246D-A0DC-461A-852F-CA61C3C22D5A}"/>
                  </a:ext>
                </a:extLst>
              </p:cNvPr>
              <p:cNvSpPr/>
              <p:nvPr/>
            </p:nvSpPr>
            <p:spPr>
              <a:xfrm>
                <a:off x="6921200" y="6147630"/>
                <a:ext cx="196316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dirty="0">
                          <a:highlight>
                            <a:srgbClr val="FFFF00"/>
                          </a:highlight>
                          <a:latin typeface="Cambria Math" charset="0"/>
                          <a:ea typeface="Microsoft YaHei" charset="-122"/>
                          <a:cs typeface="Microsoft YaHei" charset="-122"/>
                        </a:rPr>
                        <m:t>𝒂</m:t>
                      </m:r>
                      <m:r>
                        <a:rPr lang="en-US" altLang="zh-CN" sz="2800" b="1" i="1" dirty="0" smtClean="0">
                          <a:highlight>
                            <a:srgbClr val="FFFF00"/>
                          </a:highlight>
                          <a:latin typeface="Cambria Math" panose="02040503050406030204" pitchFamily="18" charset="0"/>
                          <a:ea typeface="Microsoft YaHei" charset="-122"/>
                          <a:cs typeface="Microsoft YaHei" charset="-122"/>
                        </a:rPr>
                        <m:t>=</m:t>
                      </m:r>
                      <m:r>
                        <a:rPr lang="en-US" altLang="zh-CN" sz="2800" i="1" dirty="0">
                          <a:highlight>
                            <a:srgbClr val="FFFF00"/>
                          </a:highlight>
                          <a:latin typeface="Cambria Math" panose="02040503050406030204" pitchFamily="18" charset="0"/>
                          <a:ea typeface="Microsoft YaHei" charset="-122"/>
                          <a:cs typeface="Microsoft YaHei" charset="-122"/>
                        </a:rPr>
                        <m:t>𝑉</m:t>
                      </m:r>
                      <m:r>
                        <a:rPr lang="en-US" altLang="zh-CN" sz="2800" i="1" dirty="0" smtClean="0">
                          <a:highlight>
                            <a:srgbClr val="FFFF00"/>
                          </a:highlight>
                          <a:latin typeface="Cambria Math" panose="02040503050406030204" pitchFamily="18" charset="0"/>
                          <a:ea typeface="Microsoft YaHei" charset="-122"/>
                          <a:cs typeface="Microsoft YaHei" charset="-122"/>
                        </a:rPr>
                        <m:t>−</m:t>
                      </m:r>
                      <m:r>
                        <a:rPr lang="en-US" altLang="zh-CN" sz="2800" i="1" dirty="0">
                          <a:highlight>
                            <a:srgbClr val="FFFF00"/>
                          </a:highlight>
                          <a:latin typeface="Cambria Math" panose="02040503050406030204" pitchFamily="18" charset="0"/>
                          <a:ea typeface="Microsoft YaHei" charset="-122"/>
                          <a:cs typeface="Microsoft YaHei" charset="-122"/>
                        </a:rPr>
                        <m:t>1</m:t>
                      </m:r>
                      <m:r>
                        <a:rPr lang="en-US" altLang="zh-CN" sz="2800" b="0" i="1" dirty="0" smtClean="0">
                          <a:highlight>
                            <a:srgbClr val="FFFF00"/>
                          </a:highlight>
                          <a:latin typeface="Cambria Math" panose="02040503050406030204" pitchFamily="18" charset="0"/>
                          <a:ea typeface="Microsoft YaHei" charset="-122"/>
                          <a:cs typeface="Microsoft YaHei" charset="-122"/>
                        </a:rPr>
                        <m:t>𝑈</m:t>
                      </m:r>
                      <m:r>
                        <a:rPr lang="en-US" altLang="zh-CN" sz="2800" b="1" i="1" dirty="0">
                          <a:highlight>
                            <a:srgbClr val="FFFF00"/>
                          </a:highlight>
                          <a:latin typeface="Cambria Math" panose="02040503050406030204" pitchFamily="18" charset="0"/>
                          <a:ea typeface="Microsoft YaHei" charset="-122"/>
                          <a:cs typeface="Microsoft YaHei" charset="-122"/>
                        </a:rPr>
                        <m:t>𝒃</m:t>
                      </m:r>
                    </m:oMath>
                  </m:oMathPara>
                </a14:m>
                <a:endParaRPr lang="en-US" sz="2800" b="1" i="1" dirty="0">
                  <a:highlight>
                    <a:srgbClr val="FFFF00"/>
                  </a:highlight>
                </a:endParaRPr>
              </a:p>
            </p:txBody>
          </p:sp>
        </mc:Choice>
        <mc:Fallback xmlns="">
          <p:sp>
            <p:nvSpPr>
              <p:cNvPr id="17" name="Rectangle 15">
                <a:extLst>
                  <a:ext uri="{FF2B5EF4-FFF2-40B4-BE49-F238E27FC236}">
                    <a16:creationId xmlns:a16="http://schemas.microsoft.com/office/drawing/2014/main" id="{BFC5246D-A0DC-461A-852F-CA61C3C22D5A}"/>
                  </a:ext>
                </a:extLst>
              </p:cNvPr>
              <p:cNvSpPr>
                <a:spLocks noRot="1" noChangeAspect="1" noMove="1" noResize="1" noEditPoints="1" noAdjustHandles="1" noChangeArrowheads="1" noChangeShapeType="1" noTextEdit="1"/>
              </p:cNvSpPr>
              <p:nvPr/>
            </p:nvSpPr>
            <p:spPr>
              <a:xfrm>
                <a:off x="6921200" y="6147630"/>
                <a:ext cx="1963166" cy="523220"/>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2877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对同时表示点与向量的标架可进行类似的操作</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考虑同一空间中的两个标架</a:t>
            </a:r>
            <a:r>
              <a:rPr lang="en-US" altLang="zh-CN" dirty="0">
                <a:latin typeface="Microsoft YaHei" charset="-122"/>
                <a:ea typeface="Microsoft YaHei" charset="-122"/>
                <a:cs typeface="Microsoft YaHei" charset="-122"/>
              </a:rPr>
              <a:t>:</a:t>
            </a:r>
          </a:p>
          <a:p>
            <a:endParaRPr lang="zh-CN" altLang="en-US" dirty="0">
              <a:latin typeface="Microsoft YaHei" charset="-122"/>
              <a:ea typeface="Microsoft YaHei" charset="-122"/>
              <a:cs typeface="Microsoft YaHei" charset="-122"/>
            </a:endParaRP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668995" y="5792470"/>
                <a:ext cx="2019079" cy="46166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ea typeface="Microsoft YaHei" charset="-122"/>
                              <a:cs typeface="Microsoft YaHei" charset="-122"/>
                            </a:rPr>
                          </m:ctrlPr>
                        </m:dPr>
                        <m:e>
                          <m:r>
                            <a:rPr lang="en-US" altLang="zh-CN" sz="2400" i="1" dirty="0" smtClean="0">
                              <a:latin typeface="Cambria Math" charset="0"/>
                              <a:ea typeface="Microsoft YaHei" charset="-122"/>
                              <a:cs typeface="Microsoft YaHei" charset="-122"/>
                            </a:rPr>
                            <m:t>𝑃</m:t>
                          </m:r>
                          <m:r>
                            <a:rPr lang="en-US" altLang="zh-CN" sz="2400" i="1" baseline="-25000" dirty="0" smtClean="0">
                              <a:latin typeface="Cambria Math" charset="0"/>
                              <a:ea typeface="Microsoft YaHei" charset="-122"/>
                              <a:cs typeface="Microsoft YaHei" charset="-122"/>
                            </a:rPr>
                            <m:t>0</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1</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2</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e>
                      </m:d>
                    </m:oMath>
                  </m:oMathPara>
                </a14:m>
                <a:endParaRPr lang="en-US" altLang="zh-CN" sz="2400" dirty="0">
                  <a:latin typeface="Microsoft YaHei" charset="-122"/>
                  <a:ea typeface="Microsoft YaHei" charset="-122"/>
                  <a:cs typeface="Microsoft YaHei" charset="-122"/>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668995" y="5792470"/>
                <a:ext cx="2019079" cy="461665"/>
              </a:xfrm>
              <a:prstGeom prst="rect">
                <a:avLst/>
              </a:prstGeom>
              <a:blipFill rotWithShape="0">
                <a:blip r:embed="rId2"/>
                <a:stretch>
                  <a:fillRect b="-6579"/>
                </a:stretch>
              </a:blipFill>
              <a:ln w="12700">
                <a:noFill/>
                <a:miter lim="800000"/>
                <a:headEnd type="none" w="sm" len="sm"/>
                <a:tailEnd type="none" w="sm" len="sm"/>
              </a:ln>
            </p:spPr>
            <p:txBody>
              <a:bodyPr/>
              <a:lstStyle/>
              <a:p>
                <a:r>
                  <a:rPr lang="en-US">
                    <a:noFill/>
                  </a:rPr>
                  <a:t> </a:t>
                </a:r>
              </a:p>
            </p:txBody>
          </p:sp>
        </mc:Fallback>
      </mc:AlternateContent>
      <p:sp>
        <p:nvSpPr>
          <p:cNvPr id="6" name="Line 5"/>
          <p:cNvSpPr>
            <a:spLocks noChangeShapeType="1"/>
          </p:cNvSpPr>
          <p:nvPr/>
        </p:nvSpPr>
        <p:spPr bwMode="auto">
          <a:xfrm>
            <a:off x="2468916" y="3558988"/>
            <a:ext cx="0" cy="990600"/>
          </a:xfrm>
          <a:prstGeom prst="line">
            <a:avLst/>
          </a:prstGeom>
          <a:noFill/>
          <a:ln w="12700">
            <a:solidFill>
              <a:schemeClr val="tx1"/>
            </a:solidFill>
            <a:round/>
            <a:headEnd type="triangle" w="med" len="med"/>
            <a:tailEnd type="none" w="sm" len="sm"/>
          </a:ln>
        </p:spPr>
        <p:txBody>
          <a:bodyPr anchor="ctr" anchorCtr="1"/>
          <a:lstStyle/>
          <a:p>
            <a:endParaRPr lang="zh-CN" altLang="en-US" sz="2400">
              <a:latin typeface="Microsoft YaHei" charset="-122"/>
              <a:ea typeface="Microsoft YaHei" charset="-122"/>
              <a:cs typeface="Microsoft YaHei" charset="-122"/>
            </a:endParaRPr>
          </a:p>
        </p:txBody>
      </p:sp>
      <p:sp>
        <p:nvSpPr>
          <p:cNvPr id="7" name="Line 6"/>
          <p:cNvSpPr>
            <a:spLocks noChangeShapeType="1"/>
          </p:cNvSpPr>
          <p:nvPr/>
        </p:nvSpPr>
        <p:spPr bwMode="auto">
          <a:xfrm>
            <a:off x="2468916" y="4549588"/>
            <a:ext cx="914400" cy="0"/>
          </a:xfrm>
          <a:prstGeom prst="line">
            <a:avLst/>
          </a:prstGeom>
          <a:noFill/>
          <a:ln w="12700">
            <a:solidFill>
              <a:schemeClr val="tx1"/>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8" name="Line 7"/>
          <p:cNvSpPr>
            <a:spLocks noChangeShapeType="1"/>
          </p:cNvSpPr>
          <p:nvPr/>
        </p:nvSpPr>
        <p:spPr bwMode="auto">
          <a:xfrm flipH="1">
            <a:off x="1859316" y="4549588"/>
            <a:ext cx="609600" cy="609600"/>
          </a:xfrm>
          <a:prstGeom prst="line">
            <a:avLst/>
          </a:prstGeom>
          <a:noFill/>
          <a:ln w="12700">
            <a:solidFill>
              <a:schemeClr val="tx1"/>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9" name="Text Box 8"/>
          <p:cNvSpPr txBox="1">
            <a:spLocks noChangeArrowheads="1"/>
          </p:cNvSpPr>
          <p:nvPr/>
        </p:nvSpPr>
        <p:spPr bwMode="auto">
          <a:xfrm>
            <a:off x="1895829" y="4047938"/>
            <a:ext cx="492443" cy="461665"/>
          </a:xfrm>
          <a:prstGeom prst="rect">
            <a:avLst/>
          </a:prstGeom>
          <a:noFill/>
          <a:ln w="12700">
            <a:noFill/>
            <a:miter lim="800000"/>
            <a:headEnd type="none" w="sm" len="sm"/>
            <a:tailEnd type="none" w="sm" len="sm"/>
          </a:ln>
        </p:spPr>
        <p:txBody>
          <a:bodyPr wrap="none" anchorCtr="1">
            <a:spAutoFit/>
          </a:bodyPr>
          <a:lstStyle/>
          <a:p>
            <a:r>
              <a:rPr lang="en-US" altLang="zh-CN" sz="2400" dirty="0">
                <a:latin typeface="Microsoft YaHei" charset="-122"/>
                <a:ea typeface="Microsoft YaHei" charset="-122"/>
                <a:cs typeface="Microsoft YaHei" charset="-122"/>
              </a:rPr>
              <a:t>P</a:t>
            </a:r>
            <a:r>
              <a:rPr lang="en-US" altLang="zh-CN" sz="2400" baseline="-25000" dirty="0">
                <a:latin typeface="Microsoft YaHei" charset="-122"/>
                <a:ea typeface="Microsoft YaHei" charset="-122"/>
                <a:cs typeface="Microsoft YaHei" charset="-122"/>
              </a:rPr>
              <a:t>0</a:t>
            </a:r>
          </a:p>
        </p:txBody>
      </p:sp>
      <p:sp>
        <p:nvSpPr>
          <p:cNvPr id="10" name="Text Box 9"/>
          <p:cNvSpPr txBox="1">
            <a:spLocks noChangeArrowheads="1"/>
          </p:cNvSpPr>
          <p:nvPr/>
        </p:nvSpPr>
        <p:spPr bwMode="auto">
          <a:xfrm>
            <a:off x="3278541" y="420033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1</a:t>
            </a:r>
          </a:p>
        </p:txBody>
      </p:sp>
      <p:sp>
        <p:nvSpPr>
          <p:cNvPr id="11" name="Text Box 10"/>
          <p:cNvSpPr txBox="1">
            <a:spLocks noChangeArrowheads="1"/>
          </p:cNvSpPr>
          <p:nvPr/>
        </p:nvSpPr>
        <p:spPr bwMode="auto">
          <a:xfrm>
            <a:off x="2211741" y="305733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2</a:t>
            </a:r>
          </a:p>
        </p:txBody>
      </p:sp>
      <p:sp>
        <p:nvSpPr>
          <p:cNvPr id="12" name="Text Box 11"/>
          <p:cNvSpPr txBox="1">
            <a:spLocks noChangeArrowheads="1"/>
          </p:cNvSpPr>
          <p:nvPr/>
        </p:nvSpPr>
        <p:spPr bwMode="auto">
          <a:xfrm>
            <a:off x="1325916" y="485438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3</a:t>
            </a:r>
          </a:p>
        </p:txBody>
      </p:sp>
      <p:sp>
        <p:nvSpPr>
          <p:cNvPr id="13" name="Line 12"/>
          <p:cNvSpPr>
            <a:spLocks noChangeShapeType="1"/>
          </p:cNvSpPr>
          <p:nvPr/>
        </p:nvSpPr>
        <p:spPr bwMode="auto">
          <a:xfrm flipV="1">
            <a:off x="5981744" y="3362138"/>
            <a:ext cx="685800" cy="8382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4" name="Line 13"/>
          <p:cNvSpPr>
            <a:spLocks noChangeShapeType="1"/>
          </p:cNvSpPr>
          <p:nvPr/>
        </p:nvSpPr>
        <p:spPr bwMode="auto">
          <a:xfrm flipH="1" flipV="1">
            <a:off x="5062249" y="3756106"/>
            <a:ext cx="914400" cy="4572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5" name="Line 14"/>
          <p:cNvSpPr>
            <a:spLocks noChangeShapeType="1"/>
          </p:cNvSpPr>
          <p:nvPr/>
        </p:nvSpPr>
        <p:spPr bwMode="auto">
          <a:xfrm>
            <a:off x="5981744" y="4200338"/>
            <a:ext cx="76200" cy="11430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6" name="Text Box 15"/>
          <p:cNvSpPr txBox="1">
            <a:spLocks noChangeArrowheads="1"/>
          </p:cNvSpPr>
          <p:nvPr/>
        </p:nvSpPr>
        <p:spPr bwMode="auto">
          <a:xfrm>
            <a:off x="5421689" y="4103005"/>
            <a:ext cx="554960"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Q</a:t>
            </a:r>
            <a:r>
              <a:rPr lang="en-US" altLang="zh-CN" sz="2400" baseline="-25000">
                <a:latin typeface="Microsoft YaHei" charset="-122"/>
                <a:ea typeface="Microsoft YaHei" charset="-122"/>
                <a:cs typeface="Microsoft YaHei" charset="-122"/>
              </a:rPr>
              <a:t>0</a:t>
            </a:r>
          </a:p>
        </p:txBody>
      </p:sp>
      <p:sp>
        <p:nvSpPr>
          <p:cNvPr id="17" name="Text Box 16"/>
          <p:cNvSpPr txBox="1">
            <a:spLocks noChangeArrowheads="1"/>
          </p:cNvSpPr>
          <p:nvPr/>
        </p:nvSpPr>
        <p:spPr bwMode="auto">
          <a:xfrm>
            <a:off x="5067344" y="3285938"/>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1</a:t>
            </a:r>
          </a:p>
        </p:txBody>
      </p:sp>
      <p:sp>
        <p:nvSpPr>
          <p:cNvPr id="18" name="Text Box 17"/>
          <p:cNvSpPr txBox="1">
            <a:spLocks noChangeArrowheads="1"/>
          </p:cNvSpPr>
          <p:nvPr/>
        </p:nvSpPr>
        <p:spPr bwMode="auto">
          <a:xfrm>
            <a:off x="6704390" y="3076422"/>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2</a:t>
            </a:r>
          </a:p>
        </p:txBody>
      </p:sp>
      <p:sp>
        <p:nvSpPr>
          <p:cNvPr id="19" name="Text Box 18"/>
          <p:cNvSpPr txBox="1">
            <a:spLocks noChangeArrowheads="1"/>
          </p:cNvSpPr>
          <p:nvPr/>
        </p:nvSpPr>
        <p:spPr bwMode="auto">
          <a:xfrm>
            <a:off x="6147881" y="5112505"/>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3</a:t>
            </a:r>
          </a:p>
        </p:txBody>
      </p:sp>
      <mc:AlternateContent xmlns:mc="http://schemas.openxmlformats.org/markup-compatibility/2006" xmlns:a14="http://schemas.microsoft.com/office/drawing/2010/main">
        <mc:Choice Requires="a14">
          <p:sp>
            <p:nvSpPr>
              <p:cNvPr id="20" name="Text Box 4"/>
              <p:cNvSpPr txBox="1">
                <a:spLocks noChangeArrowheads="1"/>
              </p:cNvSpPr>
              <p:nvPr/>
            </p:nvSpPr>
            <p:spPr bwMode="auto">
              <a:xfrm>
                <a:off x="5200062" y="5804676"/>
                <a:ext cx="2066591" cy="46166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charset="0"/>
                          <a:ea typeface="Microsoft YaHei" charset="-122"/>
                          <a:cs typeface="Microsoft YaHei" charset="-122"/>
                        </a:rPr>
                        <m:t>(</m:t>
                      </m:r>
                      <m:r>
                        <a:rPr lang="en-US" altLang="zh-CN" sz="2400" i="1" dirty="0">
                          <a:latin typeface="Cambria Math" charset="0"/>
                          <a:ea typeface="Microsoft YaHei" charset="-122"/>
                          <a:cs typeface="Microsoft YaHei" charset="-122"/>
                        </a:rPr>
                        <m:t>𝑄</m:t>
                      </m:r>
                      <m:r>
                        <a:rPr lang="en-US" altLang="zh-CN" sz="2400" i="1" baseline="-25000" dirty="0">
                          <a:latin typeface="Cambria Math" charset="0"/>
                          <a:ea typeface="Microsoft YaHei" charset="-122"/>
                          <a:cs typeface="Microsoft YaHei" charset="-122"/>
                        </a:rPr>
                        <m:t>0</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m:t>
                      </m:r>
                    </m:oMath>
                  </m:oMathPara>
                </a14:m>
                <a:endParaRPr lang="en-US" altLang="zh-CN" sz="2400" dirty="0">
                  <a:latin typeface="Microsoft YaHei" charset="-122"/>
                  <a:ea typeface="Microsoft YaHei" charset="-122"/>
                  <a:cs typeface="Microsoft YaHei" charset="-122"/>
                </a:endParaRPr>
              </a:p>
            </p:txBody>
          </p:sp>
        </mc:Choice>
        <mc:Fallback xmlns="">
          <p:sp>
            <p:nvSpPr>
              <p:cNvPr id="20" name="Text Box 4"/>
              <p:cNvSpPr txBox="1">
                <a:spLocks noRot="1" noChangeAspect="1" noMove="1" noResize="1" noEditPoints="1" noAdjustHandles="1" noChangeArrowheads="1" noChangeShapeType="1" noTextEdit="1"/>
              </p:cNvSpPr>
              <p:nvPr/>
            </p:nvSpPr>
            <p:spPr bwMode="auto">
              <a:xfrm>
                <a:off x="5200062" y="5804676"/>
                <a:ext cx="2066591" cy="461665"/>
              </a:xfrm>
              <a:prstGeom prst="rect">
                <a:avLst/>
              </a:prstGeom>
              <a:blipFill rotWithShape="0">
                <a:blip r:embed="rId3"/>
                <a:stretch>
                  <a:fillRect l="-2065" b="-18421"/>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539149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把基的改变方法推广可有</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由此定义了</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mc:AlternateContent xmlns:mc="http://schemas.openxmlformats.org/markup-compatibility/2006" xmlns:a14="http://schemas.microsoft.com/office/drawing/2010/main">
        <mc:Choice Requires="a14">
          <p:sp>
            <p:nvSpPr>
              <p:cNvPr id="5" name="Text Box 1029"/>
              <p:cNvSpPr txBox="1">
                <a:spLocks noChangeArrowheads="1"/>
              </p:cNvSpPr>
              <p:nvPr/>
            </p:nvSpPr>
            <p:spPr>
              <a:xfrm>
                <a:off x="2017073" y="1954510"/>
                <a:ext cx="4728487"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5" name="Text Box 1029"/>
              <p:cNvSpPr txBox="1">
                <a:spLocks noRot="1" noChangeAspect="1" noMove="1" noResize="1" noEditPoints="1" noAdjustHandles="1" noChangeArrowheads="1" noChangeShapeType="1" noTextEdit="1"/>
              </p:cNvSpPr>
              <p:nvPr/>
            </p:nvSpPr>
            <p:spPr>
              <a:xfrm>
                <a:off x="2017073" y="1954510"/>
                <a:ext cx="4728487" cy="1676400"/>
              </a:xfrm>
              <a:prstGeom prst="rect">
                <a:avLst/>
              </a:prstGeom>
              <a:blipFill rotWithShape="0">
                <a:blip r:embed="rId2"/>
                <a:stretch>
                  <a:fillRect l="-902"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1770526" y="4627176"/>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1770526" y="4627176"/>
                <a:ext cx="4655890" cy="1606081"/>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p:sp>
        <p:nvSpPr>
          <p:cNvPr id="9" name="文本框 8">
            <a:extLst>
              <a:ext uri="{FF2B5EF4-FFF2-40B4-BE49-F238E27FC236}">
                <a16:creationId xmlns:a16="http://schemas.microsoft.com/office/drawing/2014/main" id="{1DB0B9C4-2019-4364-A51C-21EA0F3BF336}"/>
              </a:ext>
            </a:extLst>
          </p:cNvPr>
          <p:cNvSpPr txBox="1"/>
          <p:nvPr/>
        </p:nvSpPr>
        <p:spPr>
          <a:xfrm>
            <a:off x="549253" y="4764405"/>
            <a:ext cx="4614420" cy="523220"/>
          </a:xfrm>
          <a:prstGeom prst="rect">
            <a:avLst/>
          </a:prstGeom>
          <a:noFill/>
        </p:spPr>
        <p:txBody>
          <a:bodyPr wrap="square">
            <a:spAutoFit/>
          </a:bodyPr>
          <a:lstStyle/>
          <a:p>
            <a:r>
              <a:rPr lang="zh-CN" altLang="en-US" sz="2800" b="1" dirty="0">
                <a:highlight>
                  <a:srgbClr val="FFFF00"/>
                </a:highlight>
              </a:rPr>
              <a:t>标架</a:t>
            </a:r>
          </a:p>
        </p:txBody>
      </p:sp>
    </p:spTree>
    <p:extLst>
      <p:ext uri="{BB962C8B-B14F-4D97-AF65-F5344CB8AC3E}">
        <p14:creationId xmlns:p14="http://schemas.microsoft.com/office/powerpoint/2010/main" val="4763508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dirty="0">
                    <a:latin typeface="Microsoft YaHei" charset="-122"/>
                    <a:ea typeface="Microsoft YaHei" charset="-122"/>
                    <a:cs typeface="Microsoft YaHei" charset="-122"/>
                  </a:rPr>
                  <a:t>在第一个标架中：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在第二个标架中：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表示的是点时，</a:t>
                </a:r>
                <a:r>
                  <a:rPr lang="en-US" altLang="zh-CN" dirty="0">
                    <a:latin typeface="Microsoft YaHei" charset="-122"/>
                    <a:ea typeface="Microsoft YaHei" charset="-122"/>
                    <a:cs typeface="Microsoft YaHei" charset="-122"/>
                  </a:rPr>
                  <a:t> </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1</m:t>
                    </m:r>
                  </m:oMath>
                </a14:m>
                <a:endParaRPr lang="en-US" altLang="zh-CN" b="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表示的是向量时，</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0</m:t>
                    </m:r>
                  </m:oMath>
                </a14:m>
                <a:endParaRPr lang="en-US" altLang="zh-CN" dirty="0">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dirty="0">
                    <a:solidFill>
                      <a:srgbClr val="FF0000"/>
                    </a:solidFill>
                    <a:latin typeface="Microsoft YaHei" charset="-122"/>
                    <a:ea typeface="Microsoft YaHei" charset="-122"/>
                    <a:cs typeface="Microsoft YaHei" charset="-122"/>
                  </a:rPr>
                  <a:t>仿射变换：</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highlight>
                            <a:srgbClr val="FFFF00"/>
                          </a:highlight>
                          <a:latin typeface="Cambria Math" charset="0"/>
                          <a:ea typeface="Microsoft YaHei" charset="-122"/>
                          <a:cs typeface="Microsoft YaHei" charset="-122"/>
                        </a:rPr>
                        <m:t>𝒂</m:t>
                      </m:r>
                      <m:r>
                        <a:rPr lang="en-US" altLang="zh-CN" sz="2800" b="0" i="1" dirty="0" smtClean="0">
                          <a:highlight>
                            <a:srgbClr val="FFFF00"/>
                          </a:highlight>
                          <a:latin typeface="Cambria Math" charset="0"/>
                          <a:ea typeface="Microsoft YaHei" charset="-122"/>
                          <a:cs typeface="Microsoft YaHei" charset="-122"/>
                        </a:rPr>
                        <m:t>=</m:t>
                      </m:r>
                      <m:sSup>
                        <m:sSupPr>
                          <m:ctrlPr>
                            <a:rPr lang="en-US" altLang="zh-CN" sz="2800" b="0" i="1" dirty="0" smtClean="0">
                              <a:highlight>
                                <a:srgbClr val="FFFF00"/>
                              </a:highlight>
                              <a:latin typeface="Cambria Math" panose="02040503050406030204" pitchFamily="18" charset="0"/>
                              <a:ea typeface="Microsoft YaHei" charset="-122"/>
                              <a:cs typeface="Microsoft YaHei" charset="-122"/>
                            </a:rPr>
                          </m:ctrlPr>
                        </m:sSupPr>
                        <m:e>
                          <m:r>
                            <a:rPr lang="en-US" altLang="zh-CN" sz="2800" b="0" i="1" dirty="0" smtClean="0">
                              <a:highlight>
                                <a:srgbClr val="FFFF00"/>
                              </a:highlight>
                              <a:latin typeface="Cambria Math" charset="0"/>
                              <a:ea typeface="Microsoft YaHei" charset="-122"/>
                              <a:cs typeface="Microsoft YaHei" charset="-122"/>
                            </a:rPr>
                            <m:t>𝑀</m:t>
                          </m:r>
                        </m:e>
                        <m:sup>
                          <m:r>
                            <a:rPr lang="en-US" altLang="zh-CN" sz="2800" b="0" i="1" dirty="0" smtClean="0">
                              <a:highlight>
                                <a:srgbClr val="FFFF00"/>
                              </a:highlight>
                              <a:latin typeface="Cambria Math" charset="0"/>
                              <a:ea typeface="Microsoft YaHei" charset="-122"/>
                              <a:cs typeface="Microsoft YaHei" charset="-122"/>
                            </a:rPr>
                            <m:t>𝑇</m:t>
                          </m:r>
                        </m:sup>
                      </m:sSup>
                      <m:r>
                        <a:rPr lang="en-US" altLang="zh-CN" sz="2800" b="1" i="1" dirty="0" smtClean="0">
                          <a:highlight>
                            <a:srgbClr val="FFFF00"/>
                          </a:highlight>
                          <a:latin typeface="Cambria Math" charset="0"/>
                          <a:ea typeface="Microsoft YaHei" charset="-122"/>
                          <a:cs typeface="Microsoft YaHei" charset="-122"/>
                        </a:rPr>
                        <m:t>𝒃</m:t>
                      </m:r>
                    </m:oMath>
                  </m:oMathPara>
                </a14:m>
                <a:endParaRPr lang="en-US" altLang="zh-CN" sz="2800" b="1" baseline="-25000" dirty="0">
                  <a:highlight>
                    <a:srgbClr val="FFFF00"/>
                  </a:highlight>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a:blip r:embed="rId3"/>
                <a:stretch>
                  <a:fillRect/>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6541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164566" y="1908035"/>
            <a:ext cx="5780156" cy="2461003"/>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4908123"/>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00B0F0"/>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solidFill>
                  <a:srgbClr val="7030A0"/>
                </a:solidFill>
              </a:rPr>
              <a:t>裁剪坐标系</a:t>
            </a:r>
            <a:endParaRPr lang="en-US" altLang="zh-CN" sz="1800" dirty="0">
              <a:solidFill>
                <a:srgbClr val="7030A0"/>
              </a:solidFill>
            </a:endParaRPr>
          </a:p>
          <a:p>
            <a:pPr lvl="1">
              <a:buClr>
                <a:schemeClr val="tx1"/>
              </a:buClr>
            </a:pPr>
            <a:r>
              <a:rPr lang="zh-CN" altLang="en-US" sz="1800" dirty="0">
                <a:solidFill>
                  <a:srgbClr val="7030A0"/>
                </a:solidFill>
              </a:rPr>
              <a:t>规范化的设备坐标系</a:t>
            </a:r>
            <a:endParaRPr lang="en-US" altLang="zh-CN" sz="1800" dirty="0">
              <a:solidFill>
                <a:srgbClr val="7030A0"/>
              </a:solidFill>
            </a:endParaRPr>
          </a:p>
          <a:p>
            <a:pPr lvl="1">
              <a:buClr>
                <a:schemeClr val="tx1"/>
              </a:buClr>
            </a:pPr>
            <a:r>
              <a:rPr lang="zh-CN" altLang="en-US" sz="1800" dirty="0"/>
              <a:t>屏幕坐标系</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标架中的坐标采用齐次坐标表示</a:t>
            </a:r>
            <a:endParaRPr lang="en-US" altLang="zh-CN" sz="2400" dirty="0"/>
          </a:p>
          <a:p>
            <a:endParaRPr lang="en-US" altLang="zh-CN" sz="2400" dirty="0"/>
          </a:p>
          <a:p>
            <a:r>
              <a:rPr lang="zh-CN" altLang="en-US" sz="2400" dirty="0"/>
              <a:t>标架之间的变换用仿射变换矩阵实现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38</a:t>
            </a:fld>
            <a:endParaRPr lang="zh-CN" altLang="en-US"/>
          </a:p>
        </p:txBody>
      </p:sp>
      <p:cxnSp>
        <p:nvCxnSpPr>
          <p:cNvPr id="8" name="直接箭头连接符 7"/>
          <p:cNvCxnSpPr/>
          <p:nvPr/>
        </p:nvCxnSpPr>
        <p:spPr>
          <a:xfrm flipH="1" flipV="1">
            <a:off x="4371243" y="2709172"/>
            <a:ext cx="6503" cy="48651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589005" y="3178103"/>
            <a:ext cx="1577483" cy="307777"/>
          </a:xfrm>
          <a:prstGeom prst="rect">
            <a:avLst/>
          </a:prstGeom>
          <a:noFill/>
        </p:spPr>
        <p:txBody>
          <a:bodyPr wrap="none" rtlCol="0">
            <a:spAutoFit/>
          </a:bodyPr>
          <a:lstStyle/>
          <a:p>
            <a:r>
              <a:rPr lang="en-US" altLang="zh-CN" sz="1400" b="1" dirty="0">
                <a:solidFill>
                  <a:schemeClr val="bg2">
                    <a:lumMod val="25000"/>
                  </a:schemeClr>
                </a:solidFill>
              </a:rPr>
              <a:t>World Coordinates</a:t>
            </a:r>
            <a:endParaRPr lang="zh-CN" altLang="en-US" sz="1400" b="1" dirty="0">
              <a:solidFill>
                <a:schemeClr val="bg2">
                  <a:lumMod val="25000"/>
                </a:schemeClr>
              </a:solidFill>
            </a:endParaRPr>
          </a:p>
        </p:txBody>
      </p:sp>
    </p:spTree>
    <p:extLst>
      <p:ext uri="{BB962C8B-B14F-4D97-AF65-F5344CB8AC3E}">
        <p14:creationId xmlns:p14="http://schemas.microsoft.com/office/powerpoint/2010/main" val="4155177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相机的移动</a:t>
            </a:r>
          </a:p>
        </p:txBody>
      </p:sp>
      <p:sp>
        <p:nvSpPr>
          <p:cNvPr id="3" name="内容占位符 2"/>
          <p:cNvSpPr>
            <a:spLocks noGrp="1"/>
          </p:cNvSpPr>
          <p:nvPr>
            <p:ph idx="1"/>
          </p:nvPr>
        </p:nvSpPr>
        <p:spPr/>
        <p:txBody>
          <a:bodyPr>
            <a:normAutofit/>
          </a:bodyPr>
          <a:lstStyle/>
          <a:p>
            <a:pPr>
              <a:buClr>
                <a:srgbClr val="94003F"/>
              </a:buClr>
            </a:pPr>
            <a:r>
              <a:rPr lang="zh-CN" altLang="en-US" sz="2400" dirty="0"/>
              <a:t>观察前方场景：</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spcAft>
                <a:spcPts val="800"/>
              </a:spcAft>
              <a:buClr>
                <a:srgbClr val="94003F"/>
              </a:buClr>
            </a:pPr>
            <a:r>
              <a:rPr lang="zh-CN" altLang="en-US" sz="2400" dirty="0"/>
              <a:t>在世界坐标系中指定相机的位置与朝向：</a:t>
            </a:r>
            <a:endParaRPr lang="en-US" altLang="zh-CN" sz="2400" dirty="0"/>
          </a:p>
          <a:p>
            <a:pPr marL="0" indent="0">
              <a:buNone/>
            </a:pPr>
            <a:r>
              <a:rPr lang="zh-CN" altLang="en-US" sz="2400" dirty="0">
                <a:solidFill>
                  <a:srgbClr val="00B050"/>
                </a:solidFill>
              </a:rPr>
              <a:t>     </a:t>
            </a: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6" name="图片 5"/>
          <p:cNvPicPr>
            <a:picLocks noChangeAspect="1"/>
          </p:cNvPicPr>
          <p:nvPr/>
        </p:nvPicPr>
        <p:blipFill>
          <a:blip r:embed="rId2"/>
          <a:stretch>
            <a:fillRect/>
          </a:stretch>
        </p:blipFill>
        <p:spPr>
          <a:xfrm>
            <a:off x="1602445" y="2008374"/>
            <a:ext cx="2045672" cy="1827208"/>
          </a:xfrm>
          <a:prstGeom prst="rect">
            <a:avLst/>
          </a:prstGeom>
        </p:spPr>
      </p:pic>
      <p:pic>
        <p:nvPicPr>
          <p:cNvPr id="7" name="图片 6"/>
          <p:cNvPicPr>
            <a:picLocks noChangeAspect="1"/>
          </p:cNvPicPr>
          <p:nvPr/>
        </p:nvPicPr>
        <p:blipFill rotWithShape="1">
          <a:blip r:embed="rId3"/>
          <a:srcRect b="5069"/>
          <a:stretch/>
        </p:blipFill>
        <p:spPr>
          <a:xfrm>
            <a:off x="4731387" y="1040578"/>
            <a:ext cx="2320044" cy="2656009"/>
          </a:xfrm>
          <a:prstGeom prst="rect">
            <a:avLst/>
          </a:prstGeom>
        </p:spPr>
      </p:pic>
      <p:sp>
        <p:nvSpPr>
          <p:cNvPr id="8" name="文本框 7"/>
          <p:cNvSpPr txBox="1"/>
          <p:nvPr/>
        </p:nvSpPr>
        <p:spPr>
          <a:xfrm>
            <a:off x="2745306" y="1854093"/>
            <a:ext cx="902811"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初始标架</a:t>
            </a:r>
          </a:p>
        </p:txBody>
      </p:sp>
      <p:sp>
        <p:nvSpPr>
          <p:cNvPr id="9" name="文本框 8"/>
          <p:cNvSpPr txBox="1"/>
          <p:nvPr/>
        </p:nvSpPr>
        <p:spPr>
          <a:xfrm>
            <a:off x="6114993" y="3291706"/>
            <a:ext cx="1082348"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变换后标架</a:t>
            </a:r>
          </a:p>
        </p:txBody>
      </p:sp>
      <p:pic>
        <p:nvPicPr>
          <p:cNvPr id="10" name="图片 9"/>
          <p:cNvPicPr>
            <a:picLocks noChangeAspect="1"/>
          </p:cNvPicPr>
          <p:nvPr/>
        </p:nvPicPr>
        <p:blipFill>
          <a:blip r:embed="rId4"/>
          <a:stretch>
            <a:fillRect/>
          </a:stretch>
        </p:blipFill>
        <p:spPr>
          <a:xfrm>
            <a:off x="1388190" y="4745694"/>
            <a:ext cx="1817035" cy="1844949"/>
          </a:xfrm>
          <a:prstGeom prst="rect">
            <a:avLst/>
          </a:prstGeom>
        </p:spPr>
      </p:pic>
      <p:sp>
        <p:nvSpPr>
          <p:cNvPr id="11" name="文本框 10"/>
          <p:cNvSpPr txBox="1"/>
          <p:nvPr/>
        </p:nvSpPr>
        <p:spPr>
          <a:xfrm>
            <a:off x="3109181" y="6225392"/>
            <a:ext cx="1234633"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0</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p>
        </p:txBody>
      </p:sp>
      <p:pic>
        <p:nvPicPr>
          <p:cNvPr id="12" name="图片 11"/>
          <p:cNvPicPr>
            <a:picLocks noChangeAspect="1"/>
          </p:cNvPicPr>
          <p:nvPr/>
        </p:nvPicPr>
        <p:blipFill>
          <a:blip r:embed="rId5"/>
          <a:stretch>
            <a:fillRect/>
          </a:stretch>
        </p:blipFill>
        <p:spPr>
          <a:xfrm>
            <a:off x="4720161" y="4745694"/>
            <a:ext cx="2903740" cy="1416819"/>
          </a:xfrm>
          <a:prstGeom prst="rect">
            <a:avLst/>
          </a:prstGeom>
        </p:spPr>
      </p:pic>
      <p:sp>
        <p:nvSpPr>
          <p:cNvPr id="13" name="文本框 12"/>
          <p:cNvSpPr txBox="1"/>
          <p:nvPr/>
        </p:nvSpPr>
        <p:spPr>
          <a:xfrm>
            <a:off x="5102668" y="6282866"/>
            <a:ext cx="2138727" cy="307777"/>
          </a:xfrm>
          <a:prstGeom prst="rect">
            <a:avLst/>
          </a:prstGeom>
          <a:noFill/>
        </p:spPr>
        <p:txBody>
          <a:bodyPr wrap="none" rtlCol="0">
            <a:spAutoFit/>
          </a:bodyPr>
          <a:lstStyle/>
          <a:p>
            <a:pPr algn="ctr"/>
            <a:r>
              <a:rPr lang="en-US" altLang="zh-CN" sz="1400" b="1" dirty="0">
                <a:latin typeface="微软雅黑" panose="020B0503020204020204" pitchFamily="34" charset="-122"/>
                <a:ea typeface="微软雅黑" panose="020B0503020204020204" pitchFamily="34" charset="-122"/>
              </a:rPr>
              <a:t>u</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v</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n</a:t>
            </a:r>
            <a:r>
              <a:rPr lang="zh-CN" altLang="en-US" sz="1400" b="1" dirty="0">
                <a:latin typeface="微软雅黑" panose="020B0503020204020204" pitchFamily="34" charset="-122"/>
                <a:ea typeface="微软雅黑" panose="020B0503020204020204" pitchFamily="34" charset="-122"/>
              </a:rPr>
              <a:t>定义了相机朝向</a:t>
            </a:r>
          </a:p>
        </p:txBody>
      </p:sp>
    </p:spTree>
    <p:extLst>
      <p:ext uri="{BB962C8B-B14F-4D97-AF65-F5344CB8AC3E}">
        <p14:creationId xmlns:p14="http://schemas.microsoft.com/office/powerpoint/2010/main" val="531322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矩阵与向量</a:t>
            </a:r>
          </a:p>
        </p:txBody>
      </p:sp>
      <p:sp>
        <p:nvSpPr>
          <p:cNvPr id="3" name="内容占位符 2"/>
          <p:cNvSpPr>
            <a:spLocks noGrp="1"/>
          </p:cNvSpPr>
          <p:nvPr>
            <p:ph idx="1"/>
          </p:nvPr>
        </p:nvSpPr>
        <p:spPr/>
        <p:txBody>
          <a:bodyPr>
            <a:normAutofit/>
          </a:bodyPr>
          <a:lstStyle/>
          <a:p>
            <a:pPr>
              <a:buClr>
                <a:srgbClr val="94003F"/>
              </a:buClr>
            </a:pPr>
            <a:r>
              <a:rPr lang="zh-CN" altLang="en-US" sz="2400" dirty="0"/>
              <a:t>矩阵与向量的编码</a:t>
            </a:r>
            <a:endParaRPr lang="en-US" altLang="zh-CN" sz="1800" dirty="0"/>
          </a:p>
          <a:p>
            <a:pPr lvl="1">
              <a:buClr>
                <a:schemeClr val="tx1"/>
              </a:buClr>
            </a:pPr>
            <a:r>
              <a:rPr lang="zh-CN" altLang="en-US" sz="1800" dirty="0"/>
              <a:t>基本数据类型：</a:t>
            </a:r>
            <a:r>
              <a:rPr lang="sv-SE" altLang="zh-CN" sz="1800" dirty="0"/>
              <a:t>mat2, mat3, mat4, vec2, vec3, vec4</a:t>
            </a:r>
            <a:endParaRPr lang="en-US" altLang="zh-CN" sz="1800" dirty="0"/>
          </a:p>
          <a:p>
            <a:pPr marL="457200" lvl="1" indent="0">
              <a:buClr>
                <a:schemeClr val="tx1"/>
              </a:buClr>
              <a:buNone/>
            </a:pPr>
            <a:endParaRPr lang="en-US" altLang="zh-CN" sz="1800" dirty="0"/>
          </a:p>
          <a:p>
            <a:r>
              <a:rPr lang="zh-CN" altLang="en-US" sz="2400" dirty="0"/>
              <a:t>代码示例：</a:t>
            </a:r>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sp>
        <p:nvSpPr>
          <p:cNvPr id="12" name="矩形 11"/>
          <p:cNvSpPr/>
          <p:nvPr/>
        </p:nvSpPr>
        <p:spPr>
          <a:xfrm>
            <a:off x="1443440" y="3045777"/>
            <a:ext cx="7071910" cy="3477875"/>
          </a:xfrm>
          <a:prstGeom prst="rect">
            <a:avLst/>
          </a:prstGeom>
          <a:solidFill>
            <a:srgbClr val="BDD7EE">
              <a:alpha val="52941"/>
            </a:srgbClr>
          </a:solidFill>
        </p:spPr>
        <p:txBody>
          <a:bodyPr wrap="square">
            <a:spAutoFit/>
          </a:bodyPr>
          <a:lstStyle/>
          <a:p>
            <a:r>
              <a:rPr lang="en-US" altLang="zh-CN" sz="2000" dirty="0">
                <a:solidFill>
                  <a:srgbClr val="0000FF"/>
                </a:solidFill>
              </a:rPr>
              <a:t>#include </a:t>
            </a:r>
            <a:r>
              <a:rPr lang="en-US" altLang="zh-CN" sz="2000" dirty="0"/>
              <a:t>&lt;</a:t>
            </a:r>
            <a:r>
              <a:rPr lang="en-US" altLang="zh-CN" sz="2000" dirty="0" err="1"/>
              <a:t>glm</a:t>
            </a:r>
            <a:r>
              <a:rPr lang="en-US" altLang="zh-CN" sz="2000" dirty="0"/>
              <a:t>/glm.hpp&gt;</a:t>
            </a:r>
          </a:p>
          <a:p>
            <a:r>
              <a:rPr lang="en-US" altLang="zh-CN" sz="2000" dirty="0" err="1">
                <a:solidFill>
                  <a:srgbClr val="0000FF"/>
                </a:solidFill>
              </a:rPr>
              <a:t>glm</a:t>
            </a:r>
            <a:r>
              <a:rPr lang="en-US" altLang="zh-CN" sz="2000" dirty="0">
                <a:solidFill>
                  <a:srgbClr val="0000FF"/>
                </a:solidFill>
              </a:rPr>
              <a:t>::vec4</a:t>
            </a:r>
            <a:r>
              <a:rPr lang="en-US" altLang="zh-CN" sz="2000" dirty="0"/>
              <a:t> x, y = </a:t>
            </a:r>
            <a:r>
              <a:rPr lang="en-US" altLang="zh-CN" sz="2000" dirty="0" err="1">
                <a:solidFill>
                  <a:srgbClr val="0000FF"/>
                </a:solidFill>
              </a:rPr>
              <a:t>glm</a:t>
            </a:r>
            <a:r>
              <a:rPr lang="en-US" altLang="zh-CN" sz="2000" dirty="0">
                <a:solidFill>
                  <a:srgbClr val="0000FF"/>
                </a:solidFill>
              </a:rPr>
              <a:t>::vec4</a:t>
            </a:r>
            <a:r>
              <a:rPr lang="en-US" altLang="zh-CN" sz="2000" dirty="0"/>
              <a:t>(1.0, 2.0, 3.0, 1.0); </a:t>
            </a:r>
            <a:r>
              <a:rPr lang="en-US" altLang="zh-CN" sz="2000" dirty="0">
                <a:solidFill>
                  <a:srgbClr val="00B050"/>
                </a:solidFill>
              </a:rPr>
              <a:t>// vector</a:t>
            </a:r>
            <a:r>
              <a:rPr lang="zh-CN" altLang="en-US" sz="2000" dirty="0">
                <a:solidFill>
                  <a:srgbClr val="00B050"/>
                </a:solidFill>
              </a:rPr>
              <a:t> </a:t>
            </a:r>
            <a:r>
              <a:rPr lang="en-US" altLang="zh-CN" sz="2000" dirty="0">
                <a:solidFill>
                  <a:srgbClr val="00B050"/>
                </a:solidFill>
              </a:rPr>
              <a:t>constructor</a:t>
            </a:r>
          </a:p>
          <a:p>
            <a:r>
              <a:rPr lang="en-US" altLang="zh-CN" sz="2000" dirty="0"/>
              <a:t>x = 2.0*y;</a:t>
            </a:r>
          </a:p>
          <a:p>
            <a:r>
              <a:rPr lang="en-US" altLang="zh-CN" sz="2000" dirty="0"/>
              <a:t>x[2] = 5.0;</a:t>
            </a:r>
          </a:p>
          <a:p>
            <a:r>
              <a:rPr lang="en-US" altLang="zh-CN" sz="2000" dirty="0" err="1">
                <a:solidFill>
                  <a:srgbClr val="0000FF"/>
                </a:solidFill>
              </a:rPr>
              <a:t>glm</a:t>
            </a:r>
            <a:r>
              <a:rPr lang="en-US" altLang="zh-CN" sz="2000" dirty="0">
                <a:solidFill>
                  <a:srgbClr val="0000FF"/>
                </a:solidFill>
              </a:rPr>
              <a:t>::mat4</a:t>
            </a:r>
            <a:r>
              <a:rPr lang="en-US" altLang="zh-CN" sz="2000" dirty="0"/>
              <a:t> a, b = </a:t>
            </a:r>
            <a:r>
              <a:rPr lang="en-US" altLang="zh-CN" sz="2000" dirty="0" err="1">
                <a:solidFill>
                  <a:srgbClr val="0000FF"/>
                </a:solidFill>
              </a:rPr>
              <a:t>glm</a:t>
            </a:r>
            <a:r>
              <a:rPr lang="en-US" altLang="zh-CN" sz="2000" dirty="0">
                <a:solidFill>
                  <a:srgbClr val="0000FF"/>
                </a:solidFill>
              </a:rPr>
              <a:t>::mat4</a:t>
            </a:r>
            <a:r>
              <a:rPr lang="en-US" altLang="zh-CN" sz="2000" dirty="0"/>
              <a:t>(vec4(y), vec4(x), vec4(y), vec4(x)); </a:t>
            </a:r>
            <a:r>
              <a:rPr lang="en-US" altLang="zh-CN" sz="2000" dirty="0">
                <a:solidFill>
                  <a:srgbClr val="00B050"/>
                </a:solidFill>
              </a:rPr>
              <a:t>//matrix constructor</a:t>
            </a:r>
          </a:p>
          <a:p>
            <a:r>
              <a:rPr lang="en-US" altLang="zh-CN" sz="2000" dirty="0">
                <a:solidFill>
                  <a:srgbClr val="0000FF"/>
                </a:solidFill>
              </a:rPr>
              <a:t>float</a:t>
            </a:r>
            <a:r>
              <a:rPr lang="en-US" altLang="zh-CN" sz="2000" dirty="0"/>
              <a:t> s = 2.5;</a:t>
            </a:r>
          </a:p>
          <a:p>
            <a:r>
              <a:rPr lang="en-US" altLang="zh-CN" sz="2000" dirty="0"/>
              <a:t>a[2][1] = 3.5;			// </a:t>
            </a:r>
            <a:r>
              <a:rPr lang="zh-CN" altLang="en-US" sz="2000" dirty="0"/>
              <a:t>第二行第一列</a:t>
            </a:r>
            <a:endParaRPr lang="en-US" altLang="zh-CN" sz="2000" dirty="0"/>
          </a:p>
          <a:p>
            <a:r>
              <a:rPr lang="en-US" altLang="zh-CN" sz="2000" dirty="0"/>
              <a:t>b = s*a;</a:t>
            </a:r>
          </a:p>
          <a:p>
            <a:r>
              <a:rPr lang="en-US" altLang="zh-CN" sz="2000" dirty="0" err="1">
                <a:solidFill>
                  <a:srgbClr val="0000FF"/>
                </a:solidFill>
              </a:rPr>
              <a:t>glm</a:t>
            </a:r>
            <a:r>
              <a:rPr lang="en-US" altLang="zh-CN" sz="2000" dirty="0">
                <a:solidFill>
                  <a:srgbClr val="0000FF"/>
                </a:solidFill>
              </a:rPr>
              <a:t>::vec4</a:t>
            </a:r>
            <a:r>
              <a:rPr lang="en-US" altLang="zh-CN" sz="2000" dirty="0"/>
              <a:t> z = b*x;</a:t>
            </a:r>
          </a:p>
          <a:p>
            <a:r>
              <a:rPr lang="en-US" altLang="zh-CN" sz="2000" dirty="0"/>
              <a:t>y = x*b;</a:t>
            </a:r>
            <a:endParaRPr lang="zh-CN" altLang="en-US" dirty="0"/>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796688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几何对象实例绘制</a:t>
            </a:r>
            <a:endParaRPr lang="en-US" dirty="0"/>
          </a:p>
        </p:txBody>
      </p:sp>
      <p:sp>
        <p:nvSpPr>
          <p:cNvPr id="3" name="Content Placeholder 2"/>
          <p:cNvSpPr>
            <a:spLocks noGrp="1"/>
          </p:cNvSpPr>
          <p:nvPr>
            <p:ph idx="1"/>
          </p:nvPr>
        </p:nvSpPr>
        <p:spPr/>
        <p:txBody>
          <a:bodyPr/>
          <a:lstStyle/>
          <a:p>
            <a:r>
              <a:rPr lang="zh-CN" altLang="en-US" dirty="0"/>
              <a:t>彩色立方体</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pic>
        <p:nvPicPr>
          <p:cNvPr id="4097" name="Picture 1" descr="QQ截图201608240806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8" y="1702197"/>
            <a:ext cx="4800600" cy="4982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18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彩色立方体</a:t>
            </a:r>
          </a:p>
        </p:txBody>
      </p:sp>
      <p:sp>
        <p:nvSpPr>
          <p:cNvPr id="3" name="内容占位符 2"/>
          <p:cNvSpPr>
            <a:spLocks noGrp="1"/>
          </p:cNvSpPr>
          <p:nvPr>
            <p:ph idx="1"/>
          </p:nvPr>
        </p:nvSpPr>
        <p:spPr/>
        <p:txBody>
          <a:bodyPr/>
          <a:lstStyle/>
          <a:p>
            <a:pPr>
              <a:buClr>
                <a:srgbClr val="94003F"/>
              </a:buClr>
            </a:pPr>
            <a:r>
              <a:rPr lang="zh-CN" altLang="en-US" sz="2400" dirty="0"/>
              <a:t>几何与拓扑的内存表示</a:t>
            </a:r>
          </a:p>
          <a:p>
            <a:pPr lvl="1">
              <a:buClr>
                <a:schemeClr val="tx1"/>
              </a:buClr>
            </a:pPr>
            <a:r>
              <a:rPr lang="zh-CN" altLang="en-US" sz="1800" dirty="0"/>
              <a:t>几何：顶点坐标</a:t>
            </a:r>
            <a:endParaRPr lang="en-US" altLang="zh-CN" sz="1800" dirty="0"/>
          </a:p>
          <a:p>
            <a:pPr lvl="1">
              <a:buClr>
                <a:schemeClr val="tx1"/>
              </a:buClr>
            </a:pPr>
            <a:r>
              <a:rPr lang="zh-CN" altLang="en-US" sz="1800" dirty="0"/>
              <a:t>拓扑：顶点连接成面，顶点列表</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6" name="图片 5"/>
          <p:cNvPicPr>
            <a:picLocks noChangeAspect="1"/>
          </p:cNvPicPr>
          <p:nvPr/>
        </p:nvPicPr>
        <p:blipFill>
          <a:blip r:embed="rId2"/>
          <a:stretch>
            <a:fillRect/>
          </a:stretch>
        </p:blipFill>
        <p:spPr>
          <a:xfrm>
            <a:off x="876953" y="2622981"/>
            <a:ext cx="7561365" cy="3733369"/>
          </a:xfrm>
          <a:prstGeom prst="rect">
            <a:avLst/>
          </a:prstGeom>
        </p:spPr>
      </p:pic>
    </p:spTree>
    <p:extLst>
      <p:ext uri="{BB962C8B-B14F-4D97-AF65-F5344CB8AC3E}">
        <p14:creationId xmlns:p14="http://schemas.microsoft.com/office/powerpoint/2010/main" val="532737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彩色立方体</a:t>
            </a:r>
          </a:p>
        </p:txBody>
      </p:sp>
      <p:sp>
        <p:nvSpPr>
          <p:cNvPr id="3" name="内容占位符 2"/>
          <p:cNvSpPr>
            <a:spLocks noGrp="1"/>
          </p:cNvSpPr>
          <p:nvPr>
            <p:ph idx="1"/>
          </p:nvPr>
        </p:nvSpPr>
        <p:spPr/>
        <p:txBody>
          <a:bodyPr>
            <a:normAutofit/>
          </a:bodyPr>
          <a:lstStyle/>
          <a:p>
            <a:pPr>
              <a:buClr>
                <a:srgbClr val="94003F"/>
              </a:buClr>
            </a:pPr>
            <a:r>
              <a:rPr lang="zh-CN" altLang="en-US" sz="2400" dirty="0"/>
              <a:t>颜色数据的保存</a:t>
            </a:r>
          </a:p>
          <a:p>
            <a:pPr lvl="1">
              <a:buClr>
                <a:schemeClr val="tx1"/>
              </a:buClr>
            </a:pPr>
            <a:r>
              <a:rPr lang="zh-CN" altLang="en-US" sz="1800" dirty="0"/>
              <a:t>作为顶点属性保存</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颜色插值</a:t>
            </a:r>
          </a:p>
          <a:p>
            <a:pPr lvl="1">
              <a:buClr>
                <a:schemeClr val="tx1"/>
              </a:buClr>
            </a:pPr>
            <a:r>
              <a:rPr lang="zh-CN" altLang="en-US" sz="1800" dirty="0"/>
              <a:t>重心坐标插值</a:t>
            </a:r>
            <a:endParaRPr lang="en-US" altLang="zh-CN" sz="1800" dirty="0"/>
          </a:p>
          <a:p>
            <a:pPr lvl="1">
              <a:buClr>
                <a:schemeClr val="tx1"/>
              </a:buClr>
            </a:pPr>
            <a:r>
              <a:rPr lang="zh-CN" altLang="en-US" sz="1800" dirty="0"/>
              <a:t>双线性插值</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sp>
        <p:nvSpPr>
          <p:cNvPr id="7" name="矩形 6"/>
          <p:cNvSpPr/>
          <p:nvPr/>
        </p:nvSpPr>
        <p:spPr>
          <a:xfrm>
            <a:off x="3781988" y="1234759"/>
            <a:ext cx="5043957" cy="2554545"/>
          </a:xfrm>
          <a:prstGeom prst="rect">
            <a:avLst/>
          </a:prstGeom>
          <a:solidFill>
            <a:srgbClr val="BDD7EE">
              <a:alpha val="52941"/>
            </a:srgbClr>
          </a:solidFill>
        </p:spPr>
        <p:txBody>
          <a:bodyPr wrap="square">
            <a:spAutoFit/>
          </a:bodyPr>
          <a:lstStyle/>
          <a:p>
            <a:r>
              <a:rPr lang="en-US" altLang="zh-CN" sz="2000" dirty="0">
                <a:solidFill>
                  <a:srgbClr val="0000FF"/>
                </a:solidFill>
              </a:rPr>
              <a:t>color4 </a:t>
            </a:r>
            <a:r>
              <a:rPr lang="en-US" altLang="zh-CN" sz="2000" dirty="0"/>
              <a:t>colors[8] = {</a:t>
            </a:r>
            <a:r>
              <a:rPr lang="en-US" altLang="zh-CN" sz="2000" dirty="0">
                <a:solidFill>
                  <a:srgbClr val="0000FF"/>
                </a:solidFill>
              </a:rPr>
              <a:t>color4</a:t>
            </a:r>
            <a:r>
              <a:rPr lang="en-US" altLang="zh-CN" sz="2000" dirty="0"/>
              <a:t>(0.0,0.0,0.0,1.0),</a:t>
            </a:r>
          </a:p>
          <a:p>
            <a:pPr lvl="4"/>
            <a:r>
              <a:rPr lang="en-US" altLang="zh-CN" sz="2000" dirty="0"/>
              <a:t> </a:t>
            </a:r>
            <a:r>
              <a:rPr lang="en-US" altLang="zh-CN" sz="2000" dirty="0">
                <a:solidFill>
                  <a:srgbClr val="0000FF"/>
                </a:solidFill>
              </a:rPr>
              <a:t>color4</a:t>
            </a:r>
            <a:r>
              <a:rPr lang="en-US" altLang="zh-CN" sz="2000" dirty="0"/>
              <a:t>(1.0,0.0,0.0,1.0),</a:t>
            </a:r>
          </a:p>
          <a:p>
            <a:pPr lvl="4"/>
            <a:r>
              <a:rPr lang="en-US" altLang="zh-CN" sz="2000" dirty="0"/>
              <a:t> </a:t>
            </a:r>
            <a:r>
              <a:rPr lang="en-US" altLang="zh-CN" sz="2000" dirty="0">
                <a:solidFill>
                  <a:srgbClr val="0000FF"/>
                </a:solidFill>
              </a:rPr>
              <a:t>color4</a:t>
            </a:r>
            <a:r>
              <a:rPr lang="en-US" altLang="zh-CN" sz="2000" dirty="0"/>
              <a:t>(1.0,1.0,0.0,1.0),</a:t>
            </a:r>
          </a:p>
          <a:p>
            <a:pPr lvl="4"/>
            <a:r>
              <a:rPr lang="en-US" altLang="zh-CN" sz="2000" dirty="0"/>
              <a:t> </a:t>
            </a:r>
            <a:r>
              <a:rPr lang="en-US" altLang="zh-CN" sz="2000" dirty="0">
                <a:solidFill>
                  <a:srgbClr val="0000FF"/>
                </a:solidFill>
              </a:rPr>
              <a:t>color4</a:t>
            </a:r>
            <a:r>
              <a:rPr lang="en-US" altLang="zh-CN" sz="2000" dirty="0"/>
              <a:t>(0.0,1.0,0.0,1.0),</a:t>
            </a:r>
          </a:p>
          <a:p>
            <a:pPr lvl="4"/>
            <a:r>
              <a:rPr lang="en-US" altLang="zh-CN" sz="2000" dirty="0"/>
              <a:t> </a:t>
            </a:r>
            <a:r>
              <a:rPr lang="en-US" altLang="zh-CN" sz="2000" dirty="0">
                <a:solidFill>
                  <a:srgbClr val="0000FF"/>
                </a:solidFill>
              </a:rPr>
              <a:t>color4</a:t>
            </a:r>
            <a:r>
              <a:rPr lang="en-US" altLang="zh-CN" sz="2000" dirty="0"/>
              <a:t>(0.0,0.0,1.0,1.0),</a:t>
            </a:r>
          </a:p>
          <a:p>
            <a:pPr lvl="4"/>
            <a:r>
              <a:rPr lang="en-US" altLang="zh-CN" sz="2000" dirty="0"/>
              <a:t> </a:t>
            </a:r>
            <a:r>
              <a:rPr lang="en-US" altLang="zh-CN" sz="2000" dirty="0">
                <a:solidFill>
                  <a:srgbClr val="0000FF"/>
                </a:solidFill>
              </a:rPr>
              <a:t>color4</a:t>
            </a:r>
            <a:r>
              <a:rPr lang="en-US" altLang="zh-CN" sz="2000" dirty="0"/>
              <a:t>(1.0,0.0,1.0,1.0),</a:t>
            </a:r>
          </a:p>
          <a:p>
            <a:pPr lvl="4"/>
            <a:r>
              <a:rPr lang="en-US" altLang="zh-CN" sz="2000" dirty="0"/>
              <a:t> </a:t>
            </a:r>
            <a:r>
              <a:rPr lang="en-US" altLang="zh-CN" sz="2000" dirty="0">
                <a:solidFill>
                  <a:srgbClr val="0000FF"/>
                </a:solidFill>
              </a:rPr>
              <a:t>color4</a:t>
            </a:r>
            <a:r>
              <a:rPr lang="en-US" altLang="zh-CN" sz="2000" dirty="0"/>
              <a:t>(0.0,1.0,1.0,1.0),</a:t>
            </a:r>
          </a:p>
          <a:p>
            <a:pPr lvl="4"/>
            <a:r>
              <a:rPr lang="en-US" altLang="zh-CN" sz="2000" dirty="0"/>
              <a:t> </a:t>
            </a:r>
            <a:r>
              <a:rPr lang="en-US" altLang="zh-CN" sz="2000" dirty="0">
                <a:solidFill>
                  <a:srgbClr val="0000FF"/>
                </a:solidFill>
              </a:rPr>
              <a:t>color4</a:t>
            </a:r>
            <a:r>
              <a:rPr lang="en-US" altLang="zh-CN" sz="2000" dirty="0"/>
              <a:t>(1.0,1.0,1.0,1.0)};</a:t>
            </a:r>
            <a:endParaRPr lang="zh-CN" altLang="en-US" dirty="0"/>
          </a:p>
        </p:txBody>
      </p:sp>
      <p:pic>
        <p:nvPicPr>
          <p:cNvPr id="5" name="图片 4"/>
          <p:cNvPicPr>
            <a:picLocks noChangeAspect="1"/>
          </p:cNvPicPr>
          <p:nvPr/>
        </p:nvPicPr>
        <p:blipFill>
          <a:blip r:embed="rId2"/>
          <a:stretch>
            <a:fillRect/>
          </a:stretch>
        </p:blipFill>
        <p:spPr>
          <a:xfrm>
            <a:off x="5288163" y="4368286"/>
            <a:ext cx="2254990" cy="1973314"/>
          </a:xfrm>
          <a:prstGeom prst="rect">
            <a:avLst/>
          </a:prstGeom>
        </p:spPr>
      </p:pic>
      <p:pic>
        <p:nvPicPr>
          <p:cNvPr id="8" name="图片 7"/>
          <p:cNvPicPr>
            <a:picLocks noChangeAspect="1"/>
          </p:cNvPicPr>
          <p:nvPr/>
        </p:nvPicPr>
        <p:blipFill>
          <a:blip r:embed="rId3"/>
          <a:stretch>
            <a:fillRect/>
          </a:stretch>
        </p:blipFill>
        <p:spPr>
          <a:xfrm>
            <a:off x="1358754" y="5500078"/>
            <a:ext cx="3127054" cy="319366"/>
          </a:xfrm>
          <a:prstGeom prst="rect">
            <a:avLst/>
          </a:prstGeom>
        </p:spPr>
      </p:pic>
      <p:pic>
        <p:nvPicPr>
          <p:cNvPr id="9" name="图片 8"/>
          <p:cNvPicPr>
            <a:picLocks noChangeAspect="1"/>
          </p:cNvPicPr>
          <p:nvPr/>
        </p:nvPicPr>
        <p:blipFill>
          <a:blip r:embed="rId4"/>
          <a:stretch>
            <a:fillRect/>
          </a:stretch>
        </p:blipFill>
        <p:spPr>
          <a:xfrm>
            <a:off x="1358754" y="6021101"/>
            <a:ext cx="3127054" cy="320499"/>
          </a:xfrm>
          <a:prstGeom prst="rect">
            <a:avLst/>
          </a:prstGeom>
        </p:spPr>
      </p:pic>
    </p:spTree>
    <p:extLst>
      <p:ext uri="{BB962C8B-B14F-4D97-AF65-F5344CB8AC3E}">
        <p14:creationId xmlns:p14="http://schemas.microsoft.com/office/powerpoint/2010/main" val="33760508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隐藏面消除</a:t>
            </a:r>
            <a:br>
              <a:rPr lang="zh-CN" dirty="0"/>
            </a:br>
            <a:endParaRPr lang="zh-CN" altLang="en-US" dirty="0"/>
          </a:p>
        </p:txBody>
      </p:sp>
      <p:sp>
        <p:nvSpPr>
          <p:cNvPr id="3" name="内容占位符 2"/>
          <p:cNvSpPr>
            <a:spLocks noGrp="1"/>
          </p:cNvSpPr>
          <p:nvPr>
            <p:ph idx="1"/>
          </p:nvPr>
        </p:nvSpPr>
        <p:spPr>
          <a:xfrm>
            <a:off x="628650" y="1316831"/>
            <a:ext cx="3851071" cy="4351338"/>
          </a:xfrm>
        </p:spPr>
        <p:txBody>
          <a:bodyPr>
            <a:normAutofit/>
          </a:bodyPr>
          <a:lstStyle/>
          <a:p>
            <a:r>
              <a:rPr lang="zh-CN" altLang="en-US" dirty="0">
                <a:latin typeface="华文新魏" pitchFamily="2" charset="-122"/>
                <a:ea typeface="华文新魏" pitchFamily="2" charset="-122"/>
              </a:rPr>
              <a:t> </a:t>
            </a:r>
            <a:r>
              <a:rPr lang="zh-CN" altLang="en-US" dirty="0"/>
              <a:t>只想见到那些位于其它面前面的曲面或平面片</a:t>
            </a:r>
          </a:p>
          <a:p>
            <a:r>
              <a:rPr lang="zh-CN" altLang="en-US" dirty="0"/>
              <a:t> </a:t>
            </a:r>
            <a:r>
              <a:rPr lang="en-US" altLang="zh-CN" dirty="0"/>
              <a:t>OpenGL</a:t>
            </a:r>
            <a:r>
              <a:rPr lang="zh-CN" altLang="en-US" dirty="0"/>
              <a:t>采用称为</a:t>
            </a:r>
            <a:r>
              <a:rPr lang="en-US" altLang="zh-CN" dirty="0"/>
              <a:t>z</a:t>
            </a:r>
            <a:r>
              <a:rPr lang="zh-CN" altLang="en-US" dirty="0">
                <a:highlight>
                  <a:srgbClr val="FFFF00"/>
                </a:highlight>
              </a:rPr>
              <a:t>缓冲区的算法进行隐藏面消除，在</a:t>
            </a:r>
            <a:r>
              <a:rPr lang="en-US" altLang="zh-CN" dirty="0">
                <a:highlight>
                  <a:srgbClr val="FFFF00"/>
                </a:highlight>
              </a:rPr>
              <a:t>z</a:t>
            </a:r>
            <a:r>
              <a:rPr lang="zh-CN" altLang="en-US" dirty="0">
                <a:highlight>
                  <a:srgbClr val="FFFF00"/>
                </a:highlight>
              </a:rPr>
              <a:t>缓冲区中存贮着对象的深度信息，从而只有前面的对象出现在图像中</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44</a:t>
            </a:fld>
            <a:endParaRPr lang="zh-CN" altLang="en-US" dirty="0"/>
          </a:p>
        </p:txBody>
      </p:sp>
      <p:pic>
        <p:nvPicPr>
          <p:cNvPr id="37890" name="Picture 2" descr="E:\CG\交互式计算机图形学—基于OpenGL着色器的自顶向下方法（第六版）\Figures\CHAPTER02 JPEG\AN02F43.jpg"/>
          <p:cNvPicPr>
            <a:picLocks noChangeAspect="1" noChangeArrowheads="1"/>
          </p:cNvPicPr>
          <p:nvPr/>
        </p:nvPicPr>
        <p:blipFill>
          <a:blip r:embed="rId2" cstate="print"/>
          <a:srcRect/>
          <a:stretch>
            <a:fillRect/>
          </a:stretch>
        </p:blipFill>
        <p:spPr bwMode="auto">
          <a:xfrm>
            <a:off x="4739994" y="1910626"/>
            <a:ext cx="3301827" cy="2421794"/>
          </a:xfrm>
          <a:prstGeom prst="rect">
            <a:avLst/>
          </a:prstGeom>
          <a:noFill/>
        </p:spPr>
      </p:pic>
    </p:spTree>
    <p:extLst>
      <p:ext uri="{BB962C8B-B14F-4D97-AF65-F5344CB8AC3E}">
        <p14:creationId xmlns:p14="http://schemas.microsoft.com/office/powerpoint/2010/main" val="23966259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Z-buffer</a:t>
            </a:r>
            <a:r>
              <a:rPr lang="zh-CN" dirty="0"/>
              <a:t>算法的</a:t>
            </a:r>
            <a:r>
              <a:rPr lang="zh-CN" altLang="en-US" dirty="0"/>
              <a:t>设置</a:t>
            </a:r>
          </a:p>
        </p:txBody>
      </p:sp>
      <p:sp>
        <p:nvSpPr>
          <p:cNvPr id="3" name="内容占位符 2"/>
          <p:cNvSpPr>
            <a:spLocks noGrp="1"/>
          </p:cNvSpPr>
          <p:nvPr>
            <p:ph idx="1"/>
          </p:nvPr>
        </p:nvSpPr>
        <p:spPr/>
        <p:txBody>
          <a:bodyPr/>
          <a:lstStyle/>
          <a:p>
            <a:r>
              <a:rPr lang="en-US" altLang="zh-CN" dirty="0"/>
              <a:t>Z-buffer</a:t>
            </a:r>
            <a:r>
              <a:rPr lang="zh-CN" altLang="en-US" dirty="0"/>
              <a:t>算法开启和调用</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45</a:t>
            </a:fld>
            <a:endParaRPr lang="zh-CN" altLang="en-US" dirty="0"/>
          </a:p>
        </p:txBody>
      </p:sp>
      <p:sp>
        <p:nvSpPr>
          <p:cNvPr id="128001" name="Rectangle 1"/>
          <p:cNvSpPr>
            <a:spLocks noChangeArrowheads="1"/>
          </p:cNvSpPr>
          <p:nvPr/>
        </p:nvSpPr>
        <p:spPr bwMode="auto">
          <a:xfrm>
            <a:off x="985790" y="1853198"/>
            <a:ext cx="8057626"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err="1">
                <a:ln>
                  <a:noFill/>
                </a:ln>
                <a:solidFill>
                  <a:srgbClr val="000000"/>
                </a:solidFill>
                <a:effectLst/>
                <a:latin typeface="Consolas" pitchFamily="49" charset="0"/>
                <a:ea typeface="宋体" pitchFamily="2" charset="-122"/>
                <a:cs typeface="Consolas" pitchFamily="49" charset="0"/>
              </a:rPr>
              <a:t>glEnable</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a:ln>
                  <a:noFill/>
                </a:ln>
                <a:solidFill>
                  <a:srgbClr val="6F008A"/>
                </a:solidFill>
                <a:effectLst/>
                <a:latin typeface="Consolas" pitchFamily="49" charset="0"/>
                <a:ea typeface="宋体" pitchFamily="2" charset="-122"/>
                <a:cs typeface="Consolas" pitchFamily="49" charset="0"/>
              </a:rPr>
              <a:t>GL_DEPTH_TEST</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dirty="0">
                <a:solidFill>
                  <a:srgbClr val="0000FF"/>
                </a:solidFill>
                <a:latin typeface="Consolas" pitchFamily="49" charset="0"/>
                <a:ea typeface="宋体" pitchFamily="2" charset="-122"/>
                <a:cs typeface="Consolas" pitchFamily="49" charset="0"/>
              </a:rPr>
              <a:t>v</a:t>
            </a:r>
            <a:r>
              <a:rPr kumimoji="0" lang="en-US" altLang="zh-CN" b="0" i="0" u="none" strike="noStrike" cap="none" normalizeH="0" baseline="0" dirty="0">
                <a:ln>
                  <a:noFill/>
                </a:ln>
                <a:solidFill>
                  <a:srgbClr val="0000FF"/>
                </a:solidFill>
                <a:effectLst/>
                <a:latin typeface="Consolas" pitchFamily="49" charset="0"/>
                <a:ea typeface="宋体" pitchFamily="2" charset="-122"/>
                <a:cs typeface="Consolas" pitchFamily="49" charset="0"/>
              </a:rPr>
              <a:t>oid </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display( </a:t>
            </a:r>
            <a:r>
              <a:rPr kumimoji="0" lang="en-US" altLang="zh-CN" b="0" i="0" u="none" strike="noStrike" cap="none" normalizeH="0" baseline="0" dirty="0">
                <a:ln>
                  <a:noFill/>
                </a:ln>
                <a:solidFill>
                  <a:srgbClr val="0000FF"/>
                </a:solidFill>
                <a:effectLst/>
                <a:latin typeface="Consolas" pitchFamily="49" charset="0"/>
                <a:ea typeface="宋体" pitchFamily="2" charset="-122"/>
                <a:cs typeface="Consolas" pitchFamily="49" charset="0"/>
              </a:rPr>
              <a:t>void</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a:ln>
                  <a:noFill/>
                </a:ln>
                <a:solidFill>
                  <a:srgbClr val="000000"/>
                </a:solidFill>
                <a:effectLst/>
                <a:latin typeface="Consolas" pitchFamily="49" charset="0"/>
                <a:ea typeface="宋体" pitchFamily="2" charset="-122"/>
                <a:cs typeface="Consolas" pitchFamily="49" charset="0"/>
              </a:rPr>
              <a:t>glClear</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a:ln>
                  <a:noFill/>
                </a:ln>
                <a:solidFill>
                  <a:srgbClr val="6F008A"/>
                </a:solidFill>
                <a:effectLst/>
                <a:latin typeface="Consolas" pitchFamily="49" charset="0"/>
                <a:ea typeface="宋体" pitchFamily="2" charset="-122"/>
                <a:cs typeface="Consolas" pitchFamily="49" charset="0"/>
              </a:rPr>
              <a:t>GL_COLOR_BUFFER_BIT</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 </a:t>
            </a:r>
            <a:r>
              <a:rPr kumimoji="0" lang="en-US" altLang="zh-CN" b="0" i="0" u="none" strike="noStrike" cap="none" normalizeH="0" baseline="0" dirty="0">
                <a:ln>
                  <a:noFill/>
                </a:ln>
                <a:solidFill>
                  <a:srgbClr val="6F008A"/>
                </a:solidFill>
                <a:effectLst/>
                <a:latin typeface="Consolas" pitchFamily="49" charset="0"/>
                <a:ea typeface="宋体" pitchFamily="2" charset="-122"/>
                <a:cs typeface="Consolas" pitchFamily="49" charset="0"/>
              </a:rPr>
              <a:t>GL_DEPTH_BUFFER_BIT</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err="1">
                <a:ln>
                  <a:noFill/>
                </a:ln>
                <a:solidFill>
                  <a:srgbClr val="000000"/>
                </a:solidFill>
                <a:effectLst/>
                <a:latin typeface="Consolas" pitchFamily="49" charset="0"/>
                <a:ea typeface="宋体" pitchFamily="2" charset="-122"/>
                <a:cs typeface="Consolas" pitchFamily="49" charset="0"/>
              </a:rPr>
              <a:t>glDrawArrays</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r>
              <a:rPr kumimoji="0" lang="en-US" altLang="zh-CN" b="0" i="0" u="none" strike="noStrike" cap="none" normalizeH="0" baseline="0" dirty="0">
                <a:ln>
                  <a:noFill/>
                </a:ln>
                <a:solidFill>
                  <a:srgbClr val="6F008A"/>
                </a:solidFill>
                <a:effectLst/>
                <a:latin typeface="Consolas" pitchFamily="49" charset="0"/>
                <a:ea typeface="宋体" pitchFamily="2" charset="-122"/>
                <a:cs typeface="Consolas" pitchFamily="49" charset="0"/>
              </a:rPr>
              <a:t>GL_TRIANGLES</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0, </a:t>
            </a:r>
            <a:r>
              <a:rPr kumimoji="0" lang="en-US" altLang="zh-CN" b="0" i="0" u="none" strike="noStrike" cap="none" normalizeH="0" baseline="0" dirty="0" err="1">
                <a:ln>
                  <a:noFill/>
                </a:ln>
                <a:solidFill>
                  <a:srgbClr val="000000"/>
                </a:solidFill>
                <a:effectLst/>
                <a:latin typeface="Consolas" pitchFamily="49" charset="0"/>
                <a:ea typeface="宋体" pitchFamily="2" charset="-122"/>
                <a:cs typeface="Consolas" pitchFamily="49" charset="0"/>
              </a:rPr>
              <a:t>NumVertices</a:t>
            </a: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    …</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Consolas" pitchFamily="49" charset="0"/>
                <a:ea typeface="宋体" pitchFamily="2" charset="-122"/>
                <a:cs typeface="Consolas" pitchFamily="49" charset="0"/>
              </a:rPr>
              <a:t>}</a:t>
            </a:r>
            <a:endParaRPr kumimoji="0" lang="en-US"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1915378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实验 </a:t>
            </a:r>
            <a:r>
              <a:rPr lang="en-US" altLang="zh-CN"/>
              <a:t>2.2</a:t>
            </a:r>
            <a:endParaRPr lang="en-US" dirty="0"/>
          </a:p>
        </p:txBody>
      </p:sp>
      <p:sp>
        <p:nvSpPr>
          <p:cNvPr id="3" name="Content Placeholder 2"/>
          <p:cNvSpPr>
            <a:spLocks noGrp="1"/>
          </p:cNvSpPr>
          <p:nvPr>
            <p:ph idx="1"/>
          </p:nvPr>
        </p:nvSpPr>
        <p:spPr/>
        <p:txBody>
          <a:bodyPr/>
          <a:lstStyle/>
          <a:p>
            <a:r>
              <a:rPr lang="en-US" dirty="0"/>
              <a:t>OFF</a:t>
            </a:r>
            <a:r>
              <a:rPr lang="zh-CN" altLang="en-US" dirty="0"/>
              <a:t>格式的模型显示</a:t>
            </a:r>
            <a:endParaRPr lang="en-US" altLang="zh-CN" dirty="0"/>
          </a:p>
          <a:p>
            <a:pPr lvl="1"/>
            <a:r>
              <a:rPr lang="zh-CN" altLang="en-US" dirty="0"/>
              <a:t>了解和熟悉</a:t>
            </a:r>
            <a:r>
              <a:rPr lang="en-US" altLang="zh-CN" dirty="0"/>
              <a:t>OFF</a:t>
            </a:r>
            <a:r>
              <a:rPr lang="zh-CN" altLang="en-US" dirty="0"/>
              <a:t>模型文件格式</a:t>
            </a:r>
          </a:p>
          <a:p>
            <a:pPr lvl="1"/>
            <a:r>
              <a:rPr lang="zh-CN" altLang="en-US" dirty="0"/>
              <a:t>掌握读取</a:t>
            </a:r>
            <a:r>
              <a:rPr lang="en-US" altLang="zh-CN" dirty="0"/>
              <a:t>OFF</a:t>
            </a:r>
            <a:r>
              <a:rPr lang="zh-CN" altLang="en-US" dirty="0"/>
              <a:t>模型文件</a:t>
            </a:r>
          </a:p>
          <a:p>
            <a:pPr lvl="1"/>
            <a:r>
              <a:rPr lang="zh-CN" altLang="en-US" dirty="0"/>
              <a:t>了解基本</a:t>
            </a:r>
            <a:r>
              <a:rPr lang="en-US" altLang="zh-CN" dirty="0"/>
              <a:t>3D</a:t>
            </a:r>
            <a:r>
              <a:rPr lang="zh-CN" altLang="en-US" dirty="0"/>
              <a:t>图元的绘制</a:t>
            </a:r>
          </a:p>
          <a:p>
            <a:pPr lvl="1"/>
            <a:r>
              <a:rPr lang="zh-CN" altLang="en-US" dirty="0"/>
              <a:t>了解深度测试技术</a:t>
            </a:r>
          </a:p>
          <a:p>
            <a:pPr lvl="1"/>
            <a:r>
              <a:rPr lang="zh-CN" altLang="en-US" dirty="0"/>
              <a:t>了解面剔除技术</a:t>
            </a:r>
          </a:p>
          <a:p>
            <a:pPr lvl="1"/>
            <a:r>
              <a:rPr lang="zh-CN" altLang="en-US" dirty="0"/>
              <a:t>实验时间：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8</a:t>
            </a:r>
            <a:r>
              <a:rPr lang="zh-CN" altLang="en-US" b="1" dirty="0">
                <a:solidFill>
                  <a:srgbClr val="FF0000"/>
                </a:solidFill>
              </a:rPr>
              <a:t>日</a:t>
            </a:r>
            <a:r>
              <a:rPr lang="en-US" altLang="zh-CN" b="1" dirty="0">
                <a:solidFill>
                  <a:srgbClr val="FF0000"/>
                </a:solidFill>
              </a:rPr>
              <a:t> </a:t>
            </a:r>
            <a:endParaRPr lang="zh-CN" altLang="en-US" dirty="0"/>
          </a:p>
          <a:p>
            <a:pPr lvl="1"/>
            <a:r>
              <a:rPr lang="zh-CN" altLang="en-US" dirty="0"/>
              <a:t>截止时间：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14</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分</a:t>
            </a:r>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46</a:t>
            </a:fld>
            <a:endParaRPr lang="zh-CN" altLang="en-US" dirty="0"/>
          </a:p>
        </p:txBody>
      </p:sp>
      <p:pic>
        <p:nvPicPr>
          <p:cNvPr id="5" name="Picture 4" descr="QQ截图201608240806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6031" y="1316831"/>
            <a:ext cx="2690377" cy="2792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729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期中大作业</a:t>
            </a:r>
            <a:endParaRPr lang="en-US" dirty="0"/>
          </a:p>
        </p:txBody>
      </p:sp>
      <p:sp>
        <p:nvSpPr>
          <p:cNvPr id="3" name="Content Placeholder 2"/>
          <p:cNvSpPr>
            <a:spLocks noGrp="1"/>
          </p:cNvSpPr>
          <p:nvPr>
            <p:ph idx="1"/>
          </p:nvPr>
        </p:nvSpPr>
        <p:spPr/>
        <p:txBody>
          <a:bodyPr/>
          <a:lstStyle/>
          <a:p>
            <a:r>
              <a:rPr lang="zh-CN" altLang="en-US" dirty="0"/>
              <a:t>俄罗斯方块</a:t>
            </a:r>
            <a:r>
              <a:rPr lang="en-US" dirty="0"/>
              <a:t> </a:t>
            </a:r>
          </a:p>
          <a:p>
            <a:pPr lvl="1"/>
            <a:r>
              <a:rPr lang="zh-CN" altLang="en-US" dirty="0"/>
              <a:t>编写一个简化版的俄罗斯方块游戏程序，撰写详细实验报告</a:t>
            </a:r>
            <a:endParaRPr lang="en-US" altLang="zh-CN" dirty="0"/>
          </a:p>
          <a:p>
            <a:pPr lvl="1"/>
            <a:r>
              <a:rPr lang="zh-CN" altLang="en-US" dirty="0"/>
              <a:t>提供参考代码，仅需实现部分功能</a:t>
            </a:r>
            <a:endParaRPr lang="en-US" altLang="zh-CN" dirty="0"/>
          </a:p>
          <a:p>
            <a:pPr lvl="1"/>
            <a:r>
              <a:rPr lang="zh-CN" altLang="en-US" dirty="0"/>
              <a:t>截止时间：</a:t>
            </a:r>
            <a:r>
              <a:rPr lang="en-US" b="1" dirty="0"/>
              <a:t> </a:t>
            </a:r>
            <a:r>
              <a:rPr lang="en-US" altLang="zh-CN" b="1" dirty="0">
                <a:solidFill>
                  <a:srgbClr val="FF0000"/>
                </a:solidFill>
              </a:rPr>
              <a:t>2024</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a:solidFill>
                  <a:srgbClr val="FF0000"/>
                </a:solidFill>
              </a:rPr>
              <a:t>21</a:t>
            </a:r>
            <a:r>
              <a:rPr lang="zh-CN" altLang="en-US" b="1">
                <a:solidFill>
                  <a:srgbClr val="FF0000"/>
                </a:solidFill>
              </a:rPr>
              <a:t>日</a:t>
            </a:r>
            <a:r>
              <a:rPr lang="en-US" altLang="zh-CN" b="1" dirty="0">
                <a:solidFill>
                  <a:srgbClr val="FF0000"/>
                </a:solidFill>
              </a:rPr>
              <a:t> 23:59</a:t>
            </a:r>
            <a:r>
              <a:rPr lang="zh-CN" altLang="en-US" b="1" dirty="0">
                <a:solidFill>
                  <a:srgbClr val="FF0000"/>
                </a:solidFill>
              </a:rPr>
              <a:t>分</a:t>
            </a:r>
            <a:endParaRPr lang="en-US" altLang="zh-CN"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47</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59637211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6661</TotalTime>
  <Words>2715</Words>
  <Application>Microsoft Office PowerPoint</Application>
  <PresentationFormat>全屏显示(4:3)</PresentationFormat>
  <Paragraphs>508</Paragraphs>
  <Slides>47</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47</vt:i4>
      </vt:variant>
    </vt:vector>
  </HeadingPairs>
  <TitlesOfParts>
    <vt:vector size="60" baseType="lpstr">
      <vt:lpstr>04b</vt:lpstr>
      <vt:lpstr>ZztexMono-Regular</vt:lpstr>
      <vt:lpstr>华文新魏</vt:lpstr>
      <vt:lpstr>Microsoft YaHei</vt:lpstr>
      <vt:lpstr>Microsoft YaHei</vt:lpstr>
      <vt:lpstr>Arial</vt:lpstr>
      <vt:lpstr>Calibri</vt:lpstr>
      <vt:lpstr>Cambria Math</vt:lpstr>
      <vt:lpstr>Consolas</vt:lpstr>
      <vt:lpstr>Symbol</vt:lpstr>
      <vt:lpstr>Times New Roman</vt:lpstr>
      <vt:lpstr>Wingdings</vt:lpstr>
      <vt:lpstr>Office 主题</vt:lpstr>
      <vt:lpstr>第三章 几何对象和变换</vt:lpstr>
      <vt:lpstr>知识点回顾</vt:lpstr>
      <vt:lpstr>知识点回顾</vt:lpstr>
      <vt:lpstr>常见问题</vt:lpstr>
      <vt:lpstr>常见问题</vt:lpstr>
      <vt:lpstr>常见问题</vt:lpstr>
      <vt:lpstr>常见问题</vt:lpstr>
      <vt:lpstr>大纲</vt:lpstr>
      <vt:lpstr>内容提要</vt:lpstr>
      <vt:lpstr>实验 2.2</vt:lpstr>
      <vt:lpstr>大纲</vt:lpstr>
      <vt:lpstr>几何对象与图形学</vt:lpstr>
      <vt:lpstr>基本几何要素</vt:lpstr>
      <vt:lpstr>标量-向量运算</vt:lpstr>
      <vt:lpstr>向量空间</vt:lpstr>
      <vt:lpstr>点积和叉积</vt:lpstr>
      <vt:lpstr>点-向量运算</vt:lpstr>
      <vt:lpstr>仿射空间</vt:lpstr>
      <vt:lpstr>与坐标无关的几何</vt:lpstr>
      <vt:lpstr>直线</vt:lpstr>
      <vt:lpstr>仿射加法</vt:lpstr>
      <vt:lpstr>三角形</vt:lpstr>
      <vt:lpstr>平面</vt:lpstr>
      <vt:lpstr>凸性 </vt:lpstr>
      <vt:lpstr>大纲</vt:lpstr>
      <vt:lpstr>线性相关性</vt:lpstr>
      <vt:lpstr>维数</vt:lpstr>
      <vt:lpstr>坐标系</vt:lpstr>
      <vt:lpstr>坐标系</vt:lpstr>
      <vt:lpstr>标架</vt:lpstr>
      <vt:lpstr>点与向量的混淆 </vt:lpstr>
      <vt:lpstr>齐次坐标</vt:lpstr>
      <vt:lpstr>坐标系的变换</vt:lpstr>
      <vt:lpstr>坐标系的变换</vt:lpstr>
      <vt:lpstr>标架的变换</vt:lpstr>
      <vt:lpstr>标架的变换</vt:lpstr>
      <vt:lpstr>标架的变换</vt:lpstr>
      <vt:lpstr>OpenGL中的标架</vt:lpstr>
      <vt:lpstr>相机的移动</vt:lpstr>
      <vt:lpstr>矩阵与向量</vt:lpstr>
      <vt:lpstr>几何对象实例绘制</vt:lpstr>
      <vt:lpstr>彩色立方体</vt:lpstr>
      <vt:lpstr>彩色立方体</vt:lpstr>
      <vt:lpstr>隐藏面消除 </vt:lpstr>
      <vt:lpstr>Z-buffer算法的设置</vt:lpstr>
      <vt:lpstr>实验 2.2</vt:lpstr>
      <vt:lpstr>期中大作业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622</cp:revision>
  <dcterms:created xsi:type="dcterms:W3CDTF">2016-08-04T07:29:19Z</dcterms:created>
  <dcterms:modified xsi:type="dcterms:W3CDTF">2024-12-27T14:56:12Z</dcterms:modified>
</cp:coreProperties>
</file>