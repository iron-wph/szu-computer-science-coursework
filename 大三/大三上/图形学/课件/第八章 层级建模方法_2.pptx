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9"/>
  </p:notesMasterIdLst>
  <p:sldIdLst>
    <p:sldId id="361" r:id="rId2"/>
    <p:sldId id="362" r:id="rId3"/>
    <p:sldId id="363" r:id="rId4"/>
    <p:sldId id="364" r:id="rId5"/>
    <p:sldId id="365" r:id="rId6"/>
    <p:sldId id="366" r:id="rId7"/>
    <p:sldId id="367" r:id="rId8"/>
    <p:sldId id="368" r:id="rId9"/>
    <p:sldId id="349" r:id="rId10"/>
    <p:sldId id="352" r:id="rId11"/>
    <p:sldId id="293" r:id="rId12"/>
    <p:sldId id="339" r:id="rId13"/>
    <p:sldId id="294" r:id="rId14"/>
    <p:sldId id="296" r:id="rId15"/>
    <p:sldId id="299" r:id="rId16"/>
    <p:sldId id="300" r:id="rId17"/>
    <p:sldId id="301" r:id="rId18"/>
    <p:sldId id="340" r:id="rId19"/>
    <p:sldId id="302" r:id="rId20"/>
    <p:sldId id="304" r:id="rId21"/>
    <p:sldId id="344" r:id="rId22"/>
    <p:sldId id="342" r:id="rId23"/>
    <p:sldId id="343" r:id="rId24"/>
    <p:sldId id="346" r:id="rId25"/>
    <p:sldId id="470" r:id="rId26"/>
    <p:sldId id="468" r:id="rId27"/>
    <p:sldId id="469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70" autoAdjust="0"/>
    <p:restoredTop sz="94660"/>
  </p:normalViewPr>
  <p:slideViewPr>
    <p:cSldViewPr snapToGrid="0">
      <p:cViewPr varScale="1">
        <p:scale>
          <a:sx n="85" d="100"/>
          <a:sy n="85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104645" y="95705"/>
            <a:ext cx="654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3959" y="1214438"/>
            <a:ext cx="8136082" cy="2387600"/>
          </a:xfrm>
        </p:spPr>
        <p:txBody>
          <a:bodyPr/>
          <a:lstStyle/>
          <a:p>
            <a:r>
              <a:rPr lang="zh-CN" altLang="en-US" dirty="0">
                <a:solidFill>
                  <a:srgbClr val="94003F"/>
                </a:solidFill>
              </a:rPr>
              <a:t>第八章 层级建模方法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206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图符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大多数图形</a:t>
            </a:r>
            <a:r>
              <a:rPr lang="en-US" altLang="zh-CN" sz="2400" dirty="0"/>
              <a:t>API</a:t>
            </a:r>
            <a:r>
              <a:rPr lang="zh-CN" altLang="en-US" sz="2400" dirty="0"/>
              <a:t>对图元采取</a:t>
            </a:r>
            <a:r>
              <a:rPr lang="zh-CN" altLang="en-US" sz="2400" dirty="0">
                <a:solidFill>
                  <a:srgbClr val="0000FF"/>
                </a:solidFill>
              </a:rPr>
              <a:t>最小完备</a:t>
            </a:r>
            <a:r>
              <a:rPr lang="zh-CN" altLang="en-US" sz="2400" dirty="0"/>
              <a:t>的观点：</a:t>
            </a:r>
            <a:endParaRPr lang="en-US" altLang="zh-CN" sz="2400" dirty="0"/>
          </a:p>
          <a:p>
            <a:pPr lvl="1"/>
            <a:r>
              <a:rPr lang="zh-CN" altLang="en-US" sz="1800" dirty="0"/>
              <a:t>他们只包含少数的基本图元</a:t>
            </a:r>
            <a:endParaRPr lang="en-US" altLang="zh-CN" sz="1800" dirty="0"/>
          </a:p>
          <a:p>
            <a:pPr lvl="1"/>
            <a:r>
              <a:rPr lang="zh-CN" altLang="en-US" sz="1800" dirty="0"/>
              <a:t>而让用户通过这些基本的图元来构建更复杂的对象</a:t>
            </a:r>
            <a:endParaRPr lang="en-US" altLang="zh-CN" sz="1800" dirty="0"/>
          </a:p>
          <a:p>
            <a:pPr lvl="1"/>
            <a:endParaRPr lang="en-US" sz="1800" dirty="0"/>
          </a:p>
          <a:p>
            <a:r>
              <a:rPr lang="zh-CN" altLang="en-US" sz="2600" dirty="0"/>
              <a:t>这些基本图元通常被视为一些</a:t>
            </a:r>
            <a:r>
              <a:rPr lang="zh-CN" altLang="en-US" sz="2600" dirty="0">
                <a:solidFill>
                  <a:srgbClr val="0000FF"/>
                </a:solidFill>
              </a:rPr>
              <a:t>图符</a:t>
            </a:r>
            <a:r>
              <a:rPr lang="zh-CN" altLang="en-US" sz="2600" dirty="0"/>
              <a:t>（</a:t>
            </a:r>
            <a:r>
              <a:rPr lang="en-US" altLang="zh-CN" sz="2600" dirty="0"/>
              <a:t>symbol</a:t>
            </a:r>
            <a:r>
              <a:rPr lang="zh-CN" altLang="en-US" sz="2600" dirty="0"/>
              <a:t>），所要建模的世界可以看成由这些离散的图符组成</a:t>
            </a:r>
            <a:endParaRPr lang="en-US" altLang="zh-CN" sz="2600" dirty="0"/>
          </a:p>
          <a:p>
            <a:endParaRPr lang="en-US" sz="2600" dirty="0"/>
          </a:p>
          <a:p>
            <a:r>
              <a:rPr lang="zh-CN" altLang="en-US" sz="2600" dirty="0"/>
              <a:t>通常根据自身的几何特征表示为合适的大小和方位：</a:t>
            </a:r>
            <a:endParaRPr lang="en-US" altLang="zh-CN" sz="2600" dirty="0"/>
          </a:p>
          <a:p>
            <a:pPr lvl="1"/>
            <a:r>
              <a:rPr lang="zh-CN" altLang="en-US" sz="1800" dirty="0"/>
              <a:t>圆柱体：</a:t>
            </a:r>
            <a:endParaRPr lang="en-US" altLang="zh-CN" sz="1800" dirty="0"/>
          </a:p>
          <a:p>
            <a:pPr lvl="2"/>
            <a:r>
              <a:rPr lang="zh-CN" altLang="en-US" sz="1800" dirty="0"/>
              <a:t>中心轴与坐标系的某个主轴平行</a:t>
            </a:r>
            <a:endParaRPr lang="en-US" altLang="zh-CN" sz="1800" dirty="0"/>
          </a:p>
          <a:p>
            <a:pPr lvl="2"/>
            <a:r>
              <a:rPr lang="zh-CN" altLang="en-US" sz="1800" dirty="0"/>
              <a:t>高度为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半径为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底面圆心与坐标系的原点重合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00" y="4510300"/>
            <a:ext cx="2091661" cy="225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40804" y="49547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建模标架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（对象标架）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实例变换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81681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应用程序中，必须通过几何变换把图符从</a:t>
            </a:r>
            <a:r>
              <a:rPr lang="zh-CN" altLang="en-US" sz="2400" dirty="0">
                <a:solidFill>
                  <a:srgbClr val="0000FF"/>
                </a:solidFill>
              </a:rPr>
              <a:t>建模标架</a:t>
            </a:r>
            <a:r>
              <a:rPr lang="zh-CN" altLang="en-US" sz="2400" dirty="0"/>
              <a:t>变换到</a:t>
            </a:r>
            <a:r>
              <a:rPr lang="zh-CN" altLang="en-US" sz="2400" dirty="0">
                <a:solidFill>
                  <a:srgbClr val="0000FF"/>
                </a:solidFill>
              </a:rPr>
              <a:t>世界标架</a:t>
            </a:r>
            <a:r>
              <a:rPr lang="zh-CN" altLang="en-US" sz="2400" dirty="0"/>
              <a:t>，得到一个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（</a:t>
            </a:r>
            <a:r>
              <a:rPr lang="en-US" altLang="zh-CN" sz="2400" dirty="0"/>
              <a:t>instance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实例变化把每个图符实例按照所需的</a:t>
            </a:r>
            <a:r>
              <a:rPr lang="zh-CN" altLang="en-US" sz="2400" dirty="0">
                <a:solidFill>
                  <a:srgbClr val="0000FF"/>
                </a:solidFill>
              </a:rPr>
              <a:t>大小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方向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位置</a:t>
            </a:r>
            <a:r>
              <a:rPr lang="zh-CN" altLang="en-US" sz="2400" dirty="0"/>
              <a:t>放入到场景中：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003F"/>
              </a:buClr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17905"/>
            <a:ext cx="7673111" cy="2886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= 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𝑻𝑹𝑺</m:t>
                      </m:r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t="-143333" r="-4367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72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机器人手臂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整体模型和各个部件：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7" y="2262673"/>
            <a:ext cx="7963785" cy="36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9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关联模型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机器人手臂就是一个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 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部件之间在关节处连接在一起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可以通过给定</a:t>
            </a:r>
            <a:r>
              <a:rPr lang="zh-CN" altLang="en-US" sz="2400" dirty="0">
                <a:solidFill>
                  <a:srgbClr val="0000FF"/>
                </a:solidFill>
              </a:rPr>
              <a:t>关节角</a:t>
            </a:r>
            <a:r>
              <a:rPr lang="zh-CN" altLang="en-US" sz="2400" dirty="0"/>
              <a:t>指定模型的状态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25" y="3020615"/>
            <a:ext cx="2215101" cy="3568591"/>
          </a:xfrm>
          <a:prstGeom prst="rect">
            <a:avLst/>
          </a:prstGeom>
        </p:spPr>
      </p:pic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47" y="3017748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4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变换矩阵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支架的旋转：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600" dirty="0"/>
                  <a:t>应用到支架上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下臂相对于支架部分部分平移：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应用到下臂上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上臂相对于下臂平移：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应用到上臂上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6154173" y="510565"/>
            <a:ext cx="1073888" cy="1694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6164805" y="2359246"/>
            <a:ext cx="1063256" cy="15422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154173" y="4055527"/>
            <a:ext cx="1094197" cy="15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以增量的方式改变模</a:t>
            </a:r>
            <a:r>
              <a:rPr lang="en-US" altLang="zh-CN" sz="2400" dirty="0"/>
              <a:t>-</a:t>
            </a:r>
            <a:r>
              <a:rPr lang="zh-CN" altLang="en-US" sz="2400" dirty="0"/>
              <a:t>视矩阵以体现运动联动性：</a:t>
            </a:r>
            <a:endParaRPr lang="en-US" altLang="zh-CN" sz="2400" dirty="0"/>
          </a:p>
          <a:p>
            <a:pPr lvl="1"/>
            <a:r>
              <a:rPr lang="zh-CN" altLang="en-US" sz="1600" dirty="0"/>
              <a:t>假设给定了三个关节角：</a:t>
            </a:r>
            <a:r>
              <a:rPr lang="en-US" sz="1600" dirty="0"/>
              <a:t>Theta[Base]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LowerArm</a:t>
            </a:r>
            <a:r>
              <a:rPr lang="en-US" altLang="zh-CN" sz="1600" dirty="0"/>
              <a:t>],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UpperArm</a:t>
            </a:r>
            <a:r>
              <a:rPr lang="en-US" sz="1600" dirty="0"/>
              <a:t>]</a:t>
            </a:r>
            <a:r>
              <a:rPr lang="zh-CN" altLang="en-US" sz="1600" dirty="0"/>
              <a:t> 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1010093" y="2188931"/>
            <a:ext cx="7634177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b="1" dirty="0" err="1"/>
              <a:t>RotateY</a:t>
            </a:r>
            <a:r>
              <a:rPr lang="en-US" dirty="0"/>
              <a:t>(Theta[Base]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支架变换矩阵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/>
              <a:t>base</a:t>
            </a:r>
            <a:r>
              <a:rPr lang="en-US" dirty="0"/>
              <a:t>();</a:t>
            </a:r>
            <a:r>
              <a:rPr lang="zh-CN" altLang="en-US" dirty="0"/>
              <a:t> 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绘制支架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BASE_HEIGHT,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LowerArm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下臂变换矩阵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b="1" dirty="0" err="1"/>
              <a:t>lower_arm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绘制下臂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LOWER_ARM_HEIGHT,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UpperArm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上臂变换矩阵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/>
              <a:t>upper_arm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绘制上臂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1"/>
          <a:stretch/>
        </p:blipFill>
        <p:spPr>
          <a:xfrm>
            <a:off x="2283341" y="5237741"/>
            <a:ext cx="4322064" cy="15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4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绘制每一个部件实例：</a:t>
            </a:r>
            <a:r>
              <a:rPr lang="zh-CN" altLang="en-US" dirty="0">
                <a:solidFill>
                  <a:srgbClr val="0000FF"/>
                </a:solidFill>
              </a:rPr>
              <a:t>图符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实例变换矩阵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实验补充</a:t>
            </a:r>
            <a:r>
              <a:rPr lang="en-US" altLang="zh-CN" dirty="0"/>
              <a:t>1</a:t>
            </a:r>
            <a:r>
              <a:rPr lang="zh-CN" altLang="en-US" dirty="0"/>
              <a:t>中以</a:t>
            </a:r>
            <a:r>
              <a:rPr lang="zh-CN" altLang="en-US" dirty="0">
                <a:solidFill>
                  <a:srgbClr val="0000FF"/>
                </a:solidFill>
              </a:rPr>
              <a:t>单位正方体</a:t>
            </a:r>
            <a:r>
              <a:rPr lang="zh-CN" altLang="en-US" dirty="0"/>
              <a:t>作为图符：中心在原点，边长为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以上臂为例：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 rotWithShape="1">
          <a:blip r:embed="rId2"/>
          <a:srcRect r="48983"/>
          <a:stretch/>
        </p:blipFill>
        <p:spPr>
          <a:xfrm>
            <a:off x="3279523" y="2139772"/>
            <a:ext cx="1676107" cy="139394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366296" y="2722027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6242263" y="2086891"/>
            <a:ext cx="1199106" cy="1542049"/>
          </a:xfrm>
          <a:prstGeom prst="rect">
            <a:avLst/>
          </a:prstGeom>
        </p:spPr>
      </p:pic>
      <p:sp>
        <p:nvSpPr>
          <p:cNvPr id="6" name="矩形 6"/>
          <p:cNvSpPr/>
          <p:nvPr/>
        </p:nvSpPr>
        <p:spPr>
          <a:xfrm>
            <a:off x="797442" y="3628940"/>
            <a:ext cx="7878725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altLang="zh-CN" b="1" dirty="0" err="1"/>
              <a:t>upper_arm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mat4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instance =  </a:t>
            </a:r>
            <a:r>
              <a:rPr lang="en-US" b="1" dirty="0"/>
              <a:t>Translate</a:t>
            </a:r>
            <a:r>
              <a:rPr lang="en-US" dirty="0"/>
              <a:t>( 0.0, 0.5 * </a:t>
            </a:r>
            <a:r>
              <a:rPr lang="en-US" altLang="zh-CN" dirty="0"/>
              <a:t>UPPER</a:t>
            </a:r>
            <a:r>
              <a:rPr lang="en-US" dirty="0"/>
              <a:t>_</a:t>
            </a:r>
            <a:r>
              <a:rPr lang="en-US" altLang="zh-CN" dirty="0"/>
              <a:t>ARM_</a:t>
            </a:r>
            <a:r>
              <a:rPr lang="en-US" dirty="0"/>
              <a:t>HEIGHT, 0.0 ) </a:t>
            </a:r>
          </a:p>
          <a:p>
            <a:pPr lvl="1"/>
            <a:r>
              <a:rPr lang="zh-CN" altLang="en-US" dirty="0"/>
              <a:t>                            </a:t>
            </a:r>
            <a:r>
              <a:rPr lang="en-US" dirty="0"/>
              <a:t>* </a:t>
            </a:r>
            <a:r>
              <a:rPr lang="en-US" b="1" dirty="0"/>
              <a:t>Scale</a:t>
            </a:r>
            <a:r>
              <a:rPr lang="en-US" dirty="0"/>
              <a:t>(</a:t>
            </a:r>
            <a:r>
              <a:rPr lang="en-US" altLang="zh-CN" dirty="0"/>
              <a:t>UA_</a:t>
            </a:r>
            <a:r>
              <a:rPr lang="en-US" dirty="0"/>
              <a:t>WIDTH,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HEIGHT,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WIDTH ) ;</a:t>
            </a:r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按长宽高缩放正方体，并且平移使得底面在</a:t>
            </a:r>
            <a:r>
              <a:rPr lang="en-US" altLang="zh-CN" dirty="0">
                <a:solidFill>
                  <a:schemeClr val="accent6"/>
                </a:solidFill>
              </a:rPr>
              <a:t>y=0</a:t>
            </a:r>
            <a:r>
              <a:rPr lang="zh-CN" altLang="en-US" dirty="0">
                <a:solidFill>
                  <a:schemeClr val="accent6"/>
                </a:solidFill>
              </a:rPr>
              <a:t>上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b="1" dirty="0"/>
              <a:t>glUniformMatrix4fv</a:t>
            </a:r>
            <a:r>
              <a:rPr lang="en-US" dirty="0"/>
              <a:t>(</a:t>
            </a:r>
            <a:r>
              <a:rPr lang="en-US" dirty="0" err="1"/>
              <a:t>ModelView</a:t>
            </a:r>
            <a:r>
              <a:rPr lang="en-US" dirty="0"/>
              <a:t>, 1, GL_TRUE, </a:t>
            </a:r>
            <a:r>
              <a:rPr lang="en-US" dirty="0" err="1">
                <a:solidFill>
                  <a:srgbClr val="FF0000"/>
                </a:solidFill>
              </a:rPr>
              <a:t>model_view</a:t>
            </a:r>
            <a:r>
              <a:rPr lang="en-US" dirty="0">
                <a:solidFill>
                  <a:srgbClr val="FF0000"/>
                </a:solidFill>
              </a:rPr>
              <a:t> * instance </a:t>
            </a:r>
            <a:r>
              <a:rPr lang="en-US" dirty="0"/>
              <a:t>);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将完整的模</a:t>
            </a:r>
            <a:r>
              <a:rPr lang="en-US" altLang="zh-CN" dirty="0">
                <a:solidFill>
                  <a:schemeClr val="accent6"/>
                </a:solidFill>
              </a:rPr>
              <a:t>-</a:t>
            </a:r>
            <a:r>
              <a:rPr lang="zh-CN" altLang="en-US" dirty="0">
                <a:solidFill>
                  <a:schemeClr val="accent6"/>
                </a:solidFill>
              </a:rPr>
              <a:t>视矩阵传给</a:t>
            </a:r>
            <a:r>
              <a:rPr lang="en-US" dirty="0" err="1">
                <a:solidFill>
                  <a:schemeClr val="accent6"/>
                </a:solidFill>
              </a:rPr>
              <a:t>shader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i="1" dirty="0"/>
          </a:p>
          <a:p>
            <a:pPr lvl="1"/>
            <a:r>
              <a:rPr lang="zh-CN" altLang="en-US" i="1" dirty="0"/>
              <a:t> </a:t>
            </a:r>
            <a:r>
              <a:rPr lang="en-US" b="1" dirty="0" err="1"/>
              <a:t>glDrawArrays</a:t>
            </a:r>
            <a:r>
              <a:rPr lang="en-US" dirty="0"/>
              <a:t>( </a:t>
            </a:r>
            <a:r>
              <a:rPr lang="en-US" i="1" dirty="0"/>
              <a:t>GL_TRIANGLES</a:t>
            </a:r>
            <a:r>
              <a:rPr lang="en-US" dirty="0"/>
              <a:t>, 0, </a:t>
            </a:r>
            <a:r>
              <a:rPr lang="en-US" dirty="0" err="1"/>
              <a:t>NumVertices</a:t>
            </a:r>
            <a:r>
              <a:rPr lang="en-US" dirty="0"/>
              <a:t>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绘制相应的三角面片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 </a:t>
            </a:r>
            <a:endParaRPr lang="en-US" altLang="zh-C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38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BC06F6-2081-254A-9707-A072E85366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79"/>
          <a:stretch/>
        </p:blipFill>
        <p:spPr>
          <a:xfrm>
            <a:off x="4835149" y="3195262"/>
            <a:ext cx="3792877" cy="31284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实验补充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机械手臂</a:t>
            </a:r>
            <a:endParaRPr lang="en-US" altLang="zh-CN" sz="2400" dirty="0"/>
          </a:p>
          <a:p>
            <a:pPr lvl="1"/>
            <a:r>
              <a:rPr lang="zh-CN" altLang="en-US" sz="1800" dirty="0"/>
              <a:t>了解层级建模基本概念</a:t>
            </a:r>
            <a:endParaRPr lang="en-US" altLang="en-US" sz="1800" dirty="0"/>
          </a:p>
          <a:p>
            <a:pPr lvl="1"/>
            <a:r>
              <a:rPr lang="zh-CN" altLang="en-US" sz="1800" dirty="0"/>
              <a:t>掌握简单平移，缩放，旋转的矩阵构建</a:t>
            </a:r>
            <a:endParaRPr lang="en-US" altLang="en-US" sz="1800" dirty="0"/>
          </a:p>
          <a:p>
            <a:pPr lvl="1"/>
            <a:r>
              <a:rPr lang="zh-CN" altLang="en-US" sz="1800" dirty="0"/>
              <a:t>了解变换矩在层级模型父子节点间的传递关系</a:t>
            </a:r>
            <a:endParaRPr lang="en-US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86" y="3085565"/>
            <a:ext cx="1780512" cy="28466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502921" y="30743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简化版：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7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/>
              <a:t>图符和实例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层级模型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机器人手臂的实现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动画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715614" y="1316831"/>
            <a:ext cx="7722704" cy="151142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16347" y="336410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机器人的实现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34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因为结构比较简单，在实现时没有用树形数据结构去存储和操作，直接逐个绘制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772886" y="2305888"/>
            <a:ext cx="6361561" cy="329320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支架变换矩阵</a:t>
            </a:r>
            <a:endParaRPr lang="en-US" sz="1600" dirty="0"/>
          </a:p>
          <a:p>
            <a:r>
              <a:rPr lang="en-US" sz="1600" dirty="0" err="1"/>
              <a:t>model_view</a:t>
            </a:r>
            <a:r>
              <a:rPr lang="en-US" sz="1600" dirty="0"/>
              <a:t> = </a:t>
            </a:r>
            <a:r>
              <a:rPr lang="en-US" sz="1600" b="1" dirty="0" err="1"/>
              <a:t>RotateY</a:t>
            </a:r>
            <a:r>
              <a:rPr lang="en-US" sz="1600" dirty="0"/>
              <a:t>(Theta[Base] );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en-US" sz="1600" b="1" dirty="0"/>
              <a:t>base</a:t>
            </a:r>
            <a:r>
              <a:rPr lang="en-US" sz="1600" dirty="0"/>
              <a:t>();</a:t>
            </a:r>
            <a:r>
              <a:rPr lang="zh-CN" altLang="en-US" sz="1600" dirty="0"/>
              <a:t>   </a:t>
            </a:r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绘制支架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下臂变换矩阵</a:t>
            </a:r>
            <a:endParaRPr lang="en-US" sz="1600" dirty="0"/>
          </a:p>
          <a:p>
            <a:r>
              <a:rPr lang="en-US" sz="1600" dirty="0" err="1"/>
              <a:t>model_view</a:t>
            </a:r>
            <a:r>
              <a:rPr lang="en-US" sz="1600" dirty="0"/>
              <a:t> = </a:t>
            </a:r>
            <a:r>
              <a:rPr lang="en-US" sz="1600" dirty="0" err="1"/>
              <a:t>model_view</a:t>
            </a:r>
            <a:r>
              <a:rPr lang="zh-CN" altLang="en-US" sz="1600" dirty="0"/>
              <a:t> * </a:t>
            </a:r>
            <a:r>
              <a:rPr lang="en-US" sz="1600" b="1" dirty="0"/>
              <a:t>Translate</a:t>
            </a:r>
            <a:r>
              <a:rPr lang="en-US" sz="1600" dirty="0"/>
              <a:t>(0.0, BASE_HEIGHT, 0.0) </a:t>
            </a:r>
          </a:p>
          <a:p>
            <a:r>
              <a:rPr lang="en-US" sz="1600" dirty="0"/>
              <a:t>		    </a:t>
            </a:r>
            <a:r>
              <a:rPr lang="zh-CN" altLang="en-US" sz="1600" dirty="0"/>
              <a:t>     * </a:t>
            </a:r>
            <a:r>
              <a:rPr lang="en-US" sz="1600" b="1" dirty="0" err="1"/>
              <a:t>RotateZ</a:t>
            </a:r>
            <a:r>
              <a:rPr lang="en-US" sz="1600" dirty="0"/>
              <a:t>(Theta[</a:t>
            </a:r>
            <a:r>
              <a:rPr lang="en-US" sz="1600" dirty="0" err="1"/>
              <a:t>LowerArm</a:t>
            </a:r>
            <a:r>
              <a:rPr lang="en-US" sz="1600" dirty="0"/>
              <a:t>]);</a:t>
            </a:r>
            <a:r>
              <a:rPr lang="zh-CN" altLang="en-US" sz="1600" dirty="0"/>
              <a:t>  </a:t>
            </a:r>
            <a:endParaRPr lang="en-US" altLang="zh-CN" sz="1600" dirty="0"/>
          </a:p>
          <a:p>
            <a:r>
              <a:rPr lang="en-US" sz="1600" b="1" dirty="0" err="1"/>
              <a:t>lower_arm</a:t>
            </a:r>
            <a:r>
              <a:rPr lang="en-US" sz="1600" dirty="0"/>
              <a:t>();</a:t>
            </a:r>
            <a:r>
              <a:rPr lang="zh-CN" altLang="en-US" sz="1600" dirty="0"/>
              <a:t>  </a:t>
            </a:r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绘制下臂</a:t>
            </a:r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上臂变换矩阵</a:t>
            </a:r>
            <a:endParaRPr lang="en-US" sz="1600" dirty="0"/>
          </a:p>
          <a:p>
            <a:r>
              <a:rPr lang="en-US" sz="1600" dirty="0" err="1"/>
              <a:t>model_view</a:t>
            </a:r>
            <a:r>
              <a:rPr lang="en-US" sz="1600" dirty="0"/>
              <a:t> = </a:t>
            </a:r>
            <a:r>
              <a:rPr lang="en-US" sz="1600" dirty="0" err="1"/>
              <a:t>model_view</a:t>
            </a:r>
            <a:r>
              <a:rPr lang="zh-CN" altLang="en-US" sz="1600" dirty="0"/>
              <a:t> * </a:t>
            </a:r>
            <a:r>
              <a:rPr lang="en-US" sz="1600" b="1" dirty="0"/>
              <a:t>Translate</a:t>
            </a:r>
            <a:r>
              <a:rPr lang="en-US" sz="1600" dirty="0"/>
              <a:t>(0.0, LOWER_ARM_HEIGHT, 0.0) </a:t>
            </a:r>
          </a:p>
          <a:p>
            <a:r>
              <a:rPr lang="en-US" sz="1600" dirty="0"/>
              <a:t>		    </a:t>
            </a:r>
            <a:r>
              <a:rPr lang="zh-CN" altLang="en-US" sz="1600" dirty="0"/>
              <a:t>      * </a:t>
            </a:r>
            <a:r>
              <a:rPr lang="en-US" sz="1600" b="1" dirty="0" err="1"/>
              <a:t>RotateZ</a:t>
            </a:r>
            <a:r>
              <a:rPr lang="en-US" sz="1600" dirty="0"/>
              <a:t>(Theta[</a:t>
            </a:r>
            <a:r>
              <a:rPr lang="en-US" sz="1600" dirty="0" err="1"/>
              <a:t>UpperArm</a:t>
            </a:r>
            <a:r>
              <a:rPr lang="en-US" sz="1600" dirty="0"/>
              <a:t>]);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en-US" sz="1600" b="1" dirty="0" err="1"/>
              <a:t>upper_arm</a:t>
            </a:r>
            <a:r>
              <a:rPr lang="en-US" sz="1600" dirty="0"/>
              <a:t>();</a:t>
            </a:r>
            <a:r>
              <a:rPr lang="zh-CN" altLang="en-US" sz="1600" dirty="0"/>
              <a:t>  </a:t>
            </a:r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绘制上臂</a:t>
            </a:r>
            <a:endParaRPr lang="en-US" altLang="zh-CN" sz="1600" dirty="0">
              <a:solidFill>
                <a:schemeClr val="accent6"/>
              </a:solidFill>
            </a:endParaRPr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549" y="2193042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机器人的树结构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但是对于具有更复杂的结构的模型，通过树结构的遍历来确定部件的绘制顺序会使更加便捷：</a:t>
            </a:r>
            <a:endParaRPr lang="en-US" altLang="zh-CN" sz="2400" dirty="0"/>
          </a:p>
          <a:p>
            <a:pPr lvl="1"/>
            <a:r>
              <a:rPr lang="zh-CN" altLang="en-US" sz="1600" b="1" dirty="0">
                <a:solidFill>
                  <a:srgbClr val="0000FF"/>
                </a:solidFill>
              </a:rPr>
              <a:t>先序遍历</a:t>
            </a:r>
            <a:r>
              <a:rPr lang="zh-CN" altLang="en-US" sz="1600" dirty="0"/>
              <a:t>：沿着树左子树开始访问节点，一直遍历到树叶子节点，然后回溯到树上一层访问第一个右子树，照此一直递归下去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56" y="2982499"/>
            <a:ext cx="7469462" cy="369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带有矩阵的树结构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每一个节点需要定义一个相对于父节点的变换矩阵：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1600" dirty="0"/>
                  <a:t>：定位和定向整个模型，它作用在根节点躯干上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1600" dirty="0"/>
                  <a:t>：相对于躯干定位头部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rua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lul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rul</m:t>
                        </m:r>
                      </m:sub>
                    </m:sSub>
                  </m:oMath>
                </a14:m>
                <a:r>
                  <a:rPr lang="zh-CN" altLang="en-US" sz="1600" dirty="0"/>
                  <a:t>：相对于躯干定位四肢的上半部分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lla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rla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lll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rll</m:t>
                        </m:r>
                      </m:sub>
                    </m:sSub>
                  </m:oMath>
                </a14:m>
                <a:r>
                  <a:rPr lang="zh-CN" altLang="en-US" sz="1600" dirty="0"/>
                  <a:t>：相对于四肢的上半部分定位各自的下半部分</a:t>
                </a:r>
                <a:endParaRPr lang="en-US" altLang="zh-CN" sz="1600" dirty="0"/>
              </a:p>
              <a:p>
                <a:pPr lvl="1"/>
                <a:endParaRPr lang="en-US" sz="16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1793" y="3030279"/>
            <a:ext cx="7040095" cy="3645158"/>
            <a:chOff x="891793" y="3030279"/>
            <a:chExt cx="7040095" cy="364515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055783" y="3343367"/>
                  <a:ext cx="2404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783" y="3343367"/>
                  <a:ext cx="240450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500" r="-20000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602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基于堆栈的遍历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501053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把模型视图矩阵设为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2400" dirty="0"/>
                  <a:t>，并绘制躯干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设置模型视图矩阵为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2400" dirty="0"/>
                  <a:t>，并绘制头部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对于左臂，先应用矩阵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</m:oMath>
                </a14:m>
                <a:r>
                  <a:rPr lang="zh-CN" altLang="en-US" sz="2400" dirty="0"/>
                  <a:t>，绘制左上臂，再应用矩阵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charset="0"/>
                          </a:rPr>
                          <m:t>lla</m:t>
                        </m:r>
                      </m:sub>
                    </m:sSub>
                  </m:oMath>
                </a14:m>
                <a:r>
                  <a:rPr lang="zh-CN" altLang="en-US" sz="2400" dirty="0"/>
                  <a:t>，绘制左下臂</a:t>
                </a: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再依次对右臂、左腿和右腿进行类似的操作</a:t>
                </a: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在实际应用时，没有必要自己重新计算如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</m:oMath>
                </a14:m>
                <a:r>
                  <a:rPr lang="zh-CN" altLang="en-US" sz="2400" dirty="0"/>
                  <a:t>的矩阵或者应用逆矩阵恢复上一级变换，可以应用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矩阵堆栈</a:t>
                </a:r>
                <a:r>
                  <a:rPr lang="zh-CN" altLang="en-US" sz="2400" dirty="0"/>
                  <a:t>存贮矩阵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2400" dirty="0"/>
                  <a:t>以及其它在遍历树结构时遇到的矩阵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5010533"/>
              </a:xfrm>
              <a:blipFill rotWithShape="0">
                <a:blip r:embed="rId2"/>
                <a:stretch>
                  <a:fillRect l="-309" t="-1703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6417710" y="671352"/>
            <a:ext cx="2493295" cy="1290956"/>
            <a:chOff x="891793" y="3030279"/>
            <a:chExt cx="7040095" cy="3645158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 rotWithShape="1">
            <a:blip r:embed="rId3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7273" r="-27273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52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遍历代码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6"/>
              <p:cNvSpPr/>
              <p:nvPr/>
            </p:nvSpPr>
            <p:spPr>
              <a:xfrm>
                <a:off x="616689" y="1130721"/>
                <a:ext cx="4950417" cy="5509200"/>
              </a:xfrm>
              <a:prstGeom prst="rect">
                <a:avLst/>
              </a:prstGeom>
              <a:solidFill>
                <a:srgbClr val="BDD7EE">
                  <a:alpha val="52941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i="1" dirty="0" err="1"/>
                  <a:t>RotateY</a:t>
                </a:r>
                <a:r>
                  <a:rPr lang="en-US" sz="1600" dirty="0"/>
                  <a:t>( theta[Torso] );</a:t>
                </a:r>
                <a:r>
                  <a:rPr lang="zh-CN" alt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torso();</a:t>
                </a:r>
                <a:r>
                  <a:rPr lang="zh-CN" altLang="en-US" sz="1600" dirty="0"/>
                  <a:t> 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躯干绘制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头结点局部变换矩阵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/>
                  <a:t>head();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头部绘制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>
                    <a:solidFill>
                      <a:srgbClr val="FF0000"/>
                    </a:solidFill>
                  </a:rPr>
                  <a:t>()</a:t>
                </a:r>
                <a:r>
                  <a:rPr lang="en-US" sz="1600" dirty="0"/>
                  <a:t>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 </a:t>
                </a:r>
                <a:r>
                  <a:rPr lang="zh-CN" alt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左上臂局部变换矩阵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/>
                  <a:t>left_upper_arm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左上臂绘制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左下臂局部变换矩阵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/>
                  <a:t>left_lower_arm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左下臂绘制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 </a:t>
                </a:r>
                <a:r>
                  <a:rPr lang="zh-CN" alt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右上臂局部变换矩阵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/>
                  <a:t>right_upper_arm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右上臂绘制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右下臂局部变换矩阵</a:t>
                </a:r>
                <a:endParaRPr lang="en-US" sz="1600" dirty="0"/>
              </a:p>
              <a:p>
                <a:r>
                  <a:rPr lang="en-US" sz="1600" dirty="0" err="1"/>
                  <a:t>right_lower_arm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右下臂绘制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altLang="zh-CN" sz="1600" dirty="0">
                  <a:solidFill>
                    <a:schemeClr val="accent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⋮</m:t>
                      </m:r>
                    </m:oMath>
                  </m:oMathPara>
                </a14:m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89" y="1130721"/>
                <a:ext cx="4950417" cy="5509200"/>
              </a:xfrm>
              <a:prstGeom prst="rect">
                <a:avLst/>
              </a:prstGeom>
              <a:blipFill rotWithShape="0">
                <a:blip r:embed="rId2"/>
                <a:stretch>
                  <a:fillRect l="-616" t="-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/>
          <p:cNvPicPr>
            <a:picLocks noChangeAspect="1"/>
          </p:cNvPicPr>
          <p:nvPr/>
        </p:nvPicPr>
        <p:blipFill rotWithShape="1">
          <a:blip r:embed="rId3"/>
          <a:srcRect r="75391"/>
          <a:stretch/>
        </p:blipFill>
        <p:spPr>
          <a:xfrm>
            <a:off x="6453621" y="1258927"/>
            <a:ext cx="1606179" cy="322691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567106" y="4623495"/>
            <a:ext cx="3379210" cy="1749657"/>
            <a:chOff x="891793" y="3030279"/>
            <a:chExt cx="7040095" cy="3645158"/>
          </a:xfrm>
        </p:grpSpPr>
        <p:pic>
          <p:nvPicPr>
            <p:cNvPr id="10" name="图片 3"/>
            <p:cNvPicPr>
              <a:picLocks noChangeAspect="1"/>
            </p:cNvPicPr>
            <p:nvPr/>
          </p:nvPicPr>
          <p:blipFill rotWithShape="1">
            <a:blip r:embed="rId4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226"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5822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部件绘制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在示例代码中没有对状态进行修改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例如没有改变颜色，可以在各个部件绘制过程中分别赋色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对每一个部件，同样需要一个从</a:t>
            </a:r>
            <a:r>
              <a:rPr lang="zh-CN" altLang="en-US" sz="2400" dirty="0">
                <a:solidFill>
                  <a:srgbClr val="0000FF"/>
                </a:solidFill>
              </a:rPr>
              <a:t>图符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的变换：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en-US" altLang="zh-CN" sz="1600" dirty="0">
                <a:solidFill>
                  <a:srgbClr val="FF0000"/>
                </a:solidFill>
              </a:rPr>
              <a:t>push</a:t>
            </a:r>
            <a:r>
              <a:rPr lang="zh-CN" altLang="en-US" sz="1600" dirty="0"/>
              <a:t>和</a:t>
            </a:r>
            <a:r>
              <a:rPr lang="en-US" altLang="zh-CN" sz="1600" dirty="0">
                <a:solidFill>
                  <a:srgbClr val="FF0000"/>
                </a:solidFill>
              </a:rPr>
              <a:t>pop</a:t>
            </a:r>
            <a:r>
              <a:rPr lang="zh-CN" altLang="en-US" sz="1600" dirty="0"/>
              <a:t>操作起到代码隔离作用，防止误操作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056808" y="816936"/>
            <a:ext cx="917084" cy="1946918"/>
          </a:xfrm>
          <a:prstGeom prst="rect">
            <a:avLst/>
          </a:prstGeom>
          <a:ln>
            <a:noFill/>
          </a:ln>
        </p:spPr>
      </p:pic>
      <p:pic>
        <p:nvPicPr>
          <p:cNvPr id="8" name="图片 5"/>
          <p:cNvPicPr>
            <a:picLocks noChangeAspect="1"/>
          </p:cNvPicPr>
          <p:nvPr/>
        </p:nvPicPr>
        <p:blipFill rotWithShape="1">
          <a:blip r:embed="rId3"/>
          <a:srcRect r="48983"/>
          <a:stretch/>
        </p:blipFill>
        <p:spPr>
          <a:xfrm>
            <a:off x="7424976" y="2971743"/>
            <a:ext cx="1676107" cy="139394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5400000">
            <a:off x="8061714" y="4509778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7763813" y="4897144"/>
            <a:ext cx="1199106" cy="1542049"/>
          </a:xfrm>
          <a:prstGeom prst="rect">
            <a:avLst/>
          </a:prstGeom>
        </p:spPr>
      </p:pic>
      <p:sp>
        <p:nvSpPr>
          <p:cNvPr id="11" name="矩形 6"/>
          <p:cNvSpPr/>
          <p:nvPr/>
        </p:nvSpPr>
        <p:spPr>
          <a:xfrm>
            <a:off x="1013410" y="2899763"/>
            <a:ext cx="6170122" cy="3539430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Void </a:t>
            </a:r>
            <a:r>
              <a:rPr lang="en-US" altLang="zh-CN" sz="1400" b="1" dirty="0" err="1"/>
              <a:t>upper_arm</a:t>
            </a:r>
            <a:r>
              <a:rPr lang="en-US" sz="1400" dirty="0"/>
              <a:t>()</a:t>
            </a:r>
          </a:p>
          <a:p>
            <a:r>
              <a:rPr lang="en-US" sz="1400" dirty="0"/>
              <a:t>{</a:t>
            </a:r>
          </a:p>
          <a:p>
            <a:r>
              <a:rPr lang="zh-CN" altLang="en-US" sz="1400" dirty="0">
                <a:solidFill>
                  <a:srgbClr val="FF0000"/>
                </a:solidFill>
              </a:rPr>
              <a:t>            </a:t>
            </a:r>
            <a:r>
              <a:rPr lang="en-US" sz="1400" dirty="0" err="1">
                <a:solidFill>
                  <a:srgbClr val="FF0000"/>
                </a:solidFill>
              </a:rPr>
              <a:t>mvstack.push</a:t>
            </a:r>
            <a:r>
              <a:rPr lang="en-US" sz="1400" dirty="0">
                <a:solidFill>
                  <a:srgbClr val="FF0000"/>
                </a:solidFill>
              </a:rPr>
              <a:t>( </a:t>
            </a:r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); 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保存当前模</a:t>
            </a:r>
            <a:r>
              <a:rPr lang="en-US" altLang="zh-CN" sz="1400" dirty="0">
                <a:solidFill>
                  <a:srgbClr val="FF0000"/>
                </a:solidFill>
              </a:rPr>
              <a:t>-</a:t>
            </a:r>
            <a:r>
              <a:rPr lang="zh-CN" altLang="en-US" sz="1400" dirty="0">
                <a:solidFill>
                  <a:srgbClr val="FF0000"/>
                </a:solidFill>
              </a:rPr>
              <a:t>视变换矩阵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sz="1400" i="1" dirty="0">
                <a:solidFill>
                  <a:srgbClr val="0000FF"/>
                </a:solidFill>
              </a:rPr>
              <a:t>mat4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dirty="0"/>
              <a:t>instance =  </a:t>
            </a:r>
            <a:r>
              <a:rPr lang="en-US" sz="1400" b="1" dirty="0"/>
              <a:t>Translate</a:t>
            </a:r>
            <a:r>
              <a:rPr lang="en-US" sz="1400" dirty="0"/>
              <a:t>( 0.0, 0.5 * </a:t>
            </a:r>
            <a:r>
              <a:rPr lang="en-US" altLang="zh-CN" sz="1400" dirty="0"/>
              <a:t>UPPER</a:t>
            </a:r>
            <a:r>
              <a:rPr lang="en-US" sz="1400" dirty="0"/>
              <a:t>_</a:t>
            </a:r>
            <a:r>
              <a:rPr lang="en-US" altLang="zh-CN" sz="1400" dirty="0"/>
              <a:t>ARM_</a:t>
            </a:r>
            <a:r>
              <a:rPr lang="en-US" sz="1400" dirty="0"/>
              <a:t>HEIGHT, 0.0 ) </a:t>
            </a:r>
          </a:p>
          <a:p>
            <a:pPr lvl="1"/>
            <a:r>
              <a:rPr lang="zh-CN" altLang="en-US" sz="1400" dirty="0"/>
              <a:t>                             </a:t>
            </a:r>
            <a:r>
              <a:rPr lang="en-US" sz="1400" dirty="0"/>
              <a:t>*</a:t>
            </a:r>
            <a:r>
              <a:rPr lang="zh-CN" altLang="en-US" sz="1400" dirty="0"/>
              <a:t> </a:t>
            </a:r>
            <a:r>
              <a:rPr lang="en-US" sz="1400" b="1" dirty="0"/>
              <a:t>Scale</a:t>
            </a:r>
            <a:r>
              <a:rPr lang="en-US" sz="1400" dirty="0"/>
              <a:t>(</a:t>
            </a:r>
            <a:r>
              <a:rPr lang="en-US" altLang="zh-CN" sz="1400" dirty="0"/>
              <a:t>UA_</a:t>
            </a:r>
            <a:r>
              <a:rPr lang="en-US" sz="1400" dirty="0"/>
              <a:t>WIDTH,</a:t>
            </a:r>
            <a:r>
              <a:rPr lang="zh-CN" altLang="en-US" sz="1400" dirty="0"/>
              <a:t> </a:t>
            </a:r>
            <a:r>
              <a:rPr lang="en-US" altLang="zh-CN" sz="1400" dirty="0"/>
              <a:t>UA_</a:t>
            </a:r>
            <a:r>
              <a:rPr lang="en-US" sz="1400" dirty="0"/>
              <a:t>HEIGHT,</a:t>
            </a:r>
            <a:r>
              <a:rPr lang="zh-CN" altLang="en-US" sz="1400" dirty="0"/>
              <a:t> </a:t>
            </a:r>
            <a:r>
              <a:rPr lang="en-US" altLang="zh-CN" sz="1400" dirty="0"/>
              <a:t>UA_</a:t>
            </a:r>
            <a:r>
              <a:rPr lang="en-US" sz="1400" dirty="0"/>
              <a:t>WIDTH ) ;</a:t>
            </a:r>
          </a:p>
          <a:p>
            <a:pPr lvl="1"/>
            <a:r>
              <a:rPr lang="zh-CN" altLang="en-US" sz="1400" dirty="0">
                <a:solidFill>
                  <a:schemeClr val="accent6"/>
                </a:solidFill>
              </a:rPr>
              <a:t>  </a:t>
            </a:r>
            <a:r>
              <a:rPr lang="en-US" sz="1400" dirty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按长宽高缩放正方体，并且平移使得底面在</a:t>
            </a:r>
            <a:r>
              <a:rPr lang="en-US" altLang="zh-CN" sz="1400" dirty="0">
                <a:solidFill>
                  <a:schemeClr val="accent6"/>
                </a:solidFill>
              </a:rPr>
              <a:t>y=0</a:t>
            </a:r>
            <a:r>
              <a:rPr lang="zh-CN" altLang="en-US" sz="1400" dirty="0">
                <a:solidFill>
                  <a:schemeClr val="accent6"/>
                </a:solidFill>
              </a:rPr>
              <a:t>上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sz="1400" b="1" dirty="0"/>
              <a:t>glUniformMatrix4fv</a:t>
            </a:r>
            <a:r>
              <a:rPr lang="en-US" sz="1400" dirty="0"/>
              <a:t>(</a:t>
            </a:r>
            <a:r>
              <a:rPr lang="en-US" sz="1400" dirty="0" err="1"/>
              <a:t>ModelView</a:t>
            </a:r>
            <a:r>
              <a:rPr lang="en-US" sz="1400" dirty="0"/>
              <a:t>, 1, </a:t>
            </a:r>
            <a:r>
              <a:rPr lang="en-US" sz="1400"/>
              <a:t>GL_FALSE, </a:t>
            </a:r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* instance </a:t>
            </a:r>
            <a:r>
              <a:rPr lang="en-US" sz="1400" dirty="0"/>
              <a:t>);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lvl="1"/>
            <a:r>
              <a:rPr lang="zh-CN" alt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将完整的模</a:t>
            </a:r>
            <a:r>
              <a:rPr lang="en-US" altLang="zh-CN" sz="1400" dirty="0">
                <a:solidFill>
                  <a:schemeClr val="accent6"/>
                </a:solidFill>
              </a:rPr>
              <a:t>-</a:t>
            </a:r>
            <a:r>
              <a:rPr lang="zh-CN" altLang="en-US" sz="1400" dirty="0">
                <a:solidFill>
                  <a:schemeClr val="accent6"/>
                </a:solidFill>
              </a:rPr>
              <a:t>视矩阵传给</a:t>
            </a:r>
            <a:r>
              <a:rPr lang="en-US" sz="1400" dirty="0" err="1">
                <a:solidFill>
                  <a:schemeClr val="accent6"/>
                </a:solidFill>
              </a:rPr>
              <a:t>shader</a:t>
            </a:r>
            <a:endParaRPr lang="en-US" sz="1400" dirty="0">
              <a:solidFill>
                <a:schemeClr val="accent6"/>
              </a:solidFill>
            </a:endParaRPr>
          </a:p>
          <a:p>
            <a:pPr lvl="1"/>
            <a:endParaRPr lang="en-US" sz="1400" i="1" dirty="0"/>
          </a:p>
          <a:p>
            <a:pPr lvl="1"/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 err="1">
                <a:solidFill>
                  <a:srgbClr val="FF0000"/>
                </a:solidFill>
              </a:rPr>
              <a:t>colorCube</a:t>
            </a:r>
            <a:r>
              <a:rPr lang="en-US" altLang="zh-CN" sz="1400" dirty="0">
                <a:solidFill>
                  <a:srgbClr val="FF0000"/>
                </a:solidFill>
              </a:rPr>
              <a:t>();</a:t>
            </a:r>
            <a:r>
              <a:rPr lang="zh-CN" altLang="en-US" sz="1400" dirty="0">
                <a:solidFill>
                  <a:srgbClr val="FF0000"/>
                </a:solidFill>
              </a:rPr>
              <a:t>  </a:t>
            </a:r>
            <a:r>
              <a:rPr lang="en-US" altLang="zh-CN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 给部件赋色</a:t>
            </a:r>
            <a:endParaRPr lang="en-US" sz="1400" dirty="0">
              <a:solidFill>
                <a:srgbClr val="FF0000"/>
              </a:solidFill>
            </a:endParaRPr>
          </a:p>
          <a:p>
            <a:pPr lvl="1"/>
            <a:r>
              <a:rPr lang="zh-CN" altLang="en-US" sz="1400" i="1" dirty="0"/>
              <a:t> </a:t>
            </a:r>
            <a:r>
              <a:rPr lang="en-US" sz="1400" b="1" dirty="0" err="1"/>
              <a:t>glDrawArrays</a:t>
            </a:r>
            <a:r>
              <a:rPr lang="en-US" sz="1400" dirty="0"/>
              <a:t>( GL_TRIANGLES, 0, </a:t>
            </a:r>
            <a:r>
              <a:rPr lang="en-US" sz="1400" dirty="0" err="1"/>
              <a:t>NumVertices</a:t>
            </a:r>
            <a:r>
              <a:rPr lang="en-US" sz="1400" dirty="0"/>
              <a:t> );</a:t>
            </a:r>
            <a:r>
              <a:rPr lang="zh-CN" altLang="en-US" sz="1400" dirty="0"/>
              <a:t>  </a:t>
            </a:r>
            <a:r>
              <a:rPr lang="en-US" sz="1400" dirty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绘制相应的三角面片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lvl="1"/>
            <a:endParaRPr lang="en-US" sz="1400" dirty="0"/>
          </a:p>
          <a:p>
            <a:pPr lvl="1"/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= </a:t>
            </a:r>
            <a:r>
              <a:rPr lang="en-US" sz="1400" dirty="0" err="1">
                <a:solidFill>
                  <a:srgbClr val="FF0000"/>
                </a:solidFill>
              </a:rPr>
              <a:t>mvstack.pop</a:t>
            </a:r>
            <a:r>
              <a:rPr lang="en-US" sz="1400" dirty="0">
                <a:solidFill>
                  <a:srgbClr val="FF0000"/>
                </a:solidFill>
              </a:rPr>
              <a:t>();</a:t>
            </a:r>
            <a:r>
              <a:rPr lang="zh-CN" altLang="en-US" sz="1400" dirty="0">
                <a:solidFill>
                  <a:srgbClr val="FF0000"/>
                </a:solidFill>
              </a:rPr>
              <a:t>  </a:t>
            </a:r>
            <a:r>
              <a:rPr lang="en-US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恢复当前模</a:t>
            </a:r>
            <a:r>
              <a:rPr lang="en-US" altLang="zh-CN" sz="1400" dirty="0">
                <a:solidFill>
                  <a:srgbClr val="FF0000"/>
                </a:solidFill>
              </a:rPr>
              <a:t>-</a:t>
            </a:r>
            <a:r>
              <a:rPr lang="zh-CN" altLang="en-US" sz="1400" dirty="0">
                <a:solidFill>
                  <a:srgbClr val="FF0000"/>
                </a:solidFill>
              </a:rPr>
              <a:t>视变换矩阵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/>
              <a:t>} </a:t>
            </a:r>
            <a:endParaRPr lang="en-US" altLang="zh-C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76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上述遍历代码描述了特定的树结构，并采用了特定的遍历策略：先序遍历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能否设计更一般的方法，不需要将所有的节点按遍历顺序逐个写出呢？</a:t>
            </a:r>
            <a:r>
              <a:rPr lang="en-US" altLang="zh-CN" sz="1800" dirty="0"/>
              <a:t>--</a:t>
            </a:r>
            <a:r>
              <a:rPr lang="zh-CN" altLang="en-US" sz="1800" dirty="0"/>
              <a:t> </a:t>
            </a:r>
            <a:r>
              <a:rPr lang="zh-CN" altLang="en-US" sz="1800" dirty="0">
                <a:solidFill>
                  <a:srgbClr val="0000FF"/>
                </a:solidFill>
              </a:rPr>
              <a:t>递归调用</a:t>
            </a:r>
            <a:r>
              <a:rPr lang="en-US" altLang="zh-CN" sz="1800" dirty="0">
                <a:solidFill>
                  <a:srgbClr val="0000FF"/>
                </a:solidFill>
              </a:rPr>
              <a:t>:</a:t>
            </a:r>
          </a:p>
          <a:p>
            <a:pPr lvl="1">
              <a:buClr>
                <a:srgbClr val="94003F"/>
              </a:buClr>
            </a:pPr>
            <a:endParaRPr lang="zh-CN" altLang="en-US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1252645" y="2888383"/>
            <a:ext cx="5041650" cy="260584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tabLst/>
            </a:pPr>
            <a:r>
              <a:rPr lang="en-US" altLang="zh-CN" sz="1600" dirty="0"/>
              <a:t>void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treenode</a:t>
            </a:r>
            <a:r>
              <a:rPr lang="en-US" altLang="zh-CN" sz="1600" dirty="0"/>
              <a:t>   *node)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600" dirty="0"/>
              <a:t>{</a:t>
            </a:r>
          </a:p>
          <a:p>
            <a:pPr lvl="1">
              <a:lnSpc>
                <a:spcPts val="1500"/>
              </a:lnSpc>
            </a:pPr>
            <a:r>
              <a:rPr lang="en-US" altLang="zh-CN" sz="1600" dirty="0"/>
              <a:t>if(node   ==   NULL)   return;</a:t>
            </a:r>
          </a:p>
          <a:p>
            <a:pPr lvl="1">
              <a:lnSpc>
                <a:spcPts val="2300"/>
              </a:lnSpc>
            </a:pPr>
            <a:r>
              <a:rPr lang="en-US" altLang="zh-CN" sz="1600" dirty="0" err="1">
                <a:solidFill>
                  <a:srgbClr val="FF0000"/>
                </a:solidFill>
              </a:rPr>
              <a:t>mvstack.push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model_view</a:t>
            </a:r>
            <a:r>
              <a:rPr lang="en-US" altLang="zh-CN" sz="1600" dirty="0"/>
              <a:t>);</a:t>
            </a:r>
          </a:p>
          <a:p>
            <a:pPr lvl="1">
              <a:lnSpc>
                <a:spcPts val="1500"/>
              </a:lnSpc>
            </a:pPr>
            <a:r>
              <a:rPr lang="en-US" altLang="zh-CN" sz="1600" dirty="0" err="1"/>
              <a:t>model_view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model_view</a:t>
            </a:r>
            <a:r>
              <a:rPr lang="zh-CN" altLang="en-US" sz="1600" dirty="0"/>
              <a:t> </a:t>
            </a:r>
            <a:r>
              <a:rPr lang="en-US" altLang="zh-CN" sz="1600" dirty="0"/>
              <a:t>*</a:t>
            </a:r>
            <a:r>
              <a:rPr lang="zh-CN" altLang="en-US" sz="1600" dirty="0"/>
              <a:t> </a:t>
            </a:r>
            <a:r>
              <a:rPr lang="en-US" altLang="zh-CN" sz="1600" dirty="0"/>
              <a:t>node-&gt;m;</a:t>
            </a:r>
          </a:p>
          <a:p>
            <a:pPr lvl="1">
              <a:lnSpc>
                <a:spcPts val="2300"/>
              </a:lnSpc>
              <a:spcAft>
                <a:spcPts val="600"/>
              </a:spcAft>
            </a:pPr>
            <a:r>
              <a:rPr lang="en-US" altLang="zh-CN" sz="1600" dirty="0"/>
              <a:t>node-&gt;render();</a:t>
            </a:r>
          </a:p>
          <a:p>
            <a:pPr lvl="1">
              <a:lnSpc>
                <a:spcPts val="1500"/>
              </a:lnSpc>
              <a:tabLst>
                <a:tab pos="571500" algn="l"/>
              </a:tabLst>
            </a:pPr>
            <a:r>
              <a:rPr lang="en-US" altLang="zh-CN" sz="1600" dirty="0"/>
              <a:t>if(node -&gt;child!=NULL)</a:t>
            </a:r>
            <a:r>
              <a:rPr lang="zh-CN" altLang="en-US" sz="1600" dirty="0"/>
              <a:t>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(node-&gt;child);</a:t>
            </a:r>
          </a:p>
          <a:p>
            <a:pPr lvl="1">
              <a:lnSpc>
                <a:spcPts val="2300"/>
              </a:lnSpc>
            </a:pPr>
            <a:r>
              <a:rPr lang="en-US" altLang="zh-CN" sz="1600" dirty="0" err="1"/>
              <a:t>model_view</a:t>
            </a:r>
            <a:r>
              <a:rPr lang="en-US" altLang="zh-CN" sz="1600" dirty="0"/>
              <a:t> = </a:t>
            </a:r>
            <a:r>
              <a:rPr lang="en-US" altLang="zh-CN" sz="1600" dirty="0" err="1">
                <a:solidFill>
                  <a:srgbClr val="FF0000"/>
                </a:solidFill>
              </a:rPr>
              <a:t>mvstack.pop</a:t>
            </a:r>
            <a:r>
              <a:rPr lang="en-US" altLang="zh-CN" sz="1600" dirty="0"/>
              <a:t>();</a:t>
            </a:r>
          </a:p>
          <a:p>
            <a:pPr lvl="1">
              <a:lnSpc>
                <a:spcPts val="1500"/>
              </a:lnSpc>
              <a:tabLst>
                <a:tab pos="571500" algn="l"/>
              </a:tabLst>
            </a:pPr>
            <a:r>
              <a:rPr lang="en-US" altLang="zh-CN" sz="1600" dirty="0"/>
              <a:t>if(node&gt;sibling!=NULL)</a:t>
            </a:r>
            <a:r>
              <a:rPr lang="zh-CN" altLang="en-US" sz="1600" dirty="0"/>
              <a:t>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(node-&gt;sibling);</a:t>
            </a:r>
          </a:p>
          <a:p>
            <a:pPr>
              <a:lnSpc>
                <a:spcPts val="2300"/>
              </a:lnSpc>
            </a:pPr>
            <a:r>
              <a:rPr lang="en-US" altLang="zh-CN" sz="16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5350" y="51248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33439" y="3540136"/>
            <a:ext cx="2392506" cy="66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对于子节点，</a:t>
            </a:r>
            <a:r>
              <a:rPr lang="zh-CN" altLang="en-US"/>
              <a:t>以增量方式</a:t>
            </a:r>
            <a:r>
              <a:rPr lang="zh-CN" altLang="en-US" dirty="0"/>
              <a:t>改变模</a:t>
            </a:r>
            <a:r>
              <a:rPr lang="en-US" altLang="zh-CN" dirty="0"/>
              <a:t>-</a:t>
            </a:r>
            <a:r>
              <a:rPr lang="zh-CN" altLang="en-US" dirty="0"/>
              <a:t>视矩阵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33439" y="4606109"/>
            <a:ext cx="2392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对于兄弟</a:t>
            </a:r>
            <a:r>
              <a:rPr lang="zh-CN" altLang="en-US"/>
              <a:t>节点，恢复初始模</a:t>
            </a:r>
            <a:r>
              <a:rPr lang="en-US" altLang="zh-CN" dirty="0"/>
              <a:t>-</a:t>
            </a:r>
            <a:r>
              <a:rPr lang="zh-CN" altLang="en-US" dirty="0"/>
              <a:t>视矩阵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316819" y="4784651"/>
            <a:ext cx="2116620" cy="1446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</p:cNvCxnSpPr>
          <p:nvPr/>
        </p:nvCxnSpPr>
        <p:spPr>
          <a:xfrm flipH="1">
            <a:off x="5762847" y="4929275"/>
            <a:ext cx="670592" cy="1145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592726" y="3917928"/>
            <a:ext cx="840713" cy="61656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05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树数据结构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需要一个数据结构表示树，从而支持上述遍历方式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采用左子右亲（</a:t>
            </a:r>
            <a:r>
              <a:rPr lang="en-US" altLang="zh-CN" sz="2400" dirty="0"/>
              <a:t>left-child right-sibling</a:t>
            </a:r>
            <a:r>
              <a:rPr lang="zh-CN" altLang="en-US" sz="2400" dirty="0"/>
              <a:t>）结构：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应用链表结构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在数据结构中每个节点有两个指针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左：子节点链表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右：下一个兄弟节点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18874"/>
          <a:stretch/>
        </p:blipFill>
        <p:spPr>
          <a:xfrm>
            <a:off x="1208824" y="3387220"/>
            <a:ext cx="6726352" cy="26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74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树节点的结构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在每个节点需要存贮下列信息：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child:</a:t>
            </a:r>
            <a:r>
              <a:rPr lang="zh-CN" altLang="en-US" sz="1800" dirty="0"/>
              <a:t> 指向子节点的指针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 err="1"/>
              <a:t>silbling</a:t>
            </a:r>
            <a:r>
              <a:rPr lang="en-US" altLang="zh-CN" sz="1800" dirty="0"/>
              <a:t>:</a:t>
            </a:r>
            <a:r>
              <a:rPr lang="zh-CN" altLang="en-US" sz="1800" dirty="0"/>
              <a:t> 指向兄弟节点的指针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f:</a:t>
            </a:r>
            <a:r>
              <a:rPr lang="zh-CN" altLang="en-US" sz="1800" dirty="0"/>
              <a:t> 一个函数指针，指向节点表示对象的绘制函数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m:</a:t>
            </a:r>
            <a:r>
              <a:rPr lang="zh-CN" altLang="en-US" sz="1800" dirty="0"/>
              <a:t> 乘在当前模型视图矩阵右边的齐次坐标矩阵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表示从父节点到当前节点的变化矩阵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156953" y="3559366"/>
            <a:ext cx="2787726" cy="181588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endParaRPr lang="en-US" altLang="zh-CN" sz="1600" b="1" dirty="0"/>
          </a:p>
          <a:p>
            <a:pPr>
              <a:buClr>
                <a:srgbClr val="94003F"/>
              </a:buClr>
            </a:pPr>
            <a:r>
              <a:rPr lang="en-US" altLang="zh-CN" sz="1600" dirty="0"/>
              <a:t>{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  </a:t>
            </a:r>
            <a:r>
              <a:rPr lang="en-US" altLang="zh-CN" sz="1600" dirty="0">
                <a:solidFill>
                  <a:srgbClr val="0000FF"/>
                </a:solidFill>
              </a:rPr>
              <a:t>mat4</a:t>
            </a:r>
            <a:r>
              <a:rPr lang="zh-CN" altLang="en-US" sz="1600" dirty="0"/>
              <a:t> </a:t>
            </a:r>
            <a:r>
              <a:rPr lang="en-US" altLang="zh-CN" sz="1600" dirty="0"/>
              <a:t>m;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  void (*f)( )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</a:t>
            </a:r>
            <a:r>
              <a:rPr lang="zh-CN" altLang="en-US" sz="1600" dirty="0"/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r>
              <a:rPr lang="en-US" altLang="zh-CN" sz="1600" dirty="0"/>
              <a:t> *sibling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</a:t>
            </a:r>
            <a:r>
              <a:rPr lang="zh-CN" altLang="en-US" sz="1600" dirty="0"/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r>
              <a:rPr lang="en-US" altLang="zh-CN" sz="1600" dirty="0"/>
              <a:t> *child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} 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780297" y="3492500"/>
            <a:ext cx="3859747" cy="1998465"/>
            <a:chOff x="891793" y="3030279"/>
            <a:chExt cx="7040095" cy="3645158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 rotWithShape="1">
            <a:blip r:embed="rId2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7228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39678" y="336410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109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机器人手臂和机器人都是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</a:t>
            </a:r>
          </a:p>
          <a:p>
            <a:r>
              <a:rPr lang="zh-CN" altLang="en-US" sz="2400" dirty="0"/>
              <a:t>这些模型都包含了一些由关节连接起来的刚体部件</a:t>
            </a:r>
            <a:endParaRPr lang="en-US" altLang="zh-CN" sz="2400" dirty="0"/>
          </a:p>
          <a:p>
            <a:r>
              <a:rPr lang="zh-CN" altLang="en-US" sz="2400" dirty="0"/>
              <a:t>主要改变各个</a:t>
            </a:r>
            <a:r>
              <a:rPr lang="zh-CN" altLang="en-US" sz="2400" dirty="0">
                <a:solidFill>
                  <a:srgbClr val="0000FF"/>
                </a:solidFill>
              </a:rPr>
              <a:t>关节角</a:t>
            </a:r>
            <a:r>
              <a:rPr lang="zh-CN" altLang="en-US" sz="2400" dirty="0"/>
              <a:t>就可以使这些模型随时间变化而改变位置，即绘制这些模型的动画效果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40" y="3177121"/>
            <a:ext cx="6742719" cy="340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1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运动学和反向运动学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仅根据关节角度确定模型各部件的位置是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运动学</a:t>
                </a:r>
                <a:r>
                  <a:rPr lang="zh-CN" altLang="en-US" sz="2400" dirty="0"/>
                  <a:t>的范畴：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charset="0"/>
                      </a:rPr>
                      <m:t>𝑝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mr-IN" altLang="zh-CN" sz="18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CN" sz="1800" dirty="0"/>
                  <a:t>,</a:t>
                </a:r>
                <a:r>
                  <a:rPr lang="zh-CN" altLang="en-US" sz="1800" dirty="0"/>
                  <a:t> 其中 </a:t>
                </a:r>
                <a14:m>
                  <m:oMath xmlns:m="http://schemas.openxmlformats.org/officeDocument/2006/math">
                    <m:r>
                      <a:rPr lang="mr-IN" altLang="zh-CN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是关节角度数组，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zh-CN" altLang="en-US" sz="1800" dirty="0"/>
                  <a:t>是模型的顶点数组</a:t>
                </a:r>
                <a:endParaRPr lang="en-US" altLang="zh-CN" sz="1800" dirty="0"/>
              </a:p>
              <a:p>
                <a:endParaRPr lang="en-US" sz="2400" dirty="0"/>
              </a:p>
              <a:p>
                <a:r>
                  <a:rPr lang="zh-CN" altLang="en-US" sz="2400" dirty="0"/>
                  <a:t>在动画领域，我们更关心的是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反向运动学</a:t>
                </a:r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反向动力学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:r>
                  <a:rPr lang="zh-CN" altLang="en-US" sz="1800" dirty="0"/>
                  <a:t>给定模型的某个特定状态，如何调整关节角度才能达到这个位置状态？</a:t>
                </a:r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altLang="zh-CN" sz="18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8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mr-IN" altLang="zh-CN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1800" i="1" dirty="0"/>
              </a:p>
              <a:p>
                <a:pPr lvl="1"/>
                <a:r>
                  <a:rPr lang="zh-CN" altLang="en-US" sz="1800" dirty="0"/>
                  <a:t>但是，对于某个给定的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𝑝</m:t>
                    </m:r>
                  </m:oMath>
                </a14:m>
                <a:r>
                  <a:rPr lang="zh-CN" altLang="en-US" sz="1800" dirty="0"/>
                  <a:t>，一般来说，我们无法确定是否存在解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或者这个解是否唯一；求解这样的问题一般比较困难</a:t>
                </a:r>
                <a:endParaRPr lang="en-US" altLang="zh-CN" sz="1800" dirty="0"/>
              </a:p>
              <a:p>
                <a:pPr lvl="1"/>
                <a:endParaRPr lang="en-US" sz="1800" dirty="0"/>
              </a:p>
              <a:p>
                <a:r>
                  <a:rPr lang="zh-CN" altLang="en-US" sz="2600" dirty="0"/>
                  <a:t>关键帧动画：</a:t>
                </a:r>
                <a:endParaRPr lang="en-US" altLang="zh-CN" sz="2600" dirty="0"/>
              </a:p>
              <a:p>
                <a:pPr lvl="1"/>
                <a:r>
                  <a:rPr lang="zh-CN" altLang="en-US" sz="1800" dirty="0"/>
                  <a:t>在手动设置好关键帧，然后通过差值关节角度的方式生成中间帧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64" t="-1961" r="-4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063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实验补充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人形机器人</a:t>
            </a:r>
            <a:endParaRPr lang="en-US" altLang="zh-CN" sz="2400" dirty="0"/>
          </a:p>
          <a:p>
            <a:pPr lvl="1"/>
            <a:r>
              <a:rPr lang="zh-CN" altLang="en-US" sz="1800" dirty="0"/>
              <a:t>掌握根据层级结构深度遍历层级树的方法</a:t>
            </a:r>
          </a:p>
          <a:p>
            <a:pPr lvl="1"/>
            <a:r>
              <a:rPr lang="zh-CN" altLang="en-US" sz="1800" dirty="0"/>
              <a:t>掌握采用堆栈的方式在父子和兄弟节点直接传递变换矩阵的方法</a:t>
            </a:r>
            <a:endParaRPr lang="en-US" altLang="zh-CN" sz="1800" dirty="0"/>
          </a:p>
          <a:p>
            <a:pPr lvl="1"/>
            <a:r>
              <a:rPr lang="zh-CN" altLang="en-US" sz="1800" dirty="0"/>
              <a:t>截止时间：</a:t>
            </a:r>
            <a:r>
              <a:rPr lang="en-US" altLang="zh-CN" sz="1800" b="1" dirty="0"/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2024</a:t>
            </a:r>
            <a:r>
              <a:rPr lang="zh-CN" altLang="en-US" sz="1800" b="1" dirty="0">
                <a:solidFill>
                  <a:srgbClr val="FF0000"/>
                </a:solidFill>
              </a:rPr>
              <a:t>年</a:t>
            </a:r>
            <a:r>
              <a:rPr lang="en-US" altLang="zh-CN" sz="1800" b="1" dirty="0">
                <a:solidFill>
                  <a:srgbClr val="FF0000"/>
                </a:solidFill>
              </a:rPr>
              <a:t>12</a:t>
            </a:r>
            <a:r>
              <a:rPr lang="zh-CN" altLang="en-US" sz="1800" b="1" dirty="0">
                <a:solidFill>
                  <a:srgbClr val="FF0000"/>
                </a:solidFill>
              </a:rPr>
              <a:t>月</a:t>
            </a:r>
            <a:r>
              <a:rPr lang="en-US" altLang="zh-CN" sz="1800" b="1" dirty="0">
                <a:solidFill>
                  <a:srgbClr val="FF0000"/>
                </a:solidFill>
              </a:rPr>
              <a:t>09</a:t>
            </a:r>
            <a:r>
              <a:rPr lang="zh-CN" altLang="en-US" sz="1800" b="1" dirty="0">
                <a:solidFill>
                  <a:srgbClr val="FF0000"/>
                </a:solidFill>
              </a:rPr>
              <a:t>日</a:t>
            </a:r>
            <a:r>
              <a:rPr lang="en-US" altLang="zh-CN" sz="1800" b="1" dirty="0">
                <a:solidFill>
                  <a:srgbClr val="FF0000"/>
                </a:solidFill>
              </a:rPr>
              <a:t> 23:59</a:t>
            </a:r>
            <a:r>
              <a:rPr lang="zh-CN" altLang="en-US" sz="1800" b="1" dirty="0">
                <a:solidFill>
                  <a:srgbClr val="FF0000"/>
                </a:solidFill>
              </a:rPr>
              <a:t>分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endParaRPr lang="zh-CN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930B37-8EE0-4E04-9624-228A47AF4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6103" y="3024150"/>
            <a:ext cx="1472368" cy="3332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85D170-A4B9-4ACF-BE81-310B6A3F4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53721"/>
            <a:ext cx="1928493" cy="346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0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带纹理的</a:t>
            </a:r>
            <a:r>
              <a:rPr lang="en-US" altLang="zh-CN" dirty="0"/>
              <a:t>OBJ</a:t>
            </a:r>
            <a:r>
              <a:rPr lang="zh-CN" altLang="en-US" dirty="0"/>
              <a:t>文件读取和显示</a:t>
            </a:r>
            <a:endParaRPr lang="en-US" altLang="zh-CN" dirty="0"/>
          </a:p>
          <a:p>
            <a:pPr lvl="1"/>
            <a:r>
              <a:rPr lang="zh-CN" altLang="en-US" dirty="0"/>
              <a:t>读取带纹理的</a:t>
            </a:r>
            <a:r>
              <a:rPr lang="en-US" dirty="0" err="1"/>
              <a:t>obj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载入相应的纹理图片文件</a:t>
            </a:r>
            <a:endParaRPr lang="en-US" altLang="zh-CN" dirty="0"/>
          </a:p>
          <a:p>
            <a:pPr lvl="1"/>
            <a:r>
              <a:rPr lang="zh-CN" altLang="en-US" dirty="0"/>
              <a:t>将带纹理的模型显示在程序窗口中</a:t>
            </a:r>
            <a:r>
              <a:rPr lang="en-US" dirty="0"/>
              <a:t> 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02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5638"/>
          <a:stretch/>
        </p:blipFill>
        <p:spPr bwMode="auto">
          <a:xfrm>
            <a:off x="1639079" y="3597017"/>
            <a:ext cx="5274310" cy="26035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436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虚拟场景建模</a:t>
            </a:r>
            <a:endParaRPr lang="en-US" altLang="en-US" dirty="0"/>
          </a:p>
          <a:p>
            <a:pPr lvl="1"/>
            <a:r>
              <a:rPr lang="zh-CN" altLang="en-US" dirty="0"/>
              <a:t>场景设计和显示；添加纹理；添加光照，材质，阴影效果</a:t>
            </a:r>
            <a:r>
              <a:rPr lang="en-US" dirty="0"/>
              <a:t>  </a:t>
            </a:r>
          </a:p>
          <a:p>
            <a:pPr lvl="1"/>
            <a:r>
              <a:rPr lang="zh-CN" altLang="en-US" dirty="0"/>
              <a:t>用户交互实现视角切换完成对场景的任意角度浏览</a:t>
            </a:r>
            <a:endParaRPr lang="en-US" altLang="zh-CN" dirty="0"/>
          </a:p>
          <a:p>
            <a:pPr lvl="1"/>
            <a:r>
              <a:rPr lang="zh-CN" altLang="en-US" dirty="0"/>
              <a:t>通过交互控制物体变换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23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最后一周理论课和实验课（</a:t>
            </a:r>
            <a:r>
              <a:rPr lang="en-US" b="1" dirty="0">
                <a:solidFill>
                  <a:srgbClr val="FF0000"/>
                </a:solidFill>
              </a:rPr>
              <a:t> 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24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）将安排课程大作业答辩</a:t>
            </a:r>
            <a:r>
              <a:rPr lang="zh-CN" altLang="en-US" dirty="0"/>
              <a:t>，按照学号顺序，每人上台展示自己的期末大作业。</a:t>
            </a:r>
            <a:endParaRPr lang="en-US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36" y="4024880"/>
            <a:ext cx="2385992" cy="2467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27610-3084-D748-A421-1B7619E086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49" y="4036493"/>
            <a:ext cx="2456381" cy="2456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8CAF7-65CA-F14B-AF8A-44C921807D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220" y="4036494"/>
            <a:ext cx="2337189" cy="245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18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/>
              <a:t>”，包括：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过程说明报告：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填写</a:t>
            </a:r>
            <a:r>
              <a:rPr lang="en-US" altLang="en-US" sz="1600" dirty="0"/>
              <a:t>“</a:t>
            </a:r>
            <a:r>
              <a:rPr lang="zh-CN" altLang="en-US" sz="1600" dirty="0"/>
              <a:t>以论文、报告等形式考核专用答题纸</a:t>
            </a:r>
            <a:r>
              <a:rPr lang="en-US" altLang="en-US" sz="1600" dirty="0"/>
              <a:t>.doc</a:t>
            </a:r>
            <a:r>
              <a:rPr lang="zh-CN" altLang="en-US" sz="1600" dirty="0"/>
              <a:t>”，并重命名为“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使用说明书：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自行撰写一个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内容必须包含：</a:t>
            </a:r>
            <a:endParaRPr lang="en-US" altLang="zh-CN" sz="16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一张有代表性的场景绘制截图</a:t>
            </a:r>
            <a:endParaRPr lang="en-US" altLang="zh-CN" sz="1400" dirty="0"/>
          </a:p>
          <a:p>
            <a:pPr lvl="4">
              <a:spcAft>
                <a:spcPts val="600"/>
              </a:spcAft>
            </a:pPr>
            <a:r>
              <a:rPr lang="zh-CN" altLang="en-US" sz="1400" dirty="0"/>
              <a:t>将图片单独保存并一起上传，命名为“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/>
              <a:t>”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场景中模型的层次结构框图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鼠标和键盘的具体交互用法</a:t>
            </a:r>
            <a:endParaRPr lang="en-US" altLang="zh-CN" sz="1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源代码压缩包</a:t>
            </a:r>
            <a:r>
              <a:rPr lang="en-US" sz="1800" dirty="0"/>
              <a:t> </a:t>
            </a:r>
            <a:r>
              <a:rPr lang="zh-CN" altLang="en-US" sz="1800" dirty="0"/>
              <a:t>：</a:t>
            </a:r>
            <a:endParaRPr lang="en-US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27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6837</TotalTime>
  <Words>2182</Words>
  <Application>Microsoft Office PowerPoint</Application>
  <PresentationFormat>全屏显示(4:3)</PresentationFormat>
  <Paragraphs>288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04b</vt:lpstr>
      <vt:lpstr>微软雅黑</vt:lpstr>
      <vt:lpstr>Arial</vt:lpstr>
      <vt:lpstr>Calibri</vt:lpstr>
      <vt:lpstr>Cambria Math</vt:lpstr>
      <vt:lpstr>Wingdings</vt:lpstr>
      <vt:lpstr>Office 主题</vt:lpstr>
      <vt:lpstr>第八章 层级建模方法</vt:lpstr>
      <vt:lpstr>知识点回顾 - 图符</vt:lpstr>
      <vt:lpstr>知识点回顾 - 实例变换</vt:lpstr>
      <vt:lpstr>知识点回顾 - 机器人手臂</vt:lpstr>
      <vt:lpstr>知识点回顾 - 关联模型</vt:lpstr>
      <vt:lpstr>知识点回顾 - 变换矩阵</vt:lpstr>
      <vt:lpstr>知识点回顾 - OpenGL实现</vt:lpstr>
      <vt:lpstr>知识点回顾 - OpenGL实现</vt:lpstr>
      <vt:lpstr>实验补充 1</vt:lpstr>
      <vt:lpstr>内容提要</vt:lpstr>
      <vt:lpstr>大纲</vt:lpstr>
      <vt:lpstr>机器人手臂的OpenGL实现</vt:lpstr>
      <vt:lpstr>机器人的树结构</vt:lpstr>
      <vt:lpstr>带有矩阵的树结构</vt:lpstr>
      <vt:lpstr>基于堆栈的遍历</vt:lpstr>
      <vt:lpstr>遍历代码</vt:lpstr>
      <vt:lpstr>部件绘制</vt:lpstr>
      <vt:lpstr>递归遍历</vt:lpstr>
      <vt:lpstr>树数据结构</vt:lpstr>
      <vt:lpstr>树节点的结构</vt:lpstr>
      <vt:lpstr>大纲</vt:lpstr>
      <vt:lpstr>动画</vt:lpstr>
      <vt:lpstr>运动学和反向运动学</vt:lpstr>
      <vt:lpstr>实验补充 2</vt:lpstr>
      <vt:lpstr>实验四</vt:lpstr>
      <vt:lpstr>期末大作业</vt:lpstr>
      <vt:lpstr>期末大作业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王锦鸿</cp:lastModifiedBy>
  <cp:revision>305</cp:revision>
  <dcterms:created xsi:type="dcterms:W3CDTF">2016-08-04T07:29:19Z</dcterms:created>
  <dcterms:modified xsi:type="dcterms:W3CDTF">2024-11-26T05:44:10Z</dcterms:modified>
</cp:coreProperties>
</file>