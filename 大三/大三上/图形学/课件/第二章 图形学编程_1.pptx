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ags/tag29.xml" ContentType="application/vnd.openxmlformats-officedocument.presentationml.tags+xml"/>
  <Override PartName="/ppt/tags/tag30.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54"/>
  </p:notesMasterIdLst>
  <p:sldIdLst>
    <p:sldId id="363" r:id="rId2"/>
    <p:sldId id="364" r:id="rId3"/>
    <p:sldId id="385" r:id="rId4"/>
    <p:sldId id="258" r:id="rId5"/>
    <p:sldId id="298" r:id="rId6"/>
    <p:sldId id="261" r:id="rId7"/>
    <p:sldId id="257" r:id="rId8"/>
    <p:sldId id="299" r:id="rId9"/>
    <p:sldId id="301" r:id="rId10"/>
    <p:sldId id="259" r:id="rId11"/>
    <p:sldId id="330" r:id="rId12"/>
    <p:sldId id="328" r:id="rId13"/>
    <p:sldId id="329" r:id="rId14"/>
    <p:sldId id="302" r:id="rId15"/>
    <p:sldId id="268" r:id="rId16"/>
    <p:sldId id="307" r:id="rId17"/>
    <p:sldId id="333" r:id="rId18"/>
    <p:sldId id="361" r:id="rId19"/>
    <p:sldId id="362" r:id="rId20"/>
    <p:sldId id="353" r:id="rId21"/>
    <p:sldId id="359" r:id="rId22"/>
    <p:sldId id="360" r:id="rId23"/>
    <p:sldId id="358" r:id="rId24"/>
    <p:sldId id="354" r:id="rId25"/>
    <p:sldId id="308" r:id="rId26"/>
    <p:sldId id="304" r:id="rId27"/>
    <p:sldId id="335" r:id="rId28"/>
    <p:sldId id="305" r:id="rId29"/>
    <p:sldId id="336" r:id="rId30"/>
    <p:sldId id="271" r:id="rId31"/>
    <p:sldId id="273" r:id="rId32"/>
    <p:sldId id="311" r:id="rId33"/>
    <p:sldId id="312" r:id="rId34"/>
    <p:sldId id="346" r:id="rId35"/>
    <p:sldId id="347" r:id="rId36"/>
    <p:sldId id="348" r:id="rId37"/>
    <p:sldId id="349" r:id="rId38"/>
    <p:sldId id="277" r:id="rId39"/>
    <p:sldId id="350" r:id="rId40"/>
    <p:sldId id="338" r:id="rId41"/>
    <p:sldId id="279" r:id="rId42"/>
    <p:sldId id="357" r:id="rId43"/>
    <p:sldId id="355" r:id="rId44"/>
    <p:sldId id="283" r:id="rId45"/>
    <p:sldId id="320" r:id="rId46"/>
    <p:sldId id="285" r:id="rId47"/>
    <p:sldId id="321" r:id="rId48"/>
    <p:sldId id="288" r:id="rId49"/>
    <p:sldId id="322" r:id="rId50"/>
    <p:sldId id="291" r:id="rId51"/>
    <p:sldId id="294" r:id="rId52"/>
    <p:sldId id="323" r:id="rId53"/>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464DD9"/>
    <a:srgbClr val="FF91C8"/>
    <a:srgbClr val="92D050"/>
    <a:srgbClr val="BDD7EE"/>
    <a:srgbClr val="A50021"/>
    <a:srgbClr val="7030A0"/>
    <a:srgbClr val="5B9BD5"/>
    <a:srgbClr val="D5A6DF"/>
    <a:srgbClr val="99CC6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418" autoAdjust="0"/>
    <p:restoredTop sz="57870" autoAdjust="0"/>
  </p:normalViewPr>
  <p:slideViewPr>
    <p:cSldViewPr snapToGrid="0">
      <p:cViewPr varScale="1">
        <p:scale>
          <a:sx n="65" d="100"/>
          <a:sy n="65" d="100"/>
        </p:scale>
        <p:origin x="241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4264AA-669E-4804-A1D5-94FA36B6DCCD}" type="datetimeFigureOut">
              <a:rPr lang="zh-CN" altLang="en-US" smtClean="0"/>
              <a:t>2024/12/27</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DC56F0-BEE5-4715-8E33-DABC78619DE8}" type="slidenum">
              <a:rPr lang="zh-CN" altLang="en-US" smtClean="0"/>
              <a:t>‹#›</a:t>
            </a:fld>
            <a:endParaRPr lang="zh-CN" altLang="en-US"/>
          </a:p>
        </p:txBody>
      </p:sp>
    </p:spTree>
    <p:extLst>
      <p:ext uri="{BB962C8B-B14F-4D97-AF65-F5344CB8AC3E}">
        <p14:creationId xmlns:p14="http://schemas.microsoft.com/office/powerpoint/2010/main" val="17677485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www.zwqxin.com/archives/opengl/vao-and-vbo-stuff.html" TargetMode="External"/><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www.zwqxin.com/archives/opengl/vao-and-vbo-stuff.html" TargetMode="External"/><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www.zwqxin.com/archives/opengl/vao-and-vbo-stuff.html" TargetMode="External"/><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This</a:t>
            </a:r>
            <a:r>
              <a:rPr lang="en-US" altLang="zh-CN" baseline="0" dirty="0"/>
              <a:t> section correspond to Sec. 2.1 of the text book</a:t>
            </a: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E1DC56F0-BEE5-4715-8E33-DABC78619DE8}" type="slidenum">
              <a:rPr lang="zh-CN" altLang="en-US" smtClean="0"/>
              <a:t>6</a:t>
            </a:fld>
            <a:endParaRPr lang="zh-CN" altLang="en-US"/>
          </a:p>
        </p:txBody>
      </p:sp>
    </p:spTree>
    <p:extLst>
      <p:ext uri="{BB962C8B-B14F-4D97-AF65-F5344CB8AC3E}">
        <p14:creationId xmlns:p14="http://schemas.microsoft.com/office/powerpoint/2010/main" val="20276459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“我发现我的内心到处都是空虚，怎么办</a:t>
            </a:r>
            <a:r>
              <a:rPr lang="en-US" altLang="zh-CN" dirty="0"/>
              <a:t>?”</a:t>
            </a:r>
          </a:p>
          <a:p>
            <a:r>
              <a:rPr lang="zh-CN" altLang="en-US" dirty="0"/>
              <a:t>禅师说：“一块破烂不堪的布，剪下其中的一小块，不也是完好无缺的么？”</a:t>
            </a:r>
            <a:endParaRPr lang="en-US" altLang="zh-CN" dirty="0"/>
          </a:p>
          <a:p>
            <a:r>
              <a:rPr lang="zh-CN" altLang="en-US" dirty="0"/>
              <a:t>青年默默地掏出了一块谢尔宾斯基地毯。</a:t>
            </a:r>
            <a:endParaRPr lang="en-US" altLang="zh-CN" dirty="0"/>
          </a:p>
          <a:p>
            <a:r>
              <a:rPr lang="zh-CN" altLang="en-US" dirty="0"/>
              <a:t>（谢尔宾斯基地毯具有自相似性，它和它本身的一部分完全相似。减掉一块会破坏自相似性。）</a:t>
            </a:r>
          </a:p>
        </p:txBody>
      </p:sp>
      <p:sp>
        <p:nvSpPr>
          <p:cNvPr id="4" name="灯片编号占位符 3"/>
          <p:cNvSpPr>
            <a:spLocks noGrp="1"/>
          </p:cNvSpPr>
          <p:nvPr>
            <p:ph type="sldNum" sz="quarter" idx="10"/>
          </p:nvPr>
        </p:nvSpPr>
        <p:spPr/>
        <p:txBody>
          <a:bodyPr/>
          <a:lstStyle/>
          <a:p>
            <a:fld id="{E1DC56F0-BEE5-4715-8E33-DABC78619DE8}" type="slidenum">
              <a:rPr lang="zh-CN" altLang="en-US" smtClean="0"/>
              <a:t>14</a:t>
            </a:fld>
            <a:endParaRPr lang="zh-CN" altLang="en-US"/>
          </a:p>
        </p:txBody>
      </p:sp>
    </p:spTree>
    <p:extLst>
      <p:ext uri="{BB962C8B-B14F-4D97-AF65-F5344CB8AC3E}">
        <p14:creationId xmlns:p14="http://schemas.microsoft.com/office/powerpoint/2010/main" val="30463791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This</a:t>
            </a:r>
            <a:r>
              <a:rPr lang="en-US" altLang="zh-CN" baseline="0" dirty="0"/>
              <a:t> section correspond to sec. 2.2 &amp; 2.3 of the text book.</a:t>
            </a:r>
            <a:endParaRPr lang="zh-CN" altLang="en-US" dirty="0"/>
          </a:p>
        </p:txBody>
      </p:sp>
      <p:sp>
        <p:nvSpPr>
          <p:cNvPr id="4" name="灯片编号占位符 3"/>
          <p:cNvSpPr>
            <a:spLocks noGrp="1"/>
          </p:cNvSpPr>
          <p:nvPr>
            <p:ph type="sldNum" sz="quarter" idx="10"/>
          </p:nvPr>
        </p:nvSpPr>
        <p:spPr/>
        <p:txBody>
          <a:bodyPr/>
          <a:lstStyle/>
          <a:p>
            <a:fld id="{E1DC56F0-BEE5-4715-8E33-DABC78619DE8}" type="slidenum">
              <a:rPr lang="zh-CN" altLang="en-US" smtClean="0"/>
              <a:t>15</a:t>
            </a:fld>
            <a:endParaRPr lang="zh-CN" altLang="en-US"/>
          </a:p>
        </p:txBody>
      </p:sp>
    </p:spTree>
    <p:extLst>
      <p:ext uri="{BB962C8B-B14F-4D97-AF65-F5344CB8AC3E}">
        <p14:creationId xmlns:p14="http://schemas.microsoft.com/office/powerpoint/2010/main" val="19329611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早期的</a:t>
            </a:r>
            <a:r>
              <a:rPr lang="en-US" altLang="zh-CN" sz="1200" b="0" i="0" kern="1200" dirty="0">
                <a:solidFill>
                  <a:schemeClr val="tx1"/>
                </a:solidFill>
                <a:effectLst/>
                <a:latin typeface="+mn-lt"/>
                <a:ea typeface="+mn-ea"/>
                <a:cs typeface="+mn-cs"/>
              </a:rPr>
              <a:t>OpenGL</a:t>
            </a:r>
            <a:r>
              <a:rPr lang="zh-CN" altLang="en-US" sz="1200" b="0" i="0" kern="1200" dirty="0">
                <a:solidFill>
                  <a:schemeClr val="tx1"/>
                </a:solidFill>
                <a:effectLst/>
                <a:latin typeface="+mn-lt"/>
                <a:ea typeface="+mn-ea"/>
                <a:cs typeface="+mn-cs"/>
              </a:rPr>
              <a:t>为了将模型的顶点数据传送到显卡，需要逐个顶点进行（冗余处理的问题），如果还需要额外的信息（纹理坐标和法线）的话，当模型比较复杂时，将导致大量函数的调用，传输开销是相当大的！为了解决这个问题引入了</a:t>
            </a:r>
            <a:r>
              <a:rPr lang="en-US" altLang="zh-CN" sz="1200" b="0" i="0" kern="1200" dirty="0">
                <a:solidFill>
                  <a:schemeClr val="tx1"/>
                </a:solidFill>
                <a:effectLst/>
                <a:latin typeface="+mn-lt"/>
                <a:ea typeface="+mn-ea"/>
                <a:cs typeface="+mn-cs"/>
              </a:rPr>
              <a:t>VBO(Vertex Buffer Object)</a:t>
            </a:r>
            <a:r>
              <a:rPr lang="zh-CN" altLang="en-US" sz="1200" b="0" i="0" kern="1200" dirty="0">
                <a:solidFill>
                  <a:schemeClr val="tx1"/>
                </a:solidFill>
                <a:effectLst/>
                <a:latin typeface="+mn-lt"/>
                <a:ea typeface="+mn-ea"/>
                <a:cs typeface="+mn-cs"/>
              </a:rPr>
              <a:t>，</a:t>
            </a:r>
            <a:r>
              <a:rPr lang="en-US" altLang="zh-CN" sz="1200" b="0" i="0" kern="1200" dirty="0">
                <a:solidFill>
                  <a:schemeClr val="tx1"/>
                </a:solidFill>
                <a:effectLst/>
                <a:latin typeface="+mn-lt"/>
                <a:ea typeface="+mn-ea"/>
                <a:cs typeface="+mn-cs"/>
              </a:rPr>
              <a:t>VBO</a:t>
            </a:r>
            <a:r>
              <a:rPr lang="zh-CN" altLang="en-US" sz="1200" b="0" i="0" kern="1200" dirty="0">
                <a:solidFill>
                  <a:schemeClr val="tx1"/>
                </a:solidFill>
                <a:effectLst/>
                <a:latin typeface="+mn-lt"/>
                <a:ea typeface="+mn-ea"/>
                <a:cs typeface="+mn-cs"/>
              </a:rPr>
              <a:t>可以将顶点数据保存在显存中，绘制时直接从显存中取数据，减少了数据传输的开销。</a:t>
            </a:r>
            <a:endParaRPr lang="en-US" altLang="zh-CN" sz="1200" b="0" i="0" kern="1200" dirty="0">
              <a:solidFill>
                <a:schemeClr val="tx1"/>
              </a:solidFill>
              <a:effectLst/>
              <a:latin typeface="+mn-lt"/>
              <a:ea typeface="+mn-ea"/>
              <a:cs typeface="+mn-cs"/>
            </a:endParaRPr>
          </a:p>
          <a:p>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通过</a:t>
            </a:r>
            <a:r>
              <a:rPr lang="en-US" altLang="zh-CN" sz="1200" b="0" i="0" kern="1200" dirty="0">
                <a:solidFill>
                  <a:schemeClr val="tx1"/>
                </a:solidFill>
                <a:effectLst/>
                <a:latin typeface="+mn-lt"/>
                <a:ea typeface="+mn-ea"/>
                <a:cs typeface="+mn-cs"/>
              </a:rPr>
              <a:t>VBO</a:t>
            </a:r>
            <a:r>
              <a:rPr lang="zh-CN" altLang="en-US" sz="1200" b="0" i="0" kern="1200" dirty="0">
                <a:solidFill>
                  <a:schemeClr val="tx1"/>
                </a:solidFill>
                <a:effectLst/>
                <a:latin typeface="+mn-lt"/>
                <a:ea typeface="+mn-ea"/>
                <a:cs typeface="+mn-cs"/>
              </a:rPr>
              <a:t>我们可以将顶点属性数据保存在显存中，当绘制时问题又来了，需要调用好几个函数，过程挺复杂的。为了解决这个问题，</a:t>
            </a:r>
            <a:r>
              <a:rPr lang="en-US" altLang="zh-CN" sz="1200" b="0" i="0" kern="1200" dirty="0">
                <a:solidFill>
                  <a:schemeClr val="tx1"/>
                </a:solidFill>
                <a:effectLst/>
                <a:latin typeface="+mn-lt"/>
                <a:ea typeface="+mn-ea"/>
                <a:cs typeface="+mn-cs"/>
              </a:rPr>
              <a:t>OpenGL</a:t>
            </a:r>
            <a:r>
              <a:rPr lang="zh-CN" altLang="en-US" sz="1200" b="0" i="0" kern="1200" dirty="0">
                <a:solidFill>
                  <a:schemeClr val="tx1"/>
                </a:solidFill>
                <a:effectLst/>
                <a:latin typeface="+mn-lt"/>
                <a:ea typeface="+mn-ea"/>
                <a:cs typeface="+mn-cs"/>
              </a:rPr>
              <a:t>又引入了</a:t>
            </a:r>
            <a:r>
              <a:rPr lang="en-US" altLang="zh-CN" sz="1200" b="0" i="0" kern="1200" dirty="0">
                <a:solidFill>
                  <a:schemeClr val="tx1"/>
                </a:solidFill>
                <a:effectLst/>
                <a:latin typeface="+mn-lt"/>
                <a:ea typeface="+mn-ea"/>
                <a:cs typeface="+mn-cs"/>
              </a:rPr>
              <a:t>VAO(Vertex Array Object)</a:t>
            </a:r>
            <a:r>
              <a:rPr lang="zh-CN" altLang="en-US" sz="1200" b="0" i="0" kern="1200" dirty="0">
                <a:solidFill>
                  <a:schemeClr val="tx1"/>
                </a:solidFill>
                <a:effectLst/>
                <a:latin typeface="+mn-lt"/>
                <a:ea typeface="+mn-ea"/>
                <a:cs typeface="+mn-cs"/>
              </a:rPr>
              <a:t>来关联</a:t>
            </a:r>
            <a:r>
              <a:rPr lang="en-US" altLang="zh-CN" sz="1200" b="0" i="0" kern="1200" dirty="0">
                <a:solidFill>
                  <a:schemeClr val="tx1"/>
                </a:solidFill>
                <a:effectLst/>
                <a:latin typeface="+mn-lt"/>
                <a:ea typeface="+mn-ea"/>
                <a:cs typeface="+mn-cs"/>
              </a:rPr>
              <a:t>VBO</a:t>
            </a:r>
            <a:r>
              <a:rPr lang="zh-CN" altLang="en-US" sz="1200" b="0" i="0" kern="1200" dirty="0">
                <a:solidFill>
                  <a:schemeClr val="tx1"/>
                </a:solidFill>
                <a:effectLst/>
                <a:latin typeface="+mn-lt"/>
                <a:ea typeface="+mn-ea"/>
                <a:cs typeface="+mn-cs"/>
              </a:rPr>
              <a:t>中的数据 （</a:t>
            </a:r>
            <a:r>
              <a:rPr lang="en-US" altLang="zh-CN" sz="1200" b="0" i="0" kern="1200" dirty="0">
                <a:solidFill>
                  <a:schemeClr val="tx1"/>
                </a:solidFill>
                <a:effectLst/>
                <a:latin typeface="+mn-lt"/>
                <a:ea typeface="+mn-ea"/>
                <a:cs typeface="+mn-cs"/>
                <a:hlinkClick r:id="rId3"/>
              </a:rPr>
              <a:t>VAO</a:t>
            </a:r>
            <a:r>
              <a:rPr lang="zh-CN" altLang="en-US" sz="1200" b="0" i="0" kern="1200" dirty="0">
                <a:solidFill>
                  <a:schemeClr val="tx1"/>
                </a:solidFill>
                <a:effectLst/>
                <a:latin typeface="+mn-lt"/>
                <a:ea typeface="+mn-ea"/>
                <a:cs typeface="+mn-cs"/>
                <a:hlinkClick r:id="rId3"/>
              </a:rPr>
              <a:t>详解</a:t>
            </a:r>
            <a:r>
              <a:rPr lang="zh-CN" altLang="en-US" sz="1200" b="0" i="0" kern="1200" dirty="0">
                <a:solidFill>
                  <a:schemeClr val="tx1"/>
                </a:solidFill>
                <a:effectLst/>
                <a:latin typeface="+mn-lt"/>
                <a:ea typeface="+mn-ea"/>
                <a:cs typeface="+mn-cs"/>
              </a:rPr>
              <a:t>），有了</a:t>
            </a:r>
            <a:r>
              <a:rPr lang="en-US" altLang="zh-CN" sz="1200" b="0" i="0" kern="1200" dirty="0">
                <a:solidFill>
                  <a:schemeClr val="tx1"/>
                </a:solidFill>
                <a:effectLst/>
                <a:latin typeface="+mn-lt"/>
                <a:ea typeface="+mn-ea"/>
                <a:cs typeface="+mn-cs"/>
              </a:rPr>
              <a:t>VAO</a:t>
            </a:r>
            <a:r>
              <a:rPr lang="zh-CN" altLang="en-US" sz="1200" b="0" i="0" kern="1200" dirty="0">
                <a:solidFill>
                  <a:schemeClr val="tx1"/>
                </a:solidFill>
                <a:effectLst/>
                <a:latin typeface="+mn-lt"/>
                <a:ea typeface="+mn-ea"/>
                <a:cs typeface="+mn-cs"/>
              </a:rPr>
              <a:t>，任何数组形式的</a:t>
            </a:r>
            <a:r>
              <a:rPr lang="en-US" altLang="zh-CN" sz="1200" b="0" i="0" kern="1200" dirty="0">
                <a:solidFill>
                  <a:schemeClr val="tx1"/>
                </a:solidFill>
                <a:effectLst/>
                <a:latin typeface="+mn-lt"/>
                <a:ea typeface="+mn-ea"/>
                <a:cs typeface="+mn-cs"/>
              </a:rPr>
              <a:t>GL</a:t>
            </a:r>
            <a:r>
              <a:rPr lang="zh-CN" altLang="en-US" sz="1200" b="0" i="0" kern="1200" dirty="0">
                <a:solidFill>
                  <a:schemeClr val="tx1"/>
                </a:solidFill>
                <a:effectLst/>
                <a:latin typeface="+mn-lt"/>
                <a:ea typeface="+mn-ea"/>
                <a:cs typeface="+mn-cs"/>
              </a:rPr>
              <a:t>函数调用都会添加到</a:t>
            </a:r>
            <a:r>
              <a:rPr lang="en-US" altLang="zh-CN" sz="1200" b="0" i="0" kern="1200" dirty="0">
                <a:solidFill>
                  <a:schemeClr val="tx1"/>
                </a:solidFill>
                <a:effectLst/>
                <a:latin typeface="+mn-lt"/>
                <a:ea typeface="+mn-ea"/>
                <a:cs typeface="+mn-cs"/>
              </a:rPr>
              <a:t>VAO</a:t>
            </a:r>
            <a:r>
              <a:rPr lang="zh-CN" altLang="en-US" sz="1200" b="0" i="0" kern="1200" dirty="0">
                <a:solidFill>
                  <a:schemeClr val="tx1"/>
                </a:solidFill>
                <a:effectLst/>
                <a:latin typeface="+mn-lt"/>
                <a:ea typeface="+mn-ea"/>
                <a:cs typeface="+mn-cs"/>
              </a:rPr>
              <a:t>的绘制列表当中（直到解除</a:t>
            </a:r>
            <a:r>
              <a:rPr lang="en-US" altLang="zh-CN" sz="1200" b="0" i="0" kern="1200" dirty="0">
                <a:solidFill>
                  <a:schemeClr val="tx1"/>
                </a:solidFill>
                <a:effectLst/>
                <a:latin typeface="+mn-lt"/>
                <a:ea typeface="+mn-ea"/>
                <a:cs typeface="+mn-cs"/>
              </a:rPr>
              <a:t>VAO</a:t>
            </a:r>
            <a:r>
              <a:rPr lang="zh-CN" altLang="en-US" sz="1200" b="0" i="0" kern="1200" dirty="0">
                <a:solidFill>
                  <a:schemeClr val="tx1"/>
                </a:solidFill>
                <a:effectLst/>
                <a:latin typeface="+mn-lt"/>
                <a:ea typeface="+mn-ea"/>
                <a:cs typeface="+mn-cs"/>
              </a:rPr>
              <a:t>绑定），当需要绘制的时候，我们仅需要重新绑定</a:t>
            </a:r>
            <a:r>
              <a:rPr lang="en-US" altLang="zh-CN" sz="1200" b="0" i="0" kern="1200" dirty="0">
                <a:solidFill>
                  <a:schemeClr val="tx1"/>
                </a:solidFill>
                <a:effectLst/>
                <a:latin typeface="+mn-lt"/>
                <a:ea typeface="+mn-ea"/>
                <a:cs typeface="+mn-cs"/>
              </a:rPr>
              <a:t>VAO</a:t>
            </a:r>
            <a:r>
              <a:rPr lang="zh-CN" altLang="en-US" sz="1200" b="0" i="0" kern="1200" dirty="0">
                <a:solidFill>
                  <a:schemeClr val="tx1"/>
                </a:solidFill>
                <a:effectLst/>
                <a:latin typeface="+mn-lt"/>
                <a:ea typeface="+mn-ea"/>
                <a:cs typeface="+mn-cs"/>
              </a:rPr>
              <a:t>，那么之前创建的绘制列表将会重新激活，使得绘制代码更加简洁。</a:t>
            </a:r>
            <a:endParaRPr lang="en-US" altLang="zh-CN"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a:p>
            <a:r>
              <a:rPr lang="en-US" altLang="zh-CN" sz="1200" b="0" i="0" kern="1200" dirty="0" err="1">
                <a:solidFill>
                  <a:schemeClr val="tx1"/>
                </a:solidFill>
                <a:effectLst/>
                <a:latin typeface="+mn-lt"/>
                <a:ea typeface="+mn-ea"/>
                <a:cs typeface="+mn-cs"/>
              </a:rPr>
              <a:t>glBufferData</a:t>
            </a:r>
            <a:r>
              <a:rPr lang="zh-CN" altLang="en-US" sz="1200" b="0" i="0" kern="1200" dirty="0">
                <a:solidFill>
                  <a:schemeClr val="tx1"/>
                </a:solidFill>
                <a:effectLst/>
                <a:latin typeface="+mn-lt"/>
                <a:ea typeface="+mn-ea"/>
                <a:cs typeface="+mn-cs"/>
              </a:rPr>
              <a:t>用于向</a:t>
            </a:r>
            <a:r>
              <a:rPr lang="en-US" altLang="zh-CN" sz="1200" b="0" i="0" kern="1200" dirty="0">
                <a:solidFill>
                  <a:schemeClr val="tx1"/>
                </a:solidFill>
                <a:effectLst/>
                <a:latin typeface="+mn-lt"/>
                <a:ea typeface="+mn-ea"/>
                <a:cs typeface="+mn-cs"/>
              </a:rPr>
              <a:t>VBO</a:t>
            </a:r>
            <a:r>
              <a:rPr lang="zh-CN" altLang="en-US" sz="1200" b="0" i="0" kern="1200" dirty="0">
                <a:solidFill>
                  <a:schemeClr val="tx1"/>
                </a:solidFill>
                <a:effectLst/>
                <a:latin typeface="+mn-lt"/>
                <a:ea typeface="+mn-ea"/>
                <a:cs typeface="+mn-cs"/>
              </a:rPr>
              <a:t>传递数据：第二个参数表示数据的大小，第三个参数表示指向数据的指针；</a:t>
            </a:r>
          </a:p>
          <a:p>
            <a:r>
              <a:rPr lang="en-US" altLang="zh-CN" sz="1200" b="0" i="0" kern="1200" dirty="0" err="1">
                <a:solidFill>
                  <a:schemeClr val="tx1"/>
                </a:solidFill>
                <a:effectLst/>
                <a:latin typeface="+mn-lt"/>
                <a:ea typeface="+mn-ea"/>
                <a:cs typeface="+mn-cs"/>
              </a:rPr>
              <a:t>glVertexAttribPointer</a:t>
            </a:r>
            <a:r>
              <a:rPr lang="zh-CN" altLang="en-US" sz="1200" b="0" i="0" kern="1200" dirty="0">
                <a:solidFill>
                  <a:schemeClr val="tx1"/>
                </a:solidFill>
                <a:effectLst/>
                <a:latin typeface="+mn-lt"/>
                <a:ea typeface="+mn-ea"/>
                <a:cs typeface="+mn-cs"/>
              </a:rPr>
              <a:t>用于将顶点着色器中的</a:t>
            </a:r>
            <a:r>
              <a:rPr lang="en-US" altLang="zh-CN" sz="1200" b="0" i="0" kern="1200" dirty="0">
                <a:solidFill>
                  <a:schemeClr val="tx1"/>
                </a:solidFill>
                <a:effectLst/>
                <a:latin typeface="+mn-lt"/>
                <a:ea typeface="+mn-ea"/>
                <a:cs typeface="+mn-cs"/>
              </a:rPr>
              <a:t>attribute</a:t>
            </a:r>
            <a:r>
              <a:rPr lang="zh-CN" altLang="en-US" sz="1200" b="0" i="0" kern="1200" dirty="0">
                <a:solidFill>
                  <a:schemeClr val="tx1"/>
                </a:solidFill>
                <a:effectLst/>
                <a:latin typeface="+mn-lt"/>
                <a:ea typeface="+mn-ea"/>
                <a:cs typeface="+mn-cs"/>
              </a:rPr>
              <a:t>变量与</a:t>
            </a:r>
            <a:r>
              <a:rPr lang="en-US" altLang="zh-CN" sz="1200" b="0" i="0" kern="1200" dirty="0">
                <a:solidFill>
                  <a:schemeClr val="tx1"/>
                </a:solidFill>
                <a:effectLst/>
                <a:latin typeface="+mn-lt"/>
                <a:ea typeface="+mn-ea"/>
                <a:cs typeface="+mn-cs"/>
              </a:rPr>
              <a:t>VBO</a:t>
            </a:r>
            <a:r>
              <a:rPr lang="zh-CN" altLang="en-US" sz="1200" b="0" i="0" kern="1200" dirty="0">
                <a:solidFill>
                  <a:schemeClr val="tx1"/>
                </a:solidFill>
                <a:effectLst/>
                <a:latin typeface="+mn-lt"/>
                <a:ea typeface="+mn-ea"/>
                <a:cs typeface="+mn-cs"/>
              </a:rPr>
              <a:t>中的数据进行绑定：第一个参数表示属性的位置，第二个参数表示分量的个数，第三个参数表示数据类型，第四个参数表示是否归一化，第五个参数表示连续顶点属性之间的偏移量，第六个参数表示组件的第一个分量在对应的数组顶点属性中的偏移量</a:t>
            </a:r>
            <a:endParaRPr lang="en-US" altLang="zh-CN" sz="1200" b="0" i="0" kern="1200" dirty="0">
              <a:solidFill>
                <a:schemeClr val="tx1"/>
              </a:solidFill>
              <a:effectLst/>
              <a:latin typeface="+mn-lt"/>
              <a:ea typeface="+mn-ea"/>
              <a:cs typeface="+mn-cs"/>
            </a:endParaRPr>
          </a:p>
          <a:p>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可以把</a:t>
            </a:r>
            <a:r>
              <a:rPr lang="en-US" altLang="zh-CN" sz="1200" b="0" i="0" kern="1200" dirty="0">
                <a:solidFill>
                  <a:schemeClr val="tx1"/>
                </a:solidFill>
                <a:effectLst/>
                <a:latin typeface="+mn-lt"/>
                <a:ea typeface="+mn-ea"/>
                <a:cs typeface="+mn-cs"/>
              </a:rPr>
              <a:t>VBO</a:t>
            </a:r>
            <a:r>
              <a:rPr lang="zh-CN" altLang="en-US" sz="1200" b="0" i="0" kern="1200" dirty="0">
                <a:solidFill>
                  <a:schemeClr val="tx1"/>
                </a:solidFill>
                <a:effectLst/>
                <a:latin typeface="+mn-lt"/>
                <a:ea typeface="+mn-ea"/>
                <a:cs typeface="+mn-cs"/>
              </a:rPr>
              <a:t>理解成一个数据区域，这里面存放了渲染所需要的一切信息。但需要注意的是，数据在</a:t>
            </a:r>
            <a:r>
              <a:rPr lang="en-US" altLang="zh-CN" sz="1200" b="0" i="0" kern="1200" dirty="0">
                <a:solidFill>
                  <a:schemeClr val="tx1"/>
                </a:solidFill>
                <a:effectLst/>
                <a:latin typeface="+mn-lt"/>
                <a:ea typeface="+mn-ea"/>
                <a:cs typeface="+mn-cs"/>
              </a:rPr>
              <a:t>VBO</a:t>
            </a:r>
            <a:r>
              <a:rPr lang="zh-CN" altLang="en-US" sz="1200" b="0" i="0" kern="1200" dirty="0">
                <a:solidFill>
                  <a:schemeClr val="tx1"/>
                </a:solidFill>
                <a:effectLst/>
                <a:latin typeface="+mn-lt"/>
                <a:ea typeface="+mn-ea"/>
                <a:cs typeface="+mn-cs"/>
              </a:rPr>
              <a:t>里面的时候，</a:t>
            </a:r>
            <a:r>
              <a:rPr lang="en-US" altLang="zh-CN" sz="1200" b="0" i="0" kern="1200" dirty="0">
                <a:solidFill>
                  <a:schemeClr val="tx1"/>
                </a:solidFill>
                <a:effectLst/>
                <a:latin typeface="+mn-lt"/>
                <a:ea typeface="+mn-ea"/>
                <a:cs typeface="+mn-cs"/>
              </a:rPr>
              <a:t>OpenGL</a:t>
            </a:r>
            <a:r>
              <a:rPr lang="zh-CN" altLang="en-US" sz="1200" b="0" i="0" kern="1200" dirty="0">
                <a:solidFill>
                  <a:schemeClr val="tx1"/>
                </a:solidFill>
                <a:effectLst/>
                <a:latin typeface="+mn-lt"/>
                <a:ea typeface="+mn-ea"/>
                <a:cs typeface="+mn-cs"/>
              </a:rPr>
              <a:t>是并不知道这里面的每个数据所代表的具体含义的，只是一堆数值罢了。</a:t>
            </a:r>
            <a:r>
              <a:rPr lang="en-US" altLang="zh-CN" sz="1200" b="0" i="0" kern="1200" dirty="0">
                <a:solidFill>
                  <a:schemeClr val="tx1"/>
                </a:solidFill>
                <a:effectLst/>
                <a:latin typeface="+mn-lt"/>
                <a:ea typeface="+mn-ea"/>
                <a:cs typeface="+mn-cs"/>
              </a:rPr>
              <a:t>VAO</a:t>
            </a:r>
            <a:r>
              <a:rPr lang="zh-CN" altLang="en-US" sz="1200" b="0" i="0" kern="1200" dirty="0">
                <a:solidFill>
                  <a:schemeClr val="tx1"/>
                </a:solidFill>
                <a:effectLst/>
                <a:latin typeface="+mn-lt"/>
                <a:ea typeface="+mn-ea"/>
                <a:cs typeface="+mn-cs"/>
              </a:rPr>
              <a:t>可以定义一种格式说，我每次只取</a:t>
            </a:r>
            <a:r>
              <a:rPr lang="en-US" altLang="zh-CN" sz="1200" b="0" i="0" kern="1200" dirty="0">
                <a:solidFill>
                  <a:schemeClr val="tx1"/>
                </a:solidFill>
                <a:effectLst/>
                <a:latin typeface="+mn-lt"/>
                <a:ea typeface="+mn-ea"/>
                <a:cs typeface="+mn-cs"/>
              </a:rPr>
              <a:t>VBO</a:t>
            </a:r>
            <a:r>
              <a:rPr lang="zh-CN" altLang="en-US" sz="1200" b="0" i="0" kern="1200" dirty="0">
                <a:solidFill>
                  <a:schemeClr val="tx1"/>
                </a:solidFill>
                <a:effectLst/>
                <a:latin typeface="+mn-lt"/>
                <a:ea typeface="+mn-ea"/>
                <a:cs typeface="+mn-cs"/>
              </a:rPr>
              <a:t>里面的</a:t>
            </a:r>
            <a:r>
              <a:rPr lang="en-US" altLang="zh-CN" sz="1200" b="0" i="0" kern="1200" dirty="0" err="1">
                <a:solidFill>
                  <a:schemeClr val="tx1"/>
                </a:solidFill>
                <a:effectLst/>
                <a:latin typeface="+mn-lt"/>
                <a:ea typeface="+mn-ea"/>
                <a:cs typeface="+mn-cs"/>
              </a:rPr>
              <a:t>x,y,z</a:t>
            </a:r>
            <a:r>
              <a:rPr lang="zh-CN" altLang="en-US" sz="1200" b="0" i="0" kern="1200" dirty="0">
                <a:solidFill>
                  <a:schemeClr val="tx1"/>
                </a:solidFill>
                <a:effectLst/>
                <a:latin typeface="+mn-lt"/>
                <a:ea typeface="+mn-ea"/>
                <a:cs typeface="+mn-cs"/>
              </a:rPr>
              <a:t>的值；也可以定义一种格式说，每次只取</a:t>
            </a:r>
            <a:r>
              <a:rPr lang="en-US" altLang="zh-CN" sz="1200" b="0" i="0" kern="1200" dirty="0">
                <a:solidFill>
                  <a:schemeClr val="tx1"/>
                </a:solidFill>
                <a:effectLst/>
                <a:latin typeface="+mn-lt"/>
                <a:ea typeface="+mn-ea"/>
                <a:cs typeface="+mn-cs"/>
              </a:rPr>
              <a:t>VBO</a:t>
            </a:r>
            <a:r>
              <a:rPr lang="zh-CN" altLang="en-US" sz="1200" b="0" i="0" kern="1200" dirty="0">
                <a:solidFill>
                  <a:schemeClr val="tx1"/>
                </a:solidFill>
                <a:effectLst/>
                <a:latin typeface="+mn-lt"/>
                <a:ea typeface="+mn-ea"/>
                <a:cs typeface="+mn-cs"/>
              </a:rPr>
              <a:t>里面的</a:t>
            </a:r>
            <a:r>
              <a:rPr lang="en-US" altLang="zh-CN" sz="1200" b="0" i="0" kern="1200" dirty="0" err="1">
                <a:solidFill>
                  <a:schemeClr val="tx1"/>
                </a:solidFill>
                <a:effectLst/>
                <a:latin typeface="+mn-lt"/>
                <a:ea typeface="+mn-ea"/>
                <a:cs typeface="+mn-cs"/>
              </a:rPr>
              <a:t>r,g,b</a:t>
            </a:r>
            <a:r>
              <a:rPr lang="zh-CN" altLang="en-US" sz="1200" b="0" i="0" kern="1200" dirty="0">
                <a:solidFill>
                  <a:schemeClr val="tx1"/>
                </a:solidFill>
                <a:effectLst/>
                <a:latin typeface="+mn-lt"/>
                <a:ea typeface="+mn-ea"/>
                <a:cs typeface="+mn-cs"/>
              </a:rPr>
              <a:t>的值。这样我们就可以在渲染的时候，绑定不同的</a:t>
            </a:r>
            <a:r>
              <a:rPr lang="en-US" altLang="zh-CN" sz="1200" b="0" i="0" kern="1200" dirty="0">
                <a:solidFill>
                  <a:schemeClr val="tx1"/>
                </a:solidFill>
                <a:effectLst/>
                <a:latin typeface="+mn-lt"/>
                <a:ea typeface="+mn-ea"/>
                <a:cs typeface="+mn-cs"/>
              </a:rPr>
              <a:t>VAO</a:t>
            </a:r>
            <a:r>
              <a:rPr lang="zh-CN" altLang="en-US" sz="1200" b="0" i="0" kern="1200" dirty="0">
                <a:solidFill>
                  <a:schemeClr val="tx1"/>
                </a:solidFill>
                <a:effectLst/>
                <a:latin typeface="+mn-lt"/>
                <a:ea typeface="+mn-ea"/>
                <a:cs typeface="+mn-cs"/>
              </a:rPr>
              <a:t>，实现按照不同的格式将</a:t>
            </a:r>
            <a:r>
              <a:rPr lang="en-US" altLang="zh-CN" sz="1200" b="0" i="0" kern="1200" dirty="0">
                <a:solidFill>
                  <a:schemeClr val="tx1"/>
                </a:solidFill>
                <a:effectLst/>
                <a:latin typeface="+mn-lt"/>
                <a:ea typeface="+mn-ea"/>
                <a:cs typeface="+mn-cs"/>
              </a:rPr>
              <a:t>VBO</a:t>
            </a:r>
            <a:r>
              <a:rPr lang="zh-CN" altLang="en-US" sz="1200" b="0" i="0" kern="1200" dirty="0">
                <a:solidFill>
                  <a:schemeClr val="tx1"/>
                </a:solidFill>
                <a:effectLst/>
                <a:latin typeface="+mn-lt"/>
                <a:ea typeface="+mn-ea"/>
                <a:cs typeface="+mn-cs"/>
              </a:rPr>
              <a:t>里面的东西渲染出来。</a:t>
            </a:r>
          </a:p>
          <a:p>
            <a:endParaRPr lang="en-US" dirty="0"/>
          </a:p>
        </p:txBody>
      </p:sp>
      <p:sp>
        <p:nvSpPr>
          <p:cNvPr id="4" name="Slide Number Placeholder 3"/>
          <p:cNvSpPr>
            <a:spLocks noGrp="1"/>
          </p:cNvSpPr>
          <p:nvPr>
            <p:ph type="sldNum" sz="quarter" idx="10"/>
          </p:nvPr>
        </p:nvSpPr>
        <p:spPr/>
        <p:txBody>
          <a:bodyPr/>
          <a:lstStyle/>
          <a:p>
            <a:fld id="{E1DC56F0-BEE5-4715-8E33-DABC78619DE8}" type="slidenum">
              <a:rPr lang="zh-CN" altLang="en-US" smtClean="0"/>
              <a:t>18</a:t>
            </a:fld>
            <a:endParaRPr lang="zh-CN" altLang="en-US"/>
          </a:p>
        </p:txBody>
      </p:sp>
    </p:spTree>
    <p:extLst>
      <p:ext uri="{BB962C8B-B14F-4D97-AF65-F5344CB8AC3E}">
        <p14:creationId xmlns:p14="http://schemas.microsoft.com/office/powerpoint/2010/main" val="31122396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早期的</a:t>
            </a:r>
            <a:r>
              <a:rPr lang="en-US" altLang="zh-CN" sz="1200" b="0" i="0" kern="1200" dirty="0">
                <a:solidFill>
                  <a:schemeClr val="tx1"/>
                </a:solidFill>
                <a:effectLst/>
                <a:latin typeface="+mn-lt"/>
                <a:ea typeface="+mn-ea"/>
                <a:cs typeface="+mn-cs"/>
              </a:rPr>
              <a:t>OpenGL</a:t>
            </a:r>
            <a:r>
              <a:rPr lang="zh-CN" altLang="en-US" sz="1200" b="0" i="0" kern="1200" dirty="0">
                <a:solidFill>
                  <a:schemeClr val="tx1"/>
                </a:solidFill>
                <a:effectLst/>
                <a:latin typeface="+mn-lt"/>
                <a:ea typeface="+mn-ea"/>
                <a:cs typeface="+mn-cs"/>
              </a:rPr>
              <a:t>为了将模型的顶点数据传送到显卡，需要逐个顶点进行（冗余处理的问题），如果还需要额外的信息（纹理坐标和法线）的话，当模型比较复杂时，将导致大量函数的调用，传输开销是相当大的！为了解决这个问题引入了</a:t>
            </a:r>
            <a:r>
              <a:rPr lang="en-US" altLang="zh-CN" sz="1200" b="0" i="0" kern="1200" dirty="0">
                <a:solidFill>
                  <a:schemeClr val="tx1"/>
                </a:solidFill>
                <a:effectLst/>
                <a:latin typeface="+mn-lt"/>
                <a:ea typeface="+mn-ea"/>
                <a:cs typeface="+mn-cs"/>
              </a:rPr>
              <a:t>VBO(Vertex Buffer Object)</a:t>
            </a:r>
            <a:r>
              <a:rPr lang="zh-CN" altLang="en-US" sz="1200" b="0" i="0" kern="1200" dirty="0">
                <a:solidFill>
                  <a:schemeClr val="tx1"/>
                </a:solidFill>
                <a:effectLst/>
                <a:latin typeface="+mn-lt"/>
                <a:ea typeface="+mn-ea"/>
                <a:cs typeface="+mn-cs"/>
              </a:rPr>
              <a:t>，</a:t>
            </a:r>
            <a:r>
              <a:rPr lang="en-US" altLang="zh-CN" sz="1200" b="0" i="0" kern="1200" dirty="0">
                <a:solidFill>
                  <a:schemeClr val="tx1"/>
                </a:solidFill>
                <a:effectLst/>
                <a:latin typeface="+mn-lt"/>
                <a:ea typeface="+mn-ea"/>
                <a:cs typeface="+mn-cs"/>
              </a:rPr>
              <a:t>VBO</a:t>
            </a:r>
            <a:r>
              <a:rPr lang="zh-CN" altLang="en-US" sz="1200" b="0" i="0" kern="1200" dirty="0">
                <a:solidFill>
                  <a:schemeClr val="tx1"/>
                </a:solidFill>
                <a:effectLst/>
                <a:latin typeface="+mn-lt"/>
                <a:ea typeface="+mn-ea"/>
                <a:cs typeface="+mn-cs"/>
              </a:rPr>
              <a:t>可以将顶点数据保存在显存中，绘制时直接从显存中取数据，减少了数据传输的开销。</a:t>
            </a:r>
            <a:endParaRPr lang="en-US" altLang="zh-CN" sz="1200" b="0" i="0" kern="1200" dirty="0">
              <a:solidFill>
                <a:schemeClr val="tx1"/>
              </a:solidFill>
              <a:effectLst/>
              <a:latin typeface="+mn-lt"/>
              <a:ea typeface="+mn-ea"/>
              <a:cs typeface="+mn-cs"/>
            </a:endParaRPr>
          </a:p>
          <a:p>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通过</a:t>
            </a:r>
            <a:r>
              <a:rPr lang="en-US" altLang="zh-CN" sz="1200" b="0" i="0" kern="1200" dirty="0">
                <a:solidFill>
                  <a:schemeClr val="tx1"/>
                </a:solidFill>
                <a:effectLst/>
                <a:latin typeface="+mn-lt"/>
                <a:ea typeface="+mn-ea"/>
                <a:cs typeface="+mn-cs"/>
              </a:rPr>
              <a:t>VBO</a:t>
            </a:r>
            <a:r>
              <a:rPr lang="zh-CN" altLang="en-US" sz="1200" b="0" i="0" kern="1200" dirty="0">
                <a:solidFill>
                  <a:schemeClr val="tx1"/>
                </a:solidFill>
                <a:effectLst/>
                <a:latin typeface="+mn-lt"/>
                <a:ea typeface="+mn-ea"/>
                <a:cs typeface="+mn-cs"/>
              </a:rPr>
              <a:t>我们可以将顶点属性数据保存在显存中，当绘制时问题又来了，需要调用好几个函数，过程挺复杂的。为了解决这个问题，</a:t>
            </a:r>
            <a:r>
              <a:rPr lang="en-US" altLang="zh-CN" sz="1200" b="0" i="0" kern="1200" dirty="0">
                <a:solidFill>
                  <a:schemeClr val="tx1"/>
                </a:solidFill>
                <a:effectLst/>
                <a:latin typeface="+mn-lt"/>
                <a:ea typeface="+mn-ea"/>
                <a:cs typeface="+mn-cs"/>
              </a:rPr>
              <a:t>OpenGL</a:t>
            </a:r>
            <a:r>
              <a:rPr lang="zh-CN" altLang="en-US" sz="1200" b="0" i="0" kern="1200" dirty="0">
                <a:solidFill>
                  <a:schemeClr val="tx1"/>
                </a:solidFill>
                <a:effectLst/>
                <a:latin typeface="+mn-lt"/>
                <a:ea typeface="+mn-ea"/>
                <a:cs typeface="+mn-cs"/>
              </a:rPr>
              <a:t>又引入了</a:t>
            </a:r>
            <a:r>
              <a:rPr lang="en-US" altLang="zh-CN" sz="1200" b="0" i="0" kern="1200" dirty="0">
                <a:solidFill>
                  <a:schemeClr val="tx1"/>
                </a:solidFill>
                <a:effectLst/>
                <a:latin typeface="+mn-lt"/>
                <a:ea typeface="+mn-ea"/>
                <a:cs typeface="+mn-cs"/>
              </a:rPr>
              <a:t>VAO(Vertex Array Object)</a:t>
            </a:r>
            <a:r>
              <a:rPr lang="zh-CN" altLang="en-US" sz="1200" b="0" i="0" kern="1200" dirty="0">
                <a:solidFill>
                  <a:schemeClr val="tx1"/>
                </a:solidFill>
                <a:effectLst/>
                <a:latin typeface="+mn-lt"/>
                <a:ea typeface="+mn-ea"/>
                <a:cs typeface="+mn-cs"/>
              </a:rPr>
              <a:t>来关联</a:t>
            </a:r>
            <a:r>
              <a:rPr lang="en-US" altLang="zh-CN" sz="1200" b="0" i="0" kern="1200" dirty="0">
                <a:solidFill>
                  <a:schemeClr val="tx1"/>
                </a:solidFill>
                <a:effectLst/>
                <a:latin typeface="+mn-lt"/>
                <a:ea typeface="+mn-ea"/>
                <a:cs typeface="+mn-cs"/>
              </a:rPr>
              <a:t>VBO</a:t>
            </a:r>
            <a:r>
              <a:rPr lang="zh-CN" altLang="en-US" sz="1200" b="0" i="0" kern="1200" dirty="0">
                <a:solidFill>
                  <a:schemeClr val="tx1"/>
                </a:solidFill>
                <a:effectLst/>
                <a:latin typeface="+mn-lt"/>
                <a:ea typeface="+mn-ea"/>
                <a:cs typeface="+mn-cs"/>
              </a:rPr>
              <a:t>中的数据 （</a:t>
            </a:r>
            <a:r>
              <a:rPr lang="en-US" altLang="zh-CN" sz="1200" b="0" i="0" kern="1200" dirty="0">
                <a:solidFill>
                  <a:schemeClr val="tx1"/>
                </a:solidFill>
                <a:effectLst/>
                <a:latin typeface="+mn-lt"/>
                <a:ea typeface="+mn-ea"/>
                <a:cs typeface="+mn-cs"/>
                <a:hlinkClick r:id="rId3"/>
              </a:rPr>
              <a:t>VAO</a:t>
            </a:r>
            <a:r>
              <a:rPr lang="zh-CN" altLang="en-US" sz="1200" b="0" i="0" kern="1200" dirty="0">
                <a:solidFill>
                  <a:schemeClr val="tx1"/>
                </a:solidFill>
                <a:effectLst/>
                <a:latin typeface="+mn-lt"/>
                <a:ea typeface="+mn-ea"/>
                <a:cs typeface="+mn-cs"/>
                <a:hlinkClick r:id="rId3"/>
              </a:rPr>
              <a:t>详解</a:t>
            </a:r>
            <a:r>
              <a:rPr lang="zh-CN" altLang="en-US" sz="1200" b="0" i="0" kern="1200" dirty="0">
                <a:solidFill>
                  <a:schemeClr val="tx1"/>
                </a:solidFill>
                <a:effectLst/>
                <a:latin typeface="+mn-lt"/>
                <a:ea typeface="+mn-ea"/>
                <a:cs typeface="+mn-cs"/>
              </a:rPr>
              <a:t>），有了</a:t>
            </a:r>
            <a:r>
              <a:rPr lang="en-US" altLang="zh-CN" sz="1200" b="0" i="0" kern="1200" dirty="0">
                <a:solidFill>
                  <a:schemeClr val="tx1"/>
                </a:solidFill>
                <a:effectLst/>
                <a:latin typeface="+mn-lt"/>
                <a:ea typeface="+mn-ea"/>
                <a:cs typeface="+mn-cs"/>
              </a:rPr>
              <a:t>VAO</a:t>
            </a:r>
            <a:r>
              <a:rPr lang="zh-CN" altLang="en-US" sz="1200" b="0" i="0" kern="1200" dirty="0">
                <a:solidFill>
                  <a:schemeClr val="tx1"/>
                </a:solidFill>
                <a:effectLst/>
                <a:latin typeface="+mn-lt"/>
                <a:ea typeface="+mn-ea"/>
                <a:cs typeface="+mn-cs"/>
              </a:rPr>
              <a:t>，任何数组形式的</a:t>
            </a:r>
            <a:r>
              <a:rPr lang="en-US" altLang="zh-CN" sz="1200" b="0" i="0" kern="1200" dirty="0">
                <a:solidFill>
                  <a:schemeClr val="tx1"/>
                </a:solidFill>
                <a:effectLst/>
                <a:latin typeface="+mn-lt"/>
                <a:ea typeface="+mn-ea"/>
                <a:cs typeface="+mn-cs"/>
              </a:rPr>
              <a:t>GL</a:t>
            </a:r>
            <a:r>
              <a:rPr lang="zh-CN" altLang="en-US" sz="1200" b="0" i="0" kern="1200" dirty="0">
                <a:solidFill>
                  <a:schemeClr val="tx1"/>
                </a:solidFill>
                <a:effectLst/>
                <a:latin typeface="+mn-lt"/>
                <a:ea typeface="+mn-ea"/>
                <a:cs typeface="+mn-cs"/>
              </a:rPr>
              <a:t>函数调用都会添加到</a:t>
            </a:r>
            <a:r>
              <a:rPr lang="en-US" altLang="zh-CN" sz="1200" b="0" i="0" kern="1200" dirty="0">
                <a:solidFill>
                  <a:schemeClr val="tx1"/>
                </a:solidFill>
                <a:effectLst/>
                <a:latin typeface="+mn-lt"/>
                <a:ea typeface="+mn-ea"/>
                <a:cs typeface="+mn-cs"/>
              </a:rPr>
              <a:t>VAO</a:t>
            </a:r>
            <a:r>
              <a:rPr lang="zh-CN" altLang="en-US" sz="1200" b="0" i="0" kern="1200" dirty="0">
                <a:solidFill>
                  <a:schemeClr val="tx1"/>
                </a:solidFill>
                <a:effectLst/>
                <a:latin typeface="+mn-lt"/>
                <a:ea typeface="+mn-ea"/>
                <a:cs typeface="+mn-cs"/>
              </a:rPr>
              <a:t>的绘制列表当中（直到解除</a:t>
            </a:r>
            <a:r>
              <a:rPr lang="en-US" altLang="zh-CN" sz="1200" b="0" i="0" kern="1200" dirty="0">
                <a:solidFill>
                  <a:schemeClr val="tx1"/>
                </a:solidFill>
                <a:effectLst/>
                <a:latin typeface="+mn-lt"/>
                <a:ea typeface="+mn-ea"/>
                <a:cs typeface="+mn-cs"/>
              </a:rPr>
              <a:t>VAO</a:t>
            </a:r>
            <a:r>
              <a:rPr lang="zh-CN" altLang="en-US" sz="1200" b="0" i="0" kern="1200" dirty="0">
                <a:solidFill>
                  <a:schemeClr val="tx1"/>
                </a:solidFill>
                <a:effectLst/>
                <a:latin typeface="+mn-lt"/>
                <a:ea typeface="+mn-ea"/>
                <a:cs typeface="+mn-cs"/>
              </a:rPr>
              <a:t>绑定），当需要绘制的时候，我们仅需要重新绑定</a:t>
            </a:r>
            <a:r>
              <a:rPr lang="en-US" altLang="zh-CN" sz="1200" b="0" i="0" kern="1200" dirty="0">
                <a:solidFill>
                  <a:schemeClr val="tx1"/>
                </a:solidFill>
                <a:effectLst/>
                <a:latin typeface="+mn-lt"/>
                <a:ea typeface="+mn-ea"/>
                <a:cs typeface="+mn-cs"/>
              </a:rPr>
              <a:t>VAO</a:t>
            </a:r>
            <a:r>
              <a:rPr lang="zh-CN" altLang="en-US" sz="1200" b="0" i="0" kern="1200" dirty="0">
                <a:solidFill>
                  <a:schemeClr val="tx1"/>
                </a:solidFill>
                <a:effectLst/>
                <a:latin typeface="+mn-lt"/>
                <a:ea typeface="+mn-ea"/>
                <a:cs typeface="+mn-cs"/>
              </a:rPr>
              <a:t>，那么之前创建的绘制列表将会重新激活，使得绘制代码更加简洁。</a:t>
            </a:r>
            <a:endParaRPr lang="en-US" altLang="zh-CN"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a:p>
            <a:r>
              <a:rPr lang="en-US" altLang="zh-CN" sz="1200" b="0" i="0" kern="1200" dirty="0" err="1">
                <a:solidFill>
                  <a:schemeClr val="tx1"/>
                </a:solidFill>
                <a:effectLst/>
                <a:latin typeface="+mn-lt"/>
                <a:ea typeface="+mn-ea"/>
                <a:cs typeface="+mn-cs"/>
              </a:rPr>
              <a:t>glBufferData</a:t>
            </a:r>
            <a:r>
              <a:rPr lang="zh-CN" altLang="en-US" sz="1200" b="0" i="0" kern="1200" dirty="0">
                <a:solidFill>
                  <a:schemeClr val="tx1"/>
                </a:solidFill>
                <a:effectLst/>
                <a:latin typeface="+mn-lt"/>
                <a:ea typeface="+mn-ea"/>
                <a:cs typeface="+mn-cs"/>
              </a:rPr>
              <a:t>用于向</a:t>
            </a:r>
            <a:r>
              <a:rPr lang="en-US" altLang="zh-CN" sz="1200" b="0" i="0" kern="1200" dirty="0">
                <a:solidFill>
                  <a:schemeClr val="tx1"/>
                </a:solidFill>
                <a:effectLst/>
                <a:latin typeface="+mn-lt"/>
                <a:ea typeface="+mn-ea"/>
                <a:cs typeface="+mn-cs"/>
              </a:rPr>
              <a:t>VBO</a:t>
            </a:r>
            <a:r>
              <a:rPr lang="zh-CN" altLang="en-US" sz="1200" b="0" i="0" kern="1200" dirty="0">
                <a:solidFill>
                  <a:schemeClr val="tx1"/>
                </a:solidFill>
                <a:effectLst/>
                <a:latin typeface="+mn-lt"/>
                <a:ea typeface="+mn-ea"/>
                <a:cs typeface="+mn-cs"/>
              </a:rPr>
              <a:t>传递数据：第二个参数表示数据的大小，第三个参数表示指向数据的指针；</a:t>
            </a:r>
          </a:p>
          <a:p>
            <a:r>
              <a:rPr lang="en-US" altLang="zh-CN" sz="1200" b="0" i="0" kern="1200" dirty="0" err="1">
                <a:solidFill>
                  <a:schemeClr val="tx1"/>
                </a:solidFill>
                <a:effectLst/>
                <a:latin typeface="+mn-lt"/>
                <a:ea typeface="+mn-ea"/>
                <a:cs typeface="+mn-cs"/>
              </a:rPr>
              <a:t>glVertexAttribPointer</a:t>
            </a:r>
            <a:r>
              <a:rPr lang="zh-CN" altLang="en-US" sz="1200" b="0" i="0" kern="1200" dirty="0">
                <a:solidFill>
                  <a:schemeClr val="tx1"/>
                </a:solidFill>
                <a:effectLst/>
                <a:latin typeface="+mn-lt"/>
                <a:ea typeface="+mn-ea"/>
                <a:cs typeface="+mn-cs"/>
              </a:rPr>
              <a:t>用于将顶点着色器中的</a:t>
            </a:r>
            <a:r>
              <a:rPr lang="en-US" altLang="zh-CN" sz="1200" b="0" i="0" kern="1200" dirty="0">
                <a:solidFill>
                  <a:schemeClr val="tx1"/>
                </a:solidFill>
                <a:effectLst/>
                <a:latin typeface="+mn-lt"/>
                <a:ea typeface="+mn-ea"/>
                <a:cs typeface="+mn-cs"/>
              </a:rPr>
              <a:t>attribute</a:t>
            </a:r>
            <a:r>
              <a:rPr lang="zh-CN" altLang="en-US" sz="1200" b="0" i="0" kern="1200" dirty="0">
                <a:solidFill>
                  <a:schemeClr val="tx1"/>
                </a:solidFill>
                <a:effectLst/>
                <a:latin typeface="+mn-lt"/>
                <a:ea typeface="+mn-ea"/>
                <a:cs typeface="+mn-cs"/>
              </a:rPr>
              <a:t>变量与</a:t>
            </a:r>
            <a:r>
              <a:rPr lang="en-US" altLang="zh-CN" sz="1200" b="0" i="0" kern="1200" dirty="0">
                <a:solidFill>
                  <a:schemeClr val="tx1"/>
                </a:solidFill>
                <a:effectLst/>
                <a:latin typeface="+mn-lt"/>
                <a:ea typeface="+mn-ea"/>
                <a:cs typeface="+mn-cs"/>
              </a:rPr>
              <a:t>VBO</a:t>
            </a:r>
            <a:r>
              <a:rPr lang="zh-CN" altLang="en-US" sz="1200" b="0" i="0" kern="1200" dirty="0">
                <a:solidFill>
                  <a:schemeClr val="tx1"/>
                </a:solidFill>
                <a:effectLst/>
                <a:latin typeface="+mn-lt"/>
                <a:ea typeface="+mn-ea"/>
                <a:cs typeface="+mn-cs"/>
              </a:rPr>
              <a:t>中的数据进行绑定：第一个参数表示属性的位置，第二个参数表示分量的个数，第三个参数表示数据类型，第四个参数表示是否归一化，第五个参数表示连续顶点属性之间的偏移量，第六个参数表示组件的第一个分量在对应的数组顶点属性中的偏移量</a:t>
            </a:r>
            <a:endParaRPr lang="en-US" altLang="zh-CN" sz="1200" b="0" i="0" kern="1200" dirty="0">
              <a:solidFill>
                <a:schemeClr val="tx1"/>
              </a:solidFill>
              <a:effectLst/>
              <a:latin typeface="+mn-lt"/>
              <a:ea typeface="+mn-ea"/>
              <a:cs typeface="+mn-cs"/>
            </a:endParaRPr>
          </a:p>
          <a:p>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可以把</a:t>
            </a:r>
            <a:r>
              <a:rPr lang="en-US" altLang="zh-CN" sz="1200" b="0" i="0" kern="1200" dirty="0">
                <a:solidFill>
                  <a:schemeClr val="tx1"/>
                </a:solidFill>
                <a:effectLst/>
                <a:latin typeface="+mn-lt"/>
                <a:ea typeface="+mn-ea"/>
                <a:cs typeface="+mn-cs"/>
              </a:rPr>
              <a:t>VBO</a:t>
            </a:r>
            <a:r>
              <a:rPr lang="zh-CN" altLang="en-US" sz="1200" b="0" i="0" kern="1200" dirty="0">
                <a:solidFill>
                  <a:schemeClr val="tx1"/>
                </a:solidFill>
                <a:effectLst/>
                <a:latin typeface="+mn-lt"/>
                <a:ea typeface="+mn-ea"/>
                <a:cs typeface="+mn-cs"/>
              </a:rPr>
              <a:t>理解成一个数据区域，这里面存放了渲染所需要的一切信息。但需要注意的是，数据在</a:t>
            </a:r>
            <a:r>
              <a:rPr lang="en-US" altLang="zh-CN" sz="1200" b="0" i="0" kern="1200" dirty="0">
                <a:solidFill>
                  <a:schemeClr val="tx1"/>
                </a:solidFill>
                <a:effectLst/>
                <a:latin typeface="+mn-lt"/>
                <a:ea typeface="+mn-ea"/>
                <a:cs typeface="+mn-cs"/>
              </a:rPr>
              <a:t>VBO</a:t>
            </a:r>
            <a:r>
              <a:rPr lang="zh-CN" altLang="en-US" sz="1200" b="0" i="0" kern="1200" dirty="0">
                <a:solidFill>
                  <a:schemeClr val="tx1"/>
                </a:solidFill>
                <a:effectLst/>
                <a:latin typeface="+mn-lt"/>
                <a:ea typeface="+mn-ea"/>
                <a:cs typeface="+mn-cs"/>
              </a:rPr>
              <a:t>里面的时候，</a:t>
            </a:r>
            <a:r>
              <a:rPr lang="en-US" altLang="zh-CN" sz="1200" b="0" i="0" kern="1200" dirty="0">
                <a:solidFill>
                  <a:schemeClr val="tx1"/>
                </a:solidFill>
                <a:effectLst/>
                <a:latin typeface="+mn-lt"/>
                <a:ea typeface="+mn-ea"/>
                <a:cs typeface="+mn-cs"/>
              </a:rPr>
              <a:t>OpenGL</a:t>
            </a:r>
            <a:r>
              <a:rPr lang="zh-CN" altLang="en-US" sz="1200" b="0" i="0" kern="1200" dirty="0">
                <a:solidFill>
                  <a:schemeClr val="tx1"/>
                </a:solidFill>
                <a:effectLst/>
                <a:latin typeface="+mn-lt"/>
                <a:ea typeface="+mn-ea"/>
                <a:cs typeface="+mn-cs"/>
              </a:rPr>
              <a:t>是并不知道这里面的每个数据所代表的具体含义的，只是一堆数值罢了。</a:t>
            </a:r>
            <a:r>
              <a:rPr lang="en-US" altLang="zh-CN" sz="1200" b="0" i="0" kern="1200" dirty="0">
                <a:solidFill>
                  <a:schemeClr val="tx1"/>
                </a:solidFill>
                <a:effectLst/>
                <a:latin typeface="+mn-lt"/>
                <a:ea typeface="+mn-ea"/>
                <a:cs typeface="+mn-cs"/>
              </a:rPr>
              <a:t>VAO</a:t>
            </a:r>
            <a:r>
              <a:rPr lang="zh-CN" altLang="en-US" sz="1200" b="0" i="0" kern="1200" dirty="0">
                <a:solidFill>
                  <a:schemeClr val="tx1"/>
                </a:solidFill>
                <a:effectLst/>
                <a:latin typeface="+mn-lt"/>
                <a:ea typeface="+mn-ea"/>
                <a:cs typeface="+mn-cs"/>
              </a:rPr>
              <a:t>可以定义一种格式说，我每次只取</a:t>
            </a:r>
            <a:r>
              <a:rPr lang="en-US" altLang="zh-CN" sz="1200" b="0" i="0" kern="1200" dirty="0">
                <a:solidFill>
                  <a:schemeClr val="tx1"/>
                </a:solidFill>
                <a:effectLst/>
                <a:latin typeface="+mn-lt"/>
                <a:ea typeface="+mn-ea"/>
                <a:cs typeface="+mn-cs"/>
              </a:rPr>
              <a:t>VBO</a:t>
            </a:r>
            <a:r>
              <a:rPr lang="zh-CN" altLang="en-US" sz="1200" b="0" i="0" kern="1200" dirty="0">
                <a:solidFill>
                  <a:schemeClr val="tx1"/>
                </a:solidFill>
                <a:effectLst/>
                <a:latin typeface="+mn-lt"/>
                <a:ea typeface="+mn-ea"/>
                <a:cs typeface="+mn-cs"/>
              </a:rPr>
              <a:t>里面的</a:t>
            </a:r>
            <a:r>
              <a:rPr lang="en-US" altLang="zh-CN" sz="1200" b="0" i="0" kern="1200" dirty="0" err="1">
                <a:solidFill>
                  <a:schemeClr val="tx1"/>
                </a:solidFill>
                <a:effectLst/>
                <a:latin typeface="+mn-lt"/>
                <a:ea typeface="+mn-ea"/>
                <a:cs typeface="+mn-cs"/>
              </a:rPr>
              <a:t>x,y,z</a:t>
            </a:r>
            <a:r>
              <a:rPr lang="zh-CN" altLang="en-US" sz="1200" b="0" i="0" kern="1200" dirty="0">
                <a:solidFill>
                  <a:schemeClr val="tx1"/>
                </a:solidFill>
                <a:effectLst/>
                <a:latin typeface="+mn-lt"/>
                <a:ea typeface="+mn-ea"/>
                <a:cs typeface="+mn-cs"/>
              </a:rPr>
              <a:t>的值；也可以定义一种格式说，每次只取</a:t>
            </a:r>
            <a:r>
              <a:rPr lang="en-US" altLang="zh-CN" sz="1200" b="0" i="0" kern="1200" dirty="0">
                <a:solidFill>
                  <a:schemeClr val="tx1"/>
                </a:solidFill>
                <a:effectLst/>
                <a:latin typeface="+mn-lt"/>
                <a:ea typeface="+mn-ea"/>
                <a:cs typeface="+mn-cs"/>
              </a:rPr>
              <a:t>VBO</a:t>
            </a:r>
            <a:r>
              <a:rPr lang="zh-CN" altLang="en-US" sz="1200" b="0" i="0" kern="1200" dirty="0">
                <a:solidFill>
                  <a:schemeClr val="tx1"/>
                </a:solidFill>
                <a:effectLst/>
                <a:latin typeface="+mn-lt"/>
                <a:ea typeface="+mn-ea"/>
                <a:cs typeface="+mn-cs"/>
              </a:rPr>
              <a:t>里面的</a:t>
            </a:r>
            <a:r>
              <a:rPr lang="en-US" altLang="zh-CN" sz="1200" b="0" i="0" kern="1200" dirty="0" err="1">
                <a:solidFill>
                  <a:schemeClr val="tx1"/>
                </a:solidFill>
                <a:effectLst/>
                <a:latin typeface="+mn-lt"/>
                <a:ea typeface="+mn-ea"/>
                <a:cs typeface="+mn-cs"/>
              </a:rPr>
              <a:t>r,g,b</a:t>
            </a:r>
            <a:r>
              <a:rPr lang="zh-CN" altLang="en-US" sz="1200" b="0" i="0" kern="1200" dirty="0">
                <a:solidFill>
                  <a:schemeClr val="tx1"/>
                </a:solidFill>
                <a:effectLst/>
                <a:latin typeface="+mn-lt"/>
                <a:ea typeface="+mn-ea"/>
                <a:cs typeface="+mn-cs"/>
              </a:rPr>
              <a:t>的值。这样我们就可以在渲染的时候，绑定不同的</a:t>
            </a:r>
            <a:r>
              <a:rPr lang="en-US" altLang="zh-CN" sz="1200" b="0" i="0" kern="1200" dirty="0">
                <a:solidFill>
                  <a:schemeClr val="tx1"/>
                </a:solidFill>
                <a:effectLst/>
                <a:latin typeface="+mn-lt"/>
                <a:ea typeface="+mn-ea"/>
                <a:cs typeface="+mn-cs"/>
              </a:rPr>
              <a:t>VAO</a:t>
            </a:r>
            <a:r>
              <a:rPr lang="zh-CN" altLang="en-US" sz="1200" b="0" i="0" kern="1200" dirty="0">
                <a:solidFill>
                  <a:schemeClr val="tx1"/>
                </a:solidFill>
                <a:effectLst/>
                <a:latin typeface="+mn-lt"/>
                <a:ea typeface="+mn-ea"/>
                <a:cs typeface="+mn-cs"/>
              </a:rPr>
              <a:t>，实现按照不同的格式将</a:t>
            </a:r>
            <a:r>
              <a:rPr lang="en-US" altLang="zh-CN" sz="1200" b="0" i="0" kern="1200" dirty="0">
                <a:solidFill>
                  <a:schemeClr val="tx1"/>
                </a:solidFill>
                <a:effectLst/>
                <a:latin typeface="+mn-lt"/>
                <a:ea typeface="+mn-ea"/>
                <a:cs typeface="+mn-cs"/>
              </a:rPr>
              <a:t>VBO</a:t>
            </a:r>
            <a:r>
              <a:rPr lang="zh-CN" altLang="en-US" sz="1200" b="0" i="0" kern="1200" dirty="0">
                <a:solidFill>
                  <a:schemeClr val="tx1"/>
                </a:solidFill>
                <a:effectLst/>
                <a:latin typeface="+mn-lt"/>
                <a:ea typeface="+mn-ea"/>
                <a:cs typeface="+mn-cs"/>
              </a:rPr>
              <a:t>里面的东西渲染出来。</a:t>
            </a:r>
          </a:p>
          <a:p>
            <a:endParaRPr lang="en-US" dirty="0"/>
          </a:p>
        </p:txBody>
      </p:sp>
      <p:sp>
        <p:nvSpPr>
          <p:cNvPr id="4" name="Slide Number Placeholder 3"/>
          <p:cNvSpPr>
            <a:spLocks noGrp="1"/>
          </p:cNvSpPr>
          <p:nvPr>
            <p:ph type="sldNum" sz="quarter" idx="10"/>
          </p:nvPr>
        </p:nvSpPr>
        <p:spPr/>
        <p:txBody>
          <a:bodyPr/>
          <a:lstStyle/>
          <a:p>
            <a:fld id="{E1DC56F0-BEE5-4715-8E33-DABC78619DE8}" type="slidenum">
              <a:rPr lang="zh-CN" altLang="en-US" smtClean="0"/>
              <a:t>19</a:t>
            </a:fld>
            <a:endParaRPr lang="zh-CN" altLang="en-US"/>
          </a:p>
        </p:txBody>
      </p:sp>
    </p:spTree>
    <p:extLst>
      <p:ext uri="{BB962C8B-B14F-4D97-AF65-F5344CB8AC3E}">
        <p14:creationId xmlns:p14="http://schemas.microsoft.com/office/powerpoint/2010/main" val="40531647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早期的</a:t>
            </a:r>
            <a:r>
              <a:rPr lang="en-US" altLang="zh-CN" sz="1200" b="0" i="0" kern="1200" dirty="0">
                <a:solidFill>
                  <a:schemeClr val="tx1"/>
                </a:solidFill>
                <a:effectLst/>
                <a:latin typeface="+mn-lt"/>
                <a:ea typeface="+mn-ea"/>
                <a:cs typeface="+mn-cs"/>
              </a:rPr>
              <a:t>OpenGL</a:t>
            </a:r>
            <a:r>
              <a:rPr lang="zh-CN" altLang="en-US" sz="1200" b="0" i="0" kern="1200" dirty="0">
                <a:solidFill>
                  <a:schemeClr val="tx1"/>
                </a:solidFill>
                <a:effectLst/>
                <a:latin typeface="+mn-lt"/>
                <a:ea typeface="+mn-ea"/>
                <a:cs typeface="+mn-cs"/>
              </a:rPr>
              <a:t>为了将模型的顶点数据传送到显卡，需要逐个顶点进行（冗余处理的问题），如果还需要额外的信息（纹理坐标和法线）的话，当模型比较复杂时，将导致大量函数的调用，传输开销是相当大的！为了解决这个问题引入了</a:t>
            </a:r>
            <a:r>
              <a:rPr lang="en-US" altLang="zh-CN" sz="1200" b="0" i="0" kern="1200" dirty="0">
                <a:solidFill>
                  <a:schemeClr val="tx1"/>
                </a:solidFill>
                <a:effectLst/>
                <a:latin typeface="+mn-lt"/>
                <a:ea typeface="+mn-ea"/>
                <a:cs typeface="+mn-cs"/>
              </a:rPr>
              <a:t>VBO(Vertex Buffer Object)</a:t>
            </a:r>
            <a:r>
              <a:rPr lang="zh-CN" altLang="en-US" sz="1200" b="0" i="0" kern="1200" dirty="0">
                <a:solidFill>
                  <a:schemeClr val="tx1"/>
                </a:solidFill>
                <a:effectLst/>
                <a:latin typeface="+mn-lt"/>
                <a:ea typeface="+mn-ea"/>
                <a:cs typeface="+mn-cs"/>
              </a:rPr>
              <a:t>，</a:t>
            </a:r>
            <a:r>
              <a:rPr lang="en-US" altLang="zh-CN" sz="1200" b="0" i="0" kern="1200" dirty="0">
                <a:solidFill>
                  <a:schemeClr val="tx1"/>
                </a:solidFill>
                <a:effectLst/>
                <a:latin typeface="+mn-lt"/>
                <a:ea typeface="+mn-ea"/>
                <a:cs typeface="+mn-cs"/>
              </a:rPr>
              <a:t>VBO</a:t>
            </a:r>
            <a:r>
              <a:rPr lang="zh-CN" altLang="en-US" sz="1200" b="0" i="0" kern="1200" dirty="0">
                <a:solidFill>
                  <a:schemeClr val="tx1"/>
                </a:solidFill>
                <a:effectLst/>
                <a:latin typeface="+mn-lt"/>
                <a:ea typeface="+mn-ea"/>
                <a:cs typeface="+mn-cs"/>
              </a:rPr>
              <a:t>可以将顶点数据保存在显存中，绘制时直接从显存中取数据，减少了数据传输的开销。</a:t>
            </a:r>
            <a:endParaRPr lang="en-US" altLang="zh-CN" sz="1200" b="0" i="0" kern="1200" dirty="0">
              <a:solidFill>
                <a:schemeClr val="tx1"/>
              </a:solidFill>
              <a:effectLst/>
              <a:latin typeface="+mn-lt"/>
              <a:ea typeface="+mn-ea"/>
              <a:cs typeface="+mn-cs"/>
            </a:endParaRPr>
          </a:p>
          <a:p>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通过</a:t>
            </a:r>
            <a:r>
              <a:rPr lang="en-US" altLang="zh-CN" sz="1200" b="0" i="0" kern="1200" dirty="0">
                <a:solidFill>
                  <a:schemeClr val="tx1"/>
                </a:solidFill>
                <a:effectLst/>
                <a:latin typeface="+mn-lt"/>
                <a:ea typeface="+mn-ea"/>
                <a:cs typeface="+mn-cs"/>
              </a:rPr>
              <a:t>VBO</a:t>
            </a:r>
            <a:r>
              <a:rPr lang="zh-CN" altLang="en-US" sz="1200" b="0" i="0" kern="1200" dirty="0">
                <a:solidFill>
                  <a:schemeClr val="tx1"/>
                </a:solidFill>
                <a:effectLst/>
                <a:latin typeface="+mn-lt"/>
                <a:ea typeface="+mn-ea"/>
                <a:cs typeface="+mn-cs"/>
              </a:rPr>
              <a:t>我们可以将顶点属性数据保存在显存中，当绘制时问题又来了，需要调用好几个函数，过程挺复杂的。为了解决这个问题，</a:t>
            </a:r>
            <a:r>
              <a:rPr lang="en-US" altLang="zh-CN" sz="1200" b="0" i="0" kern="1200" dirty="0">
                <a:solidFill>
                  <a:schemeClr val="tx1"/>
                </a:solidFill>
                <a:effectLst/>
                <a:latin typeface="+mn-lt"/>
                <a:ea typeface="+mn-ea"/>
                <a:cs typeface="+mn-cs"/>
              </a:rPr>
              <a:t>OpenGL</a:t>
            </a:r>
            <a:r>
              <a:rPr lang="zh-CN" altLang="en-US" sz="1200" b="0" i="0" kern="1200" dirty="0">
                <a:solidFill>
                  <a:schemeClr val="tx1"/>
                </a:solidFill>
                <a:effectLst/>
                <a:latin typeface="+mn-lt"/>
                <a:ea typeface="+mn-ea"/>
                <a:cs typeface="+mn-cs"/>
              </a:rPr>
              <a:t>又引入了</a:t>
            </a:r>
            <a:r>
              <a:rPr lang="en-US" altLang="zh-CN" sz="1200" b="0" i="0" kern="1200" dirty="0">
                <a:solidFill>
                  <a:schemeClr val="tx1"/>
                </a:solidFill>
                <a:effectLst/>
                <a:latin typeface="+mn-lt"/>
                <a:ea typeface="+mn-ea"/>
                <a:cs typeface="+mn-cs"/>
              </a:rPr>
              <a:t>VAO(Vertex Array Object)</a:t>
            </a:r>
            <a:r>
              <a:rPr lang="zh-CN" altLang="en-US" sz="1200" b="0" i="0" kern="1200" dirty="0">
                <a:solidFill>
                  <a:schemeClr val="tx1"/>
                </a:solidFill>
                <a:effectLst/>
                <a:latin typeface="+mn-lt"/>
                <a:ea typeface="+mn-ea"/>
                <a:cs typeface="+mn-cs"/>
              </a:rPr>
              <a:t>来关联</a:t>
            </a:r>
            <a:r>
              <a:rPr lang="en-US" altLang="zh-CN" sz="1200" b="0" i="0" kern="1200" dirty="0">
                <a:solidFill>
                  <a:schemeClr val="tx1"/>
                </a:solidFill>
                <a:effectLst/>
                <a:latin typeface="+mn-lt"/>
                <a:ea typeface="+mn-ea"/>
                <a:cs typeface="+mn-cs"/>
              </a:rPr>
              <a:t>VBO</a:t>
            </a:r>
            <a:r>
              <a:rPr lang="zh-CN" altLang="en-US" sz="1200" b="0" i="0" kern="1200" dirty="0">
                <a:solidFill>
                  <a:schemeClr val="tx1"/>
                </a:solidFill>
                <a:effectLst/>
                <a:latin typeface="+mn-lt"/>
                <a:ea typeface="+mn-ea"/>
                <a:cs typeface="+mn-cs"/>
              </a:rPr>
              <a:t>中的数据 （</a:t>
            </a:r>
            <a:r>
              <a:rPr lang="en-US" altLang="zh-CN" sz="1200" b="0" i="0" kern="1200" dirty="0">
                <a:solidFill>
                  <a:schemeClr val="tx1"/>
                </a:solidFill>
                <a:effectLst/>
                <a:latin typeface="+mn-lt"/>
                <a:ea typeface="+mn-ea"/>
                <a:cs typeface="+mn-cs"/>
                <a:hlinkClick r:id="rId3"/>
              </a:rPr>
              <a:t>VAO</a:t>
            </a:r>
            <a:r>
              <a:rPr lang="zh-CN" altLang="en-US" sz="1200" b="0" i="0" kern="1200" dirty="0">
                <a:solidFill>
                  <a:schemeClr val="tx1"/>
                </a:solidFill>
                <a:effectLst/>
                <a:latin typeface="+mn-lt"/>
                <a:ea typeface="+mn-ea"/>
                <a:cs typeface="+mn-cs"/>
                <a:hlinkClick r:id="rId3"/>
              </a:rPr>
              <a:t>详解</a:t>
            </a:r>
            <a:r>
              <a:rPr lang="zh-CN" altLang="en-US" sz="1200" b="0" i="0" kern="1200" dirty="0">
                <a:solidFill>
                  <a:schemeClr val="tx1"/>
                </a:solidFill>
                <a:effectLst/>
                <a:latin typeface="+mn-lt"/>
                <a:ea typeface="+mn-ea"/>
                <a:cs typeface="+mn-cs"/>
              </a:rPr>
              <a:t>），有了</a:t>
            </a:r>
            <a:r>
              <a:rPr lang="en-US" altLang="zh-CN" sz="1200" b="0" i="0" kern="1200" dirty="0">
                <a:solidFill>
                  <a:schemeClr val="tx1"/>
                </a:solidFill>
                <a:effectLst/>
                <a:latin typeface="+mn-lt"/>
                <a:ea typeface="+mn-ea"/>
                <a:cs typeface="+mn-cs"/>
              </a:rPr>
              <a:t>VAO</a:t>
            </a:r>
            <a:r>
              <a:rPr lang="zh-CN" altLang="en-US" sz="1200" b="0" i="0" kern="1200" dirty="0">
                <a:solidFill>
                  <a:schemeClr val="tx1"/>
                </a:solidFill>
                <a:effectLst/>
                <a:latin typeface="+mn-lt"/>
                <a:ea typeface="+mn-ea"/>
                <a:cs typeface="+mn-cs"/>
              </a:rPr>
              <a:t>，任何数组形式的</a:t>
            </a:r>
            <a:r>
              <a:rPr lang="en-US" altLang="zh-CN" sz="1200" b="0" i="0" kern="1200" dirty="0">
                <a:solidFill>
                  <a:schemeClr val="tx1"/>
                </a:solidFill>
                <a:effectLst/>
                <a:latin typeface="+mn-lt"/>
                <a:ea typeface="+mn-ea"/>
                <a:cs typeface="+mn-cs"/>
              </a:rPr>
              <a:t>GL</a:t>
            </a:r>
            <a:r>
              <a:rPr lang="zh-CN" altLang="en-US" sz="1200" b="0" i="0" kern="1200" dirty="0">
                <a:solidFill>
                  <a:schemeClr val="tx1"/>
                </a:solidFill>
                <a:effectLst/>
                <a:latin typeface="+mn-lt"/>
                <a:ea typeface="+mn-ea"/>
                <a:cs typeface="+mn-cs"/>
              </a:rPr>
              <a:t>函数调用都会添加到</a:t>
            </a:r>
            <a:r>
              <a:rPr lang="en-US" altLang="zh-CN" sz="1200" b="0" i="0" kern="1200" dirty="0">
                <a:solidFill>
                  <a:schemeClr val="tx1"/>
                </a:solidFill>
                <a:effectLst/>
                <a:latin typeface="+mn-lt"/>
                <a:ea typeface="+mn-ea"/>
                <a:cs typeface="+mn-cs"/>
              </a:rPr>
              <a:t>VAO</a:t>
            </a:r>
            <a:r>
              <a:rPr lang="zh-CN" altLang="en-US" sz="1200" b="0" i="0" kern="1200" dirty="0">
                <a:solidFill>
                  <a:schemeClr val="tx1"/>
                </a:solidFill>
                <a:effectLst/>
                <a:latin typeface="+mn-lt"/>
                <a:ea typeface="+mn-ea"/>
                <a:cs typeface="+mn-cs"/>
              </a:rPr>
              <a:t>的绘制列表当中（直到解除</a:t>
            </a:r>
            <a:r>
              <a:rPr lang="en-US" altLang="zh-CN" sz="1200" b="0" i="0" kern="1200" dirty="0">
                <a:solidFill>
                  <a:schemeClr val="tx1"/>
                </a:solidFill>
                <a:effectLst/>
                <a:latin typeface="+mn-lt"/>
                <a:ea typeface="+mn-ea"/>
                <a:cs typeface="+mn-cs"/>
              </a:rPr>
              <a:t>VAO</a:t>
            </a:r>
            <a:r>
              <a:rPr lang="zh-CN" altLang="en-US" sz="1200" b="0" i="0" kern="1200" dirty="0">
                <a:solidFill>
                  <a:schemeClr val="tx1"/>
                </a:solidFill>
                <a:effectLst/>
                <a:latin typeface="+mn-lt"/>
                <a:ea typeface="+mn-ea"/>
                <a:cs typeface="+mn-cs"/>
              </a:rPr>
              <a:t>绑定），当需要绘制的时候，我们仅需要重新绑定</a:t>
            </a:r>
            <a:r>
              <a:rPr lang="en-US" altLang="zh-CN" sz="1200" b="0" i="0" kern="1200" dirty="0">
                <a:solidFill>
                  <a:schemeClr val="tx1"/>
                </a:solidFill>
                <a:effectLst/>
                <a:latin typeface="+mn-lt"/>
                <a:ea typeface="+mn-ea"/>
                <a:cs typeface="+mn-cs"/>
              </a:rPr>
              <a:t>VAO</a:t>
            </a:r>
            <a:r>
              <a:rPr lang="zh-CN" altLang="en-US" sz="1200" b="0" i="0" kern="1200" dirty="0">
                <a:solidFill>
                  <a:schemeClr val="tx1"/>
                </a:solidFill>
                <a:effectLst/>
                <a:latin typeface="+mn-lt"/>
                <a:ea typeface="+mn-ea"/>
                <a:cs typeface="+mn-cs"/>
              </a:rPr>
              <a:t>，那么之前创建的绘制列表将会重新激活，使得绘制代码更加简洁。</a:t>
            </a:r>
            <a:endParaRPr lang="en-US" altLang="zh-CN"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a:p>
            <a:r>
              <a:rPr lang="en-US" altLang="zh-CN" sz="1200" b="0" i="0" kern="1200" dirty="0" err="1">
                <a:solidFill>
                  <a:schemeClr val="tx1"/>
                </a:solidFill>
                <a:effectLst/>
                <a:latin typeface="+mn-lt"/>
                <a:ea typeface="+mn-ea"/>
                <a:cs typeface="+mn-cs"/>
              </a:rPr>
              <a:t>glBufferData</a:t>
            </a:r>
            <a:r>
              <a:rPr lang="zh-CN" altLang="en-US" sz="1200" b="0" i="0" kern="1200" dirty="0">
                <a:solidFill>
                  <a:schemeClr val="tx1"/>
                </a:solidFill>
                <a:effectLst/>
                <a:latin typeface="+mn-lt"/>
                <a:ea typeface="+mn-ea"/>
                <a:cs typeface="+mn-cs"/>
              </a:rPr>
              <a:t>用于向</a:t>
            </a:r>
            <a:r>
              <a:rPr lang="en-US" altLang="zh-CN" sz="1200" b="0" i="0" kern="1200" dirty="0">
                <a:solidFill>
                  <a:schemeClr val="tx1"/>
                </a:solidFill>
                <a:effectLst/>
                <a:latin typeface="+mn-lt"/>
                <a:ea typeface="+mn-ea"/>
                <a:cs typeface="+mn-cs"/>
              </a:rPr>
              <a:t>VBO</a:t>
            </a:r>
            <a:r>
              <a:rPr lang="zh-CN" altLang="en-US" sz="1200" b="0" i="0" kern="1200" dirty="0">
                <a:solidFill>
                  <a:schemeClr val="tx1"/>
                </a:solidFill>
                <a:effectLst/>
                <a:latin typeface="+mn-lt"/>
                <a:ea typeface="+mn-ea"/>
                <a:cs typeface="+mn-cs"/>
              </a:rPr>
              <a:t>传递数据：第二个参数表示数据的大小，第三个参数表示指向数据的指针；</a:t>
            </a:r>
          </a:p>
          <a:p>
            <a:r>
              <a:rPr lang="en-US" altLang="zh-CN" sz="1200" b="0" i="0" kern="1200" dirty="0" err="1">
                <a:solidFill>
                  <a:schemeClr val="tx1"/>
                </a:solidFill>
                <a:effectLst/>
                <a:latin typeface="+mn-lt"/>
                <a:ea typeface="+mn-ea"/>
                <a:cs typeface="+mn-cs"/>
              </a:rPr>
              <a:t>glVertexAttribPointer</a:t>
            </a:r>
            <a:r>
              <a:rPr lang="zh-CN" altLang="en-US" sz="1200" b="0" i="0" kern="1200" dirty="0">
                <a:solidFill>
                  <a:schemeClr val="tx1"/>
                </a:solidFill>
                <a:effectLst/>
                <a:latin typeface="+mn-lt"/>
                <a:ea typeface="+mn-ea"/>
                <a:cs typeface="+mn-cs"/>
              </a:rPr>
              <a:t>用于将顶点着色器中的</a:t>
            </a:r>
            <a:r>
              <a:rPr lang="en-US" altLang="zh-CN" sz="1200" b="0" i="0" kern="1200" dirty="0">
                <a:solidFill>
                  <a:schemeClr val="tx1"/>
                </a:solidFill>
                <a:effectLst/>
                <a:latin typeface="+mn-lt"/>
                <a:ea typeface="+mn-ea"/>
                <a:cs typeface="+mn-cs"/>
              </a:rPr>
              <a:t>attribute</a:t>
            </a:r>
            <a:r>
              <a:rPr lang="zh-CN" altLang="en-US" sz="1200" b="0" i="0" kern="1200" dirty="0">
                <a:solidFill>
                  <a:schemeClr val="tx1"/>
                </a:solidFill>
                <a:effectLst/>
                <a:latin typeface="+mn-lt"/>
                <a:ea typeface="+mn-ea"/>
                <a:cs typeface="+mn-cs"/>
              </a:rPr>
              <a:t>变量与</a:t>
            </a:r>
            <a:r>
              <a:rPr lang="en-US" altLang="zh-CN" sz="1200" b="0" i="0" kern="1200" dirty="0">
                <a:solidFill>
                  <a:schemeClr val="tx1"/>
                </a:solidFill>
                <a:effectLst/>
                <a:latin typeface="+mn-lt"/>
                <a:ea typeface="+mn-ea"/>
                <a:cs typeface="+mn-cs"/>
              </a:rPr>
              <a:t>VBO</a:t>
            </a:r>
            <a:r>
              <a:rPr lang="zh-CN" altLang="en-US" sz="1200" b="0" i="0" kern="1200" dirty="0">
                <a:solidFill>
                  <a:schemeClr val="tx1"/>
                </a:solidFill>
                <a:effectLst/>
                <a:latin typeface="+mn-lt"/>
                <a:ea typeface="+mn-ea"/>
                <a:cs typeface="+mn-cs"/>
              </a:rPr>
              <a:t>中的数据进行绑定：第一个参数表示属性的位置，第二个参数表示分量的个数，第三个参数表示数据类型，第四个参数表示是否归一化，第五个参数表示连续顶点属性之间的偏移量，第六个参数表示组件的第一个分量在对应的数组顶点属性中的偏移量</a:t>
            </a:r>
            <a:endParaRPr lang="en-US" altLang="zh-CN" sz="1200" b="0" i="0" kern="1200" dirty="0">
              <a:solidFill>
                <a:schemeClr val="tx1"/>
              </a:solidFill>
              <a:effectLst/>
              <a:latin typeface="+mn-lt"/>
              <a:ea typeface="+mn-ea"/>
              <a:cs typeface="+mn-cs"/>
            </a:endParaRPr>
          </a:p>
          <a:p>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可以把</a:t>
            </a:r>
            <a:r>
              <a:rPr lang="en-US" altLang="zh-CN" sz="1200" b="0" i="0" kern="1200" dirty="0">
                <a:solidFill>
                  <a:schemeClr val="tx1"/>
                </a:solidFill>
                <a:effectLst/>
                <a:latin typeface="+mn-lt"/>
                <a:ea typeface="+mn-ea"/>
                <a:cs typeface="+mn-cs"/>
              </a:rPr>
              <a:t>VBO</a:t>
            </a:r>
            <a:r>
              <a:rPr lang="zh-CN" altLang="en-US" sz="1200" b="0" i="0" kern="1200" dirty="0">
                <a:solidFill>
                  <a:schemeClr val="tx1"/>
                </a:solidFill>
                <a:effectLst/>
                <a:latin typeface="+mn-lt"/>
                <a:ea typeface="+mn-ea"/>
                <a:cs typeface="+mn-cs"/>
              </a:rPr>
              <a:t>理解成一个数据区域，这里面存放了渲染所需要的一切信息。但需要注意的是，数据在</a:t>
            </a:r>
            <a:r>
              <a:rPr lang="en-US" altLang="zh-CN" sz="1200" b="0" i="0" kern="1200" dirty="0">
                <a:solidFill>
                  <a:schemeClr val="tx1"/>
                </a:solidFill>
                <a:effectLst/>
                <a:latin typeface="+mn-lt"/>
                <a:ea typeface="+mn-ea"/>
                <a:cs typeface="+mn-cs"/>
              </a:rPr>
              <a:t>VBO</a:t>
            </a:r>
            <a:r>
              <a:rPr lang="zh-CN" altLang="en-US" sz="1200" b="0" i="0" kern="1200" dirty="0">
                <a:solidFill>
                  <a:schemeClr val="tx1"/>
                </a:solidFill>
                <a:effectLst/>
                <a:latin typeface="+mn-lt"/>
                <a:ea typeface="+mn-ea"/>
                <a:cs typeface="+mn-cs"/>
              </a:rPr>
              <a:t>里面的时候，</a:t>
            </a:r>
            <a:r>
              <a:rPr lang="en-US" altLang="zh-CN" sz="1200" b="0" i="0" kern="1200" dirty="0">
                <a:solidFill>
                  <a:schemeClr val="tx1"/>
                </a:solidFill>
                <a:effectLst/>
                <a:latin typeface="+mn-lt"/>
                <a:ea typeface="+mn-ea"/>
                <a:cs typeface="+mn-cs"/>
              </a:rPr>
              <a:t>OpenGL</a:t>
            </a:r>
            <a:r>
              <a:rPr lang="zh-CN" altLang="en-US" sz="1200" b="0" i="0" kern="1200" dirty="0">
                <a:solidFill>
                  <a:schemeClr val="tx1"/>
                </a:solidFill>
                <a:effectLst/>
                <a:latin typeface="+mn-lt"/>
                <a:ea typeface="+mn-ea"/>
                <a:cs typeface="+mn-cs"/>
              </a:rPr>
              <a:t>是并不知道这里面的每个数据所代表的具体含义的，只是一堆数值罢了。</a:t>
            </a:r>
            <a:r>
              <a:rPr lang="en-US" altLang="zh-CN" sz="1200" b="0" i="0" kern="1200" dirty="0">
                <a:solidFill>
                  <a:schemeClr val="tx1"/>
                </a:solidFill>
                <a:effectLst/>
                <a:latin typeface="+mn-lt"/>
                <a:ea typeface="+mn-ea"/>
                <a:cs typeface="+mn-cs"/>
              </a:rPr>
              <a:t>VAO</a:t>
            </a:r>
            <a:r>
              <a:rPr lang="zh-CN" altLang="en-US" sz="1200" b="0" i="0" kern="1200" dirty="0">
                <a:solidFill>
                  <a:schemeClr val="tx1"/>
                </a:solidFill>
                <a:effectLst/>
                <a:latin typeface="+mn-lt"/>
                <a:ea typeface="+mn-ea"/>
                <a:cs typeface="+mn-cs"/>
              </a:rPr>
              <a:t>可以定义一种格式说，我每次只取</a:t>
            </a:r>
            <a:r>
              <a:rPr lang="en-US" altLang="zh-CN" sz="1200" b="0" i="0" kern="1200" dirty="0">
                <a:solidFill>
                  <a:schemeClr val="tx1"/>
                </a:solidFill>
                <a:effectLst/>
                <a:latin typeface="+mn-lt"/>
                <a:ea typeface="+mn-ea"/>
                <a:cs typeface="+mn-cs"/>
              </a:rPr>
              <a:t>VBO</a:t>
            </a:r>
            <a:r>
              <a:rPr lang="zh-CN" altLang="en-US" sz="1200" b="0" i="0" kern="1200" dirty="0">
                <a:solidFill>
                  <a:schemeClr val="tx1"/>
                </a:solidFill>
                <a:effectLst/>
                <a:latin typeface="+mn-lt"/>
                <a:ea typeface="+mn-ea"/>
                <a:cs typeface="+mn-cs"/>
              </a:rPr>
              <a:t>里面的</a:t>
            </a:r>
            <a:r>
              <a:rPr lang="en-US" altLang="zh-CN" sz="1200" b="0" i="0" kern="1200" dirty="0" err="1">
                <a:solidFill>
                  <a:schemeClr val="tx1"/>
                </a:solidFill>
                <a:effectLst/>
                <a:latin typeface="+mn-lt"/>
                <a:ea typeface="+mn-ea"/>
                <a:cs typeface="+mn-cs"/>
              </a:rPr>
              <a:t>x,y,z</a:t>
            </a:r>
            <a:r>
              <a:rPr lang="zh-CN" altLang="en-US" sz="1200" b="0" i="0" kern="1200" dirty="0">
                <a:solidFill>
                  <a:schemeClr val="tx1"/>
                </a:solidFill>
                <a:effectLst/>
                <a:latin typeface="+mn-lt"/>
                <a:ea typeface="+mn-ea"/>
                <a:cs typeface="+mn-cs"/>
              </a:rPr>
              <a:t>的值；也可以定义一种格式说，每次只取</a:t>
            </a:r>
            <a:r>
              <a:rPr lang="en-US" altLang="zh-CN" sz="1200" b="0" i="0" kern="1200" dirty="0">
                <a:solidFill>
                  <a:schemeClr val="tx1"/>
                </a:solidFill>
                <a:effectLst/>
                <a:latin typeface="+mn-lt"/>
                <a:ea typeface="+mn-ea"/>
                <a:cs typeface="+mn-cs"/>
              </a:rPr>
              <a:t>VBO</a:t>
            </a:r>
            <a:r>
              <a:rPr lang="zh-CN" altLang="en-US" sz="1200" b="0" i="0" kern="1200" dirty="0">
                <a:solidFill>
                  <a:schemeClr val="tx1"/>
                </a:solidFill>
                <a:effectLst/>
                <a:latin typeface="+mn-lt"/>
                <a:ea typeface="+mn-ea"/>
                <a:cs typeface="+mn-cs"/>
              </a:rPr>
              <a:t>里面的</a:t>
            </a:r>
            <a:r>
              <a:rPr lang="en-US" altLang="zh-CN" sz="1200" b="0" i="0" kern="1200" dirty="0" err="1">
                <a:solidFill>
                  <a:schemeClr val="tx1"/>
                </a:solidFill>
                <a:effectLst/>
                <a:latin typeface="+mn-lt"/>
                <a:ea typeface="+mn-ea"/>
                <a:cs typeface="+mn-cs"/>
              </a:rPr>
              <a:t>r,g,b</a:t>
            </a:r>
            <a:r>
              <a:rPr lang="zh-CN" altLang="en-US" sz="1200" b="0" i="0" kern="1200" dirty="0">
                <a:solidFill>
                  <a:schemeClr val="tx1"/>
                </a:solidFill>
                <a:effectLst/>
                <a:latin typeface="+mn-lt"/>
                <a:ea typeface="+mn-ea"/>
                <a:cs typeface="+mn-cs"/>
              </a:rPr>
              <a:t>的值。这样我们就可以在渲染的时候，绑定不同的</a:t>
            </a:r>
            <a:r>
              <a:rPr lang="en-US" altLang="zh-CN" sz="1200" b="0" i="0" kern="1200" dirty="0">
                <a:solidFill>
                  <a:schemeClr val="tx1"/>
                </a:solidFill>
                <a:effectLst/>
                <a:latin typeface="+mn-lt"/>
                <a:ea typeface="+mn-ea"/>
                <a:cs typeface="+mn-cs"/>
              </a:rPr>
              <a:t>VAO</a:t>
            </a:r>
            <a:r>
              <a:rPr lang="zh-CN" altLang="en-US" sz="1200" b="0" i="0" kern="1200" dirty="0">
                <a:solidFill>
                  <a:schemeClr val="tx1"/>
                </a:solidFill>
                <a:effectLst/>
                <a:latin typeface="+mn-lt"/>
                <a:ea typeface="+mn-ea"/>
                <a:cs typeface="+mn-cs"/>
              </a:rPr>
              <a:t>，实现按照不同的格式将</a:t>
            </a:r>
            <a:r>
              <a:rPr lang="en-US" altLang="zh-CN" sz="1200" b="0" i="0" kern="1200" dirty="0">
                <a:solidFill>
                  <a:schemeClr val="tx1"/>
                </a:solidFill>
                <a:effectLst/>
                <a:latin typeface="+mn-lt"/>
                <a:ea typeface="+mn-ea"/>
                <a:cs typeface="+mn-cs"/>
              </a:rPr>
              <a:t>VBO</a:t>
            </a:r>
            <a:r>
              <a:rPr lang="zh-CN" altLang="en-US" sz="1200" b="0" i="0" kern="1200" dirty="0">
                <a:solidFill>
                  <a:schemeClr val="tx1"/>
                </a:solidFill>
                <a:effectLst/>
                <a:latin typeface="+mn-lt"/>
                <a:ea typeface="+mn-ea"/>
                <a:cs typeface="+mn-cs"/>
              </a:rPr>
              <a:t>里面的东西渲染出来。</a:t>
            </a:r>
          </a:p>
          <a:p>
            <a:endParaRPr lang="en-US" dirty="0"/>
          </a:p>
        </p:txBody>
      </p:sp>
      <p:sp>
        <p:nvSpPr>
          <p:cNvPr id="4" name="Slide Number Placeholder 3"/>
          <p:cNvSpPr>
            <a:spLocks noGrp="1"/>
          </p:cNvSpPr>
          <p:nvPr>
            <p:ph type="sldNum" sz="quarter" idx="10"/>
          </p:nvPr>
        </p:nvSpPr>
        <p:spPr/>
        <p:txBody>
          <a:bodyPr/>
          <a:lstStyle/>
          <a:p>
            <a:fld id="{E1DC56F0-BEE5-4715-8E33-DABC78619DE8}" type="slidenum">
              <a:rPr lang="zh-CN" altLang="en-US" smtClean="0"/>
              <a:t>20</a:t>
            </a:fld>
            <a:endParaRPr lang="zh-CN" altLang="en-US"/>
          </a:p>
        </p:txBody>
      </p:sp>
    </p:spTree>
    <p:extLst>
      <p:ext uri="{BB962C8B-B14F-4D97-AF65-F5344CB8AC3E}">
        <p14:creationId xmlns:p14="http://schemas.microsoft.com/office/powerpoint/2010/main" val="20112713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1DC56F0-BEE5-4715-8E33-DABC78619DE8}" type="slidenum">
              <a:rPr lang="zh-CN" altLang="en-US" smtClean="0"/>
              <a:t>24</a:t>
            </a:fld>
            <a:endParaRPr lang="zh-CN" altLang="en-US"/>
          </a:p>
        </p:txBody>
      </p:sp>
    </p:spTree>
    <p:extLst>
      <p:ext uri="{BB962C8B-B14F-4D97-AF65-F5344CB8AC3E}">
        <p14:creationId xmlns:p14="http://schemas.microsoft.com/office/powerpoint/2010/main" val="20203475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E1DC56F0-BEE5-4715-8E33-DABC78619DE8}" type="slidenum">
              <a:rPr lang="zh-CN" altLang="en-US" smtClean="0"/>
              <a:t>28</a:t>
            </a:fld>
            <a:endParaRPr lang="zh-CN" altLang="en-US"/>
          </a:p>
        </p:txBody>
      </p:sp>
    </p:spTree>
    <p:extLst>
      <p:ext uri="{BB962C8B-B14F-4D97-AF65-F5344CB8AC3E}">
        <p14:creationId xmlns:p14="http://schemas.microsoft.com/office/powerpoint/2010/main" val="16776523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1DC56F0-BEE5-4715-8E33-DABC78619DE8}" type="slidenum">
              <a:rPr lang="zh-CN" altLang="en-US" smtClean="0"/>
              <a:t>30</a:t>
            </a:fld>
            <a:endParaRPr lang="zh-CN" altLang="en-US"/>
          </a:p>
        </p:txBody>
      </p:sp>
    </p:spTree>
    <p:extLst>
      <p:ext uri="{BB962C8B-B14F-4D97-AF65-F5344CB8AC3E}">
        <p14:creationId xmlns:p14="http://schemas.microsoft.com/office/powerpoint/2010/main" val="16165292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This</a:t>
            </a:r>
            <a:r>
              <a:rPr lang="en-US" altLang="zh-CN" baseline="0" dirty="0"/>
              <a:t> section correspond to sec. 2.6 of the text book.</a:t>
            </a:r>
            <a:endParaRPr lang="zh-CN" altLang="en-US" dirty="0"/>
          </a:p>
        </p:txBody>
      </p:sp>
      <p:sp>
        <p:nvSpPr>
          <p:cNvPr id="4" name="灯片编号占位符 3"/>
          <p:cNvSpPr>
            <a:spLocks noGrp="1"/>
          </p:cNvSpPr>
          <p:nvPr>
            <p:ph type="sldNum" sz="quarter" idx="10"/>
          </p:nvPr>
        </p:nvSpPr>
        <p:spPr/>
        <p:txBody>
          <a:bodyPr/>
          <a:lstStyle/>
          <a:p>
            <a:fld id="{E1DC56F0-BEE5-4715-8E33-DABC78619DE8}" type="slidenum">
              <a:rPr lang="zh-CN" altLang="en-US" smtClean="0"/>
              <a:t>38</a:t>
            </a:fld>
            <a:endParaRPr lang="zh-CN" altLang="en-US"/>
          </a:p>
        </p:txBody>
      </p:sp>
    </p:spTree>
    <p:extLst>
      <p:ext uri="{BB962C8B-B14F-4D97-AF65-F5344CB8AC3E}">
        <p14:creationId xmlns:p14="http://schemas.microsoft.com/office/powerpoint/2010/main" val="30716698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1DC56F0-BEE5-4715-8E33-DABC78619DE8}" type="slidenum">
              <a:rPr lang="zh-CN" altLang="en-US" smtClean="0"/>
              <a:t>43</a:t>
            </a:fld>
            <a:endParaRPr lang="zh-CN" altLang="en-US"/>
          </a:p>
        </p:txBody>
      </p:sp>
    </p:spTree>
    <p:extLst>
      <p:ext uri="{BB962C8B-B14F-4D97-AF65-F5344CB8AC3E}">
        <p14:creationId xmlns:p14="http://schemas.microsoft.com/office/powerpoint/2010/main" val="109722201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1DC56F0-BEE5-4715-8E33-DABC78619DE8}" type="slidenum">
              <a:rPr lang="zh-CN" altLang="en-US" smtClean="0"/>
              <a:t>44</a:t>
            </a:fld>
            <a:endParaRPr lang="zh-CN" altLang="en-US"/>
          </a:p>
        </p:txBody>
      </p:sp>
    </p:spTree>
    <p:extLst>
      <p:ext uri="{BB962C8B-B14F-4D97-AF65-F5344CB8AC3E}">
        <p14:creationId xmlns:p14="http://schemas.microsoft.com/office/powerpoint/2010/main" val="38361790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EBE93B95-C703-CD4C-B49F-E1CD62379AD1}" type="datetime1">
              <a:rPr lang="en-US" altLang="zh-CN" smtClean="0"/>
              <a:t>12/27/2024</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28074656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A9D698B4-4B2D-654A-B790-9D28830F66D1}" type="datetime1">
              <a:rPr lang="en-US" altLang="zh-CN" smtClean="0"/>
              <a:t>12/27/2024</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a:xfrm>
            <a:off x="8438318" y="6492875"/>
            <a:ext cx="775255" cy="365125"/>
          </a:xfrm>
        </p:spPr>
        <p:txBody>
          <a:bodyPr/>
          <a:lstStyle>
            <a:lvl1pPr algn="ctr">
              <a:defRPr/>
            </a:lvl1pPr>
          </a:lstStyle>
          <a:p>
            <a:fld id="{EB792F4E-54C0-4D36-B331-9C6FCFE9A340}" type="slidenum">
              <a:rPr lang="zh-CN" altLang="en-US" smtClean="0"/>
              <a:pPr/>
              <a:t>‹#›</a:t>
            </a:fld>
            <a:endParaRPr lang="zh-CN" altLang="en-US" dirty="0"/>
          </a:p>
        </p:txBody>
      </p:sp>
    </p:spTree>
    <p:extLst>
      <p:ext uri="{BB962C8B-B14F-4D97-AF65-F5344CB8AC3E}">
        <p14:creationId xmlns:p14="http://schemas.microsoft.com/office/powerpoint/2010/main" val="24511524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84CC563D-8133-5F4C-88A4-D8B7B49EC82F}" type="datetime1">
              <a:rPr lang="en-US" altLang="zh-CN" smtClean="0"/>
              <a:t>12/27/2024</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1117272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330037"/>
            <a:ext cx="3886200" cy="476942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629150" y="1330037"/>
            <a:ext cx="3886200" cy="476942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832F789E-5532-C44B-BE37-3720379333A3}" type="datetime1">
              <a:rPr lang="en-US" altLang="zh-CN" smtClean="0"/>
              <a:t>12/27/2024</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37153204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00C4CE90-35DF-714E-A54B-1616793996EF}" type="datetime1">
              <a:rPr lang="en-US" altLang="zh-CN" smtClean="0"/>
              <a:t>12/27/2024</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41052597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24CB29BE-C124-6E4B-9540-86B6226EA005}" type="datetime1">
              <a:rPr lang="en-US" altLang="zh-CN" smtClean="0"/>
              <a:t>12/27/2024</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7935110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5654D0E-4541-D041-AAF9-9DC55280BABC}" type="datetime1">
              <a:rPr lang="en-US" altLang="zh-CN" smtClean="0"/>
              <a:t>12/27/2024</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3555011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938121E4-0B7D-5B4D-A93A-4D6BDC0EFBD5}" type="datetime1">
              <a:rPr lang="en-US" altLang="zh-CN" smtClean="0"/>
              <a:t>12/27/2024</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34794963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928477D0-6F70-944E-B052-F3A5D9F888C2}" type="datetime1">
              <a:rPr lang="en-US" altLang="zh-CN" smtClean="0"/>
              <a:t>12/27/2024</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29858278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47A81147-639A-1645-AB65-BD692A4B0E54}" type="datetime1">
              <a:rPr lang="en-US" altLang="zh-CN" smtClean="0"/>
              <a:t>12/27/2024</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31867784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CADA74F4-7A2A-464D-AD92-27658FAA9AEC}" type="datetime1">
              <a:rPr lang="en-US" altLang="zh-CN" smtClean="0"/>
              <a:t>12/27/2024</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3297996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5121" y="95705"/>
            <a:ext cx="7886700" cy="532945"/>
          </a:xfrm>
          <a:prstGeom prst="rect">
            <a:avLst/>
          </a:prstGeom>
          <a:noFill/>
        </p:spPr>
        <p:txBody>
          <a:bodyPr/>
          <a:lstStyle/>
          <a:p>
            <a:pPr marL="0" lvl="0"/>
            <a:r>
              <a:rPr lang="zh-CN" altLang="en-US" dirty="0"/>
              <a:t>单击此处编辑母版标题样式</a:t>
            </a:r>
            <a:endParaRPr lang="en-US" dirty="0"/>
          </a:p>
        </p:txBody>
      </p:sp>
      <p:sp>
        <p:nvSpPr>
          <p:cNvPr id="3" name="Text Placeholder 2"/>
          <p:cNvSpPr>
            <a:spLocks noGrp="1"/>
          </p:cNvSpPr>
          <p:nvPr>
            <p:ph type="body" idx="1"/>
          </p:nvPr>
        </p:nvSpPr>
        <p:spPr>
          <a:xfrm>
            <a:off x="628650" y="1316831"/>
            <a:ext cx="78867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latin typeface="微软雅黑" panose="020B0503020204020204" pitchFamily="34" charset="-122"/>
                <a:ea typeface="微软雅黑" panose="020B0503020204020204" pitchFamily="34" charset="-122"/>
              </a:defRPr>
            </a:lvl1pPr>
          </a:lstStyle>
          <a:p>
            <a:fld id="{0783800F-2EDC-054D-B04D-A89CE5DA3858}" type="datetime1">
              <a:rPr lang="en-US" altLang="zh-CN" smtClean="0"/>
              <a:t>12/27/2024</a:t>
            </a:fld>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latin typeface="微软雅黑" panose="020B0503020204020204" pitchFamily="34" charset="-122"/>
                <a:ea typeface="微软雅黑" panose="020B0503020204020204" pitchFamily="34" charset="-122"/>
              </a:defRPr>
            </a:lvl1pPr>
          </a:lstStyle>
          <a:p>
            <a:endParaRPr lang="zh-CN" altLang="en-US"/>
          </a:p>
        </p:txBody>
      </p:sp>
      <p:sp>
        <p:nvSpPr>
          <p:cNvPr id="6" name="Slide Number Placeholder 5"/>
          <p:cNvSpPr>
            <a:spLocks noGrp="1"/>
          </p:cNvSpPr>
          <p:nvPr>
            <p:ph type="sldNum" sz="quarter" idx="4"/>
          </p:nvPr>
        </p:nvSpPr>
        <p:spPr>
          <a:xfrm>
            <a:off x="8451988" y="6492875"/>
            <a:ext cx="762828" cy="365125"/>
          </a:xfrm>
          <a:prstGeom prst="rect">
            <a:avLst/>
          </a:prstGeom>
        </p:spPr>
        <p:txBody>
          <a:bodyPr vert="horz" lIns="91440" tIns="45720" rIns="91440" bIns="45720" rtlCol="0" anchor="ctr"/>
          <a:lstStyle>
            <a:lvl1pPr algn="ctr">
              <a:defRPr sz="1600" b="1">
                <a:solidFill>
                  <a:schemeClr val="tx1"/>
                </a:solidFill>
                <a:latin typeface="微软雅黑" panose="020B0503020204020204" pitchFamily="34" charset="-122"/>
                <a:ea typeface="微软雅黑" panose="020B0503020204020204" pitchFamily="34" charset="-122"/>
              </a:defRPr>
            </a:lvl1pPr>
          </a:lstStyle>
          <a:p>
            <a:fld id="{EB792F4E-54C0-4D36-B331-9C6FCFE9A340}" type="slidenum">
              <a:rPr lang="zh-CN" altLang="en-US" smtClean="0"/>
              <a:pPr/>
              <a:t>‹#›</a:t>
            </a:fld>
            <a:endParaRPr lang="zh-CN" altLang="en-US"/>
          </a:p>
        </p:txBody>
      </p:sp>
      <p:sp>
        <p:nvSpPr>
          <p:cNvPr id="8" name="矩形 7"/>
          <p:cNvSpPr/>
          <p:nvPr userDrawn="1"/>
        </p:nvSpPr>
        <p:spPr>
          <a:xfrm>
            <a:off x="8186286" y="144689"/>
            <a:ext cx="654345" cy="369332"/>
          </a:xfrm>
          <a:prstGeom prst="rect">
            <a:avLst/>
          </a:prstGeom>
        </p:spPr>
        <p:txBody>
          <a:bodyPr wrap="none">
            <a:spAutoFit/>
          </a:bodyPr>
          <a:lstStyle/>
          <a:p>
            <a:pPr algn="ctr"/>
            <a:r>
              <a:rPr lang="zh-CN" altLang="en-US" sz="1800" b="1" dirty="0">
                <a:solidFill>
                  <a:schemeClr val="bg1"/>
                </a:solidFill>
                <a:latin typeface="微软雅黑" panose="020B0503020204020204" pitchFamily="34" charset="-122"/>
                <a:ea typeface="微软雅黑" panose="020B0503020204020204" pitchFamily="34" charset="-122"/>
              </a:rPr>
              <a:t>SZU</a:t>
            </a:r>
          </a:p>
        </p:txBody>
      </p:sp>
    </p:spTree>
    <p:extLst>
      <p:ext uri="{BB962C8B-B14F-4D97-AF65-F5344CB8AC3E}">
        <p14:creationId xmlns:p14="http://schemas.microsoft.com/office/powerpoint/2010/main" val="23332848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lang="en-US" altLang="en-US" sz="3200" b="1" kern="1200" cap="none" spc="0" dirty="0">
          <a:ln w="0"/>
          <a:solidFill>
            <a:schemeClr val="bg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mj-cs"/>
        </a:defRPr>
      </a:lvl1pPr>
    </p:titleStyle>
    <p:bodyStyle>
      <a:lvl1pPr marL="360000" indent="-360000" algn="l" defTabSz="914400" rtl="0" eaLnBrk="1" latinLnBrk="0" hangingPunct="1">
        <a:lnSpc>
          <a:spcPct val="90000"/>
        </a:lnSpc>
        <a:spcBef>
          <a:spcPts val="1000"/>
        </a:spcBef>
        <a:buClr>
          <a:srgbClr val="94003F"/>
        </a:buClr>
        <a:buSzPct val="70000"/>
        <a:buFont typeface="Wingdings" panose="05000000000000000000" pitchFamily="2" charset="2"/>
        <a:buChar char="u"/>
        <a:defRPr sz="2800" b="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04b" panose="00000400000000000000" pitchFamily="2"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6.xml"/><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6.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tags" Target="../tags/tag18.xml"/><Relationship Id="rId26" Type="http://schemas.openxmlformats.org/officeDocument/2006/relationships/tags" Target="../tags/tag26.xml"/><Relationship Id="rId3" Type="http://schemas.openxmlformats.org/officeDocument/2006/relationships/tags" Target="../tags/tag3.xml"/><Relationship Id="rId21" Type="http://schemas.openxmlformats.org/officeDocument/2006/relationships/tags" Target="../tags/tag21.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tags" Target="../tags/tag17.xml"/><Relationship Id="rId25" Type="http://schemas.openxmlformats.org/officeDocument/2006/relationships/tags" Target="../tags/tag25.xml"/><Relationship Id="rId2" Type="http://schemas.openxmlformats.org/officeDocument/2006/relationships/tags" Target="../tags/tag2.xml"/><Relationship Id="rId16" Type="http://schemas.openxmlformats.org/officeDocument/2006/relationships/tags" Target="../tags/tag16.xml"/><Relationship Id="rId20" Type="http://schemas.openxmlformats.org/officeDocument/2006/relationships/tags" Target="../tags/tag20.xml"/><Relationship Id="rId29" Type="http://schemas.openxmlformats.org/officeDocument/2006/relationships/slideLayout" Target="../slideLayouts/slideLayout6.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24" Type="http://schemas.openxmlformats.org/officeDocument/2006/relationships/tags" Target="../tags/tag24.xml"/><Relationship Id="rId5" Type="http://schemas.openxmlformats.org/officeDocument/2006/relationships/tags" Target="../tags/tag5.xml"/><Relationship Id="rId15" Type="http://schemas.openxmlformats.org/officeDocument/2006/relationships/tags" Target="../tags/tag15.xml"/><Relationship Id="rId23" Type="http://schemas.openxmlformats.org/officeDocument/2006/relationships/tags" Target="../tags/tag23.xml"/><Relationship Id="rId28" Type="http://schemas.openxmlformats.org/officeDocument/2006/relationships/tags" Target="../tags/tag28.xml"/><Relationship Id="rId10" Type="http://schemas.openxmlformats.org/officeDocument/2006/relationships/tags" Target="../tags/tag10.xml"/><Relationship Id="rId19" Type="http://schemas.openxmlformats.org/officeDocument/2006/relationships/tags" Target="../tags/tag19.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 Id="rId22" Type="http://schemas.openxmlformats.org/officeDocument/2006/relationships/tags" Target="../tags/tag22.xml"/><Relationship Id="rId27" Type="http://schemas.openxmlformats.org/officeDocument/2006/relationships/tags" Target="../tags/tag27.xml"/><Relationship Id="rId30" Type="http://schemas.openxmlformats.org/officeDocument/2006/relationships/slide" Target="slide25.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hyperlink" Target="https://blog.csdn.net/averagePerson/article/details/125632986" TargetMode="External"/><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hyperlink" Target="https://blog.csdn.net/averagePerson/article/details/125632986" TargetMode="External"/><Relationship Id="rId2" Type="http://schemas.openxmlformats.org/officeDocument/2006/relationships/image" Target="../media/image24.jpe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emf"/><Relationship Id="rId1" Type="http://schemas.openxmlformats.org/officeDocument/2006/relationships/slideLayout" Target="../slideLayouts/slideLayout6.xml"/><Relationship Id="rId5" Type="http://schemas.openxmlformats.org/officeDocument/2006/relationships/image" Target="../media/image31.jpeg"/><Relationship Id="rId4" Type="http://schemas.openxmlformats.org/officeDocument/2006/relationships/image" Target="../media/image30.emf"/></Relationships>
</file>

<file path=ppt/slides/_rels/slide32.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image" Target="../media/image32.emf"/><Relationship Id="rId1" Type="http://schemas.openxmlformats.org/officeDocument/2006/relationships/slideLayout" Target="../slideLayouts/slideLayout2.xml"/><Relationship Id="rId6" Type="http://schemas.openxmlformats.org/officeDocument/2006/relationships/image" Target="../media/image36.emf"/><Relationship Id="rId5" Type="http://schemas.openxmlformats.org/officeDocument/2006/relationships/image" Target="../media/image35.emf"/><Relationship Id="rId4" Type="http://schemas.openxmlformats.org/officeDocument/2006/relationships/image" Target="../media/image34.emf"/></Relationships>
</file>

<file path=ppt/slides/_rels/slide33.xml.rels><?xml version="1.0" encoding="UTF-8" standalone="yes"?>
<Relationships xmlns="http://schemas.openxmlformats.org/package/2006/relationships"><Relationship Id="rId3" Type="http://schemas.openxmlformats.org/officeDocument/2006/relationships/image" Target="../media/image38.gif"/><Relationship Id="rId2" Type="http://schemas.openxmlformats.org/officeDocument/2006/relationships/image" Target="../media/image37.emf"/><Relationship Id="rId1" Type="http://schemas.openxmlformats.org/officeDocument/2006/relationships/slideLayout" Target="../slideLayouts/slideLayout2.xml"/><Relationship Id="rId5" Type="http://schemas.openxmlformats.org/officeDocument/2006/relationships/image" Target="../media/image40.jpeg"/><Relationship Id="rId4" Type="http://schemas.openxmlformats.org/officeDocument/2006/relationships/image" Target="../media/image39.png"/></Relationships>
</file>

<file path=ppt/slides/_rels/slide3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jpeg"/><Relationship Id="rId1" Type="http://schemas.openxmlformats.org/officeDocument/2006/relationships/slideLayout" Target="../slideLayouts/slideLayout2.xml"/><Relationship Id="rId4" Type="http://schemas.openxmlformats.org/officeDocument/2006/relationships/image" Target="../media/image43.jpeg"/></Relationships>
</file>

<file path=ppt/slides/_rels/slide35.xml.rels><?xml version="1.0" encoding="UTF-8" standalone="yes"?>
<Relationships xmlns="http://schemas.openxmlformats.org/package/2006/relationships"><Relationship Id="rId2" Type="http://schemas.openxmlformats.org/officeDocument/2006/relationships/image" Target="../media/image44.emf"/><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6.emf"/><Relationship Id="rId2" Type="http://schemas.openxmlformats.org/officeDocument/2006/relationships/image" Target="../media/image45.emf"/><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image" Target="../media/image47.jpeg"/><Relationship Id="rId1" Type="http://schemas.openxmlformats.org/officeDocument/2006/relationships/slideLayout" Target="../slideLayouts/slideLayout2.xml"/><Relationship Id="rId4" Type="http://schemas.openxmlformats.org/officeDocument/2006/relationships/image" Target="../media/image49.jpe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image" Target="../media/image51.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53.emf"/><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 Id="rId5" Type="http://schemas.openxmlformats.org/officeDocument/2006/relationships/image" Target="../media/image57.jpeg"/><Relationship Id="rId4" Type="http://schemas.openxmlformats.org/officeDocument/2006/relationships/image" Target="../media/image56.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image" Target="../media/image58.emf"/><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30.xml"/><Relationship Id="rId1" Type="http://schemas.openxmlformats.org/officeDocument/2006/relationships/tags" Target="../tags/tag29.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60.emf"/><Relationship Id="rId2" Type="http://schemas.openxmlformats.org/officeDocument/2006/relationships/image" Target="../media/image59.emf"/><Relationship Id="rId1" Type="http://schemas.openxmlformats.org/officeDocument/2006/relationships/slideLayout" Target="../slideLayouts/slideLayout2.xml"/><Relationship Id="rId4" Type="http://schemas.openxmlformats.org/officeDocument/2006/relationships/image" Target="../media/image61.emf"/></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2" Type="http://schemas.openxmlformats.org/officeDocument/2006/relationships/image" Target="../media/image62.emf"/><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431222" y="902711"/>
            <a:ext cx="8281555" cy="2387600"/>
          </a:xfrm>
        </p:spPr>
        <p:txBody>
          <a:bodyPr/>
          <a:lstStyle/>
          <a:p>
            <a:r>
              <a:rPr lang="zh-CN" altLang="en-US" dirty="0">
                <a:solidFill>
                  <a:srgbClr val="94003F"/>
                </a:solidFill>
              </a:rPr>
              <a:t>第二章 图形学编程</a:t>
            </a:r>
          </a:p>
        </p:txBody>
      </p:sp>
      <p:sp>
        <p:nvSpPr>
          <p:cNvPr id="3" name="副标题 2"/>
          <p:cNvSpPr>
            <a:spLocks noGrp="1"/>
          </p:cNvSpPr>
          <p:nvPr>
            <p:ph type="subTitle" idx="1"/>
          </p:nvPr>
        </p:nvSpPr>
        <p:spPr/>
        <p:txBody>
          <a:bodyPr/>
          <a:lstStyle/>
          <a:p>
            <a:endParaRPr lang="zh-CN" altLang="en-US" dirty="0"/>
          </a:p>
        </p:txBody>
      </p:sp>
    </p:spTree>
    <p:extLst>
      <p:ext uri="{BB962C8B-B14F-4D97-AF65-F5344CB8AC3E}">
        <p14:creationId xmlns:p14="http://schemas.microsoft.com/office/powerpoint/2010/main" val="40876197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实验 </a:t>
            </a:r>
            <a:r>
              <a:rPr lang="en-US" altLang="zh-CN" dirty="0"/>
              <a:t>1.1&amp;1.2</a:t>
            </a:r>
            <a:endParaRPr lang="en-US" dirty="0"/>
          </a:p>
        </p:txBody>
      </p:sp>
      <p:sp>
        <p:nvSpPr>
          <p:cNvPr id="5" name="Content Placeholder 4"/>
          <p:cNvSpPr>
            <a:spLocks noGrp="1"/>
          </p:cNvSpPr>
          <p:nvPr>
            <p:ph sz="half" idx="1"/>
          </p:nvPr>
        </p:nvSpPr>
        <p:spPr/>
        <p:txBody>
          <a:bodyPr/>
          <a:lstStyle/>
          <a:p>
            <a:r>
              <a:rPr lang="zh-CN" altLang="en-US" dirty="0"/>
              <a:t>环境配置</a:t>
            </a:r>
            <a:endParaRPr lang="en-US" dirty="0"/>
          </a:p>
        </p:txBody>
      </p:sp>
      <p:sp>
        <p:nvSpPr>
          <p:cNvPr id="6" name="Content Placeholder 5"/>
          <p:cNvSpPr>
            <a:spLocks noGrp="1"/>
          </p:cNvSpPr>
          <p:nvPr>
            <p:ph sz="half" idx="2"/>
          </p:nvPr>
        </p:nvSpPr>
        <p:spPr/>
        <p:txBody>
          <a:bodyPr/>
          <a:lstStyle/>
          <a:p>
            <a:r>
              <a:rPr lang="zh-CN" altLang="en-US" dirty="0"/>
              <a:t>二维简单绘制</a:t>
            </a:r>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2</a:t>
            </a:fld>
            <a:endParaRPr lang="zh-CN" altLang="en-US" dirty="0"/>
          </a:p>
        </p:txBody>
      </p:sp>
      <p:pic>
        <p:nvPicPr>
          <p:cNvPr id="7" name="图片 11" descr="QQ截图20160819015834"/>
          <p:cNvPicPr/>
          <p:nvPr/>
        </p:nvPicPr>
        <p:blipFill>
          <a:blip r:embed="rId2">
            <a:extLst>
              <a:ext uri="{28A0092B-C50C-407E-A947-70E740481C1C}">
                <a14:useLocalDpi xmlns:a14="http://schemas.microsoft.com/office/drawing/2010/main" val="0"/>
              </a:ext>
            </a:extLst>
          </a:blip>
          <a:srcRect/>
          <a:stretch>
            <a:fillRect/>
          </a:stretch>
        </p:blipFill>
        <p:spPr bwMode="auto">
          <a:xfrm>
            <a:off x="565288" y="2577148"/>
            <a:ext cx="3467409" cy="3605111"/>
          </a:xfrm>
          <a:prstGeom prst="rect">
            <a:avLst/>
          </a:prstGeom>
          <a:noFill/>
          <a:ln>
            <a:noFill/>
          </a:ln>
        </p:spPr>
      </p:pic>
      <p:pic>
        <p:nvPicPr>
          <p:cNvPr id="8" name="图片 5" descr="C:\Users\LEO\AppData\Local\Microsoft\Windows\INetCache\Content.Word\QQ截图20160823133732.png"/>
          <p:cNvPicPr/>
          <p:nvPr/>
        </p:nvPicPr>
        <p:blipFill>
          <a:blip r:embed="rId3">
            <a:extLst>
              <a:ext uri="{28A0092B-C50C-407E-A947-70E740481C1C}">
                <a14:useLocalDpi xmlns:a14="http://schemas.microsoft.com/office/drawing/2010/main" val="0"/>
              </a:ext>
            </a:extLst>
          </a:blip>
          <a:srcRect/>
          <a:stretch>
            <a:fillRect/>
          </a:stretch>
        </p:blipFill>
        <p:spPr bwMode="auto">
          <a:xfrm>
            <a:off x="5014098" y="2577148"/>
            <a:ext cx="3437890" cy="3599815"/>
          </a:xfrm>
          <a:prstGeom prst="rect">
            <a:avLst/>
          </a:prstGeom>
          <a:noFill/>
          <a:ln>
            <a:noFill/>
          </a:ln>
        </p:spPr>
      </p:pic>
    </p:spTree>
    <p:extLst>
      <p:ext uri="{BB962C8B-B14F-4D97-AF65-F5344CB8AC3E}">
        <p14:creationId xmlns:p14="http://schemas.microsoft.com/office/powerpoint/2010/main" val="6409947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实验一</a:t>
            </a:r>
            <a:endParaRPr lang="en-US" dirty="0"/>
          </a:p>
        </p:txBody>
      </p:sp>
      <p:sp>
        <p:nvSpPr>
          <p:cNvPr id="3" name="Content Placeholder 2"/>
          <p:cNvSpPr>
            <a:spLocks noGrp="1"/>
          </p:cNvSpPr>
          <p:nvPr>
            <p:ph idx="1"/>
          </p:nvPr>
        </p:nvSpPr>
        <p:spPr/>
        <p:txBody>
          <a:bodyPr/>
          <a:lstStyle/>
          <a:p>
            <a:r>
              <a:rPr lang="en-US" dirty="0"/>
              <a:t>OpenGL</a:t>
            </a:r>
            <a:r>
              <a:rPr lang="zh-CN" altLang="en-US" dirty="0"/>
              <a:t>基本绘制</a:t>
            </a:r>
            <a:endParaRPr lang="en-US" altLang="zh-CN" dirty="0"/>
          </a:p>
          <a:p>
            <a:pPr lvl="1"/>
            <a:r>
              <a:rPr lang="zh-CN" altLang="en-US" dirty="0"/>
              <a:t>绘制多个简单的二维图形，撰写详细实验报告</a:t>
            </a:r>
            <a:endParaRPr lang="en-US" altLang="zh-CN" dirty="0"/>
          </a:p>
          <a:p>
            <a:pPr lvl="1"/>
            <a:r>
              <a:rPr lang="zh-CN" altLang="en-US" dirty="0"/>
              <a:t>截止时间：</a:t>
            </a:r>
            <a:r>
              <a:rPr lang="en-US" b="1" dirty="0"/>
              <a:t> </a:t>
            </a:r>
            <a:r>
              <a:rPr lang="en-US" b="1" dirty="0">
                <a:solidFill>
                  <a:srgbClr val="FF0000"/>
                </a:solidFill>
              </a:rPr>
              <a:t>20</a:t>
            </a:r>
            <a:r>
              <a:rPr lang="en-US" altLang="zh-CN" b="1" dirty="0">
                <a:solidFill>
                  <a:srgbClr val="FF0000"/>
                </a:solidFill>
              </a:rPr>
              <a:t>24</a:t>
            </a:r>
            <a:r>
              <a:rPr lang="zh-CN" altLang="en-US" b="1" dirty="0">
                <a:solidFill>
                  <a:srgbClr val="FF0000"/>
                </a:solidFill>
              </a:rPr>
              <a:t>年</a:t>
            </a:r>
            <a:r>
              <a:rPr lang="en-US" altLang="zh-CN" b="1" dirty="0">
                <a:solidFill>
                  <a:srgbClr val="FF0000"/>
                </a:solidFill>
              </a:rPr>
              <a:t>9</a:t>
            </a:r>
            <a:r>
              <a:rPr lang="zh-CN" altLang="en-US" b="1" dirty="0">
                <a:solidFill>
                  <a:srgbClr val="FF0000"/>
                </a:solidFill>
              </a:rPr>
              <a:t>月</a:t>
            </a:r>
            <a:r>
              <a:rPr lang="en-US" altLang="zh-CN" b="1" dirty="0">
                <a:solidFill>
                  <a:srgbClr val="FF0000"/>
                </a:solidFill>
              </a:rPr>
              <a:t>23</a:t>
            </a:r>
            <a:r>
              <a:rPr lang="zh-CN" altLang="en-US" b="1" dirty="0">
                <a:solidFill>
                  <a:srgbClr val="FF0000"/>
                </a:solidFill>
              </a:rPr>
              <a:t>日</a:t>
            </a:r>
            <a:r>
              <a:rPr lang="en-US" b="1" dirty="0">
                <a:solidFill>
                  <a:srgbClr val="FF0000"/>
                </a:solidFill>
              </a:rPr>
              <a:t> 23:59</a:t>
            </a:r>
            <a:r>
              <a:rPr lang="zh-CN" altLang="en-US" b="1" dirty="0">
                <a:solidFill>
                  <a:srgbClr val="FF0000"/>
                </a:solidFill>
              </a:rPr>
              <a:t>分</a:t>
            </a:r>
            <a:endParaRPr lang="en-US" b="1" dirty="0">
              <a:solidFill>
                <a:srgbClr val="FF0000"/>
              </a:solidFill>
            </a:endParaRPr>
          </a:p>
          <a:p>
            <a:pPr lvl="1"/>
            <a:endParaRPr lang="en-US" dirty="0">
              <a:solidFill>
                <a:srgbClr val="FF0000"/>
              </a:solidFill>
            </a:endParaRPr>
          </a:p>
          <a:p>
            <a:pPr lvl="1"/>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3</a:t>
            </a:fld>
            <a:endParaRPr lang="zh-CN" altLang="en-US" dirty="0"/>
          </a:p>
        </p:txBody>
      </p:sp>
      <p:pic>
        <p:nvPicPr>
          <p:cNvPr id="8" name="图片 2" descr="C:\Users\a1309\Desktop\My Class\1.大三.1\计算机图形学\实验一\实验一\运行结果.png">
            <a:extLst>
              <a:ext uri="{FF2B5EF4-FFF2-40B4-BE49-F238E27FC236}">
                <a16:creationId xmlns:a16="http://schemas.microsoft.com/office/drawing/2014/main" id="{25FEA804-376F-864C-9903-A9A49514AB5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90223" y="2851404"/>
            <a:ext cx="1533503" cy="16130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图片 24">
            <a:extLst>
              <a:ext uri="{FF2B5EF4-FFF2-40B4-BE49-F238E27FC236}">
                <a16:creationId xmlns:a16="http://schemas.microsoft.com/office/drawing/2014/main" id="{BFD4EB05-085B-B14A-BB19-D659B0DA31C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96173" y="4673410"/>
            <a:ext cx="1527553" cy="16179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图片 3">
            <a:extLst>
              <a:ext uri="{FF2B5EF4-FFF2-40B4-BE49-F238E27FC236}">
                <a16:creationId xmlns:a16="http://schemas.microsoft.com/office/drawing/2014/main" id="{97AE240D-0A07-454F-93AE-29BD982A31E6}"/>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880426" y="2851660"/>
            <a:ext cx="1549867" cy="16125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图片 7">
            <a:extLst>
              <a:ext uri="{FF2B5EF4-FFF2-40B4-BE49-F238E27FC236}">
                <a16:creationId xmlns:a16="http://schemas.microsoft.com/office/drawing/2014/main" id="{130A53FA-AE26-F146-90AD-B733521A4250}"/>
              </a:ext>
            </a:extLst>
          </p:cNvPr>
          <p:cNvPicPr/>
          <p:nvPr/>
        </p:nvPicPr>
        <p:blipFill rotWithShape="1">
          <a:blip r:embed="rId5"/>
          <a:srcRect l="2844" r="3281" b="8627"/>
          <a:stretch/>
        </p:blipFill>
        <p:spPr>
          <a:xfrm>
            <a:off x="6918748" y="4676256"/>
            <a:ext cx="1588577" cy="1615095"/>
          </a:xfrm>
          <a:prstGeom prst="rect">
            <a:avLst/>
          </a:prstGeom>
        </p:spPr>
      </p:pic>
      <p:pic>
        <p:nvPicPr>
          <p:cNvPr id="11" name="图片 10">
            <a:extLst>
              <a:ext uri="{FF2B5EF4-FFF2-40B4-BE49-F238E27FC236}">
                <a16:creationId xmlns:a16="http://schemas.microsoft.com/office/drawing/2014/main" id="{25CD5067-10C1-4C86-9690-1FA263F7A45B}"/>
              </a:ext>
            </a:extLst>
          </p:cNvPr>
          <p:cNvPicPr/>
          <p:nvPr/>
        </p:nvPicPr>
        <p:blipFill>
          <a:blip r:embed="rId6"/>
          <a:stretch>
            <a:fillRect/>
          </a:stretch>
        </p:blipFill>
        <p:spPr>
          <a:xfrm>
            <a:off x="901763" y="2851404"/>
            <a:ext cx="3602419" cy="3536569"/>
          </a:xfrm>
          <a:prstGeom prst="rect">
            <a:avLst/>
          </a:prstGeom>
        </p:spPr>
      </p:pic>
    </p:spTree>
    <p:extLst>
      <p:ext uri="{BB962C8B-B14F-4D97-AF65-F5344CB8AC3E}">
        <p14:creationId xmlns:p14="http://schemas.microsoft.com/office/powerpoint/2010/main" val="1309077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椭圆 8"/>
          <p:cNvSpPr/>
          <p:nvPr/>
        </p:nvSpPr>
        <p:spPr>
          <a:xfrm>
            <a:off x="3650349" y="1520687"/>
            <a:ext cx="2177274" cy="2177274"/>
          </a:xfrm>
          <a:prstGeom prst="ellipse">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大纲</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4</a:t>
            </a:fld>
            <a:endParaRPr lang="zh-CN" altLang="en-US"/>
          </a:p>
        </p:txBody>
      </p:sp>
      <p:sp>
        <p:nvSpPr>
          <p:cNvPr id="8" name="文本框 7"/>
          <p:cNvSpPr txBox="1"/>
          <p:nvPr/>
        </p:nvSpPr>
        <p:spPr>
          <a:xfrm>
            <a:off x="3488294" y="3850885"/>
            <a:ext cx="2492990" cy="646331"/>
          </a:xfrm>
          <a:prstGeom prst="rect">
            <a:avLst/>
          </a:prstGeom>
          <a:noFill/>
        </p:spPr>
        <p:txBody>
          <a:bodyPr wrap="none" rtlCol="0">
            <a:spAutoFit/>
          </a:bodyPr>
          <a:lstStyle/>
          <a:p>
            <a:pPr algn="ctr"/>
            <a:r>
              <a:rPr lang="zh-CN" altLang="en-US" sz="3600" b="1" dirty="0">
                <a:latin typeface="微软雅黑" panose="020B0503020204020204" pitchFamily="34" charset="-122"/>
                <a:ea typeface="微软雅黑" panose="020B0503020204020204" pitchFamily="34" charset="-122"/>
              </a:rPr>
              <a:t>图形学编程</a:t>
            </a:r>
          </a:p>
        </p:txBody>
      </p:sp>
      <p:sp>
        <p:nvSpPr>
          <p:cNvPr id="14" name="文本框 13"/>
          <p:cNvSpPr txBox="1"/>
          <p:nvPr/>
        </p:nvSpPr>
        <p:spPr>
          <a:xfrm>
            <a:off x="4028428" y="2780384"/>
            <a:ext cx="1532599" cy="584775"/>
          </a:xfrm>
          <a:prstGeom prst="rect">
            <a:avLst/>
          </a:prstGeom>
          <a:noFill/>
        </p:spPr>
        <p:txBody>
          <a:bodyPr wrap="none" rtlCol="0">
            <a:spAutoFit/>
          </a:bodyPr>
          <a:lstStyle/>
          <a:p>
            <a:pPr algn="ctr"/>
            <a:r>
              <a:rPr lang="en-US" altLang="zh-CN" sz="3200" b="1" dirty="0">
                <a:solidFill>
                  <a:schemeClr val="bg1"/>
                </a:solidFill>
              </a:rPr>
              <a:t>Chapter</a:t>
            </a:r>
            <a:endParaRPr lang="zh-CN" altLang="en-US" sz="3200" b="1" dirty="0">
              <a:solidFill>
                <a:schemeClr val="bg1"/>
              </a:solidFill>
            </a:endParaRPr>
          </a:p>
        </p:txBody>
      </p:sp>
      <p:sp>
        <p:nvSpPr>
          <p:cNvPr id="15" name="文本框 14"/>
          <p:cNvSpPr txBox="1"/>
          <p:nvPr/>
        </p:nvSpPr>
        <p:spPr>
          <a:xfrm>
            <a:off x="4328896" y="1367763"/>
            <a:ext cx="931665" cy="1862048"/>
          </a:xfrm>
          <a:prstGeom prst="rect">
            <a:avLst/>
          </a:prstGeom>
          <a:noFill/>
        </p:spPr>
        <p:txBody>
          <a:bodyPr wrap="none" rtlCol="0">
            <a:spAutoFit/>
          </a:bodyPr>
          <a:lstStyle/>
          <a:p>
            <a:r>
              <a:rPr lang="en-US" altLang="zh-CN" sz="11500" b="1" dirty="0">
                <a:solidFill>
                  <a:schemeClr val="bg1"/>
                </a:solidFill>
              </a:rPr>
              <a:t>2</a:t>
            </a:r>
            <a:endParaRPr lang="zh-CN" altLang="en-US" sz="11500" b="1" dirty="0">
              <a:solidFill>
                <a:schemeClr val="bg1"/>
              </a:solidFill>
            </a:endParaRPr>
          </a:p>
        </p:txBody>
      </p:sp>
    </p:spTree>
    <p:extLst>
      <p:ext uri="{BB962C8B-B14F-4D97-AF65-F5344CB8AC3E}">
        <p14:creationId xmlns:p14="http://schemas.microsoft.com/office/powerpoint/2010/main" val="38726636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dirty="0"/>
              <a:t>内容提要</a:t>
            </a:r>
          </a:p>
        </p:txBody>
      </p:sp>
      <p:sp>
        <p:nvSpPr>
          <p:cNvPr id="7" name="内容占位符 6"/>
          <p:cNvSpPr>
            <a:spLocks noGrp="1"/>
          </p:cNvSpPr>
          <p:nvPr>
            <p:ph idx="1"/>
          </p:nvPr>
        </p:nvSpPr>
        <p:spPr>
          <a:xfrm>
            <a:off x="628650" y="1055567"/>
            <a:ext cx="7886700" cy="5176044"/>
          </a:xfrm>
        </p:spPr>
        <p:txBody>
          <a:bodyPr>
            <a:normAutofit/>
          </a:bodyPr>
          <a:lstStyle/>
          <a:p>
            <a:pPr>
              <a:buClr>
                <a:srgbClr val="94003F"/>
              </a:buClr>
            </a:pPr>
            <a:endParaRPr lang="en-US" altLang="zh-CN" dirty="0"/>
          </a:p>
          <a:p>
            <a:pPr>
              <a:buClr>
                <a:srgbClr val="94003F"/>
              </a:buClr>
            </a:pPr>
            <a:r>
              <a:rPr lang="zh-CN" altLang="en-US" dirty="0"/>
              <a:t>图形编程与图形</a:t>
            </a:r>
            <a:r>
              <a:rPr lang="en-US" altLang="zh-CN" dirty="0"/>
              <a:t>API</a:t>
            </a:r>
          </a:p>
          <a:p>
            <a:pPr>
              <a:buClr>
                <a:srgbClr val="94003F"/>
              </a:buClr>
            </a:pPr>
            <a:r>
              <a:rPr lang="en-US" altLang="zh-CN" dirty="0">
                <a:solidFill>
                  <a:srgbClr val="00B0F0"/>
                </a:solidFill>
              </a:rPr>
              <a:t>OpenGL</a:t>
            </a:r>
            <a:r>
              <a:rPr lang="zh-CN" altLang="en-US" dirty="0"/>
              <a:t>编程与着色器语言</a:t>
            </a:r>
            <a:endParaRPr lang="en-US" altLang="zh-CN" dirty="0"/>
          </a:p>
          <a:p>
            <a:r>
              <a:rPr lang="en-US" altLang="zh-CN" dirty="0">
                <a:solidFill>
                  <a:srgbClr val="00B0F0"/>
                </a:solidFill>
              </a:rPr>
              <a:t>OpenGL</a:t>
            </a:r>
            <a:r>
              <a:rPr lang="zh-CN" altLang="en-US" dirty="0"/>
              <a:t>的图元与观察</a:t>
            </a:r>
            <a:endParaRPr lang="en-US" altLang="zh-CN" dirty="0"/>
          </a:p>
          <a:p>
            <a:r>
              <a:rPr lang="en-US" altLang="zh-CN" dirty="0">
                <a:solidFill>
                  <a:srgbClr val="00B0F0"/>
                </a:solidFill>
              </a:rPr>
              <a:t>OpenGL</a:t>
            </a:r>
            <a:r>
              <a:rPr lang="zh-CN" altLang="en-US" dirty="0"/>
              <a:t>的属性与颜色</a:t>
            </a:r>
            <a:endParaRPr lang="en-US" altLang="zh-CN" dirty="0"/>
          </a:p>
          <a:p>
            <a:r>
              <a:rPr lang="en-US" altLang="zh-CN" dirty="0">
                <a:solidFill>
                  <a:srgbClr val="00B0F0"/>
                </a:solidFill>
              </a:rPr>
              <a:t>OpenGL</a:t>
            </a:r>
            <a:r>
              <a:rPr lang="zh-CN" altLang="en-US" dirty="0"/>
              <a:t>初始化与程序结构</a:t>
            </a:r>
            <a:endParaRPr lang="en-US" altLang="zh-CN" dirty="0"/>
          </a:p>
          <a:p>
            <a:pPr lvl="1"/>
            <a:r>
              <a:rPr lang="zh-CN" altLang="en-US" dirty="0"/>
              <a:t>图形程序示例 </a:t>
            </a:r>
            <a:r>
              <a:rPr lang="en-US" altLang="zh-CN" dirty="0"/>
              <a:t>-- </a:t>
            </a:r>
            <a:r>
              <a:rPr lang="en-US" altLang="zh-CN" dirty="0" err="1"/>
              <a:t>Sierpinski</a:t>
            </a:r>
            <a:r>
              <a:rPr lang="zh-CN" altLang="en-US" dirty="0"/>
              <a:t>镂垫</a:t>
            </a:r>
            <a:endParaRPr lang="en-US" altLang="zh-CN" dirty="0"/>
          </a:p>
          <a:p>
            <a:pPr lvl="1"/>
            <a:r>
              <a:rPr lang="zh-CN" altLang="en-US" dirty="0"/>
              <a:t>图形</a:t>
            </a:r>
            <a:r>
              <a:rPr lang="en-US" altLang="zh-CN" dirty="0"/>
              <a:t>/</a:t>
            </a:r>
            <a:r>
              <a:rPr lang="zh-CN" altLang="en-US" dirty="0"/>
              <a:t>几何数据及其算法 </a:t>
            </a:r>
            <a:r>
              <a:rPr lang="en-US" altLang="zh-CN" dirty="0"/>
              <a:t>-- </a:t>
            </a:r>
            <a:r>
              <a:rPr lang="zh-CN" altLang="en-US" dirty="0"/>
              <a:t>多边形和递归</a:t>
            </a:r>
            <a:endParaRPr lang="en-US" altLang="zh-CN" dirty="0"/>
          </a:p>
          <a:p>
            <a:pPr lvl="1"/>
            <a:r>
              <a:rPr lang="zh-CN" altLang="en-US" dirty="0"/>
              <a:t>三维</a:t>
            </a:r>
            <a:r>
              <a:rPr lang="en-US" altLang="zh-CN" dirty="0" err="1"/>
              <a:t>Sierpinski</a:t>
            </a:r>
            <a:r>
              <a:rPr lang="zh-CN" altLang="en-US" dirty="0"/>
              <a:t>镂垫</a:t>
            </a:r>
          </a:p>
          <a:p>
            <a:r>
              <a:rPr lang="zh-CN" altLang="en-US" dirty="0"/>
              <a:t>图形编程的交互方式</a:t>
            </a:r>
          </a:p>
          <a:p>
            <a:pPr>
              <a:buClr>
                <a:srgbClr val="94003F"/>
              </a:buClr>
            </a:pPr>
            <a:endParaRPr lang="zh-CN" altLang="en-US" dirty="0"/>
          </a:p>
        </p:txBody>
      </p:sp>
      <p:sp>
        <p:nvSpPr>
          <p:cNvPr id="3" name="灯片编号占位符 2"/>
          <p:cNvSpPr>
            <a:spLocks noGrp="1"/>
          </p:cNvSpPr>
          <p:nvPr>
            <p:ph type="sldNum" sz="quarter" idx="12"/>
          </p:nvPr>
        </p:nvSpPr>
        <p:spPr/>
        <p:txBody>
          <a:bodyPr/>
          <a:lstStyle/>
          <a:p>
            <a:fld id="{EB792F4E-54C0-4D36-B331-9C6FCFE9A340}" type="slidenum">
              <a:rPr lang="zh-CN" altLang="en-US" smtClean="0"/>
              <a:t>5</a:t>
            </a:fld>
            <a:endParaRPr lang="zh-CN" altLang="en-US"/>
          </a:p>
        </p:txBody>
      </p:sp>
    </p:spTree>
    <p:extLst>
      <p:ext uri="{BB962C8B-B14F-4D97-AF65-F5344CB8AC3E}">
        <p14:creationId xmlns:p14="http://schemas.microsoft.com/office/powerpoint/2010/main" val="15834648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3200401" y="2094748"/>
            <a:ext cx="3032598" cy="796287"/>
          </a:xfrm>
          <a:prstGeom prst="roundRect">
            <a:avLst>
              <a:gd name="adj" fmla="val 50000"/>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圆角矩形 2"/>
          <p:cNvSpPr/>
          <p:nvPr/>
        </p:nvSpPr>
        <p:spPr>
          <a:xfrm>
            <a:off x="5418743" y="2115257"/>
            <a:ext cx="788833" cy="749851"/>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大纲</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6</a:t>
            </a:fld>
            <a:endParaRPr lang="zh-CN" altLang="en-US"/>
          </a:p>
        </p:txBody>
      </p:sp>
      <p:sp>
        <p:nvSpPr>
          <p:cNvPr id="8" name="文本框 7"/>
          <p:cNvSpPr txBox="1"/>
          <p:nvPr/>
        </p:nvSpPr>
        <p:spPr>
          <a:xfrm>
            <a:off x="2464450" y="3389111"/>
            <a:ext cx="4222631" cy="646331"/>
          </a:xfrm>
          <a:prstGeom prst="rect">
            <a:avLst/>
          </a:prstGeom>
          <a:noFill/>
        </p:spPr>
        <p:txBody>
          <a:bodyPr wrap="none" rtlCol="0">
            <a:spAutoFit/>
          </a:bodyPr>
          <a:lstStyle/>
          <a:p>
            <a:pPr algn="ctr"/>
            <a:r>
              <a:rPr lang="zh-CN" altLang="en-US" sz="3600" b="1" dirty="0">
                <a:latin typeface="微软雅黑" panose="020B0503020204020204" pitchFamily="34" charset="-122"/>
                <a:ea typeface="微软雅黑" panose="020B0503020204020204" pitchFamily="34" charset="-122"/>
              </a:rPr>
              <a:t>图形编程与图形</a:t>
            </a:r>
            <a:r>
              <a:rPr lang="en-US" altLang="zh-CN" sz="3600" b="1" dirty="0">
                <a:latin typeface="微软雅黑" panose="020B0503020204020204" pitchFamily="34" charset="-122"/>
                <a:ea typeface="微软雅黑" panose="020B0503020204020204" pitchFamily="34" charset="-122"/>
              </a:rPr>
              <a:t>API</a:t>
            </a:r>
            <a:endParaRPr lang="zh-CN" altLang="en-US" sz="3600" b="1" dirty="0">
              <a:latin typeface="微软雅黑" panose="020B0503020204020204" pitchFamily="34" charset="-122"/>
              <a:ea typeface="微软雅黑" panose="020B0503020204020204" pitchFamily="34" charset="-122"/>
            </a:endParaRPr>
          </a:p>
        </p:txBody>
      </p:sp>
      <p:sp>
        <p:nvSpPr>
          <p:cNvPr id="11" name="文本框 10"/>
          <p:cNvSpPr txBox="1"/>
          <p:nvPr/>
        </p:nvSpPr>
        <p:spPr>
          <a:xfrm>
            <a:off x="3376147" y="2138948"/>
            <a:ext cx="1755609" cy="707886"/>
          </a:xfrm>
          <a:prstGeom prst="rect">
            <a:avLst/>
          </a:prstGeom>
          <a:noFill/>
        </p:spPr>
        <p:txBody>
          <a:bodyPr wrap="none" rtlCol="0">
            <a:spAutoFit/>
          </a:bodyPr>
          <a:lstStyle/>
          <a:p>
            <a:pPr algn="ctr"/>
            <a:r>
              <a:rPr lang="en-US" altLang="zh-CN" sz="4000" b="1" dirty="0">
                <a:solidFill>
                  <a:schemeClr val="bg1"/>
                </a:solidFill>
              </a:rPr>
              <a:t>Section</a:t>
            </a:r>
            <a:endParaRPr lang="zh-CN" altLang="en-US" sz="4000" b="1" dirty="0">
              <a:solidFill>
                <a:schemeClr val="bg1"/>
              </a:solidFill>
            </a:endParaRPr>
          </a:p>
        </p:txBody>
      </p:sp>
      <p:sp>
        <p:nvSpPr>
          <p:cNvPr id="12" name="文本框 11"/>
          <p:cNvSpPr txBox="1"/>
          <p:nvPr/>
        </p:nvSpPr>
        <p:spPr>
          <a:xfrm>
            <a:off x="5523180" y="1913900"/>
            <a:ext cx="614271" cy="1107996"/>
          </a:xfrm>
          <a:prstGeom prst="rect">
            <a:avLst/>
          </a:prstGeom>
          <a:noFill/>
        </p:spPr>
        <p:txBody>
          <a:bodyPr wrap="none" rtlCol="0">
            <a:spAutoFit/>
          </a:bodyPr>
          <a:lstStyle/>
          <a:p>
            <a:pPr algn="ctr"/>
            <a:r>
              <a:rPr lang="en-US" altLang="zh-CN" sz="6600" b="1" i="1" dirty="0">
                <a:solidFill>
                  <a:srgbClr val="94003F"/>
                </a:solidFill>
              </a:rPr>
              <a:t>1</a:t>
            </a:r>
            <a:endParaRPr lang="zh-CN" altLang="en-US" sz="6600" b="1" i="1" dirty="0">
              <a:solidFill>
                <a:srgbClr val="94003F"/>
              </a:solidFill>
            </a:endParaRPr>
          </a:p>
        </p:txBody>
      </p:sp>
      <p:sp>
        <p:nvSpPr>
          <p:cNvPr id="6" name="等腰三角形 5"/>
          <p:cNvSpPr/>
          <p:nvPr/>
        </p:nvSpPr>
        <p:spPr>
          <a:xfrm rot="10800000">
            <a:off x="4447572" y="2804325"/>
            <a:ext cx="492176" cy="321924"/>
          </a:xfrm>
          <a:prstGeom prst="triangle">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1436288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55121" y="95705"/>
            <a:ext cx="7886700" cy="532945"/>
          </a:xfrm>
        </p:spPr>
        <p:txBody>
          <a:bodyPr/>
          <a:lstStyle/>
          <a:p>
            <a:r>
              <a:rPr lang="zh-CN" altLang="en-US" dirty="0"/>
              <a:t>图形编程的应用</a:t>
            </a:r>
          </a:p>
        </p:txBody>
      </p:sp>
      <p:sp>
        <p:nvSpPr>
          <p:cNvPr id="4" name="灯片编号占位符 3"/>
          <p:cNvSpPr>
            <a:spLocks noGrp="1"/>
          </p:cNvSpPr>
          <p:nvPr>
            <p:ph type="sldNum" sz="quarter" idx="12"/>
          </p:nvPr>
        </p:nvSpPr>
        <p:spPr>
          <a:xfrm>
            <a:off x="8451988" y="6492875"/>
            <a:ext cx="762828" cy="365125"/>
          </a:xfrm>
        </p:spPr>
        <p:txBody>
          <a:bodyPr/>
          <a:lstStyle/>
          <a:p>
            <a:fld id="{EB792F4E-54C0-4D36-B331-9C6FCFE9A340}" type="slidenum">
              <a:rPr lang="zh-CN" altLang="en-US" smtClean="0"/>
              <a:t>7</a:t>
            </a:fld>
            <a:endParaRPr lang="zh-CN" altLang="en-US"/>
          </a:p>
        </p:txBody>
      </p:sp>
      <p:sp>
        <p:nvSpPr>
          <p:cNvPr id="3" name="内容占位符 2"/>
          <p:cNvSpPr>
            <a:spLocks noGrp="1"/>
          </p:cNvSpPr>
          <p:nvPr>
            <p:ph idx="4294967295"/>
          </p:nvPr>
        </p:nvSpPr>
        <p:spPr>
          <a:xfrm>
            <a:off x="565288" y="1308036"/>
            <a:ext cx="7886700" cy="5184798"/>
          </a:xfrm>
        </p:spPr>
        <p:txBody>
          <a:bodyPr>
            <a:normAutofit lnSpcReduction="10000"/>
          </a:bodyPr>
          <a:lstStyle/>
          <a:p>
            <a:pPr>
              <a:spcBef>
                <a:spcPts val="1500"/>
              </a:spcBef>
              <a:buClr>
                <a:srgbClr val="94003F"/>
              </a:buClr>
            </a:pPr>
            <a:r>
              <a:rPr lang="zh-CN" altLang="en-US" sz="2400" dirty="0"/>
              <a:t>游戏</a:t>
            </a:r>
            <a:r>
              <a:rPr lang="en-US" altLang="zh-CN" sz="2400" dirty="0"/>
              <a:t>/</a:t>
            </a:r>
            <a:r>
              <a:rPr lang="zh-CN" altLang="en-US" sz="2400" dirty="0"/>
              <a:t>虚拟现实</a:t>
            </a:r>
            <a:r>
              <a:rPr lang="en-US" altLang="zh-CN" sz="2400" dirty="0"/>
              <a:t>(VR)</a:t>
            </a:r>
            <a:endParaRPr lang="zh-CN" altLang="en-US" sz="2400" dirty="0"/>
          </a:p>
          <a:p>
            <a:pPr lvl="1">
              <a:buClr>
                <a:schemeClr val="tx1"/>
              </a:buClr>
            </a:pPr>
            <a:r>
              <a:rPr lang="zh-CN" altLang="en-US" sz="1800" dirty="0"/>
              <a:t>三维游戏、</a:t>
            </a:r>
            <a:r>
              <a:rPr lang="en-US" altLang="zh-CN" sz="1800" dirty="0"/>
              <a:t>VR</a:t>
            </a:r>
            <a:r>
              <a:rPr lang="zh-CN" altLang="en-US" sz="1800" dirty="0"/>
              <a:t>游戏</a:t>
            </a:r>
            <a:endParaRPr lang="en-US" altLang="zh-CN" sz="1800" dirty="0"/>
          </a:p>
          <a:p>
            <a:pPr>
              <a:spcBef>
                <a:spcPts val="1500"/>
              </a:spcBef>
            </a:pPr>
            <a:r>
              <a:rPr lang="zh-CN" altLang="en-US" sz="2400" dirty="0"/>
              <a:t>几何数据处理</a:t>
            </a:r>
          </a:p>
          <a:p>
            <a:pPr lvl="1">
              <a:buClr>
                <a:schemeClr val="tx1"/>
              </a:buClr>
            </a:pPr>
            <a:r>
              <a:rPr lang="zh-CN" altLang="en-US" sz="1800" dirty="0"/>
              <a:t>三维扫描、三维打印</a:t>
            </a:r>
          </a:p>
          <a:p>
            <a:pPr lvl="1">
              <a:buClr>
                <a:schemeClr val="tx1"/>
              </a:buClr>
            </a:pPr>
            <a:r>
              <a:rPr lang="zh-CN" altLang="en-US" sz="1800" dirty="0"/>
              <a:t>义齿设计、服装设计</a:t>
            </a:r>
            <a:endParaRPr lang="en-US" altLang="zh-CN" sz="1800" dirty="0"/>
          </a:p>
          <a:p>
            <a:r>
              <a:rPr lang="zh-CN" altLang="en-US" sz="2400" dirty="0"/>
              <a:t>工业仿真</a:t>
            </a:r>
            <a:endParaRPr lang="en-US" altLang="zh-CN" sz="1800" dirty="0"/>
          </a:p>
          <a:p>
            <a:pPr lvl="1">
              <a:buClr>
                <a:schemeClr val="tx1"/>
              </a:buClr>
            </a:pPr>
            <a:r>
              <a:rPr lang="zh-CN" altLang="en-US" sz="1800" dirty="0"/>
              <a:t>机器人控制</a:t>
            </a:r>
            <a:endParaRPr lang="en-US" altLang="zh-CN" sz="1800" dirty="0"/>
          </a:p>
          <a:p>
            <a:pPr>
              <a:spcBef>
                <a:spcPts val="1500"/>
              </a:spcBef>
            </a:pPr>
            <a:r>
              <a:rPr lang="zh-CN" altLang="en-US" sz="2400" dirty="0"/>
              <a:t>工业设计</a:t>
            </a:r>
            <a:endParaRPr lang="en-US" altLang="zh-CN" sz="1800" dirty="0"/>
          </a:p>
          <a:p>
            <a:pPr lvl="1">
              <a:buClr>
                <a:schemeClr val="tx1"/>
              </a:buClr>
            </a:pPr>
            <a:r>
              <a:rPr lang="zh-CN" altLang="en-US" sz="1800" dirty="0"/>
              <a:t>正向建模</a:t>
            </a:r>
            <a:endParaRPr lang="en-US" altLang="zh-CN" sz="1800" dirty="0"/>
          </a:p>
          <a:p>
            <a:pPr lvl="1">
              <a:buClr>
                <a:schemeClr val="tx1"/>
              </a:buClr>
            </a:pPr>
            <a:r>
              <a:rPr lang="zh-CN" altLang="en-US" sz="1800" dirty="0"/>
              <a:t>逆向设计</a:t>
            </a:r>
            <a:endParaRPr lang="en-US" altLang="zh-CN" sz="1800" dirty="0"/>
          </a:p>
          <a:p>
            <a:pPr>
              <a:spcBef>
                <a:spcPts val="1500"/>
              </a:spcBef>
            </a:pPr>
            <a:r>
              <a:rPr lang="zh-CN" altLang="en-US" sz="2400" dirty="0"/>
              <a:t>影视</a:t>
            </a:r>
            <a:r>
              <a:rPr lang="en-US" altLang="zh-CN" sz="2400" dirty="0"/>
              <a:t>/</a:t>
            </a:r>
            <a:r>
              <a:rPr lang="zh-CN" altLang="en-US" sz="2400" dirty="0"/>
              <a:t>动画</a:t>
            </a:r>
            <a:r>
              <a:rPr lang="en-US" altLang="zh-CN" sz="2400" dirty="0"/>
              <a:t>/</a:t>
            </a:r>
            <a:r>
              <a:rPr lang="zh-CN" altLang="en-US" sz="2400" dirty="0"/>
              <a:t>在线三维购物</a:t>
            </a:r>
            <a:endParaRPr lang="en-US" altLang="zh-CN" sz="2400" dirty="0"/>
          </a:p>
          <a:p>
            <a:pPr>
              <a:spcBef>
                <a:spcPts val="1500"/>
              </a:spcBef>
            </a:pPr>
            <a:r>
              <a:rPr lang="zh-CN" altLang="en-US" sz="2400" dirty="0"/>
              <a:t>无人驾驶</a:t>
            </a:r>
            <a:r>
              <a:rPr lang="en-US" altLang="zh-CN" sz="2400" dirty="0"/>
              <a:t>/</a:t>
            </a:r>
            <a:r>
              <a:rPr lang="zh-CN" altLang="en-US" sz="2400" dirty="0"/>
              <a:t>虚拟博物馆</a:t>
            </a:r>
            <a:endParaRPr lang="en-US" altLang="zh-CN" sz="2400" dirty="0"/>
          </a:p>
          <a:p>
            <a:pPr>
              <a:spcBef>
                <a:spcPts val="1500"/>
              </a:spcBef>
            </a:pPr>
            <a:r>
              <a:rPr lang="zh-CN" altLang="en-US" sz="2400" dirty="0"/>
              <a:t>下一代计算平台！</a:t>
            </a:r>
            <a:endParaRPr lang="en-US" altLang="zh-CN" sz="1800" dirty="0"/>
          </a:p>
          <a:p>
            <a:pPr lvl="1">
              <a:buClr>
                <a:schemeClr val="tx1"/>
              </a:buClr>
            </a:pPr>
            <a:endParaRPr lang="en-US" altLang="zh-CN" sz="1800" dirty="0"/>
          </a:p>
          <a:p>
            <a:pPr marL="457200" lvl="1" indent="0">
              <a:buClr>
                <a:schemeClr val="tx1"/>
              </a:buClr>
              <a:buNone/>
            </a:pPr>
            <a:endParaRPr lang="zh-CN" altLang="en-US" sz="1800" dirty="0"/>
          </a:p>
          <a:p>
            <a:pPr lvl="1">
              <a:buClr>
                <a:schemeClr val="tx1"/>
              </a:buClr>
            </a:pPr>
            <a:endParaRPr lang="en-US" altLang="zh-CN" sz="1800" dirty="0"/>
          </a:p>
          <a:p>
            <a:pPr lvl="1">
              <a:buClr>
                <a:schemeClr val="tx1"/>
              </a:buClr>
            </a:pPr>
            <a:endParaRPr lang="zh-CN" altLang="en-US" sz="1800" dirty="0"/>
          </a:p>
          <a:p>
            <a:pPr marL="457200" lvl="1" indent="0">
              <a:buClr>
                <a:schemeClr val="tx1"/>
              </a:buClr>
              <a:buNone/>
            </a:pPr>
            <a:endParaRPr lang="zh-CN" altLang="en-US" sz="1800" dirty="0"/>
          </a:p>
          <a:p>
            <a:endParaRPr lang="zh-CN" altLang="en-US" dirty="0"/>
          </a:p>
        </p:txBody>
      </p:sp>
      <p:grpSp>
        <p:nvGrpSpPr>
          <p:cNvPr id="18" name="组合 17"/>
          <p:cNvGrpSpPr/>
          <p:nvPr/>
        </p:nvGrpSpPr>
        <p:grpSpPr>
          <a:xfrm>
            <a:off x="4571144" y="516890"/>
            <a:ext cx="3386669" cy="6229350"/>
            <a:chOff x="4571144" y="516890"/>
            <a:chExt cx="3386669" cy="6229350"/>
          </a:xfrm>
        </p:grpSpPr>
        <p:grpSp>
          <p:nvGrpSpPr>
            <p:cNvPr id="12" name="组合 11"/>
            <p:cNvGrpSpPr/>
            <p:nvPr/>
          </p:nvGrpSpPr>
          <p:grpSpPr>
            <a:xfrm>
              <a:off x="4580229" y="4547836"/>
              <a:ext cx="3377583" cy="2198404"/>
              <a:chOff x="5428627" y="1053481"/>
              <a:chExt cx="2906851" cy="2127005"/>
            </a:xfrm>
          </p:grpSpPr>
          <p:pic>
            <p:nvPicPr>
              <p:cNvPr id="5"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t="10219" r="3854"/>
              <a:stretch/>
            </p:blipFill>
            <p:spPr bwMode="auto">
              <a:xfrm>
                <a:off x="5428627" y="1053481"/>
                <a:ext cx="2906851" cy="21269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428627" y="2491319"/>
                <a:ext cx="1645428" cy="68916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grpSp>
          <p:nvGrpSpPr>
            <p:cNvPr id="14" name="组合 13"/>
            <p:cNvGrpSpPr/>
            <p:nvPr/>
          </p:nvGrpSpPr>
          <p:grpSpPr>
            <a:xfrm>
              <a:off x="4571144" y="516890"/>
              <a:ext cx="3386668" cy="1921488"/>
              <a:chOff x="3552948" y="3380746"/>
              <a:chExt cx="3588092" cy="2035770"/>
            </a:xfrm>
          </p:grpSpPr>
          <p:pic>
            <p:nvPicPr>
              <p:cNvPr id="11" name="图片 10"/>
              <p:cNvPicPr>
                <a:picLocks noChangeAspect="1"/>
              </p:cNvPicPr>
              <p:nvPr/>
            </p:nvPicPr>
            <p:blipFill>
              <a:blip r:embed="rId4"/>
              <a:stretch>
                <a:fillRect/>
              </a:stretch>
            </p:blipFill>
            <p:spPr>
              <a:xfrm>
                <a:off x="3552948" y="3380746"/>
                <a:ext cx="3588092" cy="2035770"/>
              </a:xfrm>
              <a:prstGeom prst="rect">
                <a:avLst/>
              </a:prstGeom>
            </p:spPr>
          </p:pic>
          <p:sp>
            <p:nvSpPr>
              <p:cNvPr id="13" name="文本框 12"/>
              <p:cNvSpPr txBox="1"/>
              <p:nvPr/>
            </p:nvSpPr>
            <p:spPr>
              <a:xfrm>
                <a:off x="3552948" y="3394508"/>
                <a:ext cx="2771913" cy="830997"/>
              </a:xfrm>
              <a:prstGeom prst="rect">
                <a:avLst/>
              </a:prstGeom>
              <a:solidFill>
                <a:srgbClr val="464DD9">
                  <a:alpha val="52941"/>
                </a:srgbClr>
              </a:solidFill>
            </p:spPr>
            <p:txBody>
              <a:bodyPr wrap="none" rtlCol="0">
                <a:spAutoFit/>
              </a:bodyPr>
              <a:lstStyle/>
              <a:p>
                <a:r>
                  <a:rPr lang="en-US" altLang="zh-CN" sz="1600" b="1" dirty="0">
                    <a:solidFill>
                      <a:srgbClr val="99CC67"/>
                    </a:solidFill>
                  </a:rPr>
                  <a:t>《</a:t>
                </a:r>
                <a:r>
                  <a:rPr lang="zh-CN" altLang="en-US" sz="1600" b="1" dirty="0">
                    <a:solidFill>
                      <a:srgbClr val="99CC67"/>
                    </a:solidFill>
                  </a:rPr>
                  <a:t>工作模拟</a:t>
                </a:r>
                <a:r>
                  <a:rPr lang="en-US" altLang="zh-CN" sz="1600" b="1" dirty="0">
                    <a:solidFill>
                      <a:srgbClr val="99CC67"/>
                    </a:solidFill>
                  </a:rPr>
                  <a:t>》</a:t>
                </a:r>
                <a:r>
                  <a:rPr lang="zh-CN" altLang="en-US" sz="1600" b="1" dirty="0">
                    <a:solidFill>
                      <a:srgbClr val="99CC67"/>
                    </a:solidFill>
                  </a:rPr>
                  <a:t>上线</a:t>
                </a:r>
                <a:r>
                  <a:rPr lang="en-US" altLang="zh-CN" sz="1600" b="1" dirty="0">
                    <a:solidFill>
                      <a:srgbClr val="99CC67"/>
                    </a:solidFill>
                  </a:rPr>
                  <a:t>4</a:t>
                </a:r>
                <a:r>
                  <a:rPr lang="zh-CN" altLang="en-US" sz="1600" b="1" dirty="0">
                    <a:solidFill>
                      <a:srgbClr val="99CC67"/>
                    </a:solidFill>
                  </a:rPr>
                  <a:t>个月</a:t>
                </a:r>
                <a:endParaRPr lang="en-US" altLang="zh-CN" sz="1600" b="1" dirty="0">
                  <a:solidFill>
                    <a:srgbClr val="99CC67"/>
                  </a:solidFill>
                </a:endParaRPr>
              </a:p>
              <a:p>
                <a:r>
                  <a:rPr lang="zh-CN" altLang="en-US" sz="1600" b="1" dirty="0">
                    <a:solidFill>
                      <a:srgbClr val="99CC67"/>
                    </a:solidFill>
                  </a:rPr>
                  <a:t>，收入超</a:t>
                </a:r>
                <a:r>
                  <a:rPr lang="en-US" altLang="zh-CN" sz="1600" b="1" dirty="0">
                    <a:solidFill>
                      <a:srgbClr val="99CC67"/>
                    </a:solidFill>
                  </a:rPr>
                  <a:t>1815</a:t>
                </a:r>
                <a:r>
                  <a:rPr lang="zh-CN" altLang="en-US" sz="1600" b="1" dirty="0">
                    <a:solidFill>
                      <a:srgbClr val="99CC67"/>
                    </a:solidFill>
                  </a:rPr>
                  <a:t>万元 </a:t>
                </a:r>
                <a:endParaRPr lang="en-US" altLang="zh-CN" sz="1600" b="1" dirty="0">
                  <a:solidFill>
                    <a:srgbClr val="99CC67"/>
                  </a:solidFill>
                </a:endParaRPr>
              </a:p>
              <a:p>
                <a:r>
                  <a:rPr lang="zh-CN" altLang="en-US" sz="1600" b="1" dirty="0">
                    <a:solidFill>
                      <a:srgbClr val="99CC67"/>
                    </a:solidFill>
                  </a:rPr>
                  <a:t>，开发商完成</a:t>
                </a:r>
                <a:r>
                  <a:rPr lang="en-US" altLang="zh-CN" sz="1600" b="1" dirty="0">
                    <a:solidFill>
                      <a:srgbClr val="99CC67"/>
                    </a:solidFill>
                  </a:rPr>
                  <a:t>500</a:t>
                </a:r>
                <a:r>
                  <a:rPr lang="zh-CN" altLang="en-US" sz="1600" b="1" dirty="0">
                    <a:solidFill>
                      <a:srgbClr val="99CC67"/>
                    </a:solidFill>
                  </a:rPr>
                  <a:t>万美元融资</a:t>
                </a:r>
              </a:p>
            </p:txBody>
          </p:sp>
        </p:grpSp>
        <p:pic>
          <p:nvPicPr>
            <p:cNvPr id="15" name="图片 14"/>
            <p:cNvPicPr>
              <a:picLocks noChangeAspect="1"/>
            </p:cNvPicPr>
            <p:nvPr/>
          </p:nvPicPr>
          <p:blipFill>
            <a:blip r:embed="rId5"/>
            <a:stretch>
              <a:fillRect/>
            </a:stretch>
          </p:blipFill>
          <p:spPr>
            <a:xfrm>
              <a:off x="4571145" y="2452374"/>
              <a:ext cx="3386668" cy="2095462"/>
            </a:xfrm>
            <a:prstGeom prst="rect">
              <a:avLst/>
            </a:prstGeom>
          </p:spPr>
        </p:pic>
      </p:grpSp>
    </p:spTree>
    <p:extLst>
      <p:ext uri="{BB962C8B-B14F-4D97-AF65-F5344CB8AC3E}">
        <p14:creationId xmlns:p14="http://schemas.microsoft.com/office/powerpoint/2010/main" val="5111383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55121" y="95705"/>
            <a:ext cx="7886700" cy="532945"/>
          </a:xfrm>
        </p:spPr>
        <p:txBody>
          <a:bodyPr/>
          <a:lstStyle/>
          <a:p>
            <a:r>
              <a:rPr lang="zh-CN" altLang="en-US" dirty="0"/>
              <a:t>图形编程的要素</a:t>
            </a:r>
          </a:p>
        </p:txBody>
      </p:sp>
      <p:sp>
        <p:nvSpPr>
          <p:cNvPr id="4" name="灯片编号占位符 3"/>
          <p:cNvSpPr>
            <a:spLocks noGrp="1"/>
          </p:cNvSpPr>
          <p:nvPr>
            <p:ph type="sldNum" sz="quarter" idx="12"/>
          </p:nvPr>
        </p:nvSpPr>
        <p:spPr>
          <a:xfrm>
            <a:off x="8451988" y="6492875"/>
            <a:ext cx="762828" cy="365125"/>
          </a:xfrm>
        </p:spPr>
        <p:txBody>
          <a:bodyPr/>
          <a:lstStyle/>
          <a:p>
            <a:fld id="{EB792F4E-54C0-4D36-B331-9C6FCFE9A340}" type="slidenum">
              <a:rPr lang="zh-CN" altLang="en-US" smtClean="0"/>
              <a:t>8</a:t>
            </a:fld>
            <a:endParaRPr lang="zh-CN" altLang="en-US"/>
          </a:p>
        </p:txBody>
      </p:sp>
      <p:sp>
        <p:nvSpPr>
          <p:cNvPr id="3" name="内容占位符 2"/>
          <p:cNvSpPr>
            <a:spLocks noGrp="1"/>
          </p:cNvSpPr>
          <p:nvPr>
            <p:ph idx="4294967295"/>
          </p:nvPr>
        </p:nvSpPr>
        <p:spPr>
          <a:xfrm>
            <a:off x="565288" y="1119022"/>
            <a:ext cx="7886700" cy="4352925"/>
          </a:xfrm>
        </p:spPr>
        <p:txBody>
          <a:bodyPr/>
          <a:lstStyle/>
          <a:p>
            <a:pPr>
              <a:buClr>
                <a:srgbClr val="94003F"/>
              </a:buClr>
            </a:pPr>
            <a:r>
              <a:rPr lang="zh-CN" altLang="en-US" sz="2400" dirty="0"/>
              <a:t>编程语言 </a:t>
            </a:r>
            <a:r>
              <a:rPr lang="en-US" altLang="zh-CN" sz="2400" dirty="0"/>
              <a:t>C++/Java/Python/Web(JavaScript)</a:t>
            </a:r>
            <a:endParaRPr lang="zh-CN" altLang="en-US" sz="2400" dirty="0"/>
          </a:p>
          <a:p>
            <a:pPr lvl="1">
              <a:buClr>
                <a:schemeClr val="tx1"/>
              </a:buClr>
            </a:pPr>
            <a:r>
              <a:rPr lang="zh-CN" altLang="en-US" sz="1800" dirty="0"/>
              <a:t>在何种平台上运行？</a:t>
            </a:r>
            <a:r>
              <a:rPr lang="en-US" altLang="zh-CN" sz="1800" dirty="0"/>
              <a:t>Win/Mac/iOS/Android/Web browser</a:t>
            </a:r>
          </a:p>
          <a:p>
            <a:pPr lvl="1">
              <a:buClr>
                <a:schemeClr val="tx1"/>
              </a:buClr>
            </a:pPr>
            <a:r>
              <a:rPr lang="zh-CN" altLang="en-US" sz="1800" dirty="0"/>
              <a:t>采用何种开发工具？</a:t>
            </a:r>
            <a:r>
              <a:rPr lang="en-US" altLang="zh-CN" sz="1800" dirty="0"/>
              <a:t>Visual Studio/QT/Python</a:t>
            </a:r>
          </a:p>
          <a:p>
            <a:pPr>
              <a:buClr>
                <a:srgbClr val="94003F"/>
              </a:buClr>
            </a:pPr>
            <a:r>
              <a:rPr lang="zh-CN" altLang="en-US" sz="2400" dirty="0"/>
              <a:t>图形</a:t>
            </a:r>
            <a:r>
              <a:rPr lang="en-US" altLang="zh-CN" sz="2400" dirty="0"/>
              <a:t>API</a:t>
            </a:r>
            <a:r>
              <a:rPr lang="zh-CN" altLang="en-US" sz="2400" dirty="0"/>
              <a:t>（</a:t>
            </a:r>
            <a:r>
              <a:rPr lang="en-US" altLang="zh-CN" sz="2400" b="1" dirty="0">
                <a:solidFill>
                  <a:srgbClr val="FF0000"/>
                </a:solidFill>
              </a:rPr>
              <a:t>A</a:t>
            </a:r>
            <a:r>
              <a:rPr lang="en-US" altLang="zh-CN" sz="2400" dirty="0"/>
              <a:t>pplication </a:t>
            </a:r>
            <a:r>
              <a:rPr lang="en-US" altLang="zh-CN" sz="2400" b="1" dirty="0">
                <a:solidFill>
                  <a:srgbClr val="FF0000"/>
                </a:solidFill>
              </a:rPr>
              <a:t>P</a:t>
            </a:r>
            <a:r>
              <a:rPr lang="en-US" altLang="zh-CN" sz="2400" dirty="0"/>
              <a:t>rogramming </a:t>
            </a:r>
            <a:r>
              <a:rPr lang="en-US" altLang="zh-CN" sz="2400" b="1" dirty="0">
                <a:solidFill>
                  <a:srgbClr val="FF0000"/>
                </a:solidFill>
              </a:rPr>
              <a:t>I</a:t>
            </a:r>
            <a:r>
              <a:rPr lang="en-US" altLang="zh-CN" sz="2400" dirty="0"/>
              <a:t>nterface</a:t>
            </a:r>
            <a:r>
              <a:rPr lang="zh-CN" altLang="en-US" sz="2400" dirty="0"/>
              <a:t>）</a:t>
            </a:r>
          </a:p>
          <a:p>
            <a:pPr lvl="1">
              <a:buClr>
                <a:schemeClr val="tx1"/>
              </a:buClr>
            </a:pPr>
            <a:r>
              <a:rPr lang="en-US" altLang="zh-CN" sz="1800" b="1" dirty="0">
                <a:solidFill>
                  <a:srgbClr val="7030A0"/>
                </a:solidFill>
              </a:rPr>
              <a:t>Direct3D</a:t>
            </a:r>
            <a:r>
              <a:rPr lang="en-US" altLang="zh-CN" sz="1800" dirty="0"/>
              <a:t> from </a:t>
            </a:r>
            <a:r>
              <a:rPr lang="en-US" altLang="zh-CN" sz="1800" b="1" dirty="0"/>
              <a:t>Microsoft</a:t>
            </a:r>
            <a:r>
              <a:rPr lang="en-US" altLang="zh-CN" b="1" baseline="30000" dirty="0"/>
              <a:t>®</a:t>
            </a:r>
            <a:endParaRPr lang="zh-CN" altLang="en-US" sz="1800" b="1" baseline="30000" dirty="0"/>
          </a:p>
          <a:p>
            <a:pPr lvl="1">
              <a:buClr>
                <a:schemeClr val="tx1"/>
              </a:buClr>
            </a:pPr>
            <a:r>
              <a:rPr lang="en-US" altLang="zh-CN" sz="1800" b="1" dirty="0">
                <a:solidFill>
                  <a:srgbClr val="00B0F0"/>
                </a:solidFill>
              </a:rPr>
              <a:t>OpenGL</a:t>
            </a:r>
            <a:r>
              <a:rPr lang="en-US" altLang="zh-CN" sz="1800" dirty="0"/>
              <a:t> from Graphics community</a:t>
            </a:r>
            <a:endParaRPr lang="zh-CN" altLang="en-US" sz="1800" dirty="0"/>
          </a:p>
          <a:p>
            <a:pPr lvl="1">
              <a:buClr>
                <a:schemeClr val="tx1"/>
              </a:buClr>
            </a:pPr>
            <a:r>
              <a:rPr lang="en-US" altLang="zh-CN" sz="1800" dirty="0"/>
              <a:t>GPU</a:t>
            </a:r>
            <a:r>
              <a:rPr lang="zh-CN" altLang="en-US" sz="1800" dirty="0"/>
              <a:t>编程</a:t>
            </a:r>
            <a:r>
              <a:rPr lang="en-US" altLang="zh-CN" sz="1800" dirty="0"/>
              <a:t>(</a:t>
            </a:r>
            <a:r>
              <a:rPr lang="zh-CN" altLang="en-US" sz="1800" dirty="0"/>
              <a:t>显卡</a:t>
            </a:r>
            <a:r>
              <a:rPr lang="en-US" altLang="zh-CN" sz="1800" dirty="0"/>
              <a:t>)API</a:t>
            </a:r>
            <a:r>
              <a:rPr lang="zh-CN" altLang="en-US" sz="1800" dirty="0"/>
              <a:t>：着色器、</a:t>
            </a:r>
            <a:r>
              <a:rPr lang="en-US" altLang="zh-CN" sz="1800" dirty="0"/>
              <a:t>CUDA</a:t>
            </a:r>
            <a:r>
              <a:rPr lang="zh-CN" altLang="en-US" sz="1800" dirty="0"/>
              <a:t>、</a:t>
            </a:r>
            <a:r>
              <a:rPr lang="en-US" altLang="zh-CN" sz="1800" dirty="0"/>
              <a:t>OpenCL</a:t>
            </a:r>
          </a:p>
          <a:p>
            <a:r>
              <a:rPr lang="zh-CN" altLang="en-US" sz="2400" dirty="0"/>
              <a:t>图形</a:t>
            </a:r>
            <a:r>
              <a:rPr lang="en-US" altLang="zh-CN" sz="2400" dirty="0"/>
              <a:t>/</a:t>
            </a:r>
            <a:r>
              <a:rPr lang="zh-CN" altLang="en-US" sz="2400" dirty="0"/>
              <a:t>几何数据</a:t>
            </a:r>
            <a:r>
              <a:rPr lang="en-US" altLang="zh-CN" sz="2400" dirty="0"/>
              <a:t>/</a:t>
            </a:r>
            <a:r>
              <a:rPr lang="zh-CN" altLang="en-US" sz="2400" dirty="0"/>
              <a:t>算法</a:t>
            </a:r>
          </a:p>
          <a:p>
            <a:pPr lvl="1">
              <a:buClr>
                <a:schemeClr val="tx1"/>
              </a:buClr>
            </a:pPr>
            <a:r>
              <a:rPr lang="zh-CN" altLang="en-US" sz="1800" dirty="0"/>
              <a:t>图形</a:t>
            </a:r>
            <a:r>
              <a:rPr lang="en-US" altLang="zh-CN" sz="1800" dirty="0"/>
              <a:t>/</a:t>
            </a:r>
            <a:r>
              <a:rPr lang="zh-CN" altLang="en-US" sz="1800" dirty="0"/>
              <a:t>几何数据，类比于图像、声音、文字等信息</a:t>
            </a:r>
            <a:endParaRPr lang="en-US" altLang="zh-CN" sz="1800" dirty="0"/>
          </a:p>
          <a:p>
            <a:pPr lvl="1">
              <a:buClr>
                <a:schemeClr val="tx1"/>
              </a:buClr>
            </a:pPr>
            <a:r>
              <a:rPr lang="zh-CN" altLang="en-US" sz="1800" b="1" dirty="0"/>
              <a:t>形体</a:t>
            </a:r>
            <a:r>
              <a:rPr lang="en-US" altLang="zh-CN" sz="1800" dirty="0"/>
              <a:t>(</a:t>
            </a:r>
            <a:r>
              <a:rPr lang="zh-CN" altLang="en-US" sz="1800" dirty="0"/>
              <a:t>曲面</a:t>
            </a:r>
            <a:r>
              <a:rPr lang="en-US" altLang="zh-CN" sz="1800" dirty="0"/>
              <a:t>)/</a:t>
            </a:r>
            <a:r>
              <a:rPr lang="zh-CN" altLang="en-US" sz="1800" b="1" dirty="0"/>
              <a:t>位置</a:t>
            </a:r>
            <a:r>
              <a:rPr lang="en-US" altLang="zh-CN" sz="1800" dirty="0"/>
              <a:t>(</a:t>
            </a:r>
            <a:r>
              <a:rPr lang="zh-CN" altLang="en-US" sz="1800" dirty="0"/>
              <a:t>属性</a:t>
            </a:r>
            <a:r>
              <a:rPr lang="en-US" altLang="zh-CN" sz="1800" dirty="0"/>
              <a:t>)/</a:t>
            </a:r>
            <a:r>
              <a:rPr lang="zh-CN" altLang="en-US" sz="1800" b="1" dirty="0"/>
              <a:t>空间变换</a:t>
            </a:r>
            <a:r>
              <a:rPr lang="zh-CN" altLang="en-US" sz="1800" dirty="0"/>
              <a:t>的数学表达与计算机存储方式</a:t>
            </a:r>
            <a:endParaRPr lang="en-US" altLang="zh-CN" sz="1800" dirty="0"/>
          </a:p>
          <a:p>
            <a:pPr lvl="1">
              <a:buClr>
                <a:schemeClr val="tx1"/>
              </a:buClr>
            </a:pPr>
            <a:r>
              <a:rPr lang="zh-CN" altLang="en-US" sz="1800" dirty="0"/>
              <a:t>算法</a:t>
            </a:r>
            <a:r>
              <a:rPr lang="en-US" altLang="zh-CN" sz="1800" dirty="0"/>
              <a:t>(</a:t>
            </a:r>
            <a:r>
              <a:rPr lang="zh-CN" altLang="en-US" sz="1800" dirty="0"/>
              <a:t>数学的可视化方式</a:t>
            </a:r>
            <a:r>
              <a:rPr lang="en-US" altLang="zh-CN" sz="1800" dirty="0"/>
              <a:t>)</a:t>
            </a:r>
            <a:r>
              <a:rPr lang="zh-CN" altLang="en-US" sz="1800" dirty="0"/>
              <a:t>：线性代数、微积分、数值计算、空间解析</a:t>
            </a:r>
            <a:endParaRPr lang="en-US" altLang="zh-CN" sz="1800" dirty="0"/>
          </a:p>
          <a:p>
            <a:pPr marL="457200" lvl="1" indent="0">
              <a:buClr>
                <a:schemeClr val="tx1"/>
              </a:buClr>
              <a:buNone/>
            </a:pPr>
            <a:r>
              <a:rPr lang="en-US" altLang="zh-CN" sz="1800" dirty="0"/>
              <a:t>   </a:t>
            </a:r>
            <a:r>
              <a:rPr lang="zh-CN" altLang="en-US" sz="1800" dirty="0"/>
              <a:t>几何。。</a:t>
            </a:r>
          </a:p>
          <a:p>
            <a:pPr lvl="1">
              <a:buClr>
                <a:schemeClr val="tx1"/>
              </a:buClr>
            </a:pPr>
            <a:endParaRPr lang="zh-CN" altLang="en-US" sz="1800" dirty="0"/>
          </a:p>
          <a:p>
            <a:endParaRPr lang="zh-CN" altLang="en-US" dirty="0"/>
          </a:p>
        </p:txBody>
      </p:sp>
      <p:pic>
        <p:nvPicPr>
          <p:cNvPr id="6" name="图片 5"/>
          <p:cNvPicPr>
            <a:picLocks noChangeAspect="1"/>
          </p:cNvPicPr>
          <p:nvPr/>
        </p:nvPicPr>
        <p:blipFill>
          <a:blip r:embed="rId2"/>
          <a:stretch>
            <a:fillRect/>
          </a:stretch>
        </p:blipFill>
        <p:spPr>
          <a:xfrm>
            <a:off x="3030524" y="5003651"/>
            <a:ext cx="2996059" cy="1725357"/>
          </a:xfrm>
          <a:prstGeom prst="rect">
            <a:avLst/>
          </a:prstGeom>
        </p:spPr>
      </p:pic>
      <p:pic>
        <p:nvPicPr>
          <p:cNvPr id="7" name="图片 6"/>
          <p:cNvPicPr>
            <a:picLocks noChangeAspect="1"/>
          </p:cNvPicPr>
          <p:nvPr/>
        </p:nvPicPr>
        <p:blipFill>
          <a:blip r:embed="rId3"/>
          <a:stretch>
            <a:fillRect/>
          </a:stretch>
        </p:blipFill>
        <p:spPr>
          <a:xfrm>
            <a:off x="6026584" y="5003650"/>
            <a:ext cx="2215399" cy="1725357"/>
          </a:xfrm>
          <a:prstGeom prst="rect">
            <a:avLst/>
          </a:prstGeom>
        </p:spPr>
      </p:pic>
      <p:grpSp>
        <p:nvGrpSpPr>
          <p:cNvPr id="12" name="组合 11"/>
          <p:cNvGrpSpPr/>
          <p:nvPr/>
        </p:nvGrpSpPr>
        <p:grpSpPr>
          <a:xfrm>
            <a:off x="595768" y="5501490"/>
            <a:ext cx="2106792" cy="721360"/>
            <a:chOff x="565288" y="5257650"/>
            <a:chExt cx="2106792" cy="721360"/>
          </a:xfrm>
        </p:grpSpPr>
        <p:pic>
          <p:nvPicPr>
            <p:cNvPr id="10" name="图片 9" descr="Actions help hint Icon | Oxygen Iconset | Oxygen Team"/>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65288" y="5257650"/>
              <a:ext cx="721360" cy="721360"/>
            </a:xfrm>
            <a:prstGeom prst="rect">
              <a:avLst/>
            </a:prstGeom>
          </p:spPr>
        </p:pic>
        <p:sp>
          <p:nvSpPr>
            <p:cNvPr id="8" name="文本框 7"/>
            <p:cNvSpPr txBox="1"/>
            <p:nvPr/>
          </p:nvSpPr>
          <p:spPr>
            <a:xfrm>
              <a:off x="1452880" y="5588000"/>
              <a:ext cx="184731" cy="369332"/>
            </a:xfrm>
            <a:prstGeom prst="rect">
              <a:avLst/>
            </a:prstGeom>
            <a:noFill/>
          </p:spPr>
          <p:txBody>
            <a:bodyPr wrap="none" rtlCol="0">
              <a:spAutoFit/>
            </a:bodyPr>
            <a:lstStyle/>
            <a:p>
              <a:endParaRPr lang="zh-CN" altLang="en-US" dirty="0"/>
            </a:p>
          </p:txBody>
        </p:sp>
        <p:sp>
          <p:nvSpPr>
            <p:cNvPr id="11" name="文本框 10"/>
            <p:cNvSpPr txBox="1"/>
            <p:nvPr/>
          </p:nvSpPr>
          <p:spPr>
            <a:xfrm>
              <a:off x="1317128" y="5313680"/>
              <a:ext cx="1354952" cy="584775"/>
            </a:xfrm>
            <a:prstGeom prst="rect">
              <a:avLst/>
            </a:prstGeom>
            <a:noFill/>
          </p:spPr>
          <p:txBody>
            <a:bodyPr wrap="square" rtlCol="0">
              <a:prstTxWarp prst="textCanUp">
                <a:avLst/>
              </a:prstTxWarp>
              <a:spAutoFit/>
            </a:bodyPr>
            <a:lstStyle/>
            <a:p>
              <a:r>
                <a:rPr lang="en-US" altLang="zh-CN" sz="3200" b="1" dirty="0">
                  <a:solidFill>
                    <a:srgbClr val="FFC000"/>
                  </a:solidFill>
                </a:rPr>
                <a:t>Run it</a:t>
              </a:r>
              <a:r>
                <a:rPr lang="zh-CN" altLang="en-US" sz="3200" b="1" dirty="0">
                  <a:solidFill>
                    <a:srgbClr val="FFC000"/>
                  </a:solidFill>
                </a:rPr>
                <a:t>！</a:t>
              </a:r>
            </a:p>
          </p:txBody>
        </p:sp>
      </p:grpSp>
      <p:sp>
        <p:nvSpPr>
          <p:cNvPr id="14" name="文本框 13"/>
          <p:cNvSpPr txBox="1"/>
          <p:nvPr/>
        </p:nvSpPr>
        <p:spPr>
          <a:xfrm>
            <a:off x="3030523" y="5003650"/>
            <a:ext cx="1011815" cy="338554"/>
          </a:xfrm>
          <a:prstGeom prst="rect">
            <a:avLst/>
          </a:prstGeom>
          <a:solidFill>
            <a:srgbClr val="464DD9">
              <a:alpha val="52941"/>
            </a:srgbClr>
          </a:solidFill>
        </p:spPr>
        <p:txBody>
          <a:bodyPr wrap="none" rtlCol="0">
            <a:spAutoFit/>
          </a:bodyPr>
          <a:lstStyle/>
          <a:p>
            <a:r>
              <a:rPr lang="zh-CN" altLang="en-US" sz="1600" b="1" dirty="0">
                <a:solidFill>
                  <a:srgbClr val="99CC67"/>
                </a:solidFill>
              </a:rPr>
              <a:t>虚拟城市</a:t>
            </a:r>
          </a:p>
        </p:txBody>
      </p:sp>
      <p:sp>
        <p:nvSpPr>
          <p:cNvPr id="15" name="文本框 14"/>
          <p:cNvSpPr txBox="1"/>
          <p:nvPr/>
        </p:nvSpPr>
        <p:spPr>
          <a:xfrm>
            <a:off x="7230168" y="6390453"/>
            <a:ext cx="1011815" cy="338554"/>
          </a:xfrm>
          <a:prstGeom prst="rect">
            <a:avLst/>
          </a:prstGeom>
          <a:solidFill>
            <a:srgbClr val="464DD9">
              <a:alpha val="52941"/>
            </a:srgbClr>
          </a:solidFill>
        </p:spPr>
        <p:txBody>
          <a:bodyPr wrap="none" rtlCol="0">
            <a:spAutoFit/>
          </a:bodyPr>
          <a:lstStyle/>
          <a:p>
            <a:r>
              <a:rPr lang="zh-CN" altLang="en-US" sz="1600" b="1" dirty="0">
                <a:solidFill>
                  <a:srgbClr val="99CC67"/>
                </a:solidFill>
              </a:rPr>
              <a:t>烟花动画</a:t>
            </a:r>
          </a:p>
        </p:txBody>
      </p:sp>
    </p:spTree>
    <p:extLst>
      <p:ext uri="{BB962C8B-B14F-4D97-AF65-F5344CB8AC3E}">
        <p14:creationId xmlns:p14="http://schemas.microsoft.com/office/powerpoint/2010/main" val="40570141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1038839" y="1552433"/>
            <a:ext cx="6284599" cy="3055769"/>
          </a:xfrm>
          <a:prstGeom prst="rect">
            <a:avLst/>
          </a:prstGeom>
        </p:spPr>
      </p:pic>
      <p:sp>
        <p:nvSpPr>
          <p:cNvPr id="2" name="标题 1"/>
          <p:cNvSpPr>
            <a:spLocks noGrp="1"/>
          </p:cNvSpPr>
          <p:nvPr>
            <p:ph type="title"/>
          </p:nvPr>
        </p:nvSpPr>
        <p:spPr/>
        <p:txBody>
          <a:bodyPr/>
          <a:lstStyle/>
          <a:p>
            <a:r>
              <a:rPr lang="zh-CN" altLang="en-US" dirty="0"/>
              <a:t>图形系统与图形</a:t>
            </a:r>
            <a:r>
              <a:rPr lang="en-US" altLang="zh-CN" dirty="0"/>
              <a:t>API</a:t>
            </a:r>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9</a:t>
            </a:fld>
            <a:endParaRPr lang="zh-CN" altLang="en-US"/>
          </a:p>
        </p:txBody>
      </p:sp>
      <p:sp>
        <p:nvSpPr>
          <p:cNvPr id="10" name="文本框 9"/>
          <p:cNvSpPr txBox="1"/>
          <p:nvPr/>
        </p:nvSpPr>
        <p:spPr>
          <a:xfrm>
            <a:off x="1483360" y="5831840"/>
            <a:ext cx="184731" cy="369332"/>
          </a:xfrm>
          <a:prstGeom prst="rect">
            <a:avLst/>
          </a:prstGeom>
          <a:noFill/>
        </p:spPr>
        <p:txBody>
          <a:bodyPr wrap="none" rtlCol="0">
            <a:spAutoFit/>
          </a:bodyPr>
          <a:lstStyle/>
          <a:p>
            <a:endParaRPr lang="zh-CN" altLang="en-US" dirty="0"/>
          </a:p>
        </p:txBody>
      </p:sp>
      <p:sp>
        <p:nvSpPr>
          <p:cNvPr id="7" name="内容占位符 2"/>
          <p:cNvSpPr txBox="1">
            <a:spLocks/>
          </p:cNvSpPr>
          <p:nvPr/>
        </p:nvSpPr>
        <p:spPr>
          <a:xfrm>
            <a:off x="565288" y="1524373"/>
            <a:ext cx="7886700" cy="4676799"/>
          </a:xfrm>
          <a:prstGeom prst="rect">
            <a:avLst/>
          </a:prstGeom>
        </p:spPr>
        <p:txBody>
          <a:bodyPr vert="horz" lIns="91440" tIns="45720" rIns="91440" bIns="45720" rtlCol="0">
            <a:normAutofit/>
          </a:bodyPr>
          <a:lstStyle>
            <a:lvl1pPr marL="228600" indent="-360000" algn="l" defTabSz="914400" rtl="0" eaLnBrk="1" latinLnBrk="0" hangingPunct="1">
              <a:lnSpc>
                <a:spcPct val="90000"/>
              </a:lnSpc>
              <a:spcBef>
                <a:spcPts val="1000"/>
              </a:spcBef>
              <a:buClr>
                <a:srgbClr val="94003F"/>
              </a:buClr>
              <a:buSzPct val="70000"/>
              <a:buFont typeface="Wingdings" panose="05000000000000000000" pitchFamily="2" charset="2"/>
              <a:buChar char="u"/>
              <a:defRPr sz="2800" b="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04b" panose="00000400000000000000" pitchFamily="2"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400" dirty="0"/>
              <a:t>图形系统</a:t>
            </a:r>
            <a:endParaRPr lang="en-US" altLang="zh-CN" sz="2400" dirty="0"/>
          </a:p>
          <a:p>
            <a:endParaRPr lang="en-US" altLang="zh-CN" sz="2400" dirty="0"/>
          </a:p>
          <a:p>
            <a:endParaRPr lang="en-US" altLang="zh-CN" sz="2400" dirty="0"/>
          </a:p>
          <a:p>
            <a:endParaRPr lang="zh-CN" altLang="en-US" sz="2400" dirty="0"/>
          </a:p>
          <a:p>
            <a:endParaRPr lang="en-US" altLang="zh-CN" sz="2400" dirty="0"/>
          </a:p>
          <a:p>
            <a:endParaRPr lang="en-US" altLang="zh-CN" sz="2400" dirty="0"/>
          </a:p>
          <a:p>
            <a:endParaRPr lang="en-US" altLang="zh-CN" sz="2400" dirty="0"/>
          </a:p>
          <a:p>
            <a:r>
              <a:rPr lang="zh-CN" altLang="en-US" sz="2400" dirty="0"/>
              <a:t>图形</a:t>
            </a:r>
            <a:r>
              <a:rPr lang="en-US" altLang="zh-CN" sz="2400" dirty="0"/>
              <a:t>API</a:t>
            </a:r>
            <a:endParaRPr lang="zh-CN" altLang="en-US" sz="2400" dirty="0"/>
          </a:p>
          <a:p>
            <a:pPr lvl="1">
              <a:buClr>
                <a:schemeClr val="tx1"/>
              </a:buClr>
            </a:pPr>
            <a:endParaRPr lang="en-US" altLang="zh-CN" sz="1800" b="1" dirty="0">
              <a:solidFill>
                <a:srgbClr val="7030A0"/>
              </a:solidFill>
            </a:endParaRPr>
          </a:p>
          <a:p>
            <a:pPr lvl="1">
              <a:buClr>
                <a:schemeClr val="tx1"/>
              </a:buClr>
            </a:pPr>
            <a:r>
              <a:rPr lang="zh-CN" altLang="en-US" sz="1800" b="1" dirty="0">
                <a:solidFill>
                  <a:srgbClr val="7030A0"/>
                </a:solidFill>
              </a:rPr>
              <a:t>控制显卡的编程接口，计算与存储资源</a:t>
            </a:r>
            <a:endParaRPr lang="zh-CN" altLang="en-US" sz="1800" dirty="0"/>
          </a:p>
          <a:p>
            <a:pPr lvl="1">
              <a:buClr>
                <a:schemeClr val="tx1"/>
              </a:buClr>
            </a:pPr>
            <a:r>
              <a:rPr lang="zh-CN" altLang="en-US" sz="1800" b="1" dirty="0">
                <a:solidFill>
                  <a:srgbClr val="7030A0"/>
                </a:solidFill>
              </a:rPr>
              <a:t>输入显示内容，如三维场景</a:t>
            </a:r>
            <a:r>
              <a:rPr lang="en-US" altLang="zh-CN" sz="1800" b="1" dirty="0">
                <a:solidFill>
                  <a:srgbClr val="7030A0"/>
                </a:solidFill>
              </a:rPr>
              <a:t>/</a:t>
            </a:r>
            <a:r>
              <a:rPr lang="zh-CN" altLang="en-US" sz="1800" b="1" dirty="0">
                <a:solidFill>
                  <a:srgbClr val="7030A0"/>
                </a:solidFill>
              </a:rPr>
              <a:t>模型，生成输出图像</a:t>
            </a:r>
            <a:endParaRPr lang="en-US" altLang="zh-CN" sz="1800" b="1" dirty="0">
              <a:solidFill>
                <a:srgbClr val="7030A0"/>
              </a:solidFill>
            </a:endParaRPr>
          </a:p>
          <a:p>
            <a:pPr lvl="1">
              <a:buClr>
                <a:schemeClr val="tx1"/>
              </a:buClr>
            </a:pPr>
            <a:endParaRPr lang="en-US" altLang="zh-CN" sz="1800" dirty="0"/>
          </a:p>
          <a:p>
            <a:pPr lvl="1">
              <a:buClr>
                <a:schemeClr val="tx1"/>
              </a:buClr>
            </a:pPr>
            <a:endParaRPr lang="zh-CN" altLang="en-US" sz="1800" dirty="0"/>
          </a:p>
          <a:p>
            <a:endParaRPr lang="zh-CN" altLang="en-US" dirty="0"/>
          </a:p>
        </p:txBody>
      </p:sp>
    </p:spTree>
    <p:extLst>
      <p:ext uri="{BB962C8B-B14F-4D97-AF65-F5344CB8AC3E}">
        <p14:creationId xmlns:p14="http://schemas.microsoft.com/office/powerpoint/2010/main" val="26514873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图形开发的前世今生</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10</a:t>
            </a:fld>
            <a:endParaRPr lang="zh-CN" altLang="en-US"/>
          </a:p>
        </p:txBody>
      </p:sp>
      <p:sp>
        <p:nvSpPr>
          <p:cNvPr id="11" name="文本框 10"/>
          <p:cNvSpPr txBox="1"/>
          <p:nvPr/>
        </p:nvSpPr>
        <p:spPr>
          <a:xfrm>
            <a:off x="4765558" y="6016506"/>
            <a:ext cx="4230232" cy="584775"/>
          </a:xfrm>
          <a:prstGeom prst="rect">
            <a:avLst/>
          </a:prstGeom>
          <a:noFill/>
        </p:spPr>
        <p:txBody>
          <a:bodyPr wrap="square" rtlCol="0">
            <a:prstTxWarp prst="textCanUp">
              <a:avLst/>
            </a:prstTxWarp>
            <a:spAutoFit/>
          </a:bodyPr>
          <a:lstStyle/>
          <a:p>
            <a:r>
              <a:rPr lang="en-US" altLang="zh-CN" sz="1400" b="1" dirty="0">
                <a:solidFill>
                  <a:srgbClr val="FFC000"/>
                </a:solidFill>
              </a:rPr>
              <a:t>Microsoft</a:t>
            </a:r>
            <a:r>
              <a:rPr lang="en-US" altLang="zh-CN" sz="1200" b="1" baseline="30000" dirty="0">
                <a:solidFill>
                  <a:srgbClr val="FFC000"/>
                </a:solidFill>
              </a:rPr>
              <a:t>®</a:t>
            </a:r>
            <a:r>
              <a:rPr lang="en-US" altLang="zh-CN" sz="1400" b="1" dirty="0">
                <a:solidFill>
                  <a:srgbClr val="FFC000"/>
                </a:solidFill>
              </a:rPr>
              <a:t> never miss it</a:t>
            </a:r>
            <a:r>
              <a:rPr lang="zh-CN" altLang="en-US" sz="1400" b="1" dirty="0">
                <a:solidFill>
                  <a:srgbClr val="FFC000"/>
                </a:solidFill>
              </a:rPr>
              <a:t>！</a:t>
            </a:r>
          </a:p>
        </p:txBody>
      </p:sp>
      <p:cxnSp>
        <p:nvCxnSpPr>
          <p:cNvPr id="27" name="MH_Others_1"/>
          <p:cNvCxnSpPr/>
          <p:nvPr>
            <p:custDataLst>
              <p:tags r:id="rId1"/>
            </p:custDataLst>
          </p:nvPr>
        </p:nvCxnSpPr>
        <p:spPr>
          <a:xfrm>
            <a:off x="4582827" y="744718"/>
            <a:ext cx="7956" cy="5720401"/>
          </a:xfrm>
          <a:prstGeom prst="line">
            <a:avLst/>
          </a:prstGeom>
          <a:ln w="22225">
            <a:gradFill>
              <a:gsLst>
                <a:gs pos="0">
                  <a:srgbClr val="000000">
                    <a:alpha val="0"/>
                  </a:srgbClr>
                </a:gs>
                <a:gs pos="50000">
                  <a:srgbClr val="C0C0C0"/>
                </a:gs>
                <a:gs pos="100000">
                  <a:srgbClr val="000000">
                    <a:alpha val="0"/>
                  </a:srgb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28" name="MH_Others_2"/>
          <p:cNvCxnSpPr/>
          <p:nvPr>
            <p:custDataLst>
              <p:tags r:id="rId2"/>
            </p:custDataLst>
          </p:nvPr>
        </p:nvCxnSpPr>
        <p:spPr>
          <a:xfrm flipH="1">
            <a:off x="3958821" y="1292861"/>
            <a:ext cx="607125" cy="0"/>
          </a:xfrm>
          <a:prstGeom prst="line">
            <a:avLst/>
          </a:prstGeom>
          <a:ln w="6350">
            <a:solidFill>
              <a:srgbClr val="CFCFCF"/>
            </a:solidFill>
          </a:ln>
        </p:spPr>
        <p:style>
          <a:lnRef idx="1">
            <a:schemeClr val="accent1"/>
          </a:lnRef>
          <a:fillRef idx="0">
            <a:schemeClr val="accent1"/>
          </a:fillRef>
          <a:effectRef idx="0">
            <a:schemeClr val="accent1"/>
          </a:effectRef>
          <a:fontRef idx="minor">
            <a:schemeClr val="tx1"/>
          </a:fontRef>
        </p:style>
      </p:cxnSp>
      <p:sp>
        <p:nvSpPr>
          <p:cNvPr id="29" name="MH_Others_3"/>
          <p:cNvSpPr/>
          <p:nvPr>
            <p:custDataLst>
              <p:tags r:id="rId3"/>
            </p:custDataLst>
          </p:nvPr>
        </p:nvSpPr>
        <p:spPr>
          <a:xfrm>
            <a:off x="4520963" y="1241565"/>
            <a:ext cx="108000" cy="108000"/>
          </a:xfrm>
          <a:custGeom>
            <a:avLst/>
            <a:gdLst>
              <a:gd name="connsiteX0" fmla="*/ 75112 w 150224"/>
              <a:gd name="connsiteY0" fmla="*/ 0 h 150224"/>
              <a:gd name="connsiteX1" fmla="*/ 150224 w 150224"/>
              <a:gd name="connsiteY1" fmla="*/ 75112 h 150224"/>
              <a:gd name="connsiteX2" fmla="*/ 75112 w 150224"/>
              <a:gd name="connsiteY2" fmla="*/ 150224 h 150224"/>
              <a:gd name="connsiteX3" fmla="*/ 0 w 150224"/>
              <a:gd name="connsiteY3" fmla="*/ 75112 h 150224"/>
              <a:gd name="connsiteX4" fmla="*/ 75112 w 150224"/>
              <a:gd name="connsiteY4" fmla="*/ 0 h 1502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0224" h="150224">
                <a:moveTo>
                  <a:pt x="75112" y="0"/>
                </a:moveTo>
                <a:cubicBezTo>
                  <a:pt x="116595" y="0"/>
                  <a:pt x="150224" y="33629"/>
                  <a:pt x="150224" y="75112"/>
                </a:cubicBezTo>
                <a:cubicBezTo>
                  <a:pt x="150224" y="116595"/>
                  <a:pt x="116595" y="150224"/>
                  <a:pt x="75112" y="150224"/>
                </a:cubicBezTo>
                <a:cubicBezTo>
                  <a:pt x="33629" y="150224"/>
                  <a:pt x="0" y="116595"/>
                  <a:pt x="0" y="75112"/>
                </a:cubicBezTo>
                <a:cubicBezTo>
                  <a:pt x="0" y="33629"/>
                  <a:pt x="33629" y="0"/>
                  <a:pt x="75112" y="0"/>
                </a:cubicBezTo>
                <a:close/>
              </a:path>
            </a:pathLst>
          </a:custGeom>
          <a:solidFill>
            <a:srgbClr val="C0C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endParaRPr>
          </a:p>
        </p:txBody>
      </p:sp>
      <p:sp>
        <p:nvSpPr>
          <p:cNvPr id="30" name="MH_Number_1"/>
          <p:cNvSpPr/>
          <p:nvPr>
            <p:custDataLst>
              <p:tags r:id="rId4"/>
            </p:custDataLst>
          </p:nvPr>
        </p:nvSpPr>
        <p:spPr>
          <a:xfrm>
            <a:off x="3428762" y="1010692"/>
            <a:ext cx="617200" cy="565372"/>
          </a:xfrm>
          <a:custGeom>
            <a:avLst/>
            <a:gdLst>
              <a:gd name="connsiteX0" fmla="*/ 282686 w 617200"/>
              <a:gd name="connsiteY0" fmla="*/ 0 h 565372"/>
              <a:gd name="connsiteX1" fmla="*/ 559629 w 617200"/>
              <a:gd name="connsiteY1" fmla="*/ 225715 h 565372"/>
              <a:gd name="connsiteX2" fmla="*/ 561997 w 617200"/>
              <a:gd name="connsiteY2" fmla="*/ 249209 h 565372"/>
              <a:gd name="connsiteX3" fmla="*/ 617200 w 617200"/>
              <a:gd name="connsiteY3" fmla="*/ 282687 h 565372"/>
              <a:gd name="connsiteX4" fmla="*/ 561997 w 617200"/>
              <a:gd name="connsiteY4" fmla="*/ 316164 h 565372"/>
              <a:gd name="connsiteX5" fmla="*/ 559629 w 617200"/>
              <a:gd name="connsiteY5" fmla="*/ 339657 h 565372"/>
              <a:gd name="connsiteX6" fmla="*/ 282686 w 617200"/>
              <a:gd name="connsiteY6" fmla="*/ 565372 h 565372"/>
              <a:gd name="connsiteX7" fmla="*/ 0 w 617200"/>
              <a:gd name="connsiteY7" fmla="*/ 282686 h 565372"/>
              <a:gd name="connsiteX8" fmla="*/ 282686 w 617200"/>
              <a:gd name="connsiteY8" fmla="*/ 0 h 565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7200" h="565372">
                <a:moveTo>
                  <a:pt x="282686" y="0"/>
                </a:moveTo>
                <a:cubicBezTo>
                  <a:pt x="419294" y="0"/>
                  <a:pt x="533270" y="96900"/>
                  <a:pt x="559629" y="225715"/>
                </a:cubicBezTo>
                <a:lnTo>
                  <a:pt x="561997" y="249209"/>
                </a:lnTo>
                <a:lnTo>
                  <a:pt x="617200" y="282687"/>
                </a:lnTo>
                <a:lnTo>
                  <a:pt x="561997" y="316164"/>
                </a:lnTo>
                <a:lnTo>
                  <a:pt x="559629" y="339657"/>
                </a:lnTo>
                <a:cubicBezTo>
                  <a:pt x="533270" y="468472"/>
                  <a:pt x="419294" y="565372"/>
                  <a:pt x="282686" y="565372"/>
                </a:cubicBezTo>
                <a:cubicBezTo>
                  <a:pt x="126563" y="565372"/>
                  <a:pt x="0" y="438809"/>
                  <a:pt x="0" y="282686"/>
                </a:cubicBezTo>
                <a:cubicBezTo>
                  <a:pt x="0" y="126563"/>
                  <a:pt x="126563" y="0"/>
                  <a:pt x="282686" y="0"/>
                </a:cubicBezTo>
                <a:close/>
              </a:path>
            </a:pathLst>
          </a:custGeom>
          <a:solidFill>
            <a:srgbClr val="F4D1B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36000" bIns="0" rtlCol="0" anchor="ctr"/>
          <a:lstStyle/>
          <a:p>
            <a:pPr algn="ctr"/>
            <a:r>
              <a:rPr lang="en-US" altLang="zh-CN" sz="3200" dirty="0">
                <a:solidFill>
                  <a:srgbClr val="FFFFFF"/>
                </a:solidFill>
                <a:latin typeface="Impact" panose="020B0806030902050204" pitchFamily="34" charset="0"/>
              </a:rPr>
              <a:t>1</a:t>
            </a:r>
            <a:endParaRPr lang="zh-CN" altLang="en-US" sz="3200" dirty="0">
              <a:solidFill>
                <a:srgbClr val="FFFFFF"/>
              </a:solidFill>
              <a:latin typeface="Impact" panose="020B0806030902050204" pitchFamily="34" charset="0"/>
            </a:endParaRPr>
          </a:p>
        </p:txBody>
      </p:sp>
      <p:cxnSp>
        <p:nvCxnSpPr>
          <p:cNvPr id="31" name="MH_Others_4"/>
          <p:cNvCxnSpPr/>
          <p:nvPr>
            <p:custDataLst>
              <p:tags r:id="rId5"/>
            </p:custDataLst>
          </p:nvPr>
        </p:nvCxnSpPr>
        <p:spPr>
          <a:xfrm flipH="1">
            <a:off x="3975702" y="2504739"/>
            <a:ext cx="607125" cy="0"/>
          </a:xfrm>
          <a:prstGeom prst="line">
            <a:avLst/>
          </a:prstGeom>
          <a:ln w="6350">
            <a:solidFill>
              <a:srgbClr val="CFCFCF"/>
            </a:solidFill>
          </a:ln>
        </p:spPr>
        <p:style>
          <a:lnRef idx="1">
            <a:schemeClr val="accent1"/>
          </a:lnRef>
          <a:fillRef idx="0">
            <a:schemeClr val="accent1"/>
          </a:fillRef>
          <a:effectRef idx="0">
            <a:schemeClr val="accent1"/>
          </a:effectRef>
          <a:fontRef idx="minor">
            <a:schemeClr val="tx1"/>
          </a:fontRef>
        </p:style>
      </p:cxnSp>
      <p:sp>
        <p:nvSpPr>
          <p:cNvPr id="32" name="MH_Others_5"/>
          <p:cNvSpPr/>
          <p:nvPr>
            <p:custDataLst>
              <p:tags r:id="rId6"/>
            </p:custDataLst>
          </p:nvPr>
        </p:nvSpPr>
        <p:spPr>
          <a:xfrm>
            <a:off x="4520963" y="2464825"/>
            <a:ext cx="108000" cy="108000"/>
          </a:xfrm>
          <a:custGeom>
            <a:avLst/>
            <a:gdLst>
              <a:gd name="connsiteX0" fmla="*/ 75112 w 150224"/>
              <a:gd name="connsiteY0" fmla="*/ 0 h 150224"/>
              <a:gd name="connsiteX1" fmla="*/ 150224 w 150224"/>
              <a:gd name="connsiteY1" fmla="*/ 75112 h 150224"/>
              <a:gd name="connsiteX2" fmla="*/ 75112 w 150224"/>
              <a:gd name="connsiteY2" fmla="*/ 150224 h 150224"/>
              <a:gd name="connsiteX3" fmla="*/ 0 w 150224"/>
              <a:gd name="connsiteY3" fmla="*/ 75112 h 150224"/>
              <a:gd name="connsiteX4" fmla="*/ 75112 w 150224"/>
              <a:gd name="connsiteY4" fmla="*/ 0 h 1502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0224" h="150224">
                <a:moveTo>
                  <a:pt x="75112" y="0"/>
                </a:moveTo>
                <a:cubicBezTo>
                  <a:pt x="116595" y="0"/>
                  <a:pt x="150224" y="33629"/>
                  <a:pt x="150224" y="75112"/>
                </a:cubicBezTo>
                <a:cubicBezTo>
                  <a:pt x="150224" y="116595"/>
                  <a:pt x="116595" y="150224"/>
                  <a:pt x="75112" y="150224"/>
                </a:cubicBezTo>
                <a:cubicBezTo>
                  <a:pt x="33629" y="150224"/>
                  <a:pt x="0" y="116595"/>
                  <a:pt x="0" y="75112"/>
                </a:cubicBezTo>
                <a:cubicBezTo>
                  <a:pt x="0" y="33629"/>
                  <a:pt x="33629" y="0"/>
                  <a:pt x="75112" y="0"/>
                </a:cubicBezTo>
                <a:close/>
              </a:path>
            </a:pathLst>
          </a:custGeom>
          <a:solidFill>
            <a:srgbClr val="C0C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endParaRPr>
          </a:p>
        </p:txBody>
      </p:sp>
      <p:sp>
        <p:nvSpPr>
          <p:cNvPr id="33" name="MH_Number_3"/>
          <p:cNvSpPr/>
          <p:nvPr>
            <p:custDataLst>
              <p:tags r:id="rId7"/>
            </p:custDataLst>
          </p:nvPr>
        </p:nvSpPr>
        <p:spPr>
          <a:xfrm>
            <a:off x="3428762" y="2225509"/>
            <a:ext cx="617200" cy="565372"/>
          </a:xfrm>
          <a:custGeom>
            <a:avLst/>
            <a:gdLst>
              <a:gd name="connsiteX0" fmla="*/ 282686 w 617200"/>
              <a:gd name="connsiteY0" fmla="*/ 0 h 565372"/>
              <a:gd name="connsiteX1" fmla="*/ 559629 w 617200"/>
              <a:gd name="connsiteY1" fmla="*/ 225715 h 565372"/>
              <a:gd name="connsiteX2" fmla="*/ 561997 w 617200"/>
              <a:gd name="connsiteY2" fmla="*/ 249209 h 565372"/>
              <a:gd name="connsiteX3" fmla="*/ 617200 w 617200"/>
              <a:gd name="connsiteY3" fmla="*/ 282687 h 565372"/>
              <a:gd name="connsiteX4" fmla="*/ 561997 w 617200"/>
              <a:gd name="connsiteY4" fmla="*/ 316164 h 565372"/>
              <a:gd name="connsiteX5" fmla="*/ 559629 w 617200"/>
              <a:gd name="connsiteY5" fmla="*/ 339657 h 565372"/>
              <a:gd name="connsiteX6" fmla="*/ 282686 w 617200"/>
              <a:gd name="connsiteY6" fmla="*/ 565372 h 565372"/>
              <a:gd name="connsiteX7" fmla="*/ 0 w 617200"/>
              <a:gd name="connsiteY7" fmla="*/ 282686 h 565372"/>
              <a:gd name="connsiteX8" fmla="*/ 282686 w 617200"/>
              <a:gd name="connsiteY8" fmla="*/ 0 h 565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7200" h="565372">
                <a:moveTo>
                  <a:pt x="282686" y="0"/>
                </a:moveTo>
                <a:cubicBezTo>
                  <a:pt x="419294" y="0"/>
                  <a:pt x="533270" y="96900"/>
                  <a:pt x="559629" y="225715"/>
                </a:cubicBezTo>
                <a:lnTo>
                  <a:pt x="561997" y="249209"/>
                </a:lnTo>
                <a:lnTo>
                  <a:pt x="617200" y="282687"/>
                </a:lnTo>
                <a:lnTo>
                  <a:pt x="561997" y="316164"/>
                </a:lnTo>
                <a:lnTo>
                  <a:pt x="559629" y="339657"/>
                </a:lnTo>
                <a:cubicBezTo>
                  <a:pt x="533270" y="468472"/>
                  <a:pt x="419294" y="565372"/>
                  <a:pt x="282686" y="565372"/>
                </a:cubicBezTo>
                <a:cubicBezTo>
                  <a:pt x="126563" y="565372"/>
                  <a:pt x="0" y="438809"/>
                  <a:pt x="0" y="282686"/>
                </a:cubicBezTo>
                <a:cubicBezTo>
                  <a:pt x="0" y="126563"/>
                  <a:pt x="126563" y="0"/>
                  <a:pt x="282686" y="0"/>
                </a:cubicBezTo>
                <a:close/>
              </a:path>
            </a:pathLst>
          </a:custGeom>
          <a:solidFill>
            <a:srgbClr val="D5A6D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36000" bIns="0" rtlCol="0" anchor="ctr"/>
          <a:lstStyle/>
          <a:p>
            <a:pPr algn="ctr"/>
            <a:r>
              <a:rPr lang="en-US" altLang="zh-CN" sz="3200" dirty="0">
                <a:solidFill>
                  <a:srgbClr val="FFFFFF"/>
                </a:solidFill>
                <a:latin typeface="Impact" panose="020B0806030902050204" pitchFamily="34" charset="0"/>
              </a:rPr>
              <a:t>3</a:t>
            </a:r>
            <a:endParaRPr lang="zh-CN" altLang="en-US" sz="3200" dirty="0">
              <a:solidFill>
                <a:srgbClr val="FFFFFF"/>
              </a:solidFill>
              <a:latin typeface="Impact" panose="020B0806030902050204" pitchFamily="34" charset="0"/>
            </a:endParaRPr>
          </a:p>
        </p:txBody>
      </p:sp>
      <p:cxnSp>
        <p:nvCxnSpPr>
          <p:cNvPr id="34" name="MH_Others_6"/>
          <p:cNvCxnSpPr/>
          <p:nvPr>
            <p:custDataLst>
              <p:tags r:id="rId8"/>
            </p:custDataLst>
          </p:nvPr>
        </p:nvCxnSpPr>
        <p:spPr>
          <a:xfrm flipH="1">
            <a:off x="3967838" y="4616715"/>
            <a:ext cx="607125" cy="0"/>
          </a:xfrm>
          <a:prstGeom prst="line">
            <a:avLst/>
          </a:prstGeom>
          <a:ln w="6350">
            <a:solidFill>
              <a:srgbClr val="CFCFCF"/>
            </a:solidFill>
          </a:ln>
        </p:spPr>
        <p:style>
          <a:lnRef idx="1">
            <a:schemeClr val="accent1"/>
          </a:lnRef>
          <a:fillRef idx="0">
            <a:schemeClr val="accent1"/>
          </a:fillRef>
          <a:effectRef idx="0">
            <a:schemeClr val="accent1"/>
          </a:effectRef>
          <a:fontRef idx="minor">
            <a:schemeClr val="tx1"/>
          </a:fontRef>
        </p:style>
      </p:cxnSp>
      <p:sp>
        <p:nvSpPr>
          <p:cNvPr id="35" name="MH_Others_7"/>
          <p:cNvSpPr/>
          <p:nvPr>
            <p:custDataLst>
              <p:tags r:id="rId9"/>
            </p:custDataLst>
          </p:nvPr>
        </p:nvSpPr>
        <p:spPr>
          <a:xfrm>
            <a:off x="4520963" y="4577254"/>
            <a:ext cx="108000" cy="108000"/>
          </a:xfrm>
          <a:custGeom>
            <a:avLst/>
            <a:gdLst>
              <a:gd name="connsiteX0" fmla="*/ 75112 w 150224"/>
              <a:gd name="connsiteY0" fmla="*/ 0 h 150224"/>
              <a:gd name="connsiteX1" fmla="*/ 150224 w 150224"/>
              <a:gd name="connsiteY1" fmla="*/ 75112 h 150224"/>
              <a:gd name="connsiteX2" fmla="*/ 75112 w 150224"/>
              <a:gd name="connsiteY2" fmla="*/ 150224 h 150224"/>
              <a:gd name="connsiteX3" fmla="*/ 0 w 150224"/>
              <a:gd name="connsiteY3" fmla="*/ 75112 h 150224"/>
              <a:gd name="connsiteX4" fmla="*/ 75112 w 150224"/>
              <a:gd name="connsiteY4" fmla="*/ 0 h 1502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0224" h="150224">
                <a:moveTo>
                  <a:pt x="75112" y="0"/>
                </a:moveTo>
                <a:cubicBezTo>
                  <a:pt x="116595" y="0"/>
                  <a:pt x="150224" y="33629"/>
                  <a:pt x="150224" y="75112"/>
                </a:cubicBezTo>
                <a:cubicBezTo>
                  <a:pt x="150224" y="116595"/>
                  <a:pt x="116595" y="150224"/>
                  <a:pt x="75112" y="150224"/>
                </a:cubicBezTo>
                <a:cubicBezTo>
                  <a:pt x="33629" y="150224"/>
                  <a:pt x="0" y="116595"/>
                  <a:pt x="0" y="75112"/>
                </a:cubicBezTo>
                <a:cubicBezTo>
                  <a:pt x="0" y="33629"/>
                  <a:pt x="33629" y="0"/>
                  <a:pt x="75112" y="0"/>
                </a:cubicBezTo>
                <a:close/>
              </a:path>
            </a:pathLst>
          </a:custGeom>
          <a:solidFill>
            <a:srgbClr val="C0C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endParaRPr>
          </a:p>
        </p:txBody>
      </p:sp>
      <p:sp>
        <p:nvSpPr>
          <p:cNvPr id="36" name="MH_Number_5"/>
          <p:cNvSpPr/>
          <p:nvPr>
            <p:custDataLst>
              <p:tags r:id="rId10"/>
            </p:custDataLst>
          </p:nvPr>
        </p:nvSpPr>
        <p:spPr>
          <a:xfrm>
            <a:off x="3428762" y="4344052"/>
            <a:ext cx="617200" cy="565372"/>
          </a:xfrm>
          <a:custGeom>
            <a:avLst/>
            <a:gdLst>
              <a:gd name="connsiteX0" fmla="*/ 282686 w 617200"/>
              <a:gd name="connsiteY0" fmla="*/ 0 h 565372"/>
              <a:gd name="connsiteX1" fmla="*/ 559629 w 617200"/>
              <a:gd name="connsiteY1" fmla="*/ 225715 h 565372"/>
              <a:gd name="connsiteX2" fmla="*/ 561997 w 617200"/>
              <a:gd name="connsiteY2" fmla="*/ 249209 h 565372"/>
              <a:gd name="connsiteX3" fmla="*/ 617200 w 617200"/>
              <a:gd name="connsiteY3" fmla="*/ 282687 h 565372"/>
              <a:gd name="connsiteX4" fmla="*/ 561997 w 617200"/>
              <a:gd name="connsiteY4" fmla="*/ 316164 h 565372"/>
              <a:gd name="connsiteX5" fmla="*/ 559629 w 617200"/>
              <a:gd name="connsiteY5" fmla="*/ 339657 h 565372"/>
              <a:gd name="connsiteX6" fmla="*/ 282686 w 617200"/>
              <a:gd name="connsiteY6" fmla="*/ 565372 h 565372"/>
              <a:gd name="connsiteX7" fmla="*/ 0 w 617200"/>
              <a:gd name="connsiteY7" fmla="*/ 282686 h 565372"/>
              <a:gd name="connsiteX8" fmla="*/ 282686 w 617200"/>
              <a:gd name="connsiteY8" fmla="*/ 0 h 565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7200" h="565372">
                <a:moveTo>
                  <a:pt x="282686" y="0"/>
                </a:moveTo>
                <a:cubicBezTo>
                  <a:pt x="419294" y="0"/>
                  <a:pt x="533270" y="96900"/>
                  <a:pt x="559629" y="225715"/>
                </a:cubicBezTo>
                <a:lnTo>
                  <a:pt x="561997" y="249209"/>
                </a:lnTo>
                <a:lnTo>
                  <a:pt x="617200" y="282687"/>
                </a:lnTo>
                <a:lnTo>
                  <a:pt x="561997" y="316164"/>
                </a:lnTo>
                <a:lnTo>
                  <a:pt x="559629" y="339657"/>
                </a:lnTo>
                <a:cubicBezTo>
                  <a:pt x="533270" y="468472"/>
                  <a:pt x="419294" y="565372"/>
                  <a:pt x="282686" y="565372"/>
                </a:cubicBezTo>
                <a:cubicBezTo>
                  <a:pt x="126563" y="565372"/>
                  <a:pt x="0" y="438809"/>
                  <a:pt x="0" y="282686"/>
                </a:cubicBezTo>
                <a:cubicBezTo>
                  <a:pt x="0" y="126563"/>
                  <a:pt x="126563" y="0"/>
                  <a:pt x="282686" y="0"/>
                </a:cubicBezTo>
                <a:close/>
              </a:path>
            </a:pathLst>
          </a:custGeom>
          <a:solidFill>
            <a:srgbClr val="A5002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36000" bIns="0" rtlCol="0" anchor="ctr"/>
          <a:lstStyle/>
          <a:p>
            <a:pPr algn="ctr"/>
            <a:r>
              <a:rPr lang="en-US" altLang="zh-CN" sz="3200" dirty="0">
                <a:solidFill>
                  <a:srgbClr val="FFFFFF"/>
                </a:solidFill>
                <a:latin typeface="Impact" panose="020B0806030902050204" pitchFamily="34" charset="0"/>
              </a:rPr>
              <a:t>6</a:t>
            </a:r>
            <a:endParaRPr lang="zh-CN" altLang="en-US" sz="3200" dirty="0">
              <a:solidFill>
                <a:srgbClr val="FFFFFF"/>
              </a:solidFill>
              <a:latin typeface="Impact" panose="020B0806030902050204" pitchFamily="34" charset="0"/>
            </a:endParaRPr>
          </a:p>
        </p:txBody>
      </p:sp>
      <p:cxnSp>
        <p:nvCxnSpPr>
          <p:cNvPr id="37" name="MH_Others_8"/>
          <p:cNvCxnSpPr/>
          <p:nvPr>
            <p:custDataLst>
              <p:tags r:id="rId11"/>
            </p:custDataLst>
          </p:nvPr>
        </p:nvCxnSpPr>
        <p:spPr>
          <a:xfrm>
            <a:off x="4590783" y="1756812"/>
            <a:ext cx="607125" cy="0"/>
          </a:xfrm>
          <a:prstGeom prst="line">
            <a:avLst/>
          </a:prstGeom>
          <a:ln w="6350">
            <a:solidFill>
              <a:srgbClr val="CFCFCF"/>
            </a:solidFill>
          </a:ln>
        </p:spPr>
        <p:style>
          <a:lnRef idx="1">
            <a:schemeClr val="accent1"/>
          </a:lnRef>
          <a:fillRef idx="0">
            <a:schemeClr val="accent1"/>
          </a:fillRef>
          <a:effectRef idx="0">
            <a:schemeClr val="accent1"/>
          </a:effectRef>
          <a:fontRef idx="minor">
            <a:schemeClr val="tx1"/>
          </a:fontRef>
        </p:style>
      </p:cxnSp>
      <p:sp>
        <p:nvSpPr>
          <p:cNvPr id="38" name="MH_Others_9"/>
          <p:cNvSpPr/>
          <p:nvPr>
            <p:custDataLst>
              <p:tags r:id="rId12"/>
            </p:custDataLst>
          </p:nvPr>
        </p:nvSpPr>
        <p:spPr>
          <a:xfrm>
            <a:off x="4523642" y="1696091"/>
            <a:ext cx="108000" cy="108000"/>
          </a:xfrm>
          <a:custGeom>
            <a:avLst/>
            <a:gdLst>
              <a:gd name="connsiteX0" fmla="*/ 75112 w 150224"/>
              <a:gd name="connsiteY0" fmla="*/ 0 h 150224"/>
              <a:gd name="connsiteX1" fmla="*/ 150224 w 150224"/>
              <a:gd name="connsiteY1" fmla="*/ 75112 h 150224"/>
              <a:gd name="connsiteX2" fmla="*/ 75112 w 150224"/>
              <a:gd name="connsiteY2" fmla="*/ 150224 h 150224"/>
              <a:gd name="connsiteX3" fmla="*/ 0 w 150224"/>
              <a:gd name="connsiteY3" fmla="*/ 75112 h 150224"/>
              <a:gd name="connsiteX4" fmla="*/ 75112 w 150224"/>
              <a:gd name="connsiteY4" fmla="*/ 0 h 1502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0224" h="150224">
                <a:moveTo>
                  <a:pt x="75112" y="0"/>
                </a:moveTo>
                <a:cubicBezTo>
                  <a:pt x="116595" y="0"/>
                  <a:pt x="150224" y="33629"/>
                  <a:pt x="150224" y="75112"/>
                </a:cubicBezTo>
                <a:cubicBezTo>
                  <a:pt x="150224" y="116595"/>
                  <a:pt x="116595" y="150224"/>
                  <a:pt x="75112" y="150224"/>
                </a:cubicBezTo>
                <a:cubicBezTo>
                  <a:pt x="33629" y="150224"/>
                  <a:pt x="0" y="116595"/>
                  <a:pt x="0" y="75112"/>
                </a:cubicBezTo>
                <a:cubicBezTo>
                  <a:pt x="0" y="33629"/>
                  <a:pt x="33629" y="0"/>
                  <a:pt x="75112" y="0"/>
                </a:cubicBezTo>
                <a:close/>
              </a:path>
            </a:pathLst>
          </a:custGeom>
          <a:solidFill>
            <a:srgbClr val="C0C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endParaRPr>
          </a:p>
        </p:txBody>
      </p:sp>
      <p:sp>
        <p:nvSpPr>
          <p:cNvPr id="39" name="MH_Number_2"/>
          <p:cNvSpPr/>
          <p:nvPr>
            <p:custDataLst>
              <p:tags r:id="rId13"/>
            </p:custDataLst>
          </p:nvPr>
        </p:nvSpPr>
        <p:spPr>
          <a:xfrm flipH="1">
            <a:off x="5197674" y="1476269"/>
            <a:ext cx="617200" cy="565372"/>
          </a:xfrm>
          <a:custGeom>
            <a:avLst/>
            <a:gdLst>
              <a:gd name="connsiteX0" fmla="*/ 282686 w 617200"/>
              <a:gd name="connsiteY0" fmla="*/ 0 h 565372"/>
              <a:gd name="connsiteX1" fmla="*/ 559629 w 617200"/>
              <a:gd name="connsiteY1" fmla="*/ 225715 h 565372"/>
              <a:gd name="connsiteX2" fmla="*/ 561997 w 617200"/>
              <a:gd name="connsiteY2" fmla="*/ 249209 h 565372"/>
              <a:gd name="connsiteX3" fmla="*/ 617200 w 617200"/>
              <a:gd name="connsiteY3" fmla="*/ 282687 h 565372"/>
              <a:gd name="connsiteX4" fmla="*/ 561997 w 617200"/>
              <a:gd name="connsiteY4" fmla="*/ 316164 h 565372"/>
              <a:gd name="connsiteX5" fmla="*/ 559629 w 617200"/>
              <a:gd name="connsiteY5" fmla="*/ 339657 h 565372"/>
              <a:gd name="connsiteX6" fmla="*/ 282686 w 617200"/>
              <a:gd name="connsiteY6" fmla="*/ 565372 h 565372"/>
              <a:gd name="connsiteX7" fmla="*/ 0 w 617200"/>
              <a:gd name="connsiteY7" fmla="*/ 282686 h 565372"/>
              <a:gd name="connsiteX8" fmla="*/ 282686 w 617200"/>
              <a:gd name="connsiteY8" fmla="*/ 0 h 565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7200" h="565372">
                <a:moveTo>
                  <a:pt x="282686" y="0"/>
                </a:moveTo>
                <a:cubicBezTo>
                  <a:pt x="419294" y="0"/>
                  <a:pt x="533270" y="96900"/>
                  <a:pt x="559629" y="225715"/>
                </a:cubicBezTo>
                <a:lnTo>
                  <a:pt x="561997" y="249209"/>
                </a:lnTo>
                <a:lnTo>
                  <a:pt x="617200" y="282687"/>
                </a:lnTo>
                <a:lnTo>
                  <a:pt x="561997" y="316164"/>
                </a:lnTo>
                <a:lnTo>
                  <a:pt x="559629" y="339657"/>
                </a:lnTo>
                <a:cubicBezTo>
                  <a:pt x="533270" y="468472"/>
                  <a:pt x="419294" y="565372"/>
                  <a:pt x="282686" y="565372"/>
                </a:cubicBezTo>
                <a:cubicBezTo>
                  <a:pt x="126563" y="565372"/>
                  <a:pt x="0" y="438809"/>
                  <a:pt x="0" y="282686"/>
                </a:cubicBezTo>
                <a:cubicBezTo>
                  <a:pt x="0" y="126563"/>
                  <a:pt x="126563" y="0"/>
                  <a:pt x="282686" y="0"/>
                </a:cubicBezTo>
                <a:close/>
              </a:path>
            </a:pathLst>
          </a:cu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algn="ctr"/>
            <a:r>
              <a:rPr lang="en-US" altLang="zh-CN" sz="3200" dirty="0">
                <a:solidFill>
                  <a:srgbClr val="FFFFFF"/>
                </a:solidFill>
                <a:latin typeface="Impact" panose="020B0806030902050204" pitchFamily="34" charset="0"/>
              </a:rPr>
              <a:t>2</a:t>
            </a:r>
            <a:endParaRPr lang="zh-CN" altLang="en-US" sz="3200" dirty="0">
              <a:solidFill>
                <a:srgbClr val="FFFFFF"/>
              </a:solidFill>
              <a:latin typeface="Impact" panose="020B0806030902050204" pitchFamily="34" charset="0"/>
            </a:endParaRPr>
          </a:p>
        </p:txBody>
      </p:sp>
      <p:cxnSp>
        <p:nvCxnSpPr>
          <p:cNvPr id="40" name="MH_Others_10"/>
          <p:cNvCxnSpPr/>
          <p:nvPr>
            <p:custDataLst>
              <p:tags r:id="rId14"/>
            </p:custDataLst>
          </p:nvPr>
        </p:nvCxnSpPr>
        <p:spPr>
          <a:xfrm>
            <a:off x="4590783" y="3357142"/>
            <a:ext cx="607125" cy="0"/>
          </a:xfrm>
          <a:prstGeom prst="line">
            <a:avLst/>
          </a:prstGeom>
          <a:ln w="6350">
            <a:solidFill>
              <a:srgbClr val="CFCFCF"/>
            </a:solidFill>
          </a:ln>
        </p:spPr>
        <p:style>
          <a:lnRef idx="1">
            <a:schemeClr val="accent1"/>
          </a:lnRef>
          <a:fillRef idx="0">
            <a:schemeClr val="accent1"/>
          </a:fillRef>
          <a:effectRef idx="0">
            <a:schemeClr val="accent1"/>
          </a:effectRef>
          <a:fontRef idx="minor">
            <a:schemeClr val="tx1"/>
          </a:fontRef>
        </p:style>
      </p:cxnSp>
      <p:sp>
        <p:nvSpPr>
          <p:cNvPr id="41" name="MH_Others_11"/>
          <p:cNvSpPr/>
          <p:nvPr>
            <p:custDataLst>
              <p:tags r:id="rId15"/>
            </p:custDataLst>
          </p:nvPr>
        </p:nvSpPr>
        <p:spPr>
          <a:xfrm>
            <a:off x="4523642" y="3305846"/>
            <a:ext cx="108000" cy="108000"/>
          </a:xfrm>
          <a:custGeom>
            <a:avLst/>
            <a:gdLst>
              <a:gd name="connsiteX0" fmla="*/ 75112 w 150224"/>
              <a:gd name="connsiteY0" fmla="*/ 0 h 150224"/>
              <a:gd name="connsiteX1" fmla="*/ 150224 w 150224"/>
              <a:gd name="connsiteY1" fmla="*/ 75112 h 150224"/>
              <a:gd name="connsiteX2" fmla="*/ 75112 w 150224"/>
              <a:gd name="connsiteY2" fmla="*/ 150224 h 150224"/>
              <a:gd name="connsiteX3" fmla="*/ 0 w 150224"/>
              <a:gd name="connsiteY3" fmla="*/ 75112 h 150224"/>
              <a:gd name="connsiteX4" fmla="*/ 75112 w 150224"/>
              <a:gd name="connsiteY4" fmla="*/ 0 h 1502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0224" h="150224">
                <a:moveTo>
                  <a:pt x="75112" y="0"/>
                </a:moveTo>
                <a:cubicBezTo>
                  <a:pt x="116595" y="0"/>
                  <a:pt x="150224" y="33629"/>
                  <a:pt x="150224" y="75112"/>
                </a:cubicBezTo>
                <a:cubicBezTo>
                  <a:pt x="150224" y="116595"/>
                  <a:pt x="116595" y="150224"/>
                  <a:pt x="75112" y="150224"/>
                </a:cubicBezTo>
                <a:cubicBezTo>
                  <a:pt x="33629" y="150224"/>
                  <a:pt x="0" y="116595"/>
                  <a:pt x="0" y="75112"/>
                </a:cubicBezTo>
                <a:cubicBezTo>
                  <a:pt x="0" y="33629"/>
                  <a:pt x="33629" y="0"/>
                  <a:pt x="75112" y="0"/>
                </a:cubicBezTo>
                <a:close/>
              </a:path>
            </a:pathLst>
          </a:custGeom>
          <a:solidFill>
            <a:srgbClr val="C0C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endParaRPr>
          </a:p>
        </p:txBody>
      </p:sp>
      <p:sp>
        <p:nvSpPr>
          <p:cNvPr id="42" name="MH_Number_4"/>
          <p:cNvSpPr/>
          <p:nvPr>
            <p:custDataLst>
              <p:tags r:id="rId16"/>
            </p:custDataLst>
          </p:nvPr>
        </p:nvSpPr>
        <p:spPr>
          <a:xfrm flipH="1">
            <a:off x="5197674" y="3082100"/>
            <a:ext cx="617200" cy="565372"/>
          </a:xfrm>
          <a:custGeom>
            <a:avLst/>
            <a:gdLst>
              <a:gd name="connsiteX0" fmla="*/ 282686 w 617200"/>
              <a:gd name="connsiteY0" fmla="*/ 0 h 565372"/>
              <a:gd name="connsiteX1" fmla="*/ 559629 w 617200"/>
              <a:gd name="connsiteY1" fmla="*/ 225715 h 565372"/>
              <a:gd name="connsiteX2" fmla="*/ 561997 w 617200"/>
              <a:gd name="connsiteY2" fmla="*/ 249209 h 565372"/>
              <a:gd name="connsiteX3" fmla="*/ 617200 w 617200"/>
              <a:gd name="connsiteY3" fmla="*/ 282687 h 565372"/>
              <a:gd name="connsiteX4" fmla="*/ 561997 w 617200"/>
              <a:gd name="connsiteY4" fmla="*/ 316164 h 565372"/>
              <a:gd name="connsiteX5" fmla="*/ 559629 w 617200"/>
              <a:gd name="connsiteY5" fmla="*/ 339657 h 565372"/>
              <a:gd name="connsiteX6" fmla="*/ 282686 w 617200"/>
              <a:gd name="connsiteY6" fmla="*/ 565372 h 565372"/>
              <a:gd name="connsiteX7" fmla="*/ 0 w 617200"/>
              <a:gd name="connsiteY7" fmla="*/ 282686 h 565372"/>
              <a:gd name="connsiteX8" fmla="*/ 282686 w 617200"/>
              <a:gd name="connsiteY8" fmla="*/ 0 h 565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7200" h="565372">
                <a:moveTo>
                  <a:pt x="282686" y="0"/>
                </a:moveTo>
                <a:cubicBezTo>
                  <a:pt x="419294" y="0"/>
                  <a:pt x="533270" y="96900"/>
                  <a:pt x="559629" y="225715"/>
                </a:cubicBezTo>
                <a:lnTo>
                  <a:pt x="561997" y="249209"/>
                </a:lnTo>
                <a:lnTo>
                  <a:pt x="617200" y="282687"/>
                </a:lnTo>
                <a:lnTo>
                  <a:pt x="561997" y="316164"/>
                </a:lnTo>
                <a:lnTo>
                  <a:pt x="559629" y="339657"/>
                </a:lnTo>
                <a:cubicBezTo>
                  <a:pt x="533270" y="468472"/>
                  <a:pt x="419294" y="565372"/>
                  <a:pt x="282686" y="565372"/>
                </a:cubicBezTo>
                <a:cubicBezTo>
                  <a:pt x="126563" y="565372"/>
                  <a:pt x="0" y="438809"/>
                  <a:pt x="0" y="282686"/>
                </a:cubicBezTo>
                <a:cubicBezTo>
                  <a:pt x="0" y="126563"/>
                  <a:pt x="126563" y="0"/>
                  <a:pt x="282686" y="0"/>
                </a:cubicBezTo>
                <a:close/>
              </a:path>
            </a:pathLst>
          </a:cu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algn="ctr"/>
            <a:r>
              <a:rPr lang="en-US" altLang="zh-CN" sz="3200" dirty="0">
                <a:solidFill>
                  <a:srgbClr val="FFFFFF"/>
                </a:solidFill>
                <a:latin typeface="Impact" panose="020B0806030902050204" pitchFamily="34" charset="0"/>
              </a:rPr>
              <a:t>4</a:t>
            </a:r>
            <a:endParaRPr lang="zh-CN" altLang="en-US" sz="3200" dirty="0">
              <a:solidFill>
                <a:srgbClr val="FFFFFF"/>
              </a:solidFill>
              <a:latin typeface="Impact" panose="020B0806030902050204" pitchFamily="34" charset="0"/>
            </a:endParaRPr>
          </a:p>
        </p:txBody>
      </p:sp>
      <p:grpSp>
        <p:nvGrpSpPr>
          <p:cNvPr id="44" name="组合 43"/>
          <p:cNvGrpSpPr/>
          <p:nvPr/>
        </p:nvGrpSpPr>
        <p:grpSpPr>
          <a:xfrm>
            <a:off x="1592010" y="1007343"/>
            <a:ext cx="1556798" cy="568721"/>
            <a:chOff x="2213096" y="1549803"/>
            <a:chExt cx="816469" cy="920618"/>
          </a:xfrm>
        </p:grpSpPr>
        <p:sp>
          <p:nvSpPr>
            <p:cNvPr id="45" name="矩形: 圆角 44"/>
            <p:cNvSpPr/>
            <p:nvPr/>
          </p:nvSpPr>
          <p:spPr>
            <a:xfrm>
              <a:off x="2213096" y="1549803"/>
              <a:ext cx="816469" cy="920618"/>
            </a:xfrm>
            <a:prstGeom prst="roundRect">
              <a:avLst>
                <a:gd name="adj" fmla="val 10000"/>
              </a:avLst>
            </a:prstGeom>
            <a:solidFill>
              <a:schemeClr val="accent1">
                <a:lumMod val="7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46" name="矩形: 圆角 4"/>
            <p:cNvSpPr txBox="1"/>
            <p:nvPr/>
          </p:nvSpPr>
          <p:spPr>
            <a:xfrm>
              <a:off x="2237010" y="1573717"/>
              <a:ext cx="768641" cy="87279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en-US" altLang="zh-CN" dirty="0"/>
                <a:t>1992 OpenGL ARB 1.0</a:t>
              </a:r>
              <a:endParaRPr lang="zh-CN" altLang="en-US" sz="2000" kern="1200" dirty="0">
                <a:latin typeface="叶根友唐楷字体" panose="02010601030101010101" pitchFamily="2" charset="-122"/>
                <a:ea typeface="叶根友唐楷字体" panose="02010601030101010101" pitchFamily="2" charset="-122"/>
              </a:endParaRPr>
            </a:p>
          </p:txBody>
        </p:sp>
      </p:grpSp>
      <p:grpSp>
        <p:nvGrpSpPr>
          <p:cNvPr id="47" name="组合 46"/>
          <p:cNvGrpSpPr/>
          <p:nvPr/>
        </p:nvGrpSpPr>
        <p:grpSpPr>
          <a:xfrm>
            <a:off x="6017950" y="1476269"/>
            <a:ext cx="1512000" cy="544313"/>
            <a:chOff x="7514252" y="787764"/>
            <a:chExt cx="1358973" cy="544313"/>
          </a:xfrm>
        </p:grpSpPr>
        <p:sp>
          <p:nvSpPr>
            <p:cNvPr id="48" name="矩形: 圆角 47">
              <a:hlinkClick r:id="rId30" action="ppaction://hlinksldjump"/>
            </p:cNvPr>
            <p:cNvSpPr/>
            <p:nvPr/>
          </p:nvSpPr>
          <p:spPr>
            <a:xfrm>
              <a:off x="7514252" y="787764"/>
              <a:ext cx="1358973" cy="544313"/>
            </a:xfrm>
            <a:prstGeom prst="roundRect">
              <a:avLst>
                <a:gd name="adj" fmla="val 10000"/>
              </a:avLst>
            </a:prstGeom>
            <a:solidFill>
              <a:schemeClr val="accent2"/>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49" name="矩形: 圆角 4"/>
            <p:cNvSpPr txBox="1"/>
            <p:nvPr/>
          </p:nvSpPr>
          <p:spPr>
            <a:xfrm>
              <a:off x="7530194" y="803706"/>
              <a:ext cx="1327089" cy="51242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altLang="zh-CN" kern="1200" dirty="0">
                  <a:ea typeface="叶根友唐楷字体" panose="02010601030101010101" pitchFamily="2" charset="-122"/>
                </a:rPr>
                <a:t>1995 Direct3D 1.0</a:t>
              </a:r>
              <a:endParaRPr lang="zh-CN" altLang="en-US" kern="1200" dirty="0">
                <a:ea typeface="叶根友唐楷字体" panose="02010601030101010101" pitchFamily="2" charset="-122"/>
              </a:endParaRPr>
            </a:p>
          </p:txBody>
        </p:sp>
      </p:grpSp>
      <p:cxnSp>
        <p:nvCxnSpPr>
          <p:cNvPr id="43" name="MH_Others_4"/>
          <p:cNvCxnSpPr/>
          <p:nvPr>
            <p:custDataLst>
              <p:tags r:id="rId17"/>
            </p:custDataLst>
          </p:nvPr>
        </p:nvCxnSpPr>
        <p:spPr>
          <a:xfrm flipH="1">
            <a:off x="3958821" y="3359603"/>
            <a:ext cx="607125" cy="0"/>
          </a:xfrm>
          <a:prstGeom prst="line">
            <a:avLst/>
          </a:prstGeom>
          <a:ln w="6350">
            <a:solidFill>
              <a:srgbClr val="CFCFCF"/>
            </a:solidFill>
          </a:ln>
        </p:spPr>
        <p:style>
          <a:lnRef idx="1">
            <a:schemeClr val="accent1"/>
          </a:lnRef>
          <a:fillRef idx="0">
            <a:schemeClr val="accent1"/>
          </a:fillRef>
          <a:effectRef idx="0">
            <a:schemeClr val="accent1"/>
          </a:effectRef>
          <a:fontRef idx="minor">
            <a:schemeClr val="tx1"/>
          </a:fontRef>
        </p:style>
      </p:cxnSp>
      <p:sp>
        <p:nvSpPr>
          <p:cNvPr id="50" name="MH_Number_3"/>
          <p:cNvSpPr/>
          <p:nvPr>
            <p:custDataLst>
              <p:tags r:id="rId18"/>
            </p:custDataLst>
          </p:nvPr>
        </p:nvSpPr>
        <p:spPr>
          <a:xfrm>
            <a:off x="3428762" y="3082100"/>
            <a:ext cx="617200" cy="565372"/>
          </a:xfrm>
          <a:custGeom>
            <a:avLst/>
            <a:gdLst>
              <a:gd name="connsiteX0" fmla="*/ 282686 w 617200"/>
              <a:gd name="connsiteY0" fmla="*/ 0 h 565372"/>
              <a:gd name="connsiteX1" fmla="*/ 559629 w 617200"/>
              <a:gd name="connsiteY1" fmla="*/ 225715 h 565372"/>
              <a:gd name="connsiteX2" fmla="*/ 561997 w 617200"/>
              <a:gd name="connsiteY2" fmla="*/ 249209 h 565372"/>
              <a:gd name="connsiteX3" fmla="*/ 617200 w 617200"/>
              <a:gd name="connsiteY3" fmla="*/ 282687 h 565372"/>
              <a:gd name="connsiteX4" fmla="*/ 561997 w 617200"/>
              <a:gd name="connsiteY4" fmla="*/ 316164 h 565372"/>
              <a:gd name="connsiteX5" fmla="*/ 559629 w 617200"/>
              <a:gd name="connsiteY5" fmla="*/ 339657 h 565372"/>
              <a:gd name="connsiteX6" fmla="*/ 282686 w 617200"/>
              <a:gd name="connsiteY6" fmla="*/ 565372 h 565372"/>
              <a:gd name="connsiteX7" fmla="*/ 0 w 617200"/>
              <a:gd name="connsiteY7" fmla="*/ 282686 h 565372"/>
              <a:gd name="connsiteX8" fmla="*/ 282686 w 617200"/>
              <a:gd name="connsiteY8" fmla="*/ 0 h 565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7200" h="565372">
                <a:moveTo>
                  <a:pt x="282686" y="0"/>
                </a:moveTo>
                <a:cubicBezTo>
                  <a:pt x="419294" y="0"/>
                  <a:pt x="533270" y="96900"/>
                  <a:pt x="559629" y="225715"/>
                </a:cubicBezTo>
                <a:lnTo>
                  <a:pt x="561997" y="249209"/>
                </a:lnTo>
                <a:lnTo>
                  <a:pt x="617200" y="282687"/>
                </a:lnTo>
                <a:lnTo>
                  <a:pt x="561997" y="316164"/>
                </a:lnTo>
                <a:lnTo>
                  <a:pt x="559629" y="339657"/>
                </a:lnTo>
                <a:cubicBezTo>
                  <a:pt x="533270" y="468472"/>
                  <a:pt x="419294" y="565372"/>
                  <a:pt x="282686" y="565372"/>
                </a:cubicBezTo>
                <a:cubicBezTo>
                  <a:pt x="126563" y="565372"/>
                  <a:pt x="0" y="438809"/>
                  <a:pt x="0" y="282686"/>
                </a:cubicBezTo>
                <a:cubicBezTo>
                  <a:pt x="0" y="126563"/>
                  <a:pt x="126563" y="0"/>
                  <a:pt x="282686" y="0"/>
                </a:cubicBezTo>
                <a:close/>
              </a:path>
            </a:pathLst>
          </a:cu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36000" bIns="0" rtlCol="0" anchor="ctr"/>
          <a:lstStyle/>
          <a:p>
            <a:pPr algn="ctr"/>
            <a:r>
              <a:rPr lang="en-US" altLang="zh-CN" sz="3200" dirty="0">
                <a:solidFill>
                  <a:srgbClr val="FFFFFF"/>
                </a:solidFill>
                <a:latin typeface="Impact" panose="020B0806030902050204" pitchFamily="34" charset="0"/>
              </a:rPr>
              <a:t>4</a:t>
            </a:r>
            <a:endParaRPr lang="zh-CN" altLang="en-US" sz="3200" dirty="0">
              <a:solidFill>
                <a:srgbClr val="FFFFFF"/>
              </a:solidFill>
              <a:latin typeface="Impact" panose="020B0806030902050204" pitchFamily="34" charset="0"/>
            </a:endParaRPr>
          </a:p>
        </p:txBody>
      </p:sp>
      <p:grpSp>
        <p:nvGrpSpPr>
          <p:cNvPr id="51" name="组合 50"/>
          <p:cNvGrpSpPr/>
          <p:nvPr/>
        </p:nvGrpSpPr>
        <p:grpSpPr>
          <a:xfrm>
            <a:off x="1166928" y="3091154"/>
            <a:ext cx="1981880" cy="568721"/>
            <a:chOff x="2213096" y="1549803"/>
            <a:chExt cx="816469" cy="920618"/>
          </a:xfrm>
        </p:grpSpPr>
        <p:sp>
          <p:nvSpPr>
            <p:cNvPr id="52" name="矩形: 圆角 51"/>
            <p:cNvSpPr/>
            <p:nvPr/>
          </p:nvSpPr>
          <p:spPr>
            <a:xfrm>
              <a:off x="2213096" y="1549803"/>
              <a:ext cx="816469" cy="920618"/>
            </a:xfrm>
            <a:prstGeom prst="roundRect">
              <a:avLst>
                <a:gd name="adj" fmla="val 10000"/>
              </a:avLst>
            </a:prstGeom>
            <a:solidFill>
              <a:schemeClr val="accent1">
                <a:lumMod val="7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53" name="矩形: 圆角 4"/>
            <p:cNvSpPr txBox="1"/>
            <p:nvPr/>
          </p:nvSpPr>
          <p:spPr>
            <a:xfrm>
              <a:off x="2237010" y="1573717"/>
              <a:ext cx="768641" cy="87279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76200" tIns="76200" rIns="76200" bIns="76200" numCol="1" spcCol="1270" anchor="ctr" anchorCtr="0">
              <a:noAutofit/>
            </a:bodyPr>
            <a:lstStyle/>
            <a:p>
              <a:pPr lvl="0" algn="ctr" defTabSz="889000">
                <a:lnSpc>
                  <a:spcPct val="90000"/>
                </a:lnSpc>
                <a:spcBef>
                  <a:spcPct val="0"/>
                </a:spcBef>
              </a:pPr>
              <a:r>
                <a:rPr lang="en-US" altLang="zh-CN" dirty="0"/>
                <a:t>2009 OpenGL 3.1  </a:t>
              </a:r>
            </a:p>
            <a:p>
              <a:pPr lvl="0" algn="ctr" defTabSz="889000">
                <a:lnSpc>
                  <a:spcPct val="90000"/>
                </a:lnSpc>
                <a:spcBef>
                  <a:spcPct val="0"/>
                </a:spcBef>
              </a:pPr>
              <a:r>
                <a:rPr lang="en-US" altLang="zh-CN" dirty="0"/>
                <a:t> </a:t>
              </a:r>
              <a:r>
                <a:rPr lang="zh-CN" altLang="en-US" dirty="0"/>
                <a:t>完全基于着色器</a:t>
              </a:r>
              <a:endParaRPr lang="zh-CN" altLang="en-US" sz="2000" kern="1200" dirty="0">
                <a:latin typeface="叶根友唐楷字体" panose="02010601030101010101" pitchFamily="2" charset="-122"/>
                <a:ea typeface="叶根友唐楷字体" panose="02010601030101010101" pitchFamily="2" charset="-122"/>
              </a:endParaRPr>
            </a:p>
          </p:txBody>
        </p:sp>
      </p:grpSp>
      <p:grpSp>
        <p:nvGrpSpPr>
          <p:cNvPr id="54" name="组合 53"/>
          <p:cNvGrpSpPr/>
          <p:nvPr/>
        </p:nvGrpSpPr>
        <p:grpSpPr>
          <a:xfrm>
            <a:off x="1119433" y="2237725"/>
            <a:ext cx="2029375" cy="568721"/>
            <a:chOff x="2213096" y="1549803"/>
            <a:chExt cx="816469" cy="920618"/>
          </a:xfrm>
        </p:grpSpPr>
        <p:sp>
          <p:nvSpPr>
            <p:cNvPr id="55" name="矩形: 圆角 54"/>
            <p:cNvSpPr/>
            <p:nvPr/>
          </p:nvSpPr>
          <p:spPr>
            <a:xfrm>
              <a:off x="2213096" y="1549803"/>
              <a:ext cx="816469" cy="920618"/>
            </a:xfrm>
            <a:prstGeom prst="roundRect">
              <a:avLst>
                <a:gd name="adj" fmla="val 10000"/>
              </a:avLst>
            </a:prstGeom>
            <a:solidFill>
              <a:schemeClr val="accent1">
                <a:lumMod val="7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56" name="矩形: 圆角 4"/>
            <p:cNvSpPr txBox="1"/>
            <p:nvPr/>
          </p:nvSpPr>
          <p:spPr>
            <a:xfrm>
              <a:off x="2237010" y="1573717"/>
              <a:ext cx="768641" cy="87279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76200" tIns="76200" rIns="76200" bIns="76200" numCol="1" spcCol="1270" anchor="ctr" anchorCtr="0">
              <a:noAutofit/>
            </a:bodyPr>
            <a:lstStyle/>
            <a:p>
              <a:pPr lvl="0" algn="ctr" defTabSz="889000">
                <a:lnSpc>
                  <a:spcPct val="90000"/>
                </a:lnSpc>
                <a:spcBef>
                  <a:spcPct val="0"/>
                </a:spcBef>
              </a:pPr>
              <a:r>
                <a:rPr lang="en-US" altLang="zh-CN" dirty="0"/>
                <a:t>2004 OpenGL 2.0 </a:t>
              </a:r>
            </a:p>
            <a:p>
              <a:pPr lvl="0" algn="ctr" defTabSz="889000">
                <a:lnSpc>
                  <a:spcPct val="90000"/>
                </a:lnSpc>
                <a:spcBef>
                  <a:spcPct val="0"/>
                </a:spcBef>
              </a:pPr>
              <a:r>
                <a:rPr lang="en-US" altLang="zh-CN" dirty="0"/>
                <a:t> </a:t>
              </a:r>
              <a:r>
                <a:rPr lang="zh-CN" altLang="en-US" dirty="0"/>
                <a:t>顶点</a:t>
              </a:r>
              <a:r>
                <a:rPr lang="en-US" altLang="zh-CN" dirty="0"/>
                <a:t>/</a:t>
              </a:r>
              <a:r>
                <a:rPr lang="zh-CN" altLang="en-US" dirty="0"/>
                <a:t>片段着色器</a:t>
              </a:r>
              <a:endParaRPr lang="zh-CN" altLang="en-US" sz="2000" kern="1200" dirty="0">
                <a:latin typeface="叶根友唐楷字体" panose="02010601030101010101" pitchFamily="2" charset="-122"/>
                <a:ea typeface="叶根友唐楷字体" panose="02010601030101010101" pitchFamily="2" charset="-122"/>
              </a:endParaRPr>
            </a:p>
          </p:txBody>
        </p:sp>
      </p:grpSp>
      <p:grpSp>
        <p:nvGrpSpPr>
          <p:cNvPr id="57" name="组合 56"/>
          <p:cNvGrpSpPr/>
          <p:nvPr/>
        </p:nvGrpSpPr>
        <p:grpSpPr>
          <a:xfrm>
            <a:off x="1178937" y="5158341"/>
            <a:ext cx="1969871" cy="676498"/>
            <a:chOff x="2213096" y="1549803"/>
            <a:chExt cx="816469" cy="1095083"/>
          </a:xfrm>
        </p:grpSpPr>
        <p:sp>
          <p:nvSpPr>
            <p:cNvPr id="58" name="矩形: 圆角 57"/>
            <p:cNvSpPr/>
            <p:nvPr/>
          </p:nvSpPr>
          <p:spPr>
            <a:xfrm>
              <a:off x="2213096" y="1549803"/>
              <a:ext cx="816469" cy="920618"/>
            </a:xfrm>
            <a:prstGeom prst="roundRect">
              <a:avLst>
                <a:gd name="adj" fmla="val 10000"/>
              </a:avLst>
            </a:prstGeom>
            <a:solidFill>
              <a:schemeClr val="accent1">
                <a:lumMod val="7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59" name="矩形: 圆角 4"/>
            <p:cNvSpPr txBox="1"/>
            <p:nvPr/>
          </p:nvSpPr>
          <p:spPr>
            <a:xfrm>
              <a:off x="2237010" y="1772097"/>
              <a:ext cx="768641" cy="87278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76200" tIns="76200" rIns="76200" bIns="76200" numCol="1" spcCol="1270" anchor="ctr" anchorCtr="0">
              <a:noAutofit/>
            </a:bodyPr>
            <a:lstStyle/>
            <a:p>
              <a:pPr lvl="0" algn="ctr" defTabSz="889000">
                <a:lnSpc>
                  <a:spcPct val="90000"/>
                </a:lnSpc>
                <a:spcBef>
                  <a:spcPct val="0"/>
                </a:spcBef>
              </a:pPr>
              <a:r>
                <a:rPr lang="en-US" altLang="zh-CN" dirty="0"/>
                <a:t>2015 HTML5</a:t>
              </a:r>
              <a:r>
                <a:rPr lang="zh-CN" altLang="en-US" dirty="0"/>
                <a:t>发布</a:t>
              </a:r>
              <a:r>
                <a:rPr lang="en-US" altLang="zh-CN" dirty="0"/>
                <a:t> </a:t>
              </a:r>
              <a:r>
                <a:rPr lang="en-US" altLang="zh-CN" dirty="0" err="1"/>
                <a:t>WebGL</a:t>
              </a:r>
              <a:r>
                <a:rPr lang="zh-CN" altLang="en-US" dirty="0"/>
                <a:t>流行</a:t>
              </a:r>
              <a:r>
                <a:rPr lang="en-US" altLang="zh-CN" dirty="0"/>
                <a:t>  </a:t>
              </a:r>
            </a:p>
            <a:p>
              <a:pPr lvl="0" algn="ctr" defTabSz="889000">
                <a:lnSpc>
                  <a:spcPct val="90000"/>
                </a:lnSpc>
                <a:spcBef>
                  <a:spcPct val="0"/>
                </a:spcBef>
              </a:pPr>
              <a:r>
                <a:rPr lang="en-US" altLang="zh-CN" dirty="0"/>
                <a:t> </a:t>
              </a:r>
              <a:endParaRPr lang="zh-CN" altLang="en-US" sz="2000" kern="1200" dirty="0">
                <a:latin typeface="叶根友唐楷字体" panose="02010601030101010101" pitchFamily="2" charset="-122"/>
                <a:ea typeface="叶根友唐楷字体" panose="02010601030101010101" pitchFamily="2" charset="-122"/>
              </a:endParaRPr>
            </a:p>
          </p:txBody>
        </p:sp>
      </p:grpSp>
      <p:sp>
        <p:nvSpPr>
          <p:cNvPr id="60" name="文本框 59"/>
          <p:cNvSpPr txBox="1"/>
          <p:nvPr/>
        </p:nvSpPr>
        <p:spPr>
          <a:xfrm>
            <a:off x="269725" y="6041449"/>
            <a:ext cx="4230232" cy="584775"/>
          </a:xfrm>
          <a:prstGeom prst="rect">
            <a:avLst/>
          </a:prstGeom>
          <a:noFill/>
        </p:spPr>
        <p:txBody>
          <a:bodyPr wrap="square" rtlCol="0">
            <a:prstTxWarp prst="textCanUp">
              <a:avLst/>
            </a:prstTxWarp>
            <a:spAutoFit/>
          </a:bodyPr>
          <a:lstStyle/>
          <a:p>
            <a:r>
              <a:rPr lang="en-US" altLang="zh-CN" sz="1400" b="1" dirty="0">
                <a:solidFill>
                  <a:srgbClr val="00B0F0"/>
                </a:solidFill>
              </a:rPr>
              <a:t>OpenGL</a:t>
            </a:r>
            <a:r>
              <a:rPr lang="en-US" altLang="zh-CN" sz="1200" b="1" baseline="30000" dirty="0">
                <a:solidFill>
                  <a:srgbClr val="00B0F0"/>
                </a:solidFill>
              </a:rPr>
              <a:t> </a:t>
            </a:r>
            <a:r>
              <a:rPr lang="en-US" altLang="zh-CN" sz="1400" b="1" dirty="0">
                <a:solidFill>
                  <a:srgbClr val="00B0F0"/>
                </a:solidFill>
              </a:rPr>
              <a:t> is the mainstream.</a:t>
            </a:r>
            <a:endParaRPr lang="zh-CN" altLang="en-US" sz="1400" b="1" dirty="0">
              <a:solidFill>
                <a:srgbClr val="00B0F0"/>
              </a:solidFill>
            </a:endParaRPr>
          </a:p>
        </p:txBody>
      </p:sp>
      <p:cxnSp>
        <p:nvCxnSpPr>
          <p:cNvPr id="61" name="MH_Others_8"/>
          <p:cNvCxnSpPr/>
          <p:nvPr>
            <p:custDataLst>
              <p:tags r:id="rId19"/>
            </p:custDataLst>
          </p:nvPr>
        </p:nvCxnSpPr>
        <p:spPr>
          <a:xfrm>
            <a:off x="4621186" y="2503159"/>
            <a:ext cx="607125" cy="0"/>
          </a:xfrm>
          <a:prstGeom prst="line">
            <a:avLst/>
          </a:prstGeom>
          <a:ln w="6350">
            <a:solidFill>
              <a:srgbClr val="CFCFCF"/>
            </a:solidFill>
          </a:ln>
        </p:spPr>
        <p:style>
          <a:lnRef idx="1">
            <a:schemeClr val="accent1"/>
          </a:lnRef>
          <a:fillRef idx="0">
            <a:schemeClr val="accent1"/>
          </a:fillRef>
          <a:effectRef idx="0">
            <a:schemeClr val="accent1"/>
          </a:effectRef>
          <a:fontRef idx="minor">
            <a:schemeClr val="tx1"/>
          </a:fontRef>
        </p:style>
      </p:cxnSp>
      <p:sp>
        <p:nvSpPr>
          <p:cNvPr id="62" name="MH_Number_2"/>
          <p:cNvSpPr/>
          <p:nvPr>
            <p:custDataLst>
              <p:tags r:id="rId20"/>
            </p:custDataLst>
          </p:nvPr>
        </p:nvSpPr>
        <p:spPr>
          <a:xfrm flipH="1">
            <a:off x="5188247" y="2225509"/>
            <a:ext cx="617200" cy="565372"/>
          </a:xfrm>
          <a:custGeom>
            <a:avLst/>
            <a:gdLst>
              <a:gd name="connsiteX0" fmla="*/ 282686 w 617200"/>
              <a:gd name="connsiteY0" fmla="*/ 0 h 565372"/>
              <a:gd name="connsiteX1" fmla="*/ 559629 w 617200"/>
              <a:gd name="connsiteY1" fmla="*/ 225715 h 565372"/>
              <a:gd name="connsiteX2" fmla="*/ 561997 w 617200"/>
              <a:gd name="connsiteY2" fmla="*/ 249209 h 565372"/>
              <a:gd name="connsiteX3" fmla="*/ 617200 w 617200"/>
              <a:gd name="connsiteY3" fmla="*/ 282687 h 565372"/>
              <a:gd name="connsiteX4" fmla="*/ 561997 w 617200"/>
              <a:gd name="connsiteY4" fmla="*/ 316164 h 565372"/>
              <a:gd name="connsiteX5" fmla="*/ 559629 w 617200"/>
              <a:gd name="connsiteY5" fmla="*/ 339657 h 565372"/>
              <a:gd name="connsiteX6" fmla="*/ 282686 w 617200"/>
              <a:gd name="connsiteY6" fmla="*/ 565372 h 565372"/>
              <a:gd name="connsiteX7" fmla="*/ 0 w 617200"/>
              <a:gd name="connsiteY7" fmla="*/ 282686 h 565372"/>
              <a:gd name="connsiteX8" fmla="*/ 282686 w 617200"/>
              <a:gd name="connsiteY8" fmla="*/ 0 h 565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7200" h="565372">
                <a:moveTo>
                  <a:pt x="282686" y="0"/>
                </a:moveTo>
                <a:cubicBezTo>
                  <a:pt x="419294" y="0"/>
                  <a:pt x="533270" y="96900"/>
                  <a:pt x="559629" y="225715"/>
                </a:cubicBezTo>
                <a:lnTo>
                  <a:pt x="561997" y="249209"/>
                </a:lnTo>
                <a:lnTo>
                  <a:pt x="617200" y="282687"/>
                </a:lnTo>
                <a:lnTo>
                  <a:pt x="561997" y="316164"/>
                </a:lnTo>
                <a:lnTo>
                  <a:pt x="559629" y="339657"/>
                </a:lnTo>
                <a:cubicBezTo>
                  <a:pt x="533270" y="468472"/>
                  <a:pt x="419294" y="565372"/>
                  <a:pt x="282686" y="565372"/>
                </a:cubicBezTo>
                <a:cubicBezTo>
                  <a:pt x="126563" y="565372"/>
                  <a:pt x="0" y="438809"/>
                  <a:pt x="0" y="282686"/>
                </a:cubicBezTo>
                <a:cubicBezTo>
                  <a:pt x="0" y="126563"/>
                  <a:pt x="126563" y="0"/>
                  <a:pt x="282686" y="0"/>
                </a:cubicBezTo>
                <a:close/>
              </a:path>
            </a:pathLst>
          </a:custGeom>
          <a:solidFill>
            <a:srgbClr val="D5A6D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algn="ctr"/>
            <a:r>
              <a:rPr lang="en-US" altLang="zh-CN" sz="3200" dirty="0">
                <a:solidFill>
                  <a:srgbClr val="FFFFFF"/>
                </a:solidFill>
                <a:latin typeface="Impact" panose="020B0806030902050204" pitchFamily="34" charset="0"/>
              </a:rPr>
              <a:t>3</a:t>
            </a:r>
            <a:endParaRPr lang="zh-CN" altLang="en-US" sz="3200" dirty="0">
              <a:solidFill>
                <a:srgbClr val="FFFFFF"/>
              </a:solidFill>
              <a:latin typeface="Impact" panose="020B0806030902050204" pitchFamily="34" charset="0"/>
            </a:endParaRPr>
          </a:p>
        </p:txBody>
      </p:sp>
      <p:grpSp>
        <p:nvGrpSpPr>
          <p:cNvPr id="63" name="组合 62"/>
          <p:cNvGrpSpPr/>
          <p:nvPr/>
        </p:nvGrpSpPr>
        <p:grpSpPr>
          <a:xfrm>
            <a:off x="6017950" y="2232043"/>
            <a:ext cx="1512000" cy="544313"/>
            <a:chOff x="7514252" y="787764"/>
            <a:chExt cx="1358973" cy="544313"/>
          </a:xfrm>
        </p:grpSpPr>
        <p:sp>
          <p:nvSpPr>
            <p:cNvPr id="64" name="矩形: 圆角 63">
              <a:hlinkClick r:id="rId30" action="ppaction://hlinksldjump"/>
            </p:cNvPr>
            <p:cNvSpPr/>
            <p:nvPr/>
          </p:nvSpPr>
          <p:spPr>
            <a:xfrm>
              <a:off x="7514252" y="787764"/>
              <a:ext cx="1358973" cy="544313"/>
            </a:xfrm>
            <a:prstGeom prst="roundRect">
              <a:avLst>
                <a:gd name="adj" fmla="val 10000"/>
              </a:avLst>
            </a:prstGeom>
            <a:solidFill>
              <a:schemeClr val="accent2"/>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65" name="矩形: 圆角 4"/>
            <p:cNvSpPr txBox="1"/>
            <p:nvPr/>
          </p:nvSpPr>
          <p:spPr>
            <a:xfrm>
              <a:off x="7530194" y="803706"/>
              <a:ext cx="1327089" cy="51242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altLang="zh-CN" dirty="0">
                  <a:ea typeface="叶根友唐楷字体" panose="02010601030101010101" pitchFamily="2" charset="-122"/>
                </a:rPr>
                <a:t>2004</a:t>
              </a:r>
              <a:r>
                <a:rPr lang="en-US" altLang="zh-CN" kern="1200" dirty="0">
                  <a:ea typeface="叶根友唐楷字体" panose="02010601030101010101" pitchFamily="2" charset="-122"/>
                </a:rPr>
                <a:t> Direct3D 9.0c</a:t>
              </a:r>
              <a:endParaRPr lang="zh-CN" altLang="en-US" kern="1200" dirty="0">
                <a:ea typeface="叶根友唐楷字体" panose="02010601030101010101" pitchFamily="2" charset="-122"/>
              </a:endParaRPr>
            </a:p>
          </p:txBody>
        </p:sp>
      </p:grpSp>
      <p:grpSp>
        <p:nvGrpSpPr>
          <p:cNvPr id="66" name="组合 65"/>
          <p:cNvGrpSpPr/>
          <p:nvPr/>
        </p:nvGrpSpPr>
        <p:grpSpPr>
          <a:xfrm>
            <a:off x="6017949" y="3082100"/>
            <a:ext cx="1512000" cy="544313"/>
            <a:chOff x="7514252" y="787764"/>
            <a:chExt cx="1358973" cy="544313"/>
          </a:xfrm>
        </p:grpSpPr>
        <p:sp>
          <p:nvSpPr>
            <p:cNvPr id="67" name="矩形: 圆角 66">
              <a:hlinkClick r:id="rId30" action="ppaction://hlinksldjump"/>
            </p:cNvPr>
            <p:cNvSpPr/>
            <p:nvPr/>
          </p:nvSpPr>
          <p:spPr>
            <a:xfrm>
              <a:off x="7514252" y="787764"/>
              <a:ext cx="1358973" cy="544313"/>
            </a:xfrm>
            <a:prstGeom prst="roundRect">
              <a:avLst>
                <a:gd name="adj" fmla="val 10000"/>
              </a:avLst>
            </a:prstGeom>
            <a:solidFill>
              <a:schemeClr val="accent2"/>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68" name="矩形: 圆角 4"/>
            <p:cNvSpPr txBox="1"/>
            <p:nvPr/>
          </p:nvSpPr>
          <p:spPr>
            <a:xfrm>
              <a:off x="7530194" y="803706"/>
              <a:ext cx="1327089" cy="51242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altLang="zh-CN" dirty="0">
                  <a:ea typeface="叶根友唐楷字体" panose="02010601030101010101" pitchFamily="2" charset="-122"/>
                </a:rPr>
                <a:t>2009</a:t>
              </a:r>
              <a:r>
                <a:rPr lang="en-US" altLang="zh-CN" kern="1200" dirty="0">
                  <a:ea typeface="叶根友唐楷字体" panose="02010601030101010101" pitchFamily="2" charset="-122"/>
                </a:rPr>
                <a:t> Direct3D 11.0</a:t>
              </a:r>
              <a:endParaRPr lang="zh-CN" altLang="en-US" kern="1200" dirty="0">
                <a:ea typeface="叶根友唐楷字体" panose="02010601030101010101" pitchFamily="2" charset="-122"/>
              </a:endParaRPr>
            </a:p>
          </p:txBody>
        </p:sp>
      </p:grpSp>
      <p:cxnSp>
        <p:nvCxnSpPr>
          <p:cNvPr id="69" name="MH_Others_10"/>
          <p:cNvCxnSpPr/>
          <p:nvPr>
            <p:custDataLst>
              <p:tags r:id="rId21"/>
            </p:custDataLst>
          </p:nvPr>
        </p:nvCxnSpPr>
        <p:spPr>
          <a:xfrm>
            <a:off x="4629689" y="4265773"/>
            <a:ext cx="607125" cy="0"/>
          </a:xfrm>
          <a:prstGeom prst="line">
            <a:avLst/>
          </a:prstGeom>
          <a:ln w="6350">
            <a:solidFill>
              <a:srgbClr val="CFCFCF"/>
            </a:solidFill>
          </a:ln>
        </p:spPr>
        <p:style>
          <a:lnRef idx="1">
            <a:schemeClr val="accent1"/>
          </a:lnRef>
          <a:fillRef idx="0">
            <a:schemeClr val="accent1"/>
          </a:fillRef>
          <a:effectRef idx="0">
            <a:schemeClr val="accent1"/>
          </a:effectRef>
          <a:fontRef idx="minor">
            <a:schemeClr val="tx1"/>
          </a:fontRef>
        </p:style>
      </p:cxnSp>
      <p:sp>
        <p:nvSpPr>
          <p:cNvPr id="70" name="MH_Number_4"/>
          <p:cNvSpPr/>
          <p:nvPr>
            <p:custDataLst>
              <p:tags r:id="rId22"/>
            </p:custDataLst>
          </p:nvPr>
        </p:nvSpPr>
        <p:spPr>
          <a:xfrm flipH="1">
            <a:off x="5197674" y="3989871"/>
            <a:ext cx="617200" cy="565372"/>
          </a:xfrm>
          <a:custGeom>
            <a:avLst/>
            <a:gdLst>
              <a:gd name="connsiteX0" fmla="*/ 282686 w 617200"/>
              <a:gd name="connsiteY0" fmla="*/ 0 h 565372"/>
              <a:gd name="connsiteX1" fmla="*/ 559629 w 617200"/>
              <a:gd name="connsiteY1" fmla="*/ 225715 h 565372"/>
              <a:gd name="connsiteX2" fmla="*/ 561997 w 617200"/>
              <a:gd name="connsiteY2" fmla="*/ 249209 h 565372"/>
              <a:gd name="connsiteX3" fmla="*/ 617200 w 617200"/>
              <a:gd name="connsiteY3" fmla="*/ 282687 h 565372"/>
              <a:gd name="connsiteX4" fmla="*/ 561997 w 617200"/>
              <a:gd name="connsiteY4" fmla="*/ 316164 h 565372"/>
              <a:gd name="connsiteX5" fmla="*/ 559629 w 617200"/>
              <a:gd name="connsiteY5" fmla="*/ 339657 h 565372"/>
              <a:gd name="connsiteX6" fmla="*/ 282686 w 617200"/>
              <a:gd name="connsiteY6" fmla="*/ 565372 h 565372"/>
              <a:gd name="connsiteX7" fmla="*/ 0 w 617200"/>
              <a:gd name="connsiteY7" fmla="*/ 282686 h 565372"/>
              <a:gd name="connsiteX8" fmla="*/ 282686 w 617200"/>
              <a:gd name="connsiteY8" fmla="*/ 0 h 565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7200" h="565372">
                <a:moveTo>
                  <a:pt x="282686" y="0"/>
                </a:moveTo>
                <a:cubicBezTo>
                  <a:pt x="419294" y="0"/>
                  <a:pt x="533270" y="96900"/>
                  <a:pt x="559629" y="225715"/>
                </a:cubicBezTo>
                <a:lnTo>
                  <a:pt x="561997" y="249209"/>
                </a:lnTo>
                <a:lnTo>
                  <a:pt x="617200" y="282687"/>
                </a:lnTo>
                <a:lnTo>
                  <a:pt x="561997" y="316164"/>
                </a:lnTo>
                <a:lnTo>
                  <a:pt x="559629" y="339657"/>
                </a:lnTo>
                <a:cubicBezTo>
                  <a:pt x="533270" y="468472"/>
                  <a:pt x="419294" y="565372"/>
                  <a:pt x="282686" y="565372"/>
                </a:cubicBezTo>
                <a:cubicBezTo>
                  <a:pt x="126563" y="565372"/>
                  <a:pt x="0" y="438809"/>
                  <a:pt x="0" y="282686"/>
                </a:cubicBezTo>
                <a:cubicBezTo>
                  <a:pt x="0" y="126563"/>
                  <a:pt x="126563" y="0"/>
                  <a:pt x="282686" y="0"/>
                </a:cubicBezTo>
                <a:close/>
              </a:path>
            </a:pathLst>
          </a:cu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algn="ctr"/>
            <a:r>
              <a:rPr lang="en-US" altLang="zh-CN" sz="3200" dirty="0">
                <a:solidFill>
                  <a:srgbClr val="FFFFFF"/>
                </a:solidFill>
                <a:latin typeface="Impact" panose="020B0806030902050204" pitchFamily="34" charset="0"/>
              </a:rPr>
              <a:t>5</a:t>
            </a:r>
            <a:endParaRPr lang="zh-CN" altLang="en-US" sz="3200" dirty="0">
              <a:solidFill>
                <a:srgbClr val="FFFFFF"/>
              </a:solidFill>
              <a:latin typeface="Impact" panose="020B0806030902050204" pitchFamily="34" charset="0"/>
            </a:endParaRPr>
          </a:p>
        </p:txBody>
      </p:sp>
      <p:grpSp>
        <p:nvGrpSpPr>
          <p:cNvPr id="71" name="组合 70"/>
          <p:cNvGrpSpPr/>
          <p:nvPr/>
        </p:nvGrpSpPr>
        <p:grpSpPr>
          <a:xfrm>
            <a:off x="6017949" y="3979735"/>
            <a:ext cx="1512000" cy="544313"/>
            <a:chOff x="7514252" y="787764"/>
            <a:chExt cx="1358973" cy="544313"/>
          </a:xfrm>
        </p:grpSpPr>
        <p:sp>
          <p:nvSpPr>
            <p:cNvPr id="72" name="矩形: 圆角 71">
              <a:hlinkClick r:id="rId30" action="ppaction://hlinksldjump"/>
            </p:cNvPr>
            <p:cNvSpPr/>
            <p:nvPr/>
          </p:nvSpPr>
          <p:spPr>
            <a:xfrm>
              <a:off x="7514252" y="787764"/>
              <a:ext cx="1358973" cy="544313"/>
            </a:xfrm>
            <a:prstGeom prst="roundRect">
              <a:avLst>
                <a:gd name="adj" fmla="val 10000"/>
              </a:avLst>
            </a:prstGeom>
            <a:solidFill>
              <a:schemeClr val="accent2"/>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73" name="矩形: 圆角 4"/>
            <p:cNvSpPr txBox="1"/>
            <p:nvPr/>
          </p:nvSpPr>
          <p:spPr>
            <a:xfrm>
              <a:off x="7530194" y="803706"/>
              <a:ext cx="1327089" cy="51242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altLang="zh-CN" dirty="0">
                  <a:ea typeface="叶根友唐楷字体" panose="02010601030101010101" pitchFamily="2" charset="-122"/>
                </a:rPr>
                <a:t>2010</a:t>
              </a:r>
              <a:r>
                <a:rPr lang="en-US" altLang="zh-CN" kern="1200" dirty="0">
                  <a:ea typeface="叶根友唐楷字体" panose="02010601030101010101" pitchFamily="2" charset="-122"/>
                </a:rPr>
                <a:t> Kinect 1.0</a:t>
              </a:r>
              <a:r>
                <a:rPr lang="zh-CN" altLang="en-US" kern="1200" dirty="0">
                  <a:ea typeface="叶根友唐楷字体" panose="02010601030101010101" pitchFamily="2" charset="-122"/>
                </a:rPr>
                <a:t>发布</a:t>
              </a:r>
            </a:p>
          </p:txBody>
        </p:sp>
      </p:grpSp>
      <p:cxnSp>
        <p:nvCxnSpPr>
          <p:cNvPr id="74" name="MH_Others_10"/>
          <p:cNvCxnSpPr/>
          <p:nvPr>
            <p:custDataLst>
              <p:tags r:id="rId23"/>
            </p:custDataLst>
          </p:nvPr>
        </p:nvCxnSpPr>
        <p:spPr>
          <a:xfrm>
            <a:off x="4640040" y="5436193"/>
            <a:ext cx="607125" cy="0"/>
          </a:xfrm>
          <a:prstGeom prst="line">
            <a:avLst/>
          </a:prstGeom>
          <a:ln w="6350">
            <a:solidFill>
              <a:srgbClr val="CFCFCF"/>
            </a:solidFill>
          </a:ln>
        </p:spPr>
        <p:style>
          <a:lnRef idx="1">
            <a:schemeClr val="accent1"/>
          </a:lnRef>
          <a:fillRef idx="0">
            <a:schemeClr val="accent1"/>
          </a:fillRef>
          <a:effectRef idx="0">
            <a:schemeClr val="accent1"/>
          </a:effectRef>
          <a:fontRef idx="minor">
            <a:schemeClr val="tx1"/>
          </a:fontRef>
        </p:style>
      </p:cxnSp>
      <p:sp>
        <p:nvSpPr>
          <p:cNvPr id="75" name="MH_Number_4"/>
          <p:cNvSpPr/>
          <p:nvPr>
            <p:custDataLst>
              <p:tags r:id="rId24"/>
            </p:custDataLst>
          </p:nvPr>
        </p:nvSpPr>
        <p:spPr>
          <a:xfrm flipH="1">
            <a:off x="5197674" y="5154533"/>
            <a:ext cx="617200" cy="565372"/>
          </a:xfrm>
          <a:custGeom>
            <a:avLst/>
            <a:gdLst>
              <a:gd name="connsiteX0" fmla="*/ 282686 w 617200"/>
              <a:gd name="connsiteY0" fmla="*/ 0 h 565372"/>
              <a:gd name="connsiteX1" fmla="*/ 559629 w 617200"/>
              <a:gd name="connsiteY1" fmla="*/ 225715 h 565372"/>
              <a:gd name="connsiteX2" fmla="*/ 561997 w 617200"/>
              <a:gd name="connsiteY2" fmla="*/ 249209 h 565372"/>
              <a:gd name="connsiteX3" fmla="*/ 617200 w 617200"/>
              <a:gd name="connsiteY3" fmla="*/ 282687 h 565372"/>
              <a:gd name="connsiteX4" fmla="*/ 561997 w 617200"/>
              <a:gd name="connsiteY4" fmla="*/ 316164 h 565372"/>
              <a:gd name="connsiteX5" fmla="*/ 559629 w 617200"/>
              <a:gd name="connsiteY5" fmla="*/ 339657 h 565372"/>
              <a:gd name="connsiteX6" fmla="*/ 282686 w 617200"/>
              <a:gd name="connsiteY6" fmla="*/ 565372 h 565372"/>
              <a:gd name="connsiteX7" fmla="*/ 0 w 617200"/>
              <a:gd name="connsiteY7" fmla="*/ 282686 h 565372"/>
              <a:gd name="connsiteX8" fmla="*/ 282686 w 617200"/>
              <a:gd name="connsiteY8" fmla="*/ 0 h 565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7200" h="565372">
                <a:moveTo>
                  <a:pt x="282686" y="0"/>
                </a:moveTo>
                <a:cubicBezTo>
                  <a:pt x="419294" y="0"/>
                  <a:pt x="533270" y="96900"/>
                  <a:pt x="559629" y="225715"/>
                </a:cubicBezTo>
                <a:lnTo>
                  <a:pt x="561997" y="249209"/>
                </a:lnTo>
                <a:lnTo>
                  <a:pt x="617200" y="282687"/>
                </a:lnTo>
                <a:lnTo>
                  <a:pt x="561997" y="316164"/>
                </a:lnTo>
                <a:lnTo>
                  <a:pt x="559629" y="339657"/>
                </a:lnTo>
                <a:cubicBezTo>
                  <a:pt x="533270" y="468472"/>
                  <a:pt x="419294" y="565372"/>
                  <a:pt x="282686" y="565372"/>
                </a:cubicBezTo>
                <a:cubicBezTo>
                  <a:pt x="126563" y="565372"/>
                  <a:pt x="0" y="438809"/>
                  <a:pt x="0" y="282686"/>
                </a:cubicBezTo>
                <a:cubicBezTo>
                  <a:pt x="0" y="126563"/>
                  <a:pt x="126563" y="0"/>
                  <a:pt x="282686" y="0"/>
                </a:cubicBezTo>
                <a:close/>
              </a:path>
            </a:pathLst>
          </a:custGeom>
          <a:solidFill>
            <a:srgbClr val="464DD9"/>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algn="ctr"/>
            <a:r>
              <a:rPr lang="en-US" altLang="zh-CN" sz="3200" dirty="0">
                <a:solidFill>
                  <a:srgbClr val="FFFFFF"/>
                </a:solidFill>
                <a:latin typeface="Impact" panose="020B0806030902050204" pitchFamily="34" charset="0"/>
              </a:rPr>
              <a:t>7</a:t>
            </a:r>
            <a:endParaRPr lang="zh-CN" altLang="en-US" sz="3200" dirty="0">
              <a:solidFill>
                <a:srgbClr val="FFFFFF"/>
              </a:solidFill>
              <a:latin typeface="Impact" panose="020B0806030902050204" pitchFamily="34" charset="0"/>
            </a:endParaRPr>
          </a:p>
        </p:txBody>
      </p:sp>
      <p:grpSp>
        <p:nvGrpSpPr>
          <p:cNvPr id="76" name="组合 75"/>
          <p:cNvGrpSpPr/>
          <p:nvPr/>
        </p:nvGrpSpPr>
        <p:grpSpPr>
          <a:xfrm>
            <a:off x="6017949" y="5148914"/>
            <a:ext cx="1512000" cy="544313"/>
            <a:chOff x="7514252" y="787764"/>
            <a:chExt cx="1358973" cy="544313"/>
          </a:xfrm>
        </p:grpSpPr>
        <p:sp>
          <p:nvSpPr>
            <p:cNvPr id="77" name="矩形: 圆角 76">
              <a:hlinkClick r:id="rId30" action="ppaction://hlinksldjump"/>
            </p:cNvPr>
            <p:cNvSpPr/>
            <p:nvPr/>
          </p:nvSpPr>
          <p:spPr>
            <a:xfrm>
              <a:off x="7514252" y="787764"/>
              <a:ext cx="1358973" cy="544313"/>
            </a:xfrm>
            <a:prstGeom prst="roundRect">
              <a:avLst>
                <a:gd name="adj" fmla="val 10000"/>
              </a:avLst>
            </a:prstGeom>
            <a:solidFill>
              <a:schemeClr val="accent2"/>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78" name="矩形: 圆角 4"/>
            <p:cNvSpPr txBox="1"/>
            <p:nvPr/>
          </p:nvSpPr>
          <p:spPr>
            <a:xfrm>
              <a:off x="7530194" y="803706"/>
              <a:ext cx="1327089" cy="51242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altLang="zh-CN" dirty="0">
                  <a:ea typeface="叶根友唐楷字体" panose="02010601030101010101" pitchFamily="2" charset="-122"/>
                </a:rPr>
                <a:t>2015</a:t>
              </a:r>
              <a:r>
                <a:rPr lang="en-US" altLang="zh-CN" kern="1200" dirty="0">
                  <a:ea typeface="叶根友唐楷字体" panose="02010601030101010101" pitchFamily="2" charset="-122"/>
                </a:rPr>
                <a:t> HoloLens</a:t>
              </a:r>
              <a:r>
                <a:rPr lang="zh-CN" altLang="en-US" kern="1200" dirty="0">
                  <a:ea typeface="叶根友唐楷字体" panose="02010601030101010101" pitchFamily="2" charset="-122"/>
                </a:rPr>
                <a:t>发布</a:t>
              </a:r>
            </a:p>
          </p:txBody>
        </p:sp>
      </p:grpSp>
      <p:cxnSp>
        <p:nvCxnSpPr>
          <p:cNvPr id="79" name="MH_Others_6"/>
          <p:cNvCxnSpPr/>
          <p:nvPr>
            <p:custDataLst>
              <p:tags r:id="rId25"/>
            </p:custDataLst>
          </p:nvPr>
        </p:nvCxnSpPr>
        <p:spPr>
          <a:xfrm flipH="1">
            <a:off x="4032915" y="5436193"/>
            <a:ext cx="607125" cy="0"/>
          </a:xfrm>
          <a:prstGeom prst="line">
            <a:avLst/>
          </a:prstGeom>
          <a:ln w="6350">
            <a:solidFill>
              <a:srgbClr val="CFCFCF"/>
            </a:solidFill>
          </a:ln>
        </p:spPr>
        <p:style>
          <a:lnRef idx="1">
            <a:schemeClr val="accent1"/>
          </a:lnRef>
          <a:fillRef idx="0">
            <a:schemeClr val="accent1"/>
          </a:fillRef>
          <a:effectRef idx="0">
            <a:schemeClr val="accent1"/>
          </a:effectRef>
          <a:fontRef idx="minor">
            <a:schemeClr val="tx1"/>
          </a:fontRef>
        </p:style>
      </p:cxnSp>
      <p:sp>
        <p:nvSpPr>
          <p:cNvPr id="80" name="MH_Number_5"/>
          <p:cNvSpPr/>
          <p:nvPr>
            <p:custDataLst>
              <p:tags r:id="rId26"/>
            </p:custDataLst>
          </p:nvPr>
        </p:nvSpPr>
        <p:spPr>
          <a:xfrm>
            <a:off x="3428762" y="5153507"/>
            <a:ext cx="617200" cy="565372"/>
          </a:xfrm>
          <a:custGeom>
            <a:avLst/>
            <a:gdLst>
              <a:gd name="connsiteX0" fmla="*/ 282686 w 617200"/>
              <a:gd name="connsiteY0" fmla="*/ 0 h 565372"/>
              <a:gd name="connsiteX1" fmla="*/ 559629 w 617200"/>
              <a:gd name="connsiteY1" fmla="*/ 225715 h 565372"/>
              <a:gd name="connsiteX2" fmla="*/ 561997 w 617200"/>
              <a:gd name="connsiteY2" fmla="*/ 249209 h 565372"/>
              <a:gd name="connsiteX3" fmla="*/ 617200 w 617200"/>
              <a:gd name="connsiteY3" fmla="*/ 282687 h 565372"/>
              <a:gd name="connsiteX4" fmla="*/ 561997 w 617200"/>
              <a:gd name="connsiteY4" fmla="*/ 316164 h 565372"/>
              <a:gd name="connsiteX5" fmla="*/ 559629 w 617200"/>
              <a:gd name="connsiteY5" fmla="*/ 339657 h 565372"/>
              <a:gd name="connsiteX6" fmla="*/ 282686 w 617200"/>
              <a:gd name="connsiteY6" fmla="*/ 565372 h 565372"/>
              <a:gd name="connsiteX7" fmla="*/ 0 w 617200"/>
              <a:gd name="connsiteY7" fmla="*/ 282686 h 565372"/>
              <a:gd name="connsiteX8" fmla="*/ 282686 w 617200"/>
              <a:gd name="connsiteY8" fmla="*/ 0 h 565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7200" h="565372">
                <a:moveTo>
                  <a:pt x="282686" y="0"/>
                </a:moveTo>
                <a:cubicBezTo>
                  <a:pt x="419294" y="0"/>
                  <a:pt x="533270" y="96900"/>
                  <a:pt x="559629" y="225715"/>
                </a:cubicBezTo>
                <a:lnTo>
                  <a:pt x="561997" y="249209"/>
                </a:lnTo>
                <a:lnTo>
                  <a:pt x="617200" y="282687"/>
                </a:lnTo>
                <a:lnTo>
                  <a:pt x="561997" y="316164"/>
                </a:lnTo>
                <a:lnTo>
                  <a:pt x="559629" y="339657"/>
                </a:lnTo>
                <a:cubicBezTo>
                  <a:pt x="533270" y="468472"/>
                  <a:pt x="419294" y="565372"/>
                  <a:pt x="282686" y="565372"/>
                </a:cubicBezTo>
                <a:cubicBezTo>
                  <a:pt x="126563" y="565372"/>
                  <a:pt x="0" y="438809"/>
                  <a:pt x="0" y="282686"/>
                </a:cubicBezTo>
                <a:cubicBezTo>
                  <a:pt x="0" y="126563"/>
                  <a:pt x="126563" y="0"/>
                  <a:pt x="282686" y="0"/>
                </a:cubicBezTo>
                <a:close/>
              </a:path>
            </a:pathLst>
          </a:custGeom>
          <a:solidFill>
            <a:srgbClr val="464DD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36000" bIns="0" rtlCol="0" anchor="ctr"/>
          <a:lstStyle/>
          <a:p>
            <a:pPr algn="ctr"/>
            <a:r>
              <a:rPr lang="en-US" altLang="zh-CN" sz="3200" dirty="0">
                <a:solidFill>
                  <a:srgbClr val="FFFFFF"/>
                </a:solidFill>
                <a:latin typeface="Impact" panose="020B0806030902050204" pitchFamily="34" charset="0"/>
              </a:rPr>
              <a:t>7</a:t>
            </a:r>
            <a:endParaRPr lang="zh-CN" altLang="en-US" sz="3200" dirty="0">
              <a:solidFill>
                <a:srgbClr val="FFFFFF"/>
              </a:solidFill>
              <a:latin typeface="Impact" panose="020B0806030902050204" pitchFamily="34" charset="0"/>
            </a:endParaRPr>
          </a:p>
        </p:txBody>
      </p:sp>
      <p:grpSp>
        <p:nvGrpSpPr>
          <p:cNvPr id="81" name="组合 80"/>
          <p:cNvGrpSpPr/>
          <p:nvPr/>
        </p:nvGrpSpPr>
        <p:grpSpPr>
          <a:xfrm>
            <a:off x="1276537" y="4316001"/>
            <a:ext cx="1872271" cy="568721"/>
            <a:chOff x="2213096" y="1549803"/>
            <a:chExt cx="816469" cy="920618"/>
          </a:xfrm>
        </p:grpSpPr>
        <p:sp>
          <p:nvSpPr>
            <p:cNvPr id="82" name="矩形: 圆角 81"/>
            <p:cNvSpPr/>
            <p:nvPr/>
          </p:nvSpPr>
          <p:spPr>
            <a:xfrm>
              <a:off x="2213096" y="1549803"/>
              <a:ext cx="816469" cy="920618"/>
            </a:xfrm>
            <a:prstGeom prst="roundRect">
              <a:avLst>
                <a:gd name="adj" fmla="val 10000"/>
              </a:avLst>
            </a:prstGeom>
            <a:solidFill>
              <a:schemeClr val="accent1">
                <a:lumMod val="7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83" name="矩形: 圆角 4"/>
            <p:cNvSpPr txBox="1"/>
            <p:nvPr/>
          </p:nvSpPr>
          <p:spPr>
            <a:xfrm>
              <a:off x="2237010" y="1573717"/>
              <a:ext cx="768641" cy="87279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76200" tIns="76200" rIns="76200" bIns="76200" numCol="1" spcCol="1270" anchor="ctr" anchorCtr="0">
              <a:noAutofit/>
            </a:bodyPr>
            <a:lstStyle/>
            <a:p>
              <a:pPr lvl="0" algn="ctr" defTabSz="889000">
                <a:lnSpc>
                  <a:spcPct val="90000"/>
                </a:lnSpc>
                <a:spcBef>
                  <a:spcPct val="0"/>
                </a:spcBef>
              </a:pPr>
              <a:r>
                <a:rPr lang="en-US" altLang="zh-CN" dirty="0"/>
                <a:t>2012 OpenGL 4.1  </a:t>
              </a:r>
            </a:p>
            <a:p>
              <a:pPr lvl="0" algn="ctr" defTabSz="889000">
                <a:lnSpc>
                  <a:spcPct val="90000"/>
                </a:lnSpc>
                <a:spcBef>
                  <a:spcPct val="0"/>
                </a:spcBef>
              </a:pPr>
              <a:r>
                <a:rPr lang="en-US" altLang="zh-CN" dirty="0"/>
                <a:t> </a:t>
              </a:r>
              <a:r>
                <a:rPr lang="zh-CN" altLang="en-US" dirty="0"/>
                <a:t>几何着色器</a:t>
              </a:r>
              <a:endParaRPr lang="zh-CN" altLang="en-US" sz="2000" kern="1200" dirty="0">
                <a:latin typeface="叶根友唐楷字体" panose="02010601030101010101" pitchFamily="2" charset="-122"/>
                <a:ea typeface="叶根友唐楷字体" panose="02010601030101010101" pitchFamily="2" charset="-122"/>
              </a:endParaRPr>
            </a:p>
          </p:txBody>
        </p:sp>
      </p:grpSp>
      <p:sp>
        <p:nvSpPr>
          <p:cNvPr id="84" name="MH_Others_7"/>
          <p:cNvSpPr/>
          <p:nvPr>
            <p:custDataLst>
              <p:tags r:id="rId27"/>
            </p:custDataLst>
          </p:nvPr>
        </p:nvSpPr>
        <p:spPr>
          <a:xfrm>
            <a:off x="4531958" y="4220602"/>
            <a:ext cx="108000" cy="108000"/>
          </a:xfrm>
          <a:custGeom>
            <a:avLst/>
            <a:gdLst>
              <a:gd name="connsiteX0" fmla="*/ 75112 w 150224"/>
              <a:gd name="connsiteY0" fmla="*/ 0 h 150224"/>
              <a:gd name="connsiteX1" fmla="*/ 150224 w 150224"/>
              <a:gd name="connsiteY1" fmla="*/ 75112 h 150224"/>
              <a:gd name="connsiteX2" fmla="*/ 75112 w 150224"/>
              <a:gd name="connsiteY2" fmla="*/ 150224 h 150224"/>
              <a:gd name="connsiteX3" fmla="*/ 0 w 150224"/>
              <a:gd name="connsiteY3" fmla="*/ 75112 h 150224"/>
              <a:gd name="connsiteX4" fmla="*/ 75112 w 150224"/>
              <a:gd name="connsiteY4" fmla="*/ 0 h 1502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0224" h="150224">
                <a:moveTo>
                  <a:pt x="75112" y="0"/>
                </a:moveTo>
                <a:cubicBezTo>
                  <a:pt x="116595" y="0"/>
                  <a:pt x="150224" y="33629"/>
                  <a:pt x="150224" y="75112"/>
                </a:cubicBezTo>
                <a:cubicBezTo>
                  <a:pt x="150224" y="116595"/>
                  <a:pt x="116595" y="150224"/>
                  <a:pt x="75112" y="150224"/>
                </a:cubicBezTo>
                <a:cubicBezTo>
                  <a:pt x="33629" y="150224"/>
                  <a:pt x="0" y="116595"/>
                  <a:pt x="0" y="75112"/>
                </a:cubicBezTo>
                <a:cubicBezTo>
                  <a:pt x="0" y="33629"/>
                  <a:pt x="33629" y="0"/>
                  <a:pt x="75112" y="0"/>
                </a:cubicBezTo>
                <a:close/>
              </a:path>
            </a:pathLst>
          </a:custGeom>
          <a:solidFill>
            <a:srgbClr val="C0C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endParaRPr>
          </a:p>
        </p:txBody>
      </p:sp>
      <p:sp>
        <p:nvSpPr>
          <p:cNvPr id="85" name="MH_Others_7"/>
          <p:cNvSpPr/>
          <p:nvPr>
            <p:custDataLst>
              <p:tags r:id="rId28"/>
            </p:custDataLst>
          </p:nvPr>
        </p:nvSpPr>
        <p:spPr>
          <a:xfrm>
            <a:off x="4531960" y="5389529"/>
            <a:ext cx="108000" cy="108000"/>
          </a:xfrm>
          <a:custGeom>
            <a:avLst/>
            <a:gdLst>
              <a:gd name="connsiteX0" fmla="*/ 75112 w 150224"/>
              <a:gd name="connsiteY0" fmla="*/ 0 h 150224"/>
              <a:gd name="connsiteX1" fmla="*/ 150224 w 150224"/>
              <a:gd name="connsiteY1" fmla="*/ 75112 h 150224"/>
              <a:gd name="connsiteX2" fmla="*/ 75112 w 150224"/>
              <a:gd name="connsiteY2" fmla="*/ 150224 h 150224"/>
              <a:gd name="connsiteX3" fmla="*/ 0 w 150224"/>
              <a:gd name="connsiteY3" fmla="*/ 75112 h 150224"/>
              <a:gd name="connsiteX4" fmla="*/ 75112 w 150224"/>
              <a:gd name="connsiteY4" fmla="*/ 0 h 1502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0224" h="150224">
                <a:moveTo>
                  <a:pt x="75112" y="0"/>
                </a:moveTo>
                <a:cubicBezTo>
                  <a:pt x="116595" y="0"/>
                  <a:pt x="150224" y="33629"/>
                  <a:pt x="150224" y="75112"/>
                </a:cubicBezTo>
                <a:cubicBezTo>
                  <a:pt x="150224" y="116595"/>
                  <a:pt x="116595" y="150224"/>
                  <a:pt x="75112" y="150224"/>
                </a:cubicBezTo>
                <a:cubicBezTo>
                  <a:pt x="33629" y="150224"/>
                  <a:pt x="0" y="116595"/>
                  <a:pt x="0" y="75112"/>
                </a:cubicBezTo>
                <a:cubicBezTo>
                  <a:pt x="0" y="33629"/>
                  <a:pt x="33629" y="0"/>
                  <a:pt x="75112" y="0"/>
                </a:cubicBezTo>
                <a:close/>
              </a:path>
            </a:pathLst>
          </a:custGeom>
          <a:solidFill>
            <a:srgbClr val="C0C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endParaRPr>
          </a:p>
        </p:txBody>
      </p:sp>
    </p:spTree>
    <p:extLst>
      <p:ext uri="{BB962C8B-B14F-4D97-AF65-F5344CB8AC3E}">
        <p14:creationId xmlns:p14="http://schemas.microsoft.com/office/powerpoint/2010/main" val="31929698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32" fill="hold" grpId="0" nodeType="after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circle(out)">
                                      <p:cBhvr>
                                        <p:cTn id="7" dur="500"/>
                                        <p:tgtEl>
                                          <p:spTgt spid="30"/>
                                        </p:tgtEl>
                                      </p:cBhvr>
                                    </p:animEffect>
                                  </p:childTnLst>
                                </p:cTn>
                              </p:par>
                            </p:childTnLst>
                          </p:cTn>
                        </p:par>
                        <p:par>
                          <p:cTn id="8" fill="hold">
                            <p:stCondLst>
                              <p:cond delay="500"/>
                            </p:stCondLst>
                            <p:childTnLst>
                              <p:par>
                                <p:cTn id="9" presetID="6" presetClass="entr" presetSubtype="32" fill="hold" grpId="0" nodeType="afterEffect">
                                  <p:stCondLst>
                                    <p:cond delay="0"/>
                                  </p:stCondLst>
                                  <p:childTnLst>
                                    <p:set>
                                      <p:cBhvr>
                                        <p:cTn id="10" dur="1" fill="hold">
                                          <p:stCondLst>
                                            <p:cond delay="0"/>
                                          </p:stCondLst>
                                        </p:cTn>
                                        <p:tgtEl>
                                          <p:spTgt spid="39"/>
                                        </p:tgtEl>
                                        <p:attrNameLst>
                                          <p:attrName>style.visibility</p:attrName>
                                        </p:attrNameLst>
                                      </p:cBhvr>
                                      <p:to>
                                        <p:strVal val="visible"/>
                                      </p:to>
                                    </p:set>
                                    <p:animEffect transition="in" filter="circle(out)">
                                      <p:cBhvr>
                                        <p:cTn id="11" dur="500"/>
                                        <p:tgtEl>
                                          <p:spTgt spid="39"/>
                                        </p:tgtEl>
                                      </p:cBhvr>
                                    </p:animEffect>
                                  </p:childTnLst>
                                </p:cTn>
                              </p:par>
                            </p:childTnLst>
                          </p:cTn>
                        </p:par>
                        <p:par>
                          <p:cTn id="12" fill="hold">
                            <p:stCondLst>
                              <p:cond delay="1000"/>
                            </p:stCondLst>
                            <p:childTnLst>
                              <p:par>
                                <p:cTn id="13" presetID="6" presetClass="entr" presetSubtype="32" fill="hold" grpId="0" nodeType="afterEffect">
                                  <p:stCondLst>
                                    <p:cond delay="0"/>
                                  </p:stCondLst>
                                  <p:childTnLst>
                                    <p:set>
                                      <p:cBhvr>
                                        <p:cTn id="14" dur="1" fill="hold">
                                          <p:stCondLst>
                                            <p:cond delay="0"/>
                                          </p:stCondLst>
                                        </p:cTn>
                                        <p:tgtEl>
                                          <p:spTgt spid="62"/>
                                        </p:tgtEl>
                                        <p:attrNameLst>
                                          <p:attrName>style.visibility</p:attrName>
                                        </p:attrNameLst>
                                      </p:cBhvr>
                                      <p:to>
                                        <p:strVal val="visible"/>
                                      </p:to>
                                    </p:set>
                                    <p:animEffect transition="in" filter="circle(out)">
                                      <p:cBhvr>
                                        <p:cTn id="15" dur="500"/>
                                        <p:tgtEl>
                                          <p:spTgt spid="62"/>
                                        </p:tgtEl>
                                      </p:cBhvr>
                                    </p:animEffect>
                                  </p:childTnLst>
                                </p:cTn>
                              </p:par>
                            </p:childTnLst>
                          </p:cTn>
                        </p:par>
                        <p:par>
                          <p:cTn id="16" fill="hold">
                            <p:stCondLst>
                              <p:cond delay="1500"/>
                            </p:stCondLst>
                            <p:childTnLst>
                              <p:par>
                                <p:cTn id="17" presetID="6" presetClass="entr" presetSubtype="32" fill="hold" grpId="0" nodeType="afterEffect">
                                  <p:stCondLst>
                                    <p:cond delay="0"/>
                                  </p:stCondLst>
                                  <p:childTnLst>
                                    <p:set>
                                      <p:cBhvr>
                                        <p:cTn id="18" dur="1" fill="hold">
                                          <p:stCondLst>
                                            <p:cond delay="0"/>
                                          </p:stCondLst>
                                        </p:cTn>
                                        <p:tgtEl>
                                          <p:spTgt spid="33"/>
                                        </p:tgtEl>
                                        <p:attrNameLst>
                                          <p:attrName>style.visibility</p:attrName>
                                        </p:attrNameLst>
                                      </p:cBhvr>
                                      <p:to>
                                        <p:strVal val="visible"/>
                                      </p:to>
                                    </p:set>
                                    <p:animEffect transition="in" filter="circle(out)">
                                      <p:cBhvr>
                                        <p:cTn id="19" dur="500"/>
                                        <p:tgtEl>
                                          <p:spTgt spid="33"/>
                                        </p:tgtEl>
                                      </p:cBhvr>
                                    </p:animEffect>
                                  </p:childTnLst>
                                </p:cTn>
                              </p:par>
                            </p:childTnLst>
                          </p:cTn>
                        </p:par>
                        <p:par>
                          <p:cTn id="20" fill="hold">
                            <p:stCondLst>
                              <p:cond delay="2000"/>
                            </p:stCondLst>
                            <p:childTnLst>
                              <p:par>
                                <p:cTn id="21" presetID="6" presetClass="entr" presetSubtype="32" fill="hold" grpId="0" nodeType="afterEffect">
                                  <p:stCondLst>
                                    <p:cond delay="0"/>
                                  </p:stCondLst>
                                  <p:childTnLst>
                                    <p:set>
                                      <p:cBhvr>
                                        <p:cTn id="22" dur="1" fill="hold">
                                          <p:stCondLst>
                                            <p:cond delay="0"/>
                                          </p:stCondLst>
                                        </p:cTn>
                                        <p:tgtEl>
                                          <p:spTgt spid="42"/>
                                        </p:tgtEl>
                                        <p:attrNameLst>
                                          <p:attrName>style.visibility</p:attrName>
                                        </p:attrNameLst>
                                      </p:cBhvr>
                                      <p:to>
                                        <p:strVal val="visible"/>
                                      </p:to>
                                    </p:set>
                                    <p:animEffect transition="in" filter="circle(out)">
                                      <p:cBhvr>
                                        <p:cTn id="23" dur="500"/>
                                        <p:tgtEl>
                                          <p:spTgt spid="42"/>
                                        </p:tgtEl>
                                      </p:cBhvr>
                                    </p:animEffect>
                                  </p:childTnLst>
                                </p:cTn>
                              </p:par>
                            </p:childTnLst>
                          </p:cTn>
                        </p:par>
                        <p:par>
                          <p:cTn id="24" fill="hold">
                            <p:stCondLst>
                              <p:cond delay="2500"/>
                            </p:stCondLst>
                            <p:childTnLst>
                              <p:par>
                                <p:cTn id="25" presetID="6" presetClass="entr" presetSubtype="32" fill="hold" grpId="0" nodeType="afterEffect">
                                  <p:stCondLst>
                                    <p:cond delay="0"/>
                                  </p:stCondLst>
                                  <p:childTnLst>
                                    <p:set>
                                      <p:cBhvr>
                                        <p:cTn id="26" dur="1" fill="hold">
                                          <p:stCondLst>
                                            <p:cond delay="0"/>
                                          </p:stCondLst>
                                        </p:cTn>
                                        <p:tgtEl>
                                          <p:spTgt spid="50"/>
                                        </p:tgtEl>
                                        <p:attrNameLst>
                                          <p:attrName>style.visibility</p:attrName>
                                        </p:attrNameLst>
                                      </p:cBhvr>
                                      <p:to>
                                        <p:strVal val="visible"/>
                                      </p:to>
                                    </p:set>
                                    <p:animEffect transition="in" filter="circle(out)">
                                      <p:cBhvr>
                                        <p:cTn id="27" dur="500"/>
                                        <p:tgtEl>
                                          <p:spTgt spid="50"/>
                                        </p:tgtEl>
                                      </p:cBhvr>
                                    </p:animEffect>
                                  </p:childTnLst>
                                </p:cTn>
                              </p:par>
                            </p:childTnLst>
                          </p:cTn>
                        </p:par>
                        <p:par>
                          <p:cTn id="28" fill="hold">
                            <p:stCondLst>
                              <p:cond delay="3000"/>
                            </p:stCondLst>
                            <p:childTnLst>
                              <p:par>
                                <p:cTn id="29" presetID="6" presetClass="entr" presetSubtype="32" fill="hold" grpId="0" nodeType="afterEffect">
                                  <p:stCondLst>
                                    <p:cond delay="0"/>
                                  </p:stCondLst>
                                  <p:childTnLst>
                                    <p:set>
                                      <p:cBhvr>
                                        <p:cTn id="30" dur="1" fill="hold">
                                          <p:stCondLst>
                                            <p:cond delay="0"/>
                                          </p:stCondLst>
                                        </p:cTn>
                                        <p:tgtEl>
                                          <p:spTgt spid="70"/>
                                        </p:tgtEl>
                                        <p:attrNameLst>
                                          <p:attrName>style.visibility</p:attrName>
                                        </p:attrNameLst>
                                      </p:cBhvr>
                                      <p:to>
                                        <p:strVal val="visible"/>
                                      </p:to>
                                    </p:set>
                                    <p:animEffect transition="in" filter="circle(out)">
                                      <p:cBhvr>
                                        <p:cTn id="31" dur="500"/>
                                        <p:tgtEl>
                                          <p:spTgt spid="70"/>
                                        </p:tgtEl>
                                      </p:cBhvr>
                                    </p:animEffect>
                                  </p:childTnLst>
                                </p:cTn>
                              </p:par>
                            </p:childTnLst>
                          </p:cTn>
                        </p:par>
                        <p:par>
                          <p:cTn id="32" fill="hold">
                            <p:stCondLst>
                              <p:cond delay="3500"/>
                            </p:stCondLst>
                            <p:childTnLst>
                              <p:par>
                                <p:cTn id="33" presetID="6" presetClass="entr" presetSubtype="32" fill="hold" grpId="0" nodeType="afterEffect">
                                  <p:stCondLst>
                                    <p:cond delay="0"/>
                                  </p:stCondLst>
                                  <p:childTnLst>
                                    <p:set>
                                      <p:cBhvr>
                                        <p:cTn id="34" dur="1" fill="hold">
                                          <p:stCondLst>
                                            <p:cond delay="0"/>
                                          </p:stCondLst>
                                        </p:cTn>
                                        <p:tgtEl>
                                          <p:spTgt spid="36"/>
                                        </p:tgtEl>
                                        <p:attrNameLst>
                                          <p:attrName>style.visibility</p:attrName>
                                        </p:attrNameLst>
                                      </p:cBhvr>
                                      <p:to>
                                        <p:strVal val="visible"/>
                                      </p:to>
                                    </p:set>
                                    <p:animEffect transition="in" filter="circle(out)">
                                      <p:cBhvr>
                                        <p:cTn id="35" dur="500"/>
                                        <p:tgtEl>
                                          <p:spTgt spid="36"/>
                                        </p:tgtEl>
                                      </p:cBhvr>
                                    </p:animEffect>
                                  </p:childTnLst>
                                </p:cTn>
                              </p:par>
                            </p:childTnLst>
                          </p:cTn>
                        </p:par>
                        <p:par>
                          <p:cTn id="36" fill="hold">
                            <p:stCondLst>
                              <p:cond delay="4000"/>
                            </p:stCondLst>
                            <p:childTnLst>
                              <p:par>
                                <p:cTn id="37" presetID="6" presetClass="entr" presetSubtype="32" fill="hold" grpId="0" nodeType="afterEffect">
                                  <p:stCondLst>
                                    <p:cond delay="0"/>
                                  </p:stCondLst>
                                  <p:childTnLst>
                                    <p:set>
                                      <p:cBhvr>
                                        <p:cTn id="38" dur="1" fill="hold">
                                          <p:stCondLst>
                                            <p:cond delay="0"/>
                                          </p:stCondLst>
                                        </p:cTn>
                                        <p:tgtEl>
                                          <p:spTgt spid="75"/>
                                        </p:tgtEl>
                                        <p:attrNameLst>
                                          <p:attrName>style.visibility</p:attrName>
                                        </p:attrNameLst>
                                      </p:cBhvr>
                                      <p:to>
                                        <p:strVal val="visible"/>
                                      </p:to>
                                    </p:set>
                                    <p:animEffect transition="in" filter="circle(out)">
                                      <p:cBhvr>
                                        <p:cTn id="39" dur="500"/>
                                        <p:tgtEl>
                                          <p:spTgt spid="75"/>
                                        </p:tgtEl>
                                      </p:cBhvr>
                                    </p:animEffect>
                                  </p:childTnLst>
                                </p:cTn>
                              </p:par>
                            </p:childTnLst>
                          </p:cTn>
                        </p:par>
                        <p:par>
                          <p:cTn id="40" fill="hold">
                            <p:stCondLst>
                              <p:cond delay="4500"/>
                            </p:stCondLst>
                            <p:childTnLst>
                              <p:par>
                                <p:cTn id="41" presetID="6" presetClass="entr" presetSubtype="32" fill="hold" grpId="0" nodeType="afterEffect">
                                  <p:stCondLst>
                                    <p:cond delay="0"/>
                                  </p:stCondLst>
                                  <p:childTnLst>
                                    <p:set>
                                      <p:cBhvr>
                                        <p:cTn id="42" dur="1" fill="hold">
                                          <p:stCondLst>
                                            <p:cond delay="0"/>
                                          </p:stCondLst>
                                        </p:cTn>
                                        <p:tgtEl>
                                          <p:spTgt spid="80"/>
                                        </p:tgtEl>
                                        <p:attrNameLst>
                                          <p:attrName>style.visibility</p:attrName>
                                        </p:attrNameLst>
                                      </p:cBhvr>
                                      <p:to>
                                        <p:strVal val="visible"/>
                                      </p:to>
                                    </p:set>
                                    <p:animEffect transition="in" filter="circle(out)">
                                      <p:cBhvr>
                                        <p:cTn id="43" dur="500"/>
                                        <p:tgtEl>
                                          <p:spTgt spid="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3" grpId="0" animBg="1"/>
      <p:bldP spid="36" grpId="0" animBg="1"/>
      <p:bldP spid="39" grpId="0" animBg="1"/>
      <p:bldP spid="42" grpId="0" animBg="1"/>
      <p:bldP spid="50" grpId="0" animBg="1"/>
      <p:bldP spid="62" grpId="0" animBg="1"/>
      <p:bldP spid="70" grpId="0" animBg="1"/>
      <p:bldP spid="75" grpId="0" animBg="1"/>
      <p:bldP spid="80"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ltLang="zh-CN" dirty="0"/>
              <a:t>OpenGL v.s. Direct3D</a:t>
            </a:r>
            <a:endParaRPr lang="zh-CN" altLang="en-US" dirty="0"/>
          </a:p>
        </p:txBody>
      </p:sp>
      <p:sp>
        <p:nvSpPr>
          <p:cNvPr id="3" name="内容占位符 2"/>
          <p:cNvSpPr>
            <a:spLocks noGrp="1"/>
          </p:cNvSpPr>
          <p:nvPr>
            <p:ph sz="half" idx="1"/>
          </p:nvPr>
        </p:nvSpPr>
        <p:spPr/>
        <p:txBody>
          <a:bodyPr>
            <a:normAutofit/>
          </a:bodyPr>
          <a:lstStyle/>
          <a:p>
            <a:r>
              <a:rPr lang="en-US" altLang="zh-CN" dirty="0">
                <a:latin typeface="Microsoft YaHei" charset="-122"/>
                <a:ea typeface="Microsoft YaHei" charset="-122"/>
                <a:cs typeface="Microsoft YaHei" charset="-122"/>
              </a:rPr>
              <a:t>OpenGL</a:t>
            </a:r>
          </a:p>
          <a:p>
            <a:pPr lvl="1"/>
            <a:r>
              <a:rPr lang="zh-CN" altLang="en-US" dirty="0">
                <a:latin typeface="Microsoft YaHei" charset="-122"/>
                <a:ea typeface="Microsoft YaHei" charset="-122"/>
                <a:cs typeface="Microsoft YaHei" charset="-122"/>
              </a:rPr>
              <a:t> 跨平台的开放式标准</a:t>
            </a:r>
            <a:r>
              <a:rPr lang="en-US" altLang="zh-CN" dirty="0">
                <a:latin typeface="Microsoft YaHei" charset="-122"/>
                <a:ea typeface="Microsoft YaHei" charset="-122"/>
                <a:cs typeface="Microsoft YaHei" charset="-122"/>
              </a:rPr>
              <a:t>API</a:t>
            </a:r>
          </a:p>
          <a:p>
            <a:pPr lvl="1"/>
            <a:r>
              <a:rPr lang="zh-CN" altLang="en-US" dirty="0">
                <a:latin typeface="Microsoft YaHei" charset="-122"/>
                <a:ea typeface="Microsoft YaHei" charset="-122"/>
                <a:cs typeface="Microsoft YaHei" charset="-122"/>
              </a:rPr>
              <a:t> 可扩展机制</a:t>
            </a:r>
          </a:p>
          <a:p>
            <a:pPr lvl="1"/>
            <a:r>
              <a:rPr lang="zh-CN" altLang="en-US" dirty="0">
                <a:latin typeface="Microsoft YaHei" charset="-122"/>
                <a:ea typeface="Microsoft YaHei" charset="-122"/>
                <a:cs typeface="Microsoft YaHei" charset="-122"/>
              </a:rPr>
              <a:t> 可硬件加速的</a:t>
            </a:r>
            <a:r>
              <a:rPr lang="en-US" altLang="zh-CN" dirty="0">
                <a:latin typeface="Microsoft YaHei" charset="-122"/>
                <a:ea typeface="Microsoft YaHei" charset="-122"/>
                <a:cs typeface="Microsoft YaHei" charset="-122"/>
              </a:rPr>
              <a:t>3D</a:t>
            </a:r>
            <a:r>
              <a:rPr lang="zh-CN" altLang="en-US" dirty="0">
                <a:latin typeface="Microsoft YaHei" charset="-122"/>
                <a:ea typeface="Microsoft YaHei" charset="-122"/>
                <a:cs typeface="Microsoft YaHei" charset="-122"/>
              </a:rPr>
              <a:t>渲染系统</a:t>
            </a:r>
          </a:p>
          <a:p>
            <a:pPr lvl="1"/>
            <a:r>
              <a:rPr lang="zh-CN" altLang="en-US" dirty="0">
                <a:latin typeface="Microsoft YaHei" charset="-122"/>
                <a:ea typeface="Microsoft YaHei" charset="-122"/>
                <a:cs typeface="Microsoft YaHei" charset="-122"/>
              </a:rPr>
              <a:t> 底层实现管理硬件</a:t>
            </a:r>
          </a:p>
          <a:p>
            <a:pPr lvl="1"/>
            <a:r>
              <a:rPr lang="zh-CN" altLang="en-US" dirty="0">
                <a:latin typeface="Microsoft YaHei" charset="-122"/>
                <a:ea typeface="Microsoft YaHei" charset="-122"/>
                <a:cs typeface="Microsoft YaHei" charset="-122"/>
              </a:rPr>
              <a:t> 专业图形应用、科研</a:t>
            </a:r>
          </a:p>
          <a:p>
            <a:pPr lvl="1"/>
            <a:r>
              <a:rPr lang="zh-CN" altLang="en-US" dirty="0">
                <a:latin typeface="Microsoft YaHei" charset="-122"/>
                <a:ea typeface="Microsoft YaHei" charset="-122"/>
                <a:cs typeface="Microsoft YaHei" charset="-122"/>
              </a:rPr>
              <a:t> 跨平台，可移植</a:t>
            </a:r>
          </a:p>
          <a:p>
            <a:pPr lvl="1"/>
            <a:r>
              <a:rPr lang="zh-CN" altLang="en-US" dirty="0">
                <a:latin typeface="Microsoft YaHei" charset="-122"/>
                <a:ea typeface="Microsoft YaHei" charset="-122"/>
                <a:cs typeface="Microsoft YaHei" charset="-122"/>
              </a:rPr>
              <a:t> 适合图形学教学</a:t>
            </a:r>
            <a:endParaRPr lang="en-US" altLang="zh-CN" dirty="0">
              <a:latin typeface="Microsoft YaHei" charset="-122"/>
              <a:ea typeface="Microsoft YaHei" charset="-122"/>
              <a:cs typeface="Microsoft YaHei" charset="-122"/>
            </a:endParaRPr>
          </a:p>
        </p:txBody>
      </p:sp>
      <p:sp>
        <p:nvSpPr>
          <p:cNvPr id="7" name="Content Placeholder 6"/>
          <p:cNvSpPr>
            <a:spLocks noGrp="1"/>
          </p:cNvSpPr>
          <p:nvPr>
            <p:ph sz="half" idx="2"/>
          </p:nvPr>
        </p:nvSpPr>
        <p:spPr/>
        <p:txBody>
          <a:bodyPr>
            <a:normAutofit/>
          </a:bodyPr>
          <a:lstStyle/>
          <a:p>
            <a:pPr lvl="0">
              <a:defRPr/>
            </a:pPr>
            <a:r>
              <a:rPr lang="en-US" altLang="zh-CN" dirty="0">
                <a:latin typeface="Microsoft YaHei" charset="-122"/>
                <a:ea typeface="Microsoft YaHei" charset="-122"/>
                <a:cs typeface="Microsoft YaHei" charset="-122"/>
              </a:rPr>
              <a:t>Direct3D</a:t>
            </a:r>
          </a:p>
          <a:p>
            <a:pPr lvl="1">
              <a:defRPr/>
            </a:pPr>
            <a:r>
              <a:rPr lang="zh-CN" altLang="en-US" dirty="0">
                <a:latin typeface="Microsoft YaHei" charset="-122"/>
                <a:ea typeface="Microsoft YaHei" charset="-122"/>
                <a:cs typeface="Microsoft YaHei" charset="-122"/>
              </a:rPr>
              <a:t> </a:t>
            </a:r>
            <a:r>
              <a:rPr lang="en-US" altLang="zh-CN" dirty="0">
                <a:latin typeface="Microsoft YaHei" charset="-122"/>
                <a:ea typeface="Microsoft YaHei" charset="-122"/>
                <a:cs typeface="Microsoft YaHei" charset="-122"/>
              </a:rPr>
              <a:t>Windows</a:t>
            </a:r>
            <a:r>
              <a:rPr lang="zh-CN" altLang="en-US" dirty="0">
                <a:latin typeface="Microsoft YaHei" charset="-122"/>
                <a:ea typeface="Microsoft YaHei" charset="-122"/>
                <a:cs typeface="Microsoft YaHei" charset="-122"/>
              </a:rPr>
              <a:t>平台的专用</a:t>
            </a:r>
            <a:r>
              <a:rPr lang="en-US" altLang="zh-CN" dirty="0">
                <a:latin typeface="Microsoft YaHei" charset="-122"/>
                <a:ea typeface="Microsoft YaHei" charset="-122"/>
                <a:cs typeface="Microsoft YaHei" charset="-122"/>
              </a:rPr>
              <a:t>API</a:t>
            </a:r>
          </a:p>
          <a:p>
            <a:pPr lvl="1">
              <a:defRPr/>
            </a:pPr>
            <a:r>
              <a:rPr lang="zh-CN" altLang="en-US" dirty="0">
                <a:latin typeface="Microsoft YaHei" charset="-122"/>
                <a:ea typeface="Microsoft YaHei" charset="-122"/>
                <a:cs typeface="Microsoft YaHei" charset="-122"/>
              </a:rPr>
              <a:t> 一致性好</a:t>
            </a:r>
          </a:p>
          <a:p>
            <a:pPr lvl="1">
              <a:defRPr/>
            </a:pPr>
            <a:r>
              <a:rPr lang="zh-CN" altLang="en-US" dirty="0">
                <a:latin typeface="Microsoft YaHei" charset="-122"/>
                <a:ea typeface="Microsoft YaHei" charset="-122"/>
                <a:cs typeface="Microsoft YaHei" charset="-122"/>
              </a:rPr>
              <a:t> </a:t>
            </a:r>
            <a:r>
              <a:rPr lang="en-US" altLang="zh-CN" dirty="0">
                <a:latin typeface="Microsoft YaHei" charset="-122"/>
                <a:ea typeface="Microsoft YaHei" charset="-122"/>
                <a:cs typeface="Microsoft YaHei" charset="-122"/>
              </a:rPr>
              <a:t>3D</a:t>
            </a:r>
            <a:r>
              <a:rPr lang="zh-CN" altLang="en-US" dirty="0">
                <a:latin typeface="Microsoft YaHei" charset="-122"/>
                <a:ea typeface="Microsoft YaHei" charset="-122"/>
                <a:cs typeface="Microsoft YaHei" charset="-122"/>
              </a:rPr>
              <a:t>硬件接口</a:t>
            </a:r>
          </a:p>
          <a:p>
            <a:pPr lvl="1">
              <a:defRPr/>
            </a:pPr>
            <a:r>
              <a:rPr lang="zh-CN" altLang="en-US" dirty="0">
                <a:latin typeface="Microsoft YaHei" charset="-122"/>
                <a:ea typeface="Microsoft YaHei" charset="-122"/>
                <a:cs typeface="Microsoft YaHei" charset="-122"/>
              </a:rPr>
              <a:t> 应用程序管理硬件资源</a:t>
            </a:r>
          </a:p>
          <a:p>
            <a:pPr lvl="1">
              <a:defRPr/>
            </a:pPr>
            <a:r>
              <a:rPr lang="zh-CN" altLang="en-US" dirty="0">
                <a:latin typeface="Microsoft YaHei" charset="-122"/>
                <a:ea typeface="Microsoft YaHei" charset="-122"/>
                <a:cs typeface="Microsoft YaHei" charset="-122"/>
              </a:rPr>
              <a:t> 计算机游戏</a:t>
            </a:r>
          </a:p>
          <a:p>
            <a:pPr lvl="1">
              <a:defRPr/>
            </a:pPr>
            <a:r>
              <a:rPr lang="zh-CN" altLang="en-US" dirty="0">
                <a:latin typeface="Microsoft YaHei" charset="-122"/>
                <a:ea typeface="Microsoft YaHei" charset="-122"/>
                <a:cs typeface="Microsoft YaHei" charset="-122"/>
              </a:rPr>
              <a:t> 高性能硬件存取能力</a:t>
            </a:r>
          </a:p>
          <a:p>
            <a:pPr lvl="1">
              <a:defRPr/>
            </a:pPr>
            <a:r>
              <a:rPr lang="zh-CN" altLang="en-US" dirty="0">
                <a:latin typeface="Microsoft YaHei" charset="-122"/>
                <a:ea typeface="Microsoft YaHei" charset="-122"/>
                <a:cs typeface="Microsoft YaHei" charset="-122"/>
              </a:rPr>
              <a:t> 非向下兼容</a:t>
            </a:r>
          </a:p>
          <a:p>
            <a:endParaRPr lang="en-US" dirty="0">
              <a:latin typeface="Microsoft YaHei" charset="-122"/>
              <a:ea typeface="Microsoft YaHei" charset="-122"/>
              <a:cs typeface="Microsoft YaHei" charset="-122"/>
            </a:endParaRPr>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11</a:t>
            </a:fld>
            <a:endParaRPr lang="zh-CN" altLang="en-US" dirty="0"/>
          </a:p>
        </p:txBody>
      </p:sp>
      <p:sp>
        <p:nvSpPr>
          <p:cNvPr id="5" name="内容占位符 2"/>
          <p:cNvSpPr txBox="1">
            <a:spLocks/>
          </p:cNvSpPr>
          <p:nvPr/>
        </p:nvSpPr>
        <p:spPr>
          <a:xfrm>
            <a:off x="4975545" y="1418897"/>
            <a:ext cx="3363111" cy="4351338"/>
          </a:xfrm>
          <a:prstGeom prst="rect">
            <a:avLst/>
          </a:prstGeom>
        </p:spPr>
        <p:txBody>
          <a:bodyPr vert="horz" lIns="91440" tIns="45720" rIns="91440" bIns="45720" rtlCol="0">
            <a:normAutofit/>
          </a:bodyPr>
          <a:lstStyle/>
          <a:p>
            <a:pPr marL="228600" marR="0" lvl="0" indent="-360000" algn="l" defTabSz="914400" rtl="0" eaLnBrk="1" fontAlgn="auto" latinLnBrk="0" hangingPunct="1">
              <a:lnSpc>
                <a:spcPct val="90000"/>
              </a:lnSpc>
              <a:spcBef>
                <a:spcPts val="1000"/>
              </a:spcBef>
              <a:spcAft>
                <a:spcPts val="0"/>
              </a:spcAft>
              <a:buClr>
                <a:srgbClr val="94003F"/>
              </a:buClr>
              <a:buSzPct val="70000"/>
              <a:buFont typeface="Wingdings" panose="05000000000000000000" pitchFamily="2" charset="2"/>
              <a:buChar char="u"/>
              <a:tabLst/>
              <a:defRPr/>
            </a:pPr>
            <a:endParaRPr kumimoji="0" lang="zh-CN" altLang="en-US" sz="2800" b="0" i="0" u="none" strike="noStrike" kern="1200" cap="none" spc="0" normalizeH="0" baseline="0" noProof="0" dirty="0">
              <a:ln>
                <a:noFill/>
              </a:ln>
              <a:solidFill>
                <a:schemeClr val="tx1"/>
              </a:solidFill>
              <a:effectLst/>
              <a:uLnTx/>
              <a:uFillTx/>
              <a:latin typeface="华文新魏" pitchFamily="2" charset="-122"/>
              <a:ea typeface="华文新魏" pitchFamily="2" charset="-122"/>
            </a:endParaRPr>
          </a:p>
        </p:txBody>
      </p: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32201" y="4548195"/>
            <a:ext cx="3406455" cy="851614"/>
          </a:xfrm>
          <a:prstGeom prst="rect">
            <a:avLst/>
          </a:prstGeom>
        </p:spPr>
      </p:pic>
      <p:pic>
        <p:nvPicPr>
          <p:cNvPr id="10" name="Picture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287318" y="4513992"/>
            <a:ext cx="2131290" cy="885817"/>
          </a:xfrm>
          <a:prstGeom prst="rect">
            <a:avLst/>
          </a:prstGeom>
        </p:spPr>
      </p:pic>
    </p:spTree>
    <p:extLst>
      <p:ext uri="{BB962C8B-B14F-4D97-AF65-F5344CB8AC3E}">
        <p14:creationId xmlns:p14="http://schemas.microsoft.com/office/powerpoint/2010/main" val="849364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ltLang="zh-CN" dirty="0"/>
              <a:t>OpenGL 3.1</a:t>
            </a:r>
            <a:r>
              <a:rPr lang="zh-CN" dirty="0"/>
              <a:t>（</a:t>
            </a:r>
            <a:r>
              <a:rPr altLang="zh-CN" dirty="0"/>
              <a:t>2009</a:t>
            </a:r>
            <a:r>
              <a:rPr lang="zh-CN" dirty="0"/>
              <a:t>年</a:t>
            </a:r>
            <a:r>
              <a:rPr altLang="zh-CN" dirty="0"/>
              <a:t>5</a:t>
            </a:r>
            <a:r>
              <a:rPr lang="zh-CN" dirty="0"/>
              <a:t>月）</a:t>
            </a:r>
            <a:br>
              <a:rPr lang="zh-CN" dirty="0"/>
            </a:br>
            <a:endParaRPr lang="zh-CN" altLang="en-US" dirty="0"/>
          </a:p>
        </p:txBody>
      </p:sp>
      <p:sp>
        <p:nvSpPr>
          <p:cNvPr id="3" name="内容占位符 2"/>
          <p:cNvSpPr>
            <a:spLocks noGrp="1"/>
          </p:cNvSpPr>
          <p:nvPr>
            <p:ph idx="1"/>
          </p:nvPr>
        </p:nvSpPr>
        <p:spPr/>
        <p:txBody>
          <a:bodyPr>
            <a:normAutofit/>
          </a:bodyPr>
          <a:lstStyle/>
          <a:p>
            <a:r>
              <a:rPr lang="zh-CN" altLang="en-US" dirty="0">
                <a:latin typeface="Microsoft YaHei" charset="-122"/>
                <a:ea typeface="Microsoft YaHei" charset="-122"/>
                <a:cs typeface="Microsoft YaHei" charset="-122"/>
              </a:rPr>
              <a:t>完全基于</a:t>
            </a:r>
            <a:r>
              <a:rPr lang="en-US" altLang="zh-CN" dirty="0" err="1">
                <a:latin typeface="Microsoft YaHei" charset="-122"/>
                <a:ea typeface="Microsoft YaHei" charset="-122"/>
                <a:cs typeface="Microsoft YaHei" charset="-122"/>
              </a:rPr>
              <a:t>shader</a:t>
            </a:r>
            <a:endParaRPr lang="en-US" altLang="zh-CN" dirty="0">
              <a:latin typeface="Microsoft YaHei" charset="-122"/>
              <a:ea typeface="Microsoft YaHei" charset="-122"/>
              <a:cs typeface="Microsoft YaHei" charset="-122"/>
            </a:endParaRPr>
          </a:p>
          <a:p>
            <a:pPr lvl="1"/>
            <a:r>
              <a:rPr lang="zh-CN" altLang="en-US" dirty="0">
                <a:latin typeface="Microsoft YaHei" charset="-122"/>
                <a:ea typeface="Microsoft YaHei" charset="-122"/>
                <a:cs typeface="Microsoft YaHei" charset="-122"/>
              </a:rPr>
              <a:t>没有缺省的</a:t>
            </a:r>
            <a:r>
              <a:rPr lang="en-US" altLang="zh-CN" dirty="0" err="1">
                <a:latin typeface="Microsoft YaHei" charset="-122"/>
                <a:ea typeface="Microsoft YaHei" charset="-122"/>
                <a:cs typeface="Microsoft YaHei" charset="-122"/>
              </a:rPr>
              <a:t>shader</a:t>
            </a:r>
            <a:endParaRPr lang="en-US" altLang="zh-CN" dirty="0">
              <a:latin typeface="Microsoft YaHei" charset="-122"/>
              <a:ea typeface="Microsoft YaHei" charset="-122"/>
              <a:cs typeface="Microsoft YaHei" charset="-122"/>
            </a:endParaRPr>
          </a:p>
          <a:p>
            <a:pPr lvl="1"/>
            <a:r>
              <a:rPr lang="zh-CN" altLang="en-US" dirty="0">
                <a:latin typeface="Microsoft YaHei" charset="-122"/>
                <a:ea typeface="Microsoft YaHei" charset="-122"/>
                <a:cs typeface="Microsoft YaHei" charset="-122"/>
              </a:rPr>
              <a:t>每个应用程序必须提供一个</a:t>
            </a:r>
            <a:r>
              <a:rPr lang="en-US" altLang="zh-CN" dirty="0">
                <a:latin typeface="Microsoft YaHei" charset="-122"/>
                <a:ea typeface="Microsoft YaHei" charset="-122"/>
                <a:cs typeface="Microsoft YaHei" charset="-122"/>
              </a:rPr>
              <a:t>vertex </a:t>
            </a:r>
            <a:r>
              <a:rPr lang="en-US" altLang="zh-CN" dirty="0" err="1">
                <a:latin typeface="Microsoft YaHei" charset="-122"/>
                <a:ea typeface="Microsoft YaHei" charset="-122"/>
                <a:cs typeface="Microsoft YaHei" charset="-122"/>
              </a:rPr>
              <a:t>shader</a:t>
            </a:r>
            <a:r>
              <a:rPr lang="zh-CN" altLang="en-US" dirty="0">
                <a:latin typeface="Microsoft YaHei" charset="-122"/>
                <a:ea typeface="Microsoft YaHei" charset="-122"/>
                <a:cs typeface="Microsoft YaHei" charset="-122"/>
              </a:rPr>
              <a:t>和</a:t>
            </a:r>
            <a:r>
              <a:rPr lang="en-US" altLang="zh-CN" dirty="0">
                <a:latin typeface="Microsoft YaHei" charset="-122"/>
                <a:ea typeface="Microsoft YaHei" charset="-122"/>
                <a:cs typeface="Microsoft YaHei" charset="-122"/>
              </a:rPr>
              <a:t>fragment </a:t>
            </a:r>
            <a:r>
              <a:rPr lang="en-US" altLang="zh-CN" dirty="0" err="1">
                <a:latin typeface="Microsoft YaHei" charset="-122"/>
                <a:ea typeface="Microsoft YaHei" charset="-122"/>
                <a:cs typeface="Microsoft YaHei" charset="-122"/>
              </a:rPr>
              <a:t>shader</a:t>
            </a:r>
            <a:endParaRPr lang="en-US" altLang="zh-CN" dirty="0">
              <a:latin typeface="Microsoft YaHei" charset="-122"/>
              <a:ea typeface="Microsoft YaHei" charset="-122"/>
              <a:cs typeface="Microsoft YaHei" charset="-122"/>
            </a:endParaRPr>
          </a:p>
          <a:p>
            <a:r>
              <a:rPr lang="zh-CN" altLang="it-IT" dirty="0">
                <a:latin typeface="Microsoft YaHei" charset="-122"/>
                <a:ea typeface="Microsoft YaHei" charset="-122"/>
                <a:cs typeface="Microsoft YaHei" charset="-122"/>
              </a:rPr>
              <a:t>取消立即</a:t>
            </a:r>
            <a:r>
              <a:rPr lang="zh-CN" altLang="en-US" dirty="0">
                <a:latin typeface="Microsoft YaHei" charset="-122"/>
                <a:ea typeface="Microsoft YaHei" charset="-122"/>
                <a:cs typeface="Microsoft YaHei" charset="-122"/>
              </a:rPr>
              <a:t>绘制</a:t>
            </a:r>
            <a:r>
              <a:rPr lang="zh-CN" altLang="it-IT" dirty="0">
                <a:latin typeface="Microsoft YaHei" charset="-122"/>
                <a:ea typeface="Microsoft YaHei" charset="-122"/>
                <a:cs typeface="Microsoft YaHei" charset="-122"/>
              </a:rPr>
              <a:t>模式（ </a:t>
            </a:r>
            <a:r>
              <a:rPr lang="it-IT" altLang="zh-CN" dirty="0">
                <a:latin typeface="Microsoft YaHei" charset="-122"/>
                <a:ea typeface="Microsoft YaHei" charset="-122"/>
                <a:cs typeface="Microsoft YaHei" charset="-122"/>
              </a:rPr>
              <a:t>immediate mode</a:t>
            </a:r>
            <a:r>
              <a:rPr lang="zh-CN" altLang="it-IT" dirty="0">
                <a:latin typeface="Microsoft YaHei" charset="-122"/>
                <a:ea typeface="Microsoft YaHei" charset="-122"/>
                <a:cs typeface="Microsoft YaHei" charset="-122"/>
              </a:rPr>
              <a:t>）</a:t>
            </a:r>
          </a:p>
          <a:p>
            <a:r>
              <a:rPr lang="zh-CN" altLang="en-US" dirty="0">
                <a:latin typeface="Microsoft YaHei" charset="-122"/>
                <a:ea typeface="Microsoft YaHei" charset="-122"/>
                <a:cs typeface="Microsoft YaHei" charset="-122"/>
              </a:rPr>
              <a:t>减少状态变量</a:t>
            </a:r>
          </a:p>
          <a:p>
            <a:r>
              <a:rPr lang="zh-CN" altLang="en-US" dirty="0">
                <a:latin typeface="Microsoft YaHei" charset="-122"/>
                <a:ea typeface="Microsoft YaHei" charset="-122"/>
                <a:cs typeface="Microsoft YaHei" charset="-122"/>
              </a:rPr>
              <a:t>大部分</a:t>
            </a:r>
            <a:r>
              <a:rPr lang="en-US" altLang="zh-CN" dirty="0">
                <a:latin typeface="Microsoft YaHei" charset="-122"/>
                <a:ea typeface="Microsoft YaHei" charset="-122"/>
                <a:cs typeface="Microsoft YaHei" charset="-122"/>
              </a:rPr>
              <a:t>OpenGL 2.5 </a:t>
            </a:r>
            <a:r>
              <a:rPr lang="zh-CN" altLang="en-US" dirty="0">
                <a:latin typeface="Microsoft YaHei" charset="-122"/>
                <a:ea typeface="Microsoft YaHei" charset="-122"/>
                <a:cs typeface="Microsoft YaHei" charset="-122"/>
              </a:rPr>
              <a:t>版本新增的功能废弃</a:t>
            </a:r>
          </a:p>
          <a:p>
            <a:r>
              <a:rPr lang="zh-CN" altLang="en-US" dirty="0">
                <a:latin typeface="Microsoft YaHei" charset="-122"/>
                <a:ea typeface="Microsoft YaHei" charset="-122"/>
                <a:cs typeface="Microsoft YaHei" charset="-122"/>
              </a:rPr>
              <a:t>非向后兼容（意味着早期版本的</a:t>
            </a:r>
            <a:r>
              <a:rPr lang="en-US" altLang="zh-CN" dirty="0">
                <a:latin typeface="Microsoft YaHei" charset="-122"/>
                <a:ea typeface="Microsoft YaHei" charset="-122"/>
                <a:cs typeface="Microsoft YaHei" charset="-122"/>
              </a:rPr>
              <a:t>OpenGL</a:t>
            </a:r>
            <a:r>
              <a:rPr lang="zh-CN" altLang="en-US" dirty="0">
                <a:latin typeface="Microsoft YaHei" charset="-122"/>
                <a:ea typeface="Microsoft YaHei" charset="-122"/>
                <a:cs typeface="Microsoft YaHei" charset="-122"/>
              </a:rPr>
              <a:t>的程序不能确保在</a:t>
            </a:r>
            <a:r>
              <a:rPr lang="en-US" altLang="zh-CN" dirty="0">
                <a:latin typeface="Microsoft YaHei" charset="-122"/>
                <a:ea typeface="Microsoft YaHei" charset="-122"/>
                <a:cs typeface="Microsoft YaHei" charset="-122"/>
              </a:rPr>
              <a:t>OpenGL 3.1</a:t>
            </a:r>
            <a:r>
              <a:rPr lang="zh-CN" altLang="en-US" dirty="0">
                <a:latin typeface="Microsoft YaHei" charset="-122"/>
                <a:ea typeface="Microsoft YaHei" charset="-122"/>
                <a:cs typeface="Microsoft YaHei" charset="-122"/>
              </a:rPr>
              <a:t>库下运行）</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12</a:t>
            </a:fld>
            <a:endParaRPr lang="zh-CN" altLang="en-US" dirty="0"/>
          </a:p>
        </p:txBody>
      </p:sp>
    </p:spTree>
    <p:extLst>
      <p:ext uri="{BB962C8B-B14F-4D97-AF65-F5344CB8AC3E}">
        <p14:creationId xmlns:p14="http://schemas.microsoft.com/office/powerpoint/2010/main" val="16093551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dirty="0"/>
              <a:t>其它版本</a:t>
            </a:r>
            <a:br>
              <a:rPr lang="zh-CN" dirty="0"/>
            </a:br>
            <a:endParaRPr lang="zh-CN" altLang="en-US" dirty="0"/>
          </a:p>
        </p:txBody>
      </p:sp>
      <p:sp>
        <p:nvSpPr>
          <p:cNvPr id="3" name="内容占位符 2"/>
          <p:cNvSpPr>
            <a:spLocks noGrp="1"/>
          </p:cNvSpPr>
          <p:nvPr>
            <p:ph idx="1"/>
          </p:nvPr>
        </p:nvSpPr>
        <p:spPr/>
        <p:txBody>
          <a:bodyPr>
            <a:normAutofit/>
          </a:bodyPr>
          <a:lstStyle/>
          <a:p>
            <a:r>
              <a:rPr lang="en-US" altLang="zh-CN" dirty="0">
                <a:latin typeface="Microsoft YaHei" charset="-122"/>
                <a:ea typeface="Microsoft YaHei" charset="-122"/>
                <a:cs typeface="Microsoft YaHei" charset="-122"/>
              </a:rPr>
              <a:t>OpenGL ES</a:t>
            </a:r>
          </a:p>
          <a:p>
            <a:pPr lvl="1"/>
            <a:r>
              <a:rPr lang="zh-CN" altLang="en-US" dirty="0">
                <a:latin typeface="Microsoft YaHei" charset="-122"/>
                <a:ea typeface="Microsoft YaHei" charset="-122"/>
                <a:cs typeface="Microsoft YaHei" charset="-122"/>
              </a:rPr>
              <a:t> 嵌入式系统（</a:t>
            </a:r>
            <a:r>
              <a:rPr lang="en-US" altLang="zh-CN" dirty="0">
                <a:latin typeface="Microsoft YaHei" charset="-122"/>
                <a:ea typeface="Microsoft YaHei" charset="-122"/>
                <a:cs typeface="Microsoft YaHei" charset="-122"/>
              </a:rPr>
              <a:t>Embedded Systems</a:t>
            </a:r>
            <a:r>
              <a:rPr lang="zh-CN" altLang="en-US" dirty="0">
                <a:latin typeface="Microsoft YaHei" charset="-122"/>
                <a:ea typeface="Microsoft YaHei" charset="-122"/>
                <a:cs typeface="Microsoft YaHei" charset="-122"/>
              </a:rPr>
              <a:t>）</a:t>
            </a:r>
            <a:endParaRPr lang="en-US" altLang="zh-CN" dirty="0">
              <a:latin typeface="Microsoft YaHei" charset="-122"/>
              <a:ea typeface="Microsoft YaHei" charset="-122"/>
              <a:cs typeface="Microsoft YaHei" charset="-122"/>
            </a:endParaRPr>
          </a:p>
          <a:p>
            <a:pPr lvl="1"/>
            <a:r>
              <a:rPr lang="zh-CN" altLang="en-US" dirty="0">
                <a:latin typeface="Microsoft YaHei" charset="-122"/>
                <a:ea typeface="Microsoft YaHei" charset="-122"/>
                <a:cs typeface="Microsoft YaHei" charset="-122"/>
              </a:rPr>
              <a:t> 针对手机、</a:t>
            </a:r>
            <a:r>
              <a:rPr lang="en-US" altLang="zh-CN" dirty="0">
                <a:latin typeface="Microsoft YaHei" charset="-122"/>
                <a:ea typeface="Microsoft YaHei" charset="-122"/>
                <a:cs typeface="Microsoft YaHei" charset="-122"/>
              </a:rPr>
              <a:t>PDA</a:t>
            </a:r>
            <a:r>
              <a:rPr lang="zh-CN" altLang="en-US" dirty="0">
                <a:latin typeface="Microsoft YaHei" charset="-122"/>
                <a:ea typeface="Microsoft YaHei" charset="-122"/>
                <a:cs typeface="Microsoft YaHei" charset="-122"/>
              </a:rPr>
              <a:t>和游戏主机等嵌入式设备而设计</a:t>
            </a:r>
          </a:p>
          <a:p>
            <a:pPr lvl="1"/>
            <a:r>
              <a:rPr lang="zh-CN" altLang="en-US" dirty="0">
                <a:latin typeface="Microsoft YaHei" charset="-122"/>
                <a:ea typeface="Microsoft YaHei" charset="-122"/>
                <a:cs typeface="Microsoft YaHei" charset="-122"/>
              </a:rPr>
              <a:t> </a:t>
            </a:r>
            <a:r>
              <a:rPr lang="en-US" altLang="zh-CN" dirty="0">
                <a:latin typeface="Microsoft YaHei" charset="-122"/>
                <a:ea typeface="Microsoft YaHei" charset="-122"/>
                <a:cs typeface="Microsoft YaHei" charset="-122"/>
              </a:rPr>
              <a:t>Version 1.0</a:t>
            </a:r>
            <a:r>
              <a:rPr lang="zh-CN" altLang="en-US" dirty="0">
                <a:latin typeface="Microsoft YaHei" charset="-122"/>
                <a:ea typeface="Microsoft YaHei" charset="-122"/>
                <a:cs typeface="Microsoft YaHei" charset="-122"/>
              </a:rPr>
              <a:t>（简化的</a:t>
            </a:r>
            <a:r>
              <a:rPr lang="en-US" altLang="zh-CN" dirty="0">
                <a:latin typeface="Microsoft YaHei" charset="-122"/>
                <a:ea typeface="Microsoft YaHei" charset="-122"/>
                <a:cs typeface="Microsoft YaHei" charset="-122"/>
              </a:rPr>
              <a:t>OpenGL 2.1</a:t>
            </a:r>
            <a:r>
              <a:rPr lang="zh-CN" altLang="en-US" dirty="0">
                <a:latin typeface="Microsoft YaHei" charset="-122"/>
                <a:ea typeface="Microsoft YaHei" charset="-122"/>
                <a:cs typeface="Microsoft YaHei" charset="-122"/>
              </a:rPr>
              <a:t>版本）</a:t>
            </a:r>
          </a:p>
          <a:p>
            <a:pPr lvl="1"/>
            <a:r>
              <a:rPr lang="zh-CN" altLang="en-US" dirty="0">
                <a:latin typeface="Microsoft YaHei" charset="-122"/>
                <a:ea typeface="Microsoft YaHei" charset="-122"/>
                <a:cs typeface="Microsoft YaHei" charset="-122"/>
              </a:rPr>
              <a:t> </a:t>
            </a:r>
            <a:r>
              <a:rPr lang="en-US" altLang="zh-CN" dirty="0">
                <a:latin typeface="Microsoft YaHei" charset="-122"/>
                <a:ea typeface="Microsoft YaHei" charset="-122"/>
                <a:cs typeface="Microsoft YaHei" charset="-122"/>
              </a:rPr>
              <a:t>Version 2.0 </a:t>
            </a:r>
            <a:r>
              <a:rPr lang="zh-CN" altLang="en-US" dirty="0">
                <a:latin typeface="Microsoft YaHei" charset="-122"/>
                <a:ea typeface="Microsoft YaHei" charset="-122"/>
                <a:cs typeface="Microsoft YaHei" charset="-122"/>
              </a:rPr>
              <a:t>（简化的</a:t>
            </a:r>
            <a:r>
              <a:rPr lang="en-US" altLang="zh-CN" dirty="0">
                <a:latin typeface="Microsoft YaHei" charset="-122"/>
                <a:ea typeface="Microsoft YaHei" charset="-122"/>
                <a:cs typeface="Microsoft YaHei" charset="-122"/>
              </a:rPr>
              <a:t>OpenGL 3.1</a:t>
            </a:r>
            <a:r>
              <a:rPr lang="zh-CN" altLang="en-US" dirty="0">
                <a:latin typeface="Microsoft YaHei" charset="-122"/>
                <a:ea typeface="Microsoft YaHei" charset="-122"/>
                <a:cs typeface="Microsoft YaHei" charset="-122"/>
              </a:rPr>
              <a:t>）</a:t>
            </a:r>
          </a:p>
          <a:p>
            <a:pPr lvl="1"/>
            <a:r>
              <a:rPr lang="zh-CN" altLang="en-US" dirty="0">
                <a:latin typeface="Microsoft YaHei" charset="-122"/>
                <a:ea typeface="Microsoft YaHei" charset="-122"/>
                <a:cs typeface="Microsoft YaHei" charset="-122"/>
              </a:rPr>
              <a:t> </a:t>
            </a:r>
            <a:r>
              <a:rPr lang="en-US" altLang="zh-CN" dirty="0" err="1">
                <a:latin typeface="Microsoft YaHei" charset="-122"/>
                <a:ea typeface="Microsoft YaHei" charset="-122"/>
                <a:cs typeface="Microsoft YaHei" charset="-122"/>
              </a:rPr>
              <a:t>Shader</a:t>
            </a:r>
            <a:r>
              <a:rPr lang="en-US" altLang="zh-CN" dirty="0">
                <a:latin typeface="Microsoft YaHei" charset="-122"/>
                <a:ea typeface="Microsoft YaHei" charset="-122"/>
                <a:cs typeface="Microsoft YaHei" charset="-122"/>
              </a:rPr>
              <a:t> based</a:t>
            </a:r>
          </a:p>
          <a:p>
            <a:r>
              <a:rPr lang="en-US" altLang="zh-CN" dirty="0" err="1">
                <a:latin typeface="Microsoft YaHei" charset="-122"/>
                <a:ea typeface="Microsoft YaHei" charset="-122"/>
                <a:cs typeface="Microsoft YaHei" charset="-122"/>
              </a:rPr>
              <a:t>WebGL</a:t>
            </a:r>
            <a:endParaRPr lang="en-US" altLang="zh-CN" dirty="0">
              <a:latin typeface="Microsoft YaHei" charset="-122"/>
              <a:ea typeface="Microsoft YaHei" charset="-122"/>
              <a:cs typeface="Microsoft YaHei" charset="-122"/>
            </a:endParaRPr>
          </a:p>
          <a:p>
            <a:pPr lvl="1"/>
            <a:r>
              <a:rPr lang="zh-CN" altLang="en-US" dirty="0">
                <a:latin typeface="Microsoft YaHei" charset="-122"/>
                <a:ea typeface="Microsoft YaHei" charset="-122"/>
                <a:cs typeface="Microsoft YaHei" charset="-122"/>
              </a:rPr>
              <a:t> </a:t>
            </a:r>
            <a:r>
              <a:rPr lang="en-US" altLang="zh-CN" dirty="0">
                <a:latin typeface="Microsoft YaHei" charset="-122"/>
                <a:ea typeface="Microsoft YaHei" charset="-122"/>
                <a:cs typeface="Microsoft YaHei" charset="-122"/>
              </a:rPr>
              <a:t>OpenGL ES 2.0</a:t>
            </a:r>
            <a:r>
              <a:rPr lang="zh-CN" altLang="en-US" dirty="0">
                <a:latin typeface="Microsoft YaHei" charset="-122"/>
                <a:ea typeface="Microsoft YaHei" charset="-122"/>
                <a:cs typeface="Microsoft YaHei" charset="-122"/>
              </a:rPr>
              <a:t>的</a:t>
            </a:r>
            <a:r>
              <a:rPr lang="en-US" altLang="zh-CN" dirty="0">
                <a:latin typeface="Microsoft YaHei" charset="-122"/>
                <a:ea typeface="Microsoft YaHei" charset="-122"/>
                <a:cs typeface="Microsoft YaHei" charset="-122"/>
              </a:rPr>
              <a:t>JavaScript</a:t>
            </a:r>
            <a:r>
              <a:rPr lang="zh-CN" altLang="en-US" dirty="0">
                <a:latin typeface="Microsoft YaHei" charset="-122"/>
                <a:ea typeface="Microsoft YaHei" charset="-122"/>
                <a:cs typeface="Microsoft YaHei" charset="-122"/>
              </a:rPr>
              <a:t>实现</a:t>
            </a:r>
            <a:endParaRPr lang="en-US" altLang="zh-CN" dirty="0">
              <a:latin typeface="Microsoft YaHei" charset="-122"/>
              <a:ea typeface="Microsoft YaHei" charset="-122"/>
              <a:cs typeface="Microsoft YaHei" charset="-122"/>
            </a:endParaRPr>
          </a:p>
          <a:p>
            <a:pPr lvl="1"/>
            <a:r>
              <a:rPr lang="zh-CN" altLang="en-US" dirty="0">
                <a:latin typeface="Microsoft YaHei" charset="-122"/>
                <a:ea typeface="Microsoft YaHei" charset="-122"/>
                <a:cs typeface="Microsoft YaHei" charset="-122"/>
              </a:rPr>
              <a:t> 用于创建具有复杂</a:t>
            </a:r>
            <a:r>
              <a:rPr lang="en-US" altLang="zh-CN" dirty="0">
                <a:latin typeface="Microsoft YaHei" charset="-122"/>
                <a:ea typeface="Microsoft YaHei" charset="-122"/>
                <a:cs typeface="Microsoft YaHei" charset="-122"/>
              </a:rPr>
              <a:t>3D</a:t>
            </a:r>
            <a:r>
              <a:rPr lang="zh-CN" altLang="en-US" dirty="0">
                <a:latin typeface="Microsoft YaHei" charset="-122"/>
                <a:ea typeface="Microsoft YaHei" charset="-122"/>
                <a:cs typeface="Microsoft YaHei" charset="-122"/>
              </a:rPr>
              <a:t>结构的网站页面，</a:t>
            </a:r>
            <a:r>
              <a:rPr lang="en-US" altLang="zh-CN" dirty="0">
                <a:latin typeface="Microsoft YaHei" charset="-122"/>
                <a:ea typeface="Microsoft YaHei" charset="-122"/>
                <a:cs typeface="Microsoft YaHei" charset="-122"/>
              </a:rPr>
              <a:t>3D</a:t>
            </a:r>
            <a:r>
              <a:rPr lang="zh-CN" altLang="en-US" dirty="0">
                <a:latin typeface="Microsoft YaHei" charset="-122"/>
                <a:ea typeface="Microsoft YaHei" charset="-122"/>
                <a:cs typeface="Microsoft YaHei" charset="-122"/>
              </a:rPr>
              <a:t>网页游戏的设计</a:t>
            </a:r>
            <a:endParaRPr lang="en-US" altLang="zh-CN" dirty="0">
              <a:latin typeface="Microsoft YaHei" charset="-122"/>
              <a:ea typeface="Microsoft YaHei" charset="-122"/>
              <a:cs typeface="Microsoft YaHei" charset="-122"/>
            </a:endParaRPr>
          </a:p>
          <a:p>
            <a:r>
              <a:rPr lang="en-US" altLang="zh-CN" dirty="0">
                <a:latin typeface="Microsoft YaHei" charset="-122"/>
                <a:ea typeface="Microsoft YaHei" charset="-122"/>
                <a:cs typeface="Microsoft YaHei" charset="-122"/>
              </a:rPr>
              <a:t>OpenGL 4.1 and 4.2</a:t>
            </a:r>
            <a:r>
              <a:rPr lang="zh-CN" altLang="en-US" dirty="0">
                <a:latin typeface="Microsoft YaHei" charset="-122"/>
                <a:ea typeface="Microsoft YaHei" charset="-122"/>
                <a:cs typeface="Microsoft YaHei" charset="-122"/>
              </a:rPr>
              <a:t>（</a:t>
            </a:r>
            <a:r>
              <a:rPr lang="en-US" altLang="zh-CN" dirty="0">
                <a:latin typeface="Microsoft YaHei" charset="-122"/>
                <a:ea typeface="Microsoft YaHei" charset="-122"/>
                <a:cs typeface="Microsoft YaHei" charset="-122"/>
              </a:rPr>
              <a:t>2012</a:t>
            </a:r>
            <a:r>
              <a:rPr lang="zh-CN" altLang="en-US" dirty="0">
                <a:latin typeface="Microsoft YaHei" charset="-122"/>
                <a:ea typeface="Microsoft YaHei" charset="-122"/>
                <a:cs typeface="Microsoft YaHei" charset="-122"/>
              </a:rPr>
              <a:t>年</a:t>
            </a:r>
            <a:r>
              <a:rPr lang="en-US" altLang="zh-CN" dirty="0">
                <a:latin typeface="Microsoft YaHei" charset="-122"/>
                <a:ea typeface="Microsoft YaHei" charset="-122"/>
                <a:cs typeface="Microsoft YaHei" charset="-122"/>
              </a:rPr>
              <a:t>1</a:t>
            </a:r>
            <a:r>
              <a:rPr lang="zh-CN" altLang="en-US" dirty="0">
                <a:latin typeface="Microsoft YaHei" charset="-122"/>
                <a:ea typeface="Microsoft YaHei" charset="-122"/>
                <a:cs typeface="Microsoft YaHei" charset="-122"/>
              </a:rPr>
              <a:t>月）</a:t>
            </a:r>
          </a:p>
          <a:p>
            <a:pPr lvl="1"/>
            <a:r>
              <a:rPr lang="zh-CN" altLang="en-US" dirty="0">
                <a:latin typeface="Microsoft YaHei" charset="-122"/>
                <a:ea typeface="Microsoft YaHei" charset="-122"/>
                <a:cs typeface="Microsoft YaHei" charset="-122"/>
              </a:rPr>
              <a:t> 新增了</a:t>
            </a:r>
            <a:r>
              <a:rPr lang="en-US" altLang="zh-CN" dirty="0">
                <a:latin typeface="Microsoft YaHei" charset="-122"/>
                <a:ea typeface="Microsoft YaHei" charset="-122"/>
                <a:cs typeface="Microsoft YaHei" charset="-122"/>
              </a:rPr>
              <a:t>geometry </a:t>
            </a:r>
            <a:r>
              <a:rPr lang="en-US" altLang="zh-CN" dirty="0" err="1">
                <a:latin typeface="Microsoft YaHei" charset="-122"/>
                <a:ea typeface="Microsoft YaHei" charset="-122"/>
                <a:cs typeface="Microsoft YaHei" charset="-122"/>
              </a:rPr>
              <a:t>shaders</a:t>
            </a:r>
            <a:r>
              <a:rPr lang="en-US" altLang="zh-CN" dirty="0">
                <a:latin typeface="Microsoft YaHei" charset="-122"/>
                <a:ea typeface="Microsoft YaHei" charset="-122"/>
                <a:cs typeface="Microsoft YaHei" charset="-122"/>
              </a:rPr>
              <a:t> </a:t>
            </a:r>
            <a:r>
              <a:rPr lang="zh-CN" altLang="en-US" dirty="0">
                <a:latin typeface="Microsoft YaHei" charset="-122"/>
                <a:ea typeface="Microsoft YaHei" charset="-122"/>
                <a:cs typeface="Microsoft YaHei" charset="-122"/>
              </a:rPr>
              <a:t>和</a:t>
            </a:r>
            <a:r>
              <a:rPr lang="en-US" altLang="zh-CN" dirty="0" err="1">
                <a:latin typeface="Microsoft YaHei" charset="-122"/>
                <a:ea typeface="Microsoft YaHei" charset="-122"/>
                <a:cs typeface="Microsoft YaHei" charset="-122"/>
              </a:rPr>
              <a:t>tessellator</a:t>
            </a:r>
            <a:endParaRPr lang="zh-CN" altLang="en-US" dirty="0">
              <a:latin typeface="Microsoft YaHei" charset="-122"/>
              <a:ea typeface="Microsoft YaHei" charset="-122"/>
              <a:cs typeface="Microsoft YaHei" charset="-122"/>
            </a:endParaRPr>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13</a:t>
            </a:fld>
            <a:endParaRPr lang="zh-CN" altLang="en-US" dirty="0"/>
          </a:p>
        </p:txBody>
      </p:sp>
    </p:spTree>
    <p:extLst>
      <p:ext uri="{BB962C8B-B14F-4D97-AF65-F5344CB8AC3E}">
        <p14:creationId xmlns:p14="http://schemas.microsoft.com/office/powerpoint/2010/main" val="11650198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图形</a:t>
            </a:r>
            <a:r>
              <a:rPr lang="en-US" altLang="zh-CN" dirty="0"/>
              <a:t>API</a:t>
            </a:r>
            <a:r>
              <a:rPr lang="zh-CN" altLang="en-US" dirty="0"/>
              <a:t>的使用</a:t>
            </a:r>
          </a:p>
        </p:txBody>
      </p:sp>
      <p:sp>
        <p:nvSpPr>
          <p:cNvPr id="7" name="Content Placeholder 6"/>
          <p:cNvSpPr>
            <a:spLocks noGrp="1"/>
          </p:cNvSpPr>
          <p:nvPr>
            <p:ph idx="1"/>
          </p:nvPr>
        </p:nvSpPr>
        <p:spPr/>
        <p:txBody>
          <a:bodyPr/>
          <a:lstStyle/>
          <a:p>
            <a:pPr>
              <a:lnSpc>
                <a:spcPts val="2880"/>
              </a:lnSpc>
              <a:spcBef>
                <a:spcPts val="1500"/>
              </a:spcBef>
            </a:pPr>
            <a:r>
              <a:rPr lang="zh-CN" altLang="en-US" dirty="0"/>
              <a:t>构建几何表示</a:t>
            </a:r>
            <a:endParaRPr lang="en-US" altLang="zh-CN" sz="2000" dirty="0"/>
          </a:p>
          <a:p>
            <a:pPr>
              <a:lnSpc>
                <a:spcPts val="2880"/>
              </a:lnSpc>
              <a:spcBef>
                <a:spcPts val="1500"/>
              </a:spcBef>
            </a:pPr>
            <a:r>
              <a:rPr lang="zh-CN" altLang="en-US" dirty="0"/>
              <a:t>绘制几何数据</a:t>
            </a:r>
            <a:endParaRPr lang="en-US" altLang="zh-CN" sz="2000" dirty="0"/>
          </a:p>
          <a:p>
            <a:endParaRPr 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14</a:t>
            </a:fld>
            <a:endParaRPr lang="zh-CN" altLang="en-US"/>
          </a:p>
        </p:txBody>
      </p:sp>
      <p:sp>
        <p:nvSpPr>
          <p:cNvPr id="10" name="文本框 9"/>
          <p:cNvSpPr txBox="1"/>
          <p:nvPr/>
        </p:nvSpPr>
        <p:spPr>
          <a:xfrm>
            <a:off x="1483360" y="5831840"/>
            <a:ext cx="184731" cy="369332"/>
          </a:xfrm>
          <a:prstGeom prst="rect">
            <a:avLst/>
          </a:prstGeom>
          <a:noFill/>
        </p:spPr>
        <p:txBody>
          <a:bodyPr wrap="none" rtlCol="0">
            <a:spAutoFit/>
          </a:bodyPr>
          <a:lstStyle/>
          <a:p>
            <a:endParaRPr lang="zh-CN" altLang="en-US" dirty="0"/>
          </a:p>
        </p:txBody>
      </p:sp>
      <p:pic>
        <p:nvPicPr>
          <p:cNvPr id="1026" name="Picture 2" descr="http://www-irem.univ-paris13.fr/site_spip/IMG/png/sierpinsky5.pn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b="10539"/>
          <a:stretch/>
        </p:blipFill>
        <p:spPr bwMode="auto">
          <a:xfrm>
            <a:off x="5095212" y="3575628"/>
            <a:ext cx="3405169" cy="3046297"/>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http://www.oftenpaper.net/img/siermathgb3.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95212" y="944778"/>
            <a:ext cx="3158968" cy="2765410"/>
          </a:xfrm>
          <a:prstGeom prst="rect">
            <a:avLst/>
          </a:prstGeom>
          <a:noFill/>
          <a:extLst>
            <a:ext uri="{909E8E84-426E-40DD-AFC4-6F175D3DCCD1}">
              <a14:hiddenFill xmlns:a14="http://schemas.microsoft.com/office/drawing/2010/main">
                <a:solidFill>
                  <a:srgbClr val="FFFFFF"/>
                </a:solidFill>
              </a14:hiddenFill>
            </a:ext>
          </a:extLst>
        </p:spPr>
      </p:pic>
      <p:sp>
        <p:nvSpPr>
          <p:cNvPr id="3" name="矩形 2"/>
          <p:cNvSpPr/>
          <p:nvPr/>
        </p:nvSpPr>
        <p:spPr>
          <a:xfrm>
            <a:off x="628650" y="2522557"/>
            <a:ext cx="3922384" cy="3970318"/>
          </a:xfrm>
          <a:prstGeom prst="rect">
            <a:avLst/>
          </a:prstGeom>
          <a:solidFill>
            <a:srgbClr val="BDD7EE">
              <a:alpha val="52941"/>
            </a:srgbClr>
          </a:solidFill>
        </p:spPr>
        <p:txBody>
          <a:bodyPr wrap="square">
            <a:spAutoFit/>
          </a:bodyPr>
          <a:lstStyle/>
          <a:p>
            <a:r>
              <a:rPr lang="en-US" altLang="zh-CN" b="1" dirty="0">
                <a:solidFill>
                  <a:srgbClr val="464DD9"/>
                </a:solidFill>
              </a:rPr>
              <a:t>  function</a:t>
            </a:r>
            <a:r>
              <a:rPr lang="en-US" altLang="zh-CN" dirty="0"/>
              <a:t> </a:t>
            </a:r>
            <a:r>
              <a:rPr lang="en-US" altLang="zh-CN" dirty="0" err="1"/>
              <a:t>sierpinski</a:t>
            </a:r>
            <a:r>
              <a:rPr lang="en-US" altLang="zh-CN" dirty="0"/>
              <a:t>()</a:t>
            </a:r>
          </a:p>
          <a:p>
            <a:r>
              <a:rPr lang="en-US" altLang="zh-CN" dirty="0"/>
              <a:t>  {</a:t>
            </a:r>
          </a:p>
          <a:p>
            <a:pPr lvl="1"/>
            <a:r>
              <a:rPr lang="en-US" altLang="zh-CN" dirty="0" err="1"/>
              <a:t>initialize_the_system</a:t>
            </a:r>
            <a:r>
              <a:rPr lang="en-US" altLang="zh-CN" dirty="0"/>
              <a:t>();</a:t>
            </a:r>
          </a:p>
          <a:p>
            <a:pPr lvl="1"/>
            <a:r>
              <a:rPr lang="en-US" altLang="zh-CN" dirty="0"/>
              <a:t>p = </a:t>
            </a:r>
            <a:r>
              <a:rPr lang="en-US" altLang="zh-CN" dirty="0" err="1"/>
              <a:t>find_initial_point</a:t>
            </a:r>
            <a:r>
              <a:rPr lang="en-US" altLang="zh-CN" dirty="0"/>
              <a:t>();</a:t>
            </a:r>
          </a:p>
          <a:p>
            <a:pPr lvl="1"/>
            <a:r>
              <a:rPr lang="en-US" altLang="zh-CN" dirty="0"/>
              <a:t>for (</a:t>
            </a:r>
            <a:r>
              <a:rPr lang="en-US" altLang="zh-CN" dirty="0" err="1"/>
              <a:t>some_number_of_points</a:t>
            </a:r>
            <a:r>
              <a:rPr lang="en-US" altLang="zh-CN" dirty="0"/>
              <a:t>) </a:t>
            </a:r>
          </a:p>
          <a:p>
            <a:pPr lvl="1"/>
            <a:r>
              <a:rPr lang="en-US" altLang="zh-CN" dirty="0"/>
              <a:t>{</a:t>
            </a:r>
          </a:p>
          <a:p>
            <a:pPr lvl="2"/>
            <a:r>
              <a:rPr lang="en-US" altLang="zh-CN" dirty="0"/>
              <a:t>q = </a:t>
            </a:r>
            <a:r>
              <a:rPr lang="en-US" altLang="zh-CN" b="1" dirty="0" err="1"/>
              <a:t>generate_a_point</a:t>
            </a:r>
            <a:r>
              <a:rPr lang="en-US" altLang="zh-CN" b="1" dirty="0"/>
              <a:t>(p)</a:t>
            </a:r>
            <a:r>
              <a:rPr lang="en-US" altLang="zh-CN" dirty="0"/>
              <a:t>;</a:t>
            </a:r>
          </a:p>
          <a:p>
            <a:pPr lvl="2"/>
            <a:r>
              <a:rPr lang="en-US" altLang="zh-CN" b="1" dirty="0" err="1"/>
              <a:t>store_the_point</a:t>
            </a:r>
            <a:r>
              <a:rPr lang="en-US" altLang="zh-CN" b="1" dirty="0"/>
              <a:t>(q);</a:t>
            </a:r>
          </a:p>
          <a:p>
            <a:pPr lvl="2"/>
            <a:r>
              <a:rPr lang="en-US" altLang="zh-CN" dirty="0"/>
              <a:t>p = q;</a:t>
            </a:r>
          </a:p>
          <a:p>
            <a:pPr lvl="1"/>
            <a:r>
              <a:rPr lang="en-US" altLang="zh-CN" dirty="0"/>
              <a:t>}</a:t>
            </a:r>
          </a:p>
          <a:p>
            <a:pPr lvl="1"/>
            <a:r>
              <a:rPr lang="en-US" altLang="zh-CN" b="1" dirty="0" err="1"/>
              <a:t>send_all_points_to_GPU</a:t>
            </a:r>
            <a:r>
              <a:rPr lang="en-US" altLang="zh-CN" b="1" dirty="0"/>
              <a:t>();</a:t>
            </a:r>
          </a:p>
          <a:p>
            <a:pPr lvl="1"/>
            <a:r>
              <a:rPr lang="en-US" altLang="zh-CN" b="1" dirty="0" err="1"/>
              <a:t>display_data_on_GPU</a:t>
            </a:r>
            <a:r>
              <a:rPr lang="en-US" altLang="zh-CN" b="1" dirty="0"/>
              <a:t>();</a:t>
            </a:r>
          </a:p>
          <a:p>
            <a:pPr lvl="1"/>
            <a:r>
              <a:rPr lang="en-US" altLang="zh-CN" dirty="0"/>
              <a:t>cleanup();</a:t>
            </a:r>
          </a:p>
          <a:p>
            <a:r>
              <a:rPr lang="en-US" altLang="zh-CN" dirty="0"/>
              <a:t>  }</a:t>
            </a:r>
            <a:endParaRPr lang="zh-CN" altLang="en-US" dirty="0"/>
          </a:p>
        </p:txBody>
      </p:sp>
    </p:spTree>
    <p:extLst>
      <p:ext uri="{BB962C8B-B14F-4D97-AF65-F5344CB8AC3E}">
        <p14:creationId xmlns:p14="http://schemas.microsoft.com/office/powerpoint/2010/main" val="25589634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3200401" y="2094748"/>
            <a:ext cx="3032598" cy="796287"/>
          </a:xfrm>
          <a:prstGeom prst="roundRect">
            <a:avLst>
              <a:gd name="adj" fmla="val 50000"/>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圆角矩形 2"/>
          <p:cNvSpPr/>
          <p:nvPr/>
        </p:nvSpPr>
        <p:spPr>
          <a:xfrm>
            <a:off x="5418743" y="2115257"/>
            <a:ext cx="788833" cy="749851"/>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大纲</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15</a:t>
            </a:fld>
            <a:endParaRPr lang="zh-CN" altLang="en-US"/>
          </a:p>
        </p:txBody>
      </p:sp>
      <p:sp>
        <p:nvSpPr>
          <p:cNvPr id="8" name="文本框 7"/>
          <p:cNvSpPr txBox="1"/>
          <p:nvPr/>
        </p:nvSpPr>
        <p:spPr>
          <a:xfrm>
            <a:off x="1706243" y="3389111"/>
            <a:ext cx="5739072" cy="646331"/>
          </a:xfrm>
          <a:prstGeom prst="rect">
            <a:avLst/>
          </a:prstGeom>
          <a:noFill/>
        </p:spPr>
        <p:txBody>
          <a:bodyPr wrap="none" rtlCol="0">
            <a:spAutoFit/>
          </a:bodyPr>
          <a:lstStyle/>
          <a:p>
            <a:pPr algn="ctr"/>
            <a:r>
              <a:rPr lang="en-US" altLang="zh-CN" sz="3600" b="1" dirty="0">
                <a:latin typeface="微软雅黑" panose="020B0503020204020204" pitchFamily="34" charset="-122"/>
                <a:ea typeface="微软雅黑" panose="020B0503020204020204" pitchFamily="34" charset="-122"/>
              </a:rPr>
              <a:t>OpenGL</a:t>
            </a:r>
            <a:r>
              <a:rPr lang="zh-CN" altLang="en-US" sz="3600" b="1" dirty="0">
                <a:latin typeface="微软雅黑" panose="020B0503020204020204" pitchFamily="34" charset="-122"/>
                <a:ea typeface="微软雅黑" panose="020B0503020204020204" pitchFamily="34" charset="-122"/>
              </a:rPr>
              <a:t>编程与着色器语言</a:t>
            </a:r>
          </a:p>
        </p:txBody>
      </p:sp>
      <p:sp>
        <p:nvSpPr>
          <p:cNvPr id="11" name="文本框 10"/>
          <p:cNvSpPr txBox="1"/>
          <p:nvPr/>
        </p:nvSpPr>
        <p:spPr>
          <a:xfrm>
            <a:off x="3376147" y="2138948"/>
            <a:ext cx="1755609" cy="707886"/>
          </a:xfrm>
          <a:prstGeom prst="rect">
            <a:avLst/>
          </a:prstGeom>
          <a:noFill/>
        </p:spPr>
        <p:txBody>
          <a:bodyPr wrap="none" rtlCol="0">
            <a:spAutoFit/>
          </a:bodyPr>
          <a:lstStyle/>
          <a:p>
            <a:pPr algn="ctr"/>
            <a:r>
              <a:rPr lang="en-US" altLang="zh-CN" sz="4000" b="1" dirty="0">
                <a:solidFill>
                  <a:schemeClr val="bg1"/>
                </a:solidFill>
              </a:rPr>
              <a:t>Section</a:t>
            </a:r>
            <a:endParaRPr lang="zh-CN" altLang="en-US" sz="4000" b="1" dirty="0">
              <a:solidFill>
                <a:schemeClr val="bg1"/>
              </a:solidFill>
            </a:endParaRPr>
          </a:p>
        </p:txBody>
      </p:sp>
      <p:sp>
        <p:nvSpPr>
          <p:cNvPr id="12" name="文本框 11"/>
          <p:cNvSpPr txBox="1"/>
          <p:nvPr/>
        </p:nvSpPr>
        <p:spPr>
          <a:xfrm>
            <a:off x="5523179" y="1913900"/>
            <a:ext cx="614272" cy="1107996"/>
          </a:xfrm>
          <a:prstGeom prst="rect">
            <a:avLst/>
          </a:prstGeom>
          <a:noFill/>
        </p:spPr>
        <p:txBody>
          <a:bodyPr wrap="none" rtlCol="0">
            <a:spAutoFit/>
          </a:bodyPr>
          <a:lstStyle/>
          <a:p>
            <a:pPr algn="ctr"/>
            <a:r>
              <a:rPr lang="en-US" altLang="zh-CN" sz="6600" b="1" i="1" dirty="0">
                <a:solidFill>
                  <a:srgbClr val="94003F"/>
                </a:solidFill>
              </a:rPr>
              <a:t>2</a:t>
            </a:r>
            <a:endParaRPr lang="zh-CN" altLang="en-US" sz="6600" b="1" i="1" dirty="0">
              <a:solidFill>
                <a:srgbClr val="94003F"/>
              </a:solidFill>
            </a:endParaRPr>
          </a:p>
        </p:txBody>
      </p:sp>
      <p:sp>
        <p:nvSpPr>
          <p:cNvPr id="6" name="等腰三角形 5"/>
          <p:cNvSpPr/>
          <p:nvPr/>
        </p:nvSpPr>
        <p:spPr>
          <a:xfrm rot="10800000">
            <a:off x="4447572" y="2804325"/>
            <a:ext cx="492176" cy="321924"/>
          </a:xfrm>
          <a:prstGeom prst="triangle">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092908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Hello World to OpenGL</a:t>
            </a:r>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16</a:t>
            </a:fld>
            <a:endParaRPr lang="zh-CN" altLang="en-US"/>
          </a:p>
        </p:txBody>
      </p:sp>
      <p:sp>
        <p:nvSpPr>
          <p:cNvPr id="10" name="文本框 9"/>
          <p:cNvSpPr txBox="1"/>
          <p:nvPr/>
        </p:nvSpPr>
        <p:spPr>
          <a:xfrm>
            <a:off x="1483360" y="5831840"/>
            <a:ext cx="184731" cy="369332"/>
          </a:xfrm>
          <a:prstGeom prst="rect">
            <a:avLst/>
          </a:prstGeom>
          <a:noFill/>
        </p:spPr>
        <p:txBody>
          <a:bodyPr wrap="none" rtlCol="0">
            <a:spAutoFit/>
          </a:bodyPr>
          <a:lstStyle/>
          <a:p>
            <a:endParaRPr lang="zh-CN" altLang="en-US" dirty="0"/>
          </a:p>
        </p:txBody>
      </p:sp>
      <p:pic>
        <p:nvPicPr>
          <p:cNvPr id="3" name="图片 2"/>
          <p:cNvPicPr>
            <a:picLocks noChangeAspect="1"/>
          </p:cNvPicPr>
          <p:nvPr/>
        </p:nvPicPr>
        <p:blipFill>
          <a:blip r:embed="rId2"/>
          <a:stretch>
            <a:fillRect/>
          </a:stretch>
        </p:blipFill>
        <p:spPr>
          <a:xfrm>
            <a:off x="4572000" y="1195463"/>
            <a:ext cx="4261402" cy="4692246"/>
          </a:xfrm>
          <a:prstGeom prst="rect">
            <a:avLst/>
          </a:prstGeom>
        </p:spPr>
      </p:pic>
      <p:sp>
        <p:nvSpPr>
          <p:cNvPr id="8" name="矩形 7"/>
          <p:cNvSpPr/>
          <p:nvPr/>
        </p:nvSpPr>
        <p:spPr>
          <a:xfrm>
            <a:off x="432797" y="1195463"/>
            <a:ext cx="3922384" cy="4862870"/>
          </a:xfrm>
          <a:prstGeom prst="rect">
            <a:avLst/>
          </a:prstGeom>
          <a:solidFill>
            <a:srgbClr val="BDD7EE">
              <a:alpha val="52941"/>
            </a:srgbClr>
          </a:solidFill>
        </p:spPr>
        <p:txBody>
          <a:bodyPr wrap="square">
            <a:spAutoFit/>
          </a:bodyPr>
          <a:lstStyle/>
          <a:p>
            <a:r>
              <a:rPr lang="en-US" altLang="zh-CN" sz="1600" dirty="0">
                <a:latin typeface="Consolas" panose="020B0609020204030204" pitchFamily="49" charset="0"/>
              </a:rPr>
              <a:t>#</a:t>
            </a:r>
            <a:r>
              <a:rPr lang="en-US" altLang="zh-CN" sz="1600" dirty="0">
                <a:solidFill>
                  <a:srgbClr val="464DD9"/>
                </a:solidFill>
                <a:latin typeface="Consolas" panose="020B0609020204030204" pitchFamily="49" charset="0"/>
              </a:rPr>
              <a:t>include</a:t>
            </a:r>
            <a:r>
              <a:rPr lang="en-US" altLang="zh-CN" sz="1600" dirty="0">
                <a:latin typeface="Consolas" panose="020B0609020204030204" pitchFamily="49" charset="0"/>
              </a:rPr>
              <a:t> &lt;GL/</a:t>
            </a:r>
            <a:r>
              <a:rPr lang="en-US" altLang="zh-CN" sz="1600" dirty="0" err="1">
                <a:latin typeface="Consolas" panose="020B0609020204030204" pitchFamily="49" charset="0"/>
              </a:rPr>
              <a:t>glut.h</a:t>
            </a:r>
            <a:r>
              <a:rPr lang="en-US" altLang="zh-CN" sz="1600" dirty="0">
                <a:latin typeface="Consolas" panose="020B0609020204030204" pitchFamily="49" charset="0"/>
              </a:rPr>
              <a:t>&gt;</a:t>
            </a:r>
          </a:p>
          <a:p>
            <a:r>
              <a:rPr lang="en-US" altLang="zh-CN" sz="1600" dirty="0">
                <a:solidFill>
                  <a:srgbClr val="464DD9"/>
                </a:solidFill>
                <a:latin typeface="Consolas" panose="020B0609020204030204" pitchFamily="49" charset="0"/>
              </a:rPr>
              <a:t>void</a:t>
            </a:r>
            <a:r>
              <a:rPr lang="en-US" altLang="zh-CN" sz="1600" dirty="0">
                <a:latin typeface="Consolas" panose="020B0609020204030204" pitchFamily="49" charset="0"/>
              </a:rPr>
              <a:t> </a:t>
            </a:r>
            <a:r>
              <a:rPr lang="en-US" altLang="zh-CN" sz="1600" dirty="0" err="1">
                <a:latin typeface="Consolas" panose="020B0609020204030204" pitchFamily="49" charset="0"/>
              </a:rPr>
              <a:t>mydisplay</a:t>
            </a:r>
            <a:r>
              <a:rPr lang="en-US" altLang="zh-CN" sz="1600" dirty="0">
                <a:latin typeface="Consolas" panose="020B0609020204030204" pitchFamily="49" charset="0"/>
              </a:rPr>
              <a:t>()</a:t>
            </a:r>
          </a:p>
          <a:p>
            <a:r>
              <a:rPr lang="en-US" altLang="zh-CN" sz="1600" dirty="0">
                <a:latin typeface="Consolas" panose="020B0609020204030204" pitchFamily="49" charset="0"/>
              </a:rPr>
              <a:t>{</a:t>
            </a:r>
          </a:p>
          <a:p>
            <a:pPr lvl="1"/>
            <a:r>
              <a:rPr lang="en-US" altLang="zh-CN" sz="1600" dirty="0" err="1">
                <a:latin typeface="Consolas" panose="020B0609020204030204" pitchFamily="49" charset="0"/>
              </a:rPr>
              <a:t>glClear</a:t>
            </a:r>
            <a:r>
              <a:rPr lang="en-US" altLang="zh-CN" sz="1600" dirty="0">
                <a:latin typeface="Consolas" panose="020B0609020204030204" pitchFamily="49" charset="0"/>
              </a:rPr>
              <a:t>(GL_COLOR_BUFFER_BIT);</a:t>
            </a:r>
          </a:p>
          <a:p>
            <a:pPr lvl="1"/>
            <a:r>
              <a:rPr lang="en-US" altLang="zh-CN" sz="1600" b="1" dirty="0" err="1">
                <a:solidFill>
                  <a:srgbClr val="7030A0"/>
                </a:solidFill>
                <a:latin typeface="Consolas" panose="020B0609020204030204" pitchFamily="49" charset="0"/>
              </a:rPr>
              <a:t>glBegin</a:t>
            </a:r>
            <a:r>
              <a:rPr lang="en-US" altLang="zh-CN" sz="1600" b="1" dirty="0">
                <a:solidFill>
                  <a:srgbClr val="7030A0"/>
                </a:solidFill>
                <a:latin typeface="Consolas" panose="020B0609020204030204" pitchFamily="49" charset="0"/>
              </a:rPr>
              <a:t>(GL_POLYGON);</a:t>
            </a:r>
          </a:p>
          <a:p>
            <a:pPr lvl="1"/>
            <a:r>
              <a:rPr lang="en-US" altLang="zh-CN" sz="1600" dirty="0">
                <a:latin typeface="Consolas" panose="020B0609020204030204" pitchFamily="49" charset="0"/>
              </a:rPr>
              <a:t>glVertex2d(-0.5, -0.5);</a:t>
            </a:r>
          </a:p>
          <a:p>
            <a:pPr lvl="1"/>
            <a:r>
              <a:rPr lang="en-US" altLang="zh-CN" sz="1600" dirty="0">
                <a:latin typeface="Consolas" panose="020B0609020204030204" pitchFamily="49" charset="0"/>
              </a:rPr>
              <a:t>glVertex2d(-0.5, 0.5);</a:t>
            </a:r>
          </a:p>
          <a:p>
            <a:pPr lvl="1"/>
            <a:r>
              <a:rPr lang="en-US" altLang="zh-CN" sz="1600" dirty="0">
                <a:latin typeface="Consolas" panose="020B0609020204030204" pitchFamily="49" charset="0"/>
              </a:rPr>
              <a:t>glVertex2d(0.5, 0.5);</a:t>
            </a:r>
          </a:p>
          <a:p>
            <a:pPr lvl="1"/>
            <a:r>
              <a:rPr lang="en-US" altLang="zh-CN" sz="1600" dirty="0">
                <a:latin typeface="Consolas" panose="020B0609020204030204" pitchFamily="49" charset="0"/>
              </a:rPr>
              <a:t>glVertex2d(0.5, -0.5);</a:t>
            </a:r>
          </a:p>
          <a:p>
            <a:pPr lvl="1"/>
            <a:r>
              <a:rPr lang="en-US" altLang="zh-CN" sz="1600" b="1" dirty="0" err="1">
                <a:solidFill>
                  <a:srgbClr val="7030A0"/>
                </a:solidFill>
                <a:latin typeface="Consolas" panose="020B0609020204030204" pitchFamily="49" charset="0"/>
              </a:rPr>
              <a:t>glEnd</a:t>
            </a:r>
            <a:r>
              <a:rPr lang="en-US" altLang="zh-CN" sz="1600" b="1" dirty="0">
                <a:solidFill>
                  <a:srgbClr val="7030A0"/>
                </a:solidFill>
                <a:latin typeface="Consolas" panose="020B0609020204030204" pitchFamily="49" charset="0"/>
              </a:rPr>
              <a:t>();</a:t>
            </a:r>
          </a:p>
          <a:p>
            <a:pPr lvl="1"/>
            <a:r>
              <a:rPr lang="en-US" altLang="zh-CN" sz="1600" dirty="0" err="1">
                <a:latin typeface="Consolas" panose="020B0609020204030204" pitchFamily="49" charset="0"/>
              </a:rPr>
              <a:t>glFlush</a:t>
            </a:r>
            <a:r>
              <a:rPr lang="en-US" altLang="zh-CN" sz="1600" dirty="0">
                <a:latin typeface="Consolas" panose="020B0609020204030204" pitchFamily="49" charset="0"/>
              </a:rPr>
              <a:t>();</a:t>
            </a:r>
          </a:p>
          <a:p>
            <a:r>
              <a:rPr lang="en-US" altLang="zh-CN" sz="1600" dirty="0">
                <a:latin typeface="Consolas" panose="020B0609020204030204" pitchFamily="49" charset="0"/>
              </a:rPr>
              <a:t>}</a:t>
            </a:r>
          </a:p>
          <a:p>
            <a:r>
              <a:rPr lang="en-US" altLang="zh-CN" sz="1600" dirty="0" err="1">
                <a:solidFill>
                  <a:srgbClr val="464DD9"/>
                </a:solidFill>
                <a:latin typeface="Consolas" panose="020B0609020204030204" pitchFamily="49" charset="0"/>
              </a:rPr>
              <a:t>int</a:t>
            </a:r>
            <a:r>
              <a:rPr lang="en-US" altLang="zh-CN" sz="1600" dirty="0">
                <a:latin typeface="Consolas" panose="020B0609020204030204" pitchFamily="49" charset="0"/>
              </a:rPr>
              <a:t> main(</a:t>
            </a:r>
            <a:r>
              <a:rPr lang="en-US" altLang="zh-CN" sz="1600" dirty="0" err="1">
                <a:solidFill>
                  <a:srgbClr val="464DD9"/>
                </a:solidFill>
                <a:latin typeface="Consolas" panose="020B0609020204030204" pitchFamily="49" charset="0"/>
              </a:rPr>
              <a:t>int</a:t>
            </a:r>
            <a:r>
              <a:rPr lang="en-US" altLang="zh-CN" sz="1600" dirty="0">
                <a:latin typeface="Consolas" panose="020B0609020204030204" pitchFamily="49" charset="0"/>
              </a:rPr>
              <a:t> </a:t>
            </a:r>
            <a:r>
              <a:rPr lang="en-US" altLang="zh-CN" sz="1600" dirty="0" err="1">
                <a:latin typeface="Consolas" panose="020B0609020204030204" pitchFamily="49" charset="0"/>
              </a:rPr>
              <a:t>argc</a:t>
            </a:r>
            <a:r>
              <a:rPr lang="en-US" altLang="zh-CN" sz="1600" dirty="0">
                <a:latin typeface="Consolas" panose="020B0609020204030204" pitchFamily="49" charset="0"/>
              </a:rPr>
              <a:t>, </a:t>
            </a:r>
            <a:r>
              <a:rPr lang="en-US" altLang="zh-CN" sz="1600" dirty="0">
                <a:solidFill>
                  <a:srgbClr val="464DD9"/>
                </a:solidFill>
                <a:latin typeface="Consolas" panose="020B0609020204030204" pitchFamily="49" charset="0"/>
              </a:rPr>
              <a:t>char</a:t>
            </a:r>
            <a:r>
              <a:rPr lang="en-US" altLang="zh-CN" sz="1600" dirty="0">
                <a:latin typeface="Consolas" panose="020B0609020204030204" pitchFamily="49" charset="0"/>
              </a:rPr>
              <a:t>* </a:t>
            </a:r>
            <a:r>
              <a:rPr lang="en-US" altLang="zh-CN" sz="1600" dirty="0" err="1">
                <a:latin typeface="Consolas" panose="020B0609020204030204" pitchFamily="49" charset="0"/>
              </a:rPr>
              <a:t>argv</a:t>
            </a:r>
            <a:r>
              <a:rPr lang="en-US" altLang="zh-CN" sz="1600" dirty="0">
                <a:latin typeface="Consolas" panose="020B0609020204030204" pitchFamily="49" charset="0"/>
              </a:rPr>
              <a:t>[]) {</a:t>
            </a:r>
          </a:p>
          <a:p>
            <a:pPr lvl="1"/>
            <a:r>
              <a:rPr lang="en-US" altLang="zh-CN" sz="1600" dirty="0" err="1">
                <a:latin typeface="Consolas" panose="020B0609020204030204" pitchFamily="49" charset="0"/>
              </a:rPr>
              <a:t>glutInit</a:t>
            </a:r>
            <a:r>
              <a:rPr lang="en-US" altLang="zh-CN" sz="1600" dirty="0">
                <a:latin typeface="Consolas" panose="020B0609020204030204" pitchFamily="49" charset="0"/>
              </a:rPr>
              <a:t>(&amp;</a:t>
            </a:r>
            <a:r>
              <a:rPr lang="en-US" altLang="zh-CN" sz="1600" dirty="0" err="1">
                <a:latin typeface="Consolas" panose="020B0609020204030204" pitchFamily="49" charset="0"/>
              </a:rPr>
              <a:t>argc</a:t>
            </a:r>
            <a:r>
              <a:rPr lang="en-US" altLang="zh-CN" sz="1600" dirty="0">
                <a:latin typeface="Consolas" panose="020B0609020204030204" pitchFamily="49" charset="0"/>
              </a:rPr>
              <a:t>, </a:t>
            </a:r>
            <a:r>
              <a:rPr lang="en-US" altLang="zh-CN" sz="1600" dirty="0" err="1">
                <a:latin typeface="Consolas" panose="020B0609020204030204" pitchFamily="49" charset="0"/>
              </a:rPr>
              <a:t>argv</a:t>
            </a:r>
            <a:r>
              <a:rPr lang="en-US" altLang="zh-CN" sz="1600" dirty="0">
                <a:latin typeface="Consolas" panose="020B0609020204030204" pitchFamily="49" charset="0"/>
              </a:rPr>
              <a:t>);</a:t>
            </a:r>
          </a:p>
          <a:p>
            <a:pPr lvl="1"/>
            <a:r>
              <a:rPr lang="en-US" altLang="zh-CN" sz="1600" dirty="0" err="1">
                <a:latin typeface="Consolas" panose="020B0609020204030204" pitchFamily="49" charset="0"/>
              </a:rPr>
              <a:t>glutCreateWindow</a:t>
            </a:r>
            <a:r>
              <a:rPr lang="en-US" altLang="zh-CN" sz="1600" dirty="0">
                <a:latin typeface="Consolas" panose="020B0609020204030204" pitchFamily="49" charset="0"/>
              </a:rPr>
              <a:t>("</a:t>
            </a:r>
            <a:r>
              <a:rPr lang="zh-CN" altLang="en-US" sz="1600" dirty="0">
                <a:latin typeface="Consolas" panose="020B0609020204030204" pitchFamily="49" charset="0"/>
              </a:rPr>
              <a:t>简单示例</a:t>
            </a:r>
            <a:r>
              <a:rPr lang="en-US" altLang="zh-CN" sz="1600" dirty="0">
                <a:latin typeface="Consolas" panose="020B0609020204030204" pitchFamily="49" charset="0"/>
              </a:rPr>
              <a:t>");</a:t>
            </a:r>
          </a:p>
          <a:p>
            <a:pPr lvl="1"/>
            <a:r>
              <a:rPr lang="en-US" altLang="zh-CN" sz="1600" dirty="0" err="1">
                <a:latin typeface="Consolas" panose="020B0609020204030204" pitchFamily="49" charset="0"/>
              </a:rPr>
              <a:t>glutDisplayFunc</a:t>
            </a:r>
            <a:r>
              <a:rPr lang="en-US" altLang="zh-CN" sz="1600" dirty="0">
                <a:latin typeface="Consolas" panose="020B0609020204030204" pitchFamily="49" charset="0"/>
              </a:rPr>
              <a:t>(</a:t>
            </a:r>
            <a:r>
              <a:rPr lang="en-US" altLang="zh-CN" sz="1600" dirty="0" err="1">
                <a:latin typeface="Consolas" panose="020B0609020204030204" pitchFamily="49" charset="0"/>
              </a:rPr>
              <a:t>mydisplay</a:t>
            </a:r>
            <a:r>
              <a:rPr lang="en-US" altLang="zh-CN" sz="1600" dirty="0">
                <a:latin typeface="Consolas" panose="020B0609020204030204" pitchFamily="49" charset="0"/>
              </a:rPr>
              <a:t>);</a:t>
            </a:r>
          </a:p>
          <a:p>
            <a:pPr lvl="1"/>
            <a:r>
              <a:rPr lang="en-US" altLang="zh-CN" sz="1600" dirty="0" err="1">
                <a:latin typeface="Consolas" panose="020B0609020204030204" pitchFamily="49" charset="0"/>
              </a:rPr>
              <a:t>glutMainLoop</a:t>
            </a:r>
            <a:r>
              <a:rPr lang="en-US" altLang="zh-CN" sz="1600" dirty="0">
                <a:latin typeface="Consolas" panose="020B0609020204030204" pitchFamily="49" charset="0"/>
              </a:rPr>
              <a:t>();</a:t>
            </a:r>
          </a:p>
          <a:p>
            <a:r>
              <a:rPr lang="en-US" altLang="zh-CN" sz="1600" dirty="0">
                <a:latin typeface="Consolas" panose="020B0609020204030204" pitchFamily="49" charset="0"/>
              </a:rPr>
              <a:t>}</a:t>
            </a:r>
            <a:endParaRPr lang="zh-CN" altLang="en-US" sz="1600" dirty="0">
              <a:latin typeface="Consolas" panose="020B0609020204030204" pitchFamily="49" charset="0"/>
            </a:endParaRPr>
          </a:p>
        </p:txBody>
      </p:sp>
      <p:sp>
        <p:nvSpPr>
          <p:cNvPr id="9" name="TextBox 8"/>
          <p:cNvSpPr txBox="1"/>
          <p:nvPr/>
        </p:nvSpPr>
        <p:spPr>
          <a:xfrm>
            <a:off x="5647946" y="6075534"/>
            <a:ext cx="2206053" cy="369332"/>
          </a:xfrm>
          <a:prstGeom prst="rect">
            <a:avLst/>
          </a:prstGeom>
          <a:noFill/>
        </p:spPr>
        <p:txBody>
          <a:bodyPr wrap="none" rtlCol="0">
            <a:spAutoFit/>
          </a:bodyPr>
          <a:lstStyle/>
          <a:p>
            <a:r>
              <a:rPr lang="zh-CN" altLang="en-US" dirty="0"/>
              <a:t>旧版本：</a:t>
            </a:r>
            <a:r>
              <a:rPr lang="en-US" altLang="zh-CN" dirty="0"/>
              <a:t>OpenGL</a:t>
            </a:r>
            <a:r>
              <a:rPr lang="zh-CN" altLang="en-US" dirty="0"/>
              <a:t> </a:t>
            </a:r>
            <a:r>
              <a:rPr lang="en-US" altLang="zh-CN" dirty="0"/>
              <a:t>2.0</a:t>
            </a:r>
            <a:endParaRPr lang="en-US" dirty="0"/>
          </a:p>
        </p:txBody>
      </p:sp>
    </p:spTree>
    <p:extLst>
      <p:ext uri="{BB962C8B-B14F-4D97-AF65-F5344CB8AC3E}">
        <p14:creationId xmlns:p14="http://schemas.microsoft.com/office/powerpoint/2010/main" val="24882539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Hello World to OpenGL</a:t>
            </a:r>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17</a:t>
            </a:fld>
            <a:endParaRPr lang="zh-CN" altLang="en-US"/>
          </a:p>
        </p:txBody>
      </p:sp>
      <p:sp>
        <p:nvSpPr>
          <p:cNvPr id="10" name="文本框 9"/>
          <p:cNvSpPr txBox="1"/>
          <p:nvPr/>
        </p:nvSpPr>
        <p:spPr>
          <a:xfrm>
            <a:off x="1483360" y="5831840"/>
            <a:ext cx="184731" cy="369332"/>
          </a:xfrm>
          <a:prstGeom prst="rect">
            <a:avLst/>
          </a:prstGeom>
          <a:noFill/>
        </p:spPr>
        <p:txBody>
          <a:bodyPr wrap="none" rtlCol="0">
            <a:spAutoFit/>
          </a:bodyPr>
          <a:lstStyle/>
          <a:p>
            <a:endParaRPr lang="zh-CN" altLang="en-US" dirty="0"/>
          </a:p>
        </p:txBody>
      </p:sp>
      <p:sp>
        <p:nvSpPr>
          <p:cNvPr id="5" name="TextBox 4"/>
          <p:cNvSpPr txBox="1"/>
          <p:nvPr/>
        </p:nvSpPr>
        <p:spPr>
          <a:xfrm>
            <a:off x="6024201" y="5801214"/>
            <a:ext cx="990977" cy="369332"/>
          </a:xfrm>
          <a:prstGeom prst="rect">
            <a:avLst/>
          </a:prstGeom>
          <a:noFill/>
        </p:spPr>
        <p:txBody>
          <a:bodyPr wrap="none" rtlCol="0">
            <a:spAutoFit/>
          </a:bodyPr>
          <a:lstStyle/>
          <a:p>
            <a:pPr algn="ctr"/>
            <a:r>
              <a:rPr lang="zh-CN" altLang="en-US" dirty="0"/>
              <a:t>实验 </a:t>
            </a:r>
            <a:r>
              <a:rPr lang="en-US" altLang="zh-CN" dirty="0"/>
              <a:t>1.1</a:t>
            </a:r>
          </a:p>
        </p:txBody>
      </p:sp>
      <p:pic>
        <p:nvPicPr>
          <p:cNvPr id="9" name="图片 11" descr="QQ截图20160819015834"/>
          <p:cNvPicPr/>
          <p:nvPr/>
        </p:nvPicPr>
        <p:blipFill>
          <a:blip r:embed="rId2">
            <a:extLst>
              <a:ext uri="{28A0092B-C50C-407E-A947-70E740481C1C}">
                <a14:useLocalDpi xmlns:a14="http://schemas.microsoft.com/office/drawing/2010/main" val="0"/>
              </a:ext>
            </a:extLst>
          </a:blip>
          <a:srcRect/>
          <a:stretch>
            <a:fillRect/>
          </a:stretch>
        </p:blipFill>
        <p:spPr bwMode="auto">
          <a:xfrm>
            <a:off x="4491149" y="1327774"/>
            <a:ext cx="4057081" cy="4218201"/>
          </a:xfrm>
          <a:prstGeom prst="rect">
            <a:avLst/>
          </a:prstGeom>
          <a:noFill/>
          <a:ln>
            <a:noFill/>
          </a:ln>
        </p:spPr>
      </p:pic>
      <p:pic>
        <p:nvPicPr>
          <p:cNvPr id="11" name="Picture 10"/>
          <p:cNvPicPr>
            <a:picLocks noChangeAspect="1"/>
          </p:cNvPicPr>
          <p:nvPr/>
        </p:nvPicPr>
        <p:blipFill>
          <a:blip r:embed="rId3"/>
          <a:stretch>
            <a:fillRect/>
          </a:stretch>
        </p:blipFill>
        <p:spPr>
          <a:xfrm>
            <a:off x="713026" y="1434454"/>
            <a:ext cx="2852045" cy="4953000"/>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spTree>
    <p:extLst>
      <p:ext uri="{BB962C8B-B14F-4D97-AF65-F5344CB8AC3E}">
        <p14:creationId xmlns:p14="http://schemas.microsoft.com/office/powerpoint/2010/main" val="8303510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Hello World to OpenGL</a:t>
            </a:r>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18</a:t>
            </a:fld>
            <a:endParaRPr lang="zh-CN" altLang="en-US"/>
          </a:p>
        </p:txBody>
      </p:sp>
      <p:pic>
        <p:nvPicPr>
          <p:cNvPr id="11" name="Picture 10"/>
          <p:cNvPicPr>
            <a:picLocks noChangeAspect="1"/>
          </p:cNvPicPr>
          <p:nvPr/>
        </p:nvPicPr>
        <p:blipFill rotWithShape="1">
          <a:blip r:embed="rId3"/>
          <a:srcRect b="46121"/>
          <a:stretch/>
        </p:blipFill>
        <p:spPr>
          <a:xfrm>
            <a:off x="314147" y="1350523"/>
            <a:ext cx="7651289" cy="7159296"/>
          </a:xfrm>
          <a:prstGeom prst="rect">
            <a:avLst/>
          </a:prstGeom>
          <a:ln>
            <a:noFill/>
          </a:ln>
          <a:effectLst>
            <a:outerShdw blurRad="292100" dist="139700" dir="2700000" algn="tl" rotWithShape="0">
              <a:srgbClr val="333333">
                <a:alpha val="65000"/>
              </a:srgbClr>
            </a:outerShdw>
          </a:effectLst>
        </p:spPr>
      </p:pic>
      <p:pic>
        <p:nvPicPr>
          <p:cNvPr id="8" name="Picture 7"/>
          <p:cNvPicPr>
            <a:picLocks noChangeAspect="1"/>
          </p:cNvPicPr>
          <p:nvPr/>
        </p:nvPicPr>
        <p:blipFill rotWithShape="1">
          <a:blip r:embed="rId3"/>
          <a:srcRect t="54001" r="25825"/>
          <a:stretch/>
        </p:blipFill>
        <p:spPr>
          <a:xfrm>
            <a:off x="5185509" y="1678211"/>
            <a:ext cx="3552478" cy="3825940"/>
          </a:xfrm>
          <a:prstGeom prst="rect">
            <a:avLst/>
          </a:prstGeom>
          <a:ln>
            <a:noFill/>
          </a:ln>
          <a:effectLst>
            <a:outerShdw blurRad="292100" dist="139700" dir="2700000" algn="tl" rotWithShape="0">
              <a:srgbClr val="333333">
                <a:alpha val="65000"/>
              </a:srgbClr>
            </a:outerShdw>
          </a:effectLst>
        </p:spPr>
      </p:pic>
      <p:sp>
        <p:nvSpPr>
          <p:cNvPr id="6" name="TextBox 5"/>
          <p:cNvSpPr txBox="1"/>
          <p:nvPr/>
        </p:nvSpPr>
        <p:spPr>
          <a:xfrm>
            <a:off x="7021002" y="803082"/>
            <a:ext cx="1066318" cy="369332"/>
          </a:xfrm>
          <a:prstGeom prst="rect">
            <a:avLst/>
          </a:prstGeom>
        </p:spPr>
        <p:style>
          <a:lnRef idx="2">
            <a:schemeClr val="accent2"/>
          </a:lnRef>
          <a:fillRef idx="1">
            <a:schemeClr val="lt1"/>
          </a:fillRef>
          <a:effectRef idx="0">
            <a:schemeClr val="accent2"/>
          </a:effectRef>
          <a:fontRef idx="minor">
            <a:schemeClr val="dk1"/>
          </a:fontRef>
        </p:style>
        <p:txBody>
          <a:bodyPr wrap="none" rtlCol="0">
            <a:spAutoFit/>
          </a:bodyPr>
          <a:lstStyle/>
          <a:p>
            <a:r>
              <a:rPr lang="en-US" altLang="zh-CN"/>
              <a:t>main.cpp</a:t>
            </a:r>
            <a:endParaRPr lang="en-US" dirty="0"/>
          </a:p>
        </p:txBody>
      </p:sp>
    </p:spTree>
    <p:extLst>
      <p:ext uri="{BB962C8B-B14F-4D97-AF65-F5344CB8AC3E}">
        <p14:creationId xmlns:p14="http://schemas.microsoft.com/office/powerpoint/2010/main" val="24019921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Hello World to OpenGL</a:t>
            </a:r>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19</a:t>
            </a:fld>
            <a:endParaRPr lang="zh-CN" altLang="en-US"/>
          </a:p>
        </p:txBody>
      </p:sp>
      <p:pic>
        <p:nvPicPr>
          <p:cNvPr id="11" name="Picture 10"/>
          <p:cNvPicPr>
            <a:picLocks noChangeAspect="1"/>
          </p:cNvPicPr>
          <p:nvPr/>
        </p:nvPicPr>
        <p:blipFill rotWithShape="1">
          <a:blip r:embed="rId3"/>
          <a:srcRect b="46121"/>
          <a:stretch/>
        </p:blipFill>
        <p:spPr>
          <a:xfrm>
            <a:off x="314147" y="1350523"/>
            <a:ext cx="4789277" cy="4481317"/>
          </a:xfrm>
          <a:prstGeom prst="rect">
            <a:avLst/>
          </a:prstGeom>
          <a:ln>
            <a:noFill/>
          </a:ln>
          <a:effectLst>
            <a:outerShdw blurRad="292100" dist="139700" dir="2700000" algn="tl" rotWithShape="0">
              <a:srgbClr val="333333">
                <a:alpha val="65000"/>
              </a:srgbClr>
            </a:outerShdw>
          </a:effectLst>
        </p:spPr>
      </p:pic>
      <p:pic>
        <p:nvPicPr>
          <p:cNvPr id="8" name="Picture 7"/>
          <p:cNvPicPr>
            <a:picLocks noChangeAspect="1"/>
          </p:cNvPicPr>
          <p:nvPr/>
        </p:nvPicPr>
        <p:blipFill rotWithShape="1">
          <a:blip r:embed="rId3"/>
          <a:srcRect t="54001" r="25825"/>
          <a:stretch/>
        </p:blipFill>
        <p:spPr>
          <a:xfrm>
            <a:off x="5185509" y="1678211"/>
            <a:ext cx="3552478" cy="3825940"/>
          </a:xfrm>
          <a:prstGeom prst="rect">
            <a:avLst/>
          </a:prstGeom>
          <a:ln>
            <a:noFill/>
          </a:ln>
          <a:effectLst>
            <a:outerShdw blurRad="292100" dist="139700" dir="2700000" algn="tl" rotWithShape="0">
              <a:srgbClr val="333333">
                <a:alpha val="65000"/>
              </a:srgbClr>
            </a:outerShdw>
          </a:effectLst>
        </p:spPr>
      </p:pic>
      <p:sp>
        <p:nvSpPr>
          <p:cNvPr id="6" name="TextBox 5"/>
          <p:cNvSpPr txBox="1"/>
          <p:nvPr/>
        </p:nvSpPr>
        <p:spPr>
          <a:xfrm>
            <a:off x="7021002" y="803082"/>
            <a:ext cx="1066318" cy="369332"/>
          </a:xfrm>
          <a:prstGeom prst="rect">
            <a:avLst/>
          </a:prstGeom>
        </p:spPr>
        <p:style>
          <a:lnRef idx="2">
            <a:schemeClr val="accent2"/>
          </a:lnRef>
          <a:fillRef idx="1">
            <a:schemeClr val="lt1"/>
          </a:fillRef>
          <a:effectRef idx="0">
            <a:schemeClr val="accent2"/>
          </a:effectRef>
          <a:fontRef idx="minor">
            <a:schemeClr val="dk1"/>
          </a:fontRef>
        </p:style>
        <p:txBody>
          <a:bodyPr wrap="none" rtlCol="0">
            <a:spAutoFit/>
          </a:bodyPr>
          <a:lstStyle/>
          <a:p>
            <a:r>
              <a:rPr lang="en-US" altLang="zh-CN"/>
              <a:t>main.cpp</a:t>
            </a:r>
            <a:endParaRPr lang="en-US" dirty="0"/>
          </a:p>
        </p:txBody>
      </p:sp>
      <p:pic>
        <p:nvPicPr>
          <p:cNvPr id="16" name="Picture 7"/>
          <p:cNvPicPr>
            <a:picLocks noChangeAspect="1"/>
          </p:cNvPicPr>
          <p:nvPr/>
        </p:nvPicPr>
        <p:blipFill rotWithShape="1">
          <a:blip r:embed="rId3"/>
          <a:srcRect t="54001" r="25825"/>
          <a:stretch/>
        </p:blipFill>
        <p:spPr>
          <a:xfrm>
            <a:off x="1419704" y="60604"/>
            <a:ext cx="6311547" cy="6797396"/>
          </a:xfrm>
          <a:prstGeom prst="rect">
            <a:avLst/>
          </a:prstGeom>
          <a:ln>
            <a:noFill/>
          </a:ln>
          <a:effectLst>
            <a:outerShdw blurRad="292100" dist="139700" dir="2700000" algn="tl" rotWithShape="0">
              <a:srgbClr val="333333">
                <a:alpha val="65000"/>
              </a:srgbClr>
            </a:outerShdw>
          </a:effectLst>
        </p:spPr>
      </p:pic>
      <p:sp>
        <p:nvSpPr>
          <p:cNvPr id="9" name="Rounded Rectangle 6"/>
          <p:cNvSpPr/>
          <p:nvPr/>
        </p:nvSpPr>
        <p:spPr>
          <a:xfrm>
            <a:off x="2128142" y="5381001"/>
            <a:ext cx="2626738" cy="469127"/>
          </a:xfrm>
          <a:prstGeom prst="roundRect">
            <a:avLst/>
          </a:prstGeom>
          <a:noFill/>
          <a:ln>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0" name="TextBox 2"/>
          <p:cNvSpPr txBox="1"/>
          <p:nvPr/>
        </p:nvSpPr>
        <p:spPr>
          <a:xfrm>
            <a:off x="4654917" y="5067546"/>
            <a:ext cx="2335896" cy="369332"/>
          </a:xfrm>
          <a:prstGeom prst="rect">
            <a:avLst/>
          </a:prstGeom>
          <a:solidFill>
            <a:srgbClr val="C00000"/>
          </a:solidFill>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US" altLang="zh-CN" dirty="0" err="1"/>
              <a:t>init</a:t>
            </a:r>
            <a:r>
              <a:rPr lang="zh-CN" altLang="en-US" dirty="0"/>
              <a:t>：自定义图形内容</a:t>
            </a:r>
            <a:endParaRPr lang="en-US" dirty="0"/>
          </a:p>
        </p:txBody>
      </p:sp>
      <p:sp>
        <p:nvSpPr>
          <p:cNvPr id="12" name="TextBox 2"/>
          <p:cNvSpPr txBox="1"/>
          <p:nvPr/>
        </p:nvSpPr>
        <p:spPr>
          <a:xfrm>
            <a:off x="4665229" y="5868296"/>
            <a:ext cx="4253087" cy="369332"/>
          </a:xfrm>
          <a:prstGeom prst="rect">
            <a:avLst/>
          </a:prstGeom>
          <a:solidFill>
            <a:srgbClr val="C00000"/>
          </a:solidFill>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US" altLang="zh-CN" dirty="0" err="1"/>
              <a:t>glutDispalyFunc</a:t>
            </a:r>
            <a:r>
              <a:rPr lang="en-US" altLang="zh-CN" dirty="0"/>
              <a:t>( function* ) </a:t>
            </a:r>
            <a:r>
              <a:rPr lang="zh-CN" altLang="en-US" dirty="0"/>
              <a:t>绘制回调函数</a:t>
            </a:r>
            <a:endParaRPr lang="en-US" dirty="0"/>
          </a:p>
        </p:txBody>
      </p:sp>
    </p:spTree>
    <p:extLst>
      <p:ext uri="{BB962C8B-B14F-4D97-AF65-F5344CB8AC3E}">
        <p14:creationId xmlns:p14="http://schemas.microsoft.com/office/powerpoint/2010/main" val="1329076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arn(inVertical)">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1000"/>
                                        <p:tgtEl>
                                          <p:spTgt spid="10"/>
                                        </p:tgtEl>
                                      </p:cBhvr>
                                    </p:animEffect>
                                    <p:anim calcmode="lin" valueType="num">
                                      <p:cBhvr>
                                        <p:cTn id="13" dur="1000" fill="hold"/>
                                        <p:tgtEl>
                                          <p:spTgt spid="10"/>
                                        </p:tgtEl>
                                        <p:attrNameLst>
                                          <p:attrName>ppt_x</p:attrName>
                                        </p:attrNameLst>
                                      </p:cBhvr>
                                      <p:tavLst>
                                        <p:tav tm="0">
                                          <p:val>
                                            <p:strVal val="#ppt_x"/>
                                          </p:val>
                                        </p:tav>
                                        <p:tav tm="100000">
                                          <p:val>
                                            <p:strVal val="#ppt_x"/>
                                          </p:val>
                                        </p:tav>
                                      </p:tavLst>
                                    </p:anim>
                                    <p:anim calcmode="lin" valueType="num">
                                      <p:cBhvr>
                                        <p:cTn id="14"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1000"/>
                                        <p:tgtEl>
                                          <p:spTgt spid="12"/>
                                        </p:tgtEl>
                                      </p:cBhvr>
                                    </p:animEffect>
                                    <p:anim calcmode="lin" valueType="num">
                                      <p:cBhvr>
                                        <p:cTn id="20" dur="1000" fill="hold"/>
                                        <p:tgtEl>
                                          <p:spTgt spid="12"/>
                                        </p:tgtEl>
                                        <p:attrNameLst>
                                          <p:attrName>ppt_x</p:attrName>
                                        </p:attrNameLst>
                                      </p:cBhvr>
                                      <p:tavLst>
                                        <p:tav tm="0">
                                          <p:val>
                                            <p:strVal val="#ppt_x"/>
                                          </p:val>
                                        </p:tav>
                                        <p:tav tm="100000">
                                          <p:val>
                                            <p:strVal val="#ppt_x"/>
                                          </p:val>
                                        </p:tav>
                                      </p:tavLst>
                                    </p:anim>
                                    <p:anim calcmode="lin" valueType="num">
                                      <p:cBhvr>
                                        <p:cTn id="21"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2"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7021002" y="803082"/>
            <a:ext cx="1066318" cy="369332"/>
          </a:xfrm>
          <a:prstGeom prst="rect">
            <a:avLst/>
          </a:prstGeom>
        </p:spPr>
        <p:style>
          <a:lnRef idx="2">
            <a:schemeClr val="accent2"/>
          </a:lnRef>
          <a:fillRef idx="1">
            <a:schemeClr val="lt1"/>
          </a:fillRef>
          <a:effectRef idx="0">
            <a:schemeClr val="accent2"/>
          </a:effectRef>
          <a:fontRef idx="minor">
            <a:schemeClr val="dk1"/>
          </a:fontRef>
        </p:style>
        <p:txBody>
          <a:bodyPr wrap="none" rtlCol="0">
            <a:spAutoFit/>
          </a:bodyPr>
          <a:lstStyle/>
          <a:p>
            <a:r>
              <a:rPr lang="en-US" altLang="zh-CN"/>
              <a:t>main.cpp</a:t>
            </a:r>
            <a:endParaRPr lang="en-US" dirty="0"/>
          </a:p>
        </p:txBody>
      </p:sp>
      <p:pic>
        <p:nvPicPr>
          <p:cNvPr id="11" name="Picture 10"/>
          <p:cNvPicPr>
            <a:picLocks noChangeAspect="1"/>
          </p:cNvPicPr>
          <p:nvPr/>
        </p:nvPicPr>
        <p:blipFill rotWithShape="1">
          <a:blip r:embed="rId3"/>
          <a:srcRect b="46121"/>
          <a:stretch/>
        </p:blipFill>
        <p:spPr>
          <a:xfrm>
            <a:off x="314147" y="1350523"/>
            <a:ext cx="4789277" cy="4481317"/>
          </a:xfrm>
          <a:prstGeom prst="rect">
            <a:avLst/>
          </a:prstGeom>
          <a:ln>
            <a:noFill/>
          </a:ln>
          <a:effectLst>
            <a:outerShdw blurRad="292100" dist="139700" dir="2700000" algn="tl" rotWithShape="0">
              <a:srgbClr val="333333">
                <a:alpha val="65000"/>
              </a:srgbClr>
            </a:outerShdw>
          </a:effectLst>
        </p:spPr>
      </p:pic>
      <p:pic>
        <p:nvPicPr>
          <p:cNvPr id="8" name="Picture 7"/>
          <p:cNvPicPr>
            <a:picLocks noChangeAspect="1"/>
          </p:cNvPicPr>
          <p:nvPr/>
        </p:nvPicPr>
        <p:blipFill rotWithShape="1">
          <a:blip r:embed="rId3"/>
          <a:srcRect t="54001" r="25825"/>
          <a:stretch/>
        </p:blipFill>
        <p:spPr>
          <a:xfrm>
            <a:off x="5185509" y="1678211"/>
            <a:ext cx="3552478" cy="3825940"/>
          </a:xfrm>
          <a:prstGeom prst="rect">
            <a:avLst/>
          </a:prstGeom>
          <a:ln>
            <a:noFill/>
          </a:ln>
          <a:effectLst>
            <a:outerShdw blurRad="292100" dist="139700" dir="2700000" algn="tl" rotWithShape="0">
              <a:srgbClr val="333333">
                <a:alpha val="65000"/>
              </a:srgbClr>
            </a:outerShdw>
          </a:effectLst>
        </p:spPr>
      </p:pic>
      <p:pic>
        <p:nvPicPr>
          <p:cNvPr id="17" name="Picture 10"/>
          <p:cNvPicPr>
            <a:picLocks noChangeAspect="1"/>
          </p:cNvPicPr>
          <p:nvPr/>
        </p:nvPicPr>
        <p:blipFill rotWithShape="1">
          <a:blip r:embed="rId3"/>
          <a:srcRect b="46121"/>
          <a:stretch/>
        </p:blipFill>
        <p:spPr>
          <a:xfrm>
            <a:off x="822226" y="95705"/>
            <a:ext cx="7142197" cy="6682940"/>
          </a:xfrm>
          <a:prstGeom prst="rect">
            <a:avLst/>
          </a:prstGeom>
          <a:ln>
            <a:noFill/>
          </a:ln>
          <a:effectLst>
            <a:outerShdw blurRad="292100" dist="139700" dir="2700000" algn="tl" rotWithShape="0">
              <a:srgbClr val="333333">
                <a:alpha val="65000"/>
              </a:srgbClr>
            </a:outerShdw>
          </a:effectLst>
        </p:spPr>
      </p:pic>
      <p:sp>
        <p:nvSpPr>
          <p:cNvPr id="2" name="标题 1"/>
          <p:cNvSpPr>
            <a:spLocks noGrp="1"/>
          </p:cNvSpPr>
          <p:nvPr>
            <p:ph type="title"/>
          </p:nvPr>
        </p:nvSpPr>
        <p:spPr/>
        <p:txBody>
          <a:bodyPr/>
          <a:lstStyle/>
          <a:p>
            <a:r>
              <a:rPr lang="en-US" altLang="zh-CN" dirty="0"/>
              <a:t>Hello World to OpenGL</a:t>
            </a:r>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20</a:t>
            </a:fld>
            <a:endParaRPr lang="zh-CN" altLang="en-US"/>
          </a:p>
        </p:txBody>
      </p:sp>
      <p:sp>
        <p:nvSpPr>
          <p:cNvPr id="3" name="TextBox 2"/>
          <p:cNvSpPr txBox="1"/>
          <p:nvPr/>
        </p:nvSpPr>
        <p:spPr>
          <a:xfrm>
            <a:off x="3942895" y="2705633"/>
            <a:ext cx="2712794" cy="369332"/>
          </a:xfrm>
          <a:prstGeom prst="rect">
            <a:avLst/>
          </a:prstGeom>
          <a:solidFill>
            <a:srgbClr val="C00000"/>
          </a:solidFill>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US" dirty="0"/>
              <a:t>VAO </a:t>
            </a:r>
            <a:r>
              <a:rPr lang="en-US" altLang="zh-CN" dirty="0"/>
              <a:t>(</a:t>
            </a:r>
            <a:r>
              <a:rPr lang="en-US" dirty="0"/>
              <a:t> Vertex Array Object </a:t>
            </a:r>
            <a:r>
              <a:rPr lang="en-US" altLang="zh-CN" dirty="0"/>
              <a:t>)</a:t>
            </a:r>
            <a:endParaRPr lang="en-US" dirty="0"/>
          </a:p>
        </p:txBody>
      </p:sp>
      <p:sp>
        <p:nvSpPr>
          <p:cNvPr id="12" name="TextBox 11"/>
          <p:cNvSpPr txBox="1"/>
          <p:nvPr/>
        </p:nvSpPr>
        <p:spPr>
          <a:xfrm>
            <a:off x="3942895" y="3513193"/>
            <a:ext cx="2794548" cy="369332"/>
          </a:xfrm>
          <a:prstGeom prst="rect">
            <a:avLst/>
          </a:prstGeom>
          <a:solidFill>
            <a:srgbClr val="C00000"/>
          </a:solidFill>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US" dirty="0"/>
              <a:t>V</a:t>
            </a:r>
            <a:r>
              <a:rPr lang="en-US" altLang="zh-CN" dirty="0"/>
              <a:t>B</a:t>
            </a:r>
            <a:r>
              <a:rPr lang="en-US" dirty="0"/>
              <a:t>O </a:t>
            </a:r>
            <a:r>
              <a:rPr lang="en-US" altLang="zh-CN" dirty="0"/>
              <a:t>(</a:t>
            </a:r>
            <a:r>
              <a:rPr lang="en-US" dirty="0"/>
              <a:t> Vertex </a:t>
            </a:r>
            <a:r>
              <a:rPr lang="en-US" altLang="zh-CN" dirty="0"/>
              <a:t>Buffer</a:t>
            </a:r>
            <a:r>
              <a:rPr lang="zh-CN" altLang="en-US" dirty="0"/>
              <a:t> </a:t>
            </a:r>
            <a:r>
              <a:rPr lang="en-US" dirty="0"/>
              <a:t>Object </a:t>
            </a:r>
            <a:r>
              <a:rPr lang="en-US" altLang="zh-CN" dirty="0"/>
              <a:t>)</a:t>
            </a:r>
            <a:endParaRPr lang="en-US" dirty="0"/>
          </a:p>
        </p:txBody>
      </p:sp>
      <p:sp>
        <p:nvSpPr>
          <p:cNvPr id="7" name="Rounded Rectangle 6"/>
          <p:cNvSpPr/>
          <p:nvPr/>
        </p:nvSpPr>
        <p:spPr>
          <a:xfrm>
            <a:off x="1450383" y="4528646"/>
            <a:ext cx="4986993" cy="582628"/>
          </a:xfrm>
          <a:prstGeom prst="roundRect">
            <a:avLst/>
          </a:prstGeom>
          <a:noFill/>
          <a:ln>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2800"/>
          </a:p>
        </p:txBody>
      </p:sp>
      <p:sp>
        <p:nvSpPr>
          <p:cNvPr id="5" name="文本框 4"/>
          <p:cNvSpPr txBox="1"/>
          <p:nvPr/>
        </p:nvSpPr>
        <p:spPr>
          <a:xfrm>
            <a:off x="6343466" y="2239836"/>
            <a:ext cx="1620957" cy="523220"/>
          </a:xfrm>
          <a:prstGeom prst="rect">
            <a:avLst/>
          </a:prstGeom>
          <a:noFill/>
        </p:spPr>
        <p:txBody>
          <a:bodyPr wrap="none" rtlCol="0">
            <a:spAutoFit/>
          </a:bodyPr>
          <a:lstStyle/>
          <a:p>
            <a:r>
              <a:rPr lang="zh-CN" altLang="en-US" sz="2800" dirty="0"/>
              <a:t>“画布”</a:t>
            </a:r>
          </a:p>
        </p:txBody>
      </p:sp>
      <p:sp>
        <p:nvSpPr>
          <p:cNvPr id="13" name="文本框 12"/>
          <p:cNvSpPr txBox="1"/>
          <p:nvPr/>
        </p:nvSpPr>
        <p:spPr>
          <a:xfrm>
            <a:off x="6364736" y="3147617"/>
            <a:ext cx="1620957" cy="523220"/>
          </a:xfrm>
          <a:prstGeom prst="rect">
            <a:avLst/>
          </a:prstGeom>
          <a:noFill/>
        </p:spPr>
        <p:txBody>
          <a:bodyPr wrap="none" rtlCol="0">
            <a:spAutoFit/>
          </a:bodyPr>
          <a:lstStyle/>
          <a:p>
            <a:r>
              <a:rPr lang="zh-CN" altLang="en-US" sz="2800" dirty="0"/>
              <a:t>“数据”</a:t>
            </a:r>
          </a:p>
        </p:txBody>
      </p:sp>
      <p:sp>
        <p:nvSpPr>
          <p:cNvPr id="14" name="Rounded Rectangle 6"/>
          <p:cNvSpPr/>
          <p:nvPr/>
        </p:nvSpPr>
        <p:spPr>
          <a:xfrm>
            <a:off x="1426662" y="5221224"/>
            <a:ext cx="6126282" cy="788724"/>
          </a:xfrm>
          <a:prstGeom prst="roundRect">
            <a:avLst/>
          </a:prstGeom>
          <a:noFill/>
          <a:ln>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2800"/>
          </a:p>
        </p:txBody>
      </p:sp>
      <p:sp>
        <p:nvSpPr>
          <p:cNvPr id="15" name="TextBox 2"/>
          <p:cNvSpPr txBox="1"/>
          <p:nvPr/>
        </p:nvSpPr>
        <p:spPr>
          <a:xfrm>
            <a:off x="4393324" y="6080641"/>
            <a:ext cx="4098751" cy="369332"/>
          </a:xfrm>
          <a:prstGeom prst="rect">
            <a:avLst/>
          </a:prstGeom>
          <a:solidFill>
            <a:srgbClr val="C00000"/>
          </a:solidFill>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US" dirty="0" err="1"/>
              <a:t>glGetAttribLocation</a:t>
            </a:r>
            <a:r>
              <a:rPr lang="en-US" dirty="0"/>
              <a:t>, </a:t>
            </a:r>
            <a:r>
              <a:rPr lang="en-US" dirty="0" err="1"/>
              <a:t>g</a:t>
            </a:r>
            <a:r>
              <a:rPr lang="en-US" altLang="zh-CN" dirty="0" err="1"/>
              <a:t>lVertexAttribPointer</a:t>
            </a:r>
            <a:endParaRPr lang="en-US" dirty="0"/>
          </a:p>
        </p:txBody>
      </p:sp>
    </p:spTree>
    <p:extLst>
      <p:ext uri="{BB962C8B-B14F-4D97-AF65-F5344CB8AC3E}">
        <p14:creationId xmlns:p14="http://schemas.microsoft.com/office/powerpoint/2010/main" val="6480584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1000"/>
                                        <p:tgtEl>
                                          <p:spTgt spid="12"/>
                                        </p:tgtEl>
                                      </p:cBhvr>
                                    </p:animEffect>
                                    <p:anim calcmode="lin" valueType="num">
                                      <p:cBhvr>
                                        <p:cTn id="13" dur="1000" fill="hold"/>
                                        <p:tgtEl>
                                          <p:spTgt spid="12"/>
                                        </p:tgtEl>
                                        <p:attrNameLst>
                                          <p:attrName>ppt_x</p:attrName>
                                        </p:attrNameLst>
                                      </p:cBhvr>
                                      <p:tavLst>
                                        <p:tav tm="0">
                                          <p:val>
                                            <p:strVal val="#ppt_x"/>
                                          </p:val>
                                        </p:tav>
                                        <p:tav tm="100000">
                                          <p:val>
                                            <p:strVal val="#ppt_x"/>
                                          </p:val>
                                        </p:tav>
                                      </p:tavLst>
                                    </p:anim>
                                    <p:anim calcmode="lin" valueType="num">
                                      <p:cBhvr>
                                        <p:cTn id="14"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1000"/>
                                        <p:tgtEl>
                                          <p:spTgt spid="5"/>
                                        </p:tgtEl>
                                      </p:cBhvr>
                                    </p:animEffect>
                                    <p:anim calcmode="lin" valueType="num">
                                      <p:cBhvr>
                                        <p:cTn id="20" dur="1000" fill="hold"/>
                                        <p:tgtEl>
                                          <p:spTgt spid="5"/>
                                        </p:tgtEl>
                                        <p:attrNameLst>
                                          <p:attrName>ppt_x</p:attrName>
                                        </p:attrNameLst>
                                      </p:cBhvr>
                                      <p:tavLst>
                                        <p:tav tm="0">
                                          <p:val>
                                            <p:strVal val="#ppt_x"/>
                                          </p:val>
                                        </p:tav>
                                        <p:tav tm="100000">
                                          <p:val>
                                            <p:strVal val="#ppt_x"/>
                                          </p:val>
                                        </p:tav>
                                      </p:tavLst>
                                    </p:anim>
                                    <p:anim calcmode="lin" valueType="num">
                                      <p:cBhvr>
                                        <p:cTn id="21" dur="1000" fill="hold"/>
                                        <p:tgtEl>
                                          <p:spTgt spid="5"/>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1000"/>
                                        <p:tgtEl>
                                          <p:spTgt spid="13"/>
                                        </p:tgtEl>
                                      </p:cBhvr>
                                    </p:animEffect>
                                    <p:anim calcmode="lin" valueType="num">
                                      <p:cBhvr>
                                        <p:cTn id="25" dur="1000" fill="hold"/>
                                        <p:tgtEl>
                                          <p:spTgt spid="13"/>
                                        </p:tgtEl>
                                        <p:attrNameLst>
                                          <p:attrName>ppt_x</p:attrName>
                                        </p:attrNameLst>
                                      </p:cBhvr>
                                      <p:tavLst>
                                        <p:tav tm="0">
                                          <p:val>
                                            <p:strVal val="#ppt_x"/>
                                          </p:val>
                                        </p:tav>
                                        <p:tav tm="100000">
                                          <p:val>
                                            <p:strVal val="#ppt_x"/>
                                          </p:val>
                                        </p:tav>
                                      </p:tavLst>
                                    </p:anim>
                                    <p:anim calcmode="lin" valueType="num">
                                      <p:cBhvr>
                                        <p:cTn id="26"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16" presetClass="entr" presetSubtype="21"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barn(inVertical)">
                                      <p:cBhvr>
                                        <p:cTn id="31" dur="500"/>
                                        <p:tgtEl>
                                          <p:spTgt spid="7"/>
                                        </p:tgtEl>
                                      </p:cBhvr>
                                    </p:animEffect>
                                  </p:childTnLst>
                                </p:cTn>
                              </p:par>
                            </p:childTnLst>
                          </p:cTn>
                        </p:par>
                      </p:childTnLst>
                    </p:cTn>
                  </p:par>
                  <p:par>
                    <p:cTn id="32" fill="hold">
                      <p:stCondLst>
                        <p:cond delay="indefinite"/>
                      </p:stCondLst>
                      <p:childTnLst>
                        <p:par>
                          <p:cTn id="33" fill="hold">
                            <p:stCondLst>
                              <p:cond delay="0"/>
                            </p:stCondLst>
                            <p:childTnLst>
                              <p:par>
                                <p:cTn id="34" presetID="16" presetClass="entr" presetSubtype="21" fill="hold" grpId="0" nodeType="click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barn(inVertical)">
                                      <p:cBhvr>
                                        <p:cTn id="36" dur="500"/>
                                        <p:tgtEl>
                                          <p:spTgt spid="14"/>
                                        </p:tgtEl>
                                      </p:cBhvr>
                                    </p:animEffect>
                                  </p:childTnLst>
                                </p:cTn>
                              </p:par>
                              <p:par>
                                <p:cTn id="37" presetID="42" presetClass="entr" presetSubtype="0" fill="hold" grpId="0" nodeType="with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fade">
                                      <p:cBhvr>
                                        <p:cTn id="39" dur="1000"/>
                                        <p:tgtEl>
                                          <p:spTgt spid="15"/>
                                        </p:tgtEl>
                                      </p:cBhvr>
                                    </p:animEffect>
                                    <p:anim calcmode="lin" valueType="num">
                                      <p:cBhvr>
                                        <p:cTn id="40" dur="1000" fill="hold"/>
                                        <p:tgtEl>
                                          <p:spTgt spid="15"/>
                                        </p:tgtEl>
                                        <p:attrNameLst>
                                          <p:attrName>ppt_x</p:attrName>
                                        </p:attrNameLst>
                                      </p:cBhvr>
                                      <p:tavLst>
                                        <p:tav tm="0">
                                          <p:val>
                                            <p:strVal val="#ppt_x"/>
                                          </p:val>
                                        </p:tav>
                                        <p:tav tm="100000">
                                          <p:val>
                                            <p:strVal val="#ppt_x"/>
                                          </p:val>
                                        </p:tav>
                                      </p:tavLst>
                                    </p:anim>
                                    <p:anim calcmode="lin" valueType="num">
                                      <p:cBhvr>
                                        <p:cTn id="41"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2" grpId="0" animBg="1"/>
      <p:bldP spid="7" grpId="0" animBg="1"/>
      <p:bldP spid="5" grpId="0"/>
      <p:bldP spid="13" grpId="0"/>
      <p:bldP spid="14" grpId="0" animBg="1"/>
      <p:bldP spid="15"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Hello World to OpenGL</a:t>
            </a:r>
            <a:endParaRPr lang="zh-CN" altLang="en-US" dirty="0"/>
          </a:p>
        </p:txBody>
      </p:sp>
      <p:sp>
        <p:nvSpPr>
          <p:cNvPr id="3" name="灯片编号占位符 2"/>
          <p:cNvSpPr>
            <a:spLocks noGrp="1"/>
          </p:cNvSpPr>
          <p:nvPr>
            <p:ph type="sldNum" sz="quarter" idx="12"/>
          </p:nvPr>
        </p:nvSpPr>
        <p:spPr/>
        <p:txBody>
          <a:bodyPr/>
          <a:lstStyle/>
          <a:p>
            <a:fld id="{EB792F4E-54C0-4D36-B331-9C6FCFE9A340}" type="slidenum">
              <a:rPr lang="zh-CN" altLang="en-US" smtClean="0"/>
              <a:t>21</a:t>
            </a:fld>
            <a:endParaRPr lang="zh-CN" altLang="en-US"/>
          </a:p>
        </p:txBody>
      </p:sp>
      <p:pic>
        <p:nvPicPr>
          <p:cNvPr id="1026" name="Picture 2" descr="https://img-blog.csdnimg.cn/be7cd4425d36480d92f0835f6cec97c9.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04" y="1223010"/>
            <a:ext cx="9145304" cy="5097780"/>
          </a:xfrm>
          <a:prstGeom prst="rect">
            <a:avLst/>
          </a:prstGeom>
          <a:noFill/>
          <a:extLst>
            <a:ext uri="{909E8E84-426E-40DD-AFC4-6F175D3DCCD1}">
              <a14:hiddenFill xmlns:a14="http://schemas.microsoft.com/office/drawing/2010/main">
                <a:solidFill>
                  <a:srgbClr val="FFFFFF"/>
                </a:solidFill>
              </a14:hiddenFill>
            </a:ext>
          </a:extLst>
        </p:spPr>
      </p:pic>
      <p:sp>
        <p:nvSpPr>
          <p:cNvPr id="4" name="矩形 3"/>
          <p:cNvSpPr/>
          <p:nvPr/>
        </p:nvSpPr>
        <p:spPr>
          <a:xfrm>
            <a:off x="811530" y="6155174"/>
            <a:ext cx="6995160" cy="646331"/>
          </a:xfrm>
          <a:prstGeom prst="rect">
            <a:avLst/>
          </a:prstGeom>
        </p:spPr>
        <p:txBody>
          <a:bodyPr wrap="square">
            <a:spAutoFit/>
          </a:bodyPr>
          <a:lstStyle/>
          <a:p>
            <a:r>
              <a:rPr lang="zh-CN" altLang="en-US" dirty="0"/>
              <a:t>参考：</a:t>
            </a:r>
            <a:r>
              <a:rPr lang="zh-CN" altLang="en-US" dirty="0">
                <a:hlinkClick r:id="rId3"/>
              </a:rPr>
              <a:t>https://blog.csdn.net/averagePerson/article/details/125632986</a:t>
            </a:r>
            <a:endParaRPr lang="en-US" altLang="zh-CN" dirty="0"/>
          </a:p>
          <a:p>
            <a:endParaRPr lang="en-US" altLang="zh-CN" dirty="0"/>
          </a:p>
        </p:txBody>
      </p:sp>
    </p:spTree>
    <p:extLst>
      <p:ext uri="{BB962C8B-B14F-4D97-AF65-F5344CB8AC3E}">
        <p14:creationId xmlns:p14="http://schemas.microsoft.com/office/powerpoint/2010/main" val="33932230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https://img-blog.csdnimg.cn/115164c55d354fc1870c0050e73c0741.jpe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78262"/>
            <a:ext cx="9144000" cy="6179738"/>
          </a:xfrm>
          <a:prstGeom prst="rect">
            <a:avLst/>
          </a:prstGeom>
          <a:noFill/>
          <a:extLst>
            <a:ext uri="{909E8E84-426E-40DD-AFC4-6F175D3DCCD1}">
              <a14:hiddenFill xmlns:a14="http://schemas.microsoft.com/office/drawing/2010/main">
                <a:solidFill>
                  <a:srgbClr val="FFFFFF"/>
                </a:solidFill>
              </a14:hiddenFill>
            </a:ext>
          </a:extLst>
        </p:spPr>
      </p:pic>
      <p:sp>
        <p:nvSpPr>
          <p:cNvPr id="2" name="标题 1"/>
          <p:cNvSpPr>
            <a:spLocks noGrp="1"/>
          </p:cNvSpPr>
          <p:nvPr>
            <p:ph type="title"/>
          </p:nvPr>
        </p:nvSpPr>
        <p:spPr/>
        <p:txBody>
          <a:bodyPr/>
          <a:lstStyle/>
          <a:p>
            <a:r>
              <a:rPr lang="en-US" altLang="zh-CN" dirty="0"/>
              <a:t>Hello World to OpenGL</a:t>
            </a:r>
            <a:endParaRPr lang="zh-CN" altLang="en-US" dirty="0"/>
          </a:p>
        </p:txBody>
      </p:sp>
      <p:sp>
        <p:nvSpPr>
          <p:cNvPr id="3" name="灯片编号占位符 2"/>
          <p:cNvSpPr>
            <a:spLocks noGrp="1"/>
          </p:cNvSpPr>
          <p:nvPr>
            <p:ph type="sldNum" sz="quarter" idx="12"/>
          </p:nvPr>
        </p:nvSpPr>
        <p:spPr/>
        <p:txBody>
          <a:bodyPr/>
          <a:lstStyle/>
          <a:p>
            <a:fld id="{EB792F4E-54C0-4D36-B331-9C6FCFE9A340}" type="slidenum">
              <a:rPr lang="zh-CN" altLang="en-US" smtClean="0"/>
              <a:t>22</a:t>
            </a:fld>
            <a:endParaRPr lang="zh-CN" altLang="en-US"/>
          </a:p>
        </p:txBody>
      </p:sp>
      <p:sp>
        <p:nvSpPr>
          <p:cNvPr id="5" name="矩形 4"/>
          <p:cNvSpPr/>
          <p:nvPr/>
        </p:nvSpPr>
        <p:spPr>
          <a:xfrm>
            <a:off x="1069521" y="6424295"/>
            <a:ext cx="6995160" cy="646331"/>
          </a:xfrm>
          <a:prstGeom prst="rect">
            <a:avLst/>
          </a:prstGeom>
        </p:spPr>
        <p:txBody>
          <a:bodyPr wrap="square">
            <a:spAutoFit/>
          </a:bodyPr>
          <a:lstStyle/>
          <a:p>
            <a:r>
              <a:rPr lang="zh-CN" altLang="en-US" dirty="0"/>
              <a:t>参考：</a:t>
            </a:r>
            <a:r>
              <a:rPr lang="zh-CN" altLang="en-US" dirty="0">
                <a:hlinkClick r:id="rId3"/>
              </a:rPr>
              <a:t>https://blog.csdn.net/averagePerson/article/details/125632986</a:t>
            </a:r>
            <a:endParaRPr lang="en-US" altLang="zh-CN" dirty="0"/>
          </a:p>
          <a:p>
            <a:endParaRPr lang="en-US" altLang="zh-CN" dirty="0"/>
          </a:p>
        </p:txBody>
      </p:sp>
    </p:spTree>
    <p:extLst>
      <p:ext uri="{BB962C8B-B14F-4D97-AF65-F5344CB8AC3E}">
        <p14:creationId xmlns:p14="http://schemas.microsoft.com/office/powerpoint/2010/main" val="37196825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Hello World to OpenGL</a:t>
            </a:r>
            <a:endParaRPr lang="zh-CN" altLang="en-US" dirty="0"/>
          </a:p>
        </p:txBody>
      </p:sp>
      <p:sp>
        <p:nvSpPr>
          <p:cNvPr id="3" name="灯片编号占位符 2"/>
          <p:cNvSpPr>
            <a:spLocks noGrp="1"/>
          </p:cNvSpPr>
          <p:nvPr>
            <p:ph type="sldNum" sz="quarter" idx="12"/>
          </p:nvPr>
        </p:nvSpPr>
        <p:spPr/>
        <p:txBody>
          <a:bodyPr/>
          <a:lstStyle/>
          <a:p>
            <a:fld id="{EB792F4E-54C0-4D36-B331-9C6FCFE9A340}" type="slidenum">
              <a:rPr lang="zh-CN" altLang="en-US" smtClean="0"/>
              <a:t>23</a:t>
            </a:fld>
            <a:endParaRPr lang="zh-CN" altLang="en-US"/>
          </a:p>
        </p:txBody>
      </p:sp>
      <p:sp>
        <p:nvSpPr>
          <p:cNvPr id="4" name="矩形 3"/>
          <p:cNvSpPr/>
          <p:nvPr/>
        </p:nvSpPr>
        <p:spPr>
          <a:xfrm>
            <a:off x="155121" y="3349526"/>
            <a:ext cx="8789670" cy="2677656"/>
          </a:xfrm>
          <a:prstGeom prst="rect">
            <a:avLst/>
          </a:prstGeom>
        </p:spPr>
        <p:txBody>
          <a:bodyPr wrap="square">
            <a:spAutoFit/>
          </a:bodyPr>
          <a:lstStyle/>
          <a:p>
            <a:r>
              <a:rPr lang="en-US" altLang="zh-CN" sz="2800" dirty="0" err="1"/>
              <a:t>glVertexAttribPointer</a:t>
            </a:r>
            <a:r>
              <a:rPr lang="zh-CN" altLang="en-US" sz="2800" dirty="0"/>
              <a:t>用于</a:t>
            </a:r>
            <a:r>
              <a:rPr lang="zh-CN" altLang="en-US" sz="2800" b="1" dirty="0">
                <a:solidFill>
                  <a:srgbClr val="FF0000"/>
                </a:solidFill>
              </a:rPr>
              <a:t>将顶点着色器中的</a:t>
            </a:r>
            <a:r>
              <a:rPr lang="en-US" altLang="zh-CN" sz="2800" b="1" dirty="0">
                <a:solidFill>
                  <a:srgbClr val="FF0000"/>
                </a:solidFill>
              </a:rPr>
              <a:t>attribute</a:t>
            </a:r>
            <a:r>
              <a:rPr lang="zh-CN" altLang="en-US" sz="2800" b="1" dirty="0">
                <a:solidFill>
                  <a:srgbClr val="FF0000"/>
                </a:solidFill>
              </a:rPr>
              <a:t>变量与</a:t>
            </a:r>
            <a:r>
              <a:rPr lang="en-US" altLang="zh-CN" sz="2800" b="1" dirty="0">
                <a:solidFill>
                  <a:srgbClr val="FF0000"/>
                </a:solidFill>
              </a:rPr>
              <a:t>VBO</a:t>
            </a:r>
            <a:r>
              <a:rPr lang="zh-CN" altLang="en-US" sz="2800" b="1" dirty="0">
                <a:solidFill>
                  <a:srgbClr val="FF0000"/>
                </a:solidFill>
              </a:rPr>
              <a:t>中的数据进行绑定</a:t>
            </a:r>
            <a:r>
              <a:rPr lang="zh-CN" altLang="en-US" sz="2800" dirty="0"/>
              <a:t>：第一个参数表示属性的位置，第二个参数表示分量的个数，第三个参数表示数据类型，第四个参数表示是否归一化，第五个参数表示连续顶点属性之间的偏移量，第六个参数表示组件的第一个分量在对应的数组顶点属性中的偏移量</a:t>
            </a:r>
            <a:endParaRPr lang="en-US" altLang="zh-CN" sz="2800" dirty="0"/>
          </a:p>
        </p:txBody>
      </p:sp>
      <p:pic>
        <p:nvPicPr>
          <p:cNvPr id="5" name="Picture 10"/>
          <p:cNvPicPr>
            <a:picLocks noChangeAspect="1"/>
          </p:cNvPicPr>
          <p:nvPr/>
        </p:nvPicPr>
        <p:blipFill rotWithShape="1">
          <a:blip r:embed="rId2"/>
          <a:srcRect t="40410" b="51478"/>
          <a:stretch/>
        </p:blipFill>
        <p:spPr>
          <a:xfrm>
            <a:off x="0" y="1320433"/>
            <a:ext cx="9143999" cy="156340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874793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Hello World to OpenGL</a:t>
            </a:r>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24</a:t>
            </a:fld>
            <a:endParaRPr lang="zh-CN" altLang="en-US"/>
          </a:p>
        </p:txBody>
      </p:sp>
      <p:sp>
        <p:nvSpPr>
          <p:cNvPr id="10" name="文本框 9"/>
          <p:cNvSpPr txBox="1"/>
          <p:nvPr/>
        </p:nvSpPr>
        <p:spPr>
          <a:xfrm>
            <a:off x="1483360" y="5831840"/>
            <a:ext cx="184731" cy="369332"/>
          </a:xfrm>
          <a:prstGeom prst="rect">
            <a:avLst/>
          </a:prstGeom>
          <a:noFill/>
        </p:spPr>
        <p:txBody>
          <a:bodyPr wrap="none" rtlCol="0">
            <a:spAutoFit/>
          </a:bodyPr>
          <a:lstStyle/>
          <a:p>
            <a:endParaRPr lang="zh-CN" altLang="en-US" dirty="0"/>
          </a:p>
        </p:txBody>
      </p:sp>
      <p:sp>
        <p:nvSpPr>
          <p:cNvPr id="6" name="TextBox 5"/>
          <p:cNvSpPr txBox="1"/>
          <p:nvPr/>
        </p:nvSpPr>
        <p:spPr>
          <a:xfrm>
            <a:off x="1713366" y="1685677"/>
            <a:ext cx="1269065" cy="369332"/>
          </a:xfrm>
          <a:prstGeom prst="rect">
            <a:avLst/>
          </a:prstGeom>
        </p:spPr>
        <p:style>
          <a:lnRef idx="2">
            <a:schemeClr val="accent2"/>
          </a:lnRef>
          <a:fillRef idx="1">
            <a:schemeClr val="lt1"/>
          </a:fillRef>
          <a:effectRef idx="0">
            <a:schemeClr val="accent2"/>
          </a:effectRef>
          <a:fontRef idx="minor">
            <a:schemeClr val="dk1"/>
          </a:fontRef>
        </p:style>
        <p:txBody>
          <a:bodyPr wrap="none" rtlCol="0">
            <a:spAutoFit/>
          </a:bodyPr>
          <a:lstStyle/>
          <a:p>
            <a:r>
              <a:rPr lang="en-US" altLang="zh-CN"/>
              <a:t>vshader.glsl</a:t>
            </a:r>
            <a:endParaRPr lang="en-US" dirty="0"/>
          </a:p>
        </p:txBody>
      </p:sp>
      <p:sp>
        <p:nvSpPr>
          <p:cNvPr id="13" name="TextBox 12"/>
          <p:cNvSpPr txBox="1"/>
          <p:nvPr/>
        </p:nvSpPr>
        <p:spPr>
          <a:xfrm>
            <a:off x="6408122" y="1685677"/>
            <a:ext cx="1269065" cy="369332"/>
          </a:xfrm>
          <a:prstGeom prst="rect">
            <a:avLst/>
          </a:prstGeom>
        </p:spPr>
        <p:style>
          <a:lnRef idx="2">
            <a:schemeClr val="accent2"/>
          </a:lnRef>
          <a:fillRef idx="1">
            <a:schemeClr val="lt1"/>
          </a:fillRef>
          <a:effectRef idx="0">
            <a:schemeClr val="accent2"/>
          </a:effectRef>
          <a:fontRef idx="minor">
            <a:schemeClr val="dk1"/>
          </a:fontRef>
        </p:style>
        <p:txBody>
          <a:bodyPr wrap="none" rtlCol="0">
            <a:spAutoFit/>
          </a:bodyPr>
          <a:lstStyle/>
          <a:p>
            <a:r>
              <a:rPr lang="en-US" altLang="zh-CN" dirty="0" err="1"/>
              <a:t>fshader.glsl</a:t>
            </a:r>
            <a:endParaRPr lang="en-US" dirty="0"/>
          </a:p>
        </p:txBody>
      </p:sp>
      <p:sp>
        <p:nvSpPr>
          <p:cNvPr id="5" name="Rectangle 4"/>
          <p:cNvSpPr/>
          <p:nvPr/>
        </p:nvSpPr>
        <p:spPr>
          <a:xfrm>
            <a:off x="393866" y="2650763"/>
            <a:ext cx="3908067" cy="2585323"/>
          </a:xfrm>
          <a:prstGeom prst="rect">
            <a:avLst/>
          </a:prstGeom>
          <a:solidFill>
            <a:srgbClr val="BDD7EE">
              <a:alpha val="52941"/>
            </a:srgbClr>
          </a:solidFill>
        </p:spPr>
        <p:txBody>
          <a:bodyPr wrap="square">
            <a:spAutoFit/>
          </a:bodyPr>
          <a:lstStyle/>
          <a:p>
            <a:r>
              <a:rPr lang="en-US" dirty="0">
                <a:latin typeface="Consolas" panose="020B0609020204030204" pitchFamily="49" charset="0"/>
              </a:rPr>
              <a:t>#version 330 core</a:t>
            </a:r>
          </a:p>
          <a:p>
            <a:endParaRPr lang="en-US" dirty="0">
              <a:latin typeface="Consolas" panose="020B0609020204030204" pitchFamily="49" charset="0"/>
            </a:endParaRPr>
          </a:p>
          <a:p>
            <a:r>
              <a:rPr lang="en-US" dirty="0">
                <a:solidFill>
                  <a:srgbClr val="FF0000"/>
                </a:solidFill>
                <a:latin typeface="Consolas" panose="020B0609020204030204" pitchFamily="49" charset="0"/>
              </a:rPr>
              <a:t>in</a:t>
            </a:r>
            <a:r>
              <a:rPr lang="en-US" dirty="0">
                <a:latin typeface="Consolas" panose="020B0609020204030204" pitchFamily="49" charset="0"/>
              </a:rPr>
              <a:t> </a:t>
            </a:r>
            <a:r>
              <a:rPr lang="en-US" dirty="0">
                <a:solidFill>
                  <a:srgbClr val="0000FF"/>
                </a:solidFill>
                <a:latin typeface="Consolas" panose="020B0609020204030204" pitchFamily="49" charset="0"/>
              </a:rPr>
              <a:t>vec3</a:t>
            </a:r>
            <a:r>
              <a:rPr lang="en-US" dirty="0">
                <a:latin typeface="Consolas" panose="020B0609020204030204" pitchFamily="49" charset="0"/>
              </a:rPr>
              <a:t> </a:t>
            </a:r>
            <a:r>
              <a:rPr lang="en-US" dirty="0" err="1">
                <a:latin typeface="Consolas" panose="020B0609020204030204" pitchFamily="49" charset="0"/>
              </a:rPr>
              <a:t>vPosition</a:t>
            </a:r>
            <a:r>
              <a:rPr lang="en-US" dirty="0">
                <a:latin typeface="Consolas" panose="020B0609020204030204" pitchFamily="49" charset="0"/>
              </a:rPr>
              <a:t>;</a:t>
            </a:r>
          </a:p>
          <a:p>
            <a:endParaRPr lang="en-US" dirty="0">
              <a:latin typeface="Consolas" panose="020B0609020204030204" pitchFamily="49" charset="0"/>
            </a:endParaRPr>
          </a:p>
          <a:p>
            <a:r>
              <a:rPr lang="en-US" dirty="0">
                <a:latin typeface="Consolas" panose="020B0609020204030204" pitchFamily="49" charset="0"/>
              </a:rPr>
              <a:t>void main()</a:t>
            </a:r>
          </a:p>
          <a:p>
            <a:r>
              <a:rPr lang="en-US" dirty="0">
                <a:latin typeface="Consolas" panose="020B0609020204030204" pitchFamily="49" charset="0"/>
              </a:rPr>
              <a:t>{    </a:t>
            </a:r>
          </a:p>
          <a:p>
            <a:pPr lvl="1"/>
            <a:r>
              <a:rPr lang="en-US" dirty="0" err="1">
                <a:latin typeface="Consolas" panose="020B0609020204030204" pitchFamily="49" charset="0"/>
              </a:rPr>
              <a:t>gl_Position</a:t>
            </a:r>
            <a:r>
              <a:rPr lang="en-US" dirty="0">
                <a:latin typeface="Consolas" panose="020B0609020204030204" pitchFamily="49" charset="0"/>
              </a:rPr>
              <a:t> = vec4(</a:t>
            </a:r>
            <a:r>
              <a:rPr lang="en-US" dirty="0" err="1">
                <a:latin typeface="Consolas" panose="020B0609020204030204" pitchFamily="49" charset="0"/>
              </a:rPr>
              <a:t>vPosition</a:t>
            </a:r>
            <a:r>
              <a:rPr lang="en-US" dirty="0">
                <a:latin typeface="Consolas" panose="020B0609020204030204" pitchFamily="49" charset="0"/>
              </a:rPr>
              <a:t>, 1.0);</a:t>
            </a:r>
          </a:p>
          <a:p>
            <a:r>
              <a:rPr lang="en-US" dirty="0">
                <a:latin typeface="Consolas" panose="020B0609020204030204" pitchFamily="49" charset="0"/>
              </a:rPr>
              <a:t>}</a:t>
            </a:r>
          </a:p>
        </p:txBody>
      </p:sp>
      <p:sp>
        <p:nvSpPr>
          <p:cNvPr id="7" name="Rectangle 6"/>
          <p:cNvSpPr/>
          <p:nvPr/>
        </p:nvSpPr>
        <p:spPr>
          <a:xfrm>
            <a:off x="5171898" y="2650763"/>
            <a:ext cx="3741515" cy="2585323"/>
          </a:xfrm>
          <a:prstGeom prst="rect">
            <a:avLst/>
          </a:prstGeom>
          <a:solidFill>
            <a:srgbClr val="BDD7EE">
              <a:alpha val="52941"/>
            </a:srgbClr>
          </a:solidFill>
        </p:spPr>
        <p:txBody>
          <a:bodyPr wrap="square">
            <a:spAutoFit/>
          </a:bodyPr>
          <a:lstStyle/>
          <a:p>
            <a:r>
              <a:rPr lang="en-US" dirty="0">
                <a:latin typeface="Consolas" panose="020B0609020204030204" pitchFamily="49" charset="0"/>
              </a:rPr>
              <a:t>#version 330 core</a:t>
            </a:r>
          </a:p>
          <a:p>
            <a:endParaRPr lang="en-US" dirty="0">
              <a:latin typeface="Consolas" panose="020B0609020204030204" pitchFamily="49" charset="0"/>
            </a:endParaRPr>
          </a:p>
          <a:p>
            <a:r>
              <a:rPr lang="en-US" dirty="0">
                <a:solidFill>
                  <a:srgbClr val="FF0000"/>
                </a:solidFill>
                <a:latin typeface="Consolas" panose="020B0609020204030204" pitchFamily="49" charset="0"/>
              </a:rPr>
              <a:t>out</a:t>
            </a:r>
            <a:r>
              <a:rPr lang="en-US" dirty="0">
                <a:latin typeface="Consolas" panose="020B0609020204030204" pitchFamily="49" charset="0"/>
              </a:rPr>
              <a:t> </a:t>
            </a:r>
            <a:r>
              <a:rPr lang="en-US" dirty="0">
                <a:solidFill>
                  <a:srgbClr val="0000FF"/>
                </a:solidFill>
                <a:latin typeface="Consolas" panose="020B0609020204030204" pitchFamily="49" charset="0"/>
              </a:rPr>
              <a:t>vec4</a:t>
            </a:r>
            <a:r>
              <a:rPr lang="en-US" dirty="0">
                <a:latin typeface="Consolas" panose="020B0609020204030204" pitchFamily="49" charset="0"/>
              </a:rPr>
              <a:t> </a:t>
            </a:r>
            <a:r>
              <a:rPr lang="en-US" dirty="0" err="1">
                <a:latin typeface="Consolas" panose="020B0609020204030204" pitchFamily="49" charset="0"/>
              </a:rPr>
              <a:t>fColor</a:t>
            </a:r>
            <a:r>
              <a:rPr lang="en-US" dirty="0">
                <a:latin typeface="Consolas" panose="020B0609020204030204" pitchFamily="49" charset="0"/>
              </a:rPr>
              <a:t>;</a:t>
            </a:r>
          </a:p>
          <a:p>
            <a:endParaRPr lang="en-US" dirty="0">
              <a:latin typeface="Consolas" panose="020B0609020204030204" pitchFamily="49" charset="0"/>
            </a:endParaRPr>
          </a:p>
          <a:p>
            <a:r>
              <a:rPr lang="en-US" dirty="0">
                <a:latin typeface="Consolas" panose="020B0609020204030204" pitchFamily="49" charset="0"/>
              </a:rPr>
              <a:t>void main()</a:t>
            </a:r>
          </a:p>
          <a:p>
            <a:r>
              <a:rPr lang="en-US" dirty="0">
                <a:latin typeface="Consolas" panose="020B0609020204030204" pitchFamily="49" charset="0"/>
              </a:rPr>
              <a:t>{    </a:t>
            </a:r>
          </a:p>
          <a:p>
            <a:pPr lvl="1"/>
            <a:r>
              <a:rPr lang="en-US" dirty="0" err="1">
                <a:latin typeface="Consolas" panose="020B0609020204030204" pitchFamily="49" charset="0"/>
              </a:rPr>
              <a:t>fColor</a:t>
            </a:r>
            <a:r>
              <a:rPr lang="en-US" dirty="0">
                <a:latin typeface="Consolas" panose="020B0609020204030204" pitchFamily="49" charset="0"/>
              </a:rPr>
              <a:t> = vec4(1.0, 0.0, 0.0, 1.0);</a:t>
            </a:r>
          </a:p>
          <a:p>
            <a:r>
              <a:rPr lang="en-US" dirty="0">
                <a:latin typeface="Consolas" panose="020B0609020204030204" pitchFamily="49" charset="0"/>
              </a:rPr>
              <a:t>}</a:t>
            </a:r>
          </a:p>
        </p:txBody>
      </p:sp>
      <p:sp>
        <p:nvSpPr>
          <p:cNvPr id="9" name="Rounded Rectangle 6"/>
          <p:cNvSpPr/>
          <p:nvPr/>
        </p:nvSpPr>
        <p:spPr>
          <a:xfrm>
            <a:off x="1421129" y="3112036"/>
            <a:ext cx="1340359" cy="531848"/>
          </a:xfrm>
          <a:prstGeom prst="roundRect">
            <a:avLst/>
          </a:prstGeom>
          <a:noFill/>
          <a:ln>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2800"/>
          </a:p>
        </p:txBody>
      </p:sp>
    </p:spTree>
    <p:extLst>
      <p:ext uri="{BB962C8B-B14F-4D97-AF65-F5344CB8AC3E}">
        <p14:creationId xmlns:p14="http://schemas.microsoft.com/office/powerpoint/2010/main" val="16730543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arn(inVertical)">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OpenGL</a:t>
            </a:r>
            <a:r>
              <a:rPr lang="zh-CN" altLang="en-US" dirty="0"/>
              <a:t>库</a:t>
            </a:r>
          </a:p>
        </p:txBody>
      </p:sp>
      <p:sp>
        <p:nvSpPr>
          <p:cNvPr id="9" name="内容占位符 8"/>
          <p:cNvSpPr>
            <a:spLocks noGrp="1"/>
          </p:cNvSpPr>
          <p:nvPr>
            <p:ph idx="1"/>
          </p:nvPr>
        </p:nvSpPr>
        <p:spPr>
          <a:xfrm>
            <a:off x="173721" y="1316831"/>
            <a:ext cx="8861093" cy="4351338"/>
          </a:xfrm>
        </p:spPr>
        <p:txBody>
          <a:bodyPr/>
          <a:lstStyle/>
          <a:p>
            <a:r>
              <a:rPr lang="en-US" altLang="zh-CN" sz="2400" dirty="0"/>
              <a:t>OpenGL API</a:t>
            </a:r>
            <a:r>
              <a:rPr lang="zh-CN" altLang="en-US" sz="2400" dirty="0"/>
              <a:t>函数的实现包含在若干库中：</a:t>
            </a:r>
          </a:p>
          <a:p>
            <a:pPr lvl="1">
              <a:buClr>
                <a:schemeClr val="tx1"/>
              </a:buClr>
            </a:pPr>
            <a:r>
              <a:rPr lang="en-US" altLang="zh-CN" sz="1800" dirty="0"/>
              <a:t>OpenGL</a:t>
            </a:r>
            <a:r>
              <a:rPr lang="zh-CN" altLang="en-US" sz="1800" dirty="0"/>
              <a:t>核心库（</a:t>
            </a:r>
            <a:r>
              <a:rPr lang="en-US" altLang="zh-CN" sz="1800" dirty="0"/>
              <a:t>OpenGL Core Library</a:t>
            </a:r>
            <a:r>
              <a:rPr lang="zh-CN" altLang="en-US" sz="1800" dirty="0"/>
              <a:t>）</a:t>
            </a:r>
            <a:r>
              <a:rPr lang="en-US" altLang="zh-CN" sz="1800" dirty="0">
                <a:solidFill>
                  <a:srgbClr val="00B050"/>
                </a:solidFill>
              </a:rPr>
              <a:t>OpenGL32.dll</a:t>
            </a:r>
            <a:r>
              <a:rPr lang="en-US" altLang="zh-CN" sz="1800" dirty="0"/>
              <a:t> </a:t>
            </a:r>
          </a:p>
          <a:p>
            <a:pPr lvl="1">
              <a:buClr>
                <a:schemeClr val="tx1"/>
              </a:buClr>
            </a:pPr>
            <a:r>
              <a:rPr lang="en-US" altLang="zh-CN" sz="1800" dirty="0"/>
              <a:t>OpenGL</a:t>
            </a:r>
            <a:r>
              <a:rPr lang="zh-CN" altLang="en-US" sz="1800" dirty="0"/>
              <a:t>实用库（</a:t>
            </a:r>
            <a:r>
              <a:rPr lang="en-US" altLang="zh-CN" sz="1800" dirty="0"/>
              <a:t>OpenGL Utility Library, GLU</a:t>
            </a:r>
            <a:r>
              <a:rPr lang="zh-CN" altLang="en-US" sz="1800" dirty="0"/>
              <a:t>）</a:t>
            </a:r>
            <a:r>
              <a:rPr lang="en-US" altLang="zh-CN" sz="1800" dirty="0">
                <a:solidFill>
                  <a:srgbClr val="00B050"/>
                </a:solidFill>
              </a:rPr>
              <a:t>glu32.dll</a:t>
            </a:r>
          </a:p>
          <a:p>
            <a:pPr lvl="1">
              <a:buClr>
                <a:schemeClr val="tx1"/>
              </a:buClr>
            </a:pPr>
            <a:r>
              <a:rPr lang="en-US" altLang="zh-CN" sz="1800" dirty="0"/>
              <a:t>OpenGL</a:t>
            </a:r>
            <a:r>
              <a:rPr lang="zh-CN" altLang="en-US" sz="1800" dirty="0"/>
              <a:t>实用工具库（</a:t>
            </a:r>
            <a:r>
              <a:rPr lang="en-US" altLang="zh-CN" sz="1800" dirty="0"/>
              <a:t>OpenGL Utility Toolkit Library, GLUT</a:t>
            </a:r>
            <a:r>
              <a:rPr lang="zh-CN" altLang="en-US" sz="1800" dirty="0"/>
              <a:t>）</a:t>
            </a:r>
            <a:r>
              <a:rPr lang="en-US" altLang="zh-CN" sz="1800" dirty="0">
                <a:solidFill>
                  <a:srgbClr val="00B050"/>
                </a:solidFill>
              </a:rPr>
              <a:t>glut32.dll</a:t>
            </a:r>
          </a:p>
          <a:p>
            <a:pPr lvl="1">
              <a:buClr>
                <a:schemeClr val="tx1"/>
              </a:buClr>
            </a:pPr>
            <a:r>
              <a:rPr lang="en-US" altLang="zh-CN" sz="1800" dirty="0"/>
              <a:t>OpenGL</a:t>
            </a:r>
            <a:r>
              <a:rPr lang="zh-CN" altLang="en-US" sz="1800" dirty="0"/>
              <a:t>扩展库（</a:t>
            </a:r>
            <a:r>
              <a:rPr lang="en-US" altLang="zh-CN" sz="1800" dirty="0"/>
              <a:t>OpenGL Extension Wrangler Library, GLEW</a:t>
            </a:r>
            <a:r>
              <a:rPr lang="zh-CN" altLang="en-US" sz="1800" dirty="0"/>
              <a:t>）</a:t>
            </a:r>
            <a:r>
              <a:rPr lang="en-US" altLang="zh-CN" sz="1800" dirty="0">
                <a:solidFill>
                  <a:srgbClr val="00B050"/>
                </a:solidFill>
              </a:rPr>
              <a:t>glew32.dll</a:t>
            </a:r>
          </a:p>
          <a:p>
            <a:pPr lvl="1">
              <a:buClr>
                <a:schemeClr val="tx1"/>
              </a:buClr>
            </a:pPr>
            <a:endParaRPr lang="en-US" altLang="zh-CN" sz="1800" dirty="0">
              <a:solidFill>
                <a:srgbClr val="00B050"/>
              </a:solidFill>
            </a:endParaRPr>
          </a:p>
          <a:p>
            <a:pPr lvl="1">
              <a:buClr>
                <a:schemeClr val="tx1"/>
              </a:buClr>
            </a:pPr>
            <a:endParaRPr lang="en-US" altLang="zh-CN" sz="1800" dirty="0">
              <a:solidFill>
                <a:srgbClr val="00B050"/>
              </a:solidFill>
            </a:endParaRPr>
          </a:p>
          <a:p>
            <a:pPr lvl="1">
              <a:buClr>
                <a:schemeClr val="tx1"/>
              </a:buClr>
            </a:pPr>
            <a:endParaRPr lang="zh-CN" altLang="en-US" sz="1800" dirty="0">
              <a:solidFill>
                <a:srgbClr val="00B050"/>
              </a:solidFill>
            </a:endParaRPr>
          </a:p>
        </p:txBody>
      </p:sp>
      <p:sp>
        <p:nvSpPr>
          <p:cNvPr id="4" name="灯片编号占位符 3"/>
          <p:cNvSpPr>
            <a:spLocks noGrp="1"/>
          </p:cNvSpPr>
          <p:nvPr>
            <p:ph type="sldNum" sz="quarter" idx="12"/>
          </p:nvPr>
        </p:nvSpPr>
        <p:spPr/>
        <p:txBody>
          <a:bodyPr/>
          <a:lstStyle/>
          <a:p>
            <a:fld id="{EB792F4E-54C0-4D36-B331-9C6FCFE9A340}" type="slidenum">
              <a:rPr lang="zh-CN" altLang="en-US" smtClean="0"/>
              <a:t>25</a:t>
            </a:fld>
            <a:endParaRPr lang="zh-CN" altLang="en-US"/>
          </a:p>
        </p:txBody>
      </p:sp>
      <p:pic>
        <p:nvPicPr>
          <p:cNvPr id="6" name="图片 5"/>
          <p:cNvPicPr>
            <a:picLocks noChangeAspect="1"/>
          </p:cNvPicPr>
          <p:nvPr/>
        </p:nvPicPr>
        <p:blipFill>
          <a:blip r:embed="rId2"/>
          <a:stretch>
            <a:fillRect/>
          </a:stretch>
        </p:blipFill>
        <p:spPr>
          <a:xfrm>
            <a:off x="682289" y="3268278"/>
            <a:ext cx="7877273" cy="1879240"/>
          </a:xfrm>
          <a:prstGeom prst="rect">
            <a:avLst/>
          </a:prstGeom>
        </p:spPr>
      </p:pic>
      <p:sp>
        <p:nvSpPr>
          <p:cNvPr id="7" name="文本框 6"/>
          <p:cNvSpPr txBox="1"/>
          <p:nvPr/>
        </p:nvSpPr>
        <p:spPr>
          <a:xfrm>
            <a:off x="2482817" y="5260492"/>
            <a:ext cx="4582024" cy="307777"/>
          </a:xfrm>
          <a:prstGeom prst="rect">
            <a:avLst/>
          </a:prstGeom>
          <a:noFill/>
        </p:spPr>
        <p:txBody>
          <a:bodyPr wrap="none" rtlCol="0">
            <a:spAutoFit/>
          </a:bodyPr>
          <a:lstStyle/>
          <a:p>
            <a:pPr algn="ctr"/>
            <a:r>
              <a:rPr lang="en-US" altLang="zh-CN" sz="1400" b="1" dirty="0">
                <a:latin typeface="微软雅黑" panose="020B0503020204020204" pitchFamily="34" charset="-122"/>
                <a:ea typeface="微软雅黑" panose="020B0503020204020204" pitchFamily="34" charset="-122"/>
              </a:rPr>
              <a:t>Figure 1 X Window System</a:t>
            </a:r>
            <a:r>
              <a:rPr lang="zh-CN" altLang="en-US" sz="1400" b="1" dirty="0">
                <a:latin typeface="微软雅黑" panose="020B0503020204020204" pitchFamily="34" charset="-122"/>
                <a:ea typeface="微软雅黑" panose="020B0503020204020204" pitchFamily="34" charset="-122"/>
              </a:rPr>
              <a:t>环境下</a:t>
            </a:r>
            <a:r>
              <a:rPr lang="en-US" altLang="zh-CN" sz="1400" b="1" dirty="0">
                <a:latin typeface="微软雅黑" panose="020B0503020204020204" pitchFamily="34" charset="-122"/>
                <a:ea typeface="微软雅黑" panose="020B0503020204020204" pitchFamily="34" charset="-122"/>
              </a:rPr>
              <a:t>OpenGL</a:t>
            </a:r>
            <a:r>
              <a:rPr lang="zh-CN" altLang="en-US" sz="1400" b="1" dirty="0">
                <a:latin typeface="微软雅黑" panose="020B0503020204020204" pitchFamily="34" charset="-122"/>
                <a:ea typeface="微软雅黑" panose="020B0503020204020204" pitchFamily="34" charset="-122"/>
              </a:rPr>
              <a:t>库的组织</a:t>
            </a:r>
          </a:p>
        </p:txBody>
      </p:sp>
    </p:spTree>
    <p:extLst>
      <p:ext uri="{BB962C8B-B14F-4D97-AF65-F5344CB8AC3E}">
        <p14:creationId xmlns:p14="http://schemas.microsoft.com/office/powerpoint/2010/main" val="4215101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OpenGL</a:t>
            </a:r>
            <a:r>
              <a:rPr lang="zh-CN" altLang="en-US" dirty="0"/>
              <a:t> </a:t>
            </a:r>
            <a:r>
              <a:rPr lang="en-US" altLang="zh-CN" dirty="0"/>
              <a:t>API</a:t>
            </a:r>
            <a:r>
              <a:rPr lang="zh-CN" altLang="en-US" dirty="0"/>
              <a:t>接口函数</a:t>
            </a:r>
          </a:p>
        </p:txBody>
      </p:sp>
      <p:sp>
        <p:nvSpPr>
          <p:cNvPr id="3" name="内容占位符 2"/>
          <p:cNvSpPr>
            <a:spLocks noGrp="1"/>
          </p:cNvSpPr>
          <p:nvPr>
            <p:ph idx="1"/>
          </p:nvPr>
        </p:nvSpPr>
        <p:spPr/>
        <p:txBody>
          <a:bodyPr>
            <a:normAutofit/>
          </a:bodyPr>
          <a:lstStyle/>
          <a:p>
            <a:pPr>
              <a:buClr>
                <a:srgbClr val="94003F"/>
              </a:buClr>
            </a:pPr>
            <a:r>
              <a:rPr lang="en-US" altLang="zh-CN" dirty="0"/>
              <a:t>OpenGL API</a:t>
            </a:r>
            <a:r>
              <a:rPr lang="zh-CN" altLang="en-US" dirty="0"/>
              <a:t>接口函数的基本结构：</a:t>
            </a:r>
            <a:endParaRPr lang="en-US" altLang="zh-CN"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pPr marL="0" indent="0">
              <a:buClr>
                <a:srgbClr val="94003F"/>
              </a:buClr>
              <a:buNone/>
            </a:pPr>
            <a:endParaRPr lang="zh-CN" altLang="en-US" sz="24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26</a:t>
            </a:fld>
            <a:endParaRPr lang="zh-CN" altLang="en-US"/>
          </a:p>
        </p:txBody>
      </p:sp>
      <p:pic>
        <p:nvPicPr>
          <p:cNvPr id="5" name="图片 4"/>
          <p:cNvPicPr>
            <a:picLocks noChangeAspect="1"/>
          </p:cNvPicPr>
          <p:nvPr/>
        </p:nvPicPr>
        <p:blipFill>
          <a:blip r:embed="rId2"/>
          <a:stretch>
            <a:fillRect/>
          </a:stretch>
        </p:blipFill>
        <p:spPr>
          <a:xfrm>
            <a:off x="947168" y="2189352"/>
            <a:ext cx="7249664" cy="3478817"/>
          </a:xfrm>
          <a:prstGeom prst="rect">
            <a:avLst/>
          </a:prstGeom>
        </p:spPr>
      </p:pic>
    </p:spTree>
    <p:extLst>
      <p:ext uri="{BB962C8B-B14F-4D97-AF65-F5344CB8AC3E}">
        <p14:creationId xmlns:p14="http://schemas.microsoft.com/office/powerpoint/2010/main" val="5313222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OpenGL</a:t>
            </a:r>
            <a:r>
              <a:rPr lang="zh-CN" altLang="en-US" dirty="0"/>
              <a:t> </a:t>
            </a:r>
            <a:r>
              <a:rPr lang="en-US" altLang="zh-CN" dirty="0"/>
              <a:t>API</a:t>
            </a:r>
            <a:r>
              <a:rPr lang="zh-CN" altLang="en-US" dirty="0"/>
              <a:t>接口函数</a:t>
            </a:r>
            <a:endParaRPr lang="en-US" dirty="0"/>
          </a:p>
        </p:txBody>
      </p:sp>
      <p:sp>
        <p:nvSpPr>
          <p:cNvPr id="3" name="Content Placeholder 2"/>
          <p:cNvSpPr>
            <a:spLocks noGrp="1"/>
          </p:cNvSpPr>
          <p:nvPr>
            <p:ph idx="1"/>
          </p:nvPr>
        </p:nvSpPr>
        <p:spPr>
          <a:xfrm>
            <a:off x="628650" y="1316831"/>
            <a:ext cx="7886700" cy="4896934"/>
          </a:xfrm>
        </p:spPr>
        <p:txBody>
          <a:bodyPr>
            <a:normAutofit/>
          </a:bodyPr>
          <a:lstStyle/>
          <a:p>
            <a:r>
              <a:rPr lang="zh-CN" altLang="en-US" dirty="0"/>
              <a:t> </a:t>
            </a:r>
            <a:r>
              <a:rPr lang="en-US" dirty="0"/>
              <a:t>图元函数</a:t>
            </a:r>
            <a:r>
              <a:rPr lang="zh-CN" altLang="en-US" dirty="0"/>
              <a:t> </a:t>
            </a:r>
            <a:r>
              <a:rPr lang="en-US" altLang="zh-CN" dirty="0">
                <a:solidFill>
                  <a:srgbClr val="0000FF"/>
                </a:solidFill>
              </a:rPr>
              <a:t>–</a:t>
            </a:r>
            <a:r>
              <a:rPr lang="zh-CN" altLang="en-US" dirty="0">
                <a:solidFill>
                  <a:srgbClr val="0000FF"/>
                </a:solidFill>
              </a:rPr>
              <a:t> 绘制对象</a:t>
            </a:r>
            <a:endParaRPr lang="en-US" dirty="0">
              <a:solidFill>
                <a:srgbClr val="0000FF"/>
              </a:solidFill>
            </a:endParaRPr>
          </a:p>
          <a:p>
            <a:pPr lvl="1"/>
            <a:r>
              <a:rPr lang="en-US" dirty="0"/>
              <a:t> 点</a:t>
            </a:r>
            <a:r>
              <a:rPr lang="zh-CN" altLang="en-US" dirty="0"/>
              <a:t>、</a:t>
            </a:r>
            <a:r>
              <a:rPr lang="en-US" dirty="0"/>
              <a:t>线段</a:t>
            </a:r>
            <a:r>
              <a:rPr lang="zh-CN" altLang="en-US" dirty="0"/>
              <a:t>、</a:t>
            </a:r>
            <a:r>
              <a:rPr lang="en-US" dirty="0"/>
              <a:t>多边形</a:t>
            </a:r>
            <a:r>
              <a:rPr lang="en-US" altLang="zh-CN" dirty="0"/>
              <a:t>……</a:t>
            </a:r>
            <a:endParaRPr lang="en-US" dirty="0"/>
          </a:p>
          <a:p>
            <a:r>
              <a:rPr lang="en-US" dirty="0"/>
              <a:t> 属性函数</a:t>
            </a:r>
            <a:r>
              <a:rPr lang="zh-CN" altLang="en-US" dirty="0"/>
              <a:t> </a:t>
            </a:r>
            <a:r>
              <a:rPr lang="en-US" altLang="zh-CN" dirty="0">
                <a:solidFill>
                  <a:srgbClr val="0000FF"/>
                </a:solidFill>
              </a:rPr>
              <a:t>–</a:t>
            </a:r>
            <a:r>
              <a:rPr lang="zh-CN" altLang="en-US" dirty="0">
                <a:solidFill>
                  <a:srgbClr val="0000FF"/>
                </a:solidFill>
              </a:rPr>
              <a:t> 显示方式</a:t>
            </a:r>
            <a:endParaRPr lang="en-US" dirty="0">
              <a:solidFill>
                <a:srgbClr val="0000FF"/>
              </a:solidFill>
            </a:endParaRPr>
          </a:p>
          <a:p>
            <a:r>
              <a:rPr lang="en-US" dirty="0"/>
              <a:t> 观察函数 </a:t>
            </a:r>
            <a:r>
              <a:rPr lang="en-US" altLang="zh-CN" dirty="0">
                <a:solidFill>
                  <a:srgbClr val="0000FF"/>
                </a:solidFill>
              </a:rPr>
              <a:t>–</a:t>
            </a:r>
            <a:r>
              <a:rPr lang="zh-CN" altLang="en-US" dirty="0">
                <a:solidFill>
                  <a:srgbClr val="0000FF"/>
                </a:solidFill>
              </a:rPr>
              <a:t> 视图设置</a:t>
            </a:r>
            <a:endParaRPr lang="en-US" dirty="0">
              <a:solidFill>
                <a:srgbClr val="0000FF"/>
              </a:solidFill>
            </a:endParaRPr>
          </a:p>
          <a:p>
            <a:pPr lvl="1"/>
            <a:r>
              <a:rPr lang="zh-CN" altLang="en-US" dirty="0"/>
              <a:t>没有直接的观察函数，</a:t>
            </a:r>
            <a:r>
              <a:rPr lang="en-US" dirty="0"/>
              <a:t>通过几何变换</a:t>
            </a:r>
            <a:r>
              <a:rPr lang="zh-CN" altLang="en-US" dirty="0"/>
              <a:t>得到希望的视图</a:t>
            </a:r>
            <a:endParaRPr lang="en-US" dirty="0"/>
          </a:p>
          <a:p>
            <a:r>
              <a:rPr lang="en-US" dirty="0"/>
              <a:t> 变换函数</a:t>
            </a:r>
            <a:r>
              <a:rPr lang="zh-CN" altLang="en-US" dirty="0"/>
              <a:t> </a:t>
            </a:r>
            <a:r>
              <a:rPr lang="en-US" altLang="zh-CN" dirty="0">
                <a:solidFill>
                  <a:srgbClr val="0000FF"/>
                </a:solidFill>
              </a:rPr>
              <a:t>–</a:t>
            </a:r>
            <a:r>
              <a:rPr lang="zh-CN" altLang="en-US" dirty="0">
                <a:solidFill>
                  <a:srgbClr val="0000FF"/>
                </a:solidFill>
              </a:rPr>
              <a:t> 矩阵变换</a:t>
            </a:r>
            <a:endParaRPr lang="en-US" dirty="0">
              <a:solidFill>
                <a:srgbClr val="0000FF"/>
              </a:solidFill>
            </a:endParaRPr>
          </a:p>
          <a:p>
            <a:pPr lvl="1"/>
            <a:r>
              <a:rPr lang="en-US" dirty="0"/>
              <a:t> </a:t>
            </a:r>
            <a:r>
              <a:rPr lang="zh-CN" altLang="en-US" dirty="0"/>
              <a:t>观察、建模</a:t>
            </a:r>
            <a:r>
              <a:rPr lang="en-US" altLang="zh-CN" dirty="0"/>
              <a:t>……</a:t>
            </a:r>
          </a:p>
          <a:p>
            <a:r>
              <a:rPr lang="en-US" dirty="0"/>
              <a:t> 输入函数</a:t>
            </a:r>
            <a:r>
              <a:rPr lang="zh-CN" altLang="en-US" dirty="0"/>
              <a:t> </a:t>
            </a:r>
            <a:r>
              <a:rPr lang="en-US" altLang="zh-CN" dirty="0">
                <a:solidFill>
                  <a:srgbClr val="0000FF"/>
                </a:solidFill>
              </a:rPr>
              <a:t>–</a:t>
            </a:r>
            <a:r>
              <a:rPr lang="zh-CN" altLang="en-US" dirty="0">
                <a:solidFill>
                  <a:srgbClr val="0000FF"/>
                </a:solidFill>
              </a:rPr>
              <a:t> 交互式程序开发（</a:t>
            </a:r>
            <a:r>
              <a:rPr lang="en-US" altLang="zh-CN" dirty="0">
                <a:solidFill>
                  <a:srgbClr val="0000FF"/>
                </a:solidFill>
              </a:rPr>
              <a:t>GLUT</a:t>
            </a:r>
            <a:r>
              <a:rPr lang="zh-CN" altLang="en-US" dirty="0">
                <a:solidFill>
                  <a:srgbClr val="0000FF"/>
                </a:solidFill>
              </a:rPr>
              <a:t>）</a:t>
            </a:r>
            <a:endParaRPr lang="en-US" altLang="zh-CN" dirty="0">
              <a:solidFill>
                <a:srgbClr val="0000FF"/>
              </a:solidFill>
            </a:endParaRPr>
          </a:p>
          <a:p>
            <a:r>
              <a:rPr lang="zh-CN" altLang="en-US" dirty="0"/>
              <a:t> </a:t>
            </a:r>
            <a:r>
              <a:rPr lang="en-US" dirty="0"/>
              <a:t>控制函数</a:t>
            </a:r>
            <a:r>
              <a:rPr lang="zh-CN" altLang="en-US" dirty="0"/>
              <a:t> </a:t>
            </a:r>
            <a:r>
              <a:rPr lang="en-US" altLang="zh-CN" dirty="0">
                <a:solidFill>
                  <a:srgbClr val="0000FF"/>
                </a:solidFill>
              </a:rPr>
              <a:t>–</a:t>
            </a:r>
            <a:r>
              <a:rPr lang="zh-CN" altLang="en-US" dirty="0">
                <a:solidFill>
                  <a:srgbClr val="0000FF"/>
                </a:solidFill>
              </a:rPr>
              <a:t> 窗口协同（</a:t>
            </a:r>
            <a:r>
              <a:rPr lang="en-US" altLang="zh-CN" dirty="0">
                <a:solidFill>
                  <a:srgbClr val="0000FF"/>
                </a:solidFill>
              </a:rPr>
              <a:t>GLUT</a:t>
            </a:r>
            <a:r>
              <a:rPr lang="zh-CN" altLang="en-US" dirty="0">
                <a:solidFill>
                  <a:srgbClr val="0000FF"/>
                </a:solidFill>
              </a:rPr>
              <a:t>）</a:t>
            </a:r>
            <a:endParaRPr lang="en-US" altLang="zh-CN" dirty="0">
              <a:solidFill>
                <a:srgbClr val="0000FF"/>
              </a:solidFill>
            </a:endParaRPr>
          </a:p>
          <a:p>
            <a:r>
              <a:rPr lang="zh-CN" altLang="en-US" dirty="0"/>
              <a:t> </a:t>
            </a:r>
            <a:r>
              <a:rPr lang="en-US" dirty="0"/>
              <a:t>查询函数</a:t>
            </a:r>
            <a:r>
              <a:rPr lang="zh-CN" altLang="en-US" dirty="0"/>
              <a:t> </a:t>
            </a:r>
            <a:r>
              <a:rPr lang="en-US" altLang="zh-CN" dirty="0">
                <a:solidFill>
                  <a:srgbClr val="0000FF"/>
                </a:solidFill>
              </a:rPr>
              <a:t>–</a:t>
            </a:r>
            <a:r>
              <a:rPr lang="zh-CN" altLang="en-US" dirty="0">
                <a:solidFill>
                  <a:srgbClr val="0000FF"/>
                </a:solidFill>
              </a:rPr>
              <a:t> 信息查询</a:t>
            </a:r>
            <a:endParaRPr lang="en-US" dirty="0">
              <a:solidFill>
                <a:srgbClr val="0000FF"/>
              </a:solidFill>
            </a:endParaRPr>
          </a:p>
          <a:p>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27</a:t>
            </a:fld>
            <a:endParaRPr lang="zh-CN" altLang="en-US" dirty="0"/>
          </a:p>
        </p:txBody>
      </p:sp>
    </p:spTree>
    <p:extLst>
      <p:ext uri="{BB962C8B-B14F-4D97-AF65-F5344CB8AC3E}">
        <p14:creationId xmlns:p14="http://schemas.microsoft.com/office/powerpoint/2010/main" val="17161430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OpenGL</a:t>
            </a:r>
            <a:r>
              <a:rPr lang="zh-CN" altLang="en-US" dirty="0"/>
              <a:t>着色器与</a:t>
            </a:r>
            <a:r>
              <a:rPr lang="en-US" altLang="zh-CN" dirty="0"/>
              <a:t>GLSL</a:t>
            </a:r>
            <a:endParaRPr lang="zh-CN" altLang="en-US" dirty="0"/>
          </a:p>
        </p:txBody>
      </p:sp>
      <p:sp>
        <p:nvSpPr>
          <p:cNvPr id="3" name="内容占位符 2"/>
          <p:cNvSpPr>
            <a:spLocks noGrp="1"/>
          </p:cNvSpPr>
          <p:nvPr>
            <p:ph idx="1"/>
          </p:nvPr>
        </p:nvSpPr>
        <p:spPr/>
        <p:txBody>
          <a:bodyPr>
            <a:normAutofit/>
          </a:bodyPr>
          <a:lstStyle/>
          <a:p>
            <a:pPr>
              <a:buClr>
                <a:srgbClr val="94003F"/>
              </a:buClr>
            </a:pPr>
            <a:r>
              <a:rPr lang="zh-CN" altLang="en-US" sz="2400" dirty="0"/>
              <a:t>在图形编程领域，正发生着剧烈的技术变革：</a:t>
            </a:r>
          </a:p>
          <a:p>
            <a:pPr lvl="1">
              <a:buClr>
                <a:schemeClr val="tx1"/>
              </a:buClr>
            </a:pPr>
            <a:r>
              <a:rPr lang="zh-CN" altLang="en-US" sz="1800" dirty="0"/>
              <a:t>如乔布斯在</a:t>
            </a:r>
            <a:r>
              <a:rPr lang="en-US" altLang="zh-CN" sz="1800" dirty="0"/>
              <a:t>2010</a:t>
            </a:r>
            <a:r>
              <a:rPr lang="zh-CN" altLang="en-US" sz="1800" dirty="0"/>
              <a:t>年预言的，目前</a:t>
            </a:r>
            <a:r>
              <a:rPr lang="en-US" altLang="zh-CN" sz="1800" dirty="0" err="1"/>
              <a:t>WebGL</a:t>
            </a:r>
            <a:r>
              <a:rPr lang="zh-CN" altLang="en-US" sz="1800" dirty="0"/>
              <a:t>全面取代</a:t>
            </a:r>
            <a:r>
              <a:rPr lang="en-US" altLang="zh-CN" sz="1800" dirty="0"/>
              <a:t>Flash</a:t>
            </a:r>
          </a:p>
          <a:p>
            <a:pPr lvl="1">
              <a:buClr>
                <a:schemeClr val="tx1"/>
              </a:buClr>
            </a:pPr>
            <a:r>
              <a:rPr lang="zh-CN" altLang="en-US" sz="1800" dirty="0"/>
              <a:t>除了</a:t>
            </a:r>
            <a:r>
              <a:rPr lang="en-US" altLang="zh-CN" sz="1800" dirty="0"/>
              <a:t>Win</a:t>
            </a:r>
            <a:r>
              <a:rPr lang="zh-CN" altLang="en-US" sz="1800" dirty="0"/>
              <a:t>平台下的游戏领域，</a:t>
            </a:r>
            <a:r>
              <a:rPr lang="en-US" altLang="zh-CN" sz="1800" dirty="0"/>
              <a:t>OpenGL</a:t>
            </a:r>
            <a:r>
              <a:rPr lang="zh-CN" altLang="en-US" sz="1800" dirty="0"/>
              <a:t>已经全面超越</a:t>
            </a:r>
            <a:r>
              <a:rPr lang="en-US" altLang="zh-CN" sz="1800" dirty="0"/>
              <a:t>Microsoft</a:t>
            </a:r>
            <a:r>
              <a:rPr lang="en-US" altLang="zh-CN" sz="1800" b="1" baseline="30000" dirty="0"/>
              <a:t>®</a:t>
            </a:r>
            <a:r>
              <a:rPr lang="zh-CN" altLang="en-US" sz="1800" dirty="0"/>
              <a:t>的</a:t>
            </a:r>
            <a:r>
              <a:rPr lang="en-US" altLang="zh-CN" sz="1800" dirty="0"/>
              <a:t>Direct3D</a:t>
            </a:r>
            <a:r>
              <a:rPr lang="zh-CN" altLang="en-US" sz="1800" dirty="0"/>
              <a:t>成为图形编程的主流</a:t>
            </a:r>
            <a:r>
              <a:rPr lang="en-US" altLang="zh-CN" sz="1800" dirty="0"/>
              <a:t>API</a:t>
            </a:r>
          </a:p>
          <a:p>
            <a:pPr lvl="1">
              <a:buClr>
                <a:schemeClr val="tx1"/>
              </a:buClr>
            </a:pPr>
            <a:r>
              <a:rPr lang="zh-CN" altLang="en-US" sz="1800" dirty="0"/>
              <a:t>最新的</a:t>
            </a:r>
            <a:r>
              <a:rPr lang="en-US" altLang="zh-CN" sz="1800" dirty="0"/>
              <a:t>OpenGL4.3</a:t>
            </a:r>
            <a:r>
              <a:rPr lang="zh-CN" altLang="en-US" sz="1800" dirty="0"/>
              <a:t>将着色器作为基础组件，其处理管线如下图：</a:t>
            </a:r>
            <a:endParaRPr lang="en-US" altLang="zh-CN" sz="1800" dirty="0"/>
          </a:p>
          <a:p>
            <a:pPr lvl="1">
              <a:buClr>
                <a:schemeClr val="tx1"/>
              </a:buClr>
            </a:pPr>
            <a:endParaRPr lang="zh-CN" altLang="en-US" sz="1800" dirty="0"/>
          </a:p>
          <a:p>
            <a:endParaRPr lang="zh-CN" altLang="en-US" dirty="0"/>
          </a:p>
        </p:txBody>
      </p:sp>
      <p:sp>
        <p:nvSpPr>
          <p:cNvPr id="5" name="Slide Number Placeholder 4"/>
          <p:cNvSpPr>
            <a:spLocks noGrp="1"/>
          </p:cNvSpPr>
          <p:nvPr>
            <p:ph type="sldNum" sz="quarter" idx="12"/>
          </p:nvPr>
        </p:nvSpPr>
        <p:spPr/>
        <p:txBody>
          <a:bodyPr/>
          <a:lstStyle/>
          <a:p>
            <a:fld id="{EB792F4E-54C0-4D36-B331-9C6FCFE9A340}" type="slidenum">
              <a:rPr lang="zh-CN" altLang="en-US" smtClean="0"/>
              <a:t>28</a:t>
            </a:fld>
            <a:endParaRPr lang="zh-CN" altLang="en-US"/>
          </a:p>
        </p:txBody>
      </p:sp>
      <p:pic>
        <p:nvPicPr>
          <p:cNvPr id="6" name="图片 5"/>
          <p:cNvPicPr>
            <a:picLocks noChangeAspect="1"/>
          </p:cNvPicPr>
          <p:nvPr/>
        </p:nvPicPr>
        <p:blipFill rotWithShape="1">
          <a:blip r:embed="rId3"/>
          <a:srcRect r="430"/>
          <a:stretch/>
        </p:blipFill>
        <p:spPr>
          <a:xfrm>
            <a:off x="2574318" y="3064969"/>
            <a:ext cx="5546578" cy="3549606"/>
          </a:xfrm>
          <a:prstGeom prst="rect">
            <a:avLst/>
          </a:prstGeom>
        </p:spPr>
      </p:pic>
      <p:sp>
        <p:nvSpPr>
          <p:cNvPr id="7" name="矩形 6"/>
          <p:cNvSpPr/>
          <p:nvPr/>
        </p:nvSpPr>
        <p:spPr>
          <a:xfrm>
            <a:off x="545910" y="3680460"/>
            <a:ext cx="2973599" cy="2862322"/>
          </a:xfrm>
          <a:prstGeom prst="rect">
            <a:avLst/>
          </a:prstGeom>
          <a:solidFill>
            <a:srgbClr val="BDD7EE">
              <a:alpha val="52941"/>
            </a:srgbClr>
          </a:solidFill>
        </p:spPr>
        <p:txBody>
          <a:bodyPr wrap="square">
            <a:spAutoFit/>
          </a:bodyPr>
          <a:lstStyle/>
          <a:p>
            <a:r>
              <a:rPr lang="en-US" altLang="zh-CN" b="1" dirty="0">
                <a:solidFill>
                  <a:srgbClr val="464DD9"/>
                </a:solidFill>
                <a:latin typeface="ZztexMono-Regular"/>
              </a:rPr>
              <a:t> - </a:t>
            </a:r>
            <a:r>
              <a:rPr lang="zh-CN" altLang="en-US" b="1" dirty="0">
                <a:solidFill>
                  <a:srgbClr val="464DD9"/>
                </a:solidFill>
                <a:latin typeface="ZztexMono-Regular"/>
              </a:rPr>
              <a:t>着色器</a:t>
            </a:r>
            <a:r>
              <a:rPr lang="en-US" altLang="zh-CN" b="1" dirty="0">
                <a:solidFill>
                  <a:srgbClr val="464DD9"/>
                </a:solidFill>
                <a:latin typeface="ZztexMono-Regular"/>
              </a:rPr>
              <a:t>(</a:t>
            </a:r>
            <a:r>
              <a:rPr lang="en-US" altLang="zh-CN" b="1" dirty="0" err="1">
                <a:solidFill>
                  <a:srgbClr val="464DD9"/>
                </a:solidFill>
                <a:latin typeface="ZztexMono-Regular"/>
              </a:rPr>
              <a:t>Shader</a:t>
            </a:r>
            <a:r>
              <a:rPr lang="en-US" altLang="zh-CN" b="1" dirty="0">
                <a:solidFill>
                  <a:srgbClr val="464DD9"/>
                </a:solidFill>
                <a:latin typeface="ZztexMono-Regular"/>
              </a:rPr>
              <a:t>)</a:t>
            </a:r>
            <a:r>
              <a:rPr lang="zh-CN" altLang="en-US" b="1" dirty="0">
                <a:solidFill>
                  <a:srgbClr val="464DD9"/>
                </a:solidFill>
                <a:latin typeface="ZztexMono-Regular"/>
              </a:rPr>
              <a:t>的概念：</a:t>
            </a:r>
            <a:endParaRPr lang="en-US" altLang="zh-CN" b="1" dirty="0">
              <a:solidFill>
                <a:srgbClr val="464DD9"/>
              </a:solidFill>
              <a:latin typeface="ZztexMono-Regular"/>
            </a:endParaRPr>
          </a:p>
          <a:p>
            <a:r>
              <a:rPr lang="en-US" altLang="zh-CN" b="1" dirty="0">
                <a:solidFill>
                  <a:srgbClr val="464DD9"/>
                </a:solidFill>
                <a:latin typeface="ZztexMono-Regular"/>
              </a:rPr>
              <a:t>    GPU</a:t>
            </a:r>
            <a:r>
              <a:rPr lang="zh-CN" altLang="en-US" b="1" dirty="0">
                <a:solidFill>
                  <a:srgbClr val="464DD9"/>
                </a:solidFill>
                <a:latin typeface="ZztexMono-Regular"/>
              </a:rPr>
              <a:t>的</a:t>
            </a:r>
            <a:r>
              <a:rPr lang="zh-CN" altLang="en-US" b="1" dirty="0">
                <a:solidFill>
                  <a:srgbClr val="464DD9"/>
                </a:solidFill>
                <a:highlight>
                  <a:srgbClr val="FFFF00"/>
                </a:highlight>
                <a:latin typeface="ZztexMono-Regular"/>
              </a:rPr>
              <a:t>图元处理</a:t>
            </a:r>
            <a:r>
              <a:rPr lang="zh-CN" altLang="en-US" b="1" dirty="0">
                <a:solidFill>
                  <a:srgbClr val="464DD9"/>
                </a:solidFill>
                <a:latin typeface="ZztexMono-Regular"/>
              </a:rPr>
              <a:t>小程序</a:t>
            </a:r>
            <a:endParaRPr lang="en-US" altLang="zh-CN" b="1" dirty="0">
              <a:solidFill>
                <a:srgbClr val="464DD9"/>
              </a:solidFill>
              <a:latin typeface="ZztexMono-Regular"/>
            </a:endParaRPr>
          </a:p>
          <a:p>
            <a:endParaRPr lang="en-US" altLang="zh-CN" b="1" dirty="0">
              <a:solidFill>
                <a:srgbClr val="464DD9"/>
              </a:solidFill>
              <a:latin typeface="ZztexMono-Regular"/>
            </a:endParaRPr>
          </a:p>
          <a:p>
            <a:r>
              <a:rPr lang="en-US" altLang="zh-CN" b="1" dirty="0">
                <a:solidFill>
                  <a:srgbClr val="464DD9"/>
                </a:solidFill>
                <a:latin typeface="ZztexMono-Regular"/>
              </a:rPr>
              <a:t> - OpenGL</a:t>
            </a:r>
            <a:r>
              <a:rPr lang="zh-CN" altLang="en-US" b="1" dirty="0">
                <a:solidFill>
                  <a:srgbClr val="464DD9"/>
                </a:solidFill>
                <a:highlight>
                  <a:srgbClr val="FFFF00"/>
                </a:highlight>
                <a:latin typeface="ZztexMono-Regular"/>
              </a:rPr>
              <a:t>着色器的种类</a:t>
            </a:r>
            <a:r>
              <a:rPr lang="zh-CN" altLang="en-US" b="1" dirty="0">
                <a:solidFill>
                  <a:srgbClr val="464DD9"/>
                </a:solidFill>
                <a:latin typeface="ZztexMono-Regular"/>
              </a:rPr>
              <a:t>：</a:t>
            </a:r>
            <a:endParaRPr lang="en-US" altLang="zh-CN" b="1" dirty="0">
              <a:solidFill>
                <a:srgbClr val="464DD9"/>
              </a:solidFill>
              <a:latin typeface="ZztexMono-Regular"/>
            </a:endParaRPr>
          </a:p>
          <a:p>
            <a:r>
              <a:rPr lang="en-US" altLang="zh-CN" b="1" dirty="0">
                <a:solidFill>
                  <a:srgbClr val="464DD9"/>
                </a:solidFill>
                <a:latin typeface="ZztexMono-Regular"/>
              </a:rPr>
              <a:t>    </a:t>
            </a:r>
            <a:r>
              <a:rPr lang="zh-CN" altLang="en-US" b="1" dirty="0">
                <a:solidFill>
                  <a:srgbClr val="464DD9"/>
                </a:solidFill>
                <a:latin typeface="ZztexMono-Regular"/>
              </a:rPr>
              <a:t>顶点着色器、片段着色  </a:t>
            </a:r>
            <a:endParaRPr lang="en-US" altLang="zh-CN" b="1" dirty="0">
              <a:solidFill>
                <a:srgbClr val="464DD9"/>
              </a:solidFill>
              <a:latin typeface="ZztexMono-Regular"/>
            </a:endParaRPr>
          </a:p>
          <a:p>
            <a:r>
              <a:rPr lang="en-US" altLang="zh-CN" b="1" dirty="0">
                <a:solidFill>
                  <a:srgbClr val="464DD9"/>
                </a:solidFill>
                <a:latin typeface="ZztexMono-Regular"/>
              </a:rPr>
              <a:t>    </a:t>
            </a:r>
            <a:r>
              <a:rPr lang="zh-CN" altLang="en-US" b="1" dirty="0">
                <a:solidFill>
                  <a:srgbClr val="464DD9"/>
                </a:solidFill>
                <a:latin typeface="ZztexMono-Regular"/>
              </a:rPr>
              <a:t>器、几何着色器</a:t>
            </a:r>
            <a:endParaRPr lang="en-US" altLang="zh-CN" b="1" dirty="0">
              <a:solidFill>
                <a:srgbClr val="464DD9"/>
              </a:solidFill>
              <a:latin typeface="ZztexMono-Regular"/>
            </a:endParaRPr>
          </a:p>
          <a:p>
            <a:endParaRPr lang="en-US" altLang="zh-CN" b="1" dirty="0">
              <a:solidFill>
                <a:srgbClr val="464DD9"/>
              </a:solidFill>
              <a:latin typeface="ZztexMono-Regular"/>
            </a:endParaRPr>
          </a:p>
          <a:p>
            <a:r>
              <a:rPr lang="en-US" altLang="zh-CN" b="1" dirty="0">
                <a:solidFill>
                  <a:srgbClr val="464DD9"/>
                </a:solidFill>
                <a:latin typeface="ZztexMono-Regular"/>
              </a:rPr>
              <a:t> - OpenGL</a:t>
            </a:r>
            <a:r>
              <a:rPr lang="zh-CN" altLang="en-US" b="1" dirty="0">
                <a:solidFill>
                  <a:srgbClr val="464DD9"/>
                </a:solidFill>
                <a:latin typeface="ZztexMono-Regular"/>
              </a:rPr>
              <a:t>着色器语言： </a:t>
            </a:r>
            <a:endParaRPr lang="en-US" altLang="zh-CN" b="1" dirty="0">
              <a:solidFill>
                <a:srgbClr val="464DD9"/>
              </a:solidFill>
              <a:latin typeface="ZztexMono-Regular"/>
            </a:endParaRPr>
          </a:p>
          <a:p>
            <a:r>
              <a:rPr lang="en-US" altLang="zh-CN" b="1" dirty="0">
                <a:solidFill>
                  <a:srgbClr val="464DD9"/>
                </a:solidFill>
                <a:latin typeface="ZztexMono-Regular"/>
              </a:rPr>
              <a:t>    OpenGL Shading  </a:t>
            </a:r>
          </a:p>
          <a:p>
            <a:r>
              <a:rPr lang="en-US" altLang="zh-CN" b="1" dirty="0">
                <a:solidFill>
                  <a:srgbClr val="464DD9"/>
                </a:solidFill>
                <a:latin typeface="ZztexMono-Regular"/>
              </a:rPr>
              <a:t>    Language / GLSL</a:t>
            </a:r>
            <a:endParaRPr lang="en-US" altLang="zh-CN" dirty="0">
              <a:latin typeface="ZztexMono-Regular"/>
            </a:endParaRPr>
          </a:p>
        </p:txBody>
      </p:sp>
    </p:spTree>
    <p:extLst>
      <p:ext uri="{BB962C8B-B14F-4D97-AF65-F5344CB8AC3E}">
        <p14:creationId xmlns:p14="http://schemas.microsoft.com/office/powerpoint/2010/main" val="193799410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OpenGL</a:t>
            </a:r>
            <a:r>
              <a:rPr lang="zh-CN" altLang="en-US" dirty="0"/>
              <a:t> </a:t>
            </a:r>
            <a:r>
              <a:rPr lang="en-US" altLang="zh-CN" dirty="0"/>
              <a:t>API</a:t>
            </a:r>
            <a:r>
              <a:rPr lang="zh-CN" altLang="en-US" dirty="0"/>
              <a:t>的使用</a:t>
            </a:r>
          </a:p>
        </p:txBody>
      </p:sp>
      <p:sp>
        <p:nvSpPr>
          <p:cNvPr id="3" name="内容占位符 2"/>
          <p:cNvSpPr>
            <a:spLocks noGrp="1"/>
          </p:cNvSpPr>
          <p:nvPr>
            <p:ph idx="1"/>
          </p:nvPr>
        </p:nvSpPr>
        <p:spPr>
          <a:xfrm>
            <a:off x="628650" y="1316831"/>
            <a:ext cx="7886700" cy="5291787"/>
          </a:xfrm>
        </p:spPr>
        <p:txBody>
          <a:bodyPr>
            <a:normAutofit/>
          </a:bodyPr>
          <a:lstStyle/>
          <a:p>
            <a:r>
              <a:rPr lang="zh-CN" altLang="zh-CN" dirty="0">
                <a:latin typeface="Microsoft YaHei" charset="-122"/>
                <a:ea typeface="Microsoft YaHei" charset="-122"/>
                <a:cs typeface="Microsoft YaHei" charset="-122"/>
              </a:rPr>
              <a:t>创建</a:t>
            </a:r>
            <a:r>
              <a:rPr lang="en-US" altLang="zh-CN" dirty="0">
                <a:latin typeface="Microsoft YaHei" charset="-122"/>
                <a:ea typeface="Microsoft YaHei" charset="-122"/>
                <a:cs typeface="Microsoft YaHei" charset="-122"/>
              </a:rPr>
              <a:t>OpenGL</a:t>
            </a:r>
            <a:r>
              <a:rPr lang="zh-CN" altLang="zh-CN" dirty="0">
                <a:latin typeface="Microsoft YaHei" charset="-122"/>
                <a:ea typeface="Microsoft YaHei" charset="-122"/>
                <a:cs typeface="Microsoft YaHei" charset="-122"/>
              </a:rPr>
              <a:t>工程项目</a:t>
            </a:r>
          </a:p>
          <a:p>
            <a:endParaRPr lang="en-US" altLang="zh-CN" dirty="0">
              <a:latin typeface="Microsoft YaHei" charset="-122"/>
              <a:ea typeface="Microsoft YaHei" charset="-122"/>
              <a:cs typeface="Microsoft YaHei" charset="-122"/>
            </a:endParaRPr>
          </a:p>
          <a:p>
            <a:r>
              <a:rPr lang="zh-CN" altLang="zh-CN" dirty="0">
                <a:latin typeface="Microsoft YaHei" charset="-122"/>
                <a:ea typeface="Microsoft YaHei" charset="-122"/>
                <a:cs typeface="Microsoft YaHei" charset="-122"/>
              </a:rPr>
              <a:t>编写</a:t>
            </a:r>
            <a:r>
              <a:rPr lang="en-US" altLang="zh-CN" dirty="0">
                <a:latin typeface="Microsoft YaHei" charset="-122"/>
                <a:ea typeface="Microsoft YaHei" charset="-122"/>
                <a:cs typeface="Microsoft YaHei" charset="-122"/>
              </a:rPr>
              <a:t>main.cpp</a:t>
            </a:r>
            <a:r>
              <a:rPr lang="zh-CN" altLang="zh-CN" dirty="0">
                <a:latin typeface="Microsoft YaHei" charset="-122"/>
                <a:ea typeface="Microsoft YaHei" charset="-122"/>
                <a:cs typeface="Microsoft YaHei" charset="-122"/>
              </a:rPr>
              <a:t>核心代码文件</a:t>
            </a:r>
          </a:p>
          <a:p>
            <a:pPr lvl="1"/>
            <a:r>
              <a:rPr lang="zh-CN" altLang="zh-CN" dirty="0">
                <a:latin typeface="Microsoft YaHei" charset="-122"/>
                <a:ea typeface="Microsoft YaHei" charset="-122"/>
                <a:cs typeface="Microsoft YaHei" charset="-122"/>
              </a:rPr>
              <a:t>初始化</a:t>
            </a:r>
            <a:r>
              <a:rPr lang="en-US" altLang="zh-CN" dirty="0">
                <a:latin typeface="Microsoft YaHei" charset="-122"/>
                <a:ea typeface="Microsoft YaHei" charset="-122"/>
                <a:cs typeface="Microsoft YaHei" charset="-122"/>
              </a:rPr>
              <a:t>OpenGL</a:t>
            </a:r>
          </a:p>
          <a:p>
            <a:pPr lvl="1"/>
            <a:r>
              <a:rPr lang="zh-CN" altLang="zh-CN" dirty="0">
                <a:latin typeface="Microsoft YaHei" charset="-122"/>
                <a:ea typeface="Microsoft YaHei" charset="-122"/>
                <a:cs typeface="Microsoft YaHei" charset="-122"/>
              </a:rPr>
              <a:t>使用</a:t>
            </a:r>
            <a:r>
              <a:rPr lang="en-US" altLang="zh-CN" dirty="0">
                <a:latin typeface="Microsoft YaHei" charset="-122"/>
                <a:ea typeface="Microsoft YaHei" charset="-122"/>
                <a:cs typeface="Microsoft YaHei" charset="-122"/>
              </a:rPr>
              <a:t>OpenGL</a:t>
            </a:r>
            <a:r>
              <a:rPr lang="zh-CN" altLang="zh-CN" dirty="0">
                <a:latin typeface="Microsoft YaHei" charset="-122"/>
                <a:ea typeface="Microsoft YaHei" charset="-122"/>
                <a:cs typeface="Microsoft YaHei" charset="-122"/>
              </a:rPr>
              <a:t>进行</a:t>
            </a:r>
            <a:r>
              <a:rPr lang="zh-CN" altLang="zh-CN" dirty="0">
                <a:highlight>
                  <a:srgbClr val="FFFF00"/>
                </a:highlight>
                <a:latin typeface="Microsoft YaHei" charset="-122"/>
                <a:ea typeface="Microsoft YaHei" charset="-122"/>
                <a:cs typeface="Microsoft YaHei" charset="-122"/>
              </a:rPr>
              <a:t>渲染</a:t>
            </a:r>
            <a:endParaRPr lang="en-US" altLang="zh-CN" dirty="0">
              <a:highlight>
                <a:srgbClr val="FFFF00"/>
              </a:highlight>
              <a:latin typeface="Microsoft YaHei" charset="-122"/>
              <a:ea typeface="Microsoft YaHei" charset="-122"/>
              <a:cs typeface="Microsoft YaHei" charset="-122"/>
            </a:endParaRPr>
          </a:p>
          <a:p>
            <a:pPr lvl="1"/>
            <a:r>
              <a:rPr lang="zh-CN" altLang="zh-CN" dirty="0">
                <a:latin typeface="Microsoft YaHei" charset="-122"/>
                <a:ea typeface="Microsoft YaHei" charset="-122"/>
                <a:cs typeface="Microsoft YaHei" charset="-122"/>
              </a:rPr>
              <a:t>生成二维图形上的点</a:t>
            </a:r>
            <a:endParaRPr lang="en-US" altLang="zh-CN" dirty="0">
              <a:latin typeface="Microsoft YaHei" charset="-122"/>
              <a:ea typeface="Microsoft YaHei" charset="-122"/>
              <a:cs typeface="Microsoft YaHei" charset="-122"/>
            </a:endParaRPr>
          </a:p>
          <a:p>
            <a:pPr lvl="0"/>
            <a:endParaRPr lang="en-US" altLang="zh-CN" dirty="0">
              <a:latin typeface="Microsoft YaHei" charset="-122"/>
              <a:ea typeface="Microsoft YaHei" charset="-122"/>
              <a:cs typeface="Microsoft YaHei" charset="-122"/>
            </a:endParaRPr>
          </a:p>
          <a:p>
            <a:pPr lvl="0"/>
            <a:r>
              <a:rPr lang="zh-CN" altLang="zh-CN" dirty="0">
                <a:highlight>
                  <a:srgbClr val="FFFF00"/>
                </a:highlight>
                <a:latin typeface="Microsoft YaHei" charset="-122"/>
                <a:ea typeface="Microsoft YaHei" charset="-122"/>
                <a:cs typeface="Microsoft YaHei" charset="-122"/>
              </a:rPr>
              <a:t>编写顶点与片元着色器</a:t>
            </a:r>
            <a:endParaRPr lang="en-US" altLang="zh-CN" dirty="0">
              <a:highlight>
                <a:srgbClr val="FFFF00"/>
              </a:highlight>
              <a:latin typeface="Microsoft YaHei" charset="-122"/>
              <a:ea typeface="Microsoft YaHei" charset="-122"/>
              <a:cs typeface="Microsoft YaHei" charset="-122"/>
            </a:endParaRPr>
          </a:p>
          <a:p>
            <a:pPr lvl="1"/>
            <a:r>
              <a:rPr lang="zh-CN" altLang="zh-CN" dirty="0">
                <a:highlight>
                  <a:srgbClr val="FFFF00"/>
                </a:highlight>
                <a:latin typeface="Microsoft YaHei" charset="-122"/>
                <a:ea typeface="Microsoft YaHei" charset="-122"/>
                <a:cs typeface="Microsoft YaHei" charset="-122"/>
              </a:rPr>
              <a:t>顶点着色器</a:t>
            </a:r>
            <a:r>
              <a:rPr lang="en-US" altLang="zh-CN" dirty="0" err="1">
                <a:highlight>
                  <a:srgbClr val="FFFF00"/>
                </a:highlight>
                <a:latin typeface="Microsoft YaHei" charset="-122"/>
                <a:ea typeface="Microsoft YaHei" charset="-122"/>
                <a:cs typeface="Microsoft YaHei" charset="-122"/>
              </a:rPr>
              <a:t>vshader.glsl</a:t>
            </a:r>
            <a:endParaRPr lang="en-US" altLang="zh-CN" dirty="0">
              <a:highlight>
                <a:srgbClr val="FFFF00"/>
              </a:highlight>
              <a:latin typeface="Microsoft YaHei" charset="-122"/>
              <a:ea typeface="Microsoft YaHei" charset="-122"/>
              <a:cs typeface="Microsoft YaHei" charset="-122"/>
            </a:endParaRPr>
          </a:p>
          <a:p>
            <a:pPr lvl="1"/>
            <a:r>
              <a:rPr lang="zh-CN" altLang="zh-CN" dirty="0">
                <a:highlight>
                  <a:srgbClr val="FFFF00"/>
                </a:highlight>
                <a:latin typeface="Microsoft YaHei" charset="-122"/>
                <a:ea typeface="Microsoft YaHei" charset="-122"/>
                <a:cs typeface="Microsoft YaHei" charset="-122"/>
              </a:rPr>
              <a:t>片元着色器</a:t>
            </a:r>
            <a:r>
              <a:rPr lang="en-US" altLang="zh-CN" dirty="0" err="1">
                <a:highlight>
                  <a:srgbClr val="FFFF00"/>
                </a:highlight>
                <a:latin typeface="Microsoft YaHei" charset="-122"/>
                <a:ea typeface="Microsoft YaHei" charset="-122"/>
                <a:cs typeface="Microsoft YaHei" charset="-122"/>
              </a:rPr>
              <a:t>fshader.glsl</a:t>
            </a:r>
            <a:endParaRPr lang="zh-CN" altLang="zh-CN" dirty="0">
              <a:highlight>
                <a:srgbClr val="FFFF00"/>
              </a:highlight>
              <a:latin typeface="Microsoft YaHei" charset="-122"/>
              <a:ea typeface="Microsoft YaHei" charset="-122"/>
              <a:cs typeface="Microsoft YaHei" charset="-122"/>
            </a:endParaRPr>
          </a:p>
          <a:p>
            <a:endParaRPr lang="zh-CN" altLang="en-US" dirty="0">
              <a:latin typeface="Microsoft YaHei" charset="-122"/>
              <a:ea typeface="Microsoft YaHei" charset="-122"/>
              <a:cs typeface="Microsoft YaHei" charset="-122"/>
            </a:endParaRPr>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29</a:t>
            </a:fld>
            <a:endParaRPr lang="zh-CN" altLang="en-US" dirty="0"/>
          </a:p>
        </p:txBody>
      </p:sp>
      <p:pic>
        <p:nvPicPr>
          <p:cNvPr id="5" name="图片 11" descr="QQ截图20160819015834"/>
          <p:cNvPicPr/>
          <p:nvPr/>
        </p:nvPicPr>
        <p:blipFill>
          <a:blip r:embed="rId2">
            <a:extLst>
              <a:ext uri="{28A0092B-C50C-407E-A947-70E740481C1C}">
                <a14:useLocalDpi xmlns:a14="http://schemas.microsoft.com/office/drawing/2010/main" val="0"/>
              </a:ext>
            </a:extLst>
          </a:blip>
          <a:srcRect/>
          <a:stretch>
            <a:fillRect/>
          </a:stretch>
        </p:blipFill>
        <p:spPr bwMode="auto">
          <a:xfrm>
            <a:off x="5555156" y="1821599"/>
            <a:ext cx="3309305" cy="3440728"/>
          </a:xfrm>
          <a:prstGeom prst="rect">
            <a:avLst/>
          </a:prstGeom>
          <a:noFill/>
          <a:ln>
            <a:noFill/>
          </a:ln>
        </p:spPr>
      </p:pic>
    </p:spTree>
    <p:extLst>
      <p:ext uri="{BB962C8B-B14F-4D97-AF65-F5344CB8AC3E}">
        <p14:creationId xmlns:p14="http://schemas.microsoft.com/office/powerpoint/2010/main" val="165511184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3200401" y="2094748"/>
            <a:ext cx="3032598" cy="796287"/>
          </a:xfrm>
          <a:prstGeom prst="roundRect">
            <a:avLst>
              <a:gd name="adj" fmla="val 50000"/>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圆角矩形 2"/>
          <p:cNvSpPr/>
          <p:nvPr/>
        </p:nvSpPr>
        <p:spPr>
          <a:xfrm>
            <a:off x="5418743" y="2115257"/>
            <a:ext cx="788833" cy="749851"/>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大纲</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30</a:t>
            </a:fld>
            <a:endParaRPr lang="zh-CN" altLang="en-US"/>
          </a:p>
        </p:txBody>
      </p:sp>
      <p:sp>
        <p:nvSpPr>
          <p:cNvPr id="8" name="文本框 7"/>
          <p:cNvSpPr txBox="1"/>
          <p:nvPr/>
        </p:nvSpPr>
        <p:spPr>
          <a:xfrm>
            <a:off x="2167913" y="3389111"/>
            <a:ext cx="4815742" cy="646331"/>
          </a:xfrm>
          <a:prstGeom prst="rect">
            <a:avLst/>
          </a:prstGeom>
          <a:noFill/>
        </p:spPr>
        <p:txBody>
          <a:bodyPr wrap="none" rtlCol="0">
            <a:spAutoFit/>
          </a:bodyPr>
          <a:lstStyle/>
          <a:p>
            <a:pPr algn="ctr"/>
            <a:r>
              <a:rPr lang="en-US" altLang="zh-CN" sz="3600" b="1" dirty="0">
                <a:latin typeface="微软雅黑" panose="020B0503020204020204" pitchFamily="34" charset="-122"/>
                <a:ea typeface="微软雅黑" panose="020B0503020204020204" pitchFamily="34" charset="-122"/>
              </a:rPr>
              <a:t>OpenGL</a:t>
            </a:r>
            <a:r>
              <a:rPr lang="zh-CN" altLang="en-US" sz="3600" b="1" dirty="0">
                <a:latin typeface="微软雅黑" panose="020B0503020204020204" pitchFamily="34" charset="-122"/>
                <a:ea typeface="微软雅黑" panose="020B0503020204020204" pitchFamily="34" charset="-122"/>
              </a:rPr>
              <a:t>的图元与观察</a:t>
            </a:r>
          </a:p>
        </p:txBody>
      </p:sp>
      <p:sp>
        <p:nvSpPr>
          <p:cNvPr id="11" name="文本框 10"/>
          <p:cNvSpPr txBox="1"/>
          <p:nvPr/>
        </p:nvSpPr>
        <p:spPr>
          <a:xfrm>
            <a:off x="3376147" y="2138948"/>
            <a:ext cx="1755609" cy="707886"/>
          </a:xfrm>
          <a:prstGeom prst="rect">
            <a:avLst/>
          </a:prstGeom>
          <a:noFill/>
        </p:spPr>
        <p:txBody>
          <a:bodyPr wrap="none" rtlCol="0">
            <a:spAutoFit/>
          </a:bodyPr>
          <a:lstStyle/>
          <a:p>
            <a:pPr algn="ctr"/>
            <a:r>
              <a:rPr lang="en-US" altLang="zh-CN" sz="4000" b="1" dirty="0">
                <a:solidFill>
                  <a:schemeClr val="bg1"/>
                </a:solidFill>
              </a:rPr>
              <a:t>Section</a:t>
            </a:r>
            <a:endParaRPr lang="zh-CN" altLang="en-US" sz="4000" b="1" dirty="0">
              <a:solidFill>
                <a:schemeClr val="bg1"/>
              </a:solidFill>
            </a:endParaRPr>
          </a:p>
        </p:txBody>
      </p:sp>
      <p:sp>
        <p:nvSpPr>
          <p:cNvPr id="12" name="文本框 11"/>
          <p:cNvSpPr txBox="1"/>
          <p:nvPr/>
        </p:nvSpPr>
        <p:spPr>
          <a:xfrm>
            <a:off x="5523179" y="1913900"/>
            <a:ext cx="614272" cy="1107996"/>
          </a:xfrm>
          <a:prstGeom prst="rect">
            <a:avLst/>
          </a:prstGeom>
          <a:noFill/>
        </p:spPr>
        <p:txBody>
          <a:bodyPr wrap="none" rtlCol="0">
            <a:spAutoFit/>
          </a:bodyPr>
          <a:lstStyle/>
          <a:p>
            <a:pPr algn="ctr"/>
            <a:r>
              <a:rPr lang="en-US" altLang="zh-CN" sz="6600" b="1" i="1" dirty="0">
                <a:solidFill>
                  <a:srgbClr val="94003F"/>
                </a:solidFill>
              </a:rPr>
              <a:t>3</a:t>
            </a:r>
            <a:endParaRPr lang="zh-CN" altLang="en-US" sz="6600" b="1" i="1" dirty="0">
              <a:solidFill>
                <a:srgbClr val="94003F"/>
              </a:solidFill>
            </a:endParaRPr>
          </a:p>
        </p:txBody>
      </p:sp>
      <p:sp>
        <p:nvSpPr>
          <p:cNvPr id="6" name="等腰三角形 5"/>
          <p:cNvSpPr/>
          <p:nvPr/>
        </p:nvSpPr>
        <p:spPr>
          <a:xfrm rot="10800000">
            <a:off x="4447572" y="2804325"/>
            <a:ext cx="492176" cy="321924"/>
          </a:xfrm>
          <a:prstGeom prst="triangle">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75996876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OpenGL</a:t>
            </a:r>
            <a:r>
              <a:rPr lang="zh-CN" altLang="en-US" dirty="0"/>
              <a:t>中的图元</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31</a:t>
            </a:fld>
            <a:endParaRPr lang="zh-CN" altLang="en-US"/>
          </a:p>
        </p:txBody>
      </p:sp>
      <p:sp>
        <p:nvSpPr>
          <p:cNvPr id="3" name="内容占位符 2"/>
          <p:cNvSpPr>
            <a:spLocks noGrp="1"/>
          </p:cNvSpPr>
          <p:nvPr>
            <p:ph idx="4294967295"/>
          </p:nvPr>
        </p:nvSpPr>
        <p:spPr>
          <a:xfrm>
            <a:off x="527580" y="1494942"/>
            <a:ext cx="5728440" cy="4352925"/>
          </a:xfrm>
        </p:spPr>
        <p:txBody>
          <a:bodyPr/>
          <a:lstStyle/>
          <a:p>
            <a:pPr>
              <a:buClr>
                <a:srgbClr val="94003F"/>
              </a:buClr>
            </a:pPr>
            <a:r>
              <a:rPr lang="zh-CN" altLang="en-US" sz="2400" dirty="0"/>
              <a:t>图元（</a:t>
            </a:r>
            <a:r>
              <a:rPr lang="en-US" altLang="zh-CN" sz="2400" dirty="0"/>
              <a:t>Primitives</a:t>
            </a:r>
            <a:r>
              <a:rPr lang="zh-CN" altLang="en-US" sz="2400" dirty="0"/>
              <a:t>）的概念</a:t>
            </a:r>
          </a:p>
          <a:p>
            <a:pPr lvl="1">
              <a:buClr>
                <a:schemeClr val="tx1"/>
              </a:buClr>
            </a:pPr>
            <a:r>
              <a:rPr lang="zh-CN" altLang="en-US" sz="1800" dirty="0"/>
              <a:t>显卡处理流水线</a:t>
            </a:r>
            <a:r>
              <a:rPr lang="zh-CN" altLang="en-US" sz="1800" b="1" dirty="0">
                <a:solidFill>
                  <a:srgbClr val="464DD9"/>
                </a:solidFill>
              </a:rPr>
              <a:t>能够理解</a:t>
            </a:r>
            <a:r>
              <a:rPr lang="zh-CN" altLang="en-US" sz="1800" dirty="0"/>
              <a:t>的</a:t>
            </a:r>
            <a:r>
              <a:rPr lang="zh-CN" altLang="en-US" sz="1800" dirty="0">
                <a:highlight>
                  <a:srgbClr val="FFFF00"/>
                </a:highlight>
              </a:rPr>
              <a:t>几何与图像数据</a:t>
            </a:r>
            <a:r>
              <a:rPr lang="zh-CN" altLang="en-US" sz="1800" dirty="0"/>
              <a:t>单元分为</a:t>
            </a:r>
            <a:r>
              <a:rPr lang="zh-CN" altLang="en-US" sz="1800" dirty="0">
                <a:solidFill>
                  <a:srgbClr val="00B050"/>
                </a:solidFill>
              </a:rPr>
              <a:t>几何图元</a:t>
            </a:r>
            <a:r>
              <a:rPr lang="zh-CN" altLang="en-US" sz="1800" dirty="0"/>
              <a:t>与</a:t>
            </a:r>
            <a:r>
              <a:rPr lang="zh-CN" altLang="en-US" sz="1800" dirty="0">
                <a:solidFill>
                  <a:srgbClr val="00B050"/>
                </a:solidFill>
              </a:rPr>
              <a:t>光栅图元</a:t>
            </a:r>
            <a:r>
              <a:rPr lang="zh-CN" altLang="en-US" sz="1800" dirty="0"/>
              <a:t>两类</a:t>
            </a:r>
            <a:endParaRPr lang="en-US" altLang="zh-CN" sz="1800" dirty="0"/>
          </a:p>
          <a:p>
            <a:pPr lvl="1" algn="r">
              <a:buClr>
                <a:schemeClr val="tx1"/>
              </a:buClr>
            </a:pPr>
            <a:r>
              <a:rPr lang="zh-CN" altLang="en-US" sz="1800" dirty="0"/>
              <a:t>点、线段、三角形、多边形及其组合方式、</a:t>
            </a:r>
            <a:r>
              <a:rPr lang="zh-CN" altLang="en-US" sz="1800" dirty="0">
                <a:highlight>
                  <a:srgbClr val="FFFF00"/>
                </a:highlight>
              </a:rPr>
              <a:t>文字</a:t>
            </a:r>
            <a:r>
              <a:rPr lang="zh-CN" altLang="en-US" sz="1800" dirty="0"/>
              <a:t>等在</a:t>
            </a:r>
            <a:r>
              <a:rPr lang="en-US" altLang="zh-CN" sz="1800" dirty="0"/>
              <a:t>OpenGL</a:t>
            </a:r>
            <a:r>
              <a:rPr lang="zh-CN" altLang="en-US" sz="1800" dirty="0"/>
              <a:t>中有特定的数据类型与之对应</a:t>
            </a: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zh-CN" altLang="en-US" sz="1800" dirty="0"/>
          </a:p>
          <a:p>
            <a:pPr>
              <a:buClr>
                <a:srgbClr val="94003F"/>
              </a:buClr>
            </a:pPr>
            <a:r>
              <a:rPr lang="zh-CN" altLang="en-US" sz="2400" dirty="0"/>
              <a:t>图元的处理流水线：</a:t>
            </a:r>
            <a:endParaRPr lang="en-US" altLang="zh-CN" sz="2400" dirty="0"/>
          </a:p>
          <a:p>
            <a:pPr>
              <a:buClr>
                <a:srgbClr val="94003F"/>
              </a:buClr>
            </a:pPr>
            <a:endParaRPr lang="en-US" altLang="zh-CN" sz="2400" dirty="0"/>
          </a:p>
          <a:p>
            <a:pPr>
              <a:buClr>
                <a:srgbClr val="94003F"/>
              </a:buClr>
            </a:pPr>
            <a:endParaRPr lang="en-US" altLang="zh-CN" sz="2400" dirty="0"/>
          </a:p>
          <a:p>
            <a:endParaRPr lang="zh-CN" altLang="en-US" dirty="0"/>
          </a:p>
        </p:txBody>
      </p:sp>
      <p:pic>
        <p:nvPicPr>
          <p:cNvPr id="6" name="图片 5"/>
          <p:cNvPicPr>
            <a:picLocks noChangeAspect="1"/>
          </p:cNvPicPr>
          <p:nvPr/>
        </p:nvPicPr>
        <p:blipFill>
          <a:blip r:embed="rId2"/>
          <a:stretch>
            <a:fillRect/>
          </a:stretch>
        </p:blipFill>
        <p:spPr>
          <a:xfrm>
            <a:off x="1218216" y="3241726"/>
            <a:ext cx="3436620" cy="885345"/>
          </a:xfrm>
          <a:prstGeom prst="rect">
            <a:avLst/>
          </a:prstGeom>
        </p:spPr>
      </p:pic>
      <p:pic>
        <p:nvPicPr>
          <p:cNvPr id="7" name="图片 6"/>
          <p:cNvPicPr>
            <a:picLocks noChangeAspect="1"/>
          </p:cNvPicPr>
          <p:nvPr/>
        </p:nvPicPr>
        <p:blipFill>
          <a:blip r:embed="rId3"/>
          <a:stretch>
            <a:fillRect/>
          </a:stretch>
        </p:blipFill>
        <p:spPr>
          <a:xfrm>
            <a:off x="4844654" y="3210592"/>
            <a:ext cx="3530050" cy="916479"/>
          </a:xfrm>
          <a:prstGeom prst="rect">
            <a:avLst/>
          </a:prstGeom>
        </p:spPr>
      </p:pic>
      <p:pic>
        <p:nvPicPr>
          <p:cNvPr id="8" name="图片 7"/>
          <p:cNvPicPr>
            <a:picLocks noChangeAspect="1"/>
          </p:cNvPicPr>
          <p:nvPr/>
        </p:nvPicPr>
        <p:blipFill>
          <a:blip r:embed="rId4"/>
          <a:stretch>
            <a:fillRect/>
          </a:stretch>
        </p:blipFill>
        <p:spPr>
          <a:xfrm>
            <a:off x="6549757" y="2030404"/>
            <a:ext cx="1492064" cy="819859"/>
          </a:xfrm>
          <a:prstGeom prst="rect">
            <a:avLst/>
          </a:prstGeom>
        </p:spPr>
      </p:pic>
      <p:grpSp>
        <p:nvGrpSpPr>
          <p:cNvPr id="19" name="Group 18"/>
          <p:cNvGrpSpPr/>
          <p:nvPr/>
        </p:nvGrpSpPr>
        <p:grpSpPr>
          <a:xfrm>
            <a:off x="1030115" y="4724400"/>
            <a:ext cx="7249441" cy="2157750"/>
            <a:chOff x="545232" y="4512620"/>
            <a:chExt cx="7969014" cy="2371927"/>
          </a:xfrm>
        </p:grpSpPr>
        <p:pic>
          <p:nvPicPr>
            <p:cNvPr id="9" name="Picture 2" descr="E:\CG\交互式计算机图形学—基于OpenGL着色器的自顶向下方法（第六版）\Figures\CHAPTER02 JPEG\an02f06.jpg"/>
            <p:cNvPicPr>
              <a:picLocks noChangeAspect="1" noChangeArrowheads="1"/>
            </p:cNvPicPr>
            <p:nvPr/>
          </p:nvPicPr>
          <p:blipFill>
            <a:blip r:embed="rId5" cstate="print"/>
            <a:srcRect/>
            <a:stretch>
              <a:fillRect/>
            </a:stretch>
          </p:blipFill>
          <p:spPr bwMode="auto">
            <a:xfrm>
              <a:off x="545232" y="4512620"/>
              <a:ext cx="7906756" cy="2051442"/>
            </a:xfrm>
            <a:prstGeom prst="rect">
              <a:avLst/>
            </a:prstGeom>
            <a:noFill/>
          </p:spPr>
        </p:pic>
        <p:sp>
          <p:nvSpPr>
            <p:cNvPr id="10" name="矩形 5"/>
            <p:cNvSpPr/>
            <p:nvPr/>
          </p:nvSpPr>
          <p:spPr>
            <a:xfrm>
              <a:off x="2951349" y="4587995"/>
              <a:ext cx="1837513" cy="369332"/>
            </a:xfrm>
            <a:prstGeom prst="rect">
              <a:avLst/>
            </a:prstGeom>
          </p:spPr>
          <p:txBody>
            <a:bodyPr wrap="square">
              <a:spAutoFit/>
            </a:bodyPr>
            <a:lstStyle/>
            <a:p>
              <a:r>
                <a:rPr lang="zh-CN" altLang="en-US" sz="1600" dirty="0">
                  <a:highlight>
                    <a:srgbClr val="FFFF00"/>
                  </a:highlight>
                </a:rPr>
                <a:t>几何处理</a:t>
              </a:r>
              <a:r>
                <a:rPr lang="zh-CN" altLang="en-US" sz="1600" dirty="0"/>
                <a:t>流水线</a:t>
              </a:r>
            </a:p>
          </p:txBody>
        </p:sp>
        <p:sp>
          <p:nvSpPr>
            <p:cNvPr id="11" name="矩形 6"/>
            <p:cNvSpPr/>
            <p:nvPr/>
          </p:nvSpPr>
          <p:spPr>
            <a:xfrm>
              <a:off x="7411094" y="6070304"/>
              <a:ext cx="1103152" cy="369332"/>
            </a:xfrm>
            <a:prstGeom prst="rect">
              <a:avLst/>
            </a:prstGeom>
          </p:spPr>
          <p:txBody>
            <a:bodyPr wrap="square">
              <a:spAutoFit/>
            </a:bodyPr>
            <a:lstStyle/>
            <a:p>
              <a:r>
                <a:rPr lang="zh-CN" altLang="en-US" sz="1600" dirty="0"/>
                <a:t>帧缓冲区</a:t>
              </a:r>
            </a:p>
          </p:txBody>
        </p:sp>
        <p:sp>
          <p:nvSpPr>
            <p:cNvPr id="12" name="TextBox 11"/>
            <p:cNvSpPr txBox="1"/>
            <p:nvPr/>
          </p:nvSpPr>
          <p:spPr>
            <a:xfrm>
              <a:off x="7812092" y="5867777"/>
              <a:ext cx="291939" cy="307777"/>
            </a:xfrm>
            <a:prstGeom prst="rect">
              <a:avLst/>
            </a:prstGeom>
            <a:noFill/>
          </p:spPr>
          <p:txBody>
            <a:bodyPr wrap="none" rtlCol="0">
              <a:spAutoFit/>
            </a:bodyPr>
            <a:lstStyle/>
            <a:p>
              <a:r>
                <a:rPr lang="en-US" altLang="zh-CN" sz="1400" dirty="0"/>
                <a:t>ff</a:t>
              </a:r>
              <a:endParaRPr lang="zh-CN" altLang="en-US" sz="1400" dirty="0"/>
            </a:p>
          </p:txBody>
        </p:sp>
        <p:sp>
          <p:nvSpPr>
            <p:cNvPr id="13" name="矩形 8"/>
            <p:cNvSpPr/>
            <p:nvPr/>
          </p:nvSpPr>
          <p:spPr>
            <a:xfrm>
              <a:off x="3271089" y="5986695"/>
              <a:ext cx="1107996" cy="369332"/>
            </a:xfrm>
            <a:prstGeom prst="rect">
              <a:avLst/>
            </a:prstGeom>
          </p:spPr>
          <p:txBody>
            <a:bodyPr wrap="none">
              <a:spAutoFit/>
            </a:bodyPr>
            <a:lstStyle/>
            <a:p>
              <a:r>
                <a:rPr lang="zh-CN" altLang="en-US" sz="1600" dirty="0"/>
                <a:t>像素操作</a:t>
              </a:r>
            </a:p>
          </p:txBody>
        </p:sp>
        <p:sp>
          <p:nvSpPr>
            <p:cNvPr id="14" name="矩形 10"/>
            <p:cNvSpPr/>
            <p:nvPr/>
          </p:nvSpPr>
          <p:spPr>
            <a:xfrm>
              <a:off x="3694172" y="5330075"/>
              <a:ext cx="646331" cy="369332"/>
            </a:xfrm>
            <a:prstGeom prst="rect">
              <a:avLst/>
            </a:prstGeom>
          </p:spPr>
          <p:txBody>
            <a:bodyPr wrap="none">
              <a:spAutoFit/>
            </a:bodyPr>
            <a:lstStyle/>
            <a:p>
              <a:r>
                <a:rPr lang="zh-CN" altLang="en-US" sz="1600" dirty="0"/>
                <a:t>投影</a:t>
              </a:r>
            </a:p>
          </p:txBody>
        </p:sp>
        <p:sp>
          <p:nvSpPr>
            <p:cNvPr id="15" name="矩形 11"/>
            <p:cNvSpPr/>
            <p:nvPr/>
          </p:nvSpPr>
          <p:spPr>
            <a:xfrm>
              <a:off x="4878418" y="5365029"/>
              <a:ext cx="646331" cy="369332"/>
            </a:xfrm>
            <a:prstGeom prst="rect">
              <a:avLst/>
            </a:prstGeom>
          </p:spPr>
          <p:txBody>
            <a:bodyPr wrap="none">
              <a:spAutoFit/>
            </a:bodyPr>
            <a:lstStyle/>
            <a:p>
              <a:r>
                <a:rPr lang="zh-CN" altLang="en-US" sz="1600" dirty="0"/>
                <a:t>剪裁</a:t>
              </a:r>
            </a:p>
          </p:txBody>
        </p:sp>
        <p:sp>
          <p:nvSpPr>
            <p:cNvPr id="16" name="矩形 12"/>
            <p:cNvSpPr/>
            <p:nvPr/>
          </p:nvSpPr>
          <p:spPr>
            <a:xfrm>
              <a:off x="2344943" y="5323084"/>
              <a:ext cx="646331" cy="369332"/>
            </a:xfrm>
            <a:prstGeom prst="rect">
              <a:avLst/>
            </a:prstGeom>
          </p:spPr>
          <p:txBody>
            <a:bodyPr wrap="none">
              <a:spAutoFit/>
            </a:bodyPr>
            <a:lstStyle/>
            <a:p>
              <a:r>
                <a:rPr lang="zh-CN" altLang="en-US" sz="1600" dirty="0"/>
                <a:t>变换</a:t>
              </a:r>
            </a:p>
          </p:txBody>
        </p:sp>
        <p:sp>
          <p:nvSpPr>
            <p:cNvPr id="17" name="矩形 13"/>
            <p:cNvSpPr/>
            <p:nvPr/>
          </p:nvSpPr>
          <p:spPr>
            <a:xfrm>
              <a:off x="6284413" y="6021665"/>
              <a:ext cx="646331" cy="369332"/>
            </a:xfrm>
            <a:prstGeom prst="rect">
              <a:avLst/>
            </a:prstGeom>
          </p:spPr>
          <p:txBody>
            <a:bodyPr wrap="none">
              <a:spAutoFit/>
            </a:bodyPr>
            <a:lstStyle/>
            <a:p>
              <a:r>
                <a:rPr lang="zh-CN" altLang="en-US" sz="1600" dirty="0"/>
                <a:t>光栅</a:t>
              </a:r>
            </a:p>
          </p:txBody>
        </p:sp>
        <p:sp>
          <p:nvSpPr>
            <p:cNvPr id="18" name="矩形 14"/>
            <p:cNvSpPr/>
            <p:nvPr/>
          </p:nvSpPr>
          <p:spPr>
            <a:xfrm>
              <a:off x="3190911" y="6515215"/>
              <a:ext cx="1338828" cy="369332"/>
            </a:xfrm>
            <a:prstGeom prst="rect">
              <a:avLst/>
            </a:prstGeom>
          </p:spPr>
          <p:txBody>
            <a:bodyPr wrap="none">
              <a:spAutoFit/>
            </a:bodyPr>
            <a:lstStyle/>
            <a:p>
              <a:r>
                <a:rPr lang="zh-CN" altLang="en-US" sz="1600" dirty="0"/>
                <a:t>像素流水线</a:t>
              </a:r>
            </a:p>
          </p:txBody>
        </p:sp>
      </p:grpSp>
    </p:spTree>
    <p:extLst>
      <p:ext uri="{BB962C8B-B14F-4D97-AF65-F5344CB8AC3E}">
        <p14:creationId xmlns:p14="http://schemas.microsoft.com/office/powerpoint/2010/main" val="237695482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图元的种类及用法</a:t>
            </a:r>
          </a:p>
        </p:txBody>
      </p:sp>
      <p:sp>
        <p:nvSpPr>
          <p:cNvPr id="3" name="内容占位符 2"/>
          <p:cNvSpPr>
            <a:spLocks noGrp="1"/>
          </p:cNvSpPr>
          <p:nvPr>
            <p:ph idx="1"/>
          </p:nvPr>
        </p:nvSpPr>
        <p:spPr>
          <a:xfrm>
            <a:off x="628650" y="1316830"/>
            <a:ext cx="7886700" cy="5609749"/>
          </a:xfrm>
        </p:spPr>
        <p:txBody>
          <a:bodyPr>
            <a:normAutofit/>
          </a:bodyPr>
          <a:lstStyle/>
          <a:p>
            <a:pPr>
              <a:buClr>
                <a:srgbClr val="94003F"/>
              </a:buClr>
            </a:pPr>
            <a:r>
              <a:rPr lang="zh-CN" altLang="en-US" sz="2400" dirty="0"/>
              <a:t>点图元</a:t>
            </a:r>
          </a:p>
          <a:p>
            <a:pPr lvl="1">
              <a:buClr>
                <a:schemeClr val="tx1"/>
              </a:buClr>
            </a:pPr>
            <a:r>
              <a:rPr lang="en-US" altLang="zh-CN" sz="1800" dirty="0"/>
              <a:t>GL_POINTS</a:t>
            </a:r>
          </a:p>
          <a:p>
            <a:pPr lvl="1">
              <a:buClr>
                <a:schemeClr val="tx1"/>
              </a:buClr>
            </a:pPr>
            <a:endParaRPr lang="en-US" altLang="zh-CN" sz="1800" dirty="0"/>
          </a:p>
          <a:p>
            <a:r>
              <a:rPr lang="zh-CN" altLang="en-US" sz="2400" dirty="0"/>
              <a:t>多边形图元：</a:t>
            </a:r>
          </a:p>
          <a:p>
            <a:pPr lvl="1">
              <a:buClr>
                <a:schemeClr val="tx1"/>
              </a:buClr>
            </a:pPr>
            <a:r>
              <a:rPr lang="en-US" altLang="zh-CN" sz="1800" dirty="0"/>
              <a:t>GL_TRIANGLES</a:t>
            </a:r>
          </a:p>
          <a:p>
            <a:pPr lvl="1">
              <a:buClr>
                <a:schemeClr val="tx1"/>
              </a:buClr>
            </a:pPr>
            <a:r>
              <a:rPr lang="en-US" altLang="zh-CN" sz="1800" dirty="0"/>
              <a:t>GL_TRIANGLE_</a:t>
            </a:r>
            <a:r>
              <a:rPr lang="en-US" altLang="zh-CN" sz="1800" dirty="0">
                <a:highlight>
                  <a:srgbClr val="FFFF00"/>
                </a:highlight>
              </a:rPr>
              <a:t>SRTIP</a:t>
            </a:r>
          </a:p>
          <a:p>
            <a:pPr lvl="1">
              <a:buClr>
                <a:schemeClr val="tx1"/>
              </a:buClr>
            </a:pPr>
            <a:r>
              <a:rPr lang="en-US" altLang="zh-CN" sz="1800" dirty="0"/>
              <a:t>GL_TRIANGLE_FAN</a:t>
            </a:r>
          </a:p>
          <a:p>
            <a:pPr lvl="1">
              <a:buClr>
                <a:schemeClr val="tx1"/>
              </a:buClr>
            </a:pPr>
            <a:r>
              <a:rPr lang="en-US" altLang="zh-CN" sz="1800" dirty="0"/>
              <a:t>GL_</a:t>
            </a:r>
            <a:r>
              <a:rPr lang="en-US" altLang="zh-CN" sz="1800" dirty="0">
                <a:highlight>
                  <a:srgbClr val="FFFF00"/>
                </a:highlight>
              </a:rPr>
              <a:t>QUADS</a:t>
            </a:r>
          </a:p>
          <a:p>
            <a:pPr lvl="1">
              <a:buClr>
                <a:schemeClr val="tx1"/>
              </a:buClr>
            </a:pPr>
            <a:r>
              <a:rPr lang="en-US" altLang="zh-CN" sz="1800" dirty="0"/>
              <a:t>GL_QUAD_STRIP</a:t>
            </a:r>
          </a:p>
          <a:p>
            <a:pPr lvl="1">
              <a:buClr>
                <a:schemeClr val="tx1"/>
              </a:buClr>
            </a:pPr>
            <a:r>
              <a:rPr lang="en-US" altLang="zh-CN" sz="1800" dirty="0"/>
              <a:t>GL_POLYGON</a:t>
            </a:r>
          </a:p>
          <a:p>
            <a:pPr lvl="1">
              <a:buClr>
                <a:schemeClr val="tx1"/>
              </a:buClr>
            </a:pPr>
            <a:endParaRPr lang="en-US" altLang="zh-CN" sz="1800" dirty="0"/>
          </a:p>
          <a:p>
            <a:r>
              <a:rPr lang="zh-CN" altLang="en-US" sz="2400" dirty="0"/>
              <a:t>多边形图元的绘制：</a:t>
            </a:r>
          </a:p>
          <a:p>
            <a:pPr lvl="1">
              <a:buClr>
                <a:schemeClr val="tx1"/>
              </a:buClr>
            </a:pPr>
            <a:r>
              <a:rPr lang="zh-CN" altLang="en-US" sz="1800" dirty="0"/>
              <a:t>平面多边形</a:t>
            </a:r>
            <a:endParaRPr lang="en-US" altLang="zh-CN" sz="1800" dirty="0"/>
          </a:p>
          <a:p>
            <a:pPr lvl="1">
              <a:buClr>
                <a:schemeClr val="tx1"/>
              </a:buClr>
            </a:pPr>
            <a:r>
              <a:rPr lang="zh-CN" altLang="en-US" sz="1800" dirty="0"/>
              <a:t>简单多边形</a:t>
            </a:r>
            <a:endParaRPr lang="en-US" altLang="zh-CN" sz="1800" dirty="0"/>
          </a:p>
          <a:p>
            <a:pPr lvl="1">
              <a:buClr>
                <a:schemeClr val="tx1"/>
              </a:buClr>
            </a:pPr>
            <a:r>
              <a:rPr lang="zh-CN" altLang="en-US" sz="1800" dirty="0"/>
              <a:t>凸多边形</a:t>
            </a:r>
            <a:endParaRPr lang="en-US" altLang="zh-CN" sz="1800"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32</a:t>
            </a:fld>
            <a:endParaRPr lang="zh-CN" altLang="en-US"/>
          </a:p>
        </p:txBody>
      </p:sp>
      <p:pic>
        <p:nvPicPr>
          <p:cNvPr id="7" name="图片 6"/>
          <p:cNvPicPr>
            <a:picLocks noChangeAspect="1"/>
          </p:cNvPicPr>
          <p:nvPr/>
        </p:nvPicPr>
        <p:blipFill>
          <a:blip r:embed="rId2"/>
          <a:stretch>
            <a:fillRect/>
          </a:stretch>
        </p:blipFill>
        <p:spPr>
          <a:xfrm>
            <a:off x="4098471" y="2258472"/>
            <a:ext cx="3940434" cy="2587715"/>
          </a:xfrm>
          <a:prstGeom prst="rect">
            <a:avLst/>
          </a:prstGeom>
        </p:spPr>
      </p:pic>
      <p:pic>
        <p:nvPicPr>
          <p:cNvPr id="8" name="图片 7"/>
          <p:cNvPicPr>
            <a:picLocks noChangeAspect="1"/>
          </p:cNvPicPr>
          <p:nvPr/>
        </p:nvPicPr>
        <p:blipFill>
          <a:blip r:embed="rId3"/>
          <a:stretch>
            <a:fillRect/>
          </a:stretch>
        </p:blipFill>
        <p:spPr>
          <a:xfrm>
            <a:off x="4098471" y="964560"/>
            <a:ext cx="1245750" cy="1211463"/>
          </a:xfrm>
          <a:prstGeom prst="rect">
            <a:avLst/>
          </a:prstGeom>
        </p:spPr>
      </p:pic>
      <p:pic>
        <p:nvPicPr>
          <p:cNvPr id="9" name="图片 8"/>
          <p:cNvPicPr>
            <a:picLocks noChangeAspect="1"/>
          </p:cNvPicPr>
          <p:nvPr/>
        </p:nvPicPr>
        <p:blipFill>
          <a:blip r:embed="rId4"/>
          <a:stretch>
            <a:fillRect/>
          </a:stretch>
        </p:blipFill>
        <p:spPr>
          <a:xfrm>
            <a:off x="4098471" y="5042211"/>
            <a:ext cx="1317754" cy="1322816"/>
          </a:xfrm>
          <a:prstGeom prst="rect">
            <a:avLst/>
          </a:prstGeom>
        </p:spPr>
      </p:pic>
      <p:pic>
        <p:nvPicPr>
          <p:cNvPr id="10" name="图片 9"/>
          <p:cNvPicPr>
            <a:picLocks noChangeAspect="1"/>
          </p:cNvPicPr>
          <p:nvPr/>
        </p:nvPicPr>
        <p:blipFill>
          <a:blip r:embed="rId5"/>
          <a:stretch>
            <a:fillRect/>
          </a:stretch>
        </p:blipFill>
        <p:spPr>
          <a:xfrm>
            <a:off x="5679428" y="5038522"/>
            <a:ext cx="1323737" cy="1326505"/>
          </a:xfrm>
          <a:prstGeom prst="rect">
            <a:avLst/>
          </a:prstGeom>
        </p:spPr>
      </p:pic>
      <p:pic>
        <p:nvPicPr>
          <p:cNvPr id="11" name="图片 10"/>
          <p:cNvPicPr>
            <a:picLocks noChangeAspect="1"/>
          </p:cNvPicPr>
          <p:nvPr/>
        </p:nvPicPr>
        <p:blipFill>
          <a:blip r:embed="rId6"/>
          <a:stretch>
            <a:fillRect/>
          </a:stretch>
        </p:blipFill>
        <p:spPr>
          <a:xfrm>
            <a:off x="7285143" y="5123878"/>
            <a:ext cx="1310200" cy="1059220"/>
          </a:xfrm>
          <a:prstGeom prst="rect">
            <a:avLst/>
          </a:prstGeom>
        </p:spPr>
      </p:pic>
      <p:sp>
        <p:nvSpPr>
          <p:cNvPr id="5" name="文本框 4"/>
          <p:cNvSpPr txBox="1"/>
          <p:nvPr/>
        </p:nvSpPr>
        <p:spPr>
          <a:xfrm>
            <a:off x="5599435" y="6180361"/>
            <a:ext cx="1206795" cy="369332"/>
          </a:xfrm>
          <a:prstGeom prst="rect">
            <a:avLst/>
          </a:prstGeom>
          <a:noFill/>
        </p:spPr>
        <p:txBody>
          <a:bodyPr wrap="square" rtlCol="0">
            <a:spAutoFit/>
          </a:bodyPr>
          <a:lstStyle/>
          <a:p>
            <a:r>
              <a:rPr lang="zh-CN" altLang="en-US" dirty="0"/>
              <a:t>凸多边形</a:t>
            </a:r>
          </a:p>
        </p:txBody>
      </p:sp>
      <p:sp>
        <p:nvSpPr>
          <p:cNvPr id="12" name="文本框 11"/>
          <p:cNvSpPr txBox="1"/>
          <p:nvPr/>
        </p:nvSpPr>
        <p:spPr>
          <a:xfrm>
            <a:off x="7134637" y="6180361"/>
            <a:ext cx="1611212" cy="369332"/>
          </a:xfrm>
          <a:prstGeom prst="rect">
            <a:avLst/>
          </a:prstGeom>
          <a:noFill/>
        </p:spPr>
        <p:txBody>
          <a:bodyPr wrap="square" rtlCol="0">
            <a:spAutoFit/>
          </a:bodyPr>
          <a:lstStyle/>
          <a:p>
            <a:r>
              <a:rPr lang="zh-CN" altLang="en-US" dirty="0"/>
              <a:t>非简单多边形</a:t>
            </a:r>
          </a:p>
        </p:txBody>
      </p:sp>
    </p:spTree>
    <p:extLst>
      <p:ext uri="{BB962C8B-B14F-4D97-AF65-F5344CB8AC3E}">
        <p14:creationId xmlns:p14="http://schemas.microsoft.com/office/powerpoint/2010/main" val="273769102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多边形近似与三角剖分</a:t>
            </a:r>
          </a:p>
        </p:txBody>
      </p:sp>
      <p:sp>
        <p:nvSpPr>
          <p:cNvPr id="3" name="内容占位符 2"/>
          <p:cNvSpPr>
            <a:spLocks noGrp="1"/>
          </p:cNvSpPr>
          <p:nvPr>
            <p:ph idx="1"/>
          </p:nvPr>
        </p:nvSpPr>
        <p:spPr/>
        <p:txBody>
          <a:bodyPr>
            <a:normAutofit/>
          </a:bodyPr>
          <a:lstStyle/>
          <a:p>
            <a:pPr>
              <a:buClr>
                <a:srgbClr val="94003F"/>
              </a:buClr>
            </a:pPr>
            <a:r>
              <a:rPr lang="zh-CN" altLang="en-US" sz="2400" dirty="0"/>
              <a:t>多边形</a:t>
            </a:r>
            <a:r>
              <a:rPr lang="zh-CN" altLang="en-US" sz="2400" dirty="0">
                <a:highlight>
                  <a:srgbClr val="FFFF00"/>
                </a:highlight>
              </a:rPr>
              <a:t>近似</a:t>
            </a:r>
            <a:r>
              <a:rPr lang="zh-CN" altLang="en-US" sz="2400" dirty="0"/>
              <a:t>球面</a:t>
            </a:r>
          </a:p>
          <a:p>
            <a:pPr marL="457200" lvl="1" indent="0">
              <a:buClr>
                <a:schemeClr val="tx1"/>
              </a:buClr>
              <a:buNone/>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marL="0" indent="0">
              <a:buNone/>
            </a:pPr>
            <a:endParaRPr lang="en-US" altLang="zh-CN" sz="2400" dirty="0"/>
          </a:p>
          <a:p>
            <a:r>
              <a:rPr lang="zh-CN" altLang="en-US" sz="2400" dirty="0"/>
              <a:t>（平面</a:t>
            </a:r>
            <a:r>
              <a:rPr lang="en-US" altLang="zh-CN" sz="2400" dirty="0"/>
              <a:t>/</a:t>
            </a:r>
            <a:r>
              <a:rPr lang="zh-CN" altLang="en-US" sz="2400" dirty="0"/>
              <a:t>曲面）</a:t>
            </a:r>
            <a:r>
              <a:rPr lang="zh-CN" altLang="en-US" sz="2400" dirty="0">
                <a:highlight>
                  <a:srgbClr val="FFFF00"/>
                </a:highlight>
              </a:rPr>
              <a:t>三角剖分</a:t>
            </a:r>
            <a:r>
              <a:rPr lang="en-US" altLang="zh-CN" sz="2400" dirty="0">
                <a:highlight>
                  <a:srgbClr val="FFFF00"/>
                </a:highlight>
              </a:rPr>
              <a:t>(Triangulation)</a:t>
            </a:r>
            <a:r>
              <a:rPr lang="zh-CN" altLang="en-US" sz="2400" dirty="0">
                <a:highlight>
                  <a:srgbClr val="FFFF00"/>
                </a:highlight>
              </a:rPr>
              <a:t>：</a:t>
            </a:r>
          </a:p>
          <a:p>
            <a:pPr lvl="1">
              <a:buClr>
                <a:schemeClr val="tx1"/>
              </a:buClr>
            </a:pPr>
            <a:r>
              <a:rPr lang="zh-CN" altLang="en-US" sz="1800" dirty="0"/>
              <a:t>多边形三角剖分：解决复杂</a:t>
            </a:r>
            <a:r>
              <a:rPr lang="zh-CN" altLang="en-US" sz="1800" dirty="0">
                <a:highlight>
                  <a:srgbClr val="FFFF00"/>
                </a:highlight>
              </a:rPr>
              <a:t>非凸多边形</a:t>
            </a:r>
            <a:r>
              <a:rPr lang="zh-CN" altLang="en-US" sz="1800" dirty="0"/>
              <a:t>的绘制问题</a:t>
            </a:r>
            <a:endParaRPr lang="en-US" altLang="zh-CN" sz="1800" dirty="0"/>
          </a:p>
          <a:p>
            <a:pPr lvl="1">
              <a:buClr>
                <a:schemeClr val="tx1"/>
              </a:buClr>
            </a:pPr>
            <a:r>
              <a:rPr lang="en-US" altLang="zh-CN" sz="1800" dirty="0"/>
              <a:t>Delaunay</a:t>
            </a:r>
            <a:r>
              <a:rPr lang="zh-CN" altLang="en-US" sz="1800" dirty="0"/>
              <a:t>三角剖分：点到面的</a:t>
            </a:r>
            <a:r>
              <a:rPr lang="zh-CN" altLang="en-US" sz="1800" dirty="0">
                <a:highlight>
                  <a:srgbClr val="FFFF00"/>
                </a:highlight>
              </a:rPr>
              <a:t>“最优”算法</a:t>
            </a:r>
            <a:endParaRPr lang="en-US" altLang="zh-CN" sz="1800" dirty="0">
              <a:highlight>
                <a:srgbClr val="FFFF00"/>
              </a:highlight>
            </a:endParaRPr>
          </a:p>
          <a:p>
            <a:pPr lvl="1">
              <a:buClr>
                <a:schemeClr val="tx1"/>
              </a:buClr>
            </a:pPr>
            <a:r>
              <a:rPr lang="zh-CN" altLang="en-US" sz="1800" dirty="0"/>
              <a:t>曲面细分：将多边形剖分为多边形网格</a:t>
            </a:r>
            <a:endParaRPr lang="en-US" altLang="zh-CN" sz="1800" dirty="0"/>
          </a:p>
          <a:p>
            <a:pPr lvl="1">
              <a:buClr>
                <a:schemeClr val="tx1"/>
              </a:buClr>
            </a:pPr>
            <a:endParaRPr lang="en-US" altLang="zh-CN" sz="1800"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33</a:t>
            </a:fld>
            <a:endParaRPr lang="zh-CN" altLang="en-US"/>
          </a:p>
        </p:txBody>
      </p:sp>
      <p:sp>
        <p:nvSpPr>
          <p:cNvPr id="12" name="矩形 11"/>
          <p:cNvSpPr/>
          <p:nvPr/>
        </p:nvSpPr>
        <p:spPr>
          <a:xfrm>
            <a:off x="1284612" y="1902170"/>
            <a:ext cx="2772314" cy="1200329"/>
          </a:xfrm>
          <a:prstGeom prst="rect">
            <a:avLst/>
          </a:prstGeom>
          <a:solidFill>
            <a:srgbClr val="BDD7EE">
              <a:alpha val="52941"/>
            </a:srgbClr>
          </a:solidFill>
        </p:spPr>
        <p:txBody>
          <a:bodyPr wrap="square">
            <a:spAutoFit/>
          </a:bodyPr>
          <a:lstStyle/>
          <a:p>
            <a:r>
              <a:rPr lang="es-ES" altLang="zh-CN" sz="2400" i="1" dirty="0">
                <a:solidFill>
                  <a:srgbClr val="464DD9"/>
                </a:solidFill>
              </a:rPr>
              <a:t>x</a:t>
            </a:r>
            <a:r>
              <a:rPr lang="es-ES" altLang="zh-CN" sz="2400" i="1" dirty="0"/>
              <a:t>(θ </a:t>
            </a:r>
            <a:r>
              <a:rPr lang="es-ES" altLang="zh-CN" sz="2400" dirty="0"/>
              <a:t>, </a:t>
            </a:r>
            <a:r>
              <a:rPr lang="es-ES" altLang="zh-CN" sz="2400" i="1" dirty="0"/>
              <a:t>φ) </a:t>
            </a:r>
            <a:r>
              <a:rPr lang="es-ES" altLang="zh-CN" sz="2400" dirty="0"/>
              <a:t>= sin </a:t>
            </a:r>
            <a:r>
              <a:rPr lang="es-ES" altLang="zh-CN" sz="2400" i="1" dirty="0"/>
              <a:t>θ </a:t>
            </a:r>
            <a:r>
              <a:rPr lang="es-ES" altLang="zh-CN" sz="2400" dirty="0"/>
              <a:t>cos </a:t>
            </a:r>
            <a:r>
              <a:rPr lang="es-ES" altLang="zh-CN" sz="2400" i="1" dirty="0"/>
              <a:t>φ</a:t>
            </a:r>
          </a:p>
          <a:p>
            <a:r>
              <a:rPr lang="es-ES" altLang="zh-CN" sz="2400" i="1" dirty="0">
                <a:solidFill>
                  <a:srgbClr val="464DD9"/>
                </a:solidFill>
              </a:rPr>
              <a:t>y</a:t>
            </a:r>
            <a:r>
              <a:rPr lang="es-ES" altLang="zh-CN" sz="2400" i="1" dirty="0"/>
              <a:t>(θ </a:t>
            </a:r>
            <a:r>
              <a:rPr lang="es-ES" altLang="zh-CN" sz="2400" dirty="0"/>
              <a:t>, </a:t>
            </a:r>
            <a:r>
              <a:rPr lang="es-ES" altLang="zh-CN" sz="2400" i="1" dirty="0"/>
              <a:t>φ) </a:t>
            </a:r>
            <a:r>
              <a:rPr lang="es-ES" altLang="zh-CN" sz="2400" dirty="0"/>
              <a:t>= cos </a:t>
            </a:r>
            <a:r>
              <a:rPr lang="es-ES" altLang="zh-CN" sz="2400" i="1" dirty="0"/>
              <a:t>θ </a:t>
            </a:r>
            <a:r>
              <a:rPr lang="es-ES" altLang="zh-CN" sz="2400" dirty="0"/>
              <a:t>cos </a:t>
            </a:r>
            <a:r>
              <a:rPr lang="es-ES" altLang="zh-CN" sz="2400" i="1" dirty="0"/>
              <a:t>φ</a:t>
            </a:r>
          </a:p>
          <a:p>
            <a:r>
              <a:rPr lang="en-US" altLang="zh-CN" sz="2400" i="1" dirty="0">
                <a:solidFill>
                  <a:srgbClr val="464DD9"/>
                </a:solidFill>
              </a:rPr>
              <a:t>z</a:t>
            </a:r>
            <a:r>
              <a:rPr lang="en-US" altLang="zh-CN" sz="2400" i="1" dirty="0"/>
              <a:t>(</a:t>
            </a:r>
            <a:r>
              <a:rPr lang="el-GR" altLang="zh-CN" sz="2400" i="1" dirty="0"/>
              <a:t>θ </a:t>
            </a:r>
            <a:r>
              <a:rPr lang="el-GR" altLang="zh-CN" sz="2400" dirty="0"/>
              <a:t>, </a:t>
            </a:r>
            <a:r>
              <a:rPr lang="el-GR" altLang="zh-CN" sz="2400" i="1" dirty="0"/>
              <a:t>φ) </a:t>
            </a:r>
            <a:r>
              <a:rPr lang="el-GR" altLang="zh-CN" sz="2400" dirty="0"/>
              <a:t>= </a:t>
            </a:r>
            <a:r>
              <a:rPr lang="en-US" altLang="zh-CN" sz="2400" dirty="0"/>
              <a:t>sin </a:t>
            </a:r>
            <a:r>
              <a:rPr lang="el-GR" altLang="zh-CN" sz="2400" i="1" dirty="0"/>
              <a:t>φ</a:t>
            </a:r>
            <a:endParaRPr lang="zh-CN" altLang="en-US" sz="2400" dirty="0"/>
          </a:p>
        </p:txBody>
      </p:sp>
      <p:pic>
        <p:nvPicPr>
          <p:cNvPr id="5" name="图片 4"/>
          <p:cNvPicPr>
            <a:picLocks noChangeAspect="1"/>
          </p:cNvPicPr>
          <p:nvPr/>
        </p:nvPicPr>
        <p:blipFill rotWithShape="1">
          <a:blip r:embed="rId2"/>
          <a:srcRect r="58505"/>
          <a:stretch/>
        </p:blipFill>
        <p:spPr>
          <a:xfrm>
            <a:off x="987371" y="5033984"/>
            <a:ext cx="1796669" cy="1331867"/>
          </a:xfrm>
          <a:prstGeom prst="rect">
            <a:avLst/>
          </a:prstGeom>
        </p:spPr>
      </p:pic>
      <p:pic>
        <p:nvPicPr>
          <p:cNvPr id="7" name="图片 6"/>
          <p:cNvPicPr>
            <a:picLocks noChangeAspect="1"/>
          </p:cNvPicPr>
          <p:nvPr/>
        </p:nvPicPr>
        <p:blipFill rotWithShape="1">
          <a:blip r:embed="rId2"/>
          <a:srcRect l="58943"/>
          <a:stretch/>
        </p:blipFill>
        <p:spPr>
          <a:xfrm>
            <a:off x="2909817" y="5016111"/>
            <a:ext cx="1801548" cy="1349740"/>
          </a:xfrm>
          <a:prstGeom prst="rect">
            <a:avLst/>
          </a:prstGeom>
        </p:spPr>
      </p:pic>
      <p:pic>
        <p:nvPicPr>
          <p:cNvPr id="1026" name="Picture 2" descr="http://xlr8r.info/mPower/pages/img/pdt.gi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45744" y="4876944"/>
            <a:ext cx="1600148" cy="1600148"/>
          </a:xfrm>
          <a:prstGeom prst="rect">
            <a:avLst/>
          </a:prstGeom>
          <a:noFill/>
          <a:extLst>
            <a:ext uri="{909E8E84-426E-40DD-AFC4-6F175D3DCCD1}">
              <a14:hiddenFill xmlns:a14="http://schemas.microsoft.com/office/drawing/2010/main">
                <a:solidFill>
                  <a:srgbClr val="FFFFFF"/>
                </a:solidFill>
              </a14:hiddenFill>
            </a:ext>
          </a:extLst>
        </p:spPr>
      </p:pic>
      <p:sp>
        <p:nvSpPr>
          <p:cNvPr id="8" name="AutoShape 4" descr="https://encrypted-tbn3.gstatic.com/images?q=tbn:ANd9GcTlHiEm_Ya5Ga-n4rzTQ22DWQ1SPE4vyZgAAsXVPPO0cdLHusRQ"/>
          <p:cNvSpPr>
            <a:spLocks noChangeAspect="1" noChangeArrowheads="1"/>
          </p:cNvSpPr>
          <p:nvPr/>
        </p:nvSpPr>
        <p:spPr bwMode="auto">
          <a:xfrm>
            <a:off x="63500"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9" name="图片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80271" y="4921812"/>
            <a:ext cx="1420251" cy="1492713"/>
          </a:xfrm>
          <a:prstGeom prst="rect">
            <a:avLst/>
          </a:prstGeom>
        </p:spPr>
      </p:pic>
      <p:pic>
        <p:nvPicPr>
          <p:cNvPr id="13" name="Picture 2" descr="E:\CG\交互式计算机图形学—基于OpenGL着色器的自顶向下方法（第六版）\Figures\CHAPTER02 JPEG\AN02F15.jpg"/>
          <p:cNvPicPr>
            <a:picLocks noChangeAspect="1" noChangeArrowheads="1"/>
          </p:cNvPicPr>
          <p:nvPr/>
        </p:nvPicPr>
        <p:blipFill>
          <a:blip r:embed="rId5" cstate="print"/>
          <a:srcRect/>
          <a:stretch>
            <a:fillRect/>
          </a:stretch>
        </p:blipFill>
        <p:spPr bwMode="auto">
          <a:xfrm>
            <a:off x="5172224" y="1127469"/>
            <a:ext cx="2227828" cy="2139994"/>
          </a:xfrm>
          <a:prstGeom prst="rect">
            <a:avLst/>
          </a:prstGeom>
          <a:noFill/>
        </p:spPr>
      </p:pic>
    </p:spTree>
    <p:extLst>
      <p:ext uri="{BB962C8B-B14F-4D97-AF65-F5344CB8AC3E}">
        <p14:creationId xmlns:p14="http://schemas.microsoft.com/office/powerpoint/2010/main" val="79668831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相机模型</a:t>
            </a:r>
          </a:p>
        </p:txBody>
      </p:sp>
      <p:sp>
        <p:nvSpPr>
          <p:cNvPr id="3" name="内容占位符 2"/>
          <p:cNvSpPr>
            <a:spLocks noGrp="1"/>
          </p:cNvSpPr>
          <p:nvPr>
            <p:ph idx="1"/>
          </p:nvPr>
        </p:nvSpPr>
        <p:spPr/>
        <p:txBody>
          <a:bodyPr/>
          <a:lstStyle/>
          <a:p>
            <a:pPr>
              <a:buClr>
                <a:srgbClr val="94003F"/>
              </a:buClr>
            </a:pPr>
            <a:r>
              <a:rPr lang="zh-CN" altLang="en-US" sz="2400" dirty="0"/>
              <a:t>理解</a:t>
            </a:r>
            <a:r>
              <a:rPr lang="en-US" altLang="zh-CN" sz="2400" dirty="0">
                <a:highlight>
                  <a:srgbClr val="FFFF00"/>
                </a:highlight>
              </a:rPr>
              <a:t>OpenGL</a:t>
            </a:r>
            <a:r>
              <a:rPr lang="zh-CN" altLang="en-US" sz="2400" dirty="0">
                <a:highlight>
                  <a:srgbClr val="FFFF00"/>
                </a:highlight>
              </a:rPr>
              <a:t>的相机模型</a:t>
            </a:r>
          </a:p>
          <a:p>
            <a:pPr lvl="1">
              <a:buClr>
                <a:schemeClr val="tx1"/>
              </a:buClr>
            </a:pPr>
            <a:r>
              <a:rPr lang="zh-CN" altLang="en-US" sz="1800" dirty="0"/>
              <a:t>相机模型决定了三维空间</a:t>
            </a:r>
            <a:r>
              <a:rPr lang="en-US" altLang="zh-CN" sz="1800" dirty="0"/>
              <a:t>(</a:t>
            </a:r>
            <a:r>
              <a:rPr lang="zh-CN" altLang="en-US" sz="1800" dirty="0"/>
              <a:t>场景</a:t>
            </a:r>
            <a:r>
              <a:rPr lang="en-US" altLang="zh-CN" sz="1800" dirty="0"/>
              <a:t>)</a:t>
            </a:r>
            <a:r>
              <a:rPr lang="zh-CN" altLang="en-US" sz="1800" dirty="0"/>
              <a:t>的可见性</a:t>
            </a:r>
            <a:endParaRPr lang="en-US" altLang="zh-CN" sz="1800" dirty="0"/>
          </a:p>
          <a:p>
            <a:pPr lvl="1">
              <a:buClr>
                <a:schemeClr val="tx1"/>
              </a:buClr>
            </a:pPr>
            <a:r>
              <a:rPr lang="zh-CN" altLang="en-US" sz="1800" dirty="0"/>
              <a:t>相机模型用来模拟真实镜头产生的射影变换效果，例如</a:t>
            </a:r>
            <a:r>
              <a:rPr lang="zh-CN" altLang="en-US" sz="1800" b="1" dirty="0">
                <a:solidFill>
                  <a:srgbClr val="FF0000"/>
                </a:solidFill>
              </a:rPr>
              <a:t>近大远小</a:t>
            </a:r>
            <a:endParaRPr lang="en-US" altLang="zh-CN" sz="1800" b="1" dirty="0">
              <a:solidFill>
                <a:srgbClr val="FF0000"/>
              </a:solidFill>
            </a:endParaRPr>
          </a:p>
          <a:p>
            <a:pPr lvl="1">
              <a:buClr>
                <a:schemeClr val="tx1"/>
              </a:buClr>
            </a:pPr>
            <a:r>
              <a:rPr lang="zh-CN" altLang="en-US" sz="1800" dirty="0"/>
              <a:t>相机模型决定了场景中物体在绘制窗口中的精确位置</a:t>
            </a:r>
            <a:endParaRPr lang="en-US" altLang="zh-CN" sz="1800" dirty="0"/>
          </a:p>
          <a:p>
            <a:pPr lvl="1">
              <a:buClr>
                <a:schemeClr val="tx1"/>
              </a:buClr>
            </a:pPr>
            <a:r>
              <a:rPr lang="zh-CN" altLang="en-US" sz="1800" dirty="0"/>
              <a:t>最常用的相机模型是针孔相机模型</a:t>
            </a:r>
            <a:endParaRPr lang="en-US" altLang="zh-CN" sz="1800" dirty="0"/>
          </a:p>
          <a:p>
            <a:pPr lvl="1">
              <a:buClr>
                <a:schemeClr val="tx1"/>
              </a:buClr>
            </a:pPr>
            <a:r>
              <a:rPr lang="zh-CN" altLang="en-US" sz="1800" dirty="0"/>
              <a:t>在</a:t>
            </a:r>
            <a:r>
              <a:rPr lang="en-US" altLang="zh-CN" sz="1800" dirty="0"/>
              <a:t>OpenGL</a:t>
            </a:r>
            <a:r>
              <a:rPr lang="zh-CN" altLang="en-US" sz="1800" dirty="0"/>
              <a:t>程序中，设置相机与场景后，就确定了最终绘制窗口中的可见区域</a:t>
            </a:r>
          </a:p>
          <a:p>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34</a:t>
            </a:fld>
            <a:endParaRPr lang="zh-CN" altLang="en-US"/>
          </a:p>
        </p:txBody>
      </p:sp>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54600" y="3841085"/>
            <a:ext cx="3005399" cy="225404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026" name="Picture 2" descr="https://upload.wikimedia.org/wikipedia/commons/thumb/3/3b/Pinhole-camera.svg/2000px-Pinhole-camera.svg.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90840" y="3841085"/>
            <a:ext cx="3302636" cy="225404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028" name="Picture 4" descr="https://jordicenzano.files.wordpress.com/2014/06/cam_model_fig6.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54600" y="3841085"/>
            <a:ext cx="6554989" cy="265179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9002028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28"/>
                                        </p:tgtEl>
                                        <p:attrNameLst>
                                          <p:attrName>style.visibility</p:attrName>
                                        </p:attrNameLst>
                                      </p:cBhvr>
                                      <p:to>
                                        <p:strVal val="visible"/>
                                      </p:to>
                                    </p:set>
                                    <p:anim calcmode="lin" valueType="num">
                                      <p:cBhvr additive="base">
                                        <p:cTn id="7" dur="500" fill="hold"/>
                                        <p:tgtEl>
                                          <p:spTgt spid="1028"/>
                                        </p:tgtEl>
                                        <p:attrNameLst>
                                          <p:attrName>ppt_x</p:attrName>
                                        </p:attrNameLst>
                                      </p:cBhvr>
                                      <p:tavLst>
                                        <p:tav tm="0">
                                          <p:val>
                                            <p:strVal val="#ppt_x"/>
                                          </p:val>
                                        </p:tav>
                                        <p:tav tm="100000">
                                          <p:val>
                                            <p:strVal val="#ppt_x"/>
                                          </p:val>
                                        </p:tav>
                                      </p:tavLst>
                                    </p:anim>
                                    <p:anim calcmode="lin" valueType="num">
                                      <p:cBhvr additive="base">
                                        <p:cTn id="8" dur="500" fill="hold"/>
                                        <p:tgtEl>
                                          <p:spTgt spid="102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OpenGL</a:t>
            </a:r>
            <a:r>
              <a:rPr lang="zh-CN" altLang="en-US" dirty="0"/>
              <a:t>中的相机</a:t>
            </a:r>
          </a:p>
        </p:txBody>
      </p:sp>
      <p:sp>
        <p:nvSpPr>
          <p:cNvPr id="3" name="内容占位符 2"/>
          <p:cNvSpPr>
            <a:spLocks noGrp="1"/>
          </p:cNvSpPr>
          <p:nvPr>
            <p:ph idx="1"/>
          </p:nvPr>
        </p:nvSpPr>
        <p:spPr/>
        <p:txBody>
          <a:bodyPr/>
          <a:lstStyle/>
          <a:p>
            <a:r>
              <a:rPr lang="zh-CN" altLang="en-US" sz="2400" dirty="0"/>
              <a:t>照相机被放置在</a:t>
            </a:r>
            <a:r>
              <a:rPr lang="zh-CN" altLang="en-US" sz="2400" dirty="0">
                <a:highlight>
                  <a:srgbClr val="FFFF00"/>
                </a:highlight>
              </a:rPr>
              <a:t>对象坐标系的原点</a:t>
            </a:r>
            <a:r>
              <a:rPr lang="zh-CN" altLang="en-US" sz="2400" dirty="0"/>
              <a:t>，</a:t>
            </a:r>
            <a:r>
              <a:rPr lang="zh-CN" altLang="en-US" sz="2400" dirty="0">
                <a:highlight>
                  <a:srgbClr val="FFFF00"/>
                </a:highlight>
              </a:rPr>
              <a:t>看向</a:t>
            </a:r>
            <a:r>
              <a:rPr lang="en-US" altLang="zh-CN" sz="2400" dirty="0">
                <a:highlight>
                  <a:srgbClr val="FFFF00"/>
                </a:highlight>
              </a:rPr>
              <a:t>z</a:t>
            </a:r>
            <a:r>
              <a:rPr lang="zh-CN" altLang="en-US" sz="2400" dirty="0">
                <a:highlight>
                  <a:srgbClr val="FFFF00"/>
                </a:highlight>
              </a:rPr>
              <a:t>轴的负方向</a:t>
            </a:r>
          </a:p>
          <a:p>
            <a:r>
              <a:rPr lang="zh-CN" altLang="en-US" sz="2400" dirty="0"/>
              <a:t>默认的视景体是一个中心在原点，边长为</a:t>
            </a:r>
            <a:r>
              <a:rPr lang="en-US" altLang="zh-CN" sz="2400" dirty="0"/>
              <a:t>2</a:t>
            </a:r>
            <a:r>
              <a:rPr lang="zh-CN" altLang="en-US" sz="2400" dirty="0"/>
              <a:t>的立方体</a:t>
            </a:r>
            <a:endParaRPr lang="en-US" altLang="zh-CN" sz="2400" dirty="0"/>
          </a:p>
          <a:p>
            <a:endParaRPr lang="en-US" altLang="zh-CN" sz="1800" dirty="0"/>
          </a:p>
          <a:p>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35</a:t>
            </a:fld>
            <a:endParaRPr lang="zh-CN" altLang="en-US"/>
          </a:p>
        </p:txBody>
      </p:sp>
      <p:pic>
        <p:nvPicPr>
          <p:cNvPr id="6" name="图片 5"/>
          <p:cNvPicPr>
            <a:picLocks noChangeAspect="1"/>
          </p:cNvPicPr>
          <p:nvPr/>
        </p:nvPicPr>
        <p:blipFill>
          <a:blip r:embed="rId2"/>
          <a:stretch>
            <a:fillRect/>
          </a:stretch>
        </p:blipFill>
        <p:spPr>
          <a:xfrm>
            <a:off x="1055718" y="2452018"/>
            <a:ext cx="6457445" cy="3962664"/>
          </a:xfrm>
          <a:prstGeom prst="rect">
            <a:avLst/>
          </a:prstGeom>
        </p:spPr>
      </p:pic>
    </p:spTree>
    <p:extLst>
      <p:ext uri="{BB962C8B-B14F-4D97-AF65-F5344CB8AC3E}">
        <p14:creationId xmlns:p14="http://schemas.microsoft.com/office/powerpoint/2010/main" val="36686224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正交视图</a:t>
            </a:r>
          </a:p>
        </p:txBody>
      </p:sp>
      <p:sp>
        <p:nvSpPr>
          <p:cNvPr id="3" name="内容占位符 2"/>
          <p:cNvSpPr>
            <a:spLocks noGrp="1"/>
          </p:cNvSpPr>
          <p:nvPr>
            <p:ph idx="1"/>
          </p:nvPr>
        </p:nvSpPr>
        <p:spPr/>
        <p:txBody>
          <a:bodyPr/>
          <a:lstStyle/>
          <a:p>
            <a:r>
              <a:rPr lang="zh-CN" altLang="en-US" sz="2400" dirty="0"/>
              <a:t>在默认的正交视图中，点沿着</a:t>
            </a:r>
            <a:r>
              <a:rPr lang="en-US" altLang="zh-CN" sz="2400" dirty="0"/>
              <a:t>z</a:t>
            </a:r>
            <a:r>
              <a:rPr lang="zh-CN" altLang="en-US" sz="2400" dirty="0"/>
              <a:t>轴投影到</a:t>
            </a:r>
            <a:r>
              <a:rPr lang="en-US" altLang="zh-CN" sz="2400" dirty="0"/>
              <a:t>z=0</a:t>
            </a:r>
            <a:r>
              <a:rPr lang="zh-CN" altLang="en-US" sz="2400" dirty="0"/>
              <a:t>的平面上</a:t>
            </a:r>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36</a:t>
            </a:fld>
            <a:endParaRPr lang="zh-CN" altLang="en-US"/>
          </a:p>
        </p:txBody>
      </p:sp>
      <p:pic>
        <p:nvPicPr>
          <p:cNvPr id="5" name="图片 4"/>
          <p:cNvPicPr>
            <a:picLocks noChangeAspect="1"/>
          </p:cNvPicPr>
          <p:nvPr/>
        </p:nvPicPr>
        <p:blipFill>
          <a:blip r:embed="rId2"/>
          <a:stretch>
            <a:fillRect/>
          </a:stretch>
        </p:blipFill>
        <p:spPr>
          <a:xfrm>
            <a:off x="705429" y="2266213"/>
            <a:ext cx="4668681" cy="3299019"/>
          </a:xfrm>
          <a:prstGeom prst="rect">
            <a:avLst/>
          </a:prstGeom>
        </p:spPr>
      </p:pic>
      <p:pic>
        <p:nvPicPr>
          <p:cNvPr id="7" name="图片 6"/>
          <p:cNvPicPr>
            <a:picLocks noChangeAspect="1"/>
          </p:cNvPicPr>
          <p:nvPr/>
        </p:nvPicPr>
        <p:blipFill>
          <a:blip r:embed="rId3"/>
          <a:stretch>
            <a:fillRect/>
          </a:stretch>
        </p:blipFill>
        <p:spPr>
          <a:xfrm>
            <a:off x="5514250" y="2256398"/>
            <a:ext cx="3139950" cy="3847667"/>
          </a:xfrm>
          <a:prstGeom prst="rect">
            <a:avLst/>
          </a:prstGeom>
        </p:spPr>
      </p:pic>
    </p:spTree>
    <p:extLst>
      <p:ext uri="{BB962C8B-B14F-4D97-AF65-F5344CB8AC3E}">
        <p14:creationId xmlns:p14="http://schemas.microsoft.com/office/powerpoint/2010/main" val="231140785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二维观察</a:t>
            </a:r>
          </a:p>
        </p:txBody>
      </p:sp>
      <p:sp>
        <p:nvSpPr>
          <p:cNvPr id="8" name="Content Placeholder 7"/>
          <p:cNvSpPr>
            <a:spLocks noGrp="1"/>
          </p:cNvSpPr>
          <p:nvPr>
            <p:ph idx="1"/>
          </p:nvPr>
        </p:nvSpPr>
        <p:spPr/>
        <p:txBody>
          <a:bodyPr>
            <a:normAutofit/>
          </a:bodyPr>
          <a:lstStyle/>
          <a:p>
            <a:pPr lvl="0"/>
            <a:r>
              <a:rPr lang="zh-CN" altLang="en-US" sz="2400" dirty="0"/>
              <a:t>观察矩形</a:t>
            </a:r>
            <a:r>
              <a:rPr lang="en-US" altLang="zh-CN" sz="2400" dirty="0"/>
              <a:t>/</a:t>
            </a:r>
            <a:r>
              <a:rPr lang="zh-CN" altLang="en-US" sz="2400" dirty="0"/>
              <a:t>剪裁矩形</a:t>
            </a:r>
          </a:p>
          <a:p>
            <a:endParaRPr lang="en-US" sz="2400" dirty="0"/>
          </a:p>
        </p:txBody>
      </p:sp>
      <p:sp>
        <p:nvSpPr>
          <p:cNvPr id="3" name="灯片编号占位符 2"/>
          <p:cNvSpPr>
            <a:spLocks noGrp="1"/>
          </p:cNvSpPr>
          <p:nvPr>
            <p:ph type="sldNum" sz="quarter" idx="12"/>
          </p:nvPr>
        </p:nvSpPr>
        <p:spPr/>
        <p:txBody>
          <a:bodyPr/>
          <a:lstStyle/>
          <a:p>
            <a:fld id="{EB792F4E-54C0-4D36-B331-9C6FCFE9A340}" type="slidenum">
              <a:rPr lang="zh-CN" altLang="en-US" smtClean="0"/>
              <a:pPr/>
              <a:t>37</a:t>
            </a:fld>
            <a:endParaRPr lang="zh-CN" altLang="en-US"/>
          </a:p>
        </p:txBody>
      </p:sp>
      <p:pic>
        <p:nvPicPr>
          <p:cNvPr id="28674" name="Picture 2" descr="E:\CG\交互式计算机图形学—基于OpenGL着色器的自顶向下方法（第六版）\Figures\CHAPTER02 JPEG\AN02F34.jpg"/>
          <p:cNvPicPr>
            <a:picLocks noChangeAspect="1" noChangeArrowheads="1"/>
          </p:cNvPicPr>
          <p:nvPr/>
        </p:nvPicPr>
        <p:blipFill>
          <a:blip r:embed="rId2" cstate="print"/>
          <a:srcRect/>
          <a:stretch>
            <a:fillRect/>
          </a:stretch>
        </p:blipFill>
        <p:spPr bwMode="auto">
          <a:xfrm>
            <a:off x="4292595" y="1697302"/>
            <a:ext cx="4605555" cy="3298010"/>
          </a:xfrm>
          <a:prstGeom prst="rect">
            <a:avLst/>
          </a:prstGeom>
          <a:noFill/>
        </p:spPr>
      </p:pic>
      <p:pic>
        <p:nvPicPr>
          <p:cNvPr id="6" name="Picture 2" descr="E:\CG\交互式计算机图形学—基于OpenGL着色器的自顶向下方法（第六版）\Figures\CHAPTER02 JPEG\AN02F35b.jpg"/>
          <p:cNvPicPr>
            <a:picLocks noChangeAspect="1" noChangeArrowheads="1"/>
          </p:cNvPicPr>
          <p:nvPr/>
        </p:nvPicPr>
        <p:blipFill>
          <a:blip r:embed="rId3" cstate="print"/>
          <a:srcRect/>
          <a:stretch>
            <a:fillRect/>
          </a:stretch>
        </p:blipFill>
        <p:spPr bwMode="auto">
          <a:xfrm>
            <a:off x="1142859" y="4578413"/>
            <a:ext cx="2118192" cy="2092975"/>
          </a:xfrm>
          <a:prstGeom prst="rect">
            <a:avLst/>
          </a:prstGeom>
          <a:noFill/>
        </p:spPr>
      </p:pic>
      <p:pic>
        <p:nvPicPr>
          <p:cNvPr id="7" name="Picture 3" descr="E:\CG\交互式计算机图形学—基于OpenGL着色器的自顶向下方法（第六版）\Figures\CHAPTER02 JPEG\AN02F35a.jpg"/>
          <p:cNvPicPr>
            <a:picLocks noChangeAspect="1" noChangeArrowheads="1"/>
          </p:cNvPicPr>
          <p:nvPr/>
        </p:nvPicPr>
        <p:blipFill>
          <a:blip r:embed="rId4" cstate="print"/>
          <a:srcRect/>
          <a:stretch>
            <a:fillRect/>
          </a:stretch>
        </p:blipFill>
        <p:spPr bwMode="auto">
          <a:xfrm>
            <a:off x="911012" y="1926115"/>
            <a:ext cx="2695091" cy="2365967"/>
          </a:xfrm>
          <a:prstGeom prst="rect">
            <a:avLst/>
          </a:prstGeom>
          <a:noFill/>
        </p:spPr>
      </p:pic>
    </p:spTree>
    <p:extLst>
      <p:ext uri="{BB962C8B-B14F-4D97-AF65-F5344CB8AC3E}">
        <p14:creationId xmlns:p14="http://schemas.microsoft.com/office/powerpoint/2010/main" val="138853306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3200401" y="2094748"/>
            <a:ext cx="3032598" cy="796287"/>
          </a:xfrm>
          <a:prstGeom prst="roundRect">
            <a:avLst>
              <a:gd name="adj" fmla="val 50000"/>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圆角矩形 2"/>
          <p:cNvSpPr/>
          <p:nvPr/>
        </p:nvSpPr>
        <p:spPr>
          <a:xfrm>
            <a:off x="5418743" y="2115257"/>
            <a:ext cx="788833" cy="749851"/>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大纲</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38</a:t>
            </a:fld>
            <a:endParaRPr lang="zh-CN" altLang="en-US"/>
          </a:p>
        </p:txBody>
      </p:sp>
      <p:sp>
        <p:nvSpPr>
          <p:cNvPr id="8" name="文本框 7"/>
          <p:cNvSpPr txBox="1"/>
          <p:nvPr/>
        </p:nvSpPr>
        <p:spPr>
          <a:xfrm>
            <a:off x="2167919" y="3389111"/>
            <a:ext cx="4815742" cy="646331"/>
          </a:xfrm>
          <a:prstGeom prst="rect">
            <a:avLst/>
          </a:prstGeom>
          <a:noFill/>
        </p:spPr>
        <p:txBody>
          <a:bodyPr wrap="none" rtlCol="0">
            <a:spAutoFit/>
          </a:bodyPr>
          <a:lstStyle/>
          <a:p>
            <a:pPr algn="ctr"/>
            <a:r>
              <a:rPr lang="en-US" altLang="zh-CN" sz="3600" b="1" dirty="0">
                <a:latin typeface="微软雅黑" panose="020B0503020204020204" pitchFamily="34" charset="-122"/>
                <a:ea typeface="微软雅黑" panose="020B0503020204020204" pitchFamily="34" charset="-122"/>
              </a:rPr>
              <a:t>OpenGL</a:t>
            </a:r>
            <a:r>
              <a:rPr lang="zh-CN" altLang="en-US" sz="3600" b="1" dirty="0">
                <a:latin typeface="微软雅黑" panose="020B0503020204020204" pitchFamily="34" charset="-122"/>
                <a:ea typeface="微软雅黑" panose="020B0503020204020204" pitchFamily="34" charset="-122"/>
              </a:rPr>
              <a:t>的属性与颜色</a:t>
            </a:r>
          </a:p>
        </p:txBody>
      </p:sp>
      <p:sp>
        <p:nvSpPr>
          <p:cNvPr id="11" name="文本框 10"/>
          <p:cNvSpPr txBox="1"/>
          <p:nvPr/>
        </p:nvSpPr>
        <p:spPr>
          <a:xfrm>
            <a:off x="3376147" y="2138948"/>
            <a:ext cx="1755609" cy="707886"/>
          </a:xfrm>
          <a:prstGeom prst="rect">
            <a:avLst/>
          </a:prstGeom>
          <a:noFill/>
        </p:spPr>
        <p:txBody>
          <a:bodyPr wrap="none" rtlCol="0">
            <a:spAutoFit/>
          </a:bodyPr>
          <a:lstStyle/>
          <a:p>
            <a:pPr algn="ctr"/>
            <a:r>
              <a:rPr lang="en-US" altLang="zh-CN" sz="4000" b="1" dirty="0">
                <a:solidFill>
                  <a:schemeClr val="bg1"/>
                </a:solidFill>
              </a:rPr>
              <a:t>Section</a:t>
            </a:r>
            <a:endParaRPr lang="zh-CN" altLang="en-US" sz="4000" b="1" dirty="0">
              <a:solidFill>
                <a:schemeClr val="bg1"/>
              </a:solidFill>
            </a:endParaRPr>
          </a:p>
        </p:txBody>
      </p:sp>
      <p:sp>
        <p:nvSpPr>
          <p:cNvPr id="12" name="文本框 11"/>
          <p:cNvSpPr txBox="1"/>
          <p:nvPr/>
        </p:nvSpPr>
        <p:spPr>
          <a:xfrm>
            <a:off x="5523179" y="1913900"/>
            <a:ext cx="614272" cy="1107996"/>
          </a:xfrm>
          <a:prstGeom prst="rect">
            <a:avLst/>
          </a:prstGeom>
          <a:noFill/>
        </p:spPr>
        <p:txBody>
          <a:bodyPr wrap="none" rtlCol="0">
            <a:spAutoFit/>
          </a:bodyPr>
          <a:lstStyle/>
          <a:p>
            <a:pPr algn="ctr"/>
            <a:r>
              <a:rPr lang="en-US" altLang="zh-CN" sz="6600" b="1" i="1" dirty="0">
                <a:solidFill>
                  <a:srgbClr val="94003F"/>
                </a:solidFill>
              </a:rPr>
              <a:t>4</a:t>
            </a:r>
            <a:endParaRPr lang="zh-CN" altLang="en-US" sz="6600" b="1" i="1" dirty="0">
              <a:solidFill>
                <a:srgbClr val="94003F"/>
              </a:solidFill>
            </a:endParaRPr>
          </a:p>
        </p:txBody>
      </p:sp>
      <p:sp>
        <p:nvSpPr>
          <p:cNvPr id="6" name="等腰三角形 5"/>
          <p:cNvSpPr/>
          <p:nvPr/>
        </p:nvSpPr>
        <p:spPr>
          <a:xfrm rot="10800000">
            <a:off x="4447572" y="2804325"/>
            <a:ext cx="492176" cy="321924"/>
          </a:xfrm>
          <a:prstGeom prst="triangle">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14360108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OpenGL</a:t>
            </a:r>
            <a:r>
              <a:rPr lang="zh-CN" altLang="en-US" dirty="0"/>
              <a:t>中的属性</a:t>
            </a:r>
          </a:p>
        </p:txBody>
      </p:sp>
      <p:sp>
        <p:nvSpPr>
          <p:cNvPr id="3" name="内容占位符 2"/>
          <p:cNvSpPr>
            <a:spLocks noGrp="1"/>
          </p:cNvSpPr>
          <p:nvPr>
            <p:ph idx="1"/>
          </p:nvPr>
        </p:nvSpPr>
        <p:spPr/>
        <p:txBody>
          <a:bodyPr/>
          <a:lstStyle/>
          <a:p>
            <a:pPr>
              <a:buClr>
                <a:srgbClr val="94003F"/>
              </a:buClr>
            </a:pPr>
            <a:r>
              <a:rPr lang="zh-CN" altLang="en-US" sz="2400" dirty="0"/>
              <a:t>属性（</a:t>
            </a:r>
            <a:r>
              <a:rPr lang="en-US" altLang="zh-CN" sz="2400" dirty="0"/>
              <a:t>Attribute</a:t>
            </a:r>
            <a:r>
              <a:rPr lang="zh-CN" altLang="en-US" sz="2400" dirty="0"/>
              <a:t>）的概念</a:t>
            </a:r>
          </a:p>
          <a:p>
            <a:pPr lvl="1">
              <a:buClr>
                <a:schemeClr val="tx1"/>
              </a:buClr>
            </a:pPr>
            <a:r>
              <a:rPr lang="zh-CN" altLang="en-US" sz="1800" dirty="0"/>
              <a:t>属性是</a:t>
            </a:r>
            <a:r>
              <a:rPr lang="en-US" altLang="zh-CN" sz="1800" dirty="0"/>
              <a:t>OpenGL</a:t>
            </a:r>
            <a:r>
              <a:rPr lang="zh-CN" altLang="en-US" sz="1800" dirty="0"/>
              <a:t>中状态的一部分，确定对象的外观</a:t>
            </a:r>
            <a:endParaRPr lang="en-US" altLang="zh-CN" sz="1800" dirty="0"/>
          </a:p>
          <a:p>
            <a:pPr lvl="1">
              <a:buClr>
                <a:schemeClr val="tx1"/>
              </a:buClr>
            </a:pPr>
            <a:r>
              <a:rPr lang="zh-CN" altLang="en-US" sz="1800" dirty="0"/>
              <a:t>颜色、点的大小、线段的宽度以及虚实模式、多边形的模式</a:t>
            </a:r>
          </a:p>
          <a:p>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39</a:t>
            </a:fld>
            <a:endParaRPr lang="zh-CN" altLang="en-US"/>
          </a:p>
        </p:txBody>
      </p:sp>
      <p:pic>
        <p:nvPicPr>
          <p:cNvPr id="5" name="图片 4"/>
          <p:cNvPicPr>
            <a:picLocks noChangeAspect="1"/>
          </p:cNvPicPr>
          <p:nvPr/>
        </p:nvPicPr>
        <p:blipFill rotWithShape="1">
          <a:blip r:embed="rId2"/>
          <a:srcRect r="57677"/>
          <a:stretch/>
        </p:blipFill>
        <p:spPr>
          <a:xfrm>
            <a:off x="1254443" y="3112855"/>
            <a:ext cx="3149025" cy="2735012"/>
          </a:xfrm>
          <a:prstGeom prst="rect">
            <a:avLst/>
          </a:prstGeom>
        </p:spPr>
      </p:pic>
      <p:pic>
        <p:nvPicPr>
          <p:cNvPr id="6" name="图片 5"/>
          <p:cNvPicPr>
            <a:picLocks noChangeAspect="1"/>
          </p:cNvPicPr>
          <p:nvPr/>
        </p:nvPicPr>
        <p:blipFill rotWithShape="1">
          <a:blip r:embed="rId2"/>
          <a:srcRect l="58284" r="-96"/>
          <a:stretch/>
        </p:blipFill>
        <p:spPr>
          <a:xfrm>
            <a:off x="4687614" y="3112855"/>
            <a:ext cx="3111062" cy="2735012"/>
          </a:xfrm>
          <a:prstGeom prst="rect">
            <a:avLst/>
          </a:prstGeom>
        </p:spPr>
      </p:pic>
    </p:spTree>
    <p:extLst>
      <p:ext uri="{BB962C8B-B14F-4D97-AF65-F5344CB8AC3E}">
        <p14:creationId xmlns:p14="http://schemas.microsoft.com/office/powerpoint/2010/main" val="70459232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dirty="0"/>
              <a:t>可见光</a:t>
            </a:r>
            <a:endParaRPr lang="zh-CN" altLang="en-US" dirty="0"/>
          </a:p>
        </p:txBody>
      </p:sp>
      <p:sp>
        <p:nvSpPr>
          <p:cNvPr id="3" name="内容占位符 2"/>
          <p:cNvSpPr>
            <a:spLocks noGrp="1"/>
          </p:cNvSpPr>
          <p:nvPr>
            <p:ph idx="1"/>
          </p:nvPr>
        </p:nvSpPr>
        <p:spPr/>
        <p:txBody>
          <a:bodyPr>
            <a:normAutofit/>
          </a:bodyPr>
          <a:lstStyle/>
          <a:p>
            <a:r>
              <a:rPr lang="zh-CN" altLang="en-US" sz="2400" dirty="0">
                <a:latin typeface="Microsoft YaHei" charset="-122"/>
                <a:ea typeface="Microsoft YaHei" charset="-122"/>
                <a:cs typeface="Microsoft YaHei" charset="-122"/>
              </a:rPr>
              <a:t> 可见光为电磁波的一部分</a:t>
            </a:r>
            <a:endParaRPr lang="en-US" altLang="zh-CN" sz="2400" dirty="0">
              <a:latin typeface="Microsoft YaHei" charset="-122"/>
              <a:ea typeface="Microsoft YaHei" charset="-122"/>
              <a:cs typeface="Microsoft YaHei" charset="-122"/>
            </a:endParaRPr>
          </a:p>
          <a:p>
            <a:r>
              <a:rPr lang="zh-CN" altLang="en-US" sz="2400" dirty="0">
                <a:latin typeface="Microsoft YaHei" charset="-122"/>
                <a:ea typeface="Microsoft YaHei" charset="-122"/>
                <a:cs typeface="Microsoft YaHei" charset="-122"/>
              </a:rPr>
              <a:t> 可见光也就是人类视觉系统对它有反应的那部分</a:t>
            </a:r>
          </a:p>
          <a:p>
            <a:r>
              <a:rPr lang="zh-CN" altLang="en-US" sz="2400" dirty="0">
                <a:latin typeface="Microsoft YaHei" charset="-122"/>
                <a:ea typeface="Microsoft YaHei" charset="-122"/>
                <a:cs typeface="Microsoft YaHei" charset="-122"/>
              </a:rPr>
              <a:t> 波长大约介于</a:t>
            </a:r>
            <a:r>
              <a:rPr lang="en-US" altLang="zh-CN" sz="2400" dirty="0">
                <a:latin typeface="Microsoft YaHei" charset="-122"/>
                <a:ea typeface="Microsoft YaHei" charset="-122"/>
                <a:cs typeface="Microsoft YaHei" charset="-122"/>
              </a:rPr>
              <a:t>350 -780 nm (</a:t>
            </a:r>
            <a:r>
              <a:rPr lang="zh-CN" altLang="en-US" sz="2400" dirty="0">
                <a:latin typeface="Microsoft YaHei" charset="-122"/>
                <a:ea typeface="Microsoft YaHei" charset="-122"/>
                <a:cs typeface="Microsoft YaHei" charset="-122"/>
              </a:rPr>
              <a:t>纳米</a:t>
            </a:r>
            <a:r>
              <a:rPr lang="en-US" altLang="zh-CN" sz="2400" dirty="0">
                <a:latin typeface="Microsoft YaHei" charset="-122"/>
                <a:ea typeface="Microsoft YaHei" charset="-122"/>
                <a:cs typeface="Microsoft YaHei" charset="-122"/>
              </a:rPr>
              <a:t>, 10^-8</a:t>
            </a:r>
            <a:r>
              <a:rPr lang="zh-CN" altLang="en-US" sz="2400" dirty="0">
                <a:latin typeface="Microsoft YaHei" charset="-122"/>
                <a:ea typeface="Microsoft YaHei" charset="-122"/>
                <a:cs typeface="Microsoft YaHei" charset="-122"/>
              </a:rPr>
              <a:t>米</a:t>
            </a:r>
            <a:r>
              <a:rPr lang="en-US" altLang="zh-CN" sz="2400" dirty="0">
                <a:latin typeface="Microsoft YaHei" charset="-122"/>
                <a:ea typeface="Microsoft YaHei" charset="-122"/>
                <a:cs typeface="Microsoft YaHei" charset="-122"/>
              </a:rPr>
              <a:t>)</a:t>
            </a:r>
          </a:p>
          <a:p>
            <a:r>
              <a:rPr lang="zh-CN" altLang="en-US" sz="2400" dirty="0">
                <a:latin typeface="Microsoft YaHei" charset="-122"/>
                <a:ea typeface="Microsoft YaHei" charset="-122"/>
                <a:cs typeface="Microsoft YaHei" charset="-122"/>
              </a:rPr>
              <a:t> 波长大的对应于红色，短的对应于蓝色</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40</a:t>
            </a:fld>
            <a:endParaRPr lang="zh-CN" altLang="en-US" dirty="0"/>
          </a:p>
        </p:txBody>
      </p:sp>
      <p:pic>
        <p:nvPicPr>
          <p:cNvPr id="20483" name="Picture 3" descr="E:\CG\交互式计算机图形学—基于OpenGL着色器的自顶向下方法（第六版）\Figures\CHAPTER01 JPEG\an01f16.jpg"/>
          <p:cNvPicPr>
            <a:picLocks noChangeAspect="1" noChangeArrowheads="1"/>
          </p:cNvPicPr>
          <p:nvPr/>
        </p:nvPicPr>
        <p:blipFill>
          <a:blip r:embed="rId2" cstate="print"/>
          <a:srcRect/>
          <a:stretch>
            <a:fillRect/>
          </a:stretch>
        </p:blipFill>
        <p:spPr bwMode="auto">
          <a:xfrm>
            <a:off x="3298528" y="3271759"/>
            <a:ext cx="5449595" cy="2396410"/>
          </a:xfrm>
          <a:prstGeom prst="rect">
            <a:avLst/>
          </a:prstGeom>
          <a:noFill/>
        </p:spPr>
      </p:pic>
      <p:grpSp>
        <p:nvGrpSpPr>
          <p:cNvPr id="5" name="Group 4"/>
          <p:cNvGrpSpPr/>
          <p:nvPr/>
        </p:nvGrpSpPr>
        <p:grpSpPr>
          <a:xfrm>
            <a:off x="861423" y="4122737"/>
            <a:ext cx="2892150" cy="2453640"/>
            <a:chOff x="449943" y="4161454"/>
            <a:chExt cx="3178468" cy="2696546"/>
          </a:xfrm>
        </p:grpSpPr>
        <p:pic>
          <p:nvPicPr>
            <p:cNvPr id="6" name="Picture 2" descr="E:\CG\交互式计算机图形学—基于OpenGL着色器的自顶向下方法（第六版）\Figures\CHAPTER02 JPEG\AN02F24.jpg"/>
            <p:cNvPicPr>
              <a:picLocks noChangeAspect="1" noChangeArrowheads="1"/>
            </p:cNvPicPr>
            <p:nvPr/>
          </p:nvPicPr>
          <p:blipFill>
            <a:blip r:embed="rId3" cstate="print"/>
            <a:srcRect/>
            <a:stretch>
              <a:fillRect/>
            </a:stretch>
          </p:blipFill>
          <p:spPr bwMode="auto">
            <a:xfrm>
              <a:off x="449943" y="4161454"/>
              <a:ext cx="3178468" cy="2696546"/>
            </a:xfrm>
            <a:prstGeom prst="rect">
              <a:avLst/>
            </a:prstGeom>
            <a:noFill/>
          </p:spPr>
        </p:pic>
        <p:sp>
          <p:nvSpPr>
            <p:cNvPr id="7" name="TextBox 6"/>
            <p:cNvSpPr txBox="1"/>
            <p:nvPr/>
          </p:nvSpPr>
          <p:spPr>
            <a:xfrm>
              <a:off x="2024744" y="4441372"/>
              <a:ext cx="292068" cy="369332"/>
            </a:xfrm>
            <a:prstGeom prst="rect">
              <a:avLst/>
            </a:prstGeom>
            <a:noFill/>
          </p:spPr>
          <p:txBody>
            <a:bodyPr wrap="none" rtlCol="0">
              <a:spAutoFit/>
            </a:bodyPr>
            <a:lstStyle/>
            <a:p>
              <a:r>
                <a:rPr lang="el-GR" altLang="zh-CN" dirty="0">
                  <a:ea typeface="方正超粗黑繁体"/>
                </a:rPr>
                <a:t>λ</a:t>
              </a:r>
              <a:endParaRPr lang="zh-CN" altLang="en-US" dirty="0"/>
            </a:p>
          </p:txBody>
        </p:sp>
      </p:grpSp>
    </p:spTree>
    <p:extLst>
      <p:ext uri="{BB962C8B-B14F-4D97-AF65-F5344CB8AC3E}">
        <p14:creationId xmlns:p14="http://schemas.microsoft.com/office/powerpoint/2010/main" val="172980949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RGB</a:t>
            </a:r>
            <a:r>
              <a:rPr lang="zh-CN" altLang="en-US" dirty="0"/>
              <a:t>颜色</a:t>
            </a:r>
          </a:p>
        </p:txBody>
      </p:sp>
      <p:sp>
        <p:nvSpPr>
          <p:cNvPr id="3" name="内容占位符 2"/>
          <p:cNvSpPr>
            <a:spLocks noGrp="1"/>
          </p:cNvSpPr>
          <p:nvPr>
            <p:ph idx="1"/>
          </p:nvPr>
        </p:nvSpPr>
        <p:spPr/>
        <p:txBody>
          <a:bodyPr/>
          <a:lstStyle/>
          <a:p>
            <a:pPr>
              <a:buClr>
                <a:srgbClr val="94003F"/>
              </a:buClr>
            </a:pPr>
            <a:r>
              <a:rPr lang="zh-CN" altLang="en-US" sz="2400" dirty="0"/>
              <a:t>理解颜色的三原色（</a:t>
            </a:r>
            <a:r>
              <a:rPr lang="en-US" altLang="zh-CN" sz="2400" dirty="0"/>
              <a:t>RGB</a:t>
            </a:r>
            <a:r>
              <a:rPr lang="zh-CN" altLang="en-US" sz="2400" dirty="0"/>
              <a:t>）原理</a:t>
            </a:r>
          </a:p>
          <a:p>
            <a:pPr lvl="1">
              <a:buClr>
                <a:schemeClr val="tx1"/>
              </a:buClr>
            </a:pPr>
            <a:r>
              <a:rPr lang="zh-CN" altLang="en-US" sz="1800" dirty="0"/>
              <a:t>颜色的每个分量在帧缓冲区中是分开存贮的</a:t>
            </a:r>
            <a:endParaRPr lang="en-US" altLang="zh-CN" sz="1800" dirty="0"/>
          </a:p>
          <a:p>
            <a:pPr lvl="1">
              <a:buClr>
                <a:schemeClr val="tx1"/>
              </a:buClr>
            </a:pPr>
            <a:r>
              <a:rPr lang="zh-CN" altLang="en-US" sz="1800" dirty="0"/>
              <a:t>通过对这些坐标进行代数操作导出结果</a:t>
            </a:r>
            <a:endParaRPr lang="en-US" altLang="zh-CN" sz="1800" dirty="0"/>
          </a:p>
          <a:p>
            <a:pPr lvl="1">
              <a:buClr>
                <a:schemeClr val="tx1"/>
              </a:buClr>
            </a:pPr>
            <a:r>
              <a:rPr lang="zh-CN" altLang="en-US" sz="1800" dirty="0"/>
              <a:t>注意在函数</a:t>
            </a:r>
            <a:r>
              <a:rPr lang="en-US" altLang="zh-CN" sz="1800" dirty="0"/>
              <a:t>glColor3f</a:t>
            </a:r>
            <a:r>
              <a:rPr lang="zh-CN" altLang="en-US" sz="1800" dirty="0"/>
              <a:t>中颜色值的变化范围是从</a:t>
            </a:r>
            <a:r>
              <a:rPr lang="en-US" altLang="zh-CN" sz="1800" dirty="0"/>
              <a:t>0.0</a:t>
            </a:r>
            <a:r>
              <a:rPr lang="zh-CN" altLang="en-US" sz="1800" dirty="0"/>
              <a:t>（无）到</a:t>
            </a:r>
          </a:p>
          <a:p>
            <a:pPr marL="457200" lvl="1" indent="0">
              <a:buClr>
                <a:schemeClr val="tx1"/>
              </a:buClr>
              <a:buNone/>
            </a:pPr>
            <a:r>
              <a:rPr lang="en-US" altLang="zh-CN" sz="1800" dirty="0"/>
              <a:t>   1.0</a:t>
            </a:r>
            <a:r>
              <a:rPr lang="zh-CN" altLang="en-US" sz="1800" dirty="0"/>
              <a:t>（全部）</a:t>
            </a:r>
            <a:r>
              <a:rPr lang="en-US" altLang="zh-CN" sz="1800" dirty="0"/>
              <a:t>, </a:t>
            </a:r>
            <a:r>
              <a:rPr lang="zh-CN" altLang="en-US" sz="1800" dirty="0"/>
              <a:t>而在</a:t>
            </a:r>
            <a:r>
              <a:rPr lang="en-US" altLang="zh-CN" sz="1800" dirty="0"/>
              <a:t>glColor3ub</a:t>
            </a:r>
            <a:r>
              <a:rPr lang="zh-CN" altLang="en-US" sz="1800" dirty="0"/>
              <a:t>中颜色值的变化范围是从</a:t>
            </a:r>
            <a:r>
              <a:rPr lang="en-US" altLang="zh-CN" sz="1800" dirty="0"/>
              <a:t>0</a:t>
            </a:r>
            <a:r>
              <a:rPr lang="zh-CN" altLang="en-US" sz="1800" dirty="0"/>
              <a:t>到</a:t>
            </a:r>
            <a:r>
              <a:rPr lang="en-US" altLang="zh-CN" sz="1800" dirty="0"/>
              <a:t>255</a:t>
            </a:r>
          </a:p>
          <a:p>
            <a:pPr lvl="1">
              <a:buClr>
                <a:schemeClr val="tx1"/>
              </a:buClr>
            </a:pPr>
            <a:endParaRPr lang="zh-CN" altLang="en-US" sz="1800" dirty="0"/>
          </a:p>
          <a:p>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41</a:t>
            </a:fld>
            <a:endParaRPr lang="zh-CN" altLang="en-US"/>
          </a:p>
        </p:txBody>
      </p:sp>
      <p:pic>
        <p:nvPicPr>
          <p:cNvPr id="5" name="图片 4"/>
          <p:cNvPicPr>
            <a:picLocks noChangeAspect="1"/>
          </p:cNvPicPr>
          <p:nvPr/>
        </p:nvPicPr>
        <p:blipFill>
          <a:blip r:embed="rId2"/>
          <a:stretch>
            <a:fillRect/>
          </a:stretch>
        </p:blipFill>
        <p:spPr>
          <a:xfrm>
            <a:off x="2255415" y="3429009"/>
            <a:ext cx="5380296" cy="2899066"/>
          </a:xfrm>
          <a:prstGeom prst="rect">
            <a:avLst/>
          </a:prstGeom>
        </p:spPr>
      </p:pic>
    </p:spTree>
    <p:extLst>
      <p:ext uri="{BB962C8B-B14F-4D97-AF65-F5344CB8AC3E}">
        <p14:creationId xmlns:p14="http://schemas.microsoft.com/office/powerpoint/2010/main" val="53273730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手机屏幕</a:t>
            </a:r>
          </a:p>
        </p:txBody>
      </p:sp>
      <p:pic>
        <p:nvPicPr>
          <p:cNvPr id="5" name="内容占位符 4"/>
          <p:cNvPicPr>
            <a:picLocks noGrp="1" noChangeAspect="1"/>
          </p:cNvPicPr>
          <p:nvPr>
            <p:ph idx="1"/>
          </p:nvPr>
        </p:nvPicPr>
        <p:blipFill>
          <a:blip r:embed="rId2"/>
          <a:stretch>
            <a:fillRect/>
          </a:stretch>
        </p:blipFill>
        <p:spPr>
          <a:xfrm>
            <a:off x="706023" y="1244600"/>
            <a:ext cx="2705100" cy="2057400"/>
          </a:xfrm>
          <a:prstGeom prst="rect">
            <a:avLst/>
          </a:prstGeom>
        </p:spPr>
      </p:pic>
      <p:sp>
        <p:nvSpPr>
          <p:cNvPr id="4" name="灯片编号占位符 3"/>
          <p:cNvSpPr>
            <a:spLocks noGrp="1"/>
          </p:cNvSpPr>
          <p:nvPr>
            <p:ph type="sldNum" sz="quarter" idx="12"/>
          </p:nvPr>
        </p:nvSpPr>
        <p:spPr/>
        <p:txBody>
          <a:bodyPr/>
          <a:lstStyle/>
          <a:p>
            <a:fld id="{EB792F4E-54C0-4D36-B331-9C6FCFE9A340}" type="slidenum">
              <a:rPr lang="zh-CN" altLang="en-US" smtClean="0"/>
              <a:pPr/>
              <a:t>42</a:t>
            </a:fld>
            <a:endParaRPr lang="zh-CN" altLang="en-US" dirty="0"/>
          </a:p>
        </p:txBody>
      </p:sp>
      <p:pic>
        <p:nvPicPr>
          <p:cNvPr id="6" name="图片 5"/>
          <p:cNvPicPr>
            <a:picLocks noChangeAspect="1"/>
          </p:cNvPicPr>
          <p:nvPr/>
        </p:nvPicPr>
        <p:blipFill>
          <a:blip r:embed="rId3"/>
          <a:stretch>
            <a:fillRect/>
          </a:stretch>
        </p:blipFill>
        <p:spPr>
          <a:xfrm>
            <a:off x="3840301" y="1244600"/>
            <a:ext cx="4635531" cy="2060236"/>
          </a:xfrm>
          <a:prstGeom prst="rect">
            <a:avLst/>
          </a:prstGeom>
        </p:spPr>
      </p:pic>
      <p:pic>
        <p:nvPicPr>
          <p:cNvPr id="7" name="图片 6"/>
          <p:cNvPicPr>
            <a:picLocks noChangeAspect="1"/>
          </p:cNvPicPr>
          <p:nvPr/>
        </p:nvPicPr>
        <p:blipFill>
          <a:blip r:embed="rId4"/>
          <a:stretch>
            <a:fillRect/>
          </a:stretch>
        </p:blipFill>
        <p:spPr>
          <a:xfrm>
            <a:off x="454563" y="3559443"/>
            <a:ext cx="4154659" cy="3115994"/>
          </a:xfrm>
          <a:prstGeom prst="rect">
            <a:avLst/>
          </a:prstGeom>
        </p:spPr>
      </p:pic>
      <p:pic>
        <p:nvPicPr>
          <p:cNvPr id="1028" name="Picture 4" descr="preview"/>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25477" y="3860968"/>
            <a:ext cx="3650355" cy="2337582"/>
          </a:xfrm>
          <a:prstGeom prst="rect">
            <a:avLst/>
          </a:prstGeom>
          <a:noFill/>
          <a:extLst>
            <a:ext uri="{909E8E84-426E-40DD-AFC4-6F175D3DCCD1}">
              <a14:hiddenFill xmlns:a14="http://schemas.microsoft.com/office/drawing/2010/main">
                <a:solidFill>
                  <a:srgbClr val="FFFFFF"/>
                </a:solidFill>
              </a14:hiddenFill>
            </a:ext>
          </a:extLst>
        </p:spPr>
      </p:pic>
      <p:sp>
        <p:nvSpPr>
          <p:cNvPr id="8" name="矩形 7"/>
          <p:cNvSpPr/>
          <p:nvPr/>
        </p:nvSpPr>
        <p:spPr>
          <a:xfrm>
            <a:off x="5548831" y="6198550"/>
            <a:ext cx="2492990" cy="369332"/>
          </a:xfrm>
          <a:prstGeom prst="rect">
            <a:avLst/>
          </a:prstGeom>
        </p:spPr>
        <p:txBody>
          <a:bodyPr wrap="none">
            <a:spAutoFit/>
          </a:bodyPr>
          <a:lstStyle/>
          <a:p>
            <a:r>
              <a:rPr lang="zh-CN" altLang="en-US" dirty="0"/>
              <a:t>图片来源于网络。。。</a:t>
            </a:r>
          </a:p>
        </p:txBody>
      </p:sp>
    </p:spTree>
    <p:extLst>
      <p:ext uri="{BB962C8B-B14F-4D97-AF65-F5344CB8AC3E}">
        <p14:creationId xmlns:p14="http://schemas.microsoft.com/office/powerpoint/2010/main" val="40279093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028"/>
                                        </p:tgtEl>
                                        <p:attrNameLst>
                                          <p:attrName>style.visibility</p:attrName>
                                        </p:attrNameLst>
                                      </p:cBhvr>
                                      <p:to>
                                        <p:strVal val="visible"/>
                                      </p:to>
                                    </p:set>
                                    <p:animEffect transition="in" filter="fade">
                                      <p:cBhvr>
                                        <p:cTn id="12" dur="1000"/>
                                        <p:tgtEl>
                                          <p:spTgt spid="1028"/>
                                        </p:tgtEl>
                                      </p:cBhvr>
                                    </p:animEffect>
                                    <p:anim calcmode="lin" valueType="num">
                                      <p:cBhvr>
                                        <p:cTn id="13" dur="1000" fill="hold"/>
                                        <p:tgtEl>
                                          <p:spTgt spid="1028"/>
                                        </p:tgtEl>
                                        <p:attrNameLst>
                                          <p:attrName>ppt_x</p:attrName>
                                        </p:attrNameLst>
                                      </p:cBhvr>
                                      <p:tavLst>
                                        <p:tav tm="0">
                                          <p:val>
                                            <p:strVal val="#ppt_x"/>
                                          </p:val>
                                        </p:tav>
                                        <p:tav tm="100000">
                                          <p:val>
                                            <p:strVal val="#ppt_x"/>
                                          </p:val>
                                        </p:tav>
                                      </p:tavLst>
                                    </p:anim>
                                    <p:anim calcmode="lin" valueType="num">
                                      <p:cBhvr>
                                        <p:cTn id="14" dur="1000" fill="hold"/>
                                        <p:tgtEl>
                                          <p:spTgt spid="1028"/>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1000"/>
                                        <p:tgtEl>
                                          <p:spTgt spid="8"/>
                                        </p:tgtEl>
                                      </p:cBhvr>
                                    </p:animEffect>
                                    <p:anim calcmode="lin" valueType="num">
                                      <p:cBhvr>
                                        <p:cTn id="18" dur="1000" fill="hold"/>
                                        <p:tgtEl>
                                          <p:spTgt spid="8"/>
                                        </p:tgtEl>
                                        <p:attrNameLst>
                                          <p:attrName>ppt_x</p:attrName>
                                        </p:attrNameLst>
                                      </p:cBhvr>
                                      <p:tavLst>
                                        <p:tav tm="0">
                                          <p:val>
                                            <p:strVal val="#ppt_x"/>
                                          </p:val>
                                        </p:tav>
                                        <p:tav tm="100000">
                                          <p:val>
                                            <p:strVal val="#ppt_x"/>
                                          </p:val>
                                        </p:tav>
                                      </p:tavLst>
                                    </p:anim>
                                    <p:anim calcmode="lin" valueType="num">
                                      <p:cBhvr>
                                        <p:cTn id="1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Hello World to OpenGL</a:t>
            </a:r>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43</a:t>
            </a:fld>
            <a:endParaRPr lang="zh-CN" altLang="en-US"/>
          </a:p>
        </p:txBody>
      </p:sp>
      <p:sp>
        <p:nvSpPr>
          <p:cNvPr id="10" name="文本框 9"/>
          <p:cNvSpPr txBox="1"/>
          <p:nvPr/>
        </p:nvSpPr>
        <p:spPr>
          <a:xfrm>
            <a:off x="1483360" y="5831840"/>
            <a:ext cx="184731" cy="369332"/>
          </a:xfrm>
          <a:prstGeom prst="rect">
            <a:avLst/>
          </a:prstGeom>
          <a:noFill/>
        </p:spPr>
        <p:txBody>
          <a:bodyPr wrap="none" rtlCol="0">
            <a:spAutoFit/>
          </a:bodyPr>
          <a:lstStyle/>
          <a:p>
            <a:endParaRPr lang="zh-CN" altLang="en-US" dirty="0"/>
          </a:p>
        </p:txBody>
      </p:sp>
      <p:sp>
        <p:nvSpPr>
          <p:cNvPr id="6" name="TextBox 5"/>
          <p:cNvSpPr txBox="1"/>
          <p:nvPr/>
        </p:nvSpPr>
        <p:spPr>
          <a:xfrm>
            <a:off x="1713366" y="1685677"/>
            <a:ext cx="1269065" cy="369332"/>
          </a:xfrm>
          <a:prstGeom prst="rect">
            <a:avLst/>
          </a:prstGeom>
        </p:spPr>
        <p:style>
          <a:lnRef idx="2">
            <a:schemeClr val="accent2"/>
          </a:lnRef>
          <a:fillRef idx="1">
            <a:schemeClr val="lt1"/>
          </a:fillRef>
          <a:effectRef idx="0">
            <a:schemeClr val="accent2"/>
          </a:effectRef>
          <a:fontRef idx="minor">
            <a:schemeClr val="dk1"/>
          </a:fontRef>
        </p:style>
        <p:txBody>
          <a:bodyPr wrap="none" rtlCol="0">
            <a:spAutoFit/>
          </a:bodyPr>
          <a:lstStyle/>
          <a:p>
            <a:r>
              <a:rPr lang="en-US" altLang="zh-CN"/>
              <a:t>vshader.glsl</a:t>
            </a:r>
            <a:endParaRPr lang="en-US" dirty="0"/>
          </a:p>
        </p:txBody>
      </p:sp>
      <p:sp>
        <p:nvSpPr>
          <p:cNvPr id="13" name="TextBox 12"/>
          <p:cNvSpPr txBox="1"/>
          <p:nvPr/>
        </p:nvSpPr>
        <p:spPr>
          <a:xfrm>
            <a:off x="6408122" y="1685677"/>
            <a:ext cx="1269065" cy="369332"/>
          </a:xfrm>
          <a:prstGeom prst="rect">
            <a:avLst/>
          </a:prstGeom>
        </p:spPr>
        <p:style>
          <a:lnRef idx="2">
            <a:schemeClr val="accent2"/>
          </a:lnRef>
          <a:fillRef idx="1">
            <a:schemeClr val="lt1"/>
          </a:fillRef>
          <a:effectRef idx="0">
            <a:schemeClr val="accent2"/>
          </a:effectRef>
          <a:fontRef idx="minor">
            <a:schemeClr val="dk1"/>
          </a:fontRef>
        </p:style>
        <p:txBody>
          <a:bodyPr wrap="none" rtlCol="0">
            <a:spAutoFit/>
          </a:bodyPr>
          <a:lstStyle/>
          <a:p>
            <a:r>
              <a:rPr lang="en-US" altLang="zh-CN" dirty="0" err="1"/>
              <a:t>fshader.glsl</a:t>
            </a:r>
            <a:endParaRPr lang="en-US" dirty="0"/>
          </a:p>
        </p:txBody>
      </p:sp>
      <p:sp>
        <p:nvSpPr>
          <p:cNvPr id="5" name="Rectangle 4"/>
          <p:cNvSpPr/>
          <p:nvPr/>
        </p:nvSpPr>
        <p:spPr>
          <a:xfrm>
            <a:off x="393866" y="2650763"/>
            <a:ext cx="3908067" cy="2585323"/>
          </a:xfrm>
          <a:prstGeom prst="rect">
            <a:avLst/>
          </a:prstGeom>
          <a:solidFill>
            <a:srgbClr val="BDD7EE">
              <a:alpha val="52941"/>
            </a:srgbClr>
          </a:solidFill>
        </p:spPr>
        <p:txBody>
          <a:bodyPr wrap="square">
            <a:spAutoFit/>
          </a:bodyPr>
          <a:lstStyle/>
          <a:p>
            <a:r>
              <a:rPr lang="en-US" dirty="0">
                <a:latin typeface="Consolas" panose="020B0609020204030204" pitchFamily="49" charset="0"/>
              </a:rPr>
              <a:t>#version 330 core</a:t>
            </a:r>
          </a:p>
          <a:p>
            <a:endParaRPr lang="en-US" dirty="0">
              <a:latin typeface="Consolas" panose="020B0609020204030204" pitchFamily="49" charset="0"/>
            </a:endParaRPr>
          </a:p>
          <a:p>
            <a:r>
              <a:rPr lang="en-US" dirty="0">
                <a:solidFill>
                  <a:srgbClr val="FF0000"/>
                </a:solidFill>
                <a:latin typeface="Consolas" panose="020B0609020204030204" pitchFamily="49" charset="0"/>
              </a:rPr>
              <a:t>in</a:t>
            </a:r>
            <a:r>
              <a:rPr lang="en-US" dirty="0">
                <a:latin typeface="Consolas" panose="020B0609020204030204" pitchFamily="49" charset="0"/>
              </a:rPr>
              <a:t> </a:t>
            </a:r>
            <a:r>
              <a:rPr lang="en-US" dirty="0">
                <a:solidFill>
                  <a:srgbClr val="0000FF"/>
                </a:solidFill>
                <a:latin typeface="Consolas" panose="020B0609020204030204" pitchFamily="49" charset="0"/>
              </a:rPr>
              <a:t>vec3</a:t>
            </a:r>
            <a:r>
              <a:rPr lang="en-US" dirty="0">
                <a:latin typeface="Consolas" panose="020B0609020204030204" pitchFamily="49" charset="0"/>
              </a:rPr>
              <a:t> </a:t>
            </a:r>
            <a:r>
              <a:rPr lang="en-US" dirty="0" err="1">
                <a:latin typeface="Consolas" panose="020B0609020204030204" pitchFamily="49" charset="0"/>
              </a:rPr>
              <a:t>vPosition</a:t>
            </a:r>
            <a:r>
              <a:rPr lang="en-US" dirty="0">
                <a:latin typeface="Consolas" panose="020B0609020204030204" pitchFamily="49" charset="0"/>
              </a:rPr>
              <a:t>;</a:t>
            </a:r>
          </a:p>
          <a:p>
            <a:endParaRPr lang="en-US" dirty="0">
              <a:latin typeface="Consolas" panose="020B0609020204030204" pitchFamily="49" charset="0"/>
            </a:endParaRPr>
          </a:p>
          <a:p>
            <a:r>
              <a:rPr lang="en-US" dirty="0">
                <a:latin typeface="Consolas" panose="020B0609020204030204" pitchFamily="49" charset="0"/>
              </a:rPr>
              <a:t>void main()</a:t>
            </a:r>
          </a:p>
          <a:p>
            <a:r>
              <a:rPr lang="en-US" dirty="0">
                <a:latin typeface="Consolas" panose="020B0609020204030204" pitchFamily="49" charset="0"/>
              </a:rPr>
              <a:t>{    </a:t>
            </a:r>
          </a:p>
          <a:p>
            <a:pPr lvl="1"/>
            <a:r>
              <a:rPr lang="en-US" dirty="0" err="1">
                <a:latin typeface="Consolas" panose="020B0609020204030204" pitchFamily="49" charset="0"/>
              </a:rPr>
              <a:t>gl_Position</a:t>
            </a:r>
            <a:r>
              <a:rPr lang="en-US" dirty="0">
                <a:latin typeface="Consolas" panose="020B0609020204030204" pitchFamily="49" charset="0"/>
              </a:rPr>
              <a:t> = vec4(</a:t>
            </a:r>
            <a:r>
              <a:rPr lang="en-US" dirty="0" err="1">
                <a:latin typeface="Consolas" panose="020B0609020204030204" pitchFamily="49" charset="0"/>
              </a:rPr>
              <a:t>vPosition</a:t>
            </a:r>
            <a:r>
              <a:rPr lang="en-US" dirty="0">
                <a:latin typeface="Consolas" panose="020B0609020204030204" pitchFamily="49" charset="0"/>
              </a:rPr>
              <a:t>, 1.0);</a:t>
            </a:r>
          </a:p>
          <a:p>
            <a:r>
              <a:rPr lang="en-US" dirty="0">
                <a:latin typeface="Consolas" panose="020B0609020204030204" pitchFamily="49" charset="0"/>
              </a:rPr>
              <a:t>}</a:t>
            </a:r>
          </a:p>
        </p:txBody>
      </p:sp>
      <p:sp>
        <p:nvSpPr>
          <p:cNvPr id="7" name="Rectangle 6"/>
          <p:cNvSpPr/>
          <p:nvPr/>
        </p:nvSpPr>
        <p:spPr>
          <a:xfrm>
            <a:off x="5171898" y="2650763"/>
            <a:ext cx="3741515" cy="2585323"/>
          </a:xfrm>
          <a:prstGeom prst="rect">
            <a:avLst/>
          </a:prstGeom>
          <a:solidFill>
            <a:srgbClr val="BDD7EE">
              <a:alpha val="52941"/>
            </a:srgbClr>
          </a:solidFill>
        </p:spPr>
        <p:txBody>
          <a:bodyPr wrap="square">
            <a:spAutoFit/>
          </a:bodyPr>
          <a:lstStyle/>
          <a:p>
            <a:r>
              <a:rPr lang="en-US" dirty="0">
                <a:latin typeface="Consolas" panose="020B0609020204030204" pitchFamily="49" charset="0"/>
              </a:rPr>
              <a:t>#version 330 core</a:t>
            </a:r>
          </a:p>
          <a:p>
            <a:endParaRPr lang="en-US" dirty="0">
              <a:latin typeface="Consolas" panose="020B0609020204030204" pitchFamily="49" charset="0"/>
            </a:endParaRPr>
          </a:p>
          <a:p>
            <a:r>
              <a:rPr lang="en-US" dirty="0">
                <a:solidFill>
                  <a:srgbClr val="FF0000"/>
                </a:solidFill>
                <a:latin typeface="Consolas" panose="020B0609020204030204" pitchFamily="49" charset="0"/>
              </a:rPr>
              <a:t>out</a:t>
            </a:r>
            <a:r>
              <a:rPr lang="en-US" dirty="0">
                <a:latin typeface="Consolas" panose="020B0609020204030204" pitchFamily="49" charset="0"/>
              </a:rPr>
              <a:t> </a:t>
            </a:r>
            <a:r>
              <a:rPr lang="en-US" dirty="0">
                <a:solidFill>
                  <a:srgbClr val="0000FF"/>
                </a:solidFill>
                <a:latin typeface="Consolas" panose="020B0609020204030204" pitchFamily="49" charset="0"/>
              </a:rPr>
              <a:t>vec4</a:t>
            </a:r>
            <a:r>
              <a:rPr lang="en-US" dirty="0">
                <a:latin typeface="Consolas" panose="020B0609020204030204" pitchFamily="49" charset="0"/>
              </a:rPr>
              <a:t> </a:t>
            </a:r>
            <a:r>
              <a:rPr lang="en-US" dirty="0" err="1">
                <a:latin typeface="Consolas" panose="020B0609020204030204" pitchFamily="49" charset="0"/>
              </a:rPr>
              <a:t>fColor</a:t>
            </a:r>
            <a:r>
              <a:rPr lang="en-US" dirty="0">
                <a:latin typeface="Consolas" panose="020B0609020204030204" pitchFamily="49" charset="0"/>
              </a:rPr>
              <a:t>;</a:t>
            </a:r>
          </a:p>
          <a:p>
            <a:endParaRPr lang="en-US" dirty="0">
              <a:latin typeface="Consolas" panose="020B0609020204030204" pitchFamily="49" charset="0"/>
            </a:endParaRPr>
          </a:p>
          <a:p>
            <a:r>
              <a:rPr lang="en-US" dirty="0">
                <a:latin typeface="Consolas" panose="020B0609020204030204" pitchFamily="49" charset="0"/>
              </a:rPr>
              <a:t>void main()</a:t>
            </a:r>
          </a:p>
          <a:p>
            <a:r>
              <a:rPr lang="en-US" dirty="0">
                <a:latin typeface="Consolas" panose="020B0609020204030204" pitchFamily="49" charset="0"/>
              </a:rPr>
              <a:t>{    </a:t>
            </a:r>
          </a:p>
          <a:p>
            <a:pPr lvl="1"/>
            <a:r>
              <a:rPr lang="en-US" dirty="0" err="1">
                <a:latin typeface="Consolas" panose="020B0609020204030204" pitchFamily="49" charset="0"/>
              </a:rPr>
              <a:t>fColor</a:t>
            </a:r>
            <a:r>
              <a:rPr lang="en-US" dirty="0">
                <a:latin typeface="Consolas" panose="020B0609020204030204" pitchFamily="49" charset="0"/>
              </a:rPr>
              <a:t> = vec4(</a:t>
            </a:r>
            <a:r>
              <a:rPr lang="en-US" dirty="0">
                <a:solidFill>
                  <a:srgbClr val="FF0000"/>
                </a:solidFill>
                <a:latin typeface="Consolas" panose="020B0609020204030204" pitchFamily="49" charset="0"/>
              </a:rPr>
              <a:t>1.0</a:t>
            </a:r>
            <a:r>
              <a:rPr lang="en-US" dirty="0">
                <a:latin typeface="Consolas" panose="020B0609020204030204" pitchFamily="49" charset="0"/>
              </a:rPr>
              <a:t>, </a:t>
            </a:r>
            <a:r>
              <a:rPr lang="en-US" dirty="0">
                <a:solidFill>
                  <a:srgbClr val="00B050"/>
                </a:solidFill>
                <a:latin typeface="Consolas" panose="020B0609020204030204" pitchFamily="49" charset="0"/>
              </a:rPr>
              <a:t>0.0</a:t>
            </a:r>
            <a:r>
              <a:rPr lang="en-US" dirty="0">
                <a:latin typeface="Consolas" panose="020B0609020204030204" pitchFamily="49" charset="0"/>
              </a:rPr>
              <a:t>, </a:t>
            </a:r>
            <a:r>
              <a:rPr lang="en-US" dirty="0">
                <a:solidFill>
                  <a:srgbClr val="0000FF"/>
                </a:solidFill>
                <a:latin typeface="Consolas" panose="020B0609020204030204" pitchFamily="49" charset="0"/>
              </a:rPr>
              <a:t>0.0</a:t>
            </a:r>
            <a:r>
              <a:rPr lang="en-US" dirty="0">
                <a:latin typeface="Consolas" panose="020B0609020204030204" pitchFamily="49" charset="0"/>
              </a:rPr>
              <a:t>, 1.0);</a:t>
            </a:r>
          </a:p>
          <a:p>
            <a:r>
              <a:rPr lang="en-US" dirty="0">
                <a:latin typeface="Consolas" panose="020B0609020204030204" pitchFamily="49" charset="0"/>
              </a:rPr>
              <a:t>}</a:t>
            </a:r>
          </a:p>
        </p:txBody>
      </p:sp>
    </p:spTree>
    <p:extLst>
      <p:ext uri="{BB962C8B-B14F-4D97-AF65-F5344CB8AC3E}">
        <p14:creationId xmlns:p14="http://schemas.microsoft.com/office/powerpoint/2010/main" val="53645704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3200401" y="2094748"/>
            <a:ext cx="3032598" cy="796287"/>
          </a:xfrm>
          <a:prstGeom prst="roundRect">
            <a:avLst>
              <a:gd name="adj" fmla="val 50000"/>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圆角矩形 2"/>
          <p:cNvSpPr/>
          <p:nvPr/>
        </p:nvSpPr>
        <p:spPr>
          <a:xfrm>
            <a:off x="5418743" y="2115257"/>
            <a:ext cx="788833" cy="749851"/>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大纲</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44</a:t>
            </a:fld>
            <a:endParaRPr lang="zh-CN" altLang="en-US"/>
          </a:p>
        </p:txBody>
      </p:sp>
      <p:sp>
        <p:nvSpPr>
          <p:cNvPr id="8" name="文本框 7"/>
          <p:cNvSpPr txBox="1"/>
          <p:nvPr/>
        </p:nvSpPr>
        <p:spPr>
          <a:xfrm>
            <a:off x="1706257" y="3389111"/>
            <a:ext cx="5739072" cy="646331"/>
          </a:xfrm>
          <a:prstGeom prst="rect">
            <a:avLst/>
          </a:prstGeom>
          <a:noFill/>
        </p:spPr>
        <p:txBody>
          <a:bodyPr wrap="none" rtlCol="0">
            <a:spAutoFit/>
          </a:bodyPr>
          <a:lstStyle/>
          <a:p>
            <a:pPr algn="ctr"/>
            <a:r>
              <a:rPr lang="en-US" altLang="zh-CN" sz="3600" b="1" dirty="0">
                <a:latin typeface="微软雅黑" panose="020B0503020204020204" pitchFamily="34" charset="-122"/>
                <a:ea typeface="微软雅黑" panose="020B0503020204020204" pitchFamily="34" charset="-122"/>
              </a:rPr>
              <a:t>OpenGL</a:t>
            </a:r>
            <a:r>
              <a:rPr lang="zh-CN" altLang="en-US" sz="3600" b="1" dirty="0">
                <a:latin typeface="微软雅黑" panose="020B0503020204020204" pitchFamily="34" charset="-122"/>
                <a:ea typeface="微软雅黑" panose="020B0503020204020204" pitchFamily="34" charset="-122"/>
              </a:rPr>
              <a:t>初始化与程序结构</a:t>
            </a:r>
          </a:p>
        </p:txBody>
      </p:sp>
      <p:sp>
        <p:nvSpPr>
          <p:cNvPr id="11" name="文本框 10"/>
          <p:cNvSpPr txBox="1"/>
          <p:nvPr/>
        </p:nvSpPr>
        <p:spPr>
          <a:xfrm>
            <a:off x="3376147" y="2138948"/>
            <a:ext cx="1755609" cy="707886"/>
          </a:xfrm>
          <a:prstGeom prst="rect">
            <a:avLst/>
          </a:prstGeom>
          <a:noFill/>
        </p:spPr>
        <p:txBody>
          <a:bodyPr wrap="none" rtlCol="0">
            <a:spAutoFit/>
          </a:bodyPr>
          <a:lstStyle/>
          <a:p>
            <a:pPr algn="ctr"/>
            <a:r>
              <a:rPr lang="en-US" altLang="zh-CN" sz="4000" b="1" dirty="0">
                <a:solidFill>
                  <a:schemeClr val="bg1"/>
                </a:solidFill>
              </a:rPr>
              <a:t>Section</a:t>
            </a:r>
            <a:endParaRPr lang="zh-CN" altLang="en-US" sz="4000" b="1" dirty="0">
              <a:solidFill>
                <a:schemeClr val="bg1"/>
              </a:solidFill>
            </a:endParaRPr>
          </a:p>
        </p:txBody>
      </p:sp>
      <p:sp>
        <p:nvSpPr>
          <p:cNvPr id="12" name="文本框 11"/>
          <p:cNvSpPr txBox="1"/>
          <p:nvPr/>
        </p:nvSpPr>
        <p:spPr>
          <a:xfrm>
            <a:off x="5523179" y="1913900"/>
            <a:ext cx="614272" cy="1107996"/>
          </a:xfrm>
          <a:prstGeom prst="rect">
            <a:avLst/>
          </a:prstGeom>
          <a:noFill/>
        </p:spPr>
        <p:txBody>
          <a:bodyPr wrap="none" rtlCol="0">
            <a:spAutoFit/>
          </a:bodyPr>
          <a:lstStyle/>
          <a:p>
            <a:pPr algn="ctr"/>
            <a:r>
              <a:rPr lang="en-US" altLang="zh-CN" sz="6600" b="1" i="1" dirty="0">
                <a:solidFill>
                  <a:srgbClr val="94003F"/>
                </a:solidFill>
              </a:rPr>
              <a:t>5</a:t>
            </a:r>
            <a:endParaRPr lang="zh-CN" altLang="en-US" sz="6600" b="1" i="1" dirty="0">
              <a:solidFill>
                <a:srgbClr val="94003F"/>
              </a:solidFill>
            </a:endParaRPr>
          </a:p>
        </p:txBody>
      </p:sp>
      <p:sp>
        <p:nvSpPr>
          <p:cNvPr id="6" name="等腰三角形 5"/>
          <p:cNvSpPr/>
          <p:nvPr/>
        </p:nvSpPr>
        <p:spPr>
          <a:xfrm rot="10800000">
            <a:off x="4447572" y="2804325"/>
            <a:ext cx="492176" cy="321924"/>
          </a:xfrm>
          <a:prstGeom prst="triangle">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5988869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Sierpinski</a:t>
            </a:r>
            <a:r>
              <a:rPr lang="zh-CN" altLang="en-US" dirty="0"/>
              <a:t>镂垫的</a:t>
            </a:r>
            <a:r>
              <a:rPr lang="en-US" altLang="zh-CN" dirty="0"/>
              <a:t>OpenGL</a:t>
            </a:r>
            <a:r>
              <a:rPr lang="zh-CN" altLang="en-US" dirty="0"/>
              <a:t>程序</a:t>
            </a:r>
          </a:p>
        </p:txBody>
      </p:sp>
      <p:sp>
        <p:nvSpPr>
          <p:cNvPr id="3" name="内容占位符 2"/>
          <p:cNvSpPr>
            <a:spLocks noGrp="1"/>
          </p:cNvSpPr>
          <p:nvPr>
            <p:ph idx="1"/>
          </p:nvPr>
        </p:nvSpPr>
        <p:spPr/>
        <p:txBody>
          <a:bodyPr/>
          <a:lstStyle/>
          <a:p>
            <a:pPr>
              <a:buClr>
                <a:srgbClr val="94003F"/>
              </a:buClr>
            </a:pPr>
            <a:r>
              <a:rPr lang="en-US" altLang="zh-CN" sz="2400" dirty="0"/>
              <a:t>Implementation!</a:t>
            </a:r>
            <a:endParaRPr lang="zh-CN" altLang="en-US" sz="2400" dirty="0"/>
          </a:p>
          <a:p>
            <a:pPr lvl="1">
              <a:buClr>
                <a:schemeClr val="tx1"/>
              </a:buClr>
            </a:pPr>
            <a:r>
              <a:rPr lang="zh-CN" altLang="en-US" sz="1800" dirty="0"/>
              <a:t>选择运行环境</a:t>
            </a:r>
            <a:r>
              <a:rPr lang="en-US" altLang="zh-CN" sz="1800" dirty="0"/>
              <a:t>Win/Mac/Linux/Web</a:t>
            </a:r>
          </a:p>
          <a:p>
            <a:pPr lvl="1">
              <a:buClr>
                <a:schemeClr val="tx1"/>
              </a:buClr>
            </a:pPr>
            <a:r>
              <a:rPr lang="zh-CN" altLang="en-US" sz="1800" dirty="0"/>
              <a:t>配置</a:t>
            </a:r>
            <a:r>
              <a:rPr lang="en-US" altLang="zh-CN" sz="1800" dirty="0"/>
              <a:t>OpenGL</a:t>
            </a:r>
            <a:r>
              <a:rPr lang="zh-CN" altLang="en-US" sz="1800" dirty="0"/>
              <a:t>环境</a:t>
            </a:r>
            <a:endParaRPr lang="en-US" altLang="zh-CN" sz="1800" dirty="0"/>
          </a:p>
          <a:p>
            <a:pPr lvl="1">
              <a:buClr>
                <a:schemeClr val="tx1"/>
              </a:buClr>
            </a:pPr>
            <a:r>
              <a:rPr lang="zh-CN" altLang="en-US" sz="1800" dirty="0"/>
              <a:t>构建</a:t>
            </a:r>
            <a:r>
              <a:rPr lang="en-US" altLang="zh-CN" sz="1800" dirty="0" err="1"/>
              <a:t>Sierpinski</a:t>
            </a:r>
            <a:r>
              <a:rPr lang="zh-CN" altLang="en-US" sz="1800" dirty="0"/>
              <a:t>镂垫的点面数据</a:t>
            </a:r>
            <a:endParaRPr lang="en-US" altLang="zh-CN" sz="1800" dirty="0"/>
          </a:p>
          <a:p>
            <a:pPr lvl="1">
              <a:buClr>
                <a:schemeClr val="tx1"/>
              </a:buClr>
            </a:pPr>
            <a:r>
              <a:rPr lang="en-US" altLang="zh-CN" dirty="0"/>
              <a:t>Coding</a:t>
            </a:r>
          </a:p>
          <a:p>
            <a:pPr lvl="1">
              <a:buClr>
                <a:schemeClr val="tx1"/>
              </a:buClr>
            </a:pPr>
            <a:r>
              <a:rPr lang="en-US" altLang="zh-CN" dirty="0"/>
              <a:t>Enjoying &amp; Learning</a:t>
            </a:r>
          </a:p>
          <a:p>
            <a:r>
              <a:rPr lang="zh-CN" altLang="en-US" sz="2400" dirty="0"/>
              <a:t>使用</a:t>
            </a:r>
            <a:r>
              <a:rPr lang="en-US" altLang="zh-CN" sz="2400" dirty="0"/>
              <a:t>GLUT</a:t>
            </a:r>
            <a:r>
              <a:rPr lang="zh-CN" altLang="en-US" sz="2400" dirty="0"/>
              <a:t>库实现</a:t>
            </a:r>
            <a:endParaRPr lang="en-US" altLang="zh-CN" sz="1800" dirty="0"/>
          </a:p>
          <a:p>
            <a:pPr marL="457200" lvl="1" indent="0">
              <a:buClr>
                <a:schemeClr val="tx1"/>
              </a:buClr>
              <a:buNone/>
            </a:pPr>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45</a:t>
            </a:fld>
            <a:endParaRPr lang="zh-CN" altLang="en-US"/>
          </a:p>
        </p:txBody>
      </p:sp>
      <p:pic>
        <p:nvPicPr>
          <p:cNvPr id="8" name="图片 7"/>
          <p:cNvPicPr>
            <a:picLocks noChangeAspect="1"/>
          </p:cNvPicPr>
          <p:nvPr/>
        </p:nvPicPr>
        <p:blipFill>
          <a:blip r:embed="rId2"/>
          <a:stretch>
            <a:fillRect/>
          </a:stretch>
        </p:blipFill>
        <p:spPr>
          <a:xfrm>
            <a:off x="2065427" y="3842919"/>
            <a:ext cx="5824809" cy="2832518"/>
          </a:xfrm>
          <a:prstGeom prst="rect">
            <a:avLst/>
          </a:prstGeom>
        </p:spPr>
      </p:pic>
    </p:spTree>
    <p:extLst>
      <p:ext uri="{BB962C8B-B14F-4D97-AF65-F5344CB8AC3E}">
        <p14:creationId xmlns:p14="http://schemas.microsoft.com/office/powerpoint/2010/main" val="218460266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代码</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46</a:t>
            </a:fld>
            <a:endParaRPr lang="zh-CN" altLang="en-US"/>
          </a:p>
        </p:txBody>
      </p:sp>
      <p:sp>
        <p:nvSpPr>
          <p:cNvPr id="5" name="矩形 4"/>
          <p:cNvSpPr/>
          <p:nvPr/>
        </p:nvSpPr>
        <p:spPr>
          <a:xfrm>
            <a:off x="2103120" y="210005"/>
            <a:ext cx="6652259" cy="6555641"/>
          </a:xfrm>
          <a:prstGeom prst="rect">
            <a:avLst/>
          </a:prstGeom>
          <a:solidFill>
            <a:srgbClr val="BDD7EE">
              <a:alpha val="52941"/>
            </a:srgbClr>
          </a:solidFill>
        </p:spPr>
        <p:txBody>
          <a:bodyPr wrap="square">
            <a:spAutoFit/>
          </a:bodyPr>
          <a:lstStyle/>
          <a:p>
            <a:r>
              <a:rPr lang="en-US" altLang="zh-CN" sz="2000" dirty="0">
                <a:latin typeface="Consolas" panose="020B0609020204030204" pitchFamily="49" charset="0"/>
              </a:rPr>
              <a:t>#</a:t>
            </a:r>
            <a:r>
              <a:rPr lang="en-US" altLang="zh-CN" sz="2000" dirty="0">
                <a:solidFill>
                  <a:srgbClr val="0000FF"/>
                </a:solidFill>
                <a:latin typeface="Consolas" panose="020B0609020204030204" pitchFamily="49" charset="0"/>
              </a:rPr>
              <a:t>include</a:t>
            </a:r>
            <a:r>
              <a:rPr lang="en-US" altLang="zh-CN" sz="2000" dirty="0">
                <a:latin typeface="Consolas" panose="020B0609020204030204" pitchFamily="49" charset="0"/>
              </a:rPr>
              <a:t> &lt;</a:t>
            </a:r>
            <a:r>
              <a:rPr lang="en-US" altLang="zh-CN" sz="2000" dirty="0" err="1">
                <a:latin typeface="Consolas" panose="020B0609020204030204" pitchFamily="49" charset="0"/>
              </a:rPr>
              <a:t>glew.h</a:t>
            </a:r>
            <a:r>
              <a:rPr lang="en-US" altLang="zh-CN" sz="2000" dirty="0">
                <a:latin typeface="Consolas" panose="020B0609020204030204" pitchFamily="49" charset="0"/>
              </a:rPr>
              <a:t>&gt;</a:t>
            </a:r>
          </a:p>
          <a:p>
            <a:r>
              <a:rPr lang="en-US" altLang="zh-CN" sz="2000" dirty="0">
                <a:latin typeface="Consolas" panose="020B0609020204030204" pitchFamily="49" charset="0"/>
              </a:rPr>
              <a:t>#</a:t>
            </a:r>
            <a:r>
              <a:rPr lang="en-US" altLang="zh-CN" sz="2000" dirty="0">
                <a:solidFill>
                  <a:srgbClr val="0000FF"/>
                </a:solidFill>
                <a:latin typeface="Consolas" panose="020B0609020204030204" pitchFamily="49" charset="0"/>
              </a:rPr>
              <a:t>include</a:t>
            </a:r>
            <a:r>
              <a:rPr lang="en-US" altLang="zh-CN" sz="2000" dirty="0">
                <a:latin typeface="Consolas" panose="020B0609020204030204" pitchFamily="49" charset="0"/>
              </a:rPr>
              <a:t> &lt;GL/</a:t>
            </a:r>
            <a:r>
              <a:rPr lang="en-US" altLang="zh-CN" sz="2000" dirty="0" err="1">
                <a:latin typeface="Consolas" panose="020B0609020204030204" pitchFamily="49" charset="0"/>
              </a:rPr>
              <a:t>glut.h</a:t>
            </a:r>
            <a:r>
              <a:rPr lang="en-US" altLang="zh-CN" sz="2000" dirty="0">
                <a:latin typeface="Consolas" panose="020B0609020204030204" pitchFamily="49" charset="0"/>
              </a:rPr>
              <a:t>&gt;</a:t>
            </a:r>
          </a:p>
          <a:p>
            <a:r>
              <a:rPr lang="en-US" altLang="zh-CN" sz="2000" dirty="0" err="1">
                <a:solidFill>
                  <a:srgbClr val="0000FF"/>
                </a:solidFill>
                <a:latin typeface="Consolas" panose="020B0609020204030204" pitchFamily="49" charset="0"/>
              </a:rPr>
              <a:t>int</a:t>
            </a:r>
            <a:r>
              <a:rPr lang="en-US" altLang="zh-CN" sz="2000" dirty="0">
                <a:latin typeface="Consolas" panose="020B0609020204030204" pitchFamily="49" charset="0"/>
              </a:rPr>
              <a:t> main(</a:t>
            </a:r>
            <a:r>
              <a:rPr lang="en-US" altLang="zh-CN" sz="2000" dirty="0" err="1">
                <a:solidFill>
                  <a:srgbClr val="0000FF"/>
                </a:solidFill>
                <a:latin typeface="Consolas" panose="020B0609020204030204" pitchFamily="49" charset="0"/>
              </a:rPr>
              <a:t>int</a:t>
            </a:r>
            <a:r>
              <a:rPr lang="en-US" altLang="zh-CN" sz="2000" dirty="0">
                <a:latin typeface="Consolas" panose="020B0609020204030204" pitchFamily="49" charset="0"/>
              </a:rPr>
              <a:t> </a:t>
            </a:r>
            <a:r>
              <a:rPr lang="en-US" altLang="zh-CN" sz="2000" dirty="0" err="1">
                <a:latin typeface="Consolas" panose="020B0609020204030204" pitchFamily="49" charset="0"/>
              </a:rPr>
              <a:t>argc</a:t>
            </a:r>
            <a:r>
              <a:rPr lang="en-US" altLang="zh-CN" sz="2000" dirty="0">
                <a:latin typeface="Consolas" panose="020B0609020204030204" pitchFamily="49" charset="0"/>
              </a:rPr>
              <a:t>, </a:t>
            </a:r>
            <a:r>
              <a:rPr lang="en-US" altLang="zh-CN" sz="2000" dirty="0">
                <a:solidFill>
                  <a:srgbClr val="0000FF"/>
                </a:solidFill>
                <a:latin typeface="Consolas" panose="020B0609020204030204" pitchFamily="49" charset="0"/>
              </a:rPr>
              <a:t>char</a:t>
            </a:r>
            <a:r>
              <a:rPr lang="en-US" altLang="zh-CN" sz="2000" dirty="0">
                <a:latin typeface="Consolas" panose="020B0609020204030204" pitchFamily="49" charset="0"/>
              </a:rPr>
              <a:t> **</a:t>
            </a:r>
            <a:r>
              <a:rPr lang="en-US" altLang="zh-CN" sz="2000" dirty="0" err="1">
                <a:latin typeface="Consolas" panose="020B0609020204030204" pitchFamily="49" charset="0"/>
              </a:rPr>
              <a:t>argv</a:t>
            </a:r>
            <a:r>
              <a:rPr lang="en-US" altLang="zh-CN" sz="2000" dirty="0">
                <a:latin typeface="Consolas" panose="020B0609020204030204" pitchFamily="49" charset="0"/>
              </a:rPr>
              <a:t>)</a:t>
            </a:r>
          </a:p>
          <a:p>
            <a:r>
              <a:rPr lang="en-US" altLang="zh-CN" sz="2000" dirty="0">
                <a:latin typeface="Consolas" panose="020B0609020204030204" pitchFamily="49" charset="0"/>
              </a:rPr>
              <a:t>{</a:t>
            </a:r>
          </a:p>
          <a:p>
            <a:pPr lvl="1"/>
            <a:r>
              <a:rPr lang="en-US" altLang="zh-CN" sz="2000" dirty="0" err="1">
                <a:latin typeface="Consolas" panose="020B0609020204030204" pitchFamily="49" charset="0"/>
              </a:rPr>
              <a:t>glutInit</a:t>
            </a:r>
            <a:r>
              <a:rPr lang="en-US" altLang="zh-CN" sz="2000" dirty="0">
                <a:latin typeface="Consolas" panose="020B0609020204030204" pitchFamily="49" charset="0"/>
              </a:rPr>
              <a:t>(&amp;</a:t>
            </a:r>
            <a:r>
              <a:rPr lang="en-US" altLang="zh-CN" sz="2000" dirty="0" err="1">
                <a:latin typeface="Consolas" panose="020B0609020204030204" pitchFamily="49" charset="0"/>
              </a:rPr>
              <a:t>argc</a:t>
            </a:r>
            <a:r>
              <a:rPr lang="en-US" altLang="zh-CN" sz="2000" dirty="0">
                <a:latin typeface="Consolas" panose="020B0609020204030204" pitchFamily="49" charset="0"/>
              </a:rPr>
              <a:t>, </a:t>
            </a:r>
            <a:r>
              <a:rPr lang="en-US" altLang="zh-CN" sz="2000" dirty="0" err="1">
                <a:latin typeface="Consolas" panose="020B0609020204030204" pitchFamily="49" charset="0"/>
              </a:rPr>
              <a:t>argv</a:t>
            </a:r>
            <a:r>
              <a:rPr lang="en-US" altLang="zh-CN" sz="2000" dirty="0">
                <a:latin typeface="Consolas" panose="020B0609020204030204" pitchFamily="49" charset="0"/>
              </a:rPr>
              <a:t>);</a:t>
            </a:r>
          </a:p>
          <a:p>
            <a:pPr lvl="1"/>
            <a:r>
              <a:rPr lang="en-US" altLang="zh-CN" sz="2000" dirty="0" err="1">
                <a:latin typeface="Consolas" panose="020B0609020204030204" pitchFamily="49" charset="0"/>
              </a:rPr>
              <a:t>glutInitDisplayMode</a:t>
            </a:r>
            <a:r>
              <a:rPr lang="en-US" altLang="zh-CN" sz="2000" dirty="0">
                <a:latin typeface="Consolas" panose="020B0609020204030204" pitchFamily="49" charset="0"/>
              </a:rPr>
              <a:t> (GLUT_SINGLE | GLUT_RGB);</a:t>
            </a:r>
          </a:p>
          <a:p>
            <a:pPr lvl="1"/>
            <a:r>
              <a:rPr lang="en-US" altLang="zh-CN" sz="2000" dirty="0" err="1">
                <a:latin typeface="Consolas" panose="020B0609020204030204" pitchFamily="49" charset="0"/>
              </a:rPr>
              <a:t>glutInitWindowSize</a:t>
            </a:r>
            <a:r>
              <a:rPr lang="en-US" altLang="zh-CN" sz="2000" dirty="0">
                <a:latin typeface="Consolas" panose="020B0609020204030204" pitchFamily="49" charset="0"/>
              </a:rPr>
              <a:t>(500, 500);</a:t>
            </a:r>
          </a:p>
          <a:p>
            <a:pPr lvl="1"/>
            <a:r>
              <a:rPr lang="en-US" altLang="zh-CN" sz="2000" dirty="0" err="1">
                <a:latin typeface="Consolas" panose="020B0609020204030204" pitchFamily="49" charset="0"/>
              </a:rPr>
              <a:t>glutInitWindowPosition</a:t>
            </a:r>
            <a:r>
              <a:rPr lang="en-US" altLang="zh-CN" sz="2000" dirty="0">
                <a:latin typeface="Consolas" panose="020B0609020204030204" pitchFamily="49" charset="0"/>
              </a:rPr>
              <a:t>(0, 0);</a:t>
            </a:r>
          </a:p>
          <a:p>
            <a:pPr lvl="1"/>
            <a:endParaRPr lang="en-US" altLang="zh-CN" sz="2000" dirty="0">
              <a:latin typeface="Consolas" panose="020B0609020204030204" pitchFamily="49" charset="0"/>
            </a:endParaRPr>
          </a:p>
          <a:p>
            <a:pPr lvl="1"/>
            <a:r>
              <a:rPr lang="en-US" altLang="zh-CN" sz="2000" dirty="0" err="1">
                <a:latin typeface="Consolas" panose="020B0609020204030204" pitchFamily="49" charset="0"/>
              </a:rPr>
              <a:t>glutCreateWindow</a:t>
            </a:r>
            <a:r>
              <a:rPr lang="en-US" altLang="zh-CN" sz="2000" dirty="0">
                <a:latin typeface="Consolas" panose="020B0609020204030204" pitchFamily="49" charset="0"/>
              </a:rPr>
              <a:t>("simple OpenGL example");</a:t>
            </a:r>
          </a:p>
          <a:p>
            <a:pPr lvl="1"/>
            <a:endParaRPr lang="en-US" altLang="zh-CN" sz="2000" dirty="0">
              <a:latin typeface="Consolas" panose="020B0609020204030204" pitchFamily="49" charset="0"/>
            </a:endParaRPr>
          </a:p>
          <a:p>
            <a:pPr lvl="1"/>
            <a:r>
              <a:rPr lang="en-US" altLang="zh-CN" sz="2000" dirty="0" err="1">
                <a:latin typeface="Consolas" panose="020B0609020204030204" pitchFamily="49" charset="0"/>
              </a:rPr>
              <a:t>glewExperimental</a:t>
            </a:r>
            <a:r>
              <a:rPr lang="zh-CN" altLang="en-US" sz="2000" dirty="0">
                <a:latin typeface="Consolas" panose="020B0609020204030204" pitchFamily="49" charset="0"/>
              </a:rPr>
              <a:t> </a:t>
            </a:r>
            <a:r>
              <a:rPr lang="en-US" altLang="zh-CN" sz="2000" dirty="0">
                <a:latin typeface="Consolas" panose="020B0609020204030204" pitchFamily="49" charset="0"/>
              </a:rPr>
              <a:t>=</a:t>
            </a:r>
            <a:r>
              <a:rPr lang="zh-CN" altLang="en-US" sz="2000" dirty="0">
                <a:latin typeface="Consolas" panose="020B0609020204030204" pitchFamily="49" charset="0"/>
              </a:rPr>
              <a:t> </a:t>
            </a:r>
            <a:r>
              <a:rPr lang="en-US" altLang="zh-CN" sz="2000" dirty="0">
                <a:latin typeface="Consolas" panose="020B0609020204030204" pitchFamily="49" charset="0"/>
              </a:rPr>
              <a:t>GL_TRUE;</a:t>
            </a:r>
          </a:p>
          <a:p>
            <a:pPr lvl="1"/>
            <a:r>
              <a:rPr lang="en-US" altLang="zh-CN" sz="2000" dirty="0" err="1">
                <a:latin typeface="Consolas" panose="020B0609020204030204" pitchFamily="49" charset="0"/>
              </a:rPr>
              <a:t>glewInit</a:t>
            </a:r>
            <a:r>
              <a:rPr lang="en-US" altLang="zh-CN" sz="2000" dirty="0">
                <a:latin typeface="Consolas" panose="020B0609020204030204" pitchFamily="49" charset="0"/>
              </a:rPr>
              <a:t>();</a:t>
            </a:r>
          </a:p>
          <a:p>
            <a:pPr lvl="1"/>
            <a:endParaRPr lang="en-US" altLang="zh-CN" sz="2000" dirty="0">
              <a:latin typeface="Consolas" panose="020B0609020204030204" pitchFamily="49" charset="0"/>
            </a:endParaRPr>
          </a:p>
          <a:p>
            <a:pPr lvl="1"/>
            <a:r>
              <a:rPr lang="en-US" altLang="zh-CN" sz="2000" dirty="0" err="1">
                <a:latin typeface="Consolas" panose="020B0609020204030204" pitchFamily="49" charset="0"/>
              </a:rPr>
              <a:t>init</a:t>
            </a:r>
            <a:r>
              <a:rPr lang="en-US" altLang="zh-CN" sz="2000" dirty="0">
                <a:latin typeface="Consolas" panose="020B0609020204030204" pitchFamily="49" charset="0"/>
              </a:rPr>
              <a:t>();</a:t>
            </a:r>
          </a:p>
          <a:p>
            <a:pPr lvl="1"/>
            <a:r>
              <a:rPr lang="en-US" altLang="zh-CN" sz="2000" dirty="0" err="1">
                <a:latin typeface="Consolas" panose="020B0609020204030204" pitchFamily="49" charset="0"/>
              </a:rPr>
              <a:t>glutDisplayFunc</a:t>
            </a:r>
            <a:r>
              <a:rPr lang="en-US" altLang="zh-CN" sz="2000" dirty="0">
                <a:latin typeface="Consolas" panose="020B0609020204030204" pitchFamily="49" charset="0"/>
              </a:rPr>
              <a:t>(display);</a:t>
            </a:r>
          </a:p>
          <a:p>
            <a:pPr lvl="1"/>
            <a:r>
              <a:rPr lang="en-US" altLang="zh-CN" sz="2000" dirty="0" err="1">
                <a:latin typeface="Consolas" panose="020B0609020204030204" pitchFamily="49" charset="0"/>
              </a:rPr>
              <a:t>glutMainLoop</a:t>
            </a:r>
            <a:r>
              <a:rPr lang="en-US" altLang="zh-CN" sz="2000" dirty="0">
                <a:latin typeface="Consolas" panose="020B0609020204030204" pitchFamily="49" charset="0"/>
              </a:rPr>
              <a:t>();</a:t>
            </a:r>
          </a:p>
          <a:p>
            <a:pPr lvl="1"/>
            <a:endParaRPr lang="en-US" altLang="zh-CN" sz="2000" dirty="0">
              <a:latin typeface="Consolas" panose="020B0609020204030204" pitchFamily="49" charset="0"/>
            </a:endParaRPr>
          </a:p>
          <a:p>
            <a:pPr lvl="1"/>
            <a:r>
              <a:rPr lang="en-US" altLang="zh-CN" sz="2000" dirty="0">
                <a:latin typeface="Consolas" panose="020B0609020204030204" pitchFamily="49" charset="0"/>
              </a:rPr>
              <a:t>return</a:t>
            </a:r>
            <a:r>
              <a:rPr lang="zh-CN" altLang="en-US" sz="2000" dirty="0">
                <a:latin typeface="Consolas" panose="020B0609020204030204" pitchFamily="49" charset="0"/>
              </a:rPr>
              <a:t> </a:t>
            </a:r>
            <a:r>
              <a:rPr lang="en-US" altLang="zh-CN" sz="2000" dirty="0">
                <a:latin typeface="Consolas" panose="020B0609020204030204" pitchFamily="49" charset="0"/>
              </a:rPr>
              <a:t>0;</a:t>
            </a:r>
          </a:p>
          <a:p>
            <a:r>
              <a:rPr lang="en-US" altLang="zh-CN" sz="2000" dirty="0">
                <a:latin typeface="Consolas" panose="020B0609020204030204" pitchFamily="49" charset="0"/>
              </a:rPr>
              <a:t>}</a:t>
            </a:r>
            <a:endParaRPr lang="zh-CN" altLang="en-US" sz="2000" dirty="0">
              <a:latin typeface="Consolas" panose="020B0609020204030204" pitchFamily="49" charset="0"/>
            </a:endParaRPr>
          </a:p>
        </p:txBody>
      </p:sp>
      <p:sp>
        <p:nvSpPr>
          <p:cNvPr id="7" name="MH_Number_4"/>
          <p:cNvSpPr/>
          <p:nvPr>
            <p:custDataLst>
              <p:tags r:id="rId1"/>
            </p:custDataLst>
          </p:nvPr>
        </p:nvSpPr>
        <p:spPr>
          <a:xfrm rot="269206" flipH="1">
            <a:off x="6016209" y="4775025"/>
            <a:ext cx="2960547" cy="1205930"/>
          </a:xfrm>
          <a:custGeom>
            <a:avLst/>
            <a:gdLst>
              <a:gd name="connsiteX0" fmla="*/ 282686 w 617200"/>
              <a:gd name="connsiteY0" fmla="*/ 0 h 565372"/>
              <a:gd name="connsiteX1" fmla="*/ 559629 w 617200"/>
              <a:gd name="connsiteY1" fmla="*/ 225715 h 565372"/>
              <a:gd name="connsiteX2" fmla="*/ 561997 w 617200"/>
              <a:gd name="connsiteY2" fmla="*/ 249209 h 565372"/>
              <a:gd name="connsiteX3" fmla="*/ 617200 w 617200"/>
              <a:gd name="connsiteY3" fmla="*/ 282687 h 565372"/>
              <a:gd name="connsiteX4" fmla="*/ 561997 w 617200"/>
              <a:gd name="connsiteY4" fmla="*/ 316164 h 565372"/>
              <a:gd name="connsiteX5" fmla="*/ 559629 w 617200"/>
              <a:gd name="connsiteY5" fmla="*/ 339657 h 565372"/>
              <a:gd name="connsiteX6" fmla="*/ 282686 w 617200"/>
              <a:gd name="connsiteY6" fmla="*/ 565372 h 565372"/>
              <a:gd name="connsiteX7" fmla="*/ 0 w 617200"/>
              <a:gd name="connsiteY7" fmla="*/ 282686 h 565372"/>
              <a:gd name="connsiteX8" fmla="*/ 282686 w 617200"/>
              <a:gd name="connsiteY8" fmla="*/ 0 h 565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7200" h="565372">
                <a:moveTo>
                  <a:pt x="282686" y="0"/>
                </a:moveTo>
                <a:cubicBezTo>
                  <a:pt x="419294" y="0"/>
                  <a:pt x="533270" y="96900"/>
                  <a:pt x="559629" y="225715"/>
                </a:cubicBezTo>
                <a:lnTo>
                  <a:pt x="561997" y="249209"/>
                </a:lnTo>
                <a:lnTo>
                  <a:pt x="617200" y="282687"/>
                </a:lnTo>
                <a:lnTo>
                  <a:pt x="561997" y="316164"/>
                </a:lnTo>
                <a:lnTo>
                  <a:pt x="559629" y="339657"/>
                </a:lnTo>
                <a:cubicBezTo>
                  <a:pt x="533270" y="468472"/>
                  <a:pt x="419294" y="565372"/>
                  <a:pt x="282686" y="565372"/>
                </a:cubicBezTo>
                <a:cubicBezTo>
                  <a:pt x="126563" y="565372"/>
                  <a:pt x="0" y="438809"/>
                  <a:pt x="0" y="282686"/>
                </a:cubicBezTo>
                <a:cubicBezTo>
                  <a:pt x="0" y="126563"/>
                  <a:pt x="126563" y="0"/>
                  <a:pt x="282686" y="0"/>
                </a:cubicBezTo>
                <a:close/>
              </a:path>
            </a:pathLst>
          </a:cu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algn="ctr"/>
            <a:r>
              <a:rPr lang="zh-CN" altLang="en-US" sz="3200" dirty="0">
                <a:solidFill>
                  <a:srgbClr val="FFFFFF"/>
                </a:solidFill>
                <a:latin typeface="Impact" panose="020B0806030902050204" pitchFamily="34" charset="0"/>
              </a:rPr>
              <a:t>绘制回调</a:t>
            </a:r>
            <a:endParaRPr lang="en-US" altLang="zh-CN" sz="3200" dirty="0">
              <a:solidFill>
                <a:srgbClr val="FFFFFF"/>
              </a:solidFill>
              <a:latin typeface="Impact" panose="020B0806030902050204" pitchFamily="34" charset="0"/>
            </a:endParaRPr>
          </a:p>
          <a:p>
            <a:pPr algn="ctr"/>
            <a:r>
              <a:rPr lang="zh-CN" altLang="en-US" sz="3200" dirty="0">
                <a:solidFill>
                  <a:srgbClr val="FFFFFF"/>
                </a:solidFill>
                <a:latin typeface="Impact" panose="020B0806030902050204" pitchFamily="34" charset="0"/>
              </a:rPr>
              <a:t>函数</a:t>
            </a:r>
          </a:p>
        </p:txBody>
      </p:sp>
      <p:sp>
        <p:nvSpPr>
          <p:cNvPr id="8" name="MH_Number_5"/>
          <p:cNvSpPr/>
          <p:nvPr>
            <p:custDataLst>
              <p:tags r:id="rId2"/>
            </p:custDataLst>
          </p:nvPr>
        </p:nvSpPr>
        <p:spPr>
          <a:xfrm rot="21177383">
            <a:off x="8811" y="5148573"/>
            <a:ext cx="2629665" cy="1187552"/>
          </a:xfrm>
          <a:custGeom>
            <a:avLst/>
            <a:gdLst>
              <a:gd name="connsiteX0" fmla="*/ 282686 w 617200"/>
              <a:gd name="connsiteY0" fmla="*/ 0 h 565372"/>
              <a:gd name="connsiteX1" fmla="*/ 559629 w 617200"/>
              <a:gd name="connsiteY1" fmla="*/ 225715 h 565372"/>
              <a:gd name="connsiteX2" fmla="*/ 561997 w 617200"/>
              <a:gd name="connsiteY2" fmla="*/ 249209 h 565372"/>
              <a:gd name="connsiteX3" fmla="*/ 617200 w 617200"/>
              <a:gd name="connsiteY3" fmla="*/ 282687 h 565372"/>
              <a:gd name="connsiteX4" fmla="*/ 561997 w 617200"/>
              <a:gd name="connsiteY4" fmla="*/ 316164 h 565372"/>
              <a:gd name="connsiteX5" fmla="*/ 559629 w 617200"/>
              <a:gd name="connsiteY5" fmla="*/ 339657 h 565372"/>
              <a:gd name="connsiteX6" fmla="*/ 282686 w 617200"/>
              <a:gd name="connsiteY6" fmla="*/ 565372 h 565372"/>
              <a:gd name="connsiteX7" fmla="*/ 0 w 617200"/>
              <a:gd name="connsiteY7" fmla="*/ 282686 h 565372"/>
              <a:gd name="connsiteX8" fmla="*/ 282686 w 617200"/>
              <a:gd name="connsiteY8" fmla="*/ 0 h 565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7200" h="565372">
                <a:moveTo>
                  <a:pt x="282686" y="0"/>
                </a:moveTo>
                <a:cubicBezTo>
                  <a:pt x="419294" y="0"/>
                  <a:pt x="533270" y="96900"/>
                  <a:pt x="559629" y="225715"/>
                </a:cubicBezTo>
                <a:lnTo>
                  <a:pt x="561997" y="249209"/>
                </a:lnTo>
                <a:lnTo>
                  <a:pt x="617200" y="282687"/>
                </a:lnTo>
                <a:lnTo>
                  <a:pt x="561997" y="316164"/>
                </a:lnTo>
                <a:lnTo>
                  <a:pt x="559629" y="339657"/>
                </a:lnTo>
                <a:cubicBezTo>
                  <a:pt x="533270" y="468472"/>
                  <a:pt x="419294" y="565372"/>
                  <a:pt x="282686" y="565372"/>
                </a:cubicBezTo>
                <a:cubicBezTo>
                  <a:pt x="126563" y="565372"/>
                  <a:pt x="0" y="438809"/>
                  <a:pt x="0" y="282686"/>
                </a:cubicBezTo>
                <a:cubicBezTo>
                  <a:pt x="0" y="126563"/>
                  <a:pt x="126563" y="0"/>
                  <a:pt x="282686" y="0"/>
                </a:cubicBezTo>
                <a:close/>
              </a:path>
            </a:pathLst>
          </a:custGeom>
          <a:solidFill>
            <a:srgbClr val="464DD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36000" bIns="0" rtlCol="0" anchor="ctr"/>
          <a:lstStyle/>
          <a:p>
            <a:pPr algn="ctr"/>
            <a:r>
              <a:rPr lang="zh-CN" altLang="en-US" sz="3200" dirty="0">
                <a:solidFill>
                  <a:srgbClr val="FFFFFF"/>
                </a:solidFill>
                <a:latin typeface="Impact" panose="020B0806030902050204" pitchFamily="34" charset="0"/>
              </a:rPr>
              <a:t>事件机制</a:t>
            </a:r>
          </a:p>
        </p:txBody>
      </p:sp>
    </p:spTree>
    <p:extLst>
      <p:ext uri="{BB962C8B-B14F-4D97-AF65-F5344CB8AC3E}">
        <p14:creationId xmlns:p14="http://schemas.microsoft.com/office/powerpoint/2010/main" val="17754570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nodeType="clickEffect">
                                  <p:stCondLst>
                                    <p:cond delay="0"/>
                                  </p:stCondLst>
                                  <p:childTnLst>
                                    <p:animClr clrSpc="rgb" dir="cw">
                                      <p:cBhvr override="childStyle">
                                        <p:cTn id="6" dur="500" fill="hold"/>
                                        <p:tgtEl>
                                          <p:spTgt spid="5">
                                            <p:txEl>
                                              <p:pRg st="15" end="15"/>
                                            </p:txEl>
                                          </p:spTgt>
                                        </p:tgtEl>
                                        <p:attrNameLst>
                                          <p:attrName>style.color</p:attrName>
                                        </p:attrNameLst>
                                      </p:cBhvr>
                                      <p:to>
                                        <a:srgbClr val="FF0000"/>
                                      </p:to>
                                    </p:animClr>
                                    <p:animClr clrSpc="rgb" dir="cw">
                                      <p:cBhvr>
                                        <p:cTn id="7" dur="500" fill="hold"/>
                                        <p:tgtEl>
                                          <p:spTgt spid="5">
                                            <p:txEl>
                                              <p:pRg st="15" end="15"/>
                                            </p:txEl>
                                          </p:spTgt>
                                        </p:tgtEl>
                                        <p:attrNameLst>
                                          <p:attrName>fillcolor</p:attrName>
                                        </p:attrNameLst>
                                      </p:cBhvr>
                                      <p:to>
                                        <a:srgbClr val="FF0000"/>
                                      </p:to>
                                    </p:animClr>
                                    <p:set>
                                      <p:cBhvr>
                                        <p:cTn id="8" dur="500" fill="hold"/>
                                        <p:tgtEl>
                                          <p:spTgt spid="5">
                                            <p:txEl>
                                              <p:pRg st="15" end="15"/>
                                            </p:txEl>
                                          </p:spTgt>
                                        </p:tgtEl>
                                        <p:attrNameLst>
                                          <p:attrName>fill.type</p:attrName>
                                        </p:attrNameLst>
                                      </p:cBhvr>
                                      <p:to>
                                        <p:strVal val="solid"/>
                                      </p:to>
                                    </p:set>
                                    <p:set>
                                      <p:cBhvr>
                                        <p:cTn id="9" dur="500" fill="hold"/>
                                        <p:tgtEl>
                                          <p:spTgt spid="5">
                                            <p:txEl>
                                              <p:pRg st="15" end="15"/>
                                            </p:txEl>
                                          </p:spTgt>
                                        </p:tgtEl>
                                        <p:attrNameLst>
                                          <p:attrName>fill.on</p:attrName>
                                        </p:attrNameLst>
                                      </p:cBhvr>
                                      <p:to>
                                        <p:strVal val="true"/>
                                      </p:to>
                                    </p:set>
                                  </p:childTnLst>
                                </p:cTn>
                              </p:par>
                              <p:par>
                                <p:cTn id="10" presetID="19" presetClass="emph" presetSubtype="0" fill="hold" nodeType="withEffect">
                                  <p:stCondLst>
                                    <p:cond delay="0"/>
                                  </p:stCondLst>
                                  <p:childTnLst>
                                    <p:animClr clrSpc="rgb" dir="cw">
                                      <p:cBhvr override="childStyle">
                                        <p:cTn id="11" dur="500" fill="hold"/>
                                        <p:tgtEl>
                                          <p:spTgt spid="5">
                                            <p:txEl>
                                              <p:pRg st="16" end="16"/>
                                            </p:txEl>
                                          </p:spTgt>
                                        </p:tgtEl>
                                        <p:attrNameLst>
                                          <p:attrName>style.color</p:attrName>
                                        </p:attrNameLst>
                                      </p:cBhvr>
                                      <p:to>
                                        <a:srgbClr val="FF0000"/>
                                      </p:to>
                                    </p:animClr>
                                    <p:animClr clrSpc="rgb" dir="cw">
                                      <p:cBhvr>
                                        <p:cTn id="12" dur="500" fill="hold"/>
                                        <p:tgtEl>
                                          <p:spTgt spid="5">
                                            <p:txEl>
                                              <p:pRg st="16" end="16"/>
                                            </p:txEl>
                                          </p:spTgt>
                                        </p:tgtEl>
                                        <p:attrNameLst>
                                          <p:attrName>fillcolor</p:attrName>
                                        </p:attrNameLst>
                                      </p:cBhvr>
                                      <p:to>
                                        <a:srgbClr val="FF0000"/>
                                      </p:to>
                                    </p:animClr>
                                    <p:set>
                                      <p:cBhvr>
                                        <p:cTn id="13" dur="500" fill="hold"/>
                                        <p:tgtEl>
                                          <p:spTgt spid="5">
                                            <p:txEl>
                                              <p:pRg st="16" end="16"/>
                                            </p:txEl>
                                          </p:spTgt>
                                        </p:tgtEl>
                                        <p:attrNameLst>
                                          <p:attrName>fill.type</p:attrName>
                                        </p:attrNameLst>
                                      </p:cBhvr>
                                      <p:to>
                                        <p:strVal val="solid"/>
                                      </p:to>
                                    </p:set>
                                    <p:set>
                                      <p:cBhvr>
                                        <p:cTn id="14" dur="500" fill="hold"/>
                                        <p:tgtEl>
                                          <p:spTgt spid="5">
                                            <p:txEl>
                                              <p:pRg st="16" end="16"/>
                                            </p:txEl>
                                          </p:spTgt>
                                        </p:tgtEl>
                                        <p:attrNameLst>
                                          <p:attrName>fill.on</p:attrName>
                                        </p:attrNameLst>
                                      </p:cBhvr>
                                      <p:to>
                                        <p:strVal val="true"/>
                                      </p:to>
                                    </p:set>
                                  </p:childTnLst>
                                </p:cTn>
                              </p:par>
                              <p:par>
                                <p:cTn id="15" presetID="19" presetClass="emph" presetSubtype="0" fill="hold" nodeType="withEffect">
                                  <p:stCondLst>
                                    <p:cond delay="0"/>
                                  </p:stCondLst>
                                  <p:childTnLst>
                                    <p:animClr clrSpc="rgb" dir="cw">
                                      <p:cBhvr override="childStyle">
                                        <p:cTn id="16" dur="500" fill="hold"/>
                                        <p:tgtEl>
                                          <p:spTgt spid="5">
                                            <p:txEl>
                                              <p:pRg st="14" end="14"/>
                                            </p:txEl>
                                          </p:spTgt>
                                        </p:tgtEl>
                                        <p:attrNameLst>
                                          <p:attrName>style.color</p:attrName>
                                        </p:attrNameLst>
                                      </p:cBhvr>
                                      <p:to>
                                        <a:srgbClr val="FF0000"/>
                                      </p:to>
                                    </p:animClr>
                                    <p:animClr clrSpc="rgb" dir="cw">
                                      <p:cBhvr>
                                        <p:cTn id="17" dur="500" fill="hold"/>
                                        <p:tgtEl>
                                          <p:spTgt spid="5">
                                            <p:txEl>
                                              <p:pRg st="14" end="14"/>
                                            </p:txEl>
                                          </p:spTgt>
                                        </p:tgtEl>
                                        <p:attrNameLst>
                                          <p:attrName>fillcolor</p:attrName>
                                        </p:attrNameLst>
                                      </p:cBhvr>
                                      <p:to>
                                        <a:srgbClr val="FF0000"/>
                                      </p:to>
                                    </p:animClr>
                                    <p:set>
                                      <p:cBhvr>
                                        <p:cTn id="18" dur="500" fill="hold"/>
                                        <p:tgtEl>
                                          <p:spTgt spid="5">
                                            <p:txEl>
                                              <p:pRg st="14" end="14"/>
                                            </p:txEl>
                                          </p:spTgt>
                                        </p:tgtEl>
                                        <p:attrNameLst>
                                          <p:attrName>fill.type</p:attrName>
                                        </p:attrNameLst>
                                      </p:cBhvr>
                                      <p:to>
                                        <p:strVal val="solid"/>
                                      </p:to>
                                    </p:set>
                                    <p:set>
                                      <p:cBhvr>
                                        <p:cTn id="19" dur="500" fill="hold"/>
                                        <p:tgtEl>
                                          <p:spTgt spid="5">
                                            <p:txEl>
                                              <p:pRg st="14" end="14"/>
                                            </p:txEl>
                                          </p:spTgt>
                                        </p:tgtEl>
                                        <p:attrNameLst>
                                          <p:attrName>fill.on</p:attrName>
                                        </p:attrNameLst>
                                      </p:cBhvr>
                                      <p:to>
                                        <p:strVal val="true"/>
                                      </p:to>
                                    </p:set>
                                  </p:childTnLst>
                                </p:cTn>
                              </p:par>
                            </p:childTnLst>
                          </p:cTn>
                        </p:par>
                      </p:childTnLst>
                    </p:cTn>
                  </p:par>
                  <p:par>
                    <p:cTn id="20" fill="hold">
                      <p:stCondLst>
                        <p:cond delay="indefinite"/>
                      </p:stCondLst>
                      <p:childTnLst>
                        <p:par>
                          <p:cTn id="21" fill="hold">
                            <p:stCondLst>
                              <p:cond delay="0"/>
                            </p:stCondLst>
                            <p:childTnLst>
                              <p:par>
                                <p:cTn id="22" presetID="6" presetClass="entr" presetSubtype="32" fill="hold" grpId="0" nodeType="click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circle(out)">
                                      <p:cBhvr>
                                        <p:cTn id="24" dur="500"/>
                                        <p:tgtEl>
                                          <p:spTgt spid="7"/>
                                        </p:tgtEl>
                                      </p:cBhvr>
                                    </p:animEffect>
                                  </p:childTnLst>
                                </p:cTn>
                              </p:par>
                            </p:childTnLst>
                          </p:cTn>
                        </p:par>
                      </p:childTnLst>
                    </p:cTn>
                  </p:par>
                  <p:par>
                    <p:cTn id="25" fill="hold">
                      <p:stCondLst>
                        <p:cond delay="indefinite"/>
                      </p:stCondLst>
                      <p:childTnLst>
                        <p:par>
                          <p:cTn id="26" fill="hold">
                            <p:stCondLst>
                              <p:cond delay="0"/>
                            </p:stCondLst>
                            <p:childTnLst>
                              <p:par>
                                <p:cTn id="27" presetID="6" presetClass="entr" presetSubtype="32"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circle(out)">
                                      <p:cBhvr>
                                        <p:cTn id="2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Sierpinski</a:t>
            </a:r>
            <a:r>
              <a:rPr lang="zh-CN" altLang="en-US" dirty="0"/>
              <a:t>程序的绘制部分</a:t>
            </a:r>
          </a:p>
        </p:txBody>
      </p:sp>
      <p:sp>
        <p:nvSpPr>
          <p:cNvPr id="3" name="内容占位符 2"/>
          <p:cNvSpPr>
            <a:spLocks noGrp="1"/>
          </p:cNvSpPr>
          <p:nvPr>
            <p:ph idx="1"/>
          </p:nvPr>
        </p:nvSpPr>
        <p:spPr/>
        <p:txBody>
          <a:bodyPr/>
          <a:lstStyle/>
          <a:p>
            <a:pPr>
              <a:buClr>
                <a:srgbClr val="94003F"/>
              </a:buClr>
            </a:pPr>
            <a:r>
              <a:rPr lang="zh-CN" altLang="en-US" sz="2400" dirty="0"/>
              <a:t>绘制部分的主要功能</a:t>
            </a:r>
            <a:r>
              <a:rPr lang="en-US" altLang="zh-CN" sz="2400" dirty="0"/>
              <a:t>:</a:t>
            </a:r>
            <a:endParaRPr lang="zh-CN" altLang="en-US" sz="2400" dirty="0"/>
          </a:p>
          <a:p>
            <a:pPr lvl="1">
              <a:buClr>
                <a:schemeClr val="tx1"/>
              </a:buClr>
            </a:pPr>
            <a:r>
              <a:rPr lang="zh-CN" altLang="en-US" sz="1800" dirty="0"/>
              <a:t>准备数据</a:t>
            </a:r>
            <a:endParaRPr lang="en-US" altLang="zh-CN" sz="1800" dirty="0"/>
          </a:p>
          <a:p>
            <a:pPr lvl="1">
              <a:buClr>
                <a:schemeClr val="tx1"/>
              </a:buClr>
            </a:pPr>
            <a:r>
              <a:rPr lang="zh-CN" altLang="en-US" sz="1800" dirty="0"/>
              <a:t>调用图形</a:t>
            </a:r>
            <a:r>
              <a:rPr lang="en-US" altLang="zh-CN" sz="1800" dirty="0"/>
              <a:t>API</a:t>
            </a:r>
            <a:r>
              <a:rPr lang="zh-CN" altLang="en-US" sz="1800" dirty="0"/>
              <a:t>将数据送入</a:t>
            </a:r>
            <a:r>
              <a:rPr lang="en-US" altLang="zh-CN" sz="1800" dirty="0"/>
              <a:t>GPU</a:t>
            </a:r>
            <a:endParaRPr lang="en-US" altLang="zh-CN" dirty="0"/>
          </a:p>
          <a:p>
            <a:r>
              <a:rPr lang="zh-CN" altLang="en-US" sz="2400" dirty="0"/>
              <a:t>使用顶点数组</a:t>
            </a:r>
            <a:r>
              <a:rPr lang="en-US" altLang="zh-CN" sz="2400" b="1" dirty="0"/>
              <a:t>vertex-array</a:t>
            </a:r>
            <a:r>
              <a:rPr lang="en-US" altLang="zh-CN" sz="2400" dirty="0"/>
              <a:t> object</a:t>
            </a:r>
            <a:r>
              <a:rPr lang="zh-CN" altLang="en-US" sz="2400" dirty="0"/>
              <a:t>与</a:t>
            </a:r>
            <a:r>
              <a:rPr lang="en-US" altLang="zh-CN" sz="2400" dirty="0"/>
              <a:t>buffer object:</a:t>
            </a:r>
            <a:endParaRPr lang="en-US" altLang="zh-CN" sz="1800" dirty="0"/>
          </a:p>
          <a:p>
            <a:pPr marL="457200" lvl="1" indent="0">
              <a:buClr>
                <a:schemeClr val="tx1"/>
              </a:buClr>
              <a:buNone/>
            </a:pPr>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47</a:t>
            </a:fld>
            <a:endParaRPr lang="zh-CN" altLang="en-US"/>
          </a:p>
        </p:txBody>
      </p:sp>
      <p:sp>
        <p:nvSpPr>
          <p:cNvPr id="6" name="矩形 5"/>
          <p:cNvSpPr/>
          <p:nvPr/>
        </p:nvSpPr>
        <p:spPr>
          <a:xfrm>
            <a:off x="211684" y="2953986"/>
            <a:ext cx="4214320" cy="3139321"/>
          </a:xfrm>
          <a:prstGeom prst="rect">
            <a:avLst/>
          </a:prstGeom>
          <a:solidFill>
            <a:srgbClr val="BDD7EE">
              <a:alpha val="52941"/>
            </a:srgbClr>
          </a:solidFill>
        </p:spPr>
        <p:txBody>
          <a:bodyPr wrap="square">
            <a:spAutoFit/>
          </a:bodyPr>
          <a:lstStyle/>
          <a:p>
            <a:r>
              <a:rPr lang="en-US" altLang="zh-CN" dirty="0" err="1">
                <a:solidFill>
                  <a:srgbClr val="0000FF"/>
                </a:solidFill>
                <a:latin typeface="Consolas" panose="020B0609020204030204" pitchFamily="49" charset="0"/>
              </a:rPr>
              <a:t>GLuint</a:t>
            </a:r>
            <a:r>
              <a:rPr lang="en-US" altLang="zh-CN" dirty="0">
                <a:latin typeface="Consolas" panose="020B0609020204030204" pitchFamily="49" charset="0"/>
              </a:rPr>
              <a:t> </a:t>
            </a:r>
            <a:r>
              <a:rPr lang="en-US" altLang="zh-CN" dirty="0" err="1">
                <a:latin typeface="Consolas" panose="020B0609020204030204" pitchFamily="49" charset="0"/>
              </a:rPr>
              <a:t>abuffer</a:t>
            </a:r>
            <a:r>
              <a:rPr lang="en-US" altLang="zh-CN" dirty="0">
                <a:latin typeface="Consolas" panose="020B0609020204030204" pitchFamily="49" charset="0"/>
              </a:rPr>
              <a:t>;</a:t>
            </a:r>
          </a:p>
          <a:p>
            <a:r>
              <a:rPr lang="en-US" altLang="zh-CN" dirty="0" err="1">
                <a:latin typeface="Consolas" panose="020B0609020204030204" pitchFamily="49" charset="0"/>
              </a:rPr>
              <a:t>glGenVertexArrays</a:t>
            </a:r>
            <a:r>
              <a:rPr lang="en-US" altLang="zh-CN" dirty="0">
                <a:latin typeface="Consolas" panose="020B0609020204030204" pitchFamily="49" charset="0"/>
              </a:rPr>
              <a:t>(1, &amp;</a:t>
            </a:r>
            <a:r>
              <a:rPr lang="en-US" altLang="zh-CN" dirty="0" err="1">
                <a:latin typeface="Consolas" panose="020B0609020204030204" pitchFamily="49" charset="0"/>
              </a:rPr>
              <a:t>abuffer</a:t>
            </a:r>
            <a:r>
              <a:rPr lang="en-US" altLang="zh-CN" dirty="0">
                <a:latin typeface="Consolas" panose="020B0609020204030204" pitchFamily="49" charset="0"/>
              </a:rPr>
              <a:t>);</a:t>
            </a:r>
          </a:p>
          <a:p>
            <a:r>
              <a:rPr lang="en-US" altLang="zh-CN" b="1" dirty="0" err="1">
                <a:solidFill>
                  <a:srgbClr val="FF0000"/>
                </a:solidFill>
                <a:latin typeface="Consolas" panose="020B0609020204030204" pitchFamily="49" charset="0"/>
              </a:rPr>
              <a:t>glBindVertexArray</a:t>
            </a:r>
            <a:r>
              <a:rPr lang="en-US" altLang="zh-CN" dirty="0">
                <a:latin typeface="Consolas" panose="020B0609020204030204" pitchFamily="49" charset="0"/>
              </a:rPr>
              <a:t>(</a:t>
            </a:r>
            <a:r>
              <a:rPr lang="en-US" altLang="zh-CN" dirty="0" err="1">
                <a:latin typeface="Consolas" panose="020B0609020204030204" pitchFamily="49" charset="0"/>
              </a:rPr>
              <a:t>abuffer</a:t>
            </a:r>
            <a:r>
              <a:rPr lang="en-US" altLang="zh-CN" dirty="0">
                <a:latin typeface="Consolas" panose="020B0609020204030204" pitchFamily="49" charset="0"/>
              </a:rPr>
              <a:t>);</a:t>
            </a:r>
          </a:p>
          <a:p>
            <a:endParaRPr lang="en-US" altLang="zh-CN" dirty="0">
              <a:latin typeface="Consolas" panose="020B0609020204030204" pitchFamily="49" charset="0"/>
            </a:endParaRPr>
          </a:p>
          <a:p>
            <a:r>
              <a:rPr lang="en-US" altLang="zh-CN" dirty="0" err="1">
                <a:solidFill>
                  <a:srgbClr val="0000FF"/>
                </a:solidFill>
                <a:latin typeface="Consolas" panose="020B0609020204030204" pitchFamily="49" charset="0"/>
              </a:rPr>
              <a:t>GLuint</a:t>
            </a:r>
            <a:r>
              <a:rPr lang="en-US" altLang="zh-CN" dirty="0">
                <a:latin typeface="Consolas" panose="020B0609020204030204" pitchFamily="49" charset="0"/>
              </a:rPr>
              <a:t> buffer;</a:t>
            </a:r>
          </a:p>
          <a:p>
            <a:r>
              <a:rPr lang="en-US" altLang="zh-CN" dirty="0" err="1">
                <a:latin typeface="Consolas" panose="020B0609020204030204" pitchFamily="49" charset="0"/>
              </a:rPr>
              <a:t>glGenBuffers</a:t>
            </a:r>
            <a:r>
              <a:rPr lang="en-US" altLang="zh-CN" dirty="0">
                <a:latin typeface="Consolas" panose="020B0609020204030204" pitchFamily="49" charset="0"/>
              </a:rPr>
              <a:t>(1, &amp;buffer);</a:t>
            </a:r>
          </a:p>
          <a:p>
            <a:r>
              <a:rPr lang="en-US" altLang="zh-CN" dirty="0" err="1">
                <a:latin typeface="Consolas" panose="020B0609020204030204" pitchFamily="49" charset="0"/>
              </a:rPr>
              <a:t>glBindBuffer</a:t>
            </a:r>
            <a:r>
              <a:rPr lang="en-US" altLang="zh-CN" dirty="0">
                <a:latin typeface="Consolas" panose="020B0609020204030204" pitchFamily="49" charset="0"/>
              </a:rPr>
              <a:t>(GL_ARRAY_BUFFER, buffer);</a:t>
            </a:r>
          </a:p>
          <a:p>
            <a:r>
              <a:rPr lang="en-US" altLang="zh-CN" dirty="0" err="1">
                <a:latin typeface="Consolas" panose="020B0609020204030204" pitchFamily="49" charset="0"/>
              </a:rPr>
              <a:t>glBufferData</a:t>
            </a:r>
            <a:r>
              <a:rPr lang="en-US" altLang="zh-CN" dirty="0">
                <a:latin typeface="Consolas" panose="020B0609020204030204" pitchFamily="49" charset="0"/>
              </a:rPr>
              <a:t>(GL_ARRAY_BUFFER, </a:t>
            </a:r>
            <a:r>
              <a:rPr lang="en-US" altLang="zh-CN" dirty="0" err="1">
                <a:latin typeface="Consolas" panose="020B0609020204030204" pitchFamily="49" charset="0"/>
              </a:rPr>
              <a:t>sizeof</a:t>
            </a:r>
            <a:r>
              <a:rPr lang="en-US" altLang="zh-CN" dirty="0">
                <a:latin typeface="Consolas" panose="020B0609020204030204" pitchFamily="49" charset="0"/>
              </a:rPr>
              <a:t>(points), </a:t>
            </a:r>
          </a:p>
          <a:p>
            <a:r>
              <a:rPr lang="en-US" altLang="zh-CN" dirty="0">
                <a:latin typeface="Consolas" panose="020B0609020204030204" pitchFamily="49" charset="0"/>
              </a:rPr>
              <a:t>points, GL_STATIC_DRAW);</a:t>
            </a:r>
          </a:p>
        </p:txBody>
      </p:sp>
      <p:sp>
        <p:nvSpPr>
          <p:cNvPr id="7" name="矩形 6"/>
          <p:cNvSpPr/>
          <p:nvPr/>
        </p:nvSpPr>
        <p:spPr>
          <a:xfrm>
            <a:off x="4777740" y="2953986"/>
            <a:ext cx="4187152" cy="2031325"/>
          </a:xfrm>
          <a:prstGeom prst="rect">
            <a:avLst/>
          </a:prstGeom>
          <a:solidFill>
            <a:srgbClr val="BDD7EE">
              <a:alpha val="52941"/>
            </a:srgbClr>
          </a:solidFill>
        </p:spPr>
        <p:txBody>
          <a:bodyPr wrap="square">
            <a:spAutoFit/>
          </a:bodyPr>
          <a:lstStyle/>
          <a:p>
            <a:r>
              <a:rPr lang="en-US" altLang="zh-CN" dirty="0">
                <a:solidFill>
                  <a:srgbClr val="0000FF"/>
                </a:solidFill>
                <a:latin typeface="Consolas" panose="020B0609020204030204" pitchFamily="49" charset="0"/>
              </a:rPr>
              <a:t>void </a:t>
            </a:r>
            <a:r>
              <a:rPr lang="en-US" altLang="zh-CN" dirty="0">
                <a:latin typeface="Consolas" panose="020B0609020204030204" pitchFamily="49" charset="0"/>
              </a:rPr>
              <a:t>display(</a:t>
            </a:r>
            <a:r>
              <a:rPr lang="en-US" altLang="zh-CN" dirty="0">
                <a:solidFill>
                  <a:srgbClr val="0000FF"/>
                </a:solidFill>
                <a:latin typeface="Consolas" panose="020B0609020204030204" pitchFamily="49" charset="0"/>
              </a:rPr>
              <a:t>void</a:t>
            </a:r>
            <a:r>
              <a:rPr lang="en-US" altLang="zh-CN" dirty="0">
                <a:latin typeface="Consolas" panose="020B0609020204030204" pitchFamily="49" charset="0"/>
              </a:rPr>
              <a:t>)</a:t>
            </a:r>
          </a:p>
          <a:p>
            <a:r>
              <a:rPr lang="en-US" altLang="zh-CN" dirty="0">
                <a:latin typeface="Consolas" panose="020B0609020204030204" pitchFamily="49" charset="0"/>
              </a:rPr>
              <a:t>{</a:t>
            </a:r>
          </a:p>
          <a:p>
            <a:pPr lvl="1"/>
            <a:r>
              <a:rPr lang="en-US" altLang="zh-CN" dirty="0" err="1">
                <a:latin typeface="Consolas" panose="020B0609020204030204" pitchFamily="49" charset="0"/>
              </a:rPr>
              <a:t>glClear</a:t>
            </a:r>
            <a:r>
              <a:rPr lang="en-US" altLang="zh-CN" dirty="0">
                <a:latin typeface="Consolas" panose="020B0609020204030204" pitchFamily="49" charset="0"/>
              </a:rPr>
              <a:t>(GL_COLOR_BUFFER_BIT);</a:t>
            </a:r>
          </a:p>
          <a:p>
            <a:pPr lvl="1"/>
            <a:r>
              <a:rPr lang="en-US" altLang="zh-CN" dirty="0" err="1">
                <a:latin typeface="Consolas" panose="020B0609020204030204" pitchFamily="49" charset="0"/>
              </a:rPr>
              <a:t>glDrawArrays</a:t>
            </a:r>
            <a:r>
              <a:rPr lang="en-US" altLang="zh-CN" dirty="0">
                <a:latin typeface="Consolas" panose="020B0609020204030204" pitchFamily="49" charset="0"/>
              </a:rPr>
              <a:t>(GL_POINTS, 0, N);</a:t>
            </a:r>
          </a:p>
          <a:p>
            <a:pPr lvl="1"/>
            <a:r>
              <a:rPr lang="en-US" altLang="zh-CN" dirty="0" err="1">
                <a:latin typeface="Consolas" panose="020B0609020204030204" pitchFamily="49" charset="0"/>
              </a:rPr>
              <a:t>glFlush</a:t>
            </a:r>
            <a:r>
              <a:rPr lang="en-US" altLang="zh-CN" dirty="0">
                <a:latin typeface="Consolas" panose="020B0609020204030204" pitchFamily="49" charset="0"/>
              </a:rPr>
              <a:t>();</a:t>
            </a:r>
          </a:p>
          <a:p>
            <a:r>
              <a:rPr lang="en-US" altLang="zh-CN" dirty="0">
                <a:latin typeface="Consolas" panose="020B0609020204030204" pitchFamily="49" charset="0"/>
              </a:rPr>
              <a:t>}</a:t>
            </a:r>
          </a:p>
        </p:txBody>
      </p:sp>
      <p:sp>
        <p:nvSpPr>
          <p:cNvPr id="8" name="TextBox 2"/>
          <p:cNvSpPr txBox="1"/>
          <p:nvPr/>
        </p:nvSpPr>
        <p:spPr>
          <a:xfrm>
            <a:off x="2411668" y="2968173"/>
            <a:ext cx="1870705" cy="276999"/>
          </a:xfrm>
          <a:prstGeom prst="rect">
            <a:avLst/>
          </a:prstGeom>
          <a:solidFill>
            <a:srgbClr val="C00000"/>
          </a:solidFill>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US" sz="1200" dirty="0"/>
              <a:t>VAO </a:t>
            </a:r>
            <a:r>
              <a:rPr lang="en-US" altLang="zh-CN" sz="1200" dirty="0"/>
              <a:t>(</a:t>
            </a:r>
            <a:r>
              <a:rPr lang="en-US" sz="1200" dirty="0"/>
              <a:t> Vertex Array Object </a:t>
            </a:r>
            <a:r>
              <a:rPr lang="en-US" altLang="zh-CN" sz="1200" dirty="0"/>
              <a:t>)</a:t>
            </a:r>
            <a:endParaRPr lang="en-US" sz="1200" dirty="0"/>
          </a:p>
        </p:txBody>
      </p:sp>
      <p:sp>
        <p:nvSpPr>
          <p:cNvPr id="9" name="TextBox 11"/>
          <p:cNvSpPr txBox="1"/>
          <p:nvPr/>
        </p:nvSpPr>
        <p:spPr>
          <a:xfrm>
            <a:off x="2386116" y="4065111"/>
            <a:ext cx="1921808" cy="276999"/>
          </a:xfrm>
          <a:prstGeom prst="rect">
            <a:avLst/>
          </a:prstGeom>
          <a:solidFill>
            <a:srgbClr val="C00000"/>
          </a:solidFill>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US" sz="1200" dirty="0"/>
              <a:t>V</a:t>
            </a:r>
            <a:r>
              <a:rPr lang="en-US" altLang="zh-CN" sz="1200" dirty="0"/>
              <a:t>B</a:t>
            </a:r>
            <a:r>
              <a:rPr lang="en-US" sz="1200" dirty="0"/>
              <a:t>O </a:t>
            </a:r>
            <a:r>
              <a:rPr lang="en-US" altLang="zh-CN" sz="1200" dirty="0"/>
              <a:t>(</a:t>
            </a:r>
            <a:r>
              <a:rPr lang="en-US" sz="1200" dirty="0"/>
              <a:t> Vertex </a:t>
            </a:r>
            <a:r>
              <a:rPr lang="en-US" altLang="zh-CN" sz="1200" dirty="0"/>
              <a:t>Buffer</a:t>
            </a:r>
            <a:r>
              <a:rPr lang="zh-CN" altLang="en-US" sz="1200" dirty="0"/>
              <a:t> </a:t>
            </a:r>
            <a:r>
              <a:rPr lang="en-US" sz="1200" dirty="0"/>
              <a:t>Object </a:t>
            </a:r>
            <a:r>
              <a:rPr lang="en-US" altLang="zh-CN" sz="1200" dirty="0"/>
              <a:t>)</a:t>
            </a:r>
            <a:endParaRPr lang="en-US" sz="1200" dirty="0"/>
          </a:p>
        </p:txBody>
      </p:sp>
      <p:cxnSp>
        <p:nvCxnSpPr>
          <p:cNvPr id="10" name="直接箭头连接符 9"/>
          <p:cNvCxnSpPr/>
          <p:nvPr/>
        </p:nvCxnSpPr>
        <p:spPr>
          <a:xfrm flipH="1" flipV="1">
            <a:off x="3744369" y="3710997"/>
            <a:ext cx="1481727" cy="246953"/>
          </a:xfrm>
          <a:prstGeom prst="straightConnector1">
            <a:avLst/>
          </a:prstGeom>
          <a:ln w="762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618247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2"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ipe(right)">
                                      <p:cBhvr>
                                        <p:cTn id="15"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API</a:t>
            </a:r>
            <a:r>
              <a:rPr lang="zh-CN" altLang="en-US" dirty="0"/>
              <a:t>调用之后</a:t>
            </a:r>
            <a:r>
              <a:rPr lang="en-US" altLang="zh-CN" dirty="0"/>
              <a:t>…</a:t>
            </a:r>
            <a:endParaRPr lang="zh-CN" altLang="en-US" dirty="0"/>
          </a:p>
        </p:txBody>
      </p:sp>
      <p:sp>
        <p:nvSpPr>
          <p:cNvPr id="3" name="内容占位符 2"/>
          <p:cNvSpPr>
            <a:spLocks noGrp="1"/>
          </p:cNvSpPr>
          <p:nvPr>
            <p:ph idx="1"/>
          </p:nvPr>
        </p:nvSpPr>
        <p:spPr/>
        <p:txBody>
          <a:bodyPr>
            <a:normAutofit/>
          </a:bodyPr>
          <a:lstStyle/>
          <a:p>
            <a:pPr>
              <a:buClr>
                <a:srgbClr val="94003F"/>
              </a:buClr>
            </a:pPr>
            <a:r>
              <a:rPr lang="zh-CN" altLang="en-US" sz="2400" dirty="0"/>
              <a:t>顶点着色器（</a:t>
            </a:r>
            <a:r>
              <a:rPr lang="en-US" altLang="zh-CN" sz="2400" dirty="0"/>
              <a:t>Vertex </a:t>
            </a:r>
            <a:r>
              <a:rPr lang="en-US" altLang="zh-CN" sz="2400" dirty="0" err="1"/>
              <a:t>Shader</a:t>
            </a:r>
            <a:r>
              <a:rPr lang="zh-CN" altLang="en-US" sz="2400" dirty="0"/>
              <a:t>）</a:t>
            </a:r>
          </a:p>
          <a:p>
            <a:pPr lvl="1">
              <a:buClr>
                <a:schemeClr val="tx1"/>
              </a:buClr>
            </a:pPr>
            <a:r>
              <a:rPr lang="zh-CN" altLang="en-US" sz="1800" dirty="0"/>
              <a:t>光栅化之前的顶点几何处理程序</a:t>
            </a:r>
            <a:endParaRPr lang="en-US" altLang="zh-CN" sz="1800" dirty="0"/>
          </a:p>
          <a:p>
            <a:pPr lvl="1">
              <a:buClr>
                <a:schemeClr val="tx1"/>
              </a:buClr>
            </a:pPr>
            <a:r>
              <a:rPr lang="zh-CN" altLang="en-US" sz="1800" dirty="0"/>
              <a:t>针对每个顶点进行计算</a:t>
            </a:r>
            <a:endParaRPr lang="en-US" altLang="zh-CN" sz="1800" dirty="0"/>
          </a:p>
          <a:p>
            <a:pPr marL="0" indent="0">
              <a:buClr>
                <a:srgbClr val="94003F"/>
              </a:buClr>
              <a:buNone/>
            </a:pPr>
            <a:endParaRPr lang="en-US" altLang="zh-CN" sz="2400" dirty="0"/>
          </a:p>
          <a:p>
            <a:pPr>
              <a:buClr>
                <a:srgbClr val="94003F"/>
              </a:buClr>
            </a:pPr>
            <a:r>
              <a:rPr lang="zh-CN" altLang="en-US" sz="2400" dirty="0"/>
              <a:t>片段着色器</a:t>
            </a:r>
            <a:r>
              <a:rPr lang="en-US" altLang="zh-CN" sz="2400" dirty="0"/>
              <a:t>(Fragment </a:t>
            </a:r>
            <a:r>
              <a:rPr lang="en-US" altLang="zh-CN" sz="2400" dirty="0" err="1"/>
              <a:t>Shader</a:t>
            </a:r>
            <a:r>
              <a:rPr lang="en-US" altLang="zh-CN" sz="2400" dirty="0"/>
              <a:t>)</a:t>
            </a:r>
            <a:endParaRPr lang="zh-CN" altLang="en-US" sz="2400" dirty="0"/>
          </a:p>
          <a:p>
            <a:pPr lvl="1">
              <a:buClr>
                <a:schemeClr val="tx1"/>
              </a:buClr>
            </a:pPr>
            <a:r>
              <a:rPr lang="zh-CN" altLang="en-US" sz="1800" dirty="0"/>
              <a:t>片段由光栅化阶段产生</a:t>
            </a:r>
          </a:p>
          <a:p>
            <a:pPr lvl="1">
              <a:buClr>
                <a:schemeClr val="tx1"/>
              </a:buClr>
            </a:pPr>
            <a:r>
              <a:rPr lang="zh-CN" altLang="en-US" sz="1800" dirty="0"/>
              <a:t>针对每个片段计算像素颜色</a:t>
            </a:r>
            <a:endParaRPr lang="en-US" altLang="zh-CN" sz="1800" dirty="0"/>
          </a:p>
          <a:p>
            <a:pPr lvl="1">
              <a:buClr>
                <a:schemeClr val="tx1"/>
              </a:buClr>
            </a:pPr>
            <a:endParaRPr lang="en-US" altLang="zh-CN" sz="1800" dirty="0"/>
          </a:p>
          <a:p>
            <a:pPr lvl="1">
              <a:buClr>
                <a:schemeClr val="tx1"/>
              </a:buClr>
            </a:pPr>
            <a:endParaRPr lang="zh-CN" altLang="en-US" sz="1800" dirty="0"/>
          </a:p>
          <a:p>
            <a:r>
              <a:rPr lang="zh-CN" altLang="en-US" sz="2400" dirty="0"/>
              <a:t>着色器初始化</a:t>
            </a:r>
          </a:p>
          <a:p>
            <a:pPr lvl="1">
              <a:buClr>
                <a:schemeClr val="tx1"/>
              </a:buClr>
            </a:pPr>
            <a:r>
              <a:rPr lang="zh-CN" altLang="en-US" sz="1800" dirty="0"/>
              <a:t>编译、链接顶点着色器与片段着色器</a:t>
            </a:r>
            <a:endParaRPr lang="en-US" altLang="zh-CN" sz="1800" dirty="0"/>
          </a:p>
          <a:p>
            <a:pPr lvl="1">
              <a:buClr>
                <a:schemeClr val="tx1"/>
              </a:buClr>
            </a:pPr>
            <a:r>
              <a:rPr lang="zh-CN" altLang="en-US" sz="1800" dirty="0"/>
              <a:t>维护着色器的生命周期</a:t>
            </a:r>
          </a:p>
          <a:p>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48</a:t>
            </a:fld>
            <a:endParaRPr lang="zh-CN" altLang="en-US"/>
          </a:p>
        </p:txBody>
      </p:sp>
      <p:sp>
        <p:nvSpPr>
          <p:cNvPr id="5" name="矩形 4"/>
          <p:cNvSpPr/>
          <p:nvPr/>
        </p:nvSpPr>
        <p:spPr>
          <a:xfrm>
            <a:off x="5478078" y="1106619"/>
            <a:ext cx="3293031" cy="1107996"/>
          </a:xfrm>
          <a:prstGeom prst="rect">
            <a:avLst/>
          </a:prstGeom>
          <a:solidFill>
            <a:srgbClr val="BDD7EE">
              <a:alpha val="52941"/>
            </a:srgbClr>
          </a:solidFill>
        </p:spPr>
        <p:txBody>
          <a:bodyPr wrap="square">
            <a:spAutoFit/>
          </a:bodyPr>
          <a:lstStyle/>
          <a:p>
            <a:r>
              <a:rPr lang="fr-FR" altLang="zh-CN" sz="1600" dirty="0">
                <a:solidFill>
                  <a:srgbClr val="0000FF"/>
                </a:solidFill>
                <a:latin typeface="Consolas" panose="020B0609020204030204" pitchFamily="49" charset="0"/>
              </a:rPr>
              <a:t>in vec4 </a:t>
            </a:r>
            <a:r>
              <a:rPr lang="fr-FR" altLang="zh-CN" sz="1600" dirty="0">
                <a:latin typeface="Consolas" panose="020B0609020204030204" pitchFamily="49" charset="0"/>
              </a:rPr>
              <a:t>vPosition;</a:t>
            </a:r>
          </a:p>
          <a:p>
            <a:r>
              <a:rPr lang="fr-FR" altLang="zh-CN" sz="1600" dirty="0">
                <a:solidFill>
                  <a:srgbClr val="0000FF"/>
                </a:solidFill>
                <a:latin typeface="Consolas" panose="020B0609020204030204" pitchFamily="49" charset="0"/>
              </a:rPr>
              <a:t>void </a:t>
            </a:r>
            <a:r>
              <a:rPr lang="fr-FR" altLang="zh-CN" sz="1600" dirty="0">
                <a:latin typeface="Consolas" panose="020B0609020204030204" pitchFamily="49" charset="0"/>
              </a:rPr>
              <a:t>main()</a:t>
            </a:r>
          </a:p>
          <a:p>
            <a:r>
              <a:rPr lang="fr-FR" altLang="zh-CN" sz="1600" dirty="0">
                <a:latin typeface="Consolas" panose="020B0609020204030204" pitchFamily="49" charset="0"/>
              </a:rPr>
              <a:t>{ gl_Position = vPosition;}</a:t>
            </a:r>
          </a:p>
          <a:p>
            <a:endParaRPr lang="zh-CN" altLang="en-US" sz="1600" dirty="0">
              <a:latin typeface="Consolas" panose="020B0609020204030204" pitchFamily="49" charset="0"/>
            </a:endParaRPr>
          </a:p>
        </p:txBody>
      </p:sp>
      <p:sp>
        <p:nvSpPr>
          <p:cNvPr id="6" name="矩形 5"/>
          <p:cNvSpPr/>
          <p:nvPr/>
        </p:nvSpPr>
        <p:spPr>
          <a:xfrm>
            <a:off x="5478077" y="2551141"/>
            <a:ext cx="3293031" cy="1323439"/>
          </a:xfrm>
          <a:prstGeom prst="rect">
            <a:avLst/>
          </a:prstGeom>
          <a:solidFill>
            <a:srgbClr val="BDD7EE">
              <a:alpha val="52941"/>
            </a:srgbClr>
          </a:solidFill>
        </p:spPr>
        <p:txBody>
          <a:bodyPr wrap="square">
            <a:spAutoFit/>
          </a:bodyPr>
          <a:lstStyle/>
          <a:p>
            <a:r>
              <a:rPr lang="fr-FR" altLang="zh-CN" sz="1600" dirty="0">
                <a:solidFill>
                  <a:srgbClr val="0000FF"/>
                </a:solidFill>
                <a:latin typeface="Consolas" panose="020B0609020204030204" pitchFamily="49" charset="0"/>
              </a:rPr>
              <a:t>void </a:t>
            </a:r>
            <a:r>
              <a:rPr lang="fr-FR" altLang="zh-CN" sz="1600" dirty="0">
                <a:latin typeface="Consolas" panose="020B0609020204030204" pitchFamily="49" charset="0"/>
              </a:rPr>
              <a:t>main()</a:t>
            </a:r>
          </a:p>
          <a:p>
            <a:r>
              <a:rPr lang="fr-FR" altLang="zh-CN" sz="1600" dirty="0">
                <a:latin typeface="Consolas" panose="020B0609020204030204" pitchFamily="49" charset="0"/>
              </a:rPr>
              <a:t>{ </a:t>
            </a:r>
          </a:p>
          <a:p>
            <a:r>
              <a:rPr lang="fr-FR" altLang="zh-CN" sz="1600" dirty="0">
                <a:latin typeface="Consolas" panose="020B0609020204030204" pitchFamily="49" charset="0"/>
              </a:rPr>
              <a:t>   gl_FragColor = </a:t>
            </a:r>
            <a:r>
              <a:rPr lang="fr-FR" altLang="zh-CN" sz="1600" dirty="0">
                <a:solidFill>
                  <a:srgbClr val="0000FF"/>
                </a:solidFill>
                <a:latin typeface="Consolas" panose="020B0609020204030204" pitchFamily="49" charset="0"/>
              </a:rPr>
              <a:t>vec4</a:t>
            </a:r>
            <a:r>
              <a:rPr lang="fr-FR" altLang="zh-CN" sz="1600" dirty="0">
                <a:latin typeface="Consolas" panose="020B0609020204030204" pitchFamily="49" charset="0"/>
              </a:rPr>
              <a:t>(1.0,    </a:t>
            </a:r>
          </a:p>
          <a:p>
            <a:r>
              <a:rPr lang="fr-FR" altLang="zh-CN" sz="1600" dirty="0">
                <a:latin typeface="Consolas" panose="020B0609020204030204" pitchFamily="49" charset="0"/>
              </a:rPr>
              <a:t>   0.0, 0.0, 1.0);</a:t>
            </a:r>
          </a:p>
          <a:p>
            <a:r>
              <a:rPr lang="fr-FR" altLang="zh-CN" sz="1600" dirty="0">
                <a:latin typeface="Consolas" panose="020B0609020204030204" pitchFamily="49" charset="0"/>
              </a:rPr>
              <a:t>}</a:t>
            </a:r>
            <a:endParaRPr lang="zh-CN" altLang="en-US" sz="1600" dirty="0">
              <a:latin typeface="Consolas" panose="020B0609020204030204" pitchFamily="49" charset="0"/>
            </a:endParaRPr>
          </a:p>
        </p:txBody>
      </p:sp>
      <p:sp>
        <p:nvSpPr>
          <p:cNvPr id="7" name="矩形 6"/>
          <p:cNvSpPr/>
          <p:nvPr/>
        </p:nvSpPr>
        <p:spPr>
          <a:xfrm>
            <a:off x="5478077" y="4260965"/>
            <a:ext cx="3293031" cy="2092881"/>
          </a:xfrm>
          <a:prstGeom prst="rect">
            <a:avLst/>
          </a:prstGeom>
          <a:solidFill>
            <a:srgbClr val="BDD7EE">
              <a:alpha val="52941"/>
            </a:srgbClr>
          </a:solidFill>
        </p:spPr>
        <p:txBody>
          <a:bodyPr wrap="square">
            <a:spAutoFit/>
          </a:bodyPr>
          <a:lstStyle/>
          <a:p>
            <a:r>
              <a:rPr lang="fr-FR" altLang="zh-CN" sz="1600" dirty="0">
                <a:solidFill>
                  <a:srgbClr val="0000FF"/>
                </a:solidFill>
                <a:latin typeface="Consolas" panose="020B0609020204030204" pitchFamily="49" charset="0"/>
              </a:rPr>
              <a:t>GLuint </a:t>
            </a:r>
            <a:r>
              <a:rPr lang="fr-FR" altLang="zh-CN" sz="1600" dirty="0">
                <a:latin typeface="Consolas" panose="020B0609020204030204" pitchFamily="49" charset="0"/>
              </a:rPr>
              <a:t>program;</a:t>
            </a:r>
          </a:p>
          <a:p>
            <a:r>
              <a:rPr lang="fr-FR" altLang="zh-CN" sz="1600" dirty="0">
                <a:latin typeface="Consolas" panose="020B0609020204030204" pitchFamily="49" charset="0"/>
              </a:rPr>
              <a:t>program = InitShader("vsource.glsl", "fsource.glsl");</a:t>
            </a:r>
          </a:p>
          <a:p>
            <a:r>
              <a:rPr lang="en-US" altLang="zh-CN" sz="1600" dirty="0">
                <a:latin typeface="Consolas" panose="020B0609020204030204" pitchFamily="49" charset="0"/>
              </a:rPr>
              <a:t>…</a:t>
            </a:r>
            <a:endParaRPr lang="fr-FR" altLang="zh-CN" sz="1600" dirty="0">
              <a:latin typeface="Consolas" panose="020B0609020204030204" pitchFamily="49" charset="0"/>
            </a:endParaRPr>
          </a:p>
          <a:p>
            <a:r>
              <a:rPr lang="fr-FR" altLang="zh-CN" sz="1600" dirty="0">
                <a:latin typeface="Consolas" panose="020B0609020204030204" pitchFamily="49" charset="0"/>
              </a:rPr>
              <a:t>glGetAttribLocation(program, "vPosition");</a:t>
            </a:r>
          </a:p>
          <a:p>
            <a:r>
              <a:rPr lang="fr-FR" altLang="zh-CN" sz="1600" dirty="0">
                <a:latin typeface="Consolas" panose="020B0609020204030204" pitchFamily="49" charset="0"/>
              </a:rPr>
              <a:t>...</a:t>
            </a:r>
          </a:p>
        </p:txBody>
      </p:sp>
    </p:spTree>
    <p:extLst>
      <p:ext uri="{BB962C8B-B14F-4D97-AF65-F5344CB8AC3E}">
        <p14:creationId xmlns:p14="http://schemas.microsoft.com/office/powerpoint/2010/main" val="251714545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二维</a:t>
            </a:r>
            <a:r>
              <a:rPr lang="en-US" altLang="zh-CN" dirty="0" err="1"/>
              <a:t>Sierpinski</a:t>
            </a:r>
            <a:r>
              <a:rPr lang="zh-CN" altLang="en-US" dirty="0"/>
              <a:t>镂垫的构造</a:t>
            </a:r>
          </a:p>
        </p:txBody>
      </p:sp>
      <p:sp>
        <p:nvSpPr>
          <p:cNvPr id="3" name="内容占位符 2"/>
          <p:cNvSpPr>
            <a:spLocks noGrp="1"/>
          </p:cNvSpPr>
          <p:nvPr>
            <p:ph idx="1"/>
          </p:nvPr>
        </p:nvSpPr>
        <p:spPr/>
        <p:txBody>
          <a:bodyPr>
            <a:normAutofit fontScale="92500" lnSpcReduction="20000"/>
          </a:bodyPr>
          <a:lstStyle/>
          <a:p>
            <a:r>
              <a:rPr lang="zh-CN" altLang="en-US" dirty="0"/>
              <a:t>从一个三角形开始</a:t>
            </a:r>
            <a:endParaRPr lang="en-US" altLang="zh-CN" dirty="0"/>
          </a:p>
          <a:p>
            <a:endParaRPr lang="en-US" altLang="zh-CN" sz="2400" dirty="0"/>
          </a:p>
          <a:p>
            <a:endParaRPr lang="en-US" altLang="zh-CN" sz="2400" dirty="0"/>
          </a:p>
          <a:p>
            <a:endParaRPr lang="en-US" altLang="zh-CN" sz="2400" dirty="0"/>
          </a:p>
          <a:p>
            <a:endParaRPr lang="en-US" altLang="zh-CN" sz="2400" dirty="0"/>
          </a:p>
          <a:p>
            <a:r>
              <a:rPr lang="zh-CN" altLang="en-US" dirty="0"/>
              <a:t>连接三边的中点并去掉中间的三角形</a:t>
            </a:r>
            <a:endParaRPr lang="en-US" altLang="zh-CN" dirty="0"/>
          </a:p>
          <a:p>
            <a:endParaRPr lang="en-US" altLang="zh-CN" sz="2400" dirty="0"/>
          </a:p>
          <a:p>
            <a:endParaRPr lang="en-US" altLang="zh-CN" sz="2400" dirty="0"/>
          </a:p>
          <a:p>
            <a:endParaRPr lang="zh-CN" altLang="en-US" dirty="0"/>
          </a:p>
          <a:p>
            <a:endParaRPr lang="en-US" altLang="zh-CN" dirty="0"/>
          </a:p>
          <a:p>
            <a:r>
              <a:rPr lang="zh-CN" altLang="en-US" dirty="0"/>
              <a:t>重复上述过程</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49</a:t>
            </a:fld>
            <a:endParaRPr lang="zh-CN" altLang="en-US"/>
          </a:p>
        </p:txBody>
      </p:sp>
      <p:pic>
        <p:nvPicPr>
          <p:cNvPr id="7" name="图片 6"/>
          <p:cNvPicPr>
            <a:picLocks noChangeAspect="1"/>
          </p:cNvPicPr>
          <p:nvPr/>
        </p:nvPicPr>
        <p:blipFill>
          <a:blip r:embed="rId2"/>
          <a:stretch>
            <a:fillRect/>
          </a:stretch>
        </p:blipFill>
        <p:spPr>
          <a:xfrm>
            <a:off x="4274170" y="999989"/>
            <a:ext cx="1673615" cy="1447680"/>
          </a:xfrm>
          <a:prstGeom prst="rect">
            <a:avLst/>
          </a:prstGeom>
        </p:spPr>
      </p:pic>
      <p:pic>
        <p:nvPicPr>
          <p:cNvPr id="9" name="图片 8"/>
          <p:cNvPicPr>
            <a:picLocks noChangeAspect="1"/>
          </p:cNvPicPr>
          <p:nvPr/>
        </p:nvPicPr>
        <p:blipFill>
          <a:blip r:embed="rId3"/>
          <a:stretch>
            <a:fillRect/>
          </a:stretch>
        </p:blipFill>
        <p:spPr>
          <a:xfrm>
            <a:off x="6960105" y="2523526"/>
            <a:ext cx="1676955" cy="1437550"/>
          </a:xfrm>
          <a:prstGeom prst="rect">
            <a:avLst/>
          </a:prstGeom>
        </p:spPr>
      </p:pic>
      <p:pic>
        <p:nvPicPr>
          <p:cNvPr id="11" name="图片 10"/>
          <p:cNvPicPr>
            <a:picLocks noChangeAspect="1"/>
          </p:cNvPicPr>
          <p:nvPr/>
        </p:nvPicPr>
        <p:blipFill>
          <a:blip r:embed="rId4"/>
          <a:stretch>
            <a:fillRect/>
          </a:stretch>
        </p:blipFill>
        <p:spPr>
          <a:xfrm>
            <a:off x="3541441" y="4141420"/>
            <a:ext cx="3139071" cy="2351455"/>
          </a:xfrm>
          <a:prstGeom prst="rect">
            <a:avLst/>
          </a:prstGeom>
        </p:spPr>
      </p:pic>
    </p:spTree>
    <p:extLst>
      <p:ext uri="{BB962C8B-B14F-4D97-AF65-F5344CB8AC3E}">
        <p14:creationId xmlns:p14="http://schemas.microsoft.com/office/powerpoint/2010/main" val="35185761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三角形细分</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50</a:t>
            </a:fld>
            <a:endParaRPr lang="zh-CN" altLang="en-US"/>
          </a:p>
        </p:txBody>
      </p:sp>
      <p:sp>
        <p:nvSpPr>
          <p:cNvPr id="5" name="矩形 4"/>
          <p:cNvSpPr/>
          <p:nvPr/>
        </p:nvSpPr>
        <p:spPr>
          <a:xfrm>
            <a:off x="423369" y="1553683"/>
            <a:ext cx="8315278" cy="4524315"/>
          </a:xfrm>
          <a:prstGeom prst="rect">
            <a:avLst/>
          </a:prstGeom>
          <a:solidFill>
            <a:srgbClr val="BDD7EE">
              <a:alpha val="52941"/>
            </a:srgbClr>
          </a:solidFill>
        </p:spPr>
        <p:txBody>
          <a:bodyPr wrap="square">
            <a:spAutoFit/>
          </a:bodyPr>
          <a:lstStyle/>
          <a:p>
            <a:r>
              <a:rPr lang="en-US" altLang="zh-CN" dirty="0">
                <a:solidFill>
                  <a:srgbClr val="0000FF"/>
                </a:solidFill>
                <a:latin typeface="Consolas" panose="020B0609020204030204" pitchFamily="49" charset="0"/>
              </a:rPr>
              <a:t>void</a:t>
            </a:r>
            <a:r>
              <a:rPr lang="en-US" altLang="zh-CN" dirty="0">
                <a:latin typeface="Consolas" panose="020B0609020204030204" pitchFamily="49" charset="0"/>
              </a:rPr>
              <a:t> </a:t>
            </a:r>
            <a:r>
              <a:rPr lang="en-US" altLang="zh-CN" dirty="0" err="1">
                <a:latin typeface="Consolas" panose="020B0609020204030204" pitchFamily="49" charset="0"/>
              </a:rPr>
              <a:t>divide_triangle</a:t>
            </a:r>
            <a:r>
              <a:rPr lang="en-US" altLang="zh-CN" dirty="0">
                <a:latin typeface="Consolas" panose="020B0609020204030204" pitchFamily="49" charset="0"/>
              </a:rPr>
              <a:t>(</a:t>
            </a:r>
            <a:r>
              <a:rPr lang="en-US" altLang="zh-CN" dirty="0">
                <a:solidFill>
                  <a:srgbClr val="0000FF"/>
                </a:solidFill>
                <a:latin typeface="Consolas" panose="020B0609020204030204" pitchFamily="49" charset="0"/>
              </a:rPr>
              <a:t>point2</a:t>
            </a:r>
            <a:r>
              <a:rPr lang="en-US" altLang="zh-CN" dirty="0">
                <a:latin typeface="Consolas" panose="020B0609020204030204" pitchFamily="49" charset="0"/>
              </a:rPr>
              <a:t> a, </a:t>
            </a:r>
            <a:r>
              <a:rPr lang="en-US" altLang="zh-CN" dirty="0">
                <a:solidFill>
                  <a:srgbClr val="0000FF"/>
                </a:solidFill>
                <a:latin typeface="Consolas" panose="020B0609020204030204" pitchFamily="49" charset="0"/>
              </a:rPr>
              <a:t>point2</a:t>
            </a:r>
            <a:r>
              <a:rPr lang="en-US" altLang="zh-CN" dirty="0">
                <a:latin typeface="Consolas" panose="020B0609020204030204" pitchFamily="49" charset="0"/>
              </a:rPr>
              <a:t> b, </a:t>
            </a:r>
            <a:r>
              <a:rPr lang="en-US" altLang="zh-CN" dirty="0">
                <a:solidFill>
                  <a:srgbClr val="0000FF"/>
                </a:solidFill>
                <a:latin typeface="Consolas" panose="020B0609020204030204" pitchFamily="49" charset="0"/>
              </a:rPr>
              <a:t>point2</a:t>
            </a:r>
            <a:r>
              <a:rPr lang="en-US" altLang="zh-CN" dirty="0">
                <a:latin typeface="Consolas" panose="020B0609020204030204" pitchFamily="49" charset="0"/>
              </a:rPr>
              <a:t> c, </a:t>
            </a:r>
            <a:r>
              <a:rPr lang="en-US" altLang="zh-CN" dirty="0" err="1">
                <a:solidFill>
                  <a:srgbClr val="0000FF"/>
                </a:solidFill>
                <a:latin typeface="Consolas" panose="020B0609020204030204" pitchFamily="49" charset="0"/>
              </a:rPr>
              <a:t>int</a:t>
            </a:r>
            <a:r>
              <a:rPr lang="en-US" altLang="zh-CN" dirty="0">
                <a:latin typeface="Consolas" panose="020B0609020204030204" pitchFamily="49" charset="0"/>
              </a:rPr>
              <a:t> k)</a:t>
            </a:r>
          </a:p>
          <a:p>
            <a:r>
              <a:rPr lang="en-US" altLang="zh-CN" dirty="0">
                <a:latin typeface="Consolas" panose="020B0609020204030204" pitchFamily="49" charset="0"/>
              </a:rPr>
              <a:t>{</a:t>
            </a:r>
          </a:p>
          <a:p>
            <a:pPr lvl="1"/>
            <a:r>
              <a:rPr lang="en-US" altLang="zh-CN" dirty="0">
                <a:solidFill>
                  <a:srgbClr val="0000FF"/>
                </a:solidFill>
                <a:latin typeface="Consolas" panose="020B0609020204030204" pitchFamily="49" charset="0"/>
              </a:rPr>
              <a:t>if</a:t>
            </a:r>
            <a:r>
              <a:rPr lang="en-US" altLang="zh-CN" dirty="0">
                <a:latin typeface="Consolas" panose="020B0609020204030204" pitchFamily="49" charset="0"/>
              </a:rPr>
              <a:t>(k &gt; 0)</a:t>
            </a:r>
          </a:p>
          <a:p>
            <a:pPr lvl="1"/>
            <a:r>
              <a:rPr lang="en-US" altLang="zh-CN" dirty="0">
                <a:latin typeface="Consolas" panose="020B0609020204030204" pitchFamily="49" charset="0"/>
              </a:rPr>
              <a:t>{</a:t>
            </a:r>
          </a:p>
          <a:p>
            <a:pPr lvl="2"/>
            <a:r>
              <a:rPr lang="en-US" altLang="zh-CN" dirty="0">
                <a:solidFill>
                  <a:srgbClr val="00B050"/>
                </a:solidFill>
                <a:latin typeface="Consolas" panose="020B0609020204030204" pitchFamily="49" charset="0"/>
              </a:rPr>
              <a:t>// compute midpoints of sides</a:t>
            </a:r>
          </a:p>
          <a:p>
            <a:pPr lvl="2"/>
            <a:r>
              <a:rPr lang="en-US" altLang="zh-CN" dirty="0">
                <a:solidFill>
                  <a:srgbClr val="0000FF"/>
                </a:solidFill>
                <a:latin typeface="Consolas" panose="020B0609020204030204" pitchFamily="49" charset="0"/>
              </a:rPr>
              <a:t>point2</a:t>
            </a:r>
            <a:r>
              <a:rPr lang="en-US" altLang="zh-CN" dirty="0">
                <a:latin typeface="Consolas" panose="020B0609020204030204" pitchFamily="49" charset="0"/>
              </a:rPr>
              <a:t> ab = (a + b)/2.0;</a:t>
            </a:r>
          </a:p>
          <a:p>
            <a:pPr lvl="2"/>
            <a:r>
              <a:rPr lang="en-US" altLang="zh-CN" dirty="0">
                <a:solidFill>
                  <a:srgbClr val="0000FF"/>
                </a:solidFill>
                <a:latin typeface="Consolas" panose="020B0609020204030204" pitchFamily="49" charset="0"/>
              </a:rPr>
              <a:t>point2</a:t>
            </a:r>
            <a:r>
              <a:rPr lang="en-US" altLang="zh-CN" dirty="0">
                <a:latin typeface="Consolas" panose="020B0609020204030204" pitchFamily="49" charset="0"/>
              </a:rPr>
              <a:t> ac = (a + c)/2.0;</a:t>
            </a:r>
          </a:p>
          <a:p>
            <a:pPr lvl="2"/>
            <a:r>
              <a:rPr lang="en-US" altLang="zh-CN" dirty="0">
                <a:solidFill>
                  <a:srgbClr val="0000FF"/>
                </a:solidFill>
                <a:latin typeface="Consolas" panose="020B0609020204030204" pitchFamily="49" charset="0"/>
              </a:rPr>
              <a:t>point2</a:t>
            </a:r>
            <a:r>
              <a:rPr lang="en-US" altLang="zh-CN" dirty="0">
                <a:latin typeface="Consolas" panose="020B0609020204030204" pitchFamily="49" charset="0"/>
              </a:rPr>
              <a:t> </a:t>
            </a:r>
            <a:r>
              <a:rPr lang="en-US" altLang="zh-CN" dirty="0" err="1">
                <a:latin typeface="Consolas" panose="020B0609020204030204" pitchFamily="49" charset="0"/>
              </a:rPr>
              <a:t>bc</a:t>
            </a:r>
            <a:r>
              <a:rPr lang="en-US" altLang="zh-CN" dirty="0">
                <a:latin typeface="Consolas" panose="020B0609020204030204" pitchFamily="49" charset="0"/>
              </a:rPr>
              <a:t> = (b + c)/2.0;</a:t>
            </a:r>
          </a:p>
          <a:p>
            <a:pPr lvl="2"/>
            <a:endParaRPr lang="en-US" altLang="zh-CN" dirty="0">
              <a:latin typeface="Consolas" panose="020B0609020204030204" pitchFamily="49" charset="0"/>
            </a:endParaRPr>
          </a:p>
          <a:p>
            <a:pPr lvl="2"/>
            <a:r>
              <a:rPr lang="en-US" altLang="zh-CN" dirty="0">
                <a:solidFill>
                  <a:srgbClr val="00B050"/>
                </a:solidFill>
                <a:latin typeface="Consolas" panose="020B0609020204030204" pitchFamily="49" charset="0"/>
              </a:rPr>
              <a:t>// subdivide all but inner triangle</a:t>
            </a:r>
          </a:p>
          <a:p>
            <a:pPr lvl="2"/>
            <a:r>
              <a:rPr lang="en-US" altLang="zh-CN" dirty="0" err="1">
                <a:latin typeface="Consolas" panose="020B0609020204030204" pitchFamily="49" charset="0"/>
              </a:rPr>
              <a:t>divide_triangle</a:t>
            </a:r>
            <a:r>
              <a:rPr lang="en-US" altLang="zh-CN" dirty="0">
                <a:latin typeface="Consolas" panose="020B0609020204030204" pitchFamily="49" charset="0"/>
              </a:rPr>
              <a:t>(a, ab, ac, k-1);</a:t>
            </a:r>
          </a:p>
          <a:p>
            <a:pPr lvl="2"/>
            <a:r>
              <a:rPr lang="en-US" altLang="zh-CN" dirty="0" err="1">
                <a:latin typeface="Consolas" panose="020B0609020204030204" pitchFamily="49" charset="0"/>
              </a:rPr>
              <a:t>divide_triangle</a:t>
            </a:r>
            <a:r>
              <a:rPr lang="en-US" altLang="zh-CN" dirty="0">
                <a:latin typeface="Consolas" panose="020B0609020204030204" pitchFamily="49" charset="0"/>
              </a:rPr>
              <a:t>(c, ac, </a:t>
            </a:r>
            <a:r>
              <a:rPr lang="en-US" altLang="zh-CN" dirty="0" err="1">
                <a:latin typeface="Consolas" panose="020B0609020204030204" pitchFamily="49" charset="0"/>
              </a:rPr>
              <a:t>bc</a:t>
            </a:r>
            <a:r>
              <a:rPr lang="en-US" altLang="zh-CN" dirty="0">
                <a:latin typeface="Consolas" panose="020B0609020204030204" pitchFamily="49" charset="0"/>
              </a:rPr>
              <a:t>, k-1);</a:t>
            </a:r>
          </a:p>
          <a:p>
            <a:pPr lvl="2"/>
            <a:r>
              <a:rPr lang="en-US" altLang="zh-CN" dirty="0" err="1">
                <a:latin typeface="Consolas" panose="020B0609020204030204" pitchFamily="49" charset="0"/>
              </a:rPr>
              <a:t>divide_triangle</a:t>
            </a:r>
            <a:r>
              <a:rPr lang="en-US" altLang="zh-CN" dirty="0">
                <a:latin typeface="Consolas" panose="020B0609020204030204" pitchFamily="49" charset="0"/>
              </a:rPr>
              <a:t>(b, </a:t>
            </a:r>
            <a:r>
              <a:rPr lang="en-US" altLang="zh-CN" dirty="0" err="1">
                <a:latin typeface="Consolas" panose="020B0609020204030204" pitchFamily="49" charset="0"/>
              </a:rPr>
              <a:t>bc</a:t>
            </a:r>
            <a:r>
              <a:rPr lang="en-US" altLang="zh-CN" dirty="0">
                <a:latin typeface="Consolas" panose="020B0609020204030204" pitchFamily="49" charset="0"/>
              </a:rPr>
              <a:t>, ab, k-1);</a:t>
            </a:r>
          </a:p>
          <a:p>
            <a:pPr lvl="1"/>
            <a:r>
              <a:rPr lang="en-US" altLang="zh-CN" dirty="0">
                <a:latin typeface="Consolas" panose="020B0609020204030204" pitchFamily="49" charset="0"/>
              </a:rPr>
              <a:t>}</a:t>
            </a:r>
          </a:p>
          <a:p>
            <a:pPr lvl="1"/>
            <a:r>
              <a:rPr lang="en-US" altLang="zh-CN" dirty="0">
                <a:solidFill>
                  <a:srgbClr val="0000FF"/>
                </a:solidFill>
                <a:latin typeface="Consolas" panose="020B0609020204030204" pitchFamily="49" charset="0"/>
              </a:rPr>
              <a:t>else</a:t>
            </a:r>
            <a:r>
              <a:rPr lang="en-US" altLang="zh-CN" dirty="0">
                <a:latin typeface="Consolas" panose="020B0609020204030204" pitchFamily="49" charset="0"/>
              </a:rPr>
              <a:t> triangle(</a:t>
            </a:r>
            <a:r>
              <a:rPr lang="en-US" altLang="zh-CN" dirty="0" err="1">
                <a:latin typeface="Consolas" panose="020B0609020204030204" pitchFamily="49" charset="0"/>
              </a:rPr>
              <a:t>a,b,c</a:t>
            </a:r>
            <a:r>
              <a:rPr lang="en-US" altLang="zh-CN" dirty="0">
                <a:latin typeface="Consolas" panose="020B0609020204030204" pitchFamily="49" charset="0"/>
              </a:rPr>
              <a:t>); </a:t>
            </a:r>
            <a:r>
              <a:rPr lang="en-US" altLang="zh-CN" dirty="0">
                <a:solidFill>
                  <a:srgbClr val="00B050"/>
                </a:solidFill>
                <a:latin typeface="Consolas" panose="020B0609020204030204" pitchFamily="49" charset="0"/>
              </a:rPr>
              <a:t>/* draw triangle at end of recursion */</a:t>
            </a:r>
          </a:p>
          <a:p>
            <a:r>
              <a:rPr lang="en-US" altLang="zh-CN" dirty="0">
                <a:latin typeface="Consolas" panose="020B0609020204030204" pitchFamily="49" charset="0"/>
              </a:rPr>
              <a:t>}</a:t>
            </a:r>
            <a:endParaRPr lang="zh-CN" altLang="en-US" dirty="0">
              <a:latin typeface="Consolas" panose="020B0609020204030204" pitchFamily="49" charset="0"/>
            </a:endParaRPr>
          </a:p>
        </p:txBody>
      </p:sp>
    </p:spTree>
    <p:extLst>
      <p:ext uri="{BB962C8B-B14F-4D97-AF65-F5344CB8AC3E}">
        <p14:creationId xmlns:p14="http://schemas.microsoft.com/office/powerpoint/2010/main" val="295893327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二维到三维</a:t>
            </a:r>
          </a:p>
        </p:txBody>
      </p:sp>
      <p:sp>
        <p:nvSpPr>
          <p:cNvPr id="3" name="内容占位符 2"/>
          <p:cNvSpPr>
            <a:spLocks noGrp="1"/>
          </p:cNvSpPr>
          <p:nvPr>
            <p:ph idx="1"/>
          </p:nvPr>
        </p:nvSpPr>
        <p:spPr/>
        <p:txBody>
          <a:bodyPr/>
          <a:lstStyle/>
          <a:p>
            <a:r>
              <a:rPr lang="zh-CN" altLang="en-US" sz="2400" dirty="0"/>
              <a:t>通过下述修改，可以很容易地把程序生成三维图形：</a:t>
            </a:r>
          </a:p>
          <a:p>
            <a:pPr lvl="1">
              <a:buClr>
                <a:schemeClr val="tx1"/>
              </a:buClr>
            </a:pPr>
            <a:r>
              <a:rPr lang="en-US" altLang="zh-CN" sz="1800" dirty="0" err="1"/>
              <a:t>typedef</a:t>
            </a:r>
            <a:r>
              <a:rPr lang="en-US" altLang="zh-CN" sz="1800" dirty="0"/>
              <a:t> </a:t>
            </a:r>
            <a:r>
              <a:rPr lang="en-US" altLang="zh-CN" sz="1800" dirty="0" err="1"/>
              <a:t>GLfloat</a:t>
            </a:r>
            <a:r>
              <a:rPr lang="en-US" altLang="zh-CN" sz="1800" dirty="0"/>
              <a:t> point3[3]</a:t>
            </a:r>
          </a:p>
          <a:p>
            <a:pPr lvl="1">
              <a:buClr>
                <a:schemeClr val="tx1"/>
              </a:buClr>
            </a:pPr>
            <a:r>
              <a:rPr lang="en-US" altLang="zh-CN" sz="1800" dirty="0"/>
              <a:t>glVertex3f</a:t>
            </a:r>
          </a:p>
          <a:p>
            <a:pPr lvl="1">
              <a:buClr>
                <a:schemeClr val="tx1"/>
              </a:buClr>
            </a:pPr>
            <a:r>
              <a:rPr lang="en-US" altLang="zh-CN" sz="1800" dirty="0" err="1"/>
              <a:t>glOrtho</a:t>
            </a:r>
            <a:endParaRPr lang="en-US" altLang="zh-CN" sz="1800" dirty="0"/>
          </a:p>
          <a:p>
            <a:pPr lvl="1">
              <a:buClr>
                <a:schemeClr val="tx1"/>
              </a:buClr>
            </a:pPr>
            <a:endParaRPr lang="zh-CN" altLang="en-US" sz="1800" dirty="0"/>
          </a:p>
          <a:p>
            <a:r>
              <a:rPr lang="zh-CN" altLang="en-US" sz="2400" dirty="0"/>
              <a:t>下面从四面体开始迭代：</a:t>
            </a:r>
          </a:p>
          <a:p>
            <a:pPr lvl="1">
              <a:buClr>
                <a:schemeClr val="tx1"/>
              </a:buClr>
            </a:pPr>
            <a:r>
              <a:rPr lang="zh-CN" altLang="en-US" sz="1800" dirty="0"/>
              <a:t>细分四面体的四个面</a:t>
            </a:r>
            <a:endParaRPr lang="en-US" altLang="zh-CN" sz="1800" dirty="0"/>
          </a:p>
          <a:p>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51</a:t>
            </a:fld>
            <a:endParaRPr lang="zh-CN" altLang="en-US"/>
          </a:p>
        </p:txBody>
      </p:sp>
      <p:pic>
        <p:nvPicPr>
          <p:cNvPr id="5" name="图片 4"/>
          <p:cNvPicPr>
            <a:picLocks noChangeAspect="1"/>
          </p:cNvPicPr>
          <p:nvPr/>
        </p:nvPicPr>
        <p:blipFill rotWithShape="1">
          <a:blip r:embed="rId2"/>
          <a:srcRect t="1228"/>
          <a:stretch/>
        </p:blipFill>
        <p:spPr>
          <a:xfrm>
            <a:off x="705786" y="3900573"/>
            <a:ext cx="7260621" cy="2680660"/>
          </a:xfrm>
          <a:prstGeom prst="rect">
            <a:avLst/>
          </a:prstGeom>
        </p:spPr>
      </p:pic>
    </p:spTree>
    <p:extLst>
      <p:ext uri="{BB962C8B-B14F-4D97-AF65-F5344CB8AC3E}">
        <p14:creationId xmlns:p14="http://schemas.microsoft.com/office/powerpoint/2010/main" val="179587361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四面体细分</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52</a:t>
            </a:fld>
            <a:endParaRPr lang="zh-CN" altLang="en-US"/>
          </a:p>
        </p:txBody>
      </p:sp>
      <p:sp>
        <p:nvSpPr>
          <p:cNvPr id="5" name="矩形 4"/>
          <p:cNvSpPr/>
          <p:nvPr/>
        </p:nvSpPr>
        <p:spPr>
          <a:xfrm>
            <a:off x="518124" y="1129476"/>
            <a:ext cx="8050841" cy="5047536"/>
          </a:xfrm>
          <a:prstGeom prst="rect">
            <a:avLst/>
          </a:prstGeom>
          <a:solidFill>
            <a:srgbClr val="BDD7EE">
              <a:alpha val="52941"/>
            </a:srgbClr>
          </a:solidFill>
        </p:spPr>
        <p:txBody>
          <a:bodyPr wrap="square">
            <a:spAutoFit/>
          </a:bodyPr>
          <a:lstStyle/>
          <a:p>
            <a:r>
              <a:rPr lang="en-US" altLang="zh-CN" sz="1600" dirty="0">
                <a:solidFill>
                  <a:srgbClr val="0000FF"/>
                </a:solidFill>
                <a:latin typeface="Consolas" panose="020B0609020204030204" pitchFamily="49" charset="0"/>
              </a:rPr>
              <a:t>void </a:t>
            </a:r>
            <a:r>
              <a:rPr lang="en-US" altLang="zh-CN" sz="1600" dirty="0" err="1">
                <a:latin typeface="Consolas" panose="020B0609020204030204" pitchFamily="49" charset="0"/>
              </a:rPr>
              <a:t>divide_tetra</a:t>
            </a:r>
            <a:r>
              <a:rPr lang="en-US" altLang="zh-CN" sz="1600" dirty="0">
                <a:latin typeface="Consolas" panose="020B0609020204030204" pitchFamily="49" charset="0"/>
              </a:rPr>
              <a:t>(</a:t>
            </a:r>
            <a:r>
              <a:rPr lang="en-US" altLang="zh-CN" sz="1600" dirty="0">
                <a:solidFill>
                  <a:srgbClr val="0000FF"/>
                </a:solidFill>
                <a:latin typeface="Consolas" panose="020B0609020204030204" pitchFamily="49" charset="0"/>
              </a:rPr>
              <a:t>point3 </a:t>
            </a:r>
            <a:r>
              <a:rPr lang="en-US" altLang="zh-CN" sz="1600" dirty="0">
                <a:latin typeface="Consolas" panose="020B0609020204030204" pitchFamily="49" charset="0"/>
              </a:rPr>
              <a:t>a,</a:t>
            </a:r>
            <a:r>
              <a:rPr lang="en-US" altLang="zh-CN" sz="1600" dirty="0">
                <a:solidFill>
                  <a:srgbClr val="0000FF"/>
                </a:solidFill>
                <a:latin typeface="Consolas" panose="020B0609020204030204" pitchFamily="49" charset="0"/>
              </a:rPr>
              <a:t> point3 </a:t>
            </a:r>
            <a:r>
              <a:rPr lang="en-US" altLang="zh-CN" sz="1600" dirty="0">
                <a:latin typeface="Consolas" panose="020B0609020204030204" pitchFamily="49" charset="0"/>
              </a:rPr>
              <a:t>b,</a:t>
            </a:r>
            <a:r>
              <a:rPr lang="en-US" altLang="zh-CN" sz="1600" dirty="0">
                <a:solidFill>
                  <a:srgbClr val="0000FF"/>
                </a:solidFill>
                <a:latin typeface="Consolas" panose="020B0609020204030204" pitchFamily="49" charset="0"/>
              </a:rPr>
              <a:t> point3 </a:t>
            </a:r>
            <a:r>
              <a:rPr lang="en-US" altLang="zh-CN" sz="1600" dirty="0">
                <a:latin typeface="Consolas" panose="020B0609020204030204" pitchFamily="49" charset="0"/>
              </a:rPr>
              <a:t>c,</a:t>
            </a:r>
            <a:r>
              <a:rPr lang="en-US" altLang="zh-CN" sz="1600" dirty="0">
                <a:solidFill>
                  <a:srgbClr val="0000FF"/>
                </a:solidFill>
                <a:latin typeface="Consolas" panose="020B0609020204030204" pitchFamily="49" charset="0"/>
              </a:rPr>
              <a:t> point3 </a:t>
            </a:r>
            <a:r>
              <a:rPr lang="en-US" altLang="zh-CN" sz="1600" dirty="0">
                <a:latin typeface="Consolas" panose="020B0609020204030204" pitchFamily="49" charset="0"/>
              </a:rPr>
              <a:t>d,</a:t>
            </a:r>
            <a:r>
              <a:rPr lang="en-US" altLang="zh-CN" sz="1600" dirty="0">
                <a:solidFill>
                  <a:srgbClr val="0000FF"/>
                </a:solidFill>
                <a:latin typeface="Consolas" panose="020B0609020204030204" pitchFamily="49" charset="0"/>
              </a:rPr>
              <a:t> </a:t>
            </a:r>
            <a:r>
              <a:rPr lang="en-US" altLang="zh-CN" sz="1600" dirty="0" err="1">
                <a:solidFill>
                  <a:srgbClr val="0000FF"/>
                </a:solidFill>
                <a:latin typeface="Consolas" panose="020B0609020204030204" pitchFamily="49" charset="0"/>
              </a:rPr>
              <a:t>int</a:t>
            </a:r>
            <a:r>
              <a:rPr lang="en-US" altLang="zh-CN" sz="1600" dirty="0">
                <a:solidFill>
                  <a:srgbClr val="0000FF"/>
                </a:solidFill>
                <a:latin typeface="Consolas" panose="020B0609020204030204" pitchFamily="49" charset="0"/>
              </a:rPr>
              <a:t> </a:t>
            </a:r>
            <a:r>
              <a:rPr lang="en-US" altLang="zh-CN" sz="1600" dirty="0">
                <a:latin typeface="Consolas" panose="020B0609020204030204" pitchFamily="49" charset="0"/>
              </a:rPr>
              <a:t>m)</a:t>
            </a:r>
          </a:p>
          <a:p>
            <a:r>
              <a:rPr lang="en-US" altLang="zh-CN" sz="1600" dirty="0">
                <a:solidFill>
                  <a:srgbClr val="0000FF"/>
                </a:solidFill>
                <a:latin typeface="Consolas" panose="020B0609020204030204" pitchFamily="49" charset="0"/>
              </a:rPr>
              <a:t>{</a:t>
            </a:r>
          </a:p>
          <a:p>
            <a:r>
              <a:rPr lang="en-US" altLang="zh-CN" sz="1600" dirty="0">
                <a:solidFill>
                  <a:srgbClr val="0000FF"/>
                </a:solidFill>
                <a:latin typeface="Consolas" panose="020B0609020204030204" pitchFamily="49" charset="0"/>
              </a:rPr>
              <a:t>  if</a:t>
            </a:r>
            <a:r>
              <a:rPr lang="en-US" altLang="zh-CN" sz="1600" dirty="0">
                <a:latin typeface="Consolas" panose="020B0609020204030204" pitchFamily="49" charset="0"/>
              </a:rPr>
              <a:t>(m &gt; 0)</a:t>
            </a:r>
          </a:p>
          <a:p>
            <a:r>
              <a:rPr lang="en-US" altLang="zh-CN" sz="1600" dirty="0">
                <a:latin typeface="Consolas" panose="020B0609020204030204" pitchFamily="49" charset="0"/>
              </a:rPr>
              <a:t>  {</a:t>
            </a:r>
          </a:p>
          <a:p>
            <a:pPr lvl="1"/>
            <a:r>
              <a:rPr lang="en-US" altLang="zh-CN" sz="1600" dirty="0">
                <a:solidFill>
                  <a:srgbClr val="0000FF"/>
                </a:solidFill>
                <a:latin typeface="Consolas" panose="020B0609020204030204" pitchFamily="49" charset="0"/>
              </a:rPr>
              <a:t>point3 </a:t>
            </a:r>
            <a:r>
              <a:rPr lang="en-US" altLang="zh-CN" sz="1600" dirty="0">
                <a:latin typeface="Consolas" panose="020B0609020204030204" pitchFamily="49" charset="0"/>
              </a:rPr>
              <a:t>mid[6];</a:t>
            </a:r>
          </a:p>
          <a:p>
            <a:pPr lvl="1"/>
            <a:r>
              <a:rPr lang="en-US" altLang="zh-CN" sz="1600" dirty="0">
                <a:solidFill>
                  <a:srgbClr val="00B050"/>
                </a:solidFill>
                <a:latin typeface="Consolas" panose="020B0609020204030204" pitchFamily="49" charset="0"/>
              </a:rPr>
              <a:t>// compute six midpoints</a:t>
            </a:r>
          </a:p>
          <a:p>
            <a:pPr lvl="1"/>
            <a:r>
              <a:rPr lang="en-US" altLang="zh-CN" sz="1600" dirty="0">
                <a:latin typeface="Consolas" panose="020B0609020204030204" pitchFamily="49" charset="0"/>
              </a:rPr>
              <a:t>mid[0] = (a + b)/2.0;</a:t>
            </a:r>
          </a:p>
          <a:p>
            <a:pPr lvl="1"/>
            <a:r>
              <a:rPr lang="en-US" altLang="zh-CN" sz="1600" dirty="0">
                <a:latin typeface="Consolas" panose="020B0609020204030204" pitchFamily="49" charset="0"/>
              </a:rPr>
              <a:t>mid[1] = (a + c)/2.0;</a:t>
            </a:r>
          </a:p>
          <a:p>
            <a:pPr lvl="1"/>
            <a:r>
              <a:rPr lang="en-US" altLang="zh-CN" sz="1600" dirty="0">
                <a:latin typeface="Consolas" panose="020B0609020204030204" pitchFamily="49" charset="0"/>
              </a:rPr>
              <a:t>mid[2] = (a + d)/2.0;</a:t>
            </a:r>
          </a:p>
          <a:p>
            <a:pPr lvl="1"/>
            <a:r>
              <a:rPr lang="en-US" altLang="zh-CN" sz="1600" dirty="0">
                <a:latin typeface="Consolas" panose="020B0609020204030204" pitchFamily="49" charset="0"/>
              </a:rPr>
              <a:t>mid[3] = (b + c)/2.0;</a:t>
            </a:r>
          </a:p>
          <a:p>
            <a:pPr lvl="1"/>
            <a:r>
              <a:rPr lang="en-US" altLang="zh-CN" sz="1600" dirty="0">
                <a:latin typeface="Consolas" panose="020B0609020204030204" pitchFamily="49" charset="0"/>
              </a:rPr>
              <a:t>mid[4] = (c + d)/2.0;</a:t>
            </a:r>
          </a:p>
          <a:p>
            <a:pPr lvl="1"/>
            <a:r>
              <a:rPr lang="en-US" altLang="zh-CN" sz="1600" dirty="0">
                <a:latin typeface="Consolas" panose="020B0609020204030204" pitchFamily="49" charset="0"/>
              </a:rPr>
              <a:t>mid[5] = (b + d)/2.0;</a:t>
            </a:r>
          </a:p>
          <a:p>
            <a:pPr lvl="1"/>
            <a:r>
              <a:rPr lang="en-US" altLang="zh-CN" sz="1600" dirty="0">
                <a:solidFill>
                  <a:srgbClr val="00B050"/>
                </a:solidFill>
                <a:latin typeface="Consolas" panose="020B0609020204030204" pitchFamily="49" charset="0"/>
              </a:rPr>
              <a:t>// create 4 tetrahedrons by subdivision</a:t>
            </a:r>
          </a:p>
          <a:p>
            <a:pPr lvl="1"/>
            <a:r>
              <a:rPr lang="en-US" altLang="zh-CN" sz="1600" dirty="0" err="1">
                <a:latin typeface="Consolas" panose="020B0609020204030204" pitchFamily="49" charset="0"/>
              </a:rPr>
              <a:t>divide_tetra</a:t>
            </a:r>
            <a:r>
              <a:rPr lang="en-US" altLang="zh-CN" sz="1600" dirty="0">
                <a:latin typeface="Consolas" panose="020B0609020204030204" pitchFamily="49" charset="0"/>
              </a:rPr>
              <a:t>(a, mid[0], mid[1], mid[2], m-1);</a:t>
            </a:r>
          </a:p>
          <a:p>
            <a:pPr lvl="1"/>
            <a:r>
              <a:rPr lang="en-US" altLang="zh-CN" sz="1600" dirty="0" err="1">
                <a:latin typeface="Consolas" panose="020B0609020204030204" pitchFamily="49" charset="0"/>
              </a:rPr>
              <a:t>divide_tetra</a:t>
            </a:r>
            <a:r>
              <a:rPr lang="en-US" altLang="zh-CN" sz="1600" dirty="0">
                <a:latin typeface="Consolas" panose="020B0609020204030204" pitchFamily="49" charset="0"/>
              </a:rPr>
              <a:t>(mid[0], b, mid[3], mid[5], m-1);</a:t>
            </a:r>
          </a:p>
          <a:p>
            <a:pPr lvl="1"/>
            <a:r>
              <a:rPr lang="en-US" altLang="zh-CN" sz="1600" dirty="0" err="1">
                <a:latin typeface="Consolas" panose="020B0609020204030204" pitchFamily="49" charset="0"/>
              </a:rPr>
              <a:t>divide_tetra</a:t>
            </a:r>
            <a:r>
              <a:rPr lang="en-US" altLang="zh-CN" sz="1600" dirty="0">
                <a:latin typeface="Consolas" panose="020B0609020204030204" pitchFamily="49" charset="0"/>
              </a:rPr>
              <a:t>(mid[1], mid[3], c, mid[4], m-1);</a:t>
            </a:r>
          </a:p>
          <a:p>
            <a:pPr lvl="1"/>
            <a:r>
              <a:rPr lang="en-US" altLang="zh-CN" sz="1600" dirty="0" err="1">
                <a:latin typeface="Consolas" panose="020B0609020204030204" pitchFamily="49" charset="0"/>
              </a:rPr>
              <a:t>divide_tetra</a:t>
            </a:r>
            <a:r>
              <a:rPr lang="en-US" altLang="zh-CN" sz="1600" dirty="0">
                <a:latin typeface="Consolas" panose="020B0609020204030204" pitchFamily="49" charset="0"/>
              </a:rPr>
              <a:t>(mid[2], mid[5], mid[5], d, m-1);</a:t>
            </a:r>
          </a:p>
          <a:p>
            <a:pPr lvl="1"/>
            <a:r>
              <a:rPr lang="en-US" altLang="zh-CN" sz="1600" dirty="0">
                <a:latin typeface="Consolas" panose="020B0609020204030204" pitchFamily="49" charset="0"/>
              </a:rPr>
              <a:t>}</a:t>
            </a:r>
          </a:p>
          <a:p>
            <a:pPr lvl="1"/>
            <a:r>
              <a:rPr lang="en-US" altLang="zh-CN" sz="1600" dirty="0">
                <a:solidFill>
                  <a:srgbClr val="0000FF"/>
                </a:solidFill>
                <a:latin typeface="Consolas" panose="020B0609020204030204" pitchFamily="49" charset="0"/>
              </a:rPr>
              <a:t>else </a:t>
            </a:r>
            <a:r>
              <a:rPr lang="en-US" altLang="zh-CN" sz="1600" dirty="0">
                <a:latin typeface="Consolas" panose="020B0609020204030204" pitchFamily="49" charset="0"/>
              </a:rPr>
              <a:t>tetra(</a:t>
            </a:r>
            <a:r>
              <a:rPr lang="en-US" altLang="zh-CN" sz="1600" dirty="0" err="1">
                <a:latin typeface="Consolas" panose="020B0609020204030204" pitchFamily="49" charset="0"/>
              </a:rPr>
              <a:t>a,b,c,d</a:t>
            </a:r>
            <a:r>
              <a:rPr lang="en-US" altLang="zh-CN" sz="1600" dirty="0">
                <a:latin typeface="Consolas" panose="020B0609020204030204" pitchFamily="49" charset="0"/>
              </a:rPr>
              <a:t>); </a:t>
            </a:r>
            <a:r>
              <a:rPr lang="en-US" altLang="zh-CN" sz="1600" dirty="0">
                <a:solidFill>
                  <a:srgbClr val="00B050"/>
                </a:solidFill>
                <a:latin typeface="Consolas" panose="020B0609020204030204" pitchFamily="49" charset="0"/>
              </a:rPr>
              <a:t>/* draw tetrahedron at end of recursion */</a:t>
            </a:r>
          </a:p>
          <a:p>
            <a:r>
              <a:rPr lang="en-US" altLang="zh-CN" sz="1600" dirty="0">
                <a:latin typeface="Consolas" panose="020B0609020204030204" pitchFamily="49" charset="0"/>
              </a:rPr>
              <a:t>}</a:t>
            </a:r>
            <a:endParaRPr lang="zh-CN" altLang="en-US" sz="1600" dirty="0">
              <a:latin typeface="Consolas" panose="020B0609020204030204" pitchFamily="49" charset="0"/>
            </a:endParaRPr>
          </a:p>
        </p:txBody>
      </p:sp>
    </p:spTree>
    <p:extLst>
      <p:ext uri="{BB962C8B-B14F-4D97-AF65-F5344CB8AC3E}">
        <p14:creationId xmlns:p14="http://schemas.microsoft.com/office/powerpoint/2010/main" val="49899775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H" val="20160423221429"/>
  <p:tag name="MH_LIBRARY" val="CONTENTS"/>
  <p:tag name="MH_TYPE" val="OTHERS"/>
  <p:tag name="ID" val="545834"/>
</p:tagLst>
</file>

<file path=ppt/tags/tag2.xml><?xml version="1.0" encoding="utf-8"?>
<p:tagLst xmlns:a="http://schemas.openxmlformats.org/drawingml/2006/main" xmlns:r="http://schemas.openxmlformats.org/officeDocument/2006/relationships" xmlns:p="http://schemas.openxmlformats.org/presentationml/2006/main">
  <p:tag name="MH" val="20160423221429"/>
  <p:tag name="MH_LIBRARY" val="CONTENTS"/>
  <p:tag name="MH_TYPE" val="OTHERS"/>
  <p:tag name="ID" val="545834"/>
</p:tagLst>
</file>

<file path=ppt/tags/tag3.xml><?xml version="1.0" encoding="utf-8"?>
<p:tagLst xmlns:a="http://schemas.openxmlformats.org/drawingml/2006/main" xmlns:r="http://schemas.openxmlformats.org/officeDocument/2006/relationships" xmlns:p="http://schemas.openxmlformats.org/presentationml/2006/main">
  <p:tag name="MH" val="20160423221429"/>
  <p:tag name="MH_LIBRARY" val="CONTENTS"/>
  <p:tag name="MH_TYPE" val="OTHERS"/>
  <p:tag name="ID" val="545834"/>
</p:tagLst>
</file>

<file path=ppt/tags/tag4.xml><?xml version="1.0" encoding="utf-8"?>
<p:tagLst xmlns:a="http://schemas.openxmlformats.org/drawingml/2006/main" xmlns:r="http://schemas.openxmlformats.org/officeDocument/2006/relationships" xmlns:p="http://schemas.openxmlformats.org/presentationml/2006/main">
  <p:tag name="MH" val="20160423221429"/>
  <p:tag name="MH_LIBRARY" val="CONTENTS"/>
  <p:tag name="MH_TYPE" val="NUMBER"/>
  <p:tag name="ID" val="545834"/>
  <p:tag name="MH_ORDER" val="1"/>
</p:tagLst>
</file>

<file path=ppt/tags/tag5.xml><?xml version="1.0" encoding="utf-8"?>
<p:tagLst xmlns:a="http://schemas.openxmlformats.org/drawingml/2006/main" xmlns:r="http://schemas.openxmlformats.org/officeDocument/2006/relationships" xmlns:p="http://schemas.openxmlformats.org/presentationml/2006/main">
  <p:tag name="MH" val="20160423221429"/>
  <p:tag name="MH_LIBRARY" val="CONTENTS"/>
  <p:tag name="MH_TYPE" val="OTHERS"/>
  <p:tag name="ID" val="545834"/>
</p:tagLst>
</file>

<file path=ppt/tags/tag6.xml><?xml version="1.0" encoding="utf-8"?>
<p:tagLst xmlns:a="http://schemas.openxmlformats.org/drawingml/2006/main" xmlns:r="http://schemas.openxmlformats.org/officeDocument/2006/relationships" xmlns:p="http://schemas.openxmlformats.org/presentationml/2006/main">
  <p:tag name="MH" val="20160423221429"/>
  <p:tag name="MH_LIBRARY" val="CONTENTS"/>
  <p:tag name="MH_TYPE" val="OTHERS"/>
  <p:tag name="ID" val="545834"/>
</p:tagLst>
</file>

<file path=ppt/tags/tag7.xml><?xml version="1.0" encoding="utf-8"?>
<p:tagLst xmlns:a="http://schemas.openxmlformats.org/drawingml/2006/main" xmlns:r="http://schemas.openxmlformats.org/officeDocument/2006/relationships" xmlns:p="http://schemas.openxmlformats.org/presentationml/2006/main">
  <p:tag name="MH" val="20160423221429"/>
  <p:tag name="MH_LIBRARY" val="CONTENTS"/>
  <p:tag name="MH_TYPE" val="NUMBER"/>
  <p:tag name="ID" val="545834"/>
  <p:tag name="MH_ORDER" val="3"/>
</p:tagLst>
</file>

<file path=ppt/tags/tag8.xml><?xml version="1.0" encoding="utf-8"?>
<p:tagLst xmlns:a="http://schemas.openxmlformats.org/drawingml/2006/main" xmlns:r="http://schemas.openxmlformats.org/officeDocument/2006/relationships" xmlns:p="http://schemas.openxmlformats.org/presentationml/2006/main">
  <p:tag name="MH" val="20160423221429"/>
  <p:tag name="MH_LIBRARY" val="CONTENTS"/>
  <p:tag name="MH_TYPE" val="OTHERS"/>
  <p:tag name="ID" val="545834"/>
</p:tagLst>
</file>

<file path=ppt/tags/tag9.xml><?xml version="1.0" encoding="utf-8"?>
<p:tagLst xmlns:a="http://schemas.openxmlformats.org/drawingml/2006/main" xmlns:r="http://schemas.openxmlformats.org/officeDocument/2006/relationships" xmlns:p="http://schemas.openxmlformats.org/presentationml/2006/main">
  <p:tag name="MH" val="20160423221429"/>
  <p:tag name="MH_LIBRARY" val="CONTENTS"/>
  <p:tag name="MH_TYPE" val="OTHERS"/>
  <p:tag name="ID" val="545834"/>
</p:tagLst>
</file>

<file path=ppt/tags/tag10.xml><?xml version="1.0" encoding="utf-8"?>
<p:tagLst xmlns:a="http://schemas.openxmlformats.org/drawingml/2006/main" xmlns:r="http://schemas.openxmlformats.org/officeDocument/2006/relationships" xmlns:p="http://schemas.openxmlformats.org/presentationml/2006/main">
  <p:tag name="MH" val="20160423221429"/>
  <p:tag name="MH_LIBRARY" val="CONTENTS"/>
  <p:tag name="MH_TYPE" val="NUMBER"/>
  <p:tag name="ID" val="545834"/>
  <p:tag name="MH_ORDER" val="5"/>
</p:tagLst>
</file>

<file path=ppt/tags/tag11.xml><?xml version="1.0" encoding="utf-8"?>
<p:tagLst xmlns:a="http://schemas.openxmlformats.org/drawingml/2006/main" xmlns:r="http://schemas.openxmlformats.org/officeDocument/2006/relationships" xmlns:p="http://schemas.openxmlformats.org/presentationml/2006/main">
  <p:tag name="MH" val="20160423221429"/>
  <p:tag name="MH_LIBRARY" val="CONTENTS"/>
  <p:tag name="MH_TYPE" val="OTHERS"/>
  <p:tag name="ID" val="545834"/>
</p:tagLst>
</file>

<file path=ppt/tags/tag12.xml><?xml version="1.0" encoding="utf-8"?>
<p:tagLst xmlns:a="http://schemas.openxmlformats.org/drawingml/2006/main" xmlns:r="http://schemas.openxmlformats.org/officeDocument/2006/relationships" xmlns:p="http://schemas.openxmlformats.org/presentationml/2006/main">
  <p:tag name="MH" val="20160423221429"/>
  <p:tag name="MH_LIBRARY" val="CONTENTS"/>
  <p:tag name="MH_TYPE" val="OTHERS"/>
  <p:tag name="ID" val="545834"/>
</p:tagLst>
</file>

<file path=ppt/tags/tag13.xml><?xml version="1.0" encoding="utf-8"?>
<p:tagLst xmlns:a="http://schemas.openxmlformats.org/drawingml/2006/main" xmlns:r="http://schemas.openxmlformats.org/officeDocument/2006/relationships" xmlns:p="http://schemas.openxmlformats.org/presentationml/2006/main">
  <p:tag name="MH" val="20160423221429"/>
  <p:tag name="MH_LIBRARY" val="CONTENTS"/>
  <p:tag name="MH_TYPE" val="NUMBER"/>
  <p:tag name="ID" val="545834"/>
  <p:tag name="MH_ORDER" val="2"/>
</p:tagLst>
</file>

<file path=ppt/tags/tag14.xml><?xml version="1.0" encoding="utf-8"?>
<p:tagLst xmlns:a="http://schemas.openxmlformats.org/drawingml/2006/main" xmlns:r="http://schemas.openxmlformats.org/officeDocument/2006/relationships" xmlns:p="http://schemas.openxmlformats.org/presentationml/2006/main">
  <p:tag name="MH" val="20160423221429"/>
  <p:tag name="MH_LIBRARY" val="CONTENTS"/>
  <p:tag name="MH_TYPE" val="OTHERS"/>
  <p:tag name="ID" val="545834"/>
</p:tagLst>
</file>

<file path=ppt/tags/tag15.xml><?xml version="1.0" encoding="utf-8"?>
<p:tagLst xmlns:a="http://schemas.openxmlformats.org/drawingml/2006/main" xmlns:r="http://schemas.openxmlformats.org/officeDocument/2006/relationships" xmlns:p="http://schemas.openxmlformats.org/presentationml/2006/main">
  <p:tag name="MH" val="20160423221429"/>
  <p:tag name="MH_LIBRARY" val="CONTENTS"/>
  <p:tag name="MH_TYPE" val="OTHERS"/>
  <p:tag name="ID" val="545834"/>
</p:tagLst>
</file>

<file path=ppt/tags/tag16.xml><?xml version="1.0" encoding="utf-8"?>
<p:tagLst xmlns:a="http://schemas.openxmlformats.org/drawingml/2006/main" xmlns:r="http://schemas.openxmlformats.org/officeDocument/2006/relationships" xmlns:p="http://schemas.openxmlformats.org/presentationml/2006/main">
  <p:tag name="MH" val="20160423221429"/>
  <p:tag name="MH_LIBRARY" val="CONTENTS"/>
  <p:tag name="MH_TYPE" val="NUMBER"/>
  <p:tag name="ID" val="545834"/>
  <p:tag name="MH_ORDER" val="4"/>
</p:tagLst>
</file>

<file path=ppt/tags/tag17.xml><?xml version="1.0" encoding="utf-8"?>
<p:tagLst xmlns:a="http://schemas.openxmlformats.org/drawingml/2006/main" xmlns:r="http://schemas.openxmlformats.org/officeDocument/2006/relationships" xmlns:p="http://schemas.openxmlformats.org/presentationml/2006/main">
  <p:tag name="MH" val="20160423221429"/>
  <p:tag name="MH_LIBRARY" val="CONTENTS"/>
  <p:tag name="MH_TYPE" val="OTHERS"/>
  <p:tag name="ID" val="545834"/>
</p:tagLst>
</file>

<file path=ppt/tags/tag18.xml><?xml version="1.0" encoding="utf-8"?>
<p:tagLst xmlns:a="http://schemas.openxmlformats.org/drawingml/2006/main" xmlns:r="http://schemas.openxmlformats.org/officeDocument/2006/relationships" xmlns:p="http://schemas.openxmlformats.org/presentationml/2006/main">
  <p:tag name="MH" val="20160423221429"/>
  <p:tag name="MH_LIBRARY" val="CONTENTS"/>
  <p:tag name="MH_TYPE" val="NUMBER"/>
  <p:tag name="ID" val="545834"/>
  <p:tag name="MH_ORDER" val="3"/>
</p:tagLst>
</file>

<file path=ppt/tags/tag19.xml><?xml version="1.0" encoding="utf-8"?>
<p:tagLst xmlns:a="http://schemas.openxmlformats.org/drawingml/2006/main" xmlns:r="http://schemas.openxmlformats.org/officeDocument/2006/relationships" xmlns:p="http://schemas.openxmlformats.org/presentationml/2006/main">
  <p:tag name="MH" val="20160423221429"/>
  <p:tag name="MH_LIBRARY" val="CONTENTS"/>
  <p:tag name="MH_TYPE" val="OTHERS"/>
  <p:tag name="ID" val="545834"/>
</p:tagLst>
</file>

<file path=ppt/tags/tag20.xml><?xml version="1.0" encoding="utf-8"?>
<p:tagLst xmlns:a="http://schemas.openxmlformats.org/drawingml/2006/main" xmlns:r="http://schemas.openxmlformats.org/officeDocument/2006/relationships" xmlns:p="http://schemas.openxmlformats.org/presentationml/2006/main">
  <p:tag name="MH" val="20160423221429"/>
  <p:tag name="MH_LIBRARY" val="CONTENTS"/>
  <p:tag name="MH_TYPE" val="NUMBER"/>
  <p:tag name="ID" val="545834"/>
  <p:tag name="MH_ORDER" val="2"/>
</p:tagLst>
</file>

<file path=ppt/tags/tag21.xml><?xml version="1.0" encoding="utf-8"?>
<p:tagLst xmlns:a="http://schemas.openxmlformats.org/drawingml/2006/main" xmlns:r="http://schemas.openxmlformats.org/officeDocument/2006/relationships" xmlns:p="http://schemas.openxmlformats.org/presentationml/2006/main">
  <p:tag name="MH" val="20160423221429"/>
  <p:tag name="MH_LIBRARY" val="CONTENTS"/>
  <p:tag name="MH_TYPE" val="OTHERS"/>
  <p:tag name="ID" val="545834"/>
</p:tagLst>
</file>

<file path=ppt/tags/tag22.xml><?xml version="1.0" encoding="utf-8"?>
<p:tagLst xmlns:a="http://schemas.openxmlformats.org/drawingml/2006/main" xmlns:r="http://schemas.openxmlformats.org/officeDocument/2006/relationships" xmlns:p="http://schemas.openxmlformats.org/presentationml/2006/main">
  <p:tag name="MH" val="20160423221429"/>
  <p:tag name="MH_LIBRARY" val="CONTENTS"/>
  <p:tag name="MH_TYPE" val="NUMBER"/>
  <p:tag name="ID" val="545834"/>
  <p:tag name="MH_ORDER" val="4"/>
</p:tagLst>
</file>

<file path=ppt/tags/tag23.xml><?xml version="1.0" encoding="utf-8"?>
<p:tagLst xmlns:a="http://schemas.openxmlformats.org/drawingml/2006/main" xmlns:r="http://schemas.openxmlformats.org/officeDocument/2006/relationships" xmlns:p="http://schemas.openxmlformats.org/presentationml/2006/main">
  <p:tag name="MH" val="20160423221429"/>
  <p:tag name="MH_LIBRARY" val="CONTENTS"/>
  <p:tag name="MH_TYPE" val="OTHERS"/>
  <p:tag name="ID" val="545834"/>
</p:tagLst>
</file>

<file path=ppt/tags/tag24.xml><?xml version="1.0" encoding="utf-8"?>
<p:tagLst xmlns:a="http://schemas.openxmlformats.org/drawingml/2006/main" xmlns:r="http://schemas.openxmlformats.org/officeDocument/2006/relationships" xmlns:p="http://schemas.openxmlformats.org/presentationml/2006/main">
  <p:tag name="MH" val="20160423221429"/>
  <p:tag name="MH_LIBRARY" val="CONTENTS"/>
  <p:tag name="MH_TYPE" val="NUMBER"/>
  <p:tag name="ID" val="545834"/>
  <p:tag name="MH_ORDER" val="4"/>
</p:tagLst>
</file>

<file path=ppt/tags/tag25.xml><?xml version="1.0" encoding="utf-8"?>
<p:tagLst xmlns:a="http://schemas.openxmlformats.org/drawingml/2006/main" xmlns:r="http://schemas.openxmlformats.org/officeDocument/2006/relationships" xmlns:p="http://schemas.openxmlformats.org/presentationml/2006/main">
  <p:tag name="MH" val="20160423221429"/>
  <p:tag name="MH_LIBRARY" val="CONTENTS"/>
  <p:tag name="MH_TYPE" val="OTHERS"/>
  <p:tag name="ID" val="545834"/>
</p:tagLst>
</file>

<file path=ppt/tags/tag26.xml><?xml version="1.0" encoding="utf-8"?>
<p:tagLst xmlns:a="http://schemas.openxmlformats.org/drawingml/2006/main" xmlns:r="http://schemas.openxmlformats.org/officeDocument/2006/relationships" xmlns:p="http://schemas.openxmlformats.org/presentationml/2006/main">
  <p:tag name="MH" val="20160423221429"/>
  <p:tag name="MH_LIBRARY" val="CONTENTS"/>
  <p:tag name="MH_TYPE" val="NUMBER"/>
  <p:tag name="ID" val="545834"/>
  <p:tag name="MH_ORDER" val="5"/>
</p:tagLst>
</file>

<file path=ppt/tags/tag27.xml><?xml version="1.0" encoding="utf-8"?>
<p:tagLst xmlns:a="http://schemas.openxmlformats.org/drawingml/2006/main" xmlns:r="http://schemas.openxmlformats.org/officeDocument/2006/relationships" xmlns:p="http://schemas.openxmlformats.org/presentationml/2006/main">
  <p:tag name="MH" val="20160423221429"/>
  <p:tag name="MH_LIBRARY" val="CONTENTS"/>
  <p:tag name="MH_TYPE" val="OTHERS"/>
  <p:tag name="ID" val="545834"/>
</p:tagLst>
</file>

<file path=ppt/tags/tag28.xml><?xml version="1.0" encoding="utf-8"?>
<p:tagLst xmlns:a="http://schemas.openxmlformats.org/drawingml/2006/main" xmlns:r="http://schemas.openxmlformats.org/officeDocument/2006/relationships" xmlns:p="http://schemas.openxmlformats.org/presentationml/2006/main">
  <p:tag name="MH" val="20160423221429"/>
  <p:tag name="MH_LIBRARY" val="CONTENTS"/>
  <p:tag name="MH_TYPE" val="OTHERS"/>
  <p:tag name="ID" val="545834"/>
</p:tagLst>
</file>

<file path=ppt/tags/tag29.xml><?xml version="1.0" encoding="utf-8"?>
<p:tagLst xmlns:a="http://schemas.openxmlformats.org/drawingml/2006/main" xmlns:r="http://schemas.openxmlformats.org/officeDocument/2006/relationships" xmlns:p="http://schemas.openxmlformats.org/presentationml/2006/main">
  <p:tag name="MH" val="20160423221429"/>
  <p:tag name="MH_LIBRARY" val="CONTENTS"/>
  <p:tag name="MH_TYPE" val="NUMBER"/>
  <p:tag name="ID" val="545834"/>
  <p:tag name="MH_ORDER" val="4"/>
</p:tagLst>
</file>

<file path=ppt/tags/tag30.xml><?xml version="1.0" encoding="utf-8"?>
<p:tagLst xmlns:a="http://schemas.openxmlformats.org/drawingml/2006/main" xmlns:r="http://schemas.openxmlformats.org/officeDocument/2006/relationships" xmlns:p="http://schemas.openxmlformats.org/presentationml/2006/main">
  <p:tag name="MH" val="20160423221429"/>
  <p:tag name="MH_LIBRARY" val="CONTENTS"/>
  <p:tag name="MH_TYPE" val="NUMBER"/>
  <p:tag name="ID" val="545834"/>
  <p:tag name="MH_ORDER" val="5"/>
</p:tagLst>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5973</TotalTime>
  <Words>4248</Words>
  <Application>Microsoft Office PowerPoint</Application>
  <PresentationFormat>全屏显示(4:3)</PresentationFormat>
  <Paragraphs>622</Paragraphs>
  <Slides>52</Slides>
  <Notes>12</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52</vt:i4>
      </vt:variant>
    </vt:vector>
  </HeadingPairs>
  <TitlesOfParts>
    <vt:vector size="64" baseType="lpstr">
      <vt:lpstr>04b</vt:lpstr>
      <vt:lpstr>ZztexMono-Regular</vt:lpstr>
      <vt:lpstr>华文新魏</vt:lpstr>
      <vt:lpstr>微软雅黑</vt:lpstr>
      <vt:lpstr>微软雅黑</vt:lpstr>
      <vt:lpstr>叶根友唐楷字体</vt:lpstr>
      <vt:lpstr>Arial</vt:lpstr>
      <vt:lpstr>Calibri</vt:lpstr>
      <vt:lpstr>Consolas</vt:lpstr>
      <vt:lpstr>Impact</vt:lpstr>
      <vt:lpstr>Wingdings</vt:lpstr>
      <vt:lpstr>Office 主题</vt:lpstr>
      <vt:lpstr>第二章 图形学编程</vt:lpstr>
      <vt:lpstr>实验 1.1&amp;1.2</vt:lpstr>
      <vt:lpstr>实验一</vt:lpstr>
      <vt:lpstr>大纲</vt:lpstr>
      <vt:lpstr>内容提要</vt:lpstr>
      <vt:lpstr>大纲</vt:lpstr>
      <vt:lpstr>图形编程的应用</vt:lpstr>
      <vt:lpstr>图形编程的要素</vt:lpstr>
      <vt:lpstr>图形系统与图形API</vt:lpstr>
      <vt:lpstr>图形开发的前世今生</vt:lpstr>
      <vt:lpstr>OpenGL v.s. Direct3D</vt:lpstr>
      <vt:lpstr>OpenGL 3.1（2009年5月） </vt:lpstr>
      <vt:lpstr>其它版本 </vt:lpstr>
      <vt:lpstr>图形API的使用</vt:lpstr>
      <vt:lpstr>大纲</vt:lpstr>
      <vt:lpstr>Hello World to OpenGL</vt:lpstr>
      <vt:lpstr>Hello World to OpenGL</vt:lpstr>
      <vt:lpstr>Hello World to OpenGL</vt:lpstr>
      <vt:lpstr>Hello World to OpenGL</vt:lpstr>
      <vt:lpstr>Hello World to OpenGL</vt:lpstr>
      <vt:lpstr>Hello World to OpenGL</vt:lpstr>
      <vt:lpstr>Hello World to OpenGL</vt:lpstr>
      <vt:lpstr>Hello World to OpenGL</vt:lpstr>
      <vt:lpstr>Hello World to OpenGL</vt:lpstr>
      <vt:lpstr>OpenGL库</vt:lpstr>
      <vt:lpstr>OpenGL API接口函数</vt:lpstr>
      <vt:lpstr>OpenGL API接口函数</vt:lpstr>
      <vt:lpstr>OpenGL着色器与GLSL</vt:lpstr>
      <vt:lpstr>OpenGL API的使用</vt:lpstr>
      <vt:lpstr>大纲</vt:lpstr>
      <vt:lpstr>OpenGL中的图元</vt:lpstr>
      <vt:lpstr>图元的种类及用法</vt:lpstr>
      <vt:lpstr>多边形近似与三角剖分</vt:lpstr>
      <vt:lpstr>相机模型</vt:lpstr>
      <vt:lpstr>OpenGL中的相机</vt:lpstr>
      <vt:lpstr>正交视图</vt:lpstr>
      <vt:lpstr>二维观察</vt:lpstr>
      <vt:lpstr>大纲</vt:lpstr>
      <vt:lpstr>OpenGL中的属性</vt:lpstr>
      <vt:lpstr>可见光</vt:lpstr>
      <vt:lpstr>RGB颜色</vt:lpstr>
      <vt:lpstr>手机屏幕</vt:lpstr>
      <vt:lpstr>Hello World to OpenGL</vt:lpstr>
      <vt:lpstr>大纲</vt:lpstr>
      <vt:lpstr>Sierpinski镂垫的OpenGL程序</vt:lpstr>
      <vt:lpstr>代码</vt:lpstr>
      <vt:lpstr>Sierpinski程序的绘制部分</vt:lpstr>
      <vt:lpstr>API调用之后…</vt:lpstr>
      <vt:lpstr>二维Sierpinski镂垫的构造</vt:lpstr>
      <vt:lpstr>三角形细分</vt:lpstr>
      <vt:lpstr>二维到三维</vt:lpstr>
      <vt:lpstr>四面体细分</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Ruizhen Hu</dc:creator>
  <cp:lastModifiedBy>王锦鸿</cp:lastModifiedBy>
  <cp:revision>406</cp:revision>
  <dcterms:created xsi:type="dcterms:W3CDTF">2016-08-04T07:29:19Z</dcterms:created>
  <dcterms:modified xsi:type="dcterms:W3CDTF">2024-12-27T13:55:32Z</dcterms:modified>
</cp:coreProperties>
</file>