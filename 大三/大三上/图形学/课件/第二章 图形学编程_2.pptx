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5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363" r:id="rId2"/>
    <p:sldId id="364" r:id="rId3"/>
    <p:sldId id="385" r:id="rId4"/>
    <p:sldId id="305" r:id="rId5"/>
    <p:sldId id="386" r:id="rId6"/>
    <p:sldId id="394" r:id="rId7"/>
    <p:sldId id="392" r:id="rId8"/>
    <p:sldId id="390" r:id="rId9"/>
    <p:sldId id="391" r:id="rId10"/>
    <p:sldId id="258" r:id="rId11"/>
    <p:sldId id="298" r:id="rId12"/>
    <p:sldId id="539" r:id="rId13"/>
    <p:sldId id="540" r:id="rId14"/>
    <p:sldId id="295" r:id="rId15"/>
    <p:sldId id="297" r:id="rId16"/>
    <p:sldId id="525" r:id="rId17"/>
    <p:sldId id="526" r:id="rId18"/>
    <p:sldId id="527" r:id="rId19"/>
    <p:sldId id="528" r:id="rId20"/>
    <p:sldId id="529" r:id="rId21"/>
    <p:sldId id="530" r:id="rId22"/>
    <p:sldId id="531" r:id="rId23"/>
    <p:sldId id="537" r:id="rId24"/>
    <p:sldId id="538" r:id="rId25"/>
    <p:sldId id="340" r:id="rId26"/>
    <p:sldId id="324" r:id="rId27"/>
    <p:sldId id="343" r:id="rId28"/>
    <p:sldId id="356" r:id="rId29"/>
    <p:sldId id="388" r:id="rId30"/>
    <p:sldId id="395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64DD9"/>
    <a:srgbClr val="FF91C8"/>
    <a:srgbClr val="92D050"/>
    <a:srgbClr val="BDD7EE"/>
    <a:srgbClr val="A50021"/>
    <a:srgbClr val="7030A0"/>
    <a:srgbClr val="5B9BD5"/>
    <a:srgbClr val="D5A6DF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18" autoAdjust="0"/>
    <p:restoredTop sz="88160" autoAdjust="0"/>
  </p:normalViewPr>
  <p:slideViewPr>
    <p:cSldViewPr snapToGrid="0">
      <p:cViewPr varScale="1">
        <p:scale>
          <a:sx n="75" d="100"/>
          <a:sy n="75" d="100"/>
        </p:scale>
        <p:origin x="1219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941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67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93B95-C703-CD4C-B49F-E1CD62379AD1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98B4-4B2D-654A-B790-9D28830F66D1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563D-8133-5F4C-88A4-D8B7B49EC82F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30037"/>
            <a:ext cx="3886200" cy="4769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30037"/>
            <a:ext cx="3886200" cy="476942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F789E-5532-C44B-BE37-3720379333A3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CE90-35DF-714E-A54B-1616793996EF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B29BE-C124-6E4B-9540-86B6226EA005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54D0E-4541-D041-AAF9-9DC55280BABC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121E4-0B7D-5B4D-A93A-4D6BDC0EFBD5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477D0-6F70-944E-B052-F3A5D9F888C2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1147-639A-1645-AB65-BD692A4B0E54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A74F4-7A2A-464D-AD92-27658FAA9AEC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783800F-2EDC-054D-B04D-A89CE5DA3858}" type="datetime1">
              <a:rPr lang="en-US" altLang="zh-CN" smtClean="0"/>
              <a:t>9/24/2024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186286" y="144689"/>
            <a:ext cx="6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learnopengl-cn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1222" y="902711"/>
            <a:ext cx="8281555" cy="2387600"/>
          </a:xfrm>
        </p:spPr>
        <p:txBody>
          <a:bodyPr/>
          <a:lstStyle/>
          <a:p>
            <a:r>
              <a:rPr lang="zh-CN" altLang="en-US" dirty="0">
                <a:solidFill>
                  <a:srgbClr val="94003F"/>
                </a:solidFill>
              </a:rPr>
              <a:t>第二章 图形学编程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6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 </a:t>
            </a:r>
            <a:r>
              <a:rPr lang="en-US" altLang="zh-CN" dirty="0"/>
              <a:t>1.1&amp;1.2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环境配置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二维简单绘制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7" name="图片 11" descr="QQ截图2016081901583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8" y="2577148"/>
            <a:ext cx="3467409" cy="360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5" descr="C:\Users\LEO\AppData\Local\Microsoft\Windows\INetCache\Content.Word\QQ截图20160823133732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098" y="2577148"/>
            <a:ext cx="3437890" cy="3599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099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OpenGL</a:t>
            </a:r>
            <a:r>
              <a:rPr lang="zh-CN" altLang="en-US" dirty="0"/>
              <a:t>基本绘制</a:t>
            </a:r>
            <a:endParaRPr lang="en-US" altLang="zh-CN" dirty="0"/>
          </a:p>
          <a:p>
            <a:pPr lvl="1"/>
            <a:r>
              <a:rPr lang="zh-CN" altLang="en-US" dirty="0"/>
              <a:t>绘制多个简单的二维图形，撰写详细实验报告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20</a:t>
            </a:r>
            <a:r>
              <a:rPr lang="en-US" altLang="zh-CN" b="1" dirty="0">
                <a:solidFill>
                  <a:srgbClr val="FF0000"/>
                </a:solidFill>
              </a:rPr>
              <a:t>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23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8" name="图片 2" descr="C:\Users\a1309\Desktop\My Class\1.大三.1\计算机图形学\实验一\实验一\运行结果.png">
            <a:extLst>
              <a:ext uri="{FF2B5EF4-FFF2-40B4-BE49-F238E27FC236}">
                <a16:creationId xmlns:a16="http://schemas.microsoft.com/office/drawing/2014/main" id="{25FEA804-376F-864C-9903-A9A49514A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223" y="2851404"/>
            <a:ext cx="1533503" cy="161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4">
            <a:extLst>
              <a:ext uri="{FF2B5EF4-FFF2-40B4-BE49-F238E27FC236}">
                <a16:creationId xmlns:a16="http://schemas.microsoft.com/office/drawing/2014/main" id="{BFD4EB05-085B-B14A-BB19-D659B0DA3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173" y="4673410"/>
            <a:ext cx="1527553" cy="161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3">
            <a:extLst>
              <a:ext uri="{FF2B5EF4-FFF2-40B4-BE49-F238E27FC236}">
                <a16:creationId xmlns:a16="http://schemas.microsoft.com/office/drawing/2014/main" id="{97AE240D-0A07-454F-93AE-29BD982A3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426" y="2851660"/>
            <a:ext cx="1549867" cy="1612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7">
            <a:extLst>
              <a:ext uri="{FF2B5EF4-FFF2-40B4-BE49-F238E27FC236}">
                <a16:creationId xmlns:a16="http://schemas.microsoft.com/office/drawing/2014/main" id="{130A53FA-AE26-F146-90AD-B733521A4250}"/>
              </a:ext>
            </a:extLst>
          </p:cNvPr>
          <p:cNvPicPr/>
          <p:nvPr/>
        </p:nvPicPr>
        <p:blipFill rotWithShape="1">
          <a:blip r:embed="rId5"/>
          <a:srcRect l="2844" r="3281" b="8627"/>
          <a:stretch/>
        </p:blipFill>
        <p:spPr>
          <a:xfrm>
            <a:off x="6918748" y="4676256"/>
            <a:ext cx="1588577" cy="16150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CD5067-10C1-4C86-9690-1FA263F7A45B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901763" y="2851404"/>
            <a:ext cx="3602419" cy="353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7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在图形编程领域，正发生着剧烈的技术变革：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如乔布斯在</a:t>
            </a:r>
            <a:r>
              <a:rPr lang="en-US" altLang="zh-CN" sz="1800" dirty="0"/>
              <a:t>2010</a:t>
            </a:r>
            <a:r>
              <a:rPr lang="zh-CN" altLang="en-US" sz="1800" dirty="0"/>
              <a:t>年预言的，目前</a:t>
            </a:r>
            <a:r>
              <a:rPr lang="en-US" altLang="zh-CN" sz="1800" dirty="0" err="1"/>
              <a:t>WebGL</a:t>
            </a:r>
            <a:r>
              <a:rPr lang="zh-CN" altLang="en-US" sz="1800" dirty="0"/>
              <a:t>全面取代</a:t>
            </a:r>
            <a:r>
              <a:rPr lang="en-US" altLang="zh-CN" sz="1800" dirty="0"/>
              <a:t>Flash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除了</a:t>
            </a:r>
            <a:r>
              <a:rPr lang="en-US" altLang="zh-CN" sz="1800" dirty="0"/>
              <a:t>Win</a:t>
            </a:r>
            <a:r>
              <a:rPr lang="zh-CN" altLang="en-US" sz="1800" dirty="0"/>
              <a:t>平台下的游戏领域，</a:t>
            </a:r>
            <a:r>
              <a:rPr lang="en-US" altLang="zh-CN" sz="1800" dirty="0"/>
              <a:t>OpenGL</a:t>
            </a:r>
            <a:r>
              <a:rPr lang="zh-CN" altLang="en-US" sz="1800" dirty="0"/>
              <a:t>已经全面超越</a:t>
            </a:r>
            <a:r>
              <a:rPr lang="en-US" altLang="zh-CN" sz="1800" dirty="0"/>
              <a:t>Microsoft</a:t>
            </a:r>
            <a:r>
              <a:rPr lang="en-US" altLang="zh-CN" sz="1800" b="1" baseline="30000" dirty="0"/>
              <a:t>®</a:t>
            </a:r>
            <a:r>
              <a:rPr lang="zh-CN" altLang="en-US" sz="1800" dirty="0"/>
              <a:t>的</a:t>
            </a:r>
            <a:r>
              <a:rPr lang="en-US" altLang="zh-CN" sz="1800" dirty="0"/>
              <a:t>Direct3D</a:t>
            </a:r>
            <a:r>
              <a:rPr lang="zh-CN" altLang="en-US" sz="1800" dirty="0"/>
              <a:t>成为图形编程的主流</a:t>
            </a:r>
            <a:r>
              <a:rPr lang="en-US" altLang="zh-CN" sz="1800" dirty="0"/>
              <a:t>API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最新的</a:t>
            </a:r>
            <a:r>
              <a:rPr lang="en-US" altLang="zh-CN" sz="1800" dirty="0"/>
              <a:t>OpenGL4.3</a:t>
            </a:r>
            <a:r>
              <a:rPr lang="zh-CN" altLang="en-US" sz="1800" dirty="0"/>
              <a:t>将着色器作为基础组件，其处理管线如下图：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430"/>
          <a:stretch/>
        </p:blipFill>
        <p:spPr>
          <a:xfrm>
            <a:off x="2574318" y="3064969"/>
            <a:ext cx="5546578" cy="354960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45910" y="3680460"/>
            <a:ext cx="2973599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- 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着色器</a:t>
            </a:r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(</a:t>
            </a:r>
            <a:r>
              <a:rPr lang="en-US" altLang="zh-CN" b="1" dirty="0" err="1">
                <a:solidFill>
                  <a:srgbClr val="464DD9"/>
                </a:solidFill>
                <a:latin typeface="ZztexMono-Regular"/>
              </a:rPr>
              <a:t>Shader</a:t>
            </a:r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)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的概念：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   GPU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的图元处理小程序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- OpenGL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着色器的种类：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   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顶点着色器、片段着色  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   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器、几何着色器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- OpenGL</a:t>
            </a:r>
            <a:r>
              <a:rPr lang="zh-CN" altLang="en-US" b="1" dirty="0">
                <a:solidFill>
                  <a:srgbClr val="464DD9"/>
                </a:solidFill>
                <a:latin typeface="ZztexMono-Regular"/>
              </a:rPr>
              <a:t>着色器语言： </a:t>
            </a:r>
            <a:endParaRPr lang="en-US" altLang="zh-CN" b="1" dirty="0">
              <a:solidFill>
                <a:srgbClr val="464DD9"/>
              </a:solidFill>
              <a:latin typeface="ZztexMono-Regular"/>
            </a:endParaRP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   OpenGL Shading  </a:t>
            </a:r>
          </a:p>
          <a:p>
            <a:r>
              <a:rPr lang="en-US" altLang="zh-CN" b="1" dirty="0">
                <a:solidFill>
                  <a:srgbClr val="464DD9"/>
                </a:solidFill>
                <a:latin typeface="ZztexMono-Regular"/>
              </a:rPr>
              <a:t>    Language / GLSL</a:t>
            </a:r>
            <a:endParaRPr lang="en-US" altLang="zh-CN" dirty="0">
              <a:latin typeface="ZztexMono-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AF005-DC8E-7442-A7C0-7A70A07540E4}"/>
              </a:ext>
            </a:extLst>
          </p:cNvPr>
          <p:cNvSpPr/>
          <p:nvPr/>
        </p:nvSpPr>
        <p:spPr>
          <a:xfrm>
            <a:off x="4973608" y="732056"/>
            <a:ext cx="39917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</a:rPr>
              <a:t>OpenGL</a:t>
            </a:r>
            <a:r>
              <a:rPr lang="zh-CN" altLang="en-US" sz="3200" b="1" dirty="0">
                <a:solidFill>
                  <a:srgbClr val="A50021"/>
                </a:solidFill>
              </a:rPr>
              <a:t>着色器与</a:t>
            </a:r>
            <a:r>
              <a:rPr lang="en-US" altLang="zh-CN" sz="3200" b="1" dirty="0">
                <a:solidFill>
                  <a:srgbClr val="A50021"/>
                </a:solidFill>
              </a:rPr>
              <a:t>GLSL</a:t>
            </a:r>
            <a:endParaRPr lang="en-US" sz="3200" b="1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3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192" y="3302096"/>
            <a:ext cx="3947808" cy="3555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1" y="1420813"/>
            <a:ext cx="4842211" cy="50720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7130" y="732344"/>
            <a:ext cx="15311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A50021"/>
                </a:solidFill>
              </a:rPr>
              <a:t>实验</a:t>
            </a:r>
            <a:r>
              <a:rPr lang="en-US" altLang="zh-CN" sz="3200" b="1" dirty="0">
                <a:solidFill>
                  <a:srgbClr val="A50021"/>
                </a:solidFill>
              </a:rPr>
              <a:t>1.2</a:t>
            </a:r>
            <a:endParaRPr lang="en-US" sz="3200" b="1" dirty="0">
              <a:solidFill>
                <a:srgbClr val="A5002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192" y="1420813"/>
            <a:ext cx="3630718" cy="170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8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B6A67-4CE5-4B53-983C-8D1BF75C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1811A-64E1-4149-9201-A9A31CFB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关于“颜色”的代码拼写错误（错误案例）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88F71-F127-4A29-B958-ACBAB8C8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D041CB-CA9B-469E-B7F3-DB2833ADF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56" y="1968882"/>
            <a:ext cx="2038938" cy="208912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A29A290-5F2B-4632-8F2A-5C4064A4FCA9}"/>
              </a:ext>
            </a:extLst>
          </p:cNvPr>
          <p:cNvSpPr txBox="1"/>
          <p:nvPr/>
        </p:nvSpPr>
        <p:spPr>
          <a:xfrm>
            <a:off x="1902286" y="4178991"/>
            <a:ext cx="140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正确结果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F80270D-B400-4D85-8F11-72127854A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98" y="4584537"/>
            <a:ext cx="2154853" cy="20891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8B5933-287F-49BD-AFD7-0F42C77436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180" y="1995599"/>
            <a:ext cx="1950720" cy="203569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201FC5A-6100-4C85-89A6-FAA617AF8450}"/>
              </a:ext>
            </a:extLst>
          </p:cNvPr>
          <p:cNvSpPr txBox="1"/>
          <p:nvPr/>
        </p:nvSpPr>
        <p:spPr>
          <a:xfrm>
            <a:off x="5345371" y="4136607"/>
            <a:ext cx="140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颜色不对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BE1C101-E7AA-4E26-A938-15E467E7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644" y="4717625"/>
            <a:ext cx="2015288" cy="214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1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B6A67-4CE5-4B53-983C-8D1BF75C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1811A-64E1-4149-9201-A9A31CFB8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关于“颜色”的代码拼写错误</a:t>
            </a:r>
            <a:endParaRPr lang="en-US" altLang="zh-CN" dirty="0"/>
          </a:p>
          <a:p>
            <a:pPr lvl="1"/>
            <a:r>
              <a:rPr lang="zh-CN" altLang="en-US" dirty="0"/>
              <a:t>错误使用 </a:t>
            </a:r>
            <a:r>
              <a:rPr lang="en-US" altLang="zh-CN" dirty="0">
                <a:solidFill>
                  <a:srgbClr val="FF0000"/>
                </a:solidFill>
              </a:rPr>
              <a:t>vec2</a:t>
            </a:r>
            <a:r>
              <a:rPr lang="en-US" altLang="zh-CN" dirty="0"/>
              <a:t> </a:t>
            </a:r>
            <a:r>
              <a:rPr lang="zh-CN" altLang="en-US" dirty="0"/>
              <a:t>初始化颜色数据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关联顶点数据时，参数设置错误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88F71-F127-4A29-B958-ACBAB8C8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EFDF9-80A4-4C1D-8345-F99BA2BC2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766" y="2138127"/>
            <a:ext cx="6846650" cy="15046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A503DF-9DAE-4010-8353-572BDDA20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766" y="4228034"/>
            <a:ext cx="6838971" cy="119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6047C-42B6-4B70-B564-FE1C690D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55CB8-1906-45FA-BD16-140F44D4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program, </a:t>
            </a:r>
            <a:r>
              <a:rPr lang="en-US" altLang="zh-CN" sz="2400" dirty="0" err="1"/>
              <a:t>vao</a:t>
            </a:r>
            <a:r>
              <a:rPr lang="en-US" altLang="zh-CN" sz="2400" dirty="0"/>
              <a:t> </a:t>
            </a:r>
            <a:r>
              <a:rPr lang="zh-CN" altLang="en-US" sz="2400" dirty="0"/>
              <a:t>的错误使用，导致没有任何显示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E107D-AC50-42A1-B883-415D24BA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BFD226-4842-4B68-8AE4-36E661C64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833" y="1804953"/>
            <a:ext cx="6428116" cy="30435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E8F4350-71D1-4705-9722-FA9FCA2F5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33" y="4973897"/>
            <a:ext cx="6428116" cy="188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47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86415-231F-4016-A4B5-1536C49E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B3233-BDF6-465C-9CCC-1B546CD67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glBindBuffer</a:t>
            </a:r>
            <a:r>
              <a:rPr lang="en-US" altLang="zh-CN" dirty="0"/>
              <a:t> </a:t>
            </a:r>
            <a:r>
              <a:rPr lang="zh-CN" altLang="en-US" dirty="0"/>
              <a:t>绑定错误，导致没有任何显示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1185D-E45B-4C2C-B53D-F8C6774A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7A3E8E0-4C83-481E-9CA9-20A81B793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40" y="1833195"/>
            <a:ext cx="5382880" cy="4842242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2CC9416-DFBF-406B-9070-FF502BEC4B95}"/>
              </a:ext>
            </a:extLst>
          </p:cNvPr>
          <p:cNvCxnSpPr/>
          <p:nvPr/>
        </p:nvCxnSpPr>
        <p:spPr>
          <a:xfrm>
            <a:off x="2994660" y="3116580"/>
            <a:ext cx="4038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C415F72-0215-4423-BF3B-04ABD872B6A8}"/>
              </a:ext>
            </a:extLst>
          </p:cNvPr>
          <p:cNvSpPr txBox="1"/>
          <p:nvPr/>
        </p:nvSpPr>
        <p:spPr>
          <a:xfrm>
            <a:off x="7040880" y="2924740"/>
            <a:ext cx="202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vbo</a:t>
            </a:r>
            <a:r>
              <a:rPr lang="en-US" altLang="zh-CN" dirty="0"/>
              <a:t>[0]</a:t>
            </a:r>
            <a:r>
              <a:rPr lang="zh-CN" altLang="en-US" dirty="0"/>
              <a:t>，用于位置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4C89E88-CFC2-4C6F-A93B-CC97CBB42777}"/>
              </a:ext>
            </a:extLst>
          </p:cNvPr>
          <p:cNvCxnSpPr/>
          <p:nvPr/>
        </p:nvCxnSpPr>
        <p:spPr>
          <a:xfrm>
            <a:off x="2994660" y="3794760"/>
            <a:ext cx="40386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FF11CAE-CF04-40F8-BC77-BF51CB8F7809}"/>
              </a:ext>
            </a:extLst>
          </p:cNvPr>
          <p:cNvSpPr txBox="1"/>
          <p:nvPr/>
        </p:nvSpPr>
        <p:spPr>
          <a:xfrm>
            <a:off x="7040880" y="3610094"/>
            <a:ext cx="1947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vbo</a:t>
            </a:r>
            <a:r>
              <a:rPr lang="en-US" altLang="zh-CN" dirty="0"/>
              <a:t>[1]</a:t>
            </a:r>
            <a:r>
              <a:rPr lang="zh-CN" altLang="en-US" dirty="0"/>
              <a:t>，用于颜色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58776B-29D7-4AD9-A422-2C5D94A65FE1}"/>
              </a:ext>
            </a:extLst>
          </p:cNvPr>
          <p:cNvSpPr txBox="1"/>
          <p:nvPr/>
        </p:nvSpPr>
        <p:spPr>
          <a:xfrm>
            <a:off x="7281560" y="2302916"/>
            <a:ext cx="116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vbo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大括号 15">
            <a:extLst>
              <a:ext uri="{FF2B5EF4-FFF2-40B4-BE49-F238E27FC236}">
                <a16:creationId xmlns:a16="http://schemas.microsoft.com/office/drawing/2014/main" id="{52303B2F-EDEF-4D95-8D38-3A4BE36DEE97}"/>
              </a:ext>
            </a:extLst>
          </p:cNvPr>
          <p:cNvSpPr/>
          <p:nvPr/>
        </p:nvSpPr>
        <p:spPr>
          <a:xfrm>
            <a:off x="6484620" y="5113020"/>
            <a:ext cx="205740" cy="838199"/>
          </a:xfrm>
          <a:prstGeom prst="rightBrace">
            <a:avLst>
              <a:gd name="adj1" fmla="val 47463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CA9586-44E9-4D3A-917B-F07B6BC8F02C}"/>
              </a:ext>
            </a:extLst>
          </p:cNvPr>
          <p:cNvSpPr txBox="1"/>
          <p:nvPr/>
        </p:nvSpPr>
        <p:spPr>
          <a:xfrm>
            <a:off x="6740540" y="5202306"/>
            <a:ext cx="2247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vPosition</a:t>
            </a:r>
            <a:r>
              <a:rPr lang="zh-CN" altLang="en-US" dirty="0"/>
              <a:t>错误地关联了</a:t>
            </a:r>
            <a:r>
              <a:rPr lang="en-US" altLang="zh-CN" dirty="0" err="1"/>
              <a:t>vbo</a:t>
            </a:r>
            <a:r>
              <a:rPr lang="en-US" altLang="zh-CN" dirty="0"/>
              <a:t>[1]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28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88294" y="385088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图形学编程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2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6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28650" y="1055567"/>
            <a:ext cx="7886700" cy="517604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图形编程与图形</a:t>
            </a:r>
            <a:r>
              <a:rPr lang="en-US" altLang="zh-CN" dirty="0"/>
              <a:t>API</a:t>
            </a:r>
          </a:p>
          <a:p>
            <a:pPr>
              <a:buClr>
                <a:srgbClr val="94003F"/>
              </a:buClr>
            </a:pPr>
            <a:r>
              <a:rPr lang="en-US" altLang="zh-CN" dirty="0">
                <a:solidFill>
                  <a:srgbClr val="00B0F0"/>
                </a:solidFill>
              </a:rPr>
              <a:t>OpenGL</a:t>
            </a:r>
            <a:r>
              <a:rPr lang="zh-CN" altLang="en-US" dirty="0"/>
              <a:t>编程与着色器语言</a:t>
            </a:r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OpenGL</a:t>
            </a:r>
            <a:r>
              <a:rPr lang="zh-CN" altLang="en-US" dirty="0"/>
              <a:t>的图元与观察</a:t>
            </a:r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OpenGL</a:t>
            </a:r>
            <a:r>
              <a:rPr lang="zh-CN" altLang="en-US" dirty="0"/>
              <a:t>的属性与颜色</a:t>
            </a:r>
            <a:endParaRPr lang="en-US" altLang="zh-CN" dirty="0"/>
          </a:p>
          <a:p>
            <a:r>
              <a:rPr lang="en-US" altLang="zh-CN" dirty="0">
                <a:solidFill>
                  <a:srgbClr val="00B0F0"/>
                </a:solidFill>
              </a:rPr>
              <a:t>OpenGL</a:t>
            </a:r>
            <a:r>
              <a:rPr lang="zh-CN" altLang="en-US" dirty="0"/>
              <a:t>初始化与程序结构</a:t>
            </a:r>
            <a:endParaRPr lang="en-US" altLang="zh-CN" dirty="0"/>
          </a:p>
          <a:p>
            <a:pPr lvl="1"/>
            <a:r>
              <a:rPr lang="zh-CN" altLang="en-US" dirty="0"/>
              <a:t>图形程序示例 </a:t>
            </a:r>
            <a:r>
              <a:rPr lang="en-US" altLang="zh-CN" dirty="0"/>
              <a:t>-- </a:t>
            </a:r>
            <a:r>
              <a:rPr lang="en-US" altLang="zh-CN" dirty="0" err="1"/>
              <a:t>Sierpinski</a:t>
            </a:r>
            <a:r>
              <a:rPr lang="zh-CN" altLang="en-US" dirty="0"/>
              <a:t>镂垫</a:t>
            </a:r>
            <a:endParaRPr lang="en-US" altLang="zh-CN" dirty="0"/>
          </a:p>
          <a:p>
            <a:pPr lvl="1"/>
            <a:r>
              <a:rPr lang="zh-CN" altLang="en-US" dirty="0"/>
              <a:t>图形</a:t>
            </a:r>
            <a:r>
              <a:rPr lang="en-US" altLang="zh-CN" dirty="0"/>
              <a:t>/</a:t>
            </a:r>
            <a:r>
              <a:rPr lang="zh-CN" altLang="en-US" dirty="0"/>
              <a:t>几何数据及其算法 </a:t>
            </a:r>
            <a:r>
              <a:rPr lang="en-US" altLang="zh-CN" dirty="0"/>
              <a:t>-- </a:t>
            </a:r>
            <a:r>
              <a:rPr lang="zh-CN" altLang="en-US" dirty="0"/>
              <a:t>多边形和递归</a:t>
            </a:r>
            <a:endParaRPr lang="en-US" altLang="zh-CN" dirty="0"/>
          </a:p>
          <a:p>
            <a:pPr lvl="1"/>
            <a:r>
              <a:rPr lang="zh-CN" altLang="en-US" dirty="0"/>
              <a:t>三维</a:t>
            </a:r>
            <a:r>
              <a:rPr lang="en-US" altLang="zh-CN" dirty="0" err="1"/>
              <a:t>Sierpinski</a:t>
            </a:r>
            <a:r>
              <a:rPr lang="zh-CN" altLang="en-US" dirty="0"/>
              <a:t>镂垫</a:t>
            </a:r>
          </a:p>
          <a:p>
            <a:r>
              <a:rPr lang="zh-CN" altLang="en-US" dirty="0"/>
              <a:t>图形编程的交互方式</a:t>
            </a:r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736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的控制与交互方式</a:t>
            </a:r>
            <a:endParaRPr lang="en-US" altLang="zh-CN" dirty="0"/>
          </a:p>
          <a:p>
            <a:pPr lvl="1"/>
            <a:r>
              <a:rPr lang="zh-CN" altLang="en-US" dirty="0"/>
              <a:t>鼠标和键盘的交互控制</a:t>
            </a:r>
            <a:endParaRPr lang="en-US" altLang="zh-CN" dirty="0"/>
          </a:p>
          <a:p>
            <a:pPr lvl="1"/>
            <a:r>
              <a:rPr lang="zh-CN" altLang="en-US" dirty="0"/>
              <a:t>基于循环调用事件的动画生成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66B1E8-8451-491F-AE6D-375E48FB1A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543" y="2560778"/>
            <a:ext cx="3179247" cy="3416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EA0FA3-6844-4523-B435-2814C0B97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736" y="2560778"/>
            <a:ext cx="3176656" cy="341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6418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期中大作业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俄罗斯方块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编写一个简化版的俄罗斯方块游戏程序，撰写详细实验报告</a:t>
            </a:r>
            <a:endParaRPr lang="en-US" altLang="zh-CN" dirty="0"/>
          </a:p>
          <a:p>
            <a:pPr lvl="1"/>
            <a:r>
              <a:rPr lang="zh-CN" altLang="en-US" dirty="0"/>
              <a:t>提供参考代码，仅需实现部分功能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10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21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2222" y="3080782"/>
            <a:ext cx="4059555" cy="299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88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405994" y="3389111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图形编程的交互方式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8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6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168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b="4033"/>
          <a:stretch/>
        </p:blipFill>
        <p:spPr>
          <a:xfrm>
            <a:off x="3831363" y="3518302"/>
            <a:ext cx="5026586" cy="29745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图形编程中的交互方式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图形编程的交互类型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响应各类输入设备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二维</a:t>
            </a:r>
            <a:r>
              <a:rPr lang="en-US" altLang="zh-CN" sz="1800" dirty="0"/>
              <a:t>/</a:t>
            </a:r>
            <a:r>
              <a:rPr lang="zh-CN" altLang="en-US" sz="1800" dirty="0"/>
              <a:t>三维旋转、平移、缩放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拾取、框选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三维控件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实时重绘制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zh-CN" altLang="en-US" sz="1800" dirty="0"/>
          </a:p>
          <a:p>
            <a:pPr>
              <a:buClr>
                <a:srgbClr val="94003F"/>
              </a:buClr>
            </a:pPr>
            <a:r>
              <a:rPr lang="en-US" altLang="zh-CN" sz="2400" dirty="0"/>
              <a:t>GLUT</a:t>
            </a:r>
            <a:r>
              <a:rPr lang="zh-CN" altLang="en-US" sz="2400" dirty="0"/>
              <a:t>对交互的支持：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事件驱动模型</a:t>
            </a:r>
          </a:p>
          <a:p>
            <a:pPr lvl="1">
              <a:buClr>
                <a:schemeClr val="tx1"/>
              </a:buClr>
            </a:pPr>
            <a:r>
              <a:rPr lang="zh-CN" altLang="en-US" sz="1800" b="1" dirty="0">
                <a:solidFill>
                  <a:srgbClr val="FF0000"/>
                </a:solidFill>
              </a:rPr>
              <a:t>回调函数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双缓存切换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767" y="1303018"/>
            <a:ext cx="1015586" cy="9854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826" y="1513738"/>
            <a:ext cx="1329744" cy="9153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179" y="1195906"/>
            <a:ext cx="1689050" cy="7117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018" y="2498535"/>
            <a:ext cx="1104190" cy="7560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102" y="2470110"/>
            <a:ext cx="1455559" cy="86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9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窗口：改变尺寸、露出、图标化</a:t>
            </a:r>
            <a:endParaRPr lang="en-US" altLang="zh-CN" dirty="0"/>
          </a:p>
          <a:p>
            <a:r>
              <a:rPr lang="zh-CN" altLang="en-US" dirty="0"/>
              <a:t>鼠标：</a:t>
            </a:r>
            <a:r>
              <a:rPr lang="zh-CN" altLang="en-US" dirty="0">
                <a:highlight>
                  <a:srgbClr val="FFFF00"/>
                </a:highlight>
              </a:rPr>
              <a:t>点击某个或多个</a:t>
            </a:r>
            <a:r>
              <a:rPr lang="zh-CN" altLang="en-US" dirty="0"/>
              <a:t>按钮</a:t>
            </a:r>
            <a:endParaRPr lang="en-US" altLang="zh-CN" dirty="0"/>
          </a:p>
          <a:p>
            <a:r>
              <a:rPr lang="zh-CN" altLang="en-US" dirty="0"/>
              <a:t>移动</a:t>
            </a:r>
            <a:r>
              <a:rPr lang="en-US" altLang="zh-CN" dirty="0"/>
              <a:t>Motion</a:t>
            </a:r>
            <a:r>
              <a:rPr lang="zh-CN" altLang="en-US" dirty="0"/>
              <a:t>：</a:t>
            </a:r>
            <a:r>
              <a:rPr lang="zh-CN" altLang="en-US" dirty="0">
                <a:highlight>
                  <a:srgbClr val="FFFF00"/>
                </a:highlight>
              </a:rPr>
              <a:t>移动</a:t>
            </a:r>
            <a:r>
              <a:rPr lang="zh-CN" altLang="en-US" dirty="0"/>
              <a:t>鼠标</a:t>
            </a:r>
            <a:endParaRPr lang="en-US" altLang="zh-CN" dirty="0"/>
          </a:p>
          <a:p>
            <a:r>
              <a:rPr lang="zh-CN" altLang="en-US" dirty="0">
                <a:highlight>
                  <a:srgbClr val="FFFF00"/>
                </a:highlight>
              </a:rPr>
              <a:t>键盘</a:t>
            </a:r>
            <a:r>
              <a:rPr lang="zh-CN" altLang="en-US" dirty="0"/>
              <a:t>：按下或者释放了某个按键</a:t>
            </a:r>
            <a:endParaRPr lang="en-US" altLang="zh-CN" dirty="0"/>
          </a:p>
          <a:p>
            <a:r>
              <a:rPr lang="zh-CN" altLang="en-US" dirty="0"/>
              <a:t>空闲</a:t>
            </a:r>
            <a:r>
              <a:rPr lang="en-US" altLang="zh-CN" dirty="0"/>
              <a:t>Idle</a:t>
            </a:r>
            <a:r>
              <a:rPr lang="zh-CN" altLang="en-US" dirty="0"/>
              <a:t>：没有事件</a:t>
            </a:r>
            <a:endParaRPr lang="en-US" altLang="zh-CN" dirty="0"/>
          </a:p>
          <a:p>
            <a:pPr lvl="1"/>
            <a:r>
              <a:rPr lang="zh-CN" altLang="en-US" dirty="0"/>
              <a:t>定义如果没有事件被触发将如何操作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1997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回调函数</a:t>
            </a:r>
            <a:r>
              <a:rPr lang="en-US" altLang="zh-CN" dirty="0"/>
              <a:t>Callbacks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对于图形系统可以识别的事件定义</a:t>
            </a:r>
            <a:r>
              <a:rPr lang="zh-CN" altLang="en-US" dirty="0">
                <a:highlight>
                  <a:srgbClr val="FFFF00"/>
                </a:highlight>
              </a:rPr>
              <a:t>回调函数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当事件触发后执行用户提供的</a:t>
            </a:r>
            <a:r>
              <a:rPr lang="zh-CN" altLang="en-US" dirty="0">
                <a:highlight>
                  <a:srgbClr val="FFFF00"/>
                </a:highlight>
              </a:rPr>
              <a:t>回调函数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例如，</a:t>
            </a:r>
            <a:r>
              <a:rPr lang="en-US" altLang="zh-CN" dirty="0"/>
              <a:t>GLFW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76086" y="2932798"/>
            <a:ext cx="7339264" cy="608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glfwSetMouseButtonCallback</a:t>
            </a:r>
            <a:r>
              <a:rPr lang="en-US" altLang="zh-CN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mainwindow</a:t>
            </a:r>
            <a:r>
              <a:rPr lang="en-US" altLang="zh-CN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mouse_button_callback</a:t>
            </a:r>
            <a:r>
              <a:rPr lang="en-US" altLang="zh-CN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</a:t>
            </a:r>
            <a:endParaRPr lang="en-US" altLang="zh-CN" dirty="0">
              <a:ea typeface="ＭＳ Ｐゴシック" panose="020B0600070205080204" pitchFamily="34" charset="-128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H="1" flipV="1">
            <a:off x="4913586" y="3502685"/>
            <a:ext cx="838200" cy="4572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377558" y="3885406"/>
            <a:ext cx="3159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mouse callback function</a:t>
            </a:r>
          </a:p>
        </p:txBody>
      </p:sp>
    </p:spTree>
    <p:extLst>
      <p:ext uri="{BB962C8B-B14F-4D97-AF65-F5344CB8AC3E}">
        <p14:creationId xmlns:p14="http://schemas.microsoft.com/office/powerpoint/2010/main" val="3525566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GLFW</a:t>
            </a:r>
            <a:r>
              <a:rPr lang="zh-CN" altLang="en-US" dirty="0"/>
              <a:t>的回调函数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GLFW</a:t>
            </a:r>
            <a:r>
              <a:rPr lang="zh-CN" altLang="en-US" dirty="0"/>
              <a:t>可以识别的事件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5800" y="1855076"/>
            <a:ext cx="7772400" cy="2433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glfwSetKeyCallback</a:t>
            </a:r>
            <a:endParaRPr lang="en-US" altLang="zh-CN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glfwSetScrollCallback</a:t>
            </a:r>
            <a:endParaRPr lang="en-US" altLang="zh-CN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zh-CN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glfwSetMouseButtonCallback</a:t>
            </a:r>
            <a:endParaRPr lang="en-US" altLang="zh-CN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zh-CN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75599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GLFW</a:t>
            </a:r>
            <a:r>
              <a:rPr lang="zh-CN" altLang="en-US" dirty="0"/>
              <a:t>的事件循环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GLFW</a:t>
            </a:r>
            <a:r>
              <a:rPr lang="zh-CN" altLang="en-US" dirty="0"/>
              <a:t>程序的</a:t>
            </a:r>
            <a:r>
              <a:rPr lang="en-US" altLang="zh-CN" dirty="0"/>
              <a:t>main.cpp</a:t>
            </a:r>
            <a:r>
              <a:rPr lang="zh-CN" altLang="en-US" dirty="0"/>
              <a:t>文件的最后</a:t>
            </a:r>
            <a:r>
              <a:rPr lang="zh-CN" altLang="en-US" dirty="0">
                <a:highlight>
                  <a:srgbClr val="FFFF00"/>
                </a:highlight>
              </a:rPr>
              <a:t>必然有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en-US" altLang="zh-CN" dirty="0" err="1">
                <a:highlight>
                  <a:srgbClr val="FFFF00"/>
                </a:highlight>
              </a:rPr>
              <a:t>glfwPollEvents</a:t>
            </a:r>
            <a:r>
              <a:rPr lang="en-US" altLang="zh-CN" dirty="0">
                <a:highlight>
                  <a:srgbClr val="FFFF00"/>
                </a:highlight>
              </a:rPr>
              <a:t>()</a:t>
            </a:r>
          </a:p>
          <a:p>
            <a:pPr lvl="1"/>
            <a:r>
              <a:rPr lang="en-US" altLang="zh-CN" dirty="0" err="1"/>
              <a:t>glfwPollEvents</a:t>
            </a:r>
            <a:r>
              <a:rPr lang="zh-CN" altLang="en-US" dirty="0"/>
              <a:t>函数检查</a:t>
            </a:r>
            <a:r>
              <a:rPr lang="zh-CN" altLang="en-US" dirty="0">
                <a:highlight>
                  <a:srgbClr val="FFFF00"/>
                </a:highlight>
              </a:rPr>
              <a:t>有没有触发什么事件（比如键盘输入、鼠标移动等），</a:t>
            </a:r>
            <a:r>
              <a:rPr lang="zh-CN" altLang="en-US" dirty="0"/>
              <a:t>然后调用对应的</a:t>
            </a:r>
            <a:r>
              <a:rPr lang="zh-CN" altLang="en-US" dirty="0">
                <a:highlight>
                  <a:srgbClr val="FFFF00"/>
                </a:highlight>
              </a:rPr>
              <a:t>回调函数</a:t>
            </a:r>
            <a:r>
              <a:rPr lang="zh-CN" altLang="en-US" dirty="0"/>
              <a:t>（可以通过回调方法手动设置）。我们一般在游戏循环的开始调用事件处理函数。</a:t>
            </a:r>
            <a:endParaRPr lang="en-US" altLang="zh-CN" dirty="0"/>
          </a:p>
          <a:p>
            <a:r>
              <a:rPr lang="zh-CN" altLang="en-US" dirty="0"/>
              <a:t>提供给程序无限的事件循环</a:t>
            </a:r>
            <a:endParaRPr lang="en-US" altLang="zh-CN" dirty="0"/>
          </a:p>
          <a:p>
            <a:r>
              <a:rPr lang="zh-CN" altLang="en-US" dirty="0"/>
              <a:t>在事件循环中，</a:t>
            </a:r>
            <a:r>
              <a:rPr lang="en-US" altLang="zh-CN" dirty="0"/>
              <a:t>GLFW</a:t>
            </a:r>
            <a:r>
              <a:rPr lang="zh-CN" altLang="en-US" dirty="0"/>
              <a:t>操作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zh-CN" altLang="en-US" dirty="0">
                <a:highlight>
                  <a:srgbClr val="FFFF00"/>
                </a:highlight>
              </a:rPr>
              <a:t>队列</a:t>
            </a:r>
            <a:r>
              <a:rPr lang="zh-CN" altLang="en-US" dirty="0"/>
              <a:t>中查找事件</a:t>
            </a:r>
            <a:endParaRPr lang="en-US" altLang="zh-CN" dirty="0"/>
          </a:p>
          <a:p>
            <a:pPr lvl="1"/>
            <a:r>
              <a:rPr lang="zh-CN" altLang="en-US" dirty="0"/>
              <a:t>对于每个事件，</a:t>
            </a:r>
            <a:r>
              <a:rPr lang="en-US" altLang="zh-CN" dirty="0"/>
              <a:t>GLFW</a:t>
            </a:r>
            <a:r>
              <a:rPr lang="zh-CN" altLang="en-US" dirty="0"/>
              <a:t>执行对应的回调函数</a:t>
            </a:r>
            <a:endParaRPr lang="en-US" altLang="zh-CN" dirty="0"/>
          </a:p>
          <a:p>
            <a:pPr lvl="1"/>
            <a:r>
              <a:rPr lang="zh-CN" altLang="en-US" dirty="0"/>
              <a:t>如果该事件</a:t>
            </a:r>
            <a:r>
              <a:rPr lang="zh-CN" altLang="en-US" dirty="0">
                <a:highlight>
                  <a:srgbClr val="FFFF00"/>
                </a:highlight>
              </a:rPr>
              <a:t>没有对应的回调函数，则忽略该事件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2050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自定义绘制函数</a:t>
            </a:r>
            <a:r>
              <a:rPr lang="en-US" altLang="zh-CN" dirty="0"/>
              <a:t>Display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main</a:t>
            </a:r>
            <a:r>
              <a:rPr lang="zh-CN" altLang="en-US" dirty="0"/>
              <a:t>函数里</a:t>
            </a:r>
            <a:r>
              <a:rPr lang="zh-CN" altLang="en-US" dirty="0">
                <a:highlight>
                  <a:srgbClr val="FFFF00"/>
                </a:highlight>
              </a:rPr>
              <a:t>设置循环渲染</a:t>
            </a:r>
            <a:r>
              <a:rPr lang="zh-CN" altLang="en-US" dirty="0"/>
              <a:t>，并调用自定义的</a:t>
            </a:r>
            <a:r>
              <a:rPr lang="en-US" altLang="zh-CN" dirty="0"/>
              <a:t>display</a:t>
            </a:r>
            <a:r>
              <a:rPr lang="zh-CN" altLang="en-US" dirty="0"/>
              <a:t>绘制函数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while (!</a:t>
            </a:r>
            <a:r>
              <a:rPr lang="en-US" altLang="zh-CN" dirty="0" err="1"/>
              <a:t>glfwWindowShouldClose</a:t>
            </a:r>
            <a:r>
              <a:rPr lang="en-US" altLang="zh-CN" dirty="0"/>
              <a:t>(</a:t>
            </a:r>
            <a:r>
              <a:rPr lang="en-US" altLang="zh-CN" dirty="0" err="1"/>
              <a:t>mainwindow</a:t>
            </a:r>
            <a:r>
              <a:rPr lang="en-US" altLang="zh-CN" dirty="0"/>
              <a:t>))</a:t>
            </a:r>
          </a:p>
          <a:p>
            <a:pPr marL="457200" lvl="1" indent="0">
              <a:buNone/>
            </a:pPr>
            <a:r>
              <a:rPr lang="en-US" altLang="zh-CN" dirty="0"/>
              <a:t> {</a:t>
            </a:r>
          </a:p>
          <a:p>
            <a:pPr marL="457200" lvl="1" indent="0">
              <a:buNone/>
            </a:pPr>
            <a:r>
              <a:rPr lang="en-US" altLang="zh-CN" dirty="0"/>
              <a:t>        </a:t>
            </a:r>
          </a:p>
          <a:p>
            <a:pPr marL="457200" lvl="1" indent="0">
              <a:buNone/>
            </a:pPr>
            <a:r>
              <a:rPr lang="en-US" altLang="zh-CN" dirty="0"/>
              <a:t>        display();</a:t>
            </a:r>
          </a:p>
          <a:p>
            <a:pPr marL="45720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glfwSwapBuffers</a:t>
            </a:r>
            <a:r>
              <a:rPr lang="en-US" altLang="zh-CN" dirty="0"/>
              <a:t>(</a:t>
            </a:r>
            <a:r>
              <a:rPr lang="en-US" altLang="zh-CN" dirty="0" err="1"/>
              <a:t>mainwindow</a:t>
            </a:r>
            <a:r>
              <a:rPr lang="en-US" altLang="zh-CN" dirty="0"/>
              <a:t>);</a:t>
            </a:r>
          </a:p>
          <a:p>
            <a:pPr marL="45720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glfwPollEvents</a:t>
            </a:r>
            <a:r>
              <a:rPr lang="en-US" altLang="zh-CN" dirty="0"/>
              <a:t>();</a:t>
            </a:r>
          </a:p>
          <a:p>
            <a:pPr marL="457200" lvl="1" indent="0">
              <a:buNone/>
            </a:pPr>
            <a:r>
              <a:rPr lang="en-US" altLang="zh-CN" dirty="0"/>
              <a:t>		</a:t>
            </a:r>
          </a:p>
          <a:p>
            <a:pPr marL="45720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220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鼠标和键盘的回调函数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351338"/>
          </a:xfrm>
        </p:spPr>
        <p:txBody>
          <a:bodyPr/>
          <a:lstStyle/>
          <a:p>
            <a:r>
              <a:rPr lang="zh-CN" altLang="en-US" dirty="0"/>
              <a:t>鼠标事件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键盘事件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55010" y="4473578"/>
            <a:ext cx="8883322" cy="1815882"/>
          </a:xfrm>
          <a:prstGeom prst="rect">
            <a:avLst/>
          </a:prstGeom>
          <a:solidFill>
            <a:srgbClr val="C6EAFE">
              <a:alpha val="5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glfwSetKeyCallback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(window,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mykey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void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mykey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GLFWwindow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*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window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int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key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int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scancode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int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action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int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mode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if(key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b="0" dirty="0">
                <a:effectLst/>
                <a:latin typeface="Consolas" panose="020B0609020204030204" pitchFamily="49" charset="0"/>
              </a:rPr>
              <a:t>GLFW_KEY_ESCAPE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&amp;&amp;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action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GLFW_PRESS)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	</a:t>
            </a:r>
            <a:r>
              <a:rPr lang="en-US" altLang="zh-CN" sz="1600" dirty="0">
                <a:latin typeface="Consolas" pitchFamily="49" charset="0"/>
                <a:ea typeface="宋体" pitchFamily="2" charset="-122"/>
                <a:cs typeface="Consolas" pitchFamily="49" charset="0"/>
              </a:rPr>
              <a:t>exit(0)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}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60678" y="1898851"/>
            <a:ext cx="8883322" cy="1815882"/>
          </a:xfrm>
          <a:prstGeom prst="rect">
            <a:avLst/>
          </a:prstGeom>
          <a:solidFill>
            <a:srgbClr val="C6EAFE">
              <a:alpha val="53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glfwSetMouseButtonCallback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(window, mouse);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void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mouse(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GLFWwindow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*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window,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button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scancode, 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action, 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fr-FR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mode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{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   if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(button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GLFW_MOUSE_BUTTON_LEFT &amp;&amp;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action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GLFW_PRESS)</a:t>
            </a:r>
            <a:r>
              <a:rPr lang="zh-CN" altLang="en-US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	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exit(0)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;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}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1017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位置坐标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在屏幕上的位置通常用像素定义，</a:t>
            </a:r>
            <a:r>
              <a:rPr lang="zh-CN" altLang="en-US" dirty="0">
                <a:highlight>
                  <a:srgbClr val="FFFF00"/>
                </a:highlight>
              </a:rPr>
              <a:t>原点在左上角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而</a:t>
            </a:r>
            <a:r>
              <a:rPr lang="en-US" altLang="zh-CN" dirty="0"/>
              <a:t>OpenGL</a:t>
            </a:r>
            <a:r>
              <a:rPr lang="zh-CN" altLang="en-US" dirty="0"/>
              <a:t>的世界坐标系定义原点</a:t>
            </a:r>
            <a:r>
              <a:rPr lang="zh-CN" altLang="en-US" dirty="0">
                <a:highlight>
                  <a:srgbClr val="FFFF00"/>
                </a:highlight>
              </a:rPr>
              <a:t>在左下角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因而需要反转</a:t>
            </a:r>
            <a:r>
              <a:rPr lang="en-US" altLang="zh-CN" dirty="0"/>
              <a:t>y</a:t>
            </a:r>
            <a:r>
              <a:rPr lang="zh-CN" altLang="en-US" dirty="0"/>
              <a:t>坐标</a:t>
            </a:r>
            <a:endParaRPr lang="en-US" altLang="zh-CN" dirty="0"/>
          </a:p>
          <a:p>
            <a:pPr lvl="1"/>
            <a:r>
              <a:rPr lang="en-US" altLang="zh-CN" dirty="0"/>
              <a:t>y=h-y;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71345" y="3565922"/>
            <a:ext cx="2743200" cy="1676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zh-CN" altLang="zh-CN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433145" y="3642122"/>
            <a:ext cx="685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594945" y="3642122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(0,0)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6166945" y="3642122"/>
            <a:ext cx="0" cy="1600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319345" y="379452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/>
              <a:t>h</a:t>
            </a: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3347545" y="5318522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4527331" y="5249069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849661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改变窗口的尺寸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拖拽窗口可以修改</a:t>
            </a:r>
            <a:r>
              <a:rPr lang="en-US" altLang="zh-CN" dirty="0"/>
              <a:t>OpenGL</a:t>
            </a:r>
            <a:r>
              <a:rPr lang="zh-CN" altLang="en-US" dirty="0"/>
              <a:t>显示窗口的尺寸</a:t>
            </a:r>
            <a:endParaRPr lang="en-US" altLang="zh-CN" dirty="0"/>
          </a:p>
          <a:p>
            <a:r>
              <a:rPr lang="zh-CN" altLang="en-US" dirty="0"/>
              <a:t>程序需要重新绘制</a:t>
            </a:r>
            <a:endParaRPr lang="en-US" altLang="zh-CN" dirty="0"/>
          </a:p>
          <a:p>
            <a:r>
              <a:rPr lang="zh-CN" altLang="en-US" dirty="0"/>
              <a:t>可能显示部分内容，或者被拉伸后的内容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969818" y="3946922"/>
            <a:ext cx="1752600" cy="1752600"/>
            <a:chOff x="768" y="1776"/>
            <a:chExt cx="1104" cy="1104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68" y="1776"/>
              <a:ext cx="1104" cy="110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1008" y="2016"/>
              <a:ext cx="576" cy="57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grpSp>
        <p:nvGrpSpPr>
          <p:cNvPr id="8" name="Group 9"/>
          <p:cNvGrpSpPr>
            <a:grpSpLocks/>
          </p:cNvGrpSpPr>
          <p:nvPr/>
        </p:nvGrpSpPr>
        <p:grpSpPr bwMode="auto">
          <a:xfrm>
            <a:off x="5008418" y="4099322"/>
            <a:ext cx="2209800" cy="990600"/>
            <a:chOff x="768" y="1776"/>
            <a:chExt cx="1104" cy="1104"/>
          </a:xfrm>
        </p:grpSpPr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768" y="1776"/>
              <a:ext cx="1104" cy="110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>
              <a:off x="1008" y="2016"/>
              <a:ext cx="576" cy="576"/>
            </a:xfrm>
            <a:prstGeom prst="smileyFace">
              <a:avLst>
                <a:gd name="adj" fmla="val 4653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5008418" y="5470922"/>
            <a:ext cx="2133600" cy="914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5618018" y="5928122"/>
            <a:ext cx="914400" cy="9144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5481" y="6400800"/>
            <a:ext cx="3048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 flipV="1">
            <a:off x="3027218" y="4023122"/>
            <a:ext cx="1524000" cy="4572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3103418" y="4785122"/>
            <a:ext cx="1371600" cy="4572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1503218" y="6080522"/>
            <a:ext cx="1130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/>
              <a:t>original</a:t>
            </a: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7596846" y="4251722"/>
            <a:ext cx="126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/>
              <a:t>reshaped</a:t>
            </a: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5008418" y="2880122"/>
            <a:ext cx="2209800" cy="9906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19" name="AutoShape 22"/>
          <p:cNvSpPr>
            <a:spLocks noChangeArrowheads="1"/>
          </p:cNvSpPr>
          <p:nvPr/>
        </p:nvSpPr>
        <p:spPr bwMode="auto">
          <a:xfrm>
            <a:off x="5465618" y="3108722"/>
            <a:ext cx="433388" cy="393700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50426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Reshape</a:t>
            </a:r>
            <a:r>
              <a:rPr lang="zh-CN" altLang="en-US" dirty="0"/>
              <a:t>回调函数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054822"/>
            <a:ext cx="7886700" cy="1930866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altLang="zh-CN" dirty="0"/>
              <a:t>GLFW</a:t>
            </a:r>
            <a:r>
              <a:rPr lang="zh-CN" altLang="en-US" dirty="0"/>
              <a:t>的</a:t>
            </a:r>
            <a:r>
              <a:rPr lang="en-US" altLang="zh-CN" dirty="0"/>
              <a:t>reshape</a:t>
            </a:r>
            <a:r>
              <a:rPr lang="zh-CN" altLang="en-US" dirty="0"/>
              <a:t>回调函数</a:t>
            </a:r>
            <a:r>
              <a:rPr lang="en-US" altLang="zh-CN" dirty="0"/>
              <a:t>framebuffer_size_callback</a:t>
            </a:r>
            <a:r>
              <a:rPr lang="zh-CN" altLang="en-US" dirty="0"/>
              <a:t>，用户可以自己定义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返回新窗口的宽度和高度信息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在回调函数后系统会自动调用</a:t>
            </a:r>
            <a:r>
              <a:rPr lang="en-US" altLang="zh-CN" dirty="0"/>
              <a:t>redisplay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zh-CN" altLang="en-US" dirty="0"/>
              <a:t>回调函数</a:t>
            </a:r>
            <a:r>
              <a:rPr lang="en-US" altLang="zh-CN" dirty="0"/>
              <a:t>framebuffer_size_callback</a:t>
            </a:r>
            <a:r>
              <a:rPr lang="zh-CN" altLang="en-US" dirty="0"/>
              <a:t>适合用于放置</a:t>
            </a:r>
            <a:r>
              <a:rPr lang="en-US" altLang="zh-CN" dirty="0"/>
              <a:t>viewing</a:t>
            </a:r>
            <a:r>
              <a:rPr lang="zh-CN" altLang="en-US" dirty="0"/>
              <a:t>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8650" y="1316831"/>
            <a:ext cx="84582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GLFWframebuffersizefun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glfwSetFramebufferSizeCallback(	</a:t>
            </a: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GLFWwindow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* window, </a:t>
            </a: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GLFWframebuffersizefun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	framebuffer_size_callback)	</a:t>
            </a:r>
          </a:p>
          <a:p>
            <a:pPr>
              <a:buFontTx/>
              <a:buNone/>
            </a:pP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void framebuffer_size_callback(</a:t>
            </a: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GLFWwindow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* window, </a:t>
            </a: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width, </a:t>
            </a:r>
            <a:r>
              <a:rPr lang="en-US" altLang="zh-CN" sz="20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zh-CN" sz="20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height)</a:t>
            </a:r>
          </a:p>
        </p:txBody>
      </p:sp>
    </p:spTree>
    <p:extLst>
      <p:ext uri="{BB962C8B-B14F-4D97-AF65-F5344CB8AC3E}">
        <p14:creationId xmlns:p14="http://schemas.microsoft.com/office/powerpoint/2010/main" val="2105069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事件驱动模型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鼠标事件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键盘事件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17761" y="4325025"/>
            <a:ext cx="5630067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glutKeyboardFunc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mykey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void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mykey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unsigned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char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key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x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if(key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‘q’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||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key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‘Q’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  <a:ea typeface="宋体" pitchFamily="2" charset="-122"/>
                <a:cs typeface="Consolas" pitchFamily="49" charset="0"/>
              </a:rPr>
              <a:t>exit(0)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;</a:t>
            </a:r>
            <a:endParaRPr lang="en-US" altLang="zh-CN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}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17761" y="1725301"/>
            <a:ext cx="7943359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glutMouseFunc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(mouse);</a:t>
            </a:r>
            <a:endParaRPr lang="en-US" altLang="zh-CN" dirty="0">
              <a:solidFill>
                <a:srgbClr val="00000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void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mouse(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button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state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x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int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)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{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    if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(button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GLUT_LEFT_BUTTON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&amp;&amp;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state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==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GLUT_DOWN)</a:t>
            </a:r>
            <a:r>
              <a:rPr lang="zh-CN" altLang="en-US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		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exit(0)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ea typeface="宋体" pitchFamily="2" charset="-122"/>
                <a:cs typeface="Consolas" pitchFamily="49" charset="0"/>
              </a:rPr>
              <a:t>}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7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空闲回调函数 </a:t>
            </a:r>
            <a:r>
              <a:rPr lang="en-US" altLang="zh-CN" dirty="0"/>
              <a:t>--</a:t>
            </a:r>
            <a:r>
              <a:rPr lang="zh-CN" altLang="en-US" dirty="0"/>
              <a:t> 鼠标控制选择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8282" y="1099481"/>
            <a:ext cx="8050841" cy="283154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1600" dirty="0">
                <a:latin typeface="Consolas" panose="020B0609020204030204" pitchFamily="49" charset="0"/>
              </a:rPr>
              <a:t>display()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{ 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dirty="0">
                <a:latin typeface="Consolas" panose="020B0609020204030204" pitchFamily="49" charset="0"/>
              </a:rPr>
              <a:t>( 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= 0;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&lt; 3;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++)</a:t>
            </a:r>
          </a:p>
          <a:p>
            <a:pPr lvl="1"/>
            <a:r>
              <a:rPr lang="en-US" altLang="zh-CN" sz="1600" dirty="0"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	float</a:t>
            </a:r>
            <a:r>
              <a:rPr lang="en-US" altLang="zh-CN" sz="1600" dirty="0">
                <a:latin typeface="Consolas" panose="020B0609020204030204" pitchFamily="49" charset="0"/>
              </a:rPr>
              <a:t> x = cos(angle)*points[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].x - sin(angle)*points[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].y;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	float</a:t>
            </a:r>
            <a:r>
              <a:rPr lang="en-US" altLang="zh-CN" sz="1600" dirty="0">
                <a:latin typeface="Consolas" panose="020B0609020204030204" pitchFamily="49" charset="0"/>
              </a:rPr>
              <a:t> y = sin(angle)*points[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].x + cos(angle)*points[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].y;</a:t>
            </a:r>
          </a:p>
          <a:p>
            <a:pPr lvl="1"/>
            <a:r>
              <a:rPr lang="en-US" altLang="zh-CN" sz="1600" dirty="0">
                <a:latin typeface="Consolas" panose="020B0609020204030204" pitchFamily="49" charset="0"/>
              </a:rPr>
              <a:t>	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].x = x;  points[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].y = y;</a:t>
            </a:r>
          </a:p>
          <a:p>
            <a:pPr lvl="1"/>
            <a:r>
              <a:rPr lang="en-US" altLang="zh-CN" sz="1600" dirty="0">
                <a:latin typeface="Consolas" panose="020B0609020204030204" pitchFamily="49" charset="0"/>
              </a:rPr>
              <a:t>} …</a:t>
            </a:r>
          </a:p>
          <a:p>
            <a:pPr lvl="1"/>
            <a:r>
              <a:rPr lang="en-US" altLang="zh-CN" sz="1600" dirty="0" err="1">
                <a:latin typeface="Consolas" panose="020B0609020204030204" pitchFamily="49" charset="0"/>
              </a:rPr>
              <a:t>glDrawArrays</a:t>
            </a:r>
            <a:r>
              <a:rPr lang="en-US" altLang="zh-CN" sz="1600" dirty="0">
                <a:latin typeface="Consolas" panose="020B0609020204030204" pitchFamily="49" charset="0"/>
              </a:rPr>
              <a:t>(GL_TRIANGLES, 0, 3);</a:t>
            </a:r>
          </a:p>
          <a:p>
            <a:pPr lvl="1"/>
            <a:r>
              <a:rPr lang="en-US" altLang="zh-CN" sz="1600" dirty="0" err="1">
                <a:latin typeface="Consolas" panose="020B0609020204030204" pitchFamily="49" charset="0"/>
              </a:rPr>
              <a:t>glFlush</a:t>
            </a:r>
            <a:r>
              <a:rPr lang="en-US" altLang="zh-CN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8281" y="4228059"/>
            <a:ext cx="8050841" cy="233910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1600" dirty="0">
                <a:latin typeface="Consolas" panose="020B0609020204030204" pitchFamily="49" charset="0"/>
              </a:rPr>
              <a:t>mouse(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button, 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state, 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x, </a:t>
            </a:r>
            <a:r>
              <a:rPr lang="en-US" altLang="zh-CN" sz="1600" dirty="0" err="1">
                <a:latin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</a:rPr>
              <a:t> y)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{ </a:t>
            </a:r>
          </a:p>
          <a:p>
            <a:pPr lvl="1"/>
            <a:r>
              <a:rPr lang="en-US" altLang="zh-CN" sz="1600" dirty="0">
                <a:latin typeface="Consolas" panose="020B0609020204030204" pitchFamily="49" charset="0"/>
              </a:rPr>
              <a:t>…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600" dirty="0">
                <a:latin typeface="Consolas" panose="020B0609020204030204" pitchFamily="49" charset="0"/>
              </a:rPr>
              <a:t>(button == GLUT_LEFT_BUTTON …)</a:t>
            </a:r>
          </a:p>
          <a:p>
            <a:pPr lvl="1"/>
            <a:r>
              <a:rPr lang="en-US" altLang="zh-CN" sz="1600" dirty="0"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600" dirty="0" err="1">
                <a:latin typeface="Consolas" panose="020B0609020204030204" pitchFamily="49" charset="0"/>
              </a:rPr>
              <a:t>glutIdleFunc</a:t>
            </a:r>
            <a:r>
              <a:rPr lang="en-US" altLang="zh-CN" sz="1600" dirty="0">
                <a:latin typeface="Consolas" panose="020B0609020204030204" pitchFamily="49" charset="0"/>
              </a:rPr>
              <a:t>(NULL);</a:t>
            </a:r>
          </a:p>
          <a:p>
            <a:pPr lvl="2"/>
            <a:r>
              <a:rPr lang="en-US" altLang="zh-CN" sz="1600" dirty="0">
                <a:latin typeface="Consolas" panose="020B0609020204030204" pitchFamily="49" charset="0"/>
              </a:rPr>
              <a:t>points[count].x = (float) x / (w/2) - 1.0;</a:t>
            </a:r>
          </a:p>
          <a:p>
            <a:pPr lvl="2"/>
            <a:r>
              <a:rPr lang="en-US" altLang="zh-CN" sz="1600" dirty="0">
                <a:latin typeface="Consolas" panose="020B0609020204030204" pitchFamily="49" charset="0"/>
              </a:rPr>
              <a:t>points[count].y = (float) (h-y) / (h/2) - 1.0;</a:t>
            </a:r>
          </a:p>
          <a:p>
            <a:pPr lvl="2"/>
            <a:r>
              <a:rPr lang="en-US" altLang="zh-CN" sz="1600" dirty="0">
                <a:latin typeface="Consolas" panose="020B0609020204030204" pitchFamily="49" charset="0"/>
              </a:rPr>
              <a:t>count++;} …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671" y="2723824"/>
            <a:ext cx="1861399" cy="18815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文本框 6"/>
          <p:cNvSpPr txBox="1"/>
          <p:nvPr/>
        </p:nvSpPr>
        <p:spPr>
          <a:xfrm>
            <a:off x="6692291" y="5790360"/>
            <a:ext cx="2257349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屏幕坐标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对象坐标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036004" y="2192344"/>
            <a:ext cx="1107996" cy="369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二维旋转</a:t>
            </a:r>
          </a:p>
        </p:txBody>
      </p:sp>
    </p:spTree>
    <p:extLst>
      <p:ext uri="{BB962C8B-B14F-4D97-AF65-F5344CB8AC3E}">
        <p14:creationId xmlns:p14="http://schemas.microsoft.com/office/powerpoint/2010/main" val="357903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双缓存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刷新频率 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60-100Hz</a:t>
            </a: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写数据操作与刷新操作异步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前端缓存 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显示图像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后端缓存 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--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存储需要显示的内容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申请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double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buffering:</a:t>
            </a:r>
          </a:p>
          <a:p>
            <a:pPr>
              <a:buNone/>
            </a:pPr>
            <a:r>
              <a:rPr lang="en-US" altLang="zh-CN" sz="2400" b="1" dirty="0" err="1">
                <a:solidFill>
                  <a:srgbClr val="FF0000"/>
                </a:solidFill>
                <a:latin typeface="+mn-lt"/>
                <a:ea typeface="华文新魏" pitchFamily="2" charset="-122"/>
              </a:rPr>
              <a:t>glutInitDispayMode</a:t>
            </a:r>
            <a:r>
              <a:rPr lang="en-US" altLang="zh-CN" sz="2400" dirty="0">
                <a:latin typeface="+mn-lt"/>
                <a:ea typeface="华文新魏" pitchFamily="2" charset="-122"/>
              </a:rPr>
              <a:t>(GLUTRGBA |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新魏" pitchFamily="2" charset="-122"/>
              </a:rPr>
              <a:t>GLUT_DOUBLE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 </a:t>
            </a:r>
            <a:r>
              <a:rPr lang="en-US" altLang="zh-CN" sz="2400" dirty="0">
                <a:latin typeface="+mn-lt"/>
                <a:ea typeface="华文新魏" pitchFamily="2" charset="-122"/>
              </a:rPr>
              <a:t>| GLUT_DEPTH);</a:t>
            </a: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完成绘制后交换内容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  <a:p>
            <a:pPr>
              <a:buNone/>
            </a:pPr>
            <a:r>
              <a:rPr lang="zh-CN" altLang="en-US" sz="2400" b="1" dirty="0">
                <a:solidFill>
                  <a:srgbClr val="464DD9"/>
                </a:solidFill>
                <a:latin typeface="+mj-lt"/>
                <a:ea typeface="华文新魏" pitchFamily="2" charset="-122"/>
              </a:rPr>
              <a:t>    </a:t>
            </a:r>
            <a:r>
              <a:rPr lang="en-US" altLang="zh-CN" sz="2400" b="1" dirty="0" err="1">
                <a:solidFill>
                  <a:srgbClr val="464DD9"/>
                </a:solidFill>
                <a:latin typeface="+mj-lt"/>
                <a:ea typeface="华文新魏" pitchFamily="2" charset="-122"/>
              </a:rPr>
              <a:t>glutSwapBuffers</a:t>
            </a:r>
            <a:r>
              <a:rPr lang="en-US" altLang="zh-CN" sz="2400" b="1" dirty="0">
                <a:solidFill>
                  <a:srgbClr val="464DD9"/>
                </a:solidFill>
                <a:latin typeface="+mj-lt"/>
                <a:ea typeface="华文新魏" pitchFamily="2" charset="-122"/>
              </a:rPr>
              <a:t>();</a:t>
            </a: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清空后端缓存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52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Online source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https://learnopengl-cn.github.io/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750" y="2049761"/>
            <a:ext cx="5902500" cy="480823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488758" y="1948070"/>
            <a:ext cx="1113183" cy="4055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392491"/>
            <a:ext cx="2110923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8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2.1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的控制与交互方式</a:t>
            </a:r>
            <a:endParaRPr lang="en-US" altLang="zh-CN" dirty="0"/>
          </a:p>
          <a:p>
            <a:pPr lvl="1"/>
            <a:r>
              <a:rPr lang="zh-CN" altLang="en-US" dirty="0"/>
              <a:t>鼠标和键盘的交互控制</a:t>
            </a:r>
            <a:endParaRPr lang="en-US" altLang="zh-CN" dirty="0"/>
          </a:p>
          <a:p>
            <a:pPr lvl="1"/>
            <a:r>
              <a:rPr lang="zh-CN" altLang="en-US" dirty="0"/>
              <a:t>基于循环调用事件的动画生成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66B1E8-8451-491F-AE6D-375E48FB1A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543" y="2560778"/>
            <a:ext cx="3179247" cy="3416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EA0FA3-6844-4523-B435-2814C0B97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736" y="2560778"/>
            <a:ext cx="3176656" cy="341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0219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期中大作业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俄罗斯方块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编写一个简化版的俄罗斯方块游戏程序，撰写详细实验报告</a:t>
            </a:r>
            <a:endParaRPr lang="en-US" altLang="zh-CN" dirty="0"/>
          </a:p>
          <a:p>
            <a:pPr lvl="1"/>
            <a:r>
              <a:rPr lang="zh-CN" altLang="en-US" dirty="0"/>
              <a:t>提供参考代码，仅需实现部分功能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10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21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42222" y="3080782"/>
            <a:ext cx="4059555" cy="299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7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6058</TotalTime>
  <Words>1387</Words>
  <Application>Microsoft Office PowerPoint</Application>
  <PresentationFormat>全屏显示(4:3)</PresentationFormat>
  <Paragraphs>267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04b</vt:lpstr>
      <vt:lpstr>ZztexMono-Regular</vt:lpstr>
      <vt:lpstr>华文新魏</vt:lpstr>
      <vt:lpstr>微软雅黑</vt:lpstr>
      <vt:lpstr>微软雅黑</vt:lpstr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Office 主题</vt:lpstr>
      <vt:lpstr>第二章 图形学编程</vt:lpstr>
      <vt:lpstr>实验 1.1&amp;1.2</vt:lpstr>
      <vt:lpstr>实验一</vt:lpstr>
      <vt:lpstr>知识点回顾</vt:lpstr>
      <vt:lpstr>知识点回顾</vt:lpstr>
      <vt:lpstr>常见问题</vt:lpstr>
      <vt:lpstr>常见问题</vt:lpstr>
      <vt:lpstr>常见问题</vt:lpstr>
      <vt:lpstr>常见问题</vt:lpstr>
      <vt:lpstr>大纲</vt:lpstr>
      <vt:lpstr>内容提要</vt:lpstr>
      <vt:lpstr>实验2.1</vt:lpstr>
      <vt:lpstr>期中大作业</vt:lpstr>
      <vt:lpstr>大纲</vt:lpstr>
      <vt:lpstr>图形编程中的交互方式</vt:lpstr>
      <vt:lpstr>事件的类型</vt:lpstr>
      <vt:lpstr>回调函数Callbacks</vt:lpstr>
      <vt:lpstr>GLFW的回调函数</vt:lpstr>
      <vt:lpstr>GLFW的事件循环</vt:lpstr>
      <vt:lpstr>自定义绘制函数Display</vt:lpstr>
      <vt:lpstr>鼠标和键盘的回调函数</vt:lpstr>
      <vt:lpstr>位置坐标</vt:lpstr>
      <vt:lpstr>改变窗口的尺寸</vt:lpstr>
      <vt:lpstr>Reshape回调函数</vt:lpstr>
      <vt:lpstr>事件驱动模型</vt:lpstr>
      <vt:lpstr>空闲回调函数 -- 鼠标控制选择 </vt:lpstr>
      <vt:lpstr>双缓存</vt:lpstr>
      <vt:lpstr>Online source</vt:lpstr>
      <vt:lpstr>实验2.1</vt:lpstr>
      <vt:lpstr>期中大作业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王锦鸿</cp:lastModifiedBy>
  <cp:revision>409</cp:revision>
  <dcterms:created xsi:type="dcterms:W3CDTF">2016-08-04T07:29:19Z</dcterms:created>
  <dcterms:modified xsi:type="dcterms:W3CDTF">2024-09-24T06:50:28Z</dcterms:modified>
</cp:coreProperties>
</file>