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5" r:id="rId3"/>
    <p:sldMasterId id="2147483668" r:id="rId4"/>
  </p:sldMasterIdLst>
  <p:notesMasterIdLst>
    <p:notesMasterId r:id="rId65"/>
  </p:notesMasterIdLst>
  <p:handoutMasterIdLst>
    <p:handoutMasterId r:id="rId66"/>
  </p:handoutMasterIdLst>
  <p:sldIdLst>
    <p:sldId id="1038" r:id="rId5"/>
    <p:sldId id="583" r:id="rId6"/>
    <p:sldId id="585" r:id="rId7"/>
    <p:sldId id="939" r:id="rId8"/>
    <p:sldId id="893" r:id="rId9"/>
    <p:sldId id="512" r:id="rId10"/>
    <p:sldId id="597" r:id="rId11"/>
    <p:sldId id="826" r:id="rId12"/>
    <p:sldId id="827" r:id="rId13"/>
    <p:sldId id="1041" r:id="rId14"/>
    <p:sldId id="1153" r:id="rId15"/>
    <p:sldId id="1171" r:id="rId16"/>
    <p:sldId id="1098" r:id="rId17"/>
    <p:sldId id="1172" r:id="rId18"/>
    <p:sldId id="1173" r:id="rId19"/>
    <p:sldId id="1099" r:id="rId20"/>
    <p:sldId id="899" r:id="rId21"/>
    <p:sldId id="933" r:id="rId22"/>
    <p:sldId id="1069" r:id="rId23"/>
    <p:sldId id="941" r:id="rId24"/>
    <p:sldId id="1043" r:id="rId25"/>
    <p:sldId id="903" r:id="rId26"/>
    <p:sldId id="1155" r:id="rId27"/>
    <p:sldId id="945" r:id="rId28"/>
    <p:sldId id="1156" r:id="rId29"/>
    <p:sldId id="1184" r:id="rId30"/>
    <p:sldId id="1100" r:id="rId31"/>
    <p:sldId id="1102" r:id="rId32"/>
    <p:sldId id="1116" r:id="rId33"/>
    <p:sldId id="1117" r:id="rId34"/>
    <p:sldId id="1168" r:id="rId35"/>
    <p:sldId id="1157" r:id="rId36"/>
    <p:sldId id="1169" r:id="rId37"/>
    <p:sldId id="1120" r:id="rId38"/>
    <p:sldId id="1181" r:id="rId39"/>
    <p:sldId id="1121" r:id="rId40"/>
    <p:sldId id="1123" r:id="rId41"/>
    <p:sldId id="1175" r:id="rId42"/>
    <p:sldId id="1124" r:id="rId43"/>
    <p:sldId id="1160" r:id="rId44"/>
    <p:sldId id="1161" r:id="rId45"/>
    <p:sldId id="1166" r:id="rId46"/>
    <p:sldId id="1162" r:id="rId47"/>
    <p:sldId id="1165" r:id="rId48"/>
    <p:sldId id="1126" r:id="rId49"/>
    <p:sldId id="1127" r:id="rId50"/>
    <p:sldId id="1185" r:id="rId51"/>
    <p:sldId id="1128" r:id="rId52"/>
    <p:sldId id="1129" r:id="rId53"/>
    <p:sldId id="1130" r:id="rId54"/>
    <p:sldId id="1131" r:id="rId55"/>
    <p:sldId id="1132" r:id="rId56"/>
    <p:sldId id="1133" r:id="rId57"/>
    <p:sldId id="1134" r:id="rId58"/>
    <p:sldId id="1164" r:id="rId59"/>
    <p:sldId id="1143" r:id="rId60"/>
    <p:sldId id="1144" r:id="rId61"/>
    <p:sldId id="1145" r:id="rId62"/>
    <p:sldId id="1146" r:id="rId63"/>
    <p:sldId id="1147" r:id="rId64"/>
  </p:sldIdLst>
  <p:sldSz cx="9144000" cy="5143500" type="screen16x9"/>
  <p:notesSz cx="7099300" cy="10234613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00FF"/>
    <a:srgbClr val="008000"/>
    <a:srgbClr val="FFCCCC"/>
    <a:srgbClr val="FF6600"/>
    <a:srgbClr val="0000FF"/>
    <a:srgbClr val="00AB7E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22" autoAdjust="0"/>
    <p:restoredTop sz="92776" autoAdjust="0"/>
  </p:normalViewPr>
  <p:slideViewPr>
    <p:cSldViewPr showGuides="1">
      <p:cViewPr varScale="1">
        <p:scale>
          <a:sx n="121" d="100"/>
          <a:sy n="121" d="100"/>
        </p:scale>
        <p:origin x="664" y="60"/>
      </p:cViewPr>
      <p:guideLst>
        <p:guide orient="horz" pos="163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29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CC5F9E-0B12-4AA9-859A-A857717677F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2025/7/1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7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7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b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49E21F-2BB8-4470-AC3B-C17F6D9D666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/>
          <a:lstStyle>
            <a:lvl1pPr defTabSz="988695" eaLnBrk="1" hangingPunct="1">
              <a:defRPr sz="1300"/>
            </a:lvl1pPr>
          </a:lstStyle>
          <a:p>
            <a:pPr marL="0" marR="0" lvl="0" indent="0" algn="l" defTabSz="9886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/>
          <a:lstStyle>
            <a:lvl1pPr algn="r" defTabSz="988695" eaLnBrk="1" hangingPunct="1">
              <a:defRPr sz="1300"/>
            </a:lvl1pPr>
          </a:lstStyle>
          <a:p>
            <a:pPr marL="0" marR="0" lvl="0" indent="0" algn="r" defTabSz="9886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9700" y="768350"/>
            <a:ext cx="6821488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27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27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b" anchorCtr="0" compatLnSpc="1"/>
          <a:lstStyle>
            <a:lvl1pPr defTabSz="988695" eaLnBrk="1" hangingPunct="1">
              <a:defRPr sz="1300"/>
            </a:lvl1pPr>
          </a:lstStyle>
          <a:p>
            <a:pPr marL="0" marR="0" lvl="0" indent="0" algn="l" defTabSz="9886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b" anchorCtr="0" compatLnSpc="1"/>
          <a:lstStyle>
            <a:lvl1pPr algn="r" defTabSz="988695" eaLnBrk="1" hangingPunct="1">
              <a:defRPr sz="1300"/>
            </a:lvl1pPr>
          </a:lstStyle>
          <a:p>
            <a:pPr marL="0" marR="0" lvl="0" indent="0" algn="r" defTabSz="9886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53F18D-340B-451E-B815-4D2741444744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楷体_GB2312"/>
              </a:rPr>
              <a:t>1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  <a:ea typeface="楷体_GB231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2</a:t>
            </a:fld>
            <a:endParaRPr lang="zh-CN" altLang="en-US" sz="1300" dirty="0"/>
          </a:p>
        </p:txBody>
      </p:sp>
      <p:sp>
        <p:nvSpPr>
          <p:cNvPr id="1331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3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4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5</a:t>
            </a:fld>
            <a:endParaRPr lang="zh-CN" altLang="en-US" sz="1300" dirty="0"/>
          </a:p>
        </p:txBody>
      </p:sp>
      <p:sp>
        <p:nvSpPr>
          <p:cNvPr id="194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 eaLnBrk="1" hangingPunct="1"/>
            <a:endParaRPr lang="zh-CN" altLang="en-US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6</a:t>
            </a:fld>
            <a:endParaRPr lang="zh-CN" altLang="en-US" sz="1300" dirty="0"/>
          </a:p>
        </p:txBody>
      </p:sp>
      <p:sp>
        <p:nvSpPr>
          <p:cNvPr id="2150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 eaLnBrk="1" hangingPunct="1"/>
            <a:endParaRPr lang="en-US" altLang="zh-CN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7</a:t>
            </a:fld>
            <a:endParaRPr lang="zh-CN" altLang="en-US" sz="1300" dirty="0"/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 eaLnBrk="1" hangingPunct="1"/>
            <a:endParaRPr lang="zh-CN" altLang="en-US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8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9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dirty="0"/>
          </a:p>
        </p:txBody>
      </p:sp>
      <p:sp>
        <p:nvSpPr>
          <p:cNvPr id="317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楷体_GB2312"/>
              </a:rPr>
              <a:t>10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  <a:ea typeface="楷体_GB231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dirty="0"/>
          </a:p>
        </p:txBody>
      </p:sp>
      <p:sp>
        <p:nvSpPr>
          <p:cNvPr id="358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</a:rPr>
              <a:t>11</a:t>
            </a:fld>
            <a:endParaRPr lang="zh-CN" altLang="en-US" sz="1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dirty="0"/>
          </a:p>
        </p:txBody>
      </p:sp>
      <p:sp>
        <p:nvSpPr>
          <p:cNvPr id="358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</a:rPr>
              <a:t>12</a:t>
            </a:fld>
            <a:endParaRPr lang="zh-CN" altLang="en-US" sz="1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dirty="0"/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</a:rPr>
              <a:t>13</a:t>
            </a:fld>
            <a:endParaRPr lang="zh-CN" altLang="en-US" sz="1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b="1" dirty="0">
              <a:solidFill>
                <a:srgbClr val="000000"/>
              </a:solidFill>
            </a:endParaRPr>
          </a:p>
          <a:p>
            <a:pPr lvl="0"/>
            <a:endParaRPr lang="zh-CN" altLang="en-US" dirty="0"/>
          </a:p>
        </p:txBody>
      </p:sp>
      <p:sp>
        <p:nvSpPr>
          <p:cNvPr id="460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14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dirty="0"/>
          </a:p>
        </p:txBody>
      </p:sp>
      <p:sp>
        <p:nvSpPr>
          <p:cNvPr id="358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</a:rPr>
              <a:t>16</a:t>
            </a:fld>
            <a:endParaRPr lang="zh-CN" altLang="en-US" sz="1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17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18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19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440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20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b="1" dirty="0">
              <a:solidFill>
                <a:srgbClr val="008000"/>
              </a:solidFill>
              <a:cs typeface="Times New Roman" panose="02020603050405020304" pitchFamily="18" charset="0"/>
            </a:endParaRPr>
          </a:p>
          <a:p>
            <a:pPr lvl="0"/>
            <a:endParaRPr lang="en-US" altLang="zh-CN" dirty="0"/>
          </a:p>
        </p:txBody>
      </p:sp>
      <p:sp>
        <p:nvSpPr>
          <p:cNvPr id="512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楷体_GB2312"/>
              </a:rPr>
              <a:t>21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  <a:ea typeface="楷体_GB231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</a:rPr>
              <a:t>22</a:t>
            </a:fld>
            <a:endParaRPr lang="zh-CN" altLang="en-US" sz="1300" dirty="0">
              <a:solidFill>
                <a:srgbClr val="000000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 eaLnBrk="1" hangingPunct="1"/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1" hangingPunct="1"/>
            <a:endParaRPr lang="en-US" altLang="zh-CN" sz="2400" dirty="0">
              <a:cs typeface="Times New Roman" panose="02020603050405020304" pitchFamily="18" charset="0"/>
            </a:endParaRPr>
          </a:p>
          <a:p>
            <a:pPr lvl="0" eaLnBrk="1" hangingPunct="1"/>
            <a:endParaRPr lang="zh-CN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b="1" dirty="0"/>
          </a:p>
        </p:txBody>
      </p:sp>
      <p:sp>
        <p:nvSpPr>
          <p:cNvPr id="614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</a:rPr>
              <a:t>23</a:t>
            </a:fld>
            <a:endParaRPr lang="zh-CN" altLang="en-US" sz="1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24</a:t>
            </a:fld>
            <a:endParaRPr lang="zh-CN" altLang="en-US" sz="1300" dirty="0"/>
          </a:p>
        </p:txBody>
      </p:sp>
      <p:sp>
        <p:nvSpPr>
          <p:cNvPr id="552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25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26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marL="0" lvl="1" indent="0"/>
            <a:r>
              <a:rPr lang="zh-C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基于以上分析，我们给出</a:t>
            </a:r>
            <a:r>
              <a:rPr lang="en-US" altLang="zh-CN" sz="1900" dirty="0">
                <a:cs typeface="Times New Roman" panose="02020603050405020304" pitchFamily="18" charset="0"/>
              </a:rPr>
              <a:t>LL(1)</a:t>
            </a:r>
            <a:r>
              <a:rPr lang="zh-CN" altLang="en-US" sz="1900" dirty="0">
                <a:cs typeface="Times New Roman" panose="02020603050405020304" pitchFamily="18" charset="0"/>
              </a:rPr>
              <a:t>文法</a:t>
            </a:r>
            <a:r>
              <a:rPr lang="zh-C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的定义 </a:t>
            </a:r>
            <a:endParaRPr lang="en-US" altLang="zh-C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/>
            <a:r>
              <a:rPr lang="zh-C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条件</a:t>
            </a:r>
            <a:r>
              <a:rPr lang="en-US" altLang="zh-C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1900" b="1" dirty="0">
                <a:ea typeface="楷体_GB2312"/>
              </a:rPr>
              <a:t>如果</a:t>
            </a:r>
            <a:r>
              <a:rPr lang="en-US" altLang="zh-CN" sz="1900" b="1" i="1" dirty="0">
                <a:ea typeface="楷体_GB2312"/>
              </a:rPr>
              <a:t>α</a:t>
            </a:r>
            <a:r>
              <a:rPr lang="en-US" altLang="zh-CN" sz="1900" b="1" dirty="0">
                <a:ea typeface="楷体_GB2312"/>
              </a:rPr>
              <a:t> </a:t>
            </a:r>
            <a:r>
              <a:rPr lang="zh-CN" altLang="en-US" sz="1900" b="1" dirty="0">
                <a:ea typeface="楷体_GB2312"/>
              </a:rPr>
              <a:t>和</a:t>
            </a:r>
            <a:r>
              <a:rPr lang="en-US" altLang="zh-CN" sz="1900" b="1" i="1" dirty="0">
                <a:ea typeface="楷体_GB2312"/>
              </a:rPr>
              <a:t>β</a:t>
            </a:r>
            <a:r>
              <a:rPr lang="zh-CN" altLang="en-US" sz="1900" b="1" dirty="0">
                <a:ea typeface="楷体_GB2312"/>
              </a:rPr>
              <a:t>均不能推导出</a:t>
            </a:r>
            <a:r>
              <a:rPr lang="en-US" altLang="zh-CN" sz="1900" b="1" i="1" dirty="0">
                <a:ea typeface="楷体_GB2312"/>
              </a:rPr>
              <a:t>ε </a:t>
            </a:r>
            <a:r>
              <a:rPr lang="zh-CN" altLang="en-US" sz="1900" b="1" dirty="0">
                <a:ea typeface="楷体_GB2312"/>
              </a:rPr>
              <a:t>，则对应的这两个产生式的</a:t>
            </a:r>
            <a:r>
              <a:rPr lang="en-US" altLang="zh-CN" sz="1900" b="1" dirty="0">
                <a:ea typeface="楷体_GB2312"/>
              </a:rPr>
              <a:t>SELECT</a:t>
            </a:r>
            <a:r>
              <a:rPr lang="zh-CN" altLang="en-US" sz="1900" b="1" dirty="0">
                <a:ea typeface="楷体_GB2312"/>
              </a:rPr>
              <a:t>集就分别是</a:t>
            </a:r>
            <a:r>
              <a:rPr lang="en-US" altLang="zh-CN" sz="1900" b="1" i="1" dirty="0">
                <a:ea typeface="楷体_GB2312"/>
              </a:rPr>
              <a:t>α</a:t>
            </a:r>
            <a:r>
              <a:rPr lang="en-US" altLang="zh-CN" sz="1900" b="1" dirty="0">
                <a:ea typeface="楷体_GB2312"/>
              </a:rPr>
              <a:t> </a:t>
            </a:r>
            <a:r>
              <a:rPr lang="zh-CN" altLang="en-US" sz="1900" b="1" dirty="0">
                <a:ea typeface="楷体_GB2312"/>
              </a:rPr>
              <a:t>和</a:t>
            </a:r>
            <a:r>
              <a:rPr lang="en-US" altLang="zh-CN" sz="1900" b="1" i="1" dirty="0">
                <a:ea typeface="楷体_GB2312"/>
              </a:rPr>
              <a:t>β</a:t>
            </a:r>
            <a:r>
              <a:rPr lang="zh-CN" altLang="en-US" sz="1900" b="1" dirty="0">
                <a:ea typeface="楷体_GB2312"/>
              </a:rPr>
              <a:t>的</a:t>
            </a:r>
            <a:r>
              <a:rPr lang="en-US" altLang="zh-CN" sz="1900" b="1" dirty="0">
                <a:ea typeface="楷体_GB2312"/>
              </a:rPr>
              <a:t>FIRST</a:t>
            </a:r>
            <a:r>
              <a:rPr lang="zh-CN" altLang="en-US" sz="1900" b="1" dirty="0">
                <a:ea typeface="楷体_GB2312"/>
              </a:rPr>
              <a:t>集。</a:t>
            </a:r>
            <a:endParaRPr lang="en-US" altLang="zh-CN" sz="1900" b="1" dirty="0">
              <a:ea typeface="楷体_GB2312"/>
            </a:endParaRPr>
          </a:p>
          <a:p>
            <a:pPr marL="0" lvl="1" indent="0"/>
            <a:r>
              <a:rPr lang="zh-CN" altLang="en-US" sz="1900" b="1" dirty="0">
                <a:ea typeface="楷体_GB2312"/>
              </a:rPr>
              <a:t>既然</a:t>
            </a:r>
            <a:r>
              <a:rPr lang="en-US" altLang="zh-CN" sz="1700" b="1" dirty="0">
                <a:ea typeface="楷体_GB2312"/>
              </a:rPr>
              <a:t>FIRST</a:t>
            </a:r>
            <a:r>
              <a:rPr lang="zh-CN" altLang="en-US" sz="1700" b="1" dirty="0">
                <a:ea typeface="楷体_GB2312"/>
              </a:rPr>
              <a:t>集不相交，那么</a:t>
            </a:r>
            <a:r>
              <a:rPr lang="en-US" altLang="zh-CN" sz="1700" b="1" dirty="0">
                <a:ea typeface="楷体_GB2312"/>
              </a:rPr>
              <a:t>SELECT</a:t>
            </a:r>
            <a:r>
              <a:rPr lang="zh-CN" altLang="en-US" sz="1700" b="1" dirty="0">
                <a:ea typeface="楷体_GB2312"/>
              </a:rPr>
              <a:t>集也不相交。</a:t>
            </a:r>
            <a:endParaRPr lang="en-US" altLang="zh-C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/>
            <a:r>
              <a:rPr lang="zh-C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条件</a:t>
            </a:r>
            <a:r>
              <a:rPr lang="en-US" altLang="zh-C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1900" b="1" dirty="0">
                <a:cs typeface="Times New Roman" panose="02020603050405020304" pitchFamily="18" charset="0"/>
              </a:rPr>
              <a:t>如果</a:t>
            </a:r>
            <a:r>
              <a:rPr lang="en-US" altLang="zh-CN" sz="1900" b="1" i="1" dirty="0">
                <a:ea typeface="楷体_GB2312"/>
              </a:rPr>
              <a:t>α</a:t>
            </a:r>
            <a:r>
              <a:rPr lang="en-US" altLang="zh-CN" sz="1900" b="1" dirty="0">
                <a:ea typeface="楷体_GB2312"/>
              </a:rPr>
              <a:t> </a:t>
            </a:r>
            <a:r>
              <a:rPr lang="zh-CN" altLang="en-US" sz="1900" b="1" dirty="0">
                <a:ea typeface="楷体_GB2312"/>
              </a:rPr>
              <a:t>和</a:t>
            </a:r>
            <a:r>
              <a:rPr lang="en-US" altLang="zh-CN" sz="1900" b="1" i="1" dirty="0">
                <a:ea typeface="楷体_GB2312"/>
              </a:rPr>
              <a:t>β</a:t>
            </a:r>
            <a:r>
              <a:rPr lang="zh-CN" altLang="en-US" sz="1900" b="1" dirty="0">
                <a:ea typeface="楷体_GB2312"/>
              </a:rPr>
              <a:t>均能推导出</a:t>
            </a:r>
            <a:r>
              <a:rPr lang="en-US" altLang="zh-CN" sz="1900" b="1" i="1" dirty="0">
                <a:ea typeface="楷体_GB2312"/>
              </a:rPr>
              <a:t>ε </a:t>
            </a:r>
            <a:r>
              <a:rPr lang="zh-CN" altLang="en-US" sz="1900" b="1" dirty="0">
                <a:ea typeface="楷体_GB2312"/>
              </a:rPr>
              <a:t>，则对应的这两个产生式的</a:t>
            </a:r>
            <a:r>
              <a:rPr lang="en-US" altLang="zh-CN" sz="1900" b="1" dirty="0">
                <a:ea typeface="楷体_GB2312"/>
              </a:rPr>
              <a:t>SELECT</a:t>
            </a:r>
            <a:r>
              <a:rPr lang="zh-CN" altLang="en-US" sz="1900" b="1" dirty="0">
                <a:ea typeface="楷体_GB2312"/>
              </a:rPr>
              <a:t>集就都包含</a:t>
            </a:r>
            <a:r>
              <a:rPr lang="en-US" altLang="zh-CN" sz="1900" b="1" dirty="0">
                <a:ea typeface="楷体_GB2312"/>
              </a:rPr>
              <a:t>FOLLOW(A)</a:t>
            </a:r>
            <a:r>
              <a:rPr lang="zh-CN" altLang="en-US" sz="1900" b="1" dirty="0">
                <a:ea typeface="楷体_GB2312"/>
              </a:rPr>
              <a:t>中的元素，那么，</a:t>
            </a:r>
            <a:r>
              <a:rPr lang="en-US" altLang="zh-CN" sz="1900" b="1" dirty="0">
                <a:ea typeface="楷体_GB2312"/>
              </a:rPr>
              <a:t> </a:t>
            </a:r>
            <a:r>
              <a:rPr lang="zh-CN" altLang="en-US" sz="1900" b="1" dirty="0">
                <a:ea typeface="楷体_GB2312"/>
              </a:rPr>
              <a:t>两个</a:t>
            </a:r>
            <a:r>
              <a:rPr lang="en-US" altLang="zh-CN" sz="1900" b="1" dirty="0">
                <a:ea typeface="楷体_GB2312"/>
              </a:rPr>
              <a:t>SELECT</a:t>
            </a:r>
            <a:r>
              <a:rPr lang="zh-CN" altLang="en-US" sz="1900" b="1" dirty="0">
                <a:ea typeface="楷体_GB2312"/>
              </a:rPr>
              <a:t>集就会有交集。所以</a:t>
            </a:r>
            <a:r>
              <a:rPr lang="en-US" altLang="zh-CN" sz="1900" b="1" i="1" dirty="0">
                <a:ea typeface="楷体_GB2312"/>
              </a:rPr>
              <a:t>α</a:t>
            </a:r>
            <a:r>
              <a:rPr lang="en-US" altLang="zh-CN" sz="1900" b="1" dirty="0">
                <a:ea typeface="楷体_GB2312"/>
              </a:rPr>
              <a:t> </a:t>
            </a:r>
            <a:r>
              <a:rPr lang="zh-CN" altLang="en-US" sz="1900" b="1" dirty="0">
                <a:ea typeface="楷体_GB2312"/>
              </a:rPr>
              <a:t>和</a:t>
            </a:r>
            <a:r>
              <a:rPr lang="en-US" altLang="zh-CN" sz="1900" b="1" i="1" dirty="0">
                <a:ea typeface="楷体_GB2312"/>
              </a:rPr>
              <a:t>β</a:t>
            </a:r>
            <a:r>
              <a:rPr lang="zh-CN" altLang="en-US" sz="1900" b="1" dirty="0">
                <a:ea typeface="楷体_GB2312"/>
              </a:rPr>
              <a:t>不能都推导出</a:t>
            </a:r>
            <a:r>
              <a:rPr lang="en-US" altLang="zh-CN" sz="1900" b="1" i="1" dirty="0">
                <a:ea typeface="楷体_GB2312"/>
              </a:rPr>
              <a:t>ε </a:t>
            </a:r>
            <a:r>
              <a:rPr lang="zh-CN" altLang="en-US" sz="1900" b="1" dirty="0">
                <a:ea typeface="楷体_GB2312"/>
              </a:rPr>
              <a:t>，至多只能有一个能推导出</a:t>
            </a:r>
            <a:r>
              <a:rPr lang="en-US" altLang="zh-CN" sz="1900" b="1" i="1" dirty="0">
                <a:ea typeface="楷体_GB2312"/>
              </a:rPr>
              <a:t>ε </a:t>
            </a:r>
            <a:endParaRPr lang="en-US" altLang="zh-CN" sz="1900" b="1" dirty="0"/>
          </a:p>
          <a:p>
            <a:pPr marL="0" lvl="1" indent="0"/>
            <a:r>
              <a:rPr lang="zh-C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条件</a:t>
            </a:r>
            <a:r>
              <a:rPr lang="en-US" altLang="zh-C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1900" b="1" dirty="0">
                <a:cs typeface="Times New Roman" panose="02020603050405020304" pitchFamily="18" charset="0"/>
              </a:rPr>
              <a:t>如果</a:t>
            </a:r>
            <a:r>
              <a:rPr lang="en-US" altLang="zh-CN" sz="1900" b="1" i="1" dirty="0">
                <a:ea typeface="楷体_GB2312"/>
              </a:rPr>
              <a:t>β</a:t>
            </a:r>
            <a:r>
              <a:rPr lang="zh-CN" altLang="en-US" sz="1900" b="1" dirty="0">
                <a:ea typeface="楷体_GB2312"/>
              </a:rPr>
              <a:t>能推导出</a:t>
            </a:r>
            <a:r>
              <a:rPr lang="en-US" altLang="zh-CN" sz="1900" b="1" i="1" dirty="0">
                <a:ea typeface="楷体_GB2312"/>
              </a:rPr>
              <a:t>ε </a:t>
            </a:r>
            <a:r>
              <a:rPr lang="zh-CN" altLang="en-US" sz="1900" b="1" dirty="0">
                <a:ea typeface="楷体_GB2312"/>
              </a:rPr>
              <a:t>，则</a:t>
            </a:r>
            <a:r>
              <a:rPr lang="en-US" altLang="zh-CN" sz="1900" b="1" i="1" dirty="0">
                <a:ea typeface="楷体_GB2312"/>
              </a:rPr>
              <a:t>β</a:t>
            </a:r>
            <a:r>
              <a:rPr lang="zh-CN" altLang="en-US" sz="1900" b="1" dirty="0">
                <a:ea typeface="楷体_GB2312"/>
              </a:rPr>
              <a:t>对应的产生式的</a:t>
            </a:r>
            <a:r>
              <a:rPr lang="en-US" altLang="zh-CN" sz="1900" b="1" dirty="0">
                <a:ea typeface="楷体_GB2312"/>
              </a:rPr>
              <a:t>SELECT</a:t>
            </a:r>
            <a:r>
              <a:rPr lang="zh-CN" altLang="en-US" sz="1900" b="1" dirty="0">
                <a:ea typeface="楷体_GB2312"/>
              </a:rPr>
              <a:t>集就都包含</a:t>
            </a:r>
            <a:r>
              <a:rPr lang="en-US" altLang="zh-CN" sz="1900" b="1" dirty="0">
                <a:ea typeface="楷体_GB2312"/>
              </a:rPr>
              <a:t>FOLLOW(A)</a:t>
            </a:r>
            <a:r>
              <a:rPr lang="zh-CN" altLang="en-US" sz="1900" b="1" dirty="0">
                <a:ea typeface="楷体_GB2312"/>
              </a:rPr>
              <a:t>中的元素，那么，</a:t>
            </a:r>
            <a:r>
              <a:rPr lang="en-US" altLang="zh-CN" sz="1900" b="1" dirty="0">
                <a:ea typeface="楷体_GB2312"/>
              </a:rPr>
              <a:t>FIRST(</a:t>
            </a:r>
            <a:r>
              <a:rPr lang="en-US" altLang="zh-CN" sz="1900" b="1" i="1" dirty="0">
                <a:ea typeface="楷体_GB2312"/>
              </a:rPr>
              <a:t>α</a:t>
            </a:r>
            <a:r>
              <a:rPr lang="en-US" altLang="zh-CN" sz="1900" b="1" dirty="0">
                <a:ea typeface="楷体_GB2312"/>
              </a:rPr>
              <a:t>)</a:t>
            </a:r>
            <a:r>
              <a:rPr lang="zh-CN" altLang="en-US" sz="1900" b="1" dirty="0">
                <a:ea typeface="楷体_GB2312"/>
              </a:rPr>
              <a:t>中就不能再包含</a:t>
            </a:r>
            <a:r>
              <a:rPr lang="en-US" altLang="zh-CN" sz="1900" b="1" dirty="0">
                <a:ea typeface="楷体_GB2312"/>
              </a:rPr>
              <a:t>FOLLOW(A)</a:t>
            </a:r>
            <a:r>
              <a:rPr lang="zh-CN" altLang="en-US" sz="1900" b="1" dirty="0">
                <a:ea typeface="楷体_GB2312"/>
              </a:rPr>
              <a:t>中的元素。否则，这两个产生式的</a:t>
            </a:r>
            <a:r>
              <a:rPr lang="en-US" altLang="zh-CN" sz="1900" b="1" dirty="0">
                <a:ea typeface="楷体_GB2312"/>
              </a:rPr>
              <a:t>SELECT</a:t>
            </a:r>
            <a:r>
              <a:rPr lang="zh-CN" altLang="en-US" sz="1900" b="1" dirty="0">
                <a:ea typeface="楷体_GB2312"/>
              </a:rPr>
              <a:t>集就会有交集</a:t>
            </a:r>
            <a:endParaRPr lang="en-US" altLang="zh-CN" sz="1900" b="1" dirty="0"/>
          </a:p>
        </p:txBody>
      </p:sp>
      <p:sp>
        <p:nvSpPr>
          <p:cNvPr id="634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4250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</a:rPr>
              <a:t>27</a:t>
            </a:fld>
            <a:endParaRPr lang="zh-CN" altLang="en-US" sz="1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marL="0" lvl="1" indent="0"/>
            <a:endParaRPr lang="en-US" altLang="zh-CN" sz="2100" b="1" dirty="0"/>
          </a:p>
        </p:txBody>
      </p:sp>
      <p:sp>
        <p:nvSpPr>
          <p:cNvPr id="655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4250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</a:rPr>
              <a:t>28</a:t>
            </a:fld>
            <a:endParaRPr lang="zh-CN" altLang="en-US" sz="1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b="1" dirty="0">
              <a:solidFill>
                <a:srgbClr val="008000"/>
              </a:solidFill>
              <a:cs typeface="Times New Roman" panose="02020603050405020304" pitchFamily="18" charset="0"/>
            </a:endParaRPr>
          </a:p>
          <a:p>
            <a:pPr lvl="0"/>
            <a:endParaRPr lang="en-US" altLang="zh-CN" dirty="0"/>
          </a:p>
        </p:txBody>
      </p:sp>
      <p:sp>
        <p:nvSpPr>
          <p:cNvPr id="92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楷体_GB2312"/>
              </a:rPr>
              <a:t>29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  <a:ea typeface="楷体_GB231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 eaLnBrk="1" hangingPunct="1"/>
            <a:endParaRPr lang="en-US" altLang="zh-CN" sz="2900" dirty="0">
              <a:ea typeface="Times New Roman" panose="02020603050405020304" pitchFamily="18" charset="0"/>
            </a:endParaRPr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30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 eaLnBrk="1" hangingPunct="1"/>
            <a:endParaRPr lang="en-US" altLang="zh-CN" sz="2900" dirty="0">
              <a:ea typeface="Times New Roman" panose="02020603050405020304" pitchFamily="18" charset="0"/>
            </a:endParaRPr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31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>
              <a:ea typeface="楷体_GB2312"/>
            </a:endParaRPr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32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33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b="1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34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b="1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35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36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4932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</a:rPr>
              <a:t>37</a:t>
            </a:fld>
            <a:endParaRPr lang="zh-CN" altLang="en-US" sz="1300" dirty="0">
              <a:solidFill>
                <a:srgbClr val="000000"/>
              </a:solidFill>
            </a:endParaRPr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2550" y="752475"/>
            <a:ext cx="6602413" cy="3714750"/>
          </a:xfrm>
          <a:ln w="12700">
            <a:solidFill>
              <a:schemeClr val="tx1">
                <a:alpha val="100000"/>
              </a:schemeClr>
            </a:solidFill>
          </a:ln>
        </p:spPr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078" tIns="48038" rIns="96078" bIns="48038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b="1" dirty="0"/>
          </a:p>
        </p:txBody>
      </p:sp>
      <p:sp>
        <p:nvSpPr>
          <p:cNvPr id="614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</a:rPr>
              <a:t>38</a:t>
            </a:fld>
            <a:endParaRPr lang="zh-CN" altLang="en-US" sz="1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39</a:t>
            </a:fld>
            <a:endParaRPr lang="zh-CN" altLang="en-US" sz="1300" dirty="0"/>
          </a:p>
        </p:txBody>
      </p:sp>
      <p:sp>
        <p:nvSpPr>
          <p:cNvPr id="2560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 eaLnBrk="1" hangingPunct="1"/>
            <a:endParaRPr lang="en-US" altLang="zh-CN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dirty="0"/>
          </a:p>
        </p:txBody>
      </p:sp>
      <p:sp>
        <p:nvSpPr>
          <p:cNvPr id="460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楷体_GB2312"/>
              </a:rPr>
              <a:t>40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  <a:ea typeface="楷体_GB231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 eaLnBrk="1" hangingPunct="1"/>
            <a:endParaRPr lang="zh-CN" altLang="en-US" dirty="0">
              <a:latin typeface="楷体_GB2312"/>
              <a:ea typeface="楷体_GB2312"/>
            </a:endParaRPr>
          </a:p>
        </p:txBody>
      </p:sp>
      <p:sp>
        <p:nvSpPr>
          <p:cNvPr id="481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41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522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42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 eaLnBrk="1" hangingPunct="1"/>
            <a:endParaRPr lang="zh-CN" altLang="en-US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563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44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dirty="0"/>
          </a:p>
        </p:txBody>
      </p:sp>
      <p:sp>
        <p:nvSpPr>
          <p:cNvPr id="297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楷体_GB2312"/>
              </a:rPr>
              <a:t>45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  <a:ea typeface="楷体_GB231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317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46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47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48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358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</a:rPr>
              <a:t>49</a:t>
            </a:fld>
            <a:endParaRPr lang="zh-CN" altLang="en-US" sz="1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50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9330" eaLnBrk="1" hangingPunct="1"/>
            <a:fld id="{9A0DB2DC-4C9A-4742-B13C-FB6460FD3503}" type="slidenum">
              <a:rPr lang="zh-CN" altLang="en-US" sz="1300" dirty="0"/>
              <a:t>55</a:t>
            </a:fld>
            <a:endParaRPr lang="zh-CN" altLang="en-US" sz="1300" dirty="0"/>
          </a:p>
        </p:txBody>
      </p:sp>
      <p:sp>
        <p:nvSpPr>
          <p:cNvPr id="5427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 eaLnBrk="1" hangingPunct="1">
              <a:lnSpc>
                <a:spcPct val="90000"/>
              </a:lnSpc>
            </a:pPr>
            <a:endParaRPr lang="zh-CN" altLang="en-US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en-US" altLang="zh-CN" dirty="0"/>
          </a:p>
        </p:txBody>
      </p:sp>
      <p:sp>
        <p:nvSpPr>
          <p:cNvPr id="604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  <a:ea typeface="楷体_GB2312"/>
              </a:rPr>
              <a:t>56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  <a:ea typeface="楷体_GB2312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57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marL="0" lvl="1" indent="0"/>
            <a:endParaRPr lang="zh-CN" altLang="en-US" dirty="0"/>
          </a:p>
        </p:txBody>
      </p:sp>
      <p:sp>
        <p:nvSpPr>
          <p:cNvPr id="645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58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665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59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686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60</a:t>
            </a:fld>
            <a:endParaRPr lang="zh-CN" altLang="en-US" sz="13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F4AB59-8DEF-4933-A3FD-C1FB11B0CE4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F4AB59-8DEF-4933-A3FD-C1FB11B0CE4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F4AB59-8DEF-4933-A3FD-C1FB11B0CE4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F4AB59-8DEF-4933-A3FD-C1FB11B0CE4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F4AB59-8DEF-4933-A3FD-C1FB11B0CE4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F4AB59-8DEF-4933-A3FD-C1FB11B0CE4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F4AB59-8DEF-4933-A3FD-C1FB11B0CE4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F4AB59-8DEF-4933-A3FD-C1FB11B0CE4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F4AB59-8DEF-4933-A3FD-C1FB11B0CE4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F4AB59-8DEF-4933-A3FD-C1FB11B0CE4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F4AB59-8DEF-4933-A3FD-C1FB11B0CE4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1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2D17E3-38D5-41AE-9DA5-1138F33266BE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2D17E3-38D5-41AE-9DA5-1138F33266BE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160735"/>
            <a:ext cx="7793037" cy="10965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513285"/>
            <a:ext cx="3810000" cy="3086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1513285"/>
            <a:ext cx="3810000" cy="1485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3113485"/>
            <a:ext cx="3810000" cy="1485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2D17E3-38D5-41AE-9DA5-1138F33266BE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160735"/>
            <a:ext cx="7793037" cy="10965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1513285"/>
            <a:ext cx="3810000" cy="3086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1513285"/>
            <a:ext cx="3810000" cy="1485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3113485"/>
            <a:ext cx="3810000" cy="1485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2D17E3-38D5-41AE-9DA5-1138F33266BE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9"/>
          <p:cNvGrpSpPr>
            <a:grpSpLocks noChangeAspect="1"/>
          </p:cNvGrpSpPr>
          <p:nvPr/>
        </p:nvGrpSpPr>
        <p:grpSpPr>
          <a:xfrm>
            <a:off x="211138" y="4016375"/>
            <a:ext cx="8723312" cy="996950"/>
            <a:chOff x="-3905250" y="4294188"/>
            <a:chExt cx="13011150" cy="1892300"/>
          </a:xfrm>
        </p:grpSpPr>
        <p:sp>
          <p:nvSpPr>
            <p:cNvPr id="8" name="Freeform 14"/>
            <p:cNvSpPr/>
            <p:nvPr/>
          </p:nvSpPr>
          <p:spPr bwMode="hidden">
            <a:xfrm>
              <a:off x="4810681" y="4499087"/>
              <a:ext cx="4295219" cy="1018467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  <a:rou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Freeform 18"/>
            <p:cNvSpPr/>
            <p:nvPr/>
          </p:nvSpPr>
          <p:spPr bwMode="hidden">
            <a:xfrm>
              <a:off x="-308538" y="4318294"/>
              <a:ext cx="8280254" cy="1208301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  <a:rou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Freeform 22"/>
            <p:cNvSpPr/>
            <p:nvPr/>
          </p:nvSpPr>
          <p:spPr bwMode="hidden">
            <a:xfrm>
              <a:off x="4014" y="4336373"/>
              <a:ext cx="8164231" cy="10998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Freeform 26"/>
            <p:cNvSpPr/>
            <p:nvPr/>
          </p:nvSpPr>
          <p:spPr bwMode="hidden">
            <a:xfrm>
              <a:off x="4157164" y="4315281"/>
              <a:ext cx="4939265" cy="928071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 useBgFill="1">
          <p:nvSpPr>
            <p:cNvPr id="12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0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365985-263D-4B5C-A35B-7F0E202142BB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ACB86-9EAD-42FF-AAF7-45F268B4759D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>
              <a:defRPr>
                <a:ea typeface="楷体_GB231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>
              <a:defRPr>
                <a:ea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C805D8-7621-4C79-980C-AAC0BE69220A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组合 5"/>
          <p:cNvGrpSpPr/>
          <p:nvPr userDrawn="1"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9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>
              <a:defRPr>
                <a:ea typeface="楷体_GB231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>
              <a:defRPr>
                <a:ea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+mn-cs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19BD9F-66D8-47D7-ACC0-D2E19CEFA3E8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178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7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7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F4AB59-8DEF-4933-A3FD-C1FB11B0CE4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457200" y="254000"/>
            <a:ext cx="8229600" cy="939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2D17E3-38D5-41AE-9DA5-1138F33266BE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Text Placeholder 2"/>
          <p:cNvSpPr>
            <a:spLocks noGrp="1"/>
          </p:cNvSpPr>
          <p:nvPr>
            <p:ph type="body" idx="1"/>
          </p:nvPr>
        </p:nvSpPr>
        <p:spPr>
          <a:xfrm>
            <a:off x="250825" y="1347788"/>
            <a:ext cx="5976938" cy="32464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405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>
          <a:xfrm>
            <a:off x="457200" y="254000"/>
            <a:ext cx="8229600" cy="939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>
                <a:solidFill>
                  <a:srgbClr val="073E87"/>
                </a:solidFill>
                <a:ea typeface="楷体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>
                <a:solidFill>
                  <a:srgbClr val="073E87"/>
                </a:solidFill>
                <a:ea typeface="楷体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ACB86-9EAD-42FF-AAF7-45F268B4759D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>
          <a:xfrm>
            <a:off x="250825" y="1347788"/>
            <a:ext cx="5976938" cy="32464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405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>
          <a:xfrm>
            <a:off x="900113" y="268288"/>
            <a:ext cx="7786687" cy="358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95E8F9-5115-4ECB-8CE6-A6BFB7E45560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68425"/>
            <a:ext cx="5927725" cy="322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405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054475" y="1785938"/>
            <a:ext cx="44465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5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自顶向下分析概述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5072063" y="1487488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第四章 语法分析</a:t>
            </a:r>
            <a:endParaRPr kumimoji="0" lang="zh-CN" altLang="en-US" sz="800" kern="1200" cap="none" spc="3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17513" y="714375"/>
            <a:ext cx="8402638" cy="4298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从分析树的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顶部（根节点）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向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底部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（叶节点）方向构造分析树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可以看成是从文法开始符号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推导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出词串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的过程</a:t>
            </a:r>
          </a:p>
          <a:p>
            <a:pPr marL="800100" marR="0" lvl="3" indent="-34290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例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800100" marR="0" lvl="3" indent="-34290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Ø"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每一步推导中，都需要做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两个选择</a:t>
            </a: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替换当前句型中的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哪个非终结符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highlight>
                <a:srgbClr val="FFFF00"/>
              </a:highlight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用该非终结符的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哪个候选式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进行替换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自顶向下的分析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Top-Down Parsing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57375" y="3148013"/>
            <a:ext cx="1411288" cy="596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2"/>
            </a:solidFill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 ( id +  id )</a:t>
            </a: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5795963" y="1671638"/>
            <a:ext cx="2847975" cy="20875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/>
          <a:p>
            <a:pPr marL="342900" marR="0" lvl="1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endParaRPr kumimoji="0" lang="en-US" altLang="zh-CN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		      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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(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	      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(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	      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( id +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	      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( id +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	      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( id + id )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 bwMode="auto">
          <a:xfrm>
            <a:off x="1865313" y="1609725"/>
            <a:ext cx="1403350" cy="1549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文法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 → E + E </a:t>
            </a: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 → E * E      </a:t>
            </a: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E →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E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E →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id</a:t>
            </a:r>
          </a:p>
        </p:txBody>
      </p:sp>
      <p:sp>
        <p:nvSpPr>
          <p:cNvPr id="36" name="矩形 35"/>
          <p:cNvSpPr/>
          <p:nvPr/>
        </p:nvSpPr>
        <p:spPr bwMode="auto">
          <a:xfrm>
            <a:off x="3203575" y="1724025"/>
            <a:ext cx="2455863" cy="2101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" name="组合 41"/>
          <p:cNvGrpSpPr/>
          <p:nvPr/>
        </p:nvGrpSpPr>
        <p:grpSpPr>
          <a:xfrm>
            <a:off x="4484688" y="2481263"/>
            <a:ext cx="1069975" cy="460375"/>
            <a:chOff x="4568297" y="3723878"/>
            <a:chExt cx="1070134" cy="460623"/>
          </a:xfrm>
        </p:grpSpPr>
        <p:cxnSp>
          <p:nvCxnSpPr>
            <p:cNvPr id="43" name="直接连接符 42"/>
            <p:cNvCxnSpPr/>
            <p:nvPr/>
          </p:nvCxnSpPr>
          <p:spPr bwMode="auto">
            <a:xfrm rot="5400000">
              <a:off x="4814368" y="3723906"/>
              <a:ext cx="142952" cy="1428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 bwMode="auto">
            <a:xfrm rot="16200000" flipH="1">
              <a:off x="5297039" y="3741371"/>
              <a:ext cx="142952" cy="1079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 bwMode="auto">
            <a:xfrm rot="5400000">
              <a:off x="5061260" y="3794560"/>
              <a:ext cx="142952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24" name="矩形 25"/>
            <p:cNvSpPr/>
            <p:nvPr/>
          </p:nvSpPr>
          <p:spPr>
            <a:xfrm>
              <a:off x="4568297" y="3814350"/>
              <a:ext cx="1070134" cy="370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(     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E    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)</a:t>
              </a:r>
              <a:endParaRPr lang="zh-CN" altLang="en-US" dirty="0">
                <a:latin typeface="Tahoma" panose="020B0604030504040204" pitchFamily="34" charset="0"/>
                <a:ea typeface="楷体_GB2312"/>
              </a:endParaRPr>
            </a:p>
          </p:txBody>
        </p:sp>
      </p:grpSp>
      <p:grpSp>
        <p:nvGrpSpPr>
          <p:cNvPr id="4" name="组合 46"/>
          <p:cNvGrpSpPr/>
          <p:nvPr/>
        </p:nvGrpSpPr>
        <p:grpSpPr>
          <a:xfrm>
            <a:off x="4514850" y="2954338"/>
            <a:ext cx="1085850" cy="460375"/>
            <a:chOff x="4572000" y="3723878"/>
            <a:chExt cx="1084652" cy="460623"/>
          </a:xfrm>
        </p:grpSpPr>
        <p:cxnSp>
          <p:nvCxnSpPr>
            <p:cNvPr id="48" name="直接连接符 47"/>
            <p:cNvCxnSpPr/>
            <p:nvPr/>
          </p:nvCxnSpPr>
          <p:spPr bwMode="auto">
            <a:xfrm rot="5400000">
              <a:off x="4789131" y="3723996"/>
              <a:ext cx="142952" cy="1427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 bwMode="auto">
            <a:xfrm rot="16200000" flipH="1">
              <a:off x="5237897" y="3741440"/>
              <a:ext cx="142952" cy="1078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 bwMode="auto">
            <a:xfrm rot="5400000">
              <a:off x="5045229" y="3794562"/>
              <a:ext cx="142952" cy="15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20" name="矩形 46"/>
            <p:cNvSpPr/>
            <p:nvPr/>
          </p:nvSpPr>
          <p:spPr>
            <a:xfrm>
              <a:off x="4572000" y="3814350"/>
              <a:ext cx="1084652" cy="370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E    +   E </a:t>
              </a:r>
              <a:endParaRPr lang="zh-CN" altLang="en-US" dirty="0">
                <a:latin typeface="Tahoma" panose="020B0604030504040204" pitchFamily="34" charset="0"/>
                <a:ea typeface="楷体_GB2312"/>
              </a:endParaRPr>
            </a:p>
          </p:txBody>
        </p:sp>
      </p:grpSp>
      <p:grpSp>
        <p:nvGrpSpPr>
          <p:cNvPr id="7" name="组合 51"/>
          <p:cNvGrpSpPr/>
          <p:nvPr/>
        </p:nvGrpSpPr>
        <p:grpSpPr>
          <a:xfrm>
            <a:off x="4227513" y="2462213"/>
            <a:ext cx="376237" cy="457200"/>
            <a:chOff x="5275094" y="4643438"/>
            <a:chExt cx="377026" cy="457884"/>
          </a:xfrm>
        </p:grpSpPr>
        <p:cxnSp>
          <p:nvCxnSpPr>
            <p:cNvPr id="53" name="直接连接符 52"/>
            <p:cNvCxnSpPr/>
            <p:nvPr/>
          </p:nvCxnSpPr>
          <p:spPr bwMode="auto">
            <a:xfrm rot="5400000">
              <a:off x="5363429" y="4714187"/>
              <a:ext cx="143089" cy="15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16" name="矩形 49"/>
            <p:cNvSpPr/>
            <p:nvPr/>
          </p:nvSpPr>
          <p:spPr>
            <a:xfrm>
              <a:off x="5275094" y="4731990"/>
              <a:ext cx="3770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id</a:t>
              </a:r>
              <a:endParaRPr lang="zh-CN" altLang="en-US" dirty="0">
                <a:latin typeface="Tahoma" panose="020B0604030504040204" pitchFamily="34" charset="0"/>
                <a:ea typeface="楷体_GB2312"/>
              </a:endParaRPr>
            </a:p>
          </p:txBody>
        </p:sp>
      </p:grpSp>
      <p:grpSp>
        <p:nvGrpSpPr>
          <p:cNvPr id="8" name="组合 54"/>
          <p:cNvGrpSpPr/>
          <p:nvPr/>
        </p:nvGrpSpPr>
        <p:grpSpPr>
          <a:xfrm>
            <a:off x="4532313" y="3367088"/>
            <a:ext cx="377825" cy="458787"/>
            <a:chOff x="5275094" y="4643438"/>
            <a:chExt cx="377026" cy="457884"/>
          </a:xfrm>
        </p:grpSpPr>
        <p:cxnSp>
          <p:nvCxnSpPr>
            <p:cNvPr id="56" name="直接连接符 55"/>
            <p:cNvCxnSpPr/>
            <p:nvPr/>
          </p:nvCxnSpPr>
          <p:spPr bwMode="auto">
            <a:xfrm rot="5400000">
              <a:off x="5364587" y="4713944"/>
              <a:ext cx="142594" cy="15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14" name="矩形 54"/>
            <p:cNvSpPr/>
            <p:nvPr/>
          </p:nvSpPr>
          <p:spPr>
            <a:xfrm>
              <a:off x="5275094" y="4731990"/>
              <a:ext cx="3770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id</a:t>
              </a:r>
              <a:endParaRPr lang="zh-CN" altLang="en-US" dirty="0">
                <a:latin typeface="Tahoma" panose="020B0604030504040204" pitchFamily="34" charset="0"/>
                <a:ea typeface="楷体_GB2312"/>
              </a:endParaRPr>
            </a:p>
          </p:txBody>
        </p:sp>
      </p:grpSp>
      <p:grpSp>
        <p:nvGrpSpPr>
          <p:cNvPr id="9" name="组合 61"/>
          <p:cNvGrpSpPr/>
          <p:nvPr/>
        </p:nvGrpSpPr>
        <p:grpSpPr>
          <a:xfrm>
            <a:off x="4225925" y="1993900"/>
            <a:ext cx="1085850" cy="460375"/>
            <a:chOff x="4572000" y="3723878"/>
            <a:chExt cx="1084652" cy="460622"/>
          </a:xfrm>
        </p:grpSpPr>
        <p:cxnSp>
          <p:nvCxnSpPr>
            <p:cNvPr id="63" name="直接连接符 62"/>
            <p:cNvCxnSpPr/>
            <p:nvPr/>
          </p:nvCxnSpPr>
          <p:spPr bwMode="auto">
            <a:xfrm rot="5400000">
              <a:off x="4789131" y="3723996"/>
              <a:ext cx="142952" cy="1427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 bwMode="auto">
            <a:xfrm rot="16200000" flipH="1">
              <a:off x="5237897" y="3741440"/>
              <a:ext cx="142952" cy="1078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 bwMode="auto">
            <a:xfrm rot="5400000">
              <a:off x="5002413" y="3794561"/>
              <a:ext cx="142952" cy="15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12" name="矩形 46"/>
            <p:cNvSpPr/>
            <p:nvPr/>
          </p:nvSpPr>
          <p:spPr>
            <a:xfrm>
              <a:off x="4572000" y="3814350"/>
              <a:ext cx="1084652" cy="3701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E    +   E </a:t>
              </a:r>
              <a:endParaRPr lang="zh-CN" altLang="en-US" dirty="0">
                <a:latin typeface="Tahoma" panose="020B0604030504040204" pitchFamily="34" charset="0"/>
                <a:ea typeface="楷体_GB231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5808663" y="1765300"/>
            <a:ext cx="1355725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推导过程：</a:t>
            </a: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grpSp>
        <p:nvGrpSpPr>
          <p:cNvPr id="10" name="组合 67"/>
          <p:cNvGrpSpPr/>
          <p:nvPr/>
        </p:nvGrpSpPr>
        <p:grpSpPr>
          <a:xfrm>
            <a:off x="5165725" y="3362325"/>
            <a:ext cx="376238" cy="457200"/>
            <a:chOff x="5275094" y="4643438"/>
            <a:chExt cx="377026" cy="457884"/>
          </a:xfrm>
        </p:grpSpPr>
        <p:cxnSp>
          <p:nvCxnSpPr>
            <p:cNvPr id="69" name="直接连接符 68"/>
            <p:cNvCxnSpPr/>
            <p:nvPr/>
          </p:nvCxnSpPr>
          <p:spPr bwMode="auto">
            <a:xfrm rot="5400000">
              <a:off x="5363427" y="4714187"/>
              <a:ext cx="143089" cy="159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08" name="矩形 49"/>
            <p:cNvSpPr/>
            <p:nvPr/>
          </p:nvSpPr>
          <p:spPr>
            <a:xfrm>
              <a:off x="5275094" y="4731990"/>
              <a:ext cx="3770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id</a:t>
              </a:r>
              <a:endParaRPr lang="zh-CN" altLang="en-US" dirty="0">
                <a:latin typeface="Tahoma" panose="020B0604030504040204" pitchFamily="34" charset="0"/>
                <a:ea typeface="楷体_GB2312"/>
              </a:endParaRPr>
            </a:p>
          </p:txBody>
        </p:sp>
      </p:grpSp>
      <p:grpSp>
        <p:nvGrpSpPr>
          <p:cNvPr id="11" name="组合 40"/>
          <p:cNvGrpSpPr/>
          <p:nvPr/>
        </p:nvGrpSpPr>
        <p:grpSpPr>
          <a:xfrm>
            <a:off x="3419475" y="1654175"/>
            <a:ext cx="2239963" cy="2101850"/>
            <a:chOff x="3203848" y="2859586"/>
            <a:chExt cx="3312368" cy="2241736"/>
          </a:xfrm>
        </p:grpSpPr>
        <p:sp>
          <p:nvSpPr>
            <p:cNvPr id="12304" name="矩形 9"/>
            <p:cNvSpPr/>
            <p:nvPr/>
          </p:nvSpPr>
          <p:spPr>
            <a:xfrm>
              <a:off x="4893997" y="2916070"/>
              <a:ext cx="305181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buNone/>
              </a:pP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E</a:t>
              </a:r>
              <a:endParaRPr lang="zh-CN" altLang="en-US" sz="1600" dirty="0">
                <a:solidFill>
                  <a:srgbClr val="000000"/>
                </a:solidFill>
                <a:latin typeface="Tahoma" panose="020B0604030504040204" pitchFamily="34" charset="0"/>
                <a:ea typeface="楷体_GB231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3203848" y="2859586"/>
              <a:ext cx="3312368" cy="22417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306" name="矩形 47"/>
            <p:cNvSpPr/>
            <p:nvPr/>
          </p:nvSpPr>
          <p:spPr>
            <a:xfrm>
              <a:off x="3203848" y="2915344"/>
              <a:ext cx="1107826" cy="3698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zh-CN" altLang="en-US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分析树</a:t>
              </a:r>
              <a:r>
                <a:rPr lang="zh-CN" altLang="en-US" b="1" dirty="0">
                  <a:latin typeface="楷体_GB2312"/>
                  <a:ea typeface="华文楷体" panose="02010600040101010101" pitchFamily="2" charset="-122"/>
                </a:rPr>
                <a:t>：</a:t>
              </a:r>
              <a:endParaRPr lang="zh-CN" altLang="en-US" dirty="0">
                <a:latin typeface="Tahoma" panose="020B0604030504040204" pitchFamily="34" charset="0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build="allAtOnce" animBg="1"/>
      <p:bldP spid="33" grpId="0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889000"/>
            <a:ext cx="8505825" cy="3968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最左推导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中，总是选择每个句型的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最左非终结符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进行替换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例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如果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0" lang="en-US" altLang="zh-CN" sz="22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kumimoji="1" lang="en-US" altLang="zh-CN" sz="22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lm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，则称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α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是当前文法的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</a:rPr>
              <a:t>最左句型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Times New Roman" panose="02020603050405020304" pitchFamily="18" charset="0"/>
              </a:rPr>
              <a:t>left-sentential form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最左推导</a:t>
            </a:r>
            <a:r>
              <a:rPr kumimoji="0" lang="en-US" altLang="zh-CN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Left-most Derivation</a:t>
            </a:r>
            <a:r>
              <a:rPr kumimoji="0" lang="en-US" altLang="zh-CN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矩形 1"/>
          <p:cNvSpPr/>
          <p:nvPr/>
        </p:nvSpPr>
        <p:spPr>
          <a:xfrm>
            <a:off x="4356100" y="1693863"/>
            <a:ext cx="2366963" cy="2616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190500" marR="0" lvl="1" indent="-285750" algn="l" defTabSz="914400" rtl="0" eaLnBrk="0" fontAlgn="base" latinLnBrk="0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推导过程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190500" marR="0" lvl="1" indent="-285750" algn="l" defTabSz="914400" rtl="0" eaLnBrk="0" fontAlgn="base" latinLnBrk="0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lm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190500" marR="0" lvl="1" indent="-285750" algn="l" defTabSz="914400" rtl="0" eaLnBrk="0" fontAlgn="base" latinLnBrk="0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lm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190500" marR="0" lvl="1" indent="-285750" algn="l" defTabSz="914400" rtl="0" eaLnBrk="0" fontAlgn="base" latinLnBrk="0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lm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(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190500" marR="0" lvl="1" indent="-285750" algn="l" defTabSz="914400" rtl="0" eaLnBrk="0" fontAlgn="base" latinLnBrk="0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lm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(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190500" marR="0" lvl="1" indent="-285750" algn="l" defTabSz="914400" rtl="0" eaLnBrk="0" fontAlgn="base" latinLnBrk="0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lm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( id +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190500" marR="0" lvl="1" indent="-285750" algn="l" defTabSz="914400" rtl="0" eaLnBrk="0" fontAlgn="base" latinLnBrk="0" hangingPunct="0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lm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( id + id )</a:t>
            </a:r>
          </a:p>
        </p:txBody>
      </p:sp>
      <p:sp>
        <p:nvSpPr>
          <p:cNvPr id="6" name="矩形 5"/>
          <p:cNvSpPr/>
          <p:nvPr/>
        </p:nvSpPr>
        <p:spPr>
          <a:xfrm>
            <a:off x="1647825" y="3548063"/>
            <a:ext cx="1700213" cy="731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 ( id +  id )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655763" y="1674813"/>
            <a:ext cx="1692275" cy="18732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 → E + E </a:t>
            </a:r>
          </a:p>
          <a:p>
            <a:pPr marL="0" marR="0" lvl="0" indent="0" algn="just" defTabSz="914400" rtl="0" eaLnBrk="1" fontAlgn="base" latinLnBrk="0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 → E * E      </a:t>
            </a:r>
          </a:p>
          <a:p>
            <a:pPr marL="0" marR="0" lvl="0" indent="0" algn="just" defTabSz="914400" rtl="0" eaLnBrk="1" fontAlgn="base" latinLnBrk="0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E →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E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</a:p>
          <a:p>
            <a:pPr marL="0" marR="0" lvl="0" indent="0" algn="just" defTabSz="914400" rtl="0" eaLnBrk="1" fontAlgn="base" latinLnBrk="0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E →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id</a:t>
            </a:r>
          </a:p>
        </p:txBody>
      </p:sp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6724650" y="2287588"/>
            <a:ext cx="415925" cy="12001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最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右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归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约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4211638" y="1957388"/>
            <a:ext cx="141288" cy="1860550"/>
          </a:xfrm>
          <a:prstGeom prst="downArrow">
            <a:avLst>
              <a:gd name="adj1" fmla="val 50000"/>
              <a:gd name="adj2" fmla="val 24046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 rot="10800000">
            <a:off x="6659563" y="1957388"/>
            <a:ext cx="141288" cy="1868488"/>
          </a:xfrm>
          <a:prstGeom prst="downArrow">
            <a:avLst>
              <a:gd name="adj1" fmla="val 50000"/>
              <a:gd name="adj2" fmla="val 239605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833813" y="2287588"/>
            <a:ext cx="450850" cy="1200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最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左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推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28625" y="889000"/>
            <a:ext cx="8505825" cy="3968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73050" marR="0" indent="-273050" defTabSz="914400" eaLnBrk="1" hangingPunct="1"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kumimoji="0" lang="zh-CN" altLang="en-US" sz="22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最右推导</a:t>
            </a:r>
            <a:r>
              <a:rPr kumimoji="0" lang="zh-CN" altLang="en-US" sz="22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中，总是选择每个句型的</a:t>
            </a:r>
            <a:r>
              <a:rPr kumimoji="0" lang="zh-CN" altLang="en-US" sz="2200" b="1" kern="1200" cap="none" spc="0" normalizeH="0" baseline="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最右非终结符</a:t>
            </a:r>
            <a:r>
              <a:rPr kumimoji="0" lang="zh-CN" altLang="en-US" sz="22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进行替换</a:t>
            </a:r>
            <a:endParaRPr kumimoji="0" lang="en-US" altLang="zh-CN" sz="2200" b="1" kern="1200" cap="none" spc="0" normalizeH="0" baseline="0" noProof="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例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在自底向上的分析中，总是采用最左归约的方式，因此把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最左归约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称为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规范归约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，而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最右推导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相应地称为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规范推导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000" b="1" kern="1200" cap="none" spc="30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最右推导</a:t>
            </a:r>
            <a:r>
              <a:rPr kumimoji="0" lang="en-US" altLang="zh-CN" sz="2500" b="1" kern="1200" cap="none" spc="300" normalizeH="0" baseline="0" noProof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Right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most Derivation</a:t>
            </a:r>
            <a:r>
              <a:rPr kumimoji="0" lang="en-US" altLang="zh-CN" sz="2500" b="1" kern="1200" cap="none" spc="300" normalizeH="0" baseline="0" noProof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矩形 11"/>
          <p:cNvSpPr/>
          <p:nvPr/>
        </p:nvSpPr>
        <p:spPr>
          <a:xfrm>
            <a:off x="1655763" y="3351213"/>
            <a:ext cx="1979613" cy="7334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 + ( id +  id )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655763" y="1587500"/>
            <a:ext cx="1979613" cy="17637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文法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 → E + E </a:t>
            </a:r>
          </a:p>
          <a:p>
            <a:pPr marL="0" marR="0" lvl="0" indent="0" algn="just" defTabSz="914400" rtl="0" eaLnBrk="1" fontAlgn="base" latinLnBrk="0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 → E * E      </a:t>
            </a:r>
          </a:p>
          <a:p>
            <a:pPr marL="0" marR="0" lvl="0" indent="0" algn="just" defTabSz="914400" rtl="0" eaLnBrk="1" fontAlgn="base" latinLnBrk="0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E →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 </a:t>
            </a: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E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</a:p>
          <a:p>
            <a:pPr marL="0" marR="0" lvl="0" indent="0" algn="just" defTabSz="914400" rtl="0" eaLnBrk="1" fontAlgn="base" latinLnBrk="0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E →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id</a:t>
            </a:r>
          </a:p>
        </p:txBody>
      </p:sp>
      <p:sp>
        <p:nvSpPr>
          <p:cNvPr id="16" name="矩形 15"/>
          <p:cNvSpPr/>
          <p:nvPr/>
        </p:nvSpPr>
        <p:spPr>
          <a:xfrm>
            <a:off x="4284663" y="1487488"/>
            <a:ext cx="2366963" cy="2616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1905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推导过程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1905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0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rm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1905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20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rm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(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1905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0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rm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(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1905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0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rm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(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id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1905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20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rm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( id + id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1905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0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rm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( id + id )</a:t>
            </a:r>
          </a:p>
        </p:txBody>
      </p:sp>
      <p:sp>
        <p:nvSpPr>
          <p:cNvPr id="15" name="矩形 1"/>
          <p:cNvSpPr>
            <a:spLocks noChangeArrowheads="1"/>
          </p:cNvSpPr>
          <p:nvPr/>
        </p:nvSpPr>
        <p:spPr bwMode="auto">
          <a:xfrm>
            <a:off x="6724650" y="2287588"/>
            <a:ext cx="415925" cy="12001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最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左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归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约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auto">
          <a:xfrm>
            <a:off x="4211638" y="1957388"/>
            <a:ext cx="141288" cy="1860550"/>
          </a:xfrm>
          <a:prstGeom prst="downArrow">
            <a:avLst>
              <a:gd name="adj1" fmla="val 50000"/>
              <a:gd name="adj2" fmla="val 24046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 rot="10800000">
            <a:off x="6659563" y="1957388"/>
            <a:ext cx="141288" cy="1868488"/>
          </a:xfrm>
          <a:prstGeom prst="downArrow">
            <a:avLst>
              <a:gd name="adj1" fmla="val 50000"/>
              <a:gd name="adj2" fmla="val 239605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3833813" y="2287588"/>
            <a:ext cx="450850" cy="1200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最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右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推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/>
      <p:bldP spid="17" grpId="0" animBg="1"/>
      <p:bldP spid="18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714375" y="268288"/>
            <a:ext cx="8388350" cy="358775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最左推导和最右推导的唯一性</a:t>
            </a:r>
          </a:p>
        </p:txBody>
      </p:sp>
      <p:sp>
        <p:nvSpPr>
          <p:cNvPr id="6" name="矩形 5"/>
          <p:cNvSpPr/>
          <p:nvPr/>
        </p:nvSpPr>
        <p:spPr>
          <a:xfrm>
            <a:off x="6072188" y="755650"/>
            <a:ext cx="2414588" cy="203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1905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lm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1905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lm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</a:t>
            </a:r>
            <a:r>
              <a:rPr kumimoji="1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1905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lm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( </a:t>
            </a:r>
            <a:r>
              <a:rPr kumimoji="1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1905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lm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( </a:t>
            </a:r>
            <a:r>
              <a:rPr kumimoji="1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1905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lm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( id + </a:t>
            </a:r>
            <a:r>
              <a:rPr kumimoji="1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1905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lm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( id + id )</a:t>
            </a:r>
          </a:p>
        </p:txBody>
      </p:sp>
      <p:grpSp>
        <p:nvGrpSpPr>
          <p:cNvPr id="2" name="组合 3"/>
          <p:cNvGrpSpPr/>
          <p:nvPr/>
        </p:nvGrpSpPr>
        <p:grpSpPr>
          <a:xfrm>
            <a:off x="3286125" y="1643063"/>
            <a:ext cx="2720975" cy="2109787"/>
            <a:chOff x="3315223" y="3225232"/>
            <a:chExt cx="2720535" cy="2815873"/>
          </a:xfrm>
        </p:grpSpPr>
        <p:sp>
          <p:nvSpPr>
            <p:cNvPr id="3" name="矩形 2"/>
            <p:cNvSpPr/>
            <p:nvPr/>
          </p:nvSpPr>
          <p:spPr>
            <a:xfrm>
              <a:off x="4026308" y="3225232"/>
              <a:ext cx="503157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</a:t>
              </a:r>
              <a:endPara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 flipH="1">
              <a:off x="3567595" y="3608733"/>
              <a:ext cx="682515" cy="2500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4250110" y="3608733"/>
              <a:ext cx="0" cy="2775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4250110" y="3608733"/>
              <a:ext cx="747591" cy="2775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3315223" y="3907483"/>
              <a:ext cx="503157" cy="2860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</a:t>
              </a:r>
              <a:endPara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4005674" y="3899008"/>
              <a:ext cx="503156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+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746916" y="3928671"/>
              <a:ext cx="503157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</a:t>
              </a:r>
              <a:endPara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3585054" y="4216826"/>
              <a:ext cx="0" cy="2775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3337444" y="4507100"/>
              <a:ext cx="503157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id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 flipH="1">
              <a:off x="4316774" y="4223182"/>
              <a:ext cx="684101" cy="2500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5000875" y="4223182"/>
              <a:ext cx="0" cy="2775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5000875" y="4223182"/>
              <a:ext cx="746004" cy="2775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 30"/>
            <p:cNvSpPr/>
            <p:nvPr/>
          </p:nvSpPr>
          <p:spPr>
            <a:xfrm>
              <a:off x="4064402" y="4521932"/>
              <a:ext cx="503157" cy="2860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4785010" y="4513457"/>
              <a:ext cx="503157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</a:t>
              </a:r>
              <a:endPara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5496095" y="4543120"/>
              <a:ext cx="503157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接连接符 33"/>
            <p:cNvCxnSpPr/>
            <p:nvPr/>
          </p:nvCxnSpPr>
          <p:spPr>
            <a:xfrm flipH="1">
              <a:off x="4372327" y="4810088"/>
              <a:ext cx="684102" cy="2500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5056429" y="4810088"/>
              <a:ext cx="0" cy="2775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5056429" y="4810088"/>
              <a:ext cx="747591" cy="2775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4121543" y="5108837"/>
              <a:ext cx="503157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</a:t>
              </a:r>
              <a:endPara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4832628" y="5100362"/>
              <a:ext cx="503157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+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5529428" y="5151213"/>
              <a:ext cx="503156" cy="2902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</a:t>
              </a:r>
              <a:endPara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4367566" y="5441488"/>
              <a:ext cx="0" cy="2754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 40"/>
            <p:cNvSpPr/>
            <p:nvPr/>
          </p:nvSpPr>
          <p:spPr>
            <a:xfrm>
              <a:off x="4119956" y="5731761"/>
              <a:ext cx="503156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id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5761165" y="5475388"/>
              <a:ext cx="0" cy="2775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/>
            <p:cNvSpPr/>
            <p:nvPr/>
          </p:nvSpPr>
          <p:spPr>
            <a:xfrm>
              <a:off x="5532602" y="5752949"/>
              <a:ext cx="503156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id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矩形 43"/>
          <p:cNvSpPr/>
          <p:nvPr/>
        </p:nvSpPr>
        <p:spPr>
          <a:xfrm>
            <a:off x="6072188" y="2917825"/>
            <a:ext cx="2414588" cy="203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190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rm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rm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(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rm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(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rm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(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id 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rm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( id + id 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rm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( id + id )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auto">
          <a:xfrm>
            <a:off x="785813" y="714375"/>
            <a:ext cx="2389188" cy="21145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190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1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(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(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( id +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 + ( id +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( id + id )</a:t>
            </a:r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785813" y="2930525"/>
            <a:ext cx="2389188" cy="2019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190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1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 + 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 + (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endParaRPr kumimoji="1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id + (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(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id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 + ( id + id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4" grpId="0" animBg="1"/>
      <p:bldP spid="45" grpId="0" build="allAtOnce" animBg="1"/>
      <p:bldP spid="46" grpId="0" build="allAtOnc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373063" y="1368425"/>
            <a:ext cx="8231188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4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总是选择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每个句型的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最左非终结符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进行替换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4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根据输入流中的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下一个终结符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，选择最左非终结符的一个候选式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自顶向下的语法分析采用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最左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推导方式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9" name="Rectangle 39"/>
          <p:cNvSpPr>
            <a:spLocks noGrp="1"/>
          </p:cNvSpPr>
          <p:nvPr>
            <p:ph idx="1"/>
          </p:nvPr>
        </p:nvSpPr>
        <p:spPr>
          <a:xfrm>
            <a:off x="785813" y="785813"/>
            <a:ext cx="5976937" cy="32464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文法</a:t>
            </a:r>
            <a:endParaRPr lang="en-US" altLang="zh-CN" sz="2500" b="1" dirty="0">
              <a:solidFill>
                <a:schemeClr val="tx1"/>
              </a:solidFill>
              <a:latin typeface="楷体" panose="02010609060101010101" pitchFamily="49" charset="-122"/>
              <a:ea typeface="华文楷体" panose="02010600040101010101" pitchFamily="2" charset="-122"/>
            </a:endParaRPr>
          </a:p>
          <a:p>
            <a:pPr marL="303530" lvl="1" indent="0" eaLnBrk="1" hangingPunct="1">
              <a:buNone/>
            </a:pP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①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E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 →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T E’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        </a:t>
            </a:r>
          </a:p>
          <a:p>
            <a:pPr marL="303530" lvl="1" indent="0" eaLnBrk="1" hangingPunct="1">
              <a:buNone/>
            </a:pP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②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E’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→ </a:t>
            </a:r>
            <a:r>
              <a:rPr lang="en-US" altLang="zh-CN" sz="2500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</a:rPr>
              <a:t>+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T E’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｜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ε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  </a:t>
            </a:r>
          </a:p>
          <a:p>
            <a:pPr marL="303530" lvl="1" indent="0" eaLnBrk="1" hangingPunct="1">
              <a:buNone/>
            </a:pP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③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T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 →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F T’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        </a:t>
            </a:r>
          </a:p>
          <a:p>
            <a:pPr marL="303530" lvl="1" indent="0" eaLnBrk="1" hangingPunct="1">
              <a:buNone/>
            </a:pP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④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T’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→ </a:t>
            </a:r>
            <a:r>
              <a:rPr lang="en-US" altLang="zh-CN" sz="2500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</a:rPr>
              <a:t>*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F T’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｜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ε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  </a:t>
            </a:r>
          </a:p>
          <a:p>
            <a:pPr marL="303530" lvl="1" indent="0" eaLnBrk="1" hangingPunct="1">
              <a:buNone/>
            </a:pP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⑤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F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 → </a:t>
            </a:r>
            <a:r>
              <a:rPr lang="en-US" altLang="zh-CN" sz="2500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E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｜</a:t>
            </a:r>
            <a:r>
              <a:rPr lang="en-US" altLang="zh-CN" sz="2500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</a:rPr>
              <a:t>id</a:t>
            </a: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输入</a:t>
            </a:r>
          </a:p>
          <a:p>
            <a:pPr marL="303530" lvl="1" indent="0" eaLnBrk="1" hangingPunct="1">
              <a:buNone/>
            </a:pP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    id + id * id</a:t>
            </a:r>
            <a:b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</a:br>
            <a:endParaRPr lang="en-US" altLang="zh-CN" sz="2500" b="1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704514" name="Text Box 2"/>
          <p:cNvSpPr txBox="1"/>
          <p:nvPr/>
        </p:nvSpPr>
        <p:spPr>
          <a:xfrm>
            <a:off x="5143500" y="1027113"/>
            <a:ext cx="355600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04515" name="Text Box 3"/>
          <p:cNvSpPr txBox="1"/>
          <p:nvPr/>
        </p:nvSpPr>
        <p:spPr>
          <a:xfrm>
            <a:off x="4575175" y="1603375"/>
            <a:ext cx="341313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04516" name="Text Box 4"/>
          <p:cNvSpPr txBox="1"/>
          <p:nvPr/>
        </p:nvSpPr>
        <p:spPr>
          <a:xfrm>
            <a:off x="5745163" y="1603375"/>
            <a:ext cx="990600" cy="67786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’</a:t>
            </a:r>
            <a:endParaRPr lang="zh-CN" altLang="en-US" sz="2000" b="1" i="1" dirty="0">
              <a:latin typeface="Times New Roman" panose="02020603050405020304" pitchFamily="18" charset="0"/>
            </a:endParaRPr>
          </a:p>
          <a:p>
            <a:endParaRPr lang="zh-CN" altLang="en-US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704517" name="AutoShape 5"/>
          <p:cNvCxnSpPr/>
          <p:nvPr/>
        </p:nvCxnSpPr>
        <p:spPr>
          <a:xfrm flipV="1">
            <a:off x="4854575" y="1397000"/>
            <a:ext cx="503238" cy="2159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704518" name="AutoShape 6"/>
          <p:cNvCxnSpPr/>
          <p:nvPr/>
        </p:nvCxnSpPr>
        <p:spPr>
          <a:xfrm>
            <a:off x="5357813" y="1406525"/>
            <a:ext cx="511175" cy="246063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704519" name="Text Box 7"/>
          <p:cNvSpPr txBox="1"/>
          <p:nvPr/>
        </p:nvSpPr>
        <p:spPr>
          <a:xfrm>
            <a:off x="4249738" y="2189163"/>
            <a:ext cx="355600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04520" name="Text Box 8"/>
          <p:cNvSpPr txBox="1"/>
          <p:nvPr/>
        </p:nvSpPr>
        <p:spPr>
          <a:xfrm>
            <a:off x="4781550" y="2189163"/>
            <a:ext cx="647700" cy="4000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</a:rPr>
              <a:t>T’</a:t>
            </a:r>
            <a:endParaRPr lang="zh-CN" altLang="en-US" sz="2000" b="1" i="1" dirty="0">
              <a:latin typeface="Times New Roman" panose="02020603050405020304" pitchFamily="18" charset="0"/>
            </a:endParaRPr>
          </a:p>
        </p:txBody>
      </p:sp>
      <p:cxnSp>
        <p:nvCxnSpPr>
          <p:cNvPr id="704521" name="AutoShape 9"/>
          <p:cNvCxnSpPr/>
          <p:nvPr/>
        </p:nvCxnSpPr>
        <p:spPr>
          <a:xfrm rot="5400000">
            <a:off x="4486275" y="1936750"/>
            <a:ext cx="185738" cy="319088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704522" name="AutoShape 10"/>
          <p:cNvCxnSpPr/>
          <p:nvPr/>
        </p:nvCxnSpPr>
        <p:spPr>
          <a:xfrm rot="-5400000" flipH="1">
            <a:off x="4757738" y="1976438"/>
            <a:ext cx="225425" cy="277812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704523" name="Text Box 11"/>
          <p:cNvSpPr txBox="1"/>
          <p:nvPr/>
        </p:nvSpPr>
        <p:spPr>
          <a:xfrm>
            <a:off x="5816600" y="2228850"/>
            <a:ext cx="341313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i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4524" name="Text Box 12"/>
          <p:cNvSpPr txBox="1"/>
          <p:nvPr/>
        </p:nvSpPr>
        <p:spPr>
          <a:xfrm>
            <a:off x="5257800" y="2228850"/>
            <a:ext cx="442913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＋</a:t>
            </a:r>
            <a:endParaRPr lang="zh-CN" alt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04525" name="Text Box 13"/>
          <p:cNvSpPr txBox="1"/>
          <p:nvPr/>
        </p:nvSpPr>
        <p:spPr>
          <a:xfrm>
            <a:off x="6248400" y="2228850"/>
            <a:ext cx="441325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’</a:t>
            </a:r>
            <a:endParaRPr lang="zh-CN" altLang="en-US" sz="2000" b="1" i="1" dirty="0">
              <a:latin typeface="Times New Roman" panose="02020603050405020304" pitchFamily="18" charset="0"/>
            </a:endParaRPr>
          </a:p>
        </p:txBody>
      </p:sp>
      <p:cxnSp>
        <p:nvCxnSpPr>
          <p:cNvPr id="704526" name="AutoShape 14"/>
          <p:cNvCxnSpPr/>
          <p:nvPr/>
        </p:nvCxnSpPr>
        <p:spPr>
          <a:xfrm flipV="1">
            <a:off x="5529263" y="1941513"/>
            <a:ext cx="503237" cy="360362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704527" name="AutoShape 15"/>
          <p:cNvCxnSpPr/>
          <p:nvPr/>
        </p:nvCxnSpPr>
        <p:spPr>
          <a:xfrm>
            <a:off x="6032500" y="1941513"/>
            <a:ext cx="0" cy="360362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704528" name="AutoShape 16"/>
          <p:cNvCxnSpPr/>
          <p:nvPr/>
        </p:nvCxnSpPr>
        <p:spPr>
          <a:xfrm>
            <a:off x="6032500" y="1941513"/>
            <a:ext cx="431800" cy="360362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704529" name="Text Box 17"/>
          <p:cNvSpPr txBox="1"/>
          <p:nvPr/>
        </p:nvSpPr>
        <p:spPr>
          <a:xfrm>
            <a:off x="4214813" y="2836863"/>
            <a:ext cx="398462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id</a:t>
            </a:r>
          </a:p>
        </p:txBody>
      </p:sp>
      <p:cxnSp>
        <p:nvCxnSpPr>
          <p:cNvPr id="704530" name="AutoShape 18"/>
          <p:cNvCxnSpPr/>
          <p:nvPr/>
        </p:nvCxnSpPr>
        <p:spPr>
          <a:xfrm>
            <a:off x="4430713" y="2600325"/>
            <a:ext cx="0" cy="288925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704531" name="Text Box 19"/>
          <p:cNvSpPr txBox="1"/>
          <p:nvPr/>
        </p:nvSpPr>
        <p:spPr>
          <a:xfrm>
            <a:off x="4857750" y="2836863"/>
            <a:ext cx="290513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endParaRPr lang="en-US" altLang="zh-CN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704532" name="AutoShape 20"/>
          <p:cNvCxnSpPr/>
          <p:nvPr/>
        </p:nvCxnSpPr>
        <p:spPr>
          <a:xfrm>
            <a:off x="5024438" y="2600325"/>
            <a:ext cx="0" cy="288925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704533" name="Text Box 21"/>
          <p:cNvSpPr txBox="1"/>
          <p:nvPr/>
        </p:nvSpPr>
        <p:spPr>
          <a:xfrm>
            <a:off x="5500688" y="2846388"/>
            <a:ext cx="355600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04534" name="Text Box 22"/>
          <p:cNvSpPr txBox="1"/>
          <p:nvPr/>
        </p:nvSpPr>
        <p:spPr>
          <a:xfrm>
            <a:off x="6073775" y="2836863"/>
            <a:ext cx="427038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</a:rPr>
              <a:t>T’</a:t>
            </a:r>
            <a:endParaRPr lang="zh-CN" altLang="en-US" sz="2000" b="1" i="1" dirty="0">
              <a:latin typeface="Times New Roman" panose="02020603050405020304" pitchFamily="18" charset="0"/>
            </a:endParaRPr>
          </a:p>
        </p:txBody>
      </p:sp>
      <p:cxnSp>
        <p:nvCxnSpPr>
          <p:cNvPr id="704535" name="AutoShape 23"/>
          <p:cNvCxnSpPr/>
          <p:nvPr/>
        </p:nvCxnSpPr>
        <p:spPr>
          <a:xfrm rot="-10800000" flipV="1">
            <a:off x="5688013" y="2571750"/>
            <a:ext cx="309562" cy="274638"/>
          </a:xfrm>
          <a:prstGeom prst="straightConnector1">
            <a:avLst/>
          </a:prstGeom>
          <a:ln w="19431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704536" name="AutoShape 24"/>
          <p:cNvCxnSpPr/>
          <p:nvPr/>
        </p:nvCxnSpPr>
        <p:spPr>
          <a:xfrm rot="-5400000" flipH="1">
            <a:off x="5970588" y="2600325"/>
            <a:ext cx="306387" cy="24765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704537" name="Text Box 25"/>
          <p:cNvSpPr txBox="1"/>
          <p:nvPr/>
        </p:nvSpPr>
        <p:spPr>
          <a:xfrm>
            <a:off x="5173663" y="3417888"/>
            <a:ext cx="398462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id</a:t>
            </a:r>
          </a:p>
        </p:txBody>
      </p:sp>
      <p:cxnSp>
        <p:nvCxnSpPr>
          <p:cNvPr id="704538" name="AutoShape 26"/>
          <p:cNvCxnSpPr/>
          <p:nvPr/>
        </p:nvCxnSpPr>
        <p:spPr>
          <a:xfrm rot="5400000">
            <a:off x="5346700" y="3248025"/>
            <a:ext cx="223838" cy="201613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704539" name="Text Box 27"/>
          <p:cNvSpPr txBox="1"/>
          <p:nvPr/>
        </p:nvSpPr>
        <p:spPr>
          <a:xfrm>
            <a:off x="6569075" y="2805113"/>
            <a:ext cx="290513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endParaRPr lang="en-US" altLang="zh-CN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704540" name="AutoShape 28"/>
          <p:cNvCxnSpPr>
            <a:stCxn id="704525" idx="2"/>
          </p:cNvCxnSpPr>
          <p:nvPr/>
        </p:nvCxnSpPr>
        <p:spPr>
          <a:xfrm rot="-5400000" flipH="1">
            <a:off x="6461125" y="2635250"/>
            <a:ext cx="260350" cy="246063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704541" name="Text Box 29"/>
          <p:cNvSpPr txBox="1"/>
          <p:nvPr/>
        </p:nvSpPr>
        <p:spPr>
          <a:xfrm>
            <a:off x="6072188" y="3532188"/>
            <a:ext cx="609600" cy="4000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04542" name="Text Box 30"/>
          <p:cNvSpPr txBox="1"/>
          <p:nvPr/>
        </p:nvSpPr>
        <p:spPr>
          <a:xfrm>
            <a:off x="5643563" y="3532188"/>
            <a:ext cx="442912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＊</a:t>
            </a:r>
            <a:endParaRPr lang="en-US" altLang="zh-CN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04543" name="Text Box 31"/>
          <p:cNvSpPr txBox="1"/>
          <p:nvPr/>
        </p:nvSpPr>
        <p:spPr>
          <a:xfrm>
            <a:off x="6429375" y="3532188"/>
            <a:ext cx="427038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</a:rPr>
              <a:t>T’</a:t>
            </a:r>
            <a:endParaRPr lang="zh-CN" altLang="en-US" sz="2000" b="1" i="1" dirty="0">
              <a:latin typeface="Times New Roman" panose="02020603050405020304" pitchFamily="18" charset="0"/>
            </a:endParaRPr>
          </a:p>
        </p:txBody>
      </p:sp>
      <p:cxnSp>
        <p:nvCxnSpPr>
          <p:cNvPr id="704544" name="AutoShape 32"/>
          <p:cNvCxnSpPr/>
          <p:nvPr/>
        </p:nvCxnSpPr>
        <p:spPr>
          <a:xfrm flipV="1">
            <a:off x="5929313" y="3225800"/>
            <a:ext cx="323850" cy="350838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704545" name="AutoShape 33"/>
          <p:cNvCxnSpPr/>
          <p:nvPr/>
        </p:nvCxnSpPr>
        <p:spPr>
          <a:xfrm rot="5400000">
            <a:off x="6078538" y="3405188"/>
            <a:ext cx="357187" cy="15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704546" name="AutoShape 34"/>
          <p:cNvCxnSpPr/>
          <p:nvPr/>
        </p:nvCxnSpPr>
        <p:spPr>
          <a:xfrm rot="-5400000" flipH="1">
            <a:off x="6221413" y="3260725"/>
            <a:ext cx="357187" cy="28575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704547" name="Text Box 35"/>
          <p:cNvSpPr txBox="1"/>
          <p:nvPr/>
        </p:nvSpPr>
        <p:spPr>
          <a:xfrm>
            <a:off x="6103938" y="4103688"/>
            <a:ext cx="396875" cy="40005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id</a:t>
            </a:r>
          </a:p>
        </p:txBody>
      </p:sp>
      <p:cxnSp>
        <p:nvCxnSpPr>
          <p:cNvPr id="704548" name="AutoShape 36"/>
          <p:cNvCxnSpPr/>
          <p:nvPr/>
        </p:nvCxnSpPr>
        <p:spPr>
          <a:xfrm flipH="1">
            <a:off x="6286500" y="3889375"/>
            <a:ext cx="0" cy="2794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704549" name="Text Box 37"/>
          <p:cNvSpPr txBox="1"/>
          <p:nvPr/>
        </p:nvSpPr>
        <p:spPr>
          <a:xfrm>
            <a:off x="6786563" y="4103688"/>
            <a:ext cx="534987" cy="4000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endParaRPr lang="en-US" altLang="zh-CN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704550" name="AutoShape 38"/>
          <p:cNvCxnSpPr/>
          <p:nvPr/>
        </p:nvCxnSpPr>
        <p:spPr>
          <a:xfrm rot="-5400000" flipH="1">
            <a:off x="6678613" y="3924300"/>
            <a:ext cx="285750" cy="214313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704553" name="Line 41"/>
          <p:cNvSpPr>
            <a:spLocks noChangeShapeType="1"/>
          </p:cNvSpPr>
          <p:nvPr/>
        </p:nvSpPr>
        <p:spPr bwMode="auto">
          <a:xfrm flipV="1">
            <a:off x="1635125" y="4464050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54" name="Line 42"/>
          <p:cNvSpPr>
            <a:spLocks noChangeShapeType="1"/>
          </p:cNvSpPr>
          <p:nvPr/>
        </p:nvSpPr>
        <p:spPr bwMode="auto">
          <a:xfrm flipV="1">
            <a:off x="1922463" y="4464050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55" name="Line 43"/>
          <p:cNvSpPr>
            <a:spLocks noChangeShapeType="1"/>
          </p:cNvSpPr>
          <p:nvPr/>
        </p:nvSpPr>
        <p:spPr bwMode="auto">
          <a:xfrm flipV="1">
            <a:off x="2211388" y="4464050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56" name="Line 44"/>
          <p:cNvSpPr>
            <a:spLocks noChangeShapeType="1"/>
          </p:cNvSpPr>
          <p:nvPr/>
        </p:nvSpPr>
        <p:spPr bwMode="auto">
          <a:xfrm flipV="1">
            <a:off x="2500313" y="4464050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4557" name="Line 45"/>
          <p:cNvSpPr>
            <a:spLocks noChangeShapeType="1"/>
          </p:cNvSpPr>
          <p:nvPr/>
        </p:nvSpPr>
        <p:spPr bwMode="auto">
          <a:xfrm flipV="1">
            <a:off x="2786063" y="4464050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</a:t>
            </a:r>
          </a:p>
        </p:txBody>
      </p:sp>
      <p:grpSp>
        <p:nvGrpSpPr>
          <p:cNvPr id="22574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0" name="五边形 49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2577" name="五边形 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9" name="Line 45"/>
          <p:cNvSpPr>
            <a:spLocks noChangeShapeType="1"/>
          </p:cNvSpPr>
          <p:nvPr/>
        </p:nvSpPr>
        <p:spPr bwMode="auto">
          <a:xfrm flipV="1">
            <a:off x="3059113" y="4443413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6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6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6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6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04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4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04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04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04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04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04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04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0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04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04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0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04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04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0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04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04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0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04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04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0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04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04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0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04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04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0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04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04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0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04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04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0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04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04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0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04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04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0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04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04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0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04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04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0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04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04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0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04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04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0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04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04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0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04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704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0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500"/>
                            </p:stCondLst>
                            <p:childTnLst>
                              <p:par>
                                <p:cTn id="1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04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4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70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704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704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04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704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704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0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704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04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0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704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704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0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500"/>
                            </p:stCondLst>
                            <p:childTnLst>
                              <p:par>
                                <p:cTn id="1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704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04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70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704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704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704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704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704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0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704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704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0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704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704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704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704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704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704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1000"/>
                            </p:stCondLst>
                            <p:childTnLst>
                              <p:par>
                                <p:cTn id="2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704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704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70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1500"/>
                            </p:stCondLst>
                            <p:childTnLst>
                              <p:par>
                                <p:cTn id="2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704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704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704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704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704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704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2500"/>
                            </p:stCondLst>
                            <p:childTnLst>
                              <p:par>
                                <p:cTn id="2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704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704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70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704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704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70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704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704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70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500"/>
                            </p:stCondLst>
                            <p:childTnLst>
                              <p:par>
                                <p:cTn id="2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704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704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70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704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704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70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500"/>
                            </p:stCondLst>
                            <p:childTnLst>
                              <p:par>
                                <p:cTn id="2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704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704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70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704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704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704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500"/>
                            </p:stCondLst>
                            <p:childTnLst>
                              <p:par>
                                <p:cTn id="2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704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704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704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514" grpId="0"/>
      <p:bldP spid="704515" grpId="0"/>
      <p:bldP spid="704516" grpId="0"/>
      <p:bldP spid="704519" grpId="0"/>
      <p:bldP spid="704520" grpId="0"/>
      <p:bldP spid="704523" grpId="0"/>
      <p:bldP spid="704524" grpId="0"/>
      <p:bldP spid="704525" grpId="0"/>
      <p:bldP spid="704529" grpId="0"/>
      <p:bldP spid="704531" grpId="0"/>
      <p:bldP spid="704533" grpId="0"/>
      <p:bldP spid="704534" grpId="0"/>
      <p:bldP spid="704537" grpId="0"/>
      <p:bldP spid="704539" grpId="0"/>
      <p:bldP spid="704541" grpId="0"/>
      <p:bldP spid="704542" grpId="0"/>
      <p:bldP spid="704543" grpId="0"/>
      <p:bldP spid="704547" grpId="0"/>
      <p:bldP spid="7045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内容占位符 2"/>
          <p:cNvSpPr>
            <a:spLocks noGrp="1"/>
          </p:cNvSpPr>
          <p:nvPr>
            <p:ph idx="1"/>
          </p:nvPr>
        </p:nvSpPr>
        <p:spPr>
          <a:xfrm>
            <a:off x="0" y="842963"/>
            <a:ext cx="9144000" cy="1428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递归下降分析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Recursive-Descent Parsing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由一组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过程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组成，每个过程对应一个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非终结符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从文法开始符号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对应的过程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开始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，递归调用文法中其它非终结符对应的过程。如果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对应的过程体恰好扫描了整个输入串，则成功完成语法分析</a:t>
            </a:r>
          </a:p>
        </p:txBody>
      </p:sp>
      <p:sp>
        <p:nvSpPr>
          <p:cNvPr id="3482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自顶向下语法分析的通用形式</a:t>
            </a:r>
          </a:p>
        </p:txBody>
      </p:sp>
      <p:sp>
        <p:nvSpPr>
          <p:cNvPr id="6" name="内容占位符 1"/>
          <p:cNvSpPr txBox="1"/>
          <p:nvPr/>
        </p:nvSpPr>
        <p:spPr bwMode="auto">
          <a:xfrm>
            <a:off x="683568" y="2489372"/>
            <a:ext cx="4319588" cy="25320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>
            <a:lvl1pPr marL="2730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   void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 ) {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AutoNum type="arabicParenR"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选择一个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产生式，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A →X</a:t>
            </a:r>
            <a:r>
              <a:rPr kumimoji="0" lang="en-US" altLang="zh-CN" sz="16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X</a:t>
            </a:r>
            <a:r>
              <a:rPr kumimoji="0" lang="en-US" altLang="zh-CN" sz="16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… X</a:t>
            </a:r>
            <a:r>
              <a:rPr kumimoji="0" lang="en-US" altLang="zh-CN" sz="1600" b="1" i="1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；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AutoNum type="arabicParenR"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for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i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= 1 to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k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) {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AutoNum type="arabicParenR" startAt="3"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 if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0" lang="en-US" altLang="zh-CN" sz="1600" b="1" i="1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是一个非终结符号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AutoNum type="arabicParenR" startAt="3"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          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调用过程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0" lang="en-US" altLang="zh-CN" sz="16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 ) ; </a:t>
            </a:r>
            <a:endParaRPr kumimoji="0" lang="en-US" altLang="zh-CN" sz="1600" b="1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AutoNum type="arabicParenR" startAt="3"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 else  if (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0" lang="en-US" altLang="zh-CN" sz="1600" b="1" i="1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等于当前的输入符号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       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AutoNum type="arabicParenR" startAt="3"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           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读入下一个输入符号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;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AutoNum type="arabicParenR" startAt="3"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 else /*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发生了一个错误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*/ ;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  }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}</a:t>
            </a:r>
          </a:p>
        </p:txBody>
      </p:sp>
      <p:sp>
        <p:nvSpPr>
          <p:cNvPr id="19461" name="矩形 3"/>
          <p:cNvSpPr>
            <a:spLocks noChangeArrowheads="1"/>
          </p:cNvSpPr>
          <p:nvPr/>
        </p:nvSpPr>
        <p:spPr bwMode="auto">
          <a:xfrm>
            <a:off x="5214938" y="3357563"/>
            <a:ext cx="3111500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可能需要回溯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backtracking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，导致效率较低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46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433388" y="771843"/>
            <a:ext cx="8353425" cy="32464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预测分析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递归下降分析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技术的一个特例，通过在输入中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向前看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固定个数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（通常是一个）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符号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来选择正确的</a:t>
            </a:r>
            <a:r>
              <a:rPr kumimoji="0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-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产生式。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Times New Roman" panose="02020603050405020304" pitchFamily="18" charset="0"/>
              </a:rPr>
              <a:t>可以对某些文法构造出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Times New Roman" panose="02020603050405020304" pitchFamily="18" charset="0"/>
              </a:rPr>
              <a:t>向前看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Times New Roman" panose="02020603050405020304" pitchFamily="18" charset="0"/>
              </a:rPr>
              <a:t>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Times New Roman" panose="02020603050405020304" pitchFamily="18" charset="0"/>
              </a:rPr>
              <a:t>输入符号的预测分析器，该类文法有时也称为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Times New Roman" panose="02020603050405020304" pitchFamily="18" charset="0"/>
              </a:rPr>
              <a:t>文法类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Times New Roman" panose="02020603050405020304" pitchFamily="18" charset="0"/>
              </a:rPr>
              <a:t> (scanning input from Left to right, producing a Leftmost derivation)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预测分析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不需要回溯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，是一种确定的自顶向下分析方法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6627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6630" name="五边形 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预测分析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Predictive Parsing</a:t>
            </a: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zh-CN" altLang="en-US" sz="24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937"/>
            <a:ext cx="9144000" cy="5151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5143500" y="1774825"/>
            <a:ext cx="2379663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500" kern="1200" cap="none" spc="6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文法转换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5072063" y="1487488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第四章 语法分析</a:t>
            </a:r>
            <a:endParaRPr kumimoji="0" lang="zh-CN" altLang="en-US" sz="800" kern="1200" cap="none" spc="3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问题</a:t>
            </a:r>
            <a:r>
              <a:rPr lang="en-US" altLang="zh-CN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</a:p>
        </p:txBody>
      </p:sp>
      <p:sp>
        <p:nvSpPr>
          <p:cNvPr id="3" name="矩形 2"/>
          <p:cNvSpPr/>
          <p:nvPr/>
        </p:nvSpPr>
        <p:spPr>
          <a:xfrm>
            <a:off x="382588" y="785813"/>
            <a:ext cx="7046913" cy="21005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文法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 Bold Italic" panose="02020603050405020304" charset="0"/>
                <a:ea typeface="楷体_GB2312"/>
                <a:cs typeface="Times New Roman Bold Italic" panose="02020603050405020304" charset="0"/>
              </a:rPr>
              <a:t>E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|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* 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| 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 Bold Italic" panose="02020603050405020304" charset="0"/>
                <a:ea typeface="楷体_GB2312"/>
                <a:cs typeface="Times New Roman Bold Italic" panose="02020603050405020304" charset="0"/>
              </a:rPr>
              <a:t>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 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| id</a:t>
            </a: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输入语句</a:t>
            </a:r>
          </a:p>
          <a:p>
            <a:pPr marL="30353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id + id * id</a:t>
            </a:r>
          </a:p>
        </p:txBody>
      </p:sp>
      <p:sp>
        <p:nvSpPr>
          <p:cNvPr id="13" name="内容占位符 1"/>
          <p:cNvSpPr txBox="1"/>
          <p:nvPr/>
        </p:nvSpPr>
        <p:spPr bwMode="auto">
          <a:xfrm>
            <a:off x="3101975" y="428625"/>
            <a:ext cx="5327650" cy="898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58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98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4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 Italic" panose="020B0604020202020204" charset="0"/>
                <a:ea typeface="+mn-ea"/>
                <a:cs typeface="Arial Bold Italic" panose="020B0604020202020204" charset="0"/>
              </a:rPr>
              <a:t>L(G)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中某个句子存在两棵以上分析树，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二义性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文法改造，引入新的语法变量（问题</a:t>
            </a:r>
            <a:r>
              <a:rPr lang="en-US" altLang="zh-CN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）</a:t>
            </a:r>
            <a:endParaRPr lang="en-US" altLang="zh-CN" sz="3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2588" y="785813"/>
            <a:ext cx="7046913" cy="34302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文法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 Bold Italic" panose="02020603050405020304" charset="0"/>
                <a:ea typeface="楷体_GB2312"/>
                <a:cs typeface="Times New Roman Bold Italic" panose="02020603050405020304" charset="0"/>
              </a:rPr>
              <a:t>E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|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* 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| 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 Bold Italic" panose="02020603050405020304" charset="0"/>
                <a:ea typeface="楷体_GB2312"/>
                <a:cs typeface="Times New Roman Bold Italic" panose="02020603050405020304" charset="0"/>
              </a:rPr>
              <a:t>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 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| id</a:t>
            </a: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输入语句</a:t>
            </a:r>
          </a:p>
          <a:p>
            <a:pPr marL="30353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id + id * id</a:t>
            </a:r>
          </a:p>
          <a:p>
            <a:pPr marL="30353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→ </a:t>
            </a:r>
            <a:r>
              <a:rPr lang="en-US" altLang="zh-CN" sz="2400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E 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+ </a:t>
            </a:r>
            <a:r>
              <a:rPr lang="en-US" altLang="zh-CN" sz="2400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 Bold Italic" panose="02020603050405020304" charset="0"/>
                <a:ea typeface="楷体_GB2312"/>
                <a:cs typeface="Times New Roman Bold Italic" panose="02020603050405020304" charset="0"/>
                <a:sym typeface="+mn-ea"/>
              </a:rPr>
              <a:t>T</a:t>
            </a:r>
            <a:r>
              <a:rPr lang="en-US" altLang="zh-CN" sz="2400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 | T</a:t>
            </a:r>
          </a:p>
          <a:p>
            <a:pPr marL="30353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lang="en-US" altLang="zh-CN" sz="2400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   T 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→  </a:t>
            </a:r>
            <a:r>
              <a:rPr lang="en-US" altLang="zh-CN" sz="2400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 Bold Italic" panose="02020603050405020304" charset="0"/>
                <a:ea typeface="楷体_GB2312"/>
                <a:cs typeface="Times New Roman Bold Italic" panose="02020603050405020304" charset="0"/>
                <a:sym typeface="+mn-ea"/>
              </a:rPr>
              <a:t>T</a:t>
            </a:r>
            <a:r>
              <a:rPr lang="en-US" altLang="zh-CN" sz="2400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 * F | F</a:t>
            </a:r>
          </a:p>
          <a:p>
            <a:pPr marL="30353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F 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→  (</a:t>
            </a:r>
            <a:r>
              <a:rPr lang="en-US" altLang="zh-CN" sz="2400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 Bold Italic" panose="02020603050405020304" charset="0"/>
                <a:ea typeface="楷体_GB2312"/>
                <a:cs typeface="Times New Roman Bold Italic" panose="02020603050405020304" charset="0"/>
                <a:sym typeface="+mn-ea"/>
              </a:rPr>
              <a:t>E</a:t>
            </a:r>
            <a:r>
              <a:rPr lang="en-US" altLang="zh-CN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)</a:t>
            </a:r>
            <a:r>
              <a:rPr lang="en-US" altLang="zh-CN" sz="2400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 | </a:t>
            </a: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id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问题</a:t>
            </a:r>
            <a:r>
              <a:rPr lang="en-US" altLang="zh-CN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</a:t>
            </a:r>
          </a:p>
        </p:txBody>
      </p:sp>
      <p:sp>
        <p:nvSpPr>
          <p:cNvPr id="3" name="矩形 2"/>
          <p:cNvSpPr/>
          <p:nvPr/>
        </p:nvSpPr>
        <p:spPr>
          <a:xfrm>
            <a:off x="615950" y="996950"/>
            <a:ext cx="7046913" cy="35798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文法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</a:p>
          <a:p>
            <a:pPr marL="30353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→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aAd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aBe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0353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</a:p>
          <a:p>
            <a:pPr marL="30353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</a:p>
          <a:p>
            <a:pPr marL="30353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b c</a:t>
            </a:r>
          </a:p>
        </p:txBody>
      </p:sp>
      <p:sp>
        <p:nvSpPr>
          <p:cNvPr id="13" name="内容占位符 1"/>
          <p:cNvSpPr txBox="1"/>
          <p:nvPr/>
        </p:nvSpPr>
        <p:spPr bwMode="auto">
          <a:xfrm>
            <a:off x="3071813" y="958850"/>
            <a:ext cx="5327650" cy="898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58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98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4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同一非终结符的多个候选式存在共同前缀，将导致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回溯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现象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Line 45"/>
          <p:cNvSpPr>
            <a:spLocks noChangeShapeType="1"/>
          </p:cNvSpPr>
          <p:nvPr/>
        </p:nvSpPr>
        <p:spPr bwMode="auto">
          <a:xfrm flipV="1">
            <a:off x="1476375" y="4516438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5" name="Rectangle 3"/>
          <p:cNvSpPr>
            <a:spLocks noGrp="1" noChangeArrowheads="1"/>
          </p:cNvSpPr>
          <p:nvPr>
            <p:ph idx="1"/>
          </p:nvPr>
        </p:nvSpPr>
        <p:spPr>
          <a:xfrm>
            <a:off x="787400" y="846138"/>
            <a:ext cx="5927725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文法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</a:p>
          <a:p>
            <a:pPr marL="85598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pt-B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0" lang="pt-BR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pt-B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aAd </a:t>
            </a:r>
            <a:r>
              <a:rPr kumimoji="0" lang="pt-BR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 </a:t>
            </a:r>
            <a:r>
              <a:rPr kumimoji="0" lang="pt-B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aBe</a:t>
            </a:r>
          </a:p>
          <a:p>
            <a:pPr marL="85598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pt-B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0" lang="pt-BR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pt-B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</a:p>
          <a:p>
            <a:pPr marL="85598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pt-B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kumimoji="0" lang="pt-BR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→ </a:t>
            </a:r>
            <a:r>
              <a:rPr kumimoji="0" lang="pt-B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文法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'</a:t>
            </a:r>
          </a:p>
          <a:p>
            <a:pPr marL="85598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 → a S'</a:t>
            </a:r>
          </a:p>
          <a:p>
            <a:pPr marL="85598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S' → Ad | Be</a:t>
            </a:r>
          </a:p>
          <a:p>
            <a:pPr marL="85598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→ c</a:t>
            </a:r>
          </a:p>
          <a:p>
            <a:pPr marL="85598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→ b</a:t>
            </a:r>
          </a:p>
          <a:p>
            <a:pPr marL="85598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zh-CN" sz="25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提取左公因子</a:t>
            </a:r>
            <a:r>
              <a:rPr kumimoji="0" lang="en-US" altLang="zh-CN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Left Factoring </a:t>
            </a:r>
            <a:r>
              <a:rPr kumimoji="0" lang="en-US" altLang="zh-CN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（问题</a:t>
            </a:r>
            <a:r>
              <a:rPr lang="en-US" altLang="zh-CN" sz="2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1619250" y="2500313"/>
            <a:ext cx="1081088" cy="431800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87675" y="2211705"/>
            <a:ext cx="4816475" cy="12452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通过改写产生式来</a:t>
            </a:r>
            <a:r>
              <a:rPr kumimoji="0" lang="zh-CN" altLang="en-US" sz="25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推迟决定</a:t>
            </a:r>
            <a:r>
              <a:rPr kumimoji="0" lang="zh-CN" altLang="en-US" sz="25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，等读入了足够多的输入，获得足够信息后再做出正确的选择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89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89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9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8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8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8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8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8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89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89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9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内容占位符 2"/>
          <p:cNvSpPr>
            <a:spLocks noGrp="1"/>
          </p:cNvSpPr>
          <p:nvPr>
            <p:ph idx="1"/>
          </p:nvPr>
        </p:nvSpPr>
        <p:spPr>
          <a:xfrm>
            <a:off x="142875" y="785813"/>
            <a:ext cx="8858250" cy="12096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2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输入：文法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G</a:t>
            </a:r>
            <a:endParaRPr lang="en-US" altLang="zh-CN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lnSpc>
                <a:spcPts val="2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输出：等价的提取了左公因子的文法</a:t>
            </a:r>
            <a:endParaRPr lang="en-US" altLang="zh-CN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lnSpc>
                <a:spcPts val="2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方法：</a:t>
            </a:r>
            <a:endParaRPr lang="en-US" altLang="zh-CN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lnSpc>
                <a:spcPts val="25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	</a:t>
            </a:r>
          </a:p>
        </p:txBody>
      </p:sp>
      <p:sp>
        <p:nvSpPr>
          <p:cNvPr id="5325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提取左公因子算法</a:t>
            </a:r>
          </a:p>
        </p:txBody>
      </p:sp>
      <p:sp>
        <p:nvSpPr>
          <p:cNvPr id="2" name="矩形 1"/>
          <p:cNvSpPr/>
          <p:nvPr/>
        </p:nvSpPr>
        <p:spPr>
          <a:xfrm>
            <a:off x="504825" y="1924050"/>
            <a:ext cx="8459788" cy="3160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对于每个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非终结符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，找出它的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两个或多个选项之间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最长公共前缀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α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α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≠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ε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即存在一个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非平凡的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nontrivial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公共前缀，那么将所有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-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产生式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ctr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α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β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α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β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… |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α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β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|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γ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γ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… |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γ</a:t>
            </a:r>
            <a:r>
              <a:rPr kumimoji="0" lang="en-US" altLang="zh-CN" sz="18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替换为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ctr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α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A'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|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γ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γ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… |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γ</a:t>
            </a:r>
            <a:r>
              <a:rPr kumimoji="0" lang="en-US" altLang="zh-CN" sz="18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273050" marR="0" lvl="0" indent="-273050" algn="ctr" defTabSz="914400" rtl="0" eaLnBrk="1" fontAlgn="base" latinLnBrk="0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A'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β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β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… |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β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其中，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γ</a:t>
            </a:r>
            <a:r>
              <a:rPr kumimoji="0" lang="en-US" altLang="zh-CN" sz="18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表示所有不以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α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开头的产生式体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；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A‘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是一个新的非终结符。不断应用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该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转换，直到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每个非终结符的任意两个产生式体都没有公共前缀为止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问题</a:t>
            </a:r>
            <a:r>
              <a:rPr lang="en-US" altLang="zh-CN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</a:t>
            </a:r>
          </a:p>
        </p:txBody>
      </p:sp>
      <p:sp>
        <p:nvSpPr>
          <p:cNvPr id="3" name="矩形 2"/>
          <p:cNvSpPr/>
          <p:nvPr/>
        </p:nvSpPr>
        <p:spPr>
          <a:xfrm>
            <a:off x="382588" y="785813"/>
            <a:ext cx="7046913" cy="29146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文法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|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–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|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→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*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|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/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|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→ (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) | id</a:t>
            </a: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</a:p>
          <a:p>
            <a:pPr marL="30353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id + id * id</a:t>
            </a:r>
          </a:p>
        </p:txBody>
      </p:sp>
      <p:sp>
        <p:nvSpPr>
          <p:cNvPr id="13" name="内容占位符 1"/>
          <p:cNvSpPr txBox="1"/>
          <p:nvPr/>
        </p:nvSpPr>
        <p:spPr bwMode="auto">
          <a:xfrm>
            <a:off x="3101975" y="428625"/>
            <a:ext cx="5327650" cy="898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58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98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4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左递归文法会使递归下降分析器陷入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无限循环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Line 45"/>
          <p:cNvSpPr>
            <a:spLocks noChangeShapeType="1"/>
          </p:cNvSpPr>
          <p:nvPr/>
        </p:nvSpPr>
        <p:spPr bwMode="auto">
          <a:xfrm flipV="1">
            <a:off x="1214438" y="3643313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4146550" y="1357313"/>
            <a:ext cx="2043113" cy="3714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90500" lvl="1" indent="0">
              <a:spcBef>
                <a:spcPct val="20000"/>
              </a:spcBef>
              <a:buClr>
                <a:srgbClr val="3333CC"/>
              </a:buClr>
              <a:buSzPct val="75000"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6100" y="2084388"/>
            <a:ext cx="27368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90500" lvl="1" indent="0">
              <a:spcBef>
                <a:spcPct val="20000"/>
              </a:spcBef>
              <a:buClr>
                <a:srgbClr val="3333CC"/>
              </a:buClr>
              <a:buSzPct val="75000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71975" y="1716088"/>
            <a:ext cx="1995488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190500" lvl="1" indent="0">
              <a:spcBef>
                <a:spcPct val="20000"/>
              </a:spcBef>
              <a:buClr>
                <a:srgbClr val="3333CC"/>
              </a:buClr>
              <a:buSzPct val="75000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46600" y="2406650"/>
            <a:ext cx="8731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…</a:t>
            </a:r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643188" y="3532188"/>
            <a:ext cx="6189663" cy="7381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如果一个文法中有一个非终结符</a:t>
            </a:r>
            <a:r>
              <a:rPr kumimoji="0" lang="en-US" altLang="zh-CN" sz="21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使得对某个串</a:t>
            </a:r>
            <a:r>
              <a:rPr kumimoji="0" lang="en-US" altLang="zh-CN" sz="21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存在一个推导</a:t>
            </a:r>
            <a:r>
              <a:rPr kumimoji="1" lang="en-US" altLang="zh-CN" sz="21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1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</a:t>
            </a:r>
            <a:r>
              <a:rPr kumimoji="1" lang="en-US" altLang="zh-CN" sz="21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Aα 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100" b="1" noProof="0" dirty="0">
                <a:latin typeface="+mn-ea"/>
                <a:ea typeface="+mn-ea"/>
                <a:cs typeface="Times New Roman" panose="02020603050405020304" pitchFamily="18" charset="0"/>
              </a:rPr>
              <a:t>则</a:t>
            </a:r>
            <a:r>
              <a:rPr lang="zh-CN" altLang="en-US" sz="2100" b="1" dirty="0">
                <a:latin typeface="+mn-ea"/>
                <a:ea typeface="+mn-ea"/>
                <a:cs typeface="Times New Roman" panose="02020603050405020304" pitchFamily="18" charset="0"/>
              </a:rPr>
              <a:t>该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文法就是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左递归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</a:p>
        </p:txBody>
      </p:sp>
      <p:sp>
        <p:nvSpPr>
          <p:cNvPr id="11" name="矩形 10"/>
          <p:cNvSpPr/>
          <p:nvPr/>
        </p:nvSpPr>
        <p:spPr>
          <a:xfrm>
            <a:off x="2643188" y="2857500"/>
            <a:ext cx="6189663" cy="692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含有</a:t>
            </a:r>
            <a:r>
              <a:rPr kumimoji="0" lang="en-US" altLang="zh-CN" sz="2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0" lang="en-US" altLang="zh-CN" sz="2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Aα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形式产生式的文法称为是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直接左递归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immediate left recursive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矩形 11"/>
          <p:cNvSpPr/>
          <p:nvPr/>
        </p:nvSpPr>
        <p:spPr>
          <a:xfrm>
            <a:off x="2643188" y="4270375"/>
            <a:ext cx="6189663" cy="7381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经过两步或两步以上推导产生的左递归称为是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间接左递归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endParaRPr kumimoji="0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/>
      <p:bldP spid="8" grpId="0"/>
      <p:bldP spid="9" grpId="0"/>
      <p:bldP spid="10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80975" y="500063"/>
            <a:ext cx="5927725" cy="26431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   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→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Aα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|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β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(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α</a:t>
            </a:r>
            <a:r>
              <a:rPr kumimoji="1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≠ ε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β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不以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开头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   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→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β A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′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  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′ →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α 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′｜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ε</a:t>
            </a:r>
            <a:endParaRPr kumimoji="1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6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下箭头 4"/>
          <p:cNvSpPr/>
          <p:nvPr/>
        </p:nvSpPr>
        <p:spPr>
          <a:xfrm>
            <a:off x="1441450" y="1390650"/>
            <a:ext cx="503238" cy="323850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844800" y="1577975"/>
            <a:ext cx="3370263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事实上，这种消除过程就是把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左递归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转换成了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右递归</a:t>
            </a:r>
          </a:p>
        </p:txBody>
      </p:sp>
      <p:sp>
        <p:nvSpPr>
          <p:cNvPr id="7" name="Rectangle 5"/>
          <p:cNvSpPr/>
          <p:nvPr/>
        </p:nvSpPr>
        <p:spPr>
          <a:xfrm>
            <a:off x="962025" y="2787650"/>
            <a:ext cx="2819400" cy="16954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342900" indent="-342900" eaLnBrk="1" hangingPunct="1">
              <a:lnSpc>
                <a:spcPts val="5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E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→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E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T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｜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T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  <a:p>
            <a:pPr marL="342900" indent="-342900" eaLnBrk="1" hangingPunct="1">
              <a:lnSpc>
                <a:spcPts val="5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T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→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T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*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F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｜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F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  <a:p>
            <a:pPr marL="342900" indent="-342900" eaLnBrk="1" hangingPunct="1">
              <a:lnSpc>
                <a:spcPts val="5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F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→ (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E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)｜id</a:t>
            </a:r>
          </a:p>
        </p:txBody>
      </p:sp>
      <p:sp>
        <p:nvSpPr>
          <p:cNvPr id="8" name="Rectangle 6"/>
          <p:cNvSpPr/>
          <p:nvPr/>
        </p:nvSpPr>
        <p:spPr>
          <a:xfrm>
            <a:off x="3851275" y="3076575"/>
            <a:ext cx="2633663" cy="17367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342900" indent="-342900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′</a:t>
            </a:r>
            <a:endParaRPr lang="en-US" altLang="zh-C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′ </a:t>
            </a:r>
            <a:r>
              <a:rPr lang="en-US" altLang="zh-CN" sz="2500" b="1" dirty="0">
                <a:latin typeface="Times New Roman" panose="02020603050405020304" pitchFamily="18" charset="0"/>
              </a:rPr>
              <a:t>→ + </a:t>
            </a:r>
            <a:r>
              <a:rPr lang="en-US" altLang="zh-CN" sz="2500" b="1" i="1" dirty="0">
                <a:latin typeface="Times New Roman" panose="02020603050405020304" pitchFamily="18" charset="0"/>
              </a:rPr>
              <a:t>T E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′ </a:t>
            </a:r>
            <a:r>
              <a:rPr lang="en-US" altLang="zh-CN" sz="2500" b="1" dirty="0">
                <a:latin typeface="Times New Roman" panose="02020603050405020304" pitchFamily="18" charset="0"/>
              </a:rPr>
              <a:t>|ε</a:t>
            </a:r>
          </a:p>
          <a:p>
            <a:pPr marL="342900" indent="-342900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500" b="1" dirty="0">
                <a:latin typeface="Times New Roman" panose="02020603050405020304" pitchFamily="18" charset="0"/>
              </a:rPr>
              <a:t>→ </a:t>
            </a:r>
            <a:r>
              <a:rPr lang="en-US" altLang="zh-CN" sz="2500" b="1" i="1" dirty="0">
                <a:latin typeface="Times New Roman" panose="02020603050405020304" pitchFamily="18" charset="0"/>
              </a:rPr>
              <a:t>F T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′</a:t>
            </a:r>
            <a:endParaRPr lang="en-US" altLang="zh-CN" sz="2500" b="1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′</a:t>
            </a:r>
            <a:r>
              <a:rPr lang="en-US" altLang="zh-CN" sz="2500" b="1" dirty="0">
                <a:latin typeface="Times New Roman" panose="02020603050405020304" pitchFamily="18" charset="0"/>
              </a:rPr>
              <a:t>→* </a:t>
            </a:r>
            <a:r>
              <a:rPr lang="en-US" altLang="zh-CN" sz="2500" b="1" i="1" dirty="0">
                <a:latin typeface="Times New Roman" panose="02020603050405020304" pitchFamily="18" charset="0"/>
              </a:rPr>
              <a:t>F T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′ </a:t>
            </a:r>
            <a:r>
              <a:rPr lang="en-US" altLang="zh-CN" sz="2500" b="1" dirty="0">
                <a:latin typeface="Times New Roman" panose="02020603050405020304" pitchFamily="18" charset="0"/>
              </a:rPr>
              <a:t>｜ε</a:t>
            </a:r>
          </a:p>
          <a:p>
            <a:pPr marL="342900" indent="-342900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500" b="1" dirty="0">
                <a:latin typeface="Times New Roman" panose="02020603050405020304" pitchFamily="18" charset="0"/>
              </a:rPr>
              <a:t>→ ( </a:t>
            </a:r>
            <a:r>
              <a:rPr lang="en-US" altLang="zh-CN" sz="25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500" b="1" dirty="0">
                <a:latin typeface="Times New Roman" panose="02020603050405020304" pitchFamily="18" charset="0"/>
              </a:rPr>
              <a:t> )｜id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203575" y="3570288"/>
            <a:ext cx="642938" cy="782638"/>
          </a:xfrm>
          <a:prstGeom prst="rightArrow">
            <a:avLst>
              <a:gd name="adj1" fmla="val 50000"/>
              <a:gd name="adj2" fmla="val 46205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2176463" y="3417888"/>
            <a:ext cx="1143000" cy="306387"/>
            <a:chOff x="2275887" y="4784510"/>
            <a:chExt cx="1143984" cy="406662"/>
          </a:xfrm>
        </p:grpSpPr>
        <p:sp>
          <p:nvSpPr>
            <p:cNvPr id="36881" name="AutoShape 8"/>
            <p:cNvSpPr/>
            <p:nvPr/>
          </p:nvSpPr>
          <p:spPr>
            <a:xfrm rot="5400000">
              <a:off x="2338693" y="4721703"/>
              <a:ext cx="160383" cy="285996"/>
            </a:xfrm>
            <a:prstGeom prst="rightBrace">
              <a:avLst>
                <a:gd name="adj1" fmla="val 25187"/>
                <a:gd name="adj2" fmla="val 50000"/>
              </a:avLst>
            </a:prstGeom>
            <a:noFill/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lstStyle/>
            <a:p>
              <a:pPr eaLnBrk="1" hangingPunct="1"/>
              <a:endParaRPr lang="zh-CN" altLang="en-US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882" name="AutoShape 9"/>
            <p:cNvSpPr/>
            <p:nvPr/>
          </p:nvSpPr>
          <p:spPr>
            <a:xfrm rot="5400000">
              <a:off x="2987934" y="4800912"/>
              <a:ext cx="143504" cy="144462"/>
            </a:xfrm>
            <a:prstGeom prst="rightBrace">
              <a:avLst>
                <a:gd name="adj1" fmla="val 8426"/>
                <a:gd name="adj2" fmla="val 50000"/>
              </a:avLst>
            </a:prstGeom>
            <a:noFill/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lstStyle/>
            <a:p>
              <a:pPr eaLnBrk="1" hangingPunct="1"/>
              <a:endParaRPr lang="zh-CN" altLang="en-US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883" name="Rectangle 12"/>
            <p:cNvSpPr/>
            <p:nvPr/>
          </p:nvSpPr>
          <p:spPr>
            <a:xfrm>
              <a:off x="2290196" y="4974321"/>
              <a:ext cx="1129675" cy="2168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</a:rPr>
                <a:t>α       β</a:t>
              </a:r>
            </a:p>
          </p:txBody>
        </p:sp>
      </p:grpSp>
      <p:grpSp>
        <p:nvGrpSpPr>
          <p:cNvPr id="4" name="组合 13"/>
          <p:cNvGrpSpPr/>
          <p:nvPr/>
        </p:nvGrpSpPr>
        <p:grpSpPr>
          <a:xfrm>
            <a:off x="2100263" y="4149725"/>
            <a:ext cx="1147762" cy="323850"/>
            <a:chOff x="2695948" y="5718975"/>
            <a:chExt cx="1147818" cy="432589"/>
          </a:xfrm>
        </p:grpSpPr>
        <p:sp>
          <p:nvSpPr>
            <p:cNvPr id="36878" name="AutoShape 15"/>
            <p:cNvSpPr/>
            <p:nvPr/>
          </p:nvSpPr>
          <p:spPr>
            <a:xfrm rot="5400000">
              <a:off x="2807455" y="5613016"/>
              <a:ext cx="90158" cy="303664"/>
            </a:xfrm>
            <a:prstGeom prst="rightBrace">
              <a:avLst>
                <a:gd name="adj1" fmla="val 25183"/>
                <a:gd name="adj2" fmla="val 50000"/>
              </a:avLst>
            </a:prstGeom>
            <a:noFill/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lstStyle/>
            <a:p>
              <a:pPr eaLnBrk="1" hangingPunct="1"/>
              <a:endParaRPr lang="zh-CN" altLang="en-US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879" name="AutoShape 16"/>
            <p:cNvSpPr/>
            <p:nvPr/>
          </p:nvSpPr>
          <p:spPr>
            <a:xfrm rot="5400000">
              <a:off x="3512621" y="5691326"/>
              <a:ext cx="89165" cy="144462"/>
            </a:xfrm>
            <a:prstGeom prst="rightBrace">
              <a:avLst>
                <a:gd name="adj1" fmla="val 8423"/>
                <a:gd name="adj2" fmla="val 50000"/>
              </a:avLst>
            </a:prstGeom>
            <a:noFill/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lstStyle/>
            <a:p>
              <a:pPr eaLnBrk="1" hangingPunct="1"/>
              <a:endParaRPr lang="zh-CN" altLang="en-US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880" name="Rectangle 17"/>
            <p:cNvSpPr/>
            <p:nvPr/>
          </p:nvSpPr>
          <p:spPr>
            <a:xfrm>
              <a:off x="2695948" y="5864227"/>
              <a:ext cx="1147818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</a:rPr>
                <a:t>α         β</a:t>
              </a:r>
            </a:p>
          </p:txBody>
        </p:sp>
      </p:grpSp>
      <p:sp>
        <p:nvSpPr>
          <p:cNvPr id="2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消除直接左递归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（问题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67425" y="622300"/>
            <a:ext cx="1758950" cy="2043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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α</a:t>
            </a:r>
            <a:endParaRPr lang="en-US" altLang="zh-CN" sz="2400" b="1" i="1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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αα</a:t>
            </a:r>
            <a:endParaRPr lang="en-US" altLang="zh-CN" sz="2400" b="1" i="1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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ααα</a:t>
            </a:r>
            <a:endParaRPr lang="en-US" altLang="zh-CN" sz="2400" b="1" i="1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…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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α </a:t>
            </a: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α</a:t>
            </a:r>
            <a:endParaRPr lang="en-US" altLang="zh-CN" sz="2400" b="1" i="1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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β α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α</a:t>
            </a:r>
            <a:endParaRPr lang="en-US" altLang="zh-CN" sz="2400" b="1" i="1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061075" y="2859088"/>
            <a:ext cx="1966913" cy="2000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′ 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αA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′ </a:t>
            </a:r>
            <a:endParaRPr lang="en-US" altLang="zh-CN" sz="2400" b="1" i="1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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ααA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′</a:t>
            </a:r>
            <a:endParaRPr lang="en-US" altLang="zh-CN" sz="2400" b="1" i="1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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αααA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′</a:t>
            </a:r>
            <a:endParaRPr lang="en-US" altLang="zh-CN" sz="2400" b="1" i="1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…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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α </a:t>
            </a: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αA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′</a:t>
            </a:r>
            <a:endParaRPr lang="en-US" altLang="zh-CN" sz="2400" b="1" i="1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  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α </a:t>
            </a: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α</a:t>
            </a:r>
            <a:endParaRPr lang="en-US" altLang="zh-CN" sz="2400" b="1" i="1" dirty="0"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99075" y="981075"/>
            <a:ext cx="908050" cy="4619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r=βα</a:t>
            </a:r>
            <a:r>
              <a:rPr kumimoji="1" lang="zh-CN" altLang="en-US" sz="2400" b="1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endParaRPr kumimoji="0" lang="zh-CN" altLang="en-US" sz="1800" b="0" i="0" u="none" strike="noStrike" kern="1200" cap="none" spc="0" normalizeH="0" baseline="30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build="p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58900" y="917575"/>
            <a:ext cx="5927725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→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α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α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 … 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α</a:t>
            </a:r>
            <a:r>
              <a:rPr kumimoji="0" lang="en-US" altLang="zh-CN" sz="25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 … 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</a:t>
            </a:r>
            <a:endParaRPr kumimoji="0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α</a:t>
            </a:r>
            <a:r>
              <a:rPr kumimoji="0" lang="en-US" altLang="zh-CN" sz="25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≠ ε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不以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开头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  <a:p>
            <a:pPr marL="0" marR="0" lvl="0" indent="0" algn="ctr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 … 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′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α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α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 … 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α</a:t>
            </a:r>
            <a:r>
              <a:rPr kumimoji="0" lang="en-US" altLang="zh-CN" sz="25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ε</a:t>
            </a:r>
          </a:p>
          <a:p>
            <a:pPr marL="855980" marR="0" lvl="2" indent="-2286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消除直接左递归的一般形式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357188" y="4125913"/>
            <a:ext cx="8429625" cy="4451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消除左递归是要付出代价的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——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引进了一些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非终结符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产生式</a:t>
            </a:r>
          </a:p>
        </p:txBody>
      </p:sp>
      <p:sp>
        <p:nvSpPr>
          <p:cNvPr id="19" name="下箭头 18"/>
          <p:cNvSpPr/>
          <p:nvPr/>
        </p:nvSpPr>
        <p:spPr>
          <a:xfrm>
            <a:off x="3811588" y="2139950"/>
            <a:ext cx="974725" cy="646113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消除间接左递归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913" y="1362075"/>
            <a:ext cx="5927725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例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    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A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d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</a:p>
          <a:p>
            <a:pPr marL="576580" marR="0" lvl="1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将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的定义代入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-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产生式，得：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1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 d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 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消除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-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产生式的直接左递归，得：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1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 d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A’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A’</a:t>
            </a:r>
          </a:p>
          <a:p>
            <a:pPr marL="0" marR="0" lvl="1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A’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→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d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A’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</a:p>
          <a:p>
            <a:pPr marL="30353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156008" y="1362075"/>
            <a:ext cx="1276350" cy="679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Aa</a:t>
            </a:r>
            <a:endParaRPr kumimoji="1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Sda</a:t>
            </a:r>
            <a:endParaRPr kumimoji="1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内容占位符 2"/>
          <p:cNvSpPr>
            <a:spLocks noGrp="1"/>
          </p:cNvSpPr>
          <p:nvPr>
            <p:ph idx="1"/>
          </p:nvPr>
        </p:nvSpPr>
        <p:spPr>
          <a:xfrm>
            <a:off x="430213" y="930275"/>
            <a:ext cx="7886700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输入：不含循环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推导（即形如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的推导）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产生式的文法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输出：等价的无左递归文法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方法：</a:t>
            </a:r>
          </a:p>
        </p:txBody>
      </p:sp>
      <p:sp>
        <p:nvSpPr>
          <p:cNvPr id="4915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消除左递归算法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05" name="内容占位符 1"/>
              <p:cNvSpPr txBox="1"/>
              <p:nvPr/>
            </p:nvSpPr>
            <p:spPr bwMode="auto">
              <a:xfrm>
                <a:off x="142875" y="2066925"/>
                <a:ext cx="8786813" cy="29337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/>
              <a:lstStyle>
                <a:lvl1pPr marL="273050" indent="-2730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273050" marR="0" lvl="0" indent="-273050" algn="l" defTabSz="914400" rtl="0" eaLnBrk="1" fontAlgn="base" latinLnBrk="0" hangingPunct="1">
                  <a:lnSpc>
                    <a:spcPts val="25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100000"/>
                  <a:buFontTx/>
                  <a:buAutoNum type="arabicParenR"/>
                  <a:defRPr/>
                </a:pP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按照某个顺序将非终结符号排序为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  <a:r>
                  <a:rPr kumimoji="0" lang="en-US" altLang="zh-CN" sz="1800" b="1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，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  <a:r>
                  <a:rPr kumimoji="0" lang="en-US" altLang="zh-CN" sz="1800" b="1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，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…</a:t>
                </a: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，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  <a:r>
                  <a:rPr kumimoji="0" lang="en-US" altLang="zh-CN" sz="1800" b="1" i="1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 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.</a:t>
                </a: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         </a:t>
                </a:r>
                <a:endPara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endParaRPr>
              </a:p>
              <a:p>
                <a:pPr marL="273050" marR="0" lvl="0" indent="-273050" algn="l" defTabSz="914400" rtl="0" eaLnBrk="1" fontAlgn="base" latinLnBrk="0" hangingPunct="1">
                  <a:lnSpc>
                    <a:spcPts val="25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100000"/>
                  <a:buFontTx/>
                  <a:buAutoNum type="arabicParenR"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for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(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i </a:t>
                </a:r>
                <a14:m>
                  <m:oMath xmlns:m="http://schemas.openxmlformats.org/officeDocument/2006/math"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 panose="02010609060101010101" pitchFamily="49" charset="-122"/>
                        <a:cs typeface="DejaVu Math TeX Gyre" panose="02000503000000000000" charset="0"/>
                      </a:rPr>
                      <m:t>∈</m:t>
                    </m:r>
                  </m:oMath>
                </a14:m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</a:t>
                </a:r>
                <a:r>
                  <a:rPr kumimoji="0" lang="en-US" altLang="zh-CN" sz="1800" b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 Bold" panose="02020603050405020304" charset="0"/>
                    <a:ea typeface="楷体" panose="02010609060101010101" pitchFamily="49" charset="-122"/>
                    <a:cs typeface="Times New Roman Bold" panose="02020603050405020304" charset="0"/>
                  </a:rPr>
                  <a:t>1 to 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 Bold Italic" panose="02020603050405020304" charset="0"/>
                    <a:ea typeface="楷体" panose="02010609060101010101" pitchFamily="49" charset="-122"/>
                    <a:cs typeface="Times New Roman Bold Italic" panose="02020603050405020304" charset="0"/>
                  </a:rPr>
                  <a:t>n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) {</a:t>
                </a:r>
              </a:p>
              <a:p>
                <a:pPr marL="273050" marR="0" lvl="0" indent="-273050" algn="l" defTabSz="914400" rtl="0" eaLnBrk="1" fontAlgn="base" latinLnBrk="0" hangingPunct="1">
                  <a:lnSpc>
                    <a:spcPts val="25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100000"/>
                  <a:buFontTx/>
                  <a:buAutoNum type="arabicParenR" startAt="3"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        for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( </a:t>
                </a:r>
                <a:r>
                  <a:rPr lang="en-US" altLang="zh-CN" sz="1800" b="1" i="1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sym typeface="+mn-ea"/>
                  </a:rPr>
                  <a:t>j </a:t>
                </a:r>
                <a14:m>
                  <m:oMath xmlns:m="http://schemas.openxmlformats.org/officeDocument/2006/math"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 panose="02010609060101010101" pitchFamily="49" charset="-122"/>
                        <a:cs typeface="DejaVu Math TeX Gyre" panose="02000503000000000000" charset="0"/>
                      </a:rPr>
                      <m:t>∈</m:t>
                    </m:r>
                  </m:oMath>
                </a14:m>
                <a:r>
                  <a:rPr lang="en-US" altLang="zh-CN" sz="1800" b="1" i="1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sym typeface="+mn-ea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1 to 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i 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-1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) {</a:t>
                </a:r>
              </a:p>
              <a:p>
                <a:pPr marL="273050" marR="0" lvl="0" indent="-273050" algn="l" defTabSz="914400" rtl="0" eaLnBrk="1" fontAlgn="base" latinLnBrk="0" hangingPunct="1">
                  <a:lnSpc>
                    <a:spcPts val="25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100000"/>
                  <a:buFontTx/>
                  <a:buAutoNum type="arabicParenR" startAt="3"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                </a:t>
                </a: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将每个形如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  <a:r>
                  <a:rPr kumimoji="0" lang="en-US" altLang="zh-CN" sz="1800" b="1" i="1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→ A</a:t>
                </a:r>
                <a:r>
                  <a:rPr kumimoji="0" lang="en-US" altLang="zh-CN" sz="1800" b="1" i="1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j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</a:t>
                </a:r>
                <a:r>
                  <a:rPr kumimoji="0" lang="el-GR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γ</a:t>
                </a: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的产生式替换为产生式组 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  <a:r>
                  <a:rPr kumimoji="0" lang="en-US" altLang="zh-CN" sz="1800" b="1" i="1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→</a:t>
                </a:r>
                <a:r>
                  <a:rPr kumimoji="0" lang="el-GR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δ</a:t>
                </a:r>
                <a:r>
                  <a:rPr kumimoji="0" lang="en-US" altLang="zh-CN" sz="1800" b="1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el-GR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γ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∣</a:t>
                </a:r>
                <a:r>
                  <a:rPr kumimoji="0" lang="el-GR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δ</a:t>
                </a:r>
                <a:r>
                  <a:rPr kumimoji="0" lang="en-US" altLang="zh-CN" sz="1800" b="1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el-GR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γ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∣…∣</a:t>
                </a:r>
                <a:r>
                  <a:rPr kumimoji="0" lang="el-GR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δ</a:t>
                </a:r>
                <a:r>
                  <a:rPr kumimoji="0" lang="en-US" altLang="zh-CN" sz="1800" b="1" i="1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k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el-GR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γ</a:t>
                </a: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，</a:t>
                </a:r>
                <a:r>
                  <a:rPr kumimoji="0" lang="el-GR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endPara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endParaRPr>
              </a:p>
              <a:p>
                <a:pPr marL="273050" marR="0" lvl="0" indent="-273050" algn="l" defTabSz="914400" rtl="0" eaLnBrk="1" fontAlgn="base" latinLnBrk="0" hangingPunct="1">
                  <a:lnSpc>
                    <a:spcPts val="25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100000"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                        </a:t>
                </a: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其中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  <a:r>
                  <a:rPr kumimoji="0" lang="en-US" altLang="zh-CN" sz="1800" b="1" i="1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j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→</a:t>
                </a:r>
                <a:r>
                  <a:rPr kumimoji="0" lang="el-GR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δ</a:t>
                </a:r>
                <a:r>
                  <a:rPr kumimoji="0" lang="en-US" altLang="zh-CN" sz="1800" b="1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∣</a:t>
                </a:r>
                <a:r>
                  <a:rPr kumimoji="0" lang="el-GR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δ</a:t>
                </a:r>
                <a:r>
                  <a:rPr kumimoji="0" lang="en-US" altLang="zh-CN" sz="1800" b="1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∣… ∣</a:t>
                </a:r>
                <a:r>
                  <a:rPr kumimoji="0" lang="el-GR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δ</a:t>
                </a:r>
                <a:r>
                  <a:rPr kumimoji="0" lang="en-US" altLang="zh-CN" sz="1800" b="1" i="1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k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，是所有的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A</a:t>
                </a:r>
                <a:r>
                  <a:rPr kumimoji="0" lang="en-US" altLang="zh-CN" sz="1800" b="1" i="1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j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</a:t>
                </a: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产生式</a:t>
                </a:r>
                <a:r>
                  <a:rPr kumimoji="0" lang="el-GR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endPara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endParaRPr>
              </a:p>
              <a:p>
                <a:pPr marL="273050" marR="0" lvl="0" indent="-273050" algn="l" defTabSz="914400" rtl="0" eaLnBrk="1" fontAlgn="base" latinLnBrk="0" hangingPunct="1">
                  <a:lnSpc>
                    <a:spcPts val="25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100000"/>
                  <a:buFontTx/>
                  <a:buAutoNum type="arabicParenR" startAt="5"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        }</a:t>
                </a:r>
              </a:p>
              <a:p>
                <a:pPr marL="273050" marR="0" lvl="0" indent="-273050" algn="l" defTabSz="914400" rtl="0" eaLnBrk="1" fontAlgn="base" latinLnBrk="0" hangingPunct="1">
                  <a:lnSpc>
                    <a:spcPts val="25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100000"/>
                  <a:buFontTx/>
                  <a:buAutoNum type="arabicParenR" startAt="5"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        </a:t>
                </a: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消除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A</a:t>
                </a:r>
                <a:r>
                  <a:rPr kumimoji="0" lang="en-US" altLang="zh-CN" sz="1800" b="1" i="1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</a:t>
                </a:r>
                <a:r>
                  <a: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产生式之间的立即左递归</a:t>
                </a:r>
                <a:endPara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endParaRPr>
              </a:p>
              <a:p>
                <a:pPr marL="273050" marR="0" lvl="0" indent="-273050" algn="l" defTabSz="914400" rtl="0" eaLnBrk="1" fontAlgn="base" latinLnBrk="0" hangingPunct="1">
                  <a:lnSpc>
                    <a:spcPts val="25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100000"/>
                  <a:buFontTx/>
                  <a:buAutoNum type="arabicParenR" startAt="5"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}</a:t>
                </a:r>
              </a:p>
              <a:p>
                <a:pPr marL="273050" marR="0" lvl="0" indent="-273050" algn="l" defTabSz="914400" rtl="0" eaLnBrk="1" fontAlgn="base" latinLnBrk="0" hangingPunct="1">
                  <a:lnSpc>
                    <a:spcPts val="25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100000"/>
                  <a:buFont typeface="Symbol" panose="05050102010706020507" pitchFamily="18" charset="2"/>
                  <a:buNone/>
                  <a:defRPr/>
                </a:pPr>
                <a:r>
                  <a:rPr kumimoji="0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rPr>
                  <a:t>                 </a:t>
                </a:r>
              </a:p>
              <a:p>
                <a:pPr marL="273050" marR="0" lvl="0" indent="-273050" algn="l" defTabSz="914400" rtl="0" eaLnBrk="1" fontAlgn="base" latinLnBrk="0" hangingPunct="1">
                  <a:lnSpc>
                    <a:spcPts val="25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100000"/>
                  <a:buFont typeface="Symbol" panose="05050102010706020507" pitchFamily="18" charset="2"/>
                  <a:buNone/>
                  <a:defRPr/>
                </a:pPr>
                <a:endParaRPr kumimoji="0" lang="zh-CN" altLang="en-US" sz="15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9705" name="内容占位符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875" y="2066925"/>
                <a:ext cx="8786813" cy="2933700"/>
              </a:xfrm>
              <a:prstGeom prst="rect">
                <a:avLst/>
              </a:prstGeom>
              <a:blipFill rotWithShape="1">
                <a:blip r:embed="rId3"/>
                <a:stretch>
                  <a:fillRect l="-72" t="-216" r="-69" b="-25931"/>
                </a:stretch>
              </a:blipFill>
              <a:ln w="12700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848225" y="1774825"/>
            <a:ext cx="308133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500" kern="1200" cap="none" spc="6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LL(1) </a:t>
            </a:r>
            <a:r>
              <a:rPr kumimoji="0" lang="zh-CN" altLang="en-US" sz="3500" kern="1200" cap="none" spc="6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文法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5072063" y="1487488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第四章 语法分析</a:t>
            </a:r>
            <a:endParaRPr kumimoji="0" lang="zh-CN" altLang="en-US" sz="800" kern="1200" cap="none" spc="3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214313" y="930275"/>
            <a:ext cx="8720138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预测分析法的工作过程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3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从文法开始符号出发，在每一步推导过程中根据当前句型的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最左非终结符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当前输入符号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，选择正确的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产生式。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3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为保证分析的确定性，选出的候选式必须是唯一的。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32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6867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什么样的文法适合预测分析法</a:t>
            </a:r>
          </a:p>
        </p:txBody>
      </p:sp>
      <p:sp>
        <p:nvSpPr>
          <p:cNvPr id="2" name="矩形 2"/>
          <p:cNvSpPr/>
          <p:nvPr/>
        </p:nvSpPr>
        <p:spPr>
          <a:xfrm>
            <a:off x="827584" y="3639042"/>
            <a:ext cx="2592288" cy="103406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A →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</a:rPr>
              <a:t>aB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 | B</a:t>
            </a:r>
          </a:p>
          <a:p>
            <a:pPr marL="342900" indent="-342900"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B →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</a:rPr>
              <a:t>Cb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  </a:t>
            </a:r>
          </a:p>
          <a:p>
            <a:pPr marL="342900" indent="-342900"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C → a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142875" y="714375"/>
            <a:ext cx="9015413" cy="38227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3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0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串首终结符，</a:t>
            </a: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串首第一个符号，并且是终结符。简称首终结符。</a:t>
            </a:r>
            <a:endParaRPr lang="en-US" altLang="zh-CN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lnSpc>
                <a:spcPts val="3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给定一个文法符号串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 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</a:t>
            </a:r>
            <a:r>
              <a:rPr lang="zh-CN" altLang="en-US" sz="2000" b="1" kern="1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串首终结符集</a:t>
            </a:r>
            <a:r>
              <a:rPr lang="en-US" altLang="zh-CN" sz="2000" b="1" i="1" kern="1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FIRST</a:t>
            </a:r>
            <a:r>
              <a:rPr lang="en-US" altLang="zh-CN" sz="2000" b="1" kern="1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000" b="1" i="1" kern="1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000" b="1" kern="1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被定义为可以从</a:t>
            </a:r>
            <a:r>
              <a:rPr lang="el-GR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推导出的</a:t>
            </a:r>
            <a:r>
              <a:rPr lang="zh-CN" altLang="en-US" sz="2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所有</a:t>
            </a:r>
            <a:r>
              <a:rPr lang="zh-CN" altLang="en-US" sz="2000" b="1" kern="1200" dirty="0">
                <a:solidFill>
                  <a:srgbClr val="2D83F4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串首终结符</a:t>
            </a:r>
            <a:r>
              <a:rPr lang="zh-CN" altLang="en-US" sz="2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构成的集合</a:t>
            </a: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。</a:t>
            </a:r>
            <a:r>
              <a:rPr lang="zh-CN" altLang="en-US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如果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α 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</a:t>
            </a:r>
            <a:r>
              <a:rPr lang="en-US" altLang="zh-CN" sz="2000" b="1" kern="1200" baseline="300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*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  <a:r>
              <a:rPr lang="zh-CN" altLang="en-US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，那么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  <a:r>
              <a:rPr lang="zh-CN" altLang="en-US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也在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FIRST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</a:t>
            </a:r>
            <a:endParaRPr lang="en-US" altLang="zh-CN" sz="2500" b="1" kern="1200" dirty="0">
              <a:solidFill>
                <a:srgbClr val="2D83F4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lnSpc>
                <a:spcPts val="3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1" kern="1200" dirty="0">
                <a:solidFill>
                  <a:schemeClr val="tx1"/>
                </a:solidFill>
                <a:highlight>
                  <a:srgbClr val="FFFF00"/>
                </a:highlight>
                <a:latin typeface="楷体" panose="02010609060101010101" pitchFamily="49" charset="-122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对于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  <a:sym typeface="Symbol" panose="05050102010706020507" pitchFamily="18" charset="2"/>
              </a:rPr>
              <a:t> </a:t>
            </a:r>
            <a:r>
              <a:rPr lang="zh-CN" altLang="en-US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  <a:sym typeface="Symbol" panose="05050102010706020507" pitchFamily="18" charset="2"/>
              </a:rPr>
              <a:t>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α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∈(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V</a:t>
            </a:r>
            <a:r>
              <a:rPr lang="en-US" altLang="zh-CN" sz="2000" b="1" i="1" kern="1200" baseline="-250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T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∪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V </a:t>
            </a:r>
            <a:r>
              <a:rPr lang="en-US" altLang="zh-CN" sz="2000" b="1" i="1" kern="1200" baseline="-250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N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)</a:t>
            </a:r>
            <a:r>
              <a:rPr lang="en-US" altLang="zh-CN" sz="2000" b="1" kern="1200" baseline="300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+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, 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FIRST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(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α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)={ </a:t>
            </a:r>
            <a:r>
              <a:rPr lang="en-US" altLang="zh-CN" sz="2000" b="1" i="1" kern="1200" dirty="0">
                <a:solidFill>
                  <a:srgbClr val="FF0000"/>
                </a:solidFill>
                <a:highlight>
                  <a:srgbClr val="FFFF00"/>
                </a:highlight>
                <a:ea typeface="楷体_GB2312"/>
                <a:cs typeface="+mn-cs"/>
              </a:rPr>
              <a:t>a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 | 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α 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  <a:sym typeface="Symbol" panose="05050102010706020507" pitchFamily="18" charset="2"/>
              </a:rPr>
              <a:t></a:t>
            </a:r>
            <a:r>
              <a:rPr lang="en-US" altLang="zh-CN" sz="2000" b="1" kern="1200" baseline="300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*</a:t>
            </a:r>
            <a:r>
              <a:rPr lang="en-US" altLang="zh-CN" sz="2000" b="1" kern="1200" dirty="0">
                <a:solidFill>
                  <a:srgbClr val="FF0000"/>
                </a:solidFill>
                <a:highlight>
                  <a:srgbClr val="FFFF00"/>
                </a:highlight>
                <a:ea typeface="楷体_GB2312"/>
                <a:cs typeface="+mn-cs"/>
              </a:rPr>
              <a:t> </a:t>
            </a:r>
            <a:r>
              <a:rPr lang="en-US" altLang="zh-CN" sz="2000" b="1" i="1" kern="1200" dirty="0">
                <a:solidFill>
                  <a:srgbClr val="FF0000"/>
                </a:solidFill>
                <a:highlight>
                  <a:srgbClr val="FFFF00"/>
                </a:highlight>
                <a:ea typeface="楷体_GB2312"/>
                <a:cs typeface="+mn-cs"/>
              </a:rPr>
              <a:t>a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β</a:t>
            </a:r>
            <a:r>
              <a:rPr lang="zh-CN" altLang="en-US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，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a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∈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 V</a:t>
            </a:r>
            <a:r>
              <a:rPr lang="en-US" altLang="zh-CN" sz="2000" b="1" i="1" kern="1200" baseline="-250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T</a:t>
            </a:r>
            <a:r>
              <a:rPr lang="zh-CN" altLang="en-US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，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β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∈(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V </a:t>
            </a:r>
            <a:r>
              <a:rPr lang="en-US" altLang="zh-CN" sz="2000" b="1" i="1" kern="1200" baseline="-250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T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∪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 V </a:t>
            </a:r>
            <a:r>
              <a:rPr lang="en-US" altLang="zh-CN" sz="2000" b="1" i="1" kern="1200" baseline="-250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N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)</a:t>
            </a:r>
            <a:r>
              <a:rPr lang="en-US" altLang="zh-CN" sz="2000" b="1" kern="1200" baseline="300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*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}</a:t>
            </a:r>
            <a:r>
              <a:rPr lang="zh-CN" altLang="en-US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；</a:t>
            </a:r>
            <a:endParaRPr lang="en-US" altLang="zh-CN" sz="2000" b="1" kern="1200" dirty="0">
              <a:solidFill>
                <a:schemeClr val="tx1"/>
              </a:solidFill>
              <a:highlight>
                <a:srgbClr val="FFFF00"/>
              </a:highlight>
              <a:ea typeface="楷体_GB2312"/>
              <a:cs typeface="+mn-cs"/>
            </a:endParaRPr>
          </a:p>
          <a:p>
            <a:pPr lvl="1" eaLnBrk="1" hangingPunct="1">
              <a:lnSpc>
                <a:spcPts val="3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1" kern="1200" dirty="0">
                <a:solidFill>
                  <a:schemeClr val="tx1"/>
                </a:solidFill>
                <a:highlight>
                  <a:srgbClr val="FFFF00"/>
                </a:highlight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如果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 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α 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  <a:sym typeface="Symbol" panose="05050102010706020507" pitchFamily="18" charset="2"/>
              </a:rPr>
              <a:t></a:t>
            </a:r>
            <a:r>
              <a:rPr lang="en-US" altLang="zh-CN" sz="2000" b="1" kern="1200" baseline="300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*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 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ε</a:t>
            </a:r>
            <a:r>
              <a:rPr lang="zh-CN" altLang="en-US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，</a:t>
            </a:r>
            <a:r>
              <a:rPr lang="zh-CN" altLang="en-US" sz="2000" b="1" kern="1200" dirty="0">
                <a:solidFill>
                  <a:schemeClr val="tx1"/>
                </a:solidFill>
                <a:highlight>
                  <a:srgbClr val="FFFF00"/>
                </a:highlight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那么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 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ε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∈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FIRST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(</a:t>
            </a:r>
            <a:r>
              <a:rPr lang="en-US" altLang="zh-CN" sz="2000" b="1" i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α</a:t>
            </a:r>
            <a:r>
              <a:rPr lang="en-US" altLang="zh-CN" sz="2000" b="1" kern="1200" dirty="0">
                <a:solidFill>
                  <a:schemeClr val="tx1"/>
                </a:solidFill>
                <a:highlight>
                  <a:srgbClr val="FFFF00"/>
                </a:highlight>
                <a:ea typeface="楷体_GB2312"/>
                <a:cs typeface="+mn-cs"/>
              </a:rPr>
              <a:t>)</a:t>
            </a:r>
            <a:endParaRPr lang="zh-CN" altLang="en-US" sz="2000" b="1" kern="1200" dirty="0">
              <a:solidFill>
                <a:schemeClr val="tx1"/>
              </a:solidFill>
              <a:highlight>
                <a:srgbClr val="FFFF00"/>
              </a:highlight>
              <a:ea typeface="楷体_GB2312"/>
              <a:cs typeface="+mn-cs"/>
            </a:endParaRPr>
          </a:p>
          <a:p>
            <a:pPr eaLnBrk="1" hangingPunct="1">
              <a:lnSpc>
                <a:spcPts val="3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对</a:t>
            </a:r>
            <a:r>
              <a:rPr lang="en-US" altLang="zh-CN" sz="2000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G</a:t>
            </a:r>
            <a:r>
              <a:rPr lang="zh-CN" altLang="en-US" sz="2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  <a:sym typeface="+mn-ea"/>
              </a:rPr>
              <a:t>的任意两个具有相同左部的产生式</a:t>
            </a:r>
            <a:r>
              <a:rPr lang="en-US" altLang="zh-CN" sz="2000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A → α | β </a:t>
            </a:r>
            <a:r>
              <a:rPr lang="zh-CN" altLang="en-US" sz="2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（假设</a:t>
            </a:r>
            <a:r>
              <a:rPr lang="en-US" altLang="zh-CN" sz="2000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α,β</a:t>
            </a:r>
            <a:r>
              <a:rPr lang="zh-CN" altLang="en-US" sz="2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非空）</a:t>
            </a:r>
          </a:p>
          <a:p>
            <a:pPr lvl="1" eaLnBrk="1" hangingPunct="1">
              <a:lnSpc>
                <a:spcPts val="3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183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如果</a:t>
            </a:r>
            <a:r>
              <a:rPr lang="en-US" altLang="zh-CN" sz="1830" b="1" i="1" dirty="0">
                <a:solidFill>
                  <a:srgbClr val="FF0000"/>
                </a:solidFill>
                <a:ea typeface="楷体_GB2312"/>
                <a:sym typeface="+mn-ea"/>
              </a:rPr>
              <a:t>FIRST</a:t>
            </a:r>
            <a:r>
              <a:rPr lang="en-US" altLang="zh-CN" sz="1830" b="1" dirty="0">
                <a:solidFill>
                  <a:srgbClr val="FF0000"/>
                </a:solidFill>
                <a:ea typeface="楷体_GB2312"/>
                <a:sym typeface="+mn-ea"/>
              </a:rPr>
              <a:t>(</a:t>
            </a:r>
            <a:r>
              <a:rPr lang="en-US" altLang="zh-CN" sz="1830" b="1" i="1" dirty="0">
                <a:solidFill>
                  <a:srgbClr val="FF0000"/>
                </a:solidFill>
                <a:ea typeface="楷体_GB2312"/>
                <a:sym typeface="+mn-ea"/>
              </a:rPr>
              <a:t>α</a:t>
            </a:r>
            <a:r>
              <a:rPr lang="en-US" altLang="zh-CN" sz="1830" b="1" dirty="0">
                <a:solidFill>
                  <a:srgbClr val="FF0000"/>
                </a:solidFill>
                <a:ea typeface="楷体_GB2312"/>
                <a:sym typeface="+mn-ea"/>
              </a:rPr>
              <a:t>)</a:t>
            </a:r>
            <a:r>
              <a:rPr lang="en-US" altLang="zh-CN" sz="183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∩</a:t>
            </a:r>
            <a:r>
              <a:rPr lang="en-US" altLang="zh-CN" sz="1830" b="1" i="1" dirty="0">
                <a:solidFill>
                  <a:srgbClr val="FF0000"/>
                </a:solidFill>
                <a:ea typeface="楷体_GB2312"/>
                <a:sym typeface="+mn-ea"/>
              </a:rPr>
              <a:t>FIRST</a:t>
            </a:r>
            <a:r>
              <a:rPr lang="en-US" altLang="zh-CN" sz="1830" b="1" dirty="0">
                <a:solidFill>
                  <a:srgbClr val="FF0000"/>
                </a:solidFill>
                <a:ea typeface="楷体_GB2312"/>
                <a:sym typeface="+mn-ea"/>
              </a:rPr>
              <a:t>(</a:t>
            </a:r>
            <a:r>
              <a:rPr lang="en-US" altLang="zh-CN" sz="1830" b="1" i="1" dirty="0">
                <a:solidFill>
                  <a:srgbClr val="FF0000"/>
                </a:solidFill>
                <a:ea typeface="楷体_GB2312"/>
                <a:sym typeface="+mn-ea"/>
              </a:rPr>
              <a:t>β</a:t>
            </a:r>
            <a:r>
              <a:rPr lang="en-US" altLang="zh-CN" sz="1830" b="1" dirty="0">
                <a:solidFill>
                  <a:srgbClr val="FF0000"/>
                </a:solidFill>
                <a:ea typeface="楷体_GB2312"/>
                <a:sym typeface="+mn-ea"/>
              </a:rPr>
              <a:t>) </a:t>
            </a:r>
            <a:r>
              <a:rPr lang="en-US" altLang="zh-CN" sz="183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= </a:t>
            </a:r>
            <a:r>
              <a:rPr lang="el-GR" altLang="zh-CN" sz="183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Φ</a:t>
            </a:r>
            <a:r>
              <a:rPr lang="en-US" altLang="el-GR" sz="183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sz="183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则可以对</a:t>
            </a:r>
            <a:r>
              <a:rPr lang="en-US" altLang="zh-CN" sz="1830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G</a:t>
            </a:r>
            <a:r>
              <a:rPr lang="zh-CN" altLang="en-US" sz="183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进行自顶向下分析（没有二义性）</a:t>
            </a:r>
          </a:p>
          <a:p>
            <a:pPr lvl="0" eaLnBrk="1" hangingPunct="1">
              <a:lnSpc>
                <a:spcPts val="3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1995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如果</a:t>
            </a:r>
            <a:r>
              <a:rPr lang="en-US" altLang="zh-CN" sz="1995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α </a:t>
            </a:r>
            <a:r>
              <a:rPr lang="en-US" altLang="zh-CN" sz="1995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1995" b="1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*</a:t>
            </a:r>
            <a:r>
              <a:rPr lang="en-US" altLang="zh-CN" sz="1995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 ε </a:t>
            </a:r>
            <a:r>
              <a:rPr lang="en-US" altLang="zh-CN" sz="1995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or</a:t>
            </a:r>
            <a:r>
              <a:rPr lang="en-US" altLang="zh-CN" sz="1995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 β </a:t>
            </a:r>
            <a:r>
              <a:rPr lang="en-US" altLang="zh-CN" sz="1995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1995" b="1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*</a:t>
            </a:r>
            <a:r>
              <a:rPr lang="en-US" altLang="zh-CN" sz="1995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 ε</a:t>
            </a:r>
            <a:r>
              <a:rPr lang="zh-CN" altLang="en-US" sz="1995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1995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那么我们要引入</a:t>
            </a:r>
            <a:r>
              <a:rPr lang="en-US" altLang="zh-CN" sz="1995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FOLLOW</a:t>
            </a:r>
            <a:r>
              <a:rPr lang="zh-CN" altLang="en-US" sz="1995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集的概念</a:t>
            </a:r>
            <a:endParaRPr lang="en-US" altLang="zh-CN" sz="1995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eaLnBrk="1" hangingPunct="1">
              <a:lnSpc>
                <a:spcPts val="3200"/>
              </a:lnSpc>
              <a:buSzPct val="100000"/>
            </a:pP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eaLnBrk="1" hangingPunct="1">
              <a:buSzPct val="100000"/>
            </a:pPr>
            <a:endParaRPr lang="zh-CN" altLang="en-US" sz="2500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09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串首终结符集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754438" y="1379538"/>
            <a:ext cx="4103688" cy="1620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796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3754438" y="714375"/>
            <a:ext cx="4103688" cy="665163"/>
          </a:xfr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输入</a:t>
            </a:r>
            <a:r>
              <a:rPr lang="en-US" altLang="zh-CN" dirty="0">
                <a:ea typeface="楷体_GB2312"/>
                <a:cs typeface="Times New Roman" panose="02020603050405020304" pitchFamily="18" charset="0"/>
              </a:rPr>
              <a:t>.  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 d a</a:t>
            </a: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推导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zh-CN" altLang="en-US" sz="2400" b="0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2963" y="714375"/>
            <a:ext cx="2928938" cy="228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0659" name="Rectangle 3"/>
          <p:cNvSpPr>
            <a:spLocks noGrp="1" noChangeArrowheads="1"/>
          </p:cNvSpPr>
          <p:nvPr>
            <p:ph idx="1"/>
          </p:nvPr>
        </p:nvSpPr>
        <p:spPr>
          <a:xfrm>
            <a:off x="899318" y="958850"/>
            <a:ext cx="7643813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文法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zh-CN" sz="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如果当前某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非终结符</a:t>
            </a:r>
            <a:r>
              <a:rPr kumimoji="0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与当前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输入符</a:t>
            </a:r>
            <a:r>
              <a:rPr kumimoji="0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不匹配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时，若</a:t>
            </a:r>
            <a:r>
              <a:rPr kumimoji="0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可以出现在 </a:t>
            </a:r>
            <a:r>
              <a:rPr kumimoji="0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后面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，则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anose="02020603050405020304" pitchFamily="18" charset="0"/>
              </a:rPr>
              <a:t>可以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使用产生式 </a:t>
            </a:r>
            <a:r>
              <a:rPr kumimoji="0" lang="en-US" altLang="zh-CN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0" lang="en-US" altLang="zh-CN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  <a:r>
              <a:rPr lang="en-US" altLang="zh-CN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.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4278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</a:t>
            </a:r>
          </a:p>
        </p:txBody>
      </p:sp>
      <p:sp>
        <p:nvSpPr>
          <p:cNvPr id="710663" name="Line 7"/>
          <p:cNvSpPr/>
          <p:nvPr/>
        </p:nvSpPr>
        <p:spPr>
          <a:xfrm flipV="1">
            <a:off x="5122863" y="1108075"/>
            <a:ext cx="0" cy="163513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0664" name="Line 8"/>
          <p:cNvSpPr/>
          <p:nvPr/>
        </p:nvSpPr>
        <p:spPr>
          <a:xfrm flipV="1">
            <a:off x="5338763" y="1108075"/>
            <a:ext cx="0" cy="161925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0665" name="Line 9"/>
          <p:cNvSpPr/>
          <p:nvPr/>
        </p:nvSpPr>
        <p:spPr>
          <a:xfrm flipV="1">
            <a:off x="5572125" y="1108075"/>
            <a:ext cx="0" cy="161925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4282" name="矩形 2"/>
          <p:cNvSpPr/>
          <p:nvPr/>
        </p:nvSpPr>
        <p:spPr>
          <a:xfrm>
            <a:off x="1825625" y="714375"/>
            <a:ext cx="1728788" cy="167526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S → aBC</a:t>
            </a:r>
          </a:p>
          <a:p>
            <a:pPr marL="342900" indent="-342900"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B → bC  </a:t>
            </a:r>
          </a:p>
          <a:p>
            <a:pPr marL="342900" indent="-342900"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B → dB </a:t>
            </a:r>
          </a:p>
          <a:p>
            <a:pPr marL="342900" indent="-342900"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B → </a:t>
            </a:r>
            <a:r>
              <a:rPr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ε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  </a:t>
            </a:r>
          </a:p>
          <a:p>
            <a:pPr marL="342900" indent="-342900" eaLnBrk="1" hangingPunct="1">
              <a:lnSpc>
                <a:spcPts val="2500"/>
              </a:lnSpc>
              <a:buFont typeface="宋体" panose="02010600030101010101" pitchFamily="2" charset="-122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C → c | a</a:t>
            </a:r>
          </a:p>
        </p:txBody>
      </p:sp>
      <p:sp>
        <p:nvSpPr>
          <p:cNvPr id="13" name="Rectangle 4"/>
          <p:cNvSpPr txBox="1"/>
          <p:nvPr/>
        </p:nvSpPr>
        <p:spPr>
          <a:xfrm>
            <a:off x="4929188" y="1400175"/>
            <a:ext cx="1727200" cy="12430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i="1" dirty="0">
                <a:latin typeface="Times New Roman" panose="02020603050405020304" pitchFamily="18" charset="0"/>
              </a:rPr>
              <a:t>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adBC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</a:t>
            </a:r>
            <a:endParaRPr lang="zh-CN" altLang="en-US" sz="20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27088" y="3081338"/>
            <a:ext cx="3835400" cy="3492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可以紧跟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后面出现的终结符：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zh-CN" altLang="en-US" sz="28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79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0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0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1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10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10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1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3796" grpId="0" build="p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3230" y="643255"/>
            <a:ext cx="8557895" cy="34893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非终结符</a:t>
            </a:r>
            <a:r>
              <a:rPr lang="en-US" altLang="zh-CN" sz="22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zh-CN" altLang="en-US" sz="2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</a:t>
            </a:r>
            <a:r>
              <a:rPr lang="zh-CN" altLang="en-US" sz="22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后继符号集</a:t>
            </a:r>
            <a:endParaRPr lang="en-US" altLang="zh-CN" sz="2200" b="1" kern="1200" dirty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lnSpc>
                <a:spcPts val="3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可能在某个句型中</a:t>
            </a:r>
            <a:r>
              <a:rPr lang="zh-CN" altLang="en-US" sz="2000" b="1" kern="12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紧跟在</a:t>
            </a:r>
            <a:r>
              <a:rPr lang="en-US" altLang="zh-CN" sz="2000" b="1" kern="12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zh-CN" altLang="en-US" sz="2000" b="1" kern="12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后边的终结符</a:t>
            </a:r>
            <a:r>
              <a:rPr lang="en-US" altLang="zh-CN" sz="2000" b="1" kern="12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zh-CN" altLang="en-US" sz="20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的集合，记为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FOLLOW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endParaRPr lang="en-US" altLang="zh-CN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lnSpc>
                <a:spcPts val="2000"/>
              </a:lnSpc>
              <a:buSzPct val="100000"/>
              <a:buFont typeface="Symbol" panose="05050102010706020507" pitchFamily="18" charset="2"/>
              <a:buNone/>
            </a:pPr>
            <a:r>
              <a:rPr lang="en-US" altLang="zh-CN" sz="2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	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FOLLOW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)={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|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S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</a:t>
            </a:r>
            <a:r>
              <a:rPr lang="en-US" altLang="zh-CN" sz="20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*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αA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a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β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, 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a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∈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V</a:t>
            </a:r>
            <a:r>
              <a:rPr lang="en-US" altLang="zh-CN" sz="20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</a:t>
            </a: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，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α,β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∈(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V</a:t>
            </a:r>
            <a:r>
              <a:rPr lang="en-US" altLang="zh-CN" sz="20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∪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V</a:t>
            </a:r>
            <a:r>
              <a:rPr lang="en-US" altLang="zh-CN" sz="20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N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)</a:t>
            </a:r>
            <a:r>
              <a:rPr lang="en-US" altLang="zh-CN" sz="20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*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}</a:t>
            </a:r>
          </a:p>
          <a:p>
            <a:pPr marL="627380" lvl="2" indent="0" eaLnBrk="1" hangingPunct="1">
              <a:lnSpc>
                <a:spcPts val="2800"/>
              </a:lnSpc>
              <a:buSzPct val="100000"/>
              <a:buFont typeface="Symbol" panose="05050102010706020507" pitchFamily="18" charset="2"/>
              <a:buNone/>
            </a:pPr>
            <a:endParaRPr lang="zh-CN" altLang="en-US" sz="2200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eaLnBrk="1" hangingPunct="1">
              <a:buSzPct val="100000"/>
            </a:pPr>
            <a:endParaRPr lang="zh-CN" altLang="en-US" sz="2200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zh-CN" altLang="en-US" sz="2200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Clr>
                <a:srgbClr val="000000"/>
              </a:buClr>
              <a:buSzPct val="100000"/>
              <a:buFont typeface="Wingdings" panose="05000000000000000000" charset="0"/>
              <a:buChar char=""/>
            </a:pPr>
            <a:r>
              <a:rPr lang="zh-CN" altLang="en-US" sz="2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对</a:t>
            </a:r>
            <a:r>
              <a:rPr lang="en-US" altLang="zh-CN" sz="2200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G</a:t>
            </a:r>
            <a:r>
              <a:rPr lang="zh-CN" altLang="en-US" sz="2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  <a:sym typeface="+mn-ea"/>
              </a:rPr>
              <a:t>的任意两个具有相同左部的产生式</a:t>
            </a:r>
            <a:r>
              <a:rPr lang="en-US" altLang="zh-CN" sz="2200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A → α | β</a:t>
            </a:r>
          </a:p>
          <a:p>
            <a:pPr lvl="1" eaLnBrk="1" hangingPunct="1">
              <a:buClr>
                <a:srgbClr val="000000"/>
              </a:buClr>
              <a:buSzPct val="100000"/>
              <a:buFont typeface="Wingdings" panose="05000000000000000000" charset="0"/>
              <a:buChar char=""/>
            </a:pPr>
            <a:r>
              <a:rPr lang="zh-CN" altLang="en-US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sym typeface="+mn-ea"/>
              </a:rPr>
              <a:t>如果 </a:t>
            </a:r>
            <a:r>
              <a:rPr lang="en-US" altLang="zh-CN" sz="2015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β </a:t>
            </a:r>
            <a:r>
              <a:rPr lang="en-US" altLang="zh-CN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15" b="1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* </a:t>
            </a:r>
            <a:r>
              <a:rPr lang="en-US" altLang="zh-CN" sz="2015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ε</a:t>
            </a:r>
            <a:r>
              <a:rPr lang="zh-CN" altLang="el-GR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sym typeface="+mn-ea"/>
              </a:rPr>
              <a:t>，</a:t>
            </a:r>
            <a:r>
              <a:rPr lang="zh-CN" altLang="en-US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sym typeface="+mn-ea"/>
              </a:rPr>
              <a:t>则</a:t>
            </a:r>
            <a:r>
              <a:rPr lang="en-US" altLang="zh-CN" sz="2015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FIRST </a:t>
            </a:r>
            <a:r>
              <a:rPr lang="en-US" altLang="zh-CN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015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α</a:t>
            </a:r>
            <a:r>
              <a:rPr lang="en-US" altLang="zh-CN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)∩</a:t>
            </a:r>
            <a:r>
              <a:rPr lang="en-US" altLang="zh-CN" sz="2015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FOLLOW</a:t>
            </a:r>
            <a:r>
              <a:rPr lang="en-US" altLang="zh-CN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015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) =</a:t>
            </a:r>
            <a:r>
              <a:rPr lang="el-GR" altLang="zh-CN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Φ</a:t>
            </a:r>
            <a:r>
              <a:rPr lang="zh-CN" altLang="en-US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楷体_GB2312"/>
                <a:sym typeface="+mn-ea"/>
              </a:rPr>
              <a:t>；</a:t>
            </a:r>
          </a:p>
          <a:p>
            <a:pPr lvl="1" eaLnBrk="1" hangingPunct="1">
              <a:buClr>
                <a:srgbClr val="000000"/>
              </a:buClr>
              <a:buSzPct val="100000"/>
              <a:buFont typeface="Wingdings" panose="05000000000000000000" charset="0"/>
              <a:buChar char=""/>
            </a:pPr>
            <a:r>
              <a:rPr lang="zh-CN" altLang="en-US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sym typeface="+mn-ea"/>
              </a:rPr>
              <a:t>如果 </a:t>
            </a:r>
            <a:r>
              <a:rPr lang="en-US" altLang="zh-CN" sz="2015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α </a:t>
            </a:r>
            <a:r>
              <a:rPr lang="en-US" altLang="zh-CN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15" b="1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*</a:t>
            </a:r>
            <a:r>
              <a:rPr lang="en-US" altLang="zh-CN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015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ε</a:t>
            </a:r>
            <a:r>
              <a:rPr lang="zh-CN" altLang="el-GR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sym typeface="+mn-ea"/>
              </a:rPr>
              <a:t>，</a:t>
            </a:r>
            <a:r>
              <a:rPr lang="zh-CN" altLang="en-US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sym typeface="+mn-ea"/>
              </a:rPr>
              <a:t>则</a:t>
            </a:r>
            <a:r>
              <a:rPr lang="en-US" altLang="zh-CN" sz="2015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FIRST </a:t>
            </a:r>
            <a:r>
              <a:rPr lang="en-US" altLang="zh-CN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015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β</a:t>
            </a:r>
            <a:r>
              <a:rPr lang="en-US" altLang="zh-CN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)∩</a:t>
            </a:r>
            <a:r>
              <a:rPr lang="en-US" altLang="zh-CN" sz="2015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FOLLOW</a:t>
            </a:r>
            <a:r>
              <a:rPr lang="en-US" altLang="zh-CN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015" b="1" i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) =</a:t>
            </a:r>
            <a:r>
              <a:rPr lang="el-GR" altLang="zh-CN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Φ</a:t>
            </a:r>
            <a:r>
              <a:rPr lang="zh-CN" altLang="en-US" sz="2015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楷体_GB2312"/>
                <a:sym typeface="+mn-ea"/>
              </a:rPr>
              <a:t>；</a:t>
            </a:r>
          </a:p>
          <a:p>
            <a:pPr lvl="1" eaLnBrk="1" hangingPunct="1">
              <a:buSzPct val="100000"/>
              <a:buFont typeface="Wingdings" panose="05000000000000000000" charset="0"/>
              <a:buChar char=""/>
            </a:pPr>
            <a:endParaRPr lang="zh-CN" altLang="en-US" sz="2015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8915" name="标题 3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非终结符的后继符号集</a:t>
            </a:r>
          </a:p>
        </p:txBody>
      </p:sp>
      <p:sp>
        <p:nvSpPr>
          <p:cNvPr id="4" name="矩形 3"/>
          <p:cNvSpPr/>
          <p:nvPr/>
        </p:nvSpPr>
        <p:spPr>
          <a:xfrm>
            <a:off x="1187450" y="1995805"/>
            <a:ext cx="5186680" cy="787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是某个句型的的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最右符号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则将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结束符“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$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添加到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FOLLOW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3230" y="643255"/>
            <a:ext cx="8818880" cy="34893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sz="2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为什么需要</a:t>
            </a:r>
            <a:r>
              <a:rPr lang="en-US" altLang="zh-CN" sz="22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FIRST</a:t>
            </a:r>
            <a:r>
              <a:rPr lang="zh-CN" altLang="en-US" sz="2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集？</a:t>
            </a:r>
            <a:endParaRPr lang="en-US" altLang="zh-CN" sz="22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627380" lvl="2" indent="0" eaLnBrk="1" hangingPunct="1">
              <a:lnSpc>
                <a:spcPts val="2800"/>
              </a:lnSpc>
              <a:buSzPct val="100000"/>
              <a:buFont typeface="Symbol" panose="05050102010706020507" pitchFamily="18" charset="2"/>
              <a:buNone/>
            </a:pPr>
            <a:r>
              <a:rPr lang="en-US" altLang="zh-CN" sz="22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A → α </a:t>
            </a:r>
            <a:r>
              <a:rPr lang="en-US" altLang="zh-CN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(a...)</a:t>
            </a:r>
          </a:p>
          <a:p>
            <a:pPr marL="627380" lvl="2" indent="0" eaLnBrk="1" hangingPunct="1">
              <a:lnSpc>
                <a:spcPts val="2800"/>
              </a:lnSpc>
              <a:buSzPct val="100000"/>
              <a:buFont typeface="Symbol" panose="05050102010706020507" pitchFamily="18" charset="2"/>
              <a:buNone/>
            </a:pPr>
            <a:r>
              <a:rPr lang="en-US" altLang="zh-CN" sz="22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A → β </a:t>
            </a:r>
            <a:r>
              <a:rPr lang="en-US" altLang="zh-CN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(b...)</a:t>
            </a:r>
          </a:p>
          <a:p>
            <a:pPr marL="627380" lvl="2" indent="0" eaLnBrk="1" hangingPunct="1">
              <a:lnSpc>
                <a:spcPts val="2800"/>
              </a:lnSpc>
              <a:buSzPct val="100000"/>
              <a:buFont typeface="Symbol" panose="05050102010706020507" pitchFamily="18" charset="2"/>
              <a:buNone/>
            </a:pPr>
            <a:endParaRPr lang="en-US" altLang="zh-CN" sz="2200" b="1" kern="12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627380" lvl="2" indent="0" eaLnBrk="1" hangingPunct="1">
              <a:lnSpc>
                <a:spcPts val="2800"/>
              </a:lnSpc>
              <a:buSzPct val="100000"/>
              <a:buFont typeface="Symbol" panose="05050102010706020507" pitchFamily="18" charset="2"/>
              <a:buNone/>
            </a:pPr>
            <a:endParaRPr lang="zh-CN" altLang="en-US" sz="2200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627380" lvl="2" indent="0" eaLnBrk="1" hangingPunct="1">
              <a:lnSpc>
                <a:spcPts val="2800"/>
              </a:lnSpc>
              <a:buSzPct val="100000"/>
              <a:buFont typeface="Symbol" panose="05050102010706020507" pitchFamily="18" charset="2"/>
              <a:buNone/>
            </a:pPr>
            <a:endParaRPr lang="zh-CN" altLang="en-US" sz="2200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Clr>
                <a:srgbClr val="000000"/>
              </a:buClr>
              <a:buSzPct val="100000"/>
              <a:buFont typeface="Wingdings" panose="05000000000000000000" charset="0"/>
              <a:buChar char=""/>
            </a:pPr>
            <a:r>
              <a:rPr lang="zh-CN" altLang="en-US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  <a:sym typeface="+mn-ea"/>
              </a:rPr>
              <a:t>为什么需要</a:t>
            </a:r>
            <a:r>
              <a:rPr lang="en-US" altLang="zh-CN" sz="2200" b="1" i="1" dirty="0">
                <a:solidFill>
                  <a:schemeClr val="tx1"/>
                </a:solidFill>
                <a:ea typeface="华文楷体" panose="02010600040101010101" pitchFamily="2" charset="-122"/>
                <a:sym typeface="+mn-ea"/>
              </a:rPr>
              <a:t>FOLLOW</a:t>
            </a:r>
            <a:r>
              <a:rPr lang="zh-CN" altLang="en-US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  <a:sym typeface="+mn-ea"/>
              </a:rPr>
              <a:t>集</a:t>
            </a:r>
            <a:r>
              <a:rPr lang="zh-CN" altLang="en-US" sz="2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？</a:t>
            </a:r>
            <a:r>
              <a:rPr lang="en-US" altLang="zh-CN" sz="2200" b="1" dirty="0">
                <a:solidFill>
                  <a:schemeClr val="tx1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（考虑</a:t>
            </a:r>
            <a:r>
              <a:rPr lang="en-US" altLang="zh-CN" sz="2200" b="1" i="1" dirty="0">
                <a:solidFill>
                  <a:schemeClr val="tx1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α</a:t>
            </a:r>
            <a:r>
              <a:rPr lang="en-US" altLang="zh-CN" sz="2200" b="1" dirty="0">
                <a:solidFill>
                  <a:schemeClr val="tx1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2200" b="1" i="1" dirty="0">
                <a:solidFill>
                  <a:schemeClr val="tx1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β</a:t>
            </a:r>
            <a:r>
              <a:rPr lang="en-US" altLang="zh-CN" sz="2200" b="1" dirty="0">
                <a:solidFill>
                  <a:schemeClr val="tx1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为</a:t>
            </a:r>
            <a:r>
              <a:rPr lang="en-US" altLang="zh-CN" sz="2200" b="1" i="1" dirty="0">
                <a:solidFill>
                  <a:schemeClr val="tx1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ε</a:t>
            </a:r>
            <a:r>
              <a:rPr lang="en-US" altLang="zh-CN" sz="2200" b="1" dirty="0">
                <a:solidFill>
                  <a:schemeClr val="tx1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200" b="1" i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anose="02020603050405020304" pitchFamily="18" charset="0"/>
              <a:sym typeface="+mn-ea"/>
            </a:endParaRPr>
          </a:p>
          <a:p>
            <a:pPr marL="457200" lvl="2" eaLnBrk="1" hangingPunct="1">
              <a:buClr>
                <a:srgbClr val="000000"/>
              </a:buClr>
              <a:buSzPct val="100000"/>
              <a:buFont typeface="Wingdings" panose="05000000000000000000" charset="0"/>
              <a:buChar char=""/>
            </a:pPr>
            <a:r>
              <a:rPr lang="zh-CN" altLang="en-US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sym typeface="+mn-ea"/>
              </a:rPr>
              <a:t>如果 </a:t>
            </a:r>
            <a:r>
              <a:rPr lang="en-US" altLang="zh-CN" sz="182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α </a:t>
            </a:r>
            <a:r>
              <a:rPr lang="en-US" altLang="zh-CN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1820" b="1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*</a:t>
            </a:r>
            <a:r>
              <a:rPr lang="en-US" altLang="zh-CN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2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ε</a:t>
            </a:r>
            <a:r>
              <a:rPr lang="zh-CN" altLang="el-GR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sym typeface="+mn-ea"/>
              </a:rPr>
              <a:t>，</a:t>
            </a:r>
            <a:r>
              <a:rPr lang="zh-CN" altLang="en-US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sym typeface="+mn-ea"/>
              </a:rPr>
              <a:t>则</a:t>
            </a:r>
            <a:r>
              <a:rPr lang="en-US" altLang="zh-CN" sz="182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FIRST </a:t>
            </a:r>
            <a:r>
              <a:rPr lang="en-US" altLang="zh-CN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182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β</a:t>
            </a:r>
            <a:r>
              <a:rPr lang="en-US" altLang="zh-CN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)∩</a:t>
            </a:r>
            <a:r>
              <a:rPr lang="en-US" altLang="zh-CN" sz="182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FOLLOW</a:t>
            </a:r>
            <a:r>
              <a:rPr lang="en-US" altLang="zh-CN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182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) =</a:t>
            </a:r>
            <a:r>
              <a:rPr lang="el-GR" altLang="zh-CN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Φ</a:t>
            </a:r>
            <a:r>
              <a:rPr lang="zh-CN" altLang="en-US" sz="1820" b="1" dirty="0">
                <a:solidFill>
                  <a:srgbClr val="FF0000"/>
                </a:solidFill>
                <a:ea typeface="华文楷体" panose="02010600040101010101" pitchFamily="2" charset="-122"/>
                <a:sym typeface="+mn-ea"/>
              </a:rPr>
              <a:t>也可以确定产生式</a:t>
            </a:r>
          </a:p>
          <a:p>
            <a:pPr marL="457200" lvl="2" eaLnBrk="1" hangingPunct="1">
              <a:buClr>
                <a:srgbClr val="000000"/>
              </a:buClr>
              <a:buSzPct val="100000"/>
              <a:buFont typeface="Wingdings" panose="05000000000000000000" charset="0"/>
              <a:buChar char=""/>
            </a:pPr>
            <a:r>
              <a:rPr lang="zh-CN" altLang="en-US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sym typeface="+mn-ea"/>
              </a:rPr>
              <a:t>如果 </a:t>
            </a:r>
            <a:r>
              <a:rPr lang="en-US" altLang="zh-CN" sz="182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β </a:t>
            </a:r>
            <a:r>
              <a:rPr lang="en-US" altLang="zh-CN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1820" b="1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* </a:t>
            </a:r>
            <a:r>
              <a:rPr lang="en-US" altLang="zh-CN" sz="182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ε</a:t>
            </a:r>
            <a:r>
              <a:rPr lang="zh-CN" altLang="el-GR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sym typeface="+mn-ea"/>
              </a:rPr>
              <a:t>，</a:t>
            </a:r>
            <a:r>
              <a:rPr lang="zh-CN" altLang="en-US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sym typeface="+mn-ea"/>
              </a:rPr>
              <a:t>则</a:t>
            </a:r>
            <a:r>
              <a:rPr lang="en-US" altLang="zh-CN" sz="182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FIRST </a:t>
            </a:r>
            <a:r>
              <a:rPr lang="en-US" altLang="zh-CN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182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α</a:t>
            </a:r>
            <a:r>
              <a:rPr lang="en-US" altLang="zh-CN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)∩</a:t>
            </a:r>
            <a:r>
              <a:rPr lang="en-US" altLang="zh-CN" sz="182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FOLLOW</a:t>
            </a:r>
            <a:r>
              <a:rPr lang="en-US" altLang="zh-CN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182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) =</a:t>
            </a:r>
            <a:r>
              <a:rPr lang="el-GR" altLang="zh-CN" sz="182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Φ</a:t>
            </a:r>
            <a:r>
              <a:rPr lang="zh-CN" altLang="en-US" sz="1820" b="1" dirty="0">
                <a:solidFill>
                  <a:srgbClr val="FF0000"/>
                </a:solidFill>
                <a:ea typeface="华文楷体" panose="02010600040101010101" pitchFamily="2" charset="-122"/>
                <a:sym typeface="+mn-ea"/>
              </a:rPr>
              <a:t>也可以确定产生式</a:t>
            </a:r>
            <a:endParaRPr lang="zh-CN" altLang="en-US" sz="182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楷体_GB2312"/>
              <a:sym typeface="+mn-ea"/>
            </a:endParaRPr>
          </a:p>
          <a:p>
            <a:pPr marL="457200" lvl="2" eaLnBrk="1" hangingPunct="1">
              <a:buClr>
                <a:srgbClr val="000000"/>
              </a:buClr>
              <a:buSzPct val="100000"/>
              <a:buFont typeface="Wingdings" panose="05000000000000000000" charset="0"/>
              <a:buChar char=""/>
            </a:pPr>
            <a:endParaRPr lang="zh-CN" altLang="en-US" sz="2005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楷体_GB2312"/>
              <a:sym typeface="+mn-ea"/>
            </a:endParaRPr>
          </a:p>
          <a:p>
            <a:pPr lvl="1" eaLnBrk="1" hangingPunct="1">
              <a:buSzPct val="100000"/>
              <a:buFont typeface="Wingdings" panose="05000000000000000000" charset="0"/>
              <a:buChar char=""/>
            </a:pPr>
            <a:endParaRPr lang="zh-CN" altLang="en-US" sz="2015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8915" name="标题 3"/>
          <p:cNvSpPr>
            <a:spLocks noGrp="1"/>
          </p:cNvSpPr>
          <p:nvPr>
            <p:ph type="title"/>
          </p:nvPr>
        </p:nvSpPr>
        <p:spPr>
          <a:xfrm>
            <a:off x="755650" y="268605"/>
            <a:ext cx="1966595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小结</a:t>
            </a:r>
          </a:p>
        </p:txBody>
      </p:sp>
      <p:sp>
        <p:nvSpPr>
          <p:cNvPr id="704514" name="Text Box 2"/>
          <p:cNvSpPr txBox="1"/>
          <p:nvPr/>
        </p:nvSpPr>
        <p:spPr>
          <a:xfrm>
            <a:off x="8089265" y="407988"/>
            <a:ext cx="352425" cy="39878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04515" name="Text Box 3"/>
          <p:cNvSpPr txBox="1"/>
          <p:nvPr/>
        </p:nvSpPr>
        <p:spPr>
          <a:xfrm>
            <a:off x="7520940" y="984250"/>
            <a:ext cx="309880" cy="39878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704517" name="AutoShape 5"/>
          <p:cNvCxnSpPr/>
          <p:nvPr/>
        </p:nvCxnSpPr>
        <p:spPr>
          <a:xfrm flipV="1">
            <a:off x="7800340" y="777875"/>
            <a:ext cx="503238" cy="2159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704518" name="AutoShape 6"/>
          <p:cNvCxnSpPr/>
          <p:nvPr/>
        </p:nvCxnSpPr>
        <p:spPr>
          <a:xfrm>
            <a:off x="8312520" y="781335"/>
            <a:ext cx="511175" cy="246063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2" name="AutoShape 6"/>
          <p:cNvCxnSpPr/>
          <p:nvPr/>
        </p:nvCxnSpPr>
        <p:spPr>
          <a:xfrm>
            <a:off x="8304848" y="768350"/>
            <a:ext cx="0" cy="28829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5" name="文本框 4"/>
          <p:cNvSpPr txBox="1"/>
          <p:nvPr/>
        </p:nvSpPr>
        <p:spPr>
          <a:xfrm>
            <a:off x="8089265" y="912495"/>
            <a:ext cx="62928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2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...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665210" y="912495"/>
            <a:ext cx="62928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2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...</a:t>
            </a:r>
          </a:p>
        </p:txBody>
      </p:sp>
      <p:sp>
        <p:nvSpPr>
          <p:cNvPr id="7" name="Text Box 2"/>
          <p:cNvSpPr txBox="1"/>
          <p:nvPr/>
        </p:nvSpPr>
        <p:spPr>
          <a:xfrm>
            <a:off x="8148320" y="1457643"/>
            <a:ext cx="352425" cy="39878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 Box 3"/>
          <p:cNvSpPr txBox="1"/>
          <p:nvPr/>
        </p:nvSpPr>
        <p:spPr>
          <a:xfrm>
            <a:off x="7532370" y="1966595"/>
            <a:ext cx="309880" cy="39878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9" name="AutoShape 5"/>
          <p:cNvCxnSpPr/>
          <p:nvPr/>
        </p:nvCxnSpPr>
        <p:spPr>
          <a:xfrm flipV="1">
            <a:off x="7811770" y="1760220"/>
            <a:ext cx="503238" cy="21590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10" name="AutoShape 6"/>
          <p:cNvCxnSpPr/>
          <p:nvPr/>
        </p:nvCxnSpPr>
        <p:spPr>
          <a:xfrm>
            <a:off x="8323950" y="1763680"/>
            <a:ext cx="511175" cy="246063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11" name="AutoShape 6"/>
          <p:cNvCxnSpPr/>
          <p:nvPr/>
        </p:nvCxnSpPr>
        <p:spPr>
          <a:xfrm>
            <a:off x="8316278" y="1750695"/>
            <a:ext cx="0" cy="28829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12" name="文本框 11"/>
          <p:cNvSpPr txBox="1"/>
          <p:nvPr/>
        </p:nvSpPr>
        <p:spPr>
          <a:xfrm>
            <a:off x="8100695" y="1894840"/>
            <a:ext cx="62928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2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...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676640" y="1894840"/>
            <a:ext cx="62928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2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...</a:t>
            </a:r>
          </a:p>
        </p:txBody>
      </p:sp>
      <p:sp>
        <p:nvSpPr>
          <p:cNvPr id="14" name="Text Box 3"/>
          <p:cNvSpPr txBox="1"/>
          <p:nvPr/>
        </p:nvSpPr>
        <p:spPr>
          <a:xfrm>
            <a:off x="7658735" y="-19685"/>
            <a:ext cx="309880" cy="39878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884795" y="-92075"/>
            <a:ext cx="11487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2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... ... ...</a:t>
            </a:r>
          </a:p>
        </p:txBody>
      </p:sp>
      <p:sp>
        <p:nvSpPr>
          <p:cNvPr id="710663" name="Line 7"/>
          <p:cNvSpPr/>
          <p:nvPr/>
        </p:nvSpPr>
        <p:spPr>
          <a:xfrm flipV="1">
            <a:off x="7799388" y="289560"/>
            <a:ext cx="0" cy="163513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" name="椭圆 16"/>
          <p:cNvSpPr/>
          <p:nvPr/>
        </p:nvSpPr>
        <p:spPr>
          <a:xfrm>
            <a:off x="7520940" y="993775"/>
            <a:ext cx="1512570" cy="426085"/>
          </a:xfrm>
          <a:prstGeom prst="ellipse">
            <a:avLst/>
          </a:prstGeom>
          <a:noFill/>
          <a:ln>
            <a:solidFill>
              <a:srgbClr val="00009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7532370" y="1976120"/>
            <a:ext cx="1512570" cy="42608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164070" y="953135"/>
            <a:ext cx="4248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2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α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164070" y="1935480"/>
            <a:ext cx="44767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2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β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996055" y="551815"/>
            <a:ext cx="311658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1.</a:t>
            </a:r>
            <a:r>
              <a:rPr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假设当前字符串指向</a:t>
            </a:r>
            <a:r>
              <a:rPr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token</a:t>
            </a:r>
            <a:r>
              <a:rPr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为</a:t>
            </a:r>
            <a:r>
              <a:rPr lang="en-US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</a:t>
            </a:r>
            <a:endParaRPr lang="zh-CN" altLang="en-US" sz="1800" b="1" i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1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当前最左非终结符为</a:t>
            </a:r>
            <a:r>
              <a:rPr lang="en-US" altLang="zh-CN" sz="1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1800" b="1" i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3.需要选择</a:t>
            </a:r>
            <a:r>
              <a:rPr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其中一个</a:t>
            </a:r>
            <a:r>
              <a:rPr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产生式</a:t>
            </a:r>
            <a:r>
              <a:rPr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28040" y="2139315"/>
            <a:ext cx="58699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知道开始非终结符能帮助我们</a:t>
            </a:r>
            <a:r>
              <a:rPr 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快速选择产生式；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反之，若文法中，</a:t>
            </a:r>
            <a:r>
              <a:rPr 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相同左部的</a:t>
            </a:r>
            <a:r>
              <a:rPr lang="en-US" altLang="zh-CN" sz="18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FIRST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集不相交，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则语法分析可以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确定产生式，避免回溯</a:t>
            </a:r>
            <a:endParaRPr lang="zh-CN" altLang="en-US" sz="18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2"/>
          <p:cNvSpPr txBox="1"/>
          <p:nvPr/>
        </p:nvSpPr>
        <p:spPr>
          <a:xfrm>
            <a:off x="7776210" y="3384233"/>
            <a:ext cx="352425" cy="39878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6" name="AutoShape 6"/>
          <p:cNvCxnSpPr/>
          <p:nvPr/>
        </p:nvCxnSpPr>
        <p:spPr>
          <a:xfrm>
            <a:off x="7952423" y="3744595"/>
            <a:ext cx="0" cy="28829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23" name="文本框 22"/>
          <p:cNvSpPr txBox="1"/>
          <p:nvPr/>
        </p:nvSpPr>
        <p:spPr>
          <a:xfrm>
            <a:off x="7799705" y="4040505"/>
            <a:ext cx="267970" cy="375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845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ε</a:t>
            </a:r>
          </a:p>
        </p:txBody>
      </p:sp>
      <p:sp>
        <p:nvSpPr>
          <p:cNvPr id="24" name="椭圆 23"/>
          <p:cNvSpPr/>
          <p:nvPr/>
        </p:nvSpPr>
        <p:spPr>
          <a:xfrm>
            <a:off x="8128635" y="3457575"/>
            <a:ext cx="863600" cy="287020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 Box 3"/>
          <p:cNvSpPr txBox="1"/>
          <p:nvPr/>
        </p:nvSpPr>
        <p:spPr>
          <a:xfrm>
            <a:off x="8150225" y="3375660"/>
            <a:ext cx="309880" cy="39878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0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03895" y="3321685"/>
            <a:ext cx="62928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2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...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8529955" y="3319145"/>
            <a:ext cx="62928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2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...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405" y="4412615"/>
            <a:ext cx="1237615" cy="549275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8150225" y="3796030"/>
            <a:ext cx="1068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紧跟在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A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后边的终结符的集合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2"/>
          <p:cNvSpPr>
            <a:spLocks noGrp="1"/>
          </p:cNvSpPr>
          <p:nvPr>
            <p:ph idx="1"/>
          </p:nvPr>
        </p:nvSpPr>
        <p:spPr>
          <a:xfrm>
            <a:off x="285750" y="774700"/>
            <a:ext cx="8572500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3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文法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(1)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的，当且仅当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的任意两个具有相同左部的产生式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→ α | β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满足下面的条件：</a:t>
            </a:r>
          </a:p>
          <a:p>
            <a:pPr marL="576580" marR="0" lvl="1" indent="-273050" algn="l" defTabSz="914400" rtl="0" eaLnBrk="1" fontAlgn="base" latinLnBrk="0" hangingPunct="1">
              <a:lnSpc>
                <a:spcPts val="33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Times New Roman" panose="02020603050405020304" pitchFamily="18" charset="0"/>
              </a:rPr>
              <a:t>若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Times New Roman" panose="02020603050405020304" pitchFamily="18" charset="0"/>
              </a:rPr>
              <a:t>都不为空，则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sym typeface="+mn-ea"/>
              </a:rPr>
              <a:t>FIRST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sym typeface="+mn-ea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sym typeface="+mn-ea"/>
              </a:rPr>
              <a:t>α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sym typeface="+mn-ea"/>
              </a:rPr>
              <a:t>)</a:t>
            </a:r>
            <a:r>
              <a:rPr lang="en-US" altLang="zh-CN" sz="25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∩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sym typeface="+mn-ea"/>
              </a:rPr>
              <a:t>FIRST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sym typeface="+mn-ea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sym typeface="+mn-ea"/>
              </a:rPr>
              <a:t>β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sym typeface="+mn-ea"/>
              </a:rPr>
              <a:t>) </a:t>
            </a:r>
            <a:r>
              <a:rPr lang="en-US" altLang="zh-CN" sz="25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= </a:t>
            </a:r>
            <a:r>
              <a:rPr lang="el-GR" altLang="zh-CN" sz="25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Φ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33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至多有一个能推导出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ε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 </a:t>
            </a:r>
            <a:r>
              <a:rPr kumimoji="0" lang="zh-CN" altLang="en-US" sz="25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且</a:t>
            </a:r>
            <a:endParaRPr kumimoji="0" lang="en-US" altLang="zh-CN" sz="2500" b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82930" lvl="2" indent="0" eaLnBrk="1" hangingPunct="1">
              <a:lnSpc>
                <a:spcPts val="3300"/>
              </a:lnSpc>
              <a:buClr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如果 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 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0" lang="en-US" altLang="zh-CN" sz="23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 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  <a:r>
              <a:rPr kumimoji="0" lang="zh-CN" altLang="el-GR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则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FIRST 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)∩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FOLLOW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=</a:t>
            </a:r>
            <a:r>
              <a:rPr kumimoji="0" lang="el-GR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Φ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；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楷体_GB2312"/>
            </a:endParaRPr>
          </a:p>
          <a:p>
            <a:pPr marL="582930" lvl="2" indent="0" eaLnBrk="1" hangingPunct="1">
              <a:lnSpc>
                <a:spcPts val="3300"/>
              </a:lnSpc>
              <a:buClr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如果 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 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0" lang="en-US" altLang="zh-CN" sz="23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  <a:r>
              <a:rPr kumimoji="0" lang="zh-CN" altLang="el-GR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则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FIRST 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)∩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FOLLOW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=</a:t>
            </a:r>
            <a:r>
              <a:rPr kumimoji="0" lang="el-GR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Φ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；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楷体_GB2312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楷体_GB2312"/>
            </a:endParaRPr>
          </a:p>
        </p:txBody>
      </p:sp>
      <p:sp>
        <p:nvSpPr>
          <p:cNvPr id="4198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LL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文法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矩形 4"/>
          <p:cNvSpPr>
            <a:spLocks noChangeArrowheads="1"/>
          </p:cNvSpPr>
          <p:nvPr/>
        </p:nvSpPr>
        <p:spPr bwMode="auto">
          <a:xfrm>
            <a:off x="1406525" y="3810000"/>
            <a:ext cx="6665913" cy="47561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同一非终结符的各个产生式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互不冲突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100012" y="3749675"/>
            <a:ext cx="9043987" cy="12461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第一个“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从左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向右扫描输入</a:t>
            </a:r>
          </a:p>
          <a:p>
            <a:pPr marL="285750" marR="0" lvl="0" indent="-285750" algn="l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第二个“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表示产生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最左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推导</a:t>
            </a:r>
          </a:p>
          <a:p>
            <a:pPr marL="285750" marR="0" lvl="0" indent="-285750" algn="l" defTabSz="914400" rtl="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1”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表示在每一步中只需要向前看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输入符号来决定语法分析动作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LL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文法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285750" y="774700"/>
            <a:ext cx="8572500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3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文法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(1)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的，当且仅当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的任意两个具有相同左部的产生式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→ α | β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满足下面的条件：</a:t>
            </a:r>
          </a:p>
          <a:p>
            <a:pPr marL="576580" marR="0" lvl="1" indent="-273050" algn="l" defTabSz="914400" rtl="0" eaLnBrk="1" fontAlgn="base" latinLnBrk="0" hangingPunct="1">
              <a:lnSpc>
                <a:spcPts val="33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Times New Roman" panose="02020603050405020304" pitchFamily="18" charset="0"/>
              </a:rPr>
              <a:t>若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Times New Roman" panose="02020603050405020304" pitchFamily="18" charset="0"/>
              </a:rPr>
              <a:t>都不为空，则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sym typeface="+mn-ea"/>
              </a:rPr>
              <a:t>FIRST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sym typeface="+mn-ea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sym typeface="+mn-ea"/>
              </a:rPr>
              <a:t>α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sym typeface="+mn-ea"/>
              </a:rPr>
              <a:t>)</a:t>
            </a:r>
            <a:r>
              <a:rPr lang="en-US" altLang="zh-CN" sz="25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∩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sym typeface="+mn-ea"/>
              </a:rPr>
              <a:t>FIRST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sym typeface="+mn-ea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sym typeface="+mn-ea"/>
              </a:rPr>
              <a:t>β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sym typeface="+mn-ea"/>
              </a:rPr>
              <a:t>) </a:t>
            </a:r>
            <a:r>
              <a:rPr lang="en-US" altLang="zh-CN" sz="25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= </a:t>
            </a:r>
            <a:r>
              <a:rPr lang="el-GR" altLang="zh-CN" sz="25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Φ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33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至多有一个能推导出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ε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 </a:t>
            </a:r>
            <a:r>
              <a:rPr kumimoji="0" lang="zh-CN" altLang="en-US" sz="25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且</a:t>
            </a:r>
            <a:endParaRPr kumimoji="0" lang="en-US" altLang="zh-CN" sz="2500" b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82930" lvl="2" indent="0" eaLnBrk="1" hangingPunct="1">
              <a:lnSpc>
                <a:spcPts val="3300"/>
              </a:lnSpc>
              <a:buClr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如果 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 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0" lang="en-US" altLang="zh-CN" sz="23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 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  <a:r>
              <a:rPr kumimoji="0" lang="zh-CN" altLang="el-GR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则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FIRST 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)∩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FOLLOW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=</a:t>
            </a:r>
            <a:r>
              <a:rPr kumimoji="0" lang="el-GR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Φ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；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楷体_GB2312"/>
            </a:endParaRPr>
          </a:p>
          <a:p>
            <a:pPr marL="582930" lvl="2" indent="0" eaLnBrk="1" hangingPunct="1">
              <a:lnSpc>
                <a:spcPts val="3300"/>
              </a:lnSpc>
              <a:buClr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如果 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 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0" lang="en-US" altLang="zh-CN" sz="23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  <a:r>
              <a:rPr kumimoji="0" lang="zh-CN" altLang="el-GR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则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FIRST 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)∩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FOLLOW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=</a:t>
            </a:r>
            <a:r>
              <a:rPr kumimoji="0" lang="el-GR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Φ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；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楷体_GB2312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143250" y="1571625"/>
            <a:ext cx="5857875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</a:t>
            </a:r>
            <a:r>
              <a:rPr kumimoji="0" lang="en-US" altLang="zh-CN" sz="3000" kern="1200" cap="none" spc="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FIRST</a:t>
            </a:r>
            <a:r>
              <a:rPr kumimoji="0" lang="zh-CN" altLang="en-US" sz="30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集和</a:t>
            </a:r>
            <a:endParaRPr kumimoji="0" lang="en-US" altLang="zh-CN" sz="3000" kern="1200" cap="none" spc="3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      </a:t>
            </a:r>
            <a:r>
              <a:rPr kumimoji="0" lang="en-US" altLang="zh-CN" sz="3000" kern="1200" cap="none" spc="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FOLLOW</a:t>
            </a:r>
            <a:r>
              <a:rPr kumimoji="0" lang="zh-CN" altLang="en-US" sz="30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集的计算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643313" y="1143000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第四章 语法分析</a:t>
            </a:r>
            <a:endParaRPr kumimoji="0" lang="zh-CN" altLang="en-US" sz="800" kern="1200" cap="none" spc="3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计算文法符号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FIRST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2874" y="1131795"/>
            <a:ext cx="9001125" cy="9387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658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FIRST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500" b="1" i="0" u="none" strike="noStrike" kern="1200" cap="none" spc="-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：可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以从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推导出的所有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串首终结符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构成的集合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，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那么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FIRST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计算文法符号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FIRST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内容占位符 1"/>
          <p:cNvSpPr>
            <a:spLocks noGrp="1"/>
          </p:cNvSpPr>
          <p:nvPr>
            <p:ph idx="1"/>
          </p:nvPr>
        </p:nvSpPr>
        <p:spPr>
          <a:xfrm>
            <a:off x="863600" y="2071688"/>
            <a:ext cx="8280400" cy="24812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TE'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		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E'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→ +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TE'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|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		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→ 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 '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		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 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*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 ' 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|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	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⑤ 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→ (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)|id		</a:t>
            </a:r>
            <a:endParaRPr kumimoji="1" lang="en-US" altLang="zh-CN" sz="25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007100" y="3032125"/>
            <a:ext cx="446088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solidFill>
                  <a:srgbClr val="073E87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endParaRPr lang="zh-CN" altLang="en-US" sz="2500" b="1" dirty="0"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473825" y="3000375"/>
            <a:ext cx="315913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ε</a:t>
            </a:r>
            <a:endParaRPr lang="zh-CN" altLang="en-US" sz="2500" b="1" dirty="0"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22975" y="3949700"/>
            <a:ext cx="425450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*</a:t>
            </a:r>
            <a:r>
              <a:rPr lang="en-US" altLang="zh-CN" sz="2500" b="1" dirty="0">
                <a:solidFill>
                  <a:srgbClr val="073E87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endParaRPr lang="zh-CN" altLang="en-US" sz="2500" b="1" dirty="0"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481763" y="3878263"/>
            <a:ext cx="396875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ε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endParaRPr lang="zh-CN" altLang="en-US" sz="2500" b="1" dirty="0"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967413" y="3446463"/>
            <a:ext cx="1041400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(     id </a:t>
            </a:r>
            <a:endParaRPr lang="zh-CN" altLang="en-US" sz="2500" b="1" dirty="0"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967413" y="4381500"/>
            <a:ext cx="1041400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500" b="1" dirty="0">
                <a:solidFill>
                  <a:srgbClr val="073E87"/>
                </a:solidFill>
                <a:latin typeface="Times New Roman" panose="02020603050405020304" pitchFamily="18" charset="0"/>
                <a:ea typeface="楷体_GB2312"/>
              </a:rPr>
              <a:t>     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id</a:t>
            </a:r>
            <a:r>
              <a:rPr lang="en-US" altLang="zh-CN" sz="2500" b="1" dirty="0">
                <a:solidFill>
                  <a:srgbClr val="073E87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endParaRPr lang="zh-CN" altLang="en-US" sz="2500" b="1" dirty="0"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967413" y="2543175"/>
            <a:ext cx="1041400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5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(     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id</a:t>
            </a:r>
            <a:r>
              <a:rPr lang="en-US" altLang="zh-CN" sz="25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endParaRPr lang="zh-CN" altLang="en-US" sz="2500" dirty="0"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522663" y="2522538"/>
            <a:ext cx="4730750" cy="26924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FIRST 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) = {		} 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73E87"/>
              </a:buClr>
              <a:buSzPct val="75000"/>
              <a:buFontTx/>
              <a:buNone/>
              <a:defRPr/>
            </a:pP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FIRST 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E' 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 = {		} 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73E87"/>
              </a:buClr>
              <a:buSzPct val="75000"/>
              <a:buFontTx/>
              <a:buNone/>
              <a:defRPr/>
            </a:pP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FIRST 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  = {		} 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73E87"/>
              </a:buClr>
              <a:buSzPct val="75000"/>
              <a:buFontTx/>
              <a:buNone/>
              <a:defRPr/>
            </a:pP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FIRST 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T'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 = {		} 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73E87"/>
              </a:buClr>
              <a:buSzPct val="75000"/>
              <a:buFontTx/>
              <a:buNone/>
              <a:defRPr/>
            </a:pP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FIRST 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  = {		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 </a:t>
            </a:r>
          </a:p>
          <a:p>
            <a:pPr marL="274320" marR="0" lvl="0" indent="-27432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2874" y="1055434"/>
            <a:ext cx="9001125" cy="9387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658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FIRST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500" b="1" i="0" u="none" strike="noStrike" kern="1200" cap="none" spc="-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：可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以从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推导出的所有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串首终结符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构成的集合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，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那么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FIRST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内容占位符 2"/>
          <p:cNvSpPr>
            <a:spLocks noGrp="1"/>
          </p:cNvSpPr>
          <p:nvPr>
            <p:ph idx="1"/>
          </p:nvPr>
        </p:nvSpPr>
        <p:spPr>
          <a:xfrm>
            <a:off x="336550" y="714375"/>
            <a:ext cx="8521700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zh-CN" altLang="en-US" sz="25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541020" y="26701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41020" y="713740"/>
            <a:ext cx="7138035" cy="3121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500" b="1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+mn-ea"/>
              </a:rPr>
              <a:t>计算</a:t>
            </a:r>
            <a:r>
              <a:rPr lang="en-US" altLang="zh-CN" sz="2200" b="1" dirty="0">
                <a:latin typeface="Times New Roman Bold Italic" panose="02020603050405020304" charset="0"/>
                <a:ea typeface="微软雅黑" panose="020B0503020204020204" pitchFamily="34" charset="-122"/>
                <a:cs typeface="Times New Roman Bold Italic" panose="02020603050405020304" charset="0"/>
                <a:sym typeface="+mn-ea"/>
              </a:rPr>
              <a:t>FIRST(</a:t>
            </a:r>
            <a:r>
              <a:rPr lang="en-US" altLang="zh-CN" sz="2200" b="1" i="1" dirty="0">
                <a:latin typeface="Times New Roman Bold Italic" panose="02020603050405020304" charset="0"/>
                <a:ea typeface="微软雅黑" panose="020B0503020204020204" pitchFamily="34" charset="-122"/>
                <a:cs typeface="Times New Roman Bold Italic" panose="02020603050405020304" charset="0"/>
                <a:sym typeface="+mn-ea"/>
              </a:rPr>
              <a:t>X</a:t>
            </a:r>
            <a:r>
              <a:rPr lang="en-US" altLang="zh-CN" sz="2200" b="1" dirty="0">
                <a:latin typeface="Times New Roman Bold Italic" panose="02020603050405020304" charset="0"/>
                <a:ea typeface="微软雅黑" panose="020B0503020204020204" pitchFamily="34" charset="-122"/>
                <a:cs typeface="Times New Roman Bold Italic" panose="02020603050405020304" charset="0"/>
                <a:sym typeface="+mn-ea"/>
              </a:rPr>
              <a:t>)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(from the dragon book)</a:t>
            </a:r>
            <a:endParaRPr lang="zh-CN" altLang="en-US" sz="2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500" b="1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+mn-ea"/>
              </a:rPr>
              <a:t>输入：</a:t>
            </a:r>
            <a:r>
              <a:rPr lang="en-US" altLang="zh-CN" sz="22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G=</a:t>
            </a:r>
            <a:r>
              <a:rPr lang="zh-CN" altLang="en-US" sz="22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2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200" b="1" i="1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T </a:t>
            </a:r>
            <a:r>
              <a:rPr lang="en-US" altLang="zh-CN" sz="22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, V</a:t>
            </a:r>
            <a:r>
              <a:rPr lang="en-US" altLang="zh-CN" sz="2200" b="1" i="1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N </a:t>
            </a:r>
            <a:r>
              <a:rPr lang="en-US" altLang="zh-CN" sz="22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, P , S </a:t>
            </a:r>
            <a:r>
              <a:rPr lang="zh-CN" altLang="en-US" sz="22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200" b="1" i="1" dirty="0">
                <a:latin typeface="Times New Roman Bold Italic" panose="02020603050405020304" charset="0"/>
                <a:ea typeface="微软雅黑" panose="020B0503020204020204" pitchFamily="34" charset="-122"/>
                <a:cs typeface="Times New Roman Bold Italic" panose="02020603050405020304" charset="0"/>
                <a:sym typeface="+mn-ea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2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200" b="1" i="1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T </a:t>
            </a:r>
            <a:r>
              <a:rPr lang="en-US" altLang="zh-CN" sz="2200" b="1" dirty="0">
                <a:latin typeface="Times New Roman Bold" panose="02020603050405020304" charset="0"/>
                <a:ea typeface="微软雅黑" panose="020B0503020204020204" pitchFamily="34" charset="-122"/>
                <a:cs typeface="Times New Roman Bold" panose="02020603050405020304" charset="0"/>
                <a:sym typeface="+mn-ea"/>
              </a:rPr>
              <a:t>∪</a:t>
            </a:r>
            <a:r>
              <a:rPr lang="en-US" altLang="zh-CN" sz="2200" b="1" i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200" b="1" i="1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);</a:t>
            </a:r>
            <a:endParaRPr lang="en-US" altLang="zh-CN" sz="2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500" b="1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+mn-ea"/>
              </a:rPr>
              <a:t>输出：</a:t>
            </a:r>
            <a:r>
              <a:rPr lang="en-US" altLang="zh-CN" sz="2200" b="1" dirty="0">
                <a:latin typeface="Times New Roman Bold Italic" panose="02020603050405020304" charset="0"/>
                <a:ea typeface="微软雅黑" panose="020B0503020204020204" pitchFamily="34" charset="-122"/>
                <a:cs typeface="Times New Roman Bold Italic" panose="02020603050405020304" charset="0"/>
                <a:sym typeface="+mn-ea"/>
              </a:rPr>
              <a:t>FIRST</a:t>
            </a:r>
            <a:r>
              <a:rPr lang="en-US" altLang="zh-CN" sz="2200" b="1" dirty="0">
                <a:latin typeface="Times New Roman Bold" panose="02020603050405020304" charset="0"/>
                <a:ea typeface="微软雅黑" panose="020B0503020204020204" pitchFamily="34" charset="-122"/>
                <a:cs typeface="Times New Roman Bold" panose="02020603050405020304" charset="0"/>
                <a:sym typeface="+mn-ea"/>
              </a:rPr>
              <a:t>(</a:t>
            </a:r>
            <a:r>
              <a:rPr lang="en-US" altLang="zh-CN" sz="2200" b="1" i="1" dirty="0">
                <a:latin typeface="Times New Roman Bold Italic" panose="02020603050405020304" charset="0"/>
                <a:ea typeface="微软雅黑" panose="020B0503020204020204" pitchFamily="34" charset="-122"/>
                <a:cs typeface="Times New Roman Bold Italic" panose="02020603050405020304" charset="0"/>
                <a:sym typeface="+mn-ea"/>
              </a:rPr>
              <a:t>X</a:t>
            </a:r>
            <a:r>
              <a:rPr lang="en-US" altLang="zh-CN" sz="2200" b="1" dirty="0">
                <a:latin typeface="Times New Roman Bold" panose="02020603050405020304" charset="0"/>
                <a:ea typeface="微软雅黑" panose="020B0503020204020204" pitchFamily="34" charset="-122"/>
                <a:cs typeface="Times New Roman Bold" panose="02020603050405020304" charset="0"/>
                <a:sym typeface="+mn-ea"/>
              </a:rPr>
              <a:t>);</a:t>
            </a:r>
            <a:endParaRPr lang="en-US" altLang="zh-CN" sz="2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500" b="1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+mn-ea"/>
              </a:rPr>
              <a:t>步骤：</a:t>
            </a:r>
            <a:endParaRPr lang="zh-CN" altLang="en-US" sz="2500" b="1" noProof="0" dirty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</a:t>
            </a:r>
          </a:p>
        </p:txBody>
      </p:sp>
      <p:pic>
        <p:nvPicPr>
          <p:cNvPr id="3" name="Picture 2" descr="Screenshot 2023-09-12 at 14.51.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60" y="2067560"/>
            <a:ext cx="5892165" cy="20243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357188" y="857250"/>
            <a:ext cx="8572500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42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向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FIRST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X</a:t>
            </a:r>
            <a:r>
              <a:rPr lang="en-US" altLang="zh-CN" sz="2500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1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X</a:t>
            </a:r>
            <a:r>
              <a:rPr lang="en-US" altLang="zh-CN" sz="2500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lang="en-US" altLang="zh-CN" sz="25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…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X</a:t>
            </a:r>
            <a:r>
              <a:rPr lang="en-US" altLang="zh-CN" sz="25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n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加入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FIRST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X</a:t>
            </a:r>
            <a:r>
              <a:rPr lang="en-US" altLang="zh-CN" sz="2500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1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中所有的非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符号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lnSpc>
                <a:spcPts val="42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如果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在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FIRST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X</a:t>
            </a:r>
            <a:r>
              <a:rPr lang="en-US" altLang="zh-CN" sz="2500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1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中，再加入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FIRST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X</a:t>
            </a:r>
            <a:r>
              <a:rPr lang="en-US" altLang="zh-CN" sz="2500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中的所有非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符号；如果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在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FIRST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X</a:t>
            </a:r>
            <a:r>
              <a:rPr lang="en-US" altLang="zh-CN" sz="2500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1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和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FIRST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X</a:t>
            </a:r>
            <a:r>
              <a:rPr lang="en-US" altLang="zh-CN" sz="2500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中，再加入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FIRST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X</a:t>
            </a:r>
            <a:r>
              <a:rPr lang="en-US" altLang="zh-CN" sz="2500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3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中的所有非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符号，以此类推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lnSpc>
                <a:spcPts val="42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最后，如果对所有的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i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  <a:r>
              <a:rPr lang="zh-CN" altLang="en-US" sz="2500" b="1" kern="1200" dirty="0">
                <a:solidFill>
                  <a:schemeClr val="tx1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都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在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FIRST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X</a:t>
            </a:r>
            <a:r>
              <a:rPr lang="en-US" altLang="zh-CN" sz="25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i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中，那么将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加入到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FIRST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X</a:t>
            </a:r>
            <a:r>
              <a:rPr lang="en-US" altLang="zh-CN" sz="2500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1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X</a:t>
            </a:r>
            <a:r>
              <a:rPr lang="en-US" altLang="zh-CN" sz="2500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lang="en-US" altLang="zh-CN" sz="25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…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X</a:t>
            </a:r>
            <a:r>
              <a:rPr lang="en-US" altLang="zh-CN" sz="25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n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 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</a:t>
            </a:r>
          </a:p>
        </p:txBody>
      </p:sp>
      <p:sp>
        <p:nvSpPr>
          <p:cNvPr id="4813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计算串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3000" b="1" i="0" u="none" strike="noStrike" kern="1200" cap="none" spc="30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3000" b="1" i="0" u="none" strike="noStrike" kern="1200" cap="none" spc="30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3000" b="1" i="1" u="none" strike="noStrike" kern="1200" cap="none" spc="30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kumimoji="0" lang="en-US" altLang="zh-CN" sz="3000" b="1" i="1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3000" b="1" i="1" u="none" strike="noStrike" kern="1200" cap="none" spc="30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FIRST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endParaRPr kumimoji="0" lang="zh-CN" altLang="en-US" sz="3000" b="1" i="1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计算非终结符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FOLLOW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57188" y="928688"/>
                <a:ext cx="8429625" cy="155829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>
                <a:lvl1pPr marL="273050" indent="-2730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273050" marR="0" lvl="0" indent="-273050" algn="l" defTabSz="914400" rtl="0" eaLnBrk="1" fontAlgn="base" latinLnBrk="0" hangingPunct="1">
                  <a:lnSpc>
                    <a:spcPts val="25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100000"/>
                  <a:buFont typeface="Wingdings" panose="05000000000000000000" pitchFamily="2" charset="2"/>
                  <a:buChar char="Ø"/>
                  <a:defRPr/>
                </a:pP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FOLLOW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：可能在某个句型中紧跟在</a:t>
                </a: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后边的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终结符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的集合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273050" marR="0" lvl="0" indent="-273050" algn="ctr" defTabSz="914400" rtl="0" eaLnBrk="1" fontAlgn="base" latinLnBrk="0" hangingPunct="1">
                  <a:lnSpc>
                    <a:spcPts val="25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1B6FD"/>
                  </a:buClr>
                  <a:buSzPct val="100000"/>
                  <a:buFontTx/>
                  <a:buNone/>
                  <a:defRPr/>
                </a:pP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FOLLOW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)={a|</a:t>
                </a: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S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  <a:sym typeface="Symbol" panose="05050102010706020507" pitchFamily="18" charset="2"/>
                  </a:rPr>
                  <a:t></a:t>
                </a:r>
                <a:r>
                  <a:rPr kumimoji="0" lang="en-US" altLang="zh-CN" sz="2000" b="1" i="0" u="none" strike="noStrike" kern="1200" cap="none" spc="0" normalizeH="0" baseline="30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*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α</a:t>
                </a:r>
                <a:r>
                  <a:rPr kumimoji="0" lang="en-US" altLang="zh-CN" sz="20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A</a:t>
                </a:r>
                <a:r>
                  <a:rPr kumimoji="0" lang="en-US" altLang="zh-CN" sz="20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3333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a</a:t>
                </a: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β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, a∈</a:t>
                </a: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CN" sz="2000" b="1" i="1" u="none" strike="noStrike" kern="120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T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α,β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∈(</a:t>
                </a: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CN" sz="2000" b="1" i="1" u="none" strike="noStrike" kern="120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∪</a:t>
                </a:r>
                <a:r>
                  <a: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CN" sz="2000" b="1" i="1" u="none" strike="noStrike" kern="120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N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)</a:t>
                </a:r>
                <a:r>
                  <a:rPr kumimoji="0" lang="en-US" altLang="zh-CN" sz="2000" b="1" i="0" u="none" strike="noStrike" kern="1200" cap="none" spc="0" normalizeH="0" baseline="30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*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}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ts val="25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100000"/>
                  <a:buFont typeface="Wingdings" panose="05000000000000000000" charset="0"/>
                  <a:buChar char=""/>
                  <a:defRPr/>
                </a:pPr>
                <a:r>
                  <a:rPr lang="en-US" altLang="zh-CN" sz="2000" b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sym typeface="+mn-ea"/>
                  </a:rPr>
                  <a:t>$</a:t>
                </a:r>
                <a14:m>
                  <m:oMath xmlns:m="http://schemas.openxmlformats.org/officeDocument/2006/math">
                    <m:r>
                      <a:rPr lang="en-US" altLang="zh-CN" sz="2000" b="1" i="1" noProof="0" dirty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华文楷体" panose="02010600040101010101" pitchFamily="2" charset="-122"/>
                        <a:cs typeface="DejaVu Math TeX Gyre" panose="02000503000000000000" charset="0"/>
                        <a:sym typeface="+mn-ea"/>
                      </a:rPr>
                      <m:t>∈</m:t>
                    </m:r>
                  </m:oMath>
                </a14:m>
                <a:r>
                  <a:rPr lang="en-US" altLang="zh-CN" sz="2000" b="1" i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FOLLOW</a:t>
                </a:r>
                <a:r>
                  <a:rPr lang="en-US" altLang="zh-CN" sz="2000" b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(</a:t>
                </a:r>
                <a:r>
                  <a:rPr lang="en-US" altLang="zh-CN" sz="2000" b="1" i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S</a:t>
                </a:r>
                <a:r>
                  <a:rPr lang="en-US" altLang="zh-CN" sz="2000" b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)</a:t>
                </a:r>
              </a:p>
              <a:p>
                <a:pPr marL="273050" marR="0" lvl="0" indent="-273050" algn="l" defTabSz="914400" rtl="0" eaLnBrk="1" fontAlgn="base" latinLnBrk="0" hangingPunct="1">
                  <a:lnSpc>
                    <a:spcPts val="25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100000"/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000" b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sym typeface="+mn-ea"/>
                  </a:rPr>
                  <a:t>如果</a:t>
                </a:r>
                <a:r>
                  <a:rPr lang="en-US" altLang="zh-CN" sz="2000" b="1" i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sym typeface="+mn-ea"/>
                  </a:rPr>
                  <a:t>A</a:t>
                </a:r>
                <a:r>
                  <a:rPr lang="zh-CN" altLang="en-US" sz="2000" b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sym typeface="+mn-ea"/>
                  </a:rPr>
                  <a:t>是某个句型的的最右符号，则将结束符</a:t>
                </a:r>
                <a:r>
                  <a:rPr lang="en-US" altLang="zh-CN" sz="2000" b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sym typeface="+mn-ea"/>
                  </a:rPr>
                  <a:t>$</a:t>
                </a:r>
                <a:r>
                  <a:rPr lang="zh-CN" altLang="en-US" sz="2000" b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sym typeface="+mn-ea"/>
                  </a:rPr>
                  <a:t>添加到</a:t>
                </a:r>
                <a:r>
                  <a:rPr lang="en-US" altLang="zh-CN" sz="2000" b="1" i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sym typeface="+mn-ea"/>
                  </a:rPr>
                  <a:t>FOLLOW</a:t>
                </a:r>
                <a:r>
                  <a:rPr lang="en-US" altLang="zh-CN" sz="2000" b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sym typeface="+mn-ea"/>
                  </a:rPr>
                  <a:t>(</a:t>
                </a:r>
                <a:r>
                  <a:rPr lang="en-US" altLang="zh-CN" sz="2000" b="1" i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sym typeface="+mn-ea"/>
                  </a:rPr>
                  <a:t>A</a:t>
                </a:r>
                <a:r>
                  <a:rPr lang="en-US" altLang="zh-CN" sz="2000" b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sym typeface="+mn-ea"/>
                  </a:rPr>
                  <a:t>)</a:t>
                </a:r>
                <a:r>
                  <a:rPr lang="zh-CN" altLang="en-US" sz="2000" b="1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sym typeface="+mn-ea"/>
                  </a:rPr>
                  <a:t>中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88" y="928688"/>
                <a:ext cx="8429625" cy="1558290"/>
              </a:xfrm>
              <a:prstGeom prst="rect">
                <a:avLst/>
              </a:prstGeom>
              <a:blipFill rotWithShape="1">
                <a:blip r:embed="rId3"/>
                <a:stretch>
                  <a:fillRect l="-79" t="-428" r="-72" b="-38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计算非终结符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FOLLOW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188" y="928688"/>
            <a:ext cx="8429625" cy="11779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FOLLOW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：可能在某个句型中紧跟在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后边的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终结符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的集合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73050" marR="0" lvl="0" indent="-273050" algn="ctr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FOLLOW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)={a|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β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a∈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，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α,β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∪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如果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是某个句型的的最右符号，则将结束符“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$”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添加到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FOLLOW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</a:t>
            </a:r>
          </a:p>
        </p:txBody>
      </p:sp>
      <p:sp>
        <p:nvSpPr>
          <p:cNvPr id="15" name="Text Box 3"/>
          <p:cNvSpPr txBox="1"/>
          <p:nvPr/>
        </p:nvSpPr>
        <p:spPr>
          <a:xfrm>
            <a:off x="142875" y="2143125"/>
            <a:ext cx="3386138" cy="25701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None/>
            </a:pPr>
            <a:r>
              <a:rPr lang="zh-CN" altLang="en-US" sz="2300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endParaRPr lang="en-US" altLang="zh-CN" sz="23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300" b="1" dirty="0">
                <a:latin typeface="宋体" panose="02010600030101010101" pitchFamily="2" charset="-122"/>
                <a:ea typeface="楷体" panose="02010609060101010101" pitchFamily="49" charset="-122"/>
              </a:rPr>
              <a:t>① 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E 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→ 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TE'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 	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300" b="1" dirty="0">
                <a:latin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E'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 → +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TE'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 |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ε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 	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300" b="1" dirty="0">
                <a:latin typeface="宋体" panose="02010600030101010101" pitchFamily="2" charset="-122"/>
              </a:rPr>
              <a:t>③ 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T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 → 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FT'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 	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300" b="1" dirty="0">
                <a:latin typeface="宋体" panose="02010600030101010101" pitchFamily="2" charset="-122"/>
              </a:rPr>
              <a:t>④ 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T' 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→ *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FT' 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|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ε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	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300" b="1" dirty="0">
                <a:latin typeface="宋体" panose="02010600030101010101" pitchFamily="2" charset="-122"/>
              </a:rPr>
              <a:t>⑤ 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F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 → (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E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) | id	</a:t>
            </a:r>
          </a:p>
        </p:txBody>
      </p:sp>
      <p:sp>
        <p:nvSpPr>
          <p:cNvPr id="21" name="矩形 20"/>
          <p:cNvSpPr/>
          <p:nvPr/>
        </p:nvSpPr>
        <p:spPr>
          <a:xfrm>
            <a:off x="5507038" y="2571750"/>
            <a:ext cx="4279900" cy="2144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073E87"/>
              </a:buClr>
              <a:buSzPct val="75000"/>
              <a:buNone/>
            </a:pPr>
            <a:r>
              <a:rPr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FOLLOW</a:t>
            </a:r>
            <a:r>
              <a:rPr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 </a:t>
            </a:r>
            <a:r>
              <a:rPr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E </a:t>
            </a:r>
            <a:r>
              <a:rPr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=  {	        } 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None/>
            </a:pPr>
            <a:r>
              <a:rPr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FOLLOW</a:t>
            </a:r>
            <a:r>
              <a:rPr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 </a:t>
            </a:r>
            <a:r>
              <a:rPr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E</a:t>
            </a:r>
            <a:r>
              <a:rPr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' )= {	        }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None/>
            </a:pPr>
            <a:r>
              <a:rPr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FOLLOW</a:t>
            </a:r>
            <a:r>
              <a:rPr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 </a:t>
            </a:r>
            <a:r>
              <a:rPr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T </a:t>
            </a:r>
            <a:r>
              <a:rPr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=  {</a:t>
            </a:r>
            <a:r>
              <a:rPr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	        </a:t>
            </a:r>
            <a:r>
              <a:rPr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} 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None/>
            </a:pPr>
            <a:r>
              <a:rPr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FOLLOW</a:t>
            </a:r>
            <a:r>
              <a:rPr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 </a:t>
            </a:r>
            <a:r>
              <a:rPr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T'</a:t>
            </a:r>
            <a:r>
              <a:rPr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) = {</a:t>
            </a:r>
            <a:r>
              <a:rPr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	        </a:t>
            </a:r>
            <a:r>
              <a:rPr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}</a:t>
            </a:r>
          </a:p>
          <a:p>
            <a:pPr>
              <a:spcBef>
                <a:spcPct val="20000"/>
              </a:spcBef>
              <a:buClr>
                <a:srgbClr val="073E87"/>
              </a:buClr>
              <a:buSzPct val="75000"/>
              <a:buNone/>
            </a:pPr>
            <a:r>
              <a:rPr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FOLLOW</a:t>
            </a:r>
            <a:r>
              <a:rPr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 </a:t>
            </a:r>
            <a:r>
              <a:rPr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F </a:t>
            </a:r>
            <a:r>
              <a:rPr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) = {</a:t>
            </a:r>
            <a:r>
              <a:rPr lang="en-US" altLang="zh-CN" sz="23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               </a:t>
            </a:r>
            <a:r>
              <a:rPr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} </a:t>
            </a:r>
          </a:p>
        </p:txBody>
      </p:sp>
      <p:sp>
        <p:nvSpPr>
          <p:cNvPr id="22" name="矩形 21"/>
          <p:cNvSpPr/>
          <p:nvPr/>
        </p:nvSpPr>
        <p:spPr>
          <a:xfrm>
            <a:off x="7858125" y="2593975"/>
            <a:ext cx="331788" cy="4460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$</a:t>
            </a:r>
            <a:endParaRPr lang="zh-CN" altLang="en-US" sz="2300" b="1" dirty="0">
              <a:solidFill>
                <a:srgbClr val="FF0000"/>
              </a:solidFill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216900" y="2593975"/>
            <a:ext cx="282575" cy="4460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endParaRPr lang="zh-CN" altLang="en-US" sz="2300" b="1" dirty="0"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715250" y="3429000"/>
            <a:ext cx="498475" cy="4460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3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+ </a:t>
            </a:r>
            <a:endParaRPr lang="zh-CN" altLang="en-US" sz="2300" b="1" dirty="0">
              <a:latin typeface="Tahoma" panose="020B060403050404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58188" y="3857625"/>
            <a:ext cx="355600" cy="4460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) </a:t>
            </a:r>
            <a:endParaRPr lang="zh-CN" altLang="en-US" sz="2300" b="1" dirty="0">
              <a:latin typeface="Tahoma" panose="020B060403050404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094663" y="3429000"/>
            <a:ext cx="406400" cy="4460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$</a:t>
            </a:r>
            <a:r>
              <a:rPr lang="en-US" altLang="zh-CN" sz="23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endParaRPr lang="zh-CN" altLang="en-US" sz="2300" b="1" dirty="0">
              <a:latin typeface="Tahoma" panose="020B060403050404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196263" y="3000375"/>
            <a:ext cx="355600" cy="4460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) </a:t>
            </a:r>
            <a:endParaRPr lang="zh-CN" altLang="en-US" sz="2300" b="1" dirty="0">
              <a:latin typeface="Tahoma" panose="020B060403050404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858125" y="3022600"/>
            <a:ext cx="406400" cy="4460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$ </a:t>
            </a:r>
            <a:endParaRPr lang="zh-CN" altLang="en-US" sz="2300" b="1" dirty="0">
              <a:latin typeface="Tahoma" panose="020B060403050404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059738" y="4289425"/>
            <a:ext cx="722312" cy="4460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+  $</a:t>
            </a:r>
            <a:r>
              <a:rPr lang="en-US" altLang="zh-CN" sz="23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endParaRPr lang="zh-CN" altLang="en-US" sz="2300" b="1" dirty="0">
              <a:latin typeface="Tahoma" panose="020B060403050404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793038" y="4340225"/>
            <a:ext cx="406400" cy="4460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* </a:t>
            </a:r>
            <a:endParaRPr lang="zh-CN" altLang="en-US" sz="2300" b="1" dirty="0">
              <a:latin typeface="Tahoma" panose="020B060403050404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650288" y="4268788"/>
            <a:ext cx="355600" cy="4460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) </a:t>
            </a:r>
            <a:endParaRPr lang="zh-CN" altLang="en-US" sz="2300" b="1" dirty="0">
              <a:latin typeface="Tahoma" panose="020B060403050404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786688" y="3857625"/>
            <a:ext cx="722312" cy="4460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+  $</a:t>
            </a:r>
            <a:r>
              <a:rPr lang="en-US" altLang="zh-CN" sz="23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endParaRPr lang="zh-CN" altLang="en-US" sz="2300" b="1" dirty="0">
              <a:latin typeface="Tahoma" panose="020B060403050404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358188" y="3411538"/>
            <a:ext cx="282575" cy="4460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3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endParaRPr lang="zh-CN" altLang="en-US" sz="2300" b="1" dirty="0">
              <a:latin typeface="Tahoma" panose="020B0604030504040204" pitchFamily="34" charset="0"/>
            </a:endParaRPr>
          </a:p>
        </p:txBody>
      </p:sp>
      <p:sp>
        <p:nvSpPr>
          <p:cNvPr id="34" name="Text Box 3"/>
          <p:cNvSpPr txBox="1"/>
          <p:nvPr/>
        </p:nvSpPr>
        <p:spPr>
          <a:xfrm>
            <a:off x="2424113" y="2571750"/>
            <a:ext cx="3576637" cy="21463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FIRST 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( 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E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 )  = {  (   id }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FIRST 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( 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E' 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) = {  +  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ε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  }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FIRST 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( 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T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 )  = {  (  id  } 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FIRST 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( 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T'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 ) = {  *  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ε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   }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FIRST 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( </a:t>
            </a:r>
            <a:r>
              <a:rPr lang="en-US" altLang="zh-CN" sz="2300" b="1" i="1" dirty="0">
                <a:latin typeface="Times New Roman" panose="02020603050405020304" pitchFamily="18" charset="0"/>
                <a:ea typeface="楷体_GB2312"/>
              </a:rPr>
              <a:t>F</a:t>
            </a:r>
            <a:r>
              <a:rPr lang="en-US" altLang="zh-CN" sz="2300" b="1" dirty="0">
                <a:latin typeface="Times New Roman" panose="02020603050405020304" pitchFamily="18" charset="0"/>
                <a:ea typeface="楷体_GB2312"/>
              </a:rPr>
              <a:t> )  = {  (  id }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428625" y="714375"/>
            <a:ext cx="8415338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不断应用下列规则，直到没有新的终结符可以被加入到任何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FOLLOW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集合中为止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$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放入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FOLLOW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中，其中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是开始符号，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$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是输入右端的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结束标记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如果存在一个产生式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αBβ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，那么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FIRST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(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β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中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除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之外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的所有符号都在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FOLLOW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中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如果存在一个产生式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αB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，或存在产生式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αBβ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且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FIRST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β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包含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，那么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FOLLOW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中的所有符号都在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FOLLOW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中</a:t>
            </a:r>
          </a:p>
        </p:txBody>
      </p:sp>
      <p:sp>
        <p:nvSpPr>
          <p:cNvPr id="5017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endParaRPr kumimoji="0" lang="zh-CN" altLang="en-US" sz="3000" b="1" i="1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63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" y="51118"/>
            <a:ext cx="7931150" cy="3587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预测分析表</a:t>
            </a:r>
          </a:p>
        </p:txBody>
      </p:sp>
      <p:graphicFrame>
        <p:nvGraphicFramePr>
          <p:cNvPr id="6" name="Group 18"/>
          <p:cNvGraphicFramePr>
            <a:graphicFrameLocks noGrp="1"/>
          </p:cNvGraphicFramePr>
          <p:nvPr/>
        </p:nvGraphicFramePr>
        <p:xfrm>
          <a:off x="2195830" y="194945"/>
          <a:ext cx="1928812" cy="2568506"/>
        </p:xfrm>
        <a:graphic>
          <a:graphicData uri="http://schemas.openxmlformats.org/drawingml/2006/table">
            <a:tbl>
              <a:tblPr/>
              <a:tblGrid>
                <a:gridCol w="642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/>
                        <a:ea typeface="楷体_GB2312"/>
                        <a:cs typeface="楷体_GB231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产生式</a:t>
                      </a: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zh-CN" altLang="en-US" sz="1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→TE'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01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</a:t>
                      </a:r>
                      <a:endParaRPr kumimoji="1" lang="zh-CN" altLang="en-US" sz="1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E'→+TE’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E'→ε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zh-CN" altLang="en-US" sz="1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T→FT' 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01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T'→*FT’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0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83558" marR="183558" marT="34304" marB="3430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1" lang="en-US" altLang="zh-CN" sz="1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T'→ε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01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F→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0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F→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Group 18"/>
          <p:cNvGraphicFramePr>
            <a:graphicFrameLocks noGrp="1"/>
          </p:cNvGraphicFramePr>
          <p:nvPr/>
        </p:nvGraphicFramePr>
        <p:xfrm>
          <a:off x="571500" y="2786063"/>
          <a:ext cx="8001000" cy="2263777"/>
        </p:xfrm>
        <a:graphic>
          <a:graphicData uri="http://schemas.openxmlformats.org/drawingml/2006/table">
            <a:tbl>
              <a:tblPr/>
              <a:tblGrid>
                <a:gridCol w="1336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8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290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非终结符</a:t>
                      </a: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$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→TE'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→TE'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E'→+TE’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E'→ε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E'→ε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T→FT' 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T→FT' 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T'→ε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T'→*FT’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T'→ε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T'→ε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F→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F→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 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Group 18"/>
          <p:cNvGraphicFramePr>
            <a:graphicFrameLocks noGrp="1"/>
          </p:cNvGraphicFramePr>
          <p:nvPr/>
        </p:nvGraphicFramePr>
        <p:xfrm>
          <a:off x="4860290" y="338773"/>
          <a:ext cx="3714751" cy="2331770"/>
        </p:xfrm>
        <a:graphic>
          <a:graphicData uri="http://schemas.openxmlformats.org/drawingml/2006/table">
            <a:tbl>
              <a:tblPr/>
              <a:tblGrid>
                <a:gridCol w="642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X</a:t>
                      </a:r>
                      <a:endParaRPr kumimoji="1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FIRST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X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FOLLOW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X 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E</a:t>
                      </a:r>
                      <a:endParaRPr kumimoji="1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 (   id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)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E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'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 +  </a:t>
                      </a: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ε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)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T</a:t>
                      </a:r>
                      <a:endParaRPr kumimoji="1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 (   id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+  )  $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'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 * 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+  )  $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F</a:t>
                      </a:r>
                      <a:endParaRPr kumimoji="1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 (   id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* +  )  $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142875" y="714375"/>
            <a:ext cx="9015413" cy="38227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3000"/>
              </a:lnSpc>
              <a:buClrTx/>
              <a:buSzPct val="100000"/>
              <a:buFont typeface="Wingdings" panose="05000000000000000000" pitchFamily="2" charset="2"/>
              <a:buChar char="Ø"/>
            </a:pPr>
            <a:endParaRPr lang="en-US" altLang="zh-CN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eaLnBrk="1" hangingPunct="1">
              <a:lnSpc>
                <a:spcPts val="3200"/>
              </a:lnSpc>
              <a:buSzPct val="100000"/>
            </a:pP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eaLnBrk="1" hangingPunct="1">
              <a:buSzPct val="100000"/>
            </a:pPr>
            <a:endParaRPr lang="zh-CN" altLang="en-US" sz="2500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09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000" b="1" spc="3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构造预测分析表</a:t>
            </a:r>
          </a:p>
        </p:txBody>
      </p:sp>
      <p:pic>
        <p:nvPicPr>
          <p:cNvPr id="2" name="Picture 1" descr="Screenshot 2023-09-18 at 12.45.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" y="998855"/>
            <a:ext cx="6932930" cy="2936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891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891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891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891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/>
          </p:cNvSpPr>
          <p:nvPr>
            <p:ph idx="1"/>
          </p:nvPr>
        </p:nvSpPr>
        <p:spPr>
          <a:xfrm>
            <a:off x="715963" y="1000125"/>
            <a:ext cx="5927725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非递归的预测分析法</a:t>
            </a:r>
          </a:p>
          <a:p>
            <a:pPr eaLnBrk="1" hangingPunct="1"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递归的预测分析法</a:t>
            </a:r>
            <a:endParaRPr lang="en-US" altLang="zh-CN" sz="30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endParaRPr lang="zh-CN" altLang="en-US" sz="30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325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LL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(1)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文法的分析方法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000500" y="1774825"/>
            <a:ext cx="4857750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非递归的预测分析法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857750" y="1487488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第四章 语法分析</a:t>
            </a:r>
            <a:endParaRPr kumimoji="0" lang="zh-CN" altLang="en-US" sz="800" kern="1200" cap="none" spc="3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内容占位符 2"/>
          <p:cNvSpPr>
            <a:spLocks noGrp="1"/>
          </p:cNvSpPr>
          <p:nvPr>
            <p:ph idx="1"/>
          </p:nvPr>
        </p:nvSpPr>
        <p:spPr>
          <a:xfrm>
            <a:off x="430213" y="742950"/>
            <a:ext cx="8256588" cy="12573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非递归的预测分析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不需要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为每个非终结符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编写递归下降过程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，而是根据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预测分析表构造一个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自动机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，也叫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表驱动的预测分析</a:t>
            </a:r>
          </a:p>
        </p:txBody>
      </p:sp>
      <p:sp>
        <p:nvSpPr>
          <p:cNvPr id="665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非递归的预测分析法</a:t>
            </a:r>
          </a:p>
        </p:txBody>
      </p:sp>
      <p:grpSp>
        <p:nvGrpSpPr>
          <p:cNvPr id="4" name="组合 66571"/>
          <p:cNvGrpSpPr/>
          <p:nvPr/>
        </p:nvGrpSpPr>
        <p:grpSpPr>
          <a:xfrm>
            <a:off x="1982788" y="1928813"/>
            <a:ext cx="6446837" cy="2990850"/>
            <a:chOff x="1313694" y="2067694"/>
            <a:chExt cx="6448201" cy="2989811"/>
          </a:xfrm>
        </p:grpSpPr>
        <p:sp>
          <p:nvSpPr>
            <p:cNvPr id="2" name="矩形 1"/>
            <p:cNvSpPr/>
            <p:nvPr/>
          </p:nvSpPr>
          <p:spPr>
            <a:xfrm>
              <a:off x="1313694" y="2067694"/>
              <a:ext cx="6448201" cy="298981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112" name="TextBox 10"/>
            <p:cNvSpPr txBox="1"/>
            <p:nvPr/>
          </p:nvSpPr>
          <p:spPr>
            <a:xfrm>
              <a:off x="3371031" y="2236159"/>
              <a:ext cx="2880320" cy="35509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r">
                <a:lnSpc>
                  <a:spcPts val="2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  +  b  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$  </a:t>
              </a:r>
              <a:endParaRPr lang="zh-CN" altLang="en-US" sz="2400" b="1" dirty="0">
                <a:latin typeface="Tahoma" panose="020B0604030504040204" pitchFamily="34" charset="0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 bwMode="auto">
            <a:xfrm rot="-360000" flipV="1">
              <a:off x="4563994" y="2732625"/>
              <a:ext cx="320743" cy="3745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 bwMode="auto">
            <a:xfrm>
              <a:off x="3957440" y="3107145"/>
              <a:ext cx="1213107" cy="7077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2000" b="1" kern="1200" cap="none" spc="0" normalizeH="0" baseline="0" noProof="0" dirty="0">
                  <a:latin typeface="+mn-ea"/>
                  <a:ea typeface="+mn-ea"/>
                  <a:cs typeface="+mn-cs"/>
                </a:rPr>
                <a:t>预测分析程序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412476" y="2212106"/>
              <a:ext cx="1070201" cy="399911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2000" b="1" kern="1200" cap="none" spc="0" normalizeH="0" baseline="0" noProof="0" dirty="0">
                  <a:latin typeface="+mn-ea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7" name="等腰三角形 26"/>
            <p:cNvSpPr/>
            <p:nvPr/>
          </p:nvSpPr>
          <p:spPr bwMode="auto">
            <a:xfrm rot="2100000">
              <a:off x="4792642" y="2577104"/>
              <a:ext cx="134967" cy="26343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7"/>
            <p:cNvSpPr txBox="1"/>
            <p:nvPr/>
          </p:nvSpPr>
          <p:spPr bwMode="auto">
            <a:xfrm>
              <a:off x="3957440" y="4167226"/>
              <a:ext cx="1213107" cy="70936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2000" b="1" kern="1200" cap="none" spc="0" normalizeH="0" baseline="0" noProof="0" dirty="0">
                  <a:latin typeface="+mn-ea"/>
                  <a:ea typeface="+mn-ea"/>
                  <a:cs typeface="+mn-cs"/>
                </a:rPr>
                <a:t>预测</a:t>
              </a:r>
              <a:endParaRPr kumimoji="0" lang="en-US" altLang="zh-CN" sz="2000" b="1" kern="1200" cap="none" spc="0" normalizeH="0" baseline="0" noProof="0" dirty="0">
                <a:latin typeface="+mn-ea"/>
                <a:ea typeface="+mn-ea"/>
                <a:cs typeface="+mn-cs"/>
              </a:endParaRPr>
            </a:p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2000" b="1" kern="1200" cap="none" spc="0" normalizeH="0" baseline="0" noProof="0" dirty="0">
                  <a:latin typeface="+mn-ea"/>
                  <a:ea typeface="+mn-ea"/>
                  <a:cs typeface="+mn-cs"/>
                </a:rPr>
                <a:t>分析表</a:t>
              </a:r>
              <a:r>
                <a:rPr kumimoji="0" lang="en-US" altLang="zh-CN" sz="2000" b="1" kern="1200" cap="none" spc="0" normalizeH="0" baseline="0" noProof="0" dirty="0">
                  <a:latin typeface="+mn-ea"/>
                  <a:ea typeface="+mn-ea"/>
                  <a:cs typeface="+mn-cs"/>
                </a:rPr>
                <a:t>M</a:t>
              </a:r>
              <a:endParaRPr kumimoji="0" lang="zh-CN" altLang="en-US" sz="2000" b="1" kern="1200" cap="none" spc="0" normalizeH="0" baseline="0" noProof="0" dirty="0">
                <a:latin typeface="+mn-ea"/>
                <a:ea typeface="+mn-ea"/>
                <a:cs typeface="+mn-cs"/>
              </a:endParaRPr>
            </a:p>
          </p:txBody>
        </p:sp>
        <p:cxnSp>
          <p:nvCxnSpPr>
            <p:cNvPr id="29" name="直接连接符 28"/>
            <p:cNvCxnSpPr>
              <a:endCxn id="28" idx="0"/>
            </p:cNvCxnSpPr>
            <p:nvPr/>
          </p:nvCxnSpPr>
          <p:spPr bwMode="auto">
            <a:xfrm rot="5400000">
              <a:off x="4408493" y="3975206"/>
              <a:ext cx="38404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等腰三角形 31"/>
            <p:cNvSpPr/>
            <p:nvPr/>
          </p:nvSpPr>
          <p:spPr bwMode="auto">
            <a:xfrm rot="10800000">
              <a:off x="4540177" y="4013293"/>
              <a:ext cx="134966" cy="14282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 bwMode="auto">
            <a:xfrm>
              <a:off x="5170547" y="3478491"/>
              <a:ext cx="10717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 bwMode="auto">
            <a:xfrm>
              <a:off x="2885652" y="3488012"/>
              <a:ext cx="107178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等腰三角形 35"/>
            <p:cNvSpPr/>
            <p:nvPr/>
          </p:nvSpPr>
          <p:spPr bwMode="auto">
            <a:xfrm rot="5400000">
              <a:off x="6054215" y="3349082"/>
              <a:ext cx="134890" cy="26358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等腰三角形 36"/>
            <p:cNvSpPr/>
            <p:nvPr/>
          </p:nvSpPr>
          <p:spPr bwMode="auto">
            <a:xfrm rot="16200000">
              <a:off x="2919827" y="3360189"/>
              <a:ext cx="134891" cy="26358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7"/>
            <p:cNvSpPr txBox="1"/>
            <p:nvPr/>
          </p:nvSpPr>
          <p:spPr bwMode="auto">
            <a:xfrm>
              <a:off x="1313694" y="3262666"/>
              <a:ext cx="1071789" cy="399911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2000" b="1" kern="1200" cap="none" spc="0" normalizeH="0" baseline="0" noProof="0" dirty="0">
                  <a:latin typeface="+mn-ea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39" name="TextBox 38"/>
            <p:cNvSpPr txBox="1"/>
            <p:nvPr/>
          </p:nvSpPr>
          <p:spPr bwMode="auto">
            <a:xfrm>
              <a:off x="6170883" y="3251558"/>
              <a:ext cx="1071790" cy="399911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2000" b="1" kern="1200" cap="none" spc="0" normalizeH="0" baseline="0" noProof="0" dirty="0">
                  <a:latin typeface="+mn-ea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47126" name="TextBox 10"/>
            <p:cNvSpPr txBox="1"/>
            <p:nvPr/>
          </p:nvSpPr>
          <p:spPr>
            <a:xfrm>
              <a:off x="2242376" y="3316889"/>
              <a:ext cx="571501" cy="163112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$</a:t>
              </a:r>
              <a:endPara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 bwMode="auto">
            <a:xfrm flipH="1" flipV="1">
              <a:off x="2242577" y="4084705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 bwMode="auto">
            <a:xfrm flipH="1" flipV="1">
              <a:off x="2242577" y="3707011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 bwMode="auto">
            <a:xfrm flipH="1" flipV="1">
              <a:off x="2242577" y="4513181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 bwMode="auto">
            <a:xfrm>
              <a:off x="3730380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 bwMode="auto">
            <a:xfrm>
              <a:off x="4090818" y="2247019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 bwMode="auto">
            <a:xfrm>
              <a:off x="4451258" y="2229563"/>
              <a:ext cx="0" cy="3570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 bwMode="auto">
            <a:xfrm>
              <a:off x="4811696" y="2229563"/>
              <a:ext cx="0" cy="3570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 bwMode="auto">
            <a:xfrm>
              <a:off x="5170547" y="2256540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 bwMode="auto">
            <a:xfrm>
              <a:off x="5530986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 bwMode="auto">
            <a:xfrm>
              <a:off x="5891424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169863" y="3794125"/>
            <a:ext cx="2544763" cy="777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下推自动机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(</a:t>
            </a:r>
            <a:r>
              <a:rPr kumimoji="0" lang="en-US" altLang="zh-CN" sz="1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Push Down Automata, PDA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6569" name="矩形 66568"/>
          <p:cNvSpPr/>
          <p:nvPr/>
        </p:nvSpPr>
        <p:spPr>
          <a:xfrm>
            <a:off x="6213475" y="4038600"/>
            <a:ext cx="2501900" cy="4619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例：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={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400" b="1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en-US" altLang="zh-CN" sz="2400" b="1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|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≥1}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66569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内容占位符 2"/>
          <p:cNvSpPr>
            <a:spLocks noGrp="1"/>
          </p:cNvSpPr>
          <p:nvPr>
            <p:ph idx="1"/>
          </p:nvPr>
        </p:nvSpPr>
        <p:spPr>
          <a:xfrm>
            <a:off x="142875" y="642938"/>
            <a:ext cx="8715375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输入：一个串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和文法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G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的分析表</a:t>
            </a:r>
            <a:r>
              <a:rPr lang="en-US" altLang="zh-CN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M</a:t>
            </a:r>
            <a:endParaRPr lang="en-US" altLang="zh-CN" sz="18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输出：如果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在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L</a:t>
            </a:r>
            <a:r>
              <a:rPr lang="en-US" altLang="zh-CN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G </a:t>
            </a:r>
            <a:r>
              <a:rPr lang="en-US" altLang="zh-CN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中，输出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的最左推导；否则给出错误指示</a:t>
            </a:r>
            <a:endParaRPr lang="en-US" altLang="zh-CN" sz="18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方法：最初，语法分析器的格局如下：输入缓冲区中是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r>
              <a:rPr lang="en-US" altLang="zh-CN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$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G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的开始符号位于栈顶，其下面是</a:t>
            </a:r>
            <a:r>
              <a:rPr lang="en-US" altLang="zh-CN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$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。下面的程序使用预测分析表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M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生成了处理这个输入的预测分析过程</a:t>
            </a:r>
          </a:p>
        </p:txBody>
      </p:sp>
      <p:sp>
        <p:nvSpPr>
          <p:cNvPr id="6963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表驱动的预测分析法</a:t>
            </a:r>
          </a:p>
        </p:txBody>
      </p:sp>
      <p:sp>
        <p:nvSpPr>
          <p:cNvPr id="7" name="内容占位符 1"/>
          <p:cNvSpPr txBox="1"/>
          <p:nvPr/>
        </p:nvSpPr>
        <p:spPr bwMode="auto">
          <a:xfrm>
            <a:off x="896938" y="2000250"/>
            <a:ext cx="7318375" cy="3000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marL="2730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设置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ip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使它指向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的第一个符号，其中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ip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是输入指针；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令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X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=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栈顶符号；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while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(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≠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＄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｛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/*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栈非空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*/ </a:t>
            </a: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if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等于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ip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所指向的符号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执行栈的弹出操作，将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ip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向前移动一个位置；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else  if (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是一个终结符号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error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( ) ;</a:t>
            </a: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else  if (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M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[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]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是一个报错条目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error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( ) ;           </a:t>
            </a: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else  if (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M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[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] =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2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…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k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｛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                      输出产生式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2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…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k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 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弹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出栈顶符号；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         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将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k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k</a:t>
            </a: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-1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…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压入栈中，其中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1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位于栈顶。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}</a:t>
            </a:r>
          </a:p>
          <a:p>
            <a:pPr marL="273050" marR="0" lvl="0" indent="-273050" algn="l" defTabSz="914400" rtl="0" eaLnBrk="1" fontAlgn="base" latinLnBrk="0" hangingPunct="1">
              <a:lnSpc>
                <a:spcPts val="1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令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X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=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栈顶符号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}                 </a:t>
            </a: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</a:t>
            </a:r>
          </a:p>
        </p:txBody>
      </p:sp>
      <p:sp>
        <p:nvSpPr>
          <p:cNvPr id="59433" name="矩形 1"/>
          <p:cNvSpPr>
            <a:spLocks noChangeArrowheads="1"/>
          </p:cNvSpPr>
          <p:nvPr/>
        </p:nvSpPr>
        <p:spPr bwMode="auto">
          <a:xfrm>
            <a:off x="163517" y="3723878"/>
            <a:ext cx="4968875" cy="1031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是至今为止已经匹配完成的输入部分，那么栈中保存的文法符号序列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lm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</a:t>
            </a:r>
            <a:endParaRPr kumimoji="0" lang="zh-CN" altLang="en-US" sz="2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35234" name="Rectangle 2"/>
          <p:cNvSpPr>
            <a:spLocks noGrp="1" noChangeArrowheads="1"/>
          </p:cNvSpPr>
          <p:nvPr>
            <p:ph idx="1"/>
          </p:nvPr>
        </p:nvSpPr>
        <p:spPr>
          <a:xfrm>
            <a:off x="5219700" y="71438"/>
            <a:ext cx="4465638" cy="5637213"/>
          </a:xfrm>
        </p:spPr>
        <p:txBody>
          <a:bodyPr vert="horz" wrap="square" lIns="92075" tIns="46038" rIns="92075" bIns="46038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剩余输入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输出</a:t>
            </a:r>
          </a:p>
          <a:p>
            <a:pPr marL="342900" marR="0" lvl="2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	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id+id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*id $ 	</a:t>
            </a:r>
          </a:p>
          <a:p>
            <a:pPr marL="342900" marR="0" lvl="2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id+id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TE'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FT'E'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id+id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FT'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T'E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id+id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→id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           +id*id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 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         +id*id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endParaRPr kumimoji="0" lang="en-US" altLang="zh-CN" sz="16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+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	         +id*id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E'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→+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TE'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	           id*id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FT'E'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           id*id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FT'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T'E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	           id*id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→id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               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*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                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→*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FT'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                  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kumimoji="1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'E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                  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→id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	                     $ 	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                     $ 	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endParaRPr kumimoji="0" lang="en-US" altLang="zh-CN" sz="16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     $ 	                     $     	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E'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endParaRPr kumimoji="0" lang="en-US" altLang="zh-CN" sz="16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6" name="Group 18"/>
          <p:cNvGraphicFramePr>
            <a:graphicFrameLocks noGrp="1"/>
          </p:cNvGraphicFramePr>
          <p:nvPr/>
        </p:nvGraphicFramePr>
        <p:xfrm>
          <a:off x="171450" y="1203325"/>
          <a:ext cx="4986338" cy="2203453"/>
        </p:xfrm>
        <a:graphic>
          <a:graphicData uri="http://schemas.openxmlformats.org/drawingml/2006/table">
            <a:tbl>
              <a:tblPr/>
              <a:tblGrid>
                <a:gridCol w="53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5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7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9217" name="矩形 17"/>
          <p:cNvSpPr/>
          <p:nvPr/>
        </p:nvSpPr>
        <p:spPr>
          <a:xfrm>
            <a:off x="250825" y="1868488"/>
            <a:ext cx="5113338" cy="154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E       </a:t>
            </a:r>
            <a:r>
              <a:rPr lang="en-US" altLang="zh-CN" sz="1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E→TE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'</a:t>
            </a:r>
            <a:r>
              <a:rPr lang="en-US" altLang="zh-CN" sz="1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E→TE'</a:t>
            </a:r>
            <a:endParaRPr lang="zh-CN" altLang="en-US" sz="1400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E'                       E'→+TE'                                       E'→ε</a:t>
            </a:r>
            <a:r>
              <a:rPr lang="zh-CN" altLang="en-US" sz="1400" dirty="0">
                <a:latin typeface="Candara" panose="020E0502030303020204" pitchFamily="34" charset="0"/>
                <a:ea typeface="华文楷体" panose="02010600040101010101" pitchFamily="2" charset="-122"/>
              </a:rPr>
              <a:t>      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E'→ε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T       T→FT'                                           T→FT'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T'                         T'→ε         T'→*FT'                   T'→ε      T'→ε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F       F→</a:t>
            </a:r>
            <a:r>
              <a:rPr lang="en-US" altLang="zh-CN" sz="1400" b="1" dirty="0">
                <a:latin typeface="Times New Roman" panose="02020603050405020304" pitchFamily="18" charset="0"/>
              </a:rPr>
              <a:t>id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                                              F→</a:t>
            </a:r>
            <a:r>
              <a:rPr lang="en-US" altLang="zh-CN" sz="1400" b="1" dirty="0">
                <a:latin typeface="Times New Roman" panose="02020603050405020304" pitchFamily="18" charset="0"/>
              </a:rPr>
              <a:t>( 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1400" b="1" dirty="0">
                <a:latin typeface="Times New Roman" panose="02020603050405020304" pitchFamily="18" charset="0"/>
              </a:rPr>
              <a:t>)</a:t>
            </a:r>
            <a:endParaRPr lang="zh-CN" altLang="en-US" sz="1400" b="1" dirty="0">
              <a:latin typeface="Times New Roman" panose="02020603050405020304" pitchFamily="18" charset="0"/>
            </a:endParaRPr>
          </a:p>
        </p:txBody>
      </p:sp>
      <p:sp>
        <p:nvSpPr>
          <p:cNvPr id="49218" name="矩形 2"/>
          <p:cNvSpPr/>
          <p:nvPr/>
        </p:nvSpPr>
        <p:spPr>
          <a:xfrm>
            <a:off x="158750" y="1244600"/>
            <a:ext cx="595313" cy="633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非终</a:t>
            </a:r>
            <a:endParaRPr lang="en-US" altLang="zh-CN" sz="16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结符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9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9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33" grpId="0" bldLvl="0" animBg="1"/>
      <p:bldP spid="735234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714375"/>
            <a:ext cx="8915400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1）构造文法</a:t>
            </a: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2）改造文法：消除二义性、消除左递归、消除回溯</a:t>
            </a: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3）求每个变量的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FIRST</a:t>
            </a:r>
            <a:r>
              <a:rPr kumimoji="0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集和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FOLLOW</a:t>
            </a:r>
            <a:r>
              <a:rPr kumimoji="0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集</a:t>
            </a: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4）检查是不是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(1)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文法。若是，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构造预测分析表</a:t>
            </a: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5）对于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递归的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预测分析，根据预测分析表为每一个非终结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符编写一个过程；对于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非递归的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预测分析，实现表驱动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的预测分析算法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预测分析法实现步骤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000500" y="1774825"/>
            <a:ext cx="44465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5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递归的预测分析法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857750" y="1487488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第四章 语法分析</a:t>
            </a:r>
            <a:endParaRPr kumimoji="0" lang="zh-CN" altLang="en-US" sz="800" kern="1200" cap="none" spc="3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0727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递归的预测分析法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642938"/>
            <a:ext cx="8135938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递归的预测分析法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是指：在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递归下降分析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中，根据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预测分析表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进行产生式的选择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根据每个非终结符的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文法的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预测分析表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，为每个非终结符编写对应的过程</a:t>
            </a:r>
          </a:p>
        </p:txBody>
      </p:sp>
      <p:sp>
        <p:nvSpPr>
          <p:cNvPr id="104452" name="内容占位符 1"/>
          <p:cNvSpPr txBox="1"/>
          <p:nvPr/>
        </p:nvSpPr>
        <p:spPr bwMode="auto">
          <a:xfrm>
            <a:off x="2286000" y="2500313"/>
            <a:ext cx="4643438" cy="25923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anchor="ctr"/>
          <a:lstStyle>
            <a:lvl1pPr marL="2730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   void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 ) {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AutoNum type="arabicParenR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选择一个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产生式，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A →X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X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…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；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AutoNum type="arabicParenR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for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= 1 to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k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) {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AutoNum type="arabicParenR" startAt="3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 if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是一个非终结符号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AutoNum type="arabicParenR" startAt="3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         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调用过程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 ) ; 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AutoNum type="arabicParenR" startAt="3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 else  if (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等于当前的输入符号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       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AutoNum type="arabicParenR" startAt="3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          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读入下一个输入符号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;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AutoNum type="arabicParenR" startAt="3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 else /*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发生了一个错误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*/ ;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  }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</a:t>
            </a:r>
          </a:p>
        </p:txBody>
      </p:sp>
      <p:sp>
        <p:nvSpPr>
          <p:cNvPr id="32772" name="Text Box 4"/>
          <p:cNvSpPr txBox="1"/>
          <p:nvPr/>
        </p:nvSpPr>
        <p:spPr>
          <a:xfrm>
            <a:off x="214313" y="681038"/>
            <a:ext cx="8715375" cy="35655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(1) &lt;PROGRAM&gt; → program &lt;DECLIST&gt; :&lt;TYPE&gt; ; &lt;STLIST&gt; end</a:t>
            </a:r>
          </a:p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(2) &lt;DECLIST&gt; →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(3) &lt;DECLISTN&gt; → ,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(4) </a:t>
            </a:r>
            <a:r>
              <a:rPr lang="en-US" altLang="zh-CN" b="1" dirty="0"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 dirty="0"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(5) &lt;STLIST&gt; → s &lt;STLISTN&gt;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(6) &lt;STLISTN&gt; → ; s &lt;STLISTN&gt;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(7)</a:t>
            </a:r>
            <a:r>
              <a:rPr lang="en-US" altLang="zh-CN" b="1" dirty="0"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 dirty="0"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(8)</a:t>
            </a: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&lt;TYPE&gt; → real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(9) &lt;TYPE&gt; → int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83485" y="3724275"/>
            <a:ext cx="647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类型</a:t>
            </a:r>
            <a:endParaRPr 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96055" y="2787650"/>
            <a:ext cx="16630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语句（序列）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356100" y="1564005"/>
            <a:ext cx="20986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标识符（序列）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51" name="Rectangle 7"/>
          <p:cNvSpPr>
            <a:spLocks noChangeArrowheads="1"/>
          </p:cNvSpPr>
          <p:nvPr/>
        </p:nvSpPr>
        <p:spPr bwMode="auto">
          <a:xfrm>
            <a:off x="827088" y="4286250"/>
            <a:ext cx="2459038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FOLLOW(4)={:}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FOLLOW(7)={end}</a:t>
            </a: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</a:t>
            </a:r>
          </a:p>
        </p:txBody>
      </p:sp>
      <p:sp>
        <p:nvSpPr>
          <p:cNvPr id="32772" name="Text Box 4"/>
          <p:cNvSpPr txBox="1"/>
          <p:nvPr/>
        </p:nvSpPr>
        <p:spPr>
          <a:xfrm>
            <a:off x="214313" y="681038"/>
            <a:ext cx="8715375" cy="35655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(1) &lt;PROGRAM&gt; → program &lt;DECLIST&gt; :&lt;TYPE&gt; ; &lt;STLIST&gt; end</a:t>
            </a:r>
          </a:p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(2) &lt;DECLIST&gt; →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(3) &lt;DECLISTN&gt; → ,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(4) </a:t>
            </a:r>
            <a:r>
              <a:rPr lang="en-US" altLang="zh-CN" b="1" dirty="0"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 dirty="0"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(5) &lt;STLIST&gt; → s &lt;STLISTN&gt;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(6) &lt;STLISTN&gt; → ; s &lt;STLISTN&gt;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(7)</a:t>
            </a:r>
            <a:r>
              <a:rPr lang="en-US" altLang="zh-CN" b="1" dirty="0"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 dirty="0"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(8)</a:t>
            </a: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&lt;TYPE&gt; → real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(9) &lt;TYPE&gt; → int</a:t>
            </a:r>
          </a:p>
        </p:txBody>
      </p:sp>
      <p:sp>
        <p:nvSpPr>
          <p:cNvPr id="774149" name="Rectangle 5"/>
          <p:cNvSpPr>
            <a:spLocks noChangeArrowheads="1"/>
          </p:cNvSpPr>
          <p:nvPr/>
        </p:nvSpPr>
        <p:spPr bwMode="auto">
          <a:xfrm>
            <a:off x="4500563" y="1203325"/>
            <a:ext cx="4357688" cy="28686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program DESCENT;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begin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GETNEXT(TOKEN);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PROGRAM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(TOKEN);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GETNEXT(TOKEN);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if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TOKEN≠’$’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then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ERROR;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end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652135" y="4084320"/>
            <a:ext cx="22917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递归语法分析主程序</a:t>
            </a:r>
            <a:endParaRPr 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00880" y="2315210"/>
            <a:ext cx="7219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调用</a:t>
            </a:r>
          </a:p>
          <a:p>
            <a:r>
              <a:rPr 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过程</a:t>
            </a:r>
            <a:endParaRPr lang="zh-CN" sz="18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4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4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7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51" grpId="0" bldLvl="0" animBg="1"/>
      <p:bldP spid="774149" grpId="0" bldLvl="0" animBg="1"/>
      <p:bldP spid="774149" grpId="1" bldLvl="0" animBg="1"/>
      <p:bldP spid="2" grpId="0"/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8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FOLLOW(4)={:}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FOLLOW(7)={end}</a:t>
            </a:r>
          </a:p>
        </p:txBody>
      </p:sp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</a:t>
            </a:r>
          </a:p>
        </p:txBody>
      </p:sp>
      <p:sp>
        <p:nvSpPr>
          <p:cNvPr id="34820" name="Text Box 4"/>
          <p:cNvSpPr txBox="1"/>
          <p:nvPr/>
        </p:nvSpPr>
        <p:spPr>
          <a:xfrm>
            <a:off x="214313" y="681038"/>
            <a:ext cx="8715375" cy="35655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</a:rPr>
              <a:t>(1) &lt;PROGRAM&gt; → program &lt;DECLIST&gt; :&lt;TYPE&gt; ; &lt;STLIST&gt; end</a:t>
            </a:r>
          </a:p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(2) &lt;DECLIST&gt; →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(3) &lt;DECLISTN&gt; → ,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(4)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(5) &lt;STLIST&gt; → s &lt;STLISTN&gt;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(6) &lt;STLISTN&gt; → ; s &lt;STLISTN&gt;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(7)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 &lt;TYPE&gt; → real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(9) &lt;TYPE&gt; → int</a:t>
            </a:r>
          </a:p>
        </p:txBody>
      </p:sp>
      <p:sp>
        <p:nvSpPr>
          <p:cNvPr id="776198" name="Rectangle 6"/>
          <p:cNvSpPr>
            <a:spLocks noChangeArrowheads="1"/>
          </p:cNvSpPr>
          <p:nvPr/>
        </p:nvSpPr>
        <p:spPr bwMode="auto">
          <a:xfrm>
            <a:off x="4356100" y="1058863"/>
            <a:ext cx="3930650" cy="4013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/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procedure PROGRAM(TOKEN);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begin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	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if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TOKEN≠’program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’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then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ERROR;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defRPr/>
            </a:pPr>
            <a:r>
              <a:rPr kumimoji="0" lang="en-US" altLang="zh-CN" sz="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GETNEXT(TOKEN);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DECLIST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(TOKEN);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EAE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    if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TOKEN≠’:’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then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ERROR;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defRPr/>
            </a:pPr>
            <a:r>
              <a:rPr kumimoji="0" lang="en-US" altLang="zh-CN" sz="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</a:t>
            </a:r>
            <a:r>
              <a:rPr kumimoji="0" lang="en-US" altLang="zh-CN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  <a:endParaRPr kumimoji="0" lang="en-US" altLang="zh-CN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GETNEXT(TOKEN);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TYPE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(TOKEN);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defRPr/>
            </a:pPr>
            <a:r>
              <a:rPr kumimoji="0" lang="en-US" altLang="zh-CN" sz="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GETNEXT(TOKEN);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EAE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    if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TOKEN≠’;’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then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ERROR;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defRPr/>
            </a:pPr>
            <a:r>
              <a:rPr kumimoji="0" lang="en-US" altLang="zh-CN" sz="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GETNEXT(TOKEN);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STLIST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(TOKEN);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defRPr/>
            </a:pPr>
            <a:r>
              <a:rPr kumimoji="0" lang="en-US" altLang="zh-CN" sz="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 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if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TOKEN≠’end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’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then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ERROR;</a:t>
            </a:r>
          </a:p>
          <a:p>
            <a:pPr marL="533400" marR="0" lvl="0" indent="-533400" algn="l" defTabSz="914400" rtl="0" eaLnBrk="1" fontAlgn="base" latinLnBrk="0" hangingPunct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end	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	</a:t>
            </a:r>
          </a:p>
        </p:txBody>
      </p:sp>
      <p:sp>
        <p:nvSpPr>
          <p:cNvPr id="6" name="Line 45"/>
          <p:cNvSpPr/>
          <p:nvPr/>
        </p:nvSpPr>
        <p:spPr>
          <a:xfrm rot="-10800000" flipV="1">
            <a:off x="2916238" y="546100"/>
            <a:ext cx="0" cy="26987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" name="Line 45"/>
          <p:cNvSpPr/>
          <p:nvPr/>
        </p:nvSpPr>
        <p:spPr>
          <a:xfrm rot="5400000" flipV="1">
            <a:off x="4856163" y="1428750"/>
            <a:ext cx="0" cy="26987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" name="Line 45"/>
          <p:cNvSpPr/>
          <p:nvPr/>
        </p:nvSpPr>
        <p:spPr>
          <a:xfrm rot="-10800000" flipV="1">
            <a:off x="3995738" y="555625"/>
            <a:ext cx="0" cy="26987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" name="Line 45"/>
          <p:cNvSpPr/>
          <p:nvPr/>
        </p:nvSpPr>
        <p:spPr>
          <a:xfrm rot="-10800000" flipV="1">
            <a:off x="4716463" y="555625"/>
            <a:ext cx="0" cy="26987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" name="Line 45"/>
          <p:cNvSpPr/>
          <p:nvPr/>
        </p:nvSpPr>
        <p:spPr>
          <a:xfrm rot="-10800000" flipV="1">
            <a:off x="5148263" y="555625"/>
            <a:ext cx="0" cy="26987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" name="Line 45"/>
          <p:cNvSpPr/>
          <p:nvPr/>
        </p:nvSpPr>
        <p:spPr>
          <a:xfrm rot="-10800000" flipV="1">
            <a:off x="5724525" y="555625"/>
            <a:ext cx="0" cy="26987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" name="Line 45"/>
          <p:cNvSpPr/>
          <p:nvPr/>
        </p:nvSpPr>
        <p:spPr>
          <a:xfrm rot="-10800000" flipV="1">
            <a:off x="6300788" y="555625"/>
            <a:ext cx="0" cy="26987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" name="Line 45"/>
          <p:cNvSpPr/>
          <p:nvPr/>
        </p:nvSpPr>
        <p:spPr>
          <a:xfrm rot="-10800000" flipV="1">
            <a:off x="7092950" y="555625"/>
            <a:ext cx="0" cy="26987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" name="Line 45"/>
          <p:cNvSpPr/>
          <p:nvPr/>
        </p:nvSpPr>
        <p:spPr>
          <a:xfrm rot="5400000" flipV="1">
            <a:off x="4851400" y="2076450"/>
            <a:ext cx="0" cy="26987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Line 45"/>
          <p:cNvSpPr/>
          <p:nvPr/>
        </p:nvSpPr>
        <p:spPr>
          <a:xfrm rot="5400000" flipV="1">
            <a:off x="4851400" y="2436813"/>
            <a:ext cx="0" cy="26987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" name="Line 45"/>
          <p:cNvSpPr/>
          <p:nvPr/>
        </p:nvSpPr>
        <p:spPr>
          <a:xfrm rot="5400000" flipV="1">
            <a:off x="4851400" y="3013075"/>
            <a:ext cx="0" cy="26987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" name="Line 45"/>
          <p:cNvSpPr/>
          <p:nvPr/>
        </p:nvSpPr>
        <p:spPr>
          <a:xfrm rot="5400000" flipV="1">
            <a:off x="4851400" y="3589338"/>
            <a:ext cx="0" cy="26987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" name="Line 45"/>
          <p:cNvSpPr/>
          <p:nvPr/>
        </p:nvSpPr>
        <p:spPr>
          <a:xfrm rot="5400000" flipV="1">
            <a:off x="4851400" y="4165600"/>
            <a:ext cx="0" cy="26987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" name="Line 45"/>
          <p:cNvSpPr/>
          <p:nvPr/>
        </p:nvSpPr>
        <p:spPr>
          <a:xfrm rot="5400000" flipV="1">
            <a:off x="4851400" y="4597400"/>
            <a:ext cx="0" cy="26987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" name="文本框 1"/>
          <p:cNvSpPr txBox="1"/>
          <p:nvPr/>
        </p:nvSpPr>
        <p:spPr>
          <a:xfrm>
            <a:off x="5436235" y="123825"/>
            <a:ext cx="18897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PROGRAM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776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6198" grpId="0" bldLvl="0" animBg="1"/>
      <p:bldP spid="776198" grpId="1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8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FOLLOW(4)={:}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FOLLOW(7)={end}</a:t>
            </a:r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</a:t>
            </a:r>
          </a:p>
        </p:txBody>
      </p:sp>
      <p:sp>
        <p:nvSpPr>
          <p:cNvPr id="36868" name="Text Box 4"/>
          <p:cNvSpPr txBox="1"/>
          <p:nvPr/>
        </p:nvSpPr>
        <p:spPr>
          <a:xfrm>
            <a:off x="214313" y="681038"/>
            <a:ext cx="8715375" cy="35655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(1) &lt;PROGRAM&gt; → program &lt;DECLIST&gt; :&lt;TYPE&gt; ; &lt;STLIST&gt; end</a:t>
            </a:r>
          </a:p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</a:pP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</a:rPr>
              <a:t>(2) &lt;DECLIST&gt; →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(3) &lt;DECLISTN&gt; → ,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(4) </a:t>
            </a:r>
            <a:r>
              <a:rPr lang="en-US" altLang="zh-CN" b="1" dirty="0"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 dirty="0"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(5) &lt;STLIST&gt; → s &lt;STLISTN&gt;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(6) &lt;STLISTN&gt; → ; s &lt;STLISTN&gt;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(7)</a:t>
            </a:r>
            <a:r>
              <a:rPr lang="en-US" altLang="zh-CN" b="1" dirty="0"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 dirty="0"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(8)</a:t>
            </a: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&lt;TYPE&gt; → real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(9) &lt;TYPE&gt; → int</a:t>
            </a:r>
          </a:p>
        </p:txBody>
      </p:sp>
      <p:sp>
        <p:nvSpPr>
          <p:cNvPr id="777222" name="Rectangle 6"/>
          <p:cNvSpPr>
            <a:spLocks noChangeArrowheads="1"/>
          </p:cNvSpPr>
          <p:nvPr/>
        </p:nvSpPr>
        <p:spPr bwMode="auto">
          <a:xfrm>
            <a:off x="4140200" y="1922463"/>
            <a:ext cx="4437063" cy="2616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procedure DECLIST(TOKEN);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begin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if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TOKEN≠’id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’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then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ERROR;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GETNEXT(TOKEN);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DECLISTN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(TOKEN);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77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7222" grpId="0" bldLvl="0" animBg="1"/>
      <p:bldP spid="777222" grpId="1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827088" y="4286250"/>
            <a:ext cx="2459038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FOLLOW(4)={:}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FOLLOW(7)={end}</a:t>
            </a:r>
          </a:p>
        </p:txBody>
      </p:sp>
      <p:sp>
        <p:nvSpPr>
          <p:cNvPr id="38915" name="Text Box 4"/>
          <p:cNvSpPr txBox="1"/>
          <p:nvPr/>
        </p:nvSpPr>
        <p:spPr>
          <a:xfrm>
            <a:off x="214313" y="681038"/>
            <a:ext cx="8715375" cy="35655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(1) &lt;PROGRAM&gt; → program &lt;DECLIST&gt; :&lt;TYPE&gt; ; &lt;STLIST&gt; end</a:t>
            </a:r>
          </a:p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(2) &lt;DECLIST&gt; →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</a:rPr>
              <a:t>(3) &lt;DECLISTN&gt; → ,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</a:rPr>
              <a:t>(4) </a:t>
            </a: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 dirty="0">
                <a:solidFill>
                  <a:srgbClr val="2D83F4"/>
                </a:solidFill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(5) &lt;STLIST&gt; → s &lt;STLISTN&gt;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(6) &lt;STLISTN&gt; → ; s &lt;STLISTN&gt;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(7)</a:t>
            </a:r>
            <a:r>
              <a:rPr lang="en-US" altLang="zh-CN" b="1" dirty="0"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 dirty="0"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(8)</a:t>
            </a: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&lt;TYPE&gt; → real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(9) &lt;TYPE&gt; → int</a:t>
            </a:r>
          </a:p>
        </p:txBody>
      </p:sp>
      <p:sp>
        <p:nvSpPr>
          <p:cNvPr id="38916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2959100" cy="358775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</a:t>
            </a:r>
          </a:p>
        </p:txBody>
      </p:sp>
      <p:sp>
        <p:nvSpPr>
          <p:cNvPr id="778246" name="Rectangle 6"/>
          <p:cNvSpPr>
            <a:spLocks noChangeArrowheads="1"/>
          </p:cNvSpPr>
          <p:nvPr/>
        </p:nvSpPr>
        <p:spPr bwMode="auto">
          <a:xfrm>
            <a:off x="4356100" y="1058863"/>
            <a:ext cx="4573588" cy="39814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>
            <a:lvl1pPr marL="533400" indent="-5334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procedure DECLISTN(TOKEN);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begin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if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TOKEN =‘,’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then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 begin 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   GETNEXT(TOKEN);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if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TOKEN≠’id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’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ERROR;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 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 GETNEXT(TOKEN);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DECLISTN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(TOKEN);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end	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else  if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TOKEN≠’:’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ERROR;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end	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78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46" grpId="0" bldLvl="0" animBg="1"/>
      <p:bldP spid="778246" grpId="1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8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FOLLOW(4)={:}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FOLLOW(7)={end}</a:t>
            </a:r>
          </a:p>
        </p:txBody>
      </p:sp>
      <p:sp>
        <p:nvSpPr>
          <p:cNvPr id="39939" name="Text Box 4"/>
          <p:cNvSpPr txBox="1"/>
          <p:nvPr/>
        </p:nvSpPr>
        <p:spPr>
          <a:xfrm>
            <a:off x="214313" y="681038"/>
            <a:ext cx="8715375" cy="35655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(1) &lt;PROGRAM&gt; → program &lt;DECLIST&gt; :&lt;TYPE&gt; ; &lt;STLIST&gt; end</a:t>
            </a:r>
          </a:p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(2) &lt;DECLIST&gt; →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(3) &lt;DECLISTN&gt; → ,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(4) </a:t>
            </a:r>
            <a:r>
              <a:rPr lang="en-US" altLang="zh-CN" b="1" dirty="0"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 dirty="0"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</a:rPr>
              <a:t>(5) &lt;STLIST&gt; → s &lt;STLISTN&gt;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(6) &lt;STLISTN&gt; → ; s &lt;STLISTN&gt;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(7)</a:t>
            </a:r>
            <a:r>
              <a:rPr lang="en-US" altLang="zh-CN" b="1" dirty="0"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 dirty="0"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(8)</a:t>
            </a: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&lt;TYPE&gt; → real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(9) &lt;TYPE&gt; → int</a:t>
            </a:r>
          </a:p>
        </p:txBody>
      </p:sp>
      <p:sp>
        <p:nvSpPr>
          <p:cNvPr id="39940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3887788" cy="358775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</a:t>
            </a:r>
          </a:p>
        </p:txBody>
      </p:sp>
      <p:sp>
        <p:nvSpPr>
          <p:cNvPr id="779270" name="Rectangle 6"/>
          <p:cNvSpPr>
            <a:spLocks noChangeArrowheads="1"/>
          </p:cNvSpPr>
          <p:nvPr/>
        </p:nvSpPr>
        <p:spPr bwMode="auto">
          <a:xfrm>
            <a:off x="3851275" y="2001838"/>
            <a:ext cx="4935538" cy="2730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>
            <a:lvl1pPr marL="533400" indent="-5334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procedure STLIST(TOKEN);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begin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	 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TOKEN≠’s’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then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ERROR;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	     GETNEXT(TOKEN);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STLISTN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(TOKEN);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79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270" grpId="0" bldLvl="0" animBg="1"/>
      <p:bldP spid="779270" grpId="1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8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FOLLOW(4)={:}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FOLLOW(7)={end}</a:t>
            </a:r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3887788" cy="358775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</a:t>
            </a:r>
          </a:p>
        </p:txBody>
      </p:sp>
      <p:sp>
        <p:nvSpPr>
          <p:cNvPr id="780294" name="Rectangle 6"/>
          <p:cNvSpPr>
            <a:spLocks noChangeArrowheads="1"/>
          </p:cNvSpPr>
          <p:nvPr/>
        </p:nvSpPr>
        <p:spPr bwMode="auto">
          <a:xfrm>
            <a:off x="4284663" y="1149350"/>
            <a:ext cx="4464050" cy="38512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>
            <a:lvl1pPr marL="533400" indent="-5334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procedure STLISTN(TOKEN);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begin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	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TOKEN =‘;’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then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 begin 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   GETNEXT(TOKEN);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TOKEN≠’s’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then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ERROR;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 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 GETNEXT(TOKEN);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STLISTN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(TOKEN);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	 end 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else  if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TOKEN≠’end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’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then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ERROR;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end	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40965" name="Text Box 4"/>
          <p:cNvSpPr txBox="1"/>
          <p:nvPr/>
        </p:nvSpPr>
        <p:spPr>
          <a:xfrm>
            <a:off x="214313" y="681038"/>
            <a:ext cx="8715375" cy="35655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(1) &lt;PROGRAM&gt; → program &lt;DECLIST&gt; :&lt;TYPE&gt; ; &lt;STLIST&gt; end</a:t>
            </a:r>
          </a:p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(2) &lt;DECLIST&gt; →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(3) &lt;DECLISTN&gt; → ,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(4) </a:t>
            </a:r>
            <a:r>
              <a:rPr lang="en-US" altLang="zh-CN" b="1" dirty="0"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 dirty="0"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(5) &lt;STLIST&gt; → s &lt;STLISTN&gt;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</a:rPr>
              <a:t>(6) &lt;STLISTN&gt; → ; s &lt;STLISTN&gt;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</a:rPr>
              <a:t>(7)</a:t>
            </a: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 dirty="0">
                <a:solidFill>
                  <a:srgbClr val="2D83F4"/>
                </a:solidFill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(8)</a:t>
            </a: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&lt;TYPE&gt; → real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(9) &lt;TYPE&gt; → 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8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80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294" grpId="0" bldLvl="0" animBg="1"/>
      <p:bldP spid="780294" grpId="1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8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FOLLOW(4)={:}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FOLLOW(7)={end}</a:t>
            </a:r>
          </a:p>
        </p:txBody>
      </p:sp>
      <p:sp>
        <p:nvSpPr>
          <p:cNvPr id="41987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3959225" cy="358775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</a:t>
            </a:r>
          </a:p>
        </p:txBody>
      </p:sp>
      <p:sp>
        <p:nvSpPr>
          <p:cNvPr id="72709" name="Rectangle 6"/>
          <p:cNvSpPr>
            <a:spLocks noChangeArrowheads="1"/>
          </p:cNvSpPr>
          <p:nvPr/>
        </p:nvSpPr>
        <p:spPr bwMode="auto">
          <a:xfrm>
            <a:off x="3924300" y="2932113"/>
            <a:ext cx="4895850" cy="19256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>
            <a:lvl1pPr marL="533400" indent="-5334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procedure TYPE(TOKEN);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begin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	 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TOKEN≠’real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’ and TOKEN≠’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’ 	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ERROR;</a:t>
            </a: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end</a:t>
            </a:r>
          </a:p>
        </p:txBody>
      </p:sp>
      <p:sp>
        <p:nvSpPr>
          <p:cNvPr id="41989" name="Text Box 4"/>
          <p:cNvSpPr txBox="1"/>
          <p:nvPr/>
        </p:nvSpPr>
        <p:spPr>
          <a:xfrm>
            <a:off x="214313" y="681038"/>
            <a:ext cx="8715375" cy="35655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(1) &lt;PROGRAM&gt; → program &lt;DECLIST&gt; :&lt;TYPE&gt; ; &lt;STLIST&gt; end</a:t>
            </a:r>
          </a:p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(2) &lt;DECLIST&gt; →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(3) &lt;DECLISTN&gt; → , id &lt;DECLISTN&gt;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(4) </a:t>
            </a:r>
            <a:r>
              <a:rPr lang="en-US" altLang="zh-CN" b="1" dirty="0"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 dirty="0"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(5) &lt;STLIST&gt; → s &lt;STLISTN&gt;</a:t>
            </a:r>
          </a:p>
          <a:p>
            <a:pPr marL="342900" indent="-342900"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(6) &lt;STLISTN&gt; → ; s &lt;STLISTN&gt;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(7)</a:t>
            </a:r>
            <a:r>
              <a:rPr lang="en-US" altLang="zh-CN" b="1" dirty="0"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 dirty="0">
                <a:latin typeface="Times New Roman" panose="02020603050405020304" pitchFamily="18" charset="0"/>
              </a:rPr>
              <a:t>ε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</a:rPr>
              <a:t> &lt;TYPE&gt; → real</a:t>
            </a:r>
          </a:p>
          <a:p>
            <a:pPr marL="342900" indent="-342900"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</a:rPr>
              <a:t>(9) &lt;TYPE&gt; → 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9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18"/>
          <p:cNvGraphicFramePr>
            <a:graphicFrameLocks noGrp="1"/>
          </p:cNvGraphicFramePr>
          <p:nvPr/>
        </p:nvGraphicFramePr>
        <p:xfrm>
          <a:off x="1285875" y="1285875"/>
          <a:ext cx="6572251" cy="2536930"/>
        </p:xfrm>
        <a:graphic>
          <a:graphicData uri="http://schemas.openxmlformats.org/drawingml/2006/table">
            <a:tbl>
              <a:tblPr/>
              <a:tblGrid>
                <a:gridCol w="135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递归的预测分析法</a:t>
                      </a: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非递归的预测分析法</a:t>
                      </a: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0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程序规模</a:t>
                      </a: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程序规模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较大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不需载入分析表</a:t>
                      </a: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主控程序规模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较小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需载入分析表（表较小）</a:t>
                      </a: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直观性</a:t>
                      </a: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较好</a:t>
                      </a: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较差</a:t>
                      </a: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0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效率</a:t>
                      </a: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较低</a:t>
                      </a: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分析时间大约正比于待分析程序的长度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自动生成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较难</a:t>
                      </a: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较易</a:t>
                      </a:r>
                    </a:p>
                  </a:txBody>
                  <a:tcPr marL="76039" marR="76039" marT="34237" marB="3423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068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83883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递归的预测分析法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vs.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非递归的预测分析法</a:t>
            </a:r>
          </a:p>
        </p:txBody>
      </p:sp>
      <p:sp>
        <p:nvSpPr>
          <p:cNvPr id="2" name="笑脸 1"/>
          <p:cNvSpPr/>
          <p:nvPr/>
        </p:nvSpPr>
        <p:spPr>
          <a:xfrm>
            <a:off x="4356100" y="2498725"/>
            <a:ext cx="287338" cy="215900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笑脸 4"/>
          <p:cNvSpPr/>
          <p:nvPr/>
        </p:nvSpPr>
        <p:spPr>
          <a:xfrm>
            <a:off x="7358063" y="1782763"/>
            <a:ext cx="287338" cy="217488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笑脸 5"/>
          <p:cNvSpPr/>
          <p:nvPr/>
        </p:nvSpPr>
        <p:spPr>
          <a:xfrm>
            <a:off x="7356475" y="3143250"/>
            <a:ext cx="287338" cy="215900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笑脸 6"/>
          <p:cNvSpPr/>
          <p:nvPr/>
        </p:nvSpPr>
        <p:spPr>
          <a:xfrm>
            <a:off x="7356475" y="3543300"/>
            <a:ext cx="287338" cy="215900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857750" y="1487488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第四章 语法分析</a:t>
            </a:r>
            <a:endParaRPr kumimoji="0" lang="zh-CN" altLang="en-US" sz="800" kern="1200" cap="none" spc="3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983038" y="1774825"/>
            <a:ext cx="44465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预测分析中的错误处理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7" name="Rectangle 3"/>
          <p:cNvSpPr>
            <a:spLocks noGrp="1" noChangeArrowheads="1"/>
          </p:cNvSpPr>
          <p:nvPr>
            <p:ph idx="1"/>
          </p:nvPr>
        </p:nvSpPr>
        <p:spPr>
          <a:xfrm>
            <a:off x="714375" y="917575"/>
            <a:ext cx="7907338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两种情况下可以检测到错误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栈顶的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终结符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和当前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输入符号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不匹配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华文楷体" panose="02010600040101010101" pitchFamily="2" charset="-122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栈顶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非终结符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与当前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输入符号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在预测分析表对应项中的信息为空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预测分析中的错误检测</a:t>
            </a:r>
            <a:endParaRPr kumimoji="0" lang="en-US" altLang="zh-CN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7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714375"/>
            <a:ext cx="8267700" cy="4162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恐慌模式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33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忽略输入中的一些符号，直到输入中出现由设计者选定的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同步词法单元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synchronizing token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集合中的某个词法单元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+mn-ea"/>
              <a:cs typeface="+mn-cs"/>
            </a:endParaRPr>
          </a:p>
          <a:p>
            <a:pPr marL="855980" marR="0" lvl="2" indent="-228600" algn="l" defTabSz="914400" rtl="0" eaLnBrk="1" fontAlgn="base" latinLnBrk="0" hangingPunct="1">
              <a:lnSpc>
                <a:spcPts val="33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其效果依赖于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同步集合的选取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。集合的选取应该使得语法分析器能从实际遇到的错误中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快速恢复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143000" marR="0" lvl="3" indent="-228600" algn="l" defTabSz="914400" rtl="0" eaLnBrk="1" fontAlgn="base" latinLnBrk="0" hangingPunct="1">
              <a:lnSpc>
                <a:spcPts val="33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例如可以把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FOLLOW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中的所有终结符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放入非终结符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的同步记号集合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33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如果终结符在栈顶而不能匹配，一个简单的办法就是弹出此终结符</a:t>
            </a: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预测分析中的错误恢复</a:t>
            </a:r>
            <a:endParaRPr kumimoji="0" lang="en-US" altLang="zh-CN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5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5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5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Group 18"/>
          <p:cNvGraphicFramePr>
            <a:graphicFrameLocks noGrp="1"/>
          </p:cNvGraphicFramePr>
          <p:nvPr/>
        </p:nvGraphicFramePr>
        <p:xfrm>
          <a:off x="6719888" y="722313"/>
          <a:ext cx="2119312" cy="1931988"/>
        </p:xfrm>
        <a:graphic>
          <a:graphicData uri="http://schemas.openxmlformats.org/drawingml/2006/table">
            <a:tbl>
              <a:tblPr/>
              <a:tblGrid>
                <a:gridCol w="627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1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01021" marR="301021" marT="34296" marB="3429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01021" marR="301021" marT="34296" marB="3429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5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7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5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5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5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2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7950" y="3217863"/>
            <a:ext cx="8928100" cy="19256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分析表的使用方法</a:t>
            </a:r>
          </a:p>
          <a:p>
            <a:pPr marL="576580" marR="0" lvl="1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如果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M[</a:t>
            </a:r>
            <a:r>
              <a:rPr kumimoji="0" lang="en-US" altLang="zh-CN" sz="19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kumimoji="0" lang="en-US" altLang="zh-CN" sz="19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是空，表示检测到错误，根据恐慌模式，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忽略输入符号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</a:p>
          <a:p>
            <a:pPr marL="576580" marR="0" lvl="1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如果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M[</a:t>
            </a:r>
            <a:r>
              <a:rPr kumimoji="0" lang="en-US" altLang="zh-CN" sz="19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kumimoji="0" lang="en-US" altLang="zh-CN" sz="19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synch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，则弹出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栈顶的非终结符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，试图继续分析后面的语法成分</a:t>
            </a:r>
            <a:endParaRPr kumimoji="0" lang="zh-CN" altLang="en-US" sz="19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highlight>
                <a:srgbClr val="FFFF00"/>
              </a:highlight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如果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栈顶的终结符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和输入符号不匹配，则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弹出栈顶的终结符</a:t>
            </a:r>
            <a:endParaRPr kumimoji="0" lang="en-US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highlight>
                <a:srgbClr val="FFFF00"/>
              </a:highlight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16" name="Group 18"/>
          <p:cNvGraphicFramePr>
            <a:graphicFrameLocks noGrp="1"/>
          </p:cNvGraphicFramePr>
          <p:nvPr/>
        </p:nvGraphicFramePr>
        <p:xfrm>
          <a:off x="1377950" y="447675"/>
          <a:ext cx="5184775" cy="2203453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7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5623" name="矩形 18"/>
          <p:cNvSpPr/>
          <p:nvPr/>
        </p:nvSpPr>
        <p:spPr>
          <a:xfrm>
            <a:off x="1450975" y="1116013"/>
            <a:ext cx="5111750" cy="1547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E       </a:t>
            </a:r>
            <a:r>
              <a:rPr lang="en-US" altLang="zh-CN" sz="1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E→TE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'</a:t>
            </a:r>
            <a:r>
              <a:rPr lang="en-US" altLang="zh-CN" sz="1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E→TE'</a:t>
            </a:r>
            <a:endParaRPr lang="zh-CN" altLang="en-US" sz="1400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E'                       E'→+TE'                                       E'→ε</a:t>
            </a:r>
            <a:r>
              <a:rPr lang="zh-CN" altLang="en-US" sz="1400" dirty="0">
                <a:latin typeface="Candara" panose="020E0502030303020204" pitchFamily="34" charset="0"/>
                <a:ea typeface="华文楷体" panose="02010600040101010101" pitchFamily="2" charset="-122"/>
              </a:rPr>
              <a:t>      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E'→ε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T       T→FT'                                           T→FT'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T'                         T'→ε          T'→*FT'                  T'→ε      T'→ε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F       F→</a:t>
            </a:r>
            <a:r>
              <a:rPr lang="en-US" altLang="zh-CN" sz="1400" b="1" dirty="0">
                <a:latin typeface="Times New Roman" panose="02020603050405020304" pitchFamily="18" charset="0"/>
              </a:rPr>
              <a:t>id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                                              F→</a:t>
            </a:r>
            <a:r>
              <a:rPr lang="en-US" altLang="zh-CN" sz="1400" b="1" dirty="0">
                <a:latin typeface="Times New Roman" panose="02020603050405020304" pitchFamily="18" charset="0"/>
              </a:rPr>
              <a:t>( 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1400" b="1" dirty="0">
                <a:latin typeface="Times New Roman" panose="02020603050405020304" pitchFamily="18" charset="0"/>
              </a:rPr>
              <a:t>)</a:t>
            </a:r>
            <a:endParaRPr lang="zh-CN" altLang="en-US" sz="1400" b="1" dirty="0">
              <a:latin typeface="Times New Roman" panose="02020603050405020304" pitchFamily="18" charset="0"/>
            </a:endParaRPr>
          </a:p>
        </p:txBody>
      </p:sp>
      <p:sp>
        <p:nvSpPr>
          <p:cNvPr id="139355" name="Rectangle 28"/>
          <p:cNvSpPr/>
          <p:nvPr/>
        </p:nvSpPr>
        <p:spPr>
          <a:xfrm>
            <a:off x="5911850" y="1149350"/>
            <a:ext cx="504825" cy="214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b="1" dirty="0">
                <a:solidFill>
                  <a:srgbClr val="FF0000"/>
                </a:solidFill>
                <a:latin typeface="楷体_GB2312"/>
                <a:ea typeface="楷体_GB2312"/>
              </a:rPr>
              <a:t>synch</a:t>
            </a:r>
          </a:p>
        </p:txBody>
      </p:sp>
      <p:sp>
        <p:nvSpPr>
          <p:cNvPr id="139356" name="Rectangle 29"/>
          <p:cNvSpPr/>
          <p:nvPr/>
        </p:nvSpPr>
        <p:spPr>
          <a:xfrm>
            <a:off x="5203825" y="1138238"/>
            <a:ext cx="504825" cy="2159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b="1" dirty="0">
                <a:solidFill>
                  <a:srgbClr val="FF0000"/>
                </a:solidFill>
                <a:latin typeface="楷体_GB2312"/>
                <a:ea typeface="楷体_GB2312"/>
              </a:rPr>
              <a:t>synch</a:t>
            </a:r>
          </a:p>
        </p:txBody>
      </p:sp>
      <p:sp>
        <p:nvSpPr>
          <p:cNvPr id="139357" name="Rectangle 30"/>
          <p:cNvSpPr/>
          <p:nvPr/>
        </p:nvSpPr>
        <p:spPr>
          <a:xfrm>
            <a:off x="2819400" y="1779588"/>
            <a:ext cx="504825" cy="2159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b="1" dirty="0">
                <a:solidFill>
                  <a:srgbClr val="FF0000"/>
                </a:solidFill>
                <a:latin typeface="楷体_GB2312"/>
                <a:ea typeface="楷体_GB2312"/>
              </a:rPr>
              <a:t>synch</a:t>
            </a:r>
          </a:p>
        </p:txBody>
      </p:sp>
      <p:sp>
        <p:nvSpPr>
          <p:cNvPr id="139358" name="Rectangle 31"/>
          <p:cNvSpPr/>
          <p:nvPr/>
        </p:nvSpPr>
        <p:spPr>
          <a:xfrm>
            <a:off x="5194300" y="1773238"/>
            <a:ext cx="504825" cy="2143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b="1" dirty="0">
                <a:solidFill>
                  <a:srgbClr val="FF0000"/>
                </a:solidFill>
                <a:latin typeface="楷体_GB2312"/>
                <a:ea typeface="楷体_GB2312"/>
              </a:rPr>
              <a:t>synch</a:t>
            </a:r>
          </a:p>
        </p:txBody>
      </p:sp>
      <p:sp>
        <p:nvSpPr>
          <p:cNvPr id="139359" name="Rectangle 32"/>
          <p:cNvSpPr/>
          <p:nvPr/>
        </p:nvSpPr>
        <p:spPr>
          <a:xfrm>
            <a:off x="5911850" y="1773238"/>
            <a:ext cx="504825" cy="2143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b="1" dirty="0">
                <a:solidFill>
                  <a:srgbClr val="FF0000"/>
                </a:solidFill>
                <a:latin typeface="楷体_GB2312"/>
                <a:ea typeface="楷体_GB2312"/>
              </a:rPr>
              <a:t>synch</a:t>
            </a:r>
          </a:p>
        </p:txBody>
      </p:sp>
      <p:sp>
        <p:nvSpPr>
          <p:cNvPr id="139360" name="Rectangle 33"/>
          <p:cNvSpPr/>
          <p:nvPr/>
        </p:nvSpPr>
        <p:spPr>
          <a:xfrm>
            <a:off x="2819400" y="2362200"/>
            <a:ext cx="504825" cy="214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b="1" dirty="0">
                <a:solidFill>
                  <a:srgbClr val="FF0000"/>
                </a:solidFill>
                <a:latin typeface="楷体_GB2312"/>
                <a:ea typeface="楷体_GB2312"/>
              </a:rPr>
              <a:t>synch</a:t>
            </a:r>
          </a:p>
        </p:txBody>
      </p:sp>
      <p:sp>
        <p:nvSpPr>
          <p:cNvPr id="139361" name="Rectangle 34"/>
          <p:cNvSpPr/>
          <p:nvPr/>
        </p:nvSpPr>
        <p:spPr>
          <a:xfrm>
            <a:off x="3681413" y="2362200"/>
            <a:ext cx="504825" cy="2159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b="1" dirty="0">
                <a:solidFill>
                  <a:srgbClr val="FF0000"/>
                </a:solidFill>
                <a:latin typeface="楷体_GB2312"/>
                <a:ea typeface="楷体_GB2312"/>
              </a:rPr>
              <a:t>synch</a:t>
            </a:r>
          </a:p>
        </p:txBody>
      </p:sp>
      <p:sp>
        <p:nvSpPr>
          <p:cNvPr id="139362" name="Rectangle 35"/>
          <p:cNvSpPr/>
          <p:nvPr/>
        </p:nvSpPr>
        <p:spPr>
          <a:xfrm>
            <a:off x="5199063" y="2351088"/>
            <a:ext cx="504825" cy="2143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b="1" dirty="0">
                <a:solidFill>
                  <a:srgbClr val="FF0000"/>
                </a:solidFill>
                <a:latin typeface="楷体_GB2312"/>
                <a:ea typeface="楷体_GB2312"/>
              </a:rPr>
              <a:t>synch</a:t>
            </a:r>
          </a:p>
        </p:txBody>
      </p:sp>
      <p:sp>
        <p:nvSpPr>
          <p:cNvPr id="139363" name="Rectangle 36"/>
          <p:cNvSpPr/>
          <p:nvPr/>
        </p:nvSpPr>
        <p:spPr>
          <a:xfrm>
            <a:off x="5913438" y="2351088"/>
            <a:ext cx="504825" cy="2143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b="1" dirty="0">
                <a:solidFill>
                  <a:srgbClr val="FF0000"/>
                </a:solidFill>
                <a:latin typeface="楷体_GB2312"/>
                <a:ea typeface="楷体_GB2312"/>
              </a:rPr>
              <a:t>synch</a:t>
            </a:r>
          </a:p>
        </p:txBody>
      </p:sp>
      <p:sp>
        <p:nvSpPr>
          <p:cNvPr id="65633" name="矩形 30"/>
          <p:cNvSpPr/>
          <p:nvPr/>
        </p:nvSpPr>
        <p:spPr>
          <a:xfrm>
            <a:off x="1357313" y="458788"/>
            <a:ext cx="595312" cy="633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非终</a:t>
            </a:r>
            <a:endParaRPr lang="en-US" altLang="zh-CN" sz="16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结符</a:t>
            </a:r>
          </a:p>
        </p:txBody>
      </p:sp>
      <p:sp>
        <p:nvSpPr>
          <p:cNvPr id="3" name="矩形 2"/>
          <p:cNvSpPr/>
          <p:nvPr/>
        </p:nvSpPr>
        <p:spPr>
          <a:xfrm>
            <a:off x="1258888" y="2787650"/>
            <a:ext cx="7356475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Synch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表示根据相应非终结符的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FOLLOW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集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得到的同步词法单元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842125" y="776288"/>
            <a:ext cx="1974850" cy="1939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FOLLOW(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 )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 )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 +  )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9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9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9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9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9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9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9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9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9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9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9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9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9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9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9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9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9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9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9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9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9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355" grpId="0"/>
      <p:bldP spid="139356" grpId="0"/>
      <p:bldP spid="139357" grpId="0"/>
      <p:bldP spid="139358" grpId="0"/>
      <p:bldP spid="139359" grpId="0"/>
      <p:bldP spid="139360" grpId="0"/>
      <p:bldP spid="139361" grpId="0"/>
      <p:bldP spid="139362" grpId="0"/>
      <p:bldP spid="139363" grpId="0"/>
      <p:bldP spid="3" grpId="0" bldLvl="0" animBg="1"/>
      <p:bldP spid="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429250" y="176213"/>
            <a:ext cx="3883025" cy="4752975"/>
          </a:xfrm>
        </p:spPr>
        <p:txBody>
          <a:bodyPr vert="horz" wrap="square" lIns="92075" tIns="46038" rIns="92075" bIns="46038" numCol="1" anchor="t" anchorCtr="0" compatLnSpc="1"/>
          <a:lstStyle/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zh-CN" altLang="en-US" sz="1600" b="1" kern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    </a:t>
            </a:r>
            <a:r>
              <a:rPr lang="zh-CN" altLang="en-US" sz="1800" b="1" kern="1200" dirty="0">
                <a:solidFill>
                  <a:srgbClr val="2D83F4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栈	  剩余输入</a:t>
            </a:r>
            <a:endParaRPr lang="en-US" altLang="zh-CN" sz="1800" b="1" kern="1200" dirty="0">
              <a:solidFill>
                <a:srgbClr val="2D83F4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E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zh-CN" altLang="en-US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 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+id*+id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   ignore +</a:t>
            </a: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E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   id*+id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TE'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   id*+id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</a:t>
            </a: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FT'E'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   id*+id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</a:t>
            </a: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id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T'E'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  id*+id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</a:t>
            </a: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T'E'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      *+id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</a:t>
            </a: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*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FT'E'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      *+id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   	</a:t>
            </a: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FT'E'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        +id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   error</a:t>
            </a:r>
            <a:endParaRPr lang="zh-CN" altLang="en-US" sz="1600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T'E'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               +id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</a:t>
            </a:r>
            <a:endParaRPr lang="zh-CN" altLang="en-US" sz="1600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E'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               +id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      	</a:t>
            </a: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+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TE'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               +id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</a:t>
            </a: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TE'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                 id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</a:t>
            </a: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FT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'E'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                 id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endParaRPr lang="en-US" altLang="zh-CN" sz="1600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id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'E'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                 id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     	</a:t>
            </a: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   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'E'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 (正文)"/>
                <a:ea typeface="楷体_GB2312"/>
                <a:cs typeface="+mn-cs"/>
              </a:rPr>
              <a:t> 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	  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  </a:t>
            </a: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  </a:t>
            </a:r>
            <a:r>
              <a:rPr lang="en-US" altLang="zh-CN" sz="16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E'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                    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  </a:t>
            </a:r>
          </a:p>
          <a:p>
            <a:pPr eaLnBrk="1" hangingPunct="1">
              <a:lnSpc>
                <a:spcPct val="9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        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	                     </a:t>
            </a:r>
            <a:r>
              <a:rPr lang="en-US" altLang="zh-CN" sz="16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  <a:r>
              <a:rPr lang="en-US" altLang="zh-CN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   </a:t>
            </a:r>
            <a:r>
              <a:rPr lang="en-US" altLang="zh-CN" sz="1800" kern="1200" dirty="0">
                <a:latin typeface="Times New Roman" panose="02020603050405020304" pitchFamily="18" charset="0"/>
                <a:ea typeface="楷体_GB2312"/>
                <a:cs typeface="+mn-cs"/>
              </a:rPr>
              <a:t>	</a:t>
            </a:r>
          </a:p>
        </p:txBody>
      </p:sp>
      <p:graphicFrame>
        <p:nvGraphicFramePr>
          <p:cNvPr id="16" name="Group 18"/>
          <p:cNvGraphicFramePr>
            <a:graphicFrameLocks noGrp="1"/>
          </p:cNvGraphicFramePr>
          <p:nvPr/>
        </p:nvGraphicFramePr>
        <p:xfrm>
          <a:off x="128588" y="1563688"/>
          <a:ext cx="5184775" cy="2203453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7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7647" name="组合 4"/>
          <p:cNvGrpSpPr/>
          <p:nvPr/>
        </p:nvGrpSpPr>
        <p:grpSpPr>
          <a:xfrm>
            <a:off x="200025" y="2232025"/>
            <a:ext cx="5113338" cy="1546225"/>
            <a:chOff x="395536" y="3558112"/>
            <a:chExt cx="5112568" cy="1547090"/>
          </a:xfrm>
        </p:grpSpPr>
        <p:sp>
          <p:nvSpPr>
            <p:cNvPr id="67649" name="矩形 17"/>
            <p:cNvSpPr/>
            <p:nvPr/>
          </p:nvSpPr>
          <p:spPr>
            <a:xfrm>
              <a:off x="395536" y="3558112"/>
              <a:ext cx="5112568" cy="15470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400" b="1" i="1" dirty="0">
                  <a:latin typeface="Times New Roman" panose="02020603050405020304" pitchFamily="18" charset="0"/>
                </a:rPr>
                <a:t>E       </a:t>
              </a:r>
              <a:r>
                <a:rPr lang="en-US" altLang="zh-CN" sz="14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E→TE</a:t>
              </a:r>
              <a:r>
                <a:rPr lang="en-US" altLang="zh-CN" sz="1400" b="1" i="1" dirty="0">
                  <a:latin typeface="Times New Roman" panose="02020603050405020304" pitchFamily="18" charset="0"/>
                </a:rPr>
                <a:t>'</a:t>
              </a:r>
              <a:r>
                <a:rPr lang="en-US" altLang="zh-CN" sz="14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                                   </a:t>
              </a:r>
              <a:r>
                <a:rPr lang="en-US" altLang="zh-CN" sz="1400" b="1" i="1" dirty="0">
                  <a:latin typeface="Times New Roman" panose="02020603050405020304" pitchFamily="18" charset="0"/>
                </a:rPr>
                <a:t>E→TE'</a:t>
              </a:r>
              <a:endParaRPr lang="zh-CN" altLang="en-US" sz="1400" b="1" i="1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400" b="1" i="1" dirty="0">
                  <a:latin typeface="Times New Roman" panose="02020603050405020304" pitchFamily="18" charset="0"/>
                </a:rPr>
                <a:t>E'                       E'→+TE'                                       E'→ε</a:t>
              </a:r>
              <a:r>
                <a:rPr lang="zh-CN" altLang="en-US" sz="1400" dirty="0">
                  <a:latin typeface="Candara" panose="020E0502030303020204" pitchFamily="34" charset="0"/>
                  <a:ea typeface="华文楷体" panose="02010600040101010101" pitchFamily="2" charset="-122"/>
                </a:rPr>
                <a:t>      </a:t>
              </a:r>
              <a:r>
                <a:rPr lang="en-US" altLang="zh-CN" sz="1400" b="1" i="1" dirty="0">
                  <a:latin typeface="Times New Roman" panose="02020603050405020304" pitchFamily="18" charset="0"/>
                </a:rPr>
                <a:t>E'→ε</a:t>
              </a: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400" b="1" i="1" dirty="0">
                  <a:latin typeface="Times New Roman" panose="02020603050405020304" pitchFamily="18" charset="0"/>
                </a:rPr>
                <a:t>T       T→FT'                                           T→FT'</a:t>
              </a: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400" b="1" i="1" dirty="0">
                  <a:latin typeface="Times New Roman" panose="02020603050405020304" pitchFamily="18" charset="0"/>
                </a:rPr>
                <a:t>T'                         T'→ε          T'→*FT'                  T'→ε      T'→ε</a:t>
              </a: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400" b="1" i="1" dirty="0">
                  <a:latin typeface="Times New Roman" panose="02020603050405020304" pitchFamily="18" charset="0"/>
                </a:rPr>
                <a:t>F       F→</a:t>
              </a:r>
              <a:r>
                <a:rPr lang="en-US" altLang="zh-CN" sz="1400" b="1" dirty="0">
                  <a:latin typeface="Times New Roman" panose="02020603050405020304" pitchFamily="18" charset="0"/>
                </a:rPr>
                <a:t>id</a:t>
              </a:r>
              <a:r>
                <a:rPr lang="en-US" altLang="zh-CN" sz="1400" b="1" i="1" dirty="0">
                  <a:latin typeface="Times New Roman" panose="02020603050405020304" pitchFamily="18" charset="0"/>
                </a:rPr>
                <a:t>                                              F→</a:t>
              </a:r>
              <a:r>
                <a:rPr lang="en-US" altLang="zh-CN" sz="1400" b="1" dirty="0">
                  <a:latin typeface="Times New Roman" panose="02020603050405020304" pitchFamily="18" charset="0"/>
                </a:rPr>
                <a:t>( </a:t>
              </a:r>
              <a:r>
                <a:rPr lang="en-US" altLang="zh-CN" sz="1400" b="1" i="1" dirty="0">
                  <a:latin typeface="Times New Roman" panose="02020603050405020304" pitchFamily="18" charset="0"/>
                </a:rPr>
                <a:t>E </a:t>
              </a:r>
              <a:r>
                <a:rPr lang="en-US" altLang="zh-CN" sz="1400" b="1" dirty="0">
                  <a:latin typeface="Times New Roman" panose="02020603050405020304" pitchFamily="18" charset="0"/>
                </a:rPr>
                <a:t>)</a:t>
              </a:r>
              <a:endParaRPr lang="zh-CN" altLang="en-US" sz="1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7650" name="Rectangle 28"/>
            <p:cNvSpPr/>
            <p:nvPr/>
          </p:nvSpPr>
          <p:spPr>
            <a:xfrm>
              <a:off x="4857748" y="3590486"/>
              <a:ext cx="504694" cy="215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solidFill>
                    <a:srgbClr val="FF0000"/>
                  </a:solidFill>
                  <a:latin typeface="楷体_GB2312"/>
                  <a:ea typeface="楷体_GB2312"/>
                </a:rPr>
                <a:t>synch</a:t>
              </a:r>
            </a:p>
          </p:txBody>
        </p:sp>
        <p:sp>
          <p:nvSpPr>
            <p:cNvPr id="67651" name="Rectangle 29"/>
            <p:cNvSpPr/>
            <p:nvPr/>
          </p:nvSpPr>
          <p:spPr>
            <a:xfrm>
              <a:off x="4149654" y="3579862"/>
              <a:ext cx="504694" cy="215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solidFill>
                    <a:srgbClr val="FF0000"/>
                  </a:solidFill>
                  <a:latin typeface="楷体_GB2312"/>
                  <a:ea typeface="楷体_GB2312"/>
                </a:rPr>
                <a:t>synch</a:t>
              </a:r>
            </a:p>
          </p:txBody>
        </p:sp>
        <p:sp>
          <p:nvSpPr>
            <p:cNvPr id="67652" name="Rectangle 30"/>
            <p:cNvSpPr/>
            <p:nvPr/>
          </p:nvSpPr>
          <p:spPr>
            <a:xfrm>
              <a:off x="1763688" y="4221924"/>
              <a:ext cx="504694" cy="2152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solidFill>
                    <a:srgbClr val="FF0000"/>
                  </a:solidFill>
                  <a:latin typeface="楷体_GB2312"/>
                  <a:ea typeface="楷体_GB2312"/>
                </a:rPr>
                <a:t>synch</a:t>
              </a:r>
            </a:p>
          </p:txBody>
        </p:sp>
        <p:sp>
          <p:nvSpPr>
            <p:cNvPr id="67653" name="Rectangle 31"/>
            <p:cNvSpPr/>
            <p:nvPr/>
          </p:nvSpPr>
          <p:spPr>
            <a:xfrm>
              <a:off x="4139952" y="4214650"/>
              <a:ext cx="504694" cy="2152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solidFill>
                    <a:srgbClr val="FF0000"/>
                  </a:solidFill>
                  <a:latin typeface="楷体_GB2312"/>
                  <a:ea typeface="楷体_GB2312"/>
                </a:rPr>
                <a:t>synch</a:t>
              </a:r>
            </a:p>
          </p:txBody>
        </p:sp>
        <p:sp>
          <p:nvSpPr>
            <p:cNvPr id="67654" name="Rectangle 32"/>
            <p:cNvSpPr/>
            <p:nvPr/>
          </p:nvSpPr>
          <p:spPr>
            <a:xfrm>
              <a:off x="4857748" y="4214650"/>
              <a:ext cx="504694" cy="2152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solidFill>
                    <a:srgbClr val="FF0000"/>
                  </a:solidFill>
                  <a:latin typeface="楷体_GB2312"/>
                  <a:ea typeface="楷体_GB2312"/>
                </a:rPr>
                <a:t>synch</a:t>
              </a:r>
            </a:p>
          </p:txBody>
        </p:sp>
        <p:sp>
          <p:nvSpPr>
            <p:cNvPr id="67655" name="Rectangle 33"/>
            <p:cNvSpPr/>
            <p:nvPr/>
          </p:nvSpPr>
          <p:spPr>
            <a:xfrm>
              <a:off x="1763688" y="4803589"/>
              <a:ext cx="504694" cy="215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solidFill>
                    <a:srgbClr val="FF0000"/>
                  </a:solidFill>
                  <a:latin typeface="楷体_GB2312"/>
                  <a:ea typeface="楷体_GB2312"/>
                </a:rPr>
                <a:t>synch</a:t>
              </a:r>
            </a:p>
          </p:txBody>
        </p:sp>
        <p:sp>
          <p:nvSpPr>
            <p:cNvPr id="67656" name="Rectangle 34"/>
            <p:cNvSpPr/>
            <p:nvPr/>
          </p:nvSpPr>
          <p:spPr>
            <a:xfrm>
              <a:off x="2627146" y="4804735"/>
              <a:ext cx="504694" cy="215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solidFill>
                    <a:srgbClr val="FF0000"/>
                  </a:solidFill>
                  <a:latin typeface="楷体_GB2312"/>
                  <a:ea typeface="楷体_GB2312"/>
                </a:rPr>
                <a:t>synch</a:t>
              </a:r>
            </a:p>
          </p:txBody>
        </p:sp>
        <p:sp>
          <p:nvSpPr>
            <p:cNvPr id="67657" name="Rectangle 35"/>
            <p:cNvSpPr/>
            <p:nvPr/>
          </p:nvSpPr>
          <p:spPr>
            <a:xfrm>
              <a:off x="4144659" y="4792179"/>
              <a:ext cx="504694" cy="215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solidFill>
                    <a:srgbClr val="FF0000"/>
                  </a:solidFill>
                  <a:latin typeface="楷体_GB2312"/>
                  <a:ea typeface="楷体_GB2312"/>
                </a:rPr>
                <a:t>synch</a:t>
              </a:r>
            </a:p>
          </p:txBody>
        </p:sp>
        <p:sp>
          <p:nvSpPr>
            <p:cNvPr id="67658" name="Rectangle 36"/>
            <p:cNvSpPr/>
            <p:nvPr/>
          </p:nvSpPr>
          <p:spPr>
            <a:xfrm>
              <a:off x="4859394" y="4792179"/>
              <a:ext cx="504694" cy="215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solidFill>
                    <a:srgbClr val="FF0000"/>
                  </a:solidFill>
                  <a:latin typeface="楷体_GB2312"/>
                  <a:ea typeface="楷体_GB2312"/>
                </a:rPr>
                <a:t>synch</a:t>
              </a:r>
            </a:p>
          </p:txBody>
        </p:sp>
      </p:grpSp>
      <p:sp>
        <p:nvSpPr>
          <p:cNvPr id="67648" name="矩形 2"/>
          <p:cNvSpPr/>
          <p:nvPr/>
        </p:nvSpPr>
        <p:spPr>
          <a:xfrm>
            <a:off x="107950" y="1574800"/>
            <a:ext cx="595313" cy="633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非终</a:t>
            </a:r>
            <a:endParaRPr lang="en-US" altLang="zh-CN" sz="16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结符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669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669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669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669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669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669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669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669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669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6697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6697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6697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669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669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669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1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1500</TotalTime>
  <Words>6949</Words>
  <Application>Microsoft Office PowerPoint</Application>
  <PresentationFormat>全屏显示(16:9)</PresentationFormat>
  <Paragraphs>1001</Paragraphs>
  <Slides>60</Slides>
  <Notes>55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60</vt:i4>
      </vt:variant>
    </vt:vector>
  </HeadingPairs>
  <TitlesOfParts>
    <vt:vector size="82" baseType="lpstr">
      <vt:lpstr>Monotype Sorts</vt:lpstr>
      <vt:lpstr>华文楷体</vt:lpstr>
      <vt:lpstr>华文楷体 (正文)</vt:lpstr>
      <vt:lpstr>楷体</vt:lpstr>
      <vt:lpstr>楷体_GB2312</vt:lpstr>
      <vt:lpstr>宋体</vt:lpstr>
      <vt:lpstr>微软雅黑</vt:lpstr>
      <vt:lpstr>Arial</vt:lpstr>
      <vt:lpstr>Arial Bold Italic</vt:lpstr>
      <vt:lpstr>Calibri</vt:lpstr>
      <vt:lpstr>Cambria Math</vt:lpstr>
      <vt:lpstr>Candara</vt:lpstr>
      <vt:lpstr>Symbol</vt:lpstr>
      <vt:lpstr>Tahoma</vt:lpstr>
      <vt:lpstr>Times New Roman</vt:lpstr>
      <vt:lpstr>Times New Roman Bold</vt:lpstr>
      <vt:lpstr>Times New Roman Bold Italic</vt:lpstr>
      <vt:lpstr>Wingdings</vt:lpstr>
      <vt:lpstr>自定义设计方案</vt:lpstr>
      <vt:lpstr>主题1</vt:lpstr>
      <vt:lpstr>波形</vt:lpstr>
      <vt:lpstr>1_波形</vt:lpstr>
      <vt:lpstr>PowerPoint 演示文稿</vt:lpstr>
      <vt:lpstr>自顶向下的分析(Top-Down Parsing)</vt:lpstr>
      <vt:lpstr>最左推导(Left-most Derivation)</vt:lpstr>
      <vt:lpstr>PowerPoint 演示文稿</vt:lpstr>
      <vt:lpstr>最左推导和最右推导的唯一性</vt:lpstr>
      <vt:lpstr>自顶向下的语法分析采用最左推导方式</vt:lpstr>
      <vt:lpstr>例</vt:lpstr>
      <vt:lpstr>自顶向下语法分析的通用形式</vt:lpstr>
      <vt:lpstr>预测分析 (Predictive Parsing)</vt:lpstr>
      <vt:lpstr>PowerPoint 演示文稿</vt:lpstr>
      <vt:lpstr>问题1</vt:lpstr>
      <vt:lpstr>文法改造，引入新的语法变量（问题1）</vt:lpstr>
      <vt:lpstr>问题2</vt:lpstr>
      <vt:lpstr>提取左公因子(Left Factoring )（问题2）</vt:lpstr>
      <vt:lpstr>提取左公因子算法</vt:lpstr>
      <vt:lpstr>问题3</vt:lpstr>
      <vt:lpstr>消除直接左递归（问题3）</vt:lpstr>
      <vt:lpstr>消除直接左递归的一般形式</vt:lpstr>
      <vt:lpstr>消除间接左递归</vt:lpstr>
      <vt:lpstr>消除左递归算法</vt:lpstr>
      <vt:lpstr>PowerPoint 演示文稿</vt:lpstr>
      <vt:lpstr>什么样的文法适合预测分析法</vt:lpstr>
      <vt:lpstr>串首终结符集</vt:lpstr>
      <vt:lpstr>例</vt:lpstr>
      <vt:lpstr>非终结符的后继符号集</vt:lpstr>
      <vt:lpstr>小结</vt:lpstr>
      <vt:lpstr>LL(1)文法</vt:lpstr>
      <vt:lpstr>LL(1)文法</vt:lpstr>
      <vt:lpstr>PowerPoint 演示文稿</vt:lpstr>
      <vt:lpstr>计算文法符号X的FIRST(X )</vt:lpstr>
      <vt:lpstr>计算文法符号X的FIRST(X )</vt:lpstr>
      <vt:lpstr>算法</vt:lpstr>
      <vt:lpstr>计算串X1X2 …Xn的FIRST 集合</vt:lpstr>
      <vt:lpstr>计算非终结符A的FOLLOW(A)</vt:lpstr>
      <vt:lpstr>计算非终结符A的FOLLOW(A)</vt:lpstr>
      <vt:lpstr>算法</vt:lpstr>
      <vt:lpstr>预测分析表</vt:lpstr>
      <vt:lpstr>构造预测分析表</vt:lpstr>
      <vt:lpstr>LL(1)文法的分析方法</vt:lpstr>
      <vt:lpstr>PowerPoint 演示文稿</vt:lpstr>
      <vt:lpstr>非递归的预测分析法</vt:lpstr>
      <vt:lpstr>表驱动的预测分析法</vt:lpstr>
      <vt:lpstr>例</vt:lpstr>
      <vt:lpstr>预测分析法实现步骤</vt:lpstr>
      <vt:lpstr>PowerPoint 演示文稿</vt:lpstr>
      <vt:lpstr>递归的预测分析法</vt:lpstr>
      <vt:lpstr>例</vt:lpstr>
      <vt:lpstr>例</vt:lpstr>
      <vt:lpstr>例</vt:lpstr>
      <vt:lpstr>例</vt:lpstr>
      <vt:lpstr>例</vt:lpstr>
      <vt:lpstr>例</vt:lpstr>
      <vt:lpstr>例</vt:lpstr>
      <vt:lpstr>例</vt:lpstr>
      <vt:lpstr>递归的预测分析法vs.非递归的预测分析法</vt:lpstr>
      <vt:lpstr>PowerPoint 演示文稿</vt:lpstr>
      <vt:lpstr>预测分析中的错误检测</vt:lpstr>
      <vt:lpstr>预测分析中的错误恢复</vt:lpstr>
      <vt:lpstr>例</vt:lpstr>
      <vt:lpstr>PowerPoint 演示文稿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王锦鸿</cp:lastModifiedBy>
  <cp:revision>1549</cp:revision>
  <cp:lastPrinted>2023-09-20T02:48:00Z</cp:lastPrinted>
  <dcterms:created xsi:type="dcterms:W3CDTF">2023-09-20T02:48:00Z</dcterms:created>
  <dcterms:modified xsi:type="dcterms:W3CDTF">2025-07-01T06:39:00Z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  <property fmtid="{D5CDD505-2E9C-101B-9397-08002B2CF9AE}" pid="3" name="KSOProductBuildVer">
    <vt:lpwstr>2052-12.1.0.20784</vt:lpwstr>
  </property>
  <property fmtid="{D5CDD505-2E9C-101B-9397-08002B2CF9AE}" pid="4" name="ICV">
    <vt:lpwstr>C9A621C605A3D0DF52F6FE64ACC2F944_42</vt:lpwstr>
  </property>
</Properties>
</file>