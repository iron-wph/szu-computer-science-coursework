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52"/>
  </p:notesMasterIdLst>
  <p:handoutMasterIdLst>
    <p:handoutMasterId r:id="rId53"/>
  </p:handoutMasterIdLst>
  <p:sldIdLst>
    <p:sldId id="764" r:id="rId3"/>
    <p:sldId id="626" r:id="rId4"/>
    <p:sldId id="713" r:id="rId5"/>
    <p:sldId id="715" r:id="rId6"/>
    <p:sldId id="780" r:id="rId7"/>
    <p:sldId id="781" r:id="rId8"/>
    <p:sldId id="737" r:id="rId9"/>
    <p:sldId id="629" r:id="rId10"/>
    <p:sldId id="738" r:id="rId11"/>
    <p:sldId id="767" r:id="rId12"/>
    <p:sldId id="655" r:id="rId13"/>
    <p:sldId id="709" r:id="rId14"/>
    <p:sldId id="669" r:id="rId15"/>
    <p:sldId id="710" r:id="rId16"/>
    <p:sldId id="741" r:id="rId17"/>
    <p:sldId id="687" r:id="rId18"/>
    <p:sldId id="705" r:id="rId19"/>
    <p:sldId id="638" r:id="rId20"/>
    <p:sldId id="693" r:id="rId21"/>
    <p:sldId id="720" r:id="rId22"/>
    <p:sldId id="721" r:id="rId23"/>
    <p:sldId id="770" r:id="rId24"/>
    <p:sldId id="722" r:id="rId25"/>
    <p:sldId id="802" r:id="rId26"/>
    <p:sldId id="803" r:id="rId27"/>
    <p:sldId id="724" r:id="rId28"/>
    <p:sldId id="730" r:id="rId29"/>
    <p:sldId id="725" r:id="rId30"/>
    <p:sldId id="743" r:id="rId31"/>
    <p:sldId id="744" r:id="rId32"/>
    <p:sldId id="728" r:id="rId33"/>
    <p:sldId id="740" r:id="rId34"/>
    <p:sldId id="773" r:id="rId35"/>
    <p:sldId id="695" r:id="rId36"/>
    <p:sldId id="782" r:id="rId37"/>
    <p:sldId id="646" r:id="rId38"/>
    <p:sldId id="750" r:id="rId39"/>
    <p:sldId id="647" r:id="rId40"/>
    <p:sldId id="683" r:id="rId41"/>
    <p:sldId id="751" r:id="rId42"/>
    <p:sldId id="612" r:id="rId43"/>
    <p:sldId id="788" r:id="rId44"/>
    <p:sldId id="789" r:id="rId45"/>
    <p:sldId id="790" r:id="rId46"/>
    <p:sldId id="804" r:id="rId47"/>
    <p:sldId id="791" r:id="rId48"/>
    <p:sldId id="792" r:id="rId49"/>
    <p:sldId id="793" r:id="rId50"/>
    <p:sldId id="794" r:id="rId51"/>
  </p:sldIdLst>
  <p:sldSz cx="9144000" cy="5143500" type="screen16x9"/>
  <p:notesSz cx="7099300" cy="10234613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2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00FF"/>
    <a:srgbClr val="FF5050"/>
    <a:srgbClr val="FFFF99"/>
    <a:srgbClr val="FFCCCC"/>
    <a:srgbClr val="3333FF"/>
    <a:srgbClr val="000099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6"/>
    <p:restoredTop sz="81031"/>
  </p:normalViewPr>
  <p:slideViewPr>
    <p:cSldViewPr showGuides="1">
      <p:cViewPr varScale="1">
        <p:scale>
          <a:sx n="106" d="100"/>
          <a:sy n="106" d="100"/>
        </p:scale>
        <p:origin x="940" y="64"/>
      </p:cViewPr>
      <p:guideLst>
        <p:guide orient="horz" pos="1672"/>
        <p:guide pos="2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4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/>
          <a:lstStyle>
            <a:lvl1pPr defTabSz="951230" eaLnBrk="1" hangingPunct="1">
              <a:defRPr sz="1300">
                <a:latin typeface="Arial" panose="020B0604020202020204" pitchFamily="34" charset="0"/>
                <a:ea typeface="宋体" pitchFamily="2" charset="-122"/>
                <a:cs typeface="楷体_GB2312"/>
              </a:defRPr>
            </a:lvl1pPr>
          </a:lstStyle>
          <a:p>
            <a:pPr marL="0" marR="0" lvl="0" indent="0" algn="l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楷体_GB2312"/>
            </a:endParaRP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/>
          <a:lstStyle>
            <a:lvl1pPr algn="r" defTabSz="951230" eaLnBrk="1" hangingPunct="1">
              <a:defRPr sz="1300">
                <a:latin typeface="Arial" panose="020B0604020202020204" pitchFamily="34" charset="0"/>
                <a:ea typeface="宋体" pitchFamily="2" charset="-122"/>
                <a:cs typeface="楷体_GB2312"/>
              </a:defRPr>
            </a:lvl1pPr>
          </a:lstStyle>
          <a:p>
            <a:pPr marL="0" marR="0" lvl="0" indent="0" algn="r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楷体_GB2312"/>
            </a:endParaRPr>
          </a:p>
        </p:txBody>
      </p:sp>
      <p:sp>
        <p:nvSpPr>
          <p:cNvPr id="359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b" anchorCtr="0" compatLnSpc="1"/>
          <a:lstStyle>
            <a:lvl1pPr defTabSz="951230" eaLnBrk="1" hangingPunct="1">
              <a:defRPr sz="1300">
                <a:latin typeface="Arial" panose="020B0604020202020204" pitchFamily="34" charset="0"/>
                <a:ea typeface="宋体" pitchFamily="2" charset="-122"/>
                <a:cs typeface="楷体_GB2312"/>
              </a:defRPr>
            </a:lvl1pPr>
          </a:lstStyle>
          <a:p>
            <a:pPr marL="0" marR="0" lvl="0" indent="0" algn="l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楷体_GB2312"/>
            </a:endParaRPr>
          </a:p>
        </p:txBody>
      </p:sp>
      <p:sp>
        <p:nvSpPr>
          <p:cNvPr id="359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b" anchorCtr="0" compatLnSpc="1"/>
          <a:lstStyle>
            <a:lvl1pPr algn="r" defTabSz="951230" eaLnBrk="1" hangingPunct="1">
              <a:defRPr sz="13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r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8FFFC8-B755-47EE-8D16-7BF25E998A76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楷体_GB2312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/>
          <a:lstStyle>
            <a:lvl1pPr defTabSz="951230" eaLnBrk="1" hangingPunct="1">
              <a:defRPr sz="1300">
                <a:latin typeface="Arial" panose="020B0604020202020204" pitchFamily="34" charset="0"/>
                <a:ea typeface="宋体" pitchFamily="2" charset="-122"/>
                <a:cs typeface="楷体_GB2312"/>
              </a:defRPr>
            </a:lvl1pPr>
          </a:lstStyle>
          <a:p>
            <a:pPr marL="0" marR="0" lvl="0" indent="0" algn="l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楷体_GB2312"/>
            </a:endParaRP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/>
          <a:lstStyle>
            <a:lvl1pPr algn="r" defTabSz="951230" eaLnBrk="1" hangingPunct="1">
              <a:defRPr sz="1300">
                <a:latin typeface="Arial" panose="020B0604020202020204" pitchFamily="34" charset="0"/>
                <a:ea typeface="宋体" pitchFamily="2" charset="-122"/>
                <a:cs typeface="楷体_GB2312"/>
              </a:defRPr>
            </a:lvl1pPr>
          </a:lstStyle>
          <a:p>
            <a:pPr marL="0" marR="0" lvl="0" indent="0" algn="r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楷体_GB2312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6525" y="766763"/>
            <a:ext cx="6826250" cy="38401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22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6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t>第五级</a:t>
            </a:r>
          </a:p>
        </p:txBody>
      </p:sp>
      <p:sp>
        <p:nvSpPr>
          <p:cNvPr id="422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b" anchorCtr="0" compatLnSpc="1"/>
          <a:lstStyle>
            <a:lvl1pPr defTabSz="951230" eaLnBrk="1" hangingPunct="1">
              <a:defRPr sz="1300">
                <a:latin typeface="Arial" panose="020B0604020202020204" pitchFamily="34" charset="0"/>
                <a:ea typeface="宋体" pitchFamily="2" charset="-122"/>
                <a:cs typeface="楷体_GB2312"/>
              </a:defRPr>
            </a:lvl1pPr>
          </a:lstStyle>
          <a:p>
            <a:pPr marL="0" marR="0" lvl="0" indent="0" algn="l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楷体_GB2312"/>
            </a:endParaRPr>
          </a:p>
        </p:txBody>
      </p:sp>
      <p:sp>
        <p:nvSpPr>
          <p:cNvPr id="422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83" tIns="47642" rIns="95283" bIns="47642" numCol="1" anchor="b" anchorCtr="0" compatLnSpc="1"/>
          <a:lstStyle>
            <a:lvl1pPr algn="r" defTabSz="951230" eaLnBrk="1" hangingPunct="1">
              <a:defRPr sz="13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 marL="0" marR="0" lvl="0" indent="0" algn="r" defTabSz="9512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8F037D-A69B-4B1B-8F41-41C3C30B3FEB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楷体_GB2312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楷体_GB231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1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3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4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en-US" altLang="zh-CN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5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6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7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8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297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10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en-US" altLang="zh-CN" dirty="0"/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11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12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sz="20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13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14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marL="0" lvl="1" indent="0" eaLnBrk="1" hangingPunct="1"/>
            <a:endParaRPr lang="en-US" altLang="zh-CN" sz="2000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15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16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17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dirty="0"/>
          </a:p>
          <a:p>
            <a:pPr lvl="0" eaLnBrk="1" hangingPunct="1"/>
            <a:endParaRPr lang="zh-CN" altLang="en-US" dirty="0"/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18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algn="just" eaLnBrk="1" hangingPunct="1">
              <a:lnSpc>
                <a:spcPct val="120000"/>
              </a:lnSpc>
            </a:pPr>
            <a:endParaRPr lang="en-US" altLang="zh-CN" sz="28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19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marL="0" lvl="1" indent="0" algn="just" eaLnBrk="1" hangingPunct="1">
              <a:lnSpc>
                <a:spcPct val="120000"/>
              </a:lnSpc>
            </a:pPr>
            <a:endParaRPr lang="en-US" altLang="zh-CN" sz="2400" b="1" dirty="0">
              <a:latin typeface="楷体_GB2312"/>
              <a:ea typeface="楷体_GB2312"/>
            </a:endParaRPr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20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algn="just" eaLnBrk="1" hangingPunct="1">
              <a:lnSpc>
                <a:spcPct val="120000"/>
              </a:lnSpc>
            </a:pPr>
            <a:endParaRPr lang="en-US" altLang="zh-CN" sz="2400" b="1" dirty="0">
              <a:latin typeface="楷体_GB2312"/>
              <a:ea typeface="楷体_GB2312"/>
            </a:endParaRPr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21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22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23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24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25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26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27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28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706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29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30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31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5283" tIns="47642" rIns="95283" bIns="4764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768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49325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32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819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33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algn="just" eaLnBrk="1" hangingPunct="1">
              <a:lnSpc>
                <a:spcPct val="120000"/>
              </a:lnSpc>
            </a:pPr>
            <a:endParaRPr lang="en-US" altLang="zh-CN" sz="2400" b="1" dirty="0">
              <a:latin typeface="楷体_GB2312"/>
              <a:ea typeface="楷体_GB2312"/>
            </a:endParaRPr>
          </a:p>
        </p:txBody>
      </p:sp>
      <p:sp>
        <p:nvSpPr>
          <p:cNvPr id="839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34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en-US" altLang="zh-CN" b="1" i="1" dirty="0">
              <a:ea typeface="楷体_GB2312"/>
            </a:endParaRPr>
          </a:p>
        </p:txBody>
      </p:sp>
      <p:sp>
        <p:nvSpPr>
          <p:cNvPr id="860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35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>
              <a:ea typeface="Times New Roman" panose="02020603050405020304" pitchFamily="18" charset="0"/>
            </a:endParaRPr>
          </a:p>
        </p:txBody>
      </p:sp>
      <p:sp>
        <p:nvSpPr>
          <p:cNvPr id="880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36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b="1" dirty="0">
              <a:latin typeface="楷体_GB2312"/>
              <a:ea typeface="楷体_GB2312"/>
            </a:endParaRPr>
          </a:p>
        </p:txBody>
      </p:sp>
      <p:sp>
        <p:nvSpPr>
          <p:cNvPr id="901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37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zh-CN" altLang="en-US" b="1" dirty="0">
              <a:latin typeface="楷体_GB2312"/>
              <a:ea typeface="楷体_GB2312"/>
            </a:endParaRPr>
          </a:p>
        </p:txBody>
      </p:sp>
      <p:sp>
        <p:nvSpPr>
          <p:cNvPr id="921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38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942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39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962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40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983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41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1024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itchFamily="2" charset="-122"/>
              </a:rPr>
              <a:t>42</a:t>
            </a:fld>
            <a:endParaRPr lang="zh-CN" altLang="en-US" sz="1300" dirty="0"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en-US" altLang="zh-CN" b="1" dirty="0">
              <a:latin typeface="楷体_GB2312"/>
              <a:ea typeface="楷体_GB2312"/>
            </a:endParaRPr>
          </a:p>
        </p:txBody>
      </p:sp>
      <p:sp>
        <p:nvSpPr>
          <p:cNvPr id="1044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43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1065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44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1085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45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1126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46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1146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47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/>
            <a:endParaRPr lang="zh-CN" altLang="en-US" dirty="0"/>
          </a:p>
        </p:txBody>
      </p:sp>
      <p:sp>
        <p:nvSpPr>
          <p:cNvPr id="1167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solidFill>
                  <a:srgbClr val="000000"/>
                </a:solidFill>
                <a:latin typeface="Arial" panose="020B0604020202020204" pitchFamily="34" charset="0"/>
              </a:rPr>
              <a:t>48</a:t>
            </a:fld>
            <a:endParaRPr lang="zh-CN" altLang="en-US" sz="13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5283" tIns="47642" rIns="95283" bIns="47642" anchor="b" anchorCtr="0"/>
          <a:lstStyle/>
          <a:p>
            <a:pPr lvl="0" algn="r" defTabSz="951230" eaLnBrk="1" hangingPunct="1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  <a:t>49</a:t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5283" tIns="47642" rIns="95283" bIns="47642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5"/>
          <p:cNvSpPr/>
          <p:nvPr/>
        </p:nvSpPr>
        <p:spPr>
          <a:xfrm>
            <a:off x="228600" y="171450"/>
            <a:ext cx="8696325" cy="452755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075" name="Group 9"/>
          <p:cNvGrpSpPr>
            <a:grpSpLocks noChangeAspect="1"/>
          </p:cNvGrpSpPr>
          <p:nvPr/>
        </p:nvGrpSpPr>
        <p:grpSpPr>
          <a:xfrm>
            <a:off x="211138" y="4016375"/>
            <a:ext cx="8723312" cy="996950"/>
            <a:chOff x="-3905250" y="4294188"/>
            <a:chExt cx="13011150" cy="1892300"/>
          </a:xfrm>
        </p:grpSpPr>
        <p:sp>
          <p:nvSpPr>
            <p:cNvPr id="3081" name="Freeform 14"/>
            <p:cNvSpPr/>
            <p:nvPr/>
          </p:nvSpPr>
          <p:spPr>
            <a:xfrm>
              <a:off x="4810681" y="4499087"/>
              <a:ext cx="4295219" cy="1018467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Freeform 18"/>
            <p:cNvSpPr/>
            <p:nvPr/>
          </p:nvSpPr>
          <p:spPr>
            <a:xfrm>
              <a:off x="-308538" y="4318294"/>
              <a:ext cx="8280254" cy="1208301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Freeform 22"/>
            <p:cNvSpPr/>
            <p:nvPr/>
          </p:nvSpPr>
          <p:spPr>
            <a:xfrm>
              <a:off x="4014" y="4336373"/>
              <a:ext cx="8164231" cy="1099825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" name="Freeform 26"/>
            <p:cNvSpPr/>
            <p:nvPr/>
          </p:nvSpPr>
          <p:spPr>
            <a:xfrm>
              <a:off x="4157164" y="4315281"/>
              <a:ext cx="4939265" cy="928071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3085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0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1B8D37-58E3-4F9B-9F85-A4D1B06F4E25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4E80A1-6019-456E-A95C-21C780BC583F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099" name="Group 9"/>
          <p:cNvGrpSpPr>
            <a:grpSpLocks noChangeAspect="1"/>
          </p:cNvGrpSpPr>
          <p:nvPr/>
        </p:nvGrpSpPr>
        <p:grpSpPr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4105" name="Freeform 14"/>
            <p:cNvSpPr/>
            <p:nvPr/>
          </p:nvSpPr>
          <p:spPr>
            <a:xfrm>
              <a:off x="4810681" y="4501439"/>
              <a:ext cx="4295219" cy="1015234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" name="Freeform 18"/>
            <p:cNvSpPr/>
            <p:nvPr/>
          </p:nvSpPr>
          <p:spPr>
            <a:xfrm>
              <a:off x="-308538" y="4318217"/>
              <a:ext cx="8280254" cy="121047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7" name="Freeform 22"/>
            <p:cNvSpPr/>
            <p:nvPr/>
          </p:nvSpPr>
          <p:spPr>
            <a:xfrm>
              <a:off x="4014" y="4336239"/>
              <a:ext cx="8164231" cy="1102339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8" name="Freeform 26"/>
            <p:cNvSpPr/>
            <p:nvPr/>
          </p:nvSpPr>
          <p:spPr>
            <a:xfrm>
              <a:off x="4157164" y="4315213"/>
              <a:ext cx="4939265" cy="928129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4109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04C777-8F26-41D1-B0B7-224F8635A2F6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>
                <a:ea typeface="楷体_GB231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0CF142-FC95-45C6-B067-D8655B8A3390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3922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>
          <a:xfrm>
            <a:off x="211138" y="987425"/>
            <a:ext cx="8723312" cy="647700"/>
            <a:chOff x="-3905251" y="4294188"/>
            <a:chExt cx="13027839" cy="1892300"/>
          </a:xfrm>
        </p:grpSpPr>
        <p:sp>
          <p:nvSpPr>
            <p:cNvPr id="1033" name="Freeform 14"/>
            <p:cNvSpPr/>
            <p:nvPr/>
          </p:nvSpPr>
          <p:spPr>
            <a:xfrm>
              <a:off x="4810006" y="4498260"/>
              <a:ext cx="4295986" cy="1020358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Freeform 18"/>
            <p:cNvSpPr/>
            <p:nvPr/>
          </p:nvSpPr>
          <p:spPr>
            <a:xfrm>
              <a:off x="-308667" y="4317379"/>
              <a:ext cx="8279020" cy="1210514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Freeform 22"/>
            <p:cNvSpPr/>
            <p:nvPr/>
          </p:nvSpPr>
          <p:spPr>
            <a:xfrm>
              <a:off x="4286" y="4335931"/>
              <a:ext cx="8165219" cy="1099202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Freeform 26"/>
            <p:cNvSpPr/>
            <p:nvPr/>
          </p:nvSpPr>
          <p:spPr>
            <a:xfrm>
              <a:off x="4155651" y="4317379"/>
              <a:ext cx="4940859" cy="927598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37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>
          <a:xfrm>
            <a:off x="457200" y="254000"/>
            <a:ext cx="8229600" cy="939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>
                <a:solidFill>
                  <a:schemeClr val="tx2"/>
                </a:solidFill>
                <a:ea typeface="楷体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>
                <a:solidFill>
                  <a:schemeClr val="tx2"/>
                </a:solidFill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4E80A1-6019-456E-A95C-21C780BC583F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032" name="Text Placeholder 2"/>
          <p:cNvSpPr>
            <a:spLocks noGrp="1"/>
          </p:cNvSpPr>
          <p:nvPr>
            <p:ph type="body" idx="1"/>
          </p:nvPr>
        </p:nvSpPr>
        <p:spPr>
          <a:xfrm>
            <a:off x="250825" y="1347788"/>
            <a:ext cx="5976938" cy="32464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anose="020E0502030303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/>
            <p:nvPr/>
          </p:nvSpPr>
          <p:spPr>
            <a:xfrm>
              <a:off x="4810441" y="4502706"/>
              <a:ext cx="4295743" cy="1011313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/>
            <p:nvPr/>
          </p:nvSpPr>
          <p:spPr>
            <a:xfrm>
              <a:off x="-310233" y="4320251"/>
              <a:ext cx="8282134" cy="120940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/>
            <p:nvPr/>
          </p:nvSpPr>
          <p:spPr>
            <a:xfrm>
              <a:off x="3804" y="4335892"/>
              <a:ext cx="8164957" cy="1099931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/>
            <p:nvPr/>
          </p:nvSpPr>
          <p:spPr>
            <a:xfrm>
              <a:off x="4156589" y="4315040"/>
              <a:ext cx="4940221" cy="927905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>
          <a:xfrm>
            <a:off x="900113" y="268288"/>
            <a:ext cx="7786687" cy="358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000">
                <a:solidFill>
                  <a:srgbClr val="073E87"/>
                </a:solidFill>
                <a:ea typeface="宋体" pitchFamily="2" charset="-122"/>
                <a:cs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楷体_GB231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000">
                <a:solidFill>
                  <a:srgbClr val="073E87"/>
                </a:solidFill>
                <a:ea typeface="宋体" pitchFamily="2" charset="-12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楷体_GB231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000">
                <a:solidFill>
                  <a:srgbClr val="073E87"/>
                </a:solidFill>
                <a:ea typeface="宋体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5D7601-960B-4750-A57B-D26571862222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楷体_GB2312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楷体_GB2312"/>
            </a:endParaRPr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68425"/>
            <a:ext cx="5927725" cy="322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58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98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405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214938" y="1714500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6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  基本概念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14350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929188" y="1344613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第二章 语言及其文法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423863" y="1060450"/>
            <a:ext cx="671988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字母表</a:t>
            </a:r>
            <a:r>
              <a:rPr kumimoji="0" lang="zh-CN" alt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是一个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有穷符号集合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符号：字母、数字、标点符号、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…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0353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</a:t>
            </a:r>
          </a:p>
        </p:txBody>
      </p:sp>
      <p:sp>
        <p:nvSpPr>
          <p:cNvPr id="19459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字母表</a:t>
            </a:r>
            <a:r>
              <a:rPr kumimoji="0" lang="zh-CN" altLang="en-US" sz="40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Alphabet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 New Roman"/>
              <a:ea typeface="黑体" pitchFamily="49" charset="-122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0125" y="2427288"/>
            <a:ext cx="4143375" cy="2216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例：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华文楷体" panose="02010600040101010101" pitchFamily="2" charset="-122"/>
                <a:cs typeface="+mn-cs"/>
              </a:rPr>
              <a:t>二进制字母表：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{ 0,1 }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ASCII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字符集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Unicode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/>
              </a:rPr>
              <a:t>字符集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10245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0247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4525" y="642938"/>
            <a:ext cx="5927725" cy="3225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Symbol" pitchFamily="18" charset="2"/>
              <a:buNone/>
              <a:defRPr/>
            </a:pP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={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 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zh-CN" altLang="en-US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en-US" altLang="zh-CN" sz="2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∈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29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字母表上的运算</a:t>
            </a:r>
          </a:p>
        </p:txBody>
      </p:sp>
      <p:sp>
        <p:nvSpPr>
          <p:cNvPr id="4" name="矩形 3"/>
          <p:cNvSpPr/>
          <p:nvPr/>
        </p:nvSpPr>
        <p:spPr>
          <a:xfrm>
            <a:off x="1182688" y="2000250"/>
            <a:ext cx="5603875" cy="5540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例：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{0, 1} {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 ={0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0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1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1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2293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2296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12294" name="内容占位符 1"/>
          <p:cNvSpPr txBox="1"/>
          <p:nvPr/>
        </p:nvSpPr>
        <p:spPr>
          <a:xfrm>
            <a:off x="644706" y="771550"/>
            <a:ext cx="7343775" cy="10715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73050" lvl="0" indent="-27305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字母表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∑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∑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乘积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product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216025" y="1714500"/>
            <a:ext cx="5927725" cy="21431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={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-1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en-US" altLang="zh-CN" sz="25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≥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1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143000" y="2786380"/>
            <a:ext cx="6522720" cy="10147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{0,1}</a:t>
            </a:r>
            <a:r>
              <a:rPr kumimoji="0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={0,1} {0,1} {0,1}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={000,001,010,011,100,101,110,111}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1071563" y="1857375"/>
            <a:ext cx="142875" cy="642938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000" y="4024313"/>
            <a:ext cx="7101408" cy="4762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字母表的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次幂：长度为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的符号串构成的集合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字母表上的运算</a:t>
            </a:r>
          </a:p>
        </p:txBody>
      </p:sp>
      <p:grpSp>
        <p:nvGrpSpPr>
          <p:cNvPr id="14343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4" name="五边形 1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4346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14344" name="内容占位符 1"/>
          <p:cNvSpPr txBox="1"/>
          <p:nvPr/>
        </p:nvSpPr>
        <p:spPr>
          <a:xfrm>
            <a:off x="642938" y="785813"/>
            <a:ext cx="7343775" cy="9286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73050" lvl="0" indent="-27305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字母表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∑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∑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乘积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product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3050" lvl="0" indent="-27305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字母表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∑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次幂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power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  <p:bldP spid="3" grpId="0" animBg="1"/>
      <p:bldP spid="3" grpId="1" animBg="1"/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4525" y="1693863"/>
            <a:ext cx="8070850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字母表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lang="zh-CN" altLang="en-US" sz="25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正闭包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positive closure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+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=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∪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∪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∪ …</a:t>
            </a:r>
          </a:p>
          <a:p>
            <a:pPr eaLnBrk="1" hangingPunct="1">
              <a:buSzPct val="100000"/>
            </a:pPr>
            <a:endParaRPr lang="en-US" altLang="zh-CN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buSzPct val="100000"/>
            </a:pPr>
            <a:endParaRPr lang="zh-CN" altLang="en-US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3557" name="矩形 3"/>
          <p:cNvSpPr>
            <a:spLocks noChangeArrowheads="1"/>
          </p:cNvSpPr>
          <p:nvPr/>
        </p:nvSpPr>
        <p:spPr bwMode="auto">
          <a:xfrm>
            <a:off x="1214438" y="2757488"/>
            <a:ext cx="5572125" cy="1385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a, b, c, d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 {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a, b, c, d,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ac, ad,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bb,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bc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bd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…,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aaa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aab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aac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aad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aba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abb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abc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…}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字母表上的运算</a:t>
            </a:r>
          </a:p>
        </p:txBody>
      </p:sp>
      <p:grpSp>
        <p:nvGrpSpPr>
          <p:cNvPr id="16389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6393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16390" name="内容占位符 1"/>
          <p:cNvSpPr txBox="1"/>
          <p:nvPr/>
        </p:nvSpPr>
        <p:spPr>
          <a:xfrm>
            <a:off x="642938" y="785813"/>
            <a:ext cx="7343775" cy="9286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73050" lvl="0" indent="-27305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字母表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∑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∑</a:t>
            </a:r>
            <a:r>
              <a:rPr lang="en-US" altLang="zh-CN" sz="2500" b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乘积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product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3050" lvl="0" indent="-27305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字母表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∑</a:t>
            </a:r>
            <a:r>
              <a:rPr lang="zh-C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5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次幂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power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5812" y="4310063"/>
            <a:ext cx="7602611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 (正文)"/>
                <a:ea typeface="楷体" pitchFamily="49" charset="-122"/>
                <a:cs typeface="Times New Roman" panose="02020603050405020304" pitchFamily="18" charset="0"/>
              </a:rPr>
              <a:t>字母表的正闭包：长度正数的符号串构成的集合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 (正文)"/>
              <a:ea typeface="楷体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57" grpId="1" animBg="1"/>
      <p:bldP spid="14" grpId="0" animBg="1"/>
      <p:bldP spid="1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42938" y="785813"/>
            <a:ext cx="7343775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字母表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和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lang="zh-CN" altLang="en-US" sz="25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乘积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product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字母表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lang="en-US" altLang="zh-CN" sz="25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zh-CN" altLang="en-US" sz="25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次幂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power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字母表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lang="zh-CN" altLang="en-US" sz="25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正闭包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positive closure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字母表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lang="zh-CN" altLang="en-US" sz="25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克林闭包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Kleene closure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lnSpc>
                <a:spcPts val="3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zh-CN" altLang="en-US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*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=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0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∪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+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=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0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∪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∪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∪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∑</a:t>
            </a:r>
            <a:r>
              <a:rPr lang="en-US" altLang="zh-CN" sz="2500" b="1" kern="12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∪ …</a:t>
            </a:r>
          </a:p>
          <a:p>
            <a:pPr eaLnBrk="1" hangingPunct="1">
              <a:lnSpc>
                <a:spcPts val="3500"/>
              </a:lnSpc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eaLnBrk="1" hangingPunct="1">
              <a:lnSpc>
                <a:spcPts val="3500"/>
              </a:lnSpc>
              <a:buSzPct val="100000"/>
            </a:pPr>
            <a:endParaRPr lang="zh-CN" altLang="en-US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4581" name="矩形 3"/>
          <p:cNvSpPr>
            <a:spLocks noChangeArrowheads="1"/>
          </p:cNvSpPr>
          <p:nvPr/>
        </p:nvSpPr>
        <p:spPr bwMode="auto">
          <a:xfrm>
            <a:off x="1214438" y="3143250"/>
            <a:ext cx="5000625" cy="12461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b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</a:t>
            </a:r>
            <a:r>
              <a:rPr kumimoji="0" lang="el-GR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a, b, c, d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 {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ε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a, b, c, d,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ac, ad,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bb,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bc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bd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…,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aab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aac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aad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aba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abb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abc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…}</a:t>
            </a:r>
          </a:p>
        </p:txBody>
      </p:sp>
      <p:sp>
        <p:nvSpPr>
          <p:cNvPr id="5" name="矩形 4"/>
          <p:cNvSpPr/>
          <p:nvPr/>
        </p:nvSpPr>
        <p:spPr>
          <a:xfrm>
            <a:off x="323528" y="4515966"/>
            <a:ext cx="8687122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 (正文)"/>
                <a:ea typeface="楷体" pitchFamily="49" charset="-122"/>
                <a:cs typeface="Times New Roman" panose="02020603050405020304" pitchFamily="18" charset="0"/>
              </a:rPr>
              <a:t>字母表的克林闭包：任意符号串（长度可以为零）构成的集合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 (正文)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字母表上的运算</a:t>
            </a:r>
          </a:p>
        </p:txBody>
      </p:sp>
      <p:grpSp>
        <p:nvGrpSpPr>
          <p:cNvPr id="18438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8440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animBg="1"/>
      <p:bldP spid="24581" grpId="1" animBg="1"/>
      <p:bldP spid="5" grpId="0" animBg="1"/>
      <p:bldP spid="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428625" y="785813"/>
            <a:ext cx="8286750" cy="4786313"/>
          </a:xfrm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设∑是一个字母表，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∑</a:t>
            </a:r>
            <a:r>
              <a:rPr kumimoji="0" lang="zh-CN" altLang="en-US" sz="27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称为是∑上的一个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串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串是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字母表中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符号的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有穷序列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串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长度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，通常记作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，是指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符号的个数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</a:t>
            </a:r>
            <a:r>
              <a:rPr kumimoji="0" lang="en-US" altLang="zh-CN" sz="27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aab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|=3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空串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长度为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的串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，用 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epsilon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</a:t>
            </a: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|= 0</a:t>
            </a:r>
            <a:endParaRPr kumimoji="0" lang="zh-CN" altLang="en-US" sz="27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标题 2"/>
          <p:cNvSpPr txBox="1"/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+mj-cs"/>
              </a:rPr>
              <a:t>串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String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endParaRPr kumimoji="0" lang="zh-CN" altLang="en-US" sz="2400" b="1" kern="1200" cap="none" spc="300" normalizeH="0" baseline="0" noProof="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0484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20486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987108"/>
            <a:ext cx="85931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如果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是串，那么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连接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concatenation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是把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附加到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后面而形成的串，记作</a:t>
            </a:r>
            <a:r>
              <a:rPr kumimoji="0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xy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例如，如果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且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house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，那么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doghouse 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</a:rPr>
              <a:t>空串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</a:rPr>
              <a:t>是连接运算的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</a:rPr>
              <a:t>单位元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(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identity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，即，对于任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何串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都有，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εs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sε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3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串上的运算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——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连接</a:t>
            </a:r>
          </a:p>
        </p:txBody>
      </p:sp>
      <p:grpSp>
        <p:nvGrpSpPr>
          <p:cNvPr id="22532" name="组合 3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22535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835785" y="3796030"/>
            <a:ext cx="5113338" cy="92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</a:t>
            </a:r>
            <a:r>
              <a:rPr kumimoji="0" lang="en-US" altLang="zh-CN" sz="27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x,y,z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是三个字符串，如果 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x=</a:t>
            </a:r>
            <a:r>
              <a:rPr kumimoji="0" lang="en-US" altLang="zh-CN" sz="27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yz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，则称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前缀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z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en-US" altLang="zh-CN" sz="2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后缀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charRg st="3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3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charRg st="33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6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56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56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charRg st="56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3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93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charRg st="93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charRg st="93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3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charRg st="123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charRg st="123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charRg st="123" end="1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2913" y="846138"/>
            <a:ext cx="8772525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串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幂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运算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r>
              <a:rPr kumimoji="0" lang="zh-CN" alt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ε</a:t>
            </a:r>
            <a:r>
              <a:rPr kumimoji="0" lang="zh-CN" alt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endParaRPr kumimoji="0" lang="en-US" altLang="zh-CN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r>
              <a:rPr kumimoji="0" lang="zh-CN" alt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3000" b="1" i="1" u="none" strike="noStrike" kern="1200" cap="none" spc="0" normalizeH="0" baseline="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3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s</a:t>
            </a:r>
            <a:r>
              <a:rPr kumimoji="0" lang="en-US" altLang="zh-CN" sz="3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-1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3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n ≥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en-US" altLang="zh-CN" sz="3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3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l-GR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ε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= s</a:t>
            </a:r>
            <a:r>
              <a:rPr kumimoji="0" lang="zh-CN" alt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ss</a:t>
            </a:r>
            <a:r>
              <a:rPr kumimoji="0" lang="zh-CN" alt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sss</a:t>
            </a:r>
            <a:r>
              <a:rPr kumimoji="0" lang="zh-CN" altLang="en-US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例：如果 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1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那么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kumimoji="1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，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1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baba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          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1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bababa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…</a:t>
            </a: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3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串上的运算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——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幂</a:t>
            </a:r>
          </a:p>
        </p:txBody>
      </p:sp>
      <p:sp>
        <p:nvSpPr>
          <p:cNvPr id="4" name="左大括号 3"/>
          <p:cNvSpPr/>
          <p:nvPr/>
        </p:nvSpPr>
        <p:spPr>
          <a:xfrm>
            <a:off x="1042987" y="1707654"/>
            <a:ext cx="142875" cy="576263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14425" y="4238625"/>
            <a:ext cx="4969743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串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次幂：将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连接起来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4582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24584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072063" y="1714500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6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文法的定义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14350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929188" y="1344613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第二章 语言及其文法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714375" y="785813"/>
            <a:ext cx="834390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句子  名词短语 动词短语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  <a:sym typeface="Symbol" pitchFamily="18" charset="2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名词短语  形容词 名词短语                  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  <a:sym typeface="Symbol" pitchFamily="18" charset="2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名词短语  名词                  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  <a:sym typeface="Symbol" pitchFamily="18" charset="2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动词短语  动词 名词短语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  <a:sym typeface="Symbol" pitchFamily="18" charset="2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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形容词 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little</a:t>
            </a: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名词 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boy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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名词 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apple</a:t>
            </a:r>
            <a:r>
              <a:rPr kumimoji="1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 </a:t>
            </a:r>
            <a:endParaRPr kumimoji="1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itchFamily="18" charset="2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动词  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eat</a:t>
            </a:r>
          </a:p>
        </p:txBody>
      </p:sp>
      <p:sp>
        <p:nvSpPr>
          <p:cNvPr id="2048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自然语言的例子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——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句子的构成规则</a:t>
            </a:r>
          </a:p>
        </p:txBody>
      </p:sp>
      <p:sp>
        <p:nvSpPr>
          <p:cNvPr id="3" name="线形标注 2 2"/>
          <p:cNvSpPr/>
          <p:nvPr/>
        </p:nvSpPr>
        <p:spPr>
          <a:xfrm>
            <a:off x="4057650" y="3444875"/>
            <a:ext cx="4156075" cy="8413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1012"/>
              <a:gd name="adj6" fmla="val -22264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未用尖括号括起来部分表示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语言的基本符号</a:t>
            </a:r>
          </a:p>
        </p:txBody>
      </p:sp>
      <p:sp>
        <p:nvSpPr>
          <p:cNvPr id="8" name="线形标注 2 7"/>
          <p:cNvSpPr/>
          <p:nvPr/>
        </p:nvSpPr>
        <p:spPr>
          <a:xfrm>
            <a:off x="3541713" y="4500563"/>
            <a:ext cx="4990727" cy="500063"/>
          </a:xfrm>
          <a:prstGeom prst="borderCallout2">
            <a:avLst>
              <a:gd name="adj1" fmla="val 100022"/>
              <a:gd name="adj2" fmla="val -2609"/>
              <a:gd name="adj3" fmla="val 100022"/>
              <a:gd name="adj4" fmla="val -36837"/>
              <a:gd name="adj5" fmla="val 69407"/>
              <a:gd name="adj6" fmla="val -40920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尖括号括起来部分称为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语法成分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726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30728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573088" y="1643063"/>
            <a:ext cx="7815263" cy="3225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457200" marR="0" lvl="1" indent="0" algn="just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buFont typeface="Symbol" pitchFamily="18" charset="2"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终结符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terminal symbol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是文法所定义的语言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+mn-cs"/>
              </a:rPr>
              <a:t>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+mn-cs"/>
              </a:rPr>
              <a:t>基本符号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+mn-cs"/>
              </a:rPr>
              <a:t>，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有时也称为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token</a:t>
            </a:r>
          </a:p>
          <a:p>
            <a:pPr marL="576580" marR="0" lvl="1" indent="-274320" algn="just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apple, boy, eat,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little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 }</a:t>
            </a:r>
          </a:p>
          <a:p>
            <a:pPr marL="576580" marR="0" lvl="1" indent="-274320" algn="just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5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文法的形式化定义</a:t>
            </a:r>
          </a:p>
        </p:txBody>
      </p:sp>
      <p:grpSp>
        <p:nvGrpSpPr>
          <p:cNvPr id="32772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32775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12763" y="727075"/>
            <a:ext cx="7986713" cy="1631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终结符集合</a:t>
            </a:r>
            <a:endParaRPr kumimoji="0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2071688"/>
            <a:ext cx="7643813" cy="3225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非终结符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nontermina</a:t>
            </a:r>
            <a:r>
              <a:rPr kumimoji="0" lang="en-US" altLang="zh-CN" sz="2000" b="1" i="1" u="none" strike="noStrike" kern="1200" cap="none" spc="30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</a:t>
            </a:r>
            <a:r>
              <a:rPr kumimoji="0" lang="en-US" altLang="zh-CN" sz="2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是用来表示语法成分的符号，有时也称为“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语法变量”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432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: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 {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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itchFamily="18" charset="2"/>
              </a:rPr>
              <a:t>句子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,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 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itchFamily="18" charset="2"/>
              </a:rPr>
              <a:t>名词短语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  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itchFamily="18" charset="2"/>
              </a:rPr>
              <a:t>动词短语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  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itchFamily="18" charset="2"/>
              </a:rPr>
              <a:t>名词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, …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itchFamily="18" charset="2"/>
              </a:rPr>
              <a:t>}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576580" marR="0" lvl="1" indent="-274320" algn="just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14350" y="725488"/>
            <a:ext cx="7986713" cy="1631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终结符集合</a:t>
            </a:r>
            <a:endParaRPr kumimoji="0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indent="-273050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非终结符集合</a:t>
            </a:r>
            <a:endParaRPr kumimoji="1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文法的形式化定义</a:t>
            </a:r>
          </a:p>
        </p:txBody>
      </p:sp>
      <p:grpSp>
        <p:nvGrpSpPr>
          <p:cNvPr id="34821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34823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3786188"/>
            <a:ext cx="8535988" cy="1450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855980" marR="0" lvl="2" indent="-2286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l-GR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∪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，且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中至少包含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中的一个元素：称为产生式的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头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hea</a:t>
            </a:r>
            <a:r>
              <a:rPr kumimoji="0" lang="en-US" altLang="zh-CN" sz="16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en-US" altLang="zh-CN" sz="16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左部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left side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55980" marR="0" lvl="2" indent="-2286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l-GR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∪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：称为产生式的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体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body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右部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right side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8625" y="2500313"/>
            <a:ext cx="8429625" cy="1797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rmAutofit fontScale="70000" lnSpcReduction="20000"/>
          </a:bodyPr>
          <a:lstStyle/>
          <a:p>
            <a:pPr marL="274320" marR="0" indent="-274320" algn="just" defTabSz="914400" eaLnBrk="1" fontAlgn="auto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31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</a:t>
            </a:r>
            <a:r>
              <a:rPr kumimoji="1" lang="zh-CN" altLang="en-US" sz="31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产生式</a:t>
            </a:r>
            <a:r>
              <a:rPr kumimoji="0" lang="en-US" altLang="zh-CN" sz="2600" b="1" kern="1200" cap="none" spc="0" normalizeH="0" baseline="0" noProof="0" dirty="0">
                <a:latin typeface="+mn-ea"/>
                <a:ea typeface="+mn-ea"/>
                <a:cs typeface="+mn-cs"/>
              </a:rPr>
              <a:t>( </a:t>
            </a:r>
            <a:r>
              <a:rPr kumimoji="0" lang="en-US" altLang="zh-CN" sz="26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production</a:t>
            </a:r>
            <a:r>
              <a:rPr kumimoji="0" lang="en-US" altLang="zh-CN" sz="2600" b="1" kern="1200" cap="none" spc="0" normalizeH="0" baseline="0" noProof="0" dirty="0">
                <a:latin typeface="+mn-ea"/>
                <a:ea typeface="+mn-ea"/>
                <a:cs typeface="+mn-cs"/>
              </a:rPr>
              <a:t>)</a:t>
            </a:r>
            <a:r>
              <a:rPr kumimoji="1" lang="zh-CN" altLang="en-US" sz="3100" b="1" kern="1200" cap="none" spc="0" normalizeH="0" baseline="0" noProof="0" dirty="0">
                <a:latin typeface="+mn-ea"/>
                <a:ea typeface="+mn-ea"/>
                <a:cs typeface="+mn-cs"/>
              </a:rPr>
              <a:t>描述了将终结符和非终结符组合成串的方法</a:t>
            </a:r>
            <a:endParaRPr kumimoji="1" lang="en-US" altLang="zh-CN" sz="3100" b="1" kern="1200" cap="none" spc="0" normalizeH="0" baseline="0" noProof="0" dirty="0">
              <a:latin typeface="+mn-ea"/>
              <a:ea typeface="+mn-ea"/>
              <a:cs typeface="+mn-cs"/>
            </a:endParaRPr>
          </a:p>
          <a:p>
            <a:pPr marL="274320" marR="0" indent="-274320" algn="just" defTabSz="914400" eaLnBrk="1" fontAlgn="auto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3100" b="1" kern="1200" cap="none" spc="0" normalizeH="0" baseline="0" noProof="0" dirty="0">
                <a:latin typeface="+mn-ea"/>
                <a:ea typeface="+mn-ea"/>
                <a:cs typeface="+mn-cs"/>
              </a:rPr>
              <a:t>   </a:t>
            </a:r>
            <a:r>
              <a:rPr kumimoji="1" lang="en-US" altLang="zh-CN" sz="3100" b="1" kern="1200" cap="none" spc="0" normalizeH="0" baseline="0" noProof="0" dirty="0"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zh-CN" altLang="en-US" sz="3100" b="1" kern="1200" cap="none" spc="0" normalizeH="0" baseline="0" noProof="0" dirty="0">
                <a:highlight>
                  <a:srgbClr val="FFFF00"/>
                </a:highlight>
                <a:latin typeface="+mn-ea"/>
                <a:ea typeface="+mn-ea"/>
              </a:rPr>
              <a:t>产生式的一般形式：</a:t>
            </a:r>
            <a:endParaRPr kumimoji="1" lang="en-US" altLang="zh-CN" sz="3100" b="1" kern="1200" cap="none" spc="0" normalizeH="0" baseline="0" noProof="0" dirty="0">
              <a:highlight>
                <a:srgbClr val="FFFF00"/>
              </a:highlight>
              <a:latin typeface="+mn-ea"/>
              <a:ea typeface="+mn-ea"/>
            </a:endParaRPr>
          </a:p>
          <a:p>
            <a:pPr marL="274320" marR="0" indent="-274320" algn="just" defTabSz="914400" eaLnBrk="1" fontAlgn="auto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1" kern="1200" cap="none" spc="0" normalizeH="0" baseline="0" noProof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			α→β</a:t>
            </a:r>
            <a:endParaRPr kumimoji="1" lang="en-US" altLang="zh-CN" sz="3100" b="1" kern="1200" cap="none" spc="0" normalizeH="0" baseline="0" noProof="0" dirty="0">
              <a:highlight>
                <a:srgbClr val="FFFF00"/>
              </a:highlight>
              <a:latin typeface="+mn-ea"/>
              <a:ea typeface="+mn-ea"/>
            </a:endParaRPr>
          </a:p>
          <a:p>
            <a:pPr marL="274320" marR="0" indent="-274320" algn="just" defTabSz="914400" eaLnBrk="1" fontAlgn="auto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3100" b="1" kern="1200" cap="none" spc="0" normalizeH="0" baseline="0" noProof="0" dirty="0">
                <a:highlight>
                  <a:srgbClr val="FFFF00"/>
                </a:highlight>
                <a:latin typeface="+mn-ea"/>
                <a:ea typeface="+mn-ea"/>
              </a:rPr>
              <a:t>    </a:t>
            </a:r>
            <a:r>
              <a:rPr kumimoji="1" lang="zh-CN" altLang="en-US" sz="3100" b="1" kern="1200" cap="none" spc="0" normalizeH="0" baseline="0" noProof="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读作：</a:t>
            </a:r>
            <a:r>
              <a:rPr kumimoji="1" lang="en-US" altLang="zh-CN" sz="3100" b="1" i="1" kern="1200" cap="none" spc="0" normalizeH="0" baseline="0" noProof="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1" lang="zh-CN" altLang="en-US" sz="3100" b="1" kern="1200" cap="none" spc="0" normalizeH="0" baseline="0" noProof="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定义为</a:t>
            </a:r>
            <a:r>
              <a:rPr kumimoji="1" lang="en-US" altLang="zh-CN" sz="3100" b="1" i="1" kern="1200" cap="none" spc="0" normalizeH="0" baseline="0" noProof="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endParaRPr kumimoji="0" lang="en-US" altLang="zh-CN" sz="3100" b="1" i="1" kern="1200" cap="none" spc="0" normalizeH="0" baseline="0" noProof="0" dirty="0">
              <a:solidFill>
                <a:schemeClr val="tx2">
                  <a:lumMod val="60000"/>
                  <a:lumOff val="40000"/>
                </a:schemeClr>
              </a:solidFill>
              <a:highlight>
                <a:srgbClr val="FFFF00"/>
              </a:highligh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14350" y="725488"/>
            <a:ext cx="7986713" cy="21320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终结符集合</a:t>
            </a:r>
            <a:endParaRPr kumimoji="0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indent="-273050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非终结符集合</a:t>
            </a:r>
            <a:endParaRPr kumimoji="1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产生式集合</a:t>
            </a:r>
            <a:endParaRPr kumimoji="1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矩形 9"/>
          <p:cNvSpPr>
            <a:spLocks noChangeArrowheads="1"/>
          </p:cNvSpPr>
          <p:nvPr/>
        </p:nvSpPr>
        <p:spPr bwMode="auto">
          <a:xfrm>
            <a:off x="3563938" y="1231900"/>
            <a:ext cx="1787525" cy="514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∩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=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文法的形式化定义</a:t>
            </a:r>
          </a:p>
        </p:txBody>
      </p:sp>
      <p:grpSp>
        <p:nvGrpSpPr>
          <p:cNvPr id="36871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36874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562350" y="1852613"/>
            <a:ext cx="3170238" cy="5540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∪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文法符号集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3" grpId="0" animBg="1"/>
      <p:bldP spid="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2500313"/>
            <a:ext cx="8429625" cy="3225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产生式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production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描述了将终结符和非终结符组合成串的方法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74320" marR="0" lvl="0" indent="-274320" algn="just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产生式的一般形式：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74320" marR="0" lvl="0" indent="-274320" algn="just" defTabSz="914400" rtl="0" eaLnBrk="1" fontAlgn="auto" latinLnBrk="0" hangingPunct="1">
              <a:lnSpc>
                <a:spcPts val="2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Symbol" pitchFamily="18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α→β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例：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 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   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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句子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  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名词短语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 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动词短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,                                      </a:t>
            </a:r>
          </a:p>
          <a:p>
            <a:pPr marL="457200" marR="0" lvl="1" indent="0" algn="l" defTabSz="914400" rtl="0" eaLnBrk="1" fontAlgn="auto" latinLnBrk="0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                     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名词短语 形容词 名词短语，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Symbol" pitchFamily="18" charset="2"/>
            </a:endParaRPr>
          </a:p>
          <a:p>
            <a:pPr marL="457200" marR="0" lvl="1" indent="0" algn="l" defTabSz="914400" rtl="0" eaLnBrk="1" fontAlgn="auto" latinLnBrk="0" hangingPunct="1">
              <a:lnSpc>
                <a:spcPts val="25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Symbol" pitchFamily="18" charset="2"/>
              <a:buNone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                                  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…                                         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14350" y="725488"/>
            <a:ext cx="7986713" cy="21320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终结符集合</a:t>
            </a:r>
            <a:endParaRPr kumimoji="0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indent="-273050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非终结符集合</a:t>
            </a:r>
            <a:endParaRPr kumimoji="1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产生式集合</a:t>
            </a:r>
            <a:endParaRPr kumimoji="1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文法的形式化定义</a:t>
            </a:r>
          </a:p>
        </p:txBody>
      </p:sp>
      <p:grpSp>
        <p:nvGrpSpPr>
          <p:cNvPr id="38917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38920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2" name="双大括号 1"/>
          <p:cNvSpPr/>
          <p:nvPr/>
        </p:nvSpPr>
        <p:spPr>
          <a:xfrm>
            <a:off x="2339975" y="3724275"/>
            <a:ext cx="4895850" cy="1008063"/>
          </a:xfrm>
          <a:prstGeom prst="bracePair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3000375"/>
            <a:ext cx="835818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1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开始符号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start symbo</a:t>
            </a:r>
            <a:r>
              <a:rPr kumimoji="0" lang="en-US" altLang="zh-CN" sz="2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表示的是该文法中最大的语法成分</a:t>
            </a:r>
            <a:endParaRPr kumimoji="0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楷体_GB2312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例：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=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句子 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14350" y="725488"/>
            <a:ext cx="7986713" cy="2632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终结符集合</a:t>
            </a:r>
            <a:endParaRPr kumimoji="0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indent="-273050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非终结符集合</a:t>
            </a:r>
            <a:endParaRPr kumimoji="1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产生式集合</a:t>
            </a:r>
            <a:endParaRPr kumimoji="1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indent="-273050" algn="just" defTabSz="914400" eaLnBrk="1" hangingPunct="1">
              <a:lnSpc>
                <a:spcPts val="3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5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zh-CN" altLang="en-US" sz="2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开始符号</a:t>
            </a:r>
            <a:endParaRPr kumimoji="1" lang="en-US" altLang="zh-CN" sz="2500" b="1" kern="1200" cap="none" spc="0" normalizeH="0" baseline="0" noProof="0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文法的形式化定义</a:t>
            </a:r>
          </a:p>
        </p:txBody>
      </p:sp>
      <p:grpSp>
        <p:nvGrpSpPr>
          <p:cNvPr id="40965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40967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514350" y="725488"/>
            <a:ext cx="7986713" cy="4632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终结符集合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非终结符集合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产生式集合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开始符号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zh-CN" altLang="en-US" sz="25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82563" y="3071813"/>
            <a:ext cx="4889500" cy="1928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marR="0" algn="just" defTabSz="9144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5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例：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G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=( { id, +, *, (, ) }, {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},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)</a:t>
            </a:r>
          </a:p>
          <a:p>
            <a:pPr marR="0" algn="just" defTabSz="9144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       P =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E + E ,     </a:t>
            </a:r>
          </a:p>
          <a:p>
            <a:pPr marR="0" algn="just" defTabSz="9144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      	    E → E * E ,     </a:t>
            </a:r>
          </a:p>
          <a:p>
            <a:pPr marR="0" algn="just" defTabSz="9144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              E →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,</a:t>
            </a:r>
          </a:p>
          <a:p>
            <a:pPr marR="0" algn="just" defTabSz="9144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              E →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id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786563" y="3071813"/>
            <a:ext cx="2143125" cy="1928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/>
          <a:p>
            <a:pPr marR="0" algn="just" defTabSz="9144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G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: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+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   </a:t>
            </a:r>
          </a:p>
          <a:p>
            <a:pPr marR="0" algn="just" defTabSz="9144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</a:t>
            </a:r>
          </a:p>
          <a:p>
            <a:pPr marR="0" algn="just" defTabSz="9144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(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</a:t>
            </a:r>
          </a:p>
          <a:p>
            <a:pPr marR="0" algn="just" defTabSz="9144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id</a:t>
            </a:r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5035550" y="2747963"/>
            <a:ext cx="1751013" cy="1323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约定：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不引起歧义的前提下，可以只写产生式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224463" y="4000500"/>
            <a:ext cx="1490663" cy="42545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文法的形式化定义</a:t>
            </a:r>
          </a:p>
        </p:txBody>
      </p:sp>
      <p:grpSp>
        <p:nvGrpSpPr>
          <p:cNvPr id="43016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43018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430213" y="714375"/>
            <a:ext cx="807085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对一组有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相同左部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ctr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, … ,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1" u="none" strike="noStrike" kern="120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en-US" altLang="zh-CN" sz="2500" b="1" i="1" u="none" strike="noStrike" kern="1200" cap="none" spc="0" normalizeH="0" baseline="-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可以简记为：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ctr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 … | 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1" u="none" strike="noStrike" kern="1200" cap="none" spc="0" normalizeH="0" baseline="-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endParaRPr kumimoji="0" lang="en-US" altLang="zh-CN" sz="2500" b="1" i="1" u="none" strike="noStrike" kern="1200" cap="none" spc="0" normalizeH="0" baseline="-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读作：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定义为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，或者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，或者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。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just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altLang="zh-CN" sz="2500" b="1" i="1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称为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候选式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Candidate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en-US" altLang="zh-CN" sz="2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zh-CN" altLang="en-US" sz="2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65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产生式的简写</a:t>
            </a:r>
          </a:p>
        </p:txBody>
      </p:sp>
      <p:sp>
        <p:nvSpPr>
          <p:cNvPr id="8" name="右箭头 7"/>
          <p:cNvSpPr/>
          <p:nvPr/>
        </p:nvSpPr>
        <p:spPr>
          <a:xfrm>
            <a:off x="3429000" y="4164013"/>
            <a:ext cx="588963" cy="28575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990" name="Rectangle 3"/>
          <p:cNvSpPr txBox="1">
            <a:spLocks noChangeArrowheads="1"/>
          </p:cNvSpPr>
          <p:nvPr/>
        </p:nvSpPr>
        <p:spPr bwMode="auto">
          <a:xfrm>
            <a:off x="1544638" y="3470275"/>
            <a:ext cx="1741488" cy="1571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/>
          <a:p>
            <a:pPr marR="0" algn="just" defTabSz="9144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+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   </a:t>
            </a:r>
          </a:p>
          <a:p>
            <a:pPr marR="0" algn="just" defTabSz="9144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</a:t>
            </a:r>
          </a:p>
          <a:p>
            <a:pPr marR="0" algn="just" defTabSz="9144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(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</a:t>
            </a:r>
          </a:p>
          <a:p>
            <a:pPr marR="0" algn="just" defTabSz="914400" eaLnBrk="1" hangingPunct="1">
              <a:lnSpc>
                <a:spcPts val="25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id</a:t>
            </a:r>
          </a:p>
        </p:txBody>
      </p:sp>
      <p:sp>
        <p:nvSpPr>
          <p:cNvPr id="41991" name="Rectangle 3"/>
          <p:cNvSpPr txBox="1">
            <a:spLocks noChangeArrowheads="1"/>
          </p:cNvSpPr>
          <p:nvPr/>
        </p:nvSpPr>
        <p:spPr bwMode="auto">
          <a:xfrm>
            <a:off x="4143375" y="4073525"/>
            <a:ext cx="3935413" cy="447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marR="0" algn="ctr" defTabSz="9144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+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|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|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 </a:t>
            </a:r>
            <a:r>
              <a:rPr kumimoji="0" lang="en-US" altLang="zh-CN" sz="25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) | id</a:t>
            </a:r>
          </a:p>
        </p:txBody>
      </p:sp>
      <p:grpSp>
        <p:nvGrpSpPr>
          <p:cNvPr id="45063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45065" name="五边形 9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1990" grpId="0" animBg="1"/>
      <p:bldP spid="4199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5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85813"/>
            <a:ext cx="78438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下述符号是</a:t>
            </a:r>
            <a:r>
              <a:rPr lang="zh-CN" altLang="en-US" sz="2800" b="1" kern="1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终结符</a:t>
            </a:r>
            <a:endParaRPr lang="en-US" altLang="zh-CN" sz="2800" b="1" kern="12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 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字母表中</a:t>
            </a:r>
            <a:r>
              <a:rPr lang="zh-CN" altLang="en-US" sz="2500" b="1" kern="1200" dirty="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排在前面的</a:t>
            </a:r>
            <a:r>
              <a:rPr lang="zh-CN" altLang="en-US" sz="2500" b="1" kern="12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小写字母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，如</a:t>
            </a:r>
            <a:r>
              <a:rPr lang="en-US" altLang="zh-CN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zh-CN" altLang="en-US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c</a:t>
            </a: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 </a:t>
            </a:r>
            <a:r>
              <a:rPr lang="zh-CN" altLang="en-US" sz="2500" b="1" kern="12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运算符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，如</a:t>
            </a:r>
            <a:r>
              <a:rPr lang="en-US" altLang="zh-CN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+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、</a:t>
            </a:r>
            <a:r>
              <a:rPr lang="en-US" altLang="zh-CN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*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等</a:t>
            </a:r>
            <a:endParaRPr lang="en-US" altLang="zh-CN" sz="2500" b="1" kern="1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c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 </a:t>
            </a:r>
            <a:r>
              <a:rPr lang="zh-CN" altLang="en-US" sz="2500" b="1" kern="12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标点符号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，如括号、逗号等</a:t>
            </a:r>
            <a:endParaRPr lang="en-US" altLang="zh-CN" sz="2500" b="1" kern="1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d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 </a:t>
            </a:r>
            <a:r>
              <a:rPr lang="zh-CN" altLang="en-US" sz="2500" b="1" kern="12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数字</a:t>
            </a:r>
            <a:r>
              <a:rPr lang="en-US" altLang="zh-CN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0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、</a:t>
            </a:r>
            <a:r>
              <a:rPr lang="en-US" altLang="zh-CN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、</a:t>
            </a:r>
            <a:r>
              <a:rPr lang="en-US" altLang="zh-CN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. . . 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、</a:t>
            </a:r>
            <a:r>
              <a:rPr lang="en-US" altLang="zh-CN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9</a:t>
            </a: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e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 </a:t>
            </a:r>
            <a:r>
              <a:rPr lang="zh-CN" altLang="en-US" sz="2500" b="1" kern="12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粗体字符串</a:t>
            </a:r>
            <a:r>
              <a:rPr lang="zh-CN" altLang="en-US" sz="2500" b="1" kern="1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，如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id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、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if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等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符号约定</a:t>
            </a:r>
          </a:p>
        </p:txBody>
      </p:sp>
      <p:grpSp>
        <p:nvGrpSpPr>
          <p:cNvPr id="47108" name="组合 3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47110" name="五边形 5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4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4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74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74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74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5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214438"/>
            <a:ext cx="80724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下述符号是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非终结符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字母表中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排在前面的大写字母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，如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</a:t>
            </a: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字母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。通常表示开始符号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小写、斜体的名字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，如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expr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stmt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等</a:t>
            </a:r>
            <a:endParaRPr kumimoji="0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代表程序构造的大写字母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。如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表达式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项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因子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5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符号约定</a:t>
            </a:r>
          </a:p>
        </p:txBody>
      </p:sp>
      <p:grpSp>
        <p:nvGrpSpPr>
          <p:cNvPr id="49157" name="组合 6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49159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475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774825"/>
            <a:ext cx="942975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字母表中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排在后面的大写字母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（如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                          表示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文法符号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（即终结符或非终结符）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字母表中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排在后面的小写字母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（主要是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. .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                 表示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终结符号串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（包括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空串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小写希腊字母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，如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，表示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文法符号串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（包括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空串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除非特别说明，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第一个产生式的左部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就是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开始符号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2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" name="组合 3"/>
          <p:cNvGrpSpPr/>
          <p:nvPr/>
        </p:nvGrpSpPr>
        <p:grpSpPr>
          <a:xfrm>
            <a:off x="4071938" y="698500"/>
            <a:ext cx="4964112" cy="1016000"/>
            <a:chOff x="1877211" y="5140993"/>
            <a:chExt cx="4964522" cy="1355675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877211" y="5140993"/>
              <a:ext cx="4964522" cy="13556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终结符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	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a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c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终结符号串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u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v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. . . ,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z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非终结符  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C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文法符号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X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Y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Z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文法符号串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α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β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γ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rot="5400000">
              <a:off x="3388195" y="5808240"/>
              <a:ext cx="133449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28625" y="1214438"/>
            <a:ext cx="8215313" cy="725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marR="0" indent="-273050" defTabSz="914400" eaLnBrk="1" hangingPunct="1">
              <a:lnSpc>
                <a:spcPts val="4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下述符号是</a:t>
            </a:r>
            <a:r>
              <a:rPr kumimoji="0" lang="zh-CN" altLang="en-US" sz="28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非终结符</a:t>
            </a:r>
            <a:endParaRPr kumimoji="0" lang="en-US" altLang="zh-CN" sz="2800" b="1" kern="1200" cap="none" spc="0" normalizeH="0" baseline="0" noProof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28625" y="785813"/>
            <a:ext cx="7843838" cy="642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73050" marR="0" indent="-273050" defTabSz="914400" eaLnBrk="1" hangingPunct="1"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下述符号是</a:t>
            </a:r>
            <a:r>
              <a:rPr kumimoji="0" lang="zh-CN" altLang="en-US" sz="28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终结符</a:t>
            </a:r>
            <a:endParaRPr kumimoji="0" lang="en-US" altLang="zh-CN" sz="2800" b="1" kern="1200" cap="none" spc="0" normalizeH="0" baseline="0" noProof="0" dirty="0">
              <a:solidFill>
                <a:srgbClr val="FF000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符号约定</a:t>
            </a:r>
          </a:p>
        </p:txBody>
      </p:sp>
      <p:grpSp>
        <p:nvGrpSpPr>
          <p:cNvPr id="51207" name="组合 10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51209" name="五边形 12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4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072063" y="1714500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6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语言的定义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14350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929188" y="1344613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第二章 语言及其文法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自然语言的例子</a:t>
            </a:r>
          </a:p>
        </p:txBody>
      </p:sp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785813" y="803275"/>
            <a:ext cx="5072063" cy="35544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lvl="1" indent="0" eaLnBrk="1" hangingPunct="1">
              <a:lnSpc>
                <a:spcPts val="3000"/>
              </a:lnSpc>
              <a:buNone/>
            </a:pPr>
            <a:r>
              <a:rPr lang="zh-CN" altLang="en-US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文法：</a:t>
            </a:r>
            <a:endParaRPr lang="en-US" altLang="zh-CN" sz="22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3000"/>
              </a:lnSpc>
              <a:buChar char="•"/>
            </a:pPr>
            <a:r>
              <a:rPr lang="zh-CN" altLang="en-US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句子  名词短语 动词短语</a:t>
            </a:r>
            <a:endParaRPr lang="en-US" altLang="zh-CN" sz="22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3000"/>
              </a:lnSpc>
              <a:buChar char="•"/>
            </a:pPr>
            <a:r>
              <a:rPr lang="zh-CN" altLang="en-US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名词短语  形容词 名词短语</a:t>
            </a:r>
            <a:endParaRPr lang="en-US" altLang="zh-CN" sz="22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3000"/>
              </a:lnSpc>
              <a:buChar char="•"/>
            </a:pPr>
            <a:r>
              <a:rPr lang="zh-CN" altLang="en-US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名词短语  名词                  </a:t>
            </a:r>
            <a:endParaRPr lang="en-US" altLang="zh-CN" sz="22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3000"/>
              </a:lnSpc>
              <a:buChar char="•"/>
            </a:pPr>
            <a:r>
              <a:rPr lang="zh-CN" altLang="en-US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动词短语  动词 名词短语</a:t>
            </a:r>
            <a:endParaRPr lang="en-US" altLang="zh-CN" sz="22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3000"/>
              </a:lnSpc>
              <a:buChar char="•"/>
            </a:pPr>
            <a:r>
              <a:rPr lang="en-US" altLang="zh-CN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</a:t>
            </a:r>
            <a:r>
              <a:rPr lang="zh-CN" altLang="en-US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形容词 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little</a:t>
            </a:r>
          </a:p>
          <a:p>
            <a:pPr marL="0" lvl="1" indent="0" eaLnBrk="1" hangingPunct="1">
              <a:lnSpc>
                <a:spcPts val="3000"/>
              </a:lnSpc>
              <a:buChar char="•"/>
            </a:pPr>
            <a:r>
              <a:rPr lang="zh-CN" altLang="en-US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名词 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boy</a:t>
            </a:r>
            <a:r>
              <a:rPr lang="en-US" altLang="zh-CN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   </a:t>
            </a:r>
          </a:p>
          <a:p>
            <a:pPr marL="0" lvl="1" indent="0" eaLnBrk="1" hangingPunct="1">
              <a:lnSpc>
                <a:spcPts val="3000"/>
              </a:lnSpc>
              <a:buChar char="•"/>
            </a:pPr>
            <a:r>
              <a:rPr lang="en-US" altLang="zh-CN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</a:t>
            </a:r>
            <a:r>
              <a:rPr lang="zh-CN" altLang="en-US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名词 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apple</a:t>
            </a:r>
            <a:r>
              <a:rPr lang="zh-CN" altLang="en-US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</a:t>
            </a:r>
            <a:endParaRPr lang="en-US" altLang="zh-CN" sz="2200" b="1" i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3000"/>
              </a:lnSpc>
              <a:buChar char="•"/>
            </a:pPr>
            <a:r>
              <a:rPr lang="zh-CN" altLang="en-US" sz="22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动词 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eat</a:t>
            </a:r>
          </a:p>
        </p:txBody>
      </p:sp>
      <p:sp>
        <p:nvSpPr>
          <p:cNvPr id="43013" name="矩形 3"/>
          <p:cNvSpPr>
            <a:spLocks noChangeArrowheads="1"/>
          </p:cNvSpPr>
          <p:nvPr/>
        </p:nvSpPr>
        <p:spPr bwMode="auto">
          <a:xfrm>
            <a:off x="814388" y="4498975"/>
            <a:ext cx="3543300" cy="430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楷体_GB2312"/>
                <a:sym typeface="Symbol" pitchFamily="18" charset="2"/>
              </a:rPr>
              <a:t>单词串：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little</a:t>
            </a:r>
            <a:r>
              <a:rPr kumimoji="1" lang="zh-CN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boy eats apple</a:t>
            </a:r>
            <a:r>
              <a:rPr kumimoji="1" lang="zh-CN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endParaRPr kumimoji="0" lang="zh-CN" altLang="en-US" sz="22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57349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57352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2" name="云形标注 1"/>
          <p:cNvSpPr/>
          <p:nvPr/>
        </p:nvSpPr>
        <p:spPr>
          <a:xfrm>
            <a:off x="5572125" y="1343025"/>
            <a:ext cx="3571875" cy="2014538"/>
          </a:xfrm>
          <a:prstGeom prst="cloudCallout">
            <a:avLst>
              <a:gd name="adj1" fmla="val -40481"/>
              <a:gd name="adj2" fmla="val 77286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有了文法（语言规则），如何判定一个词串是否是满足文法的句子？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animBg="1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475" y="1000125"/>
            <a:ext cx="8448675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给定文法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G=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V</a:t>
            </a:r>
            <a:r>
              <a:rPr kumimoji="0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P , S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，如果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α→β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，那么可以将符号串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中的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替换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，也就是说，将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δ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重写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rewrite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记作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γ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δ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 γ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+mn-ea"/>
                <a:cs typeface="Times New Roman" panose="02020603050405020304" pitchFamily="18" charset="0"/>
              </a:rPr>
              <a:t>δ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。此时，称文法中的符号串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δ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直接推导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directly derive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γ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δ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简而言之，就是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+mn-cs"/>
              </a:rPr>
              <a:t>用产生式的右部替换产生式的左部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highlight>
                <a:srgbClr val="FFFF00"/>
              </a:highlight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584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推导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Derivations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和归约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Reductions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9396" name="组合 3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59398" name="五边形 5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2913" y="989013"/>
            <a:ext cx="7874000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如果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0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…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n-1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，则可以记作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0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 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…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n-1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，称符号串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0</a:t>
            </a:r>
            <a:r>
              <a:rPr lang="zh-CN" altLang="en-US" sz="28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经过</a:t>
            </a:r>
            <a:r>
              <a:rPr lang="en-US" altLang="zh-CN" sz="28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zh-CN" altLang="en-US" sz="28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步推导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出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，可简记为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0</a:t>
            </a:r>
            <a:r>
              <a:rPr lang="en-US" altLang="zh-CN" sz="28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n 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n-US" altLang="zh-CN" sz="28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endParaRPr lang="en-US" altLang="zh-CN" sz="2800" b="1" i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552450" lvl="2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α </a:t>
            </a:r>
            <a:r>
              <a:rPr lang="en-US" altLang="zh-CN" sz="28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kern="12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0</a:t>
            </a:r>
            <a:r>
              <a:rPr lang="en-US" altLang="zh-CN" sz="2800" b="1" i="1" kern="12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 </a:t>
            </a:r>
            <a:r>
              <a:rPr lang="en-US" altLang="zh-CN" sz="2800" b="1" i="1" dirty="0">
                <a:solidFill>
                  <a:schemeClr val="tx1"/>
                </a:solidFill>
                <a:ea typeface="华文楷体" panose="02010600040101010101" pitchFamily="2" charset="-122"/>
                <a:sym typeface="+mn-ea"/>
              </a:rPr>
              <a:t>α</a:t>
            </a:r>
            <a:endPara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552450" lvl="2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 </a:t>
            </a:r>
            <a:r>
              <a:rPr lang="en-US" altLang="zh-CN" sz="28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en-US" altLang="zh-CN" sz="2800" b="1" i="1" kern="12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+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表示“经过正数步推导”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552450" lvl="2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 </a:t>
            </a:r>
            <a:r>
              <a:rPr lang="en-US" altLang="zh-CN" sz="28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</a:t>
            </a:r>
            <a:r>
              <a:rPr lang="zh-CN" altLang="en-US" sz="2800" b="1" i="1" kern="12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itchFamily="18" charset="2"/>
              </a:rPr>
              <a:t>*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表示“经过若干（可以是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0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）步推导”</a:t>
            </a:r>
            <a:endParaRPr lang="en-US" altLang="zh-CN" sz="2500" b="1" i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  <a:buFont typeface="Symbol" pitchFamily="18" charset="2"/>
              <a:buNone/>
            </a:pPr>
            <a:endParaRPr lang="zh-CN" altLang="en-US" sz="2500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61443" name="组合 4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61446" name="五边形 6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推导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Derivations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和归约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Reductions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4286250" y="1274763"/>
            <a:ext cx="480695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	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 名词短语 动词短语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itchFamily="18" charset="2"/>
              </a:rPr>
              <a:t>	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形容词 名词短语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&lt;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动词短语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little 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名词短语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&lt;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动词短语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little</a:t>
            </a:r>
            <a:r>
              <a:rPr kumimoji="1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名词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&lt;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动词短语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little boy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&lt;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动词短语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little boy 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动词名词短语 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little boy eats 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名词短语 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little</a:t>
            </a:r>
            <a:r>
              <a:rPr kumimoji="1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boy eats 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名词  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  <a:sym typeface="Symbol" pitchFamily="18" charset="2"/>
              </a:rPr>
              <a:t>	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Symbol" pitchFamily="18" charset="2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little</a:t>
            </a:r>
            <a:r>
              <a:rPr kumimoji="1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boy eats apple</a:t>
            </a:r>
            <a:r>
              <a:rPr kumimoji="1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 </a:t>
            </a:r>
            <a:endParaRPr kumimoji="1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5067" name="Rectangle 7"/>
          <p:cNvSpPr/>
          <p:nvPr/>
        </p:nvSpPr>
        <p:spPr>
          <a:xfrm>
            <a:off x="4252913" y="2655888"/>
            <a:ext cx="936625" cy="463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推导</a:t>
            </a:r>
          </a:p>
        </p:txBody>
      </p:sp>
      <p:sp>
        <p:nvSpPr>
          <p:cNvPr id="63492" name="Rectangle 10"/>
          <p:cNvSpPr/>
          <p:nvPr/>
        </p:nvSpPr>
        <p:spPr>
          <a:xfrm>
            <a:off x="9201150" y="3148013"/>
            <a:ext cx="1871663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endParaRPr lang="en-US" altLang="zh-CN" dirty="0">
              <a:solidFill>
                <a:srgbClr val="33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zh-CN" altLang="en-US" b="1" dirty="0">
              <a:solidFill>
                <a:schemeClr val="folHlink"/>
              </a:solidFill>
              <a:latin typeface="楷体_GB2312"/>
            </a:endParaRPr>
          </a:p>
        </p:txBody>
      </p:sp>
      <p:sp>
        <p:nvSpPr>
          <p:cNvPr id="56326" name="矩形 1"/>
          <p:cNvSpPr/>
          <p:nvPr/>
        </p:nvSpPr>
        <p:spPr>
          <a:xfrm>
            <a:off x="7956550" y="2659063"/>
            <a:ext cx="8032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归约</a:t>
            </a:r>
            <a:endParaRPr lang="en-US" altLang="zh-CN" sz="2400" b="1" dirty="0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63494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1" name="五边形 10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63502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13" name="矩形 2"/>
          <p:cNvSpPr>
            <a:spLocks noChangeArrowheads="1"/>
          </p:cNvSpPr>
          <p:nvPr/>
        </p:nvSpPr>
        <p:spPr bwMode="auto">
          <a:xfrm>
            <a:off x="142875" y="1347788"/>
            <a:ext cx="3843338" cy="32956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lvl="1" indent="0" eaLnBrk="1" hangingPunct="1">
              <a:lnSpc>
                <a:spcPts val="280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文法：</a:t>
            </a:r>
            <a:endParaRPr lang="en-US" altLang="zh-CN" sz="16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2800"/>
              </a:lnSpc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句子  名词短语 动词短语</a:t>
            </a:r>
            <a:endParaRPr lang="en-US" altLang="zh-CN" sz="16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2800"/>
              </a:lnSpc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名词短语  形容词 名词短语</a:t>
            </a:r>
            <a:endParaRPr lang="en-US" altLang="zh-CN" sz="16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2800"/>
              </a:lnSpc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名词短语  名词                  </a:t>
            </a:r>
            <a:endParaRPr lang="en-US" altLang="zh-CN" sz="16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2800"/>
              </a:lnSpc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动词短语  动词 名词短语</a:t>
            </a:r>
            <a:endParaRPr lang="en-US" altLang="zh-CN" sz="1600" b="1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2800"/>
              </a:lnSpc>
              <a:buChar char="•"/>
            </a:pPr>
            <a:r>
              <a:rPr lang="en-US" altLang="zh-CN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</a:t>
            </a: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形容词 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little</a:t>
            </a:r>
          </a:p>
          <a:p>
            <a:pPr marL="0" lvl="1" indent="0" eaLnBrk="1" hangingPunct="1">
              <a:lnSpc>
                <a:spcPts val="2800"/>
              </a:lnSpc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名词 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boy</a:t>
            </a:r>
            <a:r>
              <a:rPr lang="en-US" altLang="zh-CN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   </a:t>
            </a:r>
          </a:p>
          <a:p>
            <a:pPr marL="0" lvl="1" indent="0" eaLnBrk="1" hangingPunct="1">
              <a:lnSpc>
                <a:spcPts val="2800"/>
              </a:lnSpc>
              <a:buChar char="•"/>
            </a:pPr>
            <a:r>
              <a:rPr lang="en-US" altLang="zh-CN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</a:t>
            </a: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名词 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apple</a:t>
            </a:r>
            <a:r>
              <a:rPr lang="zh-CN" alt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</a:t>
            </a:r>
            <a:endParaRPr lang="en-US" altLang="zh-CN" sz="1600" b="1" i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sym typeface="Symbol" pitchFamily="18" charset="2"/>
            </a:endParaRPr>
          </a:p>
          <a:p>
            <a:pPr marL="0" lvl="1" indent="0" eaLnBrk="1" hangingPunct="1">
              <a:lnSpc>
                <a:spcPts val="2800"/>
              </a:lnSpc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动词  </a:t>
            </a:r>
            <a:r>
              <a:rPr lang="en-US" altLang="zh-CN" sz="16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eat</a:t>
            </a:r>
          </a:p>
        </p:txBody>
      </p:sp>
      <p:sp>
        <p:nvSpPr>
          <p:cNvPr id="15" name="标题 1"/>
          <p:cNvSpPr txBox="1"/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000" b="1" kern="1200" cap="none" spc="30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推导</a:t>
            </a:r>
            <a:r>
              <a:rPr kumimoji="0" lang="zh-CN" altLang="en-US" sz="3000" b="1" kern="1200" cap="none" spc="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Derivations</a:t>
            </a:r>
            <a:r>
              <a:rPr kumimoji="0" lang="en-US" altLang="zh-CN" sz="2400" b="1" kern="1200" cap="none" spc="30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和归约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Reductions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3000" b="1" kern="1200" cap="none" spc="0" normalizeH="0" baseline="0" noProof="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497" name="Rectangle 7"/>
          <p:cNvSpPr/>
          <p:nvPr/>
        </p:nvSpPr>
        <p:spPr>
          <a:xfrm>
            <a:off x="-6350" y="857250"/>
            <a:ext cx="93503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2400" b="1" dirty="0">
                <a:latin typeface="楷体" pitchFamily="49" charset="-122"/>
                <a:ea typeface="楷体" pitchFamily="49" charset="-122"/>
              </a:rPr>
              <a:t>例</a:t>
            </a:r>
          </a:p>
        </p:txBody>
      </p:sp>
      <p:sp>
        <p:nvSpPr>
          <p:cNvPr id="14" name="AutoShape 6"/>
          <p:cNvSpPr/>
          <p:nvPr/>
        </p:nvSpPr>
        <p:spPr>
          <a:xfrm>
            <a:off x="4286250" y="1347788"/>
            <a:ext cx="161925" cy="3295650"/>
          </a:xfrm>
          <a:prstGeom prst="downArrow">
            <a:avLst>
              <a:gd name="adj1" fmla="val 50000"/>
              <a:gd name="adj2" fmla="val 240466"/>
            </a:avLst>
          </a:prstGeom>
          <a:solidFill>
            <a:srgbClr val="FF505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6" name="AutoShape 9"/>
          <p:cNvSpPr/>
          <p:nvPr/>
        </p:nvSpPr>
        <p:spPr>
          <a:xfrm rot="10800000">
            <a:off x="8618538" y="1319213"/>
            <a:ext cx="161925" cy="3324225"/>
          </a:xfrm>
          <a:prstGeom prst="downArrow">
            <a:avLst>
              <a:gd name="adj1" fmla="val 50000"/>
              <a:gd name="adj2" fmla="val 239604"/>
            </a:avLst>
          </a:prstGeom>
          <a:solidFill>
            <a:srgbClr val="FF505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71988" y="1296988"/>
            <a:ext cx="1108075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句子</a:t>
            </a:r>
            <a:r>
              <a:rPr lang="en-US" altLang="zh-CN" sz="1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itchFamily="18" charset="2"/>
              </a:rPr>
              <a:t>	</a:t>
            </a:r>
            <a:endParaRPr lang="zh-CN" altLang="en-US" dirty="0">
              <a:latin typeface="Tahoma" panose="020B0604030504040204" pitchFamily="34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7" grpId="0"/>
      <p:bldP spid="56326" grpId="0"/>
      <p:bldP spid="14" grpId="0" animBg="1"/>
      <p:bldP spid="16" grpId="0" animBg="1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2"/>
          <p:cNvSpPr>
            <a:spLocks noGrp="1"/>
          </p:cNvSpPr>
          <p:nvPr>
            <p:ph idx="1"/>
          </p:nvPr>
        </p:nvSpPr>
        <p:spPr>
          <a:xfrm>
            <a:off x="371475" y="917575"/>
            <a:ext cx="8201025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有了文法（语言规则），如何判定某一词串是否是该语言的句子？</a:t>
            </a:r>
            <a:endPara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zh-CN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句子的</a:t>
            </a:r>
            <a:r>
              <a:rPr lang="zh-CN" altLang="zh-CN" sz="25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推导</a:t>
            </a: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（派生）</a:t>
            </a:r>
            <a:r>
              <a:rPr lang="en-US" altLang="zh-CN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-</a:t>
            </a: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从</a:t>
            </a:r>
            <a:r>
              <a:rPr lang="zh-CN" altLang="en-US" sz="25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生成</a:t>
            </a: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语言的角度</a:t>
            </a:r>
            <a:endParaRPr lang="en-US" altLang="zh-CN" sz="2500" b="1" kern="1200" dirty="0">
              <a:solidFill>
                <a:schemeClr val="tx1"/>
              </a:solidFill>
              <a:latin typeface="楷体" pitchFamily="49" charset="-122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句子的</a:t>
            </a:r>
            <a:r>
              <a:rPr lang="zh-CN" altLang="en-US" sz="25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归约</a:t>
            </a:r>
            <a:r>
              <a:rPr lang="zh-CN" altLang="en-US" sz="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  </a:t>
            </a:r>
            <a:r>
              <a:rPr lang="en-US" altLang="zh-CN" sz="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　　　　　　　　　　</a:t>
            </a:r>
            <a:r>
              <a:rPr lang="en-US" altLang="zh-CN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-</a:t>
            </a: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从</a:t>
            </a:r>
            <a:r>
              <a:rPr lang="zh-CN" altLang="en-US" sz="25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识别</a:t>
            </a: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语言的角度</a:t>
            </a:r>
          </a:p>
          <a:p>
            <a:pPr lvl="1" eaLnBrk="1" hangingPunct="1">
              <a:buSzPct val="100000"/>
            </a:pPr>
            <a:endParaRPr lang="en-US" altLang="zh-CN" sz="2600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89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回答前面的问题</a:t>
            </a:r>
          </a:p>
        </p:txBody>
      </p:sp>
      <p:grpSp>
        <p:nvGrpSpPr>
          <p:cNvPr id="2" name="组合 5"/>
          <p:cNvGrpSpPr/>
          <p:nvPr/>
        </p:nvGrpSpPr>
        <p:grpSpPr>
          <a:xfrm>
            <a:off x="6715125" y="2071688"/>
            <a:ext cx="2214563" cy="558800"/>
            <a:chOff x="8582009" y="3141400"/>
            <a:chExt cx="2291893" cy="743946"/>
          </a:xfrm>
        </p:grpSpPr>
        <p:sp>
          <p:nvSpPr>
            <p:cNvPr id="3" name="Rectangle 1028"/>
            <p:cNvSpPr>
              <a:spLocks noChangeArrowheads="1"/>
            </p:cNvSpPr>
            <p:nvPr/>
          </p:nvSpPr>
          <p:spPr bwMode="auto">
            <a:xfrm>
              <a:off x="8889238" y="3173102"/>
              <a:ext cx="1984664" cy="6340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楷体_GB2312"/>
                </a:rPr>
                <a:t>均</a:t>
              </a:r>
              <a:r>
                <a:rPr kumimoji="1" lang="zh-CN" altLang="zh-CN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楷体_GB2312"/>
                </a:rPr>
                <a:t>根据规则</a:t>
              </a:r>
              <a:endPara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楷体_GB2312"/>
              </a:endParaRPr>
            </a:p>
          </p:txBody>
        </p:sp>
        <p:sp>
          <p:nvSpPr>
            <p:cNvPr id="9" name="右大括号 8"/>
            <p:cNvSpPr/>
            <p:nvPr/>
          </p:nvSpPr>
          <p:spPr>
            <a:xfrm>
              <a:off x="8582009" y="3141400"/>
              <a:ext cx="287514" cy="743946"/>
            </a:xfrm>
            <a:prstGeom prst="rightBrac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5541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65543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285750" y="917575"/>
            <a:ext cx="8558213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 </a:t>
            </a:r>
            <a:r>
              <a:rPr kumimoji="0" lang="en-US" altLang="zh-CN" sz="28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*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∈(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∪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，则称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的一个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句型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sentential form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一个句型中既可以包含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终结符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，又可以包含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非终结符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，也可能是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空串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如果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S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kumimoji="0" lang="en-US" altLang="zh-CN" sz="28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  <a:sym typeface="Symbol" pitchFamily="18" charset="2"/>
              </a:rPr>
              <a:t>*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楷体_GB2312"/>
                <a:cs typeface="Times New Roman" panose="02020603050405020304" pitchFamily="18" charset="0"/>
              </a:rPr>
              <a:t>w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楷体_GB2312"/>
                <a:cs typeface="Times New Roman" panose="02020603050405020304" pitchFamily="18" charset="0"/>
              </a:rPr>
              <a:t>w </a:t>
            </a: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∈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V</a:t>
            </a:r>
            <a:r>
              <a:rPr kumimoji="0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T</a:t>
            </a:r>
            <a:r>
              <a:rPr kumimoji="0" lang="zh-CN" altLang="en-US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*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，则称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楷体_GB2312"/>
                <a:cs typeface="Times New Roman" panose="02020603050405020304" pitchFamily="18" charset="0"/>
              </a:rPr>
              <a:t>w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是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的一个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句子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楷体_GB2312"/>
                <a:cs typeface="Times New Roman" panose="02020603050405020304" pitchFamily="18" charset="0"/>
              </a:rPr>
              <a:t>sentence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ea typeface="楷体_GB2312"/>
                <a:cs typeface="Times New Roman" panose="02020603050405020304" pitchFamily="18" charset="0"/>
              </a:rPr>
              <a:t>)</a:t>
            </a: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楷体" pitchFamily="49" charset="-122"/>
                <a:cs typeface="Times New Roman" panose="02020603050405020304" pitchFamily="18" charset="0"/>
              </a:rPr>
              <a:t>句子是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楷体" pitchFamily="49" charset="-122"/>
                <a:cs typeface="Times New Roman" panose="02020603050405020304" pitchFamily="18" charset="0"/>
              </a:rPr>
              <a:t>不包含非终结符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楷体" pitchFamily="49" charset="-122"/>
                <a:cs typeface="Times New Roman" panose="02020603050405020304" pitchFamily="18" charset="0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楷体" pitchFamily="49" charset="-122"/>
                <a:cs typeface="Times New Roman" panose="02020603050405020304" pitchFamily="18" charset="0"/>
              </a:rPr>
              <a:t>句型</a:t>
            </a:r>
          </a:p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39939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句型和句子</a:t>
            </a:r>
          </a:p>
        </p:txBody>
      </p:sp>
      <p:grpSp>
        <p:nvGrpSpPr>
          <p:cNvPr id="67588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67590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内容占位符 1"/>
          <p:cNvSpPr>
            <a:spLocks noGrp="1"/>
          </p:cNvSpPr>
          <p:nvPr>
            <p:ph idx="1"/>
          </p:nvPr>
        </p:nvSpPr>
        <p:spPr>
          <a:xfrm>
            <a:off x="571500" y="714375"/>
            <a:ext cx="7961313" cy="44291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itchFamily="18" charset="2"/>
              <a:buNone/>
            </a:pP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 句子</a:t>
            </a:r>
            <a:r>
              <a:rPr lang="en-US" altLang="zh-CN" sz="2700" b="1" kern="1200" dirty="0">
                <a:solidFill>
                  <a:schemeClr val="tx1"/>
                </a:solidFill>
                <a:latin typeface="楷体_GB2312"/>
                <a:ea typeface="楷体" pitchFamily="49" charset="-122"/>
                <a:cs typeface="+mn-cs"/>
                <a:sym typeface="Symbol" pitchFamily="18" charset="2"/>
              </a:rPr>
              <a:t>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名词短语 动词短语</a:t>
            </a:r>
            <a:endParaRPr lang="en-US" altLang="zh-CN" sz="2700" b="1" kern="1200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+mn-cs"/>
              <a:sym typeface="Symbol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itchFamily="18" charset="2"/>
              <a:buNone/>
            </a:pPr>
            <a:r>
              <a:rPr lang="en-US" altLang="zh-CN" sz="2700" b="1" kern="1200" dirty="0">
                <a:solidFill>
                  <a:schemeClr val="tx1"/>
                </a:solidFill>
                <a:latin typeface="楷体_GB2312"/>
                <a:ea typeface="楷体" pitchFamily="49" charset="-122"/>
                <a:cs typeface="+mn-cs"/>
                <a:sym typeface="Symbol" pitchFamily="18" charset="2"/>
              </a:rPr>
              <a:t>		  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形容词 名词短语 </a:t>
            </a:r>
            <a:r>
              <a:rPr lang="en-US" altLang="zh-CN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&lt;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动词短语</a:t>
            </a:r>
            <a:endParaRPr lang="en-US" altLang="zh-CN" sz="2700" b="1" kern="1200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+mn-cs"/>
              <a:sym typeface="Symbol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itchFamily="18" charset="2"/>
              <a:buNone/>
            </a:pPr>
            <a:r>
              <a:rPr lang="en-US" altLang="zh-CN" sz="2700" b="1" kern="1200" dirty="0">
                <a:solidFill>
                  <a:schemeClr val="tx1"/>
                </a:solidFill>
                <a:latin typeface="楷体_GB2312"/>
                <a:ea typeface="楷体" pitchFamily="49" charset="-122"/>
                <a:cs typeface="+mn-cs"/>
                <a:sym typeface="Symbol" pitchFamily="18" charset="2"/>
              </a:rPr>
              <a:t>		  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en-US" altLang="zh-CN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little</a:t>
            </a:r>
            <a:r>
              <a:rPr lang="en-US" altLang="zh-CN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名词短语 </a:t>
            </a:r>
            <a:r>
              <a:rPr lang="en-US" altLang="zh-CN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&lt;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动词短语</a:t>
            </a:r>
            <a:endParaRPr lang="en-US" altLang="zh-CN" sz="2700" b="1" kern="1200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+mn-cs"/>
              <a:sym typeface="Symbol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itchFamily="18" charset="2"/>
              <a:buNone/>
            </a:pPr>
            <a:r>
              <a:rPr lang="en-US" altLang="zh-CN" sz="2700" b="1" kern="1200" dirty="0">
                <a:solidFill>
                  <a:schemeClr val="tx1"/>
                </a:solidFill>
                <a:latin typeface="楷体_GB2312"/>
                <a:ea typeface="楷体" pitchFamily="49" charset="-122"/>
                <a:cs typeface="+mn-cs"/>
                <a:sym typeface="Symbol" pitchFamily="18" charset="2"/>
              </a:rPr>
              <a:t>		  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en-US" altLang="zh-CN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little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名词 </a:t>
            </a:r>
            <a:r>
              <a:rPr lang="en-US" altLang="zh-CN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&lt;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动词短语</a:t>
            </a:r>
            <a:endParaRPr lang="en-US" altLang="zh-CN" sz="2700" b="1" kern="1200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+mn-cs"/>
              <a:sym typeface="Symbol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itchFamily="18" charset="2"/>
              <a:buNone/>
            </a:pPr>
            <a:r>
              <a:rPr lang="en-US" altLang="zh-CN" sz="2700" b="1" kern="1200" dirty="0">
                <a:solidFill>
                  <a:schemeClr val="tx1"/>
                </a:solidFill>
                <a:latin typeface="楷体_GB2312"/>
                <a:ea typeface="楷体" pitchFamily="49" charset="-122"/>
                <a:cs typeface="+mn-cs"/>
                <a:sym typeface="Symbol" pitchFamily="18" charset="2"/>
              </a:rPr>
              <a:t>		  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en-US" altLang="zh-CN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little boy </a:t>
            </a:r>
            <a:r>
              <a:rPr lang="en-US" altLang="zh-CN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&lt;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动词短语</a:t>
            </a:r>
            <a:endParaRPr lang="en-US" altLang="zh-CN" sz="2700" b="1" kern="1200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+mn-cs"/>
              <a:sym typeface="Symbol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itchFamily="18" charset="2"/>
              <a:buNone/>
            </a:pPr>
            <a:r>
              <a:rPr lang="en-US" altLang="zh-CN" sz="2700" b="1" kern="1200" dirty="0">
                <a:solidFill>
                  <a:schemeClr val="tx1"/>
                </a:solidFill>
                <a:latin typeface="楷体_GB2312"/>
                <a:ea typeface="楷体" pitchFamily="49" charset="-122"/>
                <a:cs typeface="+mn-cs"/>
                <a:sym typeface="Symbol" pitchFamily="18" charset="2"/>
              </a:rPr>
              <a:t>		  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en-US" altLang="zh-CN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little boy 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动词名词短语 </a:t>
            </a:r>
            <a:endParaRPr lang="en-US" altLang="zh-CN" sz="2700" b="1" kern="1200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+mn-cs"/>
              <a:sym typeface="Symbol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itchFamily="18" charset="2"/>
              <a:buNone/>
            </a:pPr>
            <a:r>
              <a:rPr lang="en-US" altLang="zh-CN" sz="2700" b="1" kern="1200" dirty="0">
                <a:solidFill>
                  <a:schemeClr val="tx1"/>
                </a:solidFill>
                <a:latin typeface="楷体_GB2312"/>
                <a:ea typeface="楷体" pitchFamily="49" charset="-122"/>
                <a:cs typeface="+mn-cs"/>
                <a:sym typeface="Symbol" pitchFamily="18" charset="2"/>
              </a:rPr>
              <a:t>		  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en-US" altLang="zh-CN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little boy eats 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名词短语 </a:t>
            </a:r>
            <a:endParaRPr lang="en-US" altLang="zh-CN" sz="2700" b="1" kern="1200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+mn-cs"/>
              <a:sym typeface="Symbol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itchFamily="18" charset="2"/>
              <a:buNone/>
            </a:pPr>
            <a:r>
              <a:rPr lang="en-US" altLang="zh-CN" sz="2700" b="1" kern="1200" dirty="0">
                <a:solidFill>
                  <a:schemeClr val="tx1"/>
                </a:solidFill>
                <a:latin typeface="楷体_GB2312"/>
                <a:ea typeface="楷体" pitchFamily="49" charset="-122"/>
                <a:cs typeface="+mn-cs"/>
                <a:sym typeface="Symbol" pitchFamily="18" charset="2"/>
              </a:rPr>
              <a:t>		  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en-US" altLang="zh-CN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little</a:t>
            </a:r>
            <a:r>
              <a:rPr lang="zh-CN" altLang="en-US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en-US" altLang="zh-CN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boy eats 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名词  </a:t>
            </a:r>
            <a:endParaRPr lang="en-US" altLang="zh-CN" sz="2700" b="1" kern="1200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+mn-cs"/>
              <a:sym typeface="Symbol" pitchFamily="18" charset="2"/>
            </a:endParaRPr>
          </a:p>
          <a:p>
            <a:pPr eaLnBrk="1" hangingPunct="1">
              <a:lnSpc>
                <a:spcPts val="3000"/>
              </a:lnSpc>
              <a:buClr>
                <a:srgbClr val="3333CC"/>
              </a:buClr>
              <a:buSzPct val="60000"/>
              <a:buFont typeface="Symbol" pitchFamily="18" charset="2"/>
              <a:buNone/>
            </a:pPr>
            <a:r>
              <a:rPr lang="en-US" altLang="zh-CN" sz="2700" b="1" kern="1200" dirty="0">
                <a:solidFill>
                  <a:schemeClr val="tx1"/>
                </a:solidFill>
                <a:latin typeface="楷体_GB2312"/>
                <a:ea typeface="楷体" pitchFamily="49" charset="-122"/>
                <a:cs typeface="+mn-cs"/>
                <a:sym typeface="Symbol" pitchFamily="18" charset="2"/>
              </a:rPr>
              <a:t>		  </a:t>
            </a:r>
            <a:r>
              <a:rPr lang="zh-CN" altLang="en-US" sz="27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en-US" altLang="zh-CN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little</a:t>
            </a:r>
            <a:r>
              <a:rPr lang="zh-CN" altLang="en-US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r>
              <a:rPr lang="en-US" altLang="zh-CN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boy eats apple</a:t>
            </a:r>
            <a:r>
              <a:rPr lang="zh-CN" altLang="en-US" sz="27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itchFamily="49" charset="-122"/>
                <a:cs typeface="+mn-cs"/>
                <a:sym typeface="Symbol" pitchFamily="18" charset="2"/>
              </a:rPr>
              <a:t> </a:t>
            </a:r>
            <a:endParaRPr lang="en-US" altLang="zh-CN" sz="2700" b="1" i="1" kern="1200" dirty="0">
              <a:solidFill>
                <a:schemeClr val="tx1"/>
              </a:solidFill>
              <a:latin typeface="Times New Roman" panose="02020603050405020304" pitchFamily="18" charset="0"/>
              <a:ea typeface="楷体" pitchFamily="49" charset="-122"/>
              <a:cs typeface="+mn-cs"/>
              <a:sym typeface="Symbol" pitchFamily="18" charset="2"/>
            </a:endParaRPr>
          </a:p>
          <a:p>
            <a:pPr eaLnBrk="1" hangingPunct="1">
              <a:lnSpc>
                <a:spcPts val="3000"/>
              </a:lnSpc>
              <a:buSzPct val="100000"/>
            </a:pPr>
            <a:endParaRPr lang="zh-CN" altLang="en-US" sz="2000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7429500" y="976313"/>
            <a:ext cx="214313" cy="3738563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500938" y="2643188"/>
            <a:ext cx="1220788" cy="4286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句型</a:t>
            </a:r>
          </a:p>
        </p:txBody>
      </p:sp>
      <p:sp>
        <p:nvSpPr>
          <p:cNvPr id="9" name="右箭头 8"/>
          <p:cNvSpPr/>
          <p:nvPr/>
        </p:nvSpPr>
        <p:spPr>
          <a:xfrm>
            <a:off x="1211263" y="4572000"/>
            <a:ext cx="431800" cy="14446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4370388"/>
            <a:ext cx="1392238" cy="55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句子</a:t>
            </a:r>
          </a:p>
        </p:txBody>
      </p:sp>
      <p:grpSp>
        <p:nvGrpSpPr>
          <p:cNvPr id="69639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69642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15963" y="1131888"/>
            <a:ext cx="7927975" cy="3225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由文法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开始符号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推导出的所有句子构成的集合称为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文法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生成的语言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，记为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。即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{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 | S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kumimoji="0" lang="en-US" altLang="zh-CN" sz="30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itchFamily="18" charset="2"/>
              </a:rPr>
              <a:t>*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w,</a:t>
            </a:r>
            <a:r>
              <a:rPr kumimoji="0" lang="en-US" altLang="zh-CN" sz="3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V</a:t>
            </a:r>
            <a:r>
              <a:rPr kumimoji="0" lang="en-US" altLang="zh-CN" sz="3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3000" b="1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400" b="0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987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语言的形式化定义</a:t>
            </a:r>
          </a:p>
        </p:txBody>
      </p:sp>
      <p:sp>
        <p:nvSpPr>
          <p:cNvPr id="4" name="云形标注 3"/>
          <p:cNvSpPr/>
          <p:nvPr/>
        </p:nvSpPr>
        <p:spPr>
          <a:xfrm>
            <a:off x="1071563" y="3429000"/>
            <a:ext cx="6740525" cy="1500188"/>
          </a:xfrm>
          <a:prstGeom prst="cloudCallout">
            <a:avLst>
              <a:gd name="adj1" fmla="val -37785"/>
              <a:gd name="adj2" fmla="val -83719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文法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 → E+E | E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 | 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en-US" altLang="zh-CN" sz="2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|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生成的语言中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包含多少个句子？</a:t>
            </a:r>
          </a:p>
        </p:txBody>
      </p:sp>
      <p:grpSp>
        <p:nvGrpSpPr>
          <p:cNvPr id="71685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71687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/>
          </p:cNvSpPr>
          <p:nvPr>
            <p:ph idx="1"/>
          </p:nvPr>
        </p:nvSpPr>
        <p:spPr>
          <a:xfrm>
            <a:off x="430213" y="785813"/>
            <a:ext cx="5927725" cy="2230437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文法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</a:t>
            </a:r>
          </a:p>
          <a:p>
            <a:pPr marL="303530" lvl="1" indent="0" eaLnBrk="1" hangingPunct="1">
              <a:buClrTx/>
              <a:buSzPct val="100000"/>
              <a:buFont typeface="Symbol" pitchFamily="18" charset="2"/>
              <a:buNone/>
            </a:pPr>
            <a:r>
              <a:rPr lang="en-US" altLang="zh-CN" b="1" kern="12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rPr>
              <a:t>①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 → L | LT</a:t>
            </a:r>
          </a:p>
          <a:p>
            <a:pPr marL="303530" lvl="1" indent="0" eaLnBrk="1" hangingPunct="1">
              <a:buClrTx/>
              <a:buSzPct val="100000"/>
              <a:buFont typeface="Symbol" pitchFamily="18" charset="2"/>
              <a:buNone/>
            </a:pPr>
            <a:r>
              <a:rPr lang="en-US" altLang="zh-CN" b="1" kern="12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rPr>
              <a:t>②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 → L | D | TL | TD </a:t>
            </a:r>
          </a:p>
          <a:p>
            <a:pPr marL="303530" lvl="1" indent="0" eaLnBrk="1" hangingPunct="1">
              <a:buClrTx/>
              <a:buSzPct val="100000"/>
              <a:buFont typeface="Symbol" pitchFamily="18" charset="2"/>
              <a:buNone/>
            </a:pPr>
            <a:r>
              <a:rPr lang="en-US" altLang="zh-CN" b="1" kern="12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rPr>
              <a:t>③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L →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a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|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b 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|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c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| … |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z</a:t>
            </a:r>
          </a:p>
          <a:p>
            <a:pPr marL="303530" lvl="1" indent="0" eaLnBrk="1" hangingPunct="1">
              <a:buClrTx/>
              <a:buSzPct val="100000"/>
              <a:buFont typeface="Symbol" pitchFamily="18" charset="2"/>
              <a:buNone/>
            </a:pPr>
            <a:r>
              <a:rPr lang="en-US" altLang="zh-CN" b="1" kern="12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rPr>
              <a:t>④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D → 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0 | 1 | 2 | 3 |…| 9</a:t>
            </a:r>
          </a:p>
          <a:p>
            <a:pPr lvl="2" eaLnBrk="1" hangingPunct="1">
              <a:buSzPct val="100000"/>
            </a:pPr>
            <a:endParaRPr lang="en-US" altLang="zh-CN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例</a:t>
            </a:r>
          </a:p>
        </p:txBody>
      </p:sp>
      <p:grpSp>
        <p:nvGrpSpPr>
          <p:cNvPr id="73733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73738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867400" y="857250"/>
            <a:ext cx="2371725" cy="2779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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TL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  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TDL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  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TDDL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  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TLDDL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  …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  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TD…LDDL</a:t>
            </a:r>
          </a:p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3333CC"/>
              </a:buClr>
              <a:buSzPct val="100000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  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DD…LDDL</a:t>
            </a:r>
          </a:p>
        </p:txBody>
      </p:sp>
      <p:sp>
        <p:nvSpPr>
          <p:cNvPr id="14" name="爆炸形 1 13"/>
          <p:cNvSpPr/>
          <p:nvPr/>
        </p:nvSpPr>
        <p:spPr>
          <a:xfrm>
            <a:off x="5435600" y="3749675"/>
            <a:ext cx="3351213" cy="1208088"/>
          </a:xfrm>
          <a:prstGeom prst="irregularSeal1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+mn-ea"/>
                <a:cs typeface="+mn-cs"/>
              </a:rPr>
              <a:t>：字母数字串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7088" y="3071813"/>
            <a:ext cx="4206875" cy="4619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shade val="50000"/>
                <a:shade val="75000"/>
                <a:lumMod val="80000"/>
              </a:schemeClr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该文法生成的语言是：标识符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语言上的运算</a:t>
            </a:r>
          </a:p>
        </p:txBody>
      </p:sp>
      <p:grpSp>
        <p:nvGrpSpPr>
          <p:cNvPr id="75779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9" name="五边形 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75783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pic>
        <p:nvPicPr>
          <p:cNvPr id="7578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8" y="815975"/>
            <a:ext cx="7689850" cy="3041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785813" y="4000500"/>
            <a:ext cx="7715250" cy="862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例：令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={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={0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…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9}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。则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∪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表示的语言是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标识符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072063" y="1714500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kern="1200" cap="none" spc="6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文法的分类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14350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929188" y="1344613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第二章 语言及其文法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785813" y="928688"/>
            <a:ext cx="5927725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型文法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Type-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Grammar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型文法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Type-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Grammar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型文法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Type-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Grammar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型文法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Type-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Grammar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itchFamily="49" charset="-122"/>
                <a:cs typeface="+mj-cs"/>
              </a:rPr>
              <a:t>Chomsky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文法分类体系</a:t>
            </a:r>
          </a:p>
        </p:txBody>
      </p:sp>
      <p:grpSp>
        <p:nvGrpSpPr>
          <p:cNvPr id="82948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82950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846138"/>
            <a:ext cx="7643813" cy="3225800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SzPct val="100000"/>
              <a:buFont typeface="Wingdings" panose="05000000000000000000" pitchFamily="2" charset="2"/>
              <a:buNone/>
            </a:pPr>
            <a:r>
              <a:rPr lang="en-US" altLang="zh-CN" b="1" i="1" kern="1200" dirty="0">
                <a:latin typeface="Times New Roman" panose="02020603050405020304" pitchFamily="18" charset="0"/>
                <a:ea typeface="楷体_GB2312"/>
                <a:cs typeface="+mn-cs"/>
              </a:rPr>
              <a:t>			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α → β</a:t>
            </a:r>
          </a:p>
          <a:p>
            <a:pPr marL="0" indent="0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8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无限制文法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Unrestricted Grammar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 </a:t>
            </a:r>
            <a:r>
              <a:rPr lang="en-US" altLang="zh-CN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/</a:t>
            </a:r>
            <a:r>
              <a:rPr lang="zh-CN" altLang="en-US" sz="28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短语结构文法</a:t>
            </a:r>
            <a:endParaRPr lang="en-US" altLang="zh-CN" sz="2800" b="1" kern="1200" dirty="0">
              <a:solidFill>
                <a:srgbClr val="FF0000"/>
              </a:solidFill>
              <a:latin typeface="楷体" pitchFamily="49" charset="-122"/>
              <a:ea typeface="华文楷体" panose="02010600040101010101" pitchFamily="2" charset="-122"/>
              <a:cs typeface="+mn-cs"/>
            </a:endParaRPr>
          </a:p>
          <a:p>
            <a:pPr marL="0" indent="0" eaLnBrk="1" hangingPunct="1">
              <a:lnSpc>
                <a:spcPts val="4000"/>
              </a:lnSpc>
              <a:buClrTx/>
              <a:buSzPct val="100000"/>
              <a:buFont typeface="Symbol" pitchFamily="18" charset="2"/>
              <a:buNone/>
            </a:pPr>
            <a:r>
              <a:rPr lang="en-US" altLang="zh-CN" sz="2800" b="1" kern="1200" dirty="0">
                <a:solidFill>
                  <a:srgbClr val="FF0000"/>
                </a:solidFill>
                <a:latin typeface="楷体" pitchFamily="49" charset="-122"/>
                <a:ea typeface="楷体_GB2312"/>
                <a:cs typeface="+mn-cs"/>
              </a:rPr>
              <a:t>   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Phrase Structure Grammar, PSG 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)</a:t>
            </a:r>
          </a:p>
          <a:p>
            <a:pPr lvl="1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∀</a:t>
            </a:r>
            <a:r>
              <a:rPr lang="en-US" altLang="zh-CN" sz="25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 → β</a:t>
            </a:r>
            <a:r>
              <a:rPr lang="zh-CN" altLang="en-US" sz="25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∈</a:t>
            </a:r>
            <a:r>
              <a:rPr lang="en-US" altLang="zh-CN" sz="25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P</a:t>
            </a:r>
            <a:r>
              <a:rPr lang="zh-CN" altLang="en-US" sz="25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α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中至少包含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个非终结符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marL="0" indent="0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8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0</a:t>
            </a:r>
            <a:r>
              <a:rPr lang="zh-CN" altLang="en-US" sz="28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型语言</a:t>
            </a:r>
            <a:endParaRPr lang="en-US" altLang="zh-CN" sz="2800" b="1" kern="1200" dirty="0">
              <a:solidFill>
                <a:srgbClr val="FF0000"/>
              </a:solidFill>
              <a:latin typeface="楷体" pitchFamily="49" charset="-122"/>
              <a:ea typeface="华文楷体" panose="02010600040101010101" pitchFamily="2" charset="-122"/>
              <a:cs typeface="+mn-cs"/>
            </a:endParaRPr>
          </a:p>
          <a:p>
            <a:pPr marL="552450" lvl="2" indent="-273050" eaLnBrk="1" hangingPunct="1">
              <a:lnSpc>
                <a:spcPts val="4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由</a:t>
            </a:r>
            <a:r>
              <a:rPr lang="en-US" altLang="zh-CN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0</a:t>
            </a: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型文法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</a:t>
            </a: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生成的语言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 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lang="zh-CN" altLang="en-US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indent="0" eaLnBrk="1" hangingPunct="1">
              <a:buSzPct val="100000"/>
              <a:buFont typeface="Symbol" pitchFamily="18" charset="2"/>
              <a:buNone/>
            </a:pPr>
            <a:endParaRPr lang="zh-CN" altLang="en-US" sz="2800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9155" name="标题 1"/>
          <p:cNvSpPr>
            <a:spLocks noGrp="1"/>
          </p:cNvSpPr>
          <p:nvPr>
            <p:ph type="title"/>
          </p:nvPr>
        </p:nvSpPr>
        <p:spPr>
          <a:xfrm>
            <a:off x="755650" y="214313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型文法</a:t>
            </a:r>
            <a:r>
              <a:rPr kumimoji="0" lang="en-US" altLang="zh-CN" sz="4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-0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Grammar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grpSp>
        <p:nvGrpSpPr>
          <p:cNvPr id="84996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84998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313" y="928688"/>
            <a:ext cx="871855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上下文有关文法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Context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Sensitive Grammar , CSG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sz="25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Aα</a:t>
            </a:r>
            <a:r>
              <a:rPr lang="en-US" altLang="zh-CN" sz="25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→ </a:t>
            </a:r>
            <a:r>
              <a:rPr lang="en-US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sz="25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β </a:t>
            </a:r>
            <a:r>
              <a:rPr lang="en-US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α</a:t>
            </a:r>
            <a:r>
              <a:rPr lang="en-US" altLang="zh-CN" sz="2500" b="1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l-GR" altLang="zh-CN" sz="25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ea typeface="楷体_GB2312" pitchFamily="49" charset="-122"/>
              </a:rPr>
              <a:t>β </a:t>
            </a:r>
            <a:r>
              <a:rPr lang="el-GR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≠ε</a:t>
            </a:r>
            <a:r>
              <a:rPr lang="en-US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l-GR" altLang="zh-CN" sz="25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25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or</a:t>
            </a:r>
            <a:endParaRPr kumimoji="0" lang="zh-CN" altLang="el-GR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 </a:t>
            </a:r>
            <a:r>
              <a:rPr lang="zh-CN" altLang="en-US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→ </a:t>
            </a:r>
            <a:r>
              <a:rPr lang="el-GR" altLang="zh-CN" sz="2500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ε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上下文有关语言（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型语言）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552450" marR="0" lvl="2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由上下文有关文法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(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型文法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生成的语言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428625" y="846138"/>
            <a:ext cx="8629650" cy="796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	</a:t>
            </a:r>
            <a:r>
              <a:rPr kumimoji="0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 → β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zh-CN" altLang="en-US" sz="2800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87044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87048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9" name="标题 1"/>
          <p:cNvSpPr txBox="1"/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型文法</a:t>
            </a:r>
            <a:r>
              <a:rPr kumimoji="0" lang="en-US" altLang="zh-CN" sz="4000" b="1" kern="1200" cap="none" spc="30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-1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Grammar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kumimoji="0" lang="en-US" altLang="zh-CN" sz="32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kumimoji="0" lang="zh-CN" altLang="en-US" sz="2800" b="1" kern="1200" cap="none" spc="0" normalizeH="0" baseline="0" noProof="0" dirty="0"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038" y="857250"/>
            <a:ext cx="8701088" cy="3225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上下文无关文法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Context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Free Grammar, CFG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∀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 → 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∈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α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∈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zh-CN" altLang="el-GR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7850" marR="0" lvl="1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产生式的一般形式：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A→β	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7892" name="矩形 3"/>
          <p:cNvSpPr>
            <a:spLocks noChangeArrowheads="1"/>
          </p:cNvSpPr>
          <p:nvPr/>
        </p:nvSpPr>
        <p:spPr bwMode="auto">
          <a:xfrm>
            <a:off x="3059113" y="3071813"/>
            <a:ext cx="2513013" cy="1857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例：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S → L | LT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 → L | D | TL | TD 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L → a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|…|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z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D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0 | 1 | 2 | 3 |…| 9</a:t>
            </a:r>
          </a:p>
        </p:txBody>
      </p:sp>
      <p:grpSp>
        <p:nvGrpSpPr>
          <p:cNvPr id="89092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89096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8" name="标题 1"/>
          <p:cNvSpPr txBox="1"/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型文法</a:t>
            </a:r>
            <a:r>
              <a:rPr kumimoji="0" lang="en-US" altLang="zh-CN" sz="4000" b="1" kern="1200" cap="none" spc="30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-2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Grammar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kumimoji="0" lang="en-US" altLang="zh-CN" sz="32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kumimoji="0" lang="zh-CN" altLang="en-US" sz="2800" b="1" kern="1200" cap="none" spc="0" normalizeH="0" baseline="0" noProof="0" dirty="0"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428625" y="846138"/>
            <a:ext cx="8629650" cy="796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	</a:t>
            </a:r>
            <a:r>
              <a:rPr kumimoji="0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 → β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zh-CN" altLang="en-US" sz="2800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  <p:bldP spid="37892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 bwMode="auto">
          <a:xfrm>
            <a:off x="300038" y="857250"/>
            <a:ext cx="8701088" cy="322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normAutofit/>
          </a:bodyPr>
          <a:lstStyle/>
          <a:p>
            <a:pPr marR="0" defTabSz="9144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	</a:t>
            </a:r>
            <a:endParaRPr kumimoji="0" lang="en-US" altLang="zh-CN" sz="24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274320" marR="0" indent="-274320" defTabSz="914400" eaLnBrk="1" fontAlgn="auto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kern="1200" cap="none" spc="0" normalizeH="0" baseline="0" noProof="0" dirty="0">
                <a:latin typeface="楷体" pitchFamily="49" charset="-122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kern="1200" cap="none" spc="0" normalizeH="0" baseline="0" noProof="0" dirty="0">
                <a:solidFill>
                  <a:srgbClr val="FF0000"/>
                </a:solidFill>
                <a:latin typeface="楷体" pitchFamily="49" charset="-122"/>
                <a:ea typeface="+mn-ea"/>
                <a:cs typeface="Times New Roman" panose="02020603050405020304" pitchFamily="18" charset="0"/>
              </a:rPr>
              <a:t>上下文无关文法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Context</a:t>
            </a: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Free Grammar, CFG </a:t>
            </a: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0" lang="en-US" altLang="zh-CN" sz="2800" b="1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∀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α → β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∈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l-GR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α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∈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5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l-GR" sz="2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7850" marR="0" lvl="1" indent="-274320" algn="l" defTabSz="914400" rtl="0" eaLnBrk="1" fontAlgn="auto" latinLnBrk="0" hangingPunct="1">
              <a:lnSpc>
                <a:spcPts val="4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产生式的一般形式：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A→β	</a:t>
            </a:r>
            <a:endParaRPr kumimoji="0" lang="zh-CN" altLang="en-US" sz="25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038" y="2643188"/>
            <a:ext cx="7843838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	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Times New Roman" panose="02020603050405020304" pitchFamily="18" charset="0"/>
              </a:rPr>
              <a:t>上下文无关语言（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型语言）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552450" marR="0" lvl="2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由上下文无关文法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(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型文法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生成的语言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91140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91144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9" name="标题 1"/>
          <p:cNvSpPr txBox="1"/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型文法</a:t>
            </a:r>
            <a:r>
              <a:rPr kumimoji="0" lang="en-US" altLang="zh-CN" sz="4000" b="1" kern="1200" cap="none" spc="30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-2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Grammar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kumimoji="0" lang="en-US" altLang="zh-CN" sz="32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kumimoji="0" lang="zh-CN" altLang="en-US" sz="2800" b="1" kern="1200" cap="none" spc="0" normalizeH="0" baseline="0" noProof="0" dirty="0"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428625" y="846138"/>
            <a:ext cx="8629650" cy="796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	</a:t>
            </a:r>
            <a:r>
              <a:rPr kumimoji="0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 → β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zh-CN" altLang="en-US" sz="2800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857250"/>
            <a:ext cx="8415337" cy="3225800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Clr>
                <a:srgbClr val="3333CC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			</a:t>
            </a:r>
            <a:endParaRPr lang="en-US" altLang="zh-CN" b="1" kern="1200" dirty="0"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marL="0" indent="0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8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正则文法</a:t>
            </a:r>
            <a:r>
              <a:rPr lang="en-US" altLang="zh-CN" sz="2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Regular Grammar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RG 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endPara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5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右线性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Right Linear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25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文法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wB</a:t>
            </a:r>
            <a:r>
              <a:rPr lang="zh-CN" altLang="en-US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或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5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左线性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Left Linear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  </a:t>
            </a:r>
            <a:r>
              <a:rPr lang="zh-CN" altLang="en-US" sz="25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文法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</a:t>
            </a:r>
            <a:r>
              <a:rPr lang="en-US" altLang="zh-CN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Bw 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或 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左线性文法和右线性文法都称为正则文法</a:t>
            </a:r>
          </a:p>
          <a:p>
            <a:pPr marL="0" indent="0" eaLnBrk="1" hangingPunct="1">
              <a:buSzPct val="100000"/>
            </a:pPr>
            <a:endParaRPr lang="zh-CN" altLang="en-US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0" indent="0" eaLnBrk="1" hangingPunct="1">
              <a:buSzPct val="100000"/>
            </a:pPr>
            <a:endParaRPr lang="zh-CN" altLang="en-US" kern="1200" dirty="0"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65100" y="3286125"/>
            <a:ext cx="5621338" cy="1590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marR="0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例</a:t>
            </a:r>
            <a:r>
              <a:rPr kumimoji="0" lang="zh-CN" altLang="en-US" sz="2000" b="1" kern="1200" cap="none" spc="0" normalizeH="0" baseline="0" noProof="0">
                <a:latin typeface="Tahoma" panose="020B0604030504040204" pitchFamily="34" charset="0"/>
                <a:ea typeface="楷体" pitchFamily="49" charset="-122"/>
                <a:cs typeface="Times New Roman" panose="02020603050405020304" pitchFamily="18" charset="0"/>
              </a:rPr>
              <a:t>（</a:t>
            </a:r>
            <a:r>
              <a:rPr kumimoji="0" lang="zh-CN" altLang="en-US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右线性文法</a:t>
            </a:r>
            <a:r>
              <a:rPr kumimoji="0" lang="zh-CN" altLang="en-US" sz="2000" b="1" kern="1200" cap="none" spc="0" normalizeH="0" baseline="0" noProof="0">
                <a:latin typeface="Tahoma" panose="020B0604030504040204" pitchFamily="34" charset="0"/>
                <a:ea typeface="楷体" pitchFamily="49" charset="-122"/>
                <a:cs typeface="Times New Roman" panose="02020603050405020304" pitchFamily="18" charset="0"/>
              </a:rPr>
              <a:t>）</a:t>
            </a:r>
            <a:endParaRPr kumimoji="0" lang="en-US" altLang="zh-CN" sz="2000" b="1" kern="1200" cap="none" spc="0" normalizeH="0" baseline="0" noProof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kern="1200" cap="none" spc="0" normalizeH="0" baseline="0" noProof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S → 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a </a:t>
            </a:r>
            <a:r>
              <a:rPr kumimoji="0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b </a:t>
            </a:r>
            <a:r>
              <a:rPr kumimoji="0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| 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| 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000" b="1" kern="1200" cap="none" spc="0" normalizeH="0" baseline="0" noProof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kern="1200" cap="none" spc="0" normalizeH="0" baseline="0" noProof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② 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S → 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aT | bT | cT | dT </a:t>
            </a:r>
            <a:endParaRPr kumimoji="1" lang="en-US" altLang="zh-CN" sz="2000" b="1" i="1" kern="1200" cap="none" spc="0" normalizeH="0" baseline="0" noProof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kern="1200" cap="none" spc="0" normalizeH="0" baseline="0" noProof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③ 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 → 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| 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| 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|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d 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| </a:t>
            </a:r>
            <a:r>
              <a:rPr kumimoji="1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0 | 1 | 2 | 3 | 4 | 5</a:t>
            </a:r>
          </a:p>
          <a:p>
            <a:pPr marR="0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kern="1200" cap="none" spc="0" normalizeH="0" baseline="0" noProof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④ 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 → </a:t>
            </a:r>
            <a:r>
              <a:rPr kumimoji="0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aT | bT | cT | dT 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| </a:t>
            </a:r>
            <a:r>
              <a:rPr kumimoji="1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 | </a:t>
            </a:r>
            <a:r>
              <a:rPr kumimoji="1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 | </a:t>
            </a:r>
            <a:r>
              <a:rPr kumimoji="1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 | </a:t>
            </a:r>
            <a:r>
              <a:rPr kumimoji="1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 | </a:t>
            </a:r>
            <a:r>
              <a:rPr kumimoji="1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 | </a:t>
            </a:r>
            <a:r>
              <a:rPr kumimoji="1" lang="en-US" altLang="zh-CN" sz="2000" b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2000" b="1" i="1" kern="1200" cap="none" spc="0" normalizeH="0" baseline="0" noProof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 </a:t>
            </a:r>
            <a:endParaRPr kumimoji="1" lang="zh-CN" altLang="en-US" sz="2000" b="1" kern="1200" cap="none" spc="0" normalizeH="0" baseline="0" noProof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93188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93193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10" name="标题 1"/>
          <p:cNvSpPr txBox="1"/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型文法</a:t>
            </a:r>
            <a:r>
              <a:rPr kumimoji="0" lang="en-US" altLang="zh-CN" sz="4000" b="1" kern="1200" cap="none" spc="30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Grammar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kumimoji="0" lang="en-US" altLang="zh-CN" sz="32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kumimoji="0" lang="zh-CN" altLang="en-US" sz="3600" b="1" kern="1200" cap="none" spc="0" normalizeH="0" baseline="0" noProof="0" dirty="0"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428625" y="846138"/>
            <a:ext cx="8629650" cy="796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	</a:t>
            </a:r>
            <a:r>
              <a:rPr kumimoji="0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 → β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zh-CN" altLang="en-US" sz="2800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929313" y="3286125"/>
            <a:ext cx="3046413" cy="15906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58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98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40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ts val="2000"/>
              </a:lnSpc>
              <a:buClrTx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文法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G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（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上下文无关文法）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lvl="0" indent="0" eaLnBrk="1" hangingPunct="1">
              <a:lnSpc>
                <a:spcPts val="2000"/>
              </a:lnSpc>
              <a:buClr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①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 → L | LT</a:t>
            </a:r>
          </a:p>
          <a:p>
            <a:pPr marL="0" lvl="0" indent="0" eaLnBrk="1" hangingPunct="1">
              <a:lnSpc>
                <a:spcPts val="2000"/>
              </a:lnSpc>
              <a:buClr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②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T → L | D | TL | TD </a:t>
            </a:r>
          </a:p>
          <a:p>
            <a:pPr marL="0" lvl="0" indent="0" eaLnBrk="1" hangingPunct="1">
              <a:lnSpc>
                <a:spcPts val="2000"/>
              </a:lnSpc>
              <a:buClr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③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L → a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|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b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|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 |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d</a:t>
            </a:r>
          </a:p>
          <a:p>
            <a:pPr marL="0" lvl="0" indent="0" eaLnBrk="1" hangingPunct="1">
              <a:lnSpc>
                <a:spcPts val="2000"/>
              </a:lnSpc>
              <a:buClrTx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④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D →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</a:rPr>
              <a:t>0 | 1 | 2 | 3 | 4 |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1" grpId="0" animBg="1"/>
      <p:bldP spid="11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3143250"/>
            <a:ext cx="7772400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正则语言（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型语言）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由正则文法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(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型文法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生成的语言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357188" y="857250"/>
            <a:ext cx="8415338" cy="3225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spcBef>
                <a:spcPct val="20000"/>
              </a:spcBef>
              <a:buClr>
                <a:srgbClr val="3333CC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	</a:t>
            </a:r>
            <a:endParaRPr kumimoji="0" lang="en-US" altLang="zh-CN" sz="2400" b="1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kern="1200" cap="none" spc="0" normalizeH="0" baseline="0" noProof="0" dirty="0">
                <a:latin typeface="楷体" pitchFamily="49" charset="-122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kern="1200" cap="none" spc="0" normalizeH="0" baseline="0" noProof="0" dirty="0">
                <a:solidFill>
                  <a:srgbClr val="FF0000"/>
                </a:solidFill>
                <a:latin typeface="楷体" pitchFamily="49" charset="-122"/>
                <a:ea typeface="+mn-ea"/>
                <a:cs typeface="Times New Roman" panose="02020603050405020304" pitchFamily="18" charset="0"/>
              </a:rPr>
              <a:t>正则文法</a:t>
            </a:r>
            <a:r>
              <a:rPr kumimoji="0" lang="en-US" altLang="zh-CN" sz="2000" b="1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楷体_GB2312"/>
              </a:rPr>
              <a:t>Regular Grammar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楷体_GB2312"/>
              </a:rPr>
              <a:t> RG </a:t>
            </a: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0" lang="en-US" altLang="zh-CN" sz="2800" b="1" kern="1200" cap="none" spc="0" normalizeH="0" baseline="0" noProof="0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右线性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Right Linear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文法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wB</a:t>
            </a:r>
            <a:r>
              <a:rPr kumimoji="0" lang="zh-CN" altLang="en-US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或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左线性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Left Linear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文法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Bw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或 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→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w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30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左线性文法和右线性文法都称为正则文法</a:t>
            </a:r>
          </a:p>
        </p:txBody>
      </p:sp>
      <p:grpSp>
        <p:nvGrpSpPr>
          <p:cNvPr id="95236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95241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9" name="标题 1"/>
          <p:cNvSpPr txBox="1"/>
          <p:nvPr/>
        </p:nvSpPr>
        <p:spPr bwMode="auto">
          <a:xfrm>
            <a:off x="755650" y="214313"/>
            <a:ext cx="7931150" cy="358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3000" b="1" kern="1200" cap="none" spc="300" normalizeH="0" baseline="0" noProof="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型文法</a:t>
            </a:r>
            <a:r>
              <a:rPr kumimoji="0" lang="en-US" altLang="zh-CN" sz="4000" b="1" kern="1200" cap="none" spc="30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-3</a:t>
            </a:r>
            <a:r>
              <a:rPr kumimoji="0" lang="en-US" altLang="zh-CN" sz="24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Grammar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kumimoji="0" lang="en-US" altLang="zh-CN" sz="32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endParaRPr kumimoji="0" lang="zh-CN" altLang="en-US" sz="2800" b="1" kern="1200" cap="none" spc="0" normalizeH="0" baseline="0" noProof="0" dirty="0">
              <a:latin typeface="Times New Roman" panose="02020603050405020304" pitchFamily="18" charset="0"/>
              <a:ea typeface="黑体" pitchFamily="49" charset="-122"/>
              <a:cs typeface="+mj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428625" y="846138"/>
            <a:ext cx="8629650" cy="796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kern="120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	</a:t>
            </a:r>
            <a:r>
              <a:rPr kumimoji="0" lang="en-US" altLang="zh-CN" sz="28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 → β</a:t>
            </a:r>
            <a:endParaRPr kumimoji="0" lang="zh-CN" altLang="en-US" sz="25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zh-CN" altLang="en-US" sz="2800" kern="1200" cap="none" spc="0" normalizeH="0" baseline="0" noProof="0" dirty="0">
              <a:solidFill>
                <a:schemeClr val="tx2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28688" y="4232275"/>
            <a:ext cx="5954713" cy="4778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楷体_GB2312"/>
              </a:rPr>
              <a:t>正则文法能描述程序设计语言的多数单词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500063" y="858838"/>
            <a:ext cx="8272462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逐级限制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0型文法：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中至少包含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个非终结符</a:t>
            </a:r>
            <a:endParaRPr lang="en-US" altLang="zh-CN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1型文法（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CSG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 ：</a:t>
            </a:r>
            <a:r>
              <a:rPr lang="en-US" altLang="zh-CN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 </a:t>
            </a:r>
            <a:r>
              <a:rPr lang="zh-CN" altLang="en-US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→ </a:t>
            </a:r>
            <a:r>
              <a:rPr lang="el-GR" altLang="zh-CN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ε</a:t>
            </a:r>
            <a:r>
              <a:rPr lang="en-US" altLang="el-GR" b="1" i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l-GR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 Bold" panose="02020603050405020304" charset="0"/>
                <a:ea typeface="楷体_GB2312" pitchFamily="49" charset="-122"/>
                <a:cs typeface="Times New Roman Bold" panose="02020603050405020304" charset="0"/>
                <a:sym typeface="+mn-ea"/>
              </a:rPr>
              <a:t>or</a:t>
            </a:r>
            <a:r>
              <a:rPr lang="zh-CN" altLang="el-GR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｜</a:t>
            </a:r>
            <a:r>
              <a:rPr lang="el-GR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α</a:t>
            </a:r>
            <a:r>
              <a:rPr lang="zh-CN" altLang="el-GR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｜≤｜</a:t>
            </a:r>
            <a:r>
              <a:rPr lang="el-GR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β</a:t>
            </a:r>
            <a:r>
              <a:rPr lang="zh-CN" altLang="el-GR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｜</a:t>
            </a:r>
            <a:endParaRPr lang="en-US" altLang="zh-CN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2型文法（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CFG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 ：</a:t>
            </a:r>
            <a:r>
              <a:rPr lang="el-GR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α</a:t>
            </a:r>
            <a:r>
              <a:rPr lang="el-GR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∈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V</a:t>
            </a:r>
            <a:r>
              <a:rPr lang="en-US" altLang="zh-CN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3型文法（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RG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）：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wB</a:t>
            </a:r>
            <a:r>
              <a:rPr lang="zh-CN" altLang="en-US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或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(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Bw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或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逐级包含</a:t>
            </a:r>
            <a:endParaRPr lang="en-US" altLang="zh-CN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zh-CN" altLang="en-US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84163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四种文法之间的关系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1979613" y="2947988"/>
            <a:ext cx="4519612" cy="2071687"/>
            <a:chOff x="1535" y="1681"/>
            <a:chExt cx="2533" cy="1706"/>
          </a:xfrm>
        </p:grpSpPr>
        <p:sp>
          <p:nvSpPr>
            <p:cNvPr id="3" name="Oval 5"/>
            <p:cNvSpPr>
              <a:spLocks noChangeArrowheads="1"/>
            </p:cNvSpPr>
            <p:nvPr/>
          </p:nvSpPr>
          <p:spPr bwMode="auto">
            <a:xfrm>
              <a:off x="1535" y="1681"/>
              <a:ext cx="2533" cy="170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302" name="Oval 6"/>
            <p:cNvSpPr>
              <a:spLocks noChangeArrowheads="1"/>
            </p:cNvSpPr>
            <p:nvPr/>
          </p:nvSpPr>
          <p:spPr bwMode="auto">
            <a:xfrm>
              <a:off x="1869" y="2107"/>
              <a:ext cx="1876" cy="128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Oval 7"/>
            <p:cNvSpPr>
              <a:spLocks noChangeArrowheads="1"/>
            </p:cNvSpPr>
            <p:nvPr/>
          </p:nvSpPr>
          <p:spPr bwMode="auto">
            <a:xfrm>
              <a:off x="2123" y="2535"/>
              <a:ext cx="1296" cy="85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7291" name="Oval 8"/>
            <p:cNvSpPr/>
            <p:nvPr/>
          </p:nvSpPr>
          <p:spPr>
            <a:xfrm>
              <a:off x="2256" y="2832"/>
              <a:ext cx="1049" cy="528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buNone/>
              </a:pPr>
              <a:endParaRPr lang="zh-CN" altLang="en-US" sz="1400" b="1" dirty="0">
                <a:latin typeface="Times New Roman" panose="02020603050405020304" pitchFamily="18" charset="0"/>
                <a:ea typeface="楷体" pitchFamily="49" charset="-122"/>
              </a:endParaRPr>
            </a:p>
          </p:txBody>
        </p:sp>
        <p:sp>
          <p:nvSpPr>
            <p:cNvPr id="97292" name="Text Box 9"/>
            <p:cNvSpPr txBox="1"/>
            <p:nvPr/>
          </p:nvSpPr>
          <p:spPr>
            <a:xfrm>
              <a:off x="2310" y="2557"/>
              <a:ext cx="103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  <a:ea typeface="楷体" pitchFamily="49" charset="-122"/>
                </a:rPr>
                <a:t>2型文法集合</a:t>
              </a:r>
            </a:p>
          </p:txBody>
        </p:sp>
        <p:sp>
          <p:nvSpPr>
            <p:cNvPr id="97293" name="Text Box 10"/>
            <p:cNvSpPr txBox="1"/>
            <p:nvPr/>
          </p:nvSpPr>
          <p:spPr>
            <a:xfrm>
              <a:off x="2310" y="2175"/>
              <a:ext cx="98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itchFamily="49" charset="-122"/>
                </a:rPr>
                <a:t>1型文法集合</a:t>
              </a:r>
            </a:p>
          </p:txBody>
        </p:sp>
        <p:sp>
          <p:nvSpPr>
            <p:cNvPr id="51211" name="Text Box 11"/>
            <p:cNvSpPr txBox="1">
              <a:spLocks noChangeArrowheads="1"/>
            </p:cNvSpPr>
            <p:nvPr/>
          </p:nvSpPr>
          <p:spPr bwMode="auto">
            <a:xfrm>
              <a:off x="2060" y="1763"/>
              <a:ext cx="1383" cy="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0型文法集合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7295" name="Text Box 12"/>
            <p:cNvSpPr txBox="1"/>
            <p:nvPr/>
          </p:nvSpPr>
          <p:spPr>
            <a:xfrm>
              <a:off x="2329" y="2940"/>
              <a:ext cx="102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000" b="1" dirty="0">
                  <a:latin typeface="Times New Roman" panose="02020603050405020304" pitchFamily="18" charset="0"/>
                  <a:ea typeface="楷体" pitchFamily="49" charset="-122"/>
                </a:rPr>
                <a:t>3型文法集合</a:t>
              </a:r>
            </a:p>
          </p:txBody>
        </p:sp>
      </p:grpSp>
      <p:grpSp>
        <p:nvGrpSpPr>
          <p:cNvPr id="97285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4" name="五边形 13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97287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003800" y="1714500"/>
            <a:ext cx="3783013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500" b="1" kern="1200" cap="none" spc="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CFG</a:t>
            </a:r>
            <a:r>
              <a:rPr kumimoji="0" lang="zh-CN" altLang="en-US" sz="35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的分析树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72088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500" b="1" kern="1200" cap="none" spc="0" normalizeH="0" baseline="0" noProof="0" dirty="0">
                <a:solidFill>
                  <a:schemeClr val="bg1"/>
                </a:solidFill>
                <a:latin typeface="+mj-lt"/>
                <a:ea typeface="楷体" pitchFamily="49" charset="-122"/>
                <a:cs typeface="+mj-cs"/>
              </a:rPr>
              <a:t> </a:t>
            </a:r>
            <a:endParaRPr kumimoji="0" lang="zh-CN" altLang="en-US" sz="2000" b="1" kern="1200" cap="none" spc="6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072063" y="1344613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kern="1200" cap="none" spc="300" normalizeH="0" baseline="0" noProof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第二章 语言及其文法</a:t>
            </a:r>
            <a:endParaRPr kumimoji="0" lang="zh-CN" altLang="en-US" sz="800" kern="1200" cap="none" spc="300" normalizeH="0" baseline="0" noProof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142875" y="571500"/>
            <a:ext cx="8677275" cy="51435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6580" marR="0" lvl="1" indent="-274320" algn="l" defTabSz="914400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根节点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的标号为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文法开始符号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6580" marR="0" lvl="1" indent="-274320" algn="l" defTabSz="914400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内部结点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表示对一个产生式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A→β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的应用，该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结点的标号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是此产生式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左部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。该结点的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子结点的标号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从左到右构成了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产生式的右部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β</a:t>
            </a:r>
          </a:p>
          <a:p>
            <a:pPr marL="576580" marR="0" lvl="1" indent="-274320" algn="l" defTabSz="914400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叶结点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的标号既可以是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非终结符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，也可以是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终结符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。从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+mn-cs"/>
              </a:rPr>
              <a:t>左到右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排列叶节点得到的符号串称为是这棵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树的产出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yield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或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边缘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f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rontier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)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CFG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的分析树</a:t>
            </a:r>
          </a:p>
        </p:txBody>
      </p:sp>
      <p:pic>
        <p:nvPicPr>
          <p:cNvPr id="103428" name="Picture 5"/>
          <p:cNvPicPr>
            <a:picLocks noChangeAspect="1"/>
          </p:cNvPicPr>
          <p:nvPr/>
        </p:nvPicPr>
        <p:blipFill>
          <a:blip r:embed="rId3">
            <a:lum contrast="10000"/>
          </a:blip>
          <a:stretch>
            <a:fillRect/>
          </a:stretch>
        </p:blipFill>
        <p:spPr>
          <a:xfrm>
            <a:off x="3509963" y="890588"/>
            <a:ext cx="2286000" cy="1914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54163" y="890588"/>
            <a:ext cx="1741488" cy="1914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/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G</a:t>
            </a:r>
            <a:r>
              <a:rPr kumimoji="0" lang="zh-CN" altLang="en-US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：</a:t>
            </a:r>
            <a:endParaRPr kumimoji="0" lang="en-US" altLang="zh-CN" b="1" kern="1200" cap="none" spc="0" normalizeH="0" baseline="0" noProof="0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① </a:t>
            </a: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E + E            </a:t>
            </a: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②</a:t>
            </a: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E * E      </a:t>
            </a: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③</a:t>
            </a: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- E </a:t>
            </a: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④ </a:t>
            </a: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</a:t>
            </a:r>
            <a:r>
              <a:rPr kumimoji="0" lang="en-US" altLang="zh-CN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</a:t>
            </a:r>
            <a:r>
              <a:rPr kumimoji="0" lang="en-US" altLang="zh-CN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)</a:t>
            </a: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zh-CN" altLang="zh-CN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⑤</a:t>
            </a: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</a:t>
            </a:r>
            <a:r>
              <a:rPr kumimoji="0" lang="en-US" altLang="zh-CN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id</a:t>
            </a:r>
          </a:p>
        </p:txBody>
      </p:sp>
      <p:grpSp>
        <p:nvGrpSpPr>
          <p:cNvPr id="103430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03432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内容占位符 2"/>
          <p:cNvSpPr>
            <a:spLocks noGrp="1"/>
          </p:cNvSpPr>
          <p:nvPr>
            <p:ph idx="1"/>
          </p:nvPr>
        </p:nvSpPr>
        <p:spPr>
          <a:xfrm>
            <a:off x="442913" y="820738"/>
            <a:ext cx="7915275" cy="1535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给定一个推导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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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…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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α</a:t>
            </a:r>
            <a:r>
              <a:rPr kumimoji="0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，对于推导过程中得到的每一个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句型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α</a:t>
            </a:r>
            <a:r>
              <a:rPr kumimoji="0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，都可以构造出一个边缘为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α</a:t>
            </a:r>
            <a:r>
              <a:rPr kumimoji="0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分析树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分析树是推导的图形化表示</a:t>
            </a:r>
          </a:p>
        </p:txBody>
      </p:sp>
      <p:grpSp>
        <p:nvGrpSpPr>
          <p:cNvPr id="105476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05509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286000" y="2841625"/>
            <a:ext cx="1741488" cy="1928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/>
          <a:lstStyle/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文法：</a:t>
            </a:r>
            <a:endParaRPr kumimoji="0" lang="en-US" altLang="zh-CN" sz="2000" b="1" kern="1200" cap="none" spc="0" normalizeH="0" baseline="0" noProof="0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① 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E + E            </a:t>
            </a: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②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E * E      </a:t>
            </a: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③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- E </a:t>
            </a: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④ 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</a:t>
            </a: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E </a:t>
            </a: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)</a:t>
            </a:r>
          </a:p>
          <a:p>
            <a:pPr marR="0" algn="just" defTabSz="914400" eaLnBrk="1" hangingPunct="1">
              <a:lnSpc>
                <a:spcPts val="2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zh-CN" altLang="zh-CN" sz="2000" b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⑤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 → </a:t>
            </a:r>
            <a:r>
              <a:rPr kumimoji="0" lang="en-US" altLang="zh-CN" sz="2000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id</a:t>
            </a:r>
          </a:p>
        </p:txBody>
      </p:sp>
      <p:sp>
        <p:nvSpPr>
          <p:cNvPr id="11" name="矩形 10"/>
          <p:cNvSpPr/>
          <p:nvPr/>
        </p:nvSpPr>
        <p:spPr>
          <a:xfrm>
            <a:off x="768350" y="2317750"/>
            <a:ext cx="210185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0000"/>
              </a:spcBef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推导过程：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itchFamily="18" charset="2"/>
              </a:rPr>
              <a:t> </a:t>
            </a:r>
            <a:endParaRPr lang="zh-CN" altLang="en-US" dirty="0">
              <a:latin typeface="Tahom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46350" y="2316163"/>
            <a:ext cx="4413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38463" y="2317750"/>
            <a:ext cx="124936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 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090988" y="2328863"/>
            <a:ext cx="156686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E+E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556250" y="2309813"/>
            <a:ext cx="160813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 </a:t>
            </a: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107238" y="2284413"/>
            <a:ext cx="1712912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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id+id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 </a:t>
            </a:r>
            <a:endParaRPr lang="zh-CN" altLang="en-US" sz="20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组合 50"/>
          <p:cNvGrpSpPr/>
          <p:nvPr/>
        </p:nvGrpSpPr>
        <p:grpSpPr>
          <a:xfrm>
            <a:off x="4357688" y="2786063"/>
            <a:ext cx="2428875" cy="2139950"/>
            <a:chOff x="3286368" y="2932811"/>
            <a:chExt cx="2428347" cy="2139955"/>
          </a:xfrm>
        </p:grpSpPr>
        <p:sp>
          <p:nvSpPr>
            <p:cNvPr id="42" name="矩形 41"/>
            <p:cNvSpPr/>
            <p:nvPr/>
          </p:nvSpPr>
          <p:spPr>
            <a:xfrm>
              <a:off x="3286368" y="2974086"/>
              <a:ext cx="2428347" cy="209868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5506" name="矩形 9"/>
            <p:cNvSpPr/>
            <p:nvPr/>
          </p:nvSpPr>
          <p:spPr>
            <a:xfrm>
              <a:off x="4660518" y="2932811"/>
              <a:ext cx="30518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16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05507" name="矩形 47"/>
            <p:cNvSpPr/>
            <p:nvPr/>
          </p:nvSpPr>
          <p:spPr>
            <a:xfrm>
              <a:off x="3286368" y="2988375"/>
              <a:ext cx="1210315" cy="4001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分析树</a:t>
              </a:r>
              <a:r>
                <a:rPr lang="zh-CN" altLang="en-US" sz="2000" b="1" dirty="0">
                  <a:latin typeface="楷体_GB2312"/>
                  <a:ea typeface="华文楷体" panose="02010600040101010101" pitchFamily="2" charset="-122"/>
                </a:rPr>
                <a:t>：</a:t>
              </a:r>
              <a:endParaRPr lang="zh-CN" altLang="en-US" sz="2000" b="1" dirty="0"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5" name="组合 24"/>
          <p:cNvGrpSpPr/>
          <p:nvPr/>
        </p:nvGrpSpPr>
        <p:grpSpPr>
          <a:xfrm>
            <a:off x="5573713" y="3143250"/>
            <a:ext cx="819150" cy="431800"/>
            <a:chOff x="4501997" y="3289640"/>
            <a:chExt cx="819455" cy="431182"/>
          </a:xfrm>
        </p:grpSpPr>
        <p:cxnSp>
          <p:nvCxnSpPr>
            <p:cNvPr id="29" name="直接连接符 28"/>
            <p:cNvCxnSpPr/>
            <p:nvPr/>
          </p:nvCxnSpPr>
          <p:spPr bwMode="auto">
            <a:xfrm rot="5400000">
              <a:off x="4643466" y="3302193"/>
              <a:ext cx="142671" cy="1429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 bwMode="auto">
            <a:xfrm rot="16200000" flipH="1">
              <a:off x="4894385" y="3306981"/>
              <a:ext cx="142671" cy="1079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504" name="矩形 21"/>
            <p:cNvSpPr/>
            <p:nvPr/>
          </p:nvSpPr>
          <p:spPr>
            <a:xfrm>
              <a:off x="4501997" y="3351490"/>
              <a:ext cx="819455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E </a:t>
              </a: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8" name="组合 38"/>
          <p:cNvGrpSpPr/>
          <p:nvPr/>
        </p:nvGrpSpPr>
        <p:grpSpPr>
          <a:xfrm>
            <a:off x="5640388" y="3578225"/>
            <a:ext cx="1011237" cy="458788"/>
            <a:chOff x="4568297" y="3723878"/>
            <a:chExt cx="1011815" cy="459804"/>
          </a:xfrm>
        </p:grpSpPr>
        <p:cxnSp>
          <p:nvCxnSpPr>
            <p:cNvPr id="30" name="直接连接符 29"/>
            <p:cNvCxnSpPr/>
            <p:nvPr/>
          </p:nvCxnSpPr>
          <p:spPr bwMode="auto">
            <a:xfrm rot="5400000">
              <a:off x="4788968" y="3723995"/>
              <a:ext cx="143191" cy="1429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 bwMode="auto">
            <a:xfrm rot="16200000" flipH="1">
              <a:off x="5238488" y="3741468"/>
              <a:ext cx="143191" cy="1080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 bwMode="auto">
            <a:xfrm rot="5400000">
              <a:off x="5002610" y="3794680"/>
              <a:ext cx="143191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501" name="矩形 25"/>
            <p:cNvSpPr/>
            <p:nvPr/>
          </p:nvSpPr>
          <p:spPr>
            <a:xfrm>
              <a:off x="4568297" y="3814350"/>
              <a:ext cx="1011815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   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  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" name="组合 42"/>
          <p:cNvGrpSpPr/>
          <p:nvPr/>
        </p:nvGrpSpPr>
        <p:grpSpPr>
          <a:xfrm>
            <a:off x="5715000" y="4054475"/>
            <a:ext cx="1028700" cy="458788"/>
            <a:chOff x="4572000" y="3723878"/>
            <a:chExt cx="1027845" cy="459804"/>
          </a:xfrm>
        </p:grpSpPr>
        <p:cxnSp>
          <p:nvCxnSpPr>
            <p:cNvPr id="44" name="直接连接符 43"/>
            <p:cNvCxnSpPr/>
            <p:nvPr/>
          </p:nvCxnSpPr>
          <p:spPr bwMode="auto">
            <a:xfrm rot="5400000">
              <a:off x="4789091" y="3724096"/>
              <a:ext cx="143191" cy="1427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 bwMode="auto">
            <a:xfrm rot="16200000" flipH="1">
              <a:off x="5237979" y="3741544"/>
              <a:ext cx="143191" cy="1078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 bwMode="auto">
            <a:xfrm rot="5400000">
              <a:off x="5002430" y="3794681"/>
              <a:ext cx="143191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97" name="矩形 46"/>
            <p:cNvSpPr/>
            <p:nvPr/>
          </p:nvSpPr>
          <p:spPr>
            <a:xfrm>
              <a:off x="4572000" y="3814350"/>
              <a:ext cx="1027845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  +   E </a:t>
              </a: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0" name="组合 52"/>
          <p:cNvGrpSpPr/>
          <p:nvPr/>
        </p:nvGrpSpPr>
        <p:grpSpPr>
          <a:xfrm>
            <a:off x="5715000" y="4487863"/>
            <a:ext cx="377825" cy="458787"/>
            <a:chOff x="5275094" y="4643438"/>
            <a:chExt cx="377026" cy="457884"/>
          </a:xfrm>
        </p:grpSpPr>
        <p:cxnSp>
          <p:nvCxnSpPr>
            <p:cNvPr id="54" name="直接连接符 53"/>
            <p:cNvCxnSpPr/>
            <p:nvPr/>
          </p:nvCxnSpPr>
          <p:spPr bwMode="auto">
            <a:xfrm rot="5400000">
              <a:off x="5364588" y="4713943"/>
              <a:ext cx="142594" cy="15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93" name="矩形 54"/>
            <p:cNvSpPr/>
            <p:nvPr/>
          </p:nvSpPr>
          <p:spPr>
            <a:xfrm>
              <a:off x="5275094" y="4731990"/>
              <a:ext cx="3770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2" name="组合 40"/>
          <p:cNvGrpSpPr/>
          <p:nvPr/>
        </p:nvGrpSpPr>
        <p:grpSpPr>
          <a:xfrm>
            <a:off x="6346825" y="4497388"/>
            <a:ext cx="376238" cy="457200"/>
            <a:chOff x="5275094" y="4643438"/>
            <a:chExt cx="377026" cy="457884"/>
          </a:xfrm>
        </p:grpSpPr>
        <p:cxnSp>
          <p:nvCxnSpPr>
            <p:cNvPr id="37" name="直接连接符 36"/>
            <p:cNvCxnSpPr/>
            <p:nvPr/>
          </p:nvCxnSpPr>
          <p:spPr bwMode="auto">
            <a:xfrm rot="5400000">
              <a:off x="5363427" y="4714187"/>
              <a:ext cx="143089" cy="15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91" name="矩形 49"/>
            <p:cNvSpPr/>
            <p:nvPr/>
          </p:nvSpPr>
          <p:spPr>
            <a:xfrm>
              <a:off x="5275094" y="4731990"/>
              <a:ext cx="37702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4" grpId="0"/>
      <p:bldP spid="15" grpId="0"/>
      <p:bldP spid="16" grpId="0"/>
      <p:bldP spid="18" grpId="0"/>
      <p:bldP spid="1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内容占位符 2"/>
          <p:cNvSpPr>
            <a:spLocks noGrp="1"/>
          </p:cNvSpPr>
          <p:nvPr>
            <p:ph idx="1"/>
          </p:nvPr>
        </p:nvSpPr>
        <p:spPr>
          <a:xfrm>
            <a:off x="442913" y="820738"/>
            <a:ext cx="8161338" cy="1916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给定一个句型，其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分析树中的每一棵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子树的边缘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称为该句型的一个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短语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phrase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) </a:t>
            </a:r>
          </a:p>
          <a:p>
            <a:pPr marL="273050" marR="0" lvl="0" indent="-273050" algn="l" defTabSz="914400" rtl="0" eaLnBrk="1" fontAlgn="base" latinLnBrk="0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/>
                <a:sym typeface="+mn-ea"/>
              </a:rPr>
              <a:t>如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urier"/>
                <a:sym typeface="+mn-ea"/>
              </a:rPr>
              <a:t>果子树只有父子两代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"/>
                <a:sym typeface="+mn-ea"/>
              </a:rPr>
              <a:t>结点，那么这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Courier"/>
                <a:sym typeface="+mn-ea"/>
              </a:rPr>
              <a:t>棵子树的边缘称为该句型的一个</a:t>
            </a:r>
            <a:r>
              <a:rPr lang="zh-CN" altLang="en-US" b="1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urier"/>
                <a:sym typeface="+mn-ea"/>
              </a:rPr>
              <a:t>直接短语</a:t>
            </a:r>
            <a:r>
              <a:rPr lang="zh-CN" altLang="en-US" b="1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ea typeface="楷体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b="1" i="1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ea typeface="楷体" pitchFamily="49" charset="-122"/>
                <a:cs typeface="Times New Roman" panose="02020603050405020304" pitchFamily="18" charset="0"/>
                <a:sym typeface="+mn-ea"/>
              </a:rPr>
              <a:t>immediate</a:t>
            </a:r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ea typeface="楷体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ea typeface="楷体" pitchFamily="49" charset="-122"/>
                <a:cs typeface="Times New Roman" panose="02020603050405020304" pitchFamily="18" charset="0"/>
                <a:sym typeface="+mn-ea"/>
              </a:rPr>
              <a:t>phrase</a:t>
            </a:r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ea typeface="楷体" pitchFamily="49" charset="-122"/>
                <a:cs typeface="Times New Roman" panose="02020603050405020304" pitchFamily="18" charset="0"/>
                <a:sym typeface="+mn-ea"/>
              </a:rPr>
              <a:t>)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Courier"/>
            </a:endParaRPr>
          </a:p>
          <a:p>
            <a:pPr marL="576580" marR="0" lvl="1" indent="-27305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03530" marR="0" lvl="1" indent="0" algn="l" defTabSz="914400" rtl="0" eaLnBrk="1" fontAlgn="base" latinLnBrk="0" hangingPunct="1">
              <a:lnSpc>
                <a:spcPts val="2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itchFamily="18" charset="2"/>
              <a:buNone/>
              <a:defRPr/>
            </a:pP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"/>
              <a:ea typeface="+mn-ea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(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句型的）短语</a:t>
            </a:r>
            <a:endParaRPr kumimoji="0" lang="zh-CN" altLang="en-US" sz="25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grpSp>
        <p:nvGrpSpPr>
          <p:cNvPr id="107524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07549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3921125" y="2427288"/>
            <a:ext cx="1360805" cy="13735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  <a:sym typeface="Symbol" pitchFamily="18" charset="2"/>
              </a:rPr>
              <a:t>短语：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楷体_GB2312"/>
              <a:sym typeface="Symbol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5481638" y="2428875"/>
            <a:ext cx="1725613" cy="704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  <a:sym typeface="Symbol" pitchFamily="18" charset="2"/>
              </a:rPr>
              <a:t>直接短语：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楷体_GB2312"/>
              <a:sym typeface="Symbol" pitchFamily="18" charset="2"/>
            </a:endParaRPr>
          </a:p>
          <a:p>
            <a:pPr marL="285750" marR="0" lvl="0" indent="-285750" algn="l" defTabSz="914400" rtl="0" eaLnBrk="0" fontAlgn="base" latinLnBrk="0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E+E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00475" y="3867150"/>
            <a:ext cx="3494088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</a:rPr>
              <a:t>直接短语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</a:rPr>
              <a:t>一定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</a:rPr>
              <a:t>是某产生式的右部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19525" y="4203700"/>
            <a:ext cx="4800600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</a:rPr>
              <a:t>但产生式的右部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</a:rPr>
              <a:t>不一定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楷体_GB2312"/>
              </a:rPr>
              <a:t>是给定句型的直接短语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grpSp>
        <p:nvGrpSpPr>
          <p:cNvPr id="5" name="组合 8"/>
          <p:cNvGrpSpPr/>
          <p:nvPr/>
        </p:nvGrpSpPr>
        <p:grpSpPr>
          <a:xfrm>
            <a:off x="755650" y="2403475"/>
            <a:ext cx="3071813" cy="2181225"/>
            <a:chOff x="1139114" y="2402746"/>
            <a:chExt cx="3072523" cy="2181666"/>
          </a:xfrm>
        </p:grpSpPr>
        <p:grpSp>
          <p:nvGrpSpPr>
            <p:cNvPr id="107530" name="组合 24"/>
            <p:cNvGrpSpPr/>
            <p:nvPr/>
          </p:nvGrpSpPr>
          <p:grpSpPr>
            <a:xfrm>
              <a:off x="2938461" y="3142140"/>
              <a:ext cx="819150" cy="431880"/>
              <a:chOff x="4501997" y="3289640"/>
              <a:chExt cx="819455" cy="431182"/>
            </a:xfrm>
          </p:grpSpPr>
          <p:cxnSp>
            <p:nvCxnSpPr>
              <p:cNvPr id="29" name="直接连接符 28"/>
              <p:cNvCxnSpPr/>
              <p:nvPr/>
            </p:nvCxnSpPr>
            <p:spPr bwMode="auto">
              <a:xfrm rot="5400000">
                <a:off x="4643220" y="3302707"/>
                <a:ext cx="142673" cy="1429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 bwMode="auto">
              <a:xfrm rot="16200000" flipH="1">
                <a:off x="4894197" y="3307499"/>
                <a:ext cx="142673" cy="1080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47" name="矩形 21"/>
              <p:cNvSpPr/>
              <p:nvPr/>
            </p:nvSpPr>
            <p:spPr>
              <a:xfrm>
                <a:off x="4501997" y="3351490"/>
                <a:ext cx="819455" cy="3693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     E </a:t>
                </a:r>
                <a:endParaRPr lang="zh-CN" altLang="en-US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07531" name="组合 38"/>
            <p:cNvGrpSpPr/>
            <p:nvPr/>
          </p:nvGrpSpPr>
          <p:grpSpPr>
            <a:xfrm>
              <a:off x="3005136" y="3577196"/>
              <a:ext cx="1011238" cy="458873"/>
              <a:chOff x="4568297" y="3723878"/>
              <a:chExt cx="1011815" cy="459804"/>
            </a:xfrm>
          </p:grpSpPr>
          <p:cxnSp>
            <p:nvCxnSpPr>
              <p:cNvPr id="30" name="直接连接符 29"/>
              <p:cNvCxnSpPr/>
              <p:nvPr/>
            </p:nvCxnSpPr>
            <p:spPr bwMode="auto">
              <a:xfrm rot="5400000">
                <a:off x="4788756" y="3724518"/>
                <a:ext cx="143194" cy="1429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auto">
              <a:xfrm rot="16200000" flipH="1">
                <a:off x="5238378" y="3741996"/>
                <a:ext cx="143194" cy="10803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auto">
              <a:xfrm rot="5400000">
                <a:off x="5002446" y="3795219"/>
                <a:ext cx="143194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44" name="矩形 25"/>
              <p:cNvSpPr/>
              <p:nvPr/>
            </p:nvSpPr>
            <p:spPr>
              <a:xfrm>
                <a:off x="4568297" y="3814350"/>
                <a:ext cx="1011815" cy="3693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   </a:t>
                </a:r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  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07532" name="组合 42"/>
            <p:cNvGrpSpPr/>
            <p:nvPr/>
          </p:nvGrpSpPr>
          <p:grpSpPr>
            <a:xfrm>
              <a:off x="3006416" y="4036068"/>
              <a:ext cx="1028700" cy="476336"/>
              <a:chOff x="4498728" y="3706379"/>
              <a:chExt cx="1027845" cy="477303"/>
            </a:xfrm>
          </p:grpSpPr>
          <p:cxnSp>
            <p:nvCxnSpPr>
              <p:cNvPr id="44" name="直接连接符 43"/>
              <p:cNvCxnSpPr/>
              <p:nvPr/>
            </p:nvCxnSpPr>
            <p:spPr bwMode="auto">
              <a:xfrm flipH="1">
                <a:off x="4716115" y="3706926"/>
                <a:ext cx="212597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auto">
              <a:xfrm>
                <a:off x="5076260" y="3706926"/>
                <a:ext cx="214184" cy="1606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auto">
              <a:xfrm rot="5400000">
                <a:off x="4929302" y="3795232"/>
                <a:ext cx="143194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40" name="矩形 46"/>
              <p:cNvSpPr/>
              <p:nvPr/>
            </p:nvSpPr>
            <p:spPr>
              <a:xfrm>
                <a:off x="4498728" y="3814350"/>
                <a:ext cx="1027845" cy="3693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  +   E </a:t>
                </a:r>
                <a:endParaRPr lang="zh-CN" altLang="en-US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07533" name="矩形 9"/>
            <p:cNvSpPr/>
            <p:nvPr/>
          </p:nvSpPr>
          <p:spPr>
            <a:xfrm>
              <a:off x="3096884" y="2787774"/>
              <a:ext cx="305251" cy="3839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16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2768265" y="2426564"/>
              <a:ext cx="1443372" cy="21578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7535" name="矩形 47"/>
            <p:cNvSpPr/>
            <p:nvPr/>
          </p:nvSpPr>
          <p:spPr>
            <a:xfrm>
              <a:off x="2897187" y="2403217"/>
              <a:ext cx="1108075" cy="3845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分析树</a:t>
              </a:r>
              <a:r>
                <a:rPr lang="zh-CN" altLang="en-US" b="1" dirty="0">
                  <a:solidFill>
                    <a:srgbClr val="000000"/>
                  </a:solidFill>
                  <a:latin typeface="楷体_GB2312"/>
                  <a:ea typeface="华文楷体" panose="02010600040101010101" pitchFamily="2" charset="-122"/>
                </a:rPr>
                <a:t>：</a:t>
              </a:r>
              <a:endParaRPr lang="zh-CN" altLang="en-US" dirty="0">
                <a:solidFill>
                  <a:srgbClr val="000000"/>
                </a:solidFill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3"/>
            <p:cNvSpPr txBox="1">
              <a:spLocks noChangeArrowheads="1"/>
            </p:cNvSpPr>
            <p:nvPr/>
          </p:nvSpPr>
          <p:spPr bwMode="auto">
            <a:xfrm>
              <a:off x="1139114" y="2402746"/>
              <a:ext cx="1522765" cy="218166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R="0" algn="just" defTabSz="914400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r>
                <a:rPr kumimoji="0" lang="zh-CN" altLang="en-US" b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文法：</a:t>
              </a:r>
              <a:endParaRPr kumimoji="0" lang="en-US" altLang="zh-CN" b="1" kern="1200" cap="none" spc="0" normalizeH="0" baseline="0" noProof="0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endParaRPr>
            </a:p>
            <a:p>
              <a:pPr marR="0" algn="just" defTabSz="914400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① </a:t>
              </a:r>
              <a:r>
                <a:rPr kumimoji="0" lang="en-US" altLang="zh-CN" b="1" i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E → E + E</a:t>
              </a:r>
            </a:p>
            <a:p>
              <a:pPr marR="0" algn="just" defTabSz="914400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②</a:t>
              </a:r>
              <a:r>
                <a:rPr kumimoji="0" lang="en-US" altLang="zh-CN" b="1" i="1" kern="1200" cap="none" spc="0" normalizeH="0" baseline="0" noProof="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b="1" i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E → E * E</a:t>
              </a:r>
            </a:p>
            <a:p>
              <a:pPr marR="0" algn="just" defTabSz="914400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③</a:t>
              </a:r>
              <a:r>
                <a:rPr kumimoji="0" lang="en-US" altLang="zh-CN" b="1" i="1" kern="1200" cap="none" spc="0" normalizeH="0" baseline="0" noProof="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b="1" i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E → - E </a:t>
              </a:r>
            </a:p>
            <a:p>
              <a:pPr marR="0" algn="just" defTabSz="914400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④ </a:t>
              </a:r>
              <a:r>
                <a:rPr kumimoji="0" lang="en-US" altLang="zh-CN" b="1" i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E → </a:t>
              </a:r>
              <a:r>
                <a:rPr kumimoji="0" lang="en-US" altLang="zh-CN" b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b="1" i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 E </a:t>
              </a:r>
              <a:r>
                <a:rPr kumimoji="0" lang="en-US" altLang="zh-CN" b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R="0" algn="just" defTabSz="914400" eaLnBrk="1" hangingPunct="1">
                <a:lnSpc>
                  <a:spcPts val="25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Tx/>
                <a:buNone/>
                <a:defRPr/>
              </a:pPr>
              <a:r>
                <a:rPr kumimoji="0" lang="zh-CN" altLang="zh-CN" b="1" kern="1200" cap="none" spc="0" normalizeH="0" baseline="0" noProof="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⑤</a:t>
              </a:r>
              <a:r>
                <a:rPr kumimoji="0" lang="en-US" altLang="zh-CN" b="1" i="1" kern="1200" cap="none" spc="0" normalizeH="0" baseline="0" noProof="0" dirty="0"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kumimoji="0" lang="en-US" altLang="zh-CN" b="1" i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E → </a:t>
              </a:r>
              <a:r>
                <a:rPr kumimoji="0" lang="en-US" altLang="zh-CN" b="1" kern="1200" cap="none" spc="0" normalizeH="0" baseline="0" noProof="0" dirty="0">
                  <a:latin typeface="Times New Roman" panose="02020603050405020304" pitchFamily="18" charset="0"/>
                  <a:ea typeface="楷体" pitchFamily="49" charset="-122"/>
                  <a:cs typeface="Times New Roman" panose="02020603050405020304" pitchFamily="18" charset="0"/>
                </a:rPr>
                <a:t>id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allAtOnce" animBg="1"/>
      <p:bldP spid="2" grpId="0" animBg="1"/>
      <p:bldP spid="10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/>
          <p:cNvSpPr>
            <a:spLocks noGrp="1" noChangeArrowheads="1"/>
          </p:cNvSpPr>
          <p:nvPr>
            <p:ph idx="1"/>
          </p:nvPr>
        </p:nvSpPr>
        <p:spPr>
          <a:xfrm>
            <a:off x="371475" y="928688"/>
            <a:ext cx="8272463" cy="322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5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如果一个文法可以为某个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句子生成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多棵分析树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，则称这个文法是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二义性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</a:t>
            </a:r>
            <a:endParaRPr kumimoji="1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二义性文法</a:t>
            </a: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Ambiguous Grammar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1620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11622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89"/>
          <p:cNvGrpSpPr/>
          <p:nvPr/>
        </p:nvGrpSpPr>
        <p:grpSpPr>
          <a:xfrm>
            <a:off x="428625" y="3003550"/>
            <a:ext cx="4929188" cy="1887538"/>
            <a:chOff x="428597" y="3003823"/>
            <a:chExt cx="4929222" cy="1886743"/>
          </a:xfrm>
        </p:grpSpPr>
        <p:sp>
          <p:nvSpPr>
            <p:cNvPr id="113690" name="Rectangle 3"/>
            <p:cNvSpPr txBox="1"/>
            <p:nvPr/>
          </p:nvSpPr>
          <p:spPr>
            <a:xfrm>
              <a:off x="428597" y="3003823"/>
              <a:ext cx="4929222" cy="1886743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7658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5598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46240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3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   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</a:t>
              </a:r>
            </a:p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if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E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1 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then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S</a:t>
              </a:r>
              <a:endPara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endParaRPr>
            </a:p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</a:t>
              </a:r>
            </a:p>
            <a:p>
              <a:pPr marL="576580" lvl="1" indent="-273050" eaLnBrk="1" hangingPunct="1">
                <a:lnSpc>
                  <a:spcPts val="2900"/>
                </a:lnSpc>
                <a:buClr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if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sym typeface="Symbol" pitchFamily="18" charset="2"/>
                </a:rPr>
                <a:t>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E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2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then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1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else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 rot="10800000" flipV="1">
              <a:off x="1142977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0800000">
              <a:off x="2285985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2130409" y="3395771"/>
              <a:ext cx="155576" cy="1158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714481" y="3365621"/>
              <a:ext cx="214314" cy="1237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 flipV="1">
              <a:off x="1857357" y="3714723"/>
              <a:ext cx="857256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5400000">
              <a:off x="2250390" y="3821727"/>
              <a:ext cx="571259" cy="5000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>
              <a:off x="2606786" y="4035248"/>
              <a:ext cx="571259" cy="73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H="1">
              <a:off x="3000489" y="3857447"/>
              <a:ext cx="571259" cy="4286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214679" y="3786131"/>
              <a:ext cx="785817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286117" y="3714723"/>
              <a:ext cx="1428760" cy="6426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xfrm>
            <a:off x="430213" y="714375"/>
            <a:ext cx="7070725" cy="25606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文法</a:t>
            </a:r>
          </a:p>
          <a:p>
            <a:pPr lvl="1"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</a:t>
            </a: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if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then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endParaRPr lang="en-US" altLang="zh-CN" sz="2300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  <a:sym typeface="Symbol" pitchFamily="18" charset="2"/>
            </a:endParaRPr>
          </a:p>
          <a:p>
            <a:pPr lvl="1" eaLnBrk="1" hangingPunct="1">
              <a:lnSpc>
                <a:spcPts val="25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		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if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then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else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endParaRPr lang="en-US" altLang="zh-CN" sz="2300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  <a:sym typeface="Symbol" pitchFamily="18" charset="2"/>
            </a:endParaRPr>
          </a:p>
          <a:p>
            <a:pPr lvl="1" eaLnBrk="1" hangingPunct="1">
              <a:lnSpc>
                <a:spcPts val="25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		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</a:t>
            </a:r>
            <a:r>
              <a:rPr lang="en-US" altLang="en-US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other</a:t>
            </a:r>
          </a:p>
          <a:p>
            <a:pPr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句型</a:t>
            </a:r>
          </a:p>
          <a:p>
            <a:pPr lvl="1"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if 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</a:t>
            </a:r>
            <a:r>
              <a:rPr lang="en-US" altLang="zh-CN" sz="2300" i="1" kern="1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then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if 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</a:t>
            </a:r>
            <a:r>
              <a:rPr lang="en-US" altLang="zh-CN" sz="2300" i="1" kern="1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then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zh-CN" sz="2300" i="1" kern="1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else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zh-CN" sz="2300" i="1" kern="1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</a:p>
        </p:txBody>
      </p:sp>
      <p:sp>
        <p:nvSpPr>
          <p:cNvPr id="12" name="AutoShape 6"/>
          <p:cNvSpPr/>
          <p:nvPr/>
        </p:nvSpPr>
        <p:spPr>
          <a:xfrm>
            <a:off x="3767138" y="1285875"/>
            <a:ext cx="214312" cy="500063"/>
          </a:xfrm>
          <a:prstGeom prst="rightBrace">
            <a:avLst>
              <a:gd name="adj1" fmla="val 33703"/>
              <a:gd name="adj2" fmla="val 50000"/>
            </a:avLst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Line 7"/>
          <p:cNvSpPr/>
          <p:nvPr/>
        </p:nvSpPr>
        <p:spPr>
          <a:xfrm rot="10800000">
            <a:off x="2411413" y="2143125"/>
            <a:ext cx="1549400" cy="11113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4" name="Rectangle 8"/>
          <p:cNvSpPr/>
          <p:nvPr/>
        </p:nvSpPr>
        <p:spPr>
          <a:xfrm>
            <a:off x="3960813" y="1371600"/>
            <a:ext cx="2520950" cy="2714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/>
            <a:r>
              <a:rPr lang="zh-CN" altLang="en-US" sz="25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条件语句</a:t>
            </a:r>
          </a:p>
        </p:txBody>
      </p:sp>
      <p:sp>
        <p:nvSpPr>
          <p:cNvPr id="15" name="Rectangle 9"/>
          <p:cNvSpPr/>
          <p:nvPr/>
        </p:nvSpPr>
        <p:spPr>
          <a:xfrm>
            <a:off x="3981450" y="2000250"/>
            <a:ext cx="2376488" cy="269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eaLnBrk="1" hangingPunct="1"/>
            <a:r>
              <a:rPr lang="zh-CN" altLang="en-US" sz="2500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其他语句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例</a:t>
            </a:r>
          </a:p>
        </p:txBody>
      </p:sp>
      <p:grpSp>
        <p:nvGrpSpPr>
          <p:cNvPr id="113673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13689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grpSp>
        <p:nvGrpSpPr>
          <p:cNvPr id="4" name="组合 90"/>
          <p:cNvGrpSpPr/>
          <p:nvPr/>
        </p:nvGrpSpPr>
        <p:grpSpPr>
          <a:xfrm>
            <a:off x="4572000" y="3051175"/>
            <a:ext cx="4214813" cy="1876425"/>
            <a:chOff x="165892" y="3040279"/>
            <a:chExt cx="4929222" cy="1875631"/>
          </a:xfrm>
        </p:grpSpPr>
        <p:sp>
          <p:nvSpPr>
            <p:cNvPr id="113677" name="Rectangle 3"/>
            <p:cNvSpPr txBox="1"/>
            <p:nvPr/>
          </p:nvSpPr>
          <p:spPr>
            <a:xfrm>
              <a:off x="165892" y="3040279"/>
              <a:ext cx="4929222" cy="1875631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7658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5598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46240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3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   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</a:t>
              </a:r>
            </a:p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if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E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1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then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S 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else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2</a:t>
              </a:r>
            </a:p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</a:t>
              </a:r>
              <a:endParaRPr lang="en-US" altLang="zh-CN" sz="20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endParaRPr>
            </a:p>
            <a:p>
              <a:pPr marL="576580" lvl="1" indent="-273050" eaLnBrk="1" hangingPunct="1">
                <a:lnSpc>
                  <a:spcPts val="2900"/>
                </a:lnSpc>
                <a:buClr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     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if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sym typeface="Symbol" pitchFamily="18" charset="2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E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2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then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 rot="10800000" flipV="1">
              <a:off x="1142453" y="3357645"/>
              <a:ext cx="571827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0800000">
              <a:off x="2143151" y="3346537"/>
              <a:ext cx="571827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16200000" flipV="1">
              <a:off x="2059262" y="3358019"/>
              <a:ext cx="225330" cy="2023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V="1">
              <a:off x="1714280" y="3365579"/>
              <a:ext cx="215363" cy="1824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2213701" y="3797197"/>
              <a:ext cx="501277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2714978" y="3797197"/>
              <a:ext cx="76119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2874644" y="3797197"/>
              <a:ext cx="412161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874644" y="3774981"/>
              <a:ext cx="1125088" cy="5712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286107" y="3346537"/>
              <a:ext cx="1071248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2286107" y="3275130"/>
              <a:ext cx="2071944" cy="2872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2339975" y="3076575"/>
            <a:ext cx="2374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2312988" y="3148013"/>
            <a:ext cx="146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/>
      <p:bldP spid="14" grpId="1"/>
      <p:bldP spid="15" grpId="0"/>
      <p:bldP spid="15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14" name="组合 89"/>
          <p:cNvGrpSpPr/>
          <p:nvPr/>
        </p:nvGrpSpPr>
        <p:grpSpPr>
          <a:xfrm>
            <a:off x="428625" y="3003550"/>
            <a:ext cx="4929188" cy="1887538"/>
            <a:chOff x="428597" y="3003823"/>
            <a:chExt cx="4929222" cy="1886743"/>
          </a:xfrm>
        </p:grpSpPr>
        <p:sp>
          <p:nvSpPr>
            <p:cNvPr id="115735" name="Rectangle 3"/>
            <p:cNvSpPr txBox="1"/>
            <p:nvPr/>
          </p:nvSpPr>
          <p:spPr>
            <a:xfrm>
              <a:off x="428597" y="3003823"/>
              <a:ext cx="4929222" cy="1886743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7658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5598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46240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3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   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</a:t>
              </a:r>
            </a:p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if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E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1 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then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S</a:t>
              </a:r>
              <a:endParaRPr lang="en-US" altLang="zh-CN" sz="4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endParaRPr>
            </a:p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</a:t>
              </a:r>
            </a:p>
            <a:p>
              <a:pPr marL="576580" lvl="1" indent="-273050" eaLnBrk="1" hangingPunct="1">
                <a:lnSpc>
                  <a:spcPts val="2900"/>
                </a:lnSpc>
                <a:buClr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if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sym typeface="Symbol" pitchFamily="18" charset="2"/>
                </a:rPr>
                <a:t>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E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2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then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1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else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2</a:t>
              </a:r>
            </a:p>
          </p:txBody>
        </p:sp>
        <p:cxnSp>
          <p:nvCxnSpPr>
            <p:cNvPr id="24" name="直接连接符 23"/>
            <p:cNvCxnSpPr/>
            <p:nvPr/>
          </p:nvCxnSpPr>
          <p:spPr>
            <a:xfrm rot="10800000" flipV="1">
              <a:off x="1142977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10800000">
              <a:off x="2285985" y="3357687"/>
              <a:ext cx="571504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 flipV="1">
              <a:off x="2130409" y="3395771"/>
              <a:ext cx="155576" cy="1158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1714481" y="3365621"/>
              <a:ext cx="214314" cy="12377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rot="10800000" flipV="1">
              <a:off x="1857357" y="3714723"/>
              <a:ext cx="857256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5400000">
              <a:off x="2250390" y="3821727"/>
              <a:ext cx="571259" cy="5000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rot="5400000">
              <a:off x="2606786" y="4035248"/>
              <a:ext cx="571259" cy="73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rot="16200000" flipH="1">
              <a:off x="3000489" y="3857447"/>
              <a:ext cx="571259" cy="4286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3214679" y="3786131"/>
              <a:ext cx="785817" cy="5712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>
              <a:off x="3286117" y="3714723"/>
              <a:ext cx="1428760" cy="6426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715" name="Rectangle 3"/>
          <p:cNvSpPr>
            <a:spLocks noGrp="1"/>
          </p:cNvSpPr>
          <p:nvPr>
            <p:ph idx="1"/>
          </p:nvPr>
        </p:nvSpPr>
        <p:spPr>
          <a:xfrm>
            <a:off x="430213" y="714375"/>
            <a:ext cx="7070725" cy="25606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文法</a:t>
            </a:r>
          </a:p>
          <a:p>
            <a:pPr lvl="1"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</a:t>
            </a: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if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then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endParaRPr lang="en-US" altLang="zh-CN" sz="2300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  <a:sym typeface="Symbol" pitchFamily="18" charset="2"/>
            </a:endParaRPr>
          </a:p>
          <a:p>
            <a:pPr lvl="1" eaLnBrk="1" hangingPunct="1">
              <a:lnSpc>
                <a:spcPts val="25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		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if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then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else</a:t>
            </a:r>
            <a:r>
              <a:rPr lang="en-US" altLang="en-US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 </a:t>
            </a:r>
            <a:r>
              <a:rPr lang="en-US" altLang="zh-CN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endParaRPr lang="en-US" altLang="zh-CN" sz="2300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  <a:sym typeface="Symbol" pitchFamily="18" charset="2"/>
            </a:endParaRPr>
          </a:p>
          <a:p>
            <a:pPr lvl="1" eaLnBrk="1" hangingPunct="1">
              <a:lnSpc>
                <a:spcPts val="25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23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		 </a:t>
            </a:r>
            <a:r>
              <a:rPr lang="en-US" altLang="en-US" sz="23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</a:t>
            </a:r>
            <a:r>
              <a:rPr lang="en-US" altLang="en-US" sz="23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other</a:t>
            </a:r>
          </a:p>
          <a:p>
            <a:pPr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句型</a:t>
            </a:r>
          </a:p>
          <a:p>
            <a:pPr lvl="1" eaLnBrk="1" hangingPunct="1">
              <a:lnSpc>
                <a:spcPts val="2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if 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</a:t>
            </a:r>
            <a:r>
              <a:rPr lang="en-US" altLang="zh-CN" sz="2300" i="1" kern="1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then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if 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  <a:sym typeface="Symbol" pitchFamily="18" charset="2"/>
              </a:rPr>
              <a:t>E</a:t>
            </a:r>
            <a:r>
              <a:rPr lang="en-US" altLang="zh-CN" sz="2300" i="1" kern="1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then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zh-CN" sz="2300" i="1" kern="1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else</a:t>
            </a:r>
            <a:r>
              <a:rPr lang="en-US" altLang="zh-CN" sz="2300" b="1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</a:t>
            </a:r>
            <a:r>
              <a:rPr lang="en-US" altLang="zh-CN" sz="2300" i="1" kern="1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lang="en-US" altLang="zh-CN" sz="2300" i="1" kern="12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例</a:t>
            </a:r>
          </a:p>
        </p:txBody>
      </p:sp>
      <p:grpSp>
        <p:nvGrpSpPr>
          <p:cNvPr id="115717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15734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  <p:grpSp>
        <p:nvGrpSpPr>
          <p:cNvPr id="115718" name="组合 90"/>
          <p:cNvGrpSpPr/>
          <p:nvPr/>
        </p:nvGrpSpPr>
        <p:grpSpPr>
          <a:xfrm>
            <a:off x="4572000" y="3051175"/>
            <a:ext cx="4214813" cy="1876425"/>
            <a:chOff x="165892" y="3040279"/>
            <a:chExt cx="4929222" cy="1875631"/>
          </a:xfrm>
        </p:grpSpPr>
        <p:sp>
          <p:nvSpPr>
            <p:cNvPr id="115722" name="Rectangle 3"/>
            <p:cNvSpPr txBox="1"/>
            <p:nvPr/>
          </p:nvSpPr>
          <p:spPr>
            <a:xfrm>
              <a:off x="165892" y="3040279"/>
              <a:ext cx="4929222" cy="1875631"/>
            </a:xfrm>
            <a:prstGeom prst="rect">
              <a:avLst/>
            </a:prstGeom>
            <a:noFill/>
            <a:ln w="25400">
              <a:noFill/>
            </a:ln>
          </p:spPr>
          <p:txBody>
            <a:bodyPr/>
            <a:lstStyle>
              <a:lvl1pPr marL="27305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576580" indent="-2730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85598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146240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itchFamily="18" charset="2"/>
                <a:buChar char="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3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   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S</a:t>
              </a:r>
            </a:p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if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E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1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then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S 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else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2</a:t>
              </a:r>
            </a:p>
            <a:p>
              <a:pPr marL="576580" lvl="1" indent="-273050" eaLnBrk="1" hangingPunct="1">
                <a:lnSpc>
                  <a:spcPts val="2800"/>
                </a:lnSpc>
                <a:buClr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</a:t>
              </a:r>
              <a:endParaRPr lang="en-US" altLang="zh-CN" sz="20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</a:endParaRPr>
            </a:p>
            <a:p>
              <a:pPr marL="576580" lvl="1" indent="-273050" eaLnBrk="1" hangingPunct="1">
                <a:lnSpc>
                  <a:spcPts val="2900"/>
                </a:lnSpc>
                <a:buClrTx/>
                <a:buFontTx/>
                <a:buNone/>
              </a:pP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          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if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sym typeface="Symbol" pitchFamily="18" charset="2"/>
                </a:rPr>
                <a:t> 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E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2    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then</a:t>
              </a:r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      S</a:t>
              </a:r>
              <a:r>
                <a:rPr lang="en-US" altLang="zh-CN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</a:rPr>
                <a:t>1</a:t>
              </a:r>
            </a:p>
          </p:txBody>
        </p:sp>
        <p:cxnSp>
          <p:nvCxnSpPr>
            <p:cNvPr id="93" name="直接连接符 92"/>
            <p:cNvCxnSpPr/>
            <p:nvPr/>
          </p:nvCxnSpPr>
          <p:spPr>
            <a:xfrm rot="10800000" flipV="1">
              <a:off x="1142453" y="3357645"/>
              <a:ext cx="571827" cy="1428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rot="10800000">
              <a:off x="2143151" y="3346537"/>
              <a:ext cx="571827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rot="16200000" flipV="1">
              <a:off x="2059262" y="3358019"/>
              <a:ext cx="225330" cy="2023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V="1">
              <a:off x="1714280" y="3365579"/>
              <a:ext cx="215363" cy="1824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>
              <a:off x="2213701" y="3797197"/>
              <a:ext cx="501277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>
              <a:off x="2714978" y="3797197"/>
              <a:ext cx="76119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2874644" y="3797197"/>
              <a:ext cx="412161" cy="54904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>
              <a:off x="2874644" y="3774981"/>
              <a:ext cx="1125088" cy="5712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286107" y="3346537"/>
              <a:ext cx="1071248" cy="2142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>
              <a:off x="2286107" y="3275130"/>
              <a:ext cx="2071944" cy="2872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2339975" y="3076575"/>
            <a:ext cx="2374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6"/>
          <p:cNvSpPr>
            <a:spLocks noChangeArrowheads="1"/>
          </p:cNvSpPr>
          <p:nvPr/>
        </p:nvSpPr>
        <p:spPr bwMode="auto">
          <a:xfrm>
            <a:off x="4300538" y="627063"/>
            <a:ext cx="3557588" cy="787400"/>
          </a:xfrm>
          <a:prstGeom prst="wedgeRoundRectCallout">
            <a:avLst>
              <a:gd name="adj1" fmla="val -53733"/>
              <a:gd name="adj2" fmla="val 53552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楷体_GB2312"/>
                <a:cs typeface="楷体_GB231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消歧规则：每个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else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和最近的尚未匹配的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if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匹配</a:t>
            </a:r>
          </a:p>
        </p:txBody>
      </p:sp>
      <p:sp>
        <p:nvSpPr>
          <p:cNvPr id="38" name="Rectangle 7"/>
          <p:cNvSpPr/>
          <p:nvPr/>
        </p:nvSpPr>
        <p:spPr>
          <a:xfrm>
            <a:off x="2786063" y="2928938"/>
            <a:ext cx="1143000" cy="9667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r>
              <a:rPr lang="zh-CN" altLang="en-US" sz="2800" dirty="0">
                <a:solidFill>
                  <a:srgbClr val="FF0000"/>
                </a:solidFill>
                <a:latin typeface="Tahoma" panose="020B0604030504040204" pitchFamily="34" charset="0"/>
              </a:rPr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7" name="Rectangle 3"/>
          <p:cNvSpPr>
            <a:spLocks noGrp="1"/>
          </p:cNvSpPr>
          <p:nvPr>
            <p:ph idx="1"/>
          </p:nvPr>
        </p:nvSpPr>
        <p:spPr>
          <a:xfrm>
            <a:off x="442913" y="857250"/>
            <a:ext cx="8201025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对于任意一个上下文无关文法，</a:t>
            </a:r>
            <a:r>
              <a:rPr lang="zh-CN" altLang="en-US" sz="2800" b="1" kern="1200" dirty="0">
                <a:solidFill>
                  <a:schemeClr val="tx1"/>
                </a:solidFill>
                <a:highlight>
                  <a:srgbClr val="FFFF00"/>
                </a:highlight>
                <a:latin typeface="楷体" pitchFamily="49" charset="-122"/>
                <a:ea typeface="华文楷体" panose="02010600040101010101" pitchFamily="2" charset="-122"/>
                <a:cs typeface="+mn-cs"/>
              </a:rPr>
              <a:t>不存在一个算法，判定它是无二义性的；</a:t>
            </a:r>
            <a:r>
              <a:rPr lang="zh-CN" altLang="en-US" sz="2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但能给出一组</a:t>
            </a:r>
            <a:r>
              <a:rPr lang="zh-CN" altLang="en-US" sz="2800" b="1" kern="1200" dirty="0">
                <a:solidFill>
                  <a:srgbClr val="FF0000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充分条件</a:t>
            </a:r>
            <a:r>
              <a:rPr lang="zh-CN" altLang="en-US" sz="28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，满足这组充分条件的文法是无二义性的</a:t>
            </a:r>
          </a:p>
          <a:p>
            <a:pPr lvl="1"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满足，肯定无二义性</a:t>
            </a:r>
          </a:p>
          <a:p>
            <a:pPr lvl="1" eaLnBrk="1" hangingPunct="1"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楷体" pitchFamily="49" charset="-122"/>
                <a:ea typeface="华文楷体" panose="02010600040101010101" pitchFamily="2" charset="-122"/>
                <a:cs typeface="+mn-cs"/>
              </a:rPr>
              <a:t>不满足，也未必就是有二义性的</a:t>
            </a:r>
            <a:endParaRPr lang="en-US" altLang="zh-CN" sz="2500" b="1" kern="1200" dirty="0">
              <a:solidFill>
                <a:schemeClr val="tx1"/>
              </a:solidFill>
              <a:latin typeface="楷体" pitchFamily="49" charset="-122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SzPct val="100000"/>
            </a:pPr>
            <a:endParaRPr lang="en-US" altLang="zh-CN" b="1" kern="1200" dirty="0">
              <a:latin typeface="Times New Roman" panose="02020603050405020304" pitchFamily="18" charset="0"/>
              <a:ea typeface="楷体_GB2312"/>
              <a:cs typeface="+mn-cs"/>
              <a:sym typeface="Symbol" pitchFamily="18" charset="2"/>
            </a:endParaRPr>
          </a:p>
          <a:p>
            <a:pPr eaLnBrk="1" hangingPunct="1">
              <a:buSzPct val="100000"/>
            </a:pPr>
            <a:endParaRPr lang="zh-CN" altLang="en-US" sz="2800" kern="1200" dirty="0">
              <a:latin typeface="Times New Roman" panose="02020603050405020304" pitchFamily="18" charset="0"/>
              <a:ea typeface="楷体_GB2312"/>
              <a:cs typeface="+mn-cs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二义性文法的判定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7764" name="组合 9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楷体_GB2312"/>
                  <a:cs typeface="楷体_GB231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楷体_GB2312"/>
              </a:endParaRPr>
            </a:p>
          </p:txBody>
        </p:sp>
        <p:sp>
          <p:nvSpPr>
            <p:cNvPr id="117766" name="五边形 11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25400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dirty="0">
                <a:solidFill>
                  <a:srgbClr val="FFFFFF"/>
                </a:solidFill>
                <a:latin typeface="Calibri" panose="020F0502020204030204" pitchFamily="34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3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3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2133</TotalTime>
  <Words>3944</Words>
  <Application>Microsoft Office PowerPoint</Application>
  <PresentationFormat>全屏显示(16:9)</PresentationFormat>
  <Paragraphs>499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7" baseType="lpstr">
      <vt:lpstr>Courier</vt:lpstr>
      <vt:lpstr>Time New Roman</vt:lpstr>
      <vt:lpstr>华文楷体</vt:lpstr>
      <vt:lpstr>华文楷体 (正文)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Times New Roman Bold</vt:lpstr>
      <vt:lpstr>Wingdings</vt:lpstr>
      <vt:lpstr>波形</vt:lpstr>
      <vt:lpstr>1_波形</vt:lpstr>
      <vt:lpstr>PowerPoint 演示文稿</vt:lpstr>
      <vt:lpstr>字母表 (Alphabet)</vt:lpstr>
      <vt:lpstr>字母表上的运算</vt:lpstr>
      <vt:lpstr>字母表上的运算</vt:lpstr>
      <vt:lpstr>字母表上的运算</vt:lpstr>
      <vt:lpstr>字母表上的运算</vt:lpstr>
      <vt:lpstr>PowerPoint 演示文稿</vt:lpstr>
      <vt:lpstr>串上的运算——连接</vt:lpstr>
      <vt:lpstr>串上的运算——幂</vt:lpstr>
      <vt:lpstr>PowerPoint 演示文稿</vt:lpstr>
      <vt:lpstr>自然语言的例子——句子的构成规则</vt:lpstr>
      <vt:lpstr>文法的形式化定义</vt:lpstr>
      <vt:lpstr>文法的形式化定义</vt:lpstr>
      <vt:lpstr>文法的形式化定义</vt:lpstr>
      <vt:lpstr>文法的形式化定义</vt:lpstr>
      <vt:lpstr>文法的形式化定义</vt:lpstr>
      <vt:lpstr>文法的形式化定义</vt:lpstr>
      <vt:lpstr>产生式的简写</vt:lpstr>
      <vt:lpstr>符号约定</vt:lpstr>
      <vt:lpstr>符号约定</vt:lpstr>
      <vt:lpstr>符号约定</vt:lpstr>
      <vt:lpstr>PowerPoint 演示文稿</vt:lpstr>
      <vt:lpstr>自然语言的例子</vt:lpstr>
      <vt:lpstr>推导 (Derivations)和归约(Reductions)</vt:lpstr>
      <vt:lpstr>推导 (Derivations)和归约(Reductions)</vt:lpstr>
      <vt:lpstr>PowerPoint 演示文稿</vt:lpstr>
      <vt:lpstr>回答前面的问题</vt:lpstr>
      <vt:lpstr>句型和句子</vt:lpstr>
      <vt:lpstr>例</vt:lpstr>
      <vt:lpstr>语言的形式化定义</vt:lpstr>
      <vt:lpstr>例</vt:lpstr>
      <vt:lpstr>语言上的运算</vt:lpstr>
      <vt:lpstr>PowerPoint 演示文稿</vt:lpstr>
      <vt:lpstr>Chomsky 文法分类体系</vt:lpstr>
      <vt:lpstr>0型文法 (Type-0 Grammar)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四种文法之间的关系</vt:lpstr>
      <vt:lpstr>PowerPoint 演示文稿</vt:lpstr>
      <vt:lpstr>CFG 的分析树</vt:lpstr>
      <vt:lpstr>分析树是推导的图形化表示</vt:lpstr>
      <vt:lpstr> (句型的）短语</vt:lpstr>
      <vt:lpstr>二义性文法 (Ambiguous Grammar)</vt:lpstr>
      <vt:lpstr>例</vt:lpstr>
      <vt:lpstr>例</vt:lpstr>
      <vt:lpstr>二义性文法的判定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王锦鸿</cp:lastModifiedBy>
  <cp:revision>1011</cp:revision>
  <cp:lastPrinted>2023-09-06T02:55:06Z</cp:lastPrinted>
  <dcterms:created xsi:type="dcterms:W3CDTF">2023-09-06T02:55:06Z</dcterms:created>
  <dcterms:modified xsi:type="dcterms:W3CDTF">2025-06-25T08:38:09Z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  <property fmtid="{D5CDD505-2E9C-101B-9397-08002B2CF9AE}" pid="3" name="KSOProductBuildVer">
    <vt:lpwstr>1033-6.0.2.8225</vt:lpwstr>
  </property>
  <property fmtid="{D5CDD505-2E9C-101B-9397-08002B2CF9AE}" pid="4" name="ICV">
    <vt:lpwstr>AF53393A7B9C6A6EDE15F764F0B02742_42</vt:lpwstr>
  </property>
</Properties>
</file>