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52"/>
  </p:notesMasterIdLst>
  <p:handoutMasterIdLst>
    <p:handoutMasterId r:id="rId53"/>
  </p:handoutMasterIdLst>
  <p:sldIdLst>
    <p:sldId id="677" r:id="rId3"/>
    <p:sldId id="483" r:id="rId4"/>
    <p:sldId id="668" r:id="rId5"/>
    <p:sldId id="552" r:id="rId6"/>
    <p:sldId id="533" r:id="rId7"/>
    <p:sldId id="570" r:id="rId8"/>
    <p:sldId id="701" r:id="rId9"/>
    <p:sldId id="517" r:id="rId10"/>
    <p:sldId id="600" r:id="rId11"/>
    <p:sldId id="516" r:id="rId12"/>
    <p:sldId id="518" r:id="rId13"/>
    <p:sldId id="693" r:id="rId14"/>
    <p:sldId id="669" r:id="rId15"/>
    <p:sldId id="399" r:id="rId16"/>
    <p:sldId id="556" r:id="rId17"/>
    <p:sldId id="670" r:id="rId18"/>
    <p:sldId id="635" r:id="rId19"/>
    <p:sldId id="695" r:id="rId20"/>
    <p:sldId id="671" r:id="rId21"/>
    <p:sldId id="663" r:id="rId22"/>
    <p:sldId id="627" r:id="rId23"/>
    <p:sldId id="647" r:id="rId24"/>
    <p:sldId id="628" r:id="rId25"/>
    <p:sldId id="729" r:id="rId26"/>
    <p:sldId id="561" r:id="rId27"/>
    <p:sldId id="648" r:id="rId28"/>
    <p:sldId id="634" r:id="rId29"/>
    <p:sldId id="562" r:id="rId30"/>
    <p:sldId id="699" r:id="rId31"/>
    <p:sldId id="564" r:id="rId32"/>
    <p:sldId id="571" r:id="rId33"/>
    <p:sldId id="573" r:id="rId34"/>
    <p:sldId id="702" r:id="rId35"/>
    <p:sldId id="711" r:id="rId36"/>
    <p:sldId id="712" r:id="rId37"/>
    <p:sldId id="759" r:id="rId38"/>
    <p:sldId id="760" r:id="rId39"/>
    <p:sldId id="758" r:id="rId40"/>
    <p:sldId id="714" r:id="rId41"/>
    <p:sldId id="717" r:id="rId42"/>
    <p:sldId id="718" r:id="rId43"/>
    <p:sldId id="719" r:id="rId44"/>
    <p:sldId id="720" r:id="rId45"/>
    <p:sldId id="730" r:id="rId46"/>
    <p:sldId id="722" r:id="rId47"/>
    <p:sldId id="723" r:id="rId48"/>
    <p:sldId id="724" r:id="rId49"/>
    <p:sldId id="725" r:id="rId50"/>
    <p:sldId id="726" r:id="rId51"/>
  </p:sldIdLst>
  <p:sldSz cx="9144000" cy="5143500" type="screen16x9"/>
  <p:notesSz cx="7099300" cy="10234613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3399"/>
    <a:srgbClr val="008000"/>
    <a:srgbClr val="006600"/>
    <a:srgbClr val="FF33CC"/>
    <a:srgbClr val="00C08E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3"/>
    <p:restoredTop sz="79280"/>
  </p:normalViewPr>
  <p:slideViewPr>
    <p:cSldViewPr showGuides="1">
      <p:cViewPr varScale="1">
        <p:scale>
          <a:sx n="103" d="100"/>
          <a:sy n="103" d="100"/>
        </p:scale>
        <p:origin x="1264" y="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t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t" anchorCtr="0" compatLnSpc="1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98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b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98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b" anchorCtr="0" compatLnSpc="1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08F7A2-5301-43D0-8374-81C8446CB24E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/>
          <a:lstStyle>
            <a:lvl1pPr defTabSz="95123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/>
          <a:lstStyle>
            <a:lvl1pPr algn="r" defTabSz="95123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9700" y="766763"/>
            <a:ext cx="6824663" cy="38401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2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6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第五级</a:t>
            </a:r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b" anchorCtr="0" compatLnSpc="1"/>
          <a:lstStyle>
            <a:lvl1pPr defTabSz="95123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02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b" anchorCtr="0" compatLnSpc="1"/>
          <a:lstStyle>
            <a:lvl1pPr algn="r" defTabSz="95123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B7D94D-4021-4F2F-AF91-A4334F10E66E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1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marL="0" lvl="1" indent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6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7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8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297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9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marL="0" lvl="1" indent="0" eaLnBrk="1" hangingPunct="1"/>
            <a:endParaRPr lang="en-US" altLang="zh-CN" sz="2800" b="1" dirty="0">
              <a:ea typeface="楷体_GB231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12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13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14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 eaLnBrk="1" hangingPunct="1"/>
            <a:endParaRPr lang="en-US" altLang="zh-CN" b="1" dirty="0">
              <a:latin typeface="楷体_GB2312"/>
              <a:ea typeface="楷体_GB2312"/>
            </a:endParaRPr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15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16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501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17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542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18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19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20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21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22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645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23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24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25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en-US" altLang="zh-CN" dirty="0"/>
          </a:p>
        </p:txBody>
      </p:sp>
      <p:sp>
        <p:nvSpPr>
          <p:cNvPr id="706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26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 defTabSz="913130"/>
            <a:endParaRPr lang="en-US" altLang="zh-CN" dirty="0"/>
          </a:p>
          <a:p>
            <a:pPr lvl="0" defTabSz="913130"/>
            <a:endParaRPr lang="zh-CN" altLang="en-US" dirty="0"/>
          </a:p>
        </p:txBody>
      </p:sp>
      <p:sp>
        <p:nvSpPr>
          <p:cNvPr id="727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27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747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28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788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29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marL="0" lvl="1" indent="0"/>
            <a:endParaRPr lang="en-US" altLang="zh-CN" sz="20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0"/>
            <a:endParaRPr lang="zh-CN" altLang="en-US" dirty="0"/>
          </a:p>
        </p:txBody>
      </p:sp>
      <p:sp>
        <p:nvSpPr>
          <p:cNvPr id="809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30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829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31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32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 eaLnBrk="1" hangingPunct="1"/>
            <a:endParaRPr lang="zh-CN" altLang="en-US" sz="130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870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33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911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34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931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35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952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36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952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37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993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38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972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39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1034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40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75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 txBox="1">
            <a:spLocks noGrp="1"/>
          </p:cNvSpPr>
          <p:nvPr/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68" tIns="47635" rIns="95268" bIns="47635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44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  <p:sp>
        <p:nvSpPr>
          <p:cNvPr id="11161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  <p:sp>
        <p:nvSpPr>
          <p:cNvPr id="1136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45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77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en-US" altLang="zh-CN" dirty="0"/>
          </a:p>
        </p:txBody>
      </p:sp>
      <p:sp>
        <p:nvSpPr>
          <p:cNvPr id="1177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47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198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</a:rPr>
              <a:t>48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18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75" tIns="47638" rIns="95275" bIns="47638" anchor="t" anchorCtr="0"/>
          <a:lstStyle/>
          <a:p>
            <a:pPr lvl="0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18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75" tIns="47638" rIns="95275" bIns="47638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49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5"/>
          <p:cNvSpPr/>
          <p:nvPr/>
        </p:nvSpPr>
        <p:spPr>
          <a:xfrm>
            <a:off x="228600" y="171450"/>
            <a:ext cx="8696325" cy="452755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 panose="020E0502030303020204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3075" name="Group 9"/>
          <p:cNvGrpSpPr>
            <a:grpSpLocks noChangeAspect="1"/>
          </p:cNvGrpSpPr>
          <p:nvPr/>
        </p:nvGrpSpPr>
        <p:grpSpPr>
          <a:xfrm>
            <a:off x="211138" y="4016375"/>
            <a:ext cx="8723312" cy="996950"/>
            <a:chOff x="-3905250" y="4294188"/>
            <a:chExt cx="13011150" cy="1892300"/>
          </a:xfrm>
        </p:grpSpPr>
        <p:sp>
          <p:nvSpPr>
            <p:cNvPr id="3078" name="Freeform 14"/>
            <p:cNvSpPr/>
            <p:nvPr/>
          </p:nvSpPr>
          <p:spPr>
            <a:xfrm>
              <a:off x="4810681" y="4499087"/>
              <a:ext cx="4295219" cy="1018467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" name="Freeform 18"/>
            <p:cNvSpPr/>
            <p:nvPr/>
          </p:nvSpPr>
          <p:spPr>
            <a:xfrm>
              <a:off x="-308538" y="4318294"/>
              <a:ext cx="8280254" cy="1208301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" name="Freeform 22"/>
            <p:cNvSpPr/>
            <p:nvPr/>
          </p:nvSpPr>
          <p:spPr>
            <a:xfrm>
              <a:off x="4014" y="4336373"/>
              <a:ext cx="8164231" cy="1099825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" name="Freeform 26"/>
            <p:cNvSpPr/>
            <p:nvPr/>
          </p:nvSpPr>
          <p:spPr>
            <a:xfrm>
              <a:off x="4157164" y="4315281"/>
              <a:ext cx="4939265" cy="928071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3082" name="Freeform 1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1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 panose="020E0502030303020204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4099" name="Group 9"/>
          <p:cNvGrpSpPr>
            <a:grpSpLocks noChangeAspect="1"/>
          </p:cNvGrpSpPr>
          <p:nvPr/>
        </p:nvGrpSpPr>
        <p:grpSpPr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4105" name="Freeform 14"/>
            <p:cNvSpPr/>
            <p:nvPr/>
          </p:nvSpPr>
          <p:spPr>
            <a:xfrm>
              <a:off x="4810681" y="4501439"/>
              <a:ext cx="4295219" cy="1015234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" name="Freeform 18"/>
            <p:cNvSpPr/>
            <p:nvPr/>
          </p:nvSpPr>
          <p:spPr>
            <a:xfrm>
              <a:off x="-308538" y="4318217"/>
              <a:ext cx="8280254" cy="121047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7" name="Freeform 22"/>
            <p:cNvSpPr/>
            <p:nvPr/>
          </p:nvSpPr>
          <p:spPr>
            <a:xfrm>
              <a:off x="4014" y="4336239"/>
              <a:ext cx="8164231" cy="1102339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8" name="Freeform 26"/>
            <p:cNvSpPr/>
            <p:nvPr/>
          </p:nvSpPr>
          <p:spPr>
            <a:xfrm>
              <a:off x="4157164" y="4315213"/>
              <a:ext cx="4939265" cy="928129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4109" name="Freeform 1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C2CFCB-0D1F-4F11-80CB-31B8FCC3542D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09E428-CCBA-4B6D-9191-C6912F66E8AA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3922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 panose="020E0502030303020204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1027" name="Group 15"/>
          <p:cNvGrpSpPr>
            <a:grpSpLocks noChangeAspect="1"/>
          </p:cNvGrpSpPr>
          <p:nvPr/>
        </p:nvGrpSpPr>
        <p:grpSpPr>
          <a:xfrm>
            <a:off x="211138" y="987425"/>
            <a:ext cx="8723312" cy="647700"/>
            <a:chOff x="-3905251" y="4294188"/>
            <a:chExt cx="13027839" cy="1892300"/>
          </a:xfrm>
        </p:grpSpPr>
        <p:sp>
          <p:nvSpPr>
            <p:cNvPr id="1030" name="Freeform 14"/>
            <p:cNvSpPr/>
            <p:nvPr/>
          </p:nvSpPr>
          <p:spPr>
            <a:xfrm>
              <a:off x="4810006" y="4498260"/>
              <a:ext cx="4295986" cy="1020358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" name="Freeform 18"/>
            <p:cNvSpPr/>
            <p:nvPr/>
          </p:nvSpPr>
          <p:spPr>
            <a:xfrm>
              <a:off x="-308667" y="4317379"/>
              <a:ext cx="8279020" cy="1210514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" name="Freeform 22"/>
            <p:cNvSpPr/>
            <p:nvPr/>
          </p:nvSpPr>
          <p:spPr>
            <a:xfrm>
              <a:off x="4286" y="4335931"/>
              <a:ext cx="8165219" cy="1099202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26"/>
            <p:cNvSpPr/>
            <p:nvPr/>
          </p:nvSpPr>
          <p:spPr>
            <a:xfrm>
              <a:off x="4155651" y="4317379"/>
              <a:ext cx="4940859" cy="927598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34" name="Freeform 10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>
          <a:xfrm>
            <a:off x="457200" y="254000"/>
            <a:ext cx="8229600" cy="939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>
          <a:xfrm>
            <a:off x="250825" y="1347788"/>
            <a:ext cx="5976938" cy="32464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 panose="020E0502030303020204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/>
            <p:nvPr/>
          </p:nvSpPr>
          <p:spPr>
            <a:xfrm>
              <a:off x="4810441" y="4502706"/>
              <a:ext cx="4295743" cy="1011313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/>
            <p:nvPr/>
          </p:nvSpPr>
          <p:spPr>
            <a:xfrm>
              <a:off x="-310233" y="4320251"/>
              <a:ext cx="8282134" cy="120940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/>
            <p:nvPr/>
          </p:nvSpPr>
          <p:spPr>
            <a:xfrm>
              <a:off x="3804" y="4335892"/>
              <a:ext cx="8164957" cy="1099931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/>
            <p:nvPr/>
          </p:nvSpPr>
          <p:spPr>
            <a:xfrm>
              <a:off x="4156589" y="4315040"/>
              <a:ext cx="4940221" cy="927905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>
          <a:xfrm>
            <a:off x="900113" y="268288"/>
            <a:ext cx="7786687" cy="358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34BCFC-5953-4CF9-A35B-C5DF7E813FBC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68425"/>
            <a:ext cx="5927725" cy="322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643438" y="1714500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500" kern="1200" cap="none" spc="6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正则表达式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5014913" y="1344613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第三章 词法分析</a:t>
            </a:r>
            <a:endParaRPr kumimoji="0" lang="zh-CN" altLang="en-US" sz="8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872038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kern="1200" cap="none" spc="0" normalizeH="0" baseline="0" noProof="0" dirty="0">
                <a:solidFill>
                  <a:schemeClr val="bg1"/>
                </a:solidFill>
                <a:latin typeface="+mj-lt"/>
                <a:ea typeface="楷体" pitchFamily="49" charset="-122"/>
                <a:cs typeface="+mj-cs"/>
              </a:rPr>
              <a:t> </a:t>
            </a:r>
            <a:endParaRPr kumimoji="0" lang="zh-CN" altLang="en-US" sz="2000" b="1" kern="1200" cap="none" spc="6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85813"/>
            <a:ext cx="8031163" cy="4357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楷体_GB2312"/>
              </a:rPr>
              <a:t>语言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L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={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a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}{</a:t>
            </a:r>
            <a:r>
              <a:rPr kumimoji="0" lang="en-US" altLang="zh-CN" sz="23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a</a:t>
            </a:r>
            <a:r>
              <a:rPr kumimoji="0" lang="en-US" altLang="zh-CN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,</a:t>
            </a:r>
            <a:r>
              <a:rPr kumimoji="0" lang="en-US" altLang="zh-CN" sz="23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b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}</a:t>
            </a:r>
            <a:r>
              <a:rPr kumimoji="0" lang="en-US" altLang="zh-CN" sz="23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*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({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ε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}∪({.,_}{</a:t>
            </a:r>
            <a:r>
              <a:rPr kumimoji="0" lang="en-US" altLang="zh-CN" sz="23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a</a:t>
            </a:r>
            <a:r>
              <a:rPr kumimoji="0" lang="en-US" altLang="zh-CN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,</a:t>
            </a:r>
            <a:r>
              <a:rPr kumimoji="0" lang="en-US" altLang="zh-CN" sz="23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b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}{</a:t>
            </a:r>
            <a:r>
              <a:rPr kumimoji="0" lang="en-US" altLang="zh-CN" sz="23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a</a:t>
            </a:r>
            <a:r>
              <a:rPr kumimoji="0" lang="en-US" altLang="zh-CN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,</a:t>
            </a:r>
            <a:r>
              <a:rPr kumimoji="0" lang="en-US" altLang="zh-CN" sz="23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b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}</a:t>
            </a:r>
            <a:r>
              <a:rPr kumimoji="0" lang="en-US" altLang="zh-CN" sz="23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*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楷体_GB2312"/>
              </a:rPr>
              <a:t>))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+mn-ea"/>
              <a:cs typeface="楷体_GB2312"/>
            </a:endParaRPr>
          </a:p>
          <a:p>
            <a:pPr marL="0" marR="0" lvl="0" indent="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楷体_GB2312"/>
              </a:rPr>
              <a:t> 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楷体_GB2312"/>
              </a:rPr>
              <a:t>正则表达式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Regular Expression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16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en-US" altLang="zh-CN" sz="16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是一种用来描述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正则语言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的 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更紧凑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的表示方法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例：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 = a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a|b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en-US" altLang="zh-CN" sz="23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ε |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.| _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)(</a:t>
            </a:r>
            <a:r>
              <a:rPr kumimoji="0" lang="en-US" altLang="zh-CN" sz="23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a|b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)(</a:t>
            </a:r>
            <a:r>
              <a:rPr kumimoji="0" lang="en-US" altLang="zh-CN" sz="23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a|b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en-US" altLang="zh-CN" sz="23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)</a:t>
            </a:r>
          </a:p>
          <a:p>
            <a:pPr marL="0" marR="0" lvl="0" indent="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 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正则表达式可以由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较小的正则表达式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按照特定规则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递归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地构建。每个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正则表达式 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+mn-cs"/>
              </a:rPr>
              <a:t>r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定义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+mn-cs"/>
              </a:rPr>
              <a:t>（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表示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+mn-cs"/>
              </a:rPr>
              <a:t>）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一个语言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，记为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+mn-cs"/>
              </a:rPr>
              <a:t>L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+mn-cs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+mn-cs"/>
              </a:rPr>
              <a:t>r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+mn-cs"/>
              </a:rPr>
              <a:t>)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。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华文楷体" panose="02010600040101010101" pitchFamily="2" charset="-122"/>
              <a:ea typeface="+mn-ea"/>
              <a:cs typeface="+mn-cs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正则表达式</a:t>
            </a:r>
          </a:p>
        </p:txBody>
      </p:sp>
      <p:grpSp>
        <p:nvGrpSpPr>
          <p:cNvPr id="10244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0246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28624" y="1857375"/>
            <a:ext cx="8319839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假设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都是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RE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，表示的语言分别是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，则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|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是一个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r|s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=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∪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rs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是一个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rs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=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</a:p>
          <a:p>
            <a:pPr marL="576580" marR="0" lvl="1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pt-BR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pt-BR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pt-BR" altLang="zh-CN" sz="22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kumimoji="0" lang="pt-BR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是一个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pt-BR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pt-BR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</a:t>
            </a:r>
            <a:r>
              <a:rPr kumimoji="0" lang="pt-BR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pt-BR" altLang="zh-CN" sz="22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 </a:t>
            </a:r>
            <a:r>
              <a:rPr kumimoji="0" lang="pt-BR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pt-BR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</a:t>
            </a:r>
            <a:r>
              <a:rPr kumimoji="0" lang="pt-BR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pt-BR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pt-BR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pt-BR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))</a:t>
            </a:r>
            <a:r>
              <a:rPr kumimoji="0" lang="pt-BR" altLang="zh-CN" sz="22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kumimoji="0" lang="pt-BR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576580" marR="0" lvl="1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是一个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=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 txBox="1"/>
          <p:nvPr/>
        </p:nvSpPr>
        <p:spPr bwMode="auto">
          <a:xfrm>
            <a:off x="1117600" y="4487863"/>
            <a:ext cx="4390504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+mn-cs"/>
              </a:rPr>
              <a:t>运算的优先级：</a:t>
            </a:r>
            <a:r>
              <a:rPr kumimoji="0" lang="zh-CN" altLang="en-US" sz="25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" pitchFamily="49" charset="-122"/>
                <a:cs typeface="+mn-cs"/>
              </a:rPr>
              <a:t>*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+mn-cs"/>
              </a:rPr>
              <a:t>、</a:t>
            </a:r>
            <a:r>
              <a:rPr kumimoji="0" lang="zh-CN" altLang="en-US" sz="25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" pitchFamily="49" charset="-122"/>
                <a:cs typeface="+mn-cs"/>
              </a:rPr>
              <a:t>连接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+mn-cs"/>
              </a:rPr>
              <a:t>、</a:t>
            </a:r>
            <a:r>
              <a:rPr kumimoji="0" lang="en-US" altLang="zh-CN" sz="25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" pitchFamily="49" charset="-122"/>
                <a:cs typeface="+mn-cs"/>
              </a:rPr>
              <a:t>|</a:t>
            </a:r>
            <a:endParaRPr kumimoji="0" lang="zh-CN" altLang="en-US" sz="2500" b="1" kern="1200" cap="none" spc="0" normalizeH="0" baseline="0" noProof="0" dirty="0">
              <a:solidFill>
                <a:srgbClr val="FF0000"/>
              </a:solidFill>
              <a:latin typeface="Times New Roman" panose="02020603050405020304" pitchFamily="18" charset="0"/>
              <a:ea typeface="楷体" pitchFamily="49" charset="-122"/>
              <a:cs typeface="+mn-cs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正则表达式的定义</a:t>
            </a:r>
          </a:p>
        </p:txBody>
      </p:sp>
      <p:grpSp>
        <p:nvGrpSpPr>
          <p:cNvPr id="12293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2296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2" name="内容占位符 2"/>
          <p:cNvSpPr txBox="1"/>
          <p:nvPr/>
        </p:nvSpPr>
        <p:spPr bwMode="auto">
          <a:xfrm>
            <a:off x="442913" y="714375"/>
            <a:ext cx="8058150" cy="642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3050" marR="0" indent="-273050" defTabSz="914400" eaLnBrk="1" hangingPunct="1">
              <a:lnSpc>
                <a:spcPts val="4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l-GR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ε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是一个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l-GR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el-GR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l-GR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l-GR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{</a:t>
            </a:r>
            <a:r>
              <a:rPr kumimoji="0" lang="el-GR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el-GR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  <a:p>
            <a:pPr marL="273050" marR="0" indent="-273050" defTabSz="914400" eaLnBrk="1" hangingPunct="1">
              <a:lnSpc>
                <a:spcPts val="4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l-GR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∈∑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是一个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= {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109538" y="703263"/>
            <a:ext cx="882015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令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∑ = 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}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，则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|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=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∪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={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}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∪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} = 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}</a:t>
            </a:r>
          </a:p>
          <a:p>
            <a:pPr marL="576580" marR="0" lvl="1" indent="-273050" algn="l" defTabSz="914400" rtl="0" eaLnBrk="1" fontAlgn="base" latinLnBrk="0" hangingPunct="1">
              <a:lnSpc>
                <a:spcPts val="4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|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)(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|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=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|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|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)={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}{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}= {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bb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}</a:t>
            </a:r>
          </a:p>
          <a:p>
            <a:pPr marL="576580" marR="0" lvl="1" indent="-273050" algn="l" defTabSz="914400" rtl="0" eaLnBrk="1" fontAlgn="base" latinLnBrk="0" hangingPunct="1">
              <a:lnSpc>
                <a:spcPts val="4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=</a:t>
            </a:r>
            <a:r>
              <a:rPr kumimoji="0" lang="pt-BR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</a:t>
            </a:r>
            <a:r>
              <a:rPr kumimoji="0" lang="pt-BR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pt-BR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pt-BR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))</a:t>
            </a:r>
            <a:r>
              <a:rPr kumimoji="0" lang="pt-BR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= 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}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= {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ε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aaa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. . . }</a:t>
            </a:r>
          </a:p>
          <a:p>
            <a:pPr marL="576580" marR="0" lvl="1" indent="-273050" algn="l" defTabSz="914400" rtl="0" eaLnBrk="1" fontAlgn="base" latinLnBrk="0" hangingPunct="1">
              <a:lnSpc>
                <a:spcPts val="4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|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= </a:t>
            </a:r>
            <a:r>
              <a:rPr kumimoji="0" lang="pt-BR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pt-B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pt-BR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|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pt-BR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))</a:t>
            </a:r>
            <a:r>
              <a:rPr kumimoji="0" lang="pt-BR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</a:t>
            </a:r>
            <a:r>
              <a:rPr kumimoji="0" lang="pt-BR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= 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}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= {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ε, 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aaa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. . .}</a:t>
            </a:r>
          </a:p>
          <a:p>
            <a:pPr marL="576580" marR="0" lvl="1" indent="-273050" algn="l" defTabSz="914400" rtl="0" eaLnBrk="1" fontAlgn="base" latinLnBrk="0" hangingPunct="1">
              <a:lnSpc>
                <a:spcPts val="4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|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= {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aab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aaab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. . .}</a:t>
            </a:r>
          </a:p>
          <a:p>
            <a:pPr marL="0" marR="0" lvl="0" indent="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例</a:t>
            </a:r>
          </a:p>
        </p:txBody>
      </p:sp>
      <p:grpSp>
        <p:nvGrpSpPr>
          <p:cNvPr id="14340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342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800100" y="928688"/>
            <a:ext cx="8201025" cy="322580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十进制整数的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RE</a:t>
            </a:r>
            <a:endParaRPr lang="zh-CN" altLang="en-US" sz="3000" b="1" i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lvl="1" algn="just" eaLnBrk="1" hangingPunct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(1|...|9)(0|...|9)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*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|0</a:t>
            </a:r>
          </a:p>
          <a:p>
            <a:pPr algn="just" eaLnBrk="1" hangingPunct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八进制整数的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RE</a:t>
            </a:r>
          </a:p>
          <a:p>
            <a:pPr lvl="1" algn="just" eaLnBrk="1" hangingPunct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  <a:cs typeface="+mn-cs"/>
              </a:rPr>
              <a:t>0(0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|1|2|3|4|5|6|7)(0|1|2|3|4|5|6|7)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*</a:t>
            </a:r>
          </a:p>
          <a:p>
            <a:pPr algn="just" eaLnBrk="1" hangingPunct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十六进制整数的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RE</a:t>
            </a:r>
            <a:endParaRPr lang="zh-CN" altLang="en-US" sz="3000" b="1" i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lvl="1" algn="just" eaLnBrk="1" hangingPunct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  <a:cs typeface="+mn-cs"/>
              </a:rPr>
              <a:t>0</a:t>
            </a:r>
            <a:r>
              <a:rPr lang="en-US" altLang="zh-CN" sz="25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  <a:cs typeface="+mn-cs"/>
              </a:rPr>
              <a:t>x</a:t>
            </a:r>
            <a:r>
              <a:rPr lang="en-US" altLang="zh-CN" sz="25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  <a:cs typeface="+mn-cs"/>
              </a:rPr>
              <a:t>(0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|1|...|9|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a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|...|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f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A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|…|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F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)(0|...|9|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a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|...|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f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|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A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|…|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F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*</a:t>
            </a:r>
          </a:p>
          <a:p>
            <a:pPr eaLnBrk="1" hangingPunct="1">
              <a:lnSpc>
                <a:spcPct val="80000"/>
              </a:lnSpc>
              <a:buSzPct val="100000"/>
            </a:pPr>
            <a:endParaRPr lang="zh-CN" altLang="en-US" sz="2500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例：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语言无符号整数的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RE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6388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6390" name="五边形 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401638" y="1000125"/>
            <a:ext cx="8742362" cy="24384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5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可以用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RE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定义的语言叫做</a:t>
            </a:r>
            <a:endParaRPr lang="en-US" altLang="zh-CN" sz="30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5000"/>
              </a:lnSpc>
              <a:buClrTx/>
              <a:buSzPct val="100000"/>
              <a:buFont typeface="Symbol" pitchFamily="18" charset="2"/>
              <a:buNone/>
            </a:pPr>
            <a:r>
              <a:rPr lang="en-US" altLang="zh-CN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</a:t>
            </a:r>
            <a:r>
              <a:rPr lang="zh-CN" altLang="en-US" sz="3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正则语言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regular language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或</a:t>
            </a:r>
            <a:r>
              <a:rPr lang="zh-CN" altLang="en-US" sz="3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正则集合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regular set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endParaRPr lang="zh-CN" altLang="en-US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ClrTx/>
              <a:buSzPct val="100000"/>
              <a:buFont typeface="Symbol" pitchFamily="18" charset="2"/>
              <a:buNone/>
            </a:pPr>
            <a:endParaRPr lang="zh-CN" altLang="en-US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22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正则语言</a:t>
            </a:r>
          </a:p>
        </p:txBody>
      </p:sp>
      <p:grpSp>
        <p:nvGrpSpPr>
          <p:cNvPr id="18436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8438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RE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的代数定律</a:t>
            </a:r>
          </a:p>
        </p:txBody>
      </p:sp>
      <p:grpSp>
        <p:nvGrpSpPr>
          <p:cNvPr id="20483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0514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7" name="Group 1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6911557"/>
              </p:ext>
            </p:extLst>
          </p:nvPr>
        </p:nvGraphicFramePr>
        <p:xfrm>
          <a:off x="849313" y="785813"/>
          <a:ext cx="7437437" cy="4090987"/>
        </p:xfrm>
        <a:graphic>
          <a:graphicData uri="http://schemas.openxmlformats.org/drawingml/2006/table">
            <a:tbl>
              <a:tblPr/>
              <a:tblGrid>
                <a:gridCol w="4032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9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定律</a:t>
                      </a:r>
                    </a:p>
                  </a:txBody>
                  <a:tcPr marL="100255" marR="100255" marT="37589" marB="375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描述</a:t>
                      </a:r>
                    </a:p>
                  </a:txBody>
                  <a:tcPr marL="100255" marR="100255" marT="37589" marB="375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r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endParaRPr lang="zh-CN" altLang="en-US" sz="2400" b="1" i="1" spc="-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｜是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可以交换的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zh-CN" altLang="en-US" sz="2400" b="1" i="0" kern="190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   </a:t>
                      </a:r>
                      <a:r>
                        <a:rPr lang="zh-CN" altLang="en-US" sz="2400" b="1" i="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t  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zh-CN" altLang="en-US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s  </a:t>
                      </a:r>
                      <a:r>
                        <a:rPr lang="zh-CN" altLang="en-US" sz="2400" b="1" i="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   </a:t>
                      </a:r>
                      <a:r>
                        <a:rPr kumimoji="0" lang="zh-CN" altLang="en-US" sz="2400" b="1" i="0" u="none" strike="noStrike" kern="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    ｜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endParaRPr lang="zh-CN" altLang="en-US" sz="2400" b="1" i="1" spc="-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｜是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可结合的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 r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    t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    s  </a:t>
                      </a:r>
                      <a:r>
                        <a:rPr lang="zh-CN" altLang="en-US" sz="2400" b="1" i="0" spc="-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b="1" i="1" spc="-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t</a:t>
                      </a:r>
                      <a:endParaRPr lang="zh-CN" altLang="en-US" sz="2400" b="1" i="0" spc="-6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连接是可结合的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     r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=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r    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r   t  </a:t>
                      </a:r>
                      <a:r>
                        <a:rPr lang="en-US" altLang="zh-CN" sz="2400" b="1" i="0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;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   </a:t>
                      </a:r>
                    </a:p>
                    <a:p>
                      <a:pPr algn="l"/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（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t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     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=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t    r                                                               </a:t>
                      </a:r>
                      <a:endParaRPr lang="zh-CN" altLang="en-US" sz="24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连接对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是可分配的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=  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=  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endParaRPr lang="zh-CN" altLang="en-US" sz="2400" b="1" i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楷体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2800" b="1" i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是连接的单位元</a:t>
                      </a:r>
                      <a:endParaRPr kumimoji="0" lang="zh-CN" altLang="en-US" sz="2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2400" b="1" spc="-5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zh-CN" altLang="en-US" sz="2400" b="1" i="0" spc="-5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zh-CN" altLang="en-US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b="1" i="0" spc="-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        </a:t>
                      </a:r>
                      <a:r>
                        <a:rPr lang="en-US" altLang="zh-CN" sz="2400" b="0" i="0" spc="-10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zh-CN" altLang="en-US" sz="2400" b="1" i="0" spc="-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400" b="0" i="0" spc="-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闭包中一定包含 </a:t>
                      </a:r>
                      <a:r>
                        <a:rPr lang="en-US" altLang="zh-CN" sz="2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endParaRPr kumimoji="0" lang="zh-CN" altLang="en-US" sz="2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 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**</a:t>
                      </a:r>
                      <a:r>
                        <a:rPr lang="en-US" altLang="zh-CN" sz="2400" b="1" spc="-15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=   </a:t>
                      </a:r>
                      <a:r>
                        <a:rPr lang="en-US" altLang="zh-CN" sz="2400" b="1" i="1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*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楷体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2400" b="1" i="1" spc="-15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楷体" pitchFamily="49" charset="-122"/>
                          <a:cs typeface="Times New Roman" panose="02020603050405020304" pitchFamily="18" charset="0"/>
                        </a:rPr>
                        <a:t>具有幂等性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28625" y="1000125"/>
            <a:ext cx="7643813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对任何正则文法 </a:t>
            </a:r>
            <a:r>
              <a:rPr lang="en-US" altLang="zh-CN" sz="3000" b="1" i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，存在定义同一语言的正则表达式 </a:t>
            </a:r>
            <a:r>
              <a:rPr lang="en-US" altLang="zh-CN" sz="3000" b="1" i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</a:t>
            </a:r>
            <a:endParaRPr lang="zh-CN" altLang="en-US" sz="3000" b="1" kern="12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对任何正则表达式 </a:t>
            </a:r>
            <a:r>
              <a:rPr lang="en-US" altLang="zh-CN" sz="3000" b="1" i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，存在生成同一语言的正则文法 </a:t>
            </a:r>
            <a:r>
              <a:rPr lang="en-US" altLang="zh-CN" sz="3000" b="1" i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</a:t>
            </a:r>
            <a:r>
              <a:rPr lang="en-US" altLang="zh-CN" sz="3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endParaRPr lang="zh-CN" altLang="en-US" sz="3000" b="1" kern="12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正则文法与正则表达式等价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楷体_GB2312"/>
            </a:endParaRPr>
          </a:p>
        </p:txBody>
      </p:sp>
      <p:grpSp>
        <p:nvGrpSpPr>
          <p:cNvPr id="22532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2534" name="五边形 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357188" y="857250"/>
            <a:ext cx="8001000" cy="3929063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ts val="32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正则定义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是具有如下形式的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定义序列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ts val="25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		d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→r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</a:p>
          <a:p>
            <a:pPr marL="457200" marR="0" lvl="1" indent="0" algn="l" defTabSz="914400" rtl="0" eaLnBrk="1" fontAlgn="auto" latinLnBrk="0" hangingPunct="1">
              <a:lnSpc>
                <a:spcPts val="25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		d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→r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</a:p>
          <a:p>
            <a:pPr marL="457200" marR="0" lvl="1" indent="0" algn="l" defTabSz="914400" rtl="0" eaLnBrk="1" fontAlgn="auto" latinLnBrk="0" hangingPunct="1">
              <a:lnSpc>
                <a:spcPts val="25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			   …</a:t>
            </a:r>
          </a:p>
          <a:p>
            <a:pPr marL="457200" marR="0" lvl="1" indent="0" algn="l" defTabSz="914400" rtl="0" eaLnBrk="1" fontAlgn="auto" latinLnBrk="0" hangingPunct="1">
              <a:lnSpc>
                <a:spcPts val="25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			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d</a:t>
            </a:r>
            <a:r>
              <a:rPr kumimoji="0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→r</a:t>
            </a:r>
            <a:r>
              <a:rPr kumimoji="0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endParaRPr kumimoji="0" lang="en-US" altLang="zh-CN" sz="2500" b="1" i="1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274320" marR="0" lvl="0" indent="-274320" algn="l" defTabSz="914400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其中：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ts val="35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每个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d</a:t>
            </a:r>
            <a:r>
              <a:rPr kumimoji="0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都是一个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新符号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，它们都不在字母表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Σ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中，而且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各不相同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ts val="35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每个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r</a:t>
            </a:r>
            <a:r>
              <a:rPr kumimoji="0" lang="en-US" altLang="zh-CN" sz="25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是字母表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Σ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∪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d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1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d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2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, … ,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d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-1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}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上的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正则表达式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正则定</a:t>
            </a:r>
            <a:r>
              <a:rPr kumimoji="0" lang="zh-CN" altLang="en-US" sz="3000" b="1" i="0" u="none" strike="noStrike" kern="1200" cap="none" spc="-5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义</a:t>
            </a:r>
            <a:r>
              <a:rPr kumimoji="0" lang="zh-CN" altLang="en-US" sz="2500" b="1" i="0" u="none" strike="noStrike" kern="1200" cap="none" spc="-5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（ 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Regular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Definition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</a:p>
        </p:txBody>
      </p:sp>
      <p:grpSp>
        <p:nvGrpSpPr>
          <p:cNvPr id="28676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8679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427538" y="1611313"/>
            <a:ext cx="3859213" cy="12461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给一些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RE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命名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，并在之后的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RE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中像使用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字母表中的符号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一样使用这些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名字</a:t>
            </a:r>
            <a:endParaRPr kumimoji="0" lang="zh-CN" altLang="en-US" sz="25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1144588" y="928688"/>
            <a:ext cx="5927725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C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语言中标识符的正则定义</a:t>
            </a:r>
            <a:endParaRPr lang="en-US" altLang="zh-CN" sz="30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lvl="1"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 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→ 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0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|1|2|…|9</a:t>
            </a:r>
            <a:endParaRPr lang="zh-CN" altLang="en-US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lvl="1"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letter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_ →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A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B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|…|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Z|a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b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|…|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z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|_</a:t>
            </a:r>
          </a:p>
          <a:p>
            <a:pPr lvl="1"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id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→ 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letter_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(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letter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_|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</a:t>
            </a:r>
            <a:r>
              <a:rPr lang="en-US" altLang="zh-CN" sz="28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*</a:t>
            </a:r>
          </a:p>
          <a:p>
            <a:pPr eaLnBrk="1" hangingPunct="1">
              <a:lnSpc>
                <a:spcPts val="4500"/>
              </a:lnSpc>
              <a:buSzPct val="100000"/>
              <a:buFont typeface="Symbol" pitchFamily="18" charset="2"/>
              <a:buNone/>
            </a:pPr>
            <a:endParaRPr lang="zh-CN" altLang="en-US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例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1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0724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0726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157163" y="714375"/>
            <a:ext cx="9129712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（整型或浮点型）无符号数的正则定义</a:t>
            </a:r>
            <a:endParaRPr lang="zh-CN" altLang="en-US" sz="3000" b="1" kern="1200" dirty="0">
              <a:solidFill>
                <a:schemeClr val="tx1"/>
              </a:solidFill>
              <a:latin typeface="楷体_GB2312"/>
              <a:ea typeface="楷体_GB2312"/>
              <a:cs typeface="+mn-cs"/>
            </a:endParaRPr>
          </a:p>
          <a:p>
            <a:pPr lvl="1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 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→ 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0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|1|2|…|9</a:t>
            </a:r>
            <a:endParaRPr lang="zh-CN" altLang="en-US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lvl="1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digits 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→ 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 digit</a:t>
            </a:r>
            <a:r>
              <a:rPr lang="en-US" altLang="zh-CN" sz="2800" b="1" i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*</a:t>
            </a:r>
            <a:endParaRPr lang="en-US" altLang="zh-CN" sz="2800" b="1" i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lvl="1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optionalFraction 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→ .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digits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</a:p>
          <a:p>
            <a:pPr lvl="1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optionalExponent 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→ (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E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(+|-|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digits 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</a:p>
          <a:p>
            <a:pPr lvl="1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number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→ 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digits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optionalFraction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optionalExponent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例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2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2772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2775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28625" y="4357688"/>
            <a:ext cx="8280400" cy="4619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	2.15	2.15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+3	2.15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	2.15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		2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616450" y="1714500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500" kern="1200" cap="none" spc="6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有穷自动机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5000625" y="1344613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第三章 词法分析</a:t>
            </a:r>
            <a:endParaRPr kumimoji="0" lang="zh-CN" altLang="en-US" sz="8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857750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kern="1200" cap="none" spc="0" normalizeH="0" baseline="0" noProof="0" dirty="0">
                <a:solidFill>
                  <a:schemeClr val="bg1"/>
                </a:solidFill>
                <a:latin typeface="+mj-lt"/>
                <a:ea typeface="楷体" pitchFamily="49" charset="-122"/>
                <a:cs typeface="+mj-cs"/>
              </a:rPr>
              <a:t> </a:t>
            </a:r>
            <a:endParaRPr kumimoji="0" lang="zh-CN" altLang="en-US" sz="2000" b="1" kern="1200" cap="none" spc="6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703263"/>
            <a:ext cx="8464425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有穷自动机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Finite Automata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由两位神经物理学家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MeCuloch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Pitts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于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1948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年首先提出，是对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一类处理系统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建立的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数学模型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这类系统具有一系列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离散的输入输出信息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有穷数目的内部状态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（状态：概括了对过去输入信息处理的状况）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系统只需要根据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当前所处的状态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当前面临的输入信息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就可以决定系统的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后继行为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。每当系统处理了当前的输入后，系统的内部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状态也将发生改变</a:t>
            </a:r>
          </a:p>
        </p:txBody>
      </p:sp>
      <p:sp>
        <p:nvSpPr>
          <p:cNvPr id="2458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有穷自动机 </a:t>
            </a:r>
          </a:p>
        </p:txBody>
      </p:sp>
      <p:grpSp>
        <p:nvGrpSpPr>
          <p:cNvPr id="38916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8918" name="五边形 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000125"/>
            <a:ext cx="8201025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" pitchFamily="49" charset="-122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输入带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input tape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：用来存放输入符号串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读头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head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：从左向右逐个读取输入符号，不能修改（只读）、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不能往返移动</a:t>
            </a: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有穷控制器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finite control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：具有有穷个状态数，根据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当前的 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itchFamily="49" charset="-122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状态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和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当前输入符号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控制转入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下一状态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itchFamily="49" charset="-122"/>
              <a:ea typeface="+mn-ea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000" b="1" i="1" kern="1200" cap="none" spc="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FA</a:t>
            </a:r>
            <a:r>
              <a:rPr kumimoji="0" lang="zh-CN" altLang="en-US" sz="3000" b="1" kern="1200" cap="none" spc="30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模型</a:t>
            </a:r>
            <a:endParaRPr kumimoji="0" lang="zh-CN" altLang="en-US" sz="3000" b="1" kern="1200" cap="none" spc="300" normalizeH="0" baseline="0" noProof="0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3012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3030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3013" name="组合 36"/>
          <p:cNvGrpSpPr/>
          <p:nvPr/>
        </p:nvGrpSpPr>
        <p:grpSpPr>
          <a:xfrm>
            <a:off x="2157413" y="857250"/>
            <a:ext cx="4286250" cy="1744663"/>
            <a:chOff x="642910" y="714362"/>
            <a:chExt cx="4286280" cy="1745290"/>
          </a:xfrm>
        </p:grpSpPr>
        <p:grpSp>
          <p:nvGrpSpPr>
            <p:cNvPr id="43014" name="组合 33"/>
            <p:cNvGrpSpPr/>
            <p:nvPr/>
          </p:nvGrpSpPr>
          <p:grpSpPr>
            <a:xfrm>
              <a:off x="1643042" y="714362"/>
              <a:ext cx="3286148" cy="1745290"/>
              <a:chOff x="1643042" y="714362"/>
              <a:chExt cx="3286148" cy="1745290"/>
            </a:xfrm>
          </p:grpSpPr>
          <p:sp>
            <p:nvSpPr>
              <p:cNvPr id="43017" name="TextBox 10"/>
              <p:cNvSpPr txBox="1"/>
              <p:nvPr/>
            </p:nvSpPr>
            <p:spPr>
              <a:xfrm>
                <a:off x="1643042" y="714362"/>
                <a:ext cx="3286148" cy="55399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endParaRPr lang="zh-CN" altLang="en-US" sz="30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 rot="5400000" flipH="1" flipV="1">
                <a:off x="1846144" y="1000215"/>
                <a:ext cx="571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rot="5400000" flipH="1" flipV="1">
                <a:off x="2307315" y="999421"/>
                <a:ext cx="57170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rot="5400000" flipH="1" flipV="1">
                <a:off x="2778806" y="999421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rot="5400000" flipH="1" flipV="1">
                <a:off x="3246329" y="1000215"/>
                <a:ext cx="571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rot="5400000" flipH="1" flipV="1">
                <a:off x="3713850" y="999421"/>
                <a:ext cx="57170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rot="5400000" flipH="1" flipV="1">
                <a:off x="4182166" y="999421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24" name="TextBox 26"/>
              <p:cNvSpPr txBox="1"/>
              <p:nvPr/>
            </p:nvSpPr>
            <p:spPr>
              <a:xfrm>
                <a:off x="1643042" y="1278488"/>
                <a:ext cx="3286148" cy="10772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>
                <a:spAutoFit/>
              </a:bodyPr>
              <a:lstStyle/>
              <a:p>
                <a:endParaRPr lang="zh-CN" altLang="en-US" sz="1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 rot="5400000" flipH="1" flipV="1">
                <a:off x="2572430" y="1571126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rot="5400000" flipH="1" flipV="1">
                <a:off x="2751100" y="1321018"/>
                <a:ext cx="142926" cy="730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rot="16200000" flipV="1">
                <a:off x="2822537" y="1322606"/>
                <a:ext cx="142926" cy="698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2428859" y="1875242"/>
                <a:ext cx="857256" cy="58441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marR="0" algn="ctr" defTabSz="914400"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kern="1200" cap="none" spc="0" normalizeH="0" baseline="0" noProof="0" dirty="0">
                    <a:latin typeface="+mn-ea"/>
                    <a:ea typeface="+mn-ea"/>
                    <a:cs typeface="+mn-cs"/>
                  </a:rPr>
                  <a:t>有穷</a:t>
                </a:r>
                <a:endParaRPr kumimoji="0" lang="en-US" altLang="zh-CN" sz="1600" b="1" kern="1200" cap="none" spc="0" normalizeH="0" baseline="0" noProof="0" dirty="0">
                  <a:latin typeface="+mn-ea"/>
                  <a:ea typeface="+mn-ea"/>
                  <a:cs typeface="+mn-cs"/>
                </a:endParaRPr>
              </a:p>
              <a:p>
                <a:pPr marR="0" algn="ctr" defTabSz="914400"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kern="1200" cap="none" spc="0" normalizeH="0" baseline="0" noProof="0" dirty="0">
                    <a:latin typeface="+mn-ea"/>
                    <a:ea typeface="+mn-ea"/>
                    <a:cs typeface="+mn-cs"/>
                  </a:rPr>
                  <a:t>控制器</a:t>
                </a: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3000363" y="1357531"/>
              <a:ext cx="642943" cy="36843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0" dirty="0">
                  <a:latin typeface="+mn-ea"/>
                  <a:ea typeface="+mn-ea"/>
                  <a:cs typeface="+mn-cs"/>
                </a:rPr>
                <a:t>读头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2910" y="844584"/>
              <a:ext cx="1071569" cy="37002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0" dirty="0">
                  <a:latin typeface="+mn-ea"/>
                  <a:ea typeface="+mn-ea"/>
                  <a:cs typeface="+mn-cs"/>
                </a:rPr>
                <a:t>输入带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285750" y="703263"/>
            <a:ext cx="807243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转换图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Transition Graph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  <a:p>
            <a:pPr marL="576580" marR="0" lvl="1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结点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状态</a:t>
            </a:r>
          </a:p>
          <a:p>
            <a:pPr marL="855980" marR="0" lvl="2" indent="-22860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初始状态（开始状态）：只有一个，由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start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箭头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指向</a:t>
            </a:r>
          </a:p>
          <a:p>
            <a:pPr marL="855980" marR="0" lvl="2" indent="-22860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终止状态（接收状态）：可以有多个，用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双圈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表示</a:t>
            </a:r>
          </a:p>
          <a:p>
            <a:pPr marL="576580" marR="0" lvl="1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带标记的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有向边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：如果对于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输入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，存在一个从状态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到状 态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q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的转换，就在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、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q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之间画一条有向边，并标记上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000" b="1" i="1" kern="1200" cap="none" spc="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FA</a:t>
            </a:r>
            <a:r>
              <a:rPr kumimoji="0" lang="zh-CN" altLang="en-US" sz="3000" b="1" kern="1200" cap="none" spc="30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的表示</a:t>
            </a:r>
            <a:endParaRPr kumimoji="0" lang="zh-CN" altLang="en-US" sz="3000" b="1" kern="1200" cap="none" spc="300" normalizeH="0" baseline="0" noProof="0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5060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5081" name="五边形 9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5061" name="组合 37"/>
          <p:cNvGrpSpPr/>
          <p:nvPr/>
        </p:nvGrpSpPr>
        <p:grpSpPr>
          <a:xfrm>
            <a:off x="857250" y="3565525"/>
            <a:ext cx="5500688" cy="1506538"/>
            <a:chOff x="928662" y="3675780"/>
            <a:chExt cx="5500726" cy="1506714"/>
          </a:xfrm>
        </p:grpSpPr>
        <p:grpSp>
          <p:nvGrpSpPr>
            <p:cNvPr id="45062" name="组合 9"/>
            <p:cNvGrpSpPr/>
            <p:nvPr/>
          </p:nvGrpSpPr>
          <p:grpSpPr>
            <a:xfrm>
              <a:off x="928662" y="3675780"/>
              <a:ext cx="5500726" cy="1090001"/>
              <a:chOff x="2339752" y="4162003"/>
              <a:chExt cx="3622043" cy="790575"/>
            </a:xfrm>
          </p:grpSpPr>
          <p:sp>
            <p:nvSpPr>
              <p:cNvPr id="45071" name="Oval 10"/>
              <p:cNvSpPr/>
              <p:nvPr/>
            </p:nvSpPr>
            <p:spPr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楷体_GB2312"/>
                  </a:rPr>
                  <a:t>0</a:t>
                </a:r>
              </a:p>
            </p:txBody>
          </p:sp>
          <p:sp>
            <p:nvSpPr>
              <p:cNvPr id="45072" name="Line 13"/>
              <p:cNvSpPr/>
              <p:nvPr/>
            </p:nvSpPr>
            <p:spPr>
              <a:xfrm>
                <a:off x="3419690" y="4731545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45073" name="Line 16"/>
              <p:cNvSpPr/>
              <p:nvPr/>
            </p:nvSpPr>
            <p:spPr>
              <a:xfrm>
                <a:off x="4221333" y="4726809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45074" name="Line 21"/>
              <p:cNvSpPr/>
              <p:nvPr/>
            </p:nvSpPr>
            <p:spPr>
              <a:xfrm>
                <a:off x="5021004" y="4723834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45075" name="Oval 23"/>
              <p:cNvSpPr/>
              <p:nvPr/>
            </p:nvSpPr>
            <p:spPr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楷体_GB2312"/>
                  </a:rPr>
                  <a:t>3</a:t>
                </a:r>
              </a:p>
            </p:txBody>
          </p:sp>
          <p:sp>
            <p:nvSpPr>
              <p:cNvPr id="45076" name="Oval 39"/>
              <p:cNvSpPr/>
              <p:nvPr/>
            </p:nvSpPr>
            <p:spPr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5077" name="Rectangle 22"/>
              <p:cNvSpPr/>
              <p:nvPr/>
            </p:nvSpPr>
            <p:spPr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start</a:t>
                </a:r>
              </a:p>
            </p:txBody>
          </p:sp>
          <p:sp>
            <p:nvSpPr>
              <p:cNvPr id="45078" name="Line 21"/>
              <p:cNvSpPr/>
              <p:nvPr/>
            </p:nvSpPr>
            <p:spPr>
              <a:xfrm flipV="1">
                <a:off x="2844679" y="4725144"/>
                <a:ext cx="252464" cy="8957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45079" name="Rectangle 22"/>
              <p:cNvSpPr/>
              <p:nvPr/>
            </p:nvSpPr>
            <p:spPr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a</a:t>
                </a:r>
              </a:p>
            </p:txBody>
          </p:sp>
        </p:grpSp>
        <p:sp>
          <p:nvSpPr>
            <p:cNvPr id="45063" name="Rectangle 22"/>
            <p:cNvSpPr/>
            <p:nvPr/>
          </p:nvSpPr>
          <p:spPr>
            <a:xfrm>
              <a:off x="2214546" y="4786328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45064" name="Oval 10"/>
            <p:cNvSpPr/>
            <p:nvPr/>
          </p:nvSpPr>
          <p:spPr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  <p:sp>
          <p:nvSpPr>
            <p:cNvPr id="45065" name="Oval 10"/>
            <p:cNvSpPr/>
            <p:nvPr/>
          </p:nvSpPr>
          <p:spPr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  <p:sp>
          <p:nvSpPr>
            <p:cNvPr id="45066" name="Rectangle 22"/>
            <p:cNvSpPr/>
            <p:nvPr/>
          </p:nvSpPr>
          <p:spPr>
            <a:xfrm>
              <a:off x="2519448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a</a:t>
              </a:r>
            </a:p>
          </p:txBody>
        </p:sp>
        <p:sp>
          <p:nvSpPr>
            <p:cNvPr id="45067" name="Rectangle 22"/>
            <p:cNvSpPr/>
            <p:nvPr/>
          </p:nvSpPr>
          <p:spPr>
            <a:xfrm>
              <a:off x="3786182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45068" name="Rectangle 22"/>
            <p:cNvSpPr/>
            <p:nvPr/>
          </p:nvSpPr>
          <p:spPr>
            <a:xfrm>
              <a:off x="4948340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45069" name="Freeform 11"/>
            <p:cNvSpPr/>
            <p:nvPr/>
          </p:nvSpPr>
          <p:spPr>
            <a:xfrm flipH="1">
              <a:off x="1991843" y="3840019"/>
              <a:ext cx="534010" cy="429463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Freeform 11"/>
            <p:cNvSpPr/>
            <p:nvPr/>
          </p:nvSpPr>
          <p:spPr>
            <a:xfrm flipH="1" flipV="1">
              <a:off x="1991843" y="4627806"/>
              <a:ext cx="534010" cy="419104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442913" y="714375"/>
            <a:ext cx="7986713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给定输入串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如果存在一个对应于串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的从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初始状态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到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某个终止状态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的转换序列，则称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串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被该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接收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由一个有穷自动机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接收的所有串构成的集合称为是该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定义（或接收）的语言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，记为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</a:p>
        </p:txBody>
      </p:sp>
      <p:sp>
        <p:nvSpPr>
          <p:cNvPr id="2867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FA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定</a:t>
            </a:r>
            <a:r>
              <a:rPr kumimoji="0" lang="zh-CN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义（接 收）的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语言</a:t>
            </a:r>
          </a:p>
        </p:txBody>
      </p:sp>
      <p:sp>
        <p:nvSpPr>
          <p:cNvPr id="33797" name="矩形 4"/>
          <p:cNvSpPr>
            <a:spLocks noChangeArrowheads="1"/>
          </p:cNvSpPr>
          <p:nvPr/>
        </p:nvSpPr>
        <p:spPr bwMode="auto">
          <a:xfrm>
            <a:off x="684213" y="4379913"/>
            <a:ext cx="7416800" cy="477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所有以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abb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结尾的字母表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a, 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}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上的串的集合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47109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7131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" name="组合 8"/>
          <p:cNvGrpSpPr/>
          <p:nvPr/>
        </p:nvGrpSpPr>
        <p:grpSpPr>
          <a:xfrm>
            <a:off x="2051050" y="2857500"/>
            <a:ext cx="5500688" cy="1506538"/>
            <a:chOff x="928659" y="3675785"/>
            <a:chExt cx="5500722" cy="1506709"/>
          </a:xfrm>
        </p:grpSpPr>
        <p:grpSp>
          <p:nvGrpSpPr>
            <p:cNvPr id="47112" name="组合 9"/>
            <p:cNvGrpSpPr/>
            <p:nvPr/>
          </p:nvGrpSpPr>
          <p:grpSpPr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47121" name="Oval 10"/>
              <p:cNvSpPr/>
              <p:nvPr/>
            </p:nvSpPr>
            <p:spPr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楷体_GB2312"/>
                  </a:rPr>
                  <a:t>0</a:t>
                </a:r>
              </a:p>
            </p:txBody>
          </p:sp>
          <p:sp>
            <p:nvSpPr>
              <p:cNvPr id="47122" name="Line 13"/>
              <p:cNvSpPr/>
              <p:nvPr/>
            </p:nvSpPr>
            <p:spPr>
              <a:xfrm>
                <a:off x="3419690" y="4731545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47123" name="Line 16"/>
              <p:cNvSpPr/>
              <p:nvPr/>
            </p:nvSpPr>
            <p:spPr>
              <a:xfrm>
                <a:off x="4221333" y="4726809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47124" name="Line 21"/>
              <p:cNvSpPr/>
              <p:nvPr/>
            </p:nvSpPr>
            <p:spPr>
              <a:xfrm>
                <a:off x="5021004" y="4723834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47125" name="Oval 23"/>
              <p:cNvSpPr/>
              <p:nvPr/>
            </p:nvSpPr>
            <p:spPr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楷体_GB2312"/>
                  </a:rPr>
                  <a:t>3</a:t>
                </a:r>
              </a:p>
            </p:txBody>
          </p:sp>
          <p:sp>
            <p:nvSpPr>
              <p:cNvPr id="47126" name="Oval 39"/>
              <p:cNvSpPr/>
              <p:nvPr/>
            </p:nvSpPr>
            <p:spPr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7127" name="Rectangle 22"/>
              <p:cNvSpPr/>
              <p:nvPr/>
            </p:nvSpPr>
            <p:spPr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start</a:t>
                </a:r>
              </a:p>
            </p:txBody>
          </p:sp>
          <p:sp>
            <p:nvSpPr>
              <p:cNvPr id="47128" name="Line 21"/>
              <p:cNvSpPr/>
              <p:nvPr/>
            </p:nvSpPr>
            <p:spPr>
              <a:xfrm flipV="1">
                <a:off x="2844679" y="4725144"/>
                <a:ext cx="252464" cy="8957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47129" name="Rectangle 22"/>
              <p:cNvSpPr/>
              <p:nvPr/>
            </p:nvSpPr>
            <p:spPr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a</a:t>
                </a:r>
              </a:p>
            </p:txBody>
          </p:sp>
        </p:grpSp>
        <p:sp>
          <p:nvSpPr>
            <p:cNvPr id="47113" name="Rectangle 22"/>
            <p:cNvSpPr/>
            <p:nvPr/>
          </p:nvSpPr>
          <p:spPr>
            <a:xfrm>
              <a:off x="2214546" y="4786328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47114" name="Oval 10"/>
            <p:cNvSpPr/>
            <p:nvPr/>
          </p:nvSpPr>
          <p:spPr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  <p:sp>
          <p:nvSpPr>
            <p:cNvPr id="47115" name="Oval 10"/>
            <p:cNvSpPr/>
            <p:nvPr/>
          </p:nvSpPr>
          <p:spPr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  <p:sp>
          <p:nvSpPr>
            <p:cNvPr id="47116" name="Rectangle 22"/>
            <p:cNvSpPr/>
            <p:nvPr/>
          </p:nvSpPr>
          <p:spPr>
            <a:xfrm>
              <a:off x="2519448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a</a:t>
              </a:r>
            </a:p>
          </p:txBody>
        </p:sp>
        <p:sp>
          <p:nvSpPr>
            <p:cNvPr id="47117" name="Rectangle 22"/>
            <p:cNvSpPr/>
            <p:nvPr/>
          </p:nvSpPr>
          <p:spPr>
            <a:xfrm>
              <a:off x="3786182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47118" name="Rectangle 22"/>
            <p:cNvSpPr/>
            <p:nvPr/>
          </p:nvSpPr>
          <p:spPr>
            <a:xfrm>
              <a:off x="4948340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47119" name="Freeform 11"/>
            <p:cNvSpPr/>
            <p:nvPr/>
          </p:nvSpPr>
          <p:spPr>
            <a:xfrm flipH="1">
              <a:off x="1983454" y="3840019"/>
              <a:ext cx="534010" cy="429463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0" name="Freeform 11"/>
            <p:cNvSpPr/>
            <p:nvPr/>
          </p:nvSpPr>
          <p:spPr>
            <a:xfrm flipH="1" flipV="1">
              <a:off x="1983454" y="4627806"/>
              <a:ext cx="534010" cy="419104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687388" y="3286125"/>
            <a:ext cx="1262063" cy="460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abbaabb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785813"/>
            <a:ext cx="7915275" cy="42338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当输入串的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多个前缀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与一个或多个模式匹配时，总是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选择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最长的前缀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进行匹配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在到达某个终态之后，只要输入带上还有符号，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DFA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就继续前进，以便寻找尽可能长的匹配</a:t>
            </a:r>
          </a:p>
        </p:txBody>
      </p:sp>
      <p:sp>
        <p:nvSpPr>
          <p:cNvPr id="29700" name="标题 1"/>
          <p:cNvSpPr>
            <a:spLocks noGrp="1"/>
          </p:cNvSpPr>
          <p:nvPr>
            <p:ph type="title"/>
          </p:nvPr>
        </p:nvSpPr>
        <p:spPr>
          <a:xfrm>
            <a:off x="571500" y="284163"/>
            <a:ext cx="83883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最长子串匹配原则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(</a:t>
            </a:r>
            <a:r>
              <a:rPr kumimoji="0" lang="en-US" altLang="zh-CN" sz="23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Longest String Matching Principle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)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itchFamily="49" charset="-122"/>
              <a:cs typeface="+mj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74850" y="1928813"/>
            <a:ext cx="4811713" cy="1685925"/>
            <a:chOff x="2339752" y="4366444"/>
            <a:chExt cx="3168352" cy="1222796"/>
          </a:xfrm>
        </p:grpSpPr>
        <p:sp>
          <p:nvSpPr>
            <p:cNvPr id="49160" name="Oval 10"/>
            <p:cNvSpPr/>
            <p:nvPr/>
          </p:nvSpPr>
          <p:spPr>
            <a:xfrm>
              <a:off x="3129755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  <a:ea typeface="楷体_GB2312"/>
                </a:rPr>
                <a:t>0</a:t>
              </a:r>
            </a:p>
          </p:txBody>
        </p:sp>
        <p:sp>
          <p:nvSpPr>
            <p:cNvPr id="49161" name="Line 13"/>
            <p:cNvSpPr/>
            <p:nvPr/>
          </p:nvSpPr>
          <p:spPr>
            <a:xfrm>
              <a:off x="3488530" y="4726806"/>
              <a:ext cx="5048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49162" name="Rectangle 14"/>
            <p:cNvSpPr/>
            <p:nvPr/>
          </p:nvSpPr>
          <p:spPr>
            <a:xfrm>
              <a:off x="3438369" y="4368912"/>
              <a:ext cx="504825" cy="2873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&lt;</a:t>
              </a:r>
            </a:p>
          </p:txBody>
        </p:sp>
        <p:sp>
          <p:nvSpPr>
            <p:cNvPr id="49163" name="Oval 15"/>
            <p:cNvSpPr/>
            <p:nvPr/>
          </p:nvSpPr>
          <p:spPr>
            <a:xfrm>
              <a:off x="4066181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  <p:sp>
          <p:nvSpPr>
            <p:cNvPr id="49164" name="Line 16"/>
            <p:cNvSpPr/>
            <p:nvPr/>
          </p:nvSpPr>
          <p:spPr>
            <a:xfrm>
              <a:off x="4496964" y="4726806"/>
              <a:ext cx="5048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49165" name="Rectangle 17"/>
            <p:cNvSpPr/>
            <p:nvPr/>
          </p:nvSpPr>
          <p:spPr>
            <a:xfrm>
              <a:off x="4496964" y="4366444"/>
              <a:ext cx="504825" cy="2873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=</a:t>
              </a:r>
            </a:p>
          </p:txBody>
        </p:sp>
        <p:sp>
          <p:nvSpPr>
            <p:cNvPr id="49166" name="Oval 18"/>
            <p:cNvSpPr/>
            <p:nvPr/>
          </p:nvSpPr>
          <p:spPr>
            <a:xfrm>
              <a:off x="5073797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  <p:sp>
          <p:nvSpPr>
            <p:cNvPr id="49167" name="Line 21"/>
            <p:cNvSpPr/>
            <p:nvPr/>
          </p:nvSpPr>
          <p:spPr>
            <a:xfrm>
              <a:off x="4499223" y="5376514"/>
              <a:ext cx="5048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49168" name="Rectangle 22"/>
            <p:cNvSpPr/>
            <p:nvPr/>
          </p:nvSpPr>
          <p:spPr>
            <a:xfrm>
              <a:off x="4499223" y="5014564"/>
              <a:ext cx="504825" cy="2873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+</a:t>
              </a:r>
            </a:p>
          </p:txBody>
        </p:sp>
        <p:sp>
          <p:nvSpPr>
            <p:cNvPr id="49169" name="Oval 23"/>
            <p:cNvSpPr/>
            <p:nvPr/>
          </p:nvSpPr>
          <p:spPr>
            <a:xfrm>
              <a:off x="5077072" y="5157439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  <a:ea typeface="楷体_GB2312"/>
                </a:rPr>
                <a:t>4</a:t>
              </a:r>
            </a:p>
          </p:txBody>
        </p:sp>
        <p:sp>
          <p:nvSpPr>
            <p:cNvPr id="49170" name="Oval 39"/>
            <p:cNvSpPr/>
            <p:nvPr/>
          </p:nvSpPr>
          <p:spPr>
            <a:xfrm>
              <a:off x="5004047" y="5086002"/>
              <a:ext cx="503238" cy="50323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9171" name="Rectangle 22"/>
            <p:cNvSpPr/>
            <p:nvPr/>
          </p:nvSpPr>
          <p:spPr>
            <a:xfrm>
              <a:off x="2339752" y="4581913"/>
              <a:ext cx="504927" cy="2872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49172" name="Line 21"/>
            <p:cNvSpPr/>
            <p:nvPr/>
          </p:nvSpPr>
          <p:spPr>
            <a:xfrm flipV="1">
              <a:off x="2844679" y="4725144"/>
              <a:ext cx="252464" cy="895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49173" name="Oval 39"/>
            <p:cNvSpPr/>
            <p:nvPr/>
          </p:nvSpPr>
          <p:spPr>
            <a:xfrm>
              <a:off x="5004866" y="4437112"/>
              <a:ext cx="503238" cy="50323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9174" name="Line 21"/>
            <p:cNvSpPr/>
            <p:nvPr/>
          </p:nvSpPr>
          <p:spPr>
            <a:xfrm>
              <a:off x="3456260" y="4797152"/>
              <a:ext cx="537094" cy="53908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49175" name="Rectangle 22"/>
            <p:cNvSpPr/>
            <p:nvPr/>
          </p:nvSpPr>
          <p:spPr>
            <a:xfrm>
              <a:off x="3203848" y="5013176"/>
              <a:ext cx="504825" cy="2873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+</a:t>
              </a:r>
            </a:p>
          </p:txBody>
        </p:sp>
        <p:sp>
          <p:nvSpPr>
            <p:cNvPr id="49176" name="Oval 23"/>
            <p:cNvSpPr/>
            <p:nvPr/>
          </p:nvSpPr>
          <p:spPr>
            <a:xfrm>
              <a:off x="4069779" y="5156051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  <a:ea typeface="楷体_GB2312"/>
                </a:rPr>
                <a:t>3</a:t>
              </a:r>
            </a:p>
          </p:txBody>
        </p:sp>
        <p:sp>
          <p:nvSpPr>
            <p:cNvPr id="49177" name="Oval 39"/>
            <p:cNvSpPr/>
            <p:nvPr/>
          </p:nvSpPr>
          <p:spPr>
            <a:xfrm>
              <a:off x="3996754" y="5084614"/>
              <a:ext cx="503238" cy="50323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9178" name="Oval 39"/>
            <p:cNvSpPr/>
            <p:nvPr/>
          </p:nvSpPr>
          <p:spPr>
            <a:xfrm>
              <a:off x="3996754" y="4437112"/>
              <a:ext cx="503238" cy="50323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49157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6" name="五边形 2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9159" name="五边形 2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786188" y="1714500"/>
            <a:ext cx="5072063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500" kern="1200" cap="none" spc="6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zh-CN" altLang="en-US" sz="35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有穷自动机的分类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857750" y="1344613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第三章 词法分析</a:t>
            </a:r>
            <a:endParaRPr kumimoji="0" lang="zh-CN" altLang="en-US" sz="8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内容占位符 1"/>
          <p:cNvSpPr>
            <a:spLocks noGrp="1"/>
          </p:cNvSpPr>
          <p:nvPr>
            <p:ph idx="1"/>
          </p:nvPr>
        </p:nvSpPr>
        <p:spPr>
          <a:xfrm>
            <a:off x="714375" y="857250"/>
            <a:ext cx="8629650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确定的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FA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Deterministic finite automata</a:t>
            </a:r>
            <a:r>
              <a:rPr lang="en-US" altLang="zh-CN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, </a:t>
            </a:r>
            <a:r>
              <a:rPr lang="en-US" altLang="zh-CN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DFA</a:t>
            </a:r>
            <a:r>
              <a:rPr lang="en-US" altLang="zh-CN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)</a:t>
            </a:r>
          </a:p>
          <a:p>
            <a:pPr marL="273050" lvl="1"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非确定的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FA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 </a:t>
            </a:r>
            <a:r>
              <a:rPr lang="en-US" altLang="zh-CN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(</a:t>
            </a:r>
            <a:r>
              <a:rPr lang="en-US" altLang="zh-CN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Nondeterministic finite automata</a:t>
            </a:r>
            <a:r>
              <a:rPr lang="en-US" altLang="zh-CN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, </a:t>
            </a:r>
            <a:r>
              <a:rPr lang="en-US" altLang="zh-CN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NFA</a:t>
            </a:r>
            <a:r>
              <a:rPr lang="en-US" altLang="zh-CN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)</a:t>
            </a:r>
          </a:p>
        </p:txBody>
      </p:sp>
      <p:sp>
        <p:nvSpPr>
          <p:cNvPr id="3277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it-IT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j-cs"/>
              </a:rPr>
              <a:t>FA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的分类</a:t>
            </a:r>
          </a:p>
        </p:txBody>
      </p:sp>
      <p:grpSp>
        <p:nvGrpSpPr>
          <p:cNvPr id="55300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5302" name="五边形 5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679308" cy="4060825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 (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Σ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δ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</a:t>
            </a:r>
            <a:r>
              <a:rPr kumimoji="0" lang="en-US" altLang="zh-CN" sz="25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</a:p>
          <a:p>
            <a:pPr marL="274320" marR="0" lvl="0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有穷状态集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Σ</a:t>
            </a:r>
            <a:r>
              <a:rPr kumimoji="0" lang="zh-CN" altLang="el-GR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输入字母表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，即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输入符号集合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。假设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ε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不是 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Σ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中的元素</a:t>
            </a:r>
          </a:p>
          <a:p>
            <a:pPr marL="274320" marR="0" lvl="0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δ</a:t>
            </a:r>
            <a:r>
              <a:rPr kumimoji="0" lang="zh-CN" altLang="el-GR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将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×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Σ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映射到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转换函数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Σ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el-GR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δ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表示从状态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出发，沿着标记为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的边所能到达的状态。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开始状态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或初始状态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∈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接收状态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（或终止状态）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集合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⊆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79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确定的有穷自动机 </a:t>
            </a:r>
            <a:r>
              <a:rPr kumimoji="0" lang="en-US" altLang="zh-CN" sz="32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(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DFA</a:t>
            </a:r>
            <a:r>
              <a:rPr kumimoji="0" lang="en-US" altLang="zh-CN" sz="32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) 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57348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7350" name="五边形 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例：一个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DFA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itchFamily="49" charset="-122"/>
              <a:cs typeface="+mj-cs"/>
            </a:endParaRPr>
          </a:p>
        </p:txBody>
      </p:sp>
      <p:grpSp>
        <p:nvGrpSpPr>
          <p:cNvPr id="59395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9458" name="五边形 10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59396" name="内容占位符 2"/>
          <p:cNvSpPr txBox="1"/>
          <p:nvPr/>
        </p:nvSpPr>
        <p:spPr>
          <a:xfrm>
            <a:off x="357188" y="928688"/>
            <a:ext cx="8429625" cy="631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eaLnBrk="1" hangingPunct="1">
              <a:spcBef>
                <a:spcPct val="30000"/>
              </a:spcBef>
              <a:buFont typeface="Wingdings" panose="05000000000000000000" pitchFamily="2" charset="2"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M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= 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Σ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δ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s</a:t>
            </a:r>
            <a:r>
              <a:rPr lang="en-US" altLang="zh-CN" sz="2500" b="1" i="1" baseline="-30000" dirty="0">
                <a:latin typeface="Times New Roman" panose="02020603050405020304" pitchFamily="18" charset="0"/>
                <a:ea typeface="楷体_GB2312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F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/>
              </a:rPr>
              <a:t>)</a:t>
            </a:r>
          </a:p>
        </p:txBody>
      </p:sp>
      <p:graphicFrame>
        <p:nvGraphicFramePr>
          <p:cNvPr id="14" name="Group 18"/>
          <p:cNvGraphicFramePr>
            <a:graphicFrameLocks noGrp="1"/>
          </p:cNvGraphicFramePr>
          <p:nvPr/>
        </p:nvGraphicFramePr>
        <p:xfrm>
          <a:off x="5891213" y="1990725"/>
          <a:ext cx="3000375" cy="1866900"/>
        </p:xfrm>
        <a:graphic>
          <a:graphicData uri="http://schemas.openxmlformats.org/drawingml/2006/table">
            <a:tbl>
              <a:tblPr/>
              <a:tblGrid>
                <a:gridCol w="93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a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9423" name="组合 38"/>
          <p:cNvGrpSpPr/>
          <p:nvPr/>
        </p:nvGrpSpPr>
        <p:grpSpPr>
          <a:xfrm>
            <a:off x="179388" y="1787525"/>
            <a:ext cx="5500687" cy="2000250"/>
            <a:chOff x="3500427" y="2928940"/>
            <a:chExt cx="5500722" cy="2000264"/>
          </a:xfrm>
        </p:grpSpPr>
        <p:grpSp>
          <p:nvGrpSpPr>
            <p:cNvPr id="59431" name="组合 35"/>
            <p:cNvGrpSpPr/>
            <p:nvPr/>
          </p:nvGrpSpPr>
          <p:grpSpPr>
            <a:xfrm>
              <a:off x="3500427" y="2928940"/>
              <a:ext cx="5500722" cy="1928826"/>
              <a:chOff x="3500427" y="2928940"/>
              <a:chExt cx="5500722" cy="1928826"/>
            </a:xfrm>
          </p:grpSpPr>
          <p:grpSp>
            <p:nvGrpSpPr>
              <p:cNvPr id="59434" name="组合 10"/>
              <p:cNvGrpSpPr/>
              <p:nvPr/>
            </p:nvGrpSpPr>
            <p:grpSpPr>
              <a:xfrm>
                <a:off x="3500427" y="3175719"/>
                <a:ext cx="5500722" cy="1348737"/>
                <a:chOff x="928659" y="3675785"/>
                <a:chExt cx="5500722" cy="1348737"/>
              </a:xfrm>
            </p:grpSpPr>
            <p:grpSp>
              <p:nvGrpSpPr>
                <p:cNvPr id="59440" name="组合 9"/>
                <p:cNvGrpSpPr/>
                <p:nvPr/>
              </p:nvGrpSpPr>
              <p:grpSpPr>
                <a:xfrm>
                  <a:off x="928659" y="3675785"/>
                  <a:ext cx="5500722" cy="1090002"/>
                  <a:chOff x="2339752" y="4162003"/>
                  <a:chExt cx="3622043" cy="790575"/>
                </a:xfrm>
              </p:grpSpPr>
              <p:sp>
                <p:nvSpPr>
                  <p:cNvPr id="59448" name="Oval 10"/>
                  <p:cNvSpPr/>
                  <p:nvPr/>
                </p:nvSpPr>
                <p:spPr>
                  <a:xfrm>
                    <a:off x="3097415" y="4576104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eaLnBrk="1" hangingPunct="1"/>
                    <a:r>
                      <a:rPr lang="en-US" altLang="zh-CN" sz="2000" b="1" dirty="0">
                        <a:latin typeface="Times New Roman" panose="02020603050405020304" pitchFamily="18" charset="0"/>
                        <a:ea typeface="楷体_GB2312"/>
                      </a:rPr>
                      <a:t>0</a:t>
                    </a:r>
                  </a:p>
                </p:txBody>
              </p:sp>
              <p:sp>
                <p:nvSpPr>
                  <p:cNvPr id="59449" name="Line 13"/>
                  <p:cNvSpPr/>
                  <p:nvPr/>
                </p:nvSpPr>
                <p:spPr>
                  <a:xfrm>
                    <a:off x="3419690" y="4731545"/>
                    <a:ext cx="504825" cy="0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lg" len="lg"/>
                  </a:ln>
                </p:spPr>
              </p:sp>
              <p:sp>
                <p:nvSpPr>
                  <p:cNvPr id="59450" name="Line 16"/>
                  <p:cNvSpPr/>
                  <p:nvPr/>
                </p:nvSpPr>
                <p:spPr>
                  <a:xfrm>
                    <a:off x="4221333" y="4726809"/>
                    <a:ext cx="504825" cy="0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lg" len="lg"/>
                  </a:ln>
                </p:spPr>
              </p:sp>
              <p:sp>
                <p:nvSpPr>
                  <p:cNvPr id="59451" name="Line 21"/>
                  <p:cNvSpPr/>
                  <p:nvPr/>
                </p:nvSpPr>
                <p:spPr>
                  <a:xfrm>
                    <a:off x="5021004" y="4723834"/>
                    <a:ext cx="504825" cy="0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lg" len="lg"/>
                  </a:ln>
                </p:spPr>
              </p:sp>
              <p:sp>
                <p:nvSpPr>
                  <p:cNvPr id="59452" name="Oval 23"/>
                  <p:cNvSpPr/>
                  <p:nvPr/>
                </p:nvSpPr>
                <p:spPr>
                  <a:xfrm>
                    <a:off x="5594506" y="4572591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eaLnBrk="1" hangingPunct="1"/>
                    <a:r>
                      <a:rPr lang="en-US" altLang="zh-CN" sz="2000" b="1" dirty="0">
                        <a:latin typeface="Times New Roman" panose="02020603050405020304" pitchFamily="18" charset="0"/>
                        <a:ea typeface="楷体_GB2312"/>
                      </a:rPr>
                      <a:t>3</a:t>
                    </a:r>
                  </a:p>
                </p:txBody>
              </p:sp>
              <p:sp>
                <p:nvSpPr>
                  <p:cNvPr id="59453" name="Oval 39"/>
                  <p:cNvSpPr/>
                  <p:nvPr/>
                </p:nvSpPr>
                <p:spPr>
                  <a:xfrm>
                    <a:off x="5521481" y="4501154"/>
                    <a:ext cx="440314" cy="451424"/>
                  </a:xfrm>
                  <a:prstGeom prst="ellipse">
                    <a:avLst/>
                  </a:pr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i="1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54" name="Rectangle 22"/>
                  <p:cNvSpPr/>
                  <p:nvPr/>
                </p:nvSpPr>
                <p:spPr>
                  <a:xfrm>
                    <a:off x="2339752" y="4581913"/>
                    <a:ext cx="504927" cy="28724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algn="ctr" eaLnBrk="1" hangingPunct="1"/>
                    <a:r>
                      <a:rPr lang="en-US" altLang="zh-CN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</a:rPr>
                      <a:t>start</a:t>
                    </a:r>
                  </a:p>
                </p:txBody>
              </p:sp>
              <p:sp>
                <p:nvSpPr>
                  <p:cNvPr id="59455" name="Line 21"/>
                  <p:cNvSpPr/>
                  <p:nvPr/>
                </p:nvSpPr>
                <p:spPr>
                  <a:xfrm flipV="1">
                    <a:off x="2844679" y="4725144"/>
                    <a:ext cx="252464" cy="8957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lg" len="lg"/>
                  </a:ln>
                </p:spPr>
              </p:sp>
              <p:sp>
                <p:nvSpPr>
                  <p:cNvPr id="59456" name="Rectangle 22"/>
                  <p:cNvSpPr/>
                  <p:nvPr/>
                </p:nvSpPr>
                <p:spPr>
                  <a:xfrm>
                    <a:off x="3139424" y="4162003"/>
                    <a:ext cx="504825" cy="28733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algn="ctr" eaLnBrk="1" hangingPunct="1"/>
                    <a:r>
                      <a:rPr lang="en-US" altLang="zh-CN" b="1" i="1" dirty="0">
                        <a:latin typeface="Times New Roman" panose="02020603050405020304" pitchFamily="18" charset="0"/>
                        <a:ea typeface="楷体_GB2312"/>
                      </a:rPr>
                      <a:t>b</a:t>
                    </a:r>
                  </a:p>
                </p:txBody>
              </p:sp>
            </p:grpSp>
            <p:sp>
              <p:nvSpPr>
                <p:cNvPr id="59441" name="Oval 10"/>
                <p:cNvSpPr/>
                <p:nvPr/>
              </p:nvSpPr>
              <p:spPr>
                <a:xfrm>
                  <a:off x="3346982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/>
                    </a:rPr>
                    <a:t>1</a:t>
                  </a:r>
                </a:p>
              </p:txBody>
            </p:sp>
            <p:sp>
              <p:nvSpPr>
                <p:cNvPr id="59442" name="Oval 10"/>
                <p:cNvSpPr/>
                <p:nvPr/>
              </p:nvSpPr>
              <p:spPr>
                <a:xfrm>
                  <a:off x="4561428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/>
                    </a:rPr>
                    <a:t>2</a:t>
                  </a:r>
                </a:p>
              </p:txBody>
            </p:sp>
            <p:sp>
              <p:nvSpPr>
                <p:cNvPr id="59443" name="Rectangle 22"/>
                <p:cNvSpPr/>
                <p:nvPr/>
              </p:nvSpPr>
              <p:spPr>
                <a:xfrm>
                  <a:off x="2519448" y="4104410"/>
                  <a:ext cx="766668" cy="3961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r>
                    <a:rPr lang="en-US" altLang="zh-CN" b="1" i="1" dirty="0">
                      <a:latin typeface="Times New Roman" panose="02020603050405020304" pitchFamily="18" charset="0"/>
                      <a:ea typeface="楷体_GB2312"/>
                    </a:rPr>
                    <a:t>a</a:t>
                  </a:r>
                </a:p>
              </p:txBody>
            </p:sp>
            <p:sp>
              <p:nvSpPr>
                <p:cNvPr id="59444" name="Rectangle 22"/>
                <p:cNvSpPr/>
                <p:nvPr/>
              </p:nvSpPr>
              <p:spPr>
                <a:xfrm>
                  <a:off x="3786182" y="4104410"/>
                  <a:ext cx="766668" cy="3961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r>
                    <a:rPr lang="en-US" altLang="zh-CN" b="1" i="1" dirty="0">
                      <a:latin typeface="Times New Roman" panose="02020603050405020304" pitchFamily="18" charset="0"/>
                      <a:ea typeface="楷体_GB2312"/>
                    </a:rPr>
                    <a:t>b</a:t>
                  </a:r>
                </a:p>
              </p:txBody>
            </p:sp>
            <p:sp>
              <p:nvSpPr>
                <p:cNvPr id="59445" name="Rectangle 22"/>
                <p:cNvSpPr/>
                <p:nvPr/>
              </p:nvSpPr>
              <p:spPr>
                <a:xfrm>
                  <a:off x="4948340" y="4104410"/>
                  <a:ext cx="766668" cy="3961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r>
                    <a:rPr lang="en-US" altLang="zh-CN" b="1" i="1" dirty="0">
                      <a:latin typeface="Times New Roman" panose="02020603050405020304" pitchFamily="18" charset="0"/>
                      <a:ea typeface="楷体_GB2312"/>
                    </a:rPr>
                    <a:t>b</a:t>
                  </a:r>
                </a:p>
              </p:txBody>
            </p:sp>
            <p:sp>
              <p:nvSpPr>
                <p:cNvPr id="59446" name="Freeform 11"/>
                <p:cNvSpPr/>
                <p:nvPr/>
              </p:nvSpPr>
              <p:spPr>
                <a:xfrm flipH="1">
                  <a:off x="2000232" y="3856799"/>
                  <a:ext cx="534010" cy="429463"/>
                </a:xfrm>
                <a:custGeom>
                  <a:avLst/>
                  <a:gdLst>
                    <a:gd name="txL" fmla="*/ 0 w 241"/>
                    <a:gd name="txT" fmla="*/ 0 h 189"/>
                    <a:gd name="txR" fmla="*/ 241 w 241"/>
                    <a:gd name="txB" fmla="*/ 189 h 189"/>
                  </a:gdLst>
                  <a:ahLst/>
                  <a:cxnLst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</a:cxnLst>
                  <a:rect l="txL" t="txT" r="txR" b="txB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47" name="Freeform 11"/>
                <p:cNvSpPr/>
                <p:nvPr/>
              </p:nvSpPr>
              <p:spPr>
                <a:xfrm rot="966700" flipH="1" flipV="1">
                  <a:off x="3119468" y="4605418"/>
                  <a:ext cx="534010" cy="419104"/>
                </a:xfrm>
                <a:custGeom>
                  <a:avLst/>
                  <a:gdLst>
                    <a:gd name="txL" fmla="*/ 0 w 241"/>
                    <a:gd name="txT" fmla="*/ 0 h 189"/>
                    <a:gd name="txR" fmla="*/ 241 w 241"/>
                    <a:gd name="txB" fmla="*/ 189 h 189"/>
                  </a:gdLst>
                  <a:ahLst/>
                  <a:cxnLst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</a:cxnLst>
                  <a:rect l="txL" t="txT" r="txR" b="txB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" name="任意多边形 30"/>
              <p:cNvSpPr/>
              <p:nvPr/>
            </p:nvSpPr>
            <p:spPr bwMode="auto">
              <a:xfrm rot="21323228" flipH="1" flipV="1">
                <a:off x="5057774" y="3330581"/>
                <a:ext cx="3429022" cy="500065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9436" name="Rectangle 22"/>
              <p:cNvSpPr/>
              <p:nvPr/>
            </p:nvSpPr>
            <p:spPr>
              <a:xfrm>
                <a:off x="6357950" y="2928940"/>
                <a:ext cx="766668" cy="3961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b</a:t>
                </a:r>
              </a:p>
            </p:txBody>
          </p:sp>
          <p:sp>
            <p:nvSpPr>
              <p:cNvPr id="33" name="任意多边形 32"/>
              <p:cNvSpPr/>
              <p:nvPr/>
            </p:nvSpPr>
            <p:spPr bwMode="auto">
              <a:xfrm rot="278702" flipH="1">
                <a:off x="6230944" y="4130686"/>
                <a:ext cx="2278076" cy="488953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任意多边形 33"/>
              <p:cNvSpPr/>
              <p:nvPr/>
            </p:nvSpPr>
            <p:spPr bwMode="auto">
              <a:xfrm rot="278702" flipH="1">
                <a:off x="6345245" y="4011622"/>
                <a:ext cx="823917" cy="184151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9439" name="Rectangle 22"/>
              <p:cNvSpPr/>
              <p:nvPr/>
            </p:nvSpPr>
            <p:spPr>
              <a:xfrm>
                <a:off x="5591282" y="4461600"/>
                <a:ext cx="766668" cy="3961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a</a:t>
                </a:r>
              </a:p>
            </p:txBody>
          </p:sp>
        </p:grpSp>
        <p:sp>
          <p:nvSpPr>
            <p:cNvPr id="59432" name="Rectangle 22"/>
            <p:cNvSpPr/>
            <p:nvPr/>
          </p:nvSpPr>
          <p:spPr>
            <a:xfrm>
              <a:off x="6591414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a</a:t>
              </a:r>
            </a:p>
          </p:txBody>
        </p:sp>
        <p:sp>
          <p:nvSpPr>
            <p:cNvPr id="59433" name="Rectangle 22"/>
            <p:cNvSpPr/>
            <p:nvPr/>
          </p:nvSpPr>
          <p:spPr>
            <a:xfrm>
              <a:off x="7072330" y="4533038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a</a:t>
              </a:r>
            </a:p>
          </p:txBody>
        </p:sp>
      </p:grpSp>
      <p:grpSp>
        <p:nvGrpSpPr>
          <p:cNvPr id="12" name="组合 7"/>
          <p:cNvGrpSpPr/>
          <p:nvPr/>
        </p:nvGrpSpPr>
        <p:grpSpPr>
          <a:xfrm>
            <a:off x="5795963" y="1500188"/>
            <a:ext cx="2393950" cy="895350"/>
            <a:chOff x="1597494" y="2734581"/>
            <a:chExt cx="2392886" cy="895803"/>
          </a:xfrm>
        </p:grpSpPr>
        <p:sp>
          <p:nvSpPr>
            <p:cNvPr id="10" name="矩形 9"/>
            <p:cNvSpPr/>
            <p:nvPr/>
          </p:nvSpPr>
          <p:spPr>
            <a:xfrm>
              <a:off x="2335353" y="2734581"/>
              <a:ext cx="1655027" cy="4860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+mn-cs"/>
                </a:rPr>
                <a:t>转换表</a:t>
              </a:r>
            </a:p>
          </p:txBody>
        </p:sp>
        <p:sp>
          <p:nvSpPr>
            <p:cNvPr id="59428" name="矩形 1"/>
            <p:cNvSpPr/>
            <p:nvPr/>
          </p:nvSpPr>
          <p:spPr>
            <a:xfrm>
              <a:off x="1597494" y="3291830"/>
              <a:ext cx="598242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itchFamily="49" charset="-122"/>
                </a:rPr>
                <a:t>状态</a:t>
              </a:r>
            </a:p>
          </p:txBody>
        </p:sp>
        <p:sp>
          <p:nvSpPr>
            <p:cNvPr id="59429" name="矩形 36"/>
            <p:cNvSpPr/>
            <p:nvPr/>
          </p:nvSpPr>
          <p:spPr>
            <a:xfrm>
              <a:off x="2101550" y="3147814"/>
              <a:ext cx="598242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itchFamily="49" charset="-122"/>
                </a:rPr>
                <a:t>输入</a:t>
              </a: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691114" y="3225366"/>
              <a:ext cx="896539" cy="3668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2714625" y="4143375"/>
            <a:ext cx="3775075" cy="523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可以用转换表表示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DFA</a:t>
            </a:r>
            <a:endParaRPr kumimoji="0" lang="zh-CN" altLang="en-US" sz="2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738" y="3540125"/>
            <a:ext cx="300038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非确定的有穷自动机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(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N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FA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) 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61443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1446" name="五边形 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2"/>
          <p:cNvSpPr txBox="1"/>
          <p:nvPr/>
        </p:nvSpPr>
        <p:spPr bwMode="auto">
          <a:xfrm>
            <a:off x="357188" y="928688"/>
            <a:ext cx="8786812" cy="4060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algn="ctr" defTabSz="914400" eaLnBrk="1" fontAlgn="auto" hangingPunct="1">
              <a:spcBef>
                <a:spcPct val="3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 (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Σ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δ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</a:t>
            </a:r>
            <a:r>
              <a:rPr kumimoji="0" lang="en-US" altLang="zh-CN" sz="2500" b="1" i="1" kern="1200" cap="none" spc="0" normalizeH="0" baseline="-3000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</a:p>
          <a:p>
            <a:pPr marL="274320" marR="0" indent="-274320" defTabSz="91440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：有穷状态集</a:t>
            </a:r>
            <a:endParaRPr kumimoji="0" lang="en-US" altLang="zh-CN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320" marR="0" indent="-274320" defTabSz="91440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l-GR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Σ</a:t>
            </a:r>
            <a:r>
              <a:rPr kumimoji="0" lang="zh-CN" altLang="el-GR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输入符号集合，即输入字母表。假设</a:t>
            </a:r>
            <a:r>
              <a:rPr kumimoji="0" lang="el-GR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ε</a:t>
            </a:r>
            <a:r>
              <a:rPr kumimoji="0" lang="el-GR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不是</a:t>
            </a:r>
            <a:r>
              <a:rPr kumimoji="0" lang="el-GR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Σ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中的元素</a:t>
            </a:r>
          </a:p>
          <a:p>
            <a:pPr marL="274320" marR="0" indent="-274320" defTabSz="91440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l-GR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δ</a:t>
            </a:r>
            <a:r>
              <a:rPr kumimoji="0" lang="zh-CN" altLang="el-GR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将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×</a:t>
            </a:r>
            <a:r>
              <a:rPr kumimoji="0" lang="el-GR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Σ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映射到</a:t>
            </a:r>
            <a:r>
              <a:rPr kumimoji="0" lang="en-US" altLang="zh-CN" sz="28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1" kern="1200" cap="none" spc="0" normalizeH="0" baseline="3000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的转换函数。</a:t>
            </a:r>
            <a:r>
              <a:rPr kumimoji="0" lang="zh-CN" altLang="en-US" sz="25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kumimoji="0" lang="en-US" altLang="zh-CN" sz="2500" b="1" i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kumimoji="0" lang="en-US" altLang="zh-CN" sz="2500" b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kumimoji="0" lang="en-US" altLang="zh-CN" sz="2500" b="1" i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kumimoji="0" lang="en-US" altLang="zh-CN" sz="25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kumimoji="0" lang="en-US" altLang="zh-CN" sz="2500" b="1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kumimoji="0" lang="en-US" altLang="zh-CN" sz="25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kumimoji="0" lang="el-GR" altLang="zh-CN" sz="2500" b="1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Σ</a:t>
            </a:r>
            <a:r>
              <a:rPr kumimoji="0" lang="en-US" altLang="zh-CN" sz="25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,</a:t>
            </a:r>
            <a:r>
              <a:rPr kumimoji="0" lang="el-GR" altLang="zh-CN" sz="25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l-GR" altLang="zh-CN" sz="2500" b="1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δ</a:t>
            </a:r>
            <a:r>
              <a:rPr kumimoji="0" lang="en-US" altLang="zh-CN" sz="25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kumimoji="0" lang="en-US" altLang="zh-CN" sz="2500" b="1" i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</a:t>
            </a:r>
            <a:r>
              <a:rPr kumimoji="0" lang="en-US" altLang="zh-CN" sz="2500" b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,</a:t>
            </a:r>
            <a:r>
              <a:rPr kumimoji="0" lang="en-US" altLang="zh-CN" sz="2500" b="1" i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en-US" altLang="zh-CN" sz="25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kumimoji="0" lang="zh-CN" altLang="en-US" sz="25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表示从状态</a:t>
            </a:r>
            <a:r>
              <a:rPr kumimoji="0" lang="en-US" altLang="zh-CN" sz="2500" b="1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</a:t>
            </a:r>
            <a:r>
              <a:rPr kumimoji="0" lang="zh-CN" altLang="en-US" sz="25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出发，沿着标记为</a:t>
            </a:r>
            <a:r>
              <a:rPr kumimoji="0" lang="en-US" altLang="zh-CN" sz="2500" b="1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zh-CN" altLang="en-US" sz="25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的边所能到达的状态</a:t>
            </a:r>
            <a:r>
              <a:rPr kumimoji="0" lang="zh-CN" altLang="en-US" sz="25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集合</a:t>
            </a:r>
            <a:endParaRPr kumimoji="0" lang="en-US" altLang="zh-CN" sz="2500" b="1" kern="1200" cap="none" spc="0" normalizeH="0" baseline="0" noProof="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4320" marR="0" indent="-274320" defTabSz="91440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：开始状态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或初始状态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∈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endParaRPr kumimoji="0" lang="en-US" altLang="zh-CN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320" marR="0" indent="-274320" defTabSz="91440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：接收状态（或终止状态）集合，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⊆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endParaRPr kumimoji="0" lang="zh-CN" altLang="en-US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+mj-cs"/>
              </a:rPr>
              <a:t>例：一个</a:t>
            </a:r>
            <a:r>
              <a:rPr kumimoji="0" lang="en-US" altLang="zh-CN" sz="3000" b="1" i="1" kern="1200" cap="none" spc="0" normalizeH="0" baseline="0" noProof="0" dirty="0">
                <a:latin typeface="Times New Roman" panose="02020603050405020304" pitchFamily="18" charset="0"/>
                <a:ea typeface="黑体" pitchFamily="49" charset="-122"/>
                <a:cs typeface="+mj-cs"/>
              </a:rPr>
              <a:t>NFA</a:t>
            </a:r>
            <a:endParaRPr kumimoji="0" lang="zh-CN" altLang="en-US" sz="3000" b="1" i="1" kern="1200" cap="none" spc="0" normalizeH="0" baseline="0" noProof="0" dirty="0">
              <a:latin typeface="Times New Roman" panose="02020603050405020304" pitchFamily="18" charset="0"/>
              <a:ea typeface="黑体" pitchFamily="49" charset="-122"/>
              <a:cs typeface="+mj-cs"/>
            </a:endParaRPr>
          </a:p>
        </p:txBody>
      </p:sp>
      <p:grpSp>
        <p:nvGrpSpPr>
          <p:cNvPr id="63491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3545" name="五边形 9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6383338" y="1428750"/>
            <a:ext cx="1655763" cy="485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转换表</a:t>
            </a: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5740400" y="1919288"/>
          <a:ext cx="3000375" cy="1866900"/>
        </p:xfrm>
        <a:graphic>
          <a:graphicData uri="http://schemas.openxmlformats.org/drawingml/2006/table">
            <a:tbl>
              <a:tblPr/>
              <a:tblGrid>
                <a:gridCol w="93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a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0,1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3519" name="组合 9"/>
          <p:cNvGrpSpPr/>
          <p:nvPr/>
        </p:nvGrpSpPr>
        <p:grpSpPr>
          <a:xfrm>
            <a:off x="71438" y="1928813"/>
            <a:ext cx="5500687" cy="1506537"/>
            <a:chOff x="928659" y="3675785"/>
            <a:chExt cx="5500722" cy="1506709"/>
          </a:xfrm>
        </p:grpSpPr>
        <p:grpSp>
          <p:nvGrpSpPr>
            <p:cNvPr id="63526" name="组合 9"/>
            <p:cNvGrpSpPr/>
            <p:nvPr/>
          </p:nvGrpSpPr>
          <p:grpSpPr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63535" name="Oval 10"/>
              <p:cNvSpPr/>
              <p:nvPr/>
            </p:nvSpPr>
            <p:spPr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楷体_GB2312"/>
                  </a:rPr>
                  <a:t>0</a:t>
                </a:r>
              </a:p>
            </p:txBody>
          </p:sp>
          <p:sp>
            <p:nvSpPr>
              <p:cNvPr id="63536" name="Line 13"/>
              <p:cNvSpPr/>
              <p:nvPr/>
            </p:nvSpPr>
            <p:spPr>
              <a:xfrm>
                <a:off x="3419690" y="4731545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63537" name="Line 16"/>
              <p:cNvSpPr/>
              <p:nvPr/>
            </p:nvSpPr>
            <p:spPr>
              <a:xfrm>
                <a:off x="4221333" y="4726809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63538" name="Line 21"/>
              <p:cNvSpPr/>
              <p:nvPr/>
            </p:nvSpPr>
            <p:spPr>
              <a:xfrm>
                <a:off x="5021004" y="4723834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63539" name="Oval 23"/>
              <p:cNvSpPr/>
              <p:nvPr/>
            </p:nvSpPr>
            <p:spPr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楷体_GB2312"/>
                  </a:rPr>
                  <a:t>3</a:t>
                </a:r>
              </a:p>
            </p:txBody>
          </p:sp>
          <p:sp>
            <p:nvSpPr>
              <p:cNvPr id="63540" name="Oval 39"/>
              <p:cNvSpPr/>
              <p:nvPr/>
            </p:nvSpPr>
            <p:spPr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63541" name="Rectangle 22"/>
              <p:cNvSpPr/>
              <p:nvPr/>
            </p:nvSpPr>
            <p:spPr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start</a:t>
                </a:r>
              </a:p>
            </p:txBody>
          </p:sp>
          <p:sp>
            <p:nvSpPr>
              <p:cNvPr id="63542" name="Line 21"/>
              <p:cNvSpPr/>
              <p:nvPr/>
            </p:nvSpPr>
            <p:spPr>
              <a:xfrm flipV="1">
                <a:off x="2844679" y="4725144"/>
                <a:ext cx="252464" cy="8957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63543" name="Rectangle 22"/>
              <p:cNvSpPr/>
              <p:nvPr/>
            </p:nvSpPr>
            <p:spPr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a</a:t>
                </a:r>
              </a:p>
            </p:txBody>
          </p:sp>
        </p:grpSp>
        <p:sp>
          <p:nvSpPr>
            <p:cNvPr id="63527" name="Rectangle 22"/>
            <p:cNvSpPr/>
            <p:nvPr/>
          </p:nvSpPr>
          <p:spPr>
            <a:xfrm>
              <a:off x="2214546" y="4786328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63528" name="Oval 10"/>
            <p:cNvSpPr/>
            <p:nvPr/>
          </p:nvSpPr>
          <p:spPr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  <p:sp>
          <p:nvSpPr>
            <p:cNvPr id="63529" name="Oval 10"/>
            <p:cNvSpPr/>
            <p:nvPr/>
          </p:nvSpPr>
          <p:spPr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  <p:sp>
          <p:nvSpPr>
            <p:cNvPr id="63530" name="Rectangle 22"/>
            <p:cNvSpPr/>
            <p:nvPr/>
          </p:nvSpPr>
          <p:spPr>
            <a:xfrm>
              <a:off x="2519448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a</a:t>
              </a:r>
            </a:p>
          </p:txBody>
        </p:sp>
        <p:sp>
          <p:nvSpPr>
            <p:cNvPr id="63531" name="Rectangle 22"/>
            <p:cNvSpPr/>
            <p:nvPr/>
          </p:nvSpPr>
          <p:spPr>
            <a:xfrm>
              <a:off x="3786182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63532" name="Rectangle 22"/>
            <p:cNvSpPr/>
            <p:nvPr/>
          </p:nvSpPr>
          <p:spPr>
            <a:xfrm>
              <a:off x="4948340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63533" name="Freeform 11"/>
            <p:cNvSpPr/>
            <p:nvPr/>
          </p:nvSpPr>
          <p:spPr>
            <a:xfrm flipH="1">
              <a:off x="1975065" y="3840019"/>
              <a:ext cx="534010" cy="429463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4" name="Freeform 11"/>
            <p:cNvSpPr/>
            <p:nvPr/>
          </p:nvSpPr>
          <p:spPr>
            <a:xfrm flipH="1" flipV="1">
              <a:off x="1991843" y="4627806"/>
              <a:ext cx="534010" cy="419104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520" name="矩形 1"/>
          <p:cNvSpPr/>
          <p:nvPr/>
        </p:nvSpPr>
        <p:spPr>
          <a:xfrm>
            <a:off x="5643563" y="2003425"/>
            <a:ext cx="598487" cy="3397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itchFamily="49" charset="-122"/>
              </a:rPr>
              <a:t>状态</a:t>
            </a:r>
          </a:p>
        </p:txBody>
      </p:sp>
      <p:sp>
        <p:nvSpPr>
          <p:cNvPr id="63521" name="矩形 36"/>
          <p:cNvSpPr/>
          <p:nvPr/>
        </p:nvSpPr>
        <p:spPr>
          <a:xfrm>
            <a:off x="6148388" y="1860550"/>
            <a:ext cx="598487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itchFamily="49" charset="-122"/>
              </a:rPr>
              <a:t>输入</a:t>
            </a: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5737225" y="1938338"/>
            <a:ext cx="896938" cy="355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857250" y="3571875"/>
            <a:ext cx="4643438" cy="1285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如果转换函数没有给出对应于某个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状态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-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输入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对的信息，就把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Ø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放入相应的表项中</a:t>
            </a:r>
          </a:p>
        </p:txBody>
      </p:sp>
      <p:sp>
        <p:nvSpPr>
          <p:cNvPr id="35" name="矩形 34"/>
          <p:cNvSpPr/>
          <p:nvPr/>
        </p:nvSpPr>
        <p:spPr>
          <a:xfrm>
            <a:off x="6208713" y="3502025"/>
            <a:ext cx="300038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●</a:t>
            </a:r>
          </a:p>
        </p:txBody>
      </p:sp>
      <p:sp>
        <p:nvSpPr>
          <p:cNvPr id="63525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429625" cy="642937"/>
          </a:xfrm>
        </p:spPr>
        <p:txBody>
          <a:bodyPr vert="horz" wrap="square" lIns="91440" tIns="45720" rIns="91440" bIns="45720" anchor="t" anchorCtr="0"/>
          <a:lstStyle/>
          <a:p>
            <a:pPr marL="0" indent="0" algn="ctr" eaLnBrk="1" hangingPunct="1">
              <a:spcBef>
                <a:spcPct val="3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M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= (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，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Σ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，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δ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，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lang="en-US" altLang="zh-CN" sz="2500" b="1" i="1" kern="12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0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，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F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</a:t>
            </a:r>
            <a:endParaRPr lang="zh-CN" altLang="en-US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内容占位符 2"/>
          <p:cNvSpPr>
            <a:spLocks noGrp="1"/>
          </p:cNvSpPr>
          <p:nvPr>
            <p:ph idx="1"/>
          </p:nvPr>
        </p:nvSpPr>
        <p:spPr>
          <a:xfrm>
            <a:off x="428625" y="1276350"/>
            <a:ext cx="8320088" cy="27352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对任何非确定的有穷自动机</a:t>
            </a:r>
            <a:r>
              <a:rPr lang="en-US" altLang="zh-CN" sz="28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 </a:t>
            </a:r>
            <a:r>
              <a:rPr lang="zh-CN" altLang="en-US" sz="28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，存在定义同一语言的确定的有穷自动机</a:t>
            </a:r>
            <a:r>
              <a:rPr lang="en-US" altLang="zh-CN" sz="28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D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对任何确定的有穷自动机</a:t>
            </a:r>
            <a:r>
              <a:rPr lang="en-US" altLang="zh-CN" sz="28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D </a:t>
            </a:r>
            <a:r>
              <a:rPr lang="zh-CN" altLang="en-US" sz="28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，存在定义同一语言的非确定的有穷自动机</a:t>
            </a:r>
            <a:r>
              <a:rPr lang="en-US" altLang="zh-CN" sz="28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zh-CN" sz="30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algn="ctr" eaLnBrk="1" hangingPunct="1">
              <a:buSzPct val="100000"/>
              <a:buFont typeface="Symbol" pitchFamily="18" charset="2"/>
              <a:buNone/>
            </a:pPr>
            <a:endParaRPr lang="en-US" altLang="zh-CN" sz="2000" b="1" i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buSzPct val="100000"/>
            </a:pPr>
            <a:endParaRPr lang="en-US" altLang="zh-CN" sz="1800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  <a:buFont typeface="Symbol" pitchFamily="18" charset="2"/>
              <a:buNone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78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DFA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和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NFA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的等价性</a:t>
            </a:r>
          </a:p>
        </p:txBody>
      </p:sp>
      <p:grpSp>
        <p:nvGrpSpPr>
          <p:cNvPr id="65540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5542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/>
          <p:cNvSpPr>
            <a:spLocks noGrp="1"/>
          </p:cNvSpPr>
          <p:nvPr>
            <p:ph idx="1"/>
          </p:nvPr>
        </p:nvSpPr>
        <p:spPr>
          <a:xfrm>
            <a:off x="428625" y="785813"/>
            <a:ext cx="5927725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DFA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和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NFA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可以识别相同的语言</a:t>
            </a:r>
            <a:endParaRPr lang="en-US" altLang="zh-CN" sz="30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algn="ctr" eaLnBrk="1" hangingPunct="1">
              <a:buSzPct val="100000"/>
              <a:buFont typeface="Symbol" pitchFamily="18" charset="2"/>
              <a:buNone/>
            </a:pPr>
            <a:endParaRPr lang="en-US" altLang="zh-CN" sz="2000" b="1" i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buSzPct val="100000"/>
            </a:pPr>
            <a:endParaRPr lang="en-US" altLang="zh-CN" sz="1800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  <a:buFont typeface="Symbol" pitchFamily="18" charset="2"/>
              <a:buNone/>
            </a:pPr>
            <a:endParaRPr lang="en-US" altLang="zh-CN" b="1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78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DFA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和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NFA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的等价性</a:t>
            </a:r>
          </a:p>
        </p:txBody>
      </p:sp>
      <p:sp>
        <p:nvSpPr>
          <p:cNvPr id="2" name="矩形 1"/>
          <p:cNvSpPr/>
          <p:nvPr/>
        </p:nvSpPr>
        <p:spPr>
          <a:xfrm>
            <a:off x="71438" y="1797050"/>
            <a:ext cx="935038" cy="346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NFA</a:t>
            </a:r>
            <a:endParaRPr kumimoji="0" lang="zh-CN" altLang="en-US" sz="25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438" y="3292475"/>
            <a:ext cx="933450" cy="34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DFA</a:t>
            </a:r>
            <a:endParaRPr kumimoji="0" lang="zh-CN" altLang="en-US" sz="25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28750" y="4483100"/>
            <a:ext cx="1900238" cy="47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= (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|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abb</a:t>
            </a:r>
            <a:endParaRPr kumimoji="0" lang="zh-CN" altLang="en-US" sz="2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7591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7644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11"/>
          <p:cNvGrpSpPr/>
          <p:nvPr/>
        </p:nvGrpSpPr>
        <p:grpSpPr>
          <a:xfrm>
            <a:off x="863600" y="1214438"/>
            <a:ext cx="5500688" cy="1506537"/>
            <a:chOff x="928659" y="3675785"/>
            <a:chExt cx="5500722" cy="1506709"/>
          </a:xfrm>
        </p:grpSpPr>
        <p:grpSp>
          <p:nvGrpSpPr>
            <p:cNvPr id="67625" name="组合 9"/>
            <p:cNvGrpSpPr/>
            <p:nvPr/>
          </p:nvGrpSpPr>
          <p:grpSpPr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67634" name="Oval 10"/>
              <p:cNvSpPr/>
              <p:nvPr/>
            </p:nvSpPr>
            <p:spPr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楷体_GB2312"/>
                  </a:rPr>
                  <a:t>0</a:t>
                </a:r>
              </a:p>
            </p:txBody>
          </p:sp>
          <p:sp>
            <p:nvSpPr>
              <p:cNvPr id="67635" name="Line 13"/>
              <p:cNvSpPr/>
              <p:nvPr/>
            </p:nvSpPr>
            <p:spPr>
              <a:xfrm>
                <a:off x="3419690" y="4731545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67636" name="Line 16"/>
              <p:cNvSpPr/>
              <p:nvPr/>
            </p:nvSpPr>
            <p:spPr>
              <a:xfrm>
                <a:off x="4221333" y="4726809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67637" name="Line 21"/>
              <p:cNvSpPr/>
              <p:nvPr/>
            </p:nvSpPr>
            <p:spPr>
              <a:xfrm>
                <a:off x="5021004" y="4723834"/>
                <a:ext cx="50482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67638" name="Oval 23"/>
              <p:cNvSpPr/>
              <p:nvPr/>
            </p:nvSpPr>
            <p:spPr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sz="2000" b="1" dirty="0">
                    <a:latin typeface="Times New Roman" panose="02020603050405020304" pitchFamily="18" charset="0"/>
                    <a:ea typeface="楷体_GB2312"/>
                  </a:rPr>
                  <a:t>3</a:t>
                </a:r>
              </a:p>
            </p:txBody>
          </p:sp>
          <p:sp>
            <p:nvSpPr>
              <p:cNvPr id="67639" name="Oval 39"/>
              <p:cNvSpPr/>
              <p:nvPr/>
            </p:nvSpPr>
            <p:spPr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67640" name="Rectangle 22"/>
              <p:cNvSpPr/>
              <p:nvPr/>
            </p:nvSpPr>
            <p:spPr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start</a:t>
                </a:r>
              </a:p>
            </p:txBody>
          </p:sp>
          <p:sp>
            <p:nvSpPr>
              <p:cNvPr id="67641" name="Line 21"/>
              <p:cNvSpPr/>
              <p:nvPr/>
            </p:nvSpPr>
            <p:spPr>
              <a:xfrm flipV="1">
                <a:off x="2844679" y="4725144"/>
                <a:ext cx="252464" cy="8957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67642" name="Rectangle 22"/>
              <p:cNvSpPr/>
              <p:nvPr/>
            </p:nvSpPr>
            <p:spPr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a</a:t>
                </a:r>
              </a:p>
            </p:txBody>
          </p:sp>
        </p:grpSp>
        <p:sp>
          <p:nvSpPr>
            <p:cNvPr id="67626" name="Rectangle 22"/>
            <p:cNvSpPr/>
            <p:nvPr/>
          </p:nvSpPr>
          <p:spPr>
            <a:xfrm>
              <a:off x="2214546" y="4786328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67627" name="Oval 10"/>
            <p:cNvSpPr/>
            <p:nvPr/>
          </p:nvSpPr>
          <p:spPr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  <p:sp>
          <p:nvSpPr>
            <p:cNvPr id="67628" name="Oval 10"/>
            <p:cNvSpPr/>
            <p:nvPr/>
          </p:nvSpPr>
          <p:spPr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  <p:sp>
          <p:nvSpPr>
            <p:cNvPr id="67629" name="Rectangle 22"/>
            <p:cNvSpPr/>
            <p:nvPr/>
          </p:nvSpPr>
          <p:spPr>
            <a:xfrm>
              <a:off x="2519448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a</a:t>
              </a:r>
            </a:p>
          </p:txBody>
        </p:sp>
        <p:sp>
          <p:nvSpPr>
            <p:cNvPr id="67630" name="Rectangle 22"/>
            <p:cNvSpPr/>
            <p:nvPr/>
          </p:nvSpPr>
          <p:spPr>
            <a:xfrm>
              <a:off x="3786182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67631" name="Rectangle 22"/>
            <p:cNvSpPr/>
            <p:nvPr/>
          </p:nvSpPr>
          <p:spPr>
            <a:xfrm>
              <a:off x="4948340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67632" name="Freeform 11"/>
            <p:cNvSpPr/>
            <p:nvPr/>
          </p:nvSpPr>
          <p:spPr>
            <a:xfrm flipH="1">
              <a:off x="1983454" y="3831629"/>
              <a:ext cx="534010" cy="429463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3" name="Freeform 11"/>
            <p:cNvSpPr/>
            <p:nvPr/>
          </p:nvSpPr>
          <p:spPr>
            <a:xfrm flipH="1" flipV="1">
              <a:off x="1991843" y="4619416"/>
              <a:ext cx="534010" cy="419104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30"/>
          <p:cNvGrpSpPr/>
          <p:nvPr/>
        </p:nvGrpSpPr>
        <p:grpSpPr>
          <a:xfrm>
            <a:off x="863600" y="2428875"/>
            <a:ext cx="5500688" cy="2000250"/>
            <a:chOff x="3500427" y="2928940"/>
            <a:chExt cx="5500722" cy="2000264"/>
          </a:xfrm>
        </p:grpSpPr>
        <p:grpSp>
          <p:nvGrpSpPr>
            <p:cNvPr id="67599" name="组合 35"/>
            <p:cNvGrpSpPr/>
            <p:nvPr/>
          </p:nvGrpSpPr>
          <p:grpSpPr>
            <a:xfrm>
              <a:off x="3500427" y="2928940"/>
              <a:ext cx="5500722" cy="1928826"/>
              <a:chOff x="3500427" y="2928940"/>
              <a:chExt cx="5500722" cy="1928826"/>
            </a:xfrm>
          </p:grpSpPr>
          <p:grpSp>
            <p:nvGrpSpPr>
              <p:cNvPr id="67602" name="组合 10"/>
              <p:cNvGrpSpPr/>
              <p:nvPr/>
            </p:nvGrpSpPr>
            <p:grpSpPr>
              <a:xfrm>
                <a:off x="3500427" y="3175719"/>
                <a:ext cx="5500722" cy="1348737"/>
                <a:chOff x="928659" y="3675785"/>
                <a:chExt cx="5500722" cy="1348737"/>
              </a:xfrm>
            </p:grpSpPr>
            <p:grpSp>
              <p:nvGrpSpPr>
                <p:cNvPr id="67608" name="组合 9"/>
                <p:cNvGrpSpPr/>
                <p:nvPr/>
              </p:nvGrpSpPr>
              <p:grpSpPr>
                <a:xfrm>
                  <a:off x="928659" y="3675785"/>
                  <a:ext cx="5500722" cy="1090002"/>
                  <a:chOff x="2339752" y="4162003"/>
                  <a:chExt cx="3622043" cy="790575"/>
                </a:xfrm>
              </p:grpSpPr>
              <p:sp>
                <p:nvSpPr>
                  <p:cNvPr id="67616" name="Oval 10"/>
                  <p:cNvSpPr/>
                  <p:nvPr/>
                </p:nvSpPr>
                <p:spPr>
                  <a:xfrm>
                    <a:off x="3097415" y="4576104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eaLnBrk="1" hangingPunct="1"/>
                    <a:r>
                      <a:rPr lang="en-US" altLang="zh-CN" sz="2000" b="1" dirty="0">
                        <a:latin typeface="Times New Roman" panose="02020603050405020304" pitchFamily="18" charset="0"/>
                        <a:ea typeface="楷体_GB2312"/>
                      </a:rPr>
                      <a:t>0</a:t>
                    </a:r>
                  </a:p>
                </p:txBody>
              </p:sp>
              <p:sp>
                <p:nvSpPr>
                  <p:cNvPr id="67617" name="Line 13"/>
                  <p:cNvSpPr/>
                  <p:nvPr/>
                </p:nvSpPr>
                <p:spPr>
                  <a:xfrm>
                    <a:off x="3419690" y="4731545"/>
                    <a:ext cx="504825" cy="0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lg" len="lg"/>
                  </a:ln>
                </p:spPr>
              </p:sp>
              <p:sp>
                <p:nvSpPr>
                  <p:cNvPr id="67618" name="Line 16"/>
                  <p:cNvSpPr/>
                  <p:nvPr/>
                </p:nvSpPr>
                <p:spPr>
                  <a:xfrm>
                    <a:off x="4221333" y="4726809"/>
                    <a:ext cx="504825" cy="0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lg" len="lg"/>
                  </a:ln>
                </p:spPr>
              </p:sp>
              <p:sp>
                <p:nvSpPr>
                  <p:cNvPr id="67619" name="Line 21"/>
                  <p:cNvSpPr/>
                  <p:nvPr/>
                </p:nvSpPr>
                <p:spPr>
                  <a:xfrm>
                    <a:off x="5021004" y="4723834"/>
                    <a:ext cx="504825" cy="0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lg" len="lg"/>
                  </a:ln>
                </p:spPr>
              </p:sp>
              <p:sp>
                <p:nvSpPr>
                  <p:cNvPr id="67620" name="Oval 23"/>
                  <p:cNvSpPr/>
                  <p:nvPr/>
                </p:nvSpPr>
                <p:spPr>
                  <a:xfrm>
                    <a:off x="5594506" y="4572591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 eaLnBrk="1" hangingPunct="1"/>
                    <a:r>
                      <a:rPr lang="en-US" altLang="zh-CN" sz="2000" b="1" dirty="0">
                        <a:latin typeface="Times New Roman" panose="02020603050405020304" pitchFamily="18" charset="0"/>
                        <a:ea typeface="楷体_GB2312"/>
                      </a:rPr>
                      <a:t>3</a:t>
                    </a:r>
                  </a:p>
                </p:txBody>
              </p:sp>
              <p:sp>
                <p:nvSpPr>
                  <p:cNvPr id="67621" name="Oval 39"/>
                  <p:cNvSpPr/>
                  <p:nvPr/>
                </p:nvSpPr>
                <p:spPr>
                  <a:xfrm>
                    <a:off x="5521481" y="4501154"/>
                    <a:ext cx="440314" cy="451424"/>
                  </a:xfrm>
                  <a:prstGeom prst="ellipse">
                    <a:avLst/>
                  </a:prstGeom>
                  <a:noFill/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i="1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622" name="Rectangle 22"/>
                  <p:cNvSpPr/>
                  <p:nvPr/>
                </p:nvSpPr>
                <p:spPr>
                  <a:xfrm>
                    <a:off x="2339752" y="4581913"/>
                    <a:ext cx="504927" cy="28724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algn="ctr" eaLnBrk="1" hangingPunct="1"/>
                    <a:r>
                      <a:rPr lang="en-US" altLang="zh-CN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</a:rPr>
                      <a:t>start</a:t>
                    </a:r>
                  </a:p>
                </p:txBody>
              </p:sp>
              <p:sp>
                <p:nvSpPr>
                  <p:cNvPr id="67623" name="Line 21"/>
                  <p:cNvSpPr/>
                  <p:nvPr/>
                </p:nvSpPr>
                <p:spPr>
                  <a:xfrm flipV="1">
                    <a:off x="2844679" y="4725144"/>
                    <a:ext cx="252464" cy="8957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lg" len="lg"/>
                  </a:ln>
                </p:spPr>
              </p:sp>
              <p:sp>
                <p:nvSpPr>
                  <p:cNvPr id="67624" name="Rectangle 22"/>
                  <p:cNvSpPr/>
                  <p:nvPr/>
                </p:nvSpPr>
                <p:spPr>
                  <a:xfrm>
                    <a:off x="3139424" y="4162003"/>
                    <a:ext cx="504825" cy="28733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algn="ctr" eaLnBrk="1" hangingPunct="1"/>
                    <a:r>
                      <a:rPr lang="en-US" altLang="zh-CN" b="1" i="1" dirty="0">
                        <a:latin typeface="Times New Roman" panose="02020603050405020304" pitchFamily="18" charset="0"/>
                        <a:ea typeface="楷体_GB2312"/>
                      </a:rPr>
                      <a:t>b</a:t>
                    </a:r>
                  </a:p>
                </p:txBody>
              </p:sp>
            </p:grpSp>
            <p:sp>
              <p:nvSpPr>
                <p:cNvPr id="67609" name="Oval 10"/>
                <p:cNvSpPr/>
                <p:nvPr/>
              </p:nvSpPr>
              <p:spPr>
                <a:xfrm>
                  <a:off x="3346982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/>
                    </a:rPr>
                    <a:t>1</a:t>
                  </a:r>
                </a:p>
              </p:txBody>
            </p:sp>
            <p:sp>
              <p:nvSpPr>
                <p:cNvPr id="67610" name="Oval 10"/>
                <p:cNvSpPr/>
                <p:nvPr/>
              </p:nvSpPr>
              <p:spPr>
                <a:xfrm>
                  <a:off x="4561428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r>
                    <a:rPr lang="en-US" altLang="zh-CN" sz="2000" b="1" dirty="0">
                      <a:latin typeface="Times New Roman" panose="02020603050405020304" pitchFamily="18" charset="0"/>
                      <a:ea typeface="楷体_GB2312"/>
                    </a:rPr>
                    <a:t>2</a:t>
                  </a:r>
                </a:p>
              </p:txBody>
            </p:sp>
            <p:sp>
              <p:nvSpPr>
                <p:cNvPr id="67611" name="Rectangle 22"/>
                <p:cNvSpPr/>
                <p:nvPr/>
              </p:nvSpPr>
              <p:spPr>
                <a:xfrm>
                  <a:off x="2519448" y="4104410"/>
                  <a:ext cx="766668" cy="3961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r>
                    <a:rPr lang="en-US" altLang="zh-CN" b="1" i="1" dirty="0">
                      <a:latin typeface="Times New Roman" panose="02020603050405020304" pitchFamily="18" charset="0"/>
                      <a:ea typeface="楷体_GB2312"/>
                    </a:rPr>
                    <a:t>a</a:t>
                  </a:r>
                </a:p>
              </p:txBody>
            </p:sp>
            <p:sp>
              <p:nvSpPr>
                <p:cNvPr id="67612" name="Rectangle 22"/>
                <p:cNvSpPr/>
                <p:nvPr/>
              </p:nvSpPr>
              <p:spPr>
                <a:xfrm>
                  <a:off x="3786182" y="4104410"/>
                  <a:ext cx="766668" cy="3961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r>
                    <a:rPr lang="en-US" altLang="zh-CN" b="1" i="1" dirty="0">
                      <a:latin typeface="Times New Roman" panose="02020603050405020304" pitchFamily="18" charset="0"/>
                      <a:ea typeface="楷体_GB2312"/>
                    </a:rPr>
                    <a:t>b</a:t>
                  </a:r>
                </a:p>
              </p:txBody>
            </p:sp>
            <p:sp>
              <p:nvSpPr>
                <p:cNvPr id="67613" name="Rectangle 22"/>
                <p:cNvSpPr/>
                <p:nvPr/>
              </p:nvSpPr>
              <p:spPr>
                <a:xfrm>
                  <a:off x="4948340" y="4104410"/>
                  <a:ext cx="766668" cy="3961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algn="ctr" eaLnBrk="1" hangingPunct="1"/>
                  <a:r>
                    <a:rPr lang="en-US" altLang="zh-CN" b="1" i="1" dirty="0">
                      <a:latin typeface="Times New Roman" panose="02020603050405020304" pitchFamily="18" charset="0"/>
                      <a:ea typeface="楷体_GB2312"/>
                    </a:rPr>
                    <a:t>b</a:t>
                  </a:r>
                </a:p>
              </p:txBody>
            </p:sp>
            <p:sp>
              <p:nvSpPr>
                <p:cNvPr id="67614" name="Freeform 11"/>
                <p:cNvSpPr/>
                <p:nvPr/>
              </p:nvSpPr>
              <p:spPr>
                <a:xfrm flipH="1">
                  <a:off x="1983454" y="3840021"/>
                  <a:ext cx="534010" cy="429463"/>
                </a:xfrm>
                <a:custGeom>
                  <a:avLst/>
                  <a:gdLst>
                    <a:gd name="txL" fmla="*/ 0 w 241"/>
                    <a:gd name="txT" fmla="*/ 0 h 189"/>
                    <a:gd name="txR" fmla="*/ 241 w 241"/>
                    <a:gd name="txB" fmla="*/ 189 h 189"/>
                  </a:gdLst>
                  <a:ahLst/>
                  <a:cxnLst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</a:cxnLst>
                  <a:rect l="txL" t="txT" r="txR" b="txB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15" name="Freeform 11"/>
                <p:cNvSpPr/>
                <p:nvPr/>
              </p:nvSpPr>
              <p:spPr>
                <a:xfrm rot="966700" flipH="1" flipV="1">
                  <a:off x="3119468" y="4605418"/>
                  <a:ext cx="534010" cy="419104"/>
                </a:xfrm>
                <a:custGeom>
                  <a:avLst/>
                  <a:gdLst>
                    <a:gd name="txL" fmla="*/ 0 w 241"/>
                    <a:gd name="txT" fmla="*/ 0 h 189"/>
                    <a:gd name="txR" fmla="*/ 241 w 241"/>
                    <a:gd name="txB" fmla="*/ 189 h 189"/>
                  </a:gdLst>
                  <a:ahLst/>
                  <a:cxnLst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</a:cxnLst>
                  <a:rect l="txL" t="txT" r="txR" b="txB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" name="任意多边形 35"/>
              <p:cNvSpPr/>
              <p:nvPr/>
            </p:nvSpPr>
            <p:spPr bwMode="auto">
              <a:xfrm rot="21323228" flipH="1" flipV="1">
                <a:off x="5057775" y="3330581"/>
                <a:ext cx="3429021" cy="500065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7604" name="Rectangle 22"/>
              <p:cNvSpPr/>
              <p:nvPr/>
            </p:nvSpPr>
            <p:spPr>
              <a:xfrm>
                <a:off x="6357950" y="2928940"/>
                <a:ext cx="766668" cy="3961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b</a:t>
                </a:r>
              </a:p>
            </p:txBody>
          </p:sp>
          <p:sp>
            <p:nvSpPr>
              <p:cNvPr id="38" name="任意多边形 37"/>
              <p:cNvSpPr/>
              <p:nvPr/>
            </p:nvSpPr>
            <p:spPr bwMode="auto">
              <a:xfrm rot="278702" flipH="1">
                <a:off x="6230944" y="4130686"/>
                <a:ext cx="2278077" cy="488953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任意多边形 38"/>
              <p:cNvSpPr/>
              <p:nvPr/>
            </p:nvSpPr>
            <p:spPr bwMode="auto">
              <a:xfrm rot="278702" flipH="1">
                <a:off x="6345245" y="4011622"/>
                <a:ext cx="823918" cy="184151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7607" name="Rectangle 22"/>
              <p:cNvSpPr/>
              <p:nvPr/>
            </p:nvSpPr>
            <p:spPr>
              <a:xfrm>
                <a:off x="5591282" y="4461600"/>
                <a:ext cx="766668" cy="3961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a</a:t>
                </a:r>
              </a:p>
            </p:txBody>
          </p:sp>
        </p:grpSp>
        <p:sp>
          <p:nvSpPr>
            <p:cNvPr id="67600" name="Rectangle 22"/>
            <p:cNvSpPr/>
            <p:nvPr/>
          </p:nvSpPr>
          <p:spPr>
            <a:xfrm>
              <a:off x="6591414" y="4104410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a</a:t>
              </a:r>
            </a:p>
          </p:txBody>
        </p:sp>
        <p:sp>
          <p:nvSpPr>
            <p:cNvPr id="67601" name="Rectangle 22"/>
            <p:cNvSpPr/>
            <p:nvPr/>
          </p:nvSpPr>
          <p:spPr>
            <a:xfrm>
              <a:off x="7072330" y="4533038"/>
              <a:ext cx="766668" cy="3961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a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3643313" y="4483100"/>
            <a:ext cx="4745111" cy="477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正则表达式 ⇔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FA</a:t>
            </a:r>
            <a:endParaRPr kumimoji="0" lang="zh-CN" altLang="en-US" sz="25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738" y="2786063"/>
            <a:ext cx="2268538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：串以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结尾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408738" y="3300413"/>
            <a:ext cx="2411413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：串以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结尾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408738" y="3814763"/>
            <a:ext cx="2554288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：串以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abb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结尾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643313" y="4486275"/>
            <a:ext cx="1928813" cy="4762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正则文法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⇔</a:t>
            </a:r>
            <a:endParaRPr kumimoji="0" lang="zh-CN" altLang="en-US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 animBg="1"/>
      <p:bldP spid="3" grpId="0" animBg="1"/>
      <p:bldP spid="7" grpId="0" animBg="1"/>
      <p:bldP spid="60" grpId="0" animBg="1"/>
      <p:bldP spid="61" grpId="0" animBg="1"/>
      <p:bldP spid="6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带</a:t>
            </a:r>
            <a:r>
              <a:rPr kumimoji="0" lang="zh-CN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有“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ε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边</a:t>
            </a:r>
            <a:r>
              <a:rPr kumimoji="0" lang="zh-CN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”的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NFA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4"/>
          <p:cNvGrpSpPr/>
          <p:nvPr/>
        </p:nvGrpSpPr>
        <p:grpSpPr>
          <a:xfrm>
            <a:off x="1358900" y="3714750"/>
            <a:ext cx="3921125" cy="1211263"/>
            <a:chOff x="2571750" y="3090863"/>
            <a:chExt cx="3282950" cy="1047750"/>
          </a:xfrm>
        </p:grpSpPr>
        <p:sp>
          <p:nvSpPr>
            <p:cNvPr id="70666" name="Oval 10"/>
            <p:cNvSpPr>
              <a:spLocks noChangeArrowheads="1"/>
            </p:cNvSpPr>
            <p:nvPr/>
          </p:nvSpPr>
          <p:spPr bwMode="auto">
            <a:xfrm>
              <a:off x="3620434" y="3707429"/>
              <a:ext cx="361523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9643" name="Freeform 11"/>
            <p:cNvSpPr/>
            <p:nvPr/>
          </p:nvSpPr>
          <p:spPr>
            <a:xfrm>
              <a:off x="3631046" y="3421288"/>
              <a:ext cx="382588" cy="300038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4" name="Rectangle 12"/>
            <p:cNvSpPr/>
            <p:nvPr/>
          </p:nvSpPr>
          <p:spPr>
            <a:xfrm>
              <a:off x="3548063" y="3130550"/>
              <a:ext cx="504825" cy="2873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0</a:t>
              </a:r>
            </a:p>
          </p:txBody>
        </p:sp>
        <p:sp>
          <p:nvSpPr>
            <p:cNvPr id="69645" name="Line 13"/>
            <p:cNvSpPr/>
            <p:nvPr/>
          </p:nvSpPr>
          <p:spPr>
            <a:xfrm>
              <a:off x="3979863" y="3922713"/>
              <a:ext cx="5048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9646" name="Rectangle 14"/>
            <p:cNvSpPr/>
            <p:nvPr/>
          </p:nvSpPr>
          <p:spPr>
            <a:xfrm>
              <a:off x="3979863" y="3489325"/>
              <a:ext cx="504825" cy="2873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ε</a:t>
              </a:r>
            </a:p>
          </p:txBody>
        </p:sp>
        <p:sp>
          <p:nvSpPr>
            <p:cNvPr id="70671" name="Oval 15"/>
            <p:cNvSpPr>
              <a:spLocks noChangeArrowheads="1"/>
            </p:cNvSpPr>
            <p:nvPr/>
          </p:nvSpPr>
          <p:spPr bwMode="auto">
            <a:xfrm>
              <a:off x="4484368" y="3707429"/>
              <a:ext cx="360194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9648" name="Line 16"/>
            <p:cNvSpPr/>
            <p:nvPr/>
          </p:nvSpPr>
          <p:spPr>
            <a:xfrm>
              <a:off x="4843463" y="3922713"/>
              <a:ext cx="5048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9649" name="Rectangle 17"/>
            <p:cNvSpPr/>
            <p:nvPr/>
          </p:nvSpPr>
          <p:spPr>
            <a:xfrm>
              <a:off x="4843463" y="3562350"/>
              <a:ext cx="504825" cy="2873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ε</a:t>
              </a:r>
            </a:p>
          </p:txBody>
        </p:sp>
        <p:sp>
          <p:nvSpPr>
            <p:cNvPr id="70674" name="Oval 18"/>
            <p:cNvSpPr>
              <a:spLocks noChangeArrowheads="1"/>
            </p:cNvSpPr>
            <p:nvPr/>
          </p:nvSpPr>
          <p:spPr bwMode="auto">
            <a:xfrm>
              <a:off x="5421404" y="3707429"/>
              <a:ext cx="360195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69651" name="Freeform 19"/>
            <p:cNvSpPr/>
            <p:nvPr/>
          </p:nvSpPr>
          <p:spPr>
            <a:xfrm>
              <a:off x="4494646" y="3412445"/>
              <a:ext cx="382588" cy="300037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2" name="Rectangle 20"/>
            <p:cNvSpPr/>
            <p:nvPr/>
          </p:nvSpPr>
          <p:spPr>
            <a:xfrm>
              <a:off x="4411663" y="3128963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  <p:sp>
          <p:nvSpPr>
            <p:cNvPr id="69653" name="Line 21"/>
            <p:cNvSpPr/>
            <p:nvPr/>
          </p:nvSpPr>
          <p:spPr>
            <a:xfrm>
              <a:off x="3105150" y="3910013"/>
              <a:ext cx="50482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9654" name="Rectangle 22"/>
            <p:cNvSpPr/>
            <p:nvPr/>
          </p:nvSpPr>
          <p:spPr>
            <a:xfrm>
              <a:off x="2571750" y="3722688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69655" name="Freeform 30"/>
            <p:cNvSpPr/>
            <p:nvPr/>
          </p:nvSpPr>
          <p:spPr>
            <a:xfrm>
              <a:off x="5439883" y="3338062"/>
              <a:ext cx="382587" cy="300037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6" name="Rectangle 31"/>
            <p:cNvSpPr/>
            <p:nvPr/>
          </p:nvSpPr>
          <p:spPr>
            <a:xfrm>
              <a:off x="5349875" y="3090863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  <p:sp>
          <p:nvSpPr>
            <p:cNvPr id="69657" name="Oval 39"/>
            <p:cNvSpPr/>
            <p:nvPr/>
          </p:nvSpPr>
          <p:spPr>
            <a:xfrm>
              <a:off x="5348288" y="3635375"/>
              <a:ext cx="503237" cy="503238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1042988" y="4010025"/>
            <a:ext cx="3652838" cy="912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</p:txBody>
      </p:sp>
      <p:grpSp>
        <p:nvGrpSpPr>
          <p:cNvPr id="69637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4" name="五边形 2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9641" name="五边形 24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6" name="内容占位符 2"/>
          <p:cNvSpPr txBox="1"/>
          <p:nvPr/>
        </p:nvSpPr>
        <p:spPr bwMode="auto">
          <a:xfrm>
            <a:off x="179388" y="714375"/>
            <a:ext cx="8856663" cy="3203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algn="ctr" defTabSz="914400" eaLnBrk="1" fontAlgn="auto" hangingPunct="1">
              <a:spcBef>
                <a:spcPct val="3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 (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Σ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δ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</a:t>
            </a:r>
            <a:r>
              <a:rPr kumimoji="0" lang="en-US" altLang="zh-CN" sz="2500" b="1" i="1" kern="1200" cap="none" spc="0" normalizeH="0" baseline="-3000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</a:p>
          <a:p>
            <a:pPr marL="274320" marR="0" indent="-274320" defTabSz="914400" eaLnBrk="1" fontAlgn="auto" hangingPunct="1"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zh-CN" altLang="en-US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：有穷状态集</a:t>
            </a:r>
            <a:endParaRPr kumimoji="0" lang="en-US" altLang="zh-CN" sz="2400" b="1" kern="1200" cap="none" spc="0" normalizeH="0" baseline="0" noProof="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320" marR="0" indent="-274320" defTabSz="914400" eaLnBrk="1" fontAlgn="auto" hangingPunct="1"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l-GR" altLang="zh-CN" sz="24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Σ</a:t>
            </a:r>
            <a:r>
              <a:rPr kumimoji="0" lang="zh-CN" altLang="el-GR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zh-CN" altLang="en-US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输入符号集合，即输入字母表。假设</a:t>
            </a:r>
            <a:r>
              <a:rPr kumimoji="0" lang="el-GR" altLang="zh-CN" sz="24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ε</a:t>
            </a:r>
            <a:r>
              <a:rPr kumimoji="0" lang="zh-CN" altLang="en-US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不是</a:t>
            </a:r>
            <a:r>
              <a:rPr kumimoji="0" lang="el-GR" altLang="zh-CN" sz="24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Σ</a:t>
            </a:r>
            <a:r>
              <a:rPr kumimoji="0" lang="zh-CN" altLang="en-US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中的元素</a:t>
            </a:r>
          </a:p>
          <a:p>
            <a:pPr marL="274320" marR="0" indent="-274320" defTabSz="914400" eaLnBrk="1" fontAlgn="auto" hangingPunct="1"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l-GR" altLang="zh-CN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δ</a:t>
            </a:r>
            <a:r>
              <a:rPr kumimoji="0" lang="zh-CN" altLang="el-GR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zh-CN" altLang="en-US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将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×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Σ</a:t>
            </a:r>
            <a:r>
              <a:rPr kumimoji="0" lang="en-US" altLang="zh-CN" sz="24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∪{</a:t>
            </a:r>
            <a:r>
              <a:rPr kumimoji="0" lang="en-US" altLang="zh-CN" sz="2400" b="1" i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ε</a:t>
            </a:r>
            <a:r>
              <a:rPr kumimoji="0" lang="en-US" altLang="zh-CN" sz="24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映射到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1" kern="1200" cap="none" spc="0" normalizeH="0" baseline="3000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的转换函数。</a:t>
            </a:r>
            <a:r>
              <a:rPr kumimoji="0" lang="zh-CN" altLang="en-US" sz="24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kumimoji="0" lang="en-US" altLang="zh-CN" sz="2400" b="1" i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kumimoji="0" lang="en-US" altLang="zh-CN" sz="2400" b="1" i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kumimoji="0" lang="en-US" altLang="zh-CN" sz="2400" b="1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kumimoji="0" lang="en-US" altLang="zh-CN" sz="24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kumimoji="0" lang="el-GR" altLang="zh-CN" sz="2400" b="1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Σ</a:t>
            </a:r>
            <a:r>
              <a:rPr kumimoji="0" lang="en-US" altLang="zh-CN" sz="24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∪{</a:t>
            </a:r>
            <a:r>
              <a:rPr kumimoji="0" lang="en-US" altLang="zh-CN" sz="2400" b="1" i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ε</a:t>
            </a:r>
            <a:r>
              <a:rPr kumimoji="0" lang="en-US" altLang="zh-CN" sz="24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24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,</a:t>
            </a:r>
            <a:r>
              <a:rPr kumimoji="0" lang="el-GR" altLang="zh-CN" sz="24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l-GR" altLang="zh-CN" sz="2400" b="1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δ</a:t>
            </a:r>
            <a:r>
              <a:rPr kumimoji="0" lang="en-US" altLang="zh-CN" sz="24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kumimoji="0" lang="en-US" altLang="zh-CN" sz="2400" b="1" i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</a:t>
            </a:r>
            <a:r>
              <a:rPr kumimoji="0" lang="en-US" altLang="zh-CN" sz="2400" b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,</a:t>
            </a:r>
            <a:r>
              <a:rPr kumimoji="0" lang="en-US" altLang="zh-CN" sz="2400" b="1" i="1" kern="1200" cap="none" spc="0" normalizeH="0" baseline="0" noProof="0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en-US" altLang="zh-CN" sz="24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kumimoji="0" lang="zh-CN" altLang="en-US" sz="24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表示从状态</a:t>
            </a:r>
            <a:r>
              <a:rPr kumimoji="0" lang="en-US" altLang="zh-CN" sz="2400" b="1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</a:t>
            </a:r>
            <a:r>
              <a:rPr kumimoji="0" lang="zh-CN" altLang="en-US" sz="24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出发，沿着标记为</a:t>
            </a:r>
            <a:r>
              <a:rPr kumimoji="0" lang="en-US" altLang="zh-CN" sz="2400" b="1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zh-CN" altLang="en-US" sz="2400" b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的边所能到达的状态</a:t>
            </a:r>
            <a:r>
              <a:rPr kumimoji="0" lang="zh-CN" altLang="en-US" sz="24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集合</a:t>
            </a:r>
            <a:endParaRPr kumimoji="0" lang="en-US" altLang="zh-CN" sz="2400" b="1" kern="1200" cap="none" spc="0" normalizeH="0" baseline="0" noProof="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4320" marR="0" indent="-274320" defTabSz="914400" eaLnBrk="1" fontAlgn="auto" hangingPunct="1"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4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r>
              <a:rPr kumimoji="0" lang="zh-CN" altLang="en-US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：开始状态 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或初始状态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4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∈ 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endParaRPr kumimoji="0" lang="en-US" altLang="zh-CN" sz="2400" b="1" kern="1200" cap="none" spc="0" normalizeH="0" baseline="0" noProof="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320" marR="0" indent="-274320" defTabSz="914400" eaLnBrk="1" fontAlgn="auto" hangingPunct="1"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kumimoji="0" lang="zh-CN" altLang="en-US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：接收状态（或终止状态）集合，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⊆ 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endParaRPr kumimoji="0" lang="zh-CN" altLang="en-US" sz="2400" b="1" kern="1200" cap="none" spc="0" normalizeH="0" baseline="0" noProof="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15000" y="4357688"/>
            <a:ext cx="1455738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 0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25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3" y="868363"/>
            <a:ext cx="5927725" cy="6318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例</a:t>
            </a: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带有和不带</a:t>
            </a:r>
            <a:r>
              <a:rPr kumimoji="0" lang="zh-CN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有“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ε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边</a:t>
            </a:r>
            <a:r>
              <a:rPr kumimoji="0" lang="zh-CN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”的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NFA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的等价性</a:t>
            </a:r>
          </a:p>
        </p:txBody>
      </p:sp>
      <p:grpSp>
        <p:nvGrpSpPr>
          <p:cNvPr id="2" name="组合 48"/>
          <p:cNvGrpSpPr/>
          <p:nvPr/>
        </p:nvGrpSpPr>
        <p:grpSpPr>
          <a:xfrm>
            <a:off x="642938" y="1303338"/>
            <a:ext cx="5297487" cy="1500187"/>
            <a:chOff x="2202490" y="1071552"/>
            <a:chExt cx="5298468" cy="1500198"/>
          </a:xfrm>
        </p:grpSpPr>
        <p:grpSp>
          <p:nvGrpSpPr>
            <p:cNvPr id="71715" name="组合 46"/>
            <p:cNvGrpSpPr/>
            <p:nvPr/>
          </p:nvGrpSpPr>
          <p:grpSpPr>
            <a:xfrm>
              <a:off x="2857488" y="1071552"/>
              <a:ext cx="4643470" cy="1500198"/>
              <a:chOff x="1902792" y="2139945"/>
              <a:chExt cx="3305782" cy="785812"/>
            </a:xfrm>
          </p:grpSpPr>
          <p:sp>
            <p:nvSpPr>
              <p:cNvPr id="72741" name="Oval 10"/>
              <p:cNvSpPr>
                <a:spLocks noChangeArrowheads="1"/>
              </p:cNvSpPr>
              <p:nvPr/>
            </p:nvSpPr>
            <p:spPr bwMode="auto">
              <a:xfrm>
                <a:off x="2974937" y="2602285"/>
                <a:ext cx="360593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718" name="Freeform 11"/>
              <p:cNvSpPr/>
              <p:nvPr/>
            </p:nvSpPr>
            <p:spPr>
              <a:xfrm>
                <a:off x="2993843" y="2381447"/>
                <a:ext cx="382702" cy="224957"/>
              </a:xfrm>
              <a:custGeom>
                <a:avLst/>
                <a:gdLst>
                  <a:gd name="txL" fmla="*/ 0 w 241"/>
                  <a:gd name="txT" fmla="*/ 0 h 189"/>
                  <a:gd name="txR" fmla="*/ 241 w 241"/>
                  <a:gd name="txB" fmla="*/ 189 h 189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Rectangle 12"/>
              <p:cNvSpPr/>
              <p:nvPr/>
            </p:nvSpPr>
            <p:spPr>
              <a:xfrm>
                <a:off x="2902045" y="2169950"/>
                <a:ext cx="504975" cy="2154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0</a:t>
                </a:r>
              </a:p>
            </p:txBody>
          </p:sp>
          <p:sp>
            <p:nvSpPr>
              <p:cNvPr id="71720" name="Line 13"/>
              <p:cNvSpPr/>
              <p:nvPr/>
            </p:nvSpPr>
            <p:spPr>
              <a:xfrm>
                <a:off x="3333974" y="2763883"/>
                <a:ext cx="50497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71721" name="Rectangle 14"/>
              <p:cNvSpPr/>
              <p:nvPr/>
            </p:nvSpPr>
            <p:spPr>
              <a:xfrm>
                <a:off x="3333974" y="2438946"/>
                <a:ext cx="504975" cy="2154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ε</a:t>
                </a:r>
              </a:p>
            </p:txBody>
          </p:sp>
          <p:sp>
            <p:nvSpPr>
              <p:cNvPr id="72746" name="Oval 15"/>
              <p:cNvSpPr>
                <a:spLocks noChangeArrowheads="1"/>
              </p:cNvSpPr>
              <p:nvPr/>
            </p:nvSpPr>
            <p:spPr bwMode="auto">
              <a:xfrm>
                <a:off x="3839680" y="2602285"/>
                <a:ext cx="35946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23" name="Line 16"/>
              <p:cNvSpPr/>
              <p:nvPr/>
            </p:nvSpPr>
            <p:spPr>
              <a:xfrm>
                <a:off x="4197831" y="2763883"/>
                <a:ext cx="50497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71724" name="Rectangle 17"/>
              <p:cNvSpPr/>
              <p:nvPr/>
            </p:nvSpPr>
            <p:spPr>
              <a:xfrm>
                <a:off x="4197831" y="2493697"/>
                <a:ext cx="504975" cy="2154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ε</a:t>
                </a:r>
              </a:p>
            </p:txBody>
          </p:sp>
          <p:sp>
            <p:nvSpPr>
              <p:cNvPr id="72749" name="Oval 18"/>
              <p:cNvSpPr>
                <a:spLocks noChangeArrowheads="1"/>
              </p:cNvSpPr>
              <p:nvPr/>
            </p:nvSpPr>
            <p:spPr bwMode="auto">
              <a:xfrm>
                <a:off x="4775638" y="2602285"/>
                <a:ext cx="36059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26" name="Freeform 19"/>
              <p:cNvSpPr/>
              <p:nvPr/>
            </p:nvSpPr>
            <p:spPr>
              <a:xfrm>
                <a:off x="3863673" y="2384650"/>
                <a:ext cx="382702" cy="224957"/>
              </a:xfrm>
              <a:custGeom>
                <a:avLst/>
                <a:gdLst>
                  <a:gd name="txL" fmla="*/ 0 w 241"/>
                  <a:gd name="txT" fmla="*/ 0 h 189"/>
                  <a:gd name="txR" fmla="*/ 241 w 241"/>
                  <a:gd name="txB" fmla="*/ 189 h 189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Rectangle 20"/>
              <p:cNvSpPr/>
              <p:nvPr/>
            </p:nvSpPr>
            <p:spPr>
              <a:xfrm>
                <a:off x="3765903" y="2168759"/>
                <a:ext cx="504975" cy="2154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1</a:t>
                </a:r>
              </a:p>
            </p:txBody>
          </p:sp>
          <p:sp>
            <p:nvSpPr>
              <p:cNvPr id="71728" name="Line 21"/>
              <p:cNvSpPr/>
              <p:nvPr/>
            </p:nvSpPr>
            <p:spPr>
              <a:xfrm>
                <a:off x="2459001" y="2754361"/>
                <a:ext cx="50497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71729" name="Rectangle 22"/>
              <p:cNvSpPr/>
              <p:nvPr/>
            </p:nvSpPr>
            <p:spPr>
              <a:xfrm>
                <a:off x="1902792" y="2623406"/>
                <a:ext cx="504975" cy="2154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start</a:t>
                </a:r>
              </a:p>
            </p:txBody>
          </p:sp>
          <p:sp>
            <p:nvSpPr>
              <p:cNvPr id="71730" name="Freeform 30"/>
              <p:cNvSpPr/>
              <p:nvPr/>
            </p:nvSpPr>
            <p:spPr>
              <a:xfrm>
                <a:off x="4777477" y="2329471"/>
                <a:ext cx="382702" cy="224957"/>
              </a:xfrm>
              <a:custGeom>
                <a:avLst/>
                <a:gdLst>
                  <a:gd name="txL" fmla="*/ 0 w 241"/>
                  <a:gd name="txT" fmla="*/ 0 h 189"/>
                  <a:gd name="txR" fmla="*/ 241 w 241"/>
                  <a:gd name="txB" fmla="*/ 189 h 189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1" name="Rectangle 31"/>
              <p:cNvSpPr/>
              <p:nvPr/>
            </p:nvSpPr>
            <p:spPr>
              <a:xfrm>
                <a:off x="4703599" y="2139945"/>
                <a:ext cx="504975" cy="2154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2</a:t>
                </a:r>
              </a:p>
            </p:txBody>
          </p:sp>
          <p:sp>
            <p:nvSpPr>
              <p:cNvPr id="71732" name="Oval 39"/>
              <p:cNvSpPr/>
              <p:nvPr/>
            </p:nvSpPr>
            <p:spPr>
              <a:xfrm>
                <a:off x="4702807" y="2548448"/>
                <a:ext cx="503388" cy="37730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39" name="矩形 38"/>
            <p:cNvSpPr/>
            <p:nvPr/>
          </p:nvSpPr>
          <p:spPr bwMode="auto">
            <a:xfrm>
              <a:off x="2202490" y="1349366"/>
              <a:ext cx="2014910" cy="344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+mn-cs"/>
                </a:rPr>
                <a:t>带“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+mn-cs"/>
                </a:rPr>
                <a:t>ε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+mn-cs"/>
                </a:rPr>
                <a:t>-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+mn-cs"/>
                </a:rPr>
                <a:t>边”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9" name="组合 49"/>
          <p:cNvGrpSpPr/>
          <p:nvPr/>
        </p:nvGrpSpPr>
        <p:grpSpPr>
          <a:xfrm>
            <a:off x="587375" y="3089275"/>
            <a:ext cx="5424488" cy="1785938"/>
            <a:chOff x="2147659" y="2857502"/>
            <a:chExt cx="5424737" cy="1785950"/>
          </a:xfrm>
        </p:grpSpPr>
        <p:sp>
          <p:nvSpPr>
            <p:cNvPr id="41" name="矩形 40"/>
            <p:cNvSpPr/>
            <p:nvPr/>
          </p:nvSpPr>
          <p:spPr bwMode="auto">
            <a:xfrm>
              <a:off x="2147659" y="3211517"/>
              <a:ext cx="2014630" cy="346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+mn-cs"/>
                </a:rPr>
                <a:t>不带“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+mn-cs"/>
                </a:rPr>
                <a:t>ε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+mn-cs"/>
                </a:rPr>
                <a:t>-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+mn-cs"/>
                </a:rPr>
                <a:t>边”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71694" name="组合 47"/>
            <p:cNvGrpSpPr/>
            <p:nvPr/>
          </p:nvGrpSpPr>
          <p:grpSpPr>
            <a:xfrm>
              <a:off x="2928926" y="2857502"/>
              <a:ext cx="4643470" cy="1785950"/>
              <a:chOff x="2101129" y="3446463"/>
              <a:chExt cx="3596409" cy="1020762"/>
            </a:xfrm>
          </p:grpSpPr>
          <p:sp>
            <p:nvSpPr>
              <p:cNvPr id="72719" name="Oval 10"/>
              <p:cNvSpPr>
                <a:spLocks noChangeArrowheads="1"/>
              </p:cNvSpPr>
              <p:nvPr/>
            </p:nvSpPr>
            <p:spPr bwMode="auto">
              <a:xfrm>
                <a:off x="3249425" y="3929170"/>
                <a:ext cx="360270" cy="27038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696" name="Freeform 11"/>
              <p:cNvSpPr/>
              <p:nvPr/>
            </p:nvSpPr>
            <p:spPr>
              <a:xfrm>
                <a:off x="3264097" y="3653662"/>
                <a:ext cx="382665" cy="225061"/>
              </a:xfrm>
              <a:custGeom>
                <a:avLst/>
                <a:gdLst>
                  <a:gd name="txL" fmla="*/ 0 w 241"/>
                  <a:gd name="txT" fmla="*/ 0 h 189"/>
                  <a:gd name="txR" fmla="*/ 241 w 241"/>
                  <a:gd name="txB" fmla="*/ 189 h 189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7" name="Rectangle 12"/>
              <p:cNvSpPr/>
              <p:nvPr/>
            </p:nvSpPr>
            <p:spPr>
              <a:xfrm>
                <a:off x="3176182" y="3446463"/>
                <a:ext cx="504926" cy="2155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0</a:t>
                </a:r>
              </a:p>
            </p:txBody>
          </p:sp>
          <p:sp>
            <p:nvSpPr>
              <p:cNvPr id="71698" name="Line 13"/>
              <p:cNvSpPr/>
              <p:nvPr/>
            </p:nvSpPr>
            <p:spPr>
              <a:xfrm>
                <a:off x="3681083" y="4091527"/>
                <a:ext cx="50492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71699" name="Rectangle 14"/>
              <p:cNvSpPr/>
              <p:nvPr/>
            </p:nvSpPr>
            <p:spPr>
              <a:xfrm>
                <a:off x="3649579" y="3890737"/>
                <a:ext cx="504926" cy="2155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1</a:t>
                </a:r>
              </a:p>
            </p:txBody>
          </p:sp>
          <p:sp>
            <p:nvSpPr>
              <p:cNvPr id="72724" name="Oval 15"/>
              <p:cNvSpPr>
                <a:spLocks noChangeArrowheads="1"/>
              </p:cNvSpPr>
              <p:nvPr/>
            </p:nvSpPr>
            <p:spPr bwMode="auto">
              <a:xfrm>
                <a:off x="4265066" y="3939151"/>
                <a:ext cx="360270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01" name="Line 16"/>
              <p:cNvSpPr/>
              <p:nvPr/>
            </p:nvSpPr>
            <p:spPr>
              <a:xfrm>
                <a:off x="4686893" y="4100652"/>
                <a:ext cx="50492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71702" name="Rectangle 17"/>
              <p:cNvSpPr/>
              <p:nvPr/>
            </p:nvSpPr>
            <p:spPr>
              <a:xfrm>
                <a:off x="4686893" y="3890737"/>
                <a:ext cx="504926" cy="2155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2</a:t>
                </a:r>
              </a:p>
            </p:txBody>
          </p:sp>
          <p:sp>
            <p:nvSpPr>
              <p:cNvPr id="72727" name="Oval 18"/>
              <p:cNvSpPr>
                <a:spLocks noChangeArrowheads="1"/>
              </p:cNvSpPr>
              <p:nvPr/>
            </p:nvSpPr>
            <p:spPr bwMode="auto">
              <a:xfrm>
                <a:off x="5264723" y="3939151"/>
                <a:ext cx="360269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04" name="Freeform 19"/>
              <p:cNvSpPr/>
              <p:nvPr/>
            </p:nvSpPr>
            <p:spPr>
              <a:xfrm>
                <a:off x="4280204" y="3666392"/>
                <a:ext cx="382665" cy="225061"/>
              </a:xfrm>
              <a:custGeom>
                <a:avLst/>
                <a:gdLst>
                  <a:gd name="txL" fmla="*/ 0 w 241"/>
                  <a:gd name="txT" fmla="*/ 0 h 189"/>
                  <a:gd name="txR" fmla="*/ 241 w 241"/>
                  <a:gd name="txB" fmla="*/ 189 h 189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Rectangle 20"/>
              <p:cNvSpPr/>
              <p:nvPr/>
            </p:nvSpPr>
            <p:spPr>
              <a:xfrm>
                <a:off x="4192289" y="3454397"/>
                <a:ext cx="504926" cy="2155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1</a:t>
                </a:r>
              </a:p>
            </p:txBody>
          </p:sp>
          <p:sp>
            <p:nvSpPr>
              <p:cNvPr id="71706" name="Line 21"/>
              <p:cNvSpPr/>
              <p:nvPr/>
            </p:nvSpPr>
            <p:spPr>
              <a:xfrm>
                <a:off x="2671242" y="4072538"/>
                <a:ext cx="50492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71707" name="Rectangle 22"/>
              <p:cNvSpPr/>
              <p:nvPr/>
            </p:nvSpPr>
            <p:spPr>
              <a:xfrm>
                <a:off x="2101129" y="3938703"/>
                <a:ext cx="504926" cy="2155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start</a:t>
                </a:r>
              </a:p>
            </p:txBody>
          </p:sp>
          <p:sp>
            <p:nvSpPr>
              <p:cNvPr id="71708" name="Freeform 30"/>
              <p:cNvSpPr/>
              <p:nvPr/>
            </p:nvSpPr>
            <p:spPr>
              <a:xfrm>
                <a:off x="5280528" y="3669239"/>
                <a:ext cx="382665" cy="225061"/>
              </a:xfrm>
              <a:custGeom>
                <a:avLst/>
                <a:gdLst>
                  <a:gd name="txL" fmla="*/ 0 w 241"/>
                  <a:gd name="txT" fmla="*/ 0 h 189"/>
                  <a:gd name="txR" fmla="*/ 241 w 241"/>
                  <a:gd name="txB" fmla="*/ 189 h 189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9" name="Rectangle 31"/>
              <p:cNvSpPr/>
              <p:nvPr/>
            </p:nvSpPr>
            <p:spPr>
              <a:xfrm>
                <a:off x="5192612" y="3476424"/>
                <a:ext cx="504926" cy="2155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2</a:t>
                </a:r>
              </a:p>
            </p:txBody>
          </p:sp>
          <p:sp>
            <p:nvSpPr>
              <p:cNvPr id="71710" name="Oval 39"/>
              <p:cNvSpPr/>
              <p:nvPr/>
            </p:nvSpPr>
            <p:spPr>
              <a:xfrm>
                <a:off x="5191820" y="3885117"/>
                <a:ext cx="503339" cy="377485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3490425" y="4240389"/>
                <a:ext cx="1993165" cy="226836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1712" name="Rectangle 17"/>
              <p:cNvSpPr/>
              <p:nvPr/>
            </p:nvSpPr>
            <p:spPr>
              <a:xfrm>
                <a:off x="4234142" y="4251690"/>
                <a:ext cx="504926" cy="2155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2</a:t>
                </a:r>
              </a:p>
            </p:txBody>
          </p:sp>
          <p:sp>
            <p:nvSpPr>
              <p:cNvPr id="71713" name="Oval 39"/>
              <p:cNvSpPr/>
              <p:nvPr/>
            </p:nvSpPr>
            <p:spPr>
              <a:xfrm>
                <a:off x="3177770" y="3874205"/>
                <a:ext cx="503339" cy="377485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71714" name="Oval 39"/>
              <p:cNvSpPr/>
              <p:nvPr/>
            </p:nvSpPr>
            <p:spPr>
              <a:xfrm>
                <a:off x="4193877" y="3885117"/>
                <a:ext cx="503339" cy="377485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1686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1692" name="五边形 45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18250" y="3071813"/>
            <a:ext cx="1627188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25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8250" y="3714750"/>
            <a:ext cx="1968500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25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18250" y="4357688"/>
            <a:ext cx="2182813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25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00788" y="2143125"/>
            <a:ext cx="1455738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 0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25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5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409575" y="714375"/>
            <a:ext cx="8520113" cy="19288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输入：以文件结束符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eof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结尾的字符串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DFA 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的开始状态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，接收状态集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，转换函数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move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输出：如果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接收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，则回答“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yes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”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，否则回答“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no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”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方法：将下述算法应用于输入串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 </a:t>
            </a:r>
          </a:p>
        </p:txBody>
      </p:sp>
      <p:sp>
        <p:nvSpPr>
          <p:cNvPr id="409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DFA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的算法实现</a:t>
            </a:r>
          </a:p>
        </p:txBody>
      </p:sp>
      <p:grpSp>
        <p:nvGrpSpPr>
          <p:cNvPr id="73732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3736" name="五边形 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2"/>
          <p:cNvSpPr txBox="1"/>
          <p:nvPr/>
        </p:nvSpPr>
        <p:spPr bwMode="auto">
          <a:xfrm>
            <a:off x="571500" y="2500313"/>
            <a:ext cx="3295650" cy="2428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anchor="ctr"/>
          <a:lstStyle/>
          <a:p>
            <a:pPr marL="273050" marR="0" indent="-273050" defTabSz="914400" eaLnBrk="1" hangingPunct="1">
              <a:lnSpc>
                <a:spcPts val="2000"/>
              </a:lnSpc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s =</a:t>
            </a:r>
            <a:r>
              <a:rPr kumimoji="0" lang="en-US" altLang="zh-CN" sz="2200" b="1" i="1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宋体" pitchFamily="2" charset="-122"/>
                <a:cs typeface="+mn-cs"/>
              </a:rPr>
              <a:t> 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200" b="1" i="1" kern="1200" cap="none" spc="0" normalizeH="0" baseline="-2500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 </a:t>
            </a:r>
            <a:r>
              <a:rPr kumimoji="0" lang="en-US" altLang="zh-CN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;</a:t>
            </a:r>
            <a:endParaRPr kumimoji="0" lang="en-US" altLang="zh-CN" sz="2200" b="1" i="1" kern="1200" cap="none" spc="0" normalizeH="0" baseline="-25000" noProof="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273050" marR="0" indent="-273050" defTabSz="914400" eaLnBrk="1" hangingPunct="1">
              <a:lnSpc>
                <a:spcPts val="2000"/>
              </a:lnSpc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c = </a:t>
            </a:r>
            <a:r>
              <a:rPr kumimoji="0" lang="en-US" altLang="zh-CN" sz="2200" b="1" i="1" kern="1200" cap="none" spc="0" normalizeH="0" baseline="0" noProof="0" dirty="0" err="1">
                <a:latin typeface="Times New Roman" panose="02020603050405020304" pitchFamily="18" charset="0"/>
                <a:ea typeface="宋体" pitchFamily="2" charset="-122"/>
                <a:cs typeface="+mn-cs"/>
              </a:rPr>
              <a:t>nextCha</a:t>
            </a:r>
            <a:r>
              <a:rPr kumimoji="0" lang="en-US" altLang="zh-CN" sz="2200" b="1" i="1" kern="1200" cap="none" spc="-300" normalizeH="0" baseline="0" noProof="0" dirty="0" err="1">
                <a:latin typeface="Times New Roman" panose="02020603050405020304" pitchFamily="18" charset="0"/>
                <a:ea typeface="宋体" pitchFamily="2" charset="-122"/>
                <a:cs typeface="+mn-cs"/>
              </a:rPr>
              <a:t>r</a:t>
            </a:r>
            <a:r>
              <a:rPr kumimoji="0" lang="zh-CN" altLang="en-US" sz="2200" b="1" kern="1200" cap="none" spc="-30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（）</a:t>
            </a:r>
            <a:r>
              <a:rPr kumimoji="0" lang="en-US" altLang="zh-CN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;</a:t>
            </a:r>
          </a:p>
          <a:p>
            <a:pPr marL="273050" marR="0" indent="-273050" defTabSz="914400" eaLnBrk="1" hangingPunct="1">
              <a:lnSpc>
                <a:spcPts val="2000"/>
              </a:lnSpc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en-US" altLang="zh-CN" sz="22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whil</a:t>
            </a:r>
            <a:r>
              <a:rPr kumimoji="0" lang="en-US" altLang="zh-CN" sz="2200" b="1" kern="1200" cap="none" spc="-30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zh-CN" altLang="en-US" sz="2200" b="1" kern="1200" cap="none" spc="-30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（ 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c</a:t>
            </a:r>
            <a:r>
              <a:rPr kumimoji="0" lang="en-US" altLang="zh-CN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!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 = </a:t>
            </a:r>
            <a:r>
              <a:rPr kumimoji="0" lang="en-US" altLang="zh-CN" sz="2200" b="1" kern="1200" cap="none" spc="0" normalizeH="0" baseline="0" noProof="0" dirty="0" err="1">
                <a:latin typeface="Times New Roman" panose="02020603050405020304" pitchFamily="18" charset="0"/>
                <a:ea typeface="宋体" pitchFamily="2" charset="-122"/>
                <a:cs typeface="+mn-cs"/>
              </a:rPr>
              <a:t>eof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 </a:t>
            </a:r>
            <a:r>
              <a:rPr kumimoji="0" lang="zh-CN" altLang="en-US" sz="2200" b="1" kern="1200" cap="none" spc="-100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）｛</a:t>
            </a:r>
            <a:endParaRPr kumimoji="0" lang="en-US" altLang="zh-CN" sz="2200" b="1" kern="1200" cap="none" spc="-1000" normalizeH="0" baseline="0" noProof="0" dirty="0"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273050" marR="0" indent="-273050" defTabSz="914400" eaLnBrk="1" hangingPunct="1">
              <a:lnSpc>
                <a:spcPts val="2000"/>
              </a:lnSpc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              s = move </a:t>
            </a:r>
            <a:r>
              <a:rPr kumimoji="0" lang="en-US" altLang="zh-CN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( 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s , c </a:t>
            </a:r>
            <a:r>
              <a:rPr kumimoji="0" lang="en-US" altLang="zh-CN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) ;</a:t>
            </a:r>
            <a:endParaRPr kumimoji="0" lang="en-US" altLang="zh-CN" sz="2200" b="1" kern="1200" cap="none" spc="-300" normalizeH="0" baseline="0" noProof="0" dirty="0"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273050" marR="0" indent="-273050" defTabSz="914400" eaLnBrk="1" hangingPunct="1">
              <a:lnSpc>
                <a:spcPts val="1800"/>
              </a:lnSpc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              c = </a:t>
            </a:r>
            <a:r>
              <a:rPr kumimoji="0" lang="en-US" altLang="zh-CN" sz="2200" b="1" i="1" kern="1200" cap="none" spc="0" normalizeH="0" baseline="0" noProof="0" dirty="0" err="1">
                <a:latin typeface="Times New Roman" panose="02020603050405020304" pitchFamily="18" charset="0"/>
                <a:ea typeface="宋体" pitchFamily="2" charset="-122"/>
                <a:cs typeface="+mn-cs"/>
              </a:rPr>
              <a:t>nextChar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 </a:t>
            </a:r>
            <a:r>
              <a:rPr kumimoji="0" lang="en-US" altLang="zh-CN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( ) ;</a:t>
            </a:r>
          </a:p>
          <a:p>
            <a:pPr marL="273050" marR="0" indent="-273050" defTabSz="914400" eaLnBrk="1" hangingPunct="1">
              <a:lnSpc>
                <a:spcPts val="1800"/>
              </a:lnSpc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zh-CN" altLang="en-US" sz="2200" b="1" kern="1200" cap="none" spc="-30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｝</a:t>
            </a:r>
            <a:endParaRPr kumimoji="0" lang="en-US" altLang="zh-CN" sz="2200" b="1" kern="1200" cap="none" spc="-300" normalizeH="0" baseline="0" noProof="0" dirty="0"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273050" marR="0" indent="-273050" defTabSz="914400" eaLnBrk="1" hangingPunct="1">
              <a:lnSpc>
                <a:spcPts val="1800"/>
              </a:lnSpc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en-US" altLang="zh-CN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if (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s</a:t>
            </a:r>
            <a:r>
              <a:rPr kumimoji="0" lang="zh-CN" altLang="en-US" sz="2200" b="1" kern="1200" cap="none" spc="0" normalizeH="0" baseline="0" noProof="0" dirty="0">
                <a:latin typeface="+mn-ea"/>
                <a:ea typeface="+mn-ea"/>
                <a:cs typeface="+mn-cs"/>
              </a:rPr>
              <a:t>在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F</a:t>
            </a:r>
            <a:r>
              <a:rPr kumimoji="0" lang="zh-CN" altLang="en-US" sz="2200" b="1" kern="1200" cap="none" spc="0" normalizeH="0" baseline="0" noProof="0" dirty="0">
                <a:latin typeface="+mn-ea"/>
                <a:ea typeface="+mn-ea"/>
                <a:cs typeface="+mn-cs"/>
              </a:rPr>
              <a:t>中</a:t>
            </a:r>
            <a:r>
              <a:rPr kumimoji="0" lang="en-US" altLang="zh-CN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) return</a:t>
            </a:r>
            <a:r>
              <a:rPr kumimoji="0" lang="zh-CN" altLang="en-US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“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yes</a:t>
            </a:r>
            <a:r>
              <a:rPr kumimoji="0" lang="zh-CN" altLang="en-US" sz="2200" b="1" kern="1200" cap="none" spc="-30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”</a:t>
            </a:r>
            <a:r>
              <a:rPr kumimoji="0" lang="en-US" altLang="zh-CN" sz="2200" b="1" kern="1200" cap="none" spc="-30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 ;</a:t>
            </a:r>
          </a:p>
          <a:p>
            <a:pPr marL="273050" marR="0" indent="-273050" defTabSz="914400" eaLnBrk="1" hangingPunct="1">
              <a:lnSpc>
                <a:spcPts val="2000"/>
              </a:lnSpc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en-US" altLang="zh-CN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else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  </a:t>
            </a:r>
            <a:r>
              <a:rPr kumimoji="0" lang="en-US" altLang="zh-CN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return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 </a:t>
            </a:r>
            <a:r>
              <a:rPr kumimoji="0" lang="zh-CN" altLang="en-US" sz="22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“</a:t>
            </a:r>
            <a:r>
              <a:rPr kumimoji="0" lang="en-US" altLang="zh-CN" sz="22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no</a:t>
            </a:r>
            <a:r>
              <a:rPr kumimoji="0" lang="zh-CN" altLang="en-US" sz="2200" b="1" kern="1200" cap="none" spc="-30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”</a:t>
            </a:r>
            <a:r>
              <a:rPr kumimoji="0" lang="en-US" altLang="zh-CN" sz="2200" b="1" kern="1200" cap="none" spc="-300" normalizeH="0" baseline="0" noProof="0" dirty="0">
                <a:latin typeface="Times New Roman" panose="02020603050405020304" pitchFamily="18" charset="0"/>
                <a:ea typeface="宋体" pitchFamily="2" charset="-122"/>
                <a:cs typeface="+mn-cs"/>
              </a:rPr>
              <a:t> ;</a:t>
            </a:r>
            <a:endParaRPr kumimoji="0" lang="zh-CN" altLang="en-US" sz="2200" b="1" kern="1200" cap="none" spc="-30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1938" y="3024188"/>
            <a:ext cx="4748534" cy="15481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nextChar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返回输入串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的下一个符号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move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表示从状态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出发，沿着标记为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的边所能到达的状态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714750" y="1130300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第三章 词法分析</a:t>
            </a:r>
            <a:endParaRPr kumimoji="0" lang="zh-CN" altLang="en-US" sz="8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143500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kern="1200" cap="none" spc="0" normalizeH="0" baseline="0" noProof="0" dirty="0">
                <a:solidFill>
                  <a:schemeClr val="bg1"/>
                </a:solidFill>
                <a:latin typeface="+mj-lt"/>
                <a:ea typeface="楷体" pitchFamily="49" charset="-122"/>
                <a:cs typeface="+mj-cs"/>
              </a:rPr>
              <a:t> </a:t>
            </a:r>
            <a:endParaRPr kumimoji="0" lang="zh-CN" altLang="en-US" sz="2000" b="1" kern="1200" cap="none" spc="6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3929063" y="1571625"/>
            <a:ext cx="49291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lnSpc>
                <a:spcPts val="4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从正则表达式</a:t>
            </a:r>
            <a:endParaRPr kumimoji="0" lang="en-US" altLang="zh-CN" sz="30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R="0" defTabSz="914400" eaLnBrk="1" fontAlgn="auto" hangingPunct="1">
              <a:lnSpc>
                <a:spcPts val="4000"/>
              </a:lnSpc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       到有穷自动机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从正则表达式到有穷自动机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949325" y="2881313"/>
            <a:ext cx="865188" cy="3984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RE</a:t>
            </a:r>
            <a:endParaRPr kumimoji="0" lang="zh-CN" altLang="en-US" sz="2500" b="1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229350" y="2881313"/>
            <a:ext cx="863600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DFA</a:t>
            </a:r>
            <a:endParaRPr kumimoji="0" lang="zh-CN" altLang="en-US" sz="2500" b="1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9877" name="矩形 8"/>
          <p:cNvSpPr/>
          <p:nvPr/>
        </p:nvSpPr>
        <p:spPr>
          <a:xfrm>
            <a:off x="323850" y="3379788"/>
            <a:ext cx="1693863" cy="4302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lvl="1" indent="0">
              <a:spcBef>
                <a:spcPct val="30000"/>
              </a:spcBef>
            </a:pPr>
            <a:r>
              <a:rPr lang="en-US" altLang="zh-CN" sz="2200" b="1" i="1" dirty="0">
                <a:latin typeface="Times New Roman" panose="02020603050405020304" pitchFamily="18" charset="0"/>
              </a:rPr>
              <a:t>r </a:t>
            </a:r>
            <a:r>
              <a:rPr lang="en-US" altLang="zh-CN" sz="2200" b="1" dirty="0">
                <a:latin typeface="Times New Roman" panose="02020603050405020304" pitchFamily="18" charset="0"/>
              </a:rPr>
              <a:t>=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a|b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)*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abb</a:t>
            </a:r>
          </a:p>
        </p:txBody>
      </p:sp>
      <p:cxnSp>
        <p:nvCxnSpPr>
          <p:cNvPr id="13" name="直接箭头连接符 12"/>
          <p:cNvCxnSpPr>
            <a:stCxn id="4" idx="3"/>
            <a:endCxn id="8" idx="1"/>
          </p:cNvCxnSpPr>
          <p:nvPr/>
        </p:nvCxnSpPr>
        <p:spPr>
          <a:xfrm>
            <a:off x="1814513" y="3081338"/>
            <a:ext cx="44148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879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79887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pic>
        <p:nvPicPr>
          <p:cNvPr id="7988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075" y="3336925"/>
            <a:ext cx="4978400" cy="16827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6"/>
          <p:cNvGrpSpPr/>
          <p:nvPr/>
        </p:nvGrpSpPr>
        <p:grpSpPr>
          <a:xfrm>
            <a:off x="1427163" y="771525"/>
            <a:ext cx="5232400" cy="2157413"/>
            <a:chOff x="1426741" y="771550"/>
            <a:chExt cx="5233491" cy="2157389"/>
          </a:xfrm>
        </p:grpSpPr>
        <p:sp>
          <p:nvSpPr>
            <p:cNvPr id="6" name="矩形 5"/>
            <p:cNvSpPr/>
            <p:nvPr/>
          </p:nvSpPr>
          <p:spPr bwMode="auto">
            <a:xfrm>
              <a:off x="3563962" y="2146310"/>
              <a:ext cx="863780" cy="40004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5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NFA</a:t>
              </a:r>
              <a:endPara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cxnSp>
          <p:nvCxnSpPr>
            <p:cNvPr id="19" name="直接箭头连接符 18"/>
            <p:cNvCxnSpPr>
              <a:endCxn id="6" idx="1"/>
            </p:cNvCxnSpPr>
            <p:nvPr/>
          </p:nvCxnSpPr>
          <p:spPr>
            <a:xfrm flipV="1">
              <a:off x="1777651" y="2346332"/>
              <a:ext cx="1786310" cy="51116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6" idx="3"/>
            </p:cNvCxnSpPr>
            <p:nvPr/>
          </p:nvCxnSpPr>
          <p:spPr>
            <a:xfrm>
              <a:off x="4427742" y="2346332"/>
              <a:ext cx="1787898" cy="582607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88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6741" y="771550"/>
              <a:ext cx="5233491" cy="1314516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内容占位符 2"/>
          <p:cNvSpPr>
            <a:spLocks noGrp="1"/>
          </p:cNvSpPr>
          <p:nvPr>
            <p:ph idx="1"/>
          </p:nvPr>
        </p:nvSpPr>
        <p:spPr>
          <a:xfrm>
            <a:off x="428625" y="1000125"/>
            <a:ext cx="7700963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2800" b="1" i="1" kern="1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对应的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NFA</a:t>
            </a:r>
          </a:p>
          <a:p>
            <a:pPr eaLnBrk="1" hangingPunct="1">
              <a:buSzPct val="100000"/>
              <a:buFont typeface="Symbol" pitchFamily="18" charset="2"/>
              <a:buNone/>
            </a:pPr>
            <a:endParaRPr lang="en-US" altLang="zh-CN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  <a:buFont typeface="Symbol" pitchFamily="18" charset="2"/>
              <a:buNone/>
            </a:pPr>
            <a:endParaRPr lang="en-US" altLang="zh-CN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  <a:buFont typeface="Symbol" pitchFamily="18" charset="2"/>
              <a:buNone/>
            </a:pPr>
            <a:endParaRPr lang="en-US" altLang="zh-CN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字母表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Σ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中符号</a:t>
            </a:r>
            <a:r>
              <a:rPr lang="en-US" altLang="zh-CN" sz="2800" b="1" i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对应的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NFA</a:t>
            </a:r>
          </a:p>
        </p:txBody>
      </p:sp>
      <p:sp>
        <p:nvSpPr>
          <p:cNvPr id="52228" name="标题 3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根据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RE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构造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NFA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44600" y="1812925"/>
            <a:ext cx="3338513" cy="830263"/>
            <a:chOff x="3131840" y="3373964"/>
            <a:chExt cx="3026835" cy="731068"/>
          </a:xfrm>
        </p:grpSpPr>
        <p:sp>
          <p:nvSpPr>
            <p:cNvPr id="81936" name="Oval 10"/>
            <p:cNvSpPr/>
            <p:nvPr/>
          </p:nvSpPr>
          <p:spPr>
            <a:xfrm>
              <a:off x="4164103" y="3504029"/>
              <a:ext cx="559721" cy="520564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q</a:t>
              </a:r>
              <a:r>
                <a:rPr lang="en-US" altLang="zh-CN" sz="2500" b="1" i="1" baseline="-25000" dirty="0">
                  <a:latin typeface="Times New Roman" panose="02020603050405020304" pitchFamily="18" charset="0"/>
                  <a:ea typeface="楷体_GB2312"/>
                </a:rPr>
                <a:t>0</a:t>
              </a:r>
            </a:p>
          </p:txBody>
        </p:sp>
        <p:sp>
          <p:nvSpPr>
            <p:cNvPr id="81937" name="Line 13"/>
            <p:cNvSpPr/>
            <p:nvPr/>
          </p:nvSpPr>
          <p:spPr>
            <a:xfrm>
              <a:off x="4723825" y="3768596"/>
              <a:ext cx="65963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1938" name="Rectangle 14"/>
            <p:cNvSpPr/>
            <p:nvPr/>
          </p:nvSpPr>
          <p:spPr>
            <a:xfrm>
              <a:off x="4711933" y="3373964"/>
              <a:ext cx="659634" cy="4150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>
                <a:buNone/>
              </a:pPr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ε</a:t>
              </a:r>
              <a:endParaRPr lang="en-US" altLang="zh-CN" sz="25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1939" name="Oval 15"/>
            <p:cNvSpPr/>
            <p:nvPr/>
          </p:nvSpPr>
          <p:spPr>
            <a:xfrm>
              <a:off x="5481833" y="3494665"/>
              <a:ext cx="566843" cy="520563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q</a:t>
              </a:r>
              <a:r>
                <a:rPr lang="en-US" altLang="zh-CN" sz="2500" b="1" i="1" baseline="-25000" dirty="0">
                  <a:latin typeface="Times New Roman" panose="02020603050405020304" pitchFamily="18" charset="0"/>
                  <a:ea typeface="楷体_GB2312"/>
                </a:rPr>
                <a:t>f</a:t>
              </a:r>
            </a:p>
          </p:txBody>
        </p:sp>
        <p:sp>
          <p:nvSpPr>
            <p:cNvPr id="81940" name="Rectangle 22"/>
            <p:cNvSpPr/>
            <p:nvPr/>
          </p:nvSpPr>
          <p:spPr>
            <a:xfrm>
              <a:off x="3131840" y="3538847"/>
              <a:ext cx="659767" cy="4149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81941" name="Line 21"/>
            <p:cNvSpPr/>
            <p:nvPr/>
          </p:nvSpPr>
          <p:spPr>
            <a:xfrm flipV="1">
              <a:off x="3791607" y="3766199"/>
              <a:ext cx="32988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1942" name="Oval 39"/>
            <p:cNvSpPr/>
            <p:nvPr/>
          </p:nvSpPr>
          <p:spPr>
            <a:xfrm>
              <a:off x="5371567" y="3378077"/>
              <a:ext cx="787108" cy="726955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" name="组合 27"/>
          <p:cNvGrpSpPr/>
          <p:nvPr/>
        </p:nvGrpSpPr>
        <p:grpSpPr>
          <a:xfrm>
            <a:off x="1339850" y="3643313"/>
            <a:ext cx="3294063" cy="857250"/>
            <a:chOff x="3227737" y="3199654"/>
            <a:chExt cx="3293528" cy="1144483"/>
          </a:xfrm>
        </p:grpSpPr>
        <p:sp>
          <p:nvSpPr>
            <p:cNvPr id="81929" name="Oval 10"/>
            <p:cNvSpPr/>
            <p:nvPr/>
          </p:nvSpPr>
          <p:spPr>
            <a:xfrm>
              <a:off x="4367793" y="3428987"/>
              <a:ext cx="591326" cy="70620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q</a:t>
              </a:r>
              <a:r>
                <a:rPr lang="en-US" altLang="zh-CN" sz="2500" b="1" i="1" baseline="-25000" dirty="0">
                  <a:latin typeface="Times New Roman" panose="02020603050405020304" pitchFamily="18" charset="0"/>
                  <a:ea typeface="楷体_GB2312"/>
                </a:rPr>
                <a:t>0</a:t>
              </a:r>
            </a:p>
          </p:txBody>
        </p:sp>
        <p:sp>
          <p:nvSpPr>
            <p:cNvPr id="81930" name="Line 13"/>
            <p:cNvSpPr/>
            <p:nvPr/>
          </p:nvSpPr>
          <p:spPr>
            <a:xfrm>
              <a:off x="4959119" y="3768594"/>
              <a:ext cx="65963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1931" name="Rectangle 14"/>
            <p:cNvSpPr/>
            <p:nvPr/>
          </p:nvSpPr>
          <p:spPr>
            <a:xfrm>
              <a:off x="4887678" y="3199654"/>
              <a:ext cx="659634" cy="4150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a</a:t>
              </a:r>
              <a:endParaRPr lang="en-US" altLang="zh-CN" sz="25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1932" name="Oval 15"/>
            <p:cNvSpPr/>
            <p:nvPr/>
          </p:nvSpPr>
          <p:spPr>
            <a:xfrm>
              <a:off x="5756606" y="3403932"/>
              <a:ext cx="643043" cy="792043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q</a:t>
              </a:r>
              <a:r>
                <a:rPr lang="en-US" altLang="zh-CN" sz="2500" b="1" i="1" baseline="-25000" dirty="0">
                  <a:latin typeface="Times New Roman" panose="02020603050405020304" pitchFamily="18" charset="0"/>
                  <a:ea typeface="楷体_GB2312"/>
                </a:rPr>
                <a:t>f</a:t>
              </a:r>
            </a:p>
          </p:txBody>
        </p:sp>
        <p:sp>
          <p:nvSpPr>
            <p:cNvPr id="81933" name="Rectangle 22"/>
            <p:cNvSpPr/>
            <p:nvPr/>
          </p:nvSpPr>
          <p:spPr>
            <a:xfrm>
              <a:off x="3227737" y="3559290"/>
              <a:ext cx="659767" cy="4149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81934" name="Line 21"/>
            <p:cNvSpPr/>
            <p:nvPr/>
          </p:nvSpPr>
          <p:spPr>
            <a:xfrm flipV="1">
              <a:off x="3986266" y="3766195"/>
              <a:ext cx="32988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1935" name="Oval 39"/>
            <p:cNvSpPr/>
            <p:nvPr/>
          </p:nvSpPr>
          <p:spPr>
            <a:xfrm>
              <a:off x="5644622" y="3254746"/>
              <a:ext cx="876643" cy="1089391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81926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2" name="五边形 2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1928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913188" y="508000"/>
            <a:ext cx="4835525" cy="968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2941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571500"/>
            <a:ext cx="5927725" cy="479425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r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=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r</a:t>
            </a:r>
            <a:r>
              <a:rPr kumimoji="0" lang="en-US" altLang="zh-CN" sz="3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r</a:t>
            </a:r>
            <a:r>
              <a:rPr kumimoji="0" lang="en-US" altLang="zh-CN" sz="3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对应的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NFA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en-US" altLang="zh-CN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r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=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r</a:t>
            </a:r>
            <a:r>
              <a:rPr kumimoji="0" lang="en-US" altLang="zh-CN" sz="3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|r</a:t>
            </a:r>
            <a:r>
              <a:rPr kumimoji="0" lang="en-US" altLang="zh-CN" sz="3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对应的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NFA</a:t>
            </a:r>
            <a:endParaRPr kumimoji="0" lang="en-US" altLang="zh-CN" sz="3000" b="1" i="1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en-US" altLang="zh-CN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en-US" altLang="zh-CN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r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= (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r</a:t>
            </a:r>
            <a:r>
              <a:rPr kumimoji="0" lang="en-US" altLang="zh-CN" sz="3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0" lang="zh-CN" altLang="en-US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对应的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NFA</a:t>
            </a:r>
            <a:endParaRPr kumimoji="0" lang="en-US" altLang="zh-CN" sz="3000" b="1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5765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en-US" altLang="zh-CN" sz="2400" b="0" i="0" u="none" strike="noStrike" kern="1200" cap="none" spc="0" normalizeH="0" baseline="-2500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83972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4006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83973" name="组合 25"/>
          <p:cNvGrpSpPr/>
          <p:nvPr/>
        </p:nvGrpSpPr>
        <p:grpSpPr>
          <a:xfrm>
            <a:off x="3924300" y="573088"/>
            <a:ext cx="4694238" cy="855662"/>
            <a:chOff x="2805123" y="71420"/>
            <a:chExt cx="4693620" cy="856108"/>
          </a:xfrm>
        </p:grpSpPr>
        <p:grpSp>
          <p:nvGrpSpPr>
            <p:cNvPr id="83994" name="组合 14"/>
            <p:cNvGrpSpPr/>
            <p:nvPr/>
          </p:nvGrpSpPr>
          <p:grpSpPr>
            <a:xfrm>
              <a:off x="2805123" y="71421"/>
              <a:ext cx="4693620" cy="856107"/>
              <a:chOff x="3131840" y="3373964"/>
              <a:chExt cx="4255438" cy="753824"/>
            </a:xfrm>
          </p:grpSpPr>
          <p:sp>
            <p:nvSpPr>
              <p:cNvPr id="83998" name="Oval 10"/>
              <p:cNvSpPr/>
              <p:nvPr/>
            </p:nvSpPr>
            <p:spPr>
              <a:xfrm>
                <a:off x="4164103" y="3504029"/>
                <a:ext cx="559721" cy="520564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b" anchorCtr="0"/>
              <a:lstStyle/>
              <a:p>
                <a:pPr algn="ctr" eaLnBrk="1" hangingPunct="1"/>
                <a:r>
                  <a:rPr lang="en-US" altLang="zh-CN" sz="2500" b="1" i="1" dirty="0">
                    <a:latin typeface="Times New Roman" panose="02020603050405020304" pitchFamily="18" charset="0"/>
                    <a:ea typeface="楷体_GB2312"/>
                  </a:rPr>
                  <a:t>q</a:t>
                </a:r>
                <a:r>
                  <a:rPr lang="en-US" altLang="zh-CN" sz="2500" b="1" baseline="-25000" dirty="0">
                    <a:latin typeface="Times New Roman" panose="02020603050405020304" pitchFamily="18" charset="0"/>
                    <a:ea typeface="楷体_GB2312"/>
                  </a:rPr>
                  <a:t>0</a:t>
                </a:r>
              </a:p>
            </p:txBody>
          </p:sp>
          <p:sp>
            <p:nvSpPr>
              <p:cNvPr id="83999" name="Line 13"/>
              <p:cNvSpPr/>
              <p:nvPr/>
            </p:nvSpPr>
            <p:spPr>
              <a:xfrm>
                <a:off x="4723825" y="3768596"/>
                <a:ext cx="659634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84000" name="Rectangle 14"/>
              <p:cNvSpPr/>
              <p:nvPr/>
            </p:nvSpPr>
            <p:spPr>
              <a:xfrm>
                <a:off x="4711933" y="3373964"/>
                <a:ext cx="659634" cy="4150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sz="2500" b="1" i="1" dirty="0">
                    <a:latin typeface="Times New Roman" panose="02020603050405020304" pitchFamily="18" charset="0"/>
                    <a:ea typeface="楷体_GB2312"/>
                  </a:rPr>
                  <a:t>r</a:t>
                </a:r>
                <a:r>
                  <a:rPr lang="en-US" altLang="zh-CN" sz="2500" b="1" baseline="-25000" dirty="0">
                    <a:latin typeface="Times New Roman" panose="02020603050405020304" pitchFamily="18" charset="0"/>
                    <a:ea typeface="楷体_GB2312"/>
                  </a:rPr>
                  <a:t>1</a:t>
                </a:r>
              </a:p>
            </p:txBody>
          </p:sp>
          <p:sp>
            <p:nvSpPr>
              <p:cNvPr id="84001" name="Rectangle 22"/>
              <p:cNvSpPr/>
              <p:nvPr/>
            </p:nvSpPr>
            <p:spPr>
              <a:xfrm>
                <a:off x="3131840" y="3538847"/>
                <a:ext cx="659767" cy="4149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sz="25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start</a:t>
                </a:r>
              </a:p>
            </p:txBody>
          </p:sp>
          <p:sp>
            <p:nvSpPr>
              <p:cNvPr id="84002" name="Line 21"/>
              <p:cNvSpPr/>
              <p:nvPr/>
            </p:nvSpPr>
            <p:spPr>
              <a:xfrm flipV="1">
                <a:off x="3791607" y="3766199"/>
                <a:ext cx="329884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84003" name="Oval 39"/>
              <p:cNvSpPr/>
              <p:nvPr/>
            </p:nvSpPr>
            <p:spPr>
              <a:xfrm>
                <a:off x="6600169" y="3400833"/>
                <a:ext cx="787109" cy="726955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84004" name="Oval 15"/>
              <p:cNvSpPr/>
              <p:nvPr/>
            </p:nvSpPr>
            <p:spPr>
              <a:xfrm>
                <a:off x="6722327" y="3504029"/>
                <a:ext cx="566844" cy="520564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b" anchorCtr="0"/>
              <a:lstStyle/>
              <a:p>
                <a:pPr algn="ctr" eaLnBrk="1" hangingPunct="1"/>
                <a:r>
                  <a:rPr lang="en-US" altLang="zh-CN" sz="2500" b="1" i="1" dirty="0">
                    <a:latin typeface="Times New Roman" panose="02020603050405020304" pitchFamily="18" charset="0"/>
                    <a:ea typeface="楷体_GB2312"/>
                  </a:rPr>
                  <a:t>q</a:t>
                </a:r>
                <a:r>
                  <a:rPr lang="en-US" altLang="zh-CN" sz="2500" b="1" i="1" baseline="-25000" dirty="0">
                    <a:latin typeface="Times New Roman" panose="02020603050405020304" pitchFamily="18" charset="0"/>
                    <a:ea typeface="楷体_GB2312"/>
                  </a:rPr>
                  <a:t>f</a:t>
                </a:r>
              </a:p>
            </p:txBody>
          </p:sp>
        </p:grpSp>
        <p:sp>
          <p:nvSpPr>
            <p:cNvPr id="83995" name="Line 13"/>
            <p:cNvSpPr/>
            <p:nvPr/>
          </p:nvSpPr>
          <p:spPr>
            <a:xfrm>
              <a:off x="5916144" y="519598"/>
              <a:ext cx="72755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3996" name="Rectangle 14"/>
            <p:cNvSpPr/>
            <p:nvPr/>
          </p:nvSpPr>
          <p:spPr>
            <a:xfrm>
              <a:off x="5903028" y="71420"/>
              <a:ext cx="727558" cy="4713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r</a:t>
              </a:r>
              <a:r>
                <a:rPr lang="en-US" altLang="zh-CN" sz="2500" b="1" baseline="-25000" dirty="0"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  <p:sp>
          <p:nvSpPr>
            <p:cNvPr id="83997" name="Oval 10"/>
            <p:cNvSpPr/>
            <p:nvPr/>
          </p:nvSpPr>
          <p:spPr>
            <a:xfrm>
              <a:off x="5298787" y="219133"/>
              <a:ext cx="617356" cy="59119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q</a:t>
              </a:r>
              <a:r>
                <a:rPr lang="en-US" altLang="zh-CN" sz="2500" b="1" baseline="-25000" dirty="0"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913188" y="1571625"/>
            <a:ext cx="4835525" cy="1614488"/>
            <a:chOff x="3912751" y="1813322"/>
            <a:chExt cx="4835713" cy="1614488"/>
          </a:xfrm>
        </p:grpSpPr>
        <p:sp>
          <p:nvSpPr>
            <p:cNvPr id="40" name="矩形 39"/>
            <p:cNvSpPr/>
            <p:nvPr/>
          </p:nvSpPr>
          <p:spPr>
            <a:xfrm>
              <a:off x="3912751" y="1892697"/>
              <a:ext cx="4835713" cy="15351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3984" name="组合 29"/>
            <p:cNvGrpSpPr/>
            <p:nvPr/>
          </p:nvGrpSpPr>
          <p:grpSpPr>
            <a:xfrm>
              <a:off x="4283968" y="2284743"/>
              <a:ext cx="4071937" cy="825635"/>
              <a:chOff x="3131840" y="3436867"/>
              <a:chExt cx="3691818" cy="726955"/>
            </a:xfrm>
          </p:grpSpPr>
          <p:sp>
            <p:nvSpPr>
              <p:cNvPr id="83989" name="Oval 10"/>
              <p:cNvSpPr/>
              <p:nvPr/>
            </p:nvSpPr>
            <p:spPr>
              <a:xfrm>
                <a:off x="4164103" y="3504029"/>
                <a:ext cx="559721" cy="520564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b" anchorCtr="0"/>
              <a:lstStyle/>
              <a:p>
                <a:pPr algn="ctr" eaLnBrk="1" hangingPunct="1"/>
                <a:r>
                  <a:rPr lang="en-US" altLang="zh-CN" sz="2500" b="1" i="1" dirty="0">
                    <a:latin typeface="Times New Roman" panose="02020603050405020304" pitchFamily="18" charset="0"/>
                    <a:ea typeface="楷体_GB2312"/>
                  </a:rPr>
                  <a:t>q</a:t>
                </a:r>
                <a:r>
                  <a:rPr lang="en-US" altLang="zh-CN" sz="2500" b="1" baseline="-25000" dirty="0">
                    <a:latin typeface="Times New Roman" panose="02020603050405020304" pitchFamily="18" charset="0"/>
                    <a:ea typeface="楷体_GB2312"/>
                  </a:rPr>
                  <a:t>0</a:t>
                </a:r>
              </a:p>
            </p:txBody>
          </p:sp>
          <p:sp>
            <p:nvSpPr>
              <p:cNvPr id="83990" name="Rectangle 22"/>
              <p:cNvSpPr/>
              <p:nvPr/>
            </p:nvSpPr>
            <p:spPr>
              <a:xfrm>
                <a:off x="3131840" y="3538847"/>
                <a:ext cx="659767" cy="4149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sz="25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</a:rPr>
                  <a:t>start</a:t>
                </a:r>
              </a:p>
            </p:txBody>
          </p:sp>
          <p:sp>
            <p:nvSpPr>
              <p:cNvPr id="83991" name="Line 21"/>
              <p:cNvSpPr/>
              <p:nvPr/>
            </p:nvSpPr>
            <p:spPr>
              <a:xfrm flipV="1">
                <a:off x="3791607" y="3766199"/>
                <a:ext cx="329884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83992" name="Oval 39"/>
              <p:cNvSpPr/>
              <p:nvPr/>
            </p:nvSpPr>
            <p:spPr>
              <a:xfrm>
                <a:off x="6036549" y="3436867"/>
                <a:ext cx="787109" cy="726955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83993" name="Oval 15"/>
              <p:cNvSpPr/>
              <p:nvPr/>
            </p:nvSpPr>
            <p:spPr>
              <a:xfrm>
                <a:off x="6146815" y="3553455"/>
                <a:ext cx="566844" cy="520563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b" anchorCtr="0"/>
              <a:lstStyle/>
              <a:p>
                <a:pPr algn="ctr" eaLnBrk="1" hangingPunct="1"/>
                <a:r>
                  <a:rPr lang="en-US" altLang="zh-CN" sz="2500" b="1" i="1" dirty="0">
                    <a:latin typeface="Times New Roman" panose="02020603050405020304" pitchFamily="18" charset="0"/>
                    <a:ea typeface="楷体_GB2312"/>
                  </a:rPr>
                  <a:t>q</a:t>
                </a:r>
                <a:r>
                  <a:rPr lang="en-US" altLang="zh-CN" sz="2500" b="1" i="1" baseline="-25000" dirty="0">
                    <a:latin typeface="Times New Roman" panose="02020603050405020304" pitchFamily="18" charset="0"/>
                    <a:ea typeface="楷体_GB2312"/>
                  </a:rPr>
                  <a:t>f</a:t>
                </a:r>
              </a:p>
            </p:txBody>
          </p:sp>
        </p:grpSp>
        <p:sp>
          <p:nvSpPr>
            <p:cNvPr id="38" name="任意多边形 37"/>
            <p:cNvSpPr/>
            <p:nvPr/>
          </p:nvSpPr>
          <p:spPr bwMode="auto">
            <a:xfrm flipV="1">
              <a:off x="6030558" y="2284810"/>
              <a:ext cx="1484370" cy="317500"/>
            </a:xfrm>
            <a:custGeom>
              <a:avLst/>
              <a:gdLst>
                <a:gd name="connsiteX0" fmla="*/ 0 w 1669143"/>
                <a:gd name="connsiteY0" fmla="*/ 0 h 349055"/>
                <a:gd name="connsiteX1" fmla="*/ 870857 w 1669143"/>
                <a:gd name="connsiteY1" fmla="*/ 348343 h 349055"/>
                <a:gd name="connsiteX2" fmla="*/ 1669143 w 1669143"/>
                <a:gd name="connsiteY2" fmla="*/ 72571 h 34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143" h="349055">
                  <a:moveTo>
                    <a:pt x="0" y="0"/>
                  </a:moveTo>
                  <a:cubicBezTo>
                    <a:pt x="296333" y="168124"/>
                    <a:pt x="592667" y="336248"/>
                    <a:pt x="870857" y="348343"/>
                  </a:cubicBezTo>
                  <a:cubicBezTo>
                    <a:pt x="1149047" y="360438"/>
                    <a:pt x="1409095" y="216504"/>
                    <a:pt x="1669143" y="7257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任意多边形 38"/>
            <p:cNvSpPr/>
            <p:nvPr/>
          </p:nvSpPr>
          <p:spPr bwMode="auto">
            <a:xfrm>
              <a:off x="6014683" y="2784872"/>
              <a:ext cx="1484370" cy="285750"/>
            </a:xfrm>
            <a:custGeom>
              <a:avLst/>
              <a:gdLst>
                <a:gd name="connsiteX0" fmla="*/ 0 w 1669143"/>
                <a:gd name="connsiteY0" fmla="*/ 0 h 349055"/>
                <a:gd name="connsiteX1" fmla="*/ 870857 w 1669143"/>
                <a:gd name="connsiteY1" fmla="*/ 348343 h 349055"/>
                <a:gd name="connsiteX2" fmla="*/ 1669143 w 1669143"/>
                <a:gd name="connsiteY2" fmla="*/ 72571 h 34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143" h="349055">
                  <a:moveTo>
                    <a:pt x="0" y="0"/>
                  </a:moveTo>
                  <a:cubicBezTo>
                    <a:pt x="296333" y="168124"/>
                    <a:pt x="592667" y="336248"/>
                    <a:pt x="870857" y="348343"/>
                  </a:cubicBezTo>
                  <a:cubicBezTo>
                    <a:pt x="1149047" y="360438"/>
                    <a:pt x="1409095" y="216504"/>
                    <a:pt x="1669143" y="7257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987" name="Rectangle 14"/>
            <p:cNvSpPr/>
            <p:nvPr/>
          </p:nvSpPr>
          <p:spPr>
            <a:xfrm>
              <a:off x="6485353" y="1813322"/>
              <a:ext cx="727552" cy="4714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r</a:t>
              </a:r>
              <a:r>
                <a:rPr lang="en-US" altLang="zh-CN" sz="2500" b="1" baseline="-25000" dirty="0"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  <p:sp>
          <p:nvSpPr>
            <p:cNvPr id="83988" name="Rectangle 14"/>
            <p:cNvSpPr/>
            <p:nvPr/>
          </p:nvSpPr>
          <p:spPr>
            <a:xfrm>
              <a:off x="6427092" y="2956389"/>
              <a:ext cx="727553" cy="4714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r</a:t>
              </a:r>
              <a:r>
                <a:rPr lang="en-US" altLang="zh-CN" sz="2500" b="1" baseline="-25000" dirty="0"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</p:grpSp>
      <p:grpSp>
        <p:nvGrpSpPr>
          <p:cNvPr id="7" name="组合 1"/>
          <p:cNvGrpSpPr/>
          <p:nvPr/>
        </p:nvGrpSpPr>
        <p:grpSpPr>
          <a:xfrm>
            <a:off x="3894138" y="3235325"/>
            <a:ext cx="4835525" cy="1693863"/>
            <a:chOff x="3894138" y="3363913"/>
            <a:chExt cx="4835525" cy="1693862"/>
          </a:xfrm>
        </p:grpSpPr>
        <p:sp>
          <p:nvSpPr>
            <p:cNvPr id="41" name="矩形 40"/>
            <p:cNvSpPr/>
            <p:nvPr/>
          </p:nvSpPr>
          <p:spPr bwMode="auto">
            <a:xfrm>
              <a:off x="3894138" y="3500438"/>
              <a:ext cx="4835525" cy="15573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977" name="Oval 39"/>
            <p:cNvSpPr/>
            <p:nvPr/>
          </p:nvSpPr>
          <p:spPr>
            <a:xfrm>
              <a:off x="5789656" y="4181067"/>
              <a:ext cx="867642" cy="825260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3978" name="Freeform 11"/>
            <p:cNvSpPr/>
            <p:nvPr/>
          </p:nvSpPr>
          <p:spPr>
            <a:xfrm>
              <a:off x="6005219" y="3792369"/>
              <a:ext cx="499770" cy="383294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9" name="Rectangle 14"/>
            <p:cNvSpPr/>
            <p:nvPr/>
          </p:nvSpPr>
          <p:spPr>
            <a:xfrm>
              <a:off x="5932448" y="3363913"/>
              <a:ext cx="727125" cy="4712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r</a:t>
              </a:r>
              <a:r>
                <a:rPr lang="en-US" altLang="zh-CN" sz="2500" b="1" baseline="-25000" dirty="0"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  <p:sp>
          <p:nvSpPr>
            <p:cNvPr id="83980" name="Oval 15"/>
            <p:cNvSpPr/>
            <p:nvPr/>
          </p:nvSpPr>
          <p:spPr>
            <a:xfrm>
              <a:off x="5911205" y="4313420"/>
              <a:ext cx="624841" cy="59095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q</a:t>
              </a:r>
              <a:r>
                <a:rPr lang="en-US" altLang="zh-CN" sz="2500" b="1" baseline="-25000" dirty="0">
                  <a:latin typeface="Times New Roman" panose="02020603050405020304" pitchFamily="18" charset="0"/>
                  <a:ea typeface="楷体_GB2312"/>
                </a:rPr>
                <a:t>0</a:t>
              </a:r>
            </a:p>
          </p:txBody>
        </p:sp>
        <p:sp>
          <p:nvSpPr>
            <p:cNvPr id="83981" name="Rectangle 22"/>
            <p:cNvSpPr/>
            <p:nvPr/>
          </p:nvSpPr>
          <p:spPr>
            <a:xfrm>
              <a:off x="4705350" y="4300538"/>
              <a:ext cx="727075" cy="469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83982" name="Line 21"/>
            <p:cNvSpPr/>
            <p:nvPr/>
          </p:nvSpPr>
          <p:spPr>
            <a:xfrm flipV="1">
              <a:off x="5432425" y="4557713"/>
              <a:ext cx="36353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: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=(</a:t>
            </a:r>
            <a:r>
              <a:rPr kumimoji="0" lang="en-US" altLang="zh-CN" sz="3000" b="1" i="1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3000" b="1" i="0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|</a:t>
            </a:r>
            <a:r>
              <a:rPr kumimoji="0" lang="en-US" altLang="zh-CN" sz="3000" b="1" i="1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3000" b="1" i="0" u="none" strike="noStrike" kern="1200" cap="none" spc="30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abb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对应的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NFA</a:t>
            </a:r>
            <a:endParaRPr kumimoji="0" lang="zh-CN" altLang="en-US" sz="3000" b="1" i="1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6019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6086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16"/>
          <p:cNvGrpSpPr/>
          <p:nvPr/>
        </p:nvGrpSpPr>
        <p:grpSpPr>
          <a:xfrm>
            <a:off x="2555875" y="928688"/>
            <a:ext cx="3529013" cy="469900"/>
            <a:chOff x="2555776" y="1071397"/>
            <a:chExt cx="3528392" cy="470323"/>
          </a:xfrm>
        </p:grpSpPr>
        <p:sp>
          <p:nvSpPr>
            <p:cNvPr id="86078" name="Oval 10"/>
            <p:cNvSpPr/>
            <p:nvPr/>
          </p:nvSpPr>
          <p:spPr>
            <a:xfrm>
              <a:off x="3545582" y="1323219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79" name="Line 13"/>
            <p:cNvSpPr/>
            <p:nvPr/>
          </p:nvSpPr>
          <p:spPr>
            <a:xfrm flipV="1">
              <a:off x="3723173" y="1427598"/>
              <a:ext cx="2095310" cy="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80" name="Rectangle 14"/>
            <p:cNvSpPr/>
            <p:nvPr/>
          </p:nvSpPr>
          <p:spPr>
            <a:xfrm>
              <a:off x="4202197" y="1071397"/>
              <a:ext cx="990898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(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a|b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)</a:t>
              </a:r>
              <a:r>
                <a:rPr lang="en-US" altLang="zh-CN" sz="2000" b="1" i="1" baseline="30000" dirty="0">
                  <a:latin typeface="Times New Roman" panose="02020603050405020304" pitchFamily="18" charset="0"/>
                  <a:ea typeface="楷体_GB2312"/>
                </a:rPr>
                <a:t>*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abb</a:t>
              </a:r>
              <a:endParaRPr lang="en-US" altLang="zh-CN" sz="20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81" name="Rectangle 22"/>
            <p:cNvSpPr/>
            <p:nvPr/>
          </p:nvSpPr>
          <p:spPr>
            <a:xfrm>
              <a:off x="2555776" y="1211578"/>
              <a:ext cx="659874" cy="3108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86082" name="Line 21"/>
            <p:cNvSpPr/>
            <p:nvPr/>
          </p:nvSpPr>
          <p:spPr>
            <a:xfrm flipV="1">
              <a:off x="3173743" y="1427602"/>
              <a:ext cx="32993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83" name="Oval 10"/>
            <p:cNvSpPr/>
            <p:nvPr/>
          </p:nvSpPr>
          <p:spPr>
            <a:xfrm>
              <a:off x="5818483" y="1262281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4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84" name="Oval 10"/>
            <p:cNvSpPr/>
            <p:nvPr/>
          </p:nvSpPr>
          <p:spPr>
            <a:xfrm>
              <a:off x="5871165" y="131524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</p:grpSp>
      <p:grpSp>
        <p:nvGrpSpPr>
          <p:cNvPr id="6" name="组合 12"/>
          <p:cNvGrpSpPr/>
          <p:nvPr/>
        </p:nvGrpSpPr>
        <p:grpSpPr>
          <a:xfrm>
            <a:off x="2555875" y="1882775"/>
            <a:ext cx="3529013" cy="614363"/>
            <a:chOff x="2267744" y="2026119"/>
            <a:chExt cx="3528392" cy="614476"/>
          </a:xfrm>
        </p:grpSpPr>
        <p:sp>
          <p:nvSpPr>
            <p:cNvPr id="86061" name="Rectangle 14"/>
            <p:cNvSpPr/>
            <p:nvPr/>
          </p:nvSpPr>
          <p:spPr>
            <a:xfrm>
              <a:off x="2329494" y="2329691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endParaRPr lang="en-US" altLang="zh-CN" sz="25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62" name="Rectangle 22"/>
            <p:cNvSpPr/>
            <p:nvPr/>
          </p:nvSpPr>
          <p:spPr>
            <a:xfrm>
              <a:off x="2267744" y="2159796"/>
              <a:ext cx="659874" cy="3108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86063" name="Line 21"/>
            <p:cNvSpPr/>
            <p:nvPr/>
          </p:nvSpPr>
          <p:spPr>
            <a:xfrm flipV="1">
              <a:off x="2885711" y="2357977"/>
              <a:ext cx="32993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64" name="Rectangle 14"/>
            <p:cNvSpPr/>
            <p:nvPr/>
          </p:nvSpPr>
          <p:spPr>
            <a:xfrm>
              <a:off x="4079744" y="2026119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</a:rPr>
                <a:t>a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65" name="Line 21"/>
            <p:cNvSpPr/>
            <p:nvPr/>
          </p:nvSpPr>
          <p:spPr>
            <a:xfrm flipV="1">
              <a:off x="4253863" y="2354203"/>
              <a:ext cx="32993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66" name="Rectangle 14"/>
            <p:cNvSpPr/>
            <p:nvPr/>
          </p:nvSpPr>
          <p:spPr>
            <a:xfrm>
              <a:off x="4583800" y="2039611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67" name="Line 21"/>
            <p:cNvSpPr/>
            <p:nvPr/>
          </p:nvSpPr>
          <p:spPr>
            <a:xfrm flipV="1">
              <a:off x="4757919" y="2367695"/>
              <a:ext cx="32993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68" name="Rectangle 14"/>
            <p:cNvSpPr/>
            <p:nvPr/>
          </p:nvSpPr>
          <p:spPr>
            <a:xfrm>
              <a:off x="5087856" y="2035618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69" name="Line 21"/>
            <p:cNvSpPr/>
            <p:nvPr/>
          </p:nvSpPr>
          <p:spPr>
            <a:xfrm flipV="1">
              <a:off x="5261975" y="2363702"/>
              <a:ext cx="32993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70" name="Rectangle 14"/>
            <p:cNvSpPr/>
            <p:nvPr/>
          </p:nvSpPr>
          <p:spPr>
            <a:xfrm>
              <a:off x="3420003" y="2027387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(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a|b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)</a:t>
              </a:r>
              <a:r>
                <a:rPr lang="en-US" altLang="zh-CN" sz="2000" b="1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*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71" name="Line 21"/>
            <p:cNvSpPr/>
            <p:nvPr/>
          </p:nvSpPr>
          <p:spPr>
            <a:xfrm>
              <a:off x="3446031" y="2350515"/>
              <a:ext cx="64993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72" name="Oval 10"/>
            <p:cNvSpPr/>
            <p:nvPr/>
          </p:nvSpPr>
          <p:spPr>
            <a:xfrm>
              <a:off x="3256530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73" name="Oval 10"/>
            <p:cNvSpPr/>
            <p:nvPr/>
          </p:nvSpPr>
          <p:spPr>
            <a:xfrm>
              <a:off x="4079744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74" name="Oval 10"/>
            <p:cNvSpPr/>
            <p:nvPr/>
          </p:nvSpPr>
          <p:spPr>
            <a:xfrm>
              <a:off x="4583800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75" name="Oval 10"/>
            <p:cNvSpPr/>
            <p:nvPr/>
          </p:nvSpPr>
          <p:spPr>
            <a:xfrm>
              <a:off x="5087856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76" name="Oval 10"/>
            <p:cNvSpPr/>
            <p:nvPr/>
          </p:nvSpPr>
          <p:spPr>
            <a:xfrm>
              <a:off x="5530451" y="2220303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4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77" name="Oval 10"/>
            <p:cNvSpPr/>
            <p:nvPr/>
          </p:nvSpPr>
          <p:spPr>
            <a:xfrm>
              <a:off x="5571333" y="2273265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</p:grpSp>
      <p:grpSp>
        <p:nvGrpSpPr>
          <p:cNvPr id="8" name="组合 9"/>
          <p:cNvGrpSpPr/>
          <p:nvPr/>
        </p:nvGrpSpPr>
        <p:grpSpPr>
          <a:xfrm>
            <a:off x="3065463" y="2719388"/>
            <a:ext cx="3090862" cy="941387"/>
            <a:chOff x="3115617" y="2862915"/>
            <a:chExt cx="3090220" cy="940947"/>
          </a:xfrm>
        </p:grpSpPr>
        <p:sp>
          <p:nvSpPr>
            <p:cNvPr id="86045" name="Rectangle 14"/>
            <p:cNvSpPr/>
            <p:nvPr/>
          </p:nvSpPr>
          <p:spPr>
            <a:xfrm>
              <a:off x="3177367" y="3492958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endParaRPr lang="en-US" altLang="zh-CN" sz="25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46" name="Rectangle 22"/>
            <p:cNvSpPr/>
            <p:nvPr/>
          </p:nvSpPr>
          <p:spPr>
            <a:xfrm>
              <a:off x="3115617" y="3323063"/>
              <a:ext cx="659874" cy="3108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86047" name="Line 21"/>
            <p:cNvSpPr/>
            <p:nvPr/>
          </p:nvSpPr>
          <p:spPr>
            <a:xfrm flipV="1">
              <a:off x="3733584" y="3517579"/>
              <a:ext cx="32993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48" name="Rectangle 14"/>
            <p:cNvSpPr/>
            <p:nvPr/>
          </p:nvSpPr>
          <p:spPr>
            <a:xfrm>
              <a:off x="4439784" y="3189386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</a:rPr>
                <a:t>a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49" name="Rectangle 14"/>
            <p:cNvSpPr/>
            <p:nvPr/>
          </p:nvSpPr>
          <p:spPr>
            <a:xfrm>
              <a:off x="4943840" y="3202878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50" name="Line 21"/>
            <p:cNvSpPr/>
            <p:nvPr/>
          </p:nvSpPr>
          <p:spPr>
            <a:xfrm flipV="1">
              <a:off x="5117959" y="3530962"/>
              <a:ext cx="32993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51" name="Rectangle 14"/>
            <p:cNvSpPr/>
            <p:nvPr/>
          </p:nvSpPr>
          <p:spPr>
            <a:xfrm>
              <a:off x="5447896" y="3198885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52" name="Line 21"/>
            <p:cNvSpPr/>
            <p:nvPr/>
          </p:nvSpPr>
          <p:spPr>
            <a:xfrm flipV="1">
              <a:off x="5622015" y="3526969"/>
              <a:ext cx="32993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53" name="Rectangle 14"/>
            <p:cNvSpPr/>
            <p:nvPr/>
          </p:nvSpPr>
          <p:spPr>
            <a:xfrm>
              <a:off x="3835828" y="2862915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a|b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54" name="Line 21"/>
            <p:cNvSpPr/>
            <p:nvPr/>
          </p:nvSpPr>
          <p:spPr>
            <a:xfrm>
              <a:off x="4293904" y="3513782"/>
              <a:ext cx="64993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55" name="Oval 10"/>
            <p:cNvSpPr/>
            <p:nvPr/>
          </p:nvSpPr>
          <p:spPr>
            <a:xfrm>
              <a:off x="4104403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56" name="Oval 10"/>
            <p:cNvSpPr/>
            <p:nvPr/>
          </p:nvSpPr>
          <p:spPr>
            <a:xfrm>
              <a:off x="4943840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57" name="Oval 10"/>
            <p:cNvSpPr/>
            <p:nvPr/>
          </p:nvSpPr>
          <p:spPr>
            <a:xfrm>
              <a:off x="5447896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3" name="任意多边形 2"/>
            <p:cNvSpPr/>
            <p:nvPr/>
          </p:nvSpPr>
          <p:spPr>
            <a:xfrm>
              <a:off x="3955230" y="3189787"/>
              <a:ext cx="442821" cy="271335"/>
            </a:xfrm>
            <a:custGeom>
              <a:avLst/>
              <a:gdLst>
                <a:gd name="connsiteX0" fmla="*/ 212698 w 602308"/>
                <a:gd name="connsiteY0" fmla="*/ 462993 h 462993"/>
                <a:gd name="connsiteX1" fmla="*/ 2491 w 602308"/>
                <a:gd name="connsiteY1" fmla="*/ 168704 h 462993"/>
                <a:gd name="connsiteX2" fmla="*/ 338822 w 602308"/>
                <a:gd name="connsiteY2" fmla="*/ 538 h 462993"/>
                <a:gd name="connsiteX3" fmla="*/ 601581 w 602308"/>
                <a:gd name="connsiteY3" fmla="*/ 221255 h 462993"/>
                <a:gd name="connsiteX4" fmla="*/ 401884 w 602308"/>
                <a:gd name="connsiteY4" fmla="*/ 441973 h 46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308" h="462993">
                  <a:moveTo>
                    <a:pt x="212698" y="462993"/>
                  </a:moveTo>
                  <a:cubicBezTo>
                    <a:pt x="97084" y="354386"/>
                    <a:pt x="-18530" y="245780"/>
                    <a:pt x="2491" y="168704"/>
                  </a:cubicBezTo>
                  <a:cubicBezTo>
                    <a:pt x="23512" y="91628"/>
                    <a:pt x="238974" y="-8221"/>
                    <a:pt x="338822" y="538"/>
                  </a:cubicBezTo>
                  <a:cubicBezTo>
                    <a:pt x="438670" y="9296"/>
                    <a:pt x="591071" y="147683"/>
                    <a:pt x="601581" y="221255"/>
                  </a:cubicBezTo>
                  <a:cubicBezTo>
                    <a:pt x="612091" y="294827"/>
                    <a:pt x="506987" y="368400"/>
                    <a:pt x="401884" y="44197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059" name="Oval 10"/>
            <p:cNvSpPr/>
            <p:nvPr/>
          </p:nvSpPr>
          <p:spPr>
            <a:xfrm>
              <a:off x="5940152" y="3372431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4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60" name="Oval 10"/>
            <p:cNvSpPr/>
            <p:nvPr/>
          </p:nvSpPr>
          <p:spPr>
            <a:xfrm>
              <a:off x="5981034" y="342539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</p:grpSp>
      <p:grpSp>
        <p:nvGrpSpPr>
          <p:cNvPr id="10" name="组合 7"/>
          <p:cNvGrpSpPr/>
          <p:nvPr/>
        </p:nvGrpSpPr>
        <p:grpSpPr>
          <a:xfrm>
            <a:off x="3065463" y="3656013"/>
            <a:ext cx="3062287" cy="1293812"/>
            <a:chOff x="3143640" y="3799019"/>
            <a:chExt cx="3062197" cy="1293011"/>
          </a:xfrm>
        </p:grpSpPr>
        <p:sp>
          <p:nvSpPr>
            <p:cNvPr id="86027" name="Rectangle 14"/>
            <p:cNvSpPr/>
            <p:nvPr/>
          </p:nvSpPr>
          <p:spPr>
            <a:xfrm>
              <a:off x="3205390" y="4429062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endParaRPr lang="en-US" altLang="zh-CN" sz="25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28" name="Rectangle 22"/>
            <p:cNvSpPr/>
            <p:nvPr/>
          </p:nvSpPr>
          <p:spPr>
            <a:xfrm>
              <a:off x="3143640" y="4259167"/>
              <a:ext cx="659874" cy="3108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86029" name="Line 21"/>
            <p:cNvSpPr/>
            <p:nvPr/>
          </p:nvSpPr>
          <p:spPr>
            <a:xfrm flipV="1">
              <a:off x="3761607" y="4445657"/>
              <a:ext cx="32993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30" name="Rectangle 14"/>
            <p:cNvSpPr/>
            <p:nvPr/>
          </p:nvSpPr>
          <p:spPr>
            <a:xfrm>
              <a:off x="4467807" y="4125490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</a:rPr>
                <a:t>a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31" name="Rectangle 14"/>
            <p:cNvSpPr/>
            <p:nvPr/>
          </p:nvSpPr>
          <p:spPr>
            <a:xfrm>
              <a:off x="4971863" y="4138982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32" name="Line 21"/>
            <p:cNvSpPr/>
            <p:nvPr/>
          </p:nvSpPr>
          <p:spPr>
            <a:xfrm flipV="1">
              <a:off x="5145982" y="4467066"/>
              <a:ext cx="32993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33" name="Rectangle 14"/>
            <p:cNvSpPr/>
            <p:nvPr/>
          </p:nvSpPr>
          <p:spPr>
            <a:xfrm>
              <a:off x="5475919" y="4134989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34" name="Line 21"/>
            <p:cNvSpPr/>
            <p:nvPr/>
          </p:nvSpPr>
          <p:spPr>
            <a:xfrm flipV="1">
              <a:off x="5650038" y="4463073"/>
              <a:ext cx="32993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35" name="Rectangle 14"/>
            <p:cNvSpPr/>
            <p:nvPr/>
          </p:nvSpPr>
          <p:spPr>
            <a:xfrm>
              <a:off x="3863851" y="3799019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a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36" name="Line 21"/>
            <p:cNvSpPr/>
            <p:nvPr/>
          </p:nvSpPr>
          <p:spPr>
            <a:xfrm>
              <a:off x="4321927" y="4449886"/>
              <a:ext cx="64993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6037" name="Oval 10"/>
            <p:cNvSpPr/>
            <p:nvPr/>
          </p:nvSpPr>
          <p:spPr>
            <a:xfrm>
              <a:off x="4132426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38" name="Oval 10"/>
            <p:cNvSpPr/>
            <p:nvPr/>
          </p:nvSpPr>
          <p:spPr>
            <a:xfrm>
              <a:off x="4971863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39" name="Oval 10"/>
            <p:cNvSpPr/>
            <p:nvPr/>
          </p:nvSpPr>
          <p:spPr>
            <a:xfrm>
              <a:off x="5475919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173" name="任意多边形 172"/>
            <p:cNvSpPr/>
            <p:nvPr/>
          </p:nvSpPr>
          <p:spPr>
            <a:xfrm>
              <a:off x="3991340" y="4125842"/>
              <a:ext cx="442899" cy="271294"/>
            </a:xfrm>
            <a:custGeom>
              <a:avLst/>
              <a:gdLst>
                <a:gd name="connsiteX0" fmla="*/ 212698 w 602308"/>
                <a:gd name="connsiteY0" fmla="*/ 462993 h 462993"/>
                <a:gd name="connsiteX1" fmla="*/ 2491 w 602308"/>
                <a:gd name="connsiteY1" fmla="*/ 168704 h 462993"/>
                <a:gd name="connsiteX2" fmla="*/ 338822 w 602308"/>
                <a:gd name="connsiteY2" fmla="*/ 538 h 462993"/>
                <a:gd name="connsiteX3" fmla="*/ 601581 w 602308"/>
                <a:gd name="connsiteY3" fmla="*/ 221255 h 462993"/>
                <a:gd name="connsiteX4" fmla="*/ 401884 w 602308"/>
                <a:gd name="connsiteY4" fmla="*/ 441973 h 46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308" h="462993">
                  <a:moveTo>
                    <a:pt x="212698" y="462993"/>
                  </a:moveTo>
                  <a:cubicBezTo>
                    <a:pt x="97084" y="354386"/>
                    <a:pt x="-18530" y="245780"/>
                    <a:pt x="2491" y="168704"/>
                  </a:cubicBezTo>
                  <a:cubicBezTo>
                    <a:pt x="23512" y="91628"/>
                    <a:pt x="238974" y="-8221"/>
                    <a:pt x="338822" y="538"/>
                  </a:cubicBezTo>
                  <a:cubicBezTo>
                    <a:pt x="438670" y="9296"/>
                    <a:pt x="591071" y="147683"/>
                    <a:pt x="601581" y="221255"/>
                  </a:cubicBezTo>
                  <a:cubicBezTo>
                    <a:pt x="612091" y="294827"/>
                    <a:pt x="506987" y="368400"/>
                    <a:pt x="401884" y="44197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4013564" y="4508192"/>
              <a:ext cx="419088" cy="266535"/>
            </a:xfrm>
            <a:custGeom>
              <a:avLst/>
              <a:gdLst>
                <a:gd name="connsiteX0" fmla="*/ 120338 w 418828"/>
                <a:gd name="connsiteY0" fmla="*/ 0 h 266168"/>
                <a:gd name="connsiteX1" fmla="*/ 3380 w 418828"/>
                <a:gd name="connsiteY1" fmla="*/ 127591 h 266168"/>
                <a:gd name="connsiteX2" fmla="*/ 237296 w 418828"/>
                <a:gd name="connsiteY2" fmla="*/ 265814 h 266168"/>
                <a:gd name="connsiteX3" fmla="*/ 418049 w 418828"/>
                <a:gd name="connsiteY3" fmla="*/ 85060 h 266168"/>
                <a:gd name="connsiteX4" fmla="*/ 290459 w 418828"/>
                <a:gd name="connsiteY4" fmla="*/ 0 h 266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828" h="266168">
                  <a:moveTo>
                    <a:pt x="120338" y="0"/>
                  </a:moveTo>
                  <a:cubicBezTo>
                    <a:pt x="52112" y="41644"/>
                    <a:pt x="-16113" y="83289"/>
                    <a:pt x="3380" y="127591"/>
                  </a:cubicBezTo>
                  <a:cubicBezTo>
                    <a:pt x="22873" y="171893"/>
                    <a:pt x="168185" y="272902"/>
                    <a:pt x="237296" y="265814"/>
                  </a:cubicBezTo>
                  <a:cubicBezTo>
                    <a:pt x="306407" y="258726"/>
                    <a:pt x="409189" y="129362"/>
                    <a:pt x="418049" y="85060"/>
                  </a:cubicBezTo>
                  <a:cubicBezTo>
                    <a:pt x="426910" y="40758"/>
                    <a:pt x="358684" y="20379"/>
                    <a:pt x="290459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042" name="Rectangle 14"/>
            <p:cNvSpPr/>
            <p:nvPr/>
          </p:nvSpPr>
          <p:spPr>
            <a:xfrm>
              <a:off x="3898552" y="4781126"/>
              <a:ext cx="659741" cy="3109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b</a:t>
              </a:r>
              <a:endParaRPr lang="en-US" altLang="zh-CN" sz="20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43" name="Oval 10"/>
            <p:cNvSpPr/>
            <p:nvPr/>
          </p:nvSpPr>
          <p:spPr>
            <a:xfrm>
              <a:off x="5940152" y="4308535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4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6044" name="Oval 10"/>
            <p:cNvSpPr/>
            <p:nvPr/>
          </p:nvSpPr>
          <p:spPr>
            <a:xfrm>
              <a:off x="5981034" y="4361497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b" anchorCtr="0"/>
            <a:lstStyle/>
            <a:p>
              <a:pPr algn="ctr" eaLnBrk="1" hangingPunct="1"/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</a:endParaRPr>
            </a:p>
          </p:txBody>
        </p:sp>
      </p:grpSp>
      <p:sp>
        <p:nvSpPr>
          <p:cNvPr id="18" name="下箭头 17"/>
          <p:cNvSpPr/>
          <p:nvPr/>
        </p:nvSpPr>
        <p:spPr>
          <a:xfrm>
            <a:off x="4384675" y="1492250"/>
            <a:ext cx="334963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1" name="下箭头 180"/>
          <p:cNvSpPr/>
          <p:nvPr/>
        </p:nvSpPr>
        <p:spPr>
          <a:xfrm>
            <a:off x="4379913" y="2644775"/>
            <a:ext cx="336550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2" name="下箭头 181"/>
          <p:cNvSpPr/>
          <p:nvPr/>
        </p:nvSpPr>
        <p:spPr>
          <a:xfrm>
            <a:off x="4379913" y="3652838"/>
            <a:ext cx="336550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1" grpId="0" animBg="1"/>
      <p:bldP spid="18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000500" y="1774825"/>
            <a:ext cx="5072063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从</a:t>
            </a:r>
            <a:r>
              <a:rPr kumimoji="0" lang="en-US" altLang="zh-CN" sz="3000" b="1" i="1" kern="1200" cap="none" spc="30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NFA</a:t>
            </a:r>
            <a:r>
              <a:rPr kumimoji="0" lang="zh-CN" altLang="en-US" sz="3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到</a:t>
            </a:r>
            <a:r>
              <a:rPr kumimoji="0" lang="en-US" altLang="zh-CN" sz="3000" b="1" i="1" kern="1200" cap="none" spc="30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r>
              <a:rPr kumimoji="0" lang="zh-CN" altLang="en-US" sz="3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的转换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857750" y="1416050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第三章 词法分析</a:t>
            </a:r>
            <a:endParaRPr kumimoji="0" lang="zh-CN" altLang="en-US" sz="8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643438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kern="1200" cap="none" spc="0" normalizeH="0" baseline="0" noProof="0" dirty="0">
                <a:solidFill>
                  <a:schemeClr val="bg1"/>
                </a:solidFill>
                <a:latin typeface="+mj-lt"/>
                <a:ea typeface="楷体" pitchFamily="49" charset="-122"/>
                <a:cs typeface="+mj-cs"/>
              </a:rPr>
              <a:t> </a:t>
            </a:r>
            <a:endParaRPr kumimoji="0" lang="zh-CN" altLang="en-US" sz="2000" b="1" kern="1200" cap="none" spc="6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1336675"/>
            <a:ext cx="1485900" cy="9175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从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NFA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到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的转换</a:t>
            </a:r>
          </a:p>
        </p:txBody>
      </p:sp>
      <p:sp>
        <p:nvSpPr>
          <p:cNvPr id="92164" name="Rectangle 48"/>
          <p:cNvSpPr/>
          <p:nvPr/>
        </p:nvSpPr>
        <p:spPr>
          <a:xfrm>
            <a:off x="1897063" y="1406525"/>
            <a:ext cx="647700" cy="3794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sz="3000" b="1" i="1" dirty="0">
                <a:latin typeface="Times New Roman" panose="02020603050405020304" pitchFamily="18" charset="0"/>
                <a:ea typeface="楷体_GB2312"/>
              </a:rPr>
              <a:t>NFA</a:t>
            </a:r>
            <a:r>
              <a:rPr lang="zh-CN" altLang="en-US" sz="3000" b="1" dirty="0">
                <a:latin typeface="Times New Roman" panose="02020603050405020304" pitchFamily="18" charset="0"/>
                <a:ea typeface="楷体_GB2312"/>
              </a:rPr>
              <a:t>：</a:t>
            </a:r>
          </a:p>
        </p:txBody>
      </p:sp>
      <p:grpSp>
        <p:nvGrpSpPr>
          <p:cNvPr id="2" name="组合 6"/>
          <p:cNvGrpSpPr/>
          <p:nvPr/>
        </p:nvGrpSpPr>
        <p:grpSpPr>
          <a:xfrm>
            <a:off x="6215063" y="3859213"/>
            <a:ext cx="504825" cy="500062"/>
            <a:chOff x="4107105" y="3856684"/>
            <a:chExt cx="504760" cy="500915"/>
          </a:xfrm>
        </p:grpSpPr>
        <p:sp>
          <p:nvSpPr>
            <p:cNvPr id="92254" name="Freeform 19"/>
            <p:cNvSpPr/>
            <p:nvPr/>
          </p:nvSpPr>
          <p:spPr>
            <a:xfrm>
              <a:off x="4168999" y="4132397"/>
              <a:ext cx="382539" cy="225202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5" name="Rectangle 20"/>
            <p:cNvSpPr/>
            <p:nvPr/>
          </p:nvSpPr>
          <p:spPr>
            <a:xfrm>
              <a:off x="4107105" y="3856684"/>
              <a:ext cx="504760" cy="2156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</p:grpSp>
      <p:grpSp>
        <p:nvGrpSpPr>
          <p:cNvPr id="3" name="组合 8"/>
          <p:cNvGrpSpPr/>
          <p:nvPr/>
        </p:nvGrpSpPr>
        <p:grpSpPr>
          <a:xfrm>
            <a:off x="7358063" y="3857625"/>
            <a:ext cx="504825" cy="512763"/>
            <a:chOff x="5261066" y="3856540"/>
            <a:chExt cx="504760" cy="512424"/>
          </a:xfrm>
        </p:grpSpPr>
        <p:sp>
          <p:nvSpPr>
            <p:cNvPr id="92252" name="Freeform 30"/>
            <p:cNvSpPr/>
            <p:nvPr/>
          </p:nvSpPr>
          <p:spPr>
            <a:xfrm>
              <a:off x="5311865" y="4143762"/>
              <a:ext cx="382538" cy="225202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3" name="Rectangle 31"/>
            <p:cNvSpPr/>
            <p:nvPr/>
          </p:nvSpPr>
          <p:spPr>
            <a:xfrm>
              <a:off x="5261066" y="3856540"/>
              <a:ext cx="504760" cy="2156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c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357688" y="4302125"/>
            <a:ext cx="1273175" cy="592138"/>
            <a:chOff x="2207112" y="4300037"/>
            <a:chExt cx="1272994" cy="593390"/>
          </a:xfrm>
        </p:grpSpPr>
        <p:sp>
          <p:nvSpPr>
            <p:cNvPr id="92249" name="Line 13"/>
            <p:cNvSpPr/>
            <p:nvPr/>
          </p:nvSpPr>
          <p:spPr>
            <a:xfrm>
              <a:off x="2207112" y="4624137"/>
              <a:ext cx="64920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92250" name="Rectangle 14"/>
            <p:cNvSpPr/>
            <p:nvPr/>
          </p:nvSpPr>
          <p:spPr>
            <a:xfrm>
              <a:off x="2235683" y="4300037"/>
              <a:ext cx="504760" cy="2156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a</a:t>
              </a:r>
            </a:p>
          </p:txBody>
        </p:sp>
        <p:sp>
          <p:nvSpPr>
            <p:cNvPr id="92243" name="Oval 10"/>
            <p:cNvSpPr>
              <a:spLocks noChangeArrowheads="1"/>
            </p:cNvSpPr>
            <p:nvPr/>
          </p:nvSpPr>
          <p:spPr bwMode="auto">
            <a:xfrm>
              <a:off x="2873767" y="4357308"/>
              <a:ext cx="606339" cy="5361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A,B</a:t>
              </a:r>
            </a:p>
          </p:txBody>
        </p:sp>
      </p:grpSp>
      <p:grpSp>
        <p:nvGrpSpPr>
          <p:cNvPr id="5" name="组合 5"/>
          <p:cNvGrpSpPr/>
          <p:nvPr/>
        </p:nvGrpSpPr>
        <p:grpSpPr>
          <a:xfrm>
            <a:off x="5643563" y="4287838"/>
            <a:ext cx="1092200" cy="606425"/>
            <a:chOff x="3530916" y="4286990"/>
            <a:chExt cx="1092050" cy="606437"/>
          </a:xfrm>
        </p:grpSpPr>
        <p:sp>
          <p:nvSpPr>
            <p:cNvPr id="92246" name="Line 16"/>
            <p:cNvSpPr/>
            <p:nvPr/>
          </p:nvSpPr>
          <p:spPr>
            <a:xfrm>
              <a:off x="3530916" y="4624137"/>
              <a:ext cx="50476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92247" name="Rectangle 17"/>
            <p:cNvSpPr/>
            <p:nvPr/>
          </p:nvSpPr>
          <p:spPr>
            <a:xfrm>
              <a:off x="3530916" y="4286990"/>
              <a:ext cx="504760" cy="2156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b</a:t>
              </a:r>
            </a:p>
          </p:txBody>
        </p:sp>
        <p:sp>
          <p:nvSpPr>
            <p:cNvPr id="92240" name="Oval 10"/>
            <p:cNvSpPr>
              <a:spLocks noChangeArrowheads="1"/>
            </p:cNvSpPr>
            <p:nvPr/>
          </p:nvSpPr>
          <p:spPr bwMode="auto">
            <a:xfrm>
              <a:off x="4035672" y="4358428"/>
              <a:ext cx="587294" cy="5349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</p:grpSp>
      <p:grpSp>
        <p:nvGrpSpPr>
          <p:cNvPr id="6" name="组合 7"/>
          <p:cNvGrpSpPr/>
          <p:nvPr/>
        </p:nvGrpSpPr>
        <p:grpSpPr>
          <a:xfrm>
            <a:off x="6735763" y="4287838"/>
            <a:ext cx="1154112" cy="714375"/>
            <a:chOff x="4683290" y="4287071"/>
            <a:chExt cx="1153963" cy="713504"/>
          </a:xfrm>
        </p:grpSpPr>
        <p:sp>
          <p:nvSpPr>
            <p:cNvPr id="92242" name="Line 21"/>
            <p:cNvSpPr/>
            <p:nvPr/>
          </p:nvSpPr>
          <p:spPr>
            <a:xfrm>
              <a:off x="4692816" y="4636053"/>
              <a:ext cx="50476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" name="Rectangle 22"/>
            <p:cNvSpPr/>
            <p:nvPr/>
          </p:nvSpPr>
          <p:spPr>
            <a:xfrm>
              <a:off x="4683290" y="4287071"/>
              <a:ext cx="504760" cy="2156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c</a:t>
              </a:r>
            </a:p>
          </p:txBody>
        </p:sp>
        <p:sp>
          <p:nvSpPr>
            <p:cNvPr id="92236" name="Oval 10"/>
            <p:cNvSpPr>
              <a:spLocks noChangeArrowheads="1"/>
            </p:cNvSpPr>
            <p:nvPr/>
          </p:nvSpPr>
          <p:spPr bwMode="auto">
            <a:xfrm>
              <a:off x="5259478" y="4429772"/>
              <a:ext cx="506348" cy="4994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C,D</a:t>
              </a:r>
            </a:p>
          </p:txBody>
        </p:sp>
        <p:sp>
          <p:nvSpPr>
            <p:cNvPr id="92245" name="Oval 45"/>
            <p:cNvSpPr/>
            <p:nvPr/>
          </p:nvSpPr>
          <p:spPr>
            <a:xfrm>
              <a:off x="5188050" y="4358423"/>
              <a:ext cx="649203" cy="642152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8" name="组合 4"/>
          <p:cNvGrpSpPr/>
          <p:nvPr/>
        </p:nvGrpSpPr>
        <p:grpSpPr>
          <a:xfrm>
            <a:off x="5072063" y="3859213"/>
            <a:ext cx="504825" cy="503237"/>
            <a:chOff x="2883300" y="3904377"/>
            <a:chExt cx="504760" cy="504090"/>
          </a:xfrm>
        </p:grpSpPr>
        <p:sp>
          <p:nvSpPr>
            <p:cNvPr id="9" name="Freeform 19"/>
            <p:cNvSpPr/>
            <p:nvPr/>
          </p:nvSpPr>
          <p:spPr>
            <a:xfrm>
              <a:off x="2945205" y="4183265"/>
              <a:ext cx="382538" cy="225202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1" name="Rectangle 20"/>
            <p:cNvSpPr/>
            <p:nvPr/>
          </p:nvSpPr>
          <p:spPr>
            <a:xfrm>
              <a:off x="2883300" y="3904377"/>
              <a:ext cx="504760" cy="2156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a</a:t>
              </a:r>
            </a:p>
          </p:txBody>
        </p:sp>
      </p:grpSp>
      <p:grpSp>
        <p:nvGrpSpPr>
          <p:cNvPr id="10" name="组合 1"/>
          <p:cNvGrpSpPr/>
          <p:nvPr/>
        </p:nvGrpSpPr>
        <p:grpSpPr>
          <a:xfrm>
            <a:off x="1928813" y="4359275"/>
            <a:ext cx="2428875" cy="509588"/>
            <a:chOff x="-306523" y="4358493"/>
            <a:chExt cx="2429448" cy="508720"/>
          </a:xfrm>
        </p:grpSpPr>
        <p:sp>
          <p:nvSpPr>
            <p:cNvPr id="92228" name="Oval 10"/>
            <p:cNvSpPr>
              <a:spLocks noChangeArrowheads="1"/>
            </p:cNvSpPr>
            <p:nvPr/>
          </p:nvSpPr>
          <p:spPr bwMode="auto">
            <a:xfrm>
              <a:off x="1557642" y="4358493"/>
              <a:ext cx="565283" cy="50872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2237" name="Rectangle 49"/>
            <p:cNvSpPr/>
            <p:nvPr/>
          </p:nvSpPr>
          <p:spPr>
            <a:xfrm>
              <a:off x="-306523" y="4389589"/>
              <a:ext cx="647615" cy="3789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3000" b="1" i="1" dirty="0">
                  <a:latin typeface="Times New Roman" panose="02020603050405020304" pitchFamily="18" charset="0"/>
                  <a:ea typeface="楷体_GB2312"/>
                </a:rPr>
                <a:t>DFA</a:t>
              </a:r>
              <a:r>
                <a:rPr lang="zh-CN" altLang="en-US" sz="3000" b="1" dirty="0">
                  <a:latin typeface="Times New Roman" panose="02020603050405020304" pitchFamily="18" charset="0"/>
                  <a:ea typeface="楷体_GB2312"/>
                </a:rPr>
                <a:t>：</a:t>
              </a:r>
            </a:p>
          </p:txBody>
        </p:sp>
        <p:sp>
          <p:nvSpPr>
            <p:cNvPr id="92238" name="Line 21"/>
            <p:cNvSpPr/>
            <p:nvPr/>
          </p:nvSpPr>
          <p:spPr>
            <a:xfrm flipV="1">
              <a:off x="1276087" y="4629330"/>
              <a:ext cx="252431" cy="672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92239" name="Rectangle 22"/>
            <p:cNvSpPr/>
            <p:nvPr/>
          </p:nvSpPr>
          <p:spPr>
            <a:xfrm>
              <a:off x="693838" y="4498273"/>
              <a:ext cx="504861" cy="2156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</p:grpSp>
      <p:grpSp>
        <p:nvGrpSpPr>
          <p:cNvPr id="92172" name="组合 56"/>
          <p:cNvGrpSpPr/>
          <p:nvPr/>
        </p:nvGrpSpPr>
        <p:grpSpPr>
          <a:xfrm>
            <a:off x="2754313" y="642938"/>
            <a:ext cx="5175250" cy="1285875"/>
            <a:chOff x="2338388" y="1193800"/>
            <a:chExt cx="3889375" cy="755650"/>
          </a:xfrm>
        </p:grpSpPr>
        <p:grpSp>
          <p:nvGrpSpPr>
            <p:cNvPr id="92216" name="Group 4"/>
            <p:cNvGrpSpPr/>
            <p:nvPr/>
          </p:nvGrpSpPr>
          <p:grpSpPr>
            <a:xfrm>
              <a:off x="3060700" y="1193800"/>
              <a:ext cx="3167063" cy="755650"/>
              <a:chOff x="1247" y="2478"/>
              <a:chExt cx="1995" cy="634"/>
            </a:xfrm>
          </p:grpSpPr>
          <p:sp>
            <p:nvSpPr>
              <p:cNvPr id="92211" name="Oval 10"/>
              <p:cNvSpPr>
                <a:spLocks noChangeArrowheads="1"/>
              </p:cNvSpPr>
              <p:nvPr/>
            </p:nvSpPr>
            <p:spPr bwMode="auto">
              <a:xfrm>
                <a:off x="1293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0" name="Freeform 11"/>
              <p:cNvSpPr/>
              <p:nvPr/>
            </p:nvSpPr>
            <p:spPr>
              <a:xfrm>
                <a:off x="1310" y="2662"/>
                <a:ext cx="241" cy="189"/>
              </a:xfrm>
              <a:custGeom>
                <a:avLst/>
                <a:gdLst>
                  <a:gd name="txL" fmla="*/ 0 w 241"/>
                  <a:gd name="txT" fmla="*/ 0 h 189"/>
                  <a:gd name="txR" fmla="*/ 241 w 241"/>
                  <a:gd name="txB" fmla="*/ 189 h 189"/>
                </a:gdLst>
                <a:ahLst/>
                <a:cxnLst>
                  <a:cxn ang="0">
                    <a:pos x="52" y="189"/>
                  </a:cxn>
                  <a:cxn ang="0">
                    <a:pos x="7" y="143"/>
                  </a:cxn>
                  <a:cxn ang="0">
                    <a:pos x="97" y="7"/>
                  </a:cxn>
                  <a:cxn ang="0">
                    <a:pos x="233" y="98"/>
                  </a:cxn>
                  <a:cxn ang="0">
                    <a:pos x="143" y="189"/>
                  </a:cxn>
                </a:cxnLst>
                <a:rect l="txL" t="txT" r="txR" b="txB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1" name="Rectangle 12"/>
              <p:cNvSpPr/>
              <p:nvPr/>
            </p:nvSpPr>
            <p:spPr>
              <a:xfrm>
                <a:off x="1247" y="2479"/>
                <a:ext cx="318" cy="1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a</a:t>
                </a:r>
              </a:p>
            </p:txBody>
          </p:sp>
          <p:sp>
            <p:nvSpPr>
              <p:cNvPr id="92222" name="Line 13"/>
              <p:cNvSpPr/>
              <p:nvPr/>
            </p:nvSpPr>
            <p:spPr>
              <a:xfrm>
                <a:off x="1519" y="2978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92223" name="Rectangle 14"/>
              <p:cNvSpPr/>
              <p:nvPr/>
            </p:nvSpPr>
            <p:spPr>
              <a:xfrm>
                <a:off x="1519" y="2755"/>
                <a:ext cx="318" cy="1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a</a:t>
                </a:r>
              </a:p>
            </p:txBody>
          </p:sp>
          <p:sp>
            <p:nvSpPr>
              <p:cNvPr id="11" name="Oval 15"/>
              <p:cNvSpPr>
                <a:spLocks noChangeArrowheads="1"/>
              </p:cNvSpPr>
              <p:nvPr/>
            </p:nvSpPr>
            <p:spPr bwMode="auto">
              <a:xfrm>
                <a:off x="1837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25" name="Line 16"/>
              <p:cNvSpPr/>
              <p:nvPr/>
            </p:nvSpPr>
            <p:spPr>
              <a:xfrm>
                <a:off x="2063" y="2978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92226" name="Rectangle 17"/>
              <p:cNvSpPr/>
              <p:nvPr/>
            </p:nvSpPr>
            <p:spPr>
              <a:xfrm>
                <a:off x="2063" y="2751"/>
                <a:ext cx="318" cy="1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b</a:t>
                </a:r>
              </a:p>
            </p:txBody>
          </p:sp>
          <p:sp>
            <p:nvSpPr>
              <p:cNvPr id="92219" name="Oval 18"/>
              <p:cNvSpPr>
                <a:spLocks noChangeArrowheads="1"/>
              </p:cNvSpPr>
              <p:nvPr/>
            </p:nvSpPr>
            <p:spPr bwMode="auto">
              <a:xfrm>
                <a:off x="2381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12" name="Freeform 19"/>
              <p:cNvSpPr/>
              <p:nvPr/>
            </p:nvSpPr>
            <p:spPr>
              <a:xfrm>
                <a:off x="1851" y="2657"/>
                <a:ext cx="241" cy="189"/>
              </a:xfrm>
              <a:custGeom>
                <a:avLst/>
                <a:gdLst>
                  <a:gd name="txL" fmla="*/ 0 w 241"/>
                  <a:gd name="txT" fmla="*/ 0 h 189"/>
                  <a:gd name="txR" fmla="*/ 241 w 241"/>
                  <a:gd name="txB" fmla="*/ 189 h 189"/>
                </a:gdLst>
                <a:ahLst/>
                <a:cxnLst>
                  <a:cxn ang="0">
                    <a:pos x="52" y="189"/>
                  </a:cxn>
                  <a:cxn ang="0">
                    <a:pos x="7" y="143"/>
                  </a:cxn>
                  <a:cxn ang="0">
                    <a:pos x="97" y="7"/>
                  </a:cxn>
                  <a:cxn ang="0">
                    <a:pos x="233" y="98"/>
                  </a:cxn>
                  <a:cxn ang="0">
                    <a:pos x="143" y="189"/>
                  </a:cxn>
                </a:cxnLst>
                <a:rect l="txL" t="txT" r="txR" b="txB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9" name="Rectangle 20"/>
              <p:cNvSpPr/>
              <p:nvPr/>
            </p:nvSpPr>
            <p:spPr>
              <a:xfrm>
                <a:off x="1791" y="2478"/>
                <a:ext cx="318" cy="1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b</a:t>
                </a:r>
              </a:p>
            </p:txBody>
          </p:sp>
          <p:sp>
            <p:nvSpPr>
              <p:cNvPr id="92230" name="Line 21"/>
              <p:cNvSpPr/>
              <p:nvPr/>
            </p:nvSpPr>
            <p:spPr>
              <a:xfrm>
                <a:off x="2608" y="2978"/>
                <a:ext cx="318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92231" name="Rectangle 22"/>
              <p:cNvSpPr/>
              <p:nvPr/>
            </p:nvSpPr>
            <p:spPr>
              <a:xfrm>
                <a:off x="2608" y="2750"/>
                <a:ext cx="318" cy="1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c</a:t>
                </a:r>
              </a:p>
            </p:txBody>
          </p:sp>
          <p:sp>
            <p:nvSpPr>
              <p:cNvPr id="92224" name="Oval 23"/>
              <p:cNvSpPr>
                <a:spLocks noChangeArrowheads="1"/>
              </p:cNvSpPr>
              <p:nvPr/>
            </p:nvSpPr>
            <p:spPr bwMode="auto">
              <a:xfrm>
                <a:off x="2971" y="2840"/>
                <a:ext cx="227" cy="22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D</a:t>
                </a:r>
              </a:p>
            </p:txBody>
          </p:sp>
          <p:sp>
            <p:nvSpPr>
              <p:cNvPr id="92233" name="Freeform 30"/>
              <p:cNvSpPr/>
              <p:nvPr/>
            </p:nvSpPr>
            <p:spPr>
              <a:xfrm>
                <a:off x="2392" y="2662"/>
                <a:ext cx="241" cy="189"/>
              </a:xfrm>
              <a:custGeom>
                <a:avLst/>
                <a:gdLst>
                  <a:gd name="txL" fmla="*/ 0 w 241"/>
                  <a:gd name="txT" fmla="*/ 0 h 189"/>
                  <a:gd name="txR" fmla="*/ 241 w 241"/>
                  <a:gd name="txB" fmla="*/ 189 h 189"/>
                </a:gdLst>
                <a:ahLst/>
                <a:cxnLst>
                  <a:cxn ang="0">
                    <a:pos x="52" y="189"/>
                  </a:cxn>
                  <a:cxn ang="0">
                    <a:pos x="7" y="143"/>
                  </a:cxn>
                  <a:cxn ang="0">
                    <a:pos x="97" y="7"/>
                  </a:cxn>
                  <a:cxn ang="0">
                    <a:pos x="233" y="98"/>
                  </a:cxn>
                  <a:cxn ang="0">
                    <a:pos x="143" y="189"/>
                  </a:cxn>
                </a:cxnLst>
                <a:rect l="txL" t="txT" r="txR" b="txB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34" name="Rectangle 31"/>
              <p:cNvSpPr/>
              <p:nvPr/>
            </p:nvSpPr>
            <p:spPr>
              <a:xfrm>
                <a:off x="2336" y="2478"/>
                <a:ext cx="318" cy="1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 eaLnBrk="1" hangingPunct="1"/>
                <a:r>
                  <a:rPr lang="en-US" altLang="zh-CN" b="1" i="1" dirty="0">
                    <a:latin typeface="Times New Roman" panose="02020603050405020304" pitchFamily="18" charset="0"/>
                    <a:ea typeface="楷体_GB2312"/>
                  </a:rPr>
                  <a:t>c</a:t>
                </a:r>
              </a:p>
            </p:txBody>
          </p:sp>
          <p:sp>
            <p:nvSpPr>
              <p:cNvPr id="92235" name="Oval 39"/>
              <p:cNvSpPr/>
              <p:nvPr/>
            </p:nvSpPr>
            <p:spPr>
              <a:xfrm>
                <a:off x="2925" y="2795"/>
                <a:ext cx="317" cy="317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92217" name="Rectangle 22"/>
            <p:cNvSpPr/>
            <p:nvPr/>
          </p:nvSpPr>
          <p:spPr>
            <a:xfrm>
              <a:off x="2338388" y="1658938"/>
              <a:ext cx="504825" cy="2143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92218" name="Line 21"/>
            <p:cNvSpPr/>
            <p:nvPr/>
          </p:nvSpPr>
          <p:spPr>
            <a:xfrm flipV="1">
              <a:off x="2843213" y="1765300"/>
              <a:ext cx="254000" cy="793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92173" name="组合 5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2215" name="五边形 5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59" name="Group 18"/>
          <p:cNvGraphicFramePr>
            <a:graphicFrameLocks noGrp="1"/>
          </p:cNvGraphicFramePr>
          <p:nvPr/>
        </p:nvGraphicFramePr>
        <p:xfrm>
          <a:off x="3484563" y="2235200"/>
          <a:ext cx="3659187" cy="1563690"/>
        </p:xfrm>
        <a:graphic>
          <a:graphicData uri="http://schemas.openxmlformats.org/drawingml/2006/table">
            <a:tbl>
              <a:tblPr/>
              <a:tblGrid>
                <a:gridCol w="96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c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矩形 9"/>
          <p:cNvSpPr/>
          <p:nvPr/>
        </p:nvSpPr>
        <p:spPr>
          <a:xfrm>
            <a:off x="239713" y="2487613"/>
            <a:ext cx="3046413" cy="9223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DFA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的每个状态都是一个由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NFA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中的状态构成的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集合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即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NFA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状态集合的一个子集</a:t>
            </a:r>
          </a:p>
        </p:txBody>
      </p:sp>
      <p:grpSp>
        <p:nvGrpSpPr>
          <p:cNvPr id="14" name="组合 11"/>
          <p:cNvGrpSpPr/>
          <p:nvPr/>
        </p:nvGrpSpPr>
        <p:grpSpPr>
          <a:xfrm>
            <a:off x="3413125" y="1785938"/>
            <a:ext cx="2801938" cy="2009775"/>
            <a:chOff x="3362325" y="1785927"/>
            <a:chExt cx="2801938" cy="2009959"/>
          </a:xfrm>
        </p:grpSpPr>
        <p:sp>
          <p:nvSpPr>
            <p:cNvPr id="58" name="矩形 57"/>
            <p:cNvSpPr/>
            <p:nvPr/>
          </p:nvSpPr>
          <p:spPr>
            <a:xfrm>
              <a:off x="4508500" y="1785927"/>
              <a:ext cx="1655763" cy="4858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+mn-cs"/>
                </a:rPr>
                <a:t>转换表</a:t>
              </a:r>
            </a:p>
          </p:txBody>
        </p:sp>
        <p:sp>
          <p:nvSpPr>
            <p:cNvPr id="92210" name="矩形 1"/>
            <p:cNvSpPr/>
            <p:nvPr/>
          </p:nvSpPr>
          <p:spPr>
            <a:xfrm>
              <a:off x="3362325" y="2294829"/>
              <a:ext cx="598488" cy="339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itchFamily="49" charset="-122"/>
                </a:rPr>
                <a:t>状态</a:t>
              </a:r>
            </a:p>
          </p:txBody>
        </p:sp>
        <p:sp>
          <p:nvSpPr>
            <p:cNvPr id="15" name="矩形 36"/>
            <p:cNvSpPr/>
            <p:nvPr/>
          </p:nvSpPr>
          <p:spPr>
            <a:xfrm>
              <a:off x="3867150" y="2171726"/>
              <a:ext cx="598488" cy="3381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itchFamily="49" charset="-122"/>
                </a:rPr>
                <a:t>输入</a:t>
              </a:r>
            </a:p>
          </p:txBody>
        </p:sp>
        <p:cxnSp>
          <p:nvCxnSpPr>
            <p:cNvPr id="62" name="直接连接符 61"/>
            <p:cNvCxnSpPr/>
            <p:nvPr/>
          </p:nvCxnSpPr>
          <p:spPr bwMode="auto">
            <a:xfrm>
              <a:off x="3455988" y="2289210"/>
              <a:ext cx="930275" cy="2603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213" name="矩形 34"/>
            <p:cNvSpPr/>
            <p:nvPr/>
          </p:nvSpPr>
          <p:spPr>
            <a:xfrm>
              <a:off x="3971126" y="3565698"/>
              <a:ext cx="300038" cy="2301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zh-CN" altLang="en-US" sz="900" dirty="0">
                  <a:solidFill>
                    <a:srgbClr val="2D83F4"/>
                  </a:solidFill>
                  <a:latin typeface="Arial" panose="020B0604020202020204" pitchFamily="34" charset="0"/>
                </a:rPr>
                <a:t>●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7345363" y="2754313"/>
            <a:ext cx="148907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aa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bb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cc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2000" b="1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例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2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：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从带有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-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边的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NFA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到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的转换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93187" name="Oval 10"/>
          <p:cNvSpPr>
            <a:spLocks noChangeArrowheads="1"/>
          </p:cNvSpPr>
          <p:nvPr/>
        </p:nvSpPr>
        <p:spPr bwMode="auto">
          <a:xfrm>
            <a:off x="2552700" y="1606550"/>
            <a:ext cx="37623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</a:p>
        </p:txBody>
      </p:sp>
      <p:sp>
        <p:nvSpPr>
          <p:cNvPr id="94212" name="Freeform 11"/>
          <p:cNvSpPr/>
          <p:nvPr/>
        </p:nvSpPr>
        <p:spPr>
          <a:xfrm>
            <a:off x="2541588" y="1381125"/>
            <a:ext cx="382587" cy="225425"/>
          </a:xfrm>
          <a:custGeom>
            <a:avLst/>
            <a:gdLst>
              <a:gd name="txL" fmla="*/ 0 w 241"/>
              <a:gd name="txT" fmla="*/ 0 h 189"/>
              <a:gd name="txR" fmla="*/ 241 w 241"/>
              <a:gd name="txB" fmla="*/ 189 h 18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13" name="Rectangle 12"/>
          <p:cNvSpPr/>
          <p:nvPr/>
        </p:nvSpPr>
        <p:spPr>
          <a:xfrm>
            <a:off x="2479675" y="1143000"/>
            <a:ext cx="504825" cy="215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0</a:t>
            </a:r>
          </a:p>
        </p:txBody>
      </p:sp>
      <p:sp>
        <p:nvSpPr>
          <p:cNvPr id="94214" name="Line 13"/>
          <p:cNvSpPr/>
          <p:nvPr/>
        </p:nvSpPr>
        <p:spPr>
          <a:xfrm>
            <a:off x="2911475" y="1768475"/>
            <a:ext cx="504825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94215" name="Rectangle 14"/>
          <p:cNvSpPr/>
          <p:nvPr/>
        </p:nvSpPr>
        <p:spPr>
          <a:xfrm>
            <a:off x="2911475" y="1444625"/>
            <a:ext cx="504825" cy="214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ε</a:t>
            </a:r>
          </a:p>
        </p:txBody>
      </p:sp>
      <p:sp>
        <p:nvSpPr>
          <p:cNvPr id="93192" name="Oval 15"/>
          <p:cNvSpPr>
            <a:spLocks noChangeArrowheads="1"/>
          </p:cNvSpPr>
          <p:nvPr/>
        </p:nvSpPr>
        <p:spPr bwMode="auto">
          <a:xfrm>
            <a:off x="3416300" y="1606550"/>
            <a:ext cx="36988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</p:txBody>
      </p:sp>
      <p:sp>
        <p:nvSpPr>
          <p:cNvPr id="94217" name="Line 16"/>
          <p:cNvSpPr/>
          <p:nvPr/>
        </p:nvSpPr>
        <p:spPr>
          <a:xfrm>
            <a:off x="3775075" y="1768475"/>
            <a:ext cx="504825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94218" name="Rectangle 17"/>
          <p:cNvSpPr/>
          <p:nvPr/>
        </p:nvSpPr>
        <p:spPr>
          <a:xfrm>
            <a:off x="3775075" y="1498600"/>
            <a:ext cx="504825" cy="214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ε</a:t>
            </a:r>
          </a:p>
        </p:txBody>
      </p:sp>
      <p:sp>
        <p:nvSpPr>
          <p:cNvPr id="93195" name="Oval 18"/>
          <p:cNvSpPr>
            <a:spLocks noChangeArrowheads="1"/>
          </p:cNvSpPr>
          <p:nvPr/>
        </p:nvSpPr>
        <p:spPr bwMode="auto">
          <a:xfrm>
            <a:off x="4352925" y="1606550"/>
            <a:ext cx="361950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C</a:t>
            </a:r>
          </a:p>
        </p:txBody>
      </p:sp>
      <p:sp>
        <p:nvSpPr>
          <p:cNvPr id="94220" name="Freeform 19"/>
          <p:cNvSpPr/>
          <p:nvPr/>
        </p:nvSpPr>
        <p:spPr>
          <a:xfrm>
            <a:off x="3405188" y="1381125"/>
            <a:ext cx="382587" cy="223838"/>
          </a:xfrm>
          <a:custGeom>
            <a:avLst/>
            <a:gdLst>
              <a:gd name="txL" fmla="*/ 0 w 241"/>
              <a:gd name="txT" fmla="*/ 0 h 189"/>
              <a:gd name="txR" fmla="*/ 241 w 241"/>
              <a:gd name="txB" fmla="*/ 189 h 18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21" name="Rectangle 20"/>
          <p:cNvSpPr/>
          <p:nvPr/>
        </p:nvSpPr>
        <p:spPr>
          <a:xfrm>
            <a:off x="3343275" y="1143000"/>
            <a:ext cx="504825" cy="215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1</a:t>
            </a:r>
          </a:p>
        </p:txBody>
      </p:sp>
      <p:sp>
        <p:nvSpPr>
          <p:cNvPr id="94222" name="Line 21"/>
          <p:cNvSpPr/>
          <p:nvPr/>
        </p:nvSpPr>
        <p:spPr>
          <a:xfrm>
            <a:off x="2036763" y="1758950"/>
            <a:ext cx="504825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94223" name="Rectangle 22"/>
          <p:cNvSpPr/>
          <p:nvPr/>
        </p:nvSpPr>
        <p:spPr>
          <a:xfrm>
            <a:off x="1479550" y="1627188"/>
            <a:ext cx="506413" cy="215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start</a:t>
            </a:r>
          </a:p>
        </p:txBody>
      </p:sp>
      <p:sp>
        <p:nvSpPr>
          <p:cNvPr id="94224" name="Freeform 30"/>
          <p:cNvSpPr/>
          <p:nvPr/>
        </p:nvSpPr>
        <p:spPr>
          <a:xfrm>
            <a:off x="4343400" y="1346200"/>
            <a:ext cx="382588" cy="225425"/>
          </a:xfrm>
          <a:custGeom>
            <a:avLst/>
            <a:gdLst>
              <a:gd name="txL" fmla="*/ 0 w 241"/>
              <a:gd name="txT" fmla="*/ 0 h 189"/>
              <a:gd name="txR" fmla="*/ 241 w 241"/>
              <a:gd name="txB" fmla="*/ 189 h 18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25" name="Rectangle 31"/>
          <p:cNvSpPr/>
          <p:nvPr/>
        </p:nvSpPr>
        <p:spPr>
          <a:xfrm>
            <a:off x="4281488" y="1071563"/>
            <a:ext cx="504825" cy="215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2</a:t>
            </a:r>
          </a:p>
        </p:txBody>
      </p:sp>
      <p:sp>
        <p:nvSpPr>
          <p:cNvPr id="94226" name="Oval 39"/>
          <p:cNvSpPr/>
          <p:nvPr/>
        </p:nvSpPr>
        <p:spPr>
          <a:xfrm>
            <a:off x="4279900" y="1552575"/>
            <a:ext cx="506413" cy="447675"/>
          </a:xfrm>
          <a:prstGeom prst="ellipse">
            <a:avLst/>
          </a:prstGeom>
          <a:noFill/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4227" name="Rectangle 48"/>
          <p:cNvSpPr/>
          <p:nvPr/>
        </p:nvSpPr>
        <p:spPr>
          <a:xfrm>
            <a:off x="611188" y="1549400"/>
            <a:ext cx="647700" cy="3794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sz="2500" b="1" i="1" dirty="0">
                <a:latin typeface="Times New Roman" panose="02020603050405020304" pitchFamily="18" charset="0"/>
                <a:ea typeface="楷体_GB2312"/>
              </a:rPr>
              <a:t>NFA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</a:rPr>
              <a:t>：</a:t>
            </a:r>
          </a:p>
        </p:txBody>
      </p:sp>
      <p:grpSp>
        <p:nvGrpSpPr>
          <p:cNvPr id="94228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4292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54" name="Group 18"/>
          <p:cNvGraphicFramePr>
            <a:graphicFrameLocks noGrp="1"/>
          </p:cNvGraphicFramePr>
          <p:nvPr/>
        </p:nvGraphicFramePr>
        <p:xfrm>
          <a:off x="5005388" y="1187450"/>
          <a:ext cx="3711575" cy="1584342"/>
        </p:xfrm>
        <a:graphic>
          <a:graphicData uri="http://schemas.openxmlformats.org/drawingml/2006/table">
            <a:tbl>
              <a:tblPr/>
              <a:tblGrid>
                <a:gridCol w="102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A,B,C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组合 1"/>
          <p:cNvGrpSpPr/>
          <p:nvPr/>
        </p:nvGrpSpPr>
        <p:grpSpPr>
          <a:xfrm>
            <a:off x="4932363" y="771525"/>
            <a:ext cx="2855912" cy="1944688"/>
            <a:chOff x="4932363" y="771525"/>
            <a:chExt cx="2855912" cy="1943896"/>
          </a:xfrm>
        </p:grpSpPr>
        <p:sp>
          <p:nvSpPr>
            <p:cNvPr id="53" name="矩形 52"/>
            <p:cNvSpPr/>
            <p:nvPr/>
          </p:nvSpPr>
          <p:spPr>
            <a:xfrm>
              <a:off x="6132513" y="771525"/>
              <a:ext cx="1655762" cy="4855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+mn-cs"/>
                </a:rPr>
                <a:t>转换表</a:t>
              </a:r>
            </a:p>
          </p:txBody>
        </p:sp>
        <p:sp>
          <p:nvSpPr>
            <p:cNvPr id="94287" name="矩形 1"/>
            <p:cNvSpPr/>
            <p:nvPr/>
          </p:nvSpPr>
          <p:spPr>
            <a:xfrm>
              <a:off x="4932363" y="1266825"/>
              <a:ext cx="598487" cy="339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itchFamily="49" charset="-122"/>
                </a:rPr>
                <a:t>状态</a:t>
              </a:r>
            </a:p>
          </p:txBody>
        </p:sp>
        <p:sp>
          <p:nvSpPr>
            <p:cNvPr id="94288" name="矩形 36"/>
            <p:cNvSpPr/>
            <p:nvPr/>
          </p:nvSpPr>
          <p:spPr>
            <a:xfrm>
              <a:off x="5437188" y="1123950"/>
              <a:ext cx="598487" cy="3381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itchFamily="49" charset="-122"/>
                </a:rPr>
                <a:t>输入</a:t>
              </a:r>
            </a:p>
          </p:txBody>
        </p:sp>
        <p:cxnSp>
          <p:nvCxnSpPr>
            <p:cNvPr id="58" name="直接连接符 57"/>
            <p:cNvCxnSpPr/>
            <p:nvPr/>
          </p:nvCxnSpPr>
          <p:spPr bwMode="auto">
            <a:xfrm>
              <a:off x="5026025" y="1201563"/>
              <a:ext cx="982663" cy="3665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290" name="矩形 34"/>
            <p:cNvSpPr/>
            <p:nvPr/>
          </p:nvSpPr>
          <p:spPr>
            <a:xfrm>
              <a:off x="5586412" y="2485233"/>
              <a:ext cx="300038" cy="2301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zh-CN" altLang="en-US" sz="900" dirty="0">
                  <a:solidFill>
                    <a:srgbClr val="2D83F4"/>
                  </a:solidFill>
                  <a:latin typeface="Arial" panose="020B0604020202020204" pitchFamily="34" charset="0"/>
                </a:rPr>
                <a:t>●</a:t>
              </a:r>
            </a:p>
          </p:txBody>
        </p:sp>
      </p:grpSp>
      <p:grpSp>
        <p:nvGrpSpPr>
          <p:cNvPr id="4" name="组合 6"/>
          <p:cNvGrpSpPr/>
          <p:nvPr/>
        </p:nvGrpSpPr>
        <p:grpSpPr>
          <a:xfrm>
            <a:off x="3960813" y="2662238"/>
            <a:ext cx="504825" cy="571500"/>
            <a:chOff x="3779226" y="2644461"/>
            <a:chExt cx="504895" cy="569978"/>
          </a:xfrm>
        </p:grpSpPr>
        <p:sp>
          <p:nvSpPr>
            <p:cNvPr id="94284" name="Freeform 19"/>
            <p:cNvSpPr/>
            <p:nvPr/>
          </p:nvSpPr>
          <p:spPr>
            <a:xfrm>
              <a:off x="3791918" y="2888287"/>
              <a:ext cx="450907" cy="326152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5" name="Rectangle 20"/>
            <p:cNvSpPr/>
            <p:nvPr/>
          </p:nvSpPr>
          <p:spPr>
            <a:xfrm>
              <a:off x="3779226" y="2644461"/>
              <a:ext cx="504895" cy="2155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</p:grpSp>
      <p:grpSp>
        <p:nvGrpSpPr>
          <p:cNvPr id="5" name="组合 8"/>
          <p:cNvGrpSpPr/>
          <p:nvPr/>
        </p:nvGrpSpPr>
        <p:grpSpPr>
          <a:xfrm>
            <a:off x="4152900" y="3868738"/>
            <a:ext cx="504825" cy="431800"/>
            <a:chOff x="3971340" y="3849824"/>
            <a:chExt cx="504895" cy="432007"/>
          </a:xfrm>
        </p:grpSpPr>
        <p:sp>
          <p:nvSpPr>
            <p:cNvPr id="94282" name="Line 21"/>
            <p:cNvSpPr/>
            <p:nvPr/>
          </p:nvSpPr>
          <p:spPr>
            <a:xfrm>
              <a:off x="4006267" y="3849824"/>
              <a:ext cx="795" cy="43200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94283" name="Rectangle 22"/>
            <p:cNvSpPr/>
            <p:nvPr/>
          </p:nvSpPr>
          <p:spPr>
            <a:xfrm>
              <a:off x="3971340" y="3915906"/>
              <a:ext cx="504895" cy="2155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</p:grpSp>
      <p:grpSp>
        <p:nvGrpSpPr>
          <p:cNvPr id="6" name="组合 4"/>
          <p:cNvGrpSpPr/>
          <p:nvPr/>
        </p:nvGrpSpPr>
        <p:grpSpPr>
          <a:xfrm>
            <a:off x="2705100" y="2876550"/>
            <a:ext cx="625475" cy="646113"/>
            <a:chOff x="2555093" y="3201582"/>
            <a:chExt cx="504895" cy="432234"/>
          </a:xfrm>
        </p:grpSpPr>
        <p:sp>
          <p:nvSpPr>
            <p:cNvPr id="94280" name="Freeform 19"/>
            <p:cNvSpPr/>
            <p:nvPr/>
          </p:nvSpPr>
          <p:spPr>
            <a:xfrm>
              <a:off x="2617015" y="3408769"/>
              <a:ext cx="382641" cy="225047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1" name="Rectangle 20"/>
            <p:cNvSpPr/>
            <p:nvPr/>
          </p:nvSpPr>
          <p:spPr>
            <a:xfrm>
              <a:off x="2555093" y="3201582"/>
              <a:ext cx="504895" cy="2155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0</a:t>
              </a:r>
            </a:p>
          </p:txBody>
        </p:sp>
      </p:grpSp>
      <p:grpSp>
        <p:nvGrpSpPr>
          <p:cNvPr id="7" name="组合 7"/>
          <p:cNvGrpSpPr/>
          <p:nvPr/>
        </p:nvGrpSpPr>
        <p:grpSpPr>
          <a:xfrm>
            <a:off x="3255963" y="4160838"/>
            <a:ext cx="1431925" cy="858837"/>
            <a:chOff x="3074028" y="4142627"/>
            <a:chExt cx="1432843" cy="858892"/>
          </a:xfrm>
        </p:grpSpPr>
        <p:sp>
          <p:nvSpPr>
            <p:cNvPr id="94276" name="Line 13"/>
            <p:cNvSpPr/>
            <p:nvPr/>
          </p:nvSpPr>
          <p:spPr>
            <a:xfrm>
              <a:off x="3074028" y="4184781"/>
              <a:ext cx="646660" cy="3880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94277" name="Rectangle 14"/>
            <p:cNvSpPr/>
            <p:nvPr/>
          </p:nvSpPr>
          <p:spPr>
            <a:xfrm>
              <a:off x="3203355" y="4142627"/>
              <a:ext cx="504895" cy="2155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  <p:sp>
          <p:nvSpPr>
            <p:cNvPr id="49" name="Oval 10"/>
            <p:cNvSpPr>
              <a:spLocks noChangeArrowheads="1"/>
            </p:cNvSpPr>
            <p:nvPr/>
          </p:nvSpPr>
          <p:spPr bwMode="auto">
            <a:xfrm>
              <a:off x="3769799" y="4347427"/>
              <a:ext cx="654469" cy="59376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94279" name="Oval 45"/>
            <p:cNvSpPr/>
            <p:nvPr/>
          </p:nvSpPr>
          <p:spPr>
            <a:xfrm>
              <a:off x="3708249" y="4281832"/>
              <a:ext cx="798622" cy="71968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8" name="组合 50"/>
          <p:cNvGrpSpPr/>
          <p:nvPr/>
        </p:nvGrpSpPr>
        <p:grpSpPr>
          <a:xfrm>
            <a:off x="3330575" y="3233738"/>
            <a:ext cx="1214438" cy="635000"/>
            <a:chOff x="3148893" y="3214350"/>
            <a:chExt cx="1214502" cy="635476"/>
          </a:xfrm>
        </p:grpSpPr>
        <p:sp>
          <p:nvSpPr>
            <p:cNvPr id="94272" name="Line 16"/>
            <p:cNvSpPr/>
            <p:nvPr/>
          </p:nvSpPr>
          <p:spPr>
            <a:xfrm flipV="1">
              <a:off x="3211936" y="3571810"/>
              <a:ext cx="428651" cy="21632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94273" name="Rectangle 17"/>
            <p:cNvSpPr/>
            <p:nvPr/>
          </p:nvSpPr>
          <p:spPr>
            <a:xfrm>
              <a:off x="3148893" y="3428827"/>
              <a:ext cx="504896" cy="2155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  <p:sp>
          <p:nvSpPr>
            <p:cNvPr id="56" name="Oval 10"/>
            <p:cNvSpPr>
              <a:spLocks noChangeArrowheads="1"/>
            </p:cNvSpPr>
            <p:nvPr/>
          </p:nvSpPr>
          <p:spPr bwMode="auto">
            <a:xfrm>
              <a:off x="3707722" y="3274720"/>
              <a:ext cx="584231" cy="50838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  <p:sp>
          <p:nvSpPr>
            <p:cNvPr id="94275" name="Oval 45"/>
            <p:cNvSpPr/>
            <p:nvPr/>
          </p:nvSpPr>
          <p:spPr>
            <a:xfrm>
              <a:off x="3636217" y="3214350"/>
              <a:ext cx="727178" cy="6354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9" name="组合 3"/>
          <p:cNvGrpSpPr/>
          <p:nvPr/>
        </p:nvGrpSpPr>
        <p:grpSpPr>
          <a:xfrm>
            <a:off x="611188" y="3519488"/>
            <a:ext cx="2790825" cy="795337"/>
            <a:chOff x="429513" y="3500297"/>
            <a:chExt cx="2791268" cy="795949"/>
          </a:xfrm>
        </p:grpSpPr>
        <p:sp>
          <p:nvSpPr>
            <p:cNvPr id="66" name="Oval 10"/>
            <p:cNvSpPr>
              <a:spLocks noChangeArrowheads="1"/>
            </p:cNvSpPr>
            <p:nvPr/>
          </p:nvSpPr>
          <p:spPr bwMode="auto">
            <a:xfrm>
              <a:off x="2412615" y="3565434"/>
              <a:ext cx="736717" cy="6704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A,B,C</a:t>
              </a:r>
            </a:p>
          </p:txBody>
        </p:sp>
        <p:sp>
          <p:nvSpPr>
            <p:cNvPr id="94268" name="Rectangle 49"/>
            <p:cNvSpPr/>
            <p:nvPr/>
          </p:nvSpPr>
          <p:spPr>
            <a:xfrm>
              <a:off x="429513" y="3687770"/>
              <a:ext cx="647790" cy="3786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DFA</a:t>
              </a:r>
              <a:r>
                <a:rPr lang="zh-CN" altLang="en-US" sz="2500" b="1" dirty="0">
                  <a:latin typeface="Times New Roman" panose="02020603050405020304" pitchFamily="18" charset="0"/>
                  <a:ea typeface="楷体_GB2312"/>
                </a:rPr>
                <a:t>：</a:t>
              </a:r>
            </a:p>
          </p:txBody>
        </p:sp>
        <p:sp>
          <p:nvSpPr>
            <p:cNvPr id="94269" name="Line 21"/>
            <p:cNvSpPr/>
            <p:nvPr/>
          </p:nvSpPr>
          <p:spPr>
            <a:xfrm>
              <a:off x="1863245" y="3929249"/>
              <a:ext cx="47476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94270" name="Rectangle 22"/>
            <p:cNvSpPr/>
            <p:nvPr/>
          </p:nvSpPr>
          <p:spPr>
            <a:xfrm>
              <a:off x="1286798" y="3786267"/>
              <a:ext cx="504997" cy="2154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94271" name="Oval 45"/>
            <p:cNvSpPr/>
            <p:nvPr/>
          </p:nvSpPr>
          <p:spPr>
            <a:xfrm>
              <a:off x="2339866" y="3500297"/>
              <a:ext cx="880915" cy="795949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673600" y="4371975"/>
            <a:ext cx="728663" cy="334963"/>
            <a:chOff x="4491980" y="4353718"/>
            <a:chExt cx="728663" cy="334963"/>
          </a:xfrm>
        </p:grpSpPr>
        <p:sp>
          <p:nvSpPr>
            <p:cNvPr id="72" name="任意多边形 71"/>
            <p:cNvSpPr/>
            <p:nvPr/>
          </p:nvSpPr>
          <p:spPr bwMode="auto">
            <a:xfrm>
              <a:off x="4491980" y="4353718"/>
              <a:ext cx="377825" cy="334963"/>
            </a:xfrm>
            <a:custGeom>
              <a:avLst/>
              <a:gdLst>
                <a:gd name="connsiteX0" fmla="*/ 0 w 377422"/>
                <a:gd name="connsiteY0" fmla="*/ 194866 h 446352"/>
                <a:gd name="connsiteX1" fmla="*/ 232229 w 377422"/>
                <a:gd name="connsiteY1" fmla="*/ 6180 h 446352"/>
                <a:gd name="connsiteX2" fmla="*/ 377372 w 377422"/>
                <a:gd name="connsiteY2" fmla="*/ 398066 h 446352"/>
                <a:gd name="connsiteX3" fmla="*/ 217715 w 377422"/>
                <a:gd name="connsiteY3" fmla="*/ 441609 h 446352"/>
                <a:gd name="connsiteX4" fmla="*/ 29029 w 377422"/>
                <a:gd name="connsiteY4" fmla="*/ 412580 h 44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422" h="446352">
                  <a:moveTo>
                    <a:pt x="0" y="194866"/>
                  </a:moveTo>
                  <a:cubicBezTo>
                    <a:pt x="84667" y="83589"/>
                    <a:pt x="169334" y="-27687"/>
                    <a:pt x="232229" y="6180"/>
                  </a:cubicBezTo>
                  <a:cubicBezTo>
                    <a:pt x="295124" y="40047"/>
                    <a:pt x="379791" y="325495"/>
                    <a:pt x="377372" y="398066"/>
                  </a:cubicBezTo>
                  <a:cubicBezTo>
                    <a:pt x="374953" y="470637"/>
                    <a:pt x="275772" y="439190"/>
                    <a:pt x="217715" y="441609"/>
                  </a:cubicBezTo>
                  <a:cubicBezTo>
                    <a:pt x="159658" y="444028"/>
                    <a:pt x="94343" y="428304"/>
                    <a:pt x="29029" y="412580"/>
                  </a:cubicBezTo>
                </a:path>
              </a:pathLst>
            </a:cu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4266" name="Rectangle 31"/>
            <p:cNvSpPr/>
            <p:nvPr/>
          </p:nvSpPr>
          <p:spPr>
            <a:xfrm>
              <a:off x="4715738" y="4390344"/>
              <a:ext cx="504905" cy="21556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</p:grpSp>
      <p:sp>
        <p:nvSpPr>
          <p:cNvPr id="74" name="矩形 73"/>
          <p:cNvSpPr/>
          <p:nvPr/>
        </p:nvSpPr>
        <p:spPr>
          <a:xfrm>
            <a:off x="1306513" y="2527300"/>
            <a:ext cx="982663" cy="3683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=0</a:t>
            </a:r>
            <a:r>
              <a:rPr kumimoji="0" lang="en-US" altLang="zh-CN" sz="1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18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从带有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-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边的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NFA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到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的转换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pSp>
        <p:nvGrpSpPr>
          <p:cNvPr id="94228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4292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695960" y="1235075"/>
            <a:ext cx="76123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 altLang="zh-CN" b="1" i="1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ε-closure </a:t>
            </a:r>
            <a:r>
              <a:rPr lang="en-US" altLang="zh-CN" b="1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( </a:t>
            </a:r>
            <a:r>
              <a:rPr lang="en-US" altLang="zh-CN" b="1" i="1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s </a:t>
            </a:r>
            <a:r>
              <a:rPr lang="en-US" altLang="zh-CN" b="1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b="1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b="1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能够从</a:t>
            </a:r>
            <a:r>
              <a:rPr lang="en-US" altLang="zh-CN" b="1" i="1">
                <a:ln>
                  <a:noFill/>
                </a:ln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 b="1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的状态</a:t>
            </a:r>
            <a:r>
              <a:rPr lang="en-US" altLang="zh-CN" b="1" i="1">
                <a:ln>
                  <a:noFill/>
                </a:ln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b="1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开始只通过</a:t>
            </a:r>
            <a:r>
              <a:rPr lang="en-US" altLang="zh-CN" b="1" i="1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ε</a:t>
            </a:r>
            <a:r>
              <a:rPr lang="zh-CN" altLang="en-US" b="1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转换到达的</a:t>
            </a:r>
            <a:r>
              <a:rPr lang="en-US" altLang="zh-CN" b="1" i="1">
                <a:ln>
                  <a:noFill/>
                </a:ln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 b="1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状态集合</a:t>
            </a:r>
          </a:p>
          <a:p>
            <a:pPr marL="285750" indent="-285750">
              <a:buFont typeface="Wingdings" panose="05000000000000000000" charset="0"/>
              <a:buChar char=""/>
            </a:pPr>
            <a:endParaRPr lang="zh-CN" altLang="en-US" b="1">
              <a:ln>
                <a:noFill/>
              </a:ln>
              <a:effectLst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altLang="zh-CN" b="1" i="1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ε-closure </a:t>
            </a:r>
            <a:r>
              <a:rPr lang="en-US" altLang="zh-CN" b="1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( </a:t>
            </a:r>
            <a:r>
              <a:rPr lang="en-US" altLang="zh-CN" b="1" i="1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T </a:t>
            </a:r>
            <a:r>
              <a:rPr lang="en-US" altLang="zh-CN" b="1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b="1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b="1" dirty="0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能够从</a:t>
            </a:r>
            <a:r>
              <a:rPr lang="en-US" altLang="zh-CN" b="1" i="1" dirty="0">
                <a:ln>
                  <a:noFill/>
                </a:ln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T </a:t>
            </a:r>
            <a:r>
              <a:rPr lang="zh-CN" altLang="en-US" b="1" dirty="0">
                <a:ln>
                  <a:noFill/>
                </a:ln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中的某个</a:t>
            </a:r>
            <a:r>
              <a:rPr lang="en-US" altLang="zh-CN" b="1" i="1" dirty="0">
                <a:ln>
                  <a:noFill/>
                </a:ln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 b="1" dirty="0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状态 </a:t>
            </a:r>
            <a:r>
              <a:rPr lang="en-US" altLang="zh-CN" b="1" i="1" dirty="0">
                <a:ln>
                  <a:noFill/>
                </a:ln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b="1" dirty="0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开始只通过</a:t>
            </a:r>
            <a:r>
              <a:rPr lang="en-US" altLang="zh-CN" b="1" i="1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ε</a:t>
            </a:r>
            <a:r>
              <a:rPr lang="zh-CN" altLang="en-US" b="1" dirty="0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转换到达的</a:t>
            </a:r>
            <a:r>
              <a:rPr lang="en-US" altLang="zh-CN" b="1" i="1" dirty="0">
                <a:ln>
                  <a:noFill/>
                </a:ln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 b="1" dirty="0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状态集合</a:t>
            </a:r>
            <a:r>
              <a:rPr lang="en-US" altLang="zh-CN" b="1" dirty="0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b="1" dirty="0">
                <a:ln>
                  <a:noFill/>
                </a:ln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即</a:t>
            </a:r>
            <a:r>
              <a:rPr lang="en-US" altLang="zh-CN" b="1" i="1" dirty="0" err="1">
                <a:ln>
                  <a:noFill/>
                </a:ln>
                <a:effectLst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U</a:t>
            </a:r>
            <a:r>
              <a:rPr lang="en-US" altLang="zh-CN" b="1" i="1" baseline="-30000" dirty="0" err="1">
                <a:ln>
                  <a:noFill/>
                </a:ln>
                <a:effectLst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s∈T</a:t>
            </a:r>
            <a:r>
              <a:rPr lang="en-US" altLang="zh-CN" b="1" i="1" baseline="-30000" dirty="0">
                <a:ln>
                  <a:noFill/>
                </a:ln>
                <a:effectLst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b="1" i="1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ε-closure </a:t>
            </a:r>
            <a:r>
              <a:rPr lang="en-US" altLang="zh-CN" b="1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( </a:t>
            </a:r>
            <a:r>
              <a:rPr lang="en-US" altLang="zh-CN" b="1" i="1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s </a:t>
            </a:r>
            <a:r>
              <a:rPr lang="en-US" altLang="zh-CN" b="1" dirty="0">
                <a:ln>
                  <a:noFill/>
                </a:ln>
                <a:effectLst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+mn-ea"/>
              </a:rPr>
              <a:t>)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endParaRPr lang="zh-CN" altLang="en-US" b="1">
              <a:ln>
                <a:noFill/>
              </a:ln>
              <a:effectLst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计算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 </a:t>
            </a:r>
            <a:r>
              <a:rPr kumimoji="0" lang="el-GR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ε-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closure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(</a:t>
            </a:r>
            <a:r>
              <a:rPr kumimoji="0" lang="en-US" altLang="zh-CN" sz="3000" b="1" i="1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T </a:t>
            </a:r>
            <a:r>
              <a:rPr kumimoji="0" lang="en-US" altLang="zh-CN" sz="3000" b="1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)</a:t>
            </a:r>
            <a:endParaRPr kumimoji="0" lang="zh-CN" altLang="en-US" sz="3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itchFamily="49" charset="-122"/>
              <a:cs typeface="+mj-cs"/>
            </a:endParaRPr>
          </a:p>
        </p:txBody>
      </p:sp>
      <p:grpSp>
        <p:nvGrpSpPr>
          <p:cNvPr id="98307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8310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1"/>
          <p:cNvSpPr>
            <a:spLocks noGrp="1"/>
          </p:cNvSpPr>
          <p:nvPr>
            <p:ph idx="1"/>
          </p:nvPr>
        </p:nvSpPr>
        <p:spPr>
          <a:xfrm>
            <a:off x="357188" y="928688"/>
            <a:ext cx="8499475" cy="40719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将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的所有状态压入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stack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中；</a:t>
            </a:r>
            <a:endParaRPr kumimoji="0" lang="en-US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将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ε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closur</a:t>
            </a:r>
            <a:r>
              <a:rPr kumimoji="0" lang="en-US" altLang="zh-CN" sz="1900" b="1" i="1" u="none" strike="noStrike" kern="1200" cap="none" spc="-5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e  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 </a:t>
            </a:r>
            <a:r>
              <a:rPr kumimoji="0" lang="zh-CN" altLang="en-US" sz="1900" b="1" i="0" u="none" strike="noStrike" kern="1200" cap="none" spc="-10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   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初始化为 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 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；</a:t>
            </a:r>
            <a:endParaRPr kumimoji="0" lang="en-US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while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stack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非空</a:t>
            </a:r>
            <a:r>
              <a:rPr kumimoji="0" lang="zh-CN" altLang="en-US" sz="1900" b="1" i="0" u="none" strike="noStrike" kern="1200" cap="none" spc="-10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）｛</a:t>
            </a:r>
            <a:endParaRPr kumimoji="0" lang="en-US" altLang="zh-CN" sz="1900" b="1" i="0" u="none" strike="noStrike" kern="1200" cap="none" spc="-10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       将栈顶元素 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 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给弹出栈中；</a:t>
            </a:r>
            <a:endParaRPr kumimoji="0" lang="en-US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        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for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（每个满足如下条件的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：从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出发有一个标号为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ε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的转换到达状态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                  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if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( 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u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不在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ε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closur</a:t>
            </a:r>
            <a:r>
              <a:rPr kumimoji="0" lang="en-US" altLang="zh-CN" sz="1900" b="1" i="1" u="none" strike="noStrike" kern="1200" cap="none" spc="-5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e  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 </a:t>
            </a:r>
            <a:r>
              <a:rPr kumimoji="0" lang="zh-CN" altLang="en-US" sz="1900" b="1" i="0" u="none" strike="noStrike" kern="1200" cap="none" spc="-10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中</a:t>
            </a:r>
            <a:r>
              <a:rPr kumimoji="0" lang="zh-CN" altLang="en-US" sz="1900" b="1" i="0" u="none" strike="noStrike" kern="1200" cap="none" spc="-10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）｛</a:t>
            </a:r>
            <a:endParaRPr kumimoji="0" lang="en-US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                               将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u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加入到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ε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closur</a:t>
            </a:r>
            <a:r>
              <a:rPr kumimoji="0" lang="en-US" altLang="zh-CN" sz="1900" b="1" i="1" u="none" strike="noStrike" kern="1200" cap="none" spc="-5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e  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 </a:t>
            </a:r>
            <a:r>
              <a:rPr kumimoji="0" lang="zh-CN" altLang="en-US" sz="1900" b="1" i="0" u="none" strike="noStrike" kern="1200" cap="none" spc="-10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中；</a:t>
            </a:r>
            <a:endParaRPr kumimoji="0" lang="en-US" altLang="zh-CN" sz="1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                               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将</a:t>
            </a:r>
            <a:r>
              <a:rPr kumimoji="0" lang="en-US" altLang="zh-CN" sz="19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u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压入栈中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;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                   }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}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           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1"/>
          <p:cNvSpPr>
            <a:spLocks noGrp="1"/>
          </p:cNvSpPr>
          <p:nvPr>
            <p:ph idx="1"/>
          </p:nvPr>
        </p:nvSpPr>
        <p:spPr>
          <a:xfrm>
            <a:off x="501650" y="732155"/>
            <a:ext cx="8142605" cy="2946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输入：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NFA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输出：接收同样语言的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DFA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方法：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一开始，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ε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closur</a:t>
            </a:r>
            <a:r>
              <a:rPr kumimoji="0" lang="en-US" altLang="zh-CN" sz="1600" b="1" i="1" u="none" strike="noStrike" kern="1200" cap="none" spc="-5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e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s</a:t>
            </a:r>
            <a:r>
              <a:rPr kumimoji="0" lang="en-US" altLang="zh-CN" sz="16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0 </a:t>
            </a:r>
            <a:r>
              <a:rPr kumimoji="0" lang="zh-CN" altLang="en-US" sz="1600" b="1" i="0" u="none" strike="noStrike" kern="1200" cap="none" spc="-10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Dstates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中的唯一状态，且它未加标记；        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    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while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（在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Dstates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中有一个未标记状态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 </a:t>
            </a:r>
            <a:r>
              <a:rPr kumimoji="0" lang="zh-CN" altLang="en-US" sz="1600" b="1" i="0" u="none" strike="noStrike" kern="1200" cap="none" spc="-15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  ｛</a:t>
            </a:r>
            <a:endParaRPr kumimoji="0" lang="en-US" altLang="zh-CN" sz="1600" b="1" i="0" u="none" strike="noStrike" kern="1200" cap="none" spc="-15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                             给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加上标记；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                  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for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（每个输入符号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zh-CN" altLang="en-US" sz="1600" b="1" i="0" u="none" strike="noStrike" kern="1200" cap="none" spc="-15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）  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                                   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=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ε-closure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move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,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));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                                        if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(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U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不在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Dstates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中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)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                                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将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U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加入到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Dstates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中，且不加标记；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                                       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Dtran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,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]=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U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;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                              }</a:t>
            </a:r>
          </a:p>
          <a:p>
            <a:pPr marL="273050" marR="0" lvl="0" indent="-273050" algn="l" defTabSz="914400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                 }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+mn-cs"/>
            </a:endParaRPr>
          </a:p>
        </p:txBody>
      </p:sp>
      <p:sp>
        <p:nvSpPr>
          <p:cNvPr id="4608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子集构造</a:t>
            </a:r>
            <a:r>
              <a:rPr kumimoji="0" lang="zh-CN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法</a:t>
            </a:r>
            <a:r>
              <a:rPr kumimoji="0" lang="zh-CN" altLang="en-US" sz="25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5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subset construction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</a:p>
        </p:txBody>
      </p:sp>
      <p:grpSp>
        <p:nvGrpSpPr>
          <p:cNvPr id="96260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96279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11" name="Group 18"/>
          <p:cNvGraphicFramePr>
            <a:graphicFrameLocks noGrp="1"/>
          </p:cNvGraphicFramePr>
          <p:nvPr/>
        </p:nvGraphicFramePr>
        <p:xfrm>
          <a:off x="261938" y="3580130"/>
          <a:ext cx="8424862" cy="1250952"/>
        </p:xfrm>
        <a:graphic>
          <a:graphicData uri="http://schemas.openxmlformats.org/drawingml/2006/table">
            <a:tbl>
              <a:tblPr/>
              <a:tblGrid>
                <a:gridCol w="1335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操作</a:t>
                      </a: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itchFamily="49" charset="-122"/>
                        </a:rPr>
                        <a:t>描述</a:t>
                      </a: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的状态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即</a:t>
                      </a:r>
                      <a:r>
                        <a:rPr kumimoji="0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kumimoji="0" lang="en-US" altLang="zh-CN" sz="1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s∈T</a:t>
                      </a:r>
                      <a:r>
                        <a:rPr kumimoji="0" lang="en-US" altLang="zh-CN" sz="14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move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T , a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出发通过标号为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的转换到达的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状态的集合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500563" y="1774825"/>
            <a:ext cx="3311525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识别单词的</a:t>
            </a:r>
            <a:r>
              <a:rPr kumimoji="0" lang="en-US" altLang="zh-CN" sz="3000" b="1" i="1" kern="1200" cap="none" spc="30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endParaRPr kumimoji="0" lang="zh-CN" altLang="en-US" sz="30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857750" y="1416050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第三章 词法分析</a:t>
            </a:r>
            <a:endParaRPr kumimoji="0" lang="zh-CN" altLang="en-US" sz="8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643438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kern="1200" cap="none" spc="0" normalizeH="0" baseline="0" noProof="0" dirty="0">
                <a:solidFill>
                  <a:schemeClr val="bg1"/>
                </a:solidFill>
                <a:latin typeface="+mj-lt"/>
                <a:ea typeface="楷体" pitchFamily="49" charset="-122"/>
                <a:cs typeface="+mj-cs"/>
              </a:rPr>
              <a:t> </a:t>
            </a:r>
            <a:endParaRPr kumimoji="0" lang="zh-CN" altLang="en-US" sz="2000" b="1" kern="1200" cap="none" spc="6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3"/>
          <p:cNvSpPr>
            <a:spLocks noGrp="1"/>
          </p:cNvSpPr>
          <p:nvPr>
            <p:ph idx="1"/>
          </p:nvPr>
        </p:nvSpPr>
        <p:spPr>
          <a:xfrm>
            <a:off x="858838" y="846138"/>
            <a:ext cx="5927725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标识符的正则定义</a:t>
            </a:r>
            <a:r>
              <a:rPr lang="en-US" altLang="zh-CN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 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→ 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0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|1|2|…|9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letter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_ →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A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B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|…|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Z|a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b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|…|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z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|_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id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→ 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letter_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(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letter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_|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</a:t>
            </a:r>
            <a:r>
              <a:rPr lang="en-US" altLang="zh-CN" sz="28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*</a:t>
            </a:r>
          </a:p>
          <a:p>
            <a:pPr eaLnBrk="1" hangingPunct="1">
              <a:buSzPct val="100000"/>
            </a:pPr>
            <a:endParaRPr lang="zh-CN" altLang="en-US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6" name="标题 4"/>
          <p:cNvSpPr txBox="1"/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+mj-cs"/>
              </a:rPr>
              <a:t>识别标识符的</a:t>
            </a:r>
            <a:r>
              <a:rPr kumimoji="0" lang="en-US" altLang="zh-CN" sz="3000" b="1" i="1" kern="1200" cap="none" spc="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r>
              <a:rPr kumimoji="0" lang="en-US" altLang="zh-CN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endParaRPr kumimoji="0" lang="zh-CN" altLang="en-US" sz="3000" b="1" kern="1200" cap="none" spc="300" normalizeH="0" baseline="0" noProof="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pSp>
        <p:nvGrpSpPr>
          <p:cNvPr id="104452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8" name="五边形 1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4468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26"/>
          <p:cNvGrpSpPr/>
          <p:nvPr/>
        </p:nvGrpSpPr>
        <p:grpSpPr>
          <a:xfrm>
            <a:off x="1214438" y="3008313"/>
            <a:ext cx="5464175" cy="2087562"/>
            <a:chOff x="1214458" y="2694790"/>
            <a:chExt cx="5464158" cy="2087210"/>
          </a:xfrm>
        </p:grpSpPr>
        <p:grpSp>
          <p:nvGrpSpPr>
            <p:cNvPr id="104454" name="Group 4"/>
            <p:cNvGrpSpPr/>
            <p:nvPr/>
          </p:nvGrpSpPr>
          <p:grpSpPr>
            <a:xfrm>
              <a:off x="1214458" y="2694790"/>
              <a:ext cx="4471998" cy="1328736"/>
              <a:chOff x="815" y="1729"/>
              <a:chExt cx="2817" cy="1116"/>
            </a:xfrm>
          </p:grpSpPr>
          <p:sp>
            <p:nvSpPr>
              <p:cNvPr id="104462" name="Line 8"/>
              <p:cNvSpPr/>
              <p:nvPr/>
            </p:nvSpPr>
            <p:spPr>
              <a:xfrm>
                <a:off x="2130" y="2656"/>
                <a:ext cx="81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arrow" w="med" len="med"/>
              </a:ln>
            </p:spPr>
          </p:sp>
          <p:sp>
            <p:nvSpPr>
              <p:cNvPr id="104463" name="Text Box 10"/>
              <p:cNvSpPr txBox="1"/>
              <p:nvPr/>
            </p:nvSpPr>
            <p:spPr>
              <a:xfrm>
                <a:off x="2120" y="2106"/>
                <a:ext cx="705" cy="43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letter_</a:t>
                </a:r>
              </a:p>
            </p:txBody>
          </p:sp>
          <p:sp>
            <p:nvSpPr>
              <p:cNvPr id="104464" name="Text Box 11"/>
              <p:cNvSpPr txBox="1"/>
              <p:nvPr/>
            </p:nvSpPr>
            <p:spPr>
              <a:xfrm>
                <a:off x="2825" y="1729"/>
                <a:ext cx="807" cy="43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letter_</a:t>
                </a:r>
              </a:p>
            </p:txBody>
          </p:sp>
          <p:sp>
            <p:nvSpPr>
              <p:cNvPr id="104465" name="Text Box 14"/>
              <p:cNvSpPr txBox="1"/>
              <p:nvPr/>
            </p:nvSpPr>
            <p:spPr>
              <a:xfrm>
                <a:off x="815" y="2406"/>
                <a:ext cx="528" cy="43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800" b="1" i="1" dirty="0">
                    <a:latin typeface="Times New Roman" panose="02020603050405020304" pitchFamily="18" charset="0"/>
                    <a:ea typeface="楷体_GB2312"/>
                  </a:rPr>
                  <a:t>start</a:t>
                </a:r>
                <a:endParaRPr lang="zh-CN" altLang="en-US" sz="2800" b="1" i="1" dirty="0">
                  <a:latin typeface="Times New Roman" panose="02020603050405020304" pitchFamily="18" charset="0"/>
                  <a:ea typeface="楷体_GB2312"/>
                </a:endParaRPr>
              </a:p>
            </p:txBody>
          </p:sp>
          <p:sp>
            <p:nvSpPr>
              <p:cNvPr id="104466" name="Line 16"/>
              <p:cNvSpPr/>
              <p:nvPr/>
            </p:nvSpPr>
            <p:spPr>
              <a:xfrm>
                <a:off x="1364" y="2651"/>
                <a:ext cx="43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2" name="任意多边形 1"/>
            <p:cNvSpPr/>
            <p:nvPr/>
          </p:nvSpPr>
          <p:spPr>
            <a:xfrm>
              <a:off x="4506923" y="3196355"/>
              <a:ext cx="636585" cy="349191"/>
            </a:xfrm>
            <a:custGeom>
              <a:avLst/>
              <a:gdLst>
                <a:gd name="connsiteX0" fmla="*/ 249565 w 812040"/>
                <a:gd name="connsiteY0" fmla="*/ 464649 h 464649"/>
                <a:gd name="connsiteX1" fmla="*/ 2822 w 812040"/>
                <a:gd name="connsiteY1" fmla="*/ 159849 h 464649"/>
                <a:gd name="connsiteX2" fmla="*/ 394708 w 812040"/>
                <a:gd name="connsiteY2" fmla="*/ 192 h 464649"/>
                <a:gd name="connsiteX3" fmla="*/ 801108 w 812040"/>
                <a:gd name="connsiteY3" fmla="*/ 188878 h 464649"/>
                <a:gd name="connsiteX4" fmla="*/ 655965 w 812040"/>
                <a:gd name="connsiteY4" fmla="*/ 464649 h 464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2040" h="464649">
                  <a:moveTo>
                    <a:pt x="249565" y="464649"/>
                  </a:moveTo>
                  <a:cubicBezTo>
                    <a:pt x="114098" y="350954"/>
                    <a:pt x="-21369" y="237259"/>
                    <a:pt x="2822" y="159849"/>
                  </a:cubicBezTo>
                  <a:cubicBezTo>
                    <a:pt x="27013" y="82439"/>
                    <a:pt x="261660" y="-4646"/>
                    <a:pt x="394708" y="192"/>
                  </a:cubicBezTo>
                  <a:cubicBezTo>
                    <a:pt x="527756" y="5030"/>
                    <a:pt x="757565" y="111468"/>
                    <a:pt x="801108" y="188878"/>
                  </a:cubicBezTo>
                  <a:cubicBezTo>
                    <a:pt x="844651" y="266288"/>
                    <a:pt x="750308" y="365468"/>
                    <a:pt x="655965" y="464649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任意多边形 2"/>
            <p:cNvSpPr/>
            <p:nvPr/>
          </p:nvSpPr>
          <p:spPr>
            <a:xfrm>
              <a:off x="4459298" y="4009018"/>
              <a:ext cx="811209" cy="326970"/>
            </a:xfrm>
            <a:custGeom>
              <a:avLst/>
              <a:gdLst>
                <a:gd name="connsiteX0" fmla="*/ 223309 w 810400"/>
                <a:gd name="connsiteY0" fmla="*/ 0 h 437007"/>
                <a:gd name="connsiteX1" fmla="*/ 5595 w 810400"/>
                <a:gd name="connsiteY1" fmla="*/ 159658 h 437007"/>
                <a:gd name="connsiteX2" fmla="*/ 426509 w 810400"/>
                <a:gd name="connsiteY2" fmla="*/ 435429 h 437007"/>
                <a:gd name="connsiteX3" fmla="*/ 803880 w 810400"/>
                <a:gd name="connsiteY3" fmla="*/ 261258 h 437007"/>
                <a:gd name="connsiteX4" fmla="*/ 629709 w 810400"/>
                <a:gd name="connsiteY4" fmla="*/ 29029 h 4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400" h="437007">
                  <a:moveTo>
                    <a:pt x="223309" y="0"/>
                  </a:moveTo>
                  <a:cubicBezTo>
                    <a:pt x="97518" y="43543"/>
                    <a:pt x="-28272" y="87087"/>
                    <a:pt x="5595" y="159658"/>
                  </a:cubicBezTo>
                  <a:cubicBezTo>
                    <a:pt x="39462" y="232229"/>
                    <a:pt x="293462" y="418496"/>
                    <a:pt x="426509" y="435429"/>
                  </a:cubicBezTo>
                  <a:cubicBezTo>
                    <a:pt x="559556" y="452362"/>
                    <a:pt x="770013" y="328991"/>
                    <a:pt x="803880" y="261258"/>
                  </a:cubicBezTo>
                  <a:cubicBezTo>
                    <a:pt x="837747" y="193525"/>
                    <a:pt x="733728" y="111277"/>
                    <a:pt x="629709" y="29029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457" name="Text Box 11"/>
            <p:cNvSpPr txBox="1"/>
            <p:nvPr/>
          </p:nvSpPr>
          <p:spPr>
            <a:xfrm>
              <a:off x="4459291" y="4258780"/>
              <a:ext cx="2219325" cy="52322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digit</a:t>
              </a:r>
            </a:p>
          </p:txBody>
        </p:sp>
        <p:grpSp>
          <p:nvGrpSpPr>
            <p:cNvPr id="104458" name="组合 20"/>
            <p:cNvGrpSpPr/>
            <p:nvPr/>
          </p:nvGrpSpPr>
          <p:grpSpPr>
            <a:xfrm>
              <a:off x="4572000" y="3508394"/>
              <a:ext cx="642942" cy="563554"/>
              <a:chOff x="3636217" y="3214350"/>
              <a:chExt cx="727178" cy="635476"/>
            </a:xfrm>
          </p:grpSpPr>
          <p:sp>
            <p:nvSpPr>
              <p:cNvPr id="99340" name="Oval 10"/>
              <p:cNvSpPr>
                <a:spLocks noChangeArrowheads="1"/>
              </p:cNvSpPr>
              <p:nvPr/>
            </p:nvSpPr>
            <p:spPr bwMode="auto">
              <a:xfrm>
                <a:off x="3708048" y="3275931"/>
                <a:ext cx="583533" cy="50830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104461" name="Oval 45"/>
              <p:cNvSpPr/>
              <p:nvPr/>
            </p:nvSpPr>
            <p:spPr>
              <a:xfrm>
                <a:off x="3636217" y="3214350"/>
                <a:ext cx="727178" cy="635476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i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99339" name="Oval 15"/>
            <p:cNvSpPr>
              <a:spLocks noChangeArrowheads="1"/>
            </p:cNvSpPr>
            <p:nvPr/>
          </p:nvSpPr>
          <p:spPr bwMode="auto">
            <a:xfrm>
              <a:off x="2786078" y="3539198"/>
              <a:ext cx="512760" cy="5015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500063" y="917575"/>
            <a:ext cx="7583487" cy="23685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→ 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0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|1|2|…|9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digits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→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 digit</a:t>
            </a:r>
            <a:r>
              <a:rPr lang="en-US" altLang="zh-CN" sz="2500" b="1" i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*</a:t>
            </a:r>
            <a:endParaRPr lang="en-US" altLang="zh-CN" sz="2500" b="1" i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optionalFraction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→ .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digits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optionalExponent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→ (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E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(+|-|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digits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)|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ε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number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→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digits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optionalFraction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optionalExponent</a:t>
            </a:r>
          </a:p>
        </p:txBody>
      </p:sp>
      <p:sp>
        <p:nvSpPr>
          <p:cNvPr id="56323" name="标题 5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识别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无符号数的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pSp>
        <p:nvGrpSpPr>
          <p:cNvPr id="2" name="组合 2"/>
          <p:cNvGrpSpPr/>
          <p:nvPr/>
        </p:nvGrpSpPr>
        <p:grpSpPr>
          <a:xfrm>
            <a:off x="2624138" y="3354388"/>
            <a:ext cx="1355725" cy="731837"/>
            <a:chOff x="245793" y="5141767"/>
            <a:chExt cx="1356754" cy="976968"/>
          </a:xfrm>
        </p:grpSpPr>
        <p:sp>
          <p:nvSpPr>
            <p:cNvPr id="101417" name="Oval 7"/>
            <p:cNvSpPr>
              <a:spLocks noChangeArrowheads="1"/>
            </p:cNvSpPr>
            <p:nvPr/>
          </p:nvSpPr>
          <p:spPr bwMode="auto">
            <a:xfrm>
              <a:off x="245793" y="5733034"/>
              <a:ext cx="360636" cy="36027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6538" name="Rectangle 31"/>
            <p:cNvSpPr/>
            <p:nvPr/>
          </p:nvSpPr>
          <p:spPr>
            <a:xfrm>
              <a:off x="668771" y="5589586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101419" name="Oval 29"/>
            <p:cNvSpPr>
              <a:spLocks noChangeArrowheads="1"/>
            </p:cNvSpPr>
            <p:nvPr/>
          </p:nvSpPr>
          <p:spPr bwMode="auto">
            <a:xfrm>
              <a:off x="1009960" y="5756346"/>
              <a:ext cx="360637" cy="36238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6540" name="Line 27"/>
            <p:cNvSpPr/>
            <p:nvPr/>
          </p:nvSpPr>
          <p:spPr>
            <a:xfrm>
              <a:off x="606155" y="5915987"/>
              <a:ext cx="40417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6541" name="Freeform 19"/>
            <p:cNvSpPr/>
            <p:nvPr/>
          </p:nvSpPr>
          <p:spPr>
            <a:xfrm>
              <a:off x="1042779" y="5456748"/>
              <a:ext cx="382588" cy="300036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2" name="Rectangle 20"/>
            <p:cNvSpPr/>
            <p:nvPr/>
          </p:nvSpPr>
          <p:spPr>
            <a:xfrm>
              <a:off x="1097721" y="5141767"/>
              <a:ext cx="504826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</p:grpSp>
      <p:sp>
        <p:nvSpPr>
          <p:cNvPr id="60" name="Rectangle 20"/>
          <p:cNvSpPr/>
          <p:nvPr/>
        </p:nvSpPr>
        <p:spPr>
          <a:xfrm>
            <a:off x="5053013" y="3381375"/>
            <a:ext cx="504825" cy="215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d</a:t>
            </a:r>
          </a:p>
        </p:txBody>
      </p:sp>
      <p:grpSp>
        <p:nvGrpSpPr>
          <p:cNvPr id="3" name="组合 21510"/>
          <p:cNvGrpSpPr/>
          <p:nvPr/>
        </p:nvGrpSpPr>
        <p:grpSpPr>
          <a:xfrm>
            <a:off x="3554413" y="3616325"/>
            <a:ext cx="1854200" cy="952500"/>
            <a:chOff x="1175657" y="5157316"/>
            <a:chExt cx="1854869" cy="1270543"/>
          </a:xfrm>
        </p:grpSpPr>
        <p:sp>
          <p:nvSpPr>
            <p:cNvPr id="106528" name="Rectangle 9"/>
            <p:cNvSpPr/>
            <p:nvPr/>
          </p:nvSpPr>
          <p:spPr>
            <a:xfrm>
              <a:off x="1677767" y="6140522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101409" name="Oval 10"/>
            <p:cNvSpPr>
              <a:spLocks noChangeArrowheads="1"/>
            </p:cNvSpPr>
            <p:nvPr/>
          </p:nvSpPr>
          <p:spPr bwMode="auto">
            <a:xfrm>
              <a:off x="2617627" y="5434719"/>
              <a:ext cx="358904" cy="36210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6530" name="Rectangle 14"/>
            <p:cNvSpPr/>
            <p:nvPr/>
          </p:nvSpPr>
          <p:spPr>
            <a:xfrm>
              <a:off x="1506652" y="5304068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dirty="0">
                  <a:latin typeface="楷体_GB2312"/>
                  <a:ea typeface="楷体_GB2312"/>
                </a:rPr>
                <a:t>.</a:t>
              </a:r>
            </a:p>
          </p:txBody>
        </p:sp>
        <p:sp>
          <p:nvSpPr>
            <p:cNvPr id="106531" name="Line 13"/>
            <p:cNvSpPr/>
            <p:nvPr/>
          </p:nvSpPr>
          <p:spPr>
            <a:xfrm>
              <a:off x="2188692" y="5622742"/>
              <a:ext cx="43180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1412" name="Oval 15"/>
            <p:cNvSpPr>
              <a:spLocks noChangeArrowheads="1"/>
            </p:cNvSpPr>
            <p:nvPr/>
          </p:nvSpPr>
          <p:spPr bwMode="auto">
            <a:xfrm>
              <a:off x="1814062" y="5428365"/>
              <a:ext cx="360492" cy="35998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6533" name="Line 13"/>
            <p:cNvSpPr/>
            <p:nvPr/>
          </p:nvSpPr>
          <p:spPr>
            <a:xfrm>
              <a:off x="1372239" y="5613671"/>
              <a:ext cx="43180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6534" name="Freeform 19"/>
            <p:cNvSpPr/>
            <p:nvPr/>
          </p:nvSpPr>
          <p:spPr>
            <a:xfrm>
              <a:off x="2647938" y="5157316"/>
              <a:ext cx="382588" cy="300037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35" name="Rectangle 31"/>
            <p:cNvSpPr/>
            <p:nvPr/>
          </p:nvSpPr>
          <p:spPr>
            <a:xfrm>
              <a:off x="2239588" y="5283791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1175657" y="5807411"/>
              <a:ext cx="1626187" cy="332458"/>
            </a:xfrm>
            <a:custGeom>
              <a:avLst/>
              <a:gdLst>
                <a:gd name="connsiteX0" fmla="*/ 0 w 1625600"/>
                <a:gd name="connsiteY0" fmla="*/ 0 h 334293"/>
                <a:gd name="connsiteX1" fmla="*/ 885372 w 1625600"/>
                <a:gd name="connsiteY1" fmla="*/ 333828 h 334293"/>
                <a:gd name="connsiteX2" fmla="*/ 1625600 w 1625600"/>
                <a:gd name="connsiteY2" fmla="*/ 58057 h 33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5600" h="334293">
                  <a:moveTo>
                    <a:pt x="0" y="0"/>
                  </a:moveTo>
                  <a:cubicBezTo>
                    <a:pt x="307219" y="162076"/>
                    <a:pt x="614439" y="324152"/>
                    <a:pt x="885372" y="333828"/>
                  </a:cubicBezTo>
                  <a:cubicBezTo>
                    <a:pt x="1156305" y="343504"/>
                    <a:pt x="1390952" y="200780"/>
                    <a:pt x="1625600" y="58057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" name="组合 21511"/>
          <p:cNvGrpSpPr/>
          <p:nvPr/>
        </p:nvGrpSpPr>
        <p:grpSpPr>
          <a:xfrm>
            <a:off x="5194300" y="3308350"/>
            <a:ext cx="2714625" cy="1190625"/>
            <a:chOff x="3055077" y="4746748"/>
            <a:chExt cx="2712592" cy="1588857"/>
          </a:xfrm>
        </p:grpSpPr>
        <p:sp>
          <p:nvSpPr>
            <p:cNvPr id="106510" name="Line 27"/>
            <p:cNvSpPr/>
            <p:nvPr/>
          </p:nvSpPr>
          <p:spPr>
            <a:xfrm>
              <a:off x="3223055" y="5640724"/>
              <a:ext cx="38798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6511" name="Rectangle 44"/>
            <p:cNvSpPr/>
            <p:nvPr/>
          </p:nvSpPr>
          <p:spPr>
            <a:xfrm>
              <a:off x="3903754" y="4865383"/>
              <a:ext cx="793156" cy="290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+</a:t>
              </a:r>
            </a:p>
          </p:txBody>
        </p:sp>
        <p:sp>
          <p:nvSpPr>
            <p:cNvPr id="101392" name="Oval 15"/>
            <p:cNvSpPr>
              <a:spLocks noChangeArrowheads="1"/>
            </p:cNvSpPr>
            <p:nvPr/>
          </p:nvSpPr>
          <p:spPr bwMode="auto">
            <a:xfrm>
              <a:off x="3580146" y="5460675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6513" name="Line 16"/>
            <p:cNvSpPr/>
            <p:nvPr/>
          </p:nvSpPr>
          <p:spPr>
            <a:xfrm flipV="1">
              <a:off x="3954016" y="5641065"/>
              <a:ext cx="43338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6514" name="Oval 39"/>
            <p:cNvSpPr/>
            <p:nvPr/>
          </p:nvSpPr>
          <p:spPr>
            <a:xfrm>
              <a:off x="5142175" y="5356126"/>
              <a:ext cx="503238" cy="5032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06515" name="Rectangle 20"/>
            <p:cNvSpPr/>
            <p:nvPr/>
          </p:nvSpPr>
          <p:spPr>
            <a:xfrm>
              <a:off x="3252677" y="5289235"/>
              <a:ext cx="398463" cy="2607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E</a:t>
              </a:r>
            </a:p>
          </p:txBody>
        </p:sp>
        <p:sp>
          <p:nvSpPr>
            <p:cNvPr id="21504" name="任意多边形 21503"/>
            <p:cNvSpPr/>
            <p:nvPr/>
          </p:nvSpPr>
          <p:spPr>
            <a:xfrm>
              <a:off x="3759399" y="5166206"/>
              <a:ext cx="842332" cy="275402"/>
            </a:xfrm>
            <a:custGeom>
              <a:avLst/>
              <a:gdLst>
                <a:gd name="connsiteX0" fmla="*/ 0 w 841829"/>
                <a:gd name="connsiteY0" fmla="*/ 275906 h 275906"/>
                <a:gd name="connsiteX1" fmla="*/ 333829 w 841829"/>
                <a:gd name="connsiteY1" fmla="*/ 135 h 275906"/>
                <a:gd name="connsiteX2" fmla="*/ 841829 w 841829"/>
                <a:gd name="connsiteY2" fmla="*/ 246878 h 275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829" h="275906">
                  <a:moveTo>
                    <a:pt x="0" y="275906"/>
                  </a:moveTo>
                  <a:cubicBezTo>
                    <a:pt x="96762" y="140439"/>
                    <a:pt x="193524" y="4973"/>
                    <a:pt x="333829" y="135"/>
                  </a:cubicBezTo>
                  <a:cubicBezTo>
                    <a:pt x="474134" y="-4703"/>
                    <a:pt x="657981" y="121087"/>
                    <a:pt x="841829" y="246878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505" name="任意多边形 21504"/>
            <p:cNvSpPr/>
            <p:nvPr/>
          </p:nvSpPr>
          <p:spPr>
            <a:xfrm>
              <a:off x="3762572" y="5837764"/>
              <a:ext cx="856608" cy="165241"/>
            </a:xfrm>
            <a:custGeom>
              <a:avLst/>
              <a:gdLst>
                <a:gd name="connsiteX0" fmla="*/ 0 w 856343"/>
                <a:gd name="connsiteY0" fmla="*/ 29029 h 333939"/>
                <a:gd name="connsiteX1" fmla="*/ 420915 w 856343"/>
                <a:gd name="connsiteY1" fmla="*/ 333829 h 333939"/>
                <a:gd name="connsiteX2" fmla="*/ 856343 w 856343"/>
                <a:gd name="connsiteY2" fmla="*/ 0 h 33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6343" h="333939">
                  <a:moveTo>
                    <a:pt x="0" y="29029"/>
                  </a:moveTo>
                  <a:cubicBezTo>
                    <a:pt x="139095" y="183848"/>
                    <a:pt x="278191" y="338667"/>
                    <a:pt x="420915" y="333829"/>
                  </a:cubicBezTo>
                  <a:cubicBezTo>
                    <a:pt x="563639" y="328991"/>
                    <a:pt x="709991" y="164495"/>
                    <a:pt x="856343" y="0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6518" name="Rectangle 9"/>
            <p:cNvSpPr/>
            <p:nvPr/>
          </p:nvSpPr>
          <p:spPr>
            <a:xfrm>
              <a:off x="4002599" y="5666198"/>
              <a:ext cx="421252" cy="287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106519" name="Rectangle 9"/>
            <p:cNvSpPr/>
            <p:nvPr/>
          </p:nvSpPr>
          <p:spPr>
            <a:xfrm>
              <a:off x="3958646" y="5285245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b="1" i="1" dirty="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101400" name="Oval 7"/>
            <p:cNvSpPr>
              <a:spLocks noChangeArrowheads="1"/>
            </p:cNvSpPr>
            <p:nvPr/>
          </p:nvSpPr>
          <p:spPr bwMode="auto">
            <a:xfrm>
              <a:off x="4424064" y="5439490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06521" name="Rectangle 31"/>
            <p:cNvSpPr/>
            <p:nvPr/>
          </p:nvSpPr>
          <p:spPr>
            <a:xfrm>
              <a:off x="4767947" y="5288860"/>
              <a:ext cx="504825" cy="287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101402" name="Oval 29"/>
            <p:cNvSpPr>
              <a:spLocks noChangeArrowheads="1"/>
            </p:cNvSpPr>
            <p:nvPr/>
          </p:nvSpPr>
          <p:spPr bwMode="auto">
            <a:xfrm>
              <a:off x="5214047" y="5435253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6523" name="Line 27"/>
            <p:cNvSpPr/>
            <p:nvPr/>
          </p:nvSpPr>
          <p:spPr>
            <a:xfrm flipV="1">
              <a:off x="4806054" y="5607130"/>
              <a:ext cx="336122" cy="1686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6524" name="Freeform 19"/>
            <p:cNvSpPr/>
            <p:nvPr/>
          </p:nvSpPr>
          <p:spPr>
            <a:xfrm>
              <a:off x="5224816" y="5057140"/>
              <a:ext cx="382588" cy="300037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25" name="Rectangle 20"/>
            <p:cNvSpPr/>
            <p:nvPr/>
          </p:nvSpPr>
          <p:spPr>
            <a:xfrm>
              <a:off x="5262844" y="4746748"/>
              <a:ext cx="504825" cy="287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21509" name="任意多边形 21508"/>
            <p:cNvSpPr/>
            <p:nvPr/>
          </p:nvSpPr>
          <p:spPr>
            <a:xfrm>
              <a:off x="3055077" y="5854712"/>
              <a:ext cx="2355672" cy="480893"/>
            </a:xfrm>
            <a:custGeom>
              <a:avLst/>
              <a:gdLst>
                <a:gd name="connsiteX0" fmla="*/ 0 w 2743200"/>
                <a:gd name="connsiteY0" fmla="*/ 0 h 756045"/>
                <a:gd name="connsiteX1" fmla="*/ 1538515 w 2743200"/>
                <a:gd name="connsiteY1" fmla="*/ 754743 h 756045"/>
                <a:gd name="connsiteX2" fmla="*/ 2743200 w 2743200"/>
                <a:gd name="connsiteY2" fmla="*/ 145143 h 75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3200" h="756045">
                  <a:moveTo>
                    <a:pt x="0" y="0"/>
                  </a:moveTo>
                  <a:cubicBezTo>
                    <a:pt x="540657" y="365276"/>
                    <a:pt x="1081315" y="730553"/>
                    <a:pt x="1538515" y="754743"/>
                  </a:cubicBezTo>
                  <a:cubicBezTo>
                    <a:pt x="1995715" y="778933"/>
                    <a:pt x="2369457" y="462038"/>
                    <a:pt x="2743200" y="145143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6527" name="Rectangle 9"/>
            <p:cNvSpPr/>
            <p:nvPr/>
          </p:nvSpPr>
          <p:spPr>
            <a:xfrm>
              <a:off x="4590766" y="5965909"/>
              <a:ext cx="421252" cy="287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ε</a:t>
              </a:r>
            </a:p>
          </p:txBody>
        </p:sp>
      </p:grpSp>
      <p:sp>
        <p:nvSpPr>
          <p:cNvPr id="42" name="矩形 41"/>
          <p:cNvSpPr/>
          <p:nvPr/>
        </p:nvSpPr>
        <p:spPr>
          <a:xfrm>
            <a:off x="850900" y="3727450"/>
            <a:ext cx="935038" cy="34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NFA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44" name="Rectangle 22"/>
          <p:cNvSpPr/>
          <p:nvPr/>
        </p:nvSpPr>
        <p:spPr>
          <a:xfrm>
            <a:off x="1760538" y="3781425"/>
            <a:ext cx="504825" cy="215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start</a:t>
            </a:r>
          </a:p>
        </p:txBody>
      </p:sp>
      <p:sp>
        <p:nvSpPr>
          <p:cNvPr id="45" name="Line 27"/>
          <p:cNvSpPr/>
          <p:nvPr/>
        </p:nvSpPr>
        <p:spPr>
          <a:xfrm>
            <a:off x="2286000" y="3933825"/>
            <a:ext cx="33178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grpSp>
        <p:nvGrpSpPr>
          <p:cNvPr id="106507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7" name="五边形 4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6509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42" grpId="0"/>
      <p:bldP spid="4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21509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kern="1200" dirty="0">
                <a:latin typeface="Times New Roman" panose="02020603050405020304" pitchFamily="18" charset="0"/>
                <a:ea typeface="黑体" pitchFamily="49" charset="-122"/>
                <a:cs typeface="+mj-cs"/>
              </a:rPr>
              <a:t>…</a:t>
            </a:r>
            <a:endParaRPr lang="zh-CN" altLang="en-US" sz="3600" kern="1200" dirty="0">
              <a:latin typeface="Times New Roman" panose="02020603050405020304" pitchFamily="18" charset="0"/>
              <a:ea typeface="黑体" pitchFamily="49" charset="-122"/>
              <a:cs typeface="+mj-cs"/>
            </a:endParaRPr>
          </a:p>
        </p:txBody>
      </p:sp>
      <p:grpSp>
        <p:nvGrpSpPr>
          <p:cNvPr id="2" name="组合 4"/>
          <p:cNvGrpSpPr/>
          <p:nvPr/>
        </p:nvGrpSpPr>
        <p:grpSpPr>
          <a:xfrm>
            <a:off x="3502025" y="1803400"/>
            <a:ext cx="504825" cy="457200"/>
            <a:chOff x="1877756" y="2136724"/>
            <a:chExt cx="504714" cy="457651"/>
          </a:xfrm>
        </p:grpSpPr>
        <p:sp>
          <p:nvSpPr>
            <p:cNvPr id="108637" name="Freeform 19"/>
            <p:cNvSpPr/>
            <p:nvPr/>
          </p:nvSpPr>
          <p:spPr>
            <a:xfrm>
              <a:off x="1878313" y="2369640"/>
              <a:ext cx="382503" cy="224735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38" name="Rectangle 20"/>
            <p:cNvSpPr/>
            <p:nvPr/>
          </p:nvSpPr>
          <p:spPr>
            <a:xfrm>
              <a:off x="1877756" y="2136724"/>
              <a:ext cx="504714" cy="2152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</p:grpSp>
      <p:grpSp>
        <p:nvGrpSpPr>
          <p:cNvPr id="3" name="组合 9"/>
          <p:cNvGrpSpPr/>
          <p:nvPr/>
        </p:nvGrpSpPr>
        <p:grpSpPr>
          <a:xfrm>
            <a:off x="5216525" y="1855788"/>
            <a:ext cx="503238" cy="457200"/>
            <a:chOff x="3591579" y="2188879"/>
            <a:chExt cx="504714" cy="457651"/>
          </a:xfrm>
        </p:grpSpPr>
        <p:sp>
          <p:nvSpPr>
            <p:cNvPr id="108635" name="Rectangle 20"/>
            <p:cNvSpPr/>
            <p:nvPr/>
          </p:nvSpPr>
          <p:spPr>
            <a:xfrm>
              <a:off x="3591579" y="2188879"/>
              <a:ext cx="504714" cy="2152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108636" name="Freeform 19"/>
            <p:cNvSpPr/>
            <p:nvPr/>
          </p:nvSpPr>
          <p:spPr>
            <a:xfrm>
              <a:off x="3592002" y="2421795"/>
              <a:ext cx="382503" cy="224735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11"/>
          <p:cNvGrpSpPr/>
          <p:nvPr/>
        </p:nvGrpSpPr>
        <p:grpSpPr>
          <a:xfrm>
            <a:off x="6602413" y="1928813"/>
            <a:ext cx="938212" cy="704850"/>
            <a:chOff x="4978871" y="2261685"/>
            <a:chExt cx="937895" cy="704774"/>
          </a:xfrm>
        </p:grpSpPr>
        <p:sp>
          <p:nvSpPr>
            <p:cNvPr id="108630" name="Rectangle 44"/>
            <p:cNvSpPr/>
            <p:nvPr/>
          </p:nvSpPr>
          <p:spPr>
            <a:xfrm>
              <a:off x="5124778" y="2261685"/>
              <a:ext cx="791988" cy="2164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b="1" dirty="0">
                  <a:latin typeface="楷体_GB2312"/>
                  <a:ea typeface="楷体_GB2312"/>
                </a:rPr>
                <a:t>+</a:t>
              </a:r>
            </a:p>
          </p:txBody>
        </p:sp>
        <p:sp>
          <p:nvSpPr>
            <p:cNvPr id="108631" name="Line 16"/>
            <p:cNvSpPr/>
            <p:nvPr/>
          </p:nvSpPr>
          <p:spPr>
            <a:xfrm flipV="1">
              <a:off x="5065194" y="2842104"/>
              <a:ext cx="433293" cy="23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68" name="任意多边形 67"/>
            <p:cNvSpPr/>
            <p:nvPr/>
          </p:nvSpPr>
          <p:spPr bwMode="auto">
            <a:xfrm>
              <a:off x="4978871" y="2487086"/>
              <a:ext cx="744285" cy="241274"/>
            </a:xfrm>
            <a:custGeom>
              <a:avLst/>
              <a:gdLst>
                <a:gd name="connsiteX0" fmla="*/ 0 w 841829"/>
                <a:gd name="connsiteY0" fmla="*/ 275906 h 275906"/>
                <a:gd name="connsiteX1" fmla="*/ 333829 w 841829"/>
                <a:gd name="connsiteY1" fmla="*/ 135 h 275906"/>
                <a:gd name="connsiteX2" fmla="*/ 841829 w 841829"/>
                <a:gd name="connsiteY2" fmla="*/ 246878 h 275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829" h="275906">
                  <a:moveTo>
                    <a:pt x="0" y="275906"/>
                  </a:moveTo>
                  <a:cubicBezTo>
                    <a:pt x="96762" y="140439"/>
                    <a:pt x="193524" y="4973"/>
                    <a:pt x="333829" y="135"/>
                  </a:cubicBezTo>
                  <a:cubicBezTo>
                    <a:pt x="474134" y="-4703"/>
                    <a:pt x="657981" y="121087"/>
                    <a:pt x="841829" y="246878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8633" name="Rectangle 9"/>
            <p:cNvSpPr/>
            <p:nvPr/>
          </p:nvSpPr>
          <p:spPr>
            <a:xfrm>
              <a:off x="5160917" y="2571751"/>
              <a:ext cx="504713" cy="2152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b="1" i="1" dirty="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103510" name="Oval 7"/>
            <p:cNvSpPr>
              <a:spLocks noChangeArrowheads="1"/>
            </p:cNvSpPr>
            <p:nvPr/>
          </p:nvSpPr>
          <p:spPr bwMode="auto">
            <a:xfrm>
              <a:off x="5507329" y="2696613"/>
              <a:ext cx="360241" cy="2698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5" name="组合 12"/>
          <p:cNvGrpSpPr/>
          <p:nvPr/>
        </p:nvGrpSpPr>
        <p:grpSpPr>
          <a:xfrm>
            <a:off x="6551613" y="2320925"/>
            <a:ext cx="1878012" cy="630238"/>
            <a:chOff x="4926982" y="2654838"/>
            <a:chExt cx="1878091" cy="629840"/>
          </a:xfrm>
        </p:grpSpPr>
        <p:sp>
          <p:nvSpPr>
            <p:cNvPr id="108626" name="Oval 39"/>
            <p:cNvSpPr/>
            <p:nvPr/>
          </p:nvSpPr>
          <p:spPr>
            <a:xfrm>
              <a:off x="6301946" y="2654838"/>
              <a:ext cx="503127" cy="37693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69" name="任意多边形 68"/>
            <p:cNvSpPr/>
            <p:nvPr/>
          </p:nvSpPr>
          <p:spPr bwMode="auto">
            <a:xfrm>
              <a:off x="4926982" y="2983243"/>
              <a:ext cx="1439923" cy="80911"/>
            </a:xfrm>
            <a:custGeom>
              <a:avLst/>
              <a:gdLst>
                <a:gd name="connsiteX0" fmla="*/ 0 w 856343"/>
                <a:gd name="connsiteY0" fmla="*/ 29029 h 333939"/>
                <a:gd name="connsiteX1" fmla="*/ 420915 w 856343"/>
                <a:gd name="connsiteY1" fmla="*/ 333829 h 333939"/>
                <a:gd name="connsiteX2" fmla="*/ 856343 w 856343"/>
                <a:gd name="connsiteY2" fmla="*/ 0 h 33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6343" h="333939">
                  <a:moveTo>
                    <a:pt x="0" y="29029"/>
                  </a:moveTo>
                  <a:cubicBezTo>
                    <a:pt x="139095" y="183848"/>
                    <a:pt x="278191" y="338667"/>
                    <a:pt x="420915" y="333829"/>
                  </a:cubicBezTo>
                  <a:cubicBezTo>
                    <a:pt x="563639" y="328991"/>
                    <a:pt x="709991" y="164495"/>
                    <a:pt x="856343" y="0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8628" name="Rectangle 9"/>
            <p:cNvSpPr/>
            <p:nvPr/>
          </p:nvSpPr>
          <p:spPr>
            <a:xfrm>
              <a:off x="5455499" y="3069456"/>
              <a:ext cx="421159" cy="2152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3505" name="Oval 29"/>
            <p:cNvSpPr>
              <a:spLocks noChangeArrowheads="1"/>
            </p:cNvSpPr>
            <p:nvPr/>
          </p:nvSpPr>
          <p:spPr bwMode="auto">
            <a:xfrm>
              <a:off x="6373255" y="2713539"/>
              <a:ext cx="360378" cy="27129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6" name="组合 14"/>
          <p:cNvGrpSpPr/>
          <p:nvPr/>
        </p:nvGrpSpPr>
        <p:grpSpPr>
          <a:xfrm>
            <a:off x="8001000" y="1870075"/>
            <a:ext cx="625475" cy="455613"/>
            <a:chOff x="6377115" y="2203660"/>
            <a:chExt cx="624528" cy="455442"/>
          </a:xfrm>
        </p:grpSpPr>
        <p:sp>
          <p:nvSpPr>
            <p:cNvPr id="108624" name="Freeform 19"/>
            <p:cNvSpPr/>
            <p:nvPr/>
          </p:nvSpPr>
          <p:spPr>
            <a:xfrm>
              <a:off x="6377115" y="2434367"/>
              <a:ext cx="382503" cy="224735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25" name="Rectangle 20"/>
            <p:cNvSpPr/>
            <p:nvPr/>
          </p:nvSpPr>
          <p:spPr>
            <a:xfrm>
              <a:off x="6496929" y="2203660"/>
              <a:ext cx="504714" cy="215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</p:grpSp>
      <p:grpSp>
        <p:nvGrpSpPr>
          <p:cNvPr id="7" name="组合 7"/>
          <p:cNvGrpSpPr/>
          <p:nvPr/>
        </p:nvGrpSpPr>
        <p:grpSpPr>
          <a:xfrm>
            <a:off x="4648200" y="2214563"/>
            <a:ext cx="1066800" cy="469900"/>
            <a:chOff x="3024766" y="2548586"/>
            <a:chExt cx="1066163" cy="469256"/>
          </a:xfrm>
        </p:grpSpPr>
        <p:sp>
          <p:nvSpPr>
            <p:cNvPr id="103496" name="Oval 10"/>
            <p:cNvSpPr>
              <a:spLocks noChangeArrowheads="1"/>
            </p:cNvSpPr>
            <p:nvPr/>
          </p:nvSpPr>
          <p:spPr bwMode="auto">
            <a:xfrm>
              <a:off x="3572127" y="2676997"/>
              <a:ext cx="441061" cy="27109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   </a:t>
              </a:r>
              <a:r>
                <a:rPr kumimoji="0" lang="zh-CN" altLang="en-US" sz="1500" b="1" i="0" u="none" strike="noStrike" kern="1200" cap="none" spc="-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8621" name="Line 13"/>
            <p:cNvSpPr/>
            <p:nvPr/>
          </p:nvSpPr>
          <p:spPr>
            <a:xfrm>
              <a:off x="3024766" y="2822489"/>
              <a:ext cx="431705" cy="23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8622" name="Rectangle 31"/>
            <p:cNvSpPr/>
            <p:nvPr/>
          </p:nvSpPr>
          <p:spPr>
            <a:xfrm>
              <a:off x="3059183" y="2548586"/>
              <a:ext cx="504714" cy="2152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79" name="椭圆 78"/>
            <p:cNvSpPr/>
            <p:nvPr/>
          </p:nvSpPr>
          <p:spPr bwMode="auto">
            <a:xfrm>
              <a:off x="3494385" y="2627852"/>
              <a:ext cx="596544" cy="38999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组合 8"/>
          <p:cNvGrpSpPr/>
          <p:nvPr/>
        </p:nvGrpSpPr>
        <p:grpSpPr>
          <a:xfrm>
            <a:off x="3963988" y="1428750"/>
            <a:ext cx="2698750" cy="1204913"/>
            <a:chOff x="2339975" y="1762125"/>
            <a:chExt cx="2699073" cy="1204305"/>
          </a:xfrm>
        </p:grpSpPr>
        <p:sp>
          <p:nvSpPr>
            <p:cNvPr id="103493" name="Oval 15"/>
            <p:cNvSpPr>
              <a:spLocks noChangeArrowheads="1"/>
            </p:cNvSpPr>
            <p:nvPr/>
          </p:nvSpPr>
          <p:spPr bwMode="auto">
            <a:xfrm>
              <a:off x="4521461" y="2696691"/>
              <a:ext cx="517587" cy="26973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   </a:t>
              </a:r>
              <a:r>
                <a:rPr kumimoji="0" lang="zh-CN" altLang="en-US" sz="1500" b="1" i="0" u="none" strike="noStrike" kern="1200" cap="none" spc="-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0" name="任意多边形 79"/>
            <p:cNvSpPr/>
            <p:nvPr/>
          </p:nvSpPr>
          <p:spPr bwMode="auto">
            <a:xfrm>
              <a:off x="2339975" y="2101679"/>
              <a:ext cx="2322790" cy="564865"/>
            </a:xfrm>
            <a:custGeom>
              <a:avLst/>
              <a:gdLst>
                <a:gd name="connsiteX0" fmla="*/ 0 w 2801257"/>
                <a:gd name="connsiteY0" fmla="*/ 740937 h 857051"/>
                <a:gd name="connsiteX1" fmla="*/ 1320800 w 2801257"/>
                <a:gd name="connsiteY1" fmla="*/ 709 h 857051"/>
                <a:gd name="connsiteX2" fmla="*/ 2801257 w 2801257"/>
                <a:gd name="connsiteY2" fmla="*/ 857051 h 85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01257" h="857051">
                  <a:moveTo>
                    <a:pt x="0" y="740937"/>
                  </a:moveTo>
                  <a:cubicBezTo>
                    <a:pt x="426962" y="361147"/>
                    <a:pt x="853924" y="-18643"/>
                    <a:pt x="1320800" y="709"/>
                  </a:cubicBezTo>
                  <a:cubicBezTo>
                    <a:pt x="1787676" y="20061"/>
                    <a:pt x="2294466" y="438556"/>
                    <a:pt x="2801257" y="85705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8619" name="Rectangle 20"/>
            <p:cNvSpPr/>
            <p:nvPr/>
          </p:nvSpPr>
          <p:spPr>
            <a:xfrm>
              <a:off x="3184239" y="1762125"/>
              <a:ext cx="398376" cy="1953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E</a:t>
              </a:r>
            </a:p>
          </p:txBody>
        </p:sp>
      </p:grpSp>
      <p:grpSp>
        <p:nvGrpSpPr>
          <p:cNvPr id="9" name="组合 2"/>
          <p:cNvGrpSpPr/>
          <p:nvPr/>
        </p:nvGrpSpPr>
        <p:grpSpPr>
          <a:xfrm>
            <a:off x="857250" y="2216150"/>
            <a:ext cx="3178175" cy="454025"/>
            <a:chOff x="-766816" y="2548336"/>
            <a:chExt cx="3178229" cy="455214"/>
          </a:xfrm>
        </p:grpSpPr>
        <p:sp>
          <p:nvSpPr>
            <p:cNvPr id="103485" name="Oval 7"/>
            <p:cNvSpPr>
              <a:spLocks noChangeArrowheads="1"/>
            </p:cNvSpPr>
            <p:nvPr/>
          </p:nvSpPr>
          <p:spPr bwMode="auto">
            <a:xfrm>
              <a:off x="971527" y="2666119"/>
              <a:ext cx="360368" cy="2705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8610" name="Rectangle 31"/>
            <p:cNvSpPr/>
            <p:nvPr/>
          </p:nvSpPr>
          <p:spPr>
            <a:xfrm>
              <a:off x="1278089" y="2548336"/>
              <a:ext cx="504714" cy="2152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103487" name="Oval 29"/>
            <p:cNvSpPr>
              <a:spLocks noChangeArrowheads="1"/>
            </p:cNvSpPr>
            <p:nvPr/>
          </p:nvSpPr>
          <p:spPr bwMode="auto">
            <a:xfrm>
              <a:off x="1714489" y="2672485"/>
              <a:ext cx="625486" cy="2721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1500" b="1" i="0" u="none" strike="noStrike" kern="1200" cap="none" spc="-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  </a:t>
              </a:r>
              <a:r>
                <a:rPr kumimoji="0" lang="zh-CN" altLang="en-US" sz="1500" b="1" i="0" u="none" strike="noStrike" kern="1200" cap="none" spc="-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1500" b="1" i="0" u="none" strike="noStrike" kern="1200" cap="none" spc="-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78" name="椭圆 77"/>
            <p:cNvSpPr/>
            <p:nvPr/>
          </p:nvSpPr>
          <p:spPr bwMode="auto">
            <a:xfrm>
              <a:off x="1614474" y="2612002"/>
              <a:ext cx="796939" cy="3915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矩形 81"/>
            <p:cNvSpPr/>
            <p:nvPr/>
          </p:nvSpPr>
          <p:spPr bwMode="auto">
            <a:xfrm>
              <a:off x="-766816" y="2615186"/>
              <a:ext cx="935054" cy="3613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5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DFA</a:t>
              </a:r>
              <a:r>
                <a:rPr kumimoji="0" lang="zh-CN" altLang="en-US" sz="25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rPr>
                <a:t>：</a:t>
              </a:r>
            </a:p>
          </p:txBody>
        </p:sp>
        <p:sp>
          <p:nvSpPr>
            <p:cNvPr id="108614" name="Line 21"/>
            <p:cNvSpPr/>
            <p:nvPr/>
          </p:nvSpPr>
          <p:spPr>
            <a:xfrm flipV="1">
              <a:off x="693116" y="2795589"/>
              <a:ext cx="278887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8615" name="Rectangle 22"/>
            <p:cNvSpPr/>
            <p:nvPr/>
          </p:nvSpPr>
          <p:spPr>
            <a:xfrm>
              <a:off x="19002" y="2689587"/>
              <a:ext cx="648778" cy="2154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cxnSp>
          <p:nvCxnSpPr>
            <p:cNvPr id="91" name="直接箭头连接符 90"/>
            <p:cNvCxnSpPr/>
            <p:nvPr/>
          </p:nvCxnSpPr>
          <p:spPr bwMode="auto">
            <a:xfrm>
              <a:off x="1331895" y="2812551"/>
              <a:ext cx="2873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6"/>
          <p:cNvGrpSpPr/>
          <p:nvPr/>
        </p:nvGrpSpPr>
        <p:grpSpPr>
          <a:xfrm>
            <a:off x="4035425" y="2166938"/>
            <a:ext cx="649288" cy="447675"/>
            <a:chOff x="2411209" y="2499742"/>
            <a:chExt cx="648708" cy="447061"/>
          </a:xfrm>
        </p:grpSpPr>
        <p:sp>
          <p:nvSpPr>
            <p:cNvPr id="108606" name="Rectangle 14"/>
            <p:cNvSpPr/>
            <p:nvPr/>
          </p:nvSpPr>
          <p:spPr>
            <a:xfrm>
              <a:off x="2411209" y="2499742"/>
              <a:ext cx="504714" cy="2152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dirty="0">
                  <a:latin typeface="楷体_GB2312"/>
                  <a:ea typeface="楷体_GB2312"/>
                </a:rPr>
                <a:t>.</a:t>
              </a:r>
            </a:p>
          </p:txBody>
        </p:sp>
        <p:sp>
          <p:nvSpPr>
            <p:cNvPr id="103483" name="Oval 15"/>
            <p:cNvSpPr>
              <a:spLocks noChangeArrowheads="1"/>
            </p:cNvSpPr>
            <p:nvPr/>
          </p:nvSpPr>
          <p:spPr bwMode="auto">
            <a:xfrm>
              <a:off x="2699876" y="2677298"/>
              <a:ext cx="360041" cy="26950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92" name="直接箭头连接符 91"/>
            <p:cNvCxnSpPr/>
            <p:nvPr/>
          </p:nvCxnSpPr>
          <p:spPr bwMode="auto">
            <a:xfrm>
              <a:off x="2411209" y="2805709"/>
              <a:ext cx="2886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5735638" y="2243138"/>
            <a:ext cx="430212" cy="254000"/>
            <a:chOff x="4110760" y="2576913"/>
            <a:chExt cx="431703" cy="253411"/>
          </a:xfrm>
        </p:grpSpPr>
        <p:sp>
          <p:nvSpPr>
            <p:cNvPr id="108604" name="Rectangle 20"/>
            <p:cNvSpPr/>
            <p:nvPr/>
          </p:nvSpPr>
          <p:spPr>
            <a:xfrm>
              <a:off x="4135943" y="2576913"/>
              <a:ext cx="398376" cy="1953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E</a:t>
              </a:r>
            </a:p>
          </p:txBody>
        </p:sp>
        <p:sp>
          <p:nvSpPr>
            <p:cNvPr id="108605" name="Line 13"/>
            <p:cNvSpPr/>
            <p:nvPr/>
          </p:nvSpPr>
          <p:spPr>
            <a:xfrm>
              <a:off x="4110760" y="2827946"/>
              <a:ext cx="431703" cy="23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2" name="组合 13"/>
          <p:cNvGrpSpPr/>
          <p:nvPr/>
        </p:nvGrpSpPr>
        <p:grpSpPr>
          <a:xfrm>
            <a:off x="7512050" y="2255838"/>
            <a:ext cx="542925" cy="261937"/>
            <a:chOff x="5886884" y="2588928"/>
            <a:chExt cx="544535" cy="262593"/>
          </a:xfrm>
        </p:grpSpPr>
        <p:sp>
          <p:nvSpPr>
            <p:cNvPr id="108602" name="Rectangle 31"/>
            <p:cNvSpPr/>
            <p:nvPr/>
          </p:nvSpPr>
          <p:spPr>
            <a:xfrm>
              <a:off x="5926705" y="2588928"/>
              <a:ext cx="504714" cy="2152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108603" name="Line 13"/>
            <p:cNvSpPr/>
            <p:nvPr/>
          </p:nvSpPr>
          <p:spPr>
            <a:xfrm>
              <a:off x="5886884" y="2849143"/>
              <a:ext cx="431705" cy="237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8558" name="组合 2"/>
          <p:cNvGrpSpPr/>
          <p:nvPr/>
        </p:nvGrpSpPr>
        <p:grpSpPr>
          <a:xfrm>
            <a:off x="2624138" y="3354388"/>
            <a:ext cx="1355725" cy="731837"/>
            <a:chOff x="245793" y="5141767"/>
            <a:chExt cx="1356754" cy="976968"/>
          </a:xfrm>
        </p:grpSpPr>
        <p:sp>
          <p:nvSpPr>
            <p:cNvPr id="103472" name="Oval 7"/>
            <p:cNvSpPr>
              <a:spLocks noChangeArrowheads="1"/>
            </p:cNvSpPr>
            <p:nvPr/>
          </p:nvSpPr>
          <p:spPr bwMode="auto">
            <a:xfrm>
              <a:off x="245793" y="5733034"/>
              <a:ext cx="360636" cy="36027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8597" name="Rectangle 31"/>
            <p:cNvSpPr/>
            <p:nvPr/>
          </p:nvSpPr>
          <p:spPr>
            <a:xfrm>
              <a:off x="668771" y="5589586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103474" name="Oval 29"/>
            <p:cNvSpPr>
              <a:spLocks noChangeArrowheads="1"/>
            </p:cNvSpPr>
            <p:nvPr/>
          </p:nvSpPr>
          <p:spPr bwMode="auto">
            <a:xfrm>
              <a:off x="1009960" y="5756346"/>
              <a:ext cx="360637" cy="36238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8599" name="Line 27"/>
            <p:cNvSpPr/>
            <p:nvPr/>
          </p:nvSpPr>
          <p:spPr>
            <a:xfrm>
              <a:off x="606155" y="5915987"/>
              <a:ext cx="40417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8600" name="Freeform 19"/>
            <p:cNvSpPr/>
            <p:nvPr/>
          </p:nvSpPr>
          <p:spPr>
            <a:xfrm>
              <a:off x="1042779" y="5456748"/>
              <a:ext cx="382588" cy="300036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01" name="Rectangle 20"/>
            <p:cNvSpPr/>
            <p:nvPr/>
          </p:nvSpPr>
          <p:spPr>
            <a:xfrm>
              <a:off x="1097721" y="5141767"/>
              <a:ext cx="504826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</p:grpSp>
      <p:sp>
        <p:nvSpPr>
          <p:cNvPr id="108559" name="Rectangle 20"/>
          <p:cNvSpPr/>
          <p:nvPr/>
        </p:nvSpPr>
        <p:spPr>
          <a:xfrm>
            <a:off x="5053013" y="3381375"/>
            <a:ext cx="504825" cy="215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</a:rPr>
              <a:t>d</a:t>
            </a:r>
          </a:p>
        </p:txBody>
      </p:sp>
      <p:grpSp>
        <p:nvGrpSpPr>
          <p:cNvPr id="108560" name="组合 21510"/>
          <p:cNvGrpSpPr/>
          <p:nvPr/>
        </p:nvGrpSpPr>
        <p:grpSpPr>
          <a:xfrm>
            <a:off x="3554413" y="3616325"/>
            <a:ext cx="1854200" cy="952500"/>
            <a:chOff x="1175657" y="5157316"/>
            <a:chExt cx="1854869" cy="1270543"/>
          </a:xfrm>
        </p:grpSpPr>
        <p:sp>
          <p:nvSpPr>
            <p:cNvPr id="108587" name="Rectangle 9"/>
            <p:cNvSpPr/>
            <p:nvPr/>
          </p:nvSpPr>
          <p:spPr>
            <a:xfrm>
              <a:off x="1677767" y="6140522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103464" name="Oval 10"/>
            <p:cNvSpPr>
              <a:spLocks noChangeArrowheads="1"/>
            </p:cNvSpPr>
            <p:nvPr/>
          </p:nvSpPr>
          <p:spPr bwMode="auto">
            <a:xfrm>
              <a:off x="2617627" y="5434719"/>
              <a:ext cx="358904" cy="36210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8589" name="Rectangle 14"/>
            <p:cNvSpPr/>
            <p:nvPr/>
          </p:nvSpPr>
          <p:spPr>
            <a:xfrm>
              <a:off x="1506652" y="5304068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dirty="0">
                  <a:latin typeface="楷体_GB2312"/>
                  <a:ea typeface="楷体_GB2312"/>
                </a:rPr>
                <a:t>.</a:t>
              </a:r>
            </a:p>
          </p:txBody>
        </p:sp>
        <p:sp>
          <p:nvSpPr>
            <p:cNvPr id="108590" name="Line 13"/>
            <p:cNvSpPr/>
            <p:nvPr/>
          </p:nvSpPr>
          <p:spPr>
            <a:xfrm>
              <a:off x="2188692" y="5622742"/>
              <a:ext cx="43180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3467" name="Oval 15"/>
            <p:cNvSpPr>
              <a:spLocks noChangeArrowheads="1"/>
            </p:cNvSpPr>
            <p:nvPr/>
          </p:nvSpPr>
          <p:spPr bwMode="auto">
            <a:xfrm>
              <a:off x="1814062" y="5428365"/>
              <a:ext cx="360492" cy="35998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8592" name="Line 13"/>
            <p:cNvSpPr/>
            <p:nvPr/>
          </p:nvSpPr>
          <p:spPr>
            <a:xfrm>
              <a:off x="1372239" y="5613671"/>
              <a:ext cx="43180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8593" name="Freeform 19"/>
            <p:cNvSpPr/>
            <p:nvPr/>
          </p:nvSpPr>
          <p:spPr>
            <a:xfrm>
              <a:off x="2647938" y="5157316"/>
              <a:ext cx="382588" cy="300037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94" name="Rectangle 31"/>
            <p:cNvSpPr/>
            <p:nvPr/>
          </p:nvSpPr>
          <p:spPr>
            <a:xfrm>
              <a:off x="2239588" y="5283790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150" name="任意多边形 149"/>
            <p:cNvSpPr/>
            <p:nvPr/>
          </p:nvSpPr>
          <p:spPr>
            <a:xfrm>
              <a:off x="1175657" y="5807411"/>
              <a:ext cx="1626187" cy="332458"/>
            </a:xfrm>
            <a:custGeom>
              <a:avLst/>
              <a:gdLst>
                <a:gd name="connsiteX0" fmla="*/ 0 w 1625600"/>
                <a:gd name="connsiteY0" fmla="*/ 0 h 334293"/>
                <a:gd name="connsiteX1" fmla="*/ 885372 w 1625600"/>
                <a:gd name="connsiteY1" fmla="*/ 333828 h 334293"/>
                <a:gd name="connsiteX2" fmla="*/ 1625600 w 1625600"/>
                <a:gd name="connsiteY2" fmla="*/ 58057 h 33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5600" h="334293">
                  <a:moveTo>
                    <a:pt x="0" y="0"/>
                  </a:moveTo>
                  <a:cubicBezTo>
                    <a:pt x="307219" y="162076"/>
                    <a:pt x="614439" y="324152"/>
                    <a:pt x="885372" y="333828"/>
                  </a:cubicBezTo>
                  <a:cubicBezTo>
                    <a:pt x="1156305" y="343504"/>
                    <a:pt x="1390952" y="200780"/>
                    <a:pt x="1625600" y="58057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8561" name="组合 21511"/>
          <p:cNvGrpSpPr/>
          <p:nvPr/>
        </p:nvGrpSpPr>
        <p:grpSpPr>
          <a:xfrm>
            <a:off x="5194300" y="3308350"/>
            <a:ext cx="2714625" cy="1190625"/>
            <a:chOff x="3055077" y="4746748"/>
            <a:chExt cx="2712592" cy="1588857"/>
          </a:xfrm>
        </p:grpSpPr>
        <p:sp>
          <p:nvSpPr>
            <p:cNvPr id="108569" name="Line 27"/>
            <p:cNvSpPr/>
            <p:nvPr/>
          </p:nvSpPr>
          <p:spPr>
            <a:xfrm>
              <a:off x="3223055" y="5640724"/>
              <a:ext cx="387986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8570" name="Rectangle 44"/>
            <p:cNvSpPr/>
            <p:nvPr/>
          </p:nvSpPr>
          <p:spPr>
            <a:xfrm>
              <a:off x="3903754" y="4865383"/>
              <a:ext cx="793156" cy="290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+</a:t>
              </a:r>
            </a:p>
          </p:txBody>
        </p:sp>
        <p:sp>
          <p:nvSpPr>
            <p:cNvPr id="103447" name="Oval 15"/>
            <p:cNvSpPr>
              <a:spLocks noChangeArrowheads="1"/>
            </p:cNvSpPr>
            <p:nvPr/>
          </p:nvSpPr>
          <p:spPr bwMode="auto">
            <a:xfrm>
              <a:off x="3580146" y="5460675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8572" name="Line 16"/>
            <p:cNvSpPr/>
            <p:nvPr/>
          </p:nvSpPr>
          <p:spPr>
            <a:xfrm flipV="1">
              <a:off x="3954016" y="5641065"/>
              <a:ext cx="43338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8573" name="Oval 39"/>
            <p:cNvSpPr/>
            <p:nvPr/>
          </p:nvSpPr>
          <p:spPr>
            <a:xfrm>
              <a:off x="5142175" y="5356126"/>
              <a:ext cx="503238" cy="5032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08574" name="Rectangle 20"/>
            <p:cNvSpPr/>
            <p:nvPr/>
          </p:nvSpPr>
          <p:spPr>
            <a:xfrm>
              <a:off x="3252677" y="5289235"/>
              <a:ext cx="398463" cy="2607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/>
                </a:rPr>
                <a:t>E</a:t>
              </a:r>
            </a:p>
          </p:txBody>
        </p:sp>
        <p:sp>
          <p:nvSpPr>
            <p:cNvPr id="158" name="任意多边形 157"/>
            <p:cNvSpPr/>
            <p:nvPr/>
          </p:nvSpPr>
          <p:spPr>
            <a:xfrm>
              <a:off x="3759399" y="5166206"/>
              <a:ext cx="842332" cy="275402"/>
            </a:xfrm>
            <a:custGeom>
              <a:avLst/>
              <a:gdLst>
                <a:gd name="connsiteX0" fmla="*/ 0 w 841829"/>
                <a:gd name="connsiteY0" fmla="*/ 275906 h 275906"/>
                <a:gd name="connsiteX1" fmla="*/ 333829 w 841829"/>
                <a:gd name="connsiteY1" fmla="*/ 135 h 275906"/>
                <a:gd name="connsiteX2" fmla="*/ 841829 w 841829"/>
                <a:gd name="connsiteY2" fmla="*/ 246878 h 275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829" h="275906">
                  <a:moveTo>
                    <a:pt x="0" y="275906"/>
                  </a:moveTo>
                  <a:cubicBezTo>
                    <a:pt x="96762" y="140439"/>
                    <a:pt x="193524" y="4973"/>
                    <a:pt x="333829" y="135"/>
                  </a:cubicBezTo>
                  <a:cubicBezTo>
                    <a:pt x="474134" y="-4703"/>
                    <a:pt x="657981" y="121087"/>
                    <a:pt x="841829" y="246878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9" name="任意多边形 158"/>
            <p:cNvSpPr/>
            <p:nvPr/>
          </p:nvSpPr>
          <p:spPr>
            <a:xfrm>
              <a:off x="3762572" y="5837764"/>
              <a:ext cx="856608" cy="165241"/>
            </a:xfrm>
            <a:custGeom>
              <a:avLst/>
              <a:gdLst>
                <a:gd name="connsiteX0" fmla="*/ 0 w 856343"/>
                <a:gd name="connsiteY0" fmla="*/ 29029 h 333939"/>
                <a:gd name="connsiteX1" fmla="*/ 420915 w 856343"/>
                <a:gd name="connsiteY1" fmla="*/ 333829 h 333939"/>
                <a:gd name="connsiteX2" fmla="*/ 856343 w 856343"/>
                <a:gd name="connsiteY2" fmla="*/ 0 h 33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6343" h="333939">
                  <a:moveTo>
                    <a:pt x="0" y="29029"/>
                  </a:moveTo>
                  <a:cubicBezTo>
                    <a:pt x="139095" y="183848"/>
                    <a:pt x="278191" y="338667"/>
                    <a:pt x="420915" y="333829"/>
                  </a:cubicBezTo>
                  <a:cubicBezTo>
                    <a:pt x="563639" y="328991"/>
                    <a:pt x="709991" y="164495"/>
                    <a:pt x="856343" y="0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8577" name="Rectangle 9"/>
            <p:cNvSpPr/>
            <p:nvPr/>
          </p:nvSpPr>
          <p:spPr>
            <a:xfrm>
              <a:off x="4002599" y="5666198"/>
              <a:ext cx="421252" cy="287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108578" name="Rectangle 9"/>
            <p:cNvSpPr/>
            <p:nvPr/>
          </p:nvSpPr>
          <p:spPr>
            <a:xfrm>
              <a:off x="3958646" y="5285245"/>
              <a:ext cx="504825" cy="2873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b="1" i="1" dirty="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103455" name="Oval 7"/>
            <p:cNvSpPr>
              <a:spLocks noChangeArrowheads="1"/>
            </p:cNvSpPr>
            <p:nvPr/>
          </p:nvSpPr>
          <p:spPr bwMode="auto">
            <a:xfrm>
              <a:off x="4424064" y="5439490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08580" name="Rectangle 31"/>
            <p:cNvSpPr/>
            <p:nvPr/>
          </p:nvSpPr>
          <p:spPr>
            <a:xfrm>
              <a:off x="4767947" y="5288860"/>
              <a:ext cx="504825" cy="287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103457" name="Oval 29"/>
            <p:cNvSpPr>
              <a:spLocks noChangeArrowheads="1"/>
            </p:cNvSpPr>
            <p:nvPr/>
          </p:nvSpPr>
          <p:spPr bwMode="auto">
            <a:xfrm>
              <a:off x="5214047" y="5435253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8582" name="Line 27"/>
            <p:cNvSpPr/>
            <p:nvPr/>
          </p:nvSpPr>
          <p:spPr>
            <a:xfrm flipV="1">
              <a:off x="4806054" y="5607130"/>
              <a:ext cx="336122" cy="1686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8583" name="Freeform 19"/>
            <p:cNvSpPr/>
            <p:nvPr/>
          </p:nvSpPr>
          <p:spPr>
            <a:xfrm>
              <a:off x="5224816" y="5057140"/>
              <a:ext cx="382588" cy="300037"/>
            </a:xfrm>
            <a:custGeom>
              <a:avLst/>
              <a:gdLst>
                <a:gd name="txL" fmla="*/ 0 w 241"/>
                <a:gd name="txT" fmla="*/ 0 h 189"/>
                <a:gd name="txR" fmla="*/ 241 w 241"/>
                <a:gd name="txB" fmla="*/ 189 h 189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84" name="Rectangle 20"/>
            <p:cNvSpPr/>
            <p:nvPr/>
          </p:nvSpPr>
          <p:spPr>
            <a:xfrm>
              <a:off x="5262844" y="4746748"/>
              <a:ext cx="504825" cy="287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d</a:t>
              </a:r>
            </a:p>
          </p:txBody>
        </p:sp>
        <p:sp>
          <p:nvSpPr>
            <p:cNvPr id="168" name="任意多边形 167"/>
            <p:cNvSpPr/>
            <p:nvPr/>
          </p:nvSpPr>
          <p:spPr>
            <a:xfrm>
              <a:off x="3055077" y="5854712"/>
              <a:ext cx="2355672" cy="480893"/>
            </a:xfrm>
            <a:custGeom>
              <a:avLst/>
              <a:gdLst>
                <a:gd name="connsiteX0" fmla="*/ 0 w 2743200"/>
                <a:gd name="connsiteY0" fmla="*/ 0 h 756045"/>
                <a:gd name="connsiteX1" fmla="*/ 1538515 w 2743200"/>
                <a:gd name="connsiteY1" fmla="*/ 754743 h 756045"/>
                <a:gd name="connsiteX2" fmla="*/ 2743200 w 2743200"/>
                <a:gd name="connsiteY2" fmla="*/ 145143 h 75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3200" h="756045">
                  <a:moveTo>
                    <a:pt x="0" y="0"/>
                  </a:moveTo>
                  <a:cubicBezTo>
                    <a:pt x="540657" y="365276"/>
                    <a:pt x="1081315" y="730553"/>
                    <a:pt x="1538515" y="754743"/>
                  </a:cubicBezTo>
                  <a:cubicBezTo>
                    <a:pt x="1995715" y="778933"/>
                    <a:pt x="2369457" y="462038"/>
                    <a:pt x="2743200" y="145143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8586" name="Rectangle 9"/>
            <p:cNvSpPr/>
            <p:nvPr/>
          </p:nvSpPr>
          <p:spPr>
            <a:xfrm>
              <a:off x="4590766" y="5965909"/>
              <a:ext cx="421252" cy="287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ε</a:t>
              </a:r>
            </a:p>
          </p:txBody>
        </p:sp>
      </p:grpSp>
      <p:sp>
        <p:nvSpPr>
          <p:cNvPr id="170" name="矩形 169"/>
          <p:cNvSpPr/>
          <p:nvPr/>
        </p:nvSpPr>
        <p:spPr>
          <a:xfrm>
            <a:off x="850900" y="3727450"/>
            <a:ext cx="935038" cy="34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NFA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08563" name="Rectangle 22"/>
          <p:cNvSpPr/>
          <p:nvPr/>
        </p:nvSpPr>
        <p:spPr>
          <a:xfrm>
            <a:off x="1760538" y="3781425"/>
            <a:ext cx="504825" cy="2159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rPr>
              <a:t>start</a:t>
            </a:r>
          </a:p>
        </p:txBody>
      </p:sp>
      <p:sp>
        <p:nvSpPr>
          <p:cNvPr id="108564" name="Line 27"/>
          <p:cNvSpPr/>
          <p:nvPr/>
        </p:nvSpPr>
        <p:spPr>
          <a:xfrm>
            <a:off x="2286000" y="3933825"/>
            <a:ext cx="33178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93" name="标题 5"/>
          <p:cNvSpPr txBox="1"/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识别</a:t>
            </a:r>
            <a:r>
              <a:rPr kumimoji="0" lang="zh-CN" altLang="en-US" sz="3000" b="1" i="0" u="none" strike="noStrike" kern="1200" cap="none" spc="30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无符号数的</a:t>
            </a:r>
            <a:r>
              <a:rPr kumimoji="0" lang="en-US" altLang="zh-CN" sz="3000" b="1" i="1" u="none" strike="noStrike" kern="1200" cap="none" spc="30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pSp>
        <p:nvGrpSpPr>
          <p:cNvPr id="108566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5" name="五边形 9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8568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识别各进制无符号整数的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10595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4" name="五边形 4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680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3" name="组合 1"/>
          <p:cNvGrpSpPr/>
          <p:nvPr/>
        </p:nvGrpSpPr>
        <p:grpSpPr>
          <a:xfrm>
            <a:off x="28575" y="865188"/>
            <a:ext cx="4183063" cy="1274762"/>
            <a:chOff x="28575" y="865188"/>
            <a:chExt cx="4183386" cy="1274514"/>
          </a:xfrm>
        </p:grpSpPr>
        <p:sp>
          <p:nvSpPr>
            <p:cNvPr id="110618" name="Oval 32"/>
            <p:cNvSpPr>
              <a:spLocks noChangeArrowheads="1"/>
            </p:cNvSpPr>
            <p:nvPr/>
          </p:nvSpPr>
          <p:spPr bwMode="auto">
            <a:xfrm>
              <a:off x="944634" y="1446100"/>
              <a:ext cx="381029" cy="28569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0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0666" name="AutoShape 33"/>
            <p:cNvCxnSpPr>
              <a:stCxn id="110618" idx="6"/>
            </p:cNvCxnSpPr>
            <p:nvPr/>
          </p:nvCxnSpPr>
          <p:spPr>
            <a:xfrm>
              <a:off x="1325055" y="1588971"/>
              <a:ext cx="1142836" cy="0"/>
            </a:xfrm>
            <a:prstGeom prst="straightConnector1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lg"/>
            </a:ln>
          </p:spPr>
        </p:cxnSp>
        <p:sp>
          <p:nvSpPr>
            <p:cNvPr id="110667" name="Text Box 35"/>
            <p:cNvSpPr txBox="1"/>
            <p:nvPr/>
          </p:nvSpPr>
          <p:spPr>
            <a:xfrm>
              <a:off x="1668872" y="1275496"/>
              <a:ext cx="526974" cy="3999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1-9</a:t>
              </a:r>
            </a:p>
          </p:txBody>
        </p:sp>
        <p:sp>
          <p:nvSpPr>
            <p:cNvPr id="110668" name="Text Box 36"/>
            <p:cNvSpPr txBox="1"/>
            <p:nvPr/>
          </p:nvSpPr>
          <p:spPr>
            <a:xfrm>
              <a:off x="3331026" y="1397599"/>
              <a:ext cx="880935" cy="39994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0-9</a:t>
              </a:r>
            </a:p>
          </p:txBody>
        </p:sp>
        <p:sp>
          <p:nvSpPr>
            <p:cNvPr id="110669" name="Line 39"/>
            <p:cNvSpPr/>
            <p:nvPr/>
          </p:nvSpPr>
          <p:spPr>
            <a:xfrm>
              <a:off x="1259877" y="1689899"/>
              <a:ext cx="353862" cy="1615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70" name="Text Box 41"/>
            <p:cNvSpPr txBox="1"/>
            <p:nvPr/>
          </p:nvSpPr>
          <p:spPr>
            <a:xfrm>
              <a:off x="1163177" y="1635441"/>
              <a:ext cx="312693" cy="3999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0671" name="矩形 3"/>
            <p:cNvSpPr/>
            <p:nvPr/>
          </p:nvSpPr>
          <p:spPr>
            <a:xfrm>
              <a:off x="28575" y="865188"/>
              <a:ext cx="2887248" cy="3999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</a:t>
              </a: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(1|...|9)(0|...|9)</a:t>
              </a:r>
              <a:r>
                <a:rPr lang="en-US" altLang="zh-CN" sz="2000" b="1" baseline="30000" dirty="0">
                  <a:latin typeface="Times New Roman" panose="02020603050405020304" pitchFamily="18" charset="0"/>
                  <a:ea typeface="楷体_GB2312"/>
                </a:rPr>
                <a:t>* 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|0</a:t>
              </a: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110672" name="Line 21"/>
            <p:cNvSpPr/>
            <p:nvPr/>
          </p:nvSpPr>
          <p:spPr>
            <a:xfrm flipV="1">
              <a:off x="645302" y="1565171"/>
              <a:ext cx="27884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10673" name="Rectangle 22"/>
            <p:cNvSpPr/>
            <p:nvPr/>
          </p:nvSpPr>
          <p:spPr>
            <a:xfrm>
              <a:off x="35917" y="1459474"/>
              <a:ext cx="648674" cy="2148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25" name="弧形 24"/>
            <p:cNvSpPr/>
            <p:nvPr/>
          </p:nvSpPr>
          <p:spPr bwMode="auto">
            <a:xfrm>
              <a:off x="2921223" y="1363566"/>
              <a:ext cx="423896" cy="493616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0675" name="Oval 39"/>
            <p:cNvSpPr/>
            <p:nvPr/>
          </p:nvSpPr>
          <p:spPr>
            <a:xfrm>
              <a:off x="2483768" y="1419622"/>
              <a:ext cx="503615" cy="37710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82" name="Oval 29"/>
            <p:cNvSpPr>
              <a:spLocks noChangeArrowheads="1"/>
            </p:cNvSpPr>
            <p:nvPr/>
          </p:nvSpPr>
          <p:spPr bwMode="auto">
            <a:xfrm>
              <a:off x="2556070" y="1479430"/>
              <a:ext cx="360391" cy="26982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0677" name="Oval 39"/>
            <p:cNvSpPr/>
            <p:nvPr/>
          </p:nvSpPr>
          <p:spPr>
            <a:xfrm>
              <a:off x="1619672" y="1762597"/>
              <a:ext cx="503615" cy="37710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91" name="Oval 29"/>
            <p:cNvSpPr>
              <a:spLocks noChangeArrowheads="1"/>
            </p:cNvSpPr>
            <p:nvPr/>
          </p:nvSpPr>
          <p:spPr bwMode="auto">
            <a:xfrm>
              <a:off x="1690816" y="1822264"/>
              <a:ext cx="360390" cy="26982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4" name="组合 2"/>
          <p:cNvGrpSpPr/>
          <p:nvPr/>
        </p:nvGrpSpPr>
        <p:grpSpPr>
          <a:xfrm>
            <a:off x="34925" y="2500313"/>
            <a:ext cx="4919663" cy="1066800"/>
            <a:chOff x="34925" y="2500313"/>
            <a:chExt cx="4919029" cy="1066800"/>
          </a:xfrm>
        </p:grpSpPr>
        <p:sp>
          <p:nvSpPr>
            <p:cNvPr id="2" name="Oval 5"/>
            <p:cNvSpPr>
              <a:spLocks noChangeArrowheads="1"/>
            </p:cNvSpPr>
            <p:nvPr/>
          </p:nvSpPr>
          <p:spPr bwMode="auto">
            <a:xfrm>
              <a:off x="1928569" y="3125788"/>
              <a:ext cx="380951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0653" name="AutoShape 6"/>
            <p:cNvCxnSpPr>
              <a:stCxn id="2" idx="6"/>
            </p:cNvCxnSpPr>
            <p:nvPr/>
          </p:nvCxnSpPr>
          <p:spPr>
            <a:xfrm>
              <a:off x="2310250" y="3268415"/>
              <a:ext cx="1142833" cy="0"/>
            </a:xfrm>
            <a:prstGeom prst="straightConnector1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lg"/>
            </a:ln>
          </p:spPr>
        </p:cxnSp>
        <p:cxnSp>
          <p:nvCxnSpPr>
            <p:cNvPr id="110654" name="AutoShape 8"/>
            <p:cNvCxnSpPr>
              <a:endCxn id="2" idx="2"/>
            </p:cNvCxnSpPr>
            <p:nvPr/>
          </p:nvCxnSpPr>
          <p:spPr>
            <a:xfrm flipV="1">
              <a:off x="1299159" y="3268415"/>
              <a:ext cx="630146" cy="1588"/>
            </a:xfrm>
            <a:prstGeom prst="straightConnector1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lg"/>
            </a:ln>
          </p:spPr>
        </p:cxnSp>
        <p:sp>
          <p:nvSpPr>
            <p:cNvPr id="110599" name="Oval 9"/>
            <p:cNvSpPr>
              <a:spLocks noChangeArrowheads="1"/>
            </p:cNvSpPr>
            <p:nvPr/>
          </p:nvSpPr>
          <p:spPr bwMode="auto">
            <a:xfrm>
              <a:off x="917461" y="3125788"/>
              <a:ext cx="380951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0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656" name="Text Box 10"/>
            <p:cNvSpPr txBox="1"/>
            <p:nvPr/>
          </p:nvSpPr>
          <p:spPr>
            <a:xfrm>
              <a:off x="1384872" y="2932014"/>
              <a:ext cx="312692" cy="40003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0657" name="Text Box 11"/>
            <p:cNvSpPr txBox="1"/>
            <p:nvPr/>
          </p:nvSpPr>
          <p:spPr>
            <a:xfrm>
              <a:off x="2502308" y="2900017"/>
              <a:ext cx="526106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0-7</a:t>
              </a:r>
            </a:p>
          </p:txBody>
        </p:sp>
        <p:sp>
          <p:nvSpPr>
            <p:cNvPr id="110658" name="Text Box 12"/>
            <p:cNvSpPr txBox="1"/>
            <p:nvPr/>
          </p:nvSpPr>
          <p:spPr>
            <a:xfrm>
              <a:off x="4262638" y="3119636"/>
              <a:ext cx="525386" cy="40003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0-7</a:t>
              </a:r>
            </a:p>
          </p:txBody>
        </p:sp>
        <p:sp>
          <p:nvSpPr>
            <p:cNvPr id="110659" name="矩形 1"/>
            <p:cNvSpPr/>
            <p:nvPr/>
          </p:nvSpPr>
          <p:spPr>
            <a:xfrm>
              <a:off x="35620" y="2500313"/>
              <a:ext cx="4918334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200" b="1" i="1" dirty="0">
                  <a:latin typeface="Times New Roman" panose="02020603050405020304" pitchFamily="18" charset="0"/>
                </a:rPr>
                <a:t>OCT</a:t>
              </a:r>
              <a:r>
                <a:rPr lang="en-US" altLang="zh-C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</a:t>
              </a:r>
              <a:r>
                <a:rPr lang="en-US" altLang="zh-CN" sz="2200" b="1" dirty="0">
                  <a:latin typeface="Times New Roman" panose="02020603050405020304" pitchFamily="18" charset="0"/>
                </a:rPr>
                <a:t>0(0|1|2|3|4|5|6|7)(0|1|2|3|4|5|6|7)</a:t>
              </a:r>
              <a:r>
                <a:rPr lang="en-US" altLang="zh-CN" sz="2200" b="1" baseline="30000" dirty="0">
                  <a:latin typeface="Times New Roman" panose="02020603050405020304" pitchFamily="18" charset="0"/>
                </a:rPr>
                <a:t>*</a:t>
              </a:r>
              <a:endParaRPr lang="zh-CN" altLang="en-US" sz="22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0660" name="Line 21"/>
            <p:cNvSpPr/>
            <p:nvPr/>
          </p:nvSpPr>
          <p:spPr>
            <a:xfrm flipV="1">
              <a:off x="611600" y="3222905"/>
              <a:ext cx="27884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10661" name="Rectangle 22"/>
            <p:cNvSpPr/>
            <p:nvPr/>
          </p:nvSpPr>
          <p:spPr>
            <a:xfrm>
              <a:off x="34925" y="3117184"/>
              <a:ext cx="648672" cy="2148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74" name="弧形 73"/>
            <p:cNvSpPr/>
            <p:nvPr/>
          </p:nvSpPr>
          <p:spPr bwMode="auto">
            <a:xfrm>
              <a:off x="3857132" y="3073400"/>
              <a:ext cx="423808" cy="493713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0663" name="Oval 39"/>
            <p:cNvSpPr/>
            <p:nvPr/>
          </p:nvSpPr>
          <p:spPr>
            <a:xfrm>
              <a:off x="3419872" y="3130749"/>
              <a:ext cx="503615" cy="37710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95" name="Oval 29"/>
            <p:cNvSpPr>
              <a:spLocks noChangeArrowheads="1"/>
            </p:cNvSpPr>
            <p:nvPr/>
          </p:nvSpPr>
          <p:spPr bwMode="auto">
            <a:xfrm>
              <a:off x="3492054" y="3189288"/>
              <a:ext cx="360317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5" name="组合 3"/>
          <p:cNvGrpSpPr/>
          <p:nvPr/>
        </p:nvGrpSpPr>
        <p:grpSpPr>
          <a:xfrm>
            <a:off x="34925" y="3940175"/>
            <a:ext cx="6192838" cy="1092200"/>
            <a:chOff x="34925" y="3940175"/>
            <a:chExt cx="6193259" cy="1092200"/>
          </a:xfrm>
        </p:grpSpPr>
        <p:sp>
          <p:nvSpPr>
            <p:cNvPr id="110605" name="Oval 17"/>
            <p:cNvSpPr>
              <a:spLocks noChangeArrowheads="1"/>
            </p:cNvSpPr>
            <p:nvPr/>
          </p:nvSpPr>
          <p:spPr bwMode="auto">
            <a:xfrm>
              <a:off x="2340132" y="466566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rPr>
                <a:t>6</a:t>
              </a:r>
            </a:p>
          </p:txBody>
        </p:sp>
        <p:sp>
          <p:nvSpPr>
            <p:cNvPr id="110606" name="Oval 18"/>
            <p:cNvSpPr>
              <a:spLocks noChangeArrowheads="1"/>
            </p:cNvSpPr>
            <p:nvPr/>
          </p:nvSpPr>
          <p:spPr bwMode="auto">
            <a:xfrm>
              <a:off x="900172" y="465931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rPr>
                <a:t>0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638" name="Text Box 19"/>
            <p:cNvSpPr txBox="1"/>
            <p:nvPr/>
          </p:nvSpPr>
          <p:spPr>
            <a:xfrm>
              <a:off x="1299886" y="4398647"/>
              <a:ext cx="312767" cy="39977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0609" name="Oval 21"/>
            <p:cNvSpPr>
              <a:spLocks noChangeArrowheads="1"/>
            </p:cNvSpPr>
            <p:nvPr/>
          </p:nvSpPr>
          <p:spPr bwMode="auto">
            <a:xfrm>
              <a:off x="1619358" y="465931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rPr>
                <a:t>5</a:t>
              </a:r>
            </a:p>
          </p:txBody>
        </p:sp>
        <p:sp>
          <p:nvSpPr>
            <p:cNvPr id="110640" name="Text Box 23"/>
            <p:cNvSpPr txBox="1"/>
            <p:nvPr/>
          </p:nvSpPr>
          <p:spPr>
            <a:xfrm>
              <a:off x="2027327" y="4411339"/>
              <a:ext cx="312768" cy="39977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x</a:t>
              </a:r>
              <a:endParaRPr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10641" name="Text Box 24"/>
            <p:cNvSpPr txBox="1"/>
            <p:nvPr/>
          </p:nvSpPr>
          <p:spPr>
            <a:xfrm>
              <a:off x="2905051" y="4429138"/>
              <a:ext cx="975013" cy="40011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0-9,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0642" name="Text Box 26"/>
            <p:cNvSpPr txBox="1"/>
            <p:nvPr/>
          </p:nvSpPr>
          <p:spPr>
            <a:xfrm>
              <a:off x="4896144" y="4624662"/>
              <a:ext cx="1332040" cy="399776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0-9,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0643" name="Line 27"/>
            <p:cNvSpPr/>
            <p:nvPr/>
          </p:nvSpPr>
          <p:spPr>
            <a:xfrm>
              <a:off x="2720883" y="4819047"/>
              <a:ext cx="129552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0644" name="矩形 5"/>
            <p:cNvSpPr/>
            <p:nvPr/>
          </p:nvSpPr>
          <p:spPr>
            <a:xfrm>
              <a:off x="35620" y="3940175"/>
              <a:ext cx="5790762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HEX</a:t>
              </a: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0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x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(0|1|...|9|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a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|...|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f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|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A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|…|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F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)(0|...|9|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a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|...|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f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 |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A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|…|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</a:rPr>
                <a:t>F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</a:rPr>
                <a:t>)</a:t>
              </a:r>
              <a:r>
                <a:rPr lang="en-US" altLang="zh-CN" sz="2000" b="1" baseline="30000" dirty="0">
                  <a:latin typeface="Times New Roman" panose="02020603050405020304" pitchFamily="18" charset="0"/>
                  <a:ea typeface="楷体_GB2312"/>
                </a:rPr>
                <a:t>*</a:t>
              </a: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75" name="弧形 74"/>
            <p:cNvSpPr/>
            <p:nvPr/>
          </p:nvSpPr>
          <p:spPr bwMode="auto">
            <a:xfrm>
              <a:off x="4429424" y="4538663"/>
              <a:ext cx="423892" cy="493712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0646" name="Line 21"/>
            <p:cNvSpPr/>
            <p:nvPr/>
          </p:nvSpPr>
          <p:spPr>
            <a:xfrm flipV="1">
              <a:off x="611739" y="4766565"/>
              <a:ext cx="27890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10647" name="Rectangle 22"/>
            <p:cNvSpPr/>
            <p:nvPr/>
          </p:nvSpPr>
          <p:spPr>
            <a:xfrm>
              <a:off x="34925" y="4660912"/>
              <a:ext cx="648829" cy="214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cxnSp>
          <p:nvCxnSpPr>
            <p:cNvPr id="31" name="直接箭头连接符 30"/>
            <p:cNvCxnSpPr>
              <a:stCxn id="110606" idx="6"/>
            </p:cNvCxnSpPr>
            <p:nvPr/>
          </p:nvCxnSpPr>
          <p:spPr bwMode="auto">
            <a:xfrm flipV="1">
              <a:off x="1281198" y="4799013"/>
              <a:ext cx="320697" cy="31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/>
            <p:nvPr/>
          </p:nvCxnSpPr>
          <p:spPr bwMode="auto">
            <a:xfrm flipV="1">
              <a:off x="2019435" y="4803775"/>
              <a:ext cx="320697" cy="31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650" name="Oval 39"/>
            <p:cNvSpPr/>
            <p:nvPr/>
          </p:nvSpPr>
          <p:spPr>
            <a:xfrm>
              <a:off x="4012998" y="4616809"/>
              <a:ext cx="503615" cy="37710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99" name="Oval 29"/>
            <p:cNvSpPr>
              <a:spLocks noChangeArrowheads="1"/>
            </p:cNvSpPr>
            <p:nvPr/>
          </p:nvSpPr>
          <p:spPr bwMode="auto">
            <a:xfrm>
              <a:off x="4084913" y="4676775"/>
              <a:ext cx="360386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6" name="组合 1"/>
          <p:cNvGrpSpPr/>
          <p:nvPr/>
        </p:nvGrpSpPr>
        <p:grpSpPr>
          <a:xfrm>
            <a:off x="3851275" y="700088"/>
            <a:ext cx="4176713" cy="1223962"/>
            <a:chOff x="3851275" y="700088"/>
            <a:chExt cx="4176150" cy="1223962"/>
          </a:xfrm>
        </p:grpSpPr>
        <p:sp>
          <p:nvSpPr>
            <p:cNvPr id="87" name="Oval 32"/>
            <p:cNvSpPr>
              <a:spLocks noChangeArrowheads="1"/>
            </p:cNvSpPr>
            <p:nvPr/>
          </p:nvSpPr>
          <p:spPr bwMode="auto">
            <a:xfrm>
              <a:off x="4752853" y="1638300"/>
              <a:ext cx="380949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0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0627" name="AutoShape 33"/>
            <p:cNvCxnSpPr>
              <a:stCxn id="87" idx="0"/>
            </p:cNvCxnSpPr>
            <p:nvPr/>
          </p:nvCxnSpPr>
          <p:spPr>
            <a:xfrm flipV="1">
              <a:off x="4942911" y="1424424"/>
              <a:ext cx="587838" cy="214091"/>
            </a:xfrm>
            <a:prstGeom prst="straightConnector1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lg"/>
            </a:ln>
          </p:spPr>
        </p:cxnSp>
        <p:sp>
          <p:nvSpPr>
            <p:cNvPr id="110628" name="Text Box 35"/>
            <p:cNvSpPr txBox="1"/>
            <p:nvPr/>
          </p:nvSpPr>
          <p:spPr>
            <a:xfrm>
              <a:off x="4715524" y="1135239"/>
              <a:ext cx="527143" cy="40006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1-9</a:t>
              </a:r>
            </a:p>
          </p:txBody>
        </p:sp>
        <p:sp>
          <p:nvSpPr>
            <p:cNvPr id="110629" name="Text Box 36"/>
            <p:cNvSpPr txBox="1"/>
            <p:nvPr/>
          </p:nvSpPr>
          <p:spPr>
            <a:xfrm>
              <a:off x="5473581" y="700088"/>
              <a:ext cx="881217" cy="400067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0-9</a:t>
              </a:r>
            </a:p>
          </p:txBody>
        </p:sp>
        <p:sp>
          <p:nvSpPr>
            <p:cNvPr id="110630" name="Line 21"/>
            <p:cNvSpPr/>
            <p:nvPr/>
          </p:nvSpPr>
          <p:spPr>
            <a:xfrm flipV="1">
              <a:off x="4453475" y="1757588"/>
              <a:ext cx="27893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10631" name="Rectangle 22"/>
            <p:cNvSpPr/>
            <p:nvPr/>
          </p:nvSpPr>
          <p:spPr>
            <a:xfrm>
              <a:off x="3851275" y="1651859"/>
              <a:ext cx="648881" cy="2148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96" name="弧形 95"/>
            <p:cNvSpPr/>
            <p:nvPr/>
          </p:nvSpPr>
          <p:spPr bwMode="auto">
            <a:xfrm rot="16200000">
              <a:off x="5615528" y="915226"/>
              <a:ext cx="234950" cy="493646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0633" name="Text Box 34"/>
            <p:cNvSpPr txBox="1"/>
            <p:nvPr/>
          </p:nvSpPr>
          <p:spPr>
            <a:xfrm>
              <a:off x="5990635" y="1176426"/>
              <a:ext cx="2036790" cy="46204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DEC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value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)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0634" name="Oval 39"/>
            <p:cNvSpPr/>
            <p:nvPr/>
          </p:nvSpPr>
          <p:spPr>
            <a:xfrm>
              <a:off x="5507551" y="1258645"/>
              <a:ext cx="503622" cy="3771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02" name="Oval 29"/>
            <p:cNvSpPr>
              <a:spLocks noChangeArrowheads="1"/>
            </p:cNvSpPr>
            <p:nvPr/>
          </p:nvSpPr>
          <p:spPr bwMode="auto">
            <a:xfrm>
              <a:off x="5579830" y="1317625"/>
              <a:ext cx="360313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169025" y="1571625"/>
            <a:ext cx="3082925" cy="1004888"/>
            <a:chOff x="6169429" y="1571618"/>
            <a:chExt cx="3082521" cy="1004176"/>
          </a:xfrm>
        </p:grpSpPr>
        <p:cxnSp>
          <p:nvCxnSpPr>
            <p:cNvPr id="110619" name="AutoShape 6"/>
            <p:cNvCxnSpPr/>
            <p:nvPr/>
          </p:nvCxnSpPr>
          <p:spPr>
            <a:xfrm>
              <a:off x="6169429" y="2327302"/>
              <a:ext cx="665116" cy="0"/>
            </a:xfrm>
            <a:prstGeom prst="straightConnector1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lg"/>
            </a:ln>
          </p:spPr>
        </p:cxnSp>
        <p:sp>
          <p:nvSpPr>
            <p:cNvPr id="110620" name="Text Box 11"/>
            <p:cNvSpPr txBox="1"/>
            <p:nvPr/>
          </p:nvSpPr>
          <p:spPr>
            <a:xfrm>
              <a:off x="6192536" y="1928808"/>
              <a:ext cx="526037" cy="3998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0-7</a:t>
              </a:r>
            </a:p>
          </p:txBody>
        </p:sp>
        <p:sp>
          <p:nvSpPr>
            <p:cNvPr id="110621" name="Text Box 12"/>
            <p:cNvSpPr txBox="1"/>
            <p:nvPr/>
          </p:nvSpPr>
          <p:spPr>
            <a:xfrm>
              <a:off x="6802839" y="1571618"/>
              <a:ext cx="525481" cy="4001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0-7</a:t>
              </a:r>
            </a:p>
          </p:txBody>
        </p:sp>
        <p:sp>
          <p:nvSpPr>
            <p:cNvPr id="113" name="弧形 112"/>
            <p:cNvSpPr/>
            <p:nvPr/>
          </p:nvSpPr>
          <p:spPr bwMode="auto">
            <a:xfrm rot="16200000">
              <a:off x="6934572" y="1809433"/>
              <a:ext cx="236369" cy="493647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0623" name="Text Box 3"/>
            <p:cNvSpPr txBox="1"/>
            <p:nvPr/>
          </p:nvSpPr>
          <p:spPr>
            <a:xfrm>
              <a:off x="7291361" y="2113746"/>
              <a:ext cx="1960589" cy="46204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OCT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value 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0624" name="Oval 39"/>
            <p:cNvSpPr/>
            <p:nvPr/>
          </p:nvSpPr>
          <p:spPr>
            <a:xfrm>
              <a:off x="6817269" y="2156108"/>
              <a:ext cx="503622" cy="3771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05" name="Oval 29"/>
            <p:cNvSpPr>
              <a:spLocks noChangeArrowheads="1"/>
            </p:cNvSpPr>
            <p:nvPr/>
          </p:nvSpPr>
          <p:spPr bwMode="auto">
            <a:xfrm>
              <a:off x="6890060" y="2215686"/>
              <a:ext cx="360316" cy="2696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410200" y="2514600"/>
            <a:ext cx="3771900" cy="993775"/>
            <a:chOff x="5410222" y="2514215"/>
            <a:chExt cx="3771952" cy="994160"/>
          </a:xfrm>
        </p:grpSpPr>
        <p:sp>
          <p:nvSpPr>
            <p:cNvPr id="126" name="Oval 17"/>
            <p:cNvSpPr>
              <a:spLocks noChangeArrowheads="1"/>
            </p:cNvSpPr>
            <p:nvPr/>
          </p:nvSpPr>
          <p:spPr bwMode="auto">
            <a:xfrm>
              <a:off x="5486423" y="3178047"/>
              <a:ext cx="381005" cy="28586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rPr>
                <a:t>6</a:t>
              </a:r>
            </a:p>
          </p:txBody>
        </p:sp>
        <p:sp>
          <p:nvSpPr>
            <p:cNvPr id="110610" name="Text Box 23"/>
            <p:cNvSpPr txBox="1"/>
            <p:nvPr/>
          </p:nvSpPr>
          <p:spPr>
            <a:xfrm>
              <a:off x="5410222" y="2618190"/>
              <a:ext cx="312758" cy="3999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x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10611" name="Text Box 24"/>
            <p:cNvSpPr txBox="1"/>
            <p:nvPr/>
          </p:nvSpPr>
          <p:spPr>
            <a:xfrm>
              <a:off x="5786446" y="2928940"/>
              <a:ext cx="974960" cy="4002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0-9,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0612" name="Text Box 26"/>
            <p:cNvSpPr txBox="1"/>
            <p:nvPr/>
          </p:nvSpPr>
          <p:spPr>
            <a:xfrm>
              <a:off x="6489668" y="2514215"/>
              <a:ext cx="1332000" cy="399932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0-9,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10613" name="Line 27"/>
            <p:cNvSpPr/>
            <p:nvPr/>
          </p:nvSpPr>
          <p:spPr>
            <a:xfrm>
              <a:off x="5867006" y="3304338"/>
              <a:ext cx="85276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cxnSp>
          <p:nvCxnSpPr>
            <p:cNvPr id="132" name="直接箭头连接符 131"/>
            <p:cNvCxnSpPr/>
            <p:nvPr/>
          </p:nvCxnSpPr>
          <p:spPr bwMode="auto">
            <a:xfrm flipH="1">
              <a:off x="5676926" y="2514215"/>
              <a:ext cx="11113" cy="6638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弧形 132"/>
            <p:cNvSpPr/>
            <p:nvPr/>
          </p:nvSpPr>
          <p:spPr bwMode="auto">
            <a:xfrm rot="16200000">
              <a:off x="6848474" y="2779522"/>
              <a:ext cx="233452" cy="493720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0616" name="Text Box 2"/>
            <p:cNvSpPr txBox="1"/>
            <p:nvPr/>
          </p:nvSpPr>
          <p:spPr>
            <a:xfrm>
              <a:off x="7153321" y="3019133"/>
              <a:ext cx="2028853" cy="46204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HEX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value 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0617" name="Oval 39"/>
            <p:cNvSpPr/>
            <p:nvPr/>
          </p:nvSpPr>
          <p:spPr>
            <a:xfrm>
              <a:off x="6707109" y="3131200"/>
              <a:ext cx="503622" cy="3771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10" name="Oval 29"/>
            <p:cNvSpPr>
              <a:spLocks noChangeArrowheads="1"/>
            </p:cNvSpPr>
            <p:nvPr/>
          </p:nvSpPr>
          <p:spPr bwMode="auto">
            <a:xfrm>
              <a:off x="6778666" y="3190752"/>
              <a:ext cx="360368" cy="26998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833938" y="1643063"/>
            <a:ext cx="2176462" cy="884237"/>
            <a:chOff x="4833952" y="1643056"/>
            <a:chExt cx="2176492" cy="884272"/>
          </a:xfrm>
        </p:grpSpPr>
        <p:sp>
          <p:nvSpPr>
            <p:cNvPr id="110603" name="Text Box 34"/>
            <p:cNvSpPr txBox="1"/>
            <p:nvPr/>
          </p:nvSpPr>
          <p:spPr>
            <a:xfrm>
              <a:off x="5138756" y="1643056"/>
              <a:ext cx="1871688" cy="46204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DEC,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0 )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0604" name="Line 39"/>
            <p:cNvSpPr/>
            <p:nvPr/>
          </p:nvSpPr>
          <p:spPr>
            <a:xfrm>
              <a:off x="4929960" y="1924277"/>
              <a:ext cx="432741" cy="44046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" name="Text Box 41"/>
            <p:cNvSpPr txBox="1"/>
            <p:nvPr/>
          </p:nvSpPr>
          <p:spPr>
            <a:xfrm>
              <a:off x="4833952" y="1924277"/>
              <a:ext cx="312730" cy="40014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10" name="组合 110"/>
            <p:cNvGrpSpPr/>
            <p:nvPr/>
          </p:nvGrpSpPr>
          <p:grpSpPr>
            <a:xfrm>
              <a:off x="5354642" y="2150153"/>
              <a:ext cx="822475" cy="377175"/>
              <a:chOff x="7282962" y="3764993"/>
              <a:chExt cx="503615" cy="377105"/>
            </a:xfrm>
          </p:grpSpPr>
          <p:sp>
            <p:nvSpPr>
              <p:cNvPr id="110607" name="Oval 39"/>
              <p:cNvSpPr/>
              <p:nvPr/>
            </p:nvSpPr>
            <p:spPr>
              <a:xfrm>
                <a:off x="7282962" y="3764993"/>
                <a:ext cx="503615" cy="377105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4" name="Oval 29"/>
              <p:cNvSpPr>
                <a:spLocks noChangeArrowheads="1"/>
              </p:cNvSpPr>
              <p:nvPr/>
            </p:nvSpPr>
            <p:spPr bwMode="auto">
              <a:xfrm>
                <a:off x="7354905" y="3823058"/>
                <a:ext cx="360636" cy="27142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2,3,5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识别注释的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2"/>
          <p:cNvGrpSpPr/>
          <p:nvPr/>
        </p:nvGrpSpPr>
        <p:grpSpPr>
          <a:xfrm>
            <a:off x="1638300" y="1428750"/>
            <a:ext cx="5291138" cy="1501775"/>
            <a:chOff x="1638283" y="3214692"/>
            <a:chExt cx="5291166" cy="1501784"/>
          </a:xfrm>
        </p:grpSpPr>
        <p:grpSp>
          <p:nvGrpSpPr>
            <p:cNvPr id="112647" name="组合 2"/>
            <p:cNvGrpSpPr/>
            <p:nvPr/>
          </p:nvGrpSpPr>
          <p:grpSpPr>
            <a:xfrm>
              <a:off x="2624138" y="3643322"/>
              <a:ext cx="1447796" cy="542615"/>
              <a:chOff x="245793" y="5527478"/>
              <a:chExt cx="1448894" cy="724365"/>
            </a:xfrm>
          </p:grpSpPr>
          <p:sp>
            <p:nvSpPr>
              <p:cNvPr id="108572" name="Oval 7"/>
              <p:cNvSpPr>
                <a:spLocks noChangeArrowheads="1"/>
              </p:cNvSpPr>
              <p:nvPr/>
            </p:nvSpPr>
            <p:spPr bwMode="auto">
              <a:xfrm>
                <a:off x="245781" y="5595291"/>
                <a:ext cx="519509" cy="65272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5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12669" name="Rectangle 31"/>
              <p:cNvSpPr/>
              <p:nvPr/>
            </p:nvSpPr>
            <p:spPr>
              <a:xfrm>
                <a:off x="832402" y="5527478"/>
                <a:ext cx="504825" cy="287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>
                  <a:buNone/>
                </a:pPr>
                <a:r>
                  <a:rPr lang="en-US" altLang="zh-CN" sz="2500" b="1" i="1" dirty="0">
                    <a:latin typeface="Times New Roman" panose="02020603050405020304" pitchFamily="18" charset="0"/>
                    <a:ea typeface="楷体_GB2312"/>
                  </a:rPr>
                  <a:t>/</a:t>
                </a:r>
              </a:p>
            </p:txBody>
          </p:sp>
          <p:sp>
            <p:nvSpPr>
              <p:cNvPr id="108574" name="Oval 29"/>
              <p:cNvSpPr>
                <a:spLocks noChangeArrowheads="1"/>
              </p:cNvSpPr>
              <p:nvPr/>
            </p:nvSpPr>
            <p:spPr bwMode="auto">
              <a:xfrm>
                <a:off x="1194242" y="5622842"/>
                <a:ext cx="500445" cy="62941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5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12671" name="Line 27"/>
              <p:cNvSpPr/>
              <p:nvPr/>
            </p:nvSpPr>
            <p:spPr>
              <a:xfrm>
                <a:off x="765289" y="5915989"/>
                <a:ext cx="404175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</p:grpSp>
        <p:sp>
          <p:nvSpPr>
            <p:cNvPr id="15" name="Rectangle 20"/>
            <p:cNvSpPr>
              <a:spLocks noChangeArrowheads="1"/>
            </p:cNvSpPr>
            <p:nvPr/>
          </p:nvSpPr>
          <p:spPr bwMode="auto">
            <a:xfrm>
              <a:off x="4357685" y="3214692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Times New Roman" panose="02020603050405020304" pitchFamily="18" charset="0"/>
                </a:rPr>
                <a:t>其它</a:t>
              </a:r>
              <a:endPara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112649" name="组合 21510"/>
            <p:cNvGrpSpPr/>
            <p:nvPr/>
          </p:nvGrpSpPr>
          <p:grpSpPr>
            <a:xfrm>
              <a:off x="4071934" y="3500446"/>
              <a:ext cx="1861438" cy="714377"/>
              <a:chOff x="1014919" y="5002748"/>
              <a:chExt cx="1862111" cy="952911"/>
            </a:xfrm>
          </p:grpSpPr>
          <p:sp>
            <p:nvSpPr>
              <p:cNvPr id="108567" name="Oval 10"/>
              <p:cNvSpPr>
                <a:spLocks noChangeArrowheads="1"/>
              </p:cNvSpPr>
              <p:nvPr/>
            </p:nvSpPr>
            <p:spPr bwMode="auto">
              <a:xfrm>
                <a:off x="2372729" y="5339442"/>
                <a:ext cx="505010" cy="61621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5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12664" name="Line 13"/>
              <p:cNvSpPr/>
              <p:nvPr/>
            </p:nvSpPr>
            <p:spPr>
              <a:xfrm>
                <a:off x="1943949" y="5622750"/>
                <a:ext cx="43180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108569" name="Oval 15"/>
              <p:cNvSpPr>
                <a:spLocks noChangeArrowheads="1"/>
              </p:cNvSpPr>
              <p:nvPr/>
            </p:nvSpPr>
            <p:spPr bwMode="auto">
              <a:xfrm>
                <a:off x="1443701" y="5288620"/>
                <a:ext cx="522479" cy="62257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5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12666" name="Line 13"/>
              <p:cNvSpPr/>
              <p:nvPr/>
            </p:nvSpPr>
            <p:spPr>
              <a:xfrm>
                <a:off x="1014919" y="5613671"/>
                <a:ext cx="43180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112667" name="Freeform 19"/>
              <p:cNvSpPr/>
              <p:nvPr/>
            </p:nvSpPr>
            <p:spPr>
              <a:xfrm>
                <a:off x="1515166" y="5002748"/>
                <a:ext cx="382588" cy="300038"/>
              </a:xfrm>
              <a:custGeom>
                <a:avLst/>
                <a:gdLst>
                  <a:gd name="txL" fmla="*/ 0 w 241"/>
                  <a:gd name="txT" fmla="*/ 0 h 189"/>
                  <a:gd name="txR" fmla="*/ 241 w 241"/>
                  <a:gd name="txB" fmla="*/ 189 h 189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650" name="组合 21511"/>
            <p:cNvGrpSpPr/>
            <p:nvPr/>
          </p:nvGrpSpPr>
          <p:grpSpPr>
            <a:xfrm>
              <a:off x="4786314" y="3529463"/>
              <a:ext cx="2143135" cy="870771"/>
              <a:chOff x="1933551" y="5041809"/>
              <a:chExt cx="2141532" cy="1162019"/>
            </a:xfrm>
          </p:grpSpPr>
          <p:sp>
            <p:nvSpPr>
              <p:cNvPr id="112657" name="Line 27"/>
              <p:cNvSpPr/>
              <p:nvPr/>
            </p:nvSpPr>
            <p:spPr>
              <a:xfrm>
                <a:off x="3075701" y="5640720"/>
                <a:ext cx="387986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</p:sp>
          <p:sp>
            <p:nvSpPr>
              <p:cNvPr id="112658" name="Oval 39"/>
              <p:cNvSpPr/>
              <p:nvPr/>
            </p:nvSpPr>
            <p:spPr>
              <a:xfrm>
                <a:off x="3432623" y="5260793"/>
                <a:ext cx="642460" cy="790952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2659" name="Rectangle 20"/>
              <p:cNvSpPr/>
              <p:nvPr/>
            </p:nvSpPr>
            <p:spPr>
              <a:xfrm>
                <a:off x="3105545" y="5289088"/>
                <a:ext cx="398463" cy="2607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>
                  <a:buNone/>
                </a:pPr>
                <a:r>
                  <a:rPr lang="en-US" altLang="zh-CN" sz="2500" b="1" i="1" dirty="0">
                    <a:latin typeface="Times New Roman" panose="02020603050405020304" pitchFamily="18" charset="0"/>
                    <a:ea typeface="楷体_GB2312"/>
                  </a:rPr>
                  <a:t>/</a:t>
                </a:r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 rot="21363809" flipH="1">
                <a:off x="1933550" y="5918269"/>
                <a:ext cx="785228" cy="285996"/>
              </a:xfrm>
              <a:custGeom>
                <a:avLst/>
                <a:gdLst>
                  <a:gd name="connsiteX0" fmla="*/ 0 w 856343"/>
                  <a:gd name="connsiteY0" fmla="*/ 29029 h 333939"/>
                  <a:gd name="connsiteX1" fmla="*/ 420915 w 856343"/>
                  <a:gd name="connsiteY1" fmla="*/ 333829 h 333939"/>
                  <a:gd name="connsiteX2" fmla="*/ 856343 w 856343"/>
                  <a:gd name="connsiteY2" fmla="*/ 0 h 333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56343" h="333939">
                    <a:moveTo>
                      <a:pt x="0" y="29029"/>
                    </a:moveTo>
                    <a:cubicBezTo>
                      <a:pt x="139095" y="183848"/>
                      <a:pt x="278191" y="338667"/>
                      <a:pt x="420915" y="333829"/>
                    </a:cubicBezTo>
                    <a:cubicBezTo>
                      <a:pt x="563639" y="328991"/>
                      <a:pt x="709991" y="164495"/>
                      <a:pt x="856343" y="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8565" name="Oval 29"/>
              <p:cNvSpPr>
                <a:spLocks noChangeArrowheads="1"/>
              </p:cNvSpPr>
              <p:nvPr/>
            </p:nvSpPr>
            <p:spPr bwMode="auto">
              <a:xfrm>
                <a:off x="3504008" y="5337804"/>
                <a:ext cx="499691" cy="61859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5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12662" name="Freeform 19"/>
              <p:cNvSpPr/>
              <p:nvPr/>
            </p:nvSpPr>
            <p:spPr>
              <a:xfrm>
                <a:off x="2647394" y="5041809"/>
                <a:ext cx="382588" cy="300037"/>
              </a:xfrm>
              <a:custGeom>
                <a:avLst/>
                <a:gdLst>
                  <a:gd name="txL" fmla="*/ 0 w 241"/>
                  <a:gd name="txT" fmla="*/ 0 h 189"/>
                  <a:gd name="txR" fmla="*/ 241 w 241"/>
                  <a:gd name="txB" fmla="*/ 189 h 189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651" name="Rectangle 22"/>
            <p:cNvSpPr/>
            <p:nvPr/>
          </p:nvSpPr>
          <p:spPr>
            <a:xfrm>
              <a:off x="1638283" y="3781425"/>
              <a:ext cx="504825" cy="215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r>
                <a:rPr lang="en-US" altLang="zh-CN" sz="25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start</a:t>
              </a:r>
            </a:p>
          </p:txBody>
        </p:sp>
        <p:sp>
          <p:nvSpPr>
            <p:cNvPr id="112652" name="Line 27"/>
            <p:cNvSpPr/>
            <p:nvPr/>
          </p:nvSpPr>
          <p:spPr>
            <a:xfrm>
              <a:off x="2286000" y="3933825"/>
              <a:ext cx="33178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48" name="Rectangle 31"/>
            <p:cNvSpPr>
              <a:spLocks noChangeArrowheads="1"/>
            </p:cNvSpPr>
            <p:nvPr/>
          </p:nvSpPr>
          <p:spPr bwMode="auto">
            <a:xfrm>
              <a:off x="4000496" y="3713170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Times New Roman" panose="02020603050405020304" pitchFamily="18" charset="0"/>
                </a:rPr>
                <a:t>＊</a:t>
              </a:r>
              <a:endPara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31"/>
            <p:cNvSpPr>
              <a:spLocks noChangeArrowheads="1"/>
            </p:cNvSpPr>
            <p:nvPr/>
          </p:nvSpPr>
          <p:spPr bwMode="auto">
            <a:xfrm>
              <a:off x="4929188" y="3714758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Times New Roman" panose="02020603050405020304" pitchFamily="18" charset="0"/>
                </a:rPr>
                <a:t>＊</a:t>
              </a:r>
              <a:endPara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31"/>
            <p:cNvSpPr>
              <a:spLocks noChangeArrowheads="1"/>
            </p:cNvSpPr>
            <p:nvPr/>
          </p:nvSpPr>
          <p:spPr bwMode="auto">
            <a:xfrm>
              <a:off x="5424491" y="3357568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Times New Roman" panose="02020603050405020304" pitchFamily="18" charset="0"/>
                </a:rPr>
                <a:t>＊</a:t>
              </a:r>
              <a:endPara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20"/>
            <p:cNvSpPr>
              <a:spLocks noChangeArrowheads="1"/>
            </p:cNvSpPr>
            <p:nvPr/>
          </p:nvSpPr>
          <p:spPr bwMode="auto">
            <a:xfrm>
              <a:off x="4781550" y="4500575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Times New Roman" panose="02020603050405020304" pitchFamily="18" charset="0"/>
                </a:rPr>
                <a:t>其它</a:t>
              </a:r>
              <a:endPara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2644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5" name="五边形 5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2646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Oval 3"/>
          <p:cNvSpPr>
            <a:spLocks noChangeArrowheads="1"/>
          </p:cNvSpPr>
          <p:nvPr/>
        </p:nvSpPr>
        <p:spPr bwMode="auto">
          <a:xfrm>
            <a:off x="1776413" y="1482725"/>
            <a:ext cx="3810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691" name="Text Box 15"/>
          <p:cNvSpPr txBox="1"/>
          <p:nvPr/>
        </p:nvSpPr>
        <p:spPr>
          <a:xfrm>
            <a:off x="3286125" y="725488"/>
            <a:ext cx="1614488" cy="4762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</a:t>
            </a: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</a:t>
            </a:r>
            <a:endParaRPr lang="en-US" altLang="zh-CN" sz="25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4692" name="Text Box 16"/>
          <p:cNvSpPr txBox="1"/>
          <p:nvPr/>
        </p:nvSpPr>
        <p:spPr>
          <a:xfrm>
            <a:off x="2389188" y="1201738"/>
            <a:ext cx="1023937" cy="477837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letter_</a:t>
            </a:r>
            <a:endParaRPr lang="en-US" altLang="zh-CN" sz="25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4693" name="Text Box 17"/>
          <p:cNvSpPr txBox="1"/>
          <p:nvPr/>
        </p:nvSpPr>
        <p:spPr>
          <a:xfrm>
            <a:off x="4592638" y="1143000"/>
            <a:ext cx="2765425" cy="4778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IDN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5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4694" name="Line 29"/>
          <p:cNvSpPr/>
          <p:nvPr/>
        </p:nvSpPr>
        <p:spPr>
          <a:xfrm>
            <a:off x="2124075" y="1670050"/>
            <a:ext cx="1674813" cy="142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4695" name="Line 31"/>
          <p:cNvSpPr/>
          <p:nvPr/>
        </p:nvSpPr>
        <p:spPr>
          <a:xfrm>
            <a:off x="1214438" y="1630363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4696" name="Text Box 32"/>
          <p:cNvSpPr txBox="1"/>
          <p:nvPr/>
        </p:nvSpPr>
        <p:spPr>
          <a:xfrm>
            <a:off x="1000125" y="1130300"/>
            <a:ext cx="990600" cy="5159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anose="01010601010101010101"/>
            </a:pPr>
            <a:r>
              <a:rPr lang="en-US" altLang="zh-CN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US" altLang="zh-CN" sz="2500" b="1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14697" name="Group 61"/>
          <p:cNvGrpSpPr/>
          <p:nvPr/>
        </p:nvGrpSpPr>
        <p:grpSpPr>
          <a:xfrm>
            <a:off x="2035175" y="1844675"/>
            <a:ext cx="4918075" cy="1190625"/>
            <a:chOff x="1247" y="1671"/>
            <a:chExt cx="3098" cy="999"/>
          </a:xfrm>
        </p:grpSpPr>
        <p:sp>
          <p:nvSpPr>
            <p:cNvPr id="114735" name="Text Box 18"/>
            <p:cNvSpPr txBox="1"/>
            <p:nvPr/>
          </p:nvSpPr>
          <p:spPr>
            <a:xfrm>
              <a:off x="1547" y="1810"/>
              <a:ext cx="488" cy="4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5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</a:t>
              </a:r>
              <a:endParaRPr lang="en-US" altLang="zh-CN" sz="2500" b="1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4736" name="Text Box 22"/>
            <p:cNvSpPr txBox="1"/>
            <p:nvPr/>
          </p:nvSpPr>
          <p:spPr>
            <a:xfrm>
              <a:off x="2664" y="2270"/>
              <a:ext cx="1681" cy="40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5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5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lang="en-US" altLang="zh-CN" sz="25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5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r>
                <a:rPr lang="en-US" altLang="zh-CN" sz="25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4737" name="Freeform 30"/>
            <p:cNvSpPr/>
            <p:nvPr/>
          </p:nvSpPr>
          <p:spPr>
            <a:xfrm>
              <a:off x="1247" y="1676"/>
              <a:ext cx="1159" cy="884"/>
            </a:xfrm>
            <a:custGeom>
              <a:avLst/>
              <a:gdLst>
                <a:gd name="txL" fmla="*/ 0 w 1728"/>
                <a:gd name="txT" fmla="*/ 0 h 976"/>
                <a:gd name="txR" fmla="*/ 1728 w 1728"/>
                <a:gd name="txB" fmla="*/ 976 h 976"/>
              </a:gdLst>
              <a:ahLst/>
              <a:cxnLst>
                <a:cxn ang="0">
                  <a:pos x="0" y="0"/>
                </a:cxn>
                <a:cxn ang="0">
                  <a:pos x="1" y="23"/>
                </a:cxn>
                <a:cxn ang="0">
                  <a:pos x="1" y="28"/>
                </a:cxn>
              </a:cxnLst>
              <a:rect l="txL" t="txT" r="txR" b="txB"/>
              <a:pathLst>
                <a:path w="1728" h="976">
                  <a:moveTo>
                    <a:pt x="0" y="0"/>
                  </a:moveTo>
                  <a:cubicBezTo>
                    <a:pt x="288" y="328"/>
                    <a:pt x="576" y="656"/>
                    <a:pt x="864" y="816"/>
                  </a:cubicBezTo>
                  <a:cubicBezTo>
                    <a:pt x="1152" y="976"/>
                    <a:pt x="1544" y="904"/>
                    <a:pt x="1728" y="960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4738" name="AutoShape 12"/>
            <p:cNvCxnSpPr/>
            <p:nvPr/>
          </p:nvCxnSpPr>
          <p:spPr>
            <a:xfrm rot="10800000" flipH="1" flipV="1">
              <a:off x="2406" y="2450"/>
              <a:ext cx="258" cy="1"/>
            </a:xfrm>
            <a:prstGeom prst="curvedConnector5">
              <a:avLst>
                <a:gd name="adj1" fmla="val -52324"/>
                <a:gd name="adj2" fmla="val -38005551"/>
                <a:gd name="adj3" fmla="val 106074"/>
              </a:avLst>
            </a:prstGeom>
            <a:ln w="50800" cap="flat" cmpd="sng">
              <a:solidFill>
                <a:schemeClr val="tx1"/>
              </a:solidFill>
              <a:prstDash val="solid"/>
              <a:headEnd type="none" w="sm" len="sm"/>
              <a:tailEnd type="triangle" w="med" len="lg"/>
            </a:ln>
          </p:spPr>
        </p:cxnSp>
        <p:sp>
          <p:nvSpPr>
            <p:cNvPr id="114739" name="Text Box 19"/>
            <p:cNvSpPr txBox="1"/>
            <p:nvPr/>
          </p:nvSpPr>
          <p:spPr>
            <a:xfrm>
              <a:off x="2312" y="1671"/>
              <a:ext cx="488" cy="4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5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</a:t>
              </a:r>
              <a:endParaRPr lang="en-US" altLang="zh-CN" sz="2500" b="1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114698" name="Group 60"/>
          <p:cNvGrpSpPr/>
          <p:nvPr/>
        </p:nvGrpSpPr>
        <p:grpSpPr>
          <a:xfrm>
            <a:off x="2035175" y="1924050"/>
            <a:ext cx="5365750" cy="1849438"/>
            <a:chOff x="1247" y="1737"/>
            <a:chExt cx="3380" cy="1553"/>
          </a:xfrm>
        </p:grpSpPr>
        <p:sp>
          <p:nvSpPr>
            <p:cNvPr id="109602" name="Oval 6"/>
            <p:cNvSpPr>
              <a:spLocks noChangeArrowheads="1"/>
            </p:cNvSpPr>
            <p:nvPr/>
          </p:nvSpPr>
          <p:spPr bwMode="auto">
            <a:xfrm>
              <a:off x="1810" y="3050"/>
              <a:ext cx="240" cy="2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4730" name="AutoShape 13"/>
            <p:cNvCxnSpPr/>
            <p:nvPr/>
          </p:nvCxnSpPr>
          <p:spPr>
            <a:xfrm flipV="1">
              <a:off x="2035" y="3075"/>
              <a:ext cx="850" cy="155"/>
            </a:xfrm>
            <a:prstGeom prst="curvedConnector2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sm" len="sm"/>
              <a:tailEnd type="triangle" w="med" len="lg"/>
            </a:ln>
          </p:spPr>
        </p:cxnSp>
        <p:sp>
          <p:nvSpPr>
            <p:cNvPr id="114731" name="Text Box 23"/>
            <p:cNvSpPr txBox="1"/>
            <p:nvPr/>
          </p:nvSpPr>
          <p:spPr>
            <a:xfrm>
              <a:off x="3223" y="2769"/>
              <a:ext cx="1404" cy="40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5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5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ASG</a:t>
              </a:r>
              <a:r>
                <a:rPr lang="en-US" altLang="zh-CN" sz="25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_ )</a:t>
              </a:r>
              <a:endPara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4732" name="Text Box 24"/>
            <p:cNvSpPr txBox="1"/>
            <p:nvPr/>
          </p:nvSpPr>
          <p:spPr>
            <a:xfrm>
              <a:off x="2252" y="2825"/>
              <a:ext cx="225" cy="3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lang="zh-CN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4733" name="Text Box 25"/>
            <p:cNvSpPr txBox="1"/>
            <p:nvPr/>
          </p:nvSpPr>
          <p:spPr>
            <a:xfrm>
              <a:off x="1617" y="2304"/>
              <a:ext cx="310" cy="3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endParaRPr lang="zh-CN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4734" name="Line 34"/>
            <p:cNvSpPr/>
            <p:nvPr/>
          </p:nvSpPr>
          <p:spPr>
            <a:xfrm>
              <a:off x="1247" y="1737"/>
              <a:ext cx="583" cy="138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14699" name="Group 1061"/>
          <p:cNvGrpSpPr/>
          <p:nvPr/>
        </p:nvGrpSpPr>
        <p:grpSpPr>
          <a:xfrm>
            <a:off x="928688" y="1778000"/>
            <a:ext cx="1042987" cy="3097213"/>
            <a:chOff x="352" y="1615"/>
            <a:chExt cx="657" cy="2600"/>
          </a:xfrm>
        </p:grpSpPr>
        <p:cxnSp>
          <p:nvCxnSpPr>
            <p:cNvPr id="114727" name="AutoShape 14"/>
            <p:cNvCxnSpPr/>
            <p:nvPr/>
          </p:nvCxnSpPr>
          <p:spPr>
            <a:xfrm rot="-5400000" flipH="1">
              <a:off x="-294" y="2912"/>
              <a:ext cx="2600" cy="6"/>
            </a:xfrm>
            <a:prstGeom prst="curvedConnector3">
              <a:avLst>
                <a:gd name="adj1" fmla="val 50000"/>
              </a:avLst>
            </a:prstGeom>
            <a:ln w="50800" cap="flat" cmpd="sng">
              <a:solidFill>
                <a:schemeClr val="tx1"/>
              </a:solidFill>
              <a:prstDash val="solid"/>
              <a:headEnd type="none" w="sm" len="sm"/>
              <a:tailEnd type="triangle" w="med" len="lg"/>
            </a:ln>
          </p:spPr>
        </p:cxnSp>
        <p:sp>
          <p:nvSpPr>
            <p:cNvPr id="114728" name="Text Box 40"/>
            <p:cNvSpPr txBox="1"/>
            <p:nvPr/>
          </p:nvSpPr>
          <p:spPr>
            <a:xfrm>
              <a:off x="352" y="2387"/>
              <a:ext cx="657" cy="40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500" b="1" i="1" dirty="0">
                  <a:latin typeface="Times New Roman" panose="02020603050405020304" pitchFamily="18" charset="0"/>
                  <a:ea typeface="楷体_GB2312"/>
                </a:rPr>
                <a:t>others</a:t>
              </a:r>
            </a:p>
          </p:txBody>
        </p:sp>
      </p:grpSp>
      <p:grpSp>
        <p:nvGrpSpPr>
          <p:cNvPr id="114700" name="Group 59"/>
          <p:cNvGrpSpPr/>
          <p:nvPr/>
        </p:nvGrpSpPr>
        <p:grpSpPr>
          <a:xfrm>
            <a:off x="2000250" y="1851025"/>
            <a:ext cx="5400675" cy="2792413"/>
            <a:chOff x="1225" y="1676"/>
            <a:chExt cx="3402" cy="2346"/>
          </a:xfrm>
        </p:grpSpPr>
        <p:sp>
          <p:nvSpPr>
            <p:cNvPr id="114721" name="Text Box 26"/>
            <p:cNvSpPr txBox="1"/>
            <p:nvPr/>
          </p:nvSpPr>
          <p:spPr>
            <a:xfrm>
              <a:off x="1303" y="2751"/>
              <a:ext cx="231" cy="40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25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4722" name="Line 35"/>
            <p:cNvSpPr/>
            <p:nvPr/>
          </p:nvSpPr>
          <p:spPr>
            <a:xfrm>
              <a:off x="1225" y="1676"/>
              <a:ext cx="385" cy="17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4723" name="Text Box 27"/>
            <p:cNvSpPr txBox="1"/>
            <p:nvPr/>
          </p:nvSpPr>
          <p:spPr>
            <a:xfrm>
              <a:off x="1315" y="3621"/>
              <a:ext cx="1368" cy="40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5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5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</a:t>
              </a:r>
              <a:r>
                <a:rPr lang="en-US" altLang="zh-CN" sz="25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_ )</a:t>
              </a:r>
              <a:endPara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4724" name="Line 37"/>
            <p:cNvSpPr/>
            <p:nvPr/>
          </p:nvSpPr>
          <p:spPr>
            <a:xfrm>
              <a:off x="1882" y="3566"/>
              <a:ext cx="1021" cy="2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4725" name="Text Box 38"/>
            <p:cNvSpPr txBox="1"/>
            <p:nvPr/>
          </p:nvSpPr>
          <p:spPr>
            <a:xfrm>
              <a:off x="2404" y="3383"/>
              <a:ext cx="225" cy="3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4726" name="Text Box 39"/>
            <p:cNvSpPr txBox="1"/>
            <p:nvPr/>
          </p:nvSpPr>
          <p:spPr>
            <a:xfrm>
              <a:off x="3226" y="3531"/>
              <a:ext cx="1401" cy="401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5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5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INC</a:t>
              </a:r>
              <a:r>
                <a:rPr lang="en-US" altLang="zh-CN" sz="25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_ )</a:t>
              </a:r>
              <a:endPara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61459" name="标题 4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识别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Token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DFA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14702" name="AutoShape 12"/>
          <p:cNvCxnSpPr/>
          <p:nvPr/>
        </p:nvCxnSpPr>
        <p:spPr>
          <a:xfrm rot="10800000" flipH="1" flipV="1">
            <a:off x="3871913" y="1635125"/>
            <a:ext cx="409575" cy="1588"/>
          </a:xfrm>
          <a:prstGeom prst="curvedConnector5">
            <a:avLst>
              <a:gd name="adj1" fmla="val -52324"/>
              <a:gd name="adj2" fmla="val -26400009"/>
              <a:gd name="adj3" fmla="val 152324"/>
            </a:avLst>
          </a:prstGeom>
          <a:ln w="50800" cap="flat" cmpd="sng">
            <a:solidFill>
              <a:schemeClr val="tx1"/>
            </a:solidFill>
            <a:prstDash val="solid"/>
            <a:headEnd type="none" w="sm" len="sm"/>
            <a:tailEnd type="triangle" w="med" len="lg"/>
          </a:ln>
        </p:spPr>
      </p:cxnSp>
      <p:grpSp>
        <p:nvGrpSpPr>
          <p:cNvPr id="114703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4720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14704" name="组合 5"/>
          <p:cNvGrpSpPr/>
          <p:nvPr/>
        </p:nvGrpSpPr>
        <p:grpSpPr>
          <a:xfrm>
            <a:off x="2552700" y="3817938"/>
            <a:ext cx="503238" cy="377825"/>
            <a:chOff x="7282962" y="3764993"/>
            <a:chExt cx="503615" cy="377105"/>
          </a:xfrm>
        </p:grpSpPr>
        <p:sp>
          <p:nvSpPr>
            <p:cNvPr id="114717" name="Oval 39"/>
            <p:cNvSpPr/>
            <p:nvPr/>
          </p:nvSpPr>
          <p:spPr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61" name="Oval 29"/>
            <p:cNvSpPr>
              <a:spLocks noChangeArrowheads="1"/>
            </p:cNvSpPr>
            <p:nvPr/>
          </p:nvSpPr>
          <p:spPr bwMode="auto">
            <a:xfrm>
              <a:off x="7354454" y="3823618"/>
              <a:ext cx="360632" cy="2709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705" name="组合 62"/>
          <p:cNvGrpSpPr/>
          <p:nvPr/>
        </p:nvGrpSpPr>
        <p:grpSpPr>
          <a:xfrm>
            <a:off x="3851275" y="1546225"/>
            <a:ext cx="504825" cy="377825"/>
            <a:chOff x="7282962" y="3764993"/>
            <a:chExt cx="503615" cy="377105"/>
          </a:xfrm>
        </p:grpSpPr>
        <p:sp>
          <p:nvSpPr>
            <p:cNvPr id="114715" name="Oval 39"/>
            <p:cNvSpPr/>
            <p:nvPr/>
          </p:nvSpPr>
          <p:spPr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65" name="Oval 29"/>
            <p:cNvSpPr>
              <a:spLocks noChangeArrowheads="1"/>
            </p:cNvSpPr>
            <p:nvPr/>
          </p:nvSpPr>
          <p:spPr bwMode="auto">
            <a:xfrm>
              <a:off x="7354229" y="3823619"/>
              <a:ext cx="361082" cy="27094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706" name="组合 65"/>
          <p:cNvGrpSpPr/>
          <p:nvPr/>
        </p:nvGrpSpPr>
        <p:grpSpPr>
          <a:xfrm>
            <a:off x="3851275" y="2716213"/>
            <a:ext cx="504825" cy="376237"/>
            <a:chOff x="7282962" y="3764993"/>
            <a:chExt cx="503615" cy="377105"/>
          </a:xfrm>
        </p:grpSpPr>
        <p:sp>
          <p:nvSpPr>
            <p:cNvPr id="114713" name="Oval 39"/>
            <p:cNvSpPr/>
            <p:nvPr/>
          </p:nvSpPr>
          <p:spPr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68" name="Oval 29"/>
            <p:cNvSpPr>
              <a:spLocks noChangeArrowheads="1"/>
            </p:cNvSpPr>
            <p:nvPr/>
          </p:nvSpPr>
          <p:spPr bwMode="auto">
            <a:xfrm>
              <a:off x="7354229" y="3823866"/>
              <a:ext cx="361082" cy="27049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707" name="组合 71"/>
          <p:cNvGrpSpPr/>
          <p:nvPr/>
        </p:nvGrpSpPr>
        <p:grpSpPr>
          <a:xfrm>
            <a:off x="4645025" y="3346450"/>
            <a:ext cx="503238" cy="377825"/>
            <a:chOff x="7282962" y="3764993"/>
            <a:chExt cx="503615" cy="377105"/>
          </a:xfrm>
        </p:grpSpPr>
        <p:sp>
          <p:nvSpPr>
            <p:cNvPr id="114711" name="Oval 39"/>
            <p:cNvSpPr/>
            <p:nvPr/>
          </p:nvSpPr>
          <p:spPr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74" name="Oval 29"/>
            <p:cNvSpPr>
              <a:spLocks noChangeArrowheads="1"/>
            </p:cNvSpPr>
            <p:nvPr/>
          </p:nvSpPr>
          <p:spPr bwMode="auto">
            <a:xfrm>
              <a:off x="7354454" y="3823619"/>
              <a:ext cx="360632" cy="27094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708" name="组合 74"/>
          <p:cNvGrpSpPr/>
          <p:nvPr/>
        </p:nvGrpSpPr>
        <p:grpSpPr>
          <a:xfrm>
            <a:off x="4643438" y="4211638"/>
            <a:ext cx="504825" cy="376237"/>
            <a:chOff x="7282962" y="3764993"/>
            <a:chExt cx="503615" cy="377105"/>
          </a:xfrm>
        </p:grpSpPr>
        <p:sp>
          <p:nvSpPr>
            <p:cNvPr id="114709" name="Oval 39"/>
            <p:cNvSpPr/>
            <p:nvPr/>
          </p:nvSpPr>
          <p:spPr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77" name="Oval 29"/>
            <p:cNvSpPr>
              <a:spLocks noChangeArrowheads="1"/>
            </p:cNvSpPr>
            <p:nvPr/>
          </p:nvSpPr>
          <p:spPr bwMode="auto">
            <a:xfrm>
              <a:off x="7354228" y="3823866"/>
              <a:ext cx="361082" cy="27049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词法分析阶段的错误处理</a:t>
            </a:r>
          </a:p>
        </p:txBody>
      </p:sp>
      <p:grpSp>
        <p:nvGrpSpPr>
          <p:cNvPr id="116739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6742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7" name="内容占位符 2"/>
          <p:cNvSpPr txBox="1"/>
          <p:nvPr/>
        </p:nvSpPr>
        <p:spPr bwMode="auto">
          <a:xfrm>
            <a:off x="683568" y="987424"/>
            <a:ext cx="8280920" cy="410460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24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73050" lvl="0" indent="-273050"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词法分析阶段可检测错误的类型</a:t>
            </a:r>
            <a:endParaRPr lang="en-US" altLang="zh-CN" sz="30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576580" lvl="1" indent="-273050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单词拼写错误</a:t>
            </a: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855980" lvl="2" indent="-228600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例：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 i 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 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float j 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1.05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</a:p>
          <a:p>
            <a:pPr marL="576580" lvl="1" indent="-273050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非法字符</a:t>
            </a: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855980" lvl="2" indent="-228600">
              <a:buClrTx/>
              <a:buFont typeface="Wingdings" panose="05000000000000000000" pitchFamily="2" charset="2"/>
              <a:buBlip>
                <a:blip/>
              </a:buBlip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例：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~ @</a:t>
            </a:r>
          </a:p>
          <a:p>
            <a:pPr marL="273050" lvl="0" indent="-2730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词法错误检测</a:t>
            </a:r>
            <a:endParaRPr lang="en-US" altLang="zh-CN" sz="3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576580" lvl="1" indent="-2730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如果当前状态与当前输入符号在转换表对应项中的信息为空，而当前状态又不是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终止状态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，则调用错误处理程序</a:t>
            </a:r>
          </a:p>
          <a:p>
            <a:pPr marL="855980" lvl="2" indent="-228600">
              <a:buClrTx/>
              <a:buFont typeface="Wingdings" panose="05000000000000000000" pitchFamily="2" charset="2"/>
              <a:buChar char="Ø"/>
            </a:pP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428625" y="928688"/>
            <a:ext cx="8439150" cy="2808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查找已扫描字符串中最后一个对应于某终态的字符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如果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找到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了，将该字符与其前面的字符识别成一个单词。然后将输入指针退回到该字符，扫描器重新回到初始状态，继续识别下一个单词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如果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没找到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，则确定出错，采用错误恢复策略</a:t>
            </a:r>
          </a:p>
        </p:txBody>
      </p:sp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错误处理</a:t>
            </a:r>
          </a:p>
        </p:txBody>
      </p:sp>
      <p:grpSp>
        <p:nvGrpSpPr>
          <p:cNvPr id="118788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8790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501063" cy="2808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最简单的错误恢复策略</a:t>
            </a:r>
            <a:r>
              <a:rPr kumimoji="0" lang="zh-CN" altLang="en-US" sz="2700" b="1" i="0" u="none" strike="noStrike" kern="1200" cap="none" spc="-20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“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恐慌模式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panic mode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”恢复</a:t>
            </a: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从剩余的输入中不断删除字符，直到词法分析器能够在剩余输入的开头发现一个正确的字符为止</a:t>
            </a:r>
          </a:p>
        </p:txBody>
      </p:sp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错误恢复策略</a:t>
            </a:r>
          </a:p>
        </p:txBody>
      </p:sp>
      <p:grpSp>
        <p:nvGrpSpPr>
          <p:cNvPr id="120836" name="组合 4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20838" name="五边形 4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9af4791-c82c-4d75-a1fc-fe7d93fcee02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题1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3470</Words>
  <Application>Microsoft Office PowerPoint</Application>
  <PresentationFormat>全屏显示(16:9)</PresentationFormat>
  <Paragraphs>757</Paragraphs>
  <Slides>49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4" baseType="lpstr">
      <vt:lpstr>Monotype Sorts</vt:lpstr>
      <vt:lpstr>华文楷体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主题1</vt:lpstr>
      <vt:lpstr>波形</vt:lpstr>
      <vt:lpstr>PowerPoint 演示文稿</vt:lpstr>
      <vt:lpstr>正则表达式</vt:lpstr>
      <vt:lpstr>正则表达式的定义</vt:lpstr>
      <vt:lpstr>例</vt:lpstr>
      <vt:lpstr>例：C语言无符号整数的RE</vt:lpstr>
      <vt:lpstr>正则语言</vt:lpstr>
      <vt:lpstr>RE的代数定律</vt:lpstr>
      <vt:lpstr>正则文法与正则表达式等价</vt:lpstr>
      <vt:lpstr>正则定义（  Regular Definition）</vt:lpstr>
      <vt:lpstr>例1</vt:lpstr>
      <vt:lpstr>例2</vt:lpstr>
      <vt:lpstr>PowerPoint 演示文稿</vt:lpstr>
      <vt:lpstr>有穷自动机 </vt:lpstr>
      <vt:lpstr>PowerPoint 演示文稿</vt:lpstr>
      <vt:lpstr>PowerPoint 演示文稿</vt:lpstr>
      <vt:lpstr>FA定义（接 收）的 语言</vt:lpstr>
      <vt:lpstr> 最长子串匹配原则(Longest String Matching Principle)</vt:lpstr>
      <vt:lpstr>PowerPoint 演示文稿</vt:lpstr>
      <vt:lpstr>FA的分类</vt:lpstr>
      <vt:lpstr>确定的有穷自动机 (DFA) </vt:lpstr>
      <vt:lpstr>例：一个DFA</vt:lpstr>
      <vt:lpstr>非确定的有穷自动机(NFA) </vt:lpstr>
      <vt:lpstr>PowerPoint 演示文稿</vt:lpstr>
      <vt:lpstr>DFA和NFA的等价性</vt:lpstr>
      <vt:lpstr>DFA和NFA的等价性</vt:lpstr>
      <vt:lpstr>带有“ε-边”的 NFA</vt:lpstr>
      <vt:lpstr>带有和不带有“ε-边”的 NFA 的等价性</vt:lpstr>
      <vt:lpstr>DFA的算法实现</vt:lpstr>
      <vt:lpstr>PowerPoint 演示文稿</vt:lpstr>
      <vt:lpstr>从正则表达式到有穷自动机</vt:lpstr>
      <vt:lpstr>根据RE 构造NFA</vt:lpstr>
      <vt:lpstr>PowerPoint 演示文稿</vt:lpstr>
      <vt:lpstr>例:r=(a|b)*abb 对应的NFA</vt:lpstr>
      <vt:lpstr>PowerPoint 演示文稿</vt:lpstr>
      <vt:lpstr>从NFA到DFA的转换</vt:lpstr>
      <vt:lpstr>例2：从带有ε-边的NFA到DFA的转换</vt:lpstr>
      <vt:lpstr>从带有ε-边的NFA到DFA的转换</vt:lpstr>
      <vt:lpstr>计算 ε-closure (T )</vt:lpstr>
      <vt:lpstr>子集构造法（  subset construction）</vt:lpstr>
      <vt:lpstr>PowerPoint 演示文稿</vt:lpstr>
      <vt:lpstr>PowerPoint 演示文稿</vt:lpstr>
      <vt:lpstr>识别无符号数的DFA</vt:lpstr>
      <vt:lpstr>…</vt:lpstr>
      <vt:lpstr>识别各进制无符号整数的DFA</vt:lpstr>
      <vt:lpstr>识别注释的DFA</vt:lpstr>
      <vt:lpstr>识别Token的DFA</vt:lpstr>
      <vt:lpstr>词法分析阶段的错误处理</vt:lpstr>
      <vt:lpstr>错误处理</vt:lpstr>
      <vt:lpstr>错误恢复策略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王锦鸿</cp:lastModifiedBy>
  <cp:revision>987</cp:revision>
  <cp:lastPrinted>2023-09-13T03:14:52Z</cp:lastPrinted>
  <dcterms:created xsi:type="dcterms:W3CDTF">2023-09-13T03:14:52Z</dcterms:created>
  <dcterms:modified xsi:type="dcterms:W3CDTF">2025-06-25T13:25:39Z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  <property fmtid="{D5CDD505-2E9C-101B-9397-08002B2CF9AE}" pid="3" name="KSOProductBuildVer">
    <vt:lpwstr>1033-6.0.2.8225</vt:lpwstr>
  </property>
  <property fmtid="{D5CDD505-2E9C-101B-9397-08002B2CF9AE}" pid="4" name="ICV">
    <vt:lpwstr>7401722164563BF0A740F964FEFA61BF_42</vt:lpwstr>
  </property>
</Properties>
</file>