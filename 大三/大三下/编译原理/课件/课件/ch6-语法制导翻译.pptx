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2"/>
    <p:sldMasterId id="2147483654" r:id="rId3"/>
  </p:sldMasterIdLst>
  <p:notesMasterIdLst>
    <p:notesMasterId r:id="rId95"/>
  </p:notesMasterIdLst>
  <p:handoutMasterIdLst>
    <p:handoutMasterId r:id="rId96"/>
  </p:handoutMasterIdLst>
  <p:sldIdLst>
    <p:sldId id="667" r:id="rId4"/>
    <p:sldId id="606" r:id="rId5"/>
    <p:sldId id="742" r:id="rId6"/>
    <p:sldId id="743" r:id="rId7"/>
    <p:sldId id="602" r:id="rId8"/>
    <p:sldId id="744" r:id="rId9"/>
    <p:sldId id="745" r:id="rId10"/>
    <p:sldId id="604" r:id="rId11"/>
    <p:sldId id="669" r:id="rId12"/>
    <p:sldId id="609" r:id="rId13"/>
    <p:sldId id="610" r:id="rId14"/>
    <p:sldId id="614" r:id="rId15"/>
    <p:sldId id="611" r:id="rId16"/>
    <p:sldId id="392" r:id="rId17"/>
    <p:sldId id="613" r:id="rId18"/>
    <p:sldId id="671" r:id="rId19"/>
    <p:sldId id="820" r:id="rId20"/>
    <p:sldId id="821" r:id="rId21"/>
    <p:sldId id="907" r:id="rId22"/>
    <p:sldId id="822" r:id="rId23"/>
    <p:sldId id="621" r:id="rId24"/>
    <p:sldId id="622" r:id="rId25"/>
    <p:sldId id="623" r:id="rId26"/>
    <p:sldId id="625" r:id="rId27"/>
    <p:sldId id="692" r:id="rId28"/>
    <p:sldId id="627" r:id="rId29"/>
    <p:sldId id="703" r:id="rId30"/>
    <p:sldId id="628" r:id="rId31"/>
    <p:sldId id="704" r:id="rId32"/>
    <p:sldId id="705" r:id="rId33"/>
    <p:sldId id="631" r:id="rId34"/>
    <p:sldId id="632" r:id="rId35"/>
    <p:sldId id="746" r:id="rId36"/>
    <p:sldId id="747" r:id="rId37"/>
    <p:sldId id="748" r:id="rId38"/>
    <p:sldId id="749" r:id="rId39"/>
    <p:sldId id="750" r:id="rId40"/>
    <p:sldId id="751" r:id="rId41"/>
    <p:sldId id="752" r:id="rId42"/>
    <p:sldId id="753" r:id="rId43"/>
    <p:sldId id="754" r:id="rId44"/>
    <p:sldId id="755" r:id="rId45"/>
    <p:sldId id="756" r:id="rId46"/>
    <p:sldId id="757" r:id="rId47"/>
    <p:sldId id="758" r:id="rId48"/>
    <p:sldId id="759" r:id="rId49"/>
    <p:sldId id="760" r:id="rId50"/>
    <p:sldId id="761" r:id="rId51"/>
    <p:sldId id="762" r:id="rId52"/>
    <p:sldId id="763" r:id="rId53"/>
    <p:sldId id="764" r:id="rId54"/>
    <p:sldId id="765" r:id="rId55"/>
    <p:sldId id="766" r:id="rId56"/>
    <p:sldId id="768" r:id="rId57"/>
    <p:sldId id="805" r:id="rId58"/>
    <p:sldId id="806" r:id="rId59"/>
    <p:sldId id="807" r:id="rId60"/>
    <p:sldId id="769" r:id="rId61"/>
    <p:sldId id="813" r:id="rId62"/>
    <p:sldId id="808" r:id="rId63"/>
    <p:sldId id="771" r:id="rId64"/>
    <p:sldId id="772" r:id="rId65"/>
    <p:sldId id="773" r:id="rId66"/>
    <p:sldId id="774" r:id="rId67"/>
    <p:sldId id="775" r:id="rId68"/>
    <p:sldId id="776" r:id="rId69"/>
    <p:sldId id="777" r:id="rId70"/>
    <p:sldId id="778" r:id="rId71"/>
    <p:sldId id="779" r:id="rId72"/>
    <p:sldId id="780" r:id="rId73"/>
    <p:sldId id="899" r:id="rId74"/>
    <p:sldId id="900" r:id="rId75"/>
    <p:sldId id="901" r:id="rId76"/>
    <p:sldId id="902" r:id="rId77"/>
    <p:sldId id="787" r:id="rId78"/>
    <p:sldId id="823" r:id="rId79"/>
    <p:sldId id="824" r:id="rId80"/>
    <p:sldId id="788" r:id="rId81"/>
    <p:sldId id="789" r:id="rId82"/>
    <p:sldId id="790" r:id="rId83"/>
    <p:sldId id="791" r:id="rId84"/>
    <p:sldId id="795" r:id="rId85"/>
    <p:sldId id="796" r:id="rId86"/>
    <p:sldId id="797" r:id="rId87"/>
    <p:sldId id="904" r:id="rId88"/>
    <p:sldId id="831" r:id="rId89"/>
    <p:sldId id="798" r:id="rId90"/>
    <p:sldId id="799" r:id="rId91"/>
    <p:sldId id="800" r:id="rId92"/>
    <p:sldId id="801" r:id="rId93"/>
    <p:sldId id="802" r:id="rId94"/>
  </p:sldIdLst>
  <p:sldSz cx="9144000" cy="5143500" type="screen16x9"/>
  <p:notesSz cx="7099300" cy="10234613"/>
  <p:custDataLst>
    <p:tags r:id="rId97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342900" lvl="1" indent="11430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685800" lvl="2" indent="22860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028700" lvl="3" indent="34290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371600" lvl="4" indent="45720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45720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45720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45720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45720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6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CCCC"/>
    <a:srgbClr val="FF9900"/>
    <a:srgbClr val="FF0000"/>
    <a:srgbClr val="000099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92"/>
    <p:restoredTop sz="78652"/>
  </p:normalViewPr>
  <p:slideViewPr>
    <p:cSldViewPr showGuides="1">
      <p:cViewPr varScale="1">
        <p:scale>
          <a:sx n="103" d="100"/>
          <a:sy n="103" d="100"/>
        </p:scale>
        <p:origin x="1328" y="56"/>
      </p:cViewPr>
      <p:guideLst>
        <p:guide orient="horz" pos="1565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507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slide" Target="slides/slide86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5" Type="http://schemas.openxmlformats.org/officeDocument/2006/relationships/slide" Target="slides/slide2.xml"/><Relationship Id="rId90" Type="http://schemas.openxmlformats.org/officeDocument/2006/relationships/slide" Target="slides/slide87.xml"/><Relationship Id="rId95" Type="http://schemas.openxmlformats.org/officeDocument/2006/relationships/notesMaster" Target="notesMasters/notesMaster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91" Type="http://schemas.openxmlformats.org/officeDocument/2006/relationships/slide" Target="slides/slide88.xml"/><Relationship Id="rId96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94" Type="http://schemas.openxmlformats.org/officeDocument/2006/relationships/slide" Target="slides/slide91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tags" Target="tags/tag1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100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slide" Target="slides/slide90.xml"/><Relationship Id="rId98" Type="http://schemas.openxmlformats.org/officeDocument/2006/relationships/presProps" Target="presProps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wrap="square" lIns="91434" tIns="45717" rIns="91434" bIns="45717" numCol="1" anchor="t" anchorCtr="0" compatLnSpc="1"/>
          <a:lstStyle>
            <a:lvl1pPr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wrap="square" lIns="91434" tIns="45717" rIns="91434" bIns="45717" numCol="1" anchor="t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FBD1F8-E1D6-4475-B518-A3651A6F6F80}" type="datetimeFigureOut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2025/6/28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wrap="square" lIns="91434" tIns="45717" rIns="91434" bIns="45717" numCol="1" anchor="b" anchorCtr="0" compatLnSpc="1"/>
          <a:lstStyle>
            <a:lvl1pPr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1434" tIns="45717" rIns="91434" bIns="45717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926EEF5-326D-40B7-9F49-A04D641BD984}" type="slidenum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34" tIns="45717" rIns="91434" bIns="45717" numCol="1" anchor="t" anchorCtr="0" compatLnSpc="1"/>
          <a:lstStyle>
            <a:lvl1pPr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82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34" tIns="45717" rIns="91434" bIns="45717" numCol="1" anchor="t" anchorCtr="0" compatLnSpc="1"/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4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382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34" tIns="45717" rIns="91434" bIns="45717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3429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6858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0287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3716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4382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34" tIns="45717" rIns="91434" bIns="45717" numCol="1" anchor="b" anchorCtr="0" compatLnSpc="1"/>
          <a:lstStyle>
            <a:lvl1pPr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82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34" tIns="45717" rIns="91434" bIns="45717" numCol="1" anchor="b" anchorCtr="0" compatLnSpc="1"/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7E7D37C-8F88-4CB8-8FEE-A465C4F2408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3429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6858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0287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3716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331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34" tIns="45717" rIns="91434" bIns="45717" anchor="t" anchorCtr="0"/>
          <a:lstStyle/>
          <a:p>
            <a:pPr lvl="0"/>
            <a:endParaRPr lang="zh-CN" altLang="en-US" dirty="0"/>
          </a:p>
        </p:txBody>
      </p:sp>
      <p:sp>
        <p:nvSpPr>
          <p:cNvPr id="1331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1434" tIns="45717" rIns="91434" bIns="45717" anchor="b" anchorCtr="0"/>
          <a:lstStyle/>
          <a:p>
            <a:pPr lvl="0" algn="r" defTabSz="949325" eaLnBrk="1" hangingPunct="1"/>
            <a:fld id="{9A0DB2DC-4C9A-4742-B13C-FB6460FD3503}" type="slidenum">
              <a:rPr lang="zh-CN" altLang="en-US" sz="1200" b="0" dirty="0">
                <a:solidFill>
                  <a:srgbClr val="000000"/>
                </a:solidFill>
                <a:latin typeface="Arial" panose="020B0604020202020204" pitchFamily="34" charset="0"/>
              </a:rPr>
              <a:t>1</a:t>
            </a:fld>
            <a:endParaRPr lang="zh-CN" altLang="en-US" sz="12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1434" tIns="45717" rIns="91434" bIns="4571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latin typeface="Arial" panose="020B0604020202020204" pitchFamily="34" charset="0"/>
              </a:rPr>
              <a:t>2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1536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536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34" tIns="45717" rIns="91434" bIns="45717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741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34" tIns="45717" rIns="91434" bIns="45717" anchor="t" anchorCtr="0"/>
          <a:lstStyle/>
          <a:p>
            <a:pPr lvl="0"/>
            <a:endParaRPr lang="zh-CN" altLang="en-US" dirty="0"/>
          </a:p>
        </p:txBody>
      </p:sp>
      <p:sp>
        <p:nvSpPr>
          <p:cNvPr id="1741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1434" tIns="45717" rIns="91434" bIns="4571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latin typeface="Arial" panose="020B0604020202020204" pitchFamily="34" charset="0"/>
              </a:rPr>
              <a:t>3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1434" tIns="45717" rIns="91434" bIns="4571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000000"/>
                </a:solidFill>
                <a:latin typeface="Arial" panose="020B0604020202020204" pitchFamily="34" charset="0"/>
              </a:rPr>
              <a:t>4</a:t>
            </a:fld>
            <a:endParaRPr lang="zh-CN" altLang="en-US" sz="12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945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946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34" tIns="45717" rIns="91434" bIns="45717" anchor="t" anchorCtr="0"/>
          <a:lstStyle/>
          <a:p>
            <a:pPr marL="0" lvl="1" indent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1434" tIns="45717" rIns="91434" bIns="4571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latin typeface="Arial" panose="020B0604020202020204" pitchFamily="34" charset="0"/>
              </a:rPr>
              <a:t>5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2150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150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34" tIns="45717" rIns="91434" bIns="45717" anchor="t" anchorCtr="0"/>
          <a:lstStyle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1434" tIns="45717" rIns="91434" bIns="4571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000000"/>
                </a:solidFill>
                <a:latin typeface="Arial" panose="020B0604020202020204" pitchFamily="34" charset="0"/>
              </a:rPr>
              <a:t>6</a:t>
            </a:fld>
            <a:endParaRPr lang="zh-CN" altLang="en-US" sz="12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355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355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34" tIns="45717" rIns="91434" bIns="45717" anchor="t" anchorCtr="0"/>
          <a:lstStyle/>
          <a:p>
            <a:pPr marL="0" lvl="1" indent="0"/>
            <a:endParaRPr lang="zh-CN" altLang="en-US" sz="1300" b="1" dirty="0">
              <a:latin typeface="楷体_GB2312"/>
              <a:ea typeface="楷体_GB231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1434" tIns="45717" rIns="91434" bIns="4571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000000"/>
                </a:solidFill>
                <a:latin typeface="Arial" panose="020B0604020202020204" pitchFamily="34" charset="0"/>
              </a:rPr>
              <a:t>7</a:t>
            </a:fld>
            <a:endParaRPr lang="zh-CN" altLang="en-US" sz="12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560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560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34" tIns="45717" rIns="91434" bIns="45717" anchor="t" anchorCtr="0"/>
          <a:lstStyle/>
          <a:p>
            <a:pPr marL="0" lvl="1" indent="0" eaLnBrk="1" hangingPunct="1"/>
            <a:endParaRPr lang="en-US" altLang="zh-CN" dirty="0">
              <a:latin typeface="楷体_GB2312"/>
              <a:ea typeface="楷体_GB231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1434" tIns="45717" rIns="91434" bIns="4571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latin typeface="Arial" panose="020B0604020202020204" pitchFamily="34" charset="0"/>
              </a:rPr>
              <a:t>8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2765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765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34" tIns="45717" rIns="91434" bIns="45717" anchor="t" anchorCtr="0"/>
          <a:lstStyle/>
          <a:p>
            <a:pPr lvl="0" eaLnBrk="1" hangingPunct="1"/>
            <a:endParaRPr lang="zh-CN" altLang="en-US" dirty="0">
              <a:ea typeface="楷体_GB231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174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34" tIns="45717" rIns="91434" bIns="45717" anchor="t" anchorCtr="0"/>
          <a:lstStyle/>
          <a:p>
            <a:pPr lvl="0"/>
            <a:endParaRPr lang="zh-CN" altLang="en-US" dirty="0"/>
          </a:p>
        </p:txBody>
      </p:sp>
      <p:sp>
        <p:nvSpPr>
          <p:cNvPr id="317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1434" tIns="45717" rIns="91434" bIns="45717" anchor="b" anchorCtr="0"/>
          <a:lstStyle/>
          <a:p>
            <a:pPr lvl="0" algn="r" defTabSz="949325" eaLnBrk="1" hangingPunct="1"/>
            <a:fld id="{9A0DB2DC-4C9A-4742-B13C-FB6460FD3503}" type="slidenum">
              <a:rPr lang="zh-CN" altLang="en-US" sz="1200" b="0" dirty="0">
                <a:solidFill>
                  <a:srgbClr val="000000"/>
                </a:solidFill>
                <a:latin typeface="Arial" panose="020B0604020202020204" pitchFamily="34" charset="0"/>
              </a:rPr>
              <a:t>9</a:t>
            </a:fld>
            <a:endParaRPr lang="zh-CN" altLang="en-US" sz="12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1434" tIns="45717" rIns="91434" bIns="4571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latin typeface="Arial" panose="020B0604020202020204" pitchFamily="34" charset="0"/>
              </a:rPr>
              <a:t>10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3379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379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34" tIns="45717" rIns="91434" bIns="45717" anchor="t" anchorCtr="0"/>
          <a:lstStyle/>
          <a:p>
            <a:pPr lvl="0" eaLnBrk="1" hangingPunct="1"/>
            <a:endParaRPr lang="en-US" altLang="zh-CN" dirty="0">
              <a:solidFill>
                <a:srgbClr val="000099"/>
              </a:solidFill>
              <a:ea typeface="楷体_GB231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1434" tIns="45717" rIns="91434" bIns="4571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latin typeface="Arial" panose="020B0604020202020204" pitchFamily="34" charset="0"/>
              </a:rPr>
              <a:t>11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3584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584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34" tIns="45717" rIns="91434" bIns="45717" anchor="t" anchorCtr="0"/>
          <a:lstStyle/>
          <a:p>
            <a:pPr lvl="0" eaLnBrk="1" hangingPunct="1">
              <a:spcBef>
                <a:spcPct val="0"/>
              </a:spcBef>
            </a:pPr>
            <a:endParaRPr lang="en-US" altLang="zh-CN" dirty="0">
              <a:ea typeface="楷体" panose="02010609060101010101" pitchFamily="49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1434" tIns="45717" rIns="91434" bIns="4571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latin typeface="Arial" panose="020B0604020202020204" pitchFamily="34" charset="0"/>
              </a:rPr>
              <a:t>12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3789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34" tIns="45717" rIns="91434" bIns="45717" anchor="t" anchorCtr="0"/>
          <a:lstStyle/>
          <a:p>
            <a:pPr lvl="0" eaLnBrk="1" hangingPunct="1">
              <a:spcBef>
                <a:spcPct val="0"/>
              </a:spcBef>
            </a:pPr>
            <a:endParaRPr lang="zh-CN" altLang="en-US" dirty="0">
              <a:ea typeface="楷体" panose="02010609060101010101" pitchFamily="49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1434" tIns="45717" rIns="91434" bIns="4571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latin typeface="Arial" panose="020B0604020202020204" pitchFamily="34" charset="0"/>
              </a:rPr>
              <a:t>13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3993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994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34" tIns="45717" rIns="91434" bIns="45717" anchor="t" anchorCtr="0"/>
          <a:lstStyle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1434" tIns="45717" rIns="91434" bIns="4571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latin typeface="Arial" panose="020B0604020202020204" pitchFamily="34" charset="0"/>
              </a:rPr>
              <a:t>14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4198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198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34" tIns="45717" rIns="91434" bIns="45717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1434" tIns="45717" rIns="91434" bIns="4571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latin typeface="Arial" panose="020B0604020202020204" pitchFamily="34" charset="0"/>
              </a:rPr>
              <a:t>15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4403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403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34" tIns="45717" rIns="91434" bIns="45717" anchor="t" anchorCtr="0"/>
          <a:lstStyle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34" tIns="45717" rIns="91434" bIns="45717" anchor="t" anchorCtr="0"/>
          <a:lstStyle/>
          <a:p>
            <a:pPr lvl="0"/>
            <a:endParaRPr lang="zh-CN" altLang="en-US" dirty="0"/>
          </a:p>
        </p:txBody>
      </p:sp>
      <p:sp>
        <p:nvSpPr>
          <p:cNvPr id="4813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1434" tIns="45717" rIns="91434" bIns="45717" anchor="b" anchorCtr="0"/>
          <a:lstStyle/>
          <a:p>
            <a:pPr lvl="0" algn="r" defTabSz="949325" eaLnBrk="1" hangingPunct="1"/>
            <a:fld id="{9A0DB2DC-4C9A-4742-B13C-FB6460FD3503}" type="slidenum">
              <a:rPr lang="zh-CN" altLang="en-US" sz="1200" b="0" dirty="0">
                <a:solidFill>
                  <a:srgbClr val="000000"/>
                </a:solidFill>
                <a:latin typeface="Arial" panose="020B0604020202020204" pitchFamily="34" charset="0"/>
              </a:rPr>
              <a:t>16</a:t>
            </a:fld>
            <a:endParaRPr lang="zh-CN" altLang="en-US" sz="12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017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34" tIns="45717" rIns="91434" bIns="45717" anchor="t" anchorCtr="0"/>
          <a:lstStyle/>
          <a:p>
            <a:pPr marL="0" lvl="1" indent="0"/>
            <a:endParaRPr lang="en-US" altLang="zh-CN" dirty="0">
              <a:ea typeface="Times New Roman" panose="02020603050405020304" pitchFamily="18" charset="0"/>
            </a:endParaRPr>
          </a:p>
        </p:txBody>
      </p:sp>
      <p:sp>
        <p:nvSpPr>
          <p:cNvPr id="5018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1434" tIns="45717" rIns="91434" bIns="4571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latin typeface="Arial" panose="020B0604020202020204" pitchFamily="34" charset="0"/>
              </a:rPr>
              <a:t>17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1434" tIns="45717" rIns="91434" bIns="4571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latin typeface="Arial" panose="020B0604020202020204" pitchFamily="34" charset="0"/>
              </a:rPr>
              <a:t>18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5222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222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34" tIns="45717" rIns="91434" bIns="45717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1434" tIns="45717" rIns="91434" bIns="4571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latin typeface="Arial" panose="020B0604020202020204" pitchFamily="34" charset="0"/>
              </a:rPr>
              <a:t>19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5427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427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34" tIns="45717" rIns="91434" bIns="45717" anchor="t" anchorCtr="0"/>
          <a:lstStyle/>
          <a:p>
            <a:pPr lvl="0"/>
            <a:endParaRPr lang="en-US" altLang="zh-CN" dirty="0"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1434" tIns="45717" rIns="91434" bIns="4571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latin typeface="Arial" panose="020B0604020202020204" pitchFamily="34" charset="0"/>
              </a:rPr>
              <a:t>20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5427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427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34" tIns="45717" rIns="91434" bIns="45717" anchor="t" anchorCtr="0"/>
          <a:lstStyle/>
          <a:p>
            <a:pPr lvl="0"/>
            <a:endParaRPr lang="en-US" altLang="zh-CN" dirty="0"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632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34" tIns="45717" rIns="91434" bIns="45717" anchor="t" anchorCtr="0"/>
          <a:lstStyle/>
          <a:p>
            <a:pPr lvl="0"/>
            <a:endParaRPr lang="zh-CN" altLang="en-US" dirty="0"/>
          </a:p>
        </p:txBody>
      </p:sp>
      <p:sp>
        <p:nvSpPr>
          <p:cNvPr id="563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1434" tIns="45717" rIns="91434" bIns="4571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latin typeface="Arial" panose="020B0604020202020204" pitchFamily="34" charset="0"/>
              </a:rPr>
              <a:t>21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1434" tIns="45717" rIns="91434" bIns="4571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latin typeface="Arial" panose="020B0604020202020204" pitchFamily="34" charset="0"/>
              </a:rPr>
              <a:t>22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5837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837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34" tIns="45717" rIns="91434" bIns="45717" anchor="t" anchorCtr="0"/>
          <a:lstStyle/>
          <a:p>
            <a:pPr lvl="0" eaLnBrk="1" hangingPunct="1"/>
            <a:endParaRPr lang="en-US" altLang="zh-CN" b="1" dirty="0">
              <a:solidFill>
                <a:schemeClr val="folHlink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041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34" tIns="45717" rIns="91434" bIns="45717" anchor="t" anchorCtr="0"/>
          <a:lstStyle/>
          <a:p>
            <a:pPr lvl="0"/>
            <a:endParaRPr lang="zh-CN" altLang="en-US" b="1" dirty="0">
              <a:solidFill>
                <a:schemeClr val="hlink"/>
              </a:solidFill>
              <a:latin typeface="楷体_GB2312"/>
              <a:ea typeface="楷体_GB2312"/>
            </a:endParaRPr>
          </a:p>
        </p:txBody>
      </p:sp>
      <p:sp>
        <p:nvSpPr>
          <p:cNvPr id="6042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1434" tIns="45717" rIns="91434" bIns="4571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latin typeface="Arial" panose="020B0604020202020204" pitchFamily="34" charset="0"/>
              </a:rPr>
              <a:t>23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1434" tIns="45717" rIns="91434" bIns="4571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latin typeface="Arial" panose="020B0604020202020204" pitchFamily="34" charset="0"/>
              </a:rPr>
              <a:t>24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6246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246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34" tIns="45717" rIns="91434" bIns="45717" anchor="t" anchorCtr="0"/>
          <a:lstStyle/>
          <a:p>
            <a:pPr lvl="0" eaLnBrk="1" hangingPunct="1"/>
            <a:endParaRPr lang="zh-CN" altLang="en-US" dirty="0">
              <a:solidFill>
                <a:schemeClr val="hlink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656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34" tIns="45717" rIns="91434" bIns="45717" anchor="t" anchorCtr="0"/>
          <a:lstStyle/>
          <a:p>
            <a:pPr lvl="0"/>
            <a:endParaRPr lang="zh-CN" altLang="en-US" dirty="0"/>
          </a:p>
        </p:txBody>
      </p:sp>
      <p:sp>
        <p:nvSpPr>
          <p:cNvPr id="6656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1434" tIns="45717" rIns="91434" bIns="45717" anchor="b" anchorCtr="0"/>
          <a:lstStyle/>
          <a:p>
            <a:pPr lvl="0" algn="r" defTabSz="949325" eaLnBrk="1" hangingPunct="1"/>
            <a:fld id="{9A0DB2DC-4C9A-4742-B13C-FB6460FD3503}" type="slidenum">
              <a:rPr lang="zh-CN" altLang="en-US" sz="1200" b="0" dirty="0">
                <a:solidFill>
                  <a:srgbClr val="000000"/>
                </a:solidFill>
                <a:latin typeface="Arial" panose="020B0604020202020204" pitchFamily="34" charset="0"/>
              </a:rPr>
              <a:t>25</a:t>
            </a:fld>
            <a:endParaRPr lang="zh-CN" altLang="en-US" sz="12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1434" tIns="45717" rIns="91434" bIns="4571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latin typeface="Arial" panose="020B0604020202020204" pitchFamily="34" charset="0"/>
              </a:rPr>
              <a:t>26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6861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861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34" tIns="45717" rIns="91434" bIns="45717" anchor="t" anchorCtr="0"/>
          <a:lstStyle/>
          <a:p>
            <a:pPr lvl="0" eaLnBrk="1" hangingPunct="1"/>
            <a:endParaRPr lang="en-US" altLang="zh-CN" b="1" dirty="0">
              <a:latin typeface="楷体_GB2312"/>
              <a:ea typeface="楷体_GB2312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1434" tIns="45717" rIns="91434" bIns="4571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000000"/>
                </a:solidFill>
                <a:latin typeface="Arial" panose="020B0604020202020204" pitchFamily="34" charset="0"/>
              </a:rPr>
              <a:t>27</a:t>
            </a:fld>
            <a:endParaRPr lang="zh-CN" altLang="en-US" sz="12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065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066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34" tIns="45717" rIns="91434" bIns="45717" anchor="t" anchorCtr="0"/>
          <a:lstStyle/>
          <a:p>
            <a:pPr lvl="0" eaLnBrk="1" hangingPunct="1"/>
            <a:endParaRPr lang="zh-CN" altLang="en-US" sz="1000" dirty="0">
              <a:latin typeface="楷体_GB2312"/>
              <a:ea typeface="楷体_GB2312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1434" tIns="45717" rIns="91434" bIns="4571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latin typeface="Arial" panose="020B0604020202020204" pitchFamily="34" charset="0"/>
              </a:rPr>
              <a:t>28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7270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270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34" tIns="45717" rIns="91434" bIns="45717" anchor="t" anchorCtr="0"/>
          <a:lstStyle/>
          <a:p>
            <a:pPr lvl="0" eaLnBrk="1" hangingPunct="1"/>
            <a:endParaRPr lang="zh-CN" altLang="en-US" sz="1000" dirty="0">
              <a:latin typeface="楷体_GB2312"/>
              <a:ea typeface="楷体_GB2312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1434" tIns="45717" rIns="91434" bIns="4571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000000"/>
                </a:solidFill>
                <a:latin typeface="Arial" panose="020B0604020202020204" pitchFamily="34" charset="0"/>
              </a:rPr>
              <a:t>29</a:t>
            </a:fld>
            <a:endParaRPr lang="zh-CN" altLang="en-US" sz="12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475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475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34" tIns="45717" rIns="91434" bIns="45717" anchor="t" anchorCtr="0"/>
          <a:lstStyle/>
          <a:p>
            <a:pPr lvl="0" eaLnBrk="1" hangingPunct="1"/>
            <a:endParaRPr lang="zh-CN" altLang="en-US" sz="1000" dirty="0">
              <a:latin typeface="楷体_GB2312"/>
              <a:ea typeface="楷体_GB2312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1434" tIns="45717" rIns="91434" bIns="4571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000000"/>
                </a:solidFill>
                <a:latin typeface="Arial" panose="020B0604020202020204" pitchFamily="34" charset="0"/>
              </a:rPr>
              <a:t>30</a:t>
            </a:fld>
            <a:endParaRPr lang="zh-CN" altLang="en-US" sz="12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680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680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34" tIns="45717" rIns="91434" bIns="45717" anchor="t" anchorCtr="0"/>
          <a:lstStyle/>
          <a:p>
            <a:pPr lvl="0" eaLnBrk="1" hangingPunct="1"/>
            <a:endParaRPr lang="zh-CN" altLang="en-US" sz="1000" dirty="0">
              <a:latin typeface="楷体_GB2312"/>
              <a:ea typeface="楷体_GB2312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 txBox="1">
            <a:spLocks noGrp="1"/>
          </p:cNvSpPr>
          <p:nvPr/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1434" tIns="45717" rIns="91434" bIns="4571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latin typeface="Arial" panose="020B0604020202020204" pitchFamily="34" charset="0"/>
              </a:rPr>
              <a:t>31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7885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885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34" tIns="45717" rIns="91434" bIns="45717" anchor="t" anchorCtr="0"/>
          <a:lstStyle/>
          <a:p>
            <a:pPr lvl="0" eaLnBrk="1" hangingPunct="1"/>
            <a:endParaRPr lang="en-US" altLang="zh-CN" dirty="0">
              <a:latin typeface="楷体_GB2312"/>
              <a:ea typeface="楷体_GB2312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1434" tIns="45717" rIns="91434" bIns="4571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latin typeface="Arial" panose="020B0604020202020204" pitchFamily="34" charset="0"/>
              </a:rPr>
              <a:t>32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8089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090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34" tIns="45717" rIns="91434" bIns="45717" anchor="t" anchorCtr="0"/>
          <a:lstStyle/>
          <a:p>
            <a:pPr lvl="0" eaLnBrk="1" hangingPunct="1"/>
            <a:endParaRPr lang="zh-CN" altLang="en-US" b="1" dirty="0">
              <a:solidFill>
                <a:schemeClr val="folHlink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88112" tIns="44056" rIns="88112" bIns="44056" anchor="t" anchorCtr="0"/>
          <a:lstStyle/>
          <a:p>
            <a:pPr lvl="0"/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  <a:noFill/>
          <a:ln w="9525">
            <a:noFill/>
          </a:ln>
        </p:spPr>
        <p:txBody>
          <a:bodyPr lIns="88112" tIns="44056" rIns="88112" bIns="44056" anchor="b" anchorCtr="0"/>
          <a:lstStyle/>
          <a:p>
            <a:pPr lvl="0" algn="r" defTabSz="916305" eaLnBrk="1" hangingPunct="1"/>
            <a:fld id="{9A0DB2DC-4C9A-4742-B13C-FB6460FD3503}" type="slidenum">
              <a:rPr lang="zh-CN" altLang="en-US" sz="1200" b="0" dirty="0">
                <a:solidFill>
                  <a:srgbClr val="000000"/>
                </a:solidFill>
                <a:latin typeface="Arial" panose="020B0604020202020204" pitchFamily="34" charset="0"/>
              </a:rPr>
              <a:t>33</a:t>
            </a:fld>
            <a:endParaRPr lang="zh-CN" altLang="en-US" sz="12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21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12" tIns="44056" rIns="88112" bIns="44056" anchor="t" anchorCtr="0"/>
          <a:lstStyle/>
          <a:p>
            <a:pPr marL="0" lvl="1" indent="0" eaLnBrk="1" hangingPunct="1"/>
            <a:endParaRPr lang="en-US" altLang="zh-CN" dirty="0">
              <a:solidFill>
                <a:schemeClr val="folHlink"/>
              </a:solidFill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12" tIns="44056" rIns="88112" bIns="44056" anchor="t" anchorCtr="0"/>
          <a:lstStyle/>
          <a:p>
            <a:pPr lvl="0" eaLnBrk="1" hangingPunct="1"/>
            <a:endParaRPr lang="en-US" altLang="zh-CN" dirty="0">
              <a:solidFill>
                <a:schemeClr val="folHlink"/>
              </a:solidFill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331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88112" tIns="44056" rIns="88112" bIns="44056" anchor="t" anchorCtr="0"/>
          <a:lstStyle/>
          <a:p>
            <a:pPr lvl="0"/>
            <a:endParaRPr lang="zh-CN" altLang="en-US" dirty="0"/>
          </a:p>
        </p:txBody>
      </p:sp>
      <p:sp>
        <p:nvSpPr>
          <p:cNvPr id="1331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  <a:noFill/>
          <a:ln w="9525">
            <a:noFill/>
          </a:ln>
        </p:spPr>
        <p:txBody>
          <a:bodyPr lIns="88112" tIns="44056" rIns="88112" bIns="44056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latin typeface="Arial" panose="020B0604020202020204" pitchFamily="34" charset="0"/>
              </a:rPr>
              <a:t>36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536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88112" tIns="44056" rIns="88112" bIns="44056" anchor="t" anchorCtr="0"/>
          <a:lstStyle/>
          <a:p>
            <a:pPr lvl="0"/>
            <a:endParaRPr lang="zh-CN" altLang="en-US" dirty="0"/>
          </a:p>
        </p:txBody>
      </p:sp>
      <p:sp>
        <p:nvSpPr>
          <p:cNvPr id="1536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  <a:noFill/>
          <a:ln w="9525">
            <a:noFill/>
          </a:ln>
        </p:spPr>
        <p:txBody>
          <a:bodyPr lIns="88112" tIns="44056" rIns="88112" bIns="44056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latin typeface="Arial" panose="020B0604020202020204" pitchFamily="34" charset="0"/>
              </a:rPr>
              <a:t>37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  <a:noFill/>
          <a:ln w="9525">
            <a:noFill/>
          </a:ln>
        </p:spPr>
        <p:txBody>
          <a:bodyPr lIns="88112" tIns="44056" rIns="88112" bIns="44056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latin typeface="Arial" panose="020B0604020202020204" pitchFamily="34" charset="0"/>
              </a:rPr>
              <a:t>38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1741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741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12" tIns="44056" rIns="88112" bIns="44056" anchor="t" anchorCtr="0"/>
          <a:lstStyle/>
          <a:p>
            <a:pPr lvl="0" eaLnBrk="1" hangingPunct="1"/>
            <a:endParaRPr lang="en-US" altLang="zh-CN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945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88112" tIns="44056" rIns="88112" bIns="44056" anchor="t" anchorCtr="0"/>
          <a:lstStyle/>
          <a:p>
            <a:pPr lvl="0" eaLnBrk="1" hangingPunct="1">
              <a:spcBef>
                <a:spcPct val="50000"/>
              </a:spcBef>
            </a:pP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94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  <a:noFill/>
          <a:ln w="9525">
            <a:noFill/>
          </a:ln>
        </p:spPr>
        <p:txBody>
          <a:bodyPr lIns="88112" tIns="44056" rIns="88112" bIns="44056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latin typeface="Arial" panose="020B0604020202020204" pitchFamily="34" charset="0"/>
              </a:rPr>
              <a:t>39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88112" tIns="44056" rIns="88112" bIns="44056" anchor="t" anchorCtr="0"/>
          <a:lstStyle/>
          <a:p>
            <a:pPr lvl="0"/>
            <a:endParaRPr lang="zh-CN" altLang="en-US" dirty="0"/>
          </a:p>
        </p:txBody>
      </p:sp>
      <p:sp>
        <p:nvSpPr>
          <p:cNvPr id="2150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  <a:noFill/>
          <a:ln w="9525">
            <a:noFill/>
          </a:ln>
        </p:spPr>
        <p:txBody>
          <a:bodyPr lIns="88112" tIns="44056" rIns="88112" bIns="44056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latin typeface="Arial" panose="020B0604020202020204" pitchFamily="34" charset="0"/>
              </a:rPr>
              <a:t>40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  <a:noFill/>
          <a:ln w="9525">
            <a:noFill/>
          </a:ln>
        </p:spPr>
        <p:txBody>
          <a:bodyPr lIns="88112" tIns="44056" rIns="88112" bIns="44056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latin typeface="Arial" panose="020B0604020202020204" pitchFamily="34" charset="0"/>
              </a:rPr>
              <a:t>41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2355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355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12" tIns="44056" rIns="88112" bIns="44056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  <a:noFill/>
          <a:ln w="9525">
            <a:noFill/>
          </a:ln>
        </p:spPr>
        <p:txBody>
          <a:bodyPr lIns="88112" tIns="44056" rIns="88112" bIns="44056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000000"/>
                </a:solidFill>
                <a:latin typeface="Arial" panose="020B0604020202020204" pitchFamily="34" charset="0"/>
              </a:rPr>
              <a:t>42</a:t>
            </a:fld>
            <a:endParaRPr lang="zh-CN" altLang="en-US" sz="12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560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560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12" tIns="44056" rIns="88112" bIns="44056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  <a:noFill/>
          <a:ln w="9525">
            <a:noFill/>
          </a:ln>
        </p:spPr>
        <p:txBody>
          <a:bodyPr lIns="88112" tIns="44056" rIns="88112" bIns="44056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000000"/>
                </a:solidFill>
                <a:latin typeface="Arial" panose="020B0604020202020204" pitchFamily="34" charset="0"/>
              </a:rPr>
              <a:t>43</a:t>
            </a:fld>
            <a:endParaRPr lang="zh-CN" altLang="en-US" sz="12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765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765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12" tIns="44056" rIns="88112" bIns="44056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  <a:noFill/>
          <a:ln w="9525">
            <a:noFill/>
          </a:ln>
        </p:spPr>
        <p:txBody>
          <a:bodyPr lIns="88112" tIns="44056" rIns="88112" bIns="44056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000000"/>
                </a:solidFill>
                <a:latin typeface="Arial" panose="020B0604020202020204" pitchFamily="34" charset="0"/>
              </a:rPr>
              <a:t>44</a:t>
            </a:fld>
            <a:endParaRPr lang="zh-CN" altLang="en-US" sz="12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969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970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12" tIns="44056" rIns="88112" bIns="44056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  <a:noFill/>
          <a:ln w="9525">
            <a:noFill/>
          </a:ln>
        </p:spPr>
        <p:txBody>
          <a:bodyPr lIns="88112" tIns="44056" rIns="88112" bIns="44056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000000"/>
                </a:solidFill>
                <a:latin typeface="Arial" panose="020B0604020202020204" pitchFamily="34" charset="0"/>
              </a:rPr>
              <a:t>45</a:t>
            </a:fld>
            <a:endParaRPr lang="zh-CN" altLang="en-US" sz="12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174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174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12" tIns="44056" rIns="88112" bIns="44056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  <a:noFill/>
          <a:ln w="9525">
            <a:noFill/>
          </a:ln>
        </p:spPr>
        <p:txBody>
          <a:bodyPr lIns="88112" tIns="44056" rIns="88112" bIns="44056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000000"/>
                </a:solidFill>
                <a:latin typeface="Arial" panose="020B0604020202020204" pitchFamily="34" charset="0"/>
              </a:rPr>
              <a:t>46</a:t>
            </a:fld>
            <a:endParaRPr lang="zh-CN" altLang="en-US" sz="12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379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379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12" tIns="44056" rIns="88112" bIns="44056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  <a:noFill/>
          <a:ln w="9525">
            <a:noFill/>
          </a:ln>
        </p:spPr>
        <p:txBody>
          <a:bodyPr lIns="88112" tIns="44056" rIns="88112" bIns="44056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000000"/>
                </a:solidFill>
                <a:latin typeface="Arial" panose="020B0604020202020204" pitchFamily="34" charset="0"/>
              </a:rPr>
              <a:t>47</a:t>
            </a:fld>
            <a:endParaRPr lang="zh-CN" altLang="en-US" sz="12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584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584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12" tIns="44056" rIns="88112" bIns="44056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  <a:noFill/>
          <a:ln w="9525">
            <a:noFill/>
          </a:ln>
        </p:spPr>
        <p:txBody>
          <a:bodyPr lIns="88112" tIns="44056" rIns="88112" bIns="44056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000000"/>
                </a:solidFill>
                <a:latin typeface="Arial" panose="020B0604020202020204" pitchFamily="34" charset="0"/>
              </a:rPr>
              <a:t>48</a:t>
            </a:fld>
            <a:endParaRPr lang="zh-CN" altLang="en-US" sz="12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789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12" tIns="44056" rIns="88112" bIns="44056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  <a:noFill/>
          <a:ln w="9525">
            <a:noFill/>
          </a:ln>
        </p:spPr>
        <p:txBody>
          <a:bodyPr lIns="88112" tIns="44056" rIns="88112" bIns="44056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000000"/>
                </a:solidFill>
                <a:latin typeface="Arial" panose="020B0604020202020204" pitchFamily="34" charset="0"/>
              </a:rPr>
              <a:t>49</a:t>
            </a:fld>
            <a:endParaRPr lang="zh-CN" altLang="en-US" sz="12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993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994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12" tIns="44056" rIns="88112" bIns="44056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  <a:noFill/>
          <a:ln w="9525">
            <a:noFill/>
          </a:ln>
        </p:spPr>
        <p:txBody>
          <a:bodyPr lIns="88112" tIns="44056" rIns="88112" bIns="44056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latin typeface="Arial" panose="020B0604020202020204" pitchFamily="34" charset="0"/>
              </a:rPr>
              <a:t>50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4198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198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12" tIns="44056" rIns="88112" bIns="44056" anchor="t" anchorCtr="0"/>
          <a:lstStyle/>
          <a:p>
            <a:pPr lvl="0" eaLnBrk="1" hangingPunct="1"/>
            <a:r>
              <a:rPr lang="en-US" altLang="zh-CN" dirty="0"/>
              <a:t>A</a:t>
            </a:r>
            <a:r>
              <a:rPr lang="zh-CN" altLang="en-US" dirty="0"/>
              <a:t>的子节点会使用</a:t>
            </a:r>
            <a:r>
              <a:rPr lang="en-US" altLang="zh-CN" dirty="0" err="1"/>
              <a:t>A.inh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  <a:noFill/>
          <a:ln w="9525">
            <a:noFill/>
          </a:ln>
        </p:spPr>
        <p:txBody>
          <a:bodyPr lIns="88112" tIns="44056" rIns="88112" bIns="44056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latin typeface="Arial" panose="020B0604020202020204" pitchFamily="34" charset="0"/>
              </a:rPr>
              <a:t>51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4403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403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12" tIns="44056" rIns="88112" bIns="44056" anchor="t" anchorCtr="0"/>
          <a:lstStyle/>
          <a:p>
            <a:pPr lvl="0" eaLnBrk="1" hangingPunct="1"/>
            <a:endParaRPr lang="en-US" altLang="zh-CN" b="1" dirty="0">
              <a:solidFill>
                <a:schemeClr val="hlink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  <a:noFill/>
          <a:ln w="9525">
            <a:noFill/>
          </a:ln>
        </p:spPr>
        <p:txBody>
          <a:bodyPr lIns="88112" tIns="44056" rIns="88112" bIns="44056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000000"/>
                </a:solidFill>
                <a:latin typeface="Arial" panose="020B0604020202020204" pitchFamily="34" charset="0"/>
              </a:rPr>
              <a:t>52</a:t>
            </a:fld>
            <a:endParaRPr lang="zh-CN" altLang="en-US" sz="12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608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608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12" tIns="44056" rIns="88112" bIns="44056" anchor="t" anchorCtr="0"/>
          <a:lstStyle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  <a:noFill/>
          <a:ln w="9525">
            <a:noFill/>
          </a:ln>
        </p:spPr>
        <p:txBody>
          <a:bodyPr lIns="88112" tIns="44056" rIns="88112" bIns="44056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000000"/>
                </a:solidFill>
                <a:latin typeface="Arial" panose="020B0604020202020204" pitchFamily="34" charset="0"/>
              </a:rPr>
              <a:t>53</a:t>
            </a:fld>
            <a:endParaRPr lang="zh-CN" altLang="en-US" sz="12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813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813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12" tIns="44056" rIns="88112" bIns="44056" anchor="t" anchorCtr="0"/>
          <a:lstStyle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88112" tIns="44056" rIns="88112" bIns="44056" anchor="t" anchorCtr="0"/>
          <a:lstStyle/>
          <a:p>
            <a:pPr lvl="0"/>
            <a:endParaRPr lang="zh-CN" altLang="en-US" dirty="0"/>
          </a:p>
        </p:txBody>
      </p:sp>
      <p:sp>
        <p:nvSpPr>
          <p:cNvPr id="5222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  <a:noFill/>
          <a:ln w="9525">
            <a:noFill/>
          </a:ln>
        </p:spPr>
        <p:txBody>
          <a:bodyPr lIns="88112" tIns="44056" rIns="88112" bIns="44056" anchor="b" anchorCtr="0"/>
          <a:lstStyle/>
          <a:p>
            <a:pPr lvl="0" algn="r" defTabSz="916305" eaLnBrk="1" hangingPunct="1"/>
            <a:fld id="{9A0DB2DC-4C9A-4742-B13C-FB6460FD3503}" type="slidenum">
              <a:rPr lang="zh-CN" altLang="en-US" sz="1200" b="0" dirty="0">
                <a:solidFill>
                  <a:srgbClr val="000000"/>
                </a:solidFill>
                <a:latin typeface="Arial" panose="020B0604020202020204" pitchFamily="34" charset="0"/>
              </a:rPr>
              <a:t>54</a:t>
            </a:fld>
            <a:endParaRPr lang="zh-CN" altLang="en-US" sz="12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9019" tIns="49510" rIns="99019" bIns="49510" anchor="t" anchorCtr="0"/>
          <a:lstStyle/>
          <a:p>
            <a:pPr lvl="0" eaLnBrk="1" hangingPunct="1"/>
            <a:endParaRPr lang="zh-CN" altLang="en-US" dirty="0">
              <a:latin typeface="楷体_GB2312"/>
              <a:ea typeface="楷体_GB2312"/>
            </a:endParaRPr>
          </a:p>
        </p:txBody>
      </p:sp>
      <p:sp>
        <p:nvSpPr>
          <p:cNvPr id="4813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19" tIns="49510" rIns="99019" bIns="49510" anchor="b" anchorCtr="0"/>
          <a:lstStyle/>
          <a:p>
            <a:pPr lvl="0" algn="r" defTabSz="986155" eaLnBrk="1" hangingPunct="1"/>
            <a:fld id="{9A0DB2DC-4C9A-4742-B13C-FB6460FD3503}" type="slidenum">
              <a:rPr lang="zh-CN" altLang="en-US" sz="1300" dirty="0"/>
              <a:t>55</a:t>
            </a:fld>
            <a:endParaRPr lang="zh-CN" altLang="en-US" sz="1300" dirty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9019" tIns="49510" rIns="99019" bIns="49510" anchor="t" anchorCtr="0"/>
          <a:lstStyle/>
          <a:p>
            <a:pPr lvl="0"/>
            <a:endParaRPr lang="zh-CN" altLang="en-US" dirty="0"/>
          </a:p>
        </p:txBody>
      </p:sp>
      <p:sp>
        <p:nvSpPr>
          <p:cNvPr id="5222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19" tIns="49510" rIns="99019" bIns="49510" anchor="b" anchorCtr="0"/>
          <a:lstStyle/>
          <a:p>
            <a:pPr lvl="0" algn="r" defTabSz="987425" eaLnBrk="1" hangingPunct="1"/>
            <a:fld id="{9A0DB2DC-4C9A-4742-B13C-FB6460FD3503}" type="slidenum">
              <a:rPr lang="zh-CN" altLang="en-US" sz="1300" dirty="0"/>
              <a:t>56</a:t>
            </a:fld>
            <a:endParaRPr lang="zh-CN" altLang="en-US" sz="1300" dirty="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017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9019" tIns="49510" rIns="99019" bIns="49510" anchor="t" anchorCtr="0"/>
          <a:lstStyle/>
          <a:p>
            <a:pPr lvl="0" eaLnBrk="1" hangingPunct="1"/>
            <a:endParaRPr lang="zh-CN" altLang="en-US" b="1" dirty="0">
              <a:latin typeface="楷体_GB2312"/>
              <a:ea typeface="楷体_GB2312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427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88112" tIns="44056" rIns="88112" bIns="44056" anchor="t" anchorCtr="0"/>
          <a:lstStyle/>
          <a:p>
            <a:pPr lvl="0"/>
            <a:endParaRPr lang="en-US" altLang="zh-CN" dirty="0"/>
          </a:p>
        </p:txBody>
      </p:sp>
      <p:sp>
        <p:nvSpPr>
          <p:cNvPr id="5427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  <a:noFill/>
          <a:ln w="9525">
            <a:noFill/>
          </a:ln>
        </p:spPr>
        <p:txBody>
          <a:bodyPr lIns="88112" tIns="44056" rIns="88112" bIns="44056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000000"/>
                </a:solidFill>
                <a:latin typeface="Arial" panose="020B0604020202020204" pitchFamily="34" charset="0"/>
              </a:rPr>
              <a:t>58</a:t>
            </a:fld>
            <a:endParaRPr lang="zh-CN" altLang="en-US" sz="12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632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88112" tIns="44056" rIns="88112" bIns="44056" anchor="t" anchorCtr="0"/>
          <a:lstStyle/>
          <a:p>
            <a:pPr lvl="0"/>
            <a:endParaRPr lang="zh-CN" altLang="en-US" dirty="0"/>
          </a:p>
          <a:p>
            <a:pPr lvl="0"/>
            <a:endParaRPr lang="en-US" altLang="zh-CN" dirty="0"/>
          </a:p>
        </p:txBody>
      </p:sp>
      <p:sp>
        <p:nvSpPr>
          <p:cNvPr id="563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  <a:noFill/>
          <a:ln w="9525">
            <a:noFill/>
          </a:ln>
        </p:spPr>
        <p:txBody>
          <a:bodyPr lIns="88112" tIns="44056" rIns="88112" bIns="44056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solidFill>
                  <a:srgbClr val="000000"/>
                </a:solidFill>
                <a:latin typeface="Arial" panose="020B0604020202020204" pitchFamily="34" charset="0"/>
              </a:rPr>
              <a:t>59</a:t>
            </a:fld>
            <a:endParaRPr lang="zh-CN" altLang="en-US" sz="12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885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88112" tIns="44056" rIns="88112" bIns="44056" anchor="t" anchorCtr="0"/>
          <a:lstStyle/>
          <a:p>
            <a:pPr lvl="0"/>
            <a:endParaRPr lang="zh-CN" altLang="en-US" dirty="0"/>
          </a:p>
        </p:txBody>
      </p:sp>
      <p:sp>
        <p:nvSpPr>
          <p:cNvPr id="788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  <a:noFill/>
          <a:ln w="9525">
            <a:noFill/>
          </a:ln>
        </p:spPr>
        <p:txBody>
          <a:bodyPr lIns="88112" tIns="44056" rIns="88112" bIns="44056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latin typeface="Arial" panose="020B0604020202020204" pitchFamily="34" charset="0"/>
              </a:rPr>
              <a:t>60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837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88112" tIns="44056" rIns="88112" bIns="44056" anchor="t" anchorCtr="0"/>
          <a:lstStyle/>
          <a:p>
            <a:pPr lvl="0"/>
            <a:endParaRPr lang="en-US" altLang="zh-CN" dirty="0"/>
          </a:p>
        </p:txBody>
      </p:sp>
      <p:sp>
        <p:nvSpPr>
          <p:cNvPr id="583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  <a:noFill/>
          <a:ln w="9525">
            <a:noFill/>
          </a:ln>
        </p:spPr>
        <p:txBody>
          <a:bodyPr lIns="88112" tIns="44056" rIns="88112" bIns="44056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latin typeface="Arial" panose="020B0604020202020204" pitchFamily="34" charset="0"/>
              </a:rPr>
              <a:t>61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041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88112" tIns="44056" rIns="88112" bIns="44056" anchor="t" anchorCtr="0"/>
          <a:lstStyle/>
          <a:p>
            <a:pPr lvl="0"/>
            <a:endParaRPr lang="zh-CN" altLang="en-US" dirty="0"/>
          </a:p>
        </p:txBody>
      </p:sp>
      <p:sp>
        <p:nvSpPr>
          <p:cNvPr id="6042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  <a:noFill/>
          <a:ln w="9525">
            <a:noFill/>
          </a:ln>
        </p:spPr>
        <p:txBody>
          <a:bodyPr lIns="88112" tIns="44056" rIns="88112" bIns="44056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latin typeface="Arial" panose="020B0604020202020204" pitchFamily="34" charset="0"/>
              </a:rPr>
              <a:t>62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24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88112" tIns="44056" rIns="88112" bIns="44056" anchor="t" anchorCtr="0"/>
          <a:lstStyle/>
          <a:p>
            <a:pPr lvl="0"/>
            <a:endParaRPr lang="zh-CN" altLang="en-US" dirty="0"/>
          </a:p>
        </p:txBody>
      </p:sp>
      <p:sp>
        <p:nvSpPr>
          <p:cNvPr id="624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  <a:noFill/>
          <a:ln w="9525">
            <a:noFill/>
          </a:ln>
        </p:spPr>
        <p:txBody>
          <a:bodyPr lIns="88112" tIns="44056" rIns="88112" bIns="44056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latin typeface="Arial" panose="020B0604020202020204" pitchFamily="34" charset="0"/>
              </a:rPr>
              <a:t>63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451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88112" tIns="44056" rIns="88112" bIns="44056" anchor="t" anchorCtr="0"/>
          <a:lstStyle/>
          <a:p>
            <a:pPr lvl="0"/>
            <a:endParaRPr lang="zh-CN" altLang="en-US" dirty="0"/>
          </a:p>
        </p:txBody>
      </p:sp>
      <p:sp>
        <p:nvSpPr>
          <p:cNvPr id="6451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  <a:noFill/>
          <a:ln w="9525">
            <a:noFill/>
          </a:ln>
        </p:spPr>
        <p:txBody>
          <a:bodyPr lIns="88112" tIns="44056" rIns="88112" bIns="44056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latin typeface="Arial" panose="020B0604020202020204" pitchFamily="34" charset="0"/>
              </a:rPr>
              <a:t>64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656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88112" tIns="44056" rIns="88112" bIns="44056" anchor="t" anchorCtr="0"/>
          <a:lstStyle/>
          <a:p>
            <a:pPr lvl="0"/>
            <a:endParaRPr lang="zh-CN" altLang="en-US" dirty="0"/>
          </a:p>
        </p:txBody>
      </p:sp>
      <p:sp>
        <p:nvSpPr>
          <p:cNvPr id="6656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  <a:noFill/>
          <a:ln w="9525">
            <a:noFill/>
          </a:ln>
        </p:spPr>
        <p:txBody>
          <a:bodyPr lIns="88112" tIns="44056" rIns="88112" bIns="44056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latin typeface="Arial" panose="020B0604020202020204" pitchFamily="34" charset="0"/>
              </a:rPr>
              <a:t>65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861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88112" tIns="44056" rIns="88112" bIns="44056" anchor="t" anchorCtr="0"/>
          <a:lstStyle/>
          <a:p>
            <a:pPr lvl="0"/>
            <a:endParaRPr lang="zh-CN" altLang="en-US" dirty="0"/>
          </a:p>
        </p:txBody>
      </p:sp>
      <p:sp>
        <p:nvSpPr>
          <p:cNvPr id="6861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  <a:noFill/>
          <a:ln w="9525">
            <a:noFill/>
          </a:ln>
        </p:spPr>
        <p:txBody>
          <a:bodyPr lIns="88112" tIns="44056" rIns="88112" bIns="44056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latin typeface="Arial" panose="020B0604020202020204" pitchFamily="34" charset="0"/>
              </a:rPr>
              <a:t>66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065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88112" tIns="44056" rIns="88112" bIns="44056" anchor="t" anchorCtr="0"/>
          <a:lstStyle/>
          <a:p>
            <a:pPr lvl="0"/>
            <a:endParaRPr lang="zh-CN" altLang="en-US" dirty="0"/>
          </a:p>
        </p:txBody>
      </p:sp>
      <p:sp>
        <p:nvSpPr>
          <p:cNvPr id="706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  <a:noFill/>
          <a:ln w="9525">
            <a:noFill/>
          </a:ln>
        </p:spPr>
        <p:txBody>
          <a:bodyPr lIns="88112" tIns="44056" rIns="88112" bIns="44056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latin typeface="Arial" panose="020B0604020202020204" pitchFamily="34" charset="0"/>
              </a:rPr>
              <a:t>67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270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88112" tIns="44056" rIns="88112" bIns="44056" anchor="t" anchorCtr="0"/>
          <a:lstStyle/>
          <a:p>
            <a:pPr lvl="0"/>
            <a:endParaRPr lang="zh-CN" altLang="en-US" dirty="0"/>
          </a:p>
        </p:txBody>
      </p:sp>
      <p:sp>
        <p:nvSpPr>
          <p:cNvPr id="7270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  <a:noFill/>
          <a:ln w="9525">
            <a:noFill/>
          </a:ln>
        </p:spPr>
        <p:txBody>
          <a:bodyPr lIns="88112" tIns="44056" rIns="88112" bIns="44056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latin typeface="Arial" panose="020B0604020202020204" pitchFamily="34" charset="0"/>
              </a:rPr>
              <a:t>68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475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88112" tIns="44056" rIns="88112" bIns="44056" anchor="t" anchorCtr="0"/>
          <a:lstStyle/>
          <a:p>
            <a:pPr lvl="0"/>
            <a:endParaRPr lang="zh-CN" altLang="en-US" dirty="0"/>
          </a:p>
        </p:txBody>
      </p:sp>
      <p:sp>
        <p:nvSpPr>
          <p:cNvPr id="7475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  <a:noFill/>
          <a:ln w="9525">
            <a:noFill/>
          </a:ln>
        </p:spPr>
        <p:txBody>
          <a:bodyPr lIns="88112" tIns="44056" rIns="88112" bIns="44056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latin typeface="Arial" panose="020B0604020202020204" pitchFamily="34" charset="0"/>
              </a:rPr>
              <a:t>69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680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88112" tIns="44056" rIns="88112" bIns="44056" anchor="t" anchorCtr="0"/>
          <a:lstStyle/>
          <a:p>
            <a:pPr lvl="0"/>
            <a:endParaRPr lang="zh-CN" altLang="en-US" dirty="0"/>
          </a:p>
        </p:txBody>
      </p:sp>
      <p:sp>
        <p:nvSpPr>
          <p:cNvPr id="7680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  <a:noFill/>
          <a:ln w="9525">
            <a:noFill/>
          </a:ln>
        </p:spPr>
        <p:txBody>
          <a:bodyPr lIns="88112" tIns="44056" rIns="88112" bIns="44056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latin typeface="Arial" panose="020B0604020202020204" pitchFamily="34" charset="0"/>
              </a:rPr>
              <a:t>70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089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88112" tIns="44056" rIns="88112" bIns="44056" anchor="t" anchorCtr="0"/>
          <a:lstStyle/>
          <a:p>
            <a:pPr lvl="0"/>
            <a:endParaRPr lang="zh-CN" altLang="en-US" dirty="0"/>
          </a:p>
        </p:txBody>
      </p:sp>
      <p:sp>
        <p:nvSpPr>
          <p:cNvPr id="8090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  <a:noFill/>
          <a:ln w="9525">
            <a:noFill/>
          </a:ln>
        </p:spPr>
        <p:txBody>
          <a:bodyPr lIns="88112" tIns="44056" rIns="88112" bIns="44056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latin typeface="Arial" panose="020B0604020202020204" pitchFamily="34" charset="0"/>
              </a:rPr>
              <a:t>71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294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88112" tIns="44056" rIns="88112" bIns="44056" anchor="t" anchorCtr="0"/>
          <a:lstStyle/>
          <a:p>
            <a:pPr lvl="0"/>
            <a:endParaRPr lang="zh-CN" altLang="en-US" dirty="0"/>
          </a:p>
        </p:txBody>
      </p:sp>
      <p:sp>
        <p:nvSpPr>
          <p:cNvPr id="829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  <a:noFill/>
          <a:ln w="9525">
            <a:noFill/>
          </a:ln>
        </p:spPr>
        <p:txBody>
          <a:bodyPr lIns="88112" tIns="44056" rIns="88112" bIns="44056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latin typeface="Arial" panose="020B0604020202020204" pitchFamily="34" charset="0"/>
              </a:rPr>
              <a:t>72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499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88112" tIns="44056" rIns="88112" bIns="44056" anchor="t" anchorCtr="0"/>
          <a:lstStyle/>
          <a:p>
            <a:pPr lvl="0"/>
            <a:endParaRPr lang="zh-CN" altLang="en-US" dirty="0"/>
          </a:p>
        </p:txBody>
      </p:sp>
      <p:sp>
        <p:nvSpPr>
          <p:cNvPr id="8499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  <a:noFill/>
          <a:ln w="9525">
            <a:noFill/>
          </a:ln>
        </p:spPr>
        <p:txBody>
          <a:bodyPr lIns="88112" tIns="44056" rIns="88112" bIns="44056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latin typeface="Arial" panose="020B0604020202020204" pitchFamily="34" charset="0"/>
              </a:rPr>
              <a:t>73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704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88112" tIns="44056" rIns="88112" bIns="44056" anchor="t" anchorCtr="0"/>
          <a:lstStyle/>
          <a:p>
            <a:pPr lvl="0"/>
            <a:endParaRPr lang="zh-CN" altLang="en-US" dirty="0"/>
          </a:p>
        </p:txBody>
      </p:sp>
      <p:sp>
        <p:nvSpPr>
          <p:cNvPr id="8704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  <a:noFill/>
          <a:ln w="9525">
            <a:noFill/>
          </a:ln>
        </p:spPr>
        <p:txBody>
          <a:bodyPr lIns="88112" tIns="44056" rIns="88112" bIns="44056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latin typeface="Arial" panose="020B0604020202020204" pitchFamily="34" charset="0"/>
              </a:rPr>
              <a:t>74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88112" tIns="44056" rIns="88112" bIns="44056" anchor="t" anchorCtr="0"/>
          <a:lstStyle/>
          <a:p>
            <a:pPr lvl="0"/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  <a:noFill/>
          <a:ln w="9525">
            <a:noFill/>
          </a:ln>
        </p:spPr>
        <p:txBody>
          <a:bodyPr lIns="88112" tIns="44056" rIns="88112" bIns="44056" anchor="b" anchorCtr="0"/>
          <a:lstStyle/>
          <a:p>
            <a:pPr lvl="0" algn="r" defTabSz="916305" eaLnBrk="1" hangingPunct="1"/>
            <a:fld id="{9A0DB2DC-4C9A-4742-B13C-FB6460FD3503}" type="slidenum">
              <a:rPr lang="zh-CN" altLang="en-US" sz="1200" b="0" dirty="0">
                <a:solidFill>
                  <a:srgbClr val="000000"/>
                </a:solidFill>
                <a:latin typeface="Arial" panose="020B0604020202020204" pitchFamily="34" charset="0"/>
              </a:rPr>
              <a:t>75</a:t>
            </a:fld>
            <a:endParaRPr lang="zh-CN" altLang="en-US" sz="12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  <a:noFill/>
          <a:ln w="9525">
            <a:noFill/>
          </a:ln>
        </p:spPr>
        <p:txBody>
          <a:bodyPr lIns="88112" tIns="44056" rIns="88112" bIns="44056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latin typeface="Arial" panose="020B0604020202020204" pitchFamily="34" charset="0"/>
              </a:rPr>
              <a:t>76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1741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741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12" tIns="44056" rIns="88112" bIns="44056" anchor="t" anchorCtr="0"/>
          <a:lstStyle/>
          <a:p>
            <a:pPr lvl="0" eaLnBrk="1" hangingPunct="1"/>
            <a:endParaRPr lang="en-US" altLang="zh-CN" sz="1000" b="1" dirty="0">
              <a:latin typeface="楷体_GB2312"/>
              <a:ea typeface="楷体_GB2312"/>
            </a:endParaR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945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88112" tIns="44056" rIns="88112" bIns="44056" anchor="t" anchorCtr="0"/>
          <a:lstStyle/>
          <a:p>
            <a:pPr lvl="0"/>
            <a:endParaRPr lang="zh-CN" altLang="en-US" dirty="0"/>
          </a:p>
        </p:txBody>
      </p:sp>
      <p:sp>
        <p:nvSpPr>
          <p:cNvPr id="194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  <a:noFill/>
          <a:ln w="9525">
            <a:noFill/>
          </a:ln>
        </p:spPr>
        <p:txBody>
          <a:bodyPr lIns="88112" tIns="44056" rIns="88112" bIns="44056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latin typeface="Arial" panose="020B0604020202020204" pitchFamily="34" charset="0"/>
              </a:rPr>
              <a:t>77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  <a:noFill/>
          <a:ln w="9525">
            <a:noFill/>
          </a:ln>
        </p:spPr>
        <p:txBody>
          <a:bodyPr lIns="88112" tIns="44056" rIns="88112" bIns="44056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latin typeface="Arial" panose="020B0604020202020204" pitchFamily="34" charset="0"/>
              </a:rPr>
              <a:t>78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921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22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12" tIns="44056" rIns="88112" bIns="44056" anchor="t" anchorCtr="0"/>
          <a:lstStyle/>
          <a:p>
            <a:pPr lvl="0"/>
            <a:endParaRPr lang="zh-CN" altLang="en-US" b="1" dirty="0">
              <a:latin typeface="楷体_GB2312"/>
              <a:ea typeface="楷体_GB2312"/>
            </a:endParaRP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88112" tIns="44056" rIns="88112" bIns="44056" anchor="t" anchorCtr="0"/>
          <a:lstStyle/>
          <a:p>
            <a:pPr lvl="0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  <a:noFill/>
          <a:ln w="9525">
            <a:noFill/>
          </a:ln>
        </p:spPr>
        <p:txBody>
          <a:bodyPr lIns="88112" tIns="44056" rIns="88112" bIns="44056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latin typeface="Arial" panose="020B0604020202020204" pitchFamily="34" charset="0"/>
              </a:rPr>
              <a:t>79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331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88112" tIns="44056" rIns="88112" bIns="44056" anchor="t" anchorCtr="0"/>
          <a:lstStyle/>
          <a:p>
            <a:pPr lvl="0"/>
            <a:endParaRPr lang="zh-CN" altLang="en-US" dirty="0"/>
          </a:p>
        </p:txBody>
      </p:sp>
      <p:sp>
        <p:nvSpPr>
          <p:cNvPr id="1331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  <a:noFill/>
          <a:ln w="9525">
            <a:noFill/>
          </a:ln>
        </p:spPr>
        <p:txBody>
          <a:bodyPr lIns="88112" tIns="44056" rIns="88112" bIns="44056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latin typeface="Arial" panose="020B0604020202020204" pitchFamily="34" charset="0"/>
              </a:rPr>
              <a:t>80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536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88112" tIns="44056" rIns="88112" bIns="44056" anchor="t" anchorCtr="0"/>
          <a:lstStyle/>
          <a:p>
            <a:pPr lvl="0"/>
            <a:endParaRPr lang="zh-CN" altLang="en-US" dirty="0"/>
          </a:p>
        </p:txBody>
      </p:sp>
      <p:sp>
        <p:nvSpPr>
          <p:cNvPr id="1536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  <a:noFill/>
          <a:ln w="9525">
            <a:noFill/>
          </a:ln>
        </p:spPr>
        <p:txBody>
          <a:bodyPr lIns="88112" tIns="44056" rIns="88112" bIns="44056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latin typeface="Arial" panose="020B0604020202020204" pitchFamily="34" charset="0"/>
              </a:rPr>
              <a:t>81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88112" tIns="44056" rIns="88112" bIns="44056" anchor="t" anchorCtr="0"/>
          <a:lstStyle/>
          <a:p>
            <a:pPr lvl="0"/>
            <a:endParaRPr lang="zh-CN" altLang="en-US" dirty="0"/>
          </a:p>
        </p:txBody>
      </p:sp>
      <p:sp>
        <p:nvSpPr>
          <p:cNvPr id="2355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  <a:noFill/>
          <a:ln w="9525">
            <a:noFill/>
          </a:ln>
        </p:spPr>
        <p:txBody>
          <a:bodyPr lIns="88112" tIns="44056" rIns="88112" bIns="44056" anchor="b" anchorCtr="0"/>
          <a:lstStyle/>
          <a:p>
            <a:pPr lvl="0" algn="r" defTabSz="916305" eaLnBrk="1" hangingPunct="1"/>
            <a:fld id="{9A0DB2DC-4C9A-4742-B13C-FB6460FD3503}" type="slidenum">
              <a:rPr lang="zh-CN" altLang="en-US" sz="1200" b="0" dirty="0">
                <a:solidFill>
                  <a:srgbClr val="000000"/>
                </a:solidFill>
                <a:latin typeface="Arial" panose="020B0604020202020204" pitchFamily="34" charset="0"/>
              </a:rPr>
              <a:t>82</a:t>
            </a:fld>
            <a:endParaRPr lang="zh-CN" altLang="en-US" sz="12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560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12" tIns="44056" rIns="88112" bIns="44056" anchor="t" anchorCtr="0"/>
          <a:lstStyle/>
          <a:p>
            <a:pPr lvl="0"/>
            <a:endParaRPr lang="zh-CN" altLang="en-US" b="1" dirty="0">
              <a:solidFill>
                <a:schemeClr val="folHlink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12" tIns="44056" rIns="88112" bIns="44056" anchor="t" anchorCtr="0"/>
          <a:lstStyle/>
          <a:p>
            <a:pPr lvl="0"/>
            <a:endParaRPr lang="zh-CN" altLang="en-US" b="1" dirty="0">
              <a:solidFill>
                <a:schemeClr val="folHlink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198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88112" tIns="44056" rIns="88112" bIns="44056" anchor="t" anchorCtr="0"/>
          <a:lstStyle/>
          <a:p>
            <a:pPr lvl="0"/>
            <a:endParaRPr lang="zh-CN" altLang="en-US" dirty="0"/>
          </a:p>
        </p:txBody>
      </p:sp>
      <p:sp>
        <p:nvSpPr>
          <p:cNvPr id="4198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  <a:noFill/>
          <a:ln w="9525">
            <a:noFill/>
          </a:ln>
        </p:spPr>
        <p:txBody>
          <a:bodyPr lIns="88112" tIns="44056" rIns="88112" bIns="44056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latin typeface="Arial" panose="020B0604020202020204" pitchFamily="34" charset="0"/>
              </a:rPr>
              <a:t>85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88112" tIns="44056" rIns="88112" bIns="44056" anchor="t" anchorCtr="0"/>
          <a:lstStyle/>
          <a:p>
            <a:pPr lvl="0"/>
            <a:endParaRPr lang="zh-CN" altLang="en-US" dirty="0"/>
          </a:p>
        </p:txBody>
      </p:sp>
      <p:sp>
        <p:nvSpPr>
          <p:cNvPr id="3994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  <a:noFill/>
          <a:ln w="9525">
            <a:noFill/>
          </a:ln>
        </p:spPr>
        <p:txBody>
          <a:bodyPr lIns="88112" tIns="44056" rIns="88112" bIns="44056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>
                <a:latin typeface="Arial" panose="020B0604020202020204" pitchFamily="34" charset="0"/>
              </a:rPr>
              <a:t>86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969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12" tIns="44056" rIns="88112" bIns="44056" anchor="t" anchorCtr="0"/>
          <a:lstStyle/>
          <a:p>
            <a:pPr lvl="0"/>
            <a:endParaRPr lang="en-US" altLang="zh-CN" dirty="0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174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12" tIns="44056" rIns="88112" bIns="44056" anchor="t" anchorCtr="0"/>
          <a:lstStyle/>
          <a:p>
            <a:pPr lvl="0"/>
            <a:endParaRPr lang="en-US" altLang="zh-CN" dirty="0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379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12" tIns="44056" rIns="88112" bIns="44056" anchor="t" anchorCtr="0"/>
          <a:lstStyle/>
          <a:p>
            <a:pPr marL="0" lvl="1" indent="0"/>
            <a:endParaRPr lang="en-US" altLang="zh-CN" dirty="0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584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12" tIns="44056" rIns="88112" bIns="44056" anchor="t" anchorCtr="0"/>
          <a:lstStyle/>
          <a:p>
            <a:pPr lvl="0"/>
            <a:endParaRPr lang="en-US" altLang="zh-CN" dirty="0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789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88112" tIns="44056" rIns="88112" bIns="44056" anchor="t" anchorCtr="0"/>
          <a:lstStyle/>
          <a:p>
            <a:pPr lvl="0"/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8" cy="273050"/>
          </a:xfrm>
          <a:prstGeom prst="rect">
            <a:avLst/>
          </a:prstGeom>
        </p:spPr>
        <p:txBody>
          <a:bodyPr vert="horz" wrap="square" lIns="68580" tIns="34290" rIns="68580" bIns="34290" numCol="1" rtlCol="0" anchor="ctr" anchorCtr="0" compatLnSpc="1"/>
          <a:lstStyle>
            <a:lvl1pPr>
              <a:defRPr sz="1000" b="1">
                <a:ea typeface="楷体_GB231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68580" tIns="34290" rIns="68580" bIns="34290" numCol="1" rtlCol="0" anchor="ctr" anchorCtr="0" compatLnSpc="1"/>
          <a:lstStyle>
            <a:lvl1pPr>
              <a:defRPr sz="1000" b="1">
                <a:ea typeface="楷体_GB231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/>
          <a:lstStyle>
            <a:lvl1pPr>
              <a:defRPr b="1">
                <a:ea typeface="楷体_GB2312"/>
                <a:cs typeface="楷体_GB231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91F0F9-93FE-4344-BB4B-74C73C0C6D3B}" type="slidenum"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  <a:cs typeface="楷体_GB2312"/>
              </a:rPr>
              <a:t>‹#›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楷体_GB231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组合 5"/>
          <p:cNvGrpSpPr/>
          <p:nvPr userDrawn="1"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9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7" y="267495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8" cy="273050"/>
          </a:xfrm>
          <a:prstGeom prst="rect">
            <a:avLst/>
          </a:prstGeom>
        </p:spPr>
        <p:txBody>
          <a:bodyPr vert="horz" wrap="square" lIns="68580" tIns="34290" rIns="68580" bIns="34290" numCol="1" rtlCol="0" anchor="ctr" anchorCtr="0" compatLnSpc="1"/>
          <a:lstStyle>
            <a:lvl1pPr>
              <a:defRPr sz="1000" b="1">
                <a:ea typeface="楷体_GB231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+mn-cs"/>
            </a:endParaRP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68580" tIns="34290" rIns="68580" bIns="34290" numCol="1" rtlCol="0" anchor="ctr" anchorCtr="0" compatLnSpc="1"/>
          <a:lstStyle>
            <a:lvl1pPr>
              <a:defRPr sz="1000" b="1">
                <a:ea typeface="楷体_GB231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+mn-cs"/>
            </a:endParaRP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/>
          <a:lstStyle>
            <a:lvl1pPr>
              <a:defRPr b="1">
                <a:ea typeface="楷体_GB2312"/>
                <a:cs typeface="楷体_GB231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3E40D61-4D74-4A48-9A1D-AD5FA8A4ADAE}" type="slidenum"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  <a:cs typeface="楷体_GB2312"/>
              </a:rPr>
              <a:t>‹#›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楷体_GB231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5"/>
          <p:cNvSpPr/>
          <p:nvPr/>
        </p:nvSpPr>
        <p:spPr>
          <a:xfrm>
            <a:off x="228600" y="171450"/>
            <a:ext cx="8696325" cy="4525963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147" name="Group 9"/>
          <p:cNvGrpSpPr>
            <a:grpSpLocks noChangeAspect="1"/>
          </p:cNvGrpSpPr>
          <p:nvPr/>
        </p:nvGrpSpPr>
        <p:grpSpPr>
          <a:xfrm>
            <a:off x="211138" y="4014788"/>
            <a:ext cx="8723312" cy="1000125"/>
            <a:chOff x="-3905250" y="4294188"/>
            <a:chExt cx="13011150" cy="1892300"/>
          </a:xfrm>
        </p:grpSpPr>
        <p:sp>
          <p:nvSpPr>
            <p:cNvPr id="6153" name="Freeform 14"/>
            <p:cNvSpPr/>
            <p:nvPr/>
          </p:nvSpPr>
          <p:spPr>
            <a:xfrm>
              <a:off x="4810681" y="4501439"/>
              <a:ext cx="4295219" cy="1015234"/>
            </a:xfrm>
            <a:custGeom>
              <a:avLst/>
              <a:gdLst/>
              <a:ahLst/>
              <a:cxnLst>
                <a:cxn ang="0">
                  <a:pos x="2147483646" y="0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0"/>
                </a:cxn>
                <a:cxn ang="0">
                  <a:pos x="2147483646" y="0"/>
                </a:cxn>
                <a:cxn ang="0">
                  <a:pos x="2147483646" y="0"/>
                </a:cxn>
              </a:cxnLst>
              <a:rect l="0" t="0" r="0" b="0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4" name="Freeform 18"/>
            <p:cNvSpPr/>
            <p:nvPr/>
          </p:nvSpPr>
          <p:spPr>
            <a:xfrm>
              <a:off x="-308538" y="4318217"/>
              <a:ext cx="8280254" cy="1210470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0" t="0" r="0" b="0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5" name="Freeform 22"/>
            <p:cNvSpPr/>
            <p:nvPr/>
          </p:nvSpPr>
          <p:spPr>
            <a:xfrm>
              <a:off x="4014" y="4336239"/>
              <a:ext cx="8164231" cy="1102339"/>
            </a:xfrm>
            <a:custGeom>
              <a:avLst/>
              <a:gdLst/>
              <a:ahLst/>
              <a:cxnLst>
                <a:cxn ang="0">
                  <a:pos x="0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0" t="0" r="0" b="0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 cap="flat" cmpd="sng">
              <a:solidFill>
                <a:srgbClr val="FF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6" name="Freeform 26"/>
            <p:cNvSpPr/>
            <p:nvPr/>
          </p:nvSpPr>
          <p:spPr>
            <a:xfrm>
              <a:off x="4157164" y="4315213"/>
              <a:ext cx="4939265" cy="928129"/>
            </a:xfrm>
            <a:custGeom>
              <a:avLst/>
              <a:gdLst/>
              <a:ahLst/>
              <a:cxnLst>
                <a:cxn ang="0">
                  <a:pos x="0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</a:cxnLst>
              <a:rect l="0" t="0" r="0" b="0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 cap="flat" cmpd="sng">
              <a:solidFill>
                <a:srgbClr val="FF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6157" name="Freeform 10"/>
            <p:cNvSpPr/>
            <p:nvPr/>
          </p:nvSpPr>
          <p:spPr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0" t="0" r="0" b="0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8" cy="273050"/>
          </a:xfrm>
          <a:prstGeom prst="rect">
            <a:avLst/>
          </a:prstGeom>
        </p:spPr>
        <p:txBody>
          <a:bodyPr vert="horz" wrap="square" lIns="68580" tIns="34290" rIns="68580" bIns="34290" numCol="1" rtlCol="0" anchor="ctr" anchorCtr="0" compatLnSpc="1"/>
          <a:lstStyle>
            <a:lvl1pPr>
              <a:defRPr sz="1000" b="1">
                <a:ea typeface="楷体_GB2312"/>
                <a:cs typeface="楷体_GB231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楷体_GB2312"/>
            </a:endParaRPr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68580" tIns="34290" rIns="68580" bIns="34290" numCol="1" rtlCol="0" anchor="ctr" anchorCtr="0" compatLnSpc="1"/>
          <a:lstStyle>
            <a:lvl1pPr>
              <a:defRPr sz="1000" b="1">
                <a:ea typeface="楷体_GB2312"/>
                <a:cs typeface="楷体_GB231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楷体_GB2312"/>
            </a:endParaRPr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/>
          <a:lstStyle>
            <a:lvl1pPr>
              <a:defRPr b="1">
                <a:ea typeface="楷体_GB2312"/>
                <a:cs typeface="楷体_GB231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88DCF90-59D4-4759-8F06-671467767FD5}" type="slidenum"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  <a:cs typeface="楷体_GB2312"/>
              </a:rPr>
              <a:t>‹#›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楷体_GB231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7" y="267495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8" cy="273050"/>
          </a:xfrm>
          <a:prstGeom prst="rect">
            <a:avLst/>
          </a:prstGeom>
        </p:spPr>
        <p:txBody>
          <a:bodyPr vert="horz" wrap="square" lIns="68580" tIns="34290" rIns="68580" bIns="34290" numCol="1" rtlCol="0" anchor="ctr" anchorCtr="0" compatLnSpc="1"/>
          <a:lstStyle>
            <a:lvl1pPr>
              <a:defRPr sz="1000" b="1">
                <a:ea typeface="楷体_GB2312"/>
                <a:cs typeface="楷体_GB231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楷体_GB2312"/>
            </a:endParaRPr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68580" tIns="34290" rIns="68580" bIns="34290" numCol="1" rtlCol="0" anchor="ctr" anchorCtr="0" compatLnSpc="1"/>
          <a:lstStyle>
            <a:lvl1pPr>
              <a:defRPr sz="1000" b="1">
                <a:ea typeface="楷体_GB2312"/>
                <a:cs typeface="楷体_GB231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楷体_GB2312"/>
            </a:endParaRPr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/>
          <a:lstStyle>
            <a:lvl1pPr>
              <a:defRPr b="1">
                <a:ea typeface="楷体_GB2312"/>
                <a:cs typeface="楷体_GB231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914CB76-028B-4DDC-A78E-A846CA36B4D9}" type="slidenum"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/>
                <a:cs typeface="楷体_GB2312"/>
              </a:rPr>
              <a:t>‹#›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楷体_GB231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8" cy="273050"/>
          </a:xfrm>
          <a:prstGeom prst="rect">
            <a:avLst/>
          </a:prstGeom>
        </p:spPr>
        <p:txBody>
          <a:bodyPr vert="horz" wrap="square" lIns="68580" tIns="34290" rIns="68580" bIns="34290" numCol="1" rtlCol="0" anchor="ctr" anchorCtr="0" compatLnSpc="1"/>
          <a:lstStyle>
            <a:lvl1pPr>
              <a:defRPr sz="1000" b="1">
                <a:ea typeface="楷体_GB231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68580" tIns="34290" rIns="68580" bIns="34290" numCol="1" rtlCol="0" anchor="ctr" anchorCtr="0" compatLnSpc="1"/>
          <a:lstStyle>
            <a:lvl1pPr>
              <a:defRPr sz="1000" b="1">
                <a:ea typeface="楷体_GB231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/>
          <a:lstStyle>
            <a:lvl1pPr>
              <a:defRPr b="1">
                <a:ea typeface="楷体_GB2312" pitchFamily="49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524C4DC-ACA5-4BC8-9BB6-330FF06446AB}" type="slidenum"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  <a:cs typeface="+mn-cs"/>
              </a:rPr>
              <a:t>‹#›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组合 5"/>
          <p:cNvGrpSpPr/>
          <p:nvPr userDrawn="1"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9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7" y="267495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8" cy="273050"/>
          </a:xfrm>
          <a:prstGeom prst="rect">
            <a:avLst/>
          </a:prstGeom>
        </p:spPr>
        <p:txBody>
          <a:bodyPr vert="horz" wrap="square" lIns="68580" tIns="34290" rIns="68580" bIns="34290" numCol="1" rtlCol="0" anchor="ctr" anchorCtr="0" compatLnSpc="1"/>
          <a:lstStyle>
            <a:lvl1pPr>
              <a:defRPr sz="1000" b="1">
                <a:ea typeface="楷体_GB231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+mn-cs"/>
            </a:endParaRP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68580" tIns="34290" rIns="68580" bIns="34290" numCol="1" rtlCol="0" anchor="ctr" anchorCtr="0" compatLnSpc="1"/>
          <a:lstStyle>
            <a:lvl1pPr>
              <a:defRPr sz="1000" b="1">
                <a:ea typeface="楷体_GB231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/>
              <a:cs typeface="+mn-cs"/>
            </a:endParaRP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/>
          <a:lstStyle>
            <a:lvl1pPr>
              <a:defRPr b="1">
                <a:ea typeface="楷体_GB2312" pitchFamily="49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DFC45A-2FE4-49EF-ACA7-DC2E97587FD9}" type="slidenum"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  <a:cs typeface="+mn-cs"/>
              </a:rPr>
              <a:t>‹#›</a:t>
            </a:fld>
            <a:endParaRPr kumimoji="0" lang="en-US" altLang="zh-CN" sz="1000" b="1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900113" y="268288"/>
            <a:ext cx="7786687" cy="358775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8" cy="273050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/>
          <a:lstStyle>
            <a:lvl1pPr algn="r" eaLnBrk="1" hangingPunct="1">
              <a:defRPr sz="1000" b="0">
                <a:solidFill>
                  <a:srgbClr val="073E87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/>
          <a:lstStyle>
            <a:lvl1pPr eaLnBrk="1" hangingPunct="1">
              <a:defRPr sz="1000" b="0">
                <a:solidFill>
                  <a:srgbClr val="073E87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/>
          <a:lstStyle>
            <a:lvl1pPr algn="ctr" eaLnBrk="1" hangingPunct="1">
              <a:defRPr sz="1000" b="0">
                <a:solidFill>
                  <a:srgbClr val="073E87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B230F4E-A7AB-4FE0-A69E-BA2123DE7369}" type="slidenum"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>
          <a:xfrm>
            <a:off x="228600" y="1368425"/>
            <a:ext cx="5927725" cy="3225800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1780" indent="-27178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4675" indent="-27178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4075" indent="-22733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1730" indent="-22733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0500" indent="-22733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171450"/>
            <a:ext cx="8696325" cy="1404938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051" name="Group 15"/>
          <p:cNvGrpSpPr>
            <a:grpSpLocks noChangeAspect="1"/>
          </p:cNvGrpSpPr>
          <p:nvPr/>
        </p:nvGrpSpPr>
        <p:grpSpPr>
          <a:xfrm>
            <a:off x="211138" y="1058863"/>
            <a:ext cx="8824912" cy="576262"/>
            <a:chOff x="-3905251" y="4294188"/>
            <a:chExt cx="13027839" cy="1892300"/>
          </a:xfrm>
        </p:grpSpPr>
        <p:sp>
          <p:nvSpPr>
            <p:cNvPr id="2057" name="Freeform 14"/>
            <p:cNvSpPr/>
            <p:nvPr/>
          </p:nvSpPr>
          <p:spPr>
            <a:xfrm>
              <a:off x="4810441" y="4502706"/>
              <a:ext cx="4295743" cy="1011313"/>
            </a:xfrm>
            <a:custGeom>
              <a:avLst/>
              <a:gdLst/>
              <a:ahLst/>
              <a:cxnLst>
                <a:cxn ang="0">
                  <a:pos x="2147483646" y="0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0"/>
                </a:cxn>
                <a:cxn ang="0">
                  <a:pos x="2147483646" y="0"/>
                </a:cxn>
                <a:cxn ang="0">
                  <a:pos x="2147483646" y="0"/>
                </a:cxn>
              </a:cxnLst>
              <a:rect l="0" t="0" r="0" b="0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" name="Freeform 18"/>
            <p:cNvSpPr/>
            <p:nvPr/>
          </p:nvSpPr>
          <p:spPr>
            <a:xfrm>
              <a:off x="-310233" y="4320251"/>
              <a:ext cx="8282134" cy="1209405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0" t="0" r="0" b="0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9" name="Freeform 22"/>
            <p:cNvSpPr/>
            <p:nvPr/>
          </p:nvSpPr>
          <p:spPr>
            <a:xfrm>
              <a:off x="3804" y="4335892"/>
              <a:ext cx="8164957" cy="1099931"/>
            </a:xfrm>
            <a:custGeom>
              <a:avLst/>
              <a:gdLst/>
              <a:ahLst/>
              <a:cxnLst>
                <a:cxn ang="0">
                  <a:pos x="0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0" t="0" r="0" b="0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 cap="flat" cmpd="sng">
              <a:solidFill>
                <a:srgbClr val="FF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0" name="Freeform 26"/>
            <p:cNvSpPr/>
            <p:nvPr/>
          </p:nvSpPr>
          <p:spPr>
            <a:xfrm>
              <a:off x="4156589" y="4315040"/>
              <a:ext cx="4940221" cy="927905"/>
            </a:xfrm>
            <a:custGeom>
              <a:avLst/>
              <a:gdLst/>
              <a:ahLst/>
              <a:cxnLst>
                <a:cxn ang="0">
                  <a:pos x="0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</a:cxnLst>
              <a:rect l="0" t="0" r="0" b="0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 cap="flat" cmpd="sng">
              <a:solidFill>
                <a:srgbClr val="FF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2061" name="Freeform 10"/>
            <p:cNvSpPr/>
            <p:nvPr/>
          </p:nvSpPr>
          <p:spPr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0" t="0" r="0" b="0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52" name="Title Placeholder 1"/>
          <p:cNvSpPr>
            <a:spLocks noGrp="1"/>
          </p:cNvSpPr>
          <p:nvPr>
            <p:ph type="title"/>
          </p:nvPr>
        </p:nvSpPr>
        <p:spPr>
          <a:xfrm>
            <a:off x="900113" y="268288"/>
            <a:ext cx="7786687" cy="358775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8" cy="273050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/>
          <a:lstStyle>
            <a:lvl1pPr algn="r" eaLnBrk="1" hangingPunct="1">
              <a:defRPr sz="1000" b="0">
                <a:solidFill>
                  <a:srgbClr val="073E87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/>
          <a:lstStyle>
            <a:lvl1pPr eaLnBrk="1" hangingPunct="1">
              <a:defRPr sz="1000" b="0">
                <a:solidFill>
                  <a:srgbClr val="073E87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/>
          <a:lstStyle>
            <a:lvl1pPr algn="ctr" eaLnBrk="1" hangingPunct="1">
              <a:defRPr sz="1000" b="0">
                <a:solidFill>
                  <a:srgbClr val="073E87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0FDD156-0B95-4EA5-9810-F46ACBC5CF46}" type="slidenum"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6" name="Text Placeholder 2"/>
          <p:cNvSpPr>
            <a:spLocks noGrp="1"/>
          </p:cNvSpPr>
          <p:nvPr>
            <p:ph type="body" idx="1"/>
          </p:nvPr>
        </p:nvSpPr>
        <p:spPr>
          <a:xfrm>
            <a:off x="228600" y="1368425"/>
            <a:ext cx="5927725" cy="3225800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1780" indent="-27178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4675" indent="-27178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4075" indent="-22733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1730" indent="-22733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0500" indent="-22733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>
          <a:xfrm>
            <a:off x="900113" y="268288"/>
            <a:ext cx="7786687" cy="358775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8" cy="273050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/>
          <a:lstStyle>
            <a:lvl1pPr algn="r" eaLnBrk="1" hangingPunct="1">
              <a:defRPr sz="1000" b="0">
                <a:solidFill>
                  <a:srgbClr val="073E87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/>
          <a:lstStyle>
            <a:lvl1pPr eaLnBrk="1" hangingPunct="1">
              <a:defRPr sz="1000" b="0">
                <a:solidFill>
                  <a:srgbClr val="073E87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/>
          <a:lstStyle>
            <a:lvl1pPr algn="ctr" eaLnBrk="1" hangingPunct="1">
              <a:defRPr sz="1000" b="0">
                <a:solidFill>
                  <a:srgbClr val="073E87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CD666A5-6321-4ECD-821E-0D4CB4EAE722}" type="slidenum"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8" name="Text Placeholder 2"/>
          <p:cNvSpPr>
            <a:spLocks noGrp="1"/>
          </p:cNvSpPr>
          <p:nvPr>
            <p:ph type="body" idx="1"/>
          </p:nvPr>
        </p:nvSpPr>
        <p:spPr>
          <a:xfrm>
            <a:off x="228600" y="1368425"/>
            <a:ext cx="5927725" cy="3225800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1780" indent="-27178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4675" indent="-27178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4075" indent="-22733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1730" indent="-22733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0500" indent="-22733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5"/>
        </a:spcBef>
        <a:buClr>
          <a:schemeClr val="accent1"/>
        </a:buClr>
        <a:buFont typeface="Symbol" panose="05050102010706020507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3" descr="G:\QQ截图201607142012副本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514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4037013" y="1785938"/>
            <a:ext cx="4464050" cy="939800"/>
          </a:xfrm>
          <a:prstGeom prst="rect">
            <a:avLst/>
          </a:prstGeom>
        </p:spPr>
        <p:txBody>
          <a:bodyPr lIns="68580" tIns="34290" rIns="68580" bIns="34290" anchor="ctr"/>
          <a:lstStyle/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500" b="0" kern="1200" cap="none" spc="225" normalizeH="0" baseline="0" noProof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句法制导翻译概述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4629150" y="2428875"/>
            <a:ext cx="3443288" cy="939800"/>
          </a:xfrm>
          <a:prstGeom prst="rect">
            <a:avLst/>
          </a:prstGeom>
        </p:spPr>
        <p:txBody>
          <a:bodyPr lIns="68580" tIns="34290" rIns="68580" bIns="34290" anchor="ctr"/>
          <a:lstStyle/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kern="1200" cap="none" spc="0" normalizeH="0" baseline="0" noProof="0" dirty="0">
                <a:solidFill>
                  <a:prstClr val="white"/>
                </a:solidFill>
                <a:latin typeface="Candara" panose="020E0502030303020204"/>
                <a:ea typeface="楷体" panose="02010609060101010101" pitchFamily="49" charset="-122"/>
                <a:cs typeface="+mn-cs"/>
              </a:rPr>
              <a:t> </a:t>
            </a:r>
            <a:endParaRPr kumimoji="0" lang="zh-CN" altLang="en-US" sz="2000" kern="1200" cap="none" spc="600" normalizeH="0" baseline="0" noProof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0" y="1428750"/>
            <a:ext cx="3143250" cy="441325"/>
          </a:xfrm>
          <a:prstGeom prst="rect">
            <a:avLst/>
          </a:prstGeom>
          <a:ln w="12700">
            <a:noFill/>
          </a:ln>
        </p:spPr>
        <p:txBody>
          <a:bodyPr lIns="68580" tIns="34290" rIns="68580" bIns="34290" anchor="ctr"/>
          <a:lstStyle/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kern="1200" cap="none" spc="225" normalizeH="0" baseline="0" noProof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357188" y="908050"/>
            <a:ext cx="5927725" cy="3225800"/>
          </a:xfrm>
        </p:spPr>
        <p:txBody>
          <a:bodyPr vert="horz" wrap="square" lIns="68580" tIns="34290" rIns="68580" bIns="34290" numCol="1" anchor="t" anchorCtr="0" compatLnSpc="1"/>
          <a:lstStyle/>
          <a:p>
            <a:pPr marL="273050" marR="0" lvl="0" indent="-273050" algn="l" defTabSz="914400" rtl="0" eaLnBrk="1" fontAlgn="base" latinLnBrk="0" hangingPunct="1">
              <a:lnSpc>
                <a:spcPts val="38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编译的阶段</a:t>
            </a:r>
          </a:p>
          <a:p>
            <a:pPr marL="575945" marR="0" lvl="1" indent="-273050" algn="l" defTabSz="914400" rtl="0" eaLnBrk="1" fontAlgn="base" latinLnBrk="0" hangingPunct="1">
              <a:lnSpc>
                <a:spcPts val="38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词法分析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575945" marR="0" lvl="1" indent="-273050" algn="l" defTabSz="914400" rtl="0" eaLnBrk="1" fontAlgn="base" latinLnBrk="0" hangingPunct="1">
              <a:lnSpc>
                <a:spcPts val="38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句法分析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575945" marR="0" lvl="1" indent="-273050" algn="l" defTabSz="914400" rtl="0" eaLnBrk="1" fontAlgn="base" latinLnBrk="0" hangingPunct="1">
              <a:lnSpc>
                <a:spcPts val="38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语义分析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575945" marR="0" lvl="1" indent="-273050" algn="l" defTabSz="914400" rtl="0" eaLnBrk="1" fontAlgn="base" latinLnBrk="0" hangingPunct="1">
              <a:lnSpc>
                <a:spcPts val="38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中间代码生成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575945" marR="0" lvl="1" indent="-273050" algn="l" defTabSz="914400" rtl="0" eaLnBrk="1" fontAlgn="base" latinLnBrk="0" hangingPunct="1">
              <a:lnSpc>
                <a:spcPts val="38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代码优化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575945" marR="0" lvl="1" indent="-273050" algn="l" defTabSz="914400" rtl="0" eaLnBrk="1" fontAlgn="base" latinLnBrk="0" hangingPunct="1">
              <a:lnSpc>
                <a:spcPts val="38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目标代码生成</a:t>
            </a:r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225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什么是句法制导翻译</a:t>
            </a:r>
          </a:p>
        </p:txBody>
      </p:sp>
      <p:grpSp>
        <p:nvGrpSpPr>
          <p:cNvPr id="2" name="组合 2"/>
          <p:cNvGrpSpPr/>
          <p:nvPr/>
        </p:nvGrpSpPr>
        <p:grpSpPr>
          <a:xfrm>
            <a:off x="3132138" y="2763838"/>
            <a:ext cx="2143125" cy="792162"/>
            <a:chOff x="3131840" y="2570932"/>
            <a:chExt cx="2142802" cy="792162"/>
          </a:xfrm>
        </p:grpSpPr>
        <p:sp>
          <p:nvSpPr>
            <p:cNvPr id="32777" name="Rectangle 10"/>
            <p:cNvSpPr>
              <a:spLocks noChangeArrowheads="1"/>
            </p:cNvSpPr>
            <p:nvPr/>
          </p:nvSpPr>
          <p:spPr bwMode="auto">
            <a:xfrm>
              <a:off x="3492148" y="2778894"/>
              <a:ext cx="1782494" cy="376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4290" rIns="68580" bIns="34290"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5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2">
                      <a:lumMod val="60000"/>
                      <a:lumOff val="40000"/>
                    </a:schemeClr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cs"/>
                </a:rPr>
                <a:t>语义翻译</a:t>
              </a:r>
            </a:p>
          </p:txBody>
        </p:sp>
        <p:sp>
          <p:nvSpPr>
            <p:cNvPr id="32778" name="右大括号 10"/>
            <p:cNvSpPr/>
            <p:nvPr/>
          </p:nvSpPr>
          <p:spPr bwMode="auto">
            <a:xfrm>
              <a:off x="3131840" y="2570932"/>
              <a:ext cx="241264" cy="792162"/>
            </a:xfrm>
            <a:prstGeom prst="rightBrace">
              <a:avLst>
                <a:gd name="adj1" fmla="val 8344"/>
                <a:gd name="adj2" fmla="val 50000"/>
              </a:avLst>
            </a:prstGeom>
            <a:noFill/>
            <a:ln w="38100" algn="ctr">
              <a:solidFill>
                <a:schemeClr val="tx2">
                  <a:lumMod val="60000"/>
                  <a:lumOff val="40000"/>
                </a:schemeClr>
              </a:solidFill>
              <a:rou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" name="组合 4"/>
          <p:cNvGrpSpPr/>
          <p:nvPr/>
        </p:nvGrpSpPr>
        <p:grpSpPr>
          <a:xfrm>
            <a:off x="4859338" y="2260600"/>
            <a:ext cx="2168525" cy="1295400"/>
            <a:chOff x="4859040" y="2067694"/>
            <a:chExt cx="2168823" cy="1295400"/>
          </a:xfrm>
        </p:grpSpPr>
        <p:sp>
          <p:nvSpPr>
            <p:cNvPr id="32775" name="Rectangle 10"/>
            <p:cNvSpPr>
              <a:spLocks noChangeArrowheads="1"/>
            </p:cNvSpPr>
            <p:nvPr/>
          </p:nvSpPr>
          <p:spPr bwMode="auto">
            <a:xfrm>
              <a:off x="5244855" y="2504257"/>
              <a:ext cx="1783008" cy="37623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4290" rIns="68580" bIns="34290"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5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2">
                      <a:lumMod val="60000"/>
                      <a:lumOff val="40000"/>
                    </a:schemeClr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cs"/>
                </a:rPr>
                <a:t>句法制导翻译</a:t>
              </a:r>
              <a:endPara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2">
                      <a:lumMod val="60000"/>
                      <a:lumOff val="40000"/>
                    </a:scheme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(Syntax-Directed Translation)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endParaRPr>
            </a:p>
          </p:txBody>
        </p:sp>
        <p:sp>
          <p:nvSpPr>
            <p:cNvPr id="32776" name="右大括号 11"/>
            <p:cNvSpPr/>
            <p:nvPr/>
          </p:nvSpPr>
          <p:spPr bwMode="auto">
            <a:xfrm>
              <a:off x="4859040" y="2067694"/>
              <a:ext cx="241333" cy="1295400"/>
            </a:xfrm>
            <a:prstGeom prst="rightBrace">
              <a:avLst>
                <a:gd name="adj1" fmla="val 8326"/>
                <a:gd name="adj2" fmla="val 50000"/>
              </a:avLst>
            </a:prstGeom>
            <a:noFill/>
            <a:ln w="38100" algn="ctr">
              <a:solidFill>
                <a:schemeClr val="tx2">
                  <a:lumMod val="60000"/>
                  <a:lumOff val="40000"/>
                </a:schemeClr>
              </a:solidFill>
              <a:rou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6" name="矩形 15"/>
          <p:cNvSpPr/>
          <p:nvPr/>
        </p:nvSpPr>
        <p:spPr>
          <a:xfrm>
            <a:off x="3275856" y="4024313"/>
            <a:ext cx="5688631" cy="7080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句法制导翻译使用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CFG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来引导对语言的翻译，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是一种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面向文法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的翻译技术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anchor="ctr" anchorCtr="0"/>
          <a:lstStyle/>
          <a:p>
            <a:pPr>
              <a:buNone/>
            </a:pPr>
            <a:r>
              <a:rPr lang="zh-CN" altLang="en-US" sz="3000" kern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句法制导翻译的基本思想</a:t>
            </a:r>
            <a:endParaRPr lang="zh-CN" altLang="en-US" kern="1200" dirty="0">
              <a:latin typeface="Times New Roman" panose="02020603050405020304" pitchFamily="18" charset="0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42938" y="857250"/>
            <a:ext cx="8002587" cy="38338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271780" indent="-271780" eaLnBrk="1" hangingPunct="1">
              <a:lnSpc>
                <a:spcPts val="3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  <a:ea typeface="楷体" panose="02010609060101010101" pitchFamily="49" charset="-122"/>
              </a:rPr>
              <a:t>如何表示语义信息？</a:t>
            </a:r>
            <a:endParaRPr lang="en-US" altLang="zh-CN" sz="2800" dirty="0">
              <a:solidFill>
                <a:srgbClr val="000000"/>
              </a:solidFill>
              <a:latin typeface="华文楷体" panose="02010600040101010101" pitchFamily="2" charset="-122"/>
              <a:ea typeface="楷体" panose="02010609060101010101" pitchFamily="49" charset="-122"/>
            </a:endParaRPr>
          </a:p>
          <a:p>
            <a:pPr marL="500380" lvl="1" indent="-271780" eaLnBrk="1" hangingPunct="1">
              <a:lnSpc>
                <a:spcPts val="3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华文楷体" panose="02010600040101010101" pitchFamily="2" charset="-122"/>
                <a:ea typeface="楷体" panose="02010609060101010101" pitchFamily="49" charset="-122"/>
              </a:rPr>
              <a:t>为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CFG</a:t>
            </a:r>
            <a:r>
              <a:rPr lang="zh-CN" altLang="en-US" sz="2400" dirty="0">
                <a:solidFill>
                  <a:srgbClr val="000000"/>
                </a:solidFill>
                <a:latin typeface="华文楷体" panose="02010600040101010101" pitchFamily="2" charset="-122"/>
                <a:ea typeface="楷体" panose="02010609060101010101" pitchFamily="49" charset="-122"/>
              </a:rPr>
              <a:t>中的</a:t>
            </a:r>
            <a:r>
              <a:rPr lang="zh-CN" altLang="en-US" sz="2400" dirty="0">
                <a:solidFill>
                  <a:srgbClr val="2D83F4"/>
                </a:solidFill>
                <a:highlight>
                  <a:srgbClr val="FFFF00"/>
                </a:highlight>
                <a:latin typeface="华文楷体" panose="02010600040101010101" pitchFamily="2" charset="-122"/>
                <a:ea typeface="楷体" panose="02010609060101010101" pitchFamily="49" charset="-122"/>
              </a:rPr>
              <a:t>文法符号</a:t>
            </a:r>
            <a:r>
              <a:rPr lang="zh-CN" altLang="en-US" sz="2400" dirty="0">
                <a:solidFill>
                  <a:srgbClr val="000000"/>
                </a:solidFill>
                <a:highlight>
                  <a:srgbClr val="FFFF00"/>
                </a:highlight>
                <a:latin typeface="华文楷体" panose="02010600040101010101" pitchFamily="2" charset="-122"/>
                <a:ea typeface="楷体" panose="02010609060101010101" pitchFamily="49" charset="-122"/>
              </a:rPr>
              <a:t>设置</a:t>
            </a:r>
            <a:r>
              <a:rPr lang="zh-CN" altLang="en-US" sz="2400" dirty="0">
                <a:solidFill>
                  <a:srgbClr val="2D83F4"/>
                </a:solidFill>
                <a:highlight>
                  <a:srgbClr val="FFFF00"/>
                </a:highlight>
                <a:latin typeface="华文楷体" panose="02010600040101010101" pitchFamily="2" charset="-122"/>
                <a:ea typeface="楷体" panose="02010609060101010101" pitchFamily="49" charset="-122"/>
              </a:rPr>
              <a:t>语义属性</a:t>
            </a:r>
            <a:r>
              <a:rPr lang="zh-CN" altLang="en-US" sz="2400" dirty="0">
                <a:solidFill>
                  <a:srgbClr val="000000"/>
                </a:solidFill>
                <a:latin typeface="华文楷体" panose="02010600040101010101" pitchFamily="2" charset="-122"/>
                <a:ea typeface="楷体" panose="02010609060101010101" pitchFamily="49" charset="-122"/>
              </a:rPr>
              <a:t>，用来表示语法成分对应的</a:t>
            </a:r>
            <a:r>
              <a:rPr lang="zh-CN" altLang="en-US" sz="2400" dirty="0">
                <a:solidFill>
                  <a:srgbClr val="2D83F4"/>
                </a:solidFill>
                <a:highlight>
                  <a:srgbClr val="FFFF00"/>
                </a:highlight>
                <a:latin typeface="华文楷体" panose="02010600040101010101" pitchFamily="2" charset="-122"/>
                <a:ea typeface="楷体" panose="02010609060101010101" pitchFamily="49" charset="-122"/>
              </a:rPr>
              <a:t>语义信息</a:t>
            </a:r>
            <a:endParaRPr lang="en-US" altLang="zh-CN" sz="2400" dirty="0">
              <a:solidFill>
                <a:srgbClr val="000000"/>
              </a:solidFill>
              <a:highlight>
                <a:srgbClr val="FFFF00"/>
              </a:highlight>
              <a:latin typeface="华文楷体" panose="02010600040101010101" pitchFamily="2" charset="-122"/>
              <a:ea typeface="楷体" panose="02010609060101010101" pitchFamily="49" charset="-122"/>
            </a:endParaRPr>
          </a:p>
          <a:p>
            <a:pPr marL="271780" indent="-271780" eaLnBrk="1" hangingPunct="1">
              <a:lnSpc>
                <a:spcPts val="3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  <a:ea typeface="楷体" panose="02010609060101010101" pitchFamily="49" charset="-122"/>
              </a:rPr>
              <a:t>如何计算语义属性？</a:t>
            </a:r>
            <a:endParaRPr lang="en-US" altLang="zh-CN" sz="2800" dirty="0">
              <a:solidFill>
                <a:srgbClr val="000000"/>
              </a:solidFill>
              <a:latin typeface="华文楷体" panose="02010600040101010101" pitchFamily="2" charset="-122"/>
              <a:ea typeface="楷体" panose="02010609060101010101" pitchFamily="49" charset="-122"/>
            </a:endParaRPr>
          </a:p>
          <a:p>
            <a:pPr marL="500380" lvl="1" indent="-271780" eaLnBrk="1" hangingPunct="1">
              <a:lnSpc>
                <a:spcPts val="3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华文楷体" panose="02010600040101010101" pitchFamily="2" charset="-122"/>
                <a:ea typeface="楷体" panose="02010609060101010101" pitchFamily="49" charset="-122"/>
              </a:rPr>
              <a:t>文法符号的语义</a:t>
            </a:r>
            <a:r>
              <a:rPr lang="zh-CN" altLang="en-US" sz="2400" dirty="0">
                <a:solidFill>
                  <a:srgbClr val="000000"/>
                </a:solidFill>
                <a:highlight>
                  <a:srgbClr val="FFFF00"/>
                </a:highlight>
                <a:latin typeface="华文楷体" panose="02010600040101010101" pitchFamily="2" charset="-122"/>
                <a:ea typeface="楷体" panose="02010609060101010101" pitchFamily="49" charset="-122"/>
              </a:rPr>
              <a:t>属性值</a:t>
            </a:r>
            <a:r>
              <a:rPr lang="zh-CN" altLang="en-US" sz="2400" dirty="0">
                <a:solidFill>
                  <a:srgbClr val="000000"/>
                </a:solidFill>
                <a:latin typeface="华文楷体" panose="02010600040101010101" pitchFamily="2" charset="-122"/>
                <a:ea typeface="楷体" panose="02010609060101010101" pitchFamily="49" charset="-122"/>
              </a:rPr>
              <a:t>是用与文法符号所在产生式</a:t>
            </a:r>
            <a:r>
              <a:rPr lang="zh-CN" altLang="en-US" sz="2400" dirty="0">
                <a:solidFill>
                  <a:srgbClr val="000000"/>
                </a:solidFill>
                <a:highlight>
                  <a:srgbClr val="FFFF00"/>
                </a:highlight>
                <a:latin typeface="华文楷体" panose="02010600040101010101" pitchFamily="2" charset="-122"/>
                <a:ea typeface="楷体" panose="02010609060101010101" pitchFamily="49" charset="-122"/>
              </a:rPr>
              <a:t>（</a:t>
            </a:r>
            <a:r>
              <a:rPr lang="zh-CN" altLang="en-US" sz="2400" dirty="0">
                <a:solidFill>
                  <a:srgbClr val="2D83F4"/>
                </a:solidFill>
                <a:highlight>
                  <a:srgbClr val="FFFF00"/>
                </a:highlight>
                <a:latin typeface="华文楷体" panose="02010600040101010101" pitchFamily="2" charset="-122"/>
                <a:ea typeface="楷体" panose="02010609060101010101" pitchFamily="49" charset="-122"/>
              </a:rPr>
              <a:t>句法规则</a:t>
            </a:r>
            <a:r>
              <a:rPr lang="zh-CN" altLang="en-US" sz="2400" dirty="0">
                <a:solidFill>
                  <a:srgbClr val="000000"/>
                </a:solidFill>
                <a:highlight>
                  <a:srgbClr val="FFFF00"/>
                </a:highlight>
                <a:latin typeface="华文楷体" panose="02010600040101010101" pitchFamily="2" charset="-122"/>
                <a:ea typeface="楷体" panose="02010609060101010101" pitchFamily="49" charset="-122"/>
              </a:rPr>
              <a:t>）</a:t>
            </a:r>
            <a:r>
              <a:rPr lang="zh-CN" altLang="en-US" sz="2400" dirty="0">
                <a:solidFill>
                  <a:srgbClr val="000000"/>
                </a:solidFill>
                <a:latin typeface="华文楷体" panose="02010600040101010101" pitchFamily="2" charset="-122"/>
                <a:ea typeface="楷体" panose="02010609060101010101" pitchFamily="49" charset="-122"/>
              </a:rPr>
              <a:t>相关联的</a:t>
            </a:r>
            <a:r>
              <a:rPr lang="zh-CN" altLang="en-US" sz="2400" dirty="0">
                <a:solidFill>
                  <a:srgbClr val="2D83F4"/>
                </a:solidFill>
                <a:highlight>
                  <a:srgbClr val="FFFF00"/>
                </a:highlight>
                <a:latin typeface="华文楷体" panose="02010600040101010101" pitchFamily="2" charset="-122"/>
                <a:ea typeface="楷体" panose="02010609060101010101" pitchFamily="49" charset="-122"/>
              </a:rPr>
              <a:t>语义规则</a:t>
            </a:r>
            <a:r>
              <a:rPr lang="zh-CN" altLang="en-US" sz="2400" dirty="0">
                <a:solidFill>
                  <a:srgbClr val="000000"/>
                </a:solidFill>
                <a:latin typeface="华文楷体" panose="02010600040101010101" pitchFamily="2" charset="-122"/>
                <a:ea typeface="楷体" panose="02010609060101010101" pitchFamily="49" charset="-122"/>
              </a:rPr>
              <a:t>来计算的</a:t>
            </a:r>
            <a:endParaRPr lang="en-US" altLang="zh-CN" sz="2400" dirty="0">
              <a:solidFill>
                <a:srgbClr val="000000"/>
              </a:solidFill>
              <a:latin typeface="华文楷体" panose="02010600040101010101" pitchFamily="2" charset="-122"/>
              <a:ea typeface="楷体" panose="02010609060101010101" pitchFamily="49" charset="-122"/>
            </a:endParaRPr>
          </a:p>
          <a:p>
            <a:pPr marL="500380" lvl="1" indent="-271780" eaLnBrk="1" hangingPunct="1">
              <a:lnSpc>
                <a:spcPts val="3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华文楷体" panose="02010600040101010101" pitchFamily="2" charset="-122"/>
                <a:ea typeface="楷体" panose="02010609060101010101" pitchFamily="49" charset="-122"/>
              </a:rPr>
              <a:t>对于给定的输入串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x </a:t>
            </a:r>
            <a:r>
              <a:rPr lang="zh-CN" altLang="en-US" sz="2400" dirty="0">
                <a:solidFill>
                  <a:srgbClr val="000000"/>
                </a:solidFill>
                <a:latin typeface="华文楷体" panose="02010600040101010101" pitchFamily="2" charset="-122"/>
                <a:ea typeface="楷体" panose="02010609060101010101" pitchFamily="49" charset="-122"/>
              </a:rPr>
              <a:t>，构建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x</a:t>
            </a:r>
            <a:r>
              <a:rPr lang="zh-CN" altLang="en-US" sz="2400" dirty="0">
                <a:solidFill>
                  <a:srgbClr val="000000"/>
                </a:solidFill>
                <a:latin typeface="华文楷体" panose="02010600040101010101" pitchFamily="2" charset="-122"/>
                <a:ea typeface="楷体" panose="02010609060101010101" pitchFamily="49" charset="-122"/>
              </a:rPr>
              <a:t>的句法分析树，并</a:t>
            </a:r>
            <a:r>
              <a:rPr lang="zh-CN" altLang="en-US" sz="2400" dirty="0">
                <a:solidFill>
                  <a:srgbClr val="2D83F4"/>
                </a:solidFill>
                <a:latin typeface="华文楷体" panose="02010600040101010101" pitchFamily="2" charset="-122"/>
                <a:ea typeface="楷体" panose="02010609060101010101" pitchFamily="49" charset="-122"/>
              </a:rPr>
              <a:t>利用</a:t>
            </a:r>
            <a:r>
              <a:rPr lang="zh-CN" altLang="en-US" sz="2400" dirty="0">
                <a:solidFill>
                  <a:srgbClr val="000000"/>
                </a:solidFill>
                <a:latin typeface="华文楷体" panose="02010600040101010101" pitchFamily="2" charset="-122"/>
                <a:ea typeface="楷体" panose="02010609060101010101" pitchFamily="49" charset="-122"/>
              </a:rPr>
              <a:t>与产生式（</a:t>
            </a:r>
            <a:r>
              <a:rPr lang="zh-CN" altLang="en-US" sz="2400" dirty="0">
                <a:solidFill>
                  <a:srgbClr val="2D83F4"/>
                </a:solidFill>
                <a:latin typeface="华文楷体" panose="02010600040101010101" pitchFamily="2" charset="-122"/>
                <a:ea typeface="楷体" panose="02010609060101010101" pitchFamily="49" charset="-122"/>
              </a:rPr>
              <a:t>句法规则</a:t>
            </a:r>
            <a:r>
              <a:rPr lang="zh-CN" altLang="en-US" sz="2400" dirty="0">
                <a:solidFill>
                  <a:srgbClr val="000000"/>
                </a:solidFill>
                <a:latin typeface="华文楷体" panose="02010600040101010101" pitchFamily="2" charset="-122"/>
                <a:ea typeface="楷体" panose="02010609060101010101" pitchFamily="49" charset="-122"/>
              </a:rPr>
              <a:t>）相关联的</a:t>
            </a:r>
            <a:r>
              <a:rPr lang="zh-CN" altLang="en-US" sz="2400" dirty="0">
                <a:solidFill>
                  <a:srgbClr val="2D83F4"/>
                </a:solidFill>
                <a:latin typeface="华文楷体" panose="02010600040101010101" pitchFamily="2" charset="-122"/>
                <a:ea typeface="楷体" panose="02010609060101010101" pitchFamily="49" charset="-122"/>
              </a:rPr>
              <a:t>语义规则</a:t>
            </a:r>
            <a:r>
              <a:rPr lang="zh-CN" altLang="en-US" sz="2400" dirty="0">
                <a:solidFill>
                  <a:srgbClr val="000000"/>
                </a:solidFill>
                <a:latin typeface="华文楷体" panose="02010600040101010101" pitchFamily="2" charset="-122"/>
                <a:ea typeface="楷体" panose="02010609060101010101" pitchFamily="49" charset="-122"/>
              </a:rPr>
              <a:t>来</a:t>
            </a:r>
            <a:r>
              <a:rPr lang="zh-CN" altLang="en-US" sz="2400" dirty="0">
                <a:solidFill>
                  <a:srgbClr val="2D83F4"/>
                </a:solidFill>
                <a:latin typeface="华文楷体" panose="02010600040101010101" pitchFamily="2" charset="-122"/>
                <a:ea typeface="楷体" panose="02010609060101010101" pitchFamily="49" charset="-122"/>
              </a:rPr>
              <a:t>计算</a:t>
            </a:r>
            <a:r>
              <a:rPr lang="zh-CN" altLang="en-US" sz="2400" dirty="0">
                <a:solidFill>
                  <a:srgbClr val="000000"/>
                </a:solidFill>
                <a:latin typeface="华文楷体" panose="02010600040101010101" pitchFamily="2" charset="-122"/>
                <a:ea typeface="楷体" panose="02010609060101010101" pitchFamily="49" charset="-122"/>
              </a:rPr>
              <a:t>分析树中各结点对应的</a:t>
            </a:r>
            <a:r>
              <a:rPr lang="zh-CN" altLang="en-US" sz="2400" dirty="0">
                <a:solidFill>
                  <a:srgbClr val="2D83F4"/>
                </a:solidFill>
                <a:latin typeface="华文楷体" panose="02010600040101010101" pitchFamily="2" charset="-122"/>
                <a:ea typeface="楷体" panose="02010609060101010101" pitchFamily="49" charset="-122"/>
              </a:rPr>
              <a:t>语义属性值</a:t>
            </a:r>
            <a:endParaRPr lang="en-US" altLang="zh-CN" sz="2400" dirty="0">
              <a:solidFill>
                <a:srgbClr val="2D83F4"/>
              </a:solidFill>
              <a:latin typeface="华文楷体" panose="02010600040101010101" pitchFamily="2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idx="1"/>
          </p:nvPr>
        </p:nvSpPr>
        <p:spPr>
          <a:xfrm>
            <a:off x="430213" y="928688"/>
            <a:ext cx="8356600" cy="3225800"/>
          </a:xfrm>
        </p:spPr>
        <p:txBody>
          <a:bodyPr vert="horz" wrap="square" lIns="69056" tIns="34529" rIns="69056" bIns="34529" numCol="1" anchor="t" anchorCtr="0" compatLnSpc="1"/>
          <a:lstStyle/>
          <a:p>
            <a:pPr marL="272415" marR="0" lvl="0" indent="-272415" algn="l" defTabSz="914400" rtl="0" eaLnBrk="1" fontAlgn="base" latinLnBrk="0" hangingPunct="1">
              <a:lnSpc>
                <a:spcPts val="42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将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语义规则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同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句法规则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（产生式）联系起来要涉及两个概念</a:t>
            </a:r>
            <a:endParaRPr kumimoji="1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575945" marR="0" lvl="1" indent="-272415" algn="l" defTabSz="914400" rtl="0" eaLnBrk="1" fontAlgn="base" latinLnBrk="0" hangingPunct="1">
              <a:lnSpc>
                <a:spcPts val="42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句法制导定义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Syntax-Directed Definitions, SDD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)</a:t>
            </a:r>
          </a:p>
          <a:p>
            <a:pPr marL="575945" marR="0" lvl="1" indent="-272415" algn="l" defTabSz="914400" rtl="0" eaLnBrk="1" fontAlgn="base" latinLnBrk="0" hangingPunct="1">
              <a:lnSpc>
                <a:spcPts val="42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句法制导翻译方案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Syntax-Directed Translation Scheme , SDT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72415" marR="0" lvl="0" indent="-272415" algn="l" defTabSz="914400" rtl="0" eaLnBrk="1" fontAlgn="base" latinLnBrk="0" hangingPunct="1">
              <a:lnSpc>
                <a:spcPts val="42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kumimoji="0" lang="zh-CN" altLang="en-US" sz="3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272415" marR="0" lvl="0" indent="-27241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/>
            </a:pPr>
            <a:endParaRPr kumimoji="0" lang="zh-CN" altLang="en-US" sz="3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435" name="Rectangle 3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anchor="ctr" anchorCtr="0"/>
          <a:lstStyle/>
          <a:p>
            <a:pPr eaLnBrk="1" hangingPunct="1">
              <a:buNone/>
            </a:pPr>
            <a:r>
              <a:rPr lang="zh-CN" altLang="en-US" sz="30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两个概念</a:t>
            </a:r>
            <a:endParaRPr lang="zh-CN" altLang="en-US" sz="2500" kern="12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619" name="Rectangle 3"/>
          <p:cNvSpPr>
            <a:spLocks noGrp="1" noChangeArrowheads="1"/>
          </p:cNvSpPr>
          <p:nvPr>
            <p:ph idx="1"/>
          </p:nvPr>
        </p:nvSpPr>
        <p:spPr>
          <a:xfrm>
            <a:off x="500063" y="714375"/>
            <a:ext cx="8258175" cy="3225800"/>
          </a:xfrm>
        </p:spPr>
        <p:txBody>
          <a:bodyPr vert="horz" wrap="square" lIns="68580" tIns="34290" rIns="68580" bIns="34290" numCol="1" anchor="t" anchorCtr="0" compatLnSpc="1"/>
          <a:lstStyle/>
          <a:p>
            <a:pPr marL="272415" marR="0" lvl="0" indent="-272415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SDD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是对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CFG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的推广</a:t>
            </a:r>
          </a:p>
          <a:p>
            <a:pPr marL="575945" marR="0" lvl="1" indent="-272415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将每个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文法符号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和一个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语义属性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集合相关联</a:t>
            </a:r>
          </a:p>
          <a:p>
            <a:pPr marL="575945" marR="0" lvl="1" indent="-272415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将每个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产生式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和一组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语义规则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相关联，这些规则用于计算该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产生式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中各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文法符号的属性值</a:t>
            </a:r>
          </a:p>
          <a:p>
            <a:pPr marL="272415" marR="0" lvl="0" indent="-272415" algn="l" defTabSz="914400" rtl="0" eaLnBrk="1" fontAlgn="base" latinLnBrk="0" hangingPunct="1">
              <a:lnSpc>
                <a:spcPts val="42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如果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是一个文法符号，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的一个属性，则用</a:t>
            </a:r>
            <a:r>
              <a:rPr kumimoji="0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X.a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表示属性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在某个标号为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的分析树结点上的值</a:t>
            </a:r>
          </a:p>
          <a:p>
            <a:pPr marL="272415" marR="0" lvl="0" indent="-272415" algn="l" defTabSz="914400" rtl="0" eaLnBrk="1" fontAlgn="base" latinLnBrk="0" hangingPunct="1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0483" name="Rectangle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anchor="ctr" anchorCtr="0"/>
          <a:lstStyle/>
          <a:p>
            <a:pPr eaLnBrk="1" hangingPunct="1">
              <a:buNone/>
            </a:pPr>
            <a:r>
              <a:rPr lang="zh-CN" altLang="en-US" sz="30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句法制导定义</a:t>
            </a:r>
            <a:r>
              <a:rPr lang="en-US" altLang="zh-CN" sz="3000" kern="12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j-cs"/>
              </a:rPr>
              <a:t>(</a:t>
            </a:r>
            <a:r>
              <a:rPr lang="en-US" altLang="zh-CN" sz="3000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j-cs"/>
              </a:rPr>
              <a:t>SDD</a:t>
            </a:r>
            <a:r>
              <a:rPr lang="en-US" altLang="zh-CN" sz="3000" kern="12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j-cs"/>
              </a:rPr>
              <a:t>)</a:t>
            </a:r>
            <a:endParaRPr lang="zh-CN" altLang="en-US" sz="3000" i="1" kern="120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95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95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95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495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495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495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5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561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619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711200"/>
            <a:ext cx="8258175" cy="3225800"/>
          </a:xfrm>
        </p:spPr>
        <p:txBody>
          <a:bodyPr vert="horz" wrap="square" lIns="68580" tIns="34290" rIns="68580" bIns="34290" numCol="1" anchor="t" anchorCtr="0" compatLnSpc="1"/>
          <a:lstStyle/>
          <a:p>
            <a:pPr marL="272415" marR="0" lvl="0" indent="-272415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SDD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是对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CFG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的推广</a:t>
            </a:r>
          </a:p>
          <a:p>
            <a:pPr marL="575945" marR="0" lvl="1" indent="-272415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将每个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文法符号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和一个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语义属性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集合相关联</a:t>
            </a:r>
          </a:p>
          <a:p>
            <a:pPr marL="575945" marR="0" lvl="1" indent="-272415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将每个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产生式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和一组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语义规则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相关联，这些规则用于计算该产生式中各文法符号的属性值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855345" marR="0" lvl="2" indent="-272415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例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2531" name="Rectangle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anchor="ctr" anchorCtr="0"/>
          <a:lstStyle/>
          <a:p>
            <a:pPr eaLnBrk="1" hangingPunct="1">
              <a:buNone/>
            </a:pPr>
            <a:r>
              <a:rPr lang="zh-CN" altLang="en-US" sz="30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句法制导定义</a:t>
            </a:r>
            <a:r>
              <a:rPr lang="en-US" altLang="zh-CN" sz="3000" kern="12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j-cs"/>
              </a:rPr>
              <a:t>(</a:t>
            </a:r>
            <a:r>
              <a:rPr lang="en-US" altLang="zh-CN" sz="3000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j-cs"/>
              </a:rPr>
              <a:t>SDD</a:t>
            </a:r>
            <a:r>
              <a:rPr lang="en-US" altLang="zh-CN" sz="3000" kern="12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j-cs"/>
              </a:rPr>
              <a:t>)</a:t>
            </a:r>
            <a:endParaRPr lang="zh-CN" altLang="en-US" sz="3000" i="1" kern="120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</p:txBody>
      </p:sp>
      <p:grpSp>
        <p:nvGrpSpPr>
          <p:cNvPr id="2" name="组合 3"/>
          <p:cNvGrpSpPr/>
          <p:nvPr/>
        </p:nvGrpSpPr>
        <p:grpSpPr>
          <a:xfrm>
            <a:off x="2445359" y="2931790"/>
            <a:ext cx="4055467" cy="2123658"/>
            <a:chOff x="3359696" y="3284984"/>
            <a:chExt cx="4055467" cy="2123658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5" name="矩形 4"/>
            <p:cNvSpPr/>
            <p:nvPr/>
          </p:nvSpPr>
          <p:spPr>
            <a:xfrm>
              <a:off x="3359696" y="3284984"/>
              <a:ext cx="4055467" cy="2123658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ts val="21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   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产生式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	  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语义规则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ts val="21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D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→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L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 	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	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L . </a:t>
              </a: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inh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 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T . type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  </a:t>
              </a:r>
              <a:endPara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endParaRPr>
            </a:p>
            <a:p>
              <a:pPr marL="0" marR="0" lvl="0" indent="0" algn="l" defTabSz="914400" rtl="0" eaLnBrk="1" fontAlgn="base" latinLnBrk="0" hangingPunct="1">
                <a:lnSpc>
                  <a:spcPts val="21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T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 → </a:t>
              </a:r>
              <a:r>
                <a:rPr kumimoji="0" lang="en-US" altLang="zh-CN" sz="18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int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 		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T . type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 = </a:t>
              </a: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int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 </a:t>
              </a:r>
            </a:p>
            <a:p>
              <a:pPr marL="0" marR="0" lvl="0" indent="0" algn="l" defTabSz="914400" rtl="0" eaLnBrk="1" fontAlgn="base" latinLnBrk="0" hangingPunct="1">
                <a:lnSpc>
                  <a:spcPts val="21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T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 → real 	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T . type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 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real </a:t>
              </a:r>
            </a:p>
            <a:p>
              <a:pPr marL="0" marR="0" lvl="0" indent="0" algn="l" defTabSz="914400" rtl="0" eaLnBrk="1" fontAlgn="base" latinLnBrk="0" hangingPunct="1">
                <a:lnSpc>
                  <a:spcPts val="21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L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 →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L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1 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, id 	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L</a:t>
              </a:r>
              <a:r>
                <a:rPr kumimoji="0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1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. </a:t>
              </a: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inh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 =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L . </a:t>
              </a: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inh</a:t>
              </a:r>
              <a:endPara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楷体_GB2312"/>
              </a:endParaRPr>
            </a:p>
            <a:p>
              <a:pPr marL="0" marR="0" lvl="0" indent="0" algn="l" defTabSz="914400" rtl="0" eaLnBrk="1" fontAlgn="base" latinLnBrk="0" hangingPunct="1">
                <a:lnSpc>
                  <a:spcPts val="21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/>
                  <a:cs typeface="楷体_GB2312"/>
                </a:rPr>
                <a:t>          …		            …</a:t>
              </a: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3359696" y="3648444"/>
              <a:ext cx="4055467" cy="0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5054289" y="3284984"/>
              <a:ext cx="0" cy="2123658"/>
            </a:xfrm>
            <a:prstGeom prst="line">
              <a:avLst/>
            </a:prstGeom>
            <a:grpFill/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95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95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95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/>
          <p:nvPr/>
        </p:nvSpPr>
        <p:spPr>
          <a:xfrm>
            <a:off x="428625" y="785813"/>
            <a:ext cx="8072438" cy="1571625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/>
          <a:lstStyle/>
          <a:p>
            <a:pPr marL="271780" indent="-271780" eaLnBrk="1" hangingPunct="1">
              <a:lnSpc>
                <a:spcPts val="4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SDT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是在产生式右部嵌入了</a:t>
            </a:r>
            <a:r>
              <a:rPr lang="zh-CN" altLang="en-US" sz="28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程序片段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的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CFG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，这些程序片段称为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语义动作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。按照惯例，语义动作放在花括号内</a:t>
            </a:r>
          </a:p>
          <a:p>
            <a:pPr marL="957580" lvl="2" indent="-271780" eaLnBrk="1" hangingPunct="1">
              <a:lnSpc>
                <a:spcPts val="4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rgbClr val="000000"/>
                </a:solidFill>
                <a:latin typeface="楷体" panose="02010609060101010101" pitchFamily="49" charset="-122"/>
                <a:ea typeface="华文楷体" panose="02010600040101010101" pitchFamily="2" charset="-122"/>
              </a:rPr>
              <a:t>例</a:t>
            </a:r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句法制导翻译方案</a:t>
            </a:r>
            <a:r>
              <a:rPr kumimoji="1" lang="en-US" altLang="zh-CN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SD</a:t>
            </a:r>
            <a:r>
              <a:rPr kumimoji="1" lang="en-US" altLang="zh-CN" sz="3000" b="1" i="1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kumimoji="1" lang="en-US" altLang="zh-CN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kumimoji="0" lang="zh-CN" altLang="en-US" sz="3000" b="1" i="1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268538" y="2357438"/>
            <a:ext cx="4278313" cy="2032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txBody>
          <a:bodyPr/>
          <a:lstStyle>
            <a:lvl1pPr marL="363855" indent="-3638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67080" indent="-3638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39825" indent="-3035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522730" indent="-3035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948180" indent="-3035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377440" indent="-304800" algn="l" defTabSz="1219200" rtl="0" eaLnBrk="1" latinLnBrk="0" hangingPunct="1">
              <a:spcBef>
                <a:spcPts val="510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86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804160" indent="-304800" algn="l" defTabSz="1219200" rtl="0" eaLnBrk="1" latinLnBrk="0" hangingPunct="1">
              <a:spcBef>
                <a:spcPts val="510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86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30880" indent="-304800" algn="l" defTabSz="1219200" rtl="0" eaLnBrk="1" latinLnBrk="0" hangingPunct="1">
              <a:spcBef>
                <a:spcPts val="510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86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-304800" algn="l" defTabSz="1219200" rtl="0" eaLnBrk="1" latinLnBrk="0" hangingPunct="1">
              <a:spcBef>
                <a:spcPts val="510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86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l" defTabSz="914400" rtl="0" eaLnBrk="1" fontAlgn="base" latinLnBrk="0" hangingPunct="1">
              <a:lnSpc>
                <a:spcPts val="24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None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D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→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L.inh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T.type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}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L</a:t>
            </a:r>
          </a:p>
          <a:p>
            <a:pPr marL="0" marR="0" lvl="1" indent="0" algn="l" defTabSz="914400" rtl="0" eaLnBrk="1" fontAlgn="base" latinLnBrk="0" hangingPunct="1">
              <a:lnSpc>
                <a:spcPts val="24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None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→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T.type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}</a:t>
            </a:r>
          </a:p>
          <a:p>
            <a:pPr marL="0" marR="0" lvl="1" indent="0" algn="l" defTabSz="914400" rtl="0" eaLnBrk="1" fontAlgn="base" latinLnBrk="0" hangingPunct="1">
              <a:lnSpc>
                <a:spcPts val="24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None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→ real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T.type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real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}</a:t>
            </a:r>
          </a:p>
          <a:p>
            <a:pPr marL="0" marR="0" lvl="1" indent="0" algn="l" defTabSz="914400" rtl="0" eaLnBrk="1" fontAlgn="base" latinLnBrk="0" hangingPunct="1">
              <a:lnSpc>
                <a:spcPts val="24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None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L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→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L</a:t>
            </a:r>
            <a:r>
              <a:rPr kumimoji="0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.inh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L.inh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}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L</a:t>
            </a:r>
            <a:r>
              <a:rPr kumimoji="0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, id</a:t>
            </a:r>
          </a:p>
          <a:p>
            <a:pPr marL="0" marR="0" lvl="1" indent="0" algn="l" defTabSz="914400" rtl="0" eaLnBrk="1" fontAlgn="base" latinLnBrk="0" hangingPunct="1">
              <a:lnSpc>
                <a:spcPts val="24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	        …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73E87">
                  <a:lumMod val="60000"/>
                  <a:lumOff val="40000"/>
                </a:srgbClr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00050" y="4500563"/>
            <a:ext cx="8315325" cy="46196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一个语义动作在产生式中的位置决定了这个动作的执行时间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/>
          <p:cNvSpPr>
            <a:spLocks noGrp="1"/>
          </p:cNvSpPr>
          <p:nvPr>
            <p:ph idx="1"/>
          </p:nvPr>
        </p:nvSpPr>
        <p:spPr>
          <a:xfrm>
            <a:off x="442913" y="642938"/>
            <a:ext cx="8201025" cy="3225800"/>
          </a:xfrm>
        </p:spPr>
        <p:txBody>
          <a:bodyPr vert="horz" wrap="square" lIns="68580" tIns="34290" rIns="68580" bIns="34290" anchor="t" anchorCtr="0"/>
          <a:lstStyle/>
          <a:p>
            <a:pPr eaLnBrk="1" hangingPunct="1">
              <a:lnSpc>
                <a:spcPts val="3800"/>
              </a:lnSpc>
              <a:buClr>
                <a:schemeClr val="tx1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zh-CN" sz="3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SDD</a:t>
            </a:r>
            <a:endParaRPr lang="zh-CN" altLang="en-US" sz="3000" b="1" i="1" kern="1200" dirty="0">
              <a:solidFill>
                <a:schemeClr val="tx1"/>
              </a:solidFill>
              <a:latin typeface="Times New Roman" panose="02020603050405020304" pitchFamily="18" charset="0"/>
              <a:ea typeface="楷体_GB2312"/>
              <a:cs typeface="+mn-cs"/>
            </a:endParaRPr>
          </a:p>
          <a:p>
            <a:pPr lvl="1">
              <a:lnSpc>
                <a:spcPts val="38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2500" b="1" kern="1200" dirty="0">
                <a:solidFill>
                  <a:schemeClr val="tx1"/>
                </a:solidFill>
                <a:latin typeface="楷体" panose="02010609060101010101" pitchFamily="49" charset="-122"/>
                <a:ea typeface="华文楷体" panose="02010600040101010101" pitchFamily="2" charset="-122"/>
                <a:cs typeface="+mn-cs"/>
              </a:rPr>
              <a:t>是关于语言翻译的高层次规格说明</a:t>
            </a:r>
            <a:endParaRPr lang="en-US" altLang="zh-CN" sz="2500" b="1" kern="1200" dirty="0">
              <a:solidFill>
                <a:schemeClr val="tx1"/>
              </a:solidFill>
              <a:latin typeface="楷体" panose="02010609060101010101" pitchFamily="49" charset="-122"/>
              <a:ea typeface="华文楷体" panose="02010600040101010101" pitchFamily="2" charset="-122"/>
              <a:cs typeface="+mn-cs"/>
            </a:endParaRPr>
          </a:p>
          <a:p>
            <a:pPr lvl="1">
              <a:lnSpc>
                <a:spcPts val="38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2500" b="1" kern="1200" dirty="0">
                <a:solidFill>
                  <a:schemeClr val="tx1"/>
                </a:solidFill>
                <a:latin typeface="楷体" panose="02010609060101010101" pitchFamily="49" charset="-122"/>
                <a:ea typeface="华文楷体" panose="02010600040101010101" pitchFamily="2" charset="-122"/>
                <a:cs typeface="+mn-cs"/>
              </a:rPr>
              <a:t>隐蔽了许多具体实现细节，使用户不必显式地说明翻译发生的顺序</a:t>
            </a:r>
          </a:p>
          <a:p>
            <a:pPr eaLnBrk="1" hangingPunct="1">
              <a:lnSpc>
                <a:spcPts val="38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zh-CN" sz="3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SDT</a:t>
            </a:r>
            <a:endParaRPr lang="zh-CN" altLang="en-US" sz="3000" b="1" i="1" kern="1200" dirty="0">
              <a:solidFill>
                <a:schemeClr val="tx1"/>
              </a:solidFill>
              <a:latin typeface="Times New Roman" panose="02020603050405020304" pitchFamily="18" charset="0"/>
              <a:ea typeface="楷体_GB2312"/>
              <a:cs typeface="+mn-cs"/>
            </a:endParaRPr>
          </a:p>
          <a:p>
            <a:pPr lvl="1">
              <a:lnSpc>
                <a:spcPts val="38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可以看作是对</a:t>
            </a:r>
            <a:r>
              <a:rPr lang="en-US" altLang="zh-CN" sz="24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SDD</a:t>
            </a:r>
            <a:r>
              <a:rPr lang="zh-CN" altLang="en-US" sz="2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的一种补充，是</a:t>
            </a:r>
            <a:r>
              <a:rPr lang="en-US" altLang="zh-CN" sz="24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SDD</a:t>
            </a:r>
            <a:r>
              <a:rPr lang="zh-CN" altLang="en-US" sz="2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的具体实施方案</a:t>
            </a:r>
            <a:endParaRPr lang="en-US" altLang="zh-CN" sz="2500" b="1" kern="120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lvl="1">
              <a:lnSpc>
                <a:spcPts val="38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显式地指明了</a:t>
            </a:r>
            <a:r>
              <a:rPr lang="zh-CN" altLang="en-US" sz="2500" b="1" kern="12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语义规则的计算顺序</a:t>
            </a:r>
            <a:r>
              <a:rPr lang="zh-CN" altLang="en-US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，以便说明某些实现细节</a:t>
            </a:r>
          </a:p>
        </p:txBody>
      </p:sp>
      <p:sp>
        <p:nvSpPr>
          <p:cNvPr id="26627" name="Rectangle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anchor="ctr" anchorCtr="0"/>
          <a:lstStyle/>
          <a:p>
            <a:pPr eaLnBrk="1" hangingPunct="1">
              <a:buNone/>
            </a:pPr>
            <a:r>
              <a:rPr lang="en-US" altLang="zh-CN" sz="3000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j-cs"/>
              </a:rPr>
              <a:t>SDD</a:t>
            </a:r>
            <a:r>
              <a:rPr lang="zh-CN" altLang="en-US" sz="30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与</a:t>
            </a:r>
            <a:r>
              <a:rPr lang="en-US" altLang="zh-CN" sz="3000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j-cs"/>
              </a:rPr>
              <a:t>SDT</a:t>
            </a:r>
            <a:endParaRPr lang="zh-CN" altLang="en-US" sz="3000" i="1" kern="120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3" descr="G:\QQ截图201607142012副本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514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03" name="Rectangle 2"/>
          <p:cNvSpPr txBox="1">
            <a:spLocks noChangeArrowheads="1"/>
          </p:cNvSpPr>
          <p:nvPr/>
        </p:nvSpPr>
        <p:spPr bwMode="auto">
          <a:xfrm>
            <a:off x="3857625" y="1774825"/>
            <a:ext cx="4464050" cy="939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68580" tIns="34290" rIns="68580" bIns="34290" anchor="ctr"/>
          <a:lstStyle/>
          <a:p>
            <a:pPr marR="0" algn="ctr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3500" b="0" kern="1200" cap="none" spc="300" normalizeH="0" baseline="0" noProof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句法制导定义</a:t>
            </a:r>
            <a:r>
              <a:rPr kumimoji="0" lang="en-US" altLang="zh-CN" sz="3500" b="0" kern="1200" cap="none" spc="300" normalizeH="0" baseline="0" noProof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SDD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4629150" y="2428875"/>
            <a:ext cx="3443288" cy="939800"/>
          </a:xfrm>
          <a:prstGeom prst="rect">
            <a:avLst/>
          </a:prstGeom>
        </p:spPr>
        <p:txBody>
          <a:bodyPr lIns="68580" tIns="34290" rIns="68580" bIns="34290" anchor="ctr"/>
          <a:lstStyle/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kern="1200" cap="none" spc="600" normalizeH="0" baseline="0" noProof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4572000" y="1428750"/>
            <a:ext cx="3143250" cy="441325"/>
          </a:xfrm>
          <a:prstGeom prst="rect">
            <a:avLst/>
          </a:prstGeom>
          <a:ln w="12700">
            <a:noFill/>
          </a:ln>
        </p:spPr>
        <p:txBody>
          <a:bodyPr lIns="68580" tIns="34290" rIns="68580" bIns="34290" anchor="ctr"/>
          <a:lstStyle/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kern="1200" cap="none" spc="225" normalizeH="0" baseline="0" noProof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731" name="Rectangle 3"/>
          <p:cNvSpPr>
            <a:spLocks noGrp="1" noChangeArrowheads="1"/>
          </p:cNvSpPr>
          <p:nvPr>
            <p:ph idx="1"/>
          </p:nvPr>
        </p:nvSpPr>
        <p:spPr>
          <a:xfrm>
            <a:off x="428625" y="714375"/>
            <a:ext cx="8450263" cy="4017963"/>
          </a:xfrm>
        </p:spPr>
        <p:txBody>
          <a:bodyPr vert="horz" wrap="square" lIns="68580" tIns="34290" rIns="68580" bIns="34290" numCol="1" anchor="t" anchorCtr="0" compatLnSpc="1"/>
          <a:lstStyle/>
          <a:p>
            <a:pPr marL="273050" marR="0" lvl="0" indent="-273050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句法制导定义</a:t>
            </a:r>
            <a:r>
              <a:rPr kumimoji="1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SDD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是对</a:t>
            </a:r>
            <a:r>
              <a:rPr kumimoji="1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CFG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的推广</a:t>
            </a:r>
            <a:endParaRPr kumimoji="1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575945" marR="0" lvl="1" indent="-273050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将每个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文法符号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和一个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语义属性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集合相关联</a:t>
            </a:r>
          </a:p>
          <a:p>
            <a:pPr marL="575945" marR="0" lvl="1" indent="-273050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将每个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产生式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和一组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语义规则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相关联，用来计算该产生式中各文法符号的属性值</a:t>
            </a:r>
          </a:p>
          <a:p>
            <a:pPr marL="273050" marR="0" lvl="0" indent="-273050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文法符号的属性</a:t>
            </a:r>
          </a:p>
          <a:p>
            <a:pPr marL="575945" marR="0" lvl="1" indent="-273050" algn="l" defTabSz="914400" rtl="0" eaLnBrk="1" fontAlgn="base" latinLnBrk="0" hangingPunct="1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综合属性 </a:t>
            </a:r>
            <a:r>
              <a:rPr kumimoji="1" lang="en-US" altLang="zh-CN" sz="24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synthesized attribute</a:t>
            </a:r>
            <a:r>
              <a:rPr kumimoji="1" lang="en-US" altLang="zh-CN" sz="24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kumimoji="1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575945" marR="0" lvl="1" indent="-273050" algn="l" defTabSz="914400" rtl="0" eaLnBrk="1" fontAlgn="base" latinLnBrk="0" hangingPunct="1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继承属性 </a:t>
            </a:r>
            <a:r>
              <a:rPr kumimoji="1" lang="en-US" altLang="zh-CN" sz="2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inherited attribute</a:t>
            </a:r>
            <a:r>
              <a:rPr kumimoji="1" lang="en-US" altLang="zh-CN" sz="2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kumimoji="1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句法制导定义</a:t>
            </a:r>
            <a:r>
              <a:rPr kumimoji="1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SDD</a:t>
            </a:r>
            <a:endParaRPr kumimoji="1" lang="zh-CN" altLang="en-US" sz="30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85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85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85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85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85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85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85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85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85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3"/>
          <p:cNvSpPr>
            <a:spLocks noGrp="1" noChangeArrowheads="1"/>
          </p:cNvSpPr>
          <p:nvPr>
            <p:ph idx="1"/>
          </p:nvPr>
        </p:nvSpPr>
        <p:spPr>
          <a:xfrm>
            <a:off x="430213" y="785813"/>
            <a:ext cx="8428038" cy="4286250"/>
          </a:xfrm>
        </p:spPr>
        <p:txBody>
          <a:bodyPr vert="horz" wrap="square" lIns="68580" tIns="34290" rIns="68580" bIns="34290" numCol="1" anchor="t" anchorCtr="0" compatLnSpc="1"/>
          <a:lstStyle/>
          <a:p>
            <a:pPr marL="272415" marR="0" lvl="0" indent="-272415" algn="l" defTabSz="914400" rtl="0" eaLnBrk="0" fontAlgn="base" latinLnBrk="0" hangingPunct="0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在分析树结点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上的非终结符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综合属性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只能通过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的子结点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或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本身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的属性值来定义</a:t>
            </a:r>
          </a:p>
          <a:p>
            <a:pPr marL="575945" marR="0" lvl="1" indent="-272415" algn="l" defTabSz="914400" rtl="0" eaLnBrk="0" fontAlgn="base" latinLnBrk="0" hangingPunct="0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例		</a:t>
            </a:r>
          </a:p>
          <a:p>
            <a:pPr marL="0" marR="0" lvl="0" indent="0" algn="l" defTabSz="914400" rtl="0" eaLnBrk="0" fontAlgn="base" latinLnBrk="0" hangingPunct="0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anose="05050102010706020507" pitchFamily="18" charset="2"/>
              <a:buNone/>
              <a:defRPr/>
            </a:pP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2415" marR="0" lvl="0" indent="-272415" algn="l" defTabSz="914400" rtl="0" eaLnBrk="0" fontAlgn="base" latinLnBrk="0" hangingPunct="0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anose="05050102010706020507" pitchFamily="18" charset="2"/>
              <a:buNone/>
              <a:defRPr/>
            </a:pP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2415" marR="0" lvl="0" indent="-272415" algn="l" defTabSz="914400" rtl="0" eaLnBrk="0" fontAlgn="base" latinLnBrk="0" hangingPunct="0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终结符可以具有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综合属性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。终结符的综合属性值是由词法分析器提供的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词法值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，因此在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SDD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中没有计算终结符属性值的语义规则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综合属性</a:t>
            </a:r>
            <a:r>
              <a:rPr kumimoji="1" lang="en-US" altLang="zh-CN" sz="28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synthesized attribute</a:t>
            </a:r>
            <a:r>
              <a:rPr kumimoji="1" lang="en-US" altLang="zh-CN" sz="28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kumimoji="0" lang="zh-CN" altLang="en-US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2"/>
          <p:cNvGrpSpPr/>
          <p:nvPr/>
        </p:nvGrpSpPr>
        <p:grpSpPr>
          <a:xfrm>
            <a:off x="5591175" y="2233613"/>
            <a:ext cx="2852738" cy="452437"/>
            <a:chOff x="5519738" y="2305050"/>
            <a:chExt cx="2852724" cy="452438"/>
          </a:xfrm>
        </p:grpSpPr>
        <p:sp>
          <p:nvSpPr>
            <p:cNvPr id="34830" name="Line 39"/>
            <p:cNvSpPr/>
            <p:nvPr/>
          </p:nvSpPr>
          <p:spPr>
            <a:xfrm flipV="1">
              <a:off x="5519738" y="2305050"/>
              <a:ext cx="1223962" cy="452438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lgDash"/>
              <a:headEnd type="none" w="med" len="med"/>
              <a:tailEnd type="stealth" w="lg" len="lg"/>
            </a:ln>
          </p:spPr>
        </p:sp>
        <p:sp>
          <p:nvSpPr>
            <p:cNvPr id="34831" name="Line 40"/>
            <p:cNvSpPr/>
            <p:nvPr/>
          </p:nvSpPr>
          <p:spPr>
            <a:xfrm flipH="1" flipV="1">
              <a:off x="7072299" y="2314588"/>
              <a:ext cx="1300163" cy="422275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lgDash"/>
              <a:headEnd type="none" w="med" len="med"/>
              <a:tailEnd type="stealth" w="lg" len="lg"/>
            </a:ln>
          </p:spPr>
        </p:sp>
      </p:grpSp>
      <p:grpSp>
        <p:nvGrpSpPr>
          <p:cNvPr id="3" name="组合 1"/>
          <p:cNvGrpSpPr/>
          <p:nvPr/>
        </p:nvGrpSpPr>
        <p:grpSpPr>
          <a:xfrm>
            <a:off x="5014913" y="1730375"/>
            <a:ext cx="3914775" cy="1484313"/>
            <a:chOff x="4943475" y="1801813"/>
            <a:chExt cx="3914775" cy="1484312"/>
          </a:xfrm>
        </p:grpSpPr>
        <p:sp>
          <p:nvSpPr>
            <p:cNvPr id="34823" name="Text Box 17"/>
            <p:cNvSpPr txBox="1"/>
            <p:nvPr/>
          </p:nvSpPr>
          <p:spPr>
            <a:xfrm>
              <a:off x="6743700" y="2881313"/>
              <a:ext cx="457200" cy="401637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lIns="90000" tIns="46800" rIns="90000" bIns="4680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34824" name="Rectangle 21"/>
            <p:cNvSpPr/>
            <p:nvPr/>
          </p:nvSpPr>
          <p:spPr>
            <a:xfrm>
              <a:off x="7607300" y="2836863"/>
              <a:ext cx="1250950" cy="403225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lIns="90000" tIns="46800" rIns="90000" bIns="46800" anchor="ctr" anchorCtr="0">
              <a:spAutoFit/>
            </a:bodyPr>
            <a:lstStyle/>
            <a:p>
              <a:pPr algn="ctr" eaLnBrk="1" hangingPunct="1">
                <a:buNone/>
              </a:pPr>
              <a:r>
                <a:rPr lang="en-US" altLang="zh-CN" sz="2000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dirty="0">
                  <a:latin typeface="Times New Roman" panose="02020603050405020304" pitchFamily="18" charset="0"/>
                  <a:ea typeface="楷体_GB2312"/>
                </a:rPr>
                <a:t>.</a:t>
              </a:r>
              <a:r>
                <a:rPr lang="en-US" altLang="zh-CN" sz="2000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4825" name="Rectangle 23"/>
            <p:cNvSpPr/>
            <p:nvPr/>
          </p:nvSpPr>
          <p:spPr>
            <a:xfrm>
              <a:off x="6240463" y="1801813"/>
              <a:ext cx="1346200" cy="40322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 anchor="ctr" anchorCtr="0">
              <a:spAutoFit/>
            </a:bodyPr>
            <a:lstStyle/>
            <a:p>
              <a:pPr algn="ctr" eaLnBrk="1" hangingPunct="1">
                <a:buNone/>
              </a:pPr>
              <a:r>
                <a:rPr lang="en-US" altLang="zh-CN" sz="2000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E</a:t>
              </a:r>
              <a:r>
                <a:rPr lang="en-US" altLang="zh-CN" sz="2000" dirty="0">
                  <a:latin typeface="Times New Roman" panose="02020603050405020304" pitchFamily="18" charset="0"/>
                  <a:ea typeface="楷体_GB2312"/>
                </a:rPr>
                <a:t>.</a:t>
              </a:r>
              <a:r>
                <a:rPr lang="en-US" altLang="zh-CN" sz="2000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4826" name="Line 24"/>
            <p:cNvSpPr/>
            <p:nvPr/>
          </p:nvSpPr>
          <p:spPr>
            <a:xfrm flipH="1">
              <a:off x="5723469" y="2376488"/>
              <a:ext cx="1150938" cy="439737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34827" name="Line 25"/>
            <p:cNvSpPr/>
            <p:nvPr/>
          </p:nvSpPr>
          <p:spPr>
            <a:xfrm>
              <a:off x="6888163" y="2376488"/>
              <a:ext cx="0" cy="45720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34828" name="Line 26"/>
            <p:cNvSpPr/>
            <p:nvPr/>
          </p:nvSpPr>
          <p:spPr>
            <a:xfrm>
              <a:off x="6888163" y="2376488"/>
              <a:ext cx="1316037" cy="377825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34829" name="Rectangle 16"/>
            <p:cNvSpPr/>
            <p:nvPr/>
          </p:nvSpPr>
          <p:spPr>
            <a:xfrm>
              <a:off x="4943475" y="2882900"/>
              <a:ext cx="1417638" cy="403225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lIns="90000" tIns="46800" rIns="90000" bIns="46800" anchor="ctr" anchorCtr="0">
              <a:spAutoFit/>
            </a:bodyPr>
            <a:lstStyle/>
            <a:p>
              <a:pPr algn="ctr" eaLnBrk="1" hangingPunct="1">
                <a:buNone/>
              </a:pPr>
              <a:r>
                <a:rPr lang="en-US" altLang="zh-CN" sz="2000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E</a:t>
              </a:r>
              <a:r>
                <a:rPr lang="en-US" altLang="zh-CN" sz="2000" i="1" baseline="-25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 sz="2000" dirty="0">
                  <a:latin typeface="Times New Roman" panose="02020603050405020304" pitchFamily="18" charset="0"/>
                  <a:ea typeface="楷体_GB2312"/>
                </a:rPr>
                <a:t>.</a:t>
              </a:r>
              <a:r>
                <a:rPr lang="en-US" altLang="zh-CN" sz="2000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611567" y="2308225"/>
            <a:ext cx="4531934" cy="7699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Symbol" panose="05050102010706020507" pitchFamily="18" charset="2"/>
              </a:rPr>
              <a:t>   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Symbol" panose="05050102010706020507" pitchFamily="18" charset="2"/>
              </a:rPr>
              <a:t>产生式                  语义规则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  <a:sym typeface="Symbol" panose="05050102010706020507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Symbol" panose="05050102010706020507" pitchFamily="18" charset="2"/>
              </a:rPr>
              <a:t>E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Symbol" panose="05050102010706020507" pitchFamily="18" charset="2"/>
              </a:rPr>
              <a:t>  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Symbol" panose="05050102010706020507" pitchFamily="18" charset="2"/>
              </a:rPr>
              <a:t>E</a:t>
            </a:r>
            <a:r>
              <a:rPr kumimoji="1" lang="en-US" altLang="zh-CN" sz="20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Symbol" panose="05050102010706020507" pitchFamily="18" charset="2"/>
              </a:rPr>
              <a:t>1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Symbol" panose="05050102010706020507" pitchFamily="18" charset="2"/>
              </a:rPr>
              <a:t>+ 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Symbol" panose="05050102010706020507" pitchFamily="18" charset="2"/>
              </a:rPr>
              <a:t>T       E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Symbol" panose="05050102010706020507" pitchFamily="18" charset="2"/>
              </a:rPr>
              <a:t>val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Symbol" panose="05050102010706020507" pitchFamily="18" charset="2"/>
              </a:rPr>
              <a:t>=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Symbol" panose="05050102010706020507" pitchFamily="18" charset="2"/>
              </a:rPr>
              <a:t> E</a:t>
            </a:r>
            <a:r>
              <a:rPr kumimoji="1" lang="en-US" altLang="zh-CN" sz="20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Symbol" panose="05050102010706020507" pitchFamily="18" charset="2"/>
              </a:rPr>
              <a:t>1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Symbol" panose="05050102010706020507" pitchFamily="18" charset="2"/>
              </a:rPr>
              <a:t>val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Symbol" panose="05050102010706020507" pitchFamily="18" charset="2"/>
              </a:rPr>
              <a:t>+ 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Symbol" panose="05050102010706020507" pitchFamily="18" charset="2"/>
              </a:rPr>
              <a:t>T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Symbol" panose="05050102010706020507" pitchFamily="18" charset="2"/>
              </a:rPr>
              <a:t>val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7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7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7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7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7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7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3"/>
          <p:cNvSpPr>
            <a:spLocks noGrp="1" noChangeArrowheads="1"/>
          </p:cNvSpPr>
          <p:nvPr>
            <p:ph idx="1"/>
          </p:nvPr>
        </p:nvSpPr>
        <p:spPr>
          <a:xfrm>
            <a:off x="428625" y="714375"/>
            <a:ext cx="8593138" cy="3729038"/>
          </a:xfrm>
        </p:spPr>
        <p:txBody>
          <a:bodyPr vert="horz" wrap="square" lIns="68580" tIns="34290" rIns="68580" bIns="34290" numCol="1" anchor="t" anchorCtr="0" compatLnSpc="1"/>
          <a:lstStyle/>
          <a:p>
            <a:pPr marL="272415" marR="0" lvl="0" indent="-272415" algn="l" defTabSz="914400" rtl="0" eaLnBrk="0" fontAlgn="base" latinLnBrk="0" hangingPunct="0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在分析树结点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上的非终结符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继承属性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只能通过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的父结点、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的兄弟结点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或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本身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的属性值来定义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575945" marR="0" lvl="1" indent="-272415" algn="l" defTabSz="914400" rtl="0" eaLnBrk="0" fontAlgn="base" latinLnBrk="0" hangingPunct="0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例</a:t>
            </a:r>
          </a:p>
          <a:p>
            <a:pPr marL="0" marR="0" lvl="0" indent="0" algn="l" defTabSz="914400" rtl="0" eaLnBrk="0" fontAlgn="base" latinLnBrk="0" hangingPunct="0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anose="05050102010706020507" pitchFamily="18" charset="2"/>
              <a:buNone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2415" marR="0" lvl="0" indent="-272415" algn="l" defTabSz="914400" rtl="0" eaLnBrk="0" fontAlgn="base" latinLnBrk="0" hangingPunct="0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2415" marR="0" lvl="0" indent="-272415" algn="l" defTabSz="914400" rtl="0" eaLnBrk="0" fontAlgn="base" latinLnBrk="0" hangingPunct="0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终结符没有继承属性。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终结符从词法分析器处获得的属性值被归为综合属性值</a:t>
            </a:r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继承属性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inherited attribute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kumimoji="1" lang="zh-CN" altLang="en-US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1285875" y="2495550"/>
            <a:ext cx="3173413" cy="8620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ts val="24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Symbol" panose="05050102010706020507" pitchFamily="18" charset="2"/>
              </a:rPr>
              <a:t>产生式             语义规则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  <a:sym typeface="Symbol" panose="05050102010706020507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ts val="24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D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T L       </a:t>
            </a:r>
            <a:r>
              <a:rPr kumimoji="1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L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inh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 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T.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type</a:t>
            </a:r>
          </a:p>
        </p:txBody>
      </p:sp>
      <p:sp>
        <p:nvSpPr>
          <p:cNvPr id="57351" name="Freeform 10"/>
          <p:cNvSpPr/>
          <p:nvPr/>
        </p:nvSpPr>
        <p:spPr>
          <a:xfrm rot="120000">
            <a:off x="5670550" y="2671763"/>
            <a:ext cx="1668463" cy="298450"/>
          </a:xfrm>
          <a:custGeom>
            <a:avLst/>
            <a:gdLst>
              <a:gd name="txL" fmla="*/ 0 w 680"/>
              <a:gd name="txT" fmla="*/ 0 h 190"/>
              <a:gd name="txR" fmla="*/ 680 w 680"/>
              <a:gd name="txB" fmla="*/ 190 h 19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680" h="190">
                <a:moveTo>
                  <a:pt x="0" y="190"/>
                </a:moveTo>
                <a:cubicBezTo>
                  <a:pt x="102" y="103"/>
                  <a:pt x="204" y="16"/>
                  <a:pt x="317" y="8"/>
                </a:cubicBezTo>
                <a:cubicBezTo>
                  <a:pt x="430" y="0"/>
                  <a:pt x="620" y="121"/>
                  <a:pt x="680" y="144"/>
                </a:cubicBezTo>
              </a:path>
            </a:pathLst>
          </a:custGeom>
          <a:noFill/>
          <a:ln w="38100" cap="flat" cmpd="sng">
            <a:solidFill>
              <a:schemeClr val="hlink">
                <a:alpha val="100000"/>
              </a:schemeClr>
            </a:solidFill>
            <a:prstDash val="lgDash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" name="组合 11"/>
          <p:cNvGrpSpPr/>
          <p:nvPr/>
        </p:nvGrpSpPr>
        <p:grpSpPr>
          <a:xfrm>
            <a:off x="4500563" y="2071688"/>
            <a:ext cx="3914775" cy="1285875"/>
            <a:chOff x="5014943" y="1928808"/>
            <a:chExt cx="3914775" cy="1285884"/>
          </a:xfrm>
        </p:grpSpPr>
        <p:sp>
          <p:nvSpPr>
            <p:cNvPr id="36871" name="Rectangle 21"/>
            <p:cNvSpPr/>
            <p:nvPr/>
          </p:nvSpPr>
          <p:spPr>
            <a:xfrm>
              <a:off x="7678768" y="2765430"/>
              <a:ext cx="1250950" cy="40322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 anchor="ctr" anchorCtr="0">
              <a:spAutoFit/>
            </a:bodyPr>
            <a:lstStyle/>
            <a:p>
              <a:pPr algn="ctr" eaLnBrk="1" hangingPunct="1">
                <a:buNone/>
              </a:pPr>
              <a:r>
                <a:rPr lang="en-US" altLang="zh-CN" sz="2000" i="1" dirty="0">
                  <a:latin typeface="Times New Roman" panose="02020603050405020304" pitchFamily="18" charset="0"/>
                  <a:ea typeface="楷体_GB2312"/>
                </a:rPr>
                <a:t>L.inh</a:t>
              </a:r>
            </a:p>
          </p:txBody>
        </p:sp>
        <p:sp>
          <p:nvSpPr>
            <p:cNvPr id="36872" name="Rectangle 23"/>
            <p:cNvSpPr/>
            <p:nvPr/>
          </p:nvSpPr>
          <p:spPr>
            <a:xfrm>
              <a:off x="6311931" y="1928808"/>
              <a:ext cx="1346200" cy="40322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 anchor="ctr" anchorCtr="0">
              <a:spAutoFit/>
            </a:bodyPr>
            <a:lstStyle/>
            <a:p>
              <a:pPr algn="ctr" eaLnBrk="1" hangingPunct="1"/>
              <a:r>
                <a:rPr lang="en-US" altLang="zh-CN" sz="2000" i="1" dirty="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36873" name="Line 24"/>
            <p:cNvSpPr/>
            <p:nvPr/>
          </p:nvSpPr>
          <p:spPr>
            <a:xfrm flipH="1">
              <a:off x="5794937" y="2305055"/>
              <a:ext cx="1150938" cy="439737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36874" name="Line 26"/>
            <p:cNvSpPr/>
            <p:nvPr/>
          </p:nvSpPr>
          <p:spPr>
            <a:xfrm>
              <a:off x="6959631" y="2305055"/>
              <a:ext cx="1316037" cy="377825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36875" name="Rectangle 16"/>
            <p:cNvSpPr/>
            <p:nvPr/>
          </p:nvSpPr>
          <p:spPr>
            <a:xfrm>
              <a:off x="5014943" y="2811467"/>
              <a:ext cx="1417638" cy="40322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 anchor="ctr" anchorCtr="0">
              <a:spAutoFit/>
            </a:bodyPr>
            <a:lstStyle/>
            <a:p>
              <a:pPr algn="ctr" eaLnBrk="1" hangingPunct="1">
                <a:buNone/>
              </a:pPr>
              <a:r>
                <a:rPr lang="en-US" altLang="zh-CN" sz="2000" i="1" dirty="0">
                  <a:latin typeface="Times New Roman" panose="02020603050405020304" pitchFamily="18" charset="0"/>
                  <a:ea typeface="楷体_GB2312"/>
                </a:rPr>
                <a:t>T.type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5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5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5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73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73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7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52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52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52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标题 2"/>
          <p:cNvSpPr txBox="1"/>
          <p:nvPr/>
        </p:nvSpPr>
        <p:spPr bwMode="auto">
          <a:xfrm>
            <a:off x="755650" y="268288"/>
            <a:ext cx="7931150" cy="358775"/>
          </a:xfrm>
          <a:prstGeom prst="rect">
            <a:avLst/>
          </a:prstGeom>
          <a:noFill/>
          <a:ln>
            <a:noFill/>
          </a:ln>
        </p:spPr>
        <p:txBody>
          <a:bodyPr lIns="68580" tIns="34290" rIns="68580" bIns="34290"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 baseline="0">
                <a:solidFill>
                  <a:srgbClr val="FFFF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FFFF"/>
                </a:solidFill>
                <a:latin typeface="Candara" panose="020E0502030303020204" pitchFamily="34" charset="0"/>
                <a:ea typeface="黑体" panose="02010609060101010101" pitchFamily="49" charset="-122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kumimoji="0" lang="zh-CN" altLang="en-US" sz="3000" b="1" i="0" u="none" strike="noStrike" kern="1200" cap="none" spc="-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带有综合属性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SDD </a:t>
            </a:r>
            <a:endParaRPr kumimoji="0" lang="zh-CN" altLang="en-US" sz="30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7359" name="Rectangle 2"/>
          <p:cNvSpPr/>
          <p:nvPr/>
        </p:nvSpPr>
        <p:spPr>
          <a:xfrm>
            <a:off x="4948238" y="4357688"/>
            <a:ext cx="1597025" cy="37941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67500" tIns="35100" rIns="67500" bIns="35100" anchor="ctr" anchorCtr="0">
            <a:spAutoFit/>
          </a:bodyPr>
          <a:lstStyle/>
          <a:p>
            <a:pPr eaLnBrk="1" hangingPunct="1">
              <a:buNone/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digit</a:t>
            </a:r>
            <a:r>
              <a:rPr lang="en-US" altLang="zh-CN" sz="2000" i="1" dirty="0">
                <a:latin typeface="Times New Roman" panose="02020603050405020304" pitchFamily="18" charset="0"/>
                <a:ea typeface="楷体_GB2312"/>
              </a:rPr>
              <a:t>.</a:t>
            </a:r>
            <a:r>
              <a:rPr lang="en-US" altLang="zh-CN" sz="2000" i="1" dirty="0">
                <a:latin typeface="Times New Roman" panose="02020603050405020304" pitchFamily="18" charset="0"/>
                <a:sym typeface="Symbol" panose="05050102010706020507" pitchFamily="18" charset="2"/>
              </a:rPr>
              <a:t>lexval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=3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57360" name="Rectangle 3"/>
          <p:cNvSpPr/>
          <p:nvPr/>
        </p:nvSpPr>
        <p:spPr>
          <a:xfrm>
            <a:off x="4914900" y="3643313"/>
            <a:ext cx="1025525" cy="37941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lIns="67500" tIns="35100" rIns="67500" bIns="35100" anchor="ctr" anchorCtr="0">
            <a:spAutoFit/>
          </a:bodyPr>
          <a:lstStyle/>
          <a:p>
            <a:pPr algn="ctr" eaLnBrk="1" hangingPunct="1">
              <a:buNone/>
            </a:pP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000" i="1" dirty="0">
                <a:latin typeface="Times New Roman" panose="02020603050405020304" pitchFamily="18" charset="0"/>
                <a:ea typeface="楷体_GB2312"/>
              </a:rPr>
              <a:t>.</a:t>
            </a:r>
            <a:r>
              <a:rPr lang="en-US" altLang="zh-CN" sz="2000" i="1" dirty="0">
                <a:latin typeface="Times New Roman" panose="02020603050405020304" pitchFamily="18" charset="0"/>
                <a:sym typeface="Symbol" panose="05050102010706020507" pitchFamily="18" charset="2"/>
              </a:rPr>
              <a:t>val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=3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57361" name="Line 4"/>
          <p:cNvSpPr/>
          <p:nvPr/>
        </p:nvSpPr>
        <p:spPr>
          <a:xfrm flipV="1">
            <a:off x="5454650" y="4103688"/>
            <a:ext cx="0" cy="28575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lg" len="lg"/>
          </a:ln>
        </p:spPr>
      </p:sp>
      <p:sp>
        <p:nvSpPr>
          <p:cNvPr id="57362" name="Line 5"/>
          <p:cNvSpPr/>
          <p:nvPr/>
        </p:nvSpPr>
        <p:spPr>
          <a:xfrm flipV="1">
            <a:off x="5454650" y="3294063"/>
            <a:ext cx="0" cy="3429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lg" len="lg"/>
          </a:ln>
        </p:spPr>
      </p:sp>
      <p:sp>
        <p:nvSpPr>
          <p:cNvPr id="57363" name="Rectangle 6"/>
          <p:cNvSpPr/>
          <p:nvPr/>
        </p:nvSpPr>
        <p:spPr>
          <a:xfrm>
            <a:off x="4859338" y="2857500"/>
            <a:ext cx="1081087" cy="37941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lIns="67500" tIns="35100" rIns="67500" bIns="35100" anchor="ctr" anchorCtr="0">
            <a:spAutoFit/>
          </a:bodyPr>
          <a:lstStyle/>
          <a:p>
            <a:pPr algn="ctr" eaLnBrk="1" hangingPunct="1">
              <a:buNone/>
            </a:pP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000" i="1" dirty="0">
                <a:latin typeface="Times New Roman" panose="02020603050405020304" pitchFamily="18" charset="0"/>
                <a:ea typeface="楷体_GB2312"/>
              </a:rPr>
              <a:t>.</a:t>
            </a:r>
            <a:r>
              <a:rPr lang="en-US" altLang="zh-CN" sz="2000" i="1" dirty="0">
                <a:latin typeface="Times New Roman" panose="02020603050405020304" pitchFamily="18" charset="0"/>
                <a:sym typeface="Symbol" panose="05050102010706020507" pitchFamily="18" charset="2"/>
              </a:rPr>
              <a:t>val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=3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57364" name="Rectangle 7"/>
          <p:cNvSpPr/>
          <p:nvPr/>
        </p:nvSpPr>
        <p:spPr>
          <a:xfrm>
            <a:off x="6210300" y="3643313"/>
            <a:ext cx="1597025" cy="37941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67500" tIns="35100" rIns="67500" bIns="35100" anchor="ctr" anchorCtr="0">
            <a:spAutoFit/>
          </a:bodyPr>
          <a:lstStyle/>
          <a:p>
            <a:pPr eaLnBrk="1" hangingPunct="1">
              <a:buNone/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digit</a:t>
            </a:r>
            <a:r>
              <a:rPr lang="en-US" altLang="zh-CN" sz="2000" i="1" dirty="0">
                <a:latin typeface="Times New Roman" panose="02020603050405020304" pitchFamily="18" charset="0"/>
                <a:ea typeface="楷体_GB2312"/>
              </a:rPr>
              <a:t>.</a:t>
            </a:r>
            <a:r>
              <a:rPr lang="en-US" altLang="zh-CN" sz="2000" i="1" dirty="0">
                <a:latin typeface="Times New Roman" panose="02020603050405020304" pitchFamily="18" charset="0"/>
                <a:sym typeface="Symbol" panose="05050102010706020507" pitchFamily="18" charset="2"/>
              </a:rPr>
              <a:t>lexval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=5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57365" name="Line 8"/>
          <p:cNvSpPr/>
          <p:nvPr/>
        </p:nvSpPr>
        <p:spPr>
          <a:xfrm flipV="1">
            <a:off x="6804025" y="3294063"/>
            <a:ext cx="0" cy="40005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lg" len="lg"/>
          </a:ln>
        </p:spPr>
      </p:sp>
      <p:sp>
        <p:nvSpPr>
          <p:cNvPr id="57366" name="Rectangle 9"/>
          <p:cNvSpPr/>
          <p:nvPr/>
        </p:nvSpPr>
        <p:spPr>
          <a:xfrm>
            <a:off x="6230938" y="2857500"/>
            <a:ext cx="971550" cy="37941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lIns="67500" tIns="35100" rIns="67500" bIns="35100" anchor="ctr" anchorCtr="0">
            <a:spAutoFit/>
          </a:bodyPr>
          <a:lstStyle/>
          <a:p>
            <a:pPr algn="ctr" eaLnBrk="1" hangingPunct="1">
              <a:buNone/>
            </a:pP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000" i="1" dirty="0">
                <a:latin typeface="Times New Roman" panose="02020603050405020304" pitchFamily="18" charset="0"/>
                <a:ea typeface="楷体_GB2312"/>
              </a:rPr>
              <a:t>.</a:t>
            </a:r>
            <a:r>
              <a:rPr lang="en-US" altLang="zh-CN" sz="2000" i="1" dirty="0">
                <a:latin typeface="Times New Roman" panose="02020603050405020304" pitchFamily="18" charset="0"/>
                <a:sym typeface="Symbol" panose="05050102010706020507" pitchFamily="18" charset="2"/>
              </a:rPr>
              <a:t>val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=5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57367" name="Rectangle 10"/>
          <p:cNvSpPr/>
          <p:nvPr/>
        </p:nvSpPr>
        <p:spPr>
          <a:xfrm>
            <a:off x="5276850" y="2000250"/>
            <a:ext cx="1657350" cy="37941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lIns="67500" tIns="35100" rIns="67500" bIns="35100" anchor="ctr" anchorCtr="0">
            <a:spAutoFit/>
          </a:bodyPr>
          <a:lstStyle/>
          <a:p>
            <a:pPr algn="ctr" eaLnBrk="1" hangingPunct="1">
              <a:buNone/>
            </a:pP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000" i="1" dirty="0">
                <a:latin typeface="Times New Roman" panose="02020603050405020304" pitchFamily="18" charset="0"/>
                <a:ea typeface="楷体_GB2312"/>
              </a:rPr>
              <a:t>.</a:t>
            </a:r>
            <a:r>
              <a:rPr lang="en-US" altLang="zh-CN" sz="2000" i="1" dirty="0">
                <a:latin typeface="Times New Roman" panose="02020603050405020304" pitchFamily="18" charset="0"/>
                <a:sym typeface="Symbol" panose="05050102010706020507" pitchFamily="18" charset="2"/>
              </a:rPr>
              <a:t>val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=15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57368" name="Line 11"/>
          <p:cNvSpPr/>
          <p:nvPr/>
        </p:nvSpPr>
        <p:spPr>
          <a:xfrm flipH="1">
            <a:off x="5351463" y="2476500"/>
            <a:ext cx="742950" cy="428625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lg" len="lg"/>
          </a:ln>
        </p:spPr>
      </p:sp>
      <p:sp>
        <p:nvSpPr>
          <p:cNvPr id="57369" name="Line 12"/>
          <p:cNvSpPr/>
          <p:nvPr/>
        </p:nvSpPr>
        <p:spPr>
          <a:xfrm>
            <a:off x="6102350" y="2482850"/>
            <a:ext cx="701675" cy="377825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lg" len="lg"/>
          </a:ln>
        </p:spPr>
      </p:sp>
      <p:sp>
        <p:nvSpPr>
          <p:cNvPr id="57370" name="Text Box 13"/>
          <p:cNvSpPr txBox="1"/>
          <p:nvPr/>
        </p:nvSpPr>
        <p:spPr>
          <a:xfrm>
            <a:off x="5994400" y="2914650"/>
            <a:ext cx="269875" cy="37941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lIns="67500" tIns="35100" rIns="67500" bIns="351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*</a:t>
            </a:r>
          </a:p>
        </p:txBody>
      </p:sp>
      <p:sp>
        <p:nvSpPr>
          <p:cNvPr id="57371" name="Line 14"/>
          <p:cNvSpPr/>
          <p:nvPr/>
        </p:nvSpPr>
        <p:spPr>
          <a:xfrm>
            <a:off x="6102350" y="2482850"/>
            <a:ext cx="0" cy="4572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lg" len="lg"/>
          </a:ln>
        </p:spPr>
      </p:sp>
      <p:sp>
        <p:nvSpPr>
          <p:cNvPr id="57372" name="Line 15"/>
          <p:cNvSpPr/>
          <p:nvPr/>
        </p:nvSpPr>
        <p:spPr>
          <a:xfrm flipV="1">
            <a:off x="6134100" y="1706563"/>
            <a:ext cx="0" cy="28575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lg" len="lg"/>
          </a:ln>
        </p:spPr>
      </p:sp>
      <p:sp>
        <p:nvSpPr>
          <p:cNvPr id="57373" name="Text Box 17"/>
          <p:cNvSpPr txBox="1"/>
          <p:nvPr/>
        </p:nvSpPr>
        <p:spPr>
          <a:xfrm>
            <a:off x="6911975" y="1285875"/>
            <a:ext cx="342900" cy="37941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lIns="67500" tIns="35100" rIns="67500" bIns="351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+</a:t>
            </a:r>
          </a:p>
        </p:txBody>
      </p:sp>
      <p:sp>
        <p:nvSpPr>
          <p:cNvPr id="57374" name="Rectangle 18"/>
          <p:cNvSpPr/>
          <p:nvPr/>
        </p:nvSpPr>
        <p:spPr>
          <a:xfrm>
            <a:off x="7183438" y="2857500"/>
            <a:ext cx="1619250" cy="37941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lIns="67500" tIns="35100" rIns="67500" bIns="35100" anchor="ctr" anchorCtr="0">
            <a:spAutoFit/>
          </a:bodyPr>
          <a:lstStyle/>
          <a:p>
            <a:pPr eaLnBrk="1" hangingPunct="1">
              <a:buNone/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digit</a:t>
            </a:r>
            <a:r>
              <a:rPr lang="en-US" altLang="zh-CN" sz="2000" i="1" dirty="0">
                <a:latin typeface="Times New Roman" panose="02020603050405020304" pitchFamily="18" charset="0"/>
                <a:ea typeface="楷体_GB2312"/>
              </a:rPr>
              <a:t>.</a:t>
            </a:r>
            <a:r>
              <a:rPr lang="en-US" altLang="zh-CN" sz="2000" i="1" dirty="0">
                <a:latin typeface="Times New Roman" panose="02020603050405020304" pitchFamily="18" charset="0"/>
                <a:sym typeface="Symbol" panose="05050102010706020507" pitchFamily="18" charset="2"/>
              </a:rPr>
              <a:t>lexval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=4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57375" name="Line 19"/>
          <p:cNvSpPr/>
          <p:nvPr/>
        </p:nvSpPr>
        <p:spPr>
          <a:xfrm flipV="1">
            <a:off x="7991475" y="2482850"/>
            <a:ext cx="0" cy="3429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lg" len="lg"/>
          </a:ln>
        </p:spPr>
      </p:sp>
      <p:sp>
        <p:nvSpPr>
          <p:cNvPr id="57376" name="Rectangle 20"/>
          <p:cNvSpPr/>
          <p:nvPr/>
        </p:nvSpPr>
        <p:spPr>
          <a:xfrm>
            <a:off x="7445375" y="2000250"/>
            <a:ext cx="1171575" cy="37941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lIns="67500" tIns="35100" rIns="67500" bIns="35100" anchor="ctr" anchorCtr="0">
            <a:spAutoFit/>
          </a:bodyPr>
          <a:lstStyle/>
          <a:p>
            <a:pPr algn="ctr" eaLnBrk="1" hangingPunct="1">
              <a:buNone/>
            </a:pP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000" i="1" dirty="0">
                <a:latin typeface="Times New Roman" panose="02020603050405020304" pitchFamily="18" charset="0"/>
                <a:ea typeface="楷体_GB2312"/>
              </a:rPr>
              <a:t>.</a:t>
            </a:r>
            <a:r>
              <a:rPr lang="en-US" altLang="zh-CN" sz="2000" i="1" dirty="0">
                <a:latin typeface="Times New Roman" panose="02020603050405020304" pitchFamily="18" charset="0"/>
                <a:sym typeface="Symbol" panose="05050102010706020507" pitchFamily="18" charset="2"/>
              </a:rPr>
              <a:t>val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=4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57377" name="Rectangle 21"/>
          <p:cNvSpPr/>
          <p:nvPr/>
        </p:nvSpPr>
        <p:spPr>
          <a:xfrm>
            <a:off x="7559675" y="1285875"/>
            <a:ext cx="938213" cy="37941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lIns="67500" tIns="35100" rIns="67500" bIns="35100" anchor="ctr" anchorCtr="0">
            <a:spAutoFit/>
          </a:bodyPr>
          <a:lstStyle/>
          <a:p>
            <a:pPr algn="ctr" eaLnBrk="1" hangingPunct="1">
              <a:buNone/>
            </a:pP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000" i="1" dirty="0">
                <a:latin typeface="Times New Roman" panose="02020603050405020304" pitchFamily="18" charset="0"/>
                <a:ea typeface="楷体_GB2312"/>
              </a:rPr>
              <a:t>.</a:t>
            </a:r>
            <a:r>
              <a:rPr lang="en-US" altLang="zh-CN" sz="2000" i="1" dirty="0">
                <a:latin typeface="Times New Roman" panose="02020603050405020304" pitchFamily="18" charset="0"/>
                <a:sym typeface="Symbol" panose="05050102010706020507" pitchFamily="18" charset="2"/>
              </a:rPr>
              <a:t>val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=4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57378" name="Line 22"/>
          <p:cNvSpPr/>
          <p:nvPr/>
        </p:nvSpPr>
        <p:spPr>
          <a:xfrm flipV="1">
            <a:off x="7991475" y="1619250"/>
            <a:ext cx="0" cy="40005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lg" len="lg"/>
          </a:ln>
        </p:spPr>
      </p:sp>
      <p:sp>
        <p:nvSpPr>
          <p:cNvPr id="57379" name="Rectangle 23"/>
          <p:cNvSpPr/>
          <p:nvPr/>
        </p:nvSpPr>
        <p:spPr>
          <a:xfrm>
            <a:off x="6445250" y="539750"/>
            <a:ext cx="1339850" cy="37782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lIns="67500" tIns="35100" rIns="67500" bIns="35100" anchor="ctr" anchorCtr="0">
            <a:spAutoFit/>
          </a:bodyPr>
          <a:lstStyle/>
          <a:p>
            <a:pPr algn="ctr" eaLnBrk="1" hangingPunct="1">
              <a:buNone/>
            </a:pP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000" i="1" dirty="0">
                <a:latin typeface="Times New Roman" panose="02020603050405020304" pitchFamily="18" charset="0"/>
                <a:ea typeface="楷体_GB2312"/>
              </a:rPr>
              <a:t>.</a:t>
            </a:r>
            <a:r>
              <a:rPr lang="en-US" altLang="zh-CN" sz="2000" i="1" dirty="0">
                <a:latin typeface="Times New Roman" panose="02020603050405020304" pitchFamily="18" charset="0"/>
                <a:sym typeface="Symbol" panose="05050102010706020507" pitchFamily="18" charset="2"/>
              </a:rPr>
              <a:t>val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=19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57380" name="Line 24"/>
          <p:cNvSpPr/>
          <p:nvPr/>
        </p:nvSpPr>
        <p:spPr>
          <a:xfrm flipH="1">
            <a:off x="6102350" y="969963"/>
            <a:ext cx="863600" cy="3302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lg" len="lg"/>
          </a:ln>
        </p:spPr>
      </p:sp>
      <p:sp>
        <p:nvSpPr>
          <p:cNvPr id="57381" name="Line 25"/>
          <p:cNvSpPr/>
          <p:nvPr/>
        </p:nvSpPr>
        <p:spPr>
          <a:xfrm>
            <a:off x="7019925" y="969963"/>
            <a:ext cx="0" cy="3429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lg" len="lg"/>
          </a:ln>
        </p:spPr>
      </p:sp>
      <p:sp>
        <p:nvSpPr>
          <p:cNvPr id="57382" name="Line 26"/>
          <p:cNvSpPr/>
          <p:nvPr/>
        </p:nvSpPr>
        <p:spPr>
          <a:xfrm>
            <a:off x="7019925" y="969963"/>
            <a:ext cx="987425" cy="284162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lg" len="lg"/>
          </a:ln>
        </p:spPr>
      </p:sp>
      <p:sp>
        <p:nvSpPr>
          <p:cNvPr id="57383" name="Rectangle 27"/>
          <p:cNvSpPr/>
          <p:nvPr/>
        </p:nvSpPr>
        <p:spPr>
          <a:xfrm>
            <a:off x="7016750" y="-71437"/>
            <a:ext cx="1257300" cy="379412"/>
          </a:xfrm>
          <a:prstGeom prst="rect">
            <a:avLst/>
          </a:prstGeom>
          <a:noFill/>
          <a:ln w="9525">
            <a:noFill/>
          </a:ln>
        </p:spPr>
        <p:txBody>
          <a:bodyPr lIns="67500" tIns="35100" rIns="67500" bIns="35100" anchor="ctr" anchorCtr="0">
            <a:spAutoFit/>
          </a:bodyPr>
          <a:lstStyle/>
          <a:p>
            <a:pPr algn="ctr" eaLnBrk="1" hangingPunct="1"/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L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7384" name="Line 28"/>
          <p:cNvSpPr/>
          <p:nvPr/>
        </p:nvSpPr>
        <p:spPr>
          <a:xfrm flipH="1" flipV="1">
            <a:off x="7615238" y="322263"/>
            <a:ext cx="431800" cy="161925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lg" len="lg"/>
          </a:ln>
        </p:spPr>
      </p:sp>
      <p:sp>
        <p:nvSpPr>
          <p:cNvPr id="57385" name="Text Box 29"/>
          <p:cNvSpPr txBox="1"/>
          <p:nvPr/>
        </p:nvSpPr>
        <p:spPr>
          <a:xfrm>
            <a:off x="8101013" y="538163"/>
            <a:ext cx="342900" cy="37941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lIns="67500" tIns="35100" rIns="67500" bIns="351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</a:p>
        </p:txBody>
      </p:sp>
      <p:sp>
        <p:nvSpPr>
          <p:cNvPr id="57386" name="Line 30"/>
          <p:cNvSpPr/>
          <p:nvPr/>
        </p:nvSpPr>
        <p:spPr>
          <a:xfrm flipH="1">
            <a:off x="7291388" y="322263"/>
            <a:ext cx="323850" cy="161925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lg" len="lg"/>
          </a:ln>
        </p:spPr>
      </p:sp>
      <p:sp>
        <p:nvSpPr>
          <p:cNvPr id="405535" name="Line 31"/>
          <p:cNvSpPr>
            <a:spLocks noChangeShapeType="1"/>
          </p:cNvSpPr>
          <p:nvPr/>
        </p:nvSpPr>
        <p:spPr bwMode="auto">
          <a:xfrm flipV="1">
            <a:off x="5626100" y="4103688"/>
            <a:ext cx="0" cy="285750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prstDash val="dash"/>
            <a:round/>
            <a:tailEnd type="stealth" w="lg" len="lg"/>
          </a:ln>
        </p:spPr>
        <p:txBody>
          <a:bodyPr wrap="none" lIns="67500" tIns="35100" rIns="67500" bIns="35100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5536" name="Line 32"/>
          <p:cNvSpPr>
            <a:spLocks noChangeShapeType="1"/>
          </p:cNvSpPr>
          <p:nvPr/>
        </p:nvSpPr>
        <p:spPr bwMode="auto">
          <a:xfrm flipV="1">
            <a:off x="5626100" y="3294063"/>
            <a:ext cx="0" cy="342900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prstDash val="dash"/>
            <a:round/>
            <a:tailEnd type="stealth" w="lg" len="lg"/>
          </a:ln>
        </p:spPr>
        <p:txBody>
          <a:bodyPr wrap="none" lIns="67500" tIns="35100" rIns="67500" bIns="35100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5537" name="Line 33"/>
          <p:cNvSpPr>
            <a:spLocks noChangeShapeType="1"/>
          </p:cNvSpPr>
          <p:nvPr/>
        </p:nvSpPr>
        <p:spPr bwMode="auto">
          <a:xfrm flipV="1">
            <a:off x="6910388" y="3294063"/>
            <a:ext cx="0" cy="342900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prstDash val="dash"/>
            <a:round/>
            <a:tailEnd type="stealth" w="lg" len="lg"/>
          </a:ln>
        </p:spPr>
        <p:txBody>
          <a:bodyPr wrap="none" lIns="67500" tIns="35100" rIns="67500" bIns="35100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5538" name="Line 34"/>
          <p:cNvSpPr>
            <a:spLocks noChangeShapeType="1"/>
          </p:cNvSpPr>
          <p:nvPr/>
        </p:nvSpPr>
        <p:spPr bwMode="auto">
          <a:xfrm flipV="1">
            <a:off x="5230813" y="2493963"/>
            <a:ext cx="628650" cy="363538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prstDash val="dash"/>
            <a:round/>
            <a:tailEnd type="stealth" w="lg" len="lg"/>
          </a:ln>
        </p:spPr>
        <p:txBody>
          <a:bodyPr wrap="none" lIns="67500" tIns="35100" rIns="67500" bIns="35100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5539" name="Line 35"/>
          <p:cNvSpPr>
            <a:spLocks noChangeShapeType="1"/>
          </p:cNvSpPr>
          <p:nvPr/>
        </p:nvSpPr>
        <p:spPr bwMode="auto">
          <a:xfrm flipH="1" flipV="1">
            <a:off x="6264275" y="2482850"/>
            <a:ext cx="593725" cy="325438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prstDash val="dash"/>
            <a:round/>
            <a:tailEnd type="stealth" w="lg" len="lg"/>
          </a:ln>
        </p:spPr>
        <p:txBody>
          <a:bodyPr lIns="67500" tIns="35100" rIns="67500" bIns="35100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5540" name="Line 36"/>
          <p:cNvSpPr>
            <a:spLocks noChangeShapeType="1"/>
          </p:cNvSpPr>
          <p:nvPr/>
        </p:nvSpPr>
        <p:spPr bwMode="auto">
          <a:xfrm flipV="1">
            <a:off x="6246813" y="1706563"/>
            <a:ext cx="0" cy="285750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prstDash val="dash"/>
            <a:round/>
            <a:tailEnd type="stealth" w="lg" len="lg"/>
          </a:ln>
        </p:spPr>
        <p:txBody>
          <a:bodyPr wrap="none" lIns="67500" tIns="35100" rIns="67500" bIns="35100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5541" name="Line 37"/>
          <p:cNvSpPr>
            <a:spLocks noChangeShapeType="1"/>
          </p:cNvSpPr>
          <p:nvPr/>
        </p:nvSpPr>
        <p:spPr bwMode="auto">
          <a:xfrm flipV="1">
            <a:off x="8101013" y="2536825"/>
            <a:ext cx="0" cy="285750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prstDash val="dash"/>
            <a:round/>
            <a:tailEnd type="stealth" w="lg" len="lg"/>
          </a:ln>
        </p:spPr>
        <p:txBody>
          <a:bodyPr wrap="none" lIns="67500" tIns="35100" rIns="67500" bIns="35100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5542" name="Line 38"/>
          <p:cNvSpPr>
            <a:spLocks noChangeShapeType="1"/>
          </p:cNvSpPr>
          <p:nvPr/>
        </p:nvSpPr>
        <p:spPr bwMode="auto">
          <a:xfrm flipV="1">
            <a:off x="8101013" y="1673225"/>
            <a:ext cx="0" cy="342900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prstDash val="dash"/>
            <a:round/>
            <a:tailEnd type="stealth" w="lg" len="lg"/>
          </a:ln>
        </p:spPr>
        <p:txBody>
          <a:bodyPr wrap="none" lIns="67500" tIns="35100" rIns="67500" bIns="35100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5543" name="Line 39"/>
          <p:cNvSpPr>
            <a:spLocks noChangeShapeType="1"/>
          </p:cNvSpPr>
          <p:nvPr/>
        </p:nvSpPr>
        <p:spPr bwMode="auto">
          <a:xfrm flipV="1">
            <a:off x="5994400" y="969963"/>
            <a:ext cx="701675" cy="285750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prstDash val="dash"/>
            <a:round/>
            <a:tailEnd type="stealth" w="lg" len="lg"/>
          </a:ln>
        </p:spPr>
        <p:txBody>
          <a:bodyPr lIns="67500" tIns="35100" rIns="67500" bIns="35100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5544" name="Line 40"/>
          <p:cNvSpPr>
            <a:spLocks noChangeShapeType="1"/>
          </p:cNvSpPr>
          <p:nvPr/>
        </p:nvSpPr>
        <p:spPr bwMode="auto">
          <a:xfrm flipH="1" flipV="1">
            <a:off x="7291388" y="917575"/>
            <a:ext cx="865188" cy="274638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prstDash val="dash"/>
            <a:round/>
            <a:tailEnd type="stealth" w="lg" len="lg"/>
          </a:ln>
        </p:spPr>
        <p:txBody>
          <a:bodyPr lIns="67500" tIns="35100" rIns="67500" bIns="35100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5545" name="Line 41"/>
          <p:cNvSpPr>
            <a:spLocks noChangeShapeType="1"/>
          </p:cNvSpPr>
          <p:nvPr/>
        </p:nvSpPr>
        <p:spPr bwMode="auto">
          <a:xfrm flipV="1">
            <a:off x="6965950" y="268288"/>
            <a:ext cx="433388" cy="177800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prstDash val="dash"/>
            <a:round/>
            <a:tailEnd type="stealth" w="lg" len="lg"/>
          </a:ln>
        </p:spPr>
        <p:txBody>
          <a:bodyPr lIns="67500" tIns="35100" rIns="67500" bIns="35100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7398" name="Rectangle 16"/>
          <p:cNvSpPr/>
          <p:nvPr/>
        </p:nvSpPr>
        <p:spPr>
          <a:xfrm>
            <a:off x="5445125" y="1285875"/>
            <a:ext cx="1311275" cy="379413"/>
          </a:xfrm>
          <a:prstGeom prst="rect">
            <a:avLst/>
          </a:prstGeom>
          <a:noFill/>
          <a:ln w="9525">
            <a:noFill/>
          </a:ln>
        </p:spPr>
        <p:txBody>
          <a:bodyPr lIns="67500" tIns="35100" rIns="67500" bIns="35100" anchor="ctr" anchorCtr="0">
            <a:spAutoFit/>
          </a:bodyPr>
          <a:lstStyle/>
          <a:p>
            <a:pPr algn="ctr" eaLnBrk="1" hangingPunct="1">
              <a:buNone/>
            </a:pP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000" i="1" dirty="0">
                <a:latin typeface="Times New Roman" panose="02020603050405020304" pitchFamily="18" charset="0"/>
                <a:ea typeface="楷体_GB2312"/>
              </a:rPr>
              <a:t>.</a:t>
            </a:r>
            <a:r>
              <a:rPr lang="en-US" altLang="zh-CN" sz="2000" i="1" dirty="0">
                <a:latin typeface="Times New Roman" panose="02020603050405020304" pitchFamily="18" charset="0"/>
                <a:sym typeface="Symbol" panose="05050102010706020507" pitchFamily="18" charset="2"/>
              </a:rPr>
              <a:t>val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=15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405551" name="AutoShape 47"/>
          <p:cNvSpPr>
            <a:spLocks noChangeArrowheads="1"/>
          </p:cNvSpPr>
          <p:nvPr/>
        </p:nvSpPr>
        <p:spPr bwMode="auto">
          <a:xfrm>
            <a:off x="6794500" y="4032250"/>
            <a:ext cx="2206625" cy="1039813"/>
          </a:xfrm>
          <a:prstGeom prst="wedgeRoundRectCallout">
            <a:avLst>
              <a:gd name="adj1" fmla="val 10812"/>
              <a:gd name="adj2" fmla="val -71557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 lIns="68580" tIns="34290" rIns="68580" bIns="3429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注释分析树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 </a:t>
            </a:r>
            <a:r>
              <a:rPr kumimoji="0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Annotated parse tree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)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每个节点都带有属性值的分析树</a:t>
            </a:r>
          </a:p>
        </p:txBody>
      </p:sp>
      <p:grpSp>
        <p:nvGrpSpPr>
          <p:cNvPr id="38956" name="组合 5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0" name="五边形 49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38965" name="五边形 50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9525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b="0" dirty="0">
                <a:solidFill>
                  <a:srgbClr val="FFFFFF"/>
                </a:solidFill>
                <a:latin typeface="Calibri" panose="020F0502020204030204" pitchFamily="34" charset="0"/>
                <a:ea typeface="楷体_GB2312"/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323850" y="4040188"/>
            <a:ext cx="4572000" cy="7699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zh-CN" altLang="en-US" sz="2000" dirty="0">
                <a:solidFill>
                  <a:srgbClr val="2D83F4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输入</a:t>
            </a:r>
            <a:r>
              <a:rPr lang="zh-CN" altLang="en-US" sz="2000" dirty="0">
                <a:solidFill>
                  <a:srgbClr val="2D83F4"/>
                </a:solidFill>
                <a:latin typeface="Times New Roman" panose="02020603050405020304" pitchFamily="18" charset="0"/>
              </a:rPr>
              <a:t>：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3*5+4n</a:t>
            </a:r>
            <a:endParaRPr lang="en-US" altLang="zh-CN" sz="2000" dirty="0">
              <a:solidFill>
                <a:srgbClr val="00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grpSp>
        <p:nvGrpSpPr>
          <p:cNvPr id="38958" name="组合 6"/>
          <p:cNvGrpSpPr/>
          <p:nvPr/>
        </p:nvGrpSpPr>
        <p:grpSpPr>
          <a:xfrm>
            <a:off x="377825" y="1419225"/>
            <a:ext cx="4484688" cy="2554288"/>
            <a:chOff x="146153" y="1542256"/>
            <a:chExt cx="4485280" cy="2554545"/>
          </a:xfrm>
        </p:grpSpPr>
        <p:sp>
          <p:nvSpPr>
            <p:cNvPr id="52" name="矩形 51"/>
            <p:cNvSpPr/>
            <p:nvPr/>
          </p:nvSpPr>
          <p:spPr bwMode="auto">
            <a:xfrm>
              <a:off x="146153" y="1542256"/>
              <a:ext cx="4485280" cy="255454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  产生式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	  	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语义规则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(1)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L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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n 	print(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(2)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en-US" altLang="zh-CN" sz="20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+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	E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E</a:t>
              </a:r>
              <a:r>
                <a:rPr kumimoji="1" lang="en-US" altLang="zh-CN" sz="20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+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(3)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        	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(4)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20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*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 	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20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val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×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(5)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        	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(6)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(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)	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highlight>
                    <a:srgbClr val="FFFF00"/>
                  </a:highlight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highlight>
                    <a:srgbClr val="FFFF00"/>
                  </a:highlight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highlight>
                    <a:srgbClr val="FFFF00"/>
                  </a:highlight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highlight>
                    <a:srgbClr val="FFFF00"/>
                  </a:highlight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highlight>
                    <a:srgbClr val="FFFF00"/>
                  </a:highlight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highlight>
                    <a:srgbClr val="FFFF00"/>
                  </a:highlight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highlight>
                    <a:srgbClr val="FFFF00"/>
                  </a:highlight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(7)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digit     	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digit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lexval</a:t>
              </a:r>
              <a:endPara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179495" y="1856613"/>
              <a:ext cx="4451938" cy="206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 bwMode="auto">
            <a:xfrm>
              <a:off x="1979958" y="1542256"/>
              <a:ext cx="0" cy="25545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AutoShape 48"/>
          <p:cNvSpPr/>
          <p:nvPr/>
        </p:nvSpPr>
        <p:spPr bwMode="auto">
          <a:xfrm>
            <a:off x="3348038" y="987425"/>
            <a:ext cx="1958975" cy="322263"/>
          </a:xfrm>
          <a:prstGeom prst="borderCallout1">
            <a:avLst>
              <a:gd name="adj1" fmla="val 111067"/>
              <a:gd name="adj2" fmla="val 48467"/>
              <a:gd name="adj3" fmla="val 296966"/>
              <a:gd name="adj4" fmla="val 11950"/>
            </a:avLst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 lIns="68580" tIns="34290" rIns="68580" bIns="3429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副作用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Side effect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endParaRPr kumimoji="0" lang="zh-CN" altLang="en-US" sz="1600" b="1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8960" name="Text Box 45"/>
          <p:cNvSpPr txBox="1"/>
          <p:nvPr/>
        </p:nvSpPr>
        <p:spPr>
          <a:xfrm>
            <a:off x="338138" y="987425"/>
            <a:ext cx="1268412" cy="379413"/>
          </a:xfrm>
          <a:prstGeom prst="rect">
            <a:avLst/>
          </a:prstGeom>
          <a:noFill/>
          <a:ln w="9525">
            <a:noFill/>
          </a:ln>
        </p:spPr>
        <p:txBody>
          <a:bodyPr lIns="67500" tIns="35100" rIns="67500" bIns="35100"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en-US" altLang="zh-CN" sz="2000" i="1" dirty="0">
                <a:solidFill>
                  <a:srgbClr val="2D83F4"/>
                </a:solidFill>
                <a:latin typeface="Times New Roman" panose="02020603050405020304" pitchFamily="18" charset="0"/>
              </a:rPr>
              <a:t>SDD</a:t>
            </a:r>
            <a:r>
              <a:rPr lang="zh-CN" altLang="en-US" sz="2000" dirty="0">
                <a:solidFill>
                  <a:srgbClr val="2D83F4"/>
                </a:solidFill>
                <a:latin typeface="Times New Roman" panose="02020603050405020304" pitchFamily="18" charset="0"/>
              </a:rPr>
              <a:t>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73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73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7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73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73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7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73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73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7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73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73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7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73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73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7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73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73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7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73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73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7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73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73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7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73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73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7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73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73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7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73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73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7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573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73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7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573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73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7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573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73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7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73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573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7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73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573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7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573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573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57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573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573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57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573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573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57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573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573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57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573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573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57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573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573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57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573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573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57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573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573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57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573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573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7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573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573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57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573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573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57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573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573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57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573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573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57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4055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4055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405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4055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4055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405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4055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4055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405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4055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4055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405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4055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4055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405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4055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4055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405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9" dur="500" fill="hold"/>
                                        <p:tgtEl>
                                          <p:spTgt spid="4055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4055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405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4055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500" fill="hold"/>
                                        <p:tgtEl>
                                          <p:spTgt spid="4055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405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1" dur="500" fill="hold"/>
                                        <p:tgtEl>
                                          <p:spTgt spid="4055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500" fill="hold"/>
                                        <p:tgtEl>
                                          <p:spTgt spid="4055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405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4055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500" fill="hold"/>
                                        <p:tgtEl>
                                          <p:spTgt spid="4055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405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3" dur="500" fill="hold"/>
                                        <p:tgtEl>
                                          <p:spTgt spid="4055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500" fill="hold"/>
                                        <p:tgtEl>
                                          <p:spTgt spid="4055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405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0" dur="500" fill="hold"/>
                                        <p:tgtEl>
                                          <p:spTgt spid="4055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500" fill="hold"/>
                                        <p:tgtEl>
                                          <p:spTgt spid="4055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405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59" grpId="0" animBg="1"/>
      <p:bldP spid="57360" grpId="0" animBg="1"/>
      <p:bldP spid="57363" grpId="0" animBg="1"/>
      <p:bldP spid="57364" grpId="0" animBg="1"/>
      <p:bldP spid="57366" grpId="0" animBg="1"/>
      <p:bldP spid="57367" grpId="0" animBg="1"/>
      <p:bldP spid="57370" grpId="0" animBg="1"/>
      <p:bldP spid="57373" grpId="0" animBg="1"/>
      <p:bldP spid="57374" grpId="0" animBg="1"/>
      <p:bldP spid="57376" grpId="0" animBg="1"/>
      <p:bldP spid="57377" grpId="0" animBg="1"/>
      <p:bldP spid="57379" grpId="0" animBg="1"/>
      <p:bldP spid="57383" grpId="0"/>
      <p:bldP spid="57385" grpId="0" animBg="1"/>
      <p:bldP spid="57398" grpId="0"/>
      <p:bldP spid="405551" grpId="0" animBg="1"/>
      <p:bldP spid="4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58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kumimoji="0" lang="zh-CN" altLang="en-US" sz="3000" b="1" i="0" u="none" strike="noStrike" kern="1200" cap="none" spc="-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带有继承属性</a:t>
            </a:r>
            <a:r>
              <a:rPr kumimoji="0" lang="en-US" altLang="zh-CN" sz="3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L.in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SDD </a:t>
            </a:r>
            <a:endParaRPr kumimoji="0" lang="zh-CN" altLang="en-US" sz="30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9403" name="Freeform 10"/>
          <p:cNvSpPr/>
          <p:nvPr/>
        </p:nvSpPr>
        <p:spPr>
          <a:xfrm rot="401358">
            <a:off x="6216650" y="1417638"/>
            <a:ext cx="788988" cy="276225"/>
          </a:xfrm>
          <a:custGeom>
            <a:avLst/>
            <a:gdLst>
              <a:gd name="txL" fmla="*/ 0 w 680"/>
              <a:gd name="txT" fmla="*/ 0 h 190"/>
              <a:gd name="txR" fmla="*/ 680 w 680"/>
              <a:gd name="txB" fmla="*/ 190 h 19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680" h="190">
                <a:moveTo>
                  <a:pt x="0" y="190"/>
                </a:moveTo>
                <a:cubicBezTo>
                  <a:pt x="102" y="103"/>
                  <a:pt x="204" y="16"/>
                  <a:pt x="317" y="8"/>
                </a:cubicBezTo>
                <a:cubicBezTo>
                  <a:pt x="430" y="0"/>
                  <a:pt x="620" y="121"/>
                  <a:pt x="680" y="144"/>
                </a:cubicBezTo>
              </a:path>
            </a:pathLst>
          </a:custGeom>
          <a:noFill/>
          <a:ln w="38100" cap="flat" cmpd="sng">
            <a:solidFill>
              <a:schemeClr val="hlink">
                <a:alpha val="100000"/>
              </a:schemeClr>
            </a:solidFill>
            <a:prstDash val="dash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404" name="Line 11"/>
          <p:cNvSpPr/>
          <p:nvPr/>
        </p:nvSpPr>
        <p:spPr>
          <a:xfrm flipH="1">
            <a:off x="6561138" y="2032000"/>
            <a:ext cx="571500" cy="357188"/>
          </a:xfrm>
          <a:prstGeom prst="line">
            <a:avLst/>
          </a:prstGeom>
          <a:ln w="38100" cap="flat" cmpd="sng">
            <a:solidFill>
              <a:schemeClr val="hlink"/>
            </a:solidFill>
            <a:prstDash val="dash"/>
            <a:headEnd type="none" w="med" len="med"/>
            <a:tailEnd type="triangle" w="med" len="med"/>
          </a:ln>
        </p:spPr>
      </p:sp>
      <p:sp>
        <p:nvSpPr>
          <p:cNvPr id="59405" name="Line 12"/>
          <p:cNvSpPr/>
          <p:nvPr/>
        </p:nvSpPr>
        <p:spPr>
          <a:xfrm flipH="1">
            <a:off x="5632450" y="2674938"/>
            <a:ext cx="539750" cy="323850"/>
          </a:xfrm>
          <a:prstGeom prst="line">
            <a:avLst/>
          </a:prstGeom>
          <a:ln w="38100" cap="flat" cmpd="sng">
            <a:solidFill>
              <a:schemeClr val="hlink"/>
            </a:solidFill>
            <a:prstDash val="dash"/>
            <a:headEnd type="none" w="med" len="med"/>
            <a:tailEnd type="triangle" w="med" len="med"/>
          </a:ln>
        </p:spPr>
      </p:sp>
      <p:grpSp>
        <p:nvGrpSpPr>
          <p:cNvPr id="2" name="组合 1"/>
          <p:cNvGrpSpPr/>
          <p:nvPr/>
        </p:nvGrpSpPr>
        <p:grpSpPr>
          <a:xfrm>
            <a:off x="5000625" y="1000125"/>
            <a:ext cx="4000500" cy="3132138"/>
            <a:chOff x="5000625" y="1000125"/>
            <a:chExt cx="4000500" cy="3132138"/>
          </a:xfrm>
        </p:grpSpPr>
        <p:sp>
          <p:nvSpPr>
            <p:cNvPr id="40974" name="矩形 1"/>
            <p:cNvSpPr/>
            <p:nvPr/>
          </p:nvSpPr>
          <p:spPr>
            <a:xfrm>
              <a:off x="5072063" y="3786035"/>
              <a:ext cx="1300668" cy="34622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lIns="68580" tIns="34290" rIns="68580" bIns="34290">
              <a:spAutoFit/>
            </a:bodyPr>
            <a:lstStyle/>
            <a:p>
              <a:pPr eaLnBrk="1" hangingPunct="1">
                <a:buNone/>
              </a:pPr>
              <a:r>
                <a: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id</a:t>
              </a:r>
              <a:r>
                <a:rPr lang="en-US" altLang="zh-CN" dirty="0">
                  <a:latin typeface="Times New Roman" panose="02020603050405020304" pitchFamily="18" charset="0"/>
                  <a:ea typeface="楷体_GB2312"/>
                </a:rPr>
                <a:t>.</a:t>
              </a:r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lexeme=a</a:t>
              </a:r>
              <a:endParaRPr lang="zh-CN" altLang="en-US" dirty="0">
                <a:latin typeface="Tahoma" panose="020B0604030504040204" pitchFamily="34" charset="0"/>
                <a:ea typeface="Times New Roman" panose="02020603050405020304" pitchFamily="18" charset="0"/>
              </a:endParaRPr>
            </a:p>
          </p:txBody>
        </p:sp>
        <p:sp>
          <p:nvSpPr>
            <p:cNvPr id="40975" name="矩形 12"/>
            <p:cNvSpPr/>
            <p:nvPr/>
          </p:nvSpPr>
          <p:spPr>
            <a:xfrm>
              <a:off x="6715125" y="3071699"/>
              <a:ext cx="1300668" cy="34622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lIns="68580" tIns="34290" rIns="68580" bIns="34290">
              <a:spAutoFit/>
            </a:bodyPr>
            <a:lstStyle/>
            <a:p>
              <a:pPr eaLnBrk="1" hangingPunct="1">
                <a:buNone/>
              </a:pPr>
              <a:r>
                <a: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id</a:t>
              </a:r>
              <a:r>
                <a:rPr lang="en-US" altLang="zh-CN" dirty="0">
                  <a:latin typeface="Times New Roman" panose="02020603050405020304" pitchFamily="18" charset="0"/>
                  <a:ea typeface="楷体_GB2312"/>
                </a:rPr>
                <a:t>.</a:t>
              </a:r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lexeme=b</a:t>
              </a:r>
              <a:endParaRPr lang="zh-CN" altLang="en-US" dirty="0">
                <a:latin typeface="Tahoma" panose="020B0604030504040204" pitchFamily="34" charset="0"/>
                <a:ea typeface="Times New Roman" panose="02020603050405020304" pitchFamily="18" charset="0"/>
              </a:endParaRPr>
            </a:p>
          </p:txBody>
        </p:sp>
        <p:sp>
          <p:nvSpPr>
            <p:cNvPr id="40976" name="矩形 13"/>
            <p:cNvSpPr/>
            <p:nvPr/>
          </p:nvSpPr>
          <p:spPr>
            <a:xfrm>
              <a:off x="7713281" y="2357363"/>
              <a:ext cx="1287844" cy="34622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lIns="68580" tIns="34290" rIns="68580" bIns="34290">
              <a:spAutoFit/>
            </a:bodyPr>
            <a:lstStyle/>
            <a:p>
              <a:pPr eaLnBrk="1" hangingPunct="1">
                <a:buNone/>
              </a:pPr>
              <a:r>
                <a: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id</a:t>
              </a:r>
              <a:r>
                <a:rPr lang="en-US" altLang="zh-CN" dirty="0">
                  <a:latin typeface="Times New Roman" panose="02020603050405020304" pitchFamily="18" charset="0"/>
                  <a:ea typeface="楷体_GB2312"/>
                </a:rPr>
                <a:t>.</a:t>
              </a:r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lexeme=c</a:t>
              </a:r>
              <a:endParaRPr lang="zh-CN" altLang="en-US" dirty="0">
                <a:latin typeface="Tahoma" panose="020B0604030504040204" pitchFamily="34" charset="0"/>
                <a:ea typeface="Times New Roman" panose="02020603050405020304" pitchFamily="18" charset="0"/>
              </a:endParaRPr>
            </a:p>
          </p:txBody>
        </p:sp>
        <p:sp>
          <p:nvSpPr>
            <p:cNvPr id="40977" name="矩形 16"/>
            <p:cNvSpPr/>
            <p:nvPr/>
          </p:nvSpPr>
          <p:spPr>
            <a:xfrm>
              <a:off x="6462117" y="1000125"/>
              <a:ext cx="324446" cy="377002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lIns="68580" tIns="34290" rIns="68580" bIns="34290">
              <a:spAutoFit/>
            </a:bodyPr>
            <a:lstStyle/>
            <a:p>
              <a:pPr eaLnBrk="1" hangingPunct="1"/>
              <a:r>
                <a:rPr lang="en-US" altLang="zh-CN" sz="20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CN" altLang="en-US" sz="2000" i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40978" name="Line 7"/>
            <p:cNvSpPr/>
            <p:nvPr/>
          </p:nvSpPr>
          <p:spPr>
            <a:xfrm flipV="1">
              <a:off x="6000750" y="1305693"/>
              <a:ext cx="428624" cy="28573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40979" name="Line 7"/>
            <p:cNvSpPr/>
            <p:nvPr/>
          </p:nvSpPr>
          <p:spPr>
            <a:xfrm flipH="1" flipV="1">
              <a:off x="6786562" y="1305694"/>
              <a:ext cx="500063" cy="35716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40980" name="矩形 19"/>
            <p:cNvSpPr/>
            <p:nvPr/>
          </p:nvSpPr>
          <p:spPr>
            <a:xfrm>
              <a:off x="6858000" y="1591429"/>
              <a:ext cx="1273426" cy="37702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68580" tIns="34290" rIns="68580" bIns="34290">
              <a:spAutoFit/>
            </a:bodyPr>
            <a:lstStyle/>
            <a:p>
              <a:pPr eaLnBrk="1" hangingPunct="1">
                <a:buNone/>
              </a:pPr>
              <a:r>
                <a:rPr lang="en-US" altLang="zh-CN" sz="20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/>
                </a:rPr>
                <a:t>L</a:t>
              </a:r>
              <a:r>
                <a:rPr lang="en-US" altLang="zh-CN" sz="2000" dirty="0">
                  <a:latin typeface="Times New Roman" panose="02020603050405020304" pitchFamily="18" charset="0"/>
                  <a:ea typeface="楷体_GB2312"/>
                </a:rPr>
                <a:t>.</a:t>
              </a:r>
              <a:r>
                <a:rPr lang="en-US" altLang="zh-CN" sz="2000" i="1" dirty="0">
                  <a:latin typeface="Times New Roman" panose="02020603050405020304" pitchFamily="18" charset="0"/>
                  <a:ea typeface="楷体_GB2312"/>
                  <a:sym typeface="Symbol" panose="05050102010706020507" pitchFamily="18" charset="2"/>
                </a:rPr>
                <a:t>inh=real</a:t>
              </a:r>
              <a:endParaRPr lang="zh-CN" altLang="en-US" sz="2000" dirty="0">
                <a:latin typeface="Tahoma" panose="020B0604030504040204" pitchFamily="34" charset="0"/>
                <a:ea typeface="楷体_GB2312"/>
              </a:endParaRPr>
            </a:p>
          </p:txBody>
        </p:sp>
        <p:sp>
          <p:nvSpPr>
            <p:cNvPr id="40981" name="矩形 20"/>
            <p:cNvSpPr/>
            <p:nvPr/>
          </p:nvSpPr>
          <p:spPr>
            <a:xfrm>
              <a:off x="5000625" y="1591429"/>
              <a:ext cx="1339332" cy="3770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68580" tIns="34290" rIns="68580" bIns="34290">
              <a:spAutoFit/>
            </a:bodyPr>
            <a:lstStyle/>
            <a:p>
              <a:pPr eaLnBrk="1" hangingPunct="1">
                <a:buNone/>
              </a:pPr>
              <a:r>
                <a:rPr lang="en-US" altLang="zh-CN" sz="20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/>
                </a:rPr>
                <a:t>T</a:t>
              </a:r>
              <a:r>
                <a:rPr lang="en-US" altLang="zh-CN" sz="2000" dirty="0">
                  <a:latin typeface="Times New Roman" panose="02020603050405020304" pitchFamily="18" charset="0"/>
                  <a:ea typeface="楷体_GB2312"/>
                </a:rPr>
                <a:t>.</a:t>
              </a:r>
              <a:r>
                <a:rPr lang="en-US" altLang="zh-CN" sz="2000" i="1" dirty="0">
                  <a:latin typeface="Times New Roman" panose="02020603050405020304" pitchFamily="18" charset="0"/>
                  <a:ea typeface="楷体_GB2312"/>
                  <a:sym typeface="Symbol" panose="05050102010706020507" pitchFamily="18" charset="2"/>
                </a:rPr>
                <a:t>type=real</a:t>
              </a:r>
              <a:endParaRPr lang="zh-CN" altLang="en-US" sz="2000" dirty="0">
                <a:latin typeface="Tahoma" panose="020B0604030504040204" pitchFamily="34" charset="0"/>
                <a:ea typeface="楷体_GB2312"/>
              </a:endParaRPr>
            </a:p>
          </p:txBody>
        </p:sp>
        <p:sp>
          <p:nvSpPr>
            <p:cNvPr id="40982" name="Line 7"/>
            <p:cNvSpPr/>
            <p:nvPr/>
          </p:nvSpPr>
          <p:spPr>
            <a:xfrm flipV="1">
              <a:off x="5572125" y="2000195"/>
              <a:ext cx="0" cy="35716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40983" name="矩形 22"/>
            <p:cNvSpPr/>
            <p:nvPr/>
          </p:nvSpPr>
          <p:spPr>
            <a:xfrm>
              <a:off x="5307407" y="2285929"/>
              <a:ext cx="560282" cy="3770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68580" tIns="34290" rIns="68580" bIns="34290">
              <a:spAutoFit/>
            </a:bodyPr>
            <a:lstStyle/>
            <a:p>
              <a:pPr eaLnBrk="1" hangingPunct="1"/>
              <a:r>
                <a:rPr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real</a:t>
              </a:r>
              <a:endParaRPr lang="zh-CN" altLang="en-US" sz="2000" dirty="0">
                <a:solidFill>
                  <a:srgbClr val="FF0000"/>
                </a:solidFill>
                <a:latin typeface="Tahoma" panose="020B0604030504040204" pitchFamily="34" charset="0"/>
                <a:ea typeface="Times New Roman" panose="02020603050405020304" pitchFamily="18" charset="0"/>
              </a:endParaRPr>
            </a:p>
          </p:txBody>
        </p:sp>
        <p:sp>
          <p:nvSpPr>
            <p:cNvPr id="40984" name="Line 7"/>
            <p:cNvSpPr/>
            <p:nvPr/>
          </p:nvSpPr>
          <p:spPr>
            <a:xfrm flipV="1">
              <a:off x="7572375" y="2000195"/>
              <a:ext cx="0" cy="35716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40985" name="Line 7"/>
            <p:cNvSpPr/>
            <p:nvPr/>
          </p:nvSpPr>
          <p:spPr>
            <a:xfrm flipH="1" flipV="1">
              <a:off x="7572375" y="2000195"/>
              <a:ext cx="642938" cy="35716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40986" name="Line 7"/>
            <p:cNvSpPr/>
            <p:nvPr/>
          </p:nvSpPr>
          <p:spPr>
            <a:xfrm flipV="1">
              <a:off x="6929438" y="2000195"/>
              <a:ext cx="642938" cy="35716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40987" name="矩形 26"/>
            <p:cNvSpPr/>
            <p:nvPr/>
          </p:nvSpPr>
          <p:spPr>
            <a:xfrm>
              <a:off x="6143625" y="2337529"/>
              <a:ext cx="1658146" cy="37702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68580" tIns="34290" rIns="68580" bIns="34290">
              <a:spAutoFit/>
            </a:bodyPr>
            <a:lstStyle/>
            <a:p>
              <a:pPr eaLnBrk="1" hangingPunct="1">
                <a:buNone/>
              </a:pPr>
              <a:r>
                <a:rPr lang="en-US" altLang="zh-CN" sz="20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/>
                </a:rPr>
                <a:t>L</a:t>
              </a:r>
              <a:r>
                <a:rPr lang="en-US" altLang="zh-CN" sz="2000" dirty="0">
                  <a:latin typeface="Times New Roman" panose="02020603050405020304" pitchFamily="18" charset="0"/>
                  <a:ea typeface="楷体_GB2312"/>
                </a:rPr>
                <a:t>.</a:t>
              </a:r>
              <a:r>
                <a:rPr lang="en-US" altLang="zh-CN" sz="2000" i="1" dirty="0">
                  <a:latin typeface="Times New Roman" panose="02020603050405020304" pitchFamily="18" charset="0"/>
                  <a:ea typeface="楷体_GB2312"/>
                  <a:sym typeface="Symbol" panose="05050102010706020507" pitchFamily="18" charset="2"/>
                </a:rPr>
                <a:t>inh=real     </a:t>
              </a:r>
              <a:r>
                <a:rPr lang="en-US" altLang="zh-CN" sz="20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/>
                  <a:sym typeface="Symbol" panose="05050102010706020507" pitchFamily="18" charset="2"/>
                </a:rPr>
                <a:t>,</a:t>
              </a:r>
              <a:endParaRPr lang="zh-CN" altLang="en-US" sz="2000" dirty="0">
                <a:solidFill>
                  <a:srgbClr val="FF0000"/>
                </a:solidFill>
                <a:latin typeface="Tahoma" panose="020B0604030504040204" pitchFamily="34" charset="0"/>
                <a:ea typeface="楷体_GB2312"/>
              </a:endParaRPr>
            </a:p>
          </p:txBody>
        </p:sp>
        <p:sp>
          <p:nvSpPr>
            <p:cNvPr id="40988" name="Line 7"/>
            <p:cNvSpPr/>
            <p:nvPr/>
          </p:nvSpPr>
          <p:spPr>
            <a:xfrm flipV="1">
              <a:off x="6500813" y="2714531"/>
              <a:ext cx="0" cy="35716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40989" name="Line 7"/>
            <p:cNvSpPr/>
            <p:nvPr/>
          </p:nvSpPr>
          <p:spPr>
            <a:xfrm flipH="1" flipV="1">
              <a:off x="6500813" y="2714531"/>
              <a:ext cx="642938" cy="35716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40990" name="Line 7"/>
            <p:cNvSpPr/>
            <p:nvPr/>
          </p:nvSpPr>
          <p:spPr>
            <a:xfrm flipV="1">
              <a:off x="5857875" y="2714531"/>
              <a:ext cx="642938" cy="35716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40991" name="矩形 33"/>
            <p:cNvSpPr/>
            <p:nvPr/>
          </p:nvSpPr>
          <p:spPr>
            <a:xfrm>
              <a:off x="5072063" y="3051864"/>
              <a:ext cx="1658146" cy="37702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68580" tIns="34290" rIns="68580" bIns="34290">
              <a:spAutoFit/>
            </a:bodyPr>
            <a:lstStyle/>
            <a:p>
              <a:pPr eaLnBrk="1" hangingPunct="1">
                <a:buNone/>
              </a:pPr>
              <a:r>
                <a:rPr lang="en-US" altLang="zh-CN" sz="20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/>
                </a:rPr>
                <a:t>L</a:t>
              </a:r>
              <a:r>
                <a:rPr lang="en-US" altLang="zh-CN" sz="2000" dirty="0">
                  <a:latin typeface="Times New Roman" panose="02020603050405020304" pitchFamily="18" charset="0"/>
                  <a:ea typeface="楷体_GB2312"/>
                </a:rPr>
                <a:t>.</a:t>
              </a:r>
              <a:r>
                <a:rPr lang="en-US" altLang="zh-CN" sz="2000" i="1" dirty="0">
                  <a:latin typeface="Times New Roman" panose="02020603050405020304" pitchFamily="18" charset="0"/>
                  <a:ea typeface="楷体_GB2312"/>
                  <a:sym typeface="Symbol" panose="05050102010706020507" pitchFamily="18" charset="2"/>
                </a:rPr>
                <a:t>inh=real     ,</a:t>
              </a:r>
              <a:endParaRPr lang="zh-CN" altLang="en-US" sz="2000" dirty="0">
                <a:latin typeface="Tahoma" panose="020B0604030504040204" pitchFamily="34" charset="0"/>
                <a:ea typeface="楷体_GB2312"/>
              </a:endParaRPr>
            </a:p>
          </p:txBody>
        </p:sp>
        <p:sp>
          <p:nvSpPr>
            <p:cNvPr id="40992" name="Line 7"/>
            <p:cNvSpPr/>
            <p:nvPr/>
          </p:nvSpPr>
          <p:spPr>
            <a:xfrm flipV="1">
              <a:off x="5572125" y="3428867"/>
              <a:ext cx="0" cy="35716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</p:grpSp>
      <p:sp>
        <p:nvSpPr>
          <p:cNvPr id="40967" name="Text Box 45"/>
          <p:cNvSpPr txBox="1"/>
          <p:nvPr/>
        </p:nvSpPr>
        <p:spPr>
          <a:xfrm>
            <a:off x="338138" y="987425"/>
            <a:ext cx="1268412" cy="379413"/>
          </a:xfrm>
          <a:prstGeom prst="rect">
            <a:avLst/>
          </a:prstGeom>
          <a:noFill/>
          <a:ln w="9525">
            <a:noFill/>
          </a:ln>
        </p:spPr>
        <p:txBody>
          <a:bodyPr lIns="67500" tIns="35100" rIns="67500" bIns="35100"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en-US" altLang="zh-CN" sz="2000" i="1" dirty="0">
                <a:solidFill>
                  <a:srgbClr val="2D83F4"/>
                </a:solidFill>
                <a:latin typeface="Times New Roman" panose="02020603050405020304" pitchFamily="18" charset="0"/>
              </a:rPr>
              <a:t>SDD</a:t>
            </a:r>
            <a:r>
              <a:rPr lang="zh-CN" altLang="en-US" sz="2000" dirty="0">
                <a:solidFill>
                  <a:srgbClr val="2D83F4"/>
                </a:solidFill>
                <a:latin typeface="Times New Roman" panose="02020603050405020304" pitchFamily="18" charset="0"/>
              </a:rPr>
              <a:t>：</a:t>
            </a:r>
          </a:p>
        </p:txBody>
      </p:sp>
      <p:grpSp>
        <p:nvGrpSpPr>
          <p:cNvPr id="40968" name="组合 2"/>
          <p:cNvGrpSpPr/>
          <p:nvPr/>
        </p:nvGrpSpPr>
        <p:grpSpPr>
          <a:xfrm>
            <a:off x="407988" y="1470025"/>
            <a:ext cx="4573587" cy="2524125"/>
            <a:chOff x="285750" y="1211262"/>
            <a:chExt cx="4598988" cy="2524892"/>
          </a:xfrm>
        </p:grpSpPr>
        <p:sp>
          <p:nvSpPr>
            <p:cNvPr id="57346" name="Rectangle 6"/>
            <p:cNvSpPr>
              <a:spLocks noChangeArrowheads="1"/>
            </p:cNvSpPr>
            <p:nvPr/>
          </p:nvSpPr>
          <p:spPr bwMode="auto">
            <a:xfrm>
              <a:off x="285750" y="1211262"/>
              <a:ext cx="4598988" cy="252489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tailEnd type="none" w="lg" len="lg"/>
            </a:ln>
          </p:spPr>
          <p:txBody>
            <a:bodyPr lIns="67500" tIns="35100" rIns="67500" bIns="3510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ts val="17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                </a:t>
              </a: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产生式         语义规则</a:t>
              </a:r>
            </a:p>
            <a:p>
              <a:pPr marL="0" marR="0" lvl="0" indent="0" algn="l" defTabSz="914400" rtl="0" eaLnBrk="1" fontAlgn="base" latinLnBrk="0" hangingPunct="1">
                <a:lnSpc>
                  <a:spcPts val="17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(1)</a:t>
              </a: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 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D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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 L	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L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inh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=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type</a:t>
              </a:r>
            </a:p>
            <a:p>
              <a:pPr marL="0" marR="0" lvl="0" indent="0" algn="l" defTabSz="914400" rtl="0" eaLnBrk="1" fontAlgn="base" latinLnBrk="0" hangingPunct="1">
                <a:lnSpc>
                  <a:spcPts val="17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(2)  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T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 </a:t>
              </a:r>
              <a:r>
                <a:rPr kumimoji="1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int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   	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type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= 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int</a:t>
              </a:r>
              <a:endPara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ts val="17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(3)  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T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 real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	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type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=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real</a:t>
              </a:r>
            </a:p>
            <a:p>
              <a:pPr marL="0" marR="0" lvl="0" indent="0" algn="l" defTabSz="914400" rtl="0" eaLnBrk="1" fontAlgn="base" latinLnBrk="0" hangingPunct="1">
                <a:lnSpc>
                  <a:spcPts val="17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(4)  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L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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L</a:t>
              </a:r>
              <a:r>
                <a:rPr kumimoji="1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, id   	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L</a:t>
              </a:r>
              <a:r>
                <a:rPr kumimoji="1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inh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L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inh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</a:p>
            <a:p>
              <a:pPr marL="0" marR="0" lvl="0" indent="0" algn="l" defTabSz="914400" rtl="0" eaLnBrk="1" fontAlgn="base" latinLnBrk="0" hangingPunct="1">
                <a:lnSpc>
                  <a:spcPts val="17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		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addtype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kumimoji="1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id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lexeme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, 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L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inh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</a:p>
            <a:p>
              <a:pPr marL="0" marR="0" lvl="0" indent="0" algn="l" defTabSz="914400" rtl="0" eaLnBrk="1" fontAlgn="base" latinLnBrk="0" hangingPunct="1">
                <a:lnSpc>
                  <a:spcPts val="17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(5)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L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id       	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addtype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kumimoji="1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id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lexeme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, 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L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inh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</a:p>
          </p:txBody>
        </p:sp>
        <p:sp>
          <p:nvSpPr>
            <p:cNvPr id="40972" name="Line 7"/>
            <p:cNvSpPr/>
            <p:nvPr/>
          </p:nvSpPr>
          <p:spPr>
            <a:xfrm>
              <a:off x="303213" y="1522413"/>
              <a:ext cx="4581525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cxnSp>
          <p:nvCxnSpPr>
            <p:cNvPr id="40973" name="直接连接符 4"/>
            <p:cNvCxnSpPr/>
            <p:nvPr/>
          </p:nvCxnSpPr>
          <p:spPr>
            <a:xfrm>
              <a:off x="2086261" y="1211262"/>
              <a:ext cx="0" cy="25248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</p:grpSp>
      <p:sp>
        <p:nvSpPr>
          <p:cNvPr id="35" name="矩形 34"/>
          <p:cNvSpPr/>
          <p:nvPr/>
        </p:nvSpPr>
        <p:spPr>
          <a:xfrm>
            <a:off x="6062345" y="230188"/>
            <a:ext cx="2378075" cy="7699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None/>
            </a:pPr>
            <a:r>
              <a:rPr lang="zh-CN" altLang="en-US" sz="2000" dirty="0">
                <a:solidFill>
                  <a:srgbClr val="2D83F4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输入</a:t>
            </a:r>
            <a:r>
              <a:rPr lang="zh-CN" altLang="en-US" sz="2000" dirty="0">
                <a:solidFill>
                  <a:srgbClr val="2D83F4"/>
                </a:solidFill>
                <a:latin typeface="Times New Roman" panose="02020603050405020304" pitchFamily="18" charset="0"/>
              </a:rPr>
              <a:t>：</a:t>
            </a:r>
          </a:p>
          <a:p>
            <a:pPr eaLnBrk="1" hangingPunct="1">
              <a:spcBef>
                <a:spcPct val="2000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楷体_GB2312"/>
              </a:rPr>
              <a:t>real</a:t>
            </a:r>
            <a:r>
              <a:rPr lang="en-US" altLang="zh-CN" sz="2000" i="1" dirty="0">
                <a:latin typeface="Times New Roman" panose="02020603050405020304" pitchFamily="18" charset="0"/>
                <a:ea typeface="楷体_GB2312"/>
              </a:rPr>
              <a:t> a</a:t>
            </a:r>
            <a:r>
              <a:rPr lang="en-US" altLang="zh-CN" sz="2000" i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,</a:t>
            </a:r>
            <a:r>
              <a:rPr lang="en-US" altLang="zh-CN" sz="2000" i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 b </a:t>
            </a:r>
            <a:r>
              <a:rPr lang="en-US" altLang="zh-CN" sz="2000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,</a:t>
            </a:r>
            <a:r>
              <a:rPr lang="en-US" altLang="zh-CN" sz="2000" i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 c</a:t>
            </a:r>
            <a:endParaRPr lang="en-US" altLang="zh-CN" sz="2000" i="1" baseline="-25000" dirty="0">
              <a:latin typeface="Times New Roman" panose="02020603050405020304" pitchFamily="18" charset="0"/>
              <a:ea typeface="楷体_GB2312"/>
              <a:sym typeface="Symbol" panose="05050102010706020507" pitchFamily="18" charset="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830263" y="1501775"/>
            <a:ext cx="0" cy="25098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23850" y="4300220"/>
            <a:ext cx="596455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/>
            <a:r>
              <a:rPr lang="zh-CN" altLang="en-US" sz="14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  <a:sym typeface="+mn-ea"/>
              </a:rPr>
              <a:t>addtype(id.entry, type)</a:t>
            </a:r>
            <a:r>
              <a:rPr lang="en-US" altLang="zh-CN" sz="1400" dirty="0"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  <a:sym typeface="+mn-ea"/>
              </a:rPr>
              <a:t> </a:t>
            </a:r>
            <a:r>
              <a:rPr lang="zh-CN" altLang="en-US" sz="1400" dirty="0"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  <a:sym typeface="+mn-ea"/>
              </a:rPr>
              <a:t>在符号表中为符号id添加符号类型（变量类型）type；id.entry指明符号id在符号表中的入口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94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94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9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94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94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9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94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94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9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442913" y="774700"/>
            <a:ext cx="7915275" cy="3225800"/>
          </a:xfrm>
        </p:spPr>
        <p:txBody>
          <a:bodyPr vert="horz" wrap="square" lIns="68580" tIns="34290" rIns="68580" bIns="34290" anchor="t" anchorCtr="0"/>
          <a:lstStyle/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3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一个</a:t>
            </a:r>
            <a:r>
              <a:rPr lang="zh-CN" altLang="en-US" sz="3000" b="1" kern="12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没有副作用的</a:t>
            </a:r>
            <a:r>
              <a:rPr lang="en-US" altLang="zh-CN" sz="3000" b="1" i="1" kern="12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SDD</a:t>
            </a:r>
            <a:r>
              <a:rPr lang="zh-CN" altLang="en-US" sz="3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有时也称为</a:t>
            </a:r>
            <a:r>
              <a:rPr lang="zh-CN" altLang="en-US" sz="3000" b="1" kern="12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属性文法</a:t>
            </a:r>
            <a:endParaRPr lang="en-US" altLang="zh-CN" sz="3000" b="1" i="1" kern="1200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lvl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属性文法的规则仅仅通过其它属性值和常量来定义一个属性值</a:t>
            </a:r>
          </a:p>
          <a:p>
            <a:pPr lvl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例</a:t>
            </a:r>
            <a:endParaRPr lang="en-US" altLang="zh-CN" sz="2800" b="1" kern="120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属性文法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Attribute Grammar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kumimoji="0" lang="zh-CN" altLang="en-US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7"/>
          <p:cNvGrpSpPr/>
          <p:nvPr/>
        </p:nvGrpSpPr>
        <p:grpSpPr>
          <a:xfrm>
            <a:off x="2255838" y="2357438"/>
            <a:ext cx="4230687" cy="2338387"/>
            <a:chOff x="3359696" y="3284984"/>
            <a:chExt cx="3367010" cy="2339200"/>
          </a:xfrm>
        </p:grpSpPr>
        <p:sp>
          <p:nvSpPr>
            <p:cNvPr id="9" name="矩形 8"/>
            <p:cNvSpPr/>
            <p:nvPr/>
          </p:nvSpPr>
          <p:spPr>
            <a:xfrm>
              <a:off x="3359696" y="3284984"/>
              <a:ext cx="3367010" cy="23392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     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产生式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	      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语义规则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(1)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L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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n 	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L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  <a:endPara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(2)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+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	E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E</a:t>
              </a:r>
              <a:r>
                <a:rPr kumimoji="1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+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(3)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            	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(4)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*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    	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× </a:t>
              </a:r>
              <a:r>
                <a:rPr kumimoji="1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Fval</a:t>
              </a:r>
              <a:endPara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(5)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           	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(6)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(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)	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(7)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digit        	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digit</a:t>
              </a: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lexval</a:t>
              </a:r>
              <a:endPara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>
              <a:off x="3359696" y="3599418"/>
              <a:ext cx="33518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4744403" y="3284984"/>
              <a:ext cx="0" cy="23392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3" descr="G:\QQ截图201607142012副本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514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3786188" y="1774825"/>
            <a:ext cx="4464050" cy="939800"/>
          </a:xfrm>
          <a:prstGeom prst="rect">
            <a:avLst/>
          </a:prstGeom>
        </p:spPr>
        <p:txBody>
          <a:bodyPr lIns="68580" tIns="34290" rIns="68580" bIns="34290" anchor="ctr"/>
          <a:lstStyle/>
          <a:p>
            <a:pPr marR="0" algn="ctr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500" b="0" kern="1200" cap="none" spc="300" normalizeH="0" baseline="0" noProof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SDD</a:t>
            </a:r>
            <a:r>
              <a:rPr kumimoji="0" lang="zh-CN" altLang="en-US" sz="3500" b="0" kern="1200" cap="none" spc="300" normalizeH="0" baseline="0" noProof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的求值顺序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内容占位符 2"/>
          <p:cNvSpPr>
            <a:spLocks noGrp="1"/>
          </p:cNvSpPr>
          <p:nvPr>
            <p:ph idx="1"/>
          </p:nvPr>
        </p:nvSpPr>
        <p:spPr>
          <a:xfrm>
            <a:off x="428625" y="774700"/>
            <a:ext cx="8343900" cy="3225800"/>
          </a:xfrm>
        </p:spPr>
        <p:txBody>
          <a:bodyPr vert="horz" wrap="square" lIns="68580" tIns="34290" rIns="68580" bIns="34290" numCol="1" anchor="t" anchorCtr="0" compatLnSpc="1"/>
          <a:lstStyle/>
          <a:p>
            <a:pPr marL="273050" marR="0" lvl="0" indent="-273050" algn="l" defTabSz="914400" rtl="0" eaLnBrk="0" fontAlgn="base" latinLnBrk="0" hangingPunct="0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SDD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为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CFG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中的文法符号设置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语义属性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。对于给定的输入串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，应用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语义规则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计算分析树中各结点对应的属性值</a:t>
            </a:r>
          </a:p>
          <a:p>
            <a:pPr marL="273050" marR="0" lvl="0" indent="-273050" algn="l" defTabSz="914400" rtl="0" eaLnBrk="0" fontAlgn="base" latinLnBrk="0" hangingPunct="0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按照什么顺序计算属性值？</a:t>
            </a:r>
          </a:p>
          <a:p>
            <a:pPr marL="575945" marR="0" lvl="1" indent="-273050" algn="l" defTabSz="914400" rtl="0" eaLnBrk="0" fontAlgn="base" latinLnBrk="0" hangingPunct="0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语义规则建立了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属性之间的依赖关系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，在对句法分析树节点的一个属性求值之前，必须首先求出这个属性值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所依赖的所有属性值</a:t>
            </a:r>
          </a:p>
        </p:txBody>
      </p:sp>
      <p:sp>
        <p:nvSpPr>
          <p:cNvPr id="20482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000" b="1" i="1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SDD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的求值顺序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3"/>
          <p:cNvSpPr>
            <a:spLocks noGrp="1"/>
          </p:cNvSpPr>
          <p:nvPr>
            <p:ph idx="1"/>
          </p:nvPr>
        </p:nvSpPr>
        <p:spPr>
          <a:xfrm>
            <a:off x="428625" y="785813"/>
            <a:ext cx="8535988" cy="3946525"/>
          </a:xfrm>
        </p:spPr>
        <p:txBody>
          <a:bodyPr vert="horz" wrap="square" lIns="68580" tIns="34290" rIns="68580" bIns="34290" anchor="t" anchorCtr="0"/>
          <a:lstStyle/>
          <a:p>
            <a:pPr>
              <a:lnSpc>
                <a:spcPts val="45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3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依赖图是一个描述了</a:t>
            </a:r>
            <a:r>
              <a:rPr lang="zh-CN" altLang="en-US" sz="3000" b="1" kern="12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分析树中结点属性间</a:t>
            </a:r>
            <a:r>
              <a:rPr lang="zh-CN" altLang="en-US" sz="3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依赖关系的</a:t>
            </a:r>
            <a:r>
              <a:rPr lang="zh-CN" altLang="en-US" sz="3000" b="1" kern="12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有向图</a:t>
            </a:r>
          </a:p>
          <a:p>
            <a:pPr>
              <a:lnSpc>
                <a:spcPts val="45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3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分析树中</a:t>
            </a:r>
            <a:r>
              <a:rPr lang="zh-CN" altLang="en-US" sz="3000" b="1" kern="12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每个标号为</a:t>
            </a:r>
            <a:r>
              <a:rPr lang="en-US" altLang="zh-CN" sz="3000" b="1" i="1" kern="12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X</a:t>
            </a:r>
            <a:r>
              <a:rPr lang="zh-CN" altLang="en-US" sz="3000" b="1" kern="12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的结点</a:t>
            </a:r>
            <a:r>
              <a:rPr lang="zh-CN" altLang="en-US" sz="3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的</a:t>
            </a:r>
            <a:r>
              <a:rPr lang="zh-CN" altLang="en-US" sz="3000" b="1" kern="12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每个属性</a:t>
            </a:r>
            <a:r>
              <a:rPr lang="en-US" altLang="zh-CN" sz="3000" b="1" kern="12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a</a:t>
            </a:r>
            <a:r>
              <a:rPr lang="zh-CN" altLang="en-US" sz="3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都对应着</a:t>
            </a:r>
            <a:r>
              <a:rPr lang="zh-CN" altLang="en-US" sz="3000" b="1" kern="12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依赖图中的一个结点</a:t>
            </a:r>
          </a:p>
          <a:p>
            <a:pPr>
              <a:lnSpc>
                <a:spcPts val="45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3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如果属性</a:t>
            </a:r>
            <a:r>
              <a:rPr lang="en-US" altLang="zh-CN" sz="3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X.a</a:t>
            </a:r>
            <a:r>
              <a:rPr lang="zh-CN" altLang="en-US" sz="3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的值依赖于属性</a:t>
            </a:r>
            <a:r>
              <a:rPr lang="en-US" altLang="zh-CN" sz="3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Y.b</a:t>
            </a:r>
            <a:r>
              <a:rPr lang="zh-CN" altLang="en-US" sz="3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的值，则依赖图中有一条</a:t>
            </a:r>
            <a:r>
              <a:rPr lang="zh-CN" altLang="en-US" sz="3000" b="1" kern="12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从</a:t>
            </a:r>
            <a:r>
              <a:rPr lang="en-US" altLang="zh-CN" sz="3000" b="1" i="1" kern="12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Y.b</a:t>
            </a:r>
            <a:r>
              <a:rPr lang="zh-CN" altLang="en-US" sz="3000" b="1" kern="12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的结点指向</a:t>
            </a:r>
            <a:r>
              <a:rPr lang="en-US" altLang="zh-CN" sz="3000" b="1" i="1" kern="12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X.a</a:t>
            </a:r>
            <a:r>
              <a:rPr lang="zh-CN" altLang="en-US" sz="3000" b="1" kern="12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的结点的有向边</a:t>
            </a:r>
          </a:p>
          <a:p>
            <a:pPr>
              <a:lnSpc>
                <a:spcPts val="4500"/>
              </a:lnSpc>
              <a:buClrTx/>
              <a:buSzPct val="100000"/>
              <a:buFont typeface="Wingdings" panose="05000000000000000000" pitchFamily="2" charset="2"/>
              <a:buChar char="Ø"/>
            </a:pPr>
            <a:endParaRPr lang="en-US" altLang="zh-CN" sz="3000" b="1" kern="120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依赖图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Dependency Graph</a:t>
            </a:r>
            <a:r>
              <a:rPr kumimoji="1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</a:t>
            </a:r>
            <a:endParaRPr kumimoji="1" lang="zh-CN" altLang="en-US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endParaRPr kumimoji="0" lang="zh-CN" altLang="en-US" sz="30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6" name="Rectangle 54"/>
          <p:cNvSpPr>
            <a:spLocks noChangeArrowheads="1"/>
          </p:cNvSpPr>
          <p:nvPr/>
        </p:nvSpPr>
        <p:spPr bwMode="auto">
          <a:xfrm>
            <a:off x="5446713" y="1276350"/>
            <a:ext cx="593725" cy="377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tailEnd type="none" w="lg" len="lg"/>
          </a:ln>
        </p:spPr>
        <p:txBody>
          <a:bodyPr lIns="67500" tIns="35100" rIns="67500" bIns="3510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type</a:t>
            </a:r>
          </a:p>
        </p:txBody>
      </p:sp>
      <p:sp>
        <p:nvSpPr>
          <p:cNvPr id="97" name="Rectangle 55"/>
          <p:cNvSpPr>
            <a:spLocks noChangeArrowheads="1"/>
          </p:cNvSpPr>
          <p:nvPr/>
        </p:nvSpPr>
        <p:spPr bwMode="auto">
          <a:xfrm>
            <a:off x="6643688" y="1254125"/>
            <a:ext cx="377825" cy="3794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tailEnd type="none" w="lg" len="lg"/>
          </a:ln>
        </p:spPr>
        <p:txBody>
          <a:bodyPr lIns="67500" tIns="35100" rIns="67500" bIns="35100" anchor="ctr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</a:t>
            </a:r>
          </a:p>
        </p:txBody>
      </p:sp>
      <p:sp>
        <p:nvSpPr>
          <p:cNvPr id="98" name="Rectangle 56"/>
          <p:cNvSpPr>
            <a:spLocks noChangeArrowheads="1"/>
          </p:cNvSpPr>
          <p:nvPr/>
        </p:nvSpPr>
        <p:spPr bwMode="auto">
          <a:xfrm>
            <a:off x="5788025" y="1927225"/>
            <a:ext cx="377825" cy="3794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tailEnd type="none" w="lg" len="lg"/>
          </a:ln>
        </p:spPr>
        <p:txBody>
          <a:bodyPr lIns="67500" tIns="35100" rIns="67500" bIns="35100" anchor="ctr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</a:t>
            </a:r>
          </a:p>
        </p:txBody>
      </p:sp>
      <p:sp>
        <p:nvSpPr>
          <p:cNvPr id="99" name="Rectangle 57"/>
          <p:cNvSpPr>
            <a:spLocks noChangeArrowheads="1"/>
          </p:cNvSpPr>
          <p:nvPr/>
        </p:nvSpPr>
        <p:spPr bwMode="auto">
          <a:xfrm>
            <a:off x="5000625" y="2690813"/>
            <a:ext cx="377825" cy="3794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tailEnd type="none" w="lg" len="lg"/>
          </a:ln>
        </p:spPr>
        <p:txBody>
          <a:bodyPr lIns="67500" tIns="35100" rIns="67500" bIns="35100" anchor="ctr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</a:t>
            </a:r>
          </a:p>
        </p:txBody>
      </p:sp>
      <p:sp>
        <p:nvSpPr>
          <p:cNvPr id="100" name="Freeform 60"/>
          <p:cNvSpPr/>
          <p:nvPr/>
        </p:nvSpPr>
        <p:spPr bwMode="auto">
          <a:xfrm>
            <a:off x="5680075" y="1200150"/>
            <a:ext cx="1133475" cy="106363"/>
          </a:xfrm>
          <a:custGeom>
            <a:avLst/>
            <a:gdLst>
              <a:gd name="T0" fmla="*/ 0 w 453"/>
              <a:gd name="T1" fmla="*/ 2147483646 h 136"/>
              <a:gd name="T2" fmla="*/ 2147483646 w 453"/>
              <a:gd name="T3" fmla="*/ 0 h 136"/>
              <a:gd name="T4" fmla="*/ 2147483646 w 453"/>
              <a:gd name="T5" fmla="*/ 2147483646 h 136"/>
              <a:gd name="T6" fmla="*/ 0 60000 65536"/>
              <a:gd name="T7" fmla="*/ 0 60000 65536"/>
              <a:gd name="T8" fmla="*/ 0 60000 65536"/>
              <a:gd name="T9" fmla="*/ 0 w 453"/>
              <a:gd name="T10" fmla="*/ 0 h 136"/>
              <a:gd name="T11" fmla="*/ 453 w 453"/>
              <a:gd name="T12" fmla="*/ 136 h 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53" h="136">
                <a:moveTo>
                  <a:pt x="0" y="136"/>
                </a:moveTo>
                <a:cubicBezTo>
                  <a:pt x="53" y="68"/>
                  <a:pt x="106" y="0"/>
                  <a:pt x="181" y="0"/>
                </a:cubicBezTo>
                <a:cubicBezTo>
                  <a:pt x="256" y="0"/>
                  <a:pt x="354" y="68"/>
                  <a:pt x="453" y="136"/>
                </a:cubicBezTo>
              </a:path>
            </a:pathLst>
          </a:cu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stealth" w="med" len="med"/>
          </a:ln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1" name="Line 61"/>
          <p:cNvSpPr>
            <a:spLocks noChangeShapeType="1"/>
          </p:cNvSpPr>
          <p:nvPr/>
        </p:nvSpPr>
        <p:spPr bwMode="auto">
          <a:xfrm flipH="1">
            <a:off x="6040438" y="1604963"/>
            <a:ext cx="914400" cy="396875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" name="Rectangle 65"/>
          <p:cNvSpPr>
            <a:spLocks noChangeArrowheads="1"/>
          </p:cNvSpPr>
          <p:nvPr/>
        </p:nvSpPr>
        <p:spPr bwMode="auto">
          <a:xfrm>
            <a:off x="8072438" y="1976438"/>
            <a:ext cx="1000125" cy="379413"/>
          </a:xfrm>
          <a:prstGeom prst="rect">
            <a:avLst/>
          </a:prstGeom>
          <a:noFill/>
          <a:ln w="9525">
            <a:noFill/>
            <a:miter lim="800000"/>
            <a:tailEnd type="none" w="lg" len="lg"/>
          </a:ln>
        </p:spPr>
        <p:txBody>
          <a:bodyPr lIns="67500" tIns="35100" rIns="67500" bIns="3510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lexeme</a:t>
            </a:r>
          </a:p>
        </p:txBody>
      </p:sp>
      <p:sp>
        <p:nvSpPr>
          <p:cNvPr id="105" name="Line 66"/>
          <p:cNvSpPr>
            <a:spLocks noChangeShapeType="1"/>
          </p:cNvSpPr>
          <p:nvPr/>
        </p:nvSpPr>
        <p:spPr bwMode="auto">
          <a:xfrm flipH="1">
            <a:off x="5230813" y="2244725"/>
            <a:ext cx="830263" cy="414338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6" name="Rectangle 69"/>
          <p:cNvSpPr>
            <a:spLocks noChangeArrowheads="1"/>
          </p:cNvSpPr>
          <p:nvPr/>
        </p:nvSpPr>
        <p:spPr bwMode="auto">
          <a:xfrm>
            <a:off x="7194550" y="2709863"/>
            <a:ext cx="949325" cy="377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tailEnd type="none" w="lg" len="lg"/>
          </a:ln>
        </p:spPr>
        <p:txBody>
          <a:bodyPr lIns="67500" tIns="35100" rIns="67500" bIns="3510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lexeme</a:t>
            </a:r>
          </a:p>
        </p:txBody>
      </p:sp>
      <p:sp>
        <p:nvSpPr>
          <p:cNvPr id="110" name="Rectangle 83"/>
          <p:cNvSpPr>
            <a:spLocks noChangeArrowheads="1"/>
          </p:cNvSpPr>
          <p:nvPr/>
        </p:nvSpPr>
        <p:spPr bwMode="auto">
          <a:xfrm>
            <a:off x="5659438" y="3476625"/>
            <a:ext cx="912813" cy="3794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tailEnd type="none" w="lg" len="lg"/>
          </a:ln>
        </p:spPr>
        <p:txBody>
          <a:bodyPr lIns="67500" tIns="35100" rIns="67500" bIns="3510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lexeme</a:t>
            </a:r>
          </a:p>
        </p:txBody>
      </p:sp>
      <p:sp>
        <p:nvSpPr>
          <p:cNvPr id="112" name="Line 42"/>
          <p:cNvSpPr>
            <a:spLocks noChangeShapeType="1"/>
          </p:cNvSpPr>
          <p:nvPr/>
        </p:nvSpPr>
        <p:spPr bwMode="auto">
          <a:xfrm flipV="1">
            <a:off x="5603875" y="1608138"/>
            <a:ext cx="0" cy="24765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3268" name="组合 74"/>
          <p:cNvGrpSpPr/>
          <p:nvPr/>
        </p:nvGrpSpPr>
        <p:grpSpPr>
          <a:xfrm>
            <a:off x="5072063" y="498475"/>
            <a:ext cx="3201987" cy="3357563"/>
            <a:chOff x="5072066" y="857238"/>
            <a:chExt cx="3201591" cy="3357586"/>
          </a:xfrm>
        </p:grpSpPr>
        <p:sp>
          <p:nvSpPr>
            <p:cNvPr id="53276" name="Text Box 16"/>
            <p:cNvSpPr txBox="1"/>
            <p:nvPr/>
          </p:nvSpPr>
          <p:spPr>
            <a:xfrm>
              <a:off x="7029453" y="2352665"/>
              <a:ext cx="342900" cy="378662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lIns="67500" tIns="35100" rIns="67500" bIns="3510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000" dirty="0">
                  <a:latin typeface="Times New Roman" panose="02020603050405020304" pitchFamily="18" charset="0"/>
                </a:rPr>
                <a:t>，</a:t>
              </a:r>
            </a:p>
          </p:txBody>
        </p:sp>
        <p:sp>
          <p:nvSpPr>
            <p:cNvPr id="53277" name="Rectangle 20"/>
            <p:cNvSpPr/>
            <p:nvPr/>
          </p:nvSpPr>
          <p:spPr>
            <a:xfrm>
              <a:off x="7733113" y="2324090"/>
              <a:ext cx="540544" cy="3786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67500" tIns="35100" rIns="67500" bIns="35100" anchor="ctr" anchorCtr="0">
              <a:spAutoFit/>
            </a:bodyPr>
            <a:lstStyle/>
            <a:p>
              <a:pPr algn="ctr"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id</a:t>
              </a:r>
            </a:p>
          </p:txBody>
        </p:sp>
        <p:sp>
          <p:nvSpPr>
            <p:cNvPr id="53278" name="Rectangle 22"/>
            <p:cNvSpPr/>
            <p:nvPr/>
          </p:nvSpPr>
          <p:spPr>
            <a:xfrm>
              <a:off x="6921107" y="1621584"/>
              <a:ext cx="432197" cy="3786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67500" tIns="35100" rIns="67500" bIns="35100" anchor="ctr" anchorCtr="0">
              <a:spAutoFit/>
            </a:bodyPr>
            <a:lstStyle/>
            <a:p>
              <a:pPr algn="ctr" eaLnBrk="1" hangingPunct="1"/>
              <a:r>
                <a:rPr lang="en-US" altLang="zh-CN" sz="2000" i="1" dirty="0"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53279" name="Line 24"/>
            <p:cNvSpPr/>
            <p:nvPr/>
          </p:nvSpPr>
          <p:spPr>
            <a:xfrm>
              <a:off x="7153707" y="2013336"/>
              <a:ext cx="0" cy="34290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53280" name="Line 25"/>
            <p:cNvSpPr/>
            <p:nvPr/>
          </p:nvSpPr>
          <p:spPr>
            <a:xfrm>
              <a:off x="7137801" y="2013336"/>
              <a:ext cx="827484" cy="31075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53281" name="Rectangle 26"/>
            <p:cNvSpPr/>
            <p:nvPr/>
          </p:nvSpPr>
          <p:spPr>
            <a:xfrm>
              <a:off x="6000760" y="857238"/>
              <a:ext cx="432197" cy="3786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67500" tIns="35100" rIns="67500" bIns="35100" anchor="ctr" anchorCtr="0">
              <a:spAutoFit/>
            </a:bodyPr>
            <a:lstStyle/>
            <a:p>
              <a:pPr algn="ctr" eaLnBrk="1" hangingPunct="1"/>
              <a:r>
                <a:rPr lang="en-US" altLang="zh-CN" sz="2000" i="1" dirty="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53282" name="Text Box 28"/>
            <p:cNvSpPr txBox="1"/>
            <p:nvPr/>
          </p:nvSpPr>
          <p:spPr>
            <a:xfrm>
              <a:off x="5193510" y="1621621"/>
              <a:ext cx="342900" cy="3786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67500" tIns="35100" rIns="67500" bIns="3510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i="1" dirty="0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53283" name="Line 29"/>
            <p:cNvSpPr/>
            <p:nvPr/>
          </p:nvSpPr>
          <p:spPr>
            <a:xfrm flipH="1">
              <a:off x="5301856" y="1214428"/>
              <a:ext cx="913218" cy="434577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53284" name="Rectangle 43"/>
            <p:cNvSpPr/>
            <p:nvPr/>
          </p:nvSpPr>
          <p:spPr>
            <a:xfrm>
              <a:off x="6004131" y="2285998"/>
              <a:ext cx="540318" cy="36766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67500" tIns="35100" rIns="67500" bIns="35100" anchor="ctr" anchorCtr="0">
              <a:noAutofit/>
            </a:bodyPr>
            <a:lstStyle/>
            <a:p>
              <a:pPr algn="ctr" eaLnBrk="1" hangingPunct="1"/>
              <a:r>
                <a:rPr lang="en-US" altLang="zh-CN" sz="2000" i="1" dirty="0"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53285" name="Text Box 46"/>
            <p:cNvSpPr txBox="1"/>
            <p:nvPr/>
          </p:nvSpPr>
          <p:spPr>
            <a:xfrm>
              <a:off x="6111482" y="3055133"/>
              <a:ext cx="342900" cy="378662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lIns="67500" tIns="35100" rIns="67500" bIns="3510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000" dirty="0">
                  <a:latin typeface="Times New Roman" panose="02020603050405020304" pitchFamily="18" charset="0"/>
                </a:rPr>
                <a:t>，</a:t>
              </a:r>
            </a:p>
          </p:txBody>
        </p:sp>
        <p:sp>
          <p:nvSpPr>
            <p:cNvPr id="53286" name="Rectangle 47"/>
            <p:cNvSpPr/>
            <p:nvPr/>
          </p:nvSpPr>
          <p:spPr>
            <a:xfrm>
              <a:off x="6816332" y="3051561"/>
              <a:ext cx="540544" cy="3786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67500" tIns="35100" rIns="67500" bIns="35100" anchor="ctr" anchorCtr="0">
              <a:spAutoFit/>
            </a:bodyPr>
            <a:lstStyle/>
            <a:p>
              <a:pPr algn="ctr"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id</a:t>
              </a:r>
            </a:p>
          </p:txBody>
        </p:sp>
        <p:sp>
          <p:nvSpPr>
            <p:cNvPr id="53287" name="Line 49"/>
            <p:cNvSpPr/>
            <p:nvPr/>
          </p:nvSpPr>
          <p:spPr>
            <a:xfrm>
              <a:off x="6219828" y="2689611"/>
              <a:ext cx="0" cy="34290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53288" name="Line 50"/>
            <p:cNvSpPr/>
            <p:nvPr/>
          </p:nvSpPr>
          <p:spPr>
            <a:xfrm>
              <a:off x="6219828" y="2689611"/>
              <a:ext cx="809625" cy="34290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53289" name="Rectangle 51"/>
            <p:cNvSpPr/>
            <p:nvPr/>
          </p:nvSpPr>
          <p:spPr>
            <a:xfrm>
              <a:off x="5230420" y="3057515"/>
              <a:ext cx="540544" cy="3786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67500" tIns="35100" rIns="67500" bIns="35100" anchor="ctr" anchorCtr="0">
              <a:spAutoFit/>
            </a:bodyPr>
            <a:lstStyle/>
            <a:p>
              <a:pPr algn="ctr" eaLnBrk="1" hangingPunct="1"/>
              <a:r>
                <a:rPr lang="en-US" altLang="zh-CN" sz="2000" i="1" dirty="0"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53290" name="Text Box 52"/>
            <p:cNvSpPr txBox="1"/>
            <p:nvPr/>
          </p:nvSpPr>
          <p:spPr>
            <a:xfrm>
              <a:off x="5338766" y="3836162"/>
              <a:ext cx="504825" cy="3786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67500" tIns="35100" rIns="67500" bIns="3510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dirty="0">
                  <a:latin typeface="Times New Roman" panose="02020603050405020304" pitchFamily="18" charset="0"/>
                </a:rPr>
                <a:t>id</a:t>
              </a:r>
            </a:p>
          </p:txBody>
        </p:sp>
        <p:sp>
          <p:nvSpPr>
            <p:cNvPr id="53291" name="Line 53"/>
            <p:cNvSpPr/>
            <p:nvPr/>
          </p:nvSpPr>
          <p:spPr>
            <a:xfrm>
              <a:off x="5500691" y="3514734"/>
              <a:ext cx="0" cy="34290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53292" name="Line 23"/>
            <p:cNvSpPr/>
            <p:nvPr/>
          </p:nvSpPr>
          <p:spPr>
            <a:xfrm flipH="1">
              <a:off x="6382945" y="2013336"/>
              <a:ext cx="788194" cy="33932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53293" name="Line 48"/>
            <p:cNvSpPr/>
            <p:nvPr/>
          </p:nvSpPr>
          <p:spPr>
            <a:xfrm flipH="1">
              <a:off x="5479259" y="2689611"/>
              <a:ext cx="719138" cy="36790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53294" name="Text Box 70"/>
            <p:cNvSpPr txBox="1"/>
            <p:nvPr/>
          </p:nvSpPr>
          <p:spPr>
            <a:xfrm>
              <a:off x="5072066" y="2193088"/>
              <a:ext cx="611981" cy="378662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lIns="67500" tIns="35100" rIns="67500" bIns="3510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dirty="0">
                  <a:latin typeface="Times New Roman" panose="02020603050405020304" pitchFamily="18" charset="0"/>
                </a:rPr>
                <a:t>real</a:t>
              </a:r>
            </a:p>
          </p:txBody>
        </p:sp>
        <p:sp>
          <p:nvSpPr>
            <p:cNvPr id="53295" name="Line 71"/>
            <p:cNvSpPr/>
            <p:nvPr/>
          </p:nvSpPr>
          <p:spPr>
            <a:xfrm>
              <a:off x="5335195" y="2000246"/>
              <a:ext cx="1190" cy="24765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53296" name="Line 27"/>
            <p:cNvSpPr/>
            <p:nvPr/>
          </p:nvSpPr>
          <p:spPr>
            <a:xfrm flipH="1" flipV="1">
              <a:off x="6215074" y="1214427"/>
              <a:ext cx="871530" cy="434577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</p:grpSp>
      <p:sp>
        <p:nvSpPr>
          <p:cNvPr id="53269" name="Text Box 45"/>
          <p:cNvSpPr txBox="1"/>
          <p:nvPr/>
        </p:nvSpPr>
        <p:spPr>
          <a:xfrm>
            <a:off x="338138" y="628650"/>
            <a:ext cx="1268412" cy="379413"/>
          </a:xfrm>
          <a:prstGeom prst="rect">
            <a:avLst/>
          </a:prstGeom>
          <a:noFill/>
          <a:ln w="9525">
            <a:noFill/>
          </a:ln>
        </p:spPr>
        <p:txBody>
          <a:bodyPr lIns="67500" tIns="35100" rIns="67500" bIns="35100"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en-US" altLang="zh-CN" sz="2000" i="1" dirty="0">
                <a:solidFill>
                  <a:srgbClr val="2D83F4"/>
                </a:solidFill>
                <a:latin typeface="Times New Roman" panose="02020603050405020304" pitchFamily="18" charset="0"/>
              </a:rPr>
              <a:t>SDD</a:t>
            </a:r>
            <a:r>
              <a:rPr lang="zh-CN" altLang="en-US" sz="2000" dirty="0">
                <a:solidFill>
                  <a:srgbClr val="2D83F4"/>
                </a:solidFill>
                <a:latin typeface="Times New Roman" panose="02020603050405020304" pitchFamily="18" charset="0"/>
              </a:rPr>
              <a:t>：</a:t>
            </a:r>
          </a:p>
        </p:txBody>
      </p:sp>
      <p:grpSp>
        <p:nvGrpSpPr>
          <p:cNvPr id="53270" name="组合 135"/>
          <p:cNvGrpSpPr/>
          <p:nvPr/>
        </p:nvGrpSpPr>
        <p:grpSpPr>
          <a:xfrm>
            <a:off x="407988" y="1111250"/>
            <a:ext cx="4573587" cy="2524125"/>
            <a:chOff x="285750" y="1211262"/>
            <a:chExt cx="4598988" cy="2524892"/>
          </a:xfrm>
        </p:grpSpPr>
        <p:sp>
          <p:nvSpPr>
            <p:cNvPr id="137" name="Rectangle 6"/>
            <p:cNvSpPr>
              <a:spLocks noChangeArrowheads="1"/>
            </p:cNvSpPr>
            <p:nvPr/>
          </p:nvSpPr>
          <p:spPr bwMode="auto">
            <a:xfrm>
              <a:off x="285750" y="1211262"/>
              <a:ext cx="4598988" cy="252489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tailEnd type="none" w="lg" len="lg"/>
            </a:ln>
          </p:spPr>
          <p:txBody>
            <a:bodyPr lIns="67500" tIns="35100" rIns="67500" bIns="3510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ts val="17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                </a:t>
              </a: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产生式         语义规则</a:t>
              </a:r>
            </a:p>
            <a:p>
              <a:pPr marL="0" marR="0" lvl="0" indent="0" algn="l" defTabSz="914400" rtl="0" eaLnBrk="1" fontAlgn="base" latinLnBrk="0" hangingPunct="1">
                <a:lnSpc>
                  <a:spcPts val="17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(1)</a:t>
              </a: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 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D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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 L	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L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in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=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type</a:t>
              </a:r>
            </a:p>
            <a:p>
              <a:pPr marL="0" marR="0" lvl="0" indent="0" algn="l" defTabSz="914400" rtl="0" eaLnBrk="1" fontAlgn="base" latinLnBrk="0" hangingPunct="1">
                <a:lnSpc>
                  <a:spcPts val="17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(2)  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T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 </a:t>
              </a:r>
              <a:r>
                <a:rPr kumimoji="1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int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   	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type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= 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int</a:t>
              </a:r>
              <a:endPara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ts val="17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(3)  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T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 real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	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type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=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real</a:t>
              </a:r>
            </a:p>
            <a:p>
              <a:pPr marL="0" marR="0" lvl="0" indent="0" algn="l" defTabSz="914400" rtl="0" eaLnBrk="1" fontAlgn="base" latinLnBrk="0" hangingPunct="1">
                <a:lnSpc>
                  <a:spcPts val="17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(4)  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L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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L</a:t>
              </a:r>
              <a:r>
                <a:rPr kumimoji="1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, id   	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L</a:t>
              </a:r>
              <a:r>
                <a:rPr kumimoji="1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in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L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in </a:t>
              </a:r>
            </a:p>
            <a:p>
              <a:pPr marL="0" marR="0" lvl="0" indent="0" algn="l" defTabSz="914400" rtl="0" eaLnBrk="1" fontAlgn="base" latinLnBrk="0" hangingPunct="1">
                <a:lnSpc>
                  <a:spcPts val="17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		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addtype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kumimoji="1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id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lexeme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,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L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in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</a:p>
            <a:p>
              <a:pPr marL="0" marR="0" lvl="0" indent="0" algn="l" defTabSz="914400" rtl="0" eaLnBrk="1" fontAlgn="base" latinLnBrk="0" hangingPunct="1">
                <a:lnSpc>
                  <a:spcPts val="17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(5)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L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id       	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addtype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kumimoji="1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id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lexeme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,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L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in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</a:p>
          </p:txBody>
        </p:sp>
        <p:sp>
          <p:nvSpPr>
            <p:cNvPr id="53274" name="Line 7"/>
            <p:cNvSpPr/>
            <p:nvPr/>
          </p:nvSpPr>
          <p:spPr>
            <a:xfrm>
              <a:off x="303213" y="1522413"/>
              <a:ext cx="4581525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cxnSp>
          <p:nvCxnSpPr>
            <p:cNvPr id="53275" name="直接连接符 4"/>
            <p:cNvCxnSpPr/>
            <p:nvPr/>
          </p:nvCxnSpPr>
          <p:spPr>
            <a:xfrm>
              <a:off x="2086261" y="1211262"/>
              <a:ext cx="0" cy="25248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</p:grpSp>
      <p:sp>
        <p:nvSpPr>
          <p:cNvPr id="53271" name="矩形 139"/>
          <p:cNvSpPr/>
          <p:nvPr/>
        </p:nvSpPr>
        <p:spPr>
          <a:xfrm>
            <a:off x="323850" y="3681413"/>
            <a:ext cx="2378075" cy="7699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None/>
            </a:pPr>
            <a:r>
              <a:rPr lang="zh-CN" altLang="en-US" sz="2000" dirty="0">
                <a:solidFill>
                  <a:srgbClr val="2D83F4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输入</a:t>
            </a:r>
            <a:r>
              <a:rPr lang="zh-CN" altLang="en-US" sz="2000" dirty="0">
                <a:solidFill>
                  <a:srgbClr val="2D83F4"/>
                </a:solidFill>
                <a:latin typeface="Times New Roman" panose="02020603050405020304" pitchFamily="18" charset="0"/>
              </a:rPr>
              <a:t>：</a:t>
            </a:r>
          </a:p>
          <a:p>
            <a:pPr eaLnBrk="1" hangingPunct="1">
              <a:spcBef>
                <a:spcPct val="2000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楷体_GB2312"/>
              </a:rPr>
              <a:t>real</a:t>
            </a:r>
            <a:r>
              <a:rPr lang="en-US" altLang="zh-CN" sz="2000" i="1" dirty="0">
                <a:latin typeface="Times New Roman" panose="02020603050405020304" pitchFamily="18" charset="0"/>
                <a:ea typeface="楷体_GB2312"/>
              </a:rPr>
              <a:t> a</a:t>
            </a:r>
            <a:r>
              <a:rPr lang="en-US" altLang="zh-CN" sz="2000" i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,</a:t>
            </a:r>
            <a:r>
              <a:rPr lang="en-US" altLang="zh-CN" sz="2000" i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 b </a:t>
            </a:r>
            <a:r>
              <a:rPr lang="en-US" altLang="zh-CN" sz="2000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,</a:t>
            </a:r>
            <a:r>
              <a:rPr lang="en-US" altLang="zh-CN" sz="2000" i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 c</a:t>
            </a:r>
            <a:endParaRPr lang="en-US" altLang="zh-CN" sz="2000" i="1" baseline="-25000" dirty="0">
              <a:latin typeface="Times New Roman" panose="02020603050405020304" pitchFamily="18" charset="0"/>
              <a:ea typeface="楷体_GB2312"/>
              <a:sym typeface="Symbol" panose="05050102010706020507" pitchFamily="18" charset="2"/>
            </a:endParaRPr>
          </a:p>
        </p:txBody>
      </p:sp>
      <p:cxnSp>
        <p:nvCxnSpPr>
          <p:cNvPr id="141" name="直接连接符 140"/>
          <p:cNvCxnSpPr/>
          <p:nvPr/>
        </p:nvCxnSpPr>
        <p:spPr>
          <a:xfrm>
            <a:off x="830263" y="1143000"/>
            <a:ext cx="0" cy="25098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endParaRPr kumimoji="0" lang="zh-CN" altLang="en-US" sz="30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6" name="Rectangle 54"/>
          <p:cNvSpPr>
            <a:spLocks noChangeArrowheads="1"/>
          </p:cNvSpPr>
          <p:nvPr/>
        </p:nvSpPr>
        <p:spPr bwMode="auto">
          <a:xfrm>
            <a:off x="5446713" y="1276350"/>
            <a:ext cx="593725" cy="377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tailEnd type="none" w="lg" len="lg"/>
          </a:ln>
        </p:spPr>
        <p:txBody>
          <a:bodyPr lIns="67500" tIns="35100" rIns="67500" bIns="3510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type</a:t>
            </a:r>
          </a:p>
        </p:txBody>
      </p:sp>
      <p:sp>
        <p:nvSpPr>
          <p:cNvPr id="97" name="Rectangle 55"/>
          <p:cNvSpPr>
            <a:spLocks noChangeArrowheads="1"/>
          </p:cNvSpPr>
          <p:nvPr/>
        </p:nvSpPr>
        <p:spPr bwMode="auto">
          <a:xfrm>
            <a:off x="6643688" y="1254125"/>
            <a:ext cx="377825" cy="3794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tailEnd type="none" w="lg" len="lg"/>
          </a:ln>
        </p:spPr>
        <p:txBody>
          <a:bodyPr lIns="67500" tIns="35100" rIns="67500" bIns="35100" anchor="ctr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</a:t>
            </a:r>
          </a:p>
        </p:txBody>
      </p:sp>
      <p:sp>
        <p:nvSpPr>
          <p:cNvPr id="98" name="Rectangle 56"/>
          <p:cNvSpPr>
            <a:spLocks noChangeArrowheads="1"/>
          </p:cNvSpPr>
          <p:nvPr/>
        </p:nvSpPr>
        <p:spPr bwMode="auto">
          <a:xfrm>
            <a:off x="5788025" y="1927225"/>
            <a:ext cx="377825" cy="3794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tailEnd type="none" w="lg" len="lg"/>
          </a:ln>
        </p:spPr>
        <p:txBody>
          <a:bodyPr lIns="67500" tIns="35100" rIns="67500" bIns="35100" anchor="ctr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</a:t>
            </a:r>
          </a:p>
        </p:txBody>
      </p:sp>
      <p:sp>
        <p:nvSpPr>
          <p:cNvPr id="99" name="Rectangle 57"/>
          <p:cNvSpPr>
            <a:spLocks noChangeArrowheads="1"/>
          </p:cNvSpPr>
          <p:nvPr/>
        </p:nvSpPr>
        <p:spPr bwMode="auto">
          <a:xfrm>
            <a:off x="5000625" y="2690813"/>
            <a:ext cx="377825" cy="3794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tailEnd type="none" w="lg" len="lg"/>
          </a:ln>
        </p:spPr>
        <p:txBody>
          <a:bodyPr lIns="67500" tIns="35100" rIns="67500" bIns="35100" anchor="ctr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</a:t>
            </a:r>
          </a:p>
        </p:txBody>
      </p:sp>
      <p:sp>
        <p:nvSpPr>
          <p:cNvPr id="100" name="Freeform 60"/>
          <p:cNvSpPr/>
          <p:nvPr/>
        </p:nvSpPr>
        <p:spPr bwMode="auto">
          <a:xfrm>
            <a:off x="5680075" y="1200150"/>
            <a:ext cx="1133475" cy="106363"/>
          </a:xfrm>
          <a:custGeom>
            <a:avLst/>
            <a:gdLst>
              <a:gd name="T0" fmla="*/ 0 w 453"/>
              <a:gd name="T1" fmla="*/ 2147483646 h 136"/>
              <a:gd name="T2" fmla="*/ 2147483646 w 453"/>
              <a:gd name="T3" fmla="*/ 0 h 136"/>
              <a:gd name="T4" fmla="*/ 2147483646 w 453"/>
              <a:gd name="T5" fmla="*/ 2147483646 h 136"/>
              <a:gd name="T6" fmla="*/ 0 60000 65536"/>
              <a:gd name="T7" fmla="*/ 0 60000 65536"/>
              <a:gd name="T8" fmla="*/ 0 60000 65536"/>
              <a:gd name="T9" fmla="*/ 0 w 453"/>
              <a:gd name="T10" fmla="*/ 0 h 136"/>
              <a:gd name="T11" fmla="*/ 453 w 453"/>
              <a:gd name="T12" fmla="*/ 136 h 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53" h="136">
                <a:moveTo>
                  <a:pt x="0" y="136"/>
                </a:moveTo>
                <a:cubicBezTo>
                  <a:pt x="53" y="68"/>
                  <a:pt x="106" y="0"/>
                  <a:pt x="181" y="0"/>
                </a:cubicBezTo>
                <a:cubicBezTo>
                  <a:pt x="256" y="0"/>
                  <a:pt x="354" y="68"/>
                  <a:pt x="453" y="136"/>
                </a:cubicBezTo>
              </a:path>
            </a:pathLst>
          </a:cu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stealth" w="med" len="med"/>
          </a:ln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1" name="Line 61"/>
          <p:cNvSpPr>
            <a:spLocks noChangeShapeType="1"/>
          </p:cNvSpPr>
          <p:nvPr/>
        </p:nvSpPr>
        <p:spPr bwMode="auto">
          <a:xfrm flipH="1">
            <a:off x="6040438" y="1604963"/>
            <a:ext cx="914400" cy="396875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" name="Freeform 62"/>
          <p:cNvSpPr/>
          <p:nvPr/>
        </p:nvSpPr>
        <p:spPr bwMode="auto">
          <a:xfrm>
            <a:off x="6989763" y="1525588"/>
            <a:ext cx="323850" cy="115888"/>
          </a:xfrm>
          <a:custGeom>
            <a:avLst/>
            <a:gdLst>
              <a:gd name="T0" fmla="*/ 0 w 273"/>
              <a:gd name="T1" fmla="*/ 2147483646 h 97"/>
              <a:gd name="T2" fmla="*/ 2147483646 w 273"/>
              <a:gd name="T3" fmla="*/ 2147483646 h 97"/>
              <a:gd name="T4" fmla="*/ 2147483646 w 273"/>
              <a:gd name="T5" fmla="*/ 0 h 97"/>
              <a:gd name="T6" fmla="*/ 0 60000 65536"/>
              <a:gd name="T7" fmla="*/ 0 60000 65536"/>
              <a:gd name="T8" fmla="*/ 0 60000 65536"/>
              <a:gd name="T9" fmla="*/ 0 w 273"/>
              <a:gd name="T10" fmla="*/ 0 h 97"/>
              <a:gd name="T11" fmla="*/ 273 w 273"/>
              <a:gd name="T12" fmla="*/ 97 h 9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97">
                <a:moveTo>
                  <a:pt x="0" y="45"/>
                </a:moveTo>
                <a:cubicBezTo>
                  <a:pt x="46" y="71"/>
                  <a:pt x="92" y="97"/>
                  <a:pt x="137" y="90"/>
                </a:cubicBezTo>
                <a:cubicBezTo>
                  <a:pt x="182" y="83"/>
                  <a:pt x="227" y="41"/>
                  <a:pt x="273" y="0"/>
                </a:cubicBezTo>
              </a:path>
            </a:pathLst>
          </a:cu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stealth" w="med" len="med"/>
          </a:ln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" name="Line 63"/>
          <p:cNvSpPr>
            <a:spLocks noChangeShapeType="1"/>
          </p:cNvSpPr>
          <p:nvPr/>
        </p:nvSpPr>
        <p:spPr bwMode="auto">
          <a:xfrm flipH="1" flipV="1">
            <a:off x="7358063" y="1579563"/>
            <a:ext cx="1003300" cy="4191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" name="Rectangle 65"/>
          <p:cNvSpPr>
            <a:spLocks noChangeArrowheads="1"/>
          </p:cNvSpPr>
          <p:nvPr/>
        </p:nvSpPr>
        <p:spPr bwMode="auto">
          <a:xfrm>
            <a:off x="8072438" y="1976438"/>
            <a:ext cx="1000125" cy="379413"/>
          </a:xfrm>
          <a:prstGeom prst="rect">
            <a:avLst/>
          </a:prstGeom>
          <a:noFill/>
          <a:ln w="9525">
            <a:noFill/>
            <a:miter lim="800000"/>
            <a:tailEnd type="none" w="lg" len="lg"/>
          </a:ln>
        </p:spPr>
        <p:txBody>
          <a:bodyPr lIns="67500" tIns="35100" rIns="67500" bIns="3510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lexeme</a:t>
            </a:r>
          </a:p>
        </p:txBody>
      </p:sp>
      <p:sp>
        <p:nvSpPr>
          <p:cNvPr id="105" name="Line 66"/>
          <p:cNvSpPr>
            <a:spLocks noChangeShapeType="1"/>
          </p:cNvSpPr>
          <p:nvPr/>
        </p:nvSpPr>
        <p:spPr bwMode="auto">
          <a:xfrm flipH="1">
            <a:off x="5230813" y="2244725"/>
            <a:ext cx="830263" cy="414338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6" name="Rectangle 69"/>
          <p:cNvSpPr>
            <a:spLocks noChangeArrowheads="1"/>
          </p:cNvSpPr>
          <p:nvPr/>
        </p:nvSpPr>
        <p:spPr bwMode="auto">
          <a:xfrm>
            <a:off x="7194550" y="2709863"/>
            <a:ext cx="949325" cy="377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tailEnd type="none" w="lg" len="lg"/>
          </a:ln>
        </p:spPr>
        <p:txBody>
          <a:bodyPr lIns="67500" tIns="35100" rIns="67500" bIns="3510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lexeme</a:t>
            </a:r>
          </a:p>
        </p:txBody>
      </p:sp>
      <p:sp>
        <p:nvSpPr>
          <p:cNvPr id="107" name="Line 67"/>
          <p:cNvSpPr>
            <a:spLocks noChangeShapeType="1"/>
          </p:cNvSpPr>
          <p:nvPr/>
        </p:nvSpPr>
        <p:spPr bwMode="auto">
          <a:xfrm flipH="1" flipV="1">
            <a:off x="6454775" y="2278063"/>
            <a:ext cx="955675" cy="41275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8" name="Freeform 72"/>
          <p:cNvSpPr/>
          <p:nvPr/>
        </p:nvSpPr>
        <p:spPr bwMode="auto">
          <a:xfrm>
            <a:off x="6057900" y="2227263"/>
            <a:ext cx="325438" cy="115888"/>
          </a:xfrm>
          <a:custGeom>
            <a:avLst/>
            <a:gdLst>
              <a:gd name="T0" fmla="*/ 0 w 273"/>
              <a:gd name="T1" fmla="*/ 2147483646 h 97"/>
              <a:gd name="T2" fmla="*/ 2147483646 w 273"/>
              <a:gd name="T3" fmla="*/ 2147483646 h 97"/>
              <a:gd name="T4" fmla="*/ 2147483646 w 273"/>
              <a:gd name="T5" fmla="*/ 0 h 97"/>
              <a:gd name="T6" fmla="*/ 0 60000 65536"/>
              <a:gd name="T7" fmla="*/ 0 60000 65536"/>
              <a:gd name="T8" fmla="*/ 0 60000 65536"/>
              <a:gd name="T9" fmla="*/ 0 w 273"/>
              <a:gd name="T10" fmla="*/ 0 h 97"/>
              <a:gd name="T11" fmla="*/ 273 w 273"/>
              <a:gd name="T12" fmla="*/ 97 h 9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97">
                <a:moveTo>
                  <a:pt x="0" y="45"/>
                </a:moveTo>
                <a:cubicBezTo>
                  <a:pt x="46" y="71"/>
                  <a:pt x="92" y="97"/>
                  <a:pt x="137" y="90"/>
                </a:cubicBezTo>
                <a:cubicBezTo>
                  <a:pt x="182" y="83"/>
                  <a:pt x="227" y="41"/>
                  <a:pt x="273" y="0"/>
                </a:cubicBezTo>
              </a:path>
            </a:pathLst>
          </a:cu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stealth" w="med" len="med"/>
          </a:ln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9" name="Freeform 82"/>
          <p:cNvSpPr/>
          <p:nvPr/>
        </p:nvSpPr>
        <p:spPr bwMode="auto">
          <a:xfrm>
            <a:off x="5338763" y="3014663"/>
            <a:ext cx="325438" cy="115888"/>
          </a:xfrm>
          <a:custGeom>
            <a:avLst/>
            <a:gdLst>
              <a:gd name="T0" fmla="*/ 0 w 273"/>
              <a:gd name="T1" fmla="*/ 2147483646 h 97"/>
              <a:gd name="T2" fmla="*/ 2147483646 w 273"/>
              <a:gd name="T3" fmla="*/ 2147483646 h 97"/>
              <a:gd name="T4" fmla="*/ 2147483646 w 273"/>
              <a:gd name="T5" fmla="*/ 0 h 97"/>
              <a:gd name="T6" fmla="*/ 0 60000 65536"/>
              <a:gd name="T7" fmla="*/ 0 60000 65536"/>
              <a:gd name="T8" fmla="*/ 0 60000 65536"/>
              <a:gd name="T9" fmla="*/ 0 w 273"/>
              <a:gd name="T10" fmla="*/ 0 h 97"/>
              <a:gd name="T11" fmla="*/ 273 w 273"/>
              <a:gd name="T12" fmla="*/ 97 h 9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97">
                <a:moveTo>
                  <a:pt x="0" y="45"/>
                </a:moveTo>
                <a:cubicBezTo>
                  <a:pt x="46" y="71"/>
                  <a:pt x="92" y="97"/>
                  <a:pt x="137" y="90"/>
                </a:cubicBezTo>
                <a:cubicBezTo>
                  <a:pt x="182" y="83"/>
                  <a:pt x="227" y="41"/>
                  <a:pt x="273" y="0"/>
                </a:cubicBezTo>
              </a:path>
            </a:pathLst>
          </a:cu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stealth" w="med" len="med"/>
          </a:ln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0" name="Rectangle 83"/>
          <p:cNvSpPr>
            <a:spLocks noChangeArrowheads="1"/>
          </p:cNvSpPr>
          <p:nvPr/>
        </p:nvSpPr>
        <p:spPr bwMode="auto">
          <a:xfrm>
            <a:off x="5659438" y="3476625"/>
            <a:ext cx="912813" cy="3794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tailEnd type="none" w="lg" len="lg"/>
          </a:ln>
        </p:spPr>
        <p:txBody>
          <a:bodyPr lIns="67500" tIns="35100" rIns="67500" bIns="3510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lexeme</a:t>
            </a:r>
          </a:p>
        </p:txBody>
      </p:sp>
      <p:sp>
        <p:nvSpPr>
          <p:cNvPr id="111" name="Line 84"/>
          <p:cNvSpPr>
            <a:spLocks noChangeShapeType="1"/>
          </p:cNvSpPr>
          <p:nvPr/>
        </p:nvSpPr>
        <p:spPr bwMode="auto">
          <a:xfrm flipV="1">
            <a:off x="5770563" y="3092450"/>
            <a:ext cx="0" cy="32385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" name="Line 42"/>
          <p:cNvSpPr>
            <a:spLocks noChangeShapeType="1"/>
          </p:cNvSpPr>
          <p:nvPr/>
        </p:nvSpPr>
        <p:spPr bwMode="auto">
          <a:xfrm flipV="1">
            <a:off x="5603875" y="1608138"/>
            <a:ext cx="0" cy="24765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3268" name="组合 74"/>
          <p:cNvGrpSpPr/>
          <p:nvPr/>
        </p:nvGrpSpPr>
        <p:grpSpPr>
          <a:xfrm>
            <a:off x="5072063" y="498475"/>
            <a:ext cx="3201987" cy="3357563"/>
            <a:chOff x="5072066" y="857238"/>
            <a:chExt cx="3201591" cy="3357586"/>
          </a:xfrm>
        </p:grpSpPr>
        <p:sp>
          <p:nvSpPr>
            <p:cNvPr id="53276" name="Text Box 16"/>
            <p:cNvSpPr txBox="1"/>
            <p:nvPr/>
          </p:nvSpPr>
          <p:spPr>
            <a:xfrm>
              <a:off x="7029453" y="2352665"/>
              <a:ext cx="342900" cy="378662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lIns="67500" tIns="35100" rIns="67500" bIns="3510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000" dirty="0">
                  <a:latin typeface="Times New Roman" panose="02020603050405020304" pitchFamily="18" charset="0"/>
                </a:rPr>
                <a:t>，</a:t>
              </a:r>
            </a:p>
          </p:txBody>
        </p:sp>
        <p:sp>
          <p:nvSpPr>
            <p:cNvPr id="53277" name="Rectangle 20"/>
            <p:cNvSpPr/>
            <p:nvPr/>
          </p:nvSpPr>
          <p:spPr>
            <a:xfrm>
              <a:off x="7733113" y="2324090"/>
              <a:ext cx="540544" cy="3786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67500" tIns="35100" rIns="67500" bIns="35100" anchor="ctr" anchorCtr="0">
              <a:spAutoFit/>
            </a:bodyPr>
            <a:lstStyle/>
            <a:p>
              <a:pPr algn="ctr"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id</a:t>
              </a:r>
            </a:p>
          </p:txBody>
        </p:sp>
        <p:sp>
          <p:nvSpPr>
            <p:cNvPr id="53278" name="Rectangle 22"/>
            <p:cNvSpPr/>
            <p:nvPr/>
          </p:nvSpPr>
          <p:spPr>
            <a:xfrm>
              <a:off x="6921107" y="1621584"/>
              <a:ext cx="432197" cy="3786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67500" tIns="35100" rIns="67500" bIns="35100" anchor="ctr" anchorCtr="0">
              <a:spAutoFit/>
            </a:bodyPr>
            <a:lstStyle/>
            <a:p>
              <a:pPr algn="ctr" eaLnBrk="1" hangingPunct="1"/>
              <a:r>
                <a:rPr lang="en-US" altLang="zh-CN" sz="2000" i="1" dirty="0"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53279" name="Line 24"/>
            <p:cNvSpPr/>
            <p:nvPr/>
          </p:nvSpPr>
          <p:spPr>
            <a:xfrm>
              <a:off x="7153707" y="2013336"/>
              <a:ext cx="0" cy="34290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53280" name="Line 25"/>
            <p:cNvSpPr/>
            <p:nvPr/>
          </p:nvSpPr>
          <p:spPr>
            <a:xfrm>
              <a:off x="7137801" y="2013336"/>
              <a:ext cx="827484" cy="31075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53281" name="Rectangle 26"/>
            <p:cNvSpPr/>
            <p:nvPr/>
          </p:nvSpPr>
          <p:spPr>
            <a:xfrm>
              <a:off x="6000760" y="857238"/>
              <a:ext cx="432197" cy="3786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67500" tIns="35100" rIns="67500" bIns="35100" anchor="ctr" anchorCtr="0">
              <a:spAutoFit/>
            </a:bodyPr>
            <a:lstStyle/>
            <a:p>
              <a:pPr algn="ctr" eaLnBrk="1" hangingPunct="1"/>
              <a:r>
                <a:rPr lang="en-US" altLang="zh-CN" sz="2000" i="1" dirty="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53282" name="Text Box 28"/>
            <p:cNvSpPr txBox="1"/>
            <p:nvPr/>
          </p:nvSpPr>
          <p:spPr>
            <a:xfrm>
              <a:off x="5193510" y="1621621"/>
              <a:ext cx="342900" cy="3786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67500" tIns="35100" rIns="67500" bIns="3510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i="1" dirty="0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53283" name="Line 29"/>
            <p:cNvSpPr/>
            <p:nvPr/>
          </p:nvSpPr>
          <p:spPr>
            <a:xfrm flipH="1">
              <a:off x="5301856" y="1214428"/>
              <a:ext cx="913218" cy="434577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53284" name="Rectangle 43"/>
            <p:cNvSpPr/>
            <p:nvPr/>
          </p:nvSpPr>
          <p:spPr>
            <a:xfrm>
              <a:off x="6004326" y="2285998"/>
              <a:ext cx="540544" cy="3786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67500" tIns="35100" rIns="67500" bIns="35100" anchor="ctr" anchorCtr="0">
              <a:spAutoFit/>
            </a:bodyPr>
            <a:lstStyle/>
            <a:p>
              <a:pPr algn="ctr" eaLnBrk="1" hangingPunct="1"/>
              <a:r>
                <a:rPr lang="en-US" altLang="zh-CN" sz="2000" i="1" dirty="0"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53285" name="Text Box 46"/>
            <p:cNvSpPr txBox="1"/>
            <p:nvPr/>
          </p:nvSpPr>
          <p:spPr>
            <a:xfrm>
              <a:off x="6111482" y="3055133"/>
              <a:ext cx="342900" cy="378662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lIns="67500" tIns="35100" rIns="67500" bIns="3510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000" dirty="0">
                  <a:latin typeface="Times New Roman" panose="02020603050405020304" pitchFamily="18" charset="0"/>
                </a:rPr>
                <a:t>，</a:t>
              </a:r>
            </a:p>
          </p:txBody>
        </p:sp>
        <p:sp>
          <p:nvSpPr>
            <p:cNvPr id="53286" name="Rectangle 47"/>
            <p:cNvSpPr/>
            <p:nvPr/>
          </p:nvSpPr>
          <p:spPr>
            <a:xfrm>
              <a:off x="6816332" y="3051561"/>
              <a:ext cx="540544" cy="3786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67500" tIns="35100" rIns="67500" bIns="35100" anchor="ctr" anchorCtr="0">
              <a:spAutoFit/>
            </a:bodyPr>
            <a:lstStyle/>
            <a:p>
              <a:pPr algn="ctr"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id</a:t>
              </a:r>
            </a:p>
          </p:txBody>
        </p:sp>
        <p:sp>
          <p:nvSpPr>
            <p:cNvPr id="53287" name="Line 49"/>
            <p:cNvSpPr/>
            <p:nvPr/>
          </p:nvSpPr>
          <p:spPr>
            <a:xfrm>
              <a:off x="6219828" y="2689611"/>
              <a:ext cx="0" cy="34290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53288" name="Line 50"/>
            <p:cNvSpPr/>
            <p:nvPr/>
          </p:nvSpPr>
          <p:spPr>
            <a:xfrm>
              <a:off x="6219828" y="2689611"/>
              <a:ext cx="809625" cy="34290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53289" name="Rectangle 51"/>
            <p:cNvSpPr/>
            <p:nvPr/>
          </p:nvSpPr>
          <p:spPr>
            <a:xfrm>
              <a:off x="5230420" y="3057515"/>
              <a:ext cx="540544" cy="3786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67500" tIns="35100" rIns="67500" bIns="35100" anchor="ctr" anchorCtr="0">
              <a:spAutoFit/>
            </a:bodyPr>
            <a:lstStyle/>
            <a:p>
              <a:pPr algn="ctr" eaLnBrk="1" hangingPunct="1"/>
              <a:r>
                <a:rPr lang="en-US" altLang="zh-CN" sz="2000" i="1" dirty="0"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53290" name="Text Box 52"/>
            <p:cNvSpPr txBox="1"/>
            <p:nvPr/>
          </p:nvSpPr>
          <p:spPr>
            <a:xfrm>
              <a:off x="5338766" y="3836162"/>
              <a:ext cx="504825" cy="3786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67500" tIns="35100" rIns="67500" bIns="3510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dirty="0">
                  <a:latin typeface="Times New Roman" panose="02020603050405020304" pitchFamily="18" charset="0"/>
                </a:rPr>
                <a:t>id</a:t>
              </a:r>
            </a:p>
          </p:txBody>
        </p:sp>
        <p:sp>
          <p:nvSpPr>
            <p:cNvPr id="53291" name="Line 53"/>
            <p:cNvSpPr/>
            <p:nvPr/>
          </p:nvSpPr>
          <p:spPr>
            <a:xfrm>
              <a:off x="5500691" y="3514734"/>
              <a:ext cx="0" cy="34290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53292" name="Line 23"/>
            <p:cNvSpPr/>
            <p:nvPr/>
          </p:nvSpPr>
          <p:spPr>
            <a:xfrm flipH="1">
              <a:off x="6382945" y="2013336"/>
              <a:ext cx="788194" cy="33932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53293" name="Line 48"/>
            <p:cNvSpPr/>
            <p:nvPr/>
          </p:nvSpPr>
          <p:spPr>
            <a:xfrm flipH="1">
              <a:off x="5479259" y="2689611"/>
              <a:ext cx="719138" cy="36790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53294" name="Text Box 70"/>
            <p:cNvSpPr txBox="1"/>
            <p:nvPr/>
          </p:nvSpPr>
          <p:spPr>
            <a:xfrm>
              <a:off x="5072066" y="2193088"/>
              <a:ext cx="611981" cy="378662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lIns="67500" tIns="35100" rIns="67500" bIns="3510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dirty="0">
                  <a:latin typeface="Times New Roman" panose="02020603050405020304" pitchFamily="18" charset="0"/>
                </a:rPr>
                <a:t>real</a:t>
              </a:r>
            </a:p>
          </p:txBody>
        </p:sp>
        <p:sp>
          <p:nvSpPr>
            <p:cNvPr id="53295" name="Line 71"/>
            <p:cNvSpPr/>
            <p:nvPr/>
          </p:nvSpPr>
          <p:spPr>
            <a:xfrm>
              <a:off x="5335195" y="2000246"/>
              <a:ext cx="1190" cy="24765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53296" name="Line 27"/>
            <p:cNvSpPr/>
            <p:nvPr/>
          </p:nvSpPr>
          <p:spPr>
            <a:xfrm flipH="1" flipV="1">
              <a:off x="6215074" y="1214427"/>
              <a:ext cx="871530" cy="434577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</p:grpSp>
      <p:sp>
        <p:nvSpPr>
          <p:cNvPr id="53269" name="Text Box 45"/>
          <p:cNvSpPr txBox="1"/>
          <p:nvPr/>
        </p:nvSpPr>
        <p:spPr>
          <a:xfrm>
            <a:off x="338138" y="628650"/>
            <a:ext cx="1268412" cy="379413"/>
          </a:xfrm>
          <a:prstGeom prst="rect">
            <a:avLst/>
          </a:prstGeom>
          <a:noFill/>
          <a:ln w="9525">
            <a:noFill/>
          </a:ln>
        </p:spPr>
        <p:txBody>
          <a:bodyPr lIns="67500" tIns="35100" rIns="67500" bIns="35100"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en-US" altLang="zh-CN" sz="2000" i="1" dirty="0">
                <a:solidFill>
                  <a:srgbClr val="2D83F4"/>
                </a:solidFill>
                <a:latin typeface="Times New Roman" panose="02020603050405020304" pitchFamily="18" charset="0"/>
              </a:rPr>
              <a:t>SDD</a:t>
            </a:r>
            <a:r>
              <a:rPr lang="zh-CN" altLang="en-US" sz="2000" dirty="0">
                <a:solidFill>
                  <a:srgbClr val="2D83F4"/>
                </a:solidFill>
                <a:latin typeface="Times New Roman" panose="02020603050405020304" pitchFamily="18" charset="0"/>
              </a:rPr>
              <a:t>：</a:t>
            </a:r>
          </a:p>
        </p:txBody>
      </p:sp>
      <p:grpSp>
        <p:nvGrpSpPr>
          <p:cNvPr id="53270" name="组合 135"/>
          <p:cNvGrpSpPr/>
          <p:nvPr/>
        </p:nvGrpSpPr>
        <p:grpSpPr>
          <a:xfrm>
            <a:off x="407988" y="1111250"/>
            <a:ext cx="4573587" cy="2524125"/>
            <a:chOff x="285750" y="1211262"/>
            <a:chExt cx="4598988" cy="2524892"/>
          </a:xfrm>
        </p:grpSpPr>
        <p:sp>
          <p:nvSpPr>
            <p:cNvPr id="137" name="Rectangle 6"/>
            <p:cNvSpPr>
              <a:spLocks noChangeArrowheads="1"/>
            </p:cNvSpPr>
            <p:nvPr/>
          </p:nvSpPr>
          <p:spPr bwMode="auto">
            <a:xfrm>
              <a:off x="285750" y="1211262"/>
              <a:ext cx="4598988" cy="252489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tailEnd type="none" w="lg" len="lg"/>
            </a:ln>
          </p:spPr>
          <p:txBody>
            <a:bodyPr lIns="67500" tIns="35100" rIns="67500" bIns="3510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ts val="17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                </a:t>
              </a: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产生式         语义规则</a:t>
              </a:r>
            </a:p>
            <a:p>
              <a:pPr marL="0" marR="0" lvl="0" indent="0" algn="l" defTabSz="914400" rtl="0" eaLnBrk="1" fontAlgn="base" latinLnBrk="0" hangingPunct="1">
                <a:lnSpc>
                  <a:spcPts val="17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(1)</a:t>
              </a: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 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D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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 L	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L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in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=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type</a:t>
              </a:r>
            </a:p>
            <a:p>
              <a:pPr marL="0" marR="0" lvl="0" indent="0" algn="l" defTabSz="914400" rtl="0" eaLnBrk="1" fontAlgn="base" latinLnBrk="0" hangingPunct="1">
                <a:lnSpc>
                  <a:spcPts val="17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(2)  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T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 </a:t>
              </a:r>
              <a:r>
                <a:rPr kumimoji="1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int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   	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type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= 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int</a:t>
              </a:r>
              <a:endPara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ts val="17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(3)  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T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 real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	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type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=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real</a:t>
              </a:r>
            </a:p>
            <a:p>
              <a:pPr marL="0" marR="0" lvl="0" indent="0" algn="l" defTabSz="914400" rtl="0" eaLnBrk="1" fontAlgn="base" latinLnBrk="0" hangingPunct="1">
                <a:lnSpc>
                  <a:spcPts val="17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(4)  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L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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L</a:t>
              </a:r>
              <a:r>
                <a:rPr kumimoji="1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, id   	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L</a:t>
              </a:r>
              <a:r>
                <a:rPr kumimoji="1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in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L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in </a:t>
              </a:r>
            </a:p>
            <a:p>
              <a:pPr marL="0" marR="0" lvl="0" indent="0" algn="l" defTabSz="914400" rtl="0" eaLnBrk="1" fontAlgn="base" latinLnBrk="0" hangingPunct="1">
                <a:lnSpc>
                  <a:spcPts val="17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		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addtype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kumimoji="1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id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lexeme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,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L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in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</a:p>
            <a:p>
              <a:pPr marL="0" marR="0" lvl="0" indent="0" algn="l" defTabSz="914400" rtl="0" eaLnBrk="1" fontAlgn="base" latinLnBrk="0" hangingPunct="1">
                <a:lnSpc>
                  <a:spcPts val="17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(5)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L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id       	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addtype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kumimoji="1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id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lexeme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,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L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in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</a:p>
          </p:txBody>
        </p:sp>
        <p:sp>
          <p:nvSpPr>
            <p:cNvPr id="53274" name="Line 7"/>
            <p:cNvSpPr/>
            <p:nvPr/>
          </p:nvSpPr>
          <p:spPr>
            <a:xfrm>
              <a:off x="303213" y="1522413"/>
              <a:ext cx="4581525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cxnSp>
          <p:nvCxnSpPr>
            <p:cNvPr id="53275" name="直接连接符 4"/>
            <p:cNvCxnSpPr/>
            <p:nvPr/>
          </p:nvCxnSpPr>
          <p:spPr>
            <a:xfrm>
              <a:off x="2086261" y="1211262"/>
              <a:ext cx="0" cy="25248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</p:grpSp>
      <p:sp>
        <p:nvSpPr>
          <p:cNvPr id="53271" name="矩形 139"/>
          <p:cNvSpPr/>
          <p:nvPr/>
        </p:nvSpPr>
        <p:spPr>
          <a:xfrm>
            <a:off x="323850" y="3681413"/>
            <a:ext cx="2378075" cy="7699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None/>
            </a:pPr>
            <a:r>
              <a:rPr lang="zh-CN" altLang="en-US" sz="2000" dirty="0">
                <a:solidFill>
                  <a:srgbClr val="2D83F4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输入</a:t>
            </a:r>
            <a:r>
              <a:rPr lang="zh-CN" altLang="en-US" sz="2000" dirty="0">
                <a:solidFill>
                  <a:srgbClr val="2D83F4"/>
                </a:solidFill>
                <a:latin typeface="Times New Roman" panose="02020603050405020304" pitchFamily="18" charset="0"/>
              </a:rPr>
              <a:t>：</a:t>
            </a:r>
          </a:p>
          <a:p>
            <a:pPr eaLnBrk="1" hangingPunct="1">
              <a:spcBef>
                <a:spcPct val="2000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楷体_GB2312"/>
              </a:rPr>
              <a:t>real</a:t>
            </a:r>
            <a:r>
              <a:rPr lang="en-US" altLang="zh-CN" sz="2000" i="1" dirty="0">
                <a:latin typeface="Times New Roman" panose="02020603050405020304" pitchFamily="18" charset="0"/>
                <a:ea typeface="楷体_GB2312"/>
              </a:rPr>
              <a:t> a</a:t>
            </a:r>
            <a:r>
              <a:rPr lang="en-US" altLang="zh-CN" sz="2000" i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,</a:t>
            </a:r>
            <a:r>
              <a:rPr lang="en-US" altLang="zh-CN" sz="2000" i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 b </a:t>
            </a:r>
            <a:r>
              <a:rPr lang="en-US" altLang="zh-CN" sz="2000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,</a:t>
            </a:r>
            <a:r>
              <a:rPr lang="en-US" altLang="zh-CN" sz="2000" i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 c</a:t>
            </a:r>
            <a:endParaRPr lang="en-US" altLang="zh-CN" sz="2000" i="1" baseline="-25000" dirty="0">
              <a:latin typeface="Times New Roman" panose="02020603050405020304" pitchFamily="18" charset="0"/>
              <a:ea typeface="楷体_GB2312"/>
              <a:sym typeface="Symbol" panose="05050102010706020507" pitchFamily="18" charset="2"/>
            </a:endParaRPr>
          </a:p>
        </p:txBody>
      </p:sp>
      <p:cxnSp>
        <p:nvCxnSpPr>
          <p:cNvPr id="141" name="直接连接符 140"/>
          <p:cNvCxnSpPr/>
          <p:nvPr/>
        </p:nvCxnSpPr>
        <p:spPr>
          <a:xfrm>
            <a:off x="830263" y="1143000"/>
            <a:ext cx="0" cy="25098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123440" y="3797300"/>
            <a:ext cx="6661150" cy="1383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i="0" dirty="0"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</a:rPr>
              <a:t>如果一条语义规则的作用和求值无关，如打印一个值或向符号表中添加记录</a:t>
            </a:r>
            <a:r>
              <a:rPr lang="zh-CN" altLang="en-US" sz="1400" i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，则成为生成式左侧非终结符的</a:t>
            </a:r>
            <a:r>
              <a:rPr lang="zh-CN" altLang="en-US" sz="1400" i="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虚拟综合属性。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i="0" dirty="0">
                <a:latin typeface="Times New Roman" panose="02020603050405020304" pitchFamily="18" charset="0"/>
                <a:ea typeface="华文楷体" panose="02010600040101010101" pitchFamily="2" charset="-122"/>
              </a:rPr>
              <a:t>常见的虚拟综合属性：</a:t>
            </a:r>
          </a:p>
          <a:p>
            <a:pPr marL="0" indent="0"/>
            <a:r>
              <a:rPr lang="en-US" altLang="zh-CN" sz="1400" i="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</a:rPr>
              <a:t>       </a:t>
            </a:r>
            <a:r>
              <a:rPr lang="en-US" altLang="zh-CN" sz="1400" i="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lang="zh-CN" altLang="en-US" sz="1400" i="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</a:rPr>
              <a:t>）</a:t>
            </a:r>
            <a:r>
              <a:rPr lang="zh-CN" altLang="en-US" sz="1400" i="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</a:rPr>
              <a:t>print(any)</a:t>
            </a:r>
            <a:r>
              <a:rPr lang="en-US" altLang="zh-CN" sz="1400" i="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zh-CN" altLang="en-US" sz="1400" i="0" dirty="0"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</a:rPr>
              <a:t>打印any；</a:t>
            </a:r>
          </a:p>
          <a:p>
            <a:pPr marL="0" indent="0"/>
            <a:r>
              <a:rPr lang="en-US" altLang="zh-CN" sz="1400" i="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</a:rPr>
              <a:t>       </a:t>
            </a:r>
            <a:r>
              <a:rPr lang="en-US" altLang="zh-CN" sz="1400" i="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zh-CN" altLang="en-US" sz="1400" i="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</a:rPr>
              <a:t>）</a:t>
            </a:r>
            <a:r>
              <a:rPr lang="zh-CN" altLang="en-US" sz="1400" i="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</a:rPr>
              <a:t>addtype(id.entry, type)</a:t>
            </a:r>
            <a:r>
              <a:rPr lang="en-US" altLang="zh-CN" sz="1400" i="0" dirty="0"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zh-CN" altLang="en-US" sz="1400" i="0" dirty="0"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</a:rPr>
              <a:t>在符号表中为符号id添加符号类型（变量类型）type</a:t>
            </a:r>
          </a:p>
          <a:p>
            <a:pPr marL="0" indent="0"/>
            <a:r>
              <a:rPr lang="en-US" altLang="zh-CN" sz="1400" i="0" dirty="0"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</a:rPr>
              <a:t>       </a:t>
            </a:r>
            <a:r>
              <a:rPr lang="zh-CN" altLang="en-US" sz="1400" i="0" dirty="0"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</a:rPr>
              <a:t>id.entry指明符号id在符号表中的入口</a:t>
            </a:r>
          </a:p>
        </p:txBody>
      </p:sp>
      <p:sp>
        <p:nvSpPr>
          <p:cNvPr id="2" name="矩形 1"/>
          <p:cNvSpPr/>
          <p:nvPr/>
        </p:nvSpPr>
        <p:spPr>
          <a:xfrm>
            <a:off x="7308215" y="1351915"/>
            <a:ext cx="169545" cy="173990"/>
          </a:xfrm>
          <a:prstGeom prst="rect">
            <a:avLst/>
          </a:prstGeom>
          <a:noFill/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443980" y="2038985"/>
            <a:ext cx="169545" cy="173990"/>
          </a:xfrm>
          <a:prstGeom prst="rect">
            <a:avLst/>
          </a:prstGeom>
          <a:noFill/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683885" y="2788920"/>
            <a:ext cx="169545" cy="173990"/>
          </a:xfrm>
          <a:prstGeom prst="rect">
            <a:avLst/>
          </a:prstGeom>
          <a:noFill/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内容占位符 2"/>
          <p:cNvSpPr>
            <a:spLocks noGrp="1"/>
          </p:cNvSpPr>
          <p:nvPr>
            <p:ph idx="1"/>
          </p:nvPr>
        </p:nvSpPr>
        <p:spPr>
          <a:xfrm>
            <a:off x="430213" y="857250"/>
            <a:ext cx="8462962" cy="3225800"/>
          </a:xfrm>
        </p:spPr>
        <p:txBody>
          <a:bodyPr vert="horz" wrap="square" lIns="68580" tIns="34290" rIns="68580" bIns="34290" anchor="t" anchorCtr="0"/>
          <a:lstStyle/>
          <a:p>
            <a:pPr>
              <a:lnSpc>
                <a:spcPts val="45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3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可行的求值顺序是满足下列条件的结点序列</a:t>
            </a:r>
            <a:r>
              <a:rPr lang="en-US" altLang="zh-CN" sz="3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N</a:t>
            </a:r>
            <a:r>
              <a:rPr lang="en-US" altLang="zh-CN" sz="3000" b="1" i="1" kern="12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1</a:t>
            </a:r>
            <a:r>
              <a:rPr lang="en-US" altLang="zh-CN" sz="3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, </a:t>
            </a:r>
            <a:r>
              <a:rPr lang="en-US" altLang="zh-CN" sz="3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N</a:t>
            </a:r>
            <a:r>
              <a:rPr lang="en-US" altLang="zh-CN" sz="3000" b="1" i="1" kern="12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2</a:t>
            </a:r>
            <a:r>
              <a:rPr lang="en-US" altLang="zh-CN" sz="3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, … , </a:t>
            </a:r>
            <a:r>
              <a:rPr lang="en-US" altLang="zh-CN" sz="3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N</a:t>
            </a:r>
            <a:r>
              <a:rPr lang="en-US" altLang="zh-CN" sz="3000" b="1" i="1" kern="12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k</a:t>
            </a:r>
            <a:r>
              <a:rPr lang="en-US" altLang="zh-CN" sz="3000" b="1" kern="12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</a:t>
            </a:r>
            <a:r>
              <a:rPr lang="zh-CN" altLang="en-US" sz="3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：如果依赖图中有一条从结点</a:t>
            </a:r>
            <a:r>
              <a:rPr lang="en-US" altLang="zh-CN" sz="3000" b="1" i="1" kern="12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N</a:t>
            </a:r>
            <a:r>
              <a:rPr lang="en-US" altLang="zh-CN" sz="3000" b="1" i="1" kern="1200" baseline="-250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楷体_GB2312"/>
                <a:cs typeface="+mn-cs"/>
              </a:rPr>
              <a:t>i</a:t>
            </a:r>
            <a:r>
              <a:rPr lang="zh-CN" altLang="en-US" sz="3000" b="1" kern="12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到</a:t>
            </a:r>
            <a:r>
              <a:rPr lang="en-US" altLang="zh-CN" sz="3000" b="1" kern="12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lang="en-US" altLang="zh-CN" sz="3000" b="1" i="1" kern="12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N</a:t>
            </a:r>
            <a:r>
              <a:rPr lang="en-US" altLang="zh-CN" sz="3000" b="1" i="1" kern="1200" baseline="-250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楷体_GB2312"/>
                <a:cs typeface="+mn-cs"/>
              </a:rPr>
              <a:t>j</a:t>
            </a:r>
            <a:r>
              <a:rPr lang="en-US" altLang="zh-CN" sz="3000" b="1" kern="12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lang="zh-CN" altLang="en-US" sz="3000" b="1" kern="12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的边</a:t>
            </a:r>
            <a:r>
              <a:rPr lang="en-US" altLang="zh-CN" sz="3000" b="1" kern="12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(</a:t>
            </a:r>
            <a:r>
              <a:rPr lang="en-US" altLang="zh-CN" sz="3000" b="1" i="1" kern="12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楷体_GB2312"/>
                <a:cs typeface="+mn-cs"/>
              </a:rPr>
              <a:t>N</a:t>
            </a:r>
            <a:r>
              <a:rPr lang="en-US" altLang="zh-CN" sz="3000" b="1" i="1" kern="1200" baseline="-250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楷体_GB2312"/>
                <a:cs typeface="+mn-cs"/>
              </a:rPr>
              <a:t>i</a:t>
            </a:r>
            <a:r>
              <a:rPr lang="en-US" altLang="zh-CN" sz="3000" b="1" kern="12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楷体_GB2312"/>
                <a:cs typeface="+mn-cs"/>
              </a:rPr>
              <a:t>→</a:t>
            </a:r>
            <a:r>
              <a:rPr lang="en-US" altLang="zh-CN" sz="3000" b="1" i="1" kern="12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楷体_GB2312"/>
                <a:cs typeface="+mn-cs"/>
              </a:rPr>
              <a:t>N</a:t>
            </a:r>
            <a:r>
              <a:rPr lang="en-US" altLang="zh-CN" sz="3000" b="1" i="1" kern="1200" baseline="-250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楷体_GB2312"/>
                <a:cs typeface="+mn-cs"/>
              </a:rPr>
              <a:t>j</a:t>
            </a:r>
            <a:r>
              <a:rPr lang="en-US" altLang="zh-CN" sz="3000" b="1" kern="12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),</a:t>
            </a:r>
            <a:r>
              <a:rPr lang="en-US" altLang="zh-CN" sz="3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 </a:t>
            </a:r>
            <a:r>
              <a:rPr lang="zh-CN" altLang="en-US" sz="3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那么</a:t>
            </a:r>
            <a:r>
              <a:rPr lang="en-US" altLang="zh-CN" sz="3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i </a:t>
            </a:r>
            <a:r>
              <a:rPr lang="en-US" altLang="zh-CN" sz="3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&lt; </a:t>
            </a:r>
            <a:r>
              <a:rPr lang="en-US" altLang="zh-CN" sz="3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j</a:t>
            </a:r>
            <a:r>
              <a:rPr lang="zh-CN" altLang="en-US" sz="3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（即：在节点序列中，</a:t>
            </a:r>
            <a:r>
              <a:rPr lang="en-US" altLang="zh-CN" sz="3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N</a:t>
            </a:r>
            <a:r>
              <a:rPr lang="en-US" altLang="zh-CN" sz="3000" b="1" i="1" kern="12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i</a:t>
            </a:r>
            <a:r>
              <a:rPr lang="zh-CN" altLang="en-US" sz="3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排在</a:t>
            </a:r>
            <a:r>
              <a:rPr lang="en-US" altLang="zh-CN" sz="3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N</a:t>
            </a:r>
            <a:r>
              <a:rPr lang="en-US" altLang="zh-CN" sz="3000" b="1" i="1" kern="12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j </a:t>
            </a:r>
            <a:r>
              <a:rPr lang="zh-CN" altLang="en-US" sz="3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前面）</a:t>
            </a:r>
            <a:endParaRPr lang="en-US" altLang="zh-CN" sz="3000" b="1" kern="120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>
              <a:lnSpc>
                <a:spcPts val="45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3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这样的排序将一个有向图变成了一个线性排序，这个排序称为这个图的</a:t>
            </a:r>
            <a:r>
              <a:rPr lang="zh-CN" altLang="en-US" sz="3000" b="1" kern="12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拓扑排序</a:t>
            </a:r>
            <a:r>
              <a:rPr lang="en-US" altLang="zh-CN" sz="2500" b="1" kern="12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(</a:t>
            </a:r>
            <a:r>
              <a:rPr lang="en-US" altLang="zh-CN" sz="2500" b="1" i="1" kern="12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topological sort</a:t>
            </a:r>
            <a:r>
              <a:rPr lang="en-US" altLang="zh-CN" sz="2500" b="1" kern="12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)</a:t>
            </a:r>
          </a:p>
        </p:txBody>
      </p:sp>
      <p:sp>
        <p:nvSpPr>
          <p:cNvPr id="25602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属性值的计算顺序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7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7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7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3" name="Rectangle 45"/>
          <p:cNvSpPr>
            <a:spLocks noChangeArrowheads="1"/>
          </p:cNvSpPr>
          <p:nvPr/>
        </p:nvSpPr>
        <p:spPr bwMode="auto">
          <a:xfrm>
            <a:off x="5500688" y="3771900"/>
            <a:ext cx="2928938" cy="13001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 lIns="68580" tIns="34290" rIns="68580" bIns="3429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拓扑排序：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1, 2, 3, 4, 5, 6, 7, 8, 9, 10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4, 3, 2, 1, 5, 7, 6, 9, 8, 10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5572125" y="4641850"/>
            <a:ext cx="901700" cy="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7" name="直接连接符 46"/>
          <p:cNvCxnSpPr/>
          <p:nvPr/>
        </p:nvCxnSpPr>
        <p:spPr>
          <a:xfrm>
            <a:off x="6786563" y="4641850"/>
            <a:ext cx="428625" cy="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0" name="直接连接符 49"/>
          <p:cNvCxnSpPr/>
          <p:nvPr/>
        </p:nvCxnSpPr>
        <p:spPr>
          <a:xfrm>
            <a:off x="7339013" y="4641850"/>
            <a:ext cx="395287" cy="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57350" name="组合 5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2" name="五边形 61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57399" name="五边形 62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9525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b="0" dirty="0">
                <a:solidFill>
                  <a:srgbClr val="FFFFFF"/>
                </a:solidFill>
                <a:latin typeface="Calibri" panose="020F0502020204030204" pitchFamily="34" charset="0"/>
                <a:ea typeface="楷体_GB2312"/>
              </a:endParaRPr>
            </a:p>
          </p:txBody>
        </p:sp>
      </p:grpSp>
      <p:sp>
        <p:nvSpPr>
          <p:cNvPr id="57" name="Rectangle 54"/>
          <p:cNvSpPr>
            <a:spLocks noChangeArrowheads="1"/>
          </p:cNvSpPr>
          <p:nvPr/>
        </p:nvSpPr>
        <p:spPr bwMode="auto">
          <a:xfrm>
            <a:off x="5446713" y="928688"/>
            <a:ext cx="911225" cy="685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tailEnd type="none" w="lg" len="lg"/>
          </a:ln>
        </p:spPr>
        <p:txBody>
          <a:bodyPr lIns="67500" tIns="35100" rIns="67500" bIns="3510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type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</a:t>
            </a:r>
          </a:p>
        </p:txBody>
      </p:sp>
      <p:sp>
        <p:nvSpPr>
          <p:cNvPr id="57352" name="Rectangle 55"/>
          <p:cNvSpPr/>
          <p:nvPr/>
        </p:nvSpPr>
        <p:spPr>
          <a:xfrm>
            <a:off x="6143625" y="898525"/>
            <a:ext cx="1571625" cy="99536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lIns="67500" tIns="35100" rIns="67500" bIns="35100" anchor="ctr" anchorCtr="0">
            <a:spAutoFit/>
          </a:bodyPr>
          <a:lstStyle/>
          <a:p>
            <a:pPr eaLnBrk="1" hangingPunct="1"/>
            <a:r>
              <a:rPr lang="en-US" altLang="zh-CN" sz="2000" i="1" dirty="0">
                <a:solidFill>
                  <a:srgbClr val="2D83F4"/>
                </a:solidFill>
                <a:latin typeface="Times New Roman" panose="02020603050405020304" pitchFamily="18" charset="0"/>
              </a:rPr>
              <a:t>       in </a:t>
            </a: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sz="2000" i="1" dirty="0">
                <a:solidFill>
                  <a:srgbClr val="2D83F4"/>
                </a:solidFill>
                <a:latin typeface="Times New Roman" panose="02020603050405020304" pitchFamily="18" charset="0"/>
              </a:rPr>
              <a:t>      </a:t>
            </a: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6</a:t>
            </a:r>
          </a:p>
          <a:p>
            <a:pPr eaLnBrk="1" hangingPunct="1"/>
            <a:r>
              <a:rPr lang="en-US" altLang="zh-CN" sz="2000" i="1" dirty="0">
                <a:solidFill>
                  <a:srgbClr val="2D83F4"/>
                </a:solidFill>
                <a:latin typeface="Times New Roman" panose="02020603050405020304" pitchFamily="18" charset="0"/>
              </a:rPr>
              <a:t>     </a:t>
            </a:r>
          </a:p>
          <a:p>
            <a:pPr eaLnBrk="1" hangingPunct="1"/>
            <a:endParaRPr lang="en-US" altLang="zh-CN" sz="2000" i="1" dirty="0">
              <a:solidFill>
                <a:srgbClr val="2D83F4"/>
              </a:solidFill>
              <a:latin typeface="Times New Roman" panose="02020603050405020304" pitchFamily="18" charset="0"/>
            </a:endParaRPr>
          </a:p>
        </p:txBody>
      </p:sp>
      <p:sp>
        <p:nvSpPr>
          <p:cNvPr id="57353" name="Rectangle 56"/>
          <p:cNvSpPr/>
          <p:nvPr/>
        </p:nvSpPr>
        <p:spPr>
          <a:xfrm>
            <a:off x="5857875" y="1571625"/>
            <a:ext cx="1428750" cy="6858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lIns="67500" tIns="35100" rIns="67500" bIns="35100" anchor="ctr" anchorCtr="0">
            <a:spAutoFit/>
          </a:bodyPr>
          <a:lstStyle/>
          <a:p>
            <a:pPr eaLnBrk="1" hangingPunct="1"/>
            <a:r>
              <a:rPr lang="en-US" altLang="zh-CN" sz="2000" i="1" dirty="0">
                <a:solidFill>
                  <a:srgbClr val="2D83F4"/>
                </a:solidFill>
                <a:latin typeface="Times New Roman" panose="02020603050405020304" pitchFamily="18" charset="0"/>
              </a:rPr>
              <a:t>in</a:t>
            </a: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7</a:t>
            </a:r>
            <a:r>
              <a:rPr lang="en-US" altLang="zh-CN" sz="2000" i="1" dirty="0">
                <a:solidFill>
                  <a:srgbClr val="2D83F4"/>
                </a:solidFill>
                <a:latin typeface="Times New Roman" panose="02020603050405020304" pitchFamily="18" charset="0"/>
              </a:rPr>
              <a:t>       </a:t>
            </a: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8</a:t>
            </a:r>
          </a:p>
          <a:p>
            <a:pPr eaLnBrk="1" hangingPunct="1"/>
            <a:endParaRPr lang="en-US" altLang="zh-CN" sz="2000" i="1" dirty="0">
              <a:solidFill>
                <a:srgbClr val="2D83F4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" name="Rectangle 57"/>
          <p:cNvSpPr>
            <a:spLocks noChangeArrowheads="1"/>
          </p:cNvSpPr>
          <p:nvPr/>
        </p:nvSpPr>
        <p:spPr bwMode="auto">
          <a:xfrm>
            <a:off x="5000625" y="2335213"/>
            <a:ext cx="1357313" cy="6873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tailEnd type="none" w="lg" len="lg"/>
          </a:ln>
        </p:spPr>
        <p:txBody>
          <a:bodyPr lIns="67500" tIns="35100" rIns="67500" bIns="3510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        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9</a:t>
            </a:r>
          </a:p>
        </p:txBody>
      </p:sp>
      <p:sp>
        <p:nvSpPr>
          <p:cNvPr id="61" name="Freeform 60"/>
          <p:cNvSpPr/>
          <p:nvPr/>
        </p:nvSpPr>
        <p:spPr bwMode="auto">
          <a:xfrm>
            <a:off x="5680075" y="844550"/>
            <a:ext cx="1133475" cy="106363"/>
          </a:xfrm>
          <a:custGeom>
            <a:avLst/>
            <a:gdLst>
              <a:gd name="T0" fmla="*/ 0 w 453"/>
              <a:gd name="T1" fmla="*/ 2147483646 h 136"/>
              <a:gd name="T2" fmla="*/ 2147483646 w 453"/>
              <a:gd name="T3" fmla="*/ 0 h 136"/>
              <a:gd name="T4" fmla="*/ 2147483646 w 453"/>
              <a:gd name="T5" fmla="*/ 2147483646 h 136"/>
              <a:gd name="T6" fmla="*/ 0 60000 65536"/>
              <a:gd name="T7" fmla="*/ 0 60000 65536"/>
              <a:gd name="T8" fmla="*/ 0 60000 65536"/>
              <a:gd name="T9" fmla="*/ 0 w 453"/>
              <a:gd name="T10" fmla="*/ 0 h 136"/>
              <a:gd name="T11" fmla="*/ 453 w 453"/>
              <a:gd name="T12" fmla="*/ 136 h 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53" h="136">
                <a:moveTo>
                  <a:pt x="0" y="136"/>
                </a:moveTo>
                <a:cubicBezTo>
                  <a:pt x="53" y="68"/>
                  <a:pt x="106" y="0"/>
                  <a:pt x="181" y="0"/>
                </a:cubicBezTo>
                <a:cubicBezTo>
                  <a:pt x="256" y="0"/>
                  <a:pt x="354" y="68"/>
                  <a:pt x="453" y="136"/>
                </a:cubicBezTo>
              </a:path>
            </a:pathLst>
          </a:cu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stealth" w="med" len="med"/>
          </a:ln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" name="Line 61"/>
          <p:cNvSpPr>
            <a:spLocks noChangeShapeType="1"/>
          </p:cNvSpPr>
          <p:nvPr/>
        </p:nvSpPr>
        <p:spPr bwMode="auto">
          <a:xfrm flipH="1">
            <a:off x="6040438" y="1249363"/>
            <a:ext cx="914400" cy="396875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" name="Freeform 62"/>
          <p:cNvSpPr/>
          <p:nvPr/>
        </p:nvSpPr>
        <p:spPr bwMode="auto">
          <a:xfrm>
            <a:off x="6989763" y="1169988"/>
            <a:ext cx="323850" cy="115888"/>
          </a:xfrm>
          <a:custGeom>
            <a:avLst/>
            <a:gdLst>
              <a:gd name="T0" fmla="*/ 0 w 273"/>
              <a:gd name="T1" fmla="*/ 2147483646 h 97"/>
              <a:gd name="T2" fmla="*/ 2147483646 w 273"/>
              <a:gd name="T3" fmla="*/ 2147483646 h 97"/>
              <a:gd name="T4" fmla="*/ 2147483646 w 273"/>
              <a:gd name="T5" fmla="*/ 0 h 97"/>
              <a:gd name="T6" fmla="*/ 0 60000 65536"/>
              <a:gd name="T7" fmla="*/ 0 60000 65536"/>
              <a:gd name="T8" fmla="*/ 0 60000 65536"/>
              <a:gd name="T9" fmla="*/ 0 w 273"/>
              <a:gd name="T10" fmla="*/ 0 h 97"/>
              <a:gd name="T11" fmla="*/ 273 w 273"/>
              <a:gd name="T12" fmla="*/ 97 h 9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97">
                <a:moveTo>
                  <a:pt x="0" y="45"/>
                </a:moveTo>
                <a:cubicBezTo>
                  <a:pt x="46" y="71"/>
                  <a:pt x="92" y="97"/>
                  <a:pt x="137" y="90"/>
                </a:cubicBezTo>
                <a:cubicBezTo>
                  <a:pt x="182" y="83"/>
                  <a:pt x="227" y="41"/>
                  <a:pt x="273" y="0"/>
                </a:cubicBezTo>
              </a:path>
            </a:pathLst>
          </a:cu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stealth" w="med" len="med"/>
          </a:ln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5" name="Line 63"/>
          <p:cNvSpPr>
            <a:spLocks noChangeShapeType="1"/>
          </p:cNvSpPr>
          <p:nvPr/>
        </p:nvSpPr>
        <p:spPr bwMode="auto">
          <a:xfrm flipH="1" flipV="1">
            <a:off x="7358063" y="1223963"/>
            <a:ext cx="1003300" cy="4191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6" name="Rectangle 65"/>
          <p:cNvSpPr>
            <a:spLocks noChangeArrowheads="1"/>
          </p:cNvSpPr>
          <p:nvPr/>
        </p:nvSpPr>
        <p:spPr bwMode="auto">
          <a:xfrm>
            <a:off x="8072438" y="1620838"/>
            <a:ext cx="1000125" cy="687388"/>
          </a:xfrm>
          <a:prstGeom prst="rect">
            <a:avLst/>
          </a:prstGeom>
          <a:noFill/>
          <a:ln w="9525">
            <a:noFill/>
            <a:miter lim="800000"/>
            <a:tailEnd type="none" w="lg" len="lg"/>
          </a:ln>
        </p:spPr>
        <p:txBody>
          <a:bodyPr lIns="67500" tIns="35100" rIns="67500" bIns="3510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lexeme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</a:p>
        </p:txBody>
      </p:sp>
      <p:sp>
        <p:nvSpPr>
          <p:cNvPr id="67" name="Line 66"/>
          <p:cNvSpPr>
            <a:spLocks noChangeShapeType="1"/>
          </p:cNvSpPr>
          <p:nvPr/>
        </p:nvSpPr>
        <p:spPr bwMode="auto">
          <a:xfrm flipH="1">
            <a:off x="5230813" y="1889125"/>
            <a:ext cx="830263" cy="414338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" name="Rectangle 69"/>
          <p:cNvSpPr>
            <a:spLocks noChangeArrowheads="1"/>
          </p:cNvSpPr>
          <p:nvPr/>
        </p:nvSpPr>
        <p:spPr bwMode="auto">
          <a:xfrm>
            <a:off x="7194550" y="2354263"/>
            <a:ext cx="1092200" cy="685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tailEnd type="none" w="lg" len="lg"/>
          </a:ln>
        </p:spPr>
        <p:txBody>
          <a:bodyPr lIns="67500" tIns="35100" rIns="67500" bIns="3510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lexeme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</a:t>
            </a:r>
          </a:p>
        </p:txBody>
      </p:sp>
      <p:sp>
        <p:nvSpPr>
          <p:cNvPr id="69" name="Line 67"/>
          <p:cNvSpPr>
            <a:spLocks noChangeShapeType="1"/>
          </p:cNvSpPr>
          <p:nvPr/>
        </p:nvSpPr>
        <p:spPr bwMode="auto">
          <a:xfrm flipH="1" flipV="1">
            <a:off x="6454775" y="1922463"/>
            <a:ext cx="955675" cy="41275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" name="Freeform 72"/>
          <p:cNvSpPr/>
          <p:nvPr/>
        </p:nvSpPr>
        <p:spPr bwMode="auto">
          <a:xfrm>
            <a:off x="6057900" y="1871663"/>
            <a:ext cx="325438" cy="115888"/>
          </a:xfrm>
          <a:custGeom>
            <a:avLst/>
            <a:gdLst>
              <a:gd name="T0" fmla="*/ 0 w 273"/>
              <a:gd name="T1" fmla="*/ 2147483646 h 97"/>
              <a:gd name="T2" fmla="*/ 2147483646 w 273"/>
              <a:gd name="T3" fmla="*/ 2147483646 h 97"/>
              <a:gd name="T4" fmla="*/ 2147483646 w 273"/>
              <a:gd name="T5" fmla="*/ 0 h 97"/>
              <a:gd name="T6" fmla="*/ 0 60000 65536"/>
              <a:gd name="T7" fmla="*/ 0 60000 65536"/>
              <a:gd name="T8" fmla="*/ 0 60000 65536"/>
              <a:gd name="T9" fmla="*/ 0 w 273"/>
              <a:gd name="T10" fmla="*/ 0 h 97"/>
              <a:gd name="T11" fmla="*/ 273 w 273"/>
              <a:gd name="T12" fmla="*/ 97 h 9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97">
                <a:moveTo>
                  <a:pt x="0" y="45"/>
                </a:moveTo>
                <a:cubicBezTo>
                  <a:pt x="46" y="71"/>
                  <a:pt x="92" y="97"/>
                  <a:pt x="137" y="90"/>
                </a:cubicBezTo>
                <a:cubicBezTo>
                  <a:pt x="182" y="83"/>
                  <a:pt x="227" y="41"/>
                  <a:pt x="273" y="0"/>
                </a:cubicBezTo>
              </a:path>
            </a:pathLst>
          </a:cu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stealth" w="med" len="med"/>
          </a:ln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" name="Freeform 82"/>
          <p:cNvSpPr/>
          <p:nvPr/>
        </p:nvSpPr>
        <p:spPr bwMode="auto">
          <a:xfrm>
            <a:off x="5338763" y="2659063"/>
            <a:ext cx="325438" cy="115888"/>
          </a:xfrm>
          <a:custGeom>
            <a:avLst/>
            <a:gdLst>
              <a:gd name="T0" fmla="*/ 0 w 273"/>
              <a:gd name="T1" fmla="*/ 2147483646 h 97"/>
              <a:gd name="T2" fmla="*/ 2147483646 w 273"/>
              <a:gd name="T3" fmla="*/ 2147483646 h 97"/>
              <a:gd name="T4" fmla="*/ 2147483646 w 273"/>
              <a:gd name="T5" fmla="*/ 0 h 97"/>
              <a:gd name="T6" fmla="*/ 0 60000 65536"/>
              <a:gd name="T7" fmla="*/ 0 60000 65536"/>
              <a:gd name="T8" fmla="*/ 0 60000 65536"/>
              <a:gd name="T9" fmla="*/ 0 w 273"/>
              <a:gd name="T10" fmla="*/ 0 h 97"/>
              <a:gd name="T11" fmla="*/ 273 w 273"/>
              <a:gd name="T12" fmla="*/ 97 h 9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97">
                <a:moveTo>
                  <a:pt x="0" y="45"/>
                </a:moveTo>
                <a:cubicBezTo>
                  <a:pt x="46" y="71"/>
                  <a:pt x="92" y="97"/>
                  <a:pt x="137" y="90"/>
                </a:cubicBezTo>
                <a:cubicBezTo>
                  <a:pt x="182" y="83"/>
                  <a:pt x="227" y="41"/>
                  <a:pt x="273" y="0"/>
                </a:cubicBezTo>
              </a:path>
            </a:pathLst>
          </a:cu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stealth" w="med" len="med"/>
          </a:ln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" name="Rectangle 83"/>
          <p:cNvSpPr>
            <a:spLocks noChangeArrowheads="1"/>
          </p:cNvSpPr>
          <p:nvPr/>
        </p:nvSpPr>
        <p:spPr bwMode="auto">
          <a:xfrm>
            <a:off x="5572125" y="3121025"/>
            <a:ext cx="1055688" cy="687388"/>
          </a:xfrm>
          <a:prstGeom prst="rect">
            <a:avLst/>
          </a:prstGeom>
          <a:noFill/>
          <a:ln w="9525">
            <a:noFill/>
            <a:miter lim="800000"/>
            <a:tailEnd type="none" w="lg" len="lg"/>
          </a:ln>
        </p:spPr>
        <p:txBody>
          <a:bodyPr lIns="67500" tIns="35100" rIns="67500" bIns="35100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lexeme               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73" name="Line 84"/>
          <p:cNvSpPr>
            <a:spLocks noChangeShapeType="1"/>
          </p:cNvSpPr>
          <p:nvPr/>
        </p:nvSpPr>
        <p:spPr bwMode="auto">
          <a:xfrm flipV="1">
            <a:off x="5770563" y="2736850"/>
            <a:ext cx="0" cy="32385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4" name="Line 42"/>
          <p:cNvSpPr>
            <a:spLocks noChangeShapeType="1"/>
          </p:cNvSpPr>
          <p:nvPr/>
        </p:nvSpPr>
        <p:spPr bwMode="auto">
          <a:xfrm flipV="1">
            <a:off x="5715000" y="1252538"/>
            <a:ext cx="0" cy="24765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 lIns="68580" tIns="34290" rIns="68580" bIns="3429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7368" name="组合 74"/>
          <p:cNvGrpSpPr/>
          <p:nvPr/>
        </p:nvGrpSpPr>
        <p:grpSpPr>
          <a:xfrm>
            <a:off x="5072063" y="142875"/>
            <a:ext cx="3201987" cy="3357563"/>
            <a:chOff x="5072066" y="857238"/>
            <a:chExt cx="3201591" cy="3357586"/>
          </a:xfrm>
        </p:grpSpPr>
        <p:sp>
          <p:nvSpPr>
            <p:cNvPr id="57377" name="Text Box 16"/>
            <p:cNvSpPr txBox="1"/>
            <p:nvPr/>
          </p:nvSpPr>
          <p:spPr>
            <a:xfrm>
              <a:off x="7029453" y="2352665"/>
              <a:ext cx="342900" cy="378662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lIns="67500" tIns="35100" rIns="67500" bIns="3510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000" dirty="0">
                  <a:latin typeface="Times New Roman" panose="02020603050405020304" pitchFamily="18" charset="0"/>
                </a:rPr>
                <a:t>，</a:t>
              </a:r>
            </a:p>
          </p:txBody>
        </p:sp>
        <p:sp>
          <p:nvSpPr>
            <p:cNvPr id="57378" name="Rectangle 20"/>
            <p:cNvSpPr/>
            <p:nvPr/>
          </p:nvSpPr>
          <p:spPr>
            <a:xfrm>
              <a:off x="7733113" y="2324090"/>
              <a:ext cx="540544" cy="3786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67500" tIns="35100" rIns="67500" bIns="35100" anchor="ctr" anchorCtr="0">
              <a:spAutoFit/>
            </a:bodyPr>
            <a:lstStyle/>
            <a:p>
              <a:pPr algn="ctr" eaLnBrk="1" hangingPunct="1"/>
              <a:r>
                <a:rPr lang="en-US" altLang="zh-CN" sz="2000" i="1" dirty="0">
                  <a:latin typeface="Times New Roman" panose="02020603050405020304" pitchFamily="18" charset="0"/>
                </a:rPr>
                <a:t>id</a:t>
              </a:r>
            </a:p>
          </p:txBody>
        </p:sp>
        <p:sp>
          <p:nvSpPr>
            <p:cNvPr id="57379" name="Rectangle 22"/>
            <p:cNvSpPr/>
            <p:nvPr/>
          </p:nvSpPr>
          <p:spPr>
            <a:xfrm>
              <a:off x="6921107" y="1621584"/>
              <a:ext cx="432197" cy="3786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67500" tIns="35100" rIns="67500" bIns="35100" anchor="ctr" anchorCtr="0">
              <a:spAutoFit/>
            </a:bodyPr>
            <a:lstStyle/>
            <a:p>
              <a:pPr algn="ctr" eaLnBrk="1" hangingPunct="1"/>
              <a:r>
                <a:rPr lang="en-US" altLang="zh-CN" sz="2000" i="1" dirty="0"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57380" name="Line 24"/>
            <p:cNvSpPr/>
            <p:nvPr/>
          </p:nvSpPr>
          <p:spPr>
            <a:xfrm>
              <a:off x="7153707" y="2013336"/>
              <a:ext cx="0" cy="34290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57381" name="Line 25"/>
            <p:cNvSpPr/>
            <p:nvPr/>
          </p:nvSpPr>
          <p:spPr>
            <a:xfrm>
              <a:off x="7137801" y="2013336"/>
              <a:ext cx="827484" cy="31075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57382" name="Rectangle 26"/>
            <p:cNvSpPr/>
            <p:nvPr/>
          </p:nvSpPr>
          <p:spPr>
            <a:xfrm>
              <a:off x="6000760" y="857238"/>
              <a:ext cx="432197" cy="3786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67500" tIns="35100" rIns="67500" bIns="35100" anchor="ctr" anchorCtr="0">
              <a:spAutoFit/>
            </a:bodyPr>
            <a:lstStyle/>
            <a:p>
              <a:pPr algn="ctr" eaLnBrk="1" hangingPunct="1"/>
              <a:r>
                <a:rPr lang="en-US" altLang="zh-CN" sz="2000" i="1" dirty="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57383" name="Text Box 28"/>
            <p:cNvSpPr txBox="1"/>
            <p:nvPr/>
          </p:nvSpPr>
          <p:spPr>
            <a:xfrm>
              <a:off x="5193510" y="1621621"/>
              <a:ext cx="342900" cy="3786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67500" tIns="35100" rIns="67500" bIns="3510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i="1" dirty="0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57384" name="Line 29"/>
            <p:cNvSpPr/>
            <p:nvPr/>
          </p:nvSpPr>
          <p:spPr>
            <a:xfrm flipH="1">
              <a:off x="5301856" y="1214428"/>
              <a:ext cx="913218" cy="434577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57385" name="Rectangle 43"/>
            <p:cNvSpPr/>
            <p:nvPr/>
          </p:nvSpPr>
          <p:spPr>
            <a:xfrm>
              <a:off x="6004326" y="2285998"/>
              <a:ext cx="853690" cy="3786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67500" tIns="35100" rIns="67500" bIns="35100" anchor="ctr" anchorCtr="0">
              <a:spAutoFit/>
            </a:bodyPr>
            <a:lstStyle/>
            <a:p>
              <a:pPr algn="ctr" eaLnBrk="1" hangingPunct="1"/>
              <a:r>
                <a:rPr lang="en-US" altLang="zh-CN" sz="2000" i="1" dirty="0">
                  <a:latin typeface="Times New Roman" panose="02020603050405020304" pitchFamily="18" charset="0"/>
                </a:rPr>
                <a:t>L </a:t>
              </a:r>
            </a:p>
          </p:txBody>
        </p:sp>
        <p:sp>
          <p:nvSpPr>
            <p:cNvPr id="57386" name="Text Box 46"/>
            <p:cNvSpPr txBox="1"/>
            <p:nvPr/>
          </p:nvSpPr>
          <p:spPr>
            <a:xfrm>
              <a:off x="6111482" y="3055133"/>
              <a:ext cx="342900" cy="378662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lIns="67500" tIns="35100" rIns="67500" bIns="3510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000" dirty="0">
                  <a:latin typeface="Times New Roman" panose="02020603050405020304" pitchFamily="18" charset="0"/>
                </a:rPr>
                <a:t>，</a:t>
              </a:r>
            </a:p>
          </p:txBody>
        </p:sp>
        <p:sp>
          <p:nvSpPr>
            <p:cNvPr id="57387" name="Rectangle 47"/>
            <p:cNvSpPr/>
            <p:nvPr/>
          </p:nvSpPr>
          <p:spPr>
            <a:xfrm>
              <a:off x="6816332" y="3051561"/>
              <a:ext cx="540544" cy="3786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67500" tIns="35100" rIns="67500" bIns="35100" anchor="ctr" anchorCtr="0">
              <a:spAutoFit/>
            </a:bodyPr>
            <a:lstStyle/>
            <a:p>
              <a:pPr algn="ctr" eaLnBrk="1" hangingPunct="1"/>
              <a:r>
                <a:rPr lang="en-US" altLang="zh-CN" sz="2000" i="1" dirty="0">
                  <a:latin typeface="Times New Roman" panose="02020603050405020304" pitchFamily="18" charset="0"/>
                </a:rPr>
                <a:t>id</a:t>
              </a:r>
            </a:p>
          </p:txBody>
        </p:sp>
        <p:sp>
          <p:nvSpPr>
            <p:cNvPr id="57388" name="Line 49"/>
            <p:cNvSpPr/>
            <p:nvPr/>
          </p:nvSpPr>
          <p:spPr>
            <a:xfrm>
              <a:off x="6219828" y="2689611"/>
              <a:ext cx="0" cy="34290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57389" name="Line 50"/>
            <p:cNvSpPr/>
            <p:nvPr/>
          </p:nvSpPr>
          <p:spPr>
            <a:xfrm>
              <a:off x="6219828" y="2689611"/>
              <a:ext cx="809625" cy="34290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57390" name="Rectangle 51"/>
            <p:cNvSpPr/>
            <p:nvPr/>
          </p:nvSpPr>
          <p:spPr>
            <a:xfrm>
              <a:off x="5230420" y="3057515"/>
              <a:ext cx="540544" cy="3786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67500" tIns="35100" rIns="67500" bIns="35100" anchor="ctr" anchorCtr="0">
              <a:spAutoFit/>
            </a:bodyPr>
            <a:lstStyle/>
            <a:p>
              <a:pPr algn="ctr" eaLnBrk="1" hangingPunct="1"/>
              <a:r>
                <a:rPr lang="en-US" altLang="zh-CN" sz="2000" i="1" dirty="0">
                  <a:latin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57391" name="Text Box 52"/>
            <p:cNvSpPr txBox="1"/>
            <p:nvPr/>
          </p:nvSpPr>
          <p:spPr>
            <a:xfrm>
              <a:off x="5338766" y="3836162"/>
              <a:ext cx="504825" cy="3786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67500" tIns="35100" rIns="67500" bIns="3510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i="1" dirty="0">
                  <a:latin typeface="Times New Roman" panose="02020603050405020304" pitchFamily="18" charset="0"/>
                </a:rPr>
                <a:t>id</a:t>
              </a:r>
            </a:p>
          </p:txBody>
        </p:sp>
        <p:sp>
          <p:nvSpPr>
            <p:cNvPr id="57392" name="Line 53"/>
            <p:cNvSpPr/>
            <p:nvPr/>
          </p:nvSpPr>
          <p:spPr>
            <a:xfrm>
              <a:off x="5500691" y="3514734"/>
              <a:ext cx="0" cy="34290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57393" name="Line 23"/>
            <p:cNvSpPr/>
            <p:nvPr/>
          </p:nvSpPr>
          <p:spPr>
            <a:xfrm flipH="1">
              <a:off x="6382945" y="2013336"/>
              <a:ext cx="788194" cy="33932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57394" name="Line 48"/>
            <p:cNvSpPr/>
            <p:nvPr/>
          </p:nvSpPr>
          <p:spPr>
            <a:xfrm flipH="1">
              <a:off x="5479259" y="2689611"/>
              <a:ext cx="719138" cy="36790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57395" name="Text Box 70"/>
            <p:cNvSpPr txBox="1"/>
            <p:nvPr/>
          </p:nvSpPr>
          <p:spPr>
            <a:xfrm>
              <a:off x="5072066" y="2193088"/>
              <a:ext cx="611981" cy="37866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67500" tIns="35100" rIns="67500" bIns="3510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i="1" dirty="0">
                  <a:latin typeface="Times New Roman" panose="02020603050405020304" pitchFamily="18" charset="0"/>
                </a:rPr>
                <a:t>real</a:t>
              </a:r>
            </a:p>
          </p:txBody>
        </p:sp>
        <p:sp>
          <p:nvSpPr>
            <p:cNvPr id="57396" name="Line 71"/>
            <p:cNvSpPr/>
            <p:nvPr/>
          </p:nvSpPr>
          <p:spPr>
            <a:xfrm>
              <a:off x="5335195" y="2000246"/>
              <a:ext cx="1190" cy="24765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sp>
          <p:nvSpPr>
            <p:cNvPr id="57397" name="Line 27"/>
            <p:cNvSpPr/>
            <p:nvPr/>
          </p:nvSpPr>
          <p:spPr>
            <a:xfrm flipH="1" flipV="1">
              <a:off x="6215074" y="1214427"/>
              <a:ext cx="871530" cy="434577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</p:grpSp>
      <p:sp>
        <p:nvSpPr>
          <p:cNvPr id="101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endParaRPr kumimoji="0" lang="zh-CN" altLang="en-US" sz="30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7370" name="Text Box 45"/>
          <p:cNvSpPr txBox="1"/>
          <p:nvPr/>
        </p:nvSpPr>
        <p:spPr>
          <a:xfrm>
            <a:off x="338138" y="987425"/>
            <a:ext cx="1268412" cy="379413"/>
          </a:xfrm>
          <a:prstGeom prst="rect">
            <a:avLst/>
          </a:prstGeom>
          <a:noFill/>
          <a:ln w="9525">
            <a:noFill/>
          </a:ln>
        </p:spPr>
        <p:txBody>
          <a:bodyPr lIns="67500" tIns="35100" rIns="67500" bIns="35100"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en-US" altLang="zh-CN" sz="2000" i="1" dirty="0">
                <a:solidFill>
                  <a:srgbClr val="2D83F4"/>
                </a:solidFill>
                <a:latin typeface="Times New Roman" panose="02020603050405020304" pitchFamily="18" charset="0"/>
              </a:rPr>
              <a:t>SDD</a:t>
            </a:r>
            <a:r>
              <a:rPr lang="zh-CN" altLang="en-US" sz="2000" dirty="0">
                <a:solidFill>
                  <a:srgbClr val="2D83F4"/>
                </a:solidFill>
                <a:latin typeface="Times New Roman" panose="02020603050405020304" pitchFamily="18" charset="0"/>
              </a:rPr>
              <a:t>：</a:t>
            </a:r>
          </a:p>
        </p:txBody>
      </p:sp>
      <p:grpSp>
        <p:nvGrpSpPr>
          <p:cNvPr id="57371" name="组合 54"/>
          <p:cNvGrpSpPr/>
          <p:nvPr/>
        </p:nvGrpSpPr>
        <p:grpSpPr>
          <a:xfrm>
            <a:off x="407988" y="1470025"/>
            <a:ext cx="4573587" cy="2524125"/>
            <a:chOff x="285750" y="1211262"/>
            <a:chExt cx="4598988" cy="2524892"/>
          </a:xfrm>
        </p:grpSpPr>
        <p:sp>
          <p:nvSpPr>
            <p:cNvPr id="56" name="Rectangle 6"/>
            <p:cNvSpPr>
              <a:spLocks noChangeArrowheads="1"/>
            </p:cNvSpPr>
            <p:nvPr/>
          </p:nvSpPr>
          <p:spPr bwMode="auto">
            <a:xfrm>
              <a:off x="285750" y="1211262"/>
              <a:ext cx="4598988" cy="252489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tailEnd type="none" w="lg" len="lg"/>
            </a:ln>
          </p:spPr>
          <p:txBody>
            <a:bodyPr lIns="67500" tIns="35100" rIns="67500" bIns="3510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ts val="17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                </a:t>
              </a: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产生式         语义规则</a:t>
              </a:r>
            </a:p>
            <a:p>
              <a:pPr marL="0" marR="0" lvl="0" indent="0" algn="l" defTabSz="914400" rtl="0" eaLnBrk="1" fontAlgn="base" latinLnBrk="0" hangingPunct="1">
                <a:lnSpc>
                  <a:spcPts val="17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(1)</a:t>
              </a: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 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D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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 L	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L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in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=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type</a:t>
              </a:r>
            </a:p>
            <a:p>
              <a:pPr marL="0" marR="0" lvl="0" indent="0" algn="l" defTabSz="914400" rtl="0" eaLnBrk="1" fontAlgn="base" latinLnBrk="0" hangingPunct="1">
                <a:lnSpc>
                  <a:spcPts val="17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(2)  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T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 </a:t>
              </a:r>
              <a:r>
                <a:rPr kumimoji="1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int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   	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type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= 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int</a:t>
              </a:r>
              <a:endPara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ts val="17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(3)  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T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 real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	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type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=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real</a:t>
              </a:r>
            </a:p>
            <a:p>
              <a:pPr marL="0" marR="0" lvl="0" indent="0" algn="l" defTabSz="914400" rtl="0" eaLnBrk="1" fontAlgn="base" latinLnBrk="0" hangingPunct="1">
                <a:lnSpc>
                  <a:spcPts val="17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(4)  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L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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L</a:t>
              </a:r>
              <a:r>
                <a:rPr kumimoji="1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, id   	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L</a:t>
              </a:r>
              <a:r>
                <a:rPr kumimoji="1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in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L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in </a:t>
              </a:r>
            </a:p>
            <a:p>
              <a:pPr marL="0" marR="0" lvl="0" indent="0" algn="l" defTabSz="914400" rtl="0" eaLnBrk="1" fontAlgn="base" latinLnBrk="0" hangingPunct="1">
                <a:lnSpc>
                  <a:spcPts val="17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		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addtype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kumimoji="1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id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lexeme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,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L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in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</a:p>
            <a:p>
              <a:pPr marL="0" marR="0" lvl="0" indent="0" algn="l" defTabSz="914400" rtl="0" eaLnBrk="1" fontAlgn="base" latinLnBrk="0" hangingPunct="1">
                <a:lnSpc>
                  <a:spcPts val="17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(5)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L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id       	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addtype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kumimoji="1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id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lexeme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,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L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in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</a:p>
          </p:txBody>
        </p:sp>
        <p:sp>
          <p:nvSpPr>
            <p:cNvPr id="57375" name="Line 7"/>
            <p:cNvSpPr/>
            <p:nvPr/>
          </p:nvSpPr>
          <p:spPr>
            <a:xfrm>
              <a:off x="303213" y="1522413"/>
              <a:ext cx="4581525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cxnSp>
          <p:nvCxnSpPr>
            <p:cNvPr id="57376" name="直接连接符 4"/>
            <p:cNvCxnSpPr/>
            <p:nvPr/>
          </p:nvCxnSpPr>
          <p:spPr>
            <a:xfrm>
              <a:off x="2086261" y="1211262"/>
              <a:ext cx="0" cy="252489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</p:grpSp>
      <p:sp>
        <p:nvSpPr>
          <p:cNvPr id="57372" name="矩形 76"/>
          <p:cNvSpPr/>
          <p:nvPr/>
        </p:nvSpPr>
        <p:spPr>
          <a:xfrm>
            <a:off x="323850" y="4040188"/>
            <a:ext cx="2378075" cy="7699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None/>
            </a:pPr>
            <a:r>
              <a:rPr lang="zh-CN" altLang="en-US" sz="2000" dirty="0">
                <a:solidFill>
                  <a:srgbClr val="2D83F4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输入</a:t>
            </a:r>
            <a:r>
              <a:rPr lang="zh-CN" altLang="en-US" sz="2000" dirty="0">
                <a:solidFill>
                  <a:srgbClr val="2D83F4"/>
                </a:solidFill>
                <a:latin typeface="Times New Roman" panose="02020603050405020304" pitchFamily="18" charset="0"/>
              </a:rPr>
              <a:t>：</a:t>
            </a:r>
          </a:p>
          <a:p>
            <a:pPr eaLnBrk="1" hangingPunct="1">
              <a:spcBef>
                <a:spcPct val="2000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楷体_GB2312"/>
              </a:rPr>
              <a:t>real</a:t>
            </a:r>
            <a:r>
              <a:rPr lang="en-US" altLang="zh-CN" sz="2000" i="1" dirty="0">
                <a:latin typeface="Times New Roman" panose="02020603050405020304" pitchFamily="18" charset="0"/>
                <a:ea typeface="楷体_GB2312"/>
              </a:rPr>
              <a:t> a</a:t>
            </a:r>
            <a:r>
              <a:rPr lang="en-US" altLang="zh-CN" sz="2000" i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,</a:t>
            </a:r>
            <a:r>
              <a:rPr lang="en-US" altLang="zh-CN" sz="2000" i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 b </a:t>
            </a:r>
            <a:r>
              <a:rPr lang="en-US" altLang="zh-CN" sz="2000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,</a:t>
            </a:r>
            <a:r>
              <a:rPr lang="en-US" altLang="zh-CN" sz="2000" i="1" dirty="0">
                <a:latin typeface="Times New Roman" panose="02020603050405020304" pitchFamily="18" charset="0"/>
                <a:ea typeface="楷体_GB2312"/>
                <a:sym typeface="Symbol" panose="05050102010706020507" pitchFamily="18" charset="2"/>
              </a:rPr>
              <a:t> c</a:t>
            </a:r>
            <a:endParaRPr lang="en-US" altLang="zh-CN" sz="2000" i="1" baseline="-25000" dirty="0">
              <a:latin typeface="Times New Roman" panose="02020603050405020304" pitchFamily="18" charset="0"/>
              <a:ea typeface="楷体_GB2312"/>
              <a:sym typeface="Symbol" panose="05050102010706020507" pitchFamily="18" charset="2"/>
            </a:endParaRPr>
          </a:p>
        </p:txBody>
      </p:sp>
      <p:cxnSp>
        <p:nvCxnSpPr>
          <p:cNvPr id="78" name="直接连接符 77"/>
          <p:cNvCxnSpPr/>
          <p:nvPr/>
        </p:nvCxnSpPr>
        <p:spPr>
          <a:xfrm>
            <a:off x="830263" y="1501775"/>
            <a:ext cx="0" cy="25098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76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76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076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0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0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0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0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0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63" grpId="0" build="allAtOnce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内容占位符 2"/>
          <p:cNvSpPr>
            <a:spLocks noGrp="1"/>
          </p:cNvSpPr>
          <p:nvPr>
            <p:ph idx="1"/>
          </p:nvPr>
        </p:nvSpPr>
        <p:spPr>
          <a:xfrm>
            <a:off x="428625" y="3203575"/>
            <a:ext cx="8358188" cy="654050"/>
          </a:xfrm>
        </p:spPr>
        <p:txBody>
          <a:bodyPr vert="horz" wrap="square" lIns="68580" tIns="34290" rIns="68580" bIns="34290" anchor="t" anchorCtr="0"/>
          <a:lstStyle/>
          <a:p>
            <a:pPr lvl="1">
              <a:lnSpc>
                <a:spcPts val="35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例</a:t>
            </a:r>
          </a:p>
        </p:txBody>
      </p:sp>
      <p:sp>
        <p:nvSpPr>
          <p:cNvPr id="3" name="矩形 2"/>
          <p:cNvSpPr/>
          <p:nvPr/>
        </p:nvSpPr>
        <p:spPr>
          <a:xfrm>
            <a:off x="357188" y="4572000"/>
            <a:ext cx="5943004" cy="4079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wrap="square" lIns="68580" tIns="34290" rIns="68580" bIns="34290">
            <a:spAutoFit/>
          </a:bodyPr>
          <a:lstStyle/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如果图中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没有环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，那么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至少存在一个拓扑排序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27"/>
          <p:cNvGrpSpPr/>
          <p:nvPr/>
        </p:nvGrpSpPr>
        <p:grpSpPr>
          <a:xfrm>
            <a:off x="6400800" y="2857500"/>
            <a:ext cx="1600200" cy="1928813"/>
            <a:chOff x="7500958" y="2929734"/>
            <a:chExt cx="1600252" cy="1929620"/>
          </a:xfrm>
        </p:grpSpPr>
        <p:cxnSp>
          <p:nvCxnSpPr>
            <p:cNvPr id="15" name="直接连接符 14"/>
            <p:cNvCxnSpPr/>
            <p:nvPr/>
          </p:nvCxnSpPr>
          <p:spPr>
            <a:xfrm rot="5400000" flipH="1" flipV="1">
              <a:off x="7379291" y="3500680"/>
              <a:ext cx="1143478" cy="1587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椭圆 8"/>
            <p:cNvSpPr/>
            <p:nvPr/>
          </p:nvSpPr>
          <p:spPr>
            <a:xfrm>
              <a:off x="7786717" y="3285483"/>
              <a:ext cx="357200" cy="35733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7786717" y="4101799"/>
              <a:ext cx="357200" cy="35733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9405" name="矩形 10"/>
            <p:cNvSpPr/>
            <p:nvPr/>
          </p:nvSpPr>
          <p:spPr>
            <a:xfrm>
              <a:off x="8358214" y="3286130"/>
              <a:ext cx="486030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buNone/>
              </a:pPr>
              <a:r>
                <a:rPr lang="en-US" altLang="zh-CN" i="1" dirty="0">
                  <a:latin typeface="Times New Roman" panose="02020603050405020304" pitchFamily="18" charset="0"/>
                  <a:ea typeface="楷体_GB2312"/>
                </a:rPr>
                <a:t>A.s</a:t>
              </a:r>
              <a:endParaRPr lang="zh-CN" altLang="en-US" dirty="0">
                <a:latin typeface="Tahoma" panose="020B0604030504040204" pitchFamily="34" charset="0"/>
                <a:ea typeface="楷体_GB2312"/>
              </a:endParaRPr>
            </a:p>
          </p:txBody>
        </p:sp>
        <p:sp>
          <p:nvSpPr>
            <p:cNvPr id="59406" name="矩形 11"/>
            <p:cNvSpPr/>
            <p:nvPr/>
          </p:nvSpPr>
          <p:spPr>
            <a:xfrm>
              <a:off x="8358214" y="4131244"/>
              <a:ext cx="460382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buNone/>
              </a:pPr>
              <a:r>
                <a:rPr lang="en-US" altLang="zh-CN" i="1" dirty="0">
                  <a:latin typeface="Times New Roman" panose="02020603050405020304" pitchFamily="18" charset="0"/>
                  <a:ea typeface="楷体_GB2312"/>
                </a:rPr>
                <a:t>B.</a:t>
              </a:r>
              <a:r>
                <a:rPr lang="en-US" altLang="zh-CN" i="1" dirty="0">
                  <a:latin typeface="Times New Roman" panose="02020603050405020304" pitchFamily="18" charset="0"/>
                  <a:ea typeface="楷体_GB2312"/>
                  <a:sym typeface="Symbol" panose="05050102010706020507" pitchFamily="18" charset="2"/>
                </a:rPr>
                <a:t>i</a:t>
              </a:r>
              <a:endParaRPr lang="zh-CN" altLang="en-US" dirty="0">
                <a:latin typeface="Tahoma" panose="020B0604030504040204" pitchFamily="34" charset="0"/>
                <a:ea typeface="楷体_GB2312"/>
              </a:endParaRPr>
            </a:p>
          </p:txBody>
        </p:sp>
        <p:sp>
          <p:nvSpPr>
            <p:cNvPr id="59407" name="矩形 12"/>
            <p:cNvSpPr/>
            <p:nvPr/>
          </p:nvSpPr>
          <p:spPr>
            <a:xfrm>
              <a:off x="7786710" y="3273988"/>
              <a:ext cx="338554" cy="1200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buNone/>
              </a:pPr>
              <a:r>
                <a:rPr lang="en-US" altLang="zh-CN" i="1" dirty="0">
                  <a:latin typeface="Times New Roman" panose="02020603050405020304" pitchFamily="18" charset="0"/>
                  <a:ea typeface="楷体_GB2312"/>
                </a:rPr>
                <a:t>A</a:t>
              </a:r>
            </a:p>
            <a:p>
              <a:pPr>
                <a:buNone/>
              </a:pPr>
              <a:endParaRPr lang="en-US" altLang="zh-CN" i="1" dirty="0">
                <a:latin typeface="Times New Roman" panose="02020603050405020304" pitchFamily="18" charset="0"/>
                <a:ea typeface="楷体_GB2312"/>
              </a:endParaRPr>
            </a:p>
            <a:p>
              <a:pPr>
                <a:buNone/>
              </a:pPr>
              <a:endParaRPr lang="en-US" altLang="zh-CN" i="1" dirty="0">
                <a:latin typeface="Times New Roman" panose="02020603050405020304" pitchFamily="18" charset="0"/>
                <a:ea typeface="楷体_GB2312"/>
              </a:endParaRPr>
            </a:p>
            <a:p>
              <a:pPr>
                <a:buNone/>
              </a:pPr>
              <a:r>
                <a:rPr lang="en-US" altLang="zh-CN" i="1" dirty="0">
                  <a:latin typeface="Times New Roman" panose="02020603050405020304" pitchFamily="18" charset="0"/>
                  <a:ea typeface="楷体_GB2312"/>
                </a:rPr>
                <a:t>B</a:t>
              </a:r>
              <a:endParaRPr lang="zh-CN" altLang="en-US" dirty="0">
                <a:latin typeface="Tahoma" panose="020B0604030504040204" pitchFamily="34" charset="0"/>
                <a:ea typeface="楷体_GB2312"/>
              </a:endParaRPr>
            </a:p>
          </p:txBody>
        </p:sp>
        <p:cxnSp>
          <p:nvCxnSpPr>
            <p:cNvPr id="16" name="直接连接符 15"/>
            <p:cNvCxnSpPr/>
            <p:nvPr/>
          </p:nvCxnSpPr>
          <p:spPr>
            <a:xfrm rot="5400000" flipH="1" flipV="1">
              <a:off x="7465949" y="4463971"/>
              <a:ext cx="428804" cy="358787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rot="16200000" flipV="1">
              <a:off x="8001748" y="4501279"/>
              <a:ext cx="428804" cy="284171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rot="10800000">
              <a:off x="7500958" y="4857765"/>
              <a:ext cx="857278" cy="1589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弧形 25"/>
            <p:cNvSpPr/>
            <p:nvPr/>
          </p:nvSpPr>
          <p:spPr>
            <a:xfrm rot="2589569">
              <a:off x="8043901" y="3539589"/>
              <a:ext cx="785839" cy="643207"/>
            </a:xfrm>
            <a:prstGeom prst="arc">
              <a:avLst>
                <a:gd name="adj1" fmla="val 16200000"/>
                <a:gd name="adj2" fmla="val 753922"/>
              </a:avLst>
            </a:prstGeom>
            <a:ln w="12700">
              <a:solidFill>
                <a:schemeClr val="tx1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弧形 26"/>
            <p:cNvSpPr/>
            <p:nvPr/>
          </p:nvSpPr>
          <p:spPr>
            <a:xfrm rot="13430130">
              <a:off x="8315372" y="3631703"/>
              <a:ext cx="785838" cy="643207"/>
            </a:xfrm>
            <a:prstGeom prst="arc">
              <a:avLst>
                <a:gd name="adj1" fmla="val 16200000"/>
                <a:gd name="adj2" fmla="val 753922"/>
              </a:avLst>
            </a:prstGeom>
            <a:ln w="12700">
              <a:solidFill>
                <a:schemeClr val="tx1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" name="组合 23"/>
          <p:cNvGrpSpPr/>
          <p:nvPr/>
        </p:nvGrpSpPr>
        <p:grpSpPr>
          <a:xfrm>
            <a:off x="1785938" y="3295650"/>
            <a:ext cx="2857500" cy="1147763"/>
            <a:chOff x="1571634" y="3086982"/>
            <a:chExt cx="2857490" cy="1012016"/>
          </a:xfrm>
        </p:grpSpPr>
        <p:sp>
          <p:nvSpPr>
            <p:cNvPr id="17" name="Rectangle 6"/>
            <p:cNvSpPr>
              <a:spLocks noChangeArrowheads="1"/>
            </p:cNvSpPr>
            <p:nvPr/>
          </p:nvSpPr>
          <p:spPr bwMode="auto">
            <a:xfrm>
              <a:off x="1571634" y="3086982"/>
              <a:ext cx="2857490" cy="101201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tailEnd type="none" w="lg" len="lg"/>
            </a:ln>
          </p:spPr>
          <p:txBody>
            <a:bodyPr lIns="67500" tIns="35100" rIns="67500" bIns="35100" anchor="b" anchorCtr="1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ts val="19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产生式   语义规则</a:t>
              </a:r>
            </a:p>
            <a:p>
              <a:pPr marL="0" marR="0" lvl="0" indent="0" algn="l" defTabSz="914400" rtl="0" eaLnBrk="1" fontAlgn="base" latinLnBrk="0" hangingPunct="1">
                <a:lnSpc>
                  <a:spcPts val="19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A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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B	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    A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.s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= 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B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endPara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  <a:p>
              <a:pPr marL="0" marR="0" lvl="0" indent="0" algn="l" defTabSz="914400" rtl="0" eaLnBrk="1" fontAlgn="base" latinLnBrk="0" hangingPunct="1">
                <a:lnSpc>
                  <a:spcPts val="19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                 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B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.i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=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A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.s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+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1</a:t>
              </a:r>
              <a:endPara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59400" name="Line 7"/>
            <p:cNvSpPr/>
            <p:nvPr/>
          </p:nvSpPr>
          <p:spPr>
            <a:xfrm flipV="1">
              <a:off x="1589097" y="3476554"/>
              <a:ext cx="2840027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lg" len="lg"/>
            </a:ln>
          </p:spPr>
        </p:sp>
        <p:cxnSp>
          <p:nvCxnSpPr>
            <p:cNvPr id="59401" name="直接连接符 4"/>
            <p:cNvCxnSpPr/>
            <p:nvPr/>
          </p:nvCxnSpPr>
          <p:spPr>
            <a:xfrm rot="-5400000" flipH="1">
              <a:off x="2178833" y="3607605"/>
              <a:ext cx="928681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</p:grpSp>
      <p:sp>
        <p:nvSpPr>
          <p:cNvPr id="25" name="内容占位符 2"/>
          <p:cNvSpPr txBox="1"/>
          <p:nvPr/>
        </p:nvSpPr>
        <p:spPr bwMode="auto">
          <a:xfrm>
            <a:off x="500063" y="500063"/>
            <a:ext cx="8343900" cy="22145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68580" tIns="34290" rIns="68580" bIns="34290"/>
          <a:lstStyle/>
          <a:p>
            <a:pPr marL="272415" marR="0" indent="-272415" defTabSz="914400">
              <a:lnSpc>
                <a:spcPts val="4000"/>
              </a:lnSpc>
              <a:spcBef>
                <a:spcPct val="2000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3000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对于只具有</a:t>
            </a:r>
            <a:r>
              <a:rPr kumimoji="0" lang="zh-CN" altLang="en-US" sz="3000" kern="1200" cap="none" spc="0" normalizeH="0" baseline="0" noProof="0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综合属性</a:t>
            </a:r>
            <a:r>
              <a:rPr kumimoji="0" lang="zh-CN" altLang="en-US" sz="3000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kumimoji="0" lang="en-US" altLang="zh-CN" sz="3000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SDD</a:t>
            </a:r>
            <a:r>
              <a:rPr kumimoji="0" lang="en-US" altLang="zh-CN" sz="3000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zh-CN" altLang="en-US" sz="3000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，可以按照任何自底向上的顺序计算它们的值</a:t>
            </a:r>
            <a:endParaRPr kumimoji="0" lang="en-US" altLang="zh-CN" sz="3000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2415" marR="0" indent="-272415" defTabSz="914400">
              <a:lnSpc>
                <a:spcPts val="4000"/>
              </a:lnSpc>
              <a:spcBef>
                <a:spcPct val="2000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3000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对于同时具有</a:t>
            </a:r>
            <a:r>
              <a:rPr kumimoji="0" lang="zh-CN" altLang="en-US" sz="3000" kern="1200" cap="none" spc="0" normalizeH="0" baseline="0" noProof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继承属性</a:t>
            </a:r>
            <a:r>
              <a:rPr kumimoji="0" lang="zh-CN" altLang="en-US" sz="3000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</a:t>
            </a:r>
            <a:r>
              <a:rPr kumimoji="0" lang="zh-CN" altLang="en-US" sz="3000" kern="1200" cap="none" spc="0" normalizeH="0" baseline="0" noProof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综合属性</a:t>
            </a:r>
            <a:r>
              <a:rPr kumimoji="0" lang="zh-CN" altLang="en-US" sz="3000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kumimoji="0" lang="en-US" altLang="zh-CN" sz="3000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SDD</a:t>
            </a:r>
            <a:r>
              <a:rPr kumimoji="0" lang="zh-CN" altLang="en-US" sz="3000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zh-CN" altLang="en-US" sz="3000" kern="1200" cap="none" spc="0" normalizeH="0" baseline="0" noProof="0" dirty="0">
                <a:solidFill>
                  <a:schemeClr val="tx2">
                    <a:lumMod val="60000"/>
                    <a:lumOff val="40000"/>
                  </a:schemeClr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不能保证存在一个顺序</a:t>
            </a:r>
            <a:r>
              <a:rPr kumimoji="0" lang="zh-CN" altLang="en-US" sz="3000" kern="1200" cap="none" spc="0" normalizeH="0" baseline="0" noProof="0" dirty="0">
                <a:highlight>
                  <a:srgbClr val="FFFF00"/>
                </a:highligh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来对各个节点上的属性进行求值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611560" y="448523"/>
            <a:ext cx="8464550" cy="4681538"/>
          </a:xfrm>
        </p:spPr>
        <p:txBody>
          <a:bodyPr vert="horz" wrap="square" lIns="68580" tIns="34290" rIns="68580" bIns="34290" numCol="1" anchor="t" anchorCtr="0" compatLnSpc="1"/>
          <a:lstStyle/>
          <a:p>
            <a:pPr marL="272415" marR="0" lvl="0" indent="-272415" algn="l" defTabSz="914400" rtl="0" eaLnBrk="0" fontAlgn="base" latinLnBrk="0" hangingPunct="0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从计算的角度看，给定一个</a:t>
            </a:r>
            <a:r>
              <a:rPr kumimoji="0" lang="en-US" altLang="zh-CN" sz="2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SDD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，很难确定是否存在某棵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句法分析树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，使得</a:t>
            </a:r>
            <a:r>
              <a:rPr kumimoji="0" lang="en-US" altLang="zh-CN" sz="2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SDD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的属性之间存在循环依赖关系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2415" marR="0" lvl="0" indent="-272415" algn="l" defTabSz="914400" rtl="0" eaLnBrk="0" fontAlgn="base" latinLnBrk="0" hangingPunct="0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幸运的是，存在一个</a:t>
            </a:r>
            <a:r>
              <a:rPr kumimoji="0" lang="en-US" altLang="zh-CN" sz="2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SDD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的有用子类，它们能够保证对每棵句法分析树都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存在一个求值顺序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因为它们不允许产生带有环的依赖图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2415" marR="0" lvl="0" indent="-272415" algn="l" defTabSz="914400" rtl="0" eaLnBrk="0" fontAlgn="base" latinLnBrk="0" hangingPunct="0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不仅如此，接下来介绍的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两类</a:t>
            </a:r>
            <a:r>
              <a:rPr kumimoji="0" lang="en-US" altLang="zh-CN" sz="2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SDD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可以和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自顶向下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及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自底向上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的句法分析过程一起高效地实现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575310" marR="0" lvl="1" indent="-272415" algn="l" defTabSz="914400" rtl="0" eaLnBrk="0" fontAlgn="base" latinLnBrk="0" hangingPunct="0">
              <a:lnSpc>
                <a:spcPts val="29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1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属性定义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S-Attributed Definitions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S-SDD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</a:p>
          <a:p>
            <a:pPr marL="575310" marR="0" lvl="1" indent="-272415" algn="l" defTabSz="914400" rtl="0" eaLnBrk="0" fontAlgn="base" latinLnBrk="0" hangingPunct="0">
              <a:lnSpc>
                <a:spcPts val="29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1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L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-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属性定义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L-Attributed Definitions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,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L-SDD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3" descr="G:\QQ截图201607142012副本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514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5541" name="Rectangle 2"/>
          <p:cNvSpPr txBox="1"/>
          <p:nvPr/>
        </p:nvSpPr>
        <p:spPr>
          <a:xfrm>
            <a:off x="3857625" y="1785938"/>
            <a:ext cx="4464050" cy="939800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ctr" anchorCtr="0"/>
          <a:lstStyle/>
          <a:p>
            <a:pPr eaLnBrk="1" hangingPunct="1"/>
            <a:r>
              <a:rPr lang="en-US" altLang="zh-CN" sz="3000" b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S-</a:t>
            </a:r>
            <a:r>
              <a:rPr lang="zh-CN" altLang="en-US" sz="3000" b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属性定义与</a:t>
            </a:r>
            <a:r>
              <a:rPr lang="en-US" altLang="zh-CN" sz="3000" b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L-</a:t>
            </a:r>
            <a:r>
              <a:rPr lang="zh-CN" altLang="en-US" sz="3000" b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属性定义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71438" y="785813"/>
            <a:ext cx="8715375" cy="3225800"/>
          </a:xfrm>
        </p:spPr>
        <p:txBody>
          <a:bodyPr vert="horz" wrap="square" lIns="68580" tIns="34290" rIns="68580" bIns="34290" numCol="1" anchor="t" anchorCtr="0" compatLnSpc="1"/>
          <a:lstStyle/>
          <a:p>
            <a:pPr marL="575310" marR="0" lvl="1" indent="-272415" algn="l" defTabSz="914400" rtl="0" eaLnBrk="1" fontAlgn="base" latinLnBrk="0" hangingPunct="1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仅仅使用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综合属性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SDD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称为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属性的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SDD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，或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S-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属性定义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S-SDD</a:t>
            </a:r>
            <a:endParaRPr kumimoji="1" lang="zh-CN" altLang="en-US" sz="2400" b="1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854710" marR="0" lvl="2" indent="-227330" algn="l" defTabSz="914400" rtl="0" eaLnBrk="1" fontAlgn="base" latinLnBrk="0" hangingPunct="1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例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854710" marR="0" lvl="2" indent="-227330" algn="l" defTabSz="914400" rtl="0" eaLnBrk="1" fontAlgn="base" latinLnBrk="0" hangingPunct="1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anose="05050102010706020507" pitchFamily="18" charset="2"/>
              <a:buNone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575310" marR="0" lvl="1" indent="-272415" algn="l" defTabSz="914400" rtl="0" eaLnBrk="0" fontAlgn="base" latinLnBrk="0" hangingPunct="0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anose="05050102010706020507" pitchFamily="18" charset="2"/>
              <a:buNone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575310" marR="0" lvl="1" indent="-272415" algn="l" defTabSz="914400" rtl="0" eaLnBrk="0" fontAlgn="base" latinLnBrk="0" hangingPunct="0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575310" marR="0" lvl="1" indent="-272415" algn="l" defTabSz="914400" rtl="0" eaLnBrk="0" fontAlgn="base" latinLnBrk="0" hangingPunct="0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如果一个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SDD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是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属性的，可以按照句法分析树节点的任何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自底向上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顺序来计算它的各个属性值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575310" marR="0" lvl="1" indent="-272415" algn="l" defTabSz="914400" rtl="0" eaLnBrk="0" fontAlgn="base" latinLnBrk="0" hangingPunct="0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-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属性定义可以在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自底向上的句法分析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过程中实现</a:t>
            </a:r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000" b="1" i="1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属性定义</a:t>
            </a:r>
            <a:endParaRPr kumimoji="1" lang="zh-CN" altLang="en-US" sz="3000" b="1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3"/>
          <p:cNvGrpSpPr/>
          <p:nvPr/>
        </p:nvGrpSpPr>
        <p:grpSpPr>
          <a:xfrm>
            <a:off x="2054225" y="1285875"/>
            <a:ext cx="4232275" cy="2338388"/>
            <a:chOff x="3359696" y="3284984"/>
            <a:chExt cx="3367020" cy="2339200"/>
          </a:xfrm>
        </p:grpSpPr>
        <p:sp>
          <p:nvSpPr>
            <p:cNvPr id="5" name="矩形 4"/>
            <p:cNvSpPr/>
            <p:nvPr/>
          </p:nvSpPr>
          <p:spPr>
            <a:xfrm>
              <a:off x="3359696" y="3284984"/>
              <a:ext cx="3367020" cy="23392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  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产生式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	  	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语义规则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(1)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L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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n 	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L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  <a:endPara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(2)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+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	E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E</a:t>
              </a:r>
              <a:r>
                <a:rPr kumimoji="1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+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(3)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            	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(4)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*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    	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×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(5)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           	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(6)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(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)	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(7)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digit        	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digit</a:t>
              </a: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lexval</a:t>
              </a:r>
              <a:endPara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3359696" y="3572422"/>
              <a:ext cx="33670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4632748" y="3284984"/>
              <a:ext cx="0" cy="23392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3"/>
          <p:cNvSpPr>
            <a:spLocks noGrp="1" noChangeArrowheads="1"/>
          </p:cNvSpPr>
          <p:nvPr>
            <p:ph idx="1"/>
          </p:nvPr>
        </p:nvSpPr>
        <p:spPr>
          <a:xfrm>
            <a:off x="501650" y="846138"/>
            <a:ext cx="7642225" cy="3225800"/>
          </a:xfrm>
        </p:spPr>
        <p:txBody>
          <a:bodyPr vert="horz" wrap="square" lIns="68580" tIns="34290" rIns="68580" bIns="34290" numCol="1" anchor="t" anchorCtr="0" compatLnSpc="1"/>
          <a:lstStyle/>
          <a:p>
            <a:pPr marL="272415" marR="0" lvl="1" indent="-272415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属性定义</a:t>
            </a:r>
            <a:r>
              <a:rPr kumimoji="1" lang="en-US" altLang="zh-CN" sz="28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也称为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属性的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SDD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或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L-SDD</a:t>
            </a:r>
            <a:r>
              <a:rPr kumimoji="1" lang="en-US" altLang="zh-CN" sz="28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的直观含义：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在一个产生式所关联的各属性之间，依赖图的边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可以从左到右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，但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不能从右到左</a:t>
            </a:r>
            <a:r>
              <a:rPr kumimoji="1" lang="en-US" altLang="zh-CN" sz="28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因此称为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属性的，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Left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的首字母</a:t>
            </a:r>
            <a:r>
              <a:rPr kumimoji="1" lang="en-US" altLang="zh-CN" sz="28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L</a:t>
            </a:r>
            <a:r>
              <a:rPr kumimoji="0" lang="en-US" altLang="zh-CN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属性定义</a:t>
            </a:r>
            <a:endParaRPr kumimoji="0" lang="en-US" altLang="zh-CN" sz="3000" b="1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3"/>
          <p:cNvSpPr>
            <a:spLocks noGrp="1" noChangeArrowheads="1"/>
          </p:cNvSpPr>
          <p:nvPr>
            <p:ph idx="1"/>
          </p:nvPr>
        </p:nvSpPr>
        <p:spPr>
          <a:xfrm>
            <a:off x="501650" y="846138"/>
            <a:ext cx="8462963" cy="3225800"/>
          </a:xfrm>
        </p:spPr>
        <p:txBody>
          <a:bodyPr vert="horz" wrap="square" lIns="68580" tIns="34290" rIns="68580" bIns="34290" numCol="1" anchor="t" anchorCtr="0" compatLnSpc="1"/>
          <a:lstStyle/>
          <a:p>
            <a:pPr marL="272415" marR="0" lvl="0" indent="-272415" algn="l" defTabSz="914400" rtl="0" eaLnBrk="1" fontAlgn="base" latinLnBrk="0" hangingPunct="1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一个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SDD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属性定义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当且仅当它的每个属性要么是一个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综合属性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，要么是满足如下条件的继承属性：假设存在一个产生式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→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…</a:t>
            </a:r>
            <a:r>
              <a:rPr kumimoji="1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，其右部符号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继承属性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仅依赖于下列属性：</a:t>
            </a:r>
          </a:p>
          <a:p>
            <a:pPr marL="575310" marR="0" lvl="1" indent="-272415" algn="l" defTabSz="914400" rtl="0" eaLnBrk="0" fontAlgn="base" latinLnBrk="0" hangingPunct="0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继承属性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73E87">
                  <a:lumMod val="60000"/>
                  <a:lumOff val="40000"/>
                </a:srgbClr>
              </a:solidFill>
              <a:effectLst/>
              <a:highlight>
                <a:srgbClr val="FFFF00"/>
              </a:highlight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575310" marR="0" lvl="1" indent="-272415" algn="l" defTabSz="914400" rtl="0" eaLnBrk="0" fontAlgn="base" latinLnBrk="0" hangingPunct="0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产生式中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左边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的符号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… ,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i-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的属性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575310" marR="0" lvl="1" indent="-272415" algn="l" defTabSz="914400" rtl="0" eaLnBrk="0" fontAlgn="base" latinLnBrk="0" hangingPunct="0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本身的属性，但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的全部属性不能在依赖图中形成环路</a:t>
            </a: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L</a:t>
            </a:r>
            <a:r>
              <a:rPr kumimoji="0" lang="en-US" altLang="zh-CN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SDD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的正式定义</a:t>
            </a:r>
            <a:endParaRPr kumimoji="0" lang="en-US" altLang="zh-CN" sz="3000" b="1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1979613" y="4443413"/>
            <a:ext cx="4537075" cy="43973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 lIns="68580" tIns="34290" rIns="68580" bIns="3429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每个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属性定义都是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属性定义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3"/>
          <p:cNvSpPr>
            <a:spLocks noGrp="1" noChangeArrowheads="1"/>
          </p:cNvSpPr>
          <p:nvPr>
            <p:ph idx="1"/>
          </p:nvPr>
        </p:nvSpPr>
        <p:spPr>
          <a:xfrm>
            <a:off x="501650" y="846138"/>
            <a:ext cx="8462963" cy="3225800"/>
          </a:xfrm>
        </p:spPr>
        <p:txBody>
          <a:bodyPr vert="horz" wrap="square" lIns="68580" tIns="34290" rIns="68580" bIns="34290" numCol="1" anchor="t" anchorCtr="0" compatLnSpc="1"/>
          <a:lstStyle/>
          <a:p>
            <a:pPr marL="272415" marR="0" lvl="0" indent="-272415" algn="l" defTabSz="914400" rtl="0" eaLnBrk="1" fontAlgn="base" latinLnBrk="0" hangingPunct="1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一个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SDD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属性定义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，当且仅当它的每个属性要么是一个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综合属性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，要么是满足如下条件的继承属性：假设存在一个产生式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→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…</a:t>
            </a:r>
            <a:r>
              <a:rPr kumimoji="1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，其右部符号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继承属性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仅依赖于下列属性：</a:t>
            </a:r>
          </a:p>
          <a:p>
            <a:pPr marL="575310" marR="0" lvl="1" indent="-272415" algn="l" defTabSz="914400" rtl="0" eaLnBrk="0" fontAlgn="base" latinLnBrk="0" hangingPunct="0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继承属性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73E87">
                  <a:lumMod val="60000"/>
                  <a:lumOff val="40000"/>
                </a:srgb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575310" marR="0" lvl="1" indent="-272415" algn="l" defTabSz="914400" rtl="0" eaLnBrk="0" fontAlgn="base" latinLnBrk="0" hangingPunct="0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产生式中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左边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的符号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… ,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i-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的属性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575310" marR="0" lvl="1" indent="-272415" algn="l" defTabSz="914400" rtl="0" eaLnBrk="0" fontAlgn="base" latinLnBrk="0" hangingPunct="0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本身的属性，但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的全部属性不能在依赖图中形成环路</a:t>
            </a: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L</a:t>
            </a:r>
            <a:r>
              <a:rPr kumimoji="0" lang="en-US" altLang="zh-CN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SDD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的正式定义</a:t>
            </a:r>
            <a:endParaRPr kumimoji="0" lang="en-US" altLang="zh-CN" sz="3000" b="1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云形标注 8"/>
          <p:cNvSpPr>
            <a:spLocks noChangeArrowheads="1"/>
          </p:cNvSpPr>
          <p:nvPr/>
        </p:nvSpPr>
        <p:spPr bwMode="auto">
          <a:xfrm>
            <a:off x="3708400" y="2643188"/>
            <a:ext cx="4156075" cy="674688"/>
          </a:xfrm>
          <a:prstGeom prst="cloudCallout">
            <a:avLst>
              <a:gd name="adj1" fmla="val -63602"/>
              <a:gd name="adj2" fmla="val 20971"/>
            </a:avLst>
          </a:prstGeom>
          <a:solidFill>
            <a:schemeClr val="tx2">
              <a:lumMod val="60000"/>
              <a:lumOff val="40000"/>
            </a:schemeClr>
          </a:solidFill>
          <a:ln w="12700" algn="ctr">
            <a:solidFill>
              <a:schemeClr val="tx1"/>
            </a:solidFill>
            <a:round/>
          </a:ln>
        </p:spPr>
        <p:txBody>
          <a:bodyPr lIns="68580" tIns="81000" rIns="68580" bIns="3429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为什么不能是综合属性？</a:t>
            </a:r>
          </a:p>
        </p:txBody>
      </p:sp>
      <p:sp>
        <p:nvSpPr>
          <p:cNvPr id="10" name="矩形 9"/>
          <p:cNvSpPr/>
          <p:nvPr/>
        </p:nvSpPr>
        <p:spPr>
          <a:xfrm>
            <a:off x="1619250" y="2790825"/>
            <a:ext cx="1357313" cy="357188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lgDash"/>
            <a:round/>
            <a:headEnd type="none" w="med" len="med"/>
            <a:tailEnd type="none" w="med" len="med"/>
          </a:ln>
        </p:spPr>
        <p:txBody>
          <a:bodyPr lIns="68580" tIns="34290" rIns="68580" bIns="34290"/>
          <a:lstStyle/>
          <a:p>
            <a:pPr eaLnBrk="1" hangingPunct="1"/>
            <a:endParaRPr lang="zh-CN" alt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3"/>
          <p:cNvSpPr>
            <a:spLocks noGrp="1" noChangeArrowheads="1"/>
          </p:cNvSpPr>
          <p:nvPr>
            <p:ph idx="1"/>
          </p:nvPr>
        </p:nvSpPr>
        <p:spPr>
          <a:xfrm>
            <a:off x="501650" y="846138"/>
            <a:ext cx="8462963" cy="3225800"/>
          </a:xfrm>
        </p:spPr>
        <p:txBody>
          <a:bodyPr vert="horz" wrap="square" lIns="68580" tIns="34290" rIns="68580" bIns="34290" numCol="1" anchor="t" anchorCtr="0" compatLnSpc="1"/>
          <a:lstStyle/>
          <a:p>
            <a:pPr marL="272415" marR="0" lvl="0" indent="-272415" algn="l" defTabSz="914400" rtl="0" eaLnBrk="1" fontAlgn="base" latinLnBrk="0" hangingPunct="1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一个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SDD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属性定义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，当且仅当它的每个属性要么是一个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综合属性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，要么是满足如下条件的继承属性：假设存在一个产生式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→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…</a:t>
            </a:r>
            <a:r>
              <a:rPr kumimoji="1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，其右部符号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继承属性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仅依赖于下列属性：</a:t>
            </a:r>
          </a:p>
          <a:p>
            <a:pPr marL="575310" marR="0" lvl="1" indent="-272415" algn="l" defTabSz="914400" rtl="0" eaLnBrk="0" fontAlgn="base" latinLnBrk="0" hangingPunct="0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继承属性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73E87">
                  <a:lumMod val="60000"/>
                  <a:lumOff val="40000"/>
                </a:srgb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575310" marR="0" lvl="1" indent="-272415" algn="l" defTabSz="914400" rtl="0" eaLnBrk="0" fontAlgn="base" latinLnBrk="0" hangingPunct="0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产生式中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左边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的符号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… ,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i-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的属性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575310" marR="0" lvl="1" indent="-272415" algn="l" defTabSz="914400" rtl="0" eaLnBrk="0" fontAlgn="base" latinLnBrk="0" hangingPunct="0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本身的属性，但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的全部属性不能在依赖图中形成环路</a:t>
            </a: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L</a:t>
            </a:r>
            <a:r>
              <a:rPr kumimoji="0" lang="en-US" altLang="zh-CN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SDD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的正式定义</a:t>
            </a:r>
            <a:endParaRPr kumimoji="0" lang="en-US" altLang="zh-CN" sz="3000" b="1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Text Box 2"/>
          <p:cNvSpPr txBox="1"/>
          <p:nvPr/>
        </p:nvSpPr>
        <p:spPr>
          <a:xfrm>
            <a:off x="7891463" y="3475038"/>
            <a:ext cx="488950" cy="37782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lIns="67500" tIns="35100" rIns="67500" bIns="35100"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lang="en-US" altLang="zh-CN" sz="2000" i="1" dirty="0">
                <a:latin typeface="Times New Roman" panose="02020603050405020304" pitchFamily="18" charset="0"/>
                <a:ea typeface="楷体_GB2312"/>
              </a:rPr>
              <a:t>X</a:t>
            </a:r>
            <a:r>
              <a:rPr lang="en-US" altLang="zh-CN" sz="2000" i="1" baseline="-25000" dirty="0">
                <a:latin typeface="Times New Roman" panose="02020603050405020304" pitchFamily="18" charset="0"/>
                <a:ea typeface="楷体_GB2312"/>
              </a:rPr>
              <a:t>i</a:t>
            </a:r>
          </a:p>
        </p:txBody>
      </p:sp>
      <p:sp>
        <p:nvSpPr>
          <p:cNvPr id="7" name="Rectangle 4"/>
          <p:cNvSpPr/>
          <p:nvPr/>
        </p:nvSpPr>
        <p:spPr>
          <a:xfrm>
            <a:off x="7835900" y="2500313"/>
            <a:ext cx="431800" cy="37941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lIns="67500" tIns="35100" rIns="67500" bIns="35100" anchor="ctr" anchorCtr="0">
            <a:spAutoFit/>
          </a:bodyPr>
          <a:lstStyle/>
          <a:p>
            <a:pPr algn="ctr" eaLnBrk="1" hangingPunct="1"/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altLang="zh-CN" sz="2000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Line 5"/>
          <p:cNvSpPr/>
          <p:nvPr/>
        </p:nvSpPr>
        <p:spPr>
          <a:xfrm>
            <a:off x="8053388" y="2879725"/>
            <a:ext cx="0" cy="595313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lg" len="lg"/>
          </a:ln>
        </p:spPr>
      </p:sp>
      <p:sp>
        <p:nvSpPr>
          <p:cNvPr id="11" name="Rectangle 15"/>
          <p:cNvSpPr/>
          <p:nvPr/>
        </p:nvSpPr>
        <p:spPr>
          <a:xfrm>
            <a:off x="7567613" y="2554288"/>
            <a:ext cx="214312" cy="37782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lIns="67500" tIns="35100" rIns="67500" bIns="35100" anchor="ctr" anchorCtr="0">
            <a:spAutoFit/>
          </a:bodyPr>
          <a:lstStyle/>
          <a:p>
            <a:pPr algn="ctr" eaLnBrk="1" hangingPunct="1"/>
            <a:r>
              <a:rPr lang="en-US" altLang="zh-CN" sz="2000" i="1" dirty="0">
                <a:solidFill>
                  <a:srgbClr val="2D8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altLang="zh-CN" sz="2000" i="1" dirty="0">
              <a:solidFill>
                <a:srgbClr val="2D83F4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2" name="Rectangle 19"/>
          <p:cNvSpPr/>
          <p:nvPr/>
        </p:nvSpPr>
        <p:spPr>
          <a:xfrm>
            <a:off x="8377238" y="2514600"/>
            <a:ext cx="217487" cy="37941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lIns="67500" tIns="35100" rIns="67500" bIns="35100" anchor="ctr" anchorCtr="0">
            <a:spAutoFit/>
          </a:bodyPr>
          <a:lstStyle/>
          <a:p>
            <a:pPr algn="ctr" eaLnBrk="1" hangingPunct="1"/>
            <a:r>
              <a:rPr lang="en-US" altLang="zh-CN" sz="2000" i="1" dirty="0">
                <a:solidFill>
                  <a:srgbClr val="2D8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altLang="zh-CN" sz="2000" i="1" dirty="0">
              <a:solidFill>
                <a:srgbClr val="2D83F4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3" name="Rectangle 15"/>
          <p:cNvSpPr/>
          <p:nvPr/>
        </p:nvSpPr>
        <p:spPr>
          <a:xfrm>
            <a:off x="7523163" y="3492500"/>
            <a:ext cx="215900" cy="37782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lIns="67500" tIns="35100" rIns="67500" bIns="35100" anchor="ctr" anchorCtr="0">
            <a:spAutoFit/>
          </a:bodyPr>
          <a:lstStyle/>
          <a:p>
            <a:pPr algn="ctr" eaLnBrk="1" hangingPunct="1"/>
            <a:r>
              <a:rPr lang="en-US" altLang="zh-CN" sz="2000" i="1" dirty="0">
                <a:solidFill>
                  <a:srgbClr val="2D8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altLang="zh-CN" sz="2000" i="1" dirty="0">
              <a:solidFill>
                <a:srgbClr val="2D83F4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4" name="Rectangle 19"/>
          <p:cNvSpPr/>
          <p:nvPr/>
        </p:nvSpPr>
        <p:spPr>
          <a:xfrm>
            <a:off x="8386763" y="3492500"/>
            <a:ext cx="217487" cy="37782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lIns="67500" tIns="35100" rIns="67500" bIns="35100" anchor="ctr" anchorCtr="0">
            <a:spAutoFit/>
          </a:bodyPr>
          <a:lstStyle/>
          <a:p>
            <a:pPr algn="ctr" eaLnBrk="1" hangingPunct="1"/>
            <a:r>
              <a:rPr lang="en-US" altLang="zh-CN" sz="2000" i="1" dirty="0">
                <a:solidFill>
                  <a:srgbClr val="2D83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altLang="zh-CN" sz="2000" i="1" dirty="0">
              <a:solidFill>
                <a:srgbClr val="2D83F4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5" name="Line 33"/>
          <p:cNvSpPr/>
          <p:nvPr/>
        </p:nvSpPr>
        <p:spPr>
          <a:xfrm flipH="1" flipV="1">
            <a:off x="8485188" y="2879725"/>
            <a:ext cx="0" cy="541338"/>
          </a:xfrm>
          <a:prstGeom prst="line">
            <a:avLst/>
          </a:prstGeom>
          <a:ln w="38100" cap="flat" cmpd="sng">
            <a:solidFill>
              <a:srgbClr val="FF9900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16" name="Line 33"/>
          <p:cNvSpPr/>
          <p:nvPr/>
        </p:nvSpPr>
        <p:spPr>
          <a:xfrm>
            <a:off x="7673975" y="2879725"/>
            <a:ext cx="0" cy="595313"/>
          </a:xfrm>
          <a:prstGeom prst="line">
            <a:avLst/>
          </a:prstGeom>
          <a:ln w="38100" cap="flat" cmpd="sng">
            <a:solidFill>
              <a:schemeClr val="hlink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17" name="Line 33"/>
          <p:cNvSpPr/>
          <p:nvPr/>
        </p:nvSpPr>
        <p:spPr>
          <a:xfrm flipH="1">
            <a:off x="7729538" y="2827338"/>
            <a:ext cx="592137" cy="647700"/>
          </a:xfrm>
          <a:prstGeom prst="line">
            <a:avLst/>
          </a:prstGeom>
          <a:ln w="38100" cap="flat" cmpd="sng">
            <a:solidFill>
              <a:schemeClr val="hlink"/>
            </a:solidFill>
            <a:prstDash val="lgDash"/>
            <a:headEnd type="none" w="med" len="med"/>
            <a:tailEnd type="stealth" w="lg" len="lg"/>
          </a:ln>
        </p:spPr>
      </p:sp>
      <p:sp>
        <p:nvSpPr>
          <p:cNvPr id="18" name="Line 33"/>
          <p:cNvSpPr/>
          <p:nvPr/>
        </p:nvSpPr>
        <p:spPr>
          <a:xfrm flipV="1">
            <a:off x="7835900" y="2827338"/>
            <a:ext cx="593725" cy="647700"/>
          </a:xfrm>
          <a:prstGeom prst="line">
            <a:avLst/>
          </a:prstGeom>
          <a:ln w="38100" cap="flat" cmpd="sng">
            <a:solidFill>
              <a:srgbClr val="FF9900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75791" name="矩形 18"/>
          <p:cNvSpPr/>
          <p:nvPr/>
        </p:nvSpPr>
        <p:spPr>
          <a:xfrm>
            <a:off x="1619250" y="2790825"/>
            <a:ext cx="1357313" cy="357188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lgDash"/>
            <a:round/>
            <a:headEnd type="none" w="med" len="med"/>
            <a:tailEnd type="none" w="med" len="med"/>
          </a:ln>
        </p:spPr>
        <p:txBody>
          <a:bodyPr lIns="68580" tIns="34290" rIns="68580" bIns="34290"/>
          <a:lstStyle/>
          <a:p>
            <a:pPr eaLnBrk="1" hangingPunct="1"/>
            <a:endParaRPr lang="zh-CN" alt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331640" y="1048040"/>
            <a:ext cx="6480720" cy="3423085"/>
            <a:chOff x="214313" y="1211263"/>
            <a:chExt cx="4598987" cy="3423085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40" name="Rectangle 6"/>
            <p:cNvSpPr>
              <a:spLocks noChangeArrowheads="1"/>
            </p:cNvSpPr>
            <p:nvPr/>
          </p:nvSpPr>
          <p:spPr bwMode="auto">
            <a:xfrm>
              <a:off x="214313" y="1211263"/>
              <a:ext cx="4598987" cy="3423085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tailEnd type="none" w="lg" len="lg"/>
            </a:ln>
          </p:spPr>
          <p:txBody>
            <a:bodyPr lIns="67500" tIns="35100" rIns="67500" bIns="3510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ts val="25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                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产生式         语义规则</a:t>
              </a:r>
            </a:p>
            <a:p>
              <a:pPr marL="0" marR="0" lvl="0" indent="0" algn="l" defTabSz="914400" rtl="0" eaLnBrk="1" fontAlgn="base" latinLnBrk="0" hangingPunct="1">
                <a:lnSpc>
                  <a:spcPts val="25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(1)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 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T 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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F T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 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	 	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4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inh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= F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.val</a:t>
              </a:r>
              <a:endPara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ts val="25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             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	           	</a:t>
              </a:r>
              <a:r>
                <a:rPr kumimoji="1" lang="en-US" altLang="zh-CN" sz="24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0" lang="en-US" altLang="zh-CN" sz="24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.val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= 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0" lang="en-US" altLang="zh-CN" sz="24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syn</a:t>
              </a:r>
              <a:endPara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  <a:p>
              <a:pPr marL="457200" marR="0" lvl="0" indent="-457200" algn="l" defTabSz="914400" rtl="0" eaLnBrk="1" fontAlgn="base" latinLnBrk="0" hangingPunct="1">
                <a:lnSpc>
                  <a:spcPts val="25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(2)  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 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*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F T</a:t>
              </a:r>
              <a:r>
                <a:rPr kumimoji="1" lang="en-US" altLang="zh-CN" sz="2400" b="1" i="1" u="none" strike="noStrike" kern="120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	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T</a:t>
              </a:r>
              <a:r>
                <a:rPr kumimoji="1" lang="en-US" altLang="zh-CN" sz="2400" b="1" i="1" u="none" strike="noStrike" kern="120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inh = 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4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inh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 × </a:t>
              </a:r>
              <a:r>
                <a:rPr kumimoji="1" lang="en-US" altLang="zh-CN" sz="24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0" lang="en-US" altLang="zh-CN" sz="24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.val</a:t>
              </a:r>
              <a:endPara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  <a:p>
              <a:pPr marL="457200" marR="0" lvl="0" indent="-457200" algn="l" defTabSz="914400" rtl="0" eaLnBrk="1" fontAlgn="base" latinLnBrk="0" hangingPunct="1">
                <a:lnSpc>
                  <a:spcPts val="25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                            	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0" lang="en-US" altLang="zh-CN" sz="24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syn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2400" b="1" i="1" u="none" strike="noStrike" kern="120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.syn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              </a:t>
              </a:r>
              <a:endPara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ts val="25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(3)  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 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ε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         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	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0" lang="en-US" altLang="zh-CN" sz="24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syn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= 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0" lang="en-US" altLang="zh-CN" sz="24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inh</a:t>
              </a:r>
              <a:endPara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  <a:p>
              <a:pPr marL="0" marR="0" lvl="0" indent="0" algn="l" defTabSz="914400" rtl="0" eaLnBrk="1" fontAlgn="base" latinLnBrk="0" hangingPunct="1">
                <a:lnSpc>
                  <a:spcPts val="25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(4)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digit       	</a:t>
              </a:r>
              <a:r>
                <a:rPr kumimoji="1" lang="en-US" altLang="zh-CN" sz="24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0" lang="en-US" altLang="zh-CN" sz="24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.val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= </a:t>
              </a:r>
              <a:r>
                <a:rPr kumimoji="0" lang="en-US" altLang="zh-CN" sz="24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digit</a:t>
              </a:r>
              <a:r>
                <a:rPr kumimoji="0" lang="en-US" altLang="zh-CN" sz="24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.lexval</a:t>
              </a:r>
              <a:endPara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93222" name="Line 7"/>
            <p:cNvSpPr>
              <a:spLocks noChangeShapeType="1"/>
            </p:cNvSpPr>
            <p:nvPr/>
          </p:nvSpPr>
          <p:spPr bwMode="auto">
            <a:xfrm>
              <a:off x="231775" y="1571303"/>
              <a:ext cx="4581525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tailEnd type="none" w="lg" len="lg"/>
            </a:ln>
          </p:spPr>
          <p:txBody>
            <a:bodyPr lIns="67500" tIns="35100" rIns="67500" bIns="3510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93223" name="直接连接符 2"/>
            <p:cNvCxnSpPr>
              <a:cxnSpLocks noChangeShapeType="1"/>
            </p:cNvCxnSpPr>
            <p:nvPr/>
          </p:nvCxnSpPr>
          <p:spPr bwMode="auto">
            <a:xfrm flipH="1">
              <a:off x="572012" y="1211263"/>
              <a:ext cx="1588" cy="3423085"/>
            </a:xfrm>
            <a:prstGeom prst="line">
              <a:avLst/>
            </a:prstGeom>
            <a:grpFill/>
            <a:ln w="12700" algn="ctr">
              <a:solidFill>
                <a:schemeClr val="tx1"/>
              </a:solidFill>
              <a:round/>
            </a:ln>
          </p:spPr>
        </p:cxnSp>
        <p:cxnSp>
          <p:nvCxnSpPr>
            <p:cNvPr id="93224" name="直接连接符 4"/>
            <p:cNvCxnSpPr>
              <a:cxnSpLocks noChangeShapeType="1"/>
            </p:cNvCxnSpPr>
            <p:nvPr/>
          </p:nvCxnSpPr>
          <p:spPr bwMode="auto">
            <a:xfrm>
              <a:off x="2100263" y="1211263"/>
              <a:ext cx="4745" cy="3423085"/>
            </a:xfrm>
            <a:prstGeom prst="line">
              <a:avLst/>
            </a:prstGeom>
            <a:grpFill/>
            <a:ln w="12700" algn="ctr">
              <a:solidFill>
                <a:schemeClr val="tx1"/>
              </a:solidFill>
              <a:round/>
            </a:ln>
          </p:spPr>
        </p:cxnSp>
      </p:grpSp>
      <p:sp>
        <p:nvSpPr>
          <p:cNvPr id="44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例：</a:t>
            </a:r>
            <a:r>
              <a:rPr kumimoji="0" lang="en-US" altLang="zh-CN" sz="3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L-SDD</a:t>
            </a:r>
            <a:endParaRPr kumimoji="0" lang="zh-CN" altLang="en-US" sz="30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" name="组合 47"/>
          <p:cNvGrpSpPr/>
          <p:nvPr/>
        </p:nvGrpSpPr>
        <p:grpSpPr>
          <a:xfrm>
            <a:off x="1568450" y="2055813"/>
            <a:ext cx="3517900" cy="2944812"/>
            <a:chOff x="3371542" y="2780928"/>
            <a:chExt cx="3516546" cy="2944504"/>
          </a:xfrm>
        </p:grpSpPr>
        <p:sp>
          <p:nvSpPr>
            <p:cNvPr id="49" name="矩形 48"/>
            <p:cNvSpPr>
              <a:spLocks noChangeArrowheads="1"/>
            </p:cNvSpPr>
            <p:nvPr/>
          </p:nvSpPr>
          <p:spPr bwMode="auto">
            <a:xfrm>
              <a:off x="5880414" y="2780928"/>
              <a:ext cx="863268" cy="360324"/>
            </a:xfrm>
            <a:prstGeom prst="rect">
              <a:avLst/>
            </a:prstGeom>
            <a:noFill/>
            <a:ln w="38100" algn="ctr">
              <a:solidFill>
                <a:schemeClr val="tx2">
                  <a:lumMod val="60000"/>
                  <a:lumOff val="40000"/>
                </a:schemeClr>
              </a:solidFill>
              <a:prstDash val="lgDash"/>
              <a:rou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" name="矩形 49"/>
            <p:cNvSpPr>
              <a:spLocks noChangeArrowheads="1"/>
            </p:cNvSpPr>
            <p:nvPr/>
          </p:nvSpPr>
          <p:spPr bwMode="auto">
            <a:xfrm>
              <a:off x="5880414" y="3715867"/>
              <a:ext cx="1007674" cy="360325"/>
            </a:xfrm>
            <a:prstGeom prst="rect">
              <a:avLst/>
            </a:prstGeom>
            <a:noFill/>
            <a:ln w="38100" algn="ctr">
              <a:solidFill>
                <a:schemeClr val="tx2">
                  <a:lumMod val="60000"/>
                  <a:lumOff val="40000"/>
                </a:schemeClr>
              </a:solidFill>
              <a:prstDash val="lgDash"/>
              <a:rou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矩形 50"/>
            <p:cNvSpPr>
              <a:spLocks noChangeArrowheads="1"/>
            </p:cNvSpPr>
            <p:nvPr/>
          </p:nvSpPr>
          <p:spPr bwMode="auto">
            <a:xfrm>
              <a:off x="5951823" y="4796842"/>
              <a:ext cx="791858" cy="360324"/>
            </a:xfrm>
            <a:prstGeom prst="rect">
              <a:avLst/>
            </a:prstGeom>
            <a:noFill/>
            <a:ln w="38100" algn="ctr">
              <a:solidFill>
                <a:schemeClr val="tx2">
                  <a:lumMod val="60000"/>
                  <a:lumOff val="40000"/>
                </a:schemeClr>
              </a:solidFill>
              <a:prstDash val="lgDash"/>
              <a:rou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" name="矩形 51"/>
            <p:cNvSpPr>
              <a:spLocks noChangeArrowheads="1"/>
            </p:cNvSpPr>
            <p:nvPr/>
          </p:nvSpPr>
          <p:spPr bwMode="auto">
            <a:xfrm>
              <a:off x="5951823" y="4292070"/>
              <a:ext cx="864855" cy="360324"/>
            </a:xfrm>
            <a:prstGeom prst="rect">
              <a:avLst/>
            </a:prstGeom>
            <a:noFill/>
            <a:ln w="38100" algn="ctr">
              <a:solidFill>
                <a:schemeClr val="tx2">
                  <a:lumMod val="60000"/>
                  <a:lumOff val="40000"/>
                </a:schemeClr>
              </a:solidFill>
              <a:prstDash val="lgDash"/>
              <a:rou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" name="Line 5"/>
            <p:cNvSpPr>
              <a:spLocks noChangeShapeType="1"/>
            </p:cNvSpPr>
            <p:nvPr/>
          </p:nvSpPr>
          <p:spPr bwMode="auto">
            <a:xfrm flipH="1">
              <a:off x="4913998" y="2923788"/>
              <a:ext cx="963242" cy="2538147"/>
            </a:xfrm>
            <a:prstGeom prst="line">
              <a:avLst/>
            </a:prstGeom>
            <a:noFill/>
            <a:ln w="38100">
              <a:solidFill>
                <a:schemeClr val="tx2">
                  <a:lumMod val="60000"/>
                  <a:lumOff val="40000"/>
                </a:schemeClr>
              </a:solidFill>
              <a:prstDash val="dash"/>
              <a:round/>
              <a:tailEnd type="none" w="lg" len="lg"/>
            </a:ln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" name="Line 5"/>
            <p:cNvSpPr>
              <a:spLocks noChangeShapeType="1"/>
            </p:cNvSpPr>
            <p:nvPr/>
          </p:nvSpPr>
          <p:spPr bwMode="auto">
            <a:xfrm flipH="1">
              <a:off x="4991756" y="3901586"/>
              <a:ext cx="880723" cy="1436537"/>
            </a:xfrm>
            <a:prstGeom prst="line">
              <a:avLst/>
            </a:prstGeom>
            <a:noFill/>
            <a:ln w="38100">
              <a:solidFill>
                <a:schemeClr val="tx2">
                  <a:lumMod val="60000"/>
                  <a:lumOff val="40000"/>
                </a:schemeClr>
              </a:solidFill>
              <a:prstDash val="dash"/>
              <a:round/>
              <a:tailEnd type="none" w="lg" len="lg"/>
            </a:ln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" name="Line 5"/>
            <p:cNvSpPr>
              <a:spLocks noChangeShapeType="1"/>
            </p:cNvSpPr>
            <p:nvPr/>
          </p:nvSpPr>
          <p:spPr bwMode="auto">
            <a:xfrm flipH="1">
              <a:off x="4994930" y="4652394"/>
              <a:ext cx="953720" cy="685728"/>
            </a:xfrm>
            <a:prstGeom prst="line">
              <a:avLst/>
            </a:prstGeom>
            <a:noFill/>
            <a:ln w="38100">
              <a:solidFill>
                <a:schemeClr val="tx2">
                  <a:lumMod val="60000"/>
                  <a:lumOff val="40000"/>
                </a:schemeClr>
              </a:solidFill>
              <a:prstDash val="dash"/>
              <a:round/>
              <a:tailEnd type="none" w="lg" len="lg"/>
            </a:ln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" name="Line 5"/>
            <p:cNvSpPr>
              <a:spLocks noChangeShapeType="1"/>
            </p:cNvSpPr>
            <p:nvPr/>
          </p:nvSpPr>
          <p:spPr bwMode="auto">
            <a:xfrm flipH="1">
              <a:off x="4994930" y="5227009"/>
              <a:ext cx="953720" cy="184131"/>
            </a:xfrm>
            <a:prstGeom prst="line">
              <a:avLst/>
            </a:prstGeom>
            <a:noFill/>
            <a:ln w="38100">
              <a:solidFill>
                <a:schemeClr val="tx2">
                  <a:lumMod val="60000"/>
                  <a:lumOff val="40000"/>
                </a:schemeClr>
              </a:solidFill>
              <a:prstDash val="dash"/>
              <a:round/>
              <a:tailEnd type="none" w="lg" len="lg"/>
            </a:ln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843" name="矩形 56"/>
            <p:cNvSpPr/>
            <p:nvPr/>
          </p:nvSpPr>
          <p:spPr>
            <a:xfrm>
              <a:off x="3371542" y="5201612"/>
              <a:ext cx="1620214" cy="5238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buNone/>
              </a:pPr>
              <a:r>
                <a:rPr lang="zh-CN" altLang="en-US" sz="2800" dirty="0">
                  <a:solidFill>
                    <a:srgbClr val="2D83F4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综合属性</a:t>
              </a:r>
              <a:endParaRPr lang="zh-CN" altLang="en-US" dirty="0">
                <a:solidFill>
                  <a:srgbClr val="2D83F4"/>
                </a:solidFill>
                <a:latin typeface="Tahoma" panose="020B0604030504040204" pitchFamily="34" charset="0"/>
                <a:ea typeface="华文楷体" panose="02010600040101010101" pitchFamily="2" charset="-122"/>
              </a:endParaRPr>
            </a:p>
          </p:txBody>
        </p:sp>
      </p:grpSp>
      <p:grpSp>
        <p:nvGrpSpPr>
          <p:cNvPr id="4" name="组合 57"/>
          <p:cNvGrpSpPr/>
          <p:nvPr/>
        </p:nvGrpSpPr>
        <p:grpSpPr>
          <a:xfrm>
            <a:off x="4057650" y="330200"/>
            <a:ext cx="4171950" cy="2552700"/>
            <a:chOff x="5872829" y="1141583"/>
            <a:chExt cx="4171708" cy="2552806"/>
          </a:xfrm>
        </p:grpSpPr>
        <p:sp>
          <p:nvSpPr>
            <p:cNvPr id="77830" name="矩形 48"/>
            <p:cNvSpPr/>
            <p:nvPr/>
          </p:nvSpPr>
          <p:spPr>
            <a:xfrm>
              <a:off x="5902296" y="2384375"/>
              <a:ext cx="864096" cy="360363"/>
            </a:xfrm>
            <a:prstGeom prst="rect">
              <a:avLst/>
            </a:prstGeom>
            <a:noFill/>
            <a:ln w="38100" cap="flat" cmpd="sng">
              <a:solidFill>
                <a:srgbClr val="FF0000"/>
              </a:solidFill>
              <a:prstDash val="lgDash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eaLnBrk="1" hangingPunct="1"/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77831" name="矩形 49"/>
            <p:cNvSpPr/>
            <p:nvPr/>
          </p:nvSpPr>
          <p:spPr>
            <a:xfrm>
              <a:off x="5872829" y="3334026"/>
              <a:ext cx="985792" cy="360363"/>
            </a:xfrm>
            <a:prstGeom prst="rect">
              <a:avLst/>
            </a:prstGeom>
            <a:noFill/>
            <a:ln w="38100" cap="flat" cmpd="sng">
              <a:solidFill>
                <a:srgbClr val="FF0000"/>
              </a:solidFill>
              <a:prstDash val="lgDash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eaLnBrk="1" hangingPunct="1"/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77832" name="Line 5"/>
            <p:cNvSpPr/>
            <p:nvPr/>
          </p:nvSpPr>
          <p:spPr>
            <a:xfrm flipV="1">
              <a:off x="6851798" y="1349950"/>
              <a:ext cx="1584177" cy="1158551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dash"/>
              <a:headEnd type="none" w="med" len="med"/>
              <a:tailEnd type="none" w="lg" len="lg"/>
            </a:ln>
          </p:spPr>
        </p:sp>
        <p:sp>
          <p:nvSpPr>
            <p:cNvPr id="77833" name="Line 5"/>
            <p:cNvSpPr/>
            <p:nvPr/>
          </p:nvSpPr>
          <p:spPr>
            <a:xfrm flipV="1">
              <a:off x="6858621" y="1406352"/>
              <a:ext cx="1522417" cy="2095301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dash"/>
              <a:headEnd type="none" w="med" len="med"/>
              <a:tailEnd type="none" w="lg" len="lg"/>
            </a:ln>
          </p:spPr>
        </p:sp>
        <p:sp>
          <p:nvSpPr>
            <p:cNvPr id="77834" name="矩形 52"/>
            <p:cNvSpPr/>
            <p:nvPr/>
          </p:nvSpPr>
          <p:spPr>
            <a:xfrm>
              <a:off x="8423580" y="1141583"/>
              <a:ext cx="1620957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buNone/>
              </a:pPr>
              <a:r>
                <a:rPr lang="zh-CN" altLang="en-US" sz="2800" dirty="0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继承属性</a:t>
              </a:r>
              <a:endParaRPr lang="zh-CN" altLang="en-US" dirty="0">
                <a:solidFill>
                  <a:srgbClr val="FF0000"/>
                </a:solidFill>
                <a:latin typeface="Tahoma" panose="020B0604030504040204" pitchFamily="34" charset="0"/>
                <a:ea typeface="华文楷体" panose="0201060004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内容占位符 2"/>
          <p:cNvSpPr>
            <a:spLocks noGrp="1"/>
          </p:cNvSpPr>
          <p:nvPr>
            <p:ph idx="1"/>
          </p:nvPr>
        </p:nvSpPr>
        <p:spPr>
          <a:xfrm>
            <a:off x="755650" y="987425"/>
            <a:ext cx="1285875" cy="714375"/>
          </a:xfrm>
        </p:spPr>
        <p:txBody>
          <a:bodyPr vert="horz" wrap="square" lIns="68580" tIns="34290" rIns="68580" bIns="34290" anchor="t" anchorCtr="0"/>
          <a:lstStyle/>
          <a:p>
            <a:pPr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3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例</a:t>
            </a:r>
          </a:p>
        </p:txBody>
      </p:sp>
      <p:sp>
        <p:nvSpPr>
          <p:cNvPr id="36873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非</a:t>
            </a:r>
            <a:r>
              <a:rPr kumimoji="0" lang="en-US" altLang="zh-CN" sz="3000" b="1" i="1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属性的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SDD</a:t>
            </a:r>
            <a:endParaRPr kumimoji="0" lang="zh-CN" altLang="en-US" sz="30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3"/>
          <p:cNvGrpSpPr/>
          <p:nvPr/>
        </p:nvGrpSpPr>
        <p:grpSpPr bwMode="auto">
          <a:xfrm>
            <a:off x="2411413" y="1087438"/>
            <a:ext cx="4249737" cy="3341687"/>
            <a:chOff x="6304185" y="526505"/>
            <a:chExt cx="4250229" cy="3342453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1" name="矩形 10"/>
            <p:cNvSpPr/>
            <p:nvPr/>
          </p:nvSpPr>
          <p:spPr>
            <a:xfrm>
              <a:off x="6304185" y="526505"/>
              <a:ext cx="4231177" cy="334245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  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产生式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	  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语义规则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(1) 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A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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LM	</a:t>
              </a:r>
              <a:r>
                <a:rPr kumimoji="1" lang="en-US" altLang="zh-CN" sz="24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L</a:t>
              </a:r>
              <a:r>
                <a:rPr kumimoji="1" lang="en-US" altLang="zh-CN" sz="24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4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= 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l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(</a:t>
              </a:r>
              <a:r>
                <a:rPr kumimoji="1" lang="en-US" altLang="zh-CN" sz="24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A.i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)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		</a:t>
              </a:r>
              <a:r>
                <a:rPr kumimoji="1" lang="en-US" altLang="zh-CN" sz="2400" b="1" i="1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M.i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= 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m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(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L.s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)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		A.s 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= 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f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(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M.s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)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(2) 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A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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QR	</a:t>
              </a:r>
              <a:r>
                <a:rPr kumimoji="1" lang="en-US" altLang="zh-CN" sz="24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R.i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= 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(</a:t>
              </a:r>
              <a:r>
                <a:rPr kumimoji="1" lang="en-US" altLang="zh-CN" sz="24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A.i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)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		</a:t>
              </a:r>
              <a:r>
                <a:rPr kumimoji="1" lang="en-US" altLang="zh-CN" sz="24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Q.i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= 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q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(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R.s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)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chemeClr val="hlin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		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A.s 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= 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f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(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Q.s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)</a:t>
              </a:r>
            </a:p>
          </p:txBody>
        </p:sp>
        <p:cxnSp>
          <p:nvCxnSpPr>
            <p:cNvPr id="12" name="直接连接符 11"/>
            <p:cNvCxnSpPr/>
            <p:nvPr/>
          </p:nvCxnSpPr>
          <p:spPr>
            <a:xfrm>
              <a:off x="6304185" y="952053"/>
              <a:ext cx="4231177" cy="0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8039523" y="526505"/>
              <a:ext cx="0" cy="3342453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6323237" y="2420826"/>
              <a:ext cx="4231177" cy="0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1"/>
          <p:cNvGrpSpPr/>
          <p:nvPr/>
        </p:nvGrpSpPr>
        <p:grpSpPr>
          <a:xfrm>
            <a:off x="2395538" y="2598738"/>
            <a:ext cx="2405062" cy="2444750"/>
            <a:chOff x="2395571" y="2599414"/>
            <a:chExt cx="2405374" cy="2444578"/>
          </a:xfrm>
        </p:grpSpPr>
        <p:sp>
          <p:nvSpPr>
            <p:cNvPr id="79889" name="矩形 48"/>
            <p:cNvSpPr/>
            <p:nvPr/>
          </p:nvSpPr>
          <p:spPr>
            <a:xfrm>
              <a:off x="4222968" y="2599414"/>
              <a:ext cx="577977" cy="342013"/>
            </a:xfrm>
            <a:prstGeom prst="rect">
              <a:avLst/>
            </a:prstGeom>
            <a:noFill/>
            <a:ln w="38100" cap="flat" cmpd="sng">
              <a:solidFill>
                <a:srgbClr val="FF0000"/>
              </a:solidFill>
              <a:prstDash val="lgDash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eaLnBrk="1" hangingPunct="1"/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79890" name="矩形 49"/>
            <p:cNvSpPr/>
            <p:nvPr/>
          </p:nvSpPr>
          <p:spPr>
            <a:xfrm>
              <a:off x="4222968" y="4018367"/>
              <a:ext cx="577977" cy="381910"/>
            </a:xfrm>
            <a:prstGeom prst="rect">
              <a:avLst/>
            </a:prstGeom>
            <a:noFill/>
            <a:ln w="38100" cap="flat" cmpd="sng">
              <a:solidFill>
                <a:srgbClr val="FF0000"/>
              </a:solidFill>
              <a:prstDash val="lgDash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pPr eaLnBrk="1" hangingPunct="1"/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79891" name="Line 5"/>
            <p:cNvSpPr/>
            <p:nvPr/>
          </p:nvSpPr>
          <p:spPr>
            <a:xfrm flipV="1">
              <a:off x="3563888" y="2743030"/>
              <a:ext cx="678103" cy="177774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dash"/>
              <a:headEnd type="none" w="med" len="med"/>
              <a:tailEnd type="none" w="lg" len="lg"/>
            </a:ln>
          </p:spPr>
        </p:sp>
        <p:sp>
          <p:nvSpPr>
            <p:cNvPr id="79892" name="Line 5"/>
            <p:cNvSpPr/>
            <p:nvPr/>
          </p:nvSpPr>
          <p:spPr>
            <a:xfrm flipV="1">
              <a:off x="3563888" y="4110014"/>
              <a:ext cx="659080" cy="410758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dash"/>
              <a:headEnd type="none" w="med" len="med"/>
              <a:tailEnd type="none" w="lg" len="lg"/>
            </a:ln>
          </p:spPr>
        </p:sp>
        <p:sp>
          <p:nvSpPr>
            <p:cNvPr id="79893" name="矩形 52"/>
            <p:cNvSpPr/>
            <p:nvPr/>
          </p:nvSpPr>
          <p:spPr>
            <a:xfrm>
              <a:off x="2395571" y="4520772"/>
              <a:ext cx="1620957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buNone/>
              </a:pPr>
              <a:r>
                <a:rPr lang="zh-CN" altLang="en-US" sz="2800" dirty="0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综合属性</a:t>
              </a:r>
              <a:endParaRPr lang="zh-CN" altLang="en-US" dirty="0">
                <a:solidFill>
                  <a:srgbClr val="FF0000"/>
                </a:solidFill>
                <a:latin typeface="Tahoma" panose="020B0604030504040204" pitchFamily="34" charset="0"/>
                <a:ea typeface="华文楷体" panose="02010600040101010101" pitchFamily="2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498475" y="1604963"/>
            <a:ext cx="4318000" cy="2335212"/>
            <a:chOff x="499244" y="1604535"/>
            <a:chExt cx="4317552" cy="2335367"/>
          </a:xfrm>
        </p:grpSpPr>
        <p:sp>
          <p:nvSpPr>
            <p:cNvPr id="31" name="矩形 30"/>
            <p:cNvSpPr>
              <a:spLocks noChangeArrowheads="1"/>
            </p:cNvSpPr>
            <p:nvPr/>
          </p:nvSpPr>
          <p:spPr bwMode="auto">
            <a:xfrm>
              <a:off x="4223133" y="1604535"/>
              <a:ext cx="525408" cy="411189"/>
            </a:xfrm>
            <a:prstGeom prst="rect">
              <a:avLst/>
            </a:prstGeom>
            <a:noFill/>
            <a:ln w="38100" algn="ctr">
              <a:solidFill>
                <a:schemeClr val="tx2">
                  <a:lumMod val="60000"/>
                  <a:lumOff val="40000"/>
                </a:schemeClr>
              </a:solidFill>
              <a:prstDash val="lgDash"/>
              <a:rou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" name="矩形 31"/>
            <p:cNvSpPr>
              <a:spLocks noChangeArrowheads="1"/>
            </p:cNvSpPr>
            <p:nvPr/>
          </p:nvSpPr>
          <p:spPr bwMode="auto">
            <a:xfrm>
              <a:off x="4212022" y="2130032"/>
              <a:ext cx="604774" cy="357212"/>
            </a:xfrm>
            <a:prstGeom prst="rect">
              <a:avLst/>
            </a:prstGeom>
            <a:noFill/>
            <a:ln w="38100" algn="ctr">
              <a:solidFill>
                <a:schemeClr val="tx2">
                  <a:lumMod val="60000"/>
                  <a:lumOff val="40000"/>
                </a:schemeClr>
              </a:solidFill>
              <a:prstDash val="lgDash"/>
              <a:rou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" name="矩形 32"/>
            <p:cNvSpPr>
              <a:spLocks noChangeArrowheads="1"/>
            </p:cNvSpPr>
            <p:nvPr/>
          </p:nvSpPr>
          <p:spPr bwMode="auto">
            <a:xfrm>
              <a:off x="4212022" y="3581103"/>
              <a:ext cx="552393" cy="358799"/>
            </a:xfrm>
            <a:prstGeom prst="rect">
              <a:avLst/>
            </a:prstGeom>
            <a:noFill/>
            <a:ln w="38100" algn="ctr">
              <a:solidFill>
                <a:schemeClr val="tx2">
                  <a:lumMod val="60000"/>
                  <a:lumOff val="40000"/>
                </a:schemeClr>
              </a:solidFill>
              <a:prstDash val="lgDash"/>
              <a:rou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" name="矩形 33"/>
            <p:cNvSpPr>
              <a:spLocks noChangeArrowheads="1"/>
            </p:cNvSpPr>
            <p:nvPr/>
          </p:nvSpPr>
          <p:spPr bwMode="auto">
            <a:xfrm>
              <a:off x="4212022" y="3085770"/>
              <a:ext cx="552393" cy="390551"/>
            </a:xfrm>
            <a:prstGeom prst="rect">
              <a:avLst/>
            </a:prstGeom>
            <a:noFill/>
            <a:ln w="38100" algn="ctr">
              <a:solidFill>
                <a:schemeClr val="tx2">
                  <a:lumMod val="60000"/>
                  <a:lumOff val="40000"/>
                </a:schemeClr>
              </a:solidFill>
              <a:prstDash val="lgDash"/>
              <a:rou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5" name="Line 5"/>
            <p:cNvSpPr>
              <a:spLocks noChangeShapeType="1"/>
            </p:cNvSpPr>
            <p:nvPr/>
          </p:nvSpPr>
          <p:spPr bwMode="auto">
            <a:xfrm flipH="1">
              <a:off x="2042134" y="1814099"/>
              <a:ext cx="2180999" cy="504859"/>
            </a:xfrm>
            <a:prstGeom prst="line">
              <a:avLst/>
            </a:prstGeom>
            <a:noFill/>
            <a:ln w="38100">
              <a:solidFill>
                <a:schemeClr val="tx2">
                  <a:lumMod val="60000"/>
                  <a:lumOff val="40000"/>
                </a:schemeClr>
              </a:solidFill>
              <a:prstDash val="dash"/>
              <a:round/>
              <a:tailEnd type="none" w="lg" len="lg"/>
            </a:ln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" name="Line 5"/>
            <p:cNvSpPr>
              <a:spLocks noChangeShapeType="1"/>
            </p:cNvSpPr>
            <p:nvPr/>
          </p:nvSpPr>
          <p:spPr bwMode="auto">
            <a:xfrm>
              <a:off x="2042134" y="2334833"/>
              <a:ext cx="2104807" cy="12701"/>
            </a:xfrm>
            <a:prstGeom prst="line">
              <a:avLst/>
            </a:prstGeom>
            <a:noFill/>
            <a:ln w="38100">
              <a:solidFill>
                <a:schemeClr val="tx2">
                  <a:lumMod val="60000"/>
                  <a:lumOff val="40000"/>
                </a:schemeClr>
              </a:solidFill>
              <a:prstDash val="dash"/>
              <a:round/>
              <a:tailEnd type="none" w="lg" len="lg"/>
            </a:ln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" name="Line 5"/>
            <p:cNvSpPr>
              <a:spLocks noChangeShapeType="1"/>
            </p:cNvSpPr>
            <p:nvPr/>
          </p:nvSpPr>
          <p:spPr bwMode="auto">
            <a:xfrm>
              <a:off x="2042134" y="2364997"/>
              <a:ext cx="2180999" cy="900173"/>
            </a:xfrm>
            <a:prstGeom prst="line">
              <a:avLst/>
            </a:prstGeom>
            <a:noFill/>
            <a:ln w="38100">
              <a:solidFill>
                <a:schemeClr val="tx2">
                  <a:lumMod val="60000"/>
                  <a:lumOff val="40000"/>
                </a:schemeClr>
              </a:solidFill>
              <a:prstDash val="dash"/>
              <a:round/>
              <a:tailEnd type="none" w="lg" len="lg"/>
            </a:ln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" name="Line 5"/>
            <p:cNvSpPr>
              <a:spLocks noChangeShapeType="1"/>
            </p:cNvSpPr>
            <p:nvPr/>
          </p:nvSpPr>
          <p:spPr bwMode="auto">
            <a:xfrm>
              <a:off x="2042134" y="2347534"/>
              <a:ext cx="2180999" cy="1435195"/>
            </a:xfrm>
            <a:prstGeom prst="line">
              <a:avLst/>
            </a:prstGeom>
            <a:noFill/>
            <a:ln w="38100">
              <a:solidFill>
                <a:schemeClr val="tx2">
                  <a:lumMod val="60000"/>
                  <a:lumOff val="40000"/>
                </a:schemeClr>
              </a:solidFill>
              <a:prstDash val="dash"/>
              <a:round/>
              <a:tailEnd type="none" w="lg" len="lg"/>
            </a:ln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9888" name="矩形 56"/>
            <p:cNvSpPr/>
            <p:nvPr/>
          </p:nvSpPr>
          <p:spPr>
            <a:xfrm>
              <a:off x="499244" y="2046076"/>
              <a:ext cx="1620957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buNone/>
              </a:pPr>
              <a:r>
                <a:rPr lang="zh-CN" altLang="en-US" sz="2800" dirty="0">
                  <a:solidFill>
                    <a:srgbClr val="2D83F4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继承属性</a:t>
              </a:r>
              <a:endParaRPr lang="zh-CN" altLang="en-US" dirty="0">
                <a:solidFill>
                  <a:srgbClr val="2D83F4"/>
                </a:solidFill>
                <a:latin typeface="Tahoma" panose="020B0604030504040204" pitchFamily="34" charset="0"/>
                <a:ea typeface="华文楷体" panose="02010600040101010101" pitchFamily="2" charset="-122"/>
              </a:endParaRPr>
            </a:p>
          </p:txBody>
        </p:sp>
      </p:grpSp>
      <p:sp>
        <p:nvSpPr>
          <p:cNvPr id="5" name="矩形 4"/>
          <p:cNvSpPr/>
          <p:nvPr/>
        </p:nvSpPr>
        <p:spPr>
          <a:xfrm>
            <a:off x="5737225" y="3503613"/>
            <a:ext cx="441325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×</a:t>
            </a:r>
            <a:endParaRPr lang="zh-CN" altLang="en-US" dirty="0">
              <a:solidFill>
                <a:srgbClr val="FF0000"/>
              </a:solidFill>
              <a:latin typeface="Tahoma" panose="020B0604030504040204" pitchFamily="34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3" descr="G:\QQ截图201607142012副本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514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3978275" y="1785938"/>
            <a:ext cx="4665663" cy="939800"/>
          </a:xfrm>
          <a:prstGeom prst="rect">
            <a:avLst/>
          </a:prstGeom>
        </p:spPr>
        <p:txBody>
          <a:bodyPr lIns="68580" tIns="34290" rIns="68580" bIns="34290" anchor="ctr"/>
          <a:lstStyle/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0" kern="1200" cap="none" spc="300" normalizeH="0" baseline="0" noProof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句法制导翻译方案</a:t>
            </a:r>
            <a:r>
              <a:rPr kumimoji="0" lang="en-US" altLang="zh-CN" sz="3000" b="0" kern="1200" cap="none" spc="0" normalizeH="0" baseline="0" noProof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SDT</a:t>
            </a:r>
            <a:endParaRPr kumimoji="0" lang="zh-CN" altLang="en-US" sz="3000" b="0" kern="1200" cap="none" spc="0" normalizeH="0" baseline="0" noProof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/>
          </p:cNvSpPr>
          <p:nvPr>
            <p:ph idx="1"/>
          </p:nvPr>
        </p:nvSpPr>
        <p:spPr>
          <a:xfrm>
            <a:off x="201613" y="2160588"/>
            <a:ext cx="1274762" cy="771525"/>
          </a:xfrm>
        </p:spPr>
        <p:txBody>
          <a:bodyPr vert="horz" wrap="square" lIns="68580" tIns="34290" rIns="68580" bIns="34290" anchor="t" anchorCtr="0"/>
          <a:lstStyle/>
          <a:p>
            <a:pPr lvl="1">
              <a:lnSpc>
                <a:spcPts val="35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25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例</a:t>
            </a:r>
            <a:endParaRPr lang="en-US" altLang="zh-CN" sz="2500" b="1" kern="120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>
              <a:lnSpc>
                <a:spcPct val="90000"/>
              </a:lnSpc>
              <a:buSzPct val="100000"/>
            </a:pPr>
            <a:endParaRPr lang="en-US" altLang="zh-CN" sz="5000" kern="1200" dirty="0"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8195" name="Rectangle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anchor="ctr" anchorCtr="0"/>
          <a:lstStyle/>
          <a:p>
            <a:pPr eaLnBrk="1" hangingPunct="1">
              <a:buNone/>
            </a:pPr>
            <a:r>
              <a:rPr lang="zh-CN" altLang="en-US" sz="30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句法制导翻译方案</a:t>
            </a:r>
            <a:r>
              <a:rPr lang="en-US" altLang="zh-CN" sz="3000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j-cs"/>
              </a:rPr>
              <a:t>SDT</a:t>
            </a:r>
            <a:endParaRPr lang="zh-CN" altLang="en-US" sz="3000" i="1" kern="12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1531938" y="2532063"/>
            <a:ext cx="4278313" cy="24161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/>
          <a:lstStyle>
            <a:lvl1pPr marL="363855" indent="-3638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67080" indent="-3638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39825" indent="-3035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522730" indent="-3035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948180" indent="-3035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377440" indent="-304800" algn="l" defTabSz="1219200" rtl="0" eaLnBrk="1" latinLnBrk="0" hangingPunct="1">
              <a:spcBef>
                <a:spcPts val="510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86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804160" indent="-304800" algn="l" defTabSz="1219200" rtl="0" eaLnBrk="1" latinLnBrk="0" hangingPunct="1">
              <a:spcBef>
                <a:spcPts val="510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86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30880" indent="-304800" algn="l" defTabSz="1219200" rtl="0" eaLnBrk="1" latinLnBrk="0" hangingPunct="1">
              <a:spcBef>
                <a:spcPts val="510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86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-304800" algn="l" defTabSz="1219200" rtl="0" eaLnBrk="1" latinLnBrk="0" hangingPunct="1">
              <a:spcBef>
                <a:spcPts val="510"/>
              </a:spcBef>
              <a:buClr>
                <a:schemeClr val="accent1"/>
              </a:buClr>
              <a:buFont typeface="Symbol" panose="05050102010706020507" pitchFamily="18" charset="2"/>
              <a:buChar char="*"/>
              <a:defRPr sz="1865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None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D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→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L.inh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T.type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}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L</a:t>
            </a: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None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→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T.type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}</a:t>
            </a: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None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→ real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T.type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real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}</a:t>
            </a: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None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L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→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{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L</a:t>
            </a:r>
            <a:r>
              <a:rPr kumimoji="0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.inh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L.inh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}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L</a:t>
            </a:r>
            <a:r>
              <a:rPr kumimoji="0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, id</a:t>
            </a: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		…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28600" y="785813"/>
            <a:ext cx="8486775" cy="1143000"/>
          </a:xfrm>
          <a:prstGeom prst="rect">
            <a:avLst/>
          </a:prstGeom>
          <a:noFill/>
          <a:ln>
            <a:noFill/>
          </a:ln>
        </p:spPr>
        <p:txBody>
          <a:bodyPr lIns="68580" tIns="34290" rIns="68580" bIns="34290"/>
          <a:lstStyle/>
          <a:p>
            <a:pPr marL="272415" marR="0" indent="-272415" defTabSz="914400">
              <a:lnSpc>
                <a:spcPts val="4000"/>
              </a:lnSpc>
              <a:spcBef>
                <a:spcPct val="2000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1" lang="en-US" altLang="zh-CN" sz="2800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zh-CN" altLang="en-US" sz="2800" kern="1200" cap="none" spc="0" normalizeH="0" baseline="0" noProof="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句法制导翻译方案</a:t>
            </a:r>
            <a:r>
              <a:rPr kumimoji="1" lang="en-US" altLang="zh-CN" sz="2800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800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SDT</a:t>
            </a:r>
            <a:r>
              <a:rPr kumimoji="1" lang="en-US" altLang="zh-CN" sz="2800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)</a:t>
            </a:r>
            <a:r>
              <a:rPr kumimoji="1" lang="zh-CN" altLang="en-US" sz="2800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是在</a:t>
            </a:r>
            <a:r>
              <a:rPr kumimoji="1" lang="zh-CN" altLang="en-US" sz="2800" kern="1200" cap="none" spc="0" normalizeH="0" baseline="0" noProof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产生式右部</a:t>
            </a:r>
            <a:r>
              <a:rPr kumimoji="1" lang="zh-CN" altLang="en-US" sz="2800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中嵌入了</a:t>
            </a:r>
            <a:r>
              <a:rPr kumimoji="1" lang="zh-CN" altLang="en-US" sz="2800" kern="1200" cap="none" spc="0" normalizeH="0" baseline="0" noProof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程序片段</a:t>
            </a:r>
            <a:r>
              <a:rPr kumimoji="1" lang="en-US" altLang="zh-CN" sz="2800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800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称为</a:t>
            </a:r>
            <a:r>
              <a:rPr kumimoji="1" lang="zh-CN" altLang="en-US" sz="2800" kern="1200" cap="none" spc="0" normalizeH="0" baseline="0" noProof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语义动作</a:t>
            </a:r>
            <a:r>
              <a:rPr kumimoji="1" lang="en-US" altLang="zh-CN" sz="2800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800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kumimoji="1" lang="en-US" altLang="zh-CN" sz="2800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CFG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846263"/>
            <a:ext cx="8821738" cy="3225800"/>
          </a:xfrm>
        </p:spPr>
        <p:txBody>
          <a:bodyPr vert="horz" wrap="square" lIns="68580" tIns="34290" rIns="68580" bIns="34290" numCol="1" anchor="t" anchorCtr="0" compatLnSpc="1"/>
          <a:lstStyle/>
          <a:p>
            <a:pPr marL="271780" marR="0" lvl="0" indent="-271780" algn="l" defTabSz="914400" rtl="0" eaLnBrk="0" fontAlgn="base" latinLnBrk="0" hangingPunct="0">
              <a:lnSpc>
                <a:spcPts val="38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SDT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可以看作是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SDD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具体实施方案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1780" marR="0" lvl="0" indent="-271780" algn="l" defTabSz="914400" rtl="0" eaLnBrk="0" fontAlgn="base" latinLnBrk="0" hangingPunct="0">
              <a:lnSpc>
                <a:spcPts val="38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本节主要关注如何使用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SDT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来实现两类重要的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SDD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，因为在这两种情况下，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SDT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可在句法分析过程中实现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574675" marR="0" lvl="1" indent="-271780" algn="l" defTabSz="914400" rtl="0" eaLnBrk="0" fontAlgn="base" latinLnBrk="0" hangingPunct="0">
              <a:lnSpc>
                <a:spcPts val="38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基本文法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可以使用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LR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分析技术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，且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SDD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属性的</a:t>
            </a:r>
          </a:p>
          <a:p>
            <a:pPr marL="574675" marR="0" lvl="1" indent="-271780" algn="l" defTabSz="914400" rtl="0" eaLnBrk="0" fontAlgn="base" latinLnBrk="0" hangingPunct="0">
              <a:lnSpc>
                <a:spcPts val="38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基本文法可以使用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LL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分析技术，且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SDD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属性的</a:t>
            </a:r>
          </a:p>
          <a:p>
            <a:pPr marL="0" marR="0" lvl="0" indent="0" algn="l" defTabSz="914400" rtl="0" eaLnBrk="0" fontAlgn="base" latinLnBrk="0" hangingPunct="0">
              <a:lnSpc>
                <a:spcPts val="38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anose="05050102010706020507" pitchFamily="18" charset="2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1780" marR="0" lvl="0" indent="-271780" algn="l" defTabSz="914400" rtl="0" eaLnBrk="0" fontAlgn="base" latinLnBrk="0" hangingPunct="0">
              <a:lnSpc>
                <a:spcPts val="38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/>
            </a:pPr>
            <a:endParaRPr kumimoji="1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1780" marR="0" lvl="0" indent="-27178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/>
            </a:pPr>
            <a:endParaRPr kumimoji="1" lang="en-US" altLang="zh-CN" sz="5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25425" y="785813"/>
            <a:ext cx="8486775" cy="1143000"/>
          </a:xfrm>
          <a:prstGeom prst="rect">
            <a:avLst/>
          </a:prstGeom>
          <a:noFill/>
          <a:ln>
            <a:noFill/>
          </a:ln>
        </p:spPr>
        <p:txBody>
          <a:bodyPr lIns="68580" tIns="34290" rIns="68580" bIns="34290"/>
          <a:lstStyle/>
          <a:p>
            <a:pPr marL="272415" marR="0" indent="-272415" defTabSz="914400">
              <a:lnSpc>
                <a:spcPts val="4000"/>
              </a:lnSpc>
              <a:spcBef>
                <a:spcPct val="2000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1" lang="en-US" altLang="zh-CN" sz="2800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zh-CN" altLang="en-US" sz="2800" kern="1200" cap="none" spc="0" normalizeH="0" baseline="0" noProof="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句法制导翻译方案</a:t>
            </a:r>
            <a:r>
              <a:rPr kumimoji="1" lang="en-US" altLang="zh-CN" sz="2800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800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SDT</a:t>
            </a:r>
            <a:r>
              <a:rPr kumimoji="1" lang="en-US" altLang="zh-CN" sz="2800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)</a:t>
            </a:r>
            <a:r>
              <a:rPr kumimoji="1" lang="zh-CN" altLang="en-US" sz="2800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是在</a:t>
            </a:r>
            <a:r>
              <a:rPr kumimoji="1" lang="zh-CN" altLang="en-US" sz="2800" kern="1200" cap="none" spc="0" normalizeH="0" baseline="0" noProof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产生式右部</a:t>
            </a:r>
            <a:r>
              <a:rPr kumimoji="1" lang="zh-CN" altLang="en-US" sz="2800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中嵌入了</a:t>
            </a:r>
            <a:r>
              <a:rPr kumimoji="1" lang="zh-CN" altLang="en-US" sz="2800" kern="1200" cap="none" spc="0" normalizeH="0" baseline="0" noProof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程序片段</a:t>
            </a:r>
            <a:r>
              <a:rPr kumimoji="1" lang="en-US" altLang="zh-CN" sz="2800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800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称为</a:t>
            </a:r>
            <a:r>
              <a:rPr kumimoji="1" lang="zh-CN" altLang="en-US" sz="2800" kern="1200" cap="none" spc="0" normalizeH="0" baseline="0" noProof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语义动作</a:t>
            </a:r>
            <a:r>
              <a:rPr kumimoji="1" lang="en-US" altLang="zh-CN" sz="2800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800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kumimoji="1" lang="en-US" altLang="zh-CN" sz="2800" i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CFG</a:t>
            </a:r>
          </a:p>
        </p:txBody>
      </p:sp>
      <p:sp>
        <p:nvSpPr>
          <p:cNvPr id="10244" name="Rectangle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anchor="ctr" anchorCtr="0"/>
          <a:lstStyle/>
          <a:p>
            <a:pPr eaLnBrk="1" hangingPunct="1">
              <a:buNone/>
            </a:pPr>
            <a:r>
              <a:rPr lang="zh-CN" altLang="en-US" sz="30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句法制导翻译方案</a:t>
            </a:r>
            <a:r>
              <a:rPr lang="en-US" altLang="zh-CN" sz="3000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j-cs"/>
              </a:rPr>
              <a:t>SDT</a:t>
            </a:r>
            <a:endParaRPr lang="zh-CN" altLang="en-US" sz="3000" i="1" kern="12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内容占位符 2"/>
          <p:cNvSpPr>
            <a:spLocks noGrp="1"/>
          </p:cNvSpPr>
          <p:nvPr>
            <p:ph idx="1"/>
          </p:nvPr>
        </p:nvSpPr>
        <p:spPr>
          <a:xfrm>
            <a:off x="428625" y="857250"/>
            <a:ext cx="8429625" cy="3225800"/>
          </a:xfrm>
        </p:spPr>
        <p:txBody>
          <a:bodyPr vert="horz" wrap="square" lIns="68580" tIns="34290" rIns="68580" bIns="34290" anchor="t" anchorCtr="0"/>
          <a:lstStyle/>
          <a:p>
            <a:pPr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将一个</a:t>
            </a: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S-SDD</a:t>
            </a:r>
            <a:r>
              <a:rPr lang="zh-CN" altLang="en-US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转换为</a:t>
            </a: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SDT</a:t>
            </a:r>
            <a:r>
              <a:rPr lang="zh-CN" altLang="en-US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的方法：将每个语义动作都放在产生式的最后</a:t>
            </a:r>
            <a:endParaRPr lang="en-US" altLang="zh-CN" sz="2800" b="1" kern="120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lvl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b="1" kern="1200" dirty="0">
                <a:solidFill>
                  <a:schemeClr val="tx1"/>
                </a:solidFill>
                <a:latin typeface="楷体" panose="02010609060101010101" pitchFamily="49" charset="-122"/>
                <a:ea typeface="华文楷体" panose="02010600040101010101" pitchFamily="2" charset="-122"/>
                <a:cs typeface="+mn-cs"/>
              </a:rPr>
              <a:t>例</a:t>
            </a:r>
            <a:endParaRPr lang="en-US" altLang="zh-CN" sz="2400" b="1" kern="1200" dirty="0">
              <a:solidFill>
                <a:schemeClr val="tx1"/>
              </a:solidFill>
              <a:latin typeface="楷体" panose="02010609060101010101" pitchFamily="49" charset="-122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40962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将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S-SDD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转换为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SDT</a:t>
            </a:r>
            <a:endParaRPr kumimoji="0" lang="zh-CN" altLang="en-US" sz="30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697538" y="2386013"/>
            <a:ext cx="1303337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L="625475" lvl="2" indent="0">
              <a:spcBef>
                <a:spcPct val="20000"/>
              </a:spcBef>
              <a:buSzPct val="100000"/>
            </a:pP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SDT</a:t>
            </a:r>
          </a:p>
        </p:txBody>
      </p:sp>
      <p:grpSp>
        <p:nvGrpSpPr>
          <p:cNvPr id="4" name="组合 7"/>
          <p:cNvGrpSpPr/>
          <p:nvPr/>
        </p:nvGrpSpPr>
        <p:grpSpPr>
          <a:xfrm>
            <a:off x="357188" y="2511425"/>
            <a:ext cx="4232275" cy="2338388"/>
            <a:chOff x="1376363" y="3787775"/>
            <a:chExt cx="4232275" cy="2338388"/>
          </a:xfrm>
        </p:grpSpPr>
        <p:sp>
          <p:nvSpPr>
            <p:cNvPr id="9" name="矩形 8"/>
            <p:cNvSpPr/>
            <p:nvPr/>
          </p:nvSpPr>
          <p:spPr>
            <a:xfrm>
              <a:off x="1376363" y="3787775"/>
              <a:ext cx="4232275" cy="230822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  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产生式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	  	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语义规则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(1)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L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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n 	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L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  <a:endPara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(2)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+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	E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E</a:t>
              </a:r>
              <a:r>
                <a:rPr kumimoji="1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+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(3)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            	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(4)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*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    	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18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×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(5)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           	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(6)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(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)	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(7) 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 digit        	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digit</a:t>
              </a:r>
              <a:r>
                <a:rPr kumimoji="0" lang="en-US" altLang="zh-CN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lexval</a:t>
              </a:r>
              <a:endPara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>
              <a:off x="1376363" y="4075113"/>
              <a:ext cx="423227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2978150" y="3787775"/>
              <a:ext cx="0" cy="23383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矩形 11"/>
          <p:cNvSpPr/>
          <p:nvPr/>
        </p:nvSpPr>
        <p:spPr>
          <a:xfrm>
            <a:off x="4725988" y="2784475"/>
            <a:ext cx="4032250" cy="20304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(1)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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E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n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{</a:t>
            </a:r>
            <a:r>
              <a:rPr kumimoji="1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L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</a:t>
            </a:r>
            <a:r>
              <a:rPr kumimoji="1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val 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=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E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val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(2)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E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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E</a:t>
            </a:r>
            <a:r>
              <a:rPr kumimoji="1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1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+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T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{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E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val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=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E</a:t>
            </a:r>
            <a:r>
              <a:rPr kumimoji="1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1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val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+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val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1800" b="1" i="1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(3)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E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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T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{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E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val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=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val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1800" b="1" i="1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(4)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T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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T</a:t>
            </a:r>
            <a:r>
              <a:rPr kumimoji="1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1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*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F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{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val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=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T</a:t>
            </a:r>
            <a:r>
              <a:rPr kumimoji="1" lang="en-US" altLang="zh-CN" sz="1800" b="1" i="1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1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val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×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F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val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1800" b="1" i="1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(5)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T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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F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{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val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=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F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val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1800" b="1" i="1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(6)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F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 (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E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)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{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F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val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=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E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val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1800" b="1" i="1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(7)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F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 digit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{ 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F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</a:t>
            </a:r>
            <a:r>
              <a:rPr kumimoji="1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val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= </a:t>
            </a:r>
            <a:r>
              <a:rPr kumimoji="1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digit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</a:t>
            </a:r>
            <a:r>
              <a:rPr kumimoji="1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lexval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412875" y="2136775"/>
            <a:ext cx="1558925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L="625475" lvl="2" indent="0">
              <a:spcBef>
                <a:spcPct val="20000"/>
              </a:spcBef>
              <a:buSzPct val="100000"/>
              <a:buNone/>
            </a:pP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S-SDD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 animBg="1"/>
      <p:bldP spid="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内容占位符 2"/>
          <p:cNvSpPr>
            <a:spLocks noGrp="1"/>
          </p:cNvSpPr>
          <p:nvPr>
            <p:ph idx="1"/>
          </p:nvPr>
        </p:nvSpPr>
        <p:spPr>
          <a:xfrm>
            <a:off x="258763" y="846138"/>
            <a:ext cx="8428037" cy="3225800"/>
          </a:xfrm>
        </p:spPr>
        <p:txBody>
          <a:bodyPr vert="horz" wrap="square" lIns="68580" tIns="34290" rIns="68580" bIns="34290" anchor="t" anchorCtr="0"/>
          <a:lstStyle/>
          <a:p>
            <a:pPr>
              <a:lnSpc>
                <a:spcPts val="33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如果一个</a:t>
            </a: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S-SDD</a:t>
            </a:r>
            <a:r>
              <a:rPr lang="zh-CN" altLang="en-US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的基本文法可以使用</a:t>
            </a: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LR</a:t>
            </a:r>
            <a:r>
              <a:rPr lang="zh-CN" altLang="en-US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分析技术，那么它的</a:t>
            </a: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SDT</a:t>
            </a:r>
            <a:r>
              <a:rPr lang="zh-CN" altLang="en-US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可以在</a:t>
            </a:r>
            <a:r>
              <a:rPr lang="en-US" altLang="zh-CN" sz="2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LR</a:t>
            </a:r>
            <a:r>
              <a:rPr lang="zh-CN" altLang="en-US" sz="2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句法分析过程中实现</a:t>
            </a:r>
            <a:endParaRPr lang="en-US" altLang="zh-CN" sz="2800" b="1" kern="120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lvl="1">
              <a:lnSpc>
                <a:spcPts val="33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2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例</a:t>
            </a:r>
            <a:endParaRPr lang="en-US" altLang="zh-CN" sz="2600" b="1" kern="120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属性定义的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SDT 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实现</a:t>
            </a:r>
            <a:endParaRPr kumimoji="0" lang="zh-CN" altLang="en-US" sz="30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12"/>
          <p:cNvGrpSpPr/>
          <p:nvPr/>
        </p:nvGrpSpPr>
        <p:grpSpPr>
          <a:xfrm>
            <a:off x="107950" y="2100263"/>
            <a:ext cx="3527425" cy="2462212"/>
            <a:chOff x="107504" y="2288346"/>
            <a:chExt cx="3528393" cy="2463418"/>
          </a:xfrm>
        </p:grpSpPr>
        <p:grpSp>
          <p:nvGrpSpPr>
            <p:cNvPr id="14345" name="组合 3"/>
            <p:cNvGrpSpPr/>
            <p:nvPr/>
          </p:nvGrpSpPr>
          <p:grpSpPr>
            <a:xfrm>
              <a:off x="107504" y="2628106"/>
              <a:ext cx="3528393" cy="2123658"/>
              <a:chOff x="1376363" y="3787775"/>
              <a:chExt cx="3528393" cy="2123658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1376363" y="3787906"/>
                <a:ext cx="3528393" cy="212352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 </a:t>
                </a: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产生式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	  	</a:t>
                </a: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语义规则</a:t>
                </a:r>
                <a:endPara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(1)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L 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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E 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n       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L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  <a:cs typeface="Times New Roman" panose="02020603050405020304" pitchFamily="18" charset="0"/>
                  </a:rPr>
                  <a:t>.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val </a:t>
                </a:r>
                <a:r>
                  <a:rPr kumimoji="1" lang="en-US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=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E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  <a:cs typeface="Times New Roman" panose="02020603050405020304" pitchFamily="18" charset="0"/>
                  </a:rPr>
                  <a:t>.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val</a:t>
                </a:r>
                <a:endPara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(2)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E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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E</a:t>
                </a:r>
                <a:r>
                  <a:rPr kumimoji="1" lang="en-US" altLang="zh-CN" sz="1600" b="1" i="1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1 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+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T   E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  <a:cs typeface="Times New Roman" panose="02020603050405020304" pitchFamily="18" charset="0"/>
                  </a:rPr>
                  <a:t>.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val 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=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E</a:t>
                </a:r>
                <a:r>
                  <a:rPr kumimoji="1" lang="en-US" altLang="zh-CN" sz="1600" b="1" i="1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1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  <a:cs typeface="Times New Roman" panose="02020603050405020304" pitchFamily="18" charset="0"/>
                  </a:rPr>
                  <a:t>.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val 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+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T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  <a:cs typeface="Times New Roman" panose="02020603050405020304" pitchFamily="18" charset="0"/>
                  </a:rPr>
                  <a:t>.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val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(3)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E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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T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         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E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  <a:cs typeface="Times New Roman" panose="02020603050405020304" pitchFamily="18" charset="0"/>
                  </a:rPr>
                  <a:t>.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val 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=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T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  <a:cs typeface="Times New Roman" panose="02020603050405020304" pitchFamily="18" charset="0"/>
                  </a:rPr>
                  <a:t>.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val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(4)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T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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T</a:t>
                </a:r>
                <a:r>
                  <a:rPr kumimoji="1" lang="en-US" altLang="zh-CN" sz="1600" b="1" i="1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1 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*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F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  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T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  <a:cs typeface="Times New Roman" panose="02020603050405020304" pitchFamily="18" charset="0"/>
                  </a:rPr>
                  <a:t>.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val 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=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T</a:t>
                </a:r>
                <a:r>
                  <a:rPr kumimoji="1" lang="en-US" altLang="zh-CN" sz="1600" b="1" i="1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1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  <a:cs typeface="Times New Roman" panose="02020603050405020304" pitchFamily="18" charset="0"/>
                  </a:rPr>
                  <a:t>.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val 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×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F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  <a:cs typeface="Times New Roman" panose="02020603050405020304" pitchFamily="18" charset="0"/>
                  </a:rPr>
                  <a:t>.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val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(5)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T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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F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         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T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  <a:cs typeface="Times New Roman" panose="02020603050405020304" pitchFamily="18" charset="0"/>
                  </a:rPr>
                  <a:t>.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val 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=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F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  <a:cs typeface="Times New Roman" panose="02020603050405020304" pitchFamily="18" charset="0"/>
                  </a:rPr>
                  <a:t>.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val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(6)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F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 (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E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)     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F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  <a:cs typeface="Times New Roman" panose="02020603050405020304" pitchFamily="18" charset="0"/>
                  </a:rPr>
                  <a:t>.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val 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=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E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  <a:cs typeface="Times New Roman" panose="02020603050405020304" pitchFamily="18" charset="0"/>
                  </a:rPr>
                  <a:t>.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val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(7)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F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 digit     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F</a:t>
                </a: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  <a:cs typeface="Times New Roman" panose="02020603050405020304" pitchFamily="18" charset="0"/>
                  </a:rPr>
                  <a:t>.</a:t>
                </a:r>
                <a:r>
                  <a:rPr kumimoji="1" lang="en-US" altLang="zh-CN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val 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= </a:t>
                </a:r>
                <a:r>
                  <a:rPr kumimoji="1" lang="en-US" altLang="zh-CN" sz="16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digit</a:t>
                </a:r>
                <a:r>
                  <a:rPr kumimoji="0" lang="en-US" altLang="zh-CN" sz="16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  <a:cs typeface="Times New Roman" panose="02020603050405020304" pitchFamily="18" charset="0"/>
                  </a:rPr>
                  <a:t>.</a:t>
                </a:r>
                <a:r>
                  <a:rPr kumimoji="1" lang="en-US" altLang="zh-CN" sz="1600" b="1" i="1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lexval</a:t>
                </a:r>
                <a:endPara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  <p:cxnSp>
            <p:nvCxnSpPr>
              <p:cNvPr id="6" name="直接连接符 5"/>
              <p:cNvCxnSpPr/>
              <p:nvPr/>
            </p:nvCxnSpPr>
            <p:spPr>
              <a:xfrm>
                <a:off x="1376363" y="4075384"/>
                <a:ext cx="3528393" cy="1588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/>
              <p:cNvCxnSpPr/>
              <p:nvPr/>
            </p:nvCxnSpPr>
            <p:spPr>
              <a:xfrm>
                <a:off x="2745164" y="3787906"/>
                <a:ext cx="0" cy="21235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矩形 7"/>
            <p:cNvSpPr/>
            <p:nvPr/>
          </p:nvSpPr>
          <p:spPr>
            <a:xfrm>
              <a:off x="683925" y="2288346"/>
              <a:ext cx="1559353" cy="40024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626745" marR="0" lvl="2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Pct val="100000"/>
                <a:buFontTx/>
                <a:buNone/>
                <a:defRPr/>
              </a:pP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2">
                      <a:lumMod val="60000"/>
                      <a:lumOff val="40000"/>
                    </a:scheme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S-SDD</a:t>
              </a:r>
            </a:p>
          </p:txBody>
        </p:sp>
      </p:grpSp>
      <p:grpSp>
        <p:nvGrpSpPr>
          <p:cNvPr id="9" name="组合 13"/>
          <p:cNvGrpSpPr/>
          <p:nvPr/>
        </p:nvGrpSpPr>
        <p:grpSpPr>
          <a:xfrm>
            <a:off x="3797300" y="1506538"/>
            <a:ext cx="5303838" cy="3625850"/>
            <a:chOff x="271244" y="1749769"/>
            <a:chExt cx="6344963" cy="5108231"/>
          </a:xfrm>
        </p:grpSpPr>
        <p:pic>
          <p:nvPicPr>
            <p:cNvPr id="14343" name="图片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1244" y="2134623"/>
              <a:ext cx="6269118" cy="4723377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4344" name="矩形 15"/>
            <p:cNvSpPr/>
            <p:nvPr/>
          </p:nvSpPr>
          <p:spPr>
            <a:xfrm>
              <a:off x="5029883" y="1749769"/>
              <a:ext cx="1586324" cy="7371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buNone/>
              </a:pPr>
              <a:r>
                <a:rPr lang="en-US" altLang="zh-CN" dirty="0">
                  <a:solidFill>
                    <a:srgbClr val="2D83F4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SLR</a:t>
              </a:r>
              <a:r>
                <a:rPr lang="zh-CN" altLang="en-US" dirty="0">
                  <a:solidFill>
                    <a:srgbClr val="2D83F4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自动机</a:t>
              </a:r>
              <a:endParaRPr lang="zh-CN" altLang="en-US" sz="28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</p:grpSp>
      <p:sp>
        <p:nvSpPr>
          <p:cNvPr id="15" name="矩形 14"/>
          <p:cNvSpPr/>
          <p:nvPr/>
        </p:nvSpPr>
        <p:spPr>
          <a:xfrm>
            <a:off x="71438" y="4619625"/>
            <a:ext cx="4030663" cy="4000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当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73E8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归约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发生时执行相应的语义动作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8"/>
          <p:cNvSpPr/>
          <p:nvPr/>
        </p:nvSpPr>
        <p:spPr>
          <a:xfrm>
            <a:off x="1020763" y="744538"/>
            <a:ext cx="138112" cy="434975"/>
          </a:xfrm>
          <a:prstGeom prst="rect">
            <a:avLst/>
          </a:prstGeom>
          <a:noFill/>
          <a:ln w="9525">
            <a:noFill/>
          </a:ln>
        </p:spPr>
        <p:txBody>
          <a:bodyPr wrap="none" lIns="68580" tIns="34290" rIns="68580" bIns="34290">
            <a:spAutoFit/>
          </a:bodyPr>
          <a:lstStyle/>
          <a:p>
            <a:pPr eaLnBrk="1" hangingPunct="1"/>
            <a:endParaRPr lang="zh-CN" altLang="en-US" sz="2400" dirty="0">
              <a:solidFill>
                <a:schemeClr val="folHlink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扩展的</a:t>
            </a:r>
            <a:r>
              <a:rPr kumimoji="0" lang="en-US" altLang="zh-CN" sz="3000" b="1" i="1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LR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句法分析栈</a:t>
            </a:r>
          </a:p>
        </p:txBody>
      </p:sp>
      <p:graphicFrame>
        <p:nvGraphicFramePr>
          <p:cNvPr id="6" name="Group 125"/>
          <p:cNvGraphicFramePr>
            <a:graphicFrameLocks noGrp="1"/>
          </p:cNvGraphicFramePr>
          <p:nvPr/>
        </p:nvGraphicFramePr>
        <p:xfrm>
          <a:off x="1012825" y="1030288"/>
          <a:ext cx="4394200" cy="3640152"/>
        </p:xfrm>
        <a:graphic>
          <a:graphicData uri="http://schemas.openxmlformats.org/drawingml/2006/table">
            <a:tbl>
              <a:tblPr/>
              <a:tblGrid>
                <a:gridCol w="144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98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1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状态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52" marR="91452" marT="45730" marB="4573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文法符号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52" marR="91452" marT="45730" marB="4573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综合属性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52" marR="91452" marT="45730" marB="4573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1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en-US" altLang="zh-CN" sz="20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1452" marR="91452"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D98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L="91452" marR="91452"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D98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endParaRPr>
                    </a:p>
                  </a:txBody>
                  <a:tcPr marL="91452" marR="91452"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1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...</a:t>
                      </a:r>
                      <a:endParaRPr kumimoji="1" lang="zh-CN" alt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endParaRPr>
                    </a:p>
                  </a:txBody>
                  <a:tcPr marL="91452" marR="91452"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D98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...</a:t>
                      </a:r>
                      <a:endParaRPr kumimoji="1" lang="zh-CN" alt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endParaRPr>
                    </a:p>
                  </a:txBody>
                  <a:tcPr marL="91452" marR="91452"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D98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...</a:t>
                      </a:r>
                      <a:endParaRPr kumimoji="1" lang="zh-CN" alt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endParaRPr>
                    </a:p>
                  </a:txBody>
                  <a:tcPr marL="91452" marR="91452"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1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en-US" altLang="zh-CN" sz="20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m-2</a:t>
                      </a:r>
                      <a:endParaRPr kumimoji="0" lang="zh-CN" altLang="en-US" sz="2000" b="1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endParaRPr>
                    </a:p>
                  </a:txBody>
                  <a:tcPr marL="91452" marR="91452"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D98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X</a:t>
                      </a:r>
                      <a:endParaRPr kumimoji="1" lang="zh-CN" alt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endParaRPr>
                    </a:p>
                  </a:txBody>
                  <a:tcPr marL="91452" marR="91452"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D98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X.x</a:t>
                      </a:r>
                      <a:endParaRPr kumimoji="1" lang="zh-CN" alt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endParaRPr>
                    </a:p>
                  </a:txBody>
                  <a:tcPr marL="91452" marR="91452"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1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en-US" altLang="zh-CN" sz="20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m-1</a:t>
                      </a:r>
                      <a:endParaRPr kumimoji="0" lang="zh-CN" altLang="en-US" sz="2000" b="1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endParaRPr>
                    </a:p>
                  </a:txBody>
                  <a:tcPr marL="91452" marR="91452"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D98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Y</a:t>
                      </a:r>
                      <a:endParaRPr kumimoji="1" lang="zh-CN" alt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endParaRPr>
                    </a:p>
                  </a:txBody>
                  <a:tcPr marL="91452" marR="91452"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D98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Y.y</a:t>
                      </a:r>
                      <a:endParaRPr kumimoji="1" lang="zh-CN" alt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endParaRPr>
                    </a:p>
                  </a:txBody>
                  <a:tcPr marL="91452" marR="91452"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1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en-US" altLang="zh-CN" sz="20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m</a:t>
                      </a:r>
                      <a:endParaRPr kumimoji="0" lang="zh-CN" altLang="en-US" sz="2000" b="1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endParaRPr>
                    </a:p>
                  </a:txBody>
                  <a:tcPr marL="91452" marR="91452"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D98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Z</a:t>
                      </a:r>
                      <a:endParaRPr kumimoji="1" lang="zh-CN" alt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endParaRPr>
                    </a:p>
                  </a:txBody>
                  <a:tcPr marL="91452" marR="91452"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D98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Z.z</a:t>
                      </a:r>
                      <a:endParaRPr kumimoji="1" lang="zh-CN" alt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endParaRPr>
                    </a:p>
                  </a:txBody>
                  <a:tcPr marL="91452" marR="91452"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9683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...</a:t>
                      </a:r>
                      <a:endParaRPr kumimoji="1" lang="zh-CN" alt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endParaRPr>
                    </a:p>
                  </a:txBody>
                  <a:tcPr marL="91452" marR="91452"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D98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...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endParaRPr>
                    </a:p>
                  </a:txBody>
                  <a:tcPr marL="91452" marR="91452"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D98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...</a:t>
                      </a:r>
                      <a:endParaRPr kumimoji="1" lang="zh-CN" alt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endParaRPr>
                    </a:p>
                  </a:txBody>
                  <a:tcPr marL="91452" marR="91452"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420" name="Text Box 2"/>
          <p:cNvSpPr txBox="1"/>
          <p:nvPr/>
        </p:nvSpPr>
        <p:spPr>
          <a:xfrm>
            <a:off x="250825" y="3216275"/>
            <a:ext cx="7620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32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top</a:t>
            </a:r>
          </a:p>
        </p:txBody>
      </p:sp>
      <p:sp>
        <p:nvSpPr>
          <p:cNvPr id="8" name="Line 13"/>
          <p:cNvSpPr>
            <a:spLocks noChangeShapeType="1"/>
          </p:cNvSpPr>
          <p:nvPr/>
        </p:nvSpPr>
        <p:spPr bwMode="auto">
          <a:xfrm>
            <a:off x="250825" y="3795713"/>
            <a:ext cx="6858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stealth" w="lg" len="lg"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451475" y="3113088"/>
            <a:ext cx="4572000" cy="1409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271780" indent="-27178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若支持多个属性</a:t>
            </a:r>
          </a:p>
          <a:p>
            <a:pPr marL="614680" lvl="1" indent="-27178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使栈记录变得足够大</a:t>
            </a:r>
          </a:p>
          <a:p>
            <a:pPr marL="614680" lvl="1" indent="-271780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在栈记录中存放指针</a:t>
            </a:r>
          </a:p>
        </p:txBody>
      </p:sp>
      <p:sp>
        <p:nvSpPr>
          <p:cNvPr id="5" name="圆角矩形标注 4"/>
          <p:cNvSpPr/>
          <p:nvPr/>
        </p:nvSpPr>
        <p:spPr>
          <a:xfrm>
            <a:off x="5143500" y="206375"/>
            <a:ext cx="3797300" cy="865188"/>
          </a:xfrm>
          <a:prstGeom prst="wedgeRoundRectCallout">
            <a:avLst>
              <a:gd name="adj1" fmla="val -39869"/>
              <a:gd name="adj2" fmla="val 79745"/>
              <a:gd name="adj3" fmla="val 16667"/>
            </a:avLst>
          </a:prstGeom>
          <a:solidFill>
            <a:srgbClr val="FFCCCC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在分析栈中使用一个附加的域来存放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综合属性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值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438" y="1362075"/>
            <a:ext cx="2462212" cy="14573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435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8174038" cy="358775"/>
          </a:xfrm>
        </p:spPr>
        <p:txBody>
          <a:bodyPr vert="horz" wrap="square" lIns="68580" tIns="34290" rIns="68580" bIns="34290" anchor="ctr" anchorCtr="0"/>
          <a:lstStyle/>
          <a:p>
            <a:pPr>
              <a:buNone/>
            </a:pPr>
            <a:r>
              <a:rPr lang="zh-CN" altLang="en-US" sz="26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将语义动作中的抽象定义式改写成具体可执行的栈操作</a:t>
            </a:r>
          </a:p>
        </p:txBody>
      </p:sp>
      <p:sp>
        <p:nvSpPr>
          <p:cNvPr id="118787" name="Text Box 24"/>
          <p:cNvSpPr txBox="1">
            <a:spLocks noChangeArrowheads="1"/>
          </p:cNvSpPr>
          <p:nvPr/>
        </p:nvSpPr>
        <p:spPr bwMode="auto">
          <a:xfrm>
            <a:off x="2605088" y="2519363"/>
            <a:ext cx="3794125" cy="3778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prstDash val="solid"/>
            <a:miter lim="800000"/>
            <a:tailEnd type="none" w="lg" len="lg"/>
          </a:ln>
        </p:spPr>
        <p:txBody>
          <a:bodyPr lIns="67500" tIns="35100" rIns="67500" bIns="35100"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000" i="1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000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1" lang="en-US" altLang="zh-CN" sz="2000" i="1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XYZ   </a:t>
            </a:r>
            <a:r>
              <a:rPr kumimoji="1" lang="en-US" altLang="zh-CN" sz="2000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{ </a:t>
            </a:r>
            <a:r>
              <a:rPr kumimoji="1" lang="en-US" altLang="zh-CN" sz="2000" i="1" kern="1200" cap="none" spc="0" normalizeH="0" baseline="0" noProof="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kumimoji="1" lang="en-US" altLang="zh-CN" sz="2000" kern="1200" cap="none" spc="0" normalizeH="0" baseline="0" noProof="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</a:t>
            </a:r>
            <a:r>
              <a:rPr kumimoji="1" lang="en-US" altLang="zh-CN" sz="2000" i="1" kern="1200" cap="none" spc="0" normalizeH="0" baseline="0" noProof="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kumimoji="1" lang="en-US" altLang="zh-CN" sz="2000" i="1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000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kumimoji="1" lang="en-US" altLang="zh-CN" sz="2000" i="1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kumimoji="1" lang="en-US" altLang="zh-CN" sz="2000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en-US" altLang="zh-CN" sz="2000" i="1" kern="1200" cap="none" spc="0" normalizeH="0" baseline="0" noProof="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 sz="2000" kern="1200" cap="none" spc="0" normalizeH="0" baseline="0" noProof="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</a:t>
            </a:r>
            <a:r>
              <a:rPr kumimoji="1" lang="en-US" altLang="zh-CN" sz="2000" i="1" kern="1200" cap="none" spc="0" normalizeH="0" baseline="0" noProof="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 sz="2000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kumimoji="1" lang="en-US" altLang="zh-CN" sz="2000" i="1" kern="1200" cap="none" spc="0" normalizeH="0" baseline="0" noProof="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kumimoji="1" lang="en-US" altLang="zh-CN" sz="2000" kern="1200" cap="none" spc="0" normalizeH="0" baseline="0" noProof="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</a:t>
            </a:r>
            <a:r>
              <a:rPr kumimoji="1" lang="en-US" altLang="zh-CN" sz="2000" i="1" kern="1200" cap="none" spc="0" normalizeH="0" baseline="0" noProof="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kumimoji="1" lang="en-US" altLang="zh-CN" sz="2000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kumimoji="1" lang="en-US" altLang="zh-CN" sz="2000" i="1" kern="1200" cap="none" spc="0" normalizeH="0" baseline="0" noProof="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kumimoji="1" lang="en-US" altLang="zh-CN" sz="2000" kern="1200" cap="none" spc="0" normalizeH="0" baseline="0" noProof="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</a:t>
            </a:r>
            <a:r>
              <a:rPr kumimoji="1" lang="en-US" altLang="zh-CN" sz="2000" i="1" kern="1200" cap="none" spc="0" normalizeH="0" baseline="0" noProof="0" dirty="0" err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kumimoji="1" lang="en-US" altLang="zh-CN" sz="2000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) }</a:t>
            </a:r>
          </a:p>
        </p:txBody>
      </p:sp>
      <p:grpSp>
        <p:nvGrpSpPr>
          <p:cNvPr id="2" name="组合 22"/>
          <p:cNvGrpSpPr/>
          <p:nvPr/>
        </p:nvGrpSpPr>
        <p:grpSpPr>
          <a:xfrm>
            <a:off x="2706688" y="928688"/>
            <a:ext cx="3794125" cy="1301750"/>
            <a:chOff x="2706688" y="928688"/>
            <a:chExt cx="3794125" cy="1301750"/>
          </a:xfrm>
        </p:grpSpPr>
        <p:sp>
          <p:nvSpPr>
            <p:cNvPr id="18446" name="Text Box 24"/>
            <p:cNvSpPr txBox="1"/>
            <p:nvPr/>
          </p:nvSpPr>
          <p:spPr>
            <a:xfrm>
              <a:off x="2706688" y="928688"/>
              <a:ext cx="3794125" cy="1301750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67500" tIns="35100" rIns="67500" bIns="35100">
              <a:spAutoFit/>
            </a:bodyPr>
            <a:lstStyle/>
            <a:p>
              <a:pPr algn="ctr" eaLnBrk="1" hangingPunct="1">
                <a:spcBef>
                  <a:spcPct val="50000"/>
                </a:spcBef>
                <a:buNone/>
              </a:pPr>
              <a:r>
                <a:rPr lang="en-US" altLang="zh-CN" sz="2000" i="1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A</a:t>
              </a:r>
              <a:r>
                <a:rPr lang="en-US" altLang="zh-CN" sz="2000" dirty="0">
                  <a:latin typeface="Times New Roman" panose="02020603050405020304" pitchFamily="18" charset="0"/>
                  <a:ea typeface="楷体_GB2312" pitchFamily="49" charset="-122"/>
                </a:rPr>
                <a:t>.</a:t>
              </a:r>
              <a:r>
                <a:rPr lang="en-US" altLang="zh-CN" sz="2000" i="1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a </a:t>
              </a:r>
              <a:endParaRPr lang="en-US" altLang="zh-CN" sz="2000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endParaRPr>
            </a:p>
            <a:p>
              <a:pPr algn="ctr" eaLnBrk="1" hangingPunct="1">
                <a:spcBef>
                  <a:spcPct val="50000"/>
                </a:spcBef>
                <a:buNone/>
              </a:pPr>
              <a:endParaRPr lang="en-US" altLang="zh-CN" sz="2000" i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endParaRPr>
            </a:p>
            <a:p>
              <a:pPr algn="ctr" eaLnBrk="1" hangingPunct="1">
                <a:spcBef>
                  <a:spcPct val="50000"/>
                </a:spcBef>
                <a:buNone/>
              </a:pPr>
              <a:r>
                <a:rPr lang="en-US" altLang="zh-CN" sz="2000" i="1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X</a:t>
              </a:r>
              <a:r>
                <a:rPr lang="en-US" altLang="zh-CN" sz="2000" dirty="0">
                  <a:latin typeface="Times New Roman" panose="02020603050405020304" pitchFamily="18" charset="0"/>
                  <a:ea typeface="楷体_GB2312" pitchFamily="49" charset="-122"/>
                </a:rPr>
                <a:t>.</a:t>
              </a:r>
              <a:r>
                <a:rPr lang="en-US" altLang="zh-CN" sz="2000" i="1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x</a:t>
              </a:r>
              <a:r>
                <a:rPr lang="en-US" altLang="zh-CN" sz="2000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       </a:t>
              </a:r>
              <a:r>
                <a:rPr lang="en-US" altLang="zh-CN" sz="2000" i="1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Y</a:t>
              </a:r>
              <a:r>
                <a:rPr lang="en-US" altLang="zh-CN" sz="2000" dirty="0">
                  <a:latin typeface="Times New Roman" panose="02020603050405020304" pitchFamily="18" charset="0"/>
                  <a:ea typeface="楷体_GB2312" pitchFamily="49" charset="-122"/>
                </a:rPr>
                <a:t>.</a:t>
              </a:r>
              <a:r>
                <a:rPr lang="en-US" altLang="zh-CN" sz="2000" i="1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y</a:t>
              </a:r>
              <a:r>
                <a:rPr lang="en-US" altLang="zh-CN" sz="2000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        </a:t>
              </a:r>
              <a:r>
                <a:rPr lang="en-US" altLang="zh-CN" sz="2000" i="1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Z</a:t>
              </a:r>
              <a:r>
                <a:rPr lang="en-US" altLang="zh-CN" sz="2000" dirty="0">
                  <a:latin typeface="Times New Roman" panose="02020603050405020304" pitchFamily="18" charset="0"/>
                  <a:ea typeface="楷体_GB2312" pitchFamily="49" charset="-122"/>
                </a:rPr>
                <a:t>.</a:t>
              </a:r>
              <a:r>
                <a:rPr lang="en-US" altLang="zh-CN" sz="2000" i="1" dirty="0"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z</a:t>
              </a:r>
              <a:endParaRPr lang="en-US" altLang="zh-CN" sz="2000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endParaRPr>
            </a:p>
          </p:txBody>
        </p:sp>
        <p:cxnSp>
          <p:nvCxnSpPr>
            <p:cNvPr id="12" name="直接连接符 11"/>
            <p:cNvCxnSpPr/>
            <p:nvPr/>
          </p:nvCxnSpPr>
          <p:spPr>
            <a:xfrm rot="5400000">
              <a:off x="4321970" y="1605757"/>
              <a:ext cx="500062" cy="317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4725988" y="1357313"/>
              <a:ext cx="703262" cy="5715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rot="10800000" flipV="1">
              <a:off x="3857625" y="1357313"/>
              <a:ext cx="581025" cy="5715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1"/>
          <p:cNvGrpSpPr/>
          <p:nvPr/>
        </p:nvGrpSpPr>
        <p:grpSpPr>
          <a:xfrm>
            <a:off x="749300" y="2901950"/>
            <a:ext cx="7286625" cy="1741488"/>
            <a:chOff x="749300" y="2901950"/>
            <a:chExt cx="7286625" cy="1741488"/>
          </a:xfrm>
        </p:grpSpPr>
        <p:sp>
          <p:nvSpPr>
            <p:cNvPr id="17" name="Text Box 22"/>
            <p:cNvSpPr txBox="1">
              <a:spLocks noChangeArrowheads="1"/>
            </p:cNvSpPr>
            <p:nvPr/>
          </p:nvSpPr>
          <p:spPr bwMode="auto">
            <a:xfrm>
              <a:off x="749300" y="3403600"/>
              <a:ext cx="7286625" cy="1239838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tailEnd type="none" w="lg" len="lg"/>
            </a:ln>
          </p:spPr>
          <p:txBody>
            <a:bodyPr lIns="67500" tIns="35100" rIns="67500" bIns="35100"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2000" i="1" kern="1200" cap="none" spc="0" normalizeH="0" baseline="0" noProof="0" dirty="0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stack</a:t>
              </a:r>
              <a:r>
                <a:rPr kumimoji="1" lang="en-US" altLang="zh-CN" sz="2000" kern="1200" cap="none" spc="0" normalizeH="0" baseline="0" noProof="0" dirty="0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[</a:t>
              </a:r>
              <a:r>
                <a:rPr kumimoji="1" lang="en-US" altLang="zh-CN" sz="2000" i="1" kern="1200" cap="none" spc="0" normalizeH="0" baseline="0" noProof="0" dirty="0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top</a:t>
              </a:r>
              <a:r>
                <a:rPr kumimoji="1" lang="en-US" altLang="zh-CN" sz="2000" kern="1200" cap="none" spc="0" normalizeH="0" baseline="0" noProof="0" dirty="0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-2].</a:t>
              </a:r>
              <a:r>
                <a:rPr kumimoji="1" lang="en-US" altLang="zh-CN" sz="2000" i="1" kern="1200" cap="none" spc="0" normalizeH="0" baseline="0" noProof="0" dirty="0" err="1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symb</a:t>
              </a:r>
              <a:r>
                <a:rPr kumimoji="1" lang="en-US" altLang="zh-CN" sz="2000" i="1" kern="1200" cap="none" spc="0" normalizeH="0" baseline="0" noProof="0" dirty="0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000" kern="1200" cap="none" spc="0" normalizeH="0" baseline="0" noProof="0" dirty="0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=</a:t>
              </a:r>
              <a:r>
                <a:rPr kumimoji="1" lang="en-US" altLang="zh-CN" sz="2000" i="1" kern="1200" cap="none" spc="0" normalizeH="0" baseline="0" noProof="0" dirty="0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A</a:t>
              </a:r>
              <a:r>
                <a:rPr kumimoji="1" lang="en-US" altLang="zh-CN" sz="2000" kern="1200" cap="none" spc="0" normalizeH="0" baseline="0" noProof="0" dirty="0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</a:t>
              </a:r>
            </a:p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2000" i="1" kern="1200" cap="none" spc="0" normalizeH="0" baseline="0" noProof="0" dirty="0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stack</a:t>
              </a:r>
              <a:r>
                <a:rPr kumimoji="1" lang="en-US" altLang="zh-CN" sz="2000" kern="1200" cap="none" spc="0" normalizeH="0" baseline="0" noProof="0" dirty="0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[</a:t>
              </a:r>
              <a:r>
                <a:rPr kumimoji="1" lang="en-US" altLang="zh-CN" sz="2000" i="1" kern="1200" cap="none" spc="0" normalizeH="0" baseline="0" noProof="0" dirty="0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top</a:t>
              </a:r>
              <a:r>
                <a:rPr kumimoji="1" lang="en-US" altLang="zh-CN" sz="2000" kern="1200" cap="none" spc="0" normalizeH="0" baseline="0" noProof="0" dirty="0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-2].</a:t>
              </a:r>
              <a:r>
                <a:rPr kumimoji="1" lang="en-US" altLang="zh-CN" sz="2000" i="1" kern="1200" cap="none" spc="0" normalizeH="0" baseline="0" noProof="0" dirty="0" err="1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val</a:t>
              </a:r>
              <a:r>
                <a:rPr kumimoji="1" lang="en-US" altLang="zh-CN" sz="2000" i="1" kern="1200" cap="none" spc="0" normalizeH="0" baseline="0" noProof="0" dirty="0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000" kern="1200" cap="none" spc="0" normalizeH="0" baseline="0" noProof="0" dirty="0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= </a:t>
              </a:r>
              <a:r>
                <a:rPr kumimoji="1" lang="en-US" altLang="zh-CN" sz="2000" i="1" kern="1200" cap="none" spc="0" normalizeH="0" baseline="0" noProof="0" dirty="0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f</a:t>
              </a:r>
              <a:r>
                <a:rPr kumimoji="1" lang="en-US" altLang="zh-CN" sz="2000" kern="1200" cap="none" spc="0" normalizeH="0" baseline="0" noProof="0" dirty="0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( </a:t>
              </a:r>
              <a:r>
                <a:rPr kumimoji="1" lang="en-US" altLang="zh-CN" sz="2000" i="1" kern="1200" cap="none" spc="0" normalizeH="0" baseline="0" noProof="0" dirty="0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stack</a:t>
              </a:r>
              <a:r>
                <a:rPr kumimoji="1" lang="en-US" altLang="zh-CN" sz="2000" kern="1200" cap="none" spc="0" normalizeH="0" baseline="0" noProof="0" dirty="0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[</a:t>
              </a:r>
              <a:r>
                <a:rPr kumimoji="1" lang="en-US" altLang="zh-CN" sz="2000" i="1" kern="1200" cap="none" spc="0" normalizeH="0" baseline="0" noProof="0" dirty="0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top</a:t>
              </a:r>
              <a:r>
                <a:rPr kumimoji="1" lang="en-US" altLang="zh-CN" sz="2000" kern="1200" cap="none" spc="0" normalizeH="0" baseline="0" noProof="0" dirty="0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-2].</a:t>
              </a:r>
              <a:r>
                <a:rPr kumimoji="1" lang="en-US" altLang="zh-CN" sz="2000" i="1" kern="1200" cap="none" spc="0" normalizeH="0" baseline="0" noProof="0" dirty="0" err="1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val</a:t>
              </a:r>
              <a:r>
                <a:rPr kumimoji="1" lang="en-US" altLang="zh-CN" sz="2000" kern="1200" cap="none" spc="0" normalizeH="0" baseline="0" noProof="0" dirty="0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,</a:t>
              </a:r>
              <a:r>
                <a:rPr kumimoji="1" lang="en-US" altLang="zh-CN" sz="2000" i="1" kern="1200" cap="none" spc="0" normalizeH="0" baseline="0" noProof="0" dirty="0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stack</a:t>
              </a:r>
              <a:r>
                <a:rPr kumimoji="1" lang="en-US" altLang="zh-CN" sz="2000" kern="1200" cap="none" spc="0" normalizeH="0" baseline="0" noProof="0" dirty="0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[</a:t>
              </a:r>
              <a:r>
                <a:rPr kumimoji="1" lang="en-US" altLang="zh-CN" sz="2000" i="1" kern="1200" cap="none" spc="0" normalizeH="0" baseline="0" noProof="0" dirty="0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top</a:t>
              </a:r>
              <a:r>
                <a:rPr kumimoji="1" lang="en-US" altLang="zh-CN" sz="2000" kern="1200" cap="none" spc="0" normalizeH="0" baseline="0" noProof="0" dirty="0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-1].</a:t>
              </a:r>
              <a:r>
                <a:rPr kumimoji="1" lang="en-US" altLang="zh-CN" sz="2000" i="1" kern="1200" cap="none" spc="0" normalizeH="0" baseline="0" noProof="0" dirty="0" err="1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val</a:t>
              </a:r>
              <a:r>
                <a:rPr kumimoji="1" lang="en-US" altLang="zh-CN" sz="2000" kern="1200" cap="none" spc="0" normalizeH="0" baseline="0" noProof="0" dirty="0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,</a:t>
              </a:r>
              <a:r>
                <a:rPr kumimoji="1" lang="en-US" altLang="zh-CN" sz="2000" i="1" kern="1200" cap="none" spc="0" normalizeH="0" baseline="0" noProof="0" dirty="0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stack</a:t>
              </a:r>
              <a:r>
                <a:rPr kumimoji="1" lang="en-US" altLang="zh-CN" sz="2000" kern="1200" cap="none" spc="0" normalizeH="0" baseline="0" noProof="0" dirty="0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[</a:t>
              </a:r>
              <a:r>
                <a:rPr kumimoji="1" lang="en-US" altLang="zh-CN" sz="2000" i="1" kern="1200" cap="none" spc="0" normalizeH="0" baseline="0" noProof="0" dirty="0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top</a:t>
              </a:r>
              <a:r>
                <a:rPr kumimoji="1" lang="en-US" altLang="zh-CN" sz="2000" kern="1200" cap="none" spc="0" normalizeH="0" baseline="0" noProof="0" dirty="0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].</a:t>
              </a:r>
              <a:r>
                <a:rPr kumimoji="1" lang="en-US" altLang="zh-CN" sz="2000" i="1" kern="1200" cap="none" spc="0" normalizeH="0" baseline="0" noProof="0" dirty="0" err="1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val</a:t>
              </a:r>
              <a:r>
                <a:rPr kumimoji="1" lang="en-US" altLang="zh-CN" sz="2000" i="1" kern="1200" cap="none" spc="0" normalizeH="0" baseline="0" noProof="0" dirty="0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000" kern="1200" cap="none" spc="0" normalizeH="0" baseline="0" noProof="0" dirty="0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)</a:t>
              </a:r>
            </a:p>
            <a:p>
              <a:pPr marR="0" defTabSz="914400" eaLnBrk="1" hangingPunct="1">
                <a:spcBef>
                  <a:spcPct val="3000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2000" i="1" kern="1200" cap="none" spc="0" normalizeH="0" baseline="0" noProof="0" dirty="0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top</a:t>
              </a:r>
              <a:r>
                <a:rPr kumimoji="1" lang="en-US" altLang="zh-CN" sz="2000" kern="1200" cap="none" spc="0" normalizeH="0" baseline="0" noProof="0" dirty="0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=</a:t>
              </a:r>
              <a:r>
                <a:rPr kumimoji="1" lang="en-US" altLang="zh-CN" sz="2000" i="1" kern="1200" cap="none" spc="0" normalizeH="0" baseline="0" noProof="0" dirty="0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top</a:t>
              </a:r>
              <a:r>
                <a:rPr kumimoji="1" lang="en-US" altLang="zh-CN" sz="2000" kern="1200" cap="none" spc="0" normalizeH="0" baseline="0" noProof="0" dirty="0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-2;</a:t>
              </a:r>
            </a:p>
          </p:txBody>
        </p:sp>
        <p:cxnSp>
          <p:nvCxnSpPr>
            <p:cNvPr id="18443" name="直接箭头连接符 18"/>
            <p:cNvCxnSpPr/>
            <p:nvPr/>
          </p:nvCxnSpPr>
          <p:spPr>
            <a:xfrm flipH="1">
              <a:off x="3857625" y="2923673"/>
              <a:ext cx="1183998" cy="1100023"/>
            </a:xfrm>
            <a:prstGeom prst="straightConnector1">
              <a:avLst/>
            </a:prstGeom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arrow" w="med" len="med"/>
            </a:ln>
          </p:spPr>
        </p:cxnSp>
        <p:cxnSp>
          <p:nvCxnSpPr>
            <p:cNvPr id="18444" name="直接箭头连接符 19"/>
            <p:cNvCxnSpPr/>
            <p:nvPr/>
          </p:nvCxnSpPr>
          <p:spPr>
            <a:xfrm>
              <a:off x="5491556" y="2906373"/>
              <a:ext cx="132660" cy="1117323"/>
            </a:xfrm>
            <a:prstGeom prst="straightConnector1">
              <a:avLst/>
            </a:prstGeom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arrow" w="med" len="med"/>
            </a:ln>
          </p:spPr>
        </p:cxnSp>
        <p:cxnSp>
          <p:nvCxnSpPr>
            <p:cNvPr id="18445" name="直接箭头连接符 20"/>
            <p:cNvCxnSpPr/>
            <p:nvPr/>
          </p:nvCxnSpPr>
          <p:spPr>
            <a:xfrm>
              <a:off x="5914816" y="2901950"/>
              <a:ext cx="1233646" cy="977622"/>
            </a:xfrm>
            <a:prstGeom prst="straightConnector1">
              <a:avLst/>
            </a:prstGeom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arrow" w="med" len="med"/>
            </a:ln>
          </p:spPr>
        </p:cxnSp>
      </p:grpSp>
      <p:cxnSp>
        <p:nvCxnSpPr>
          <p:cNvPr id="120845" name="直接箭头连接符 21"/>
          <p:cNvCxnSpPr/>
          <p:nvPr/>
        </p:nvCxnSpPr>
        <p:spPr>
          <a:xfrm flipH="1">
            <a:off x="2244725" y="2924175"/>
            <a:ext cx="1944688" cy="955675"/>
          </a:xfrm>
          <a:prstGeom prst="straightConnector1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8" name="右箭头 4"/>
          <p:cNvSpPr/>
          <p:nvPr/>
        </p:nvSpPr>
        <p:spPr>
          <a:xfrm>
            <a:off x="3298825" y="2197100"/>
            <a:ext cx="2808288" cy="282575"/>
          </a:xfrm>
          <a:prstGeom prst="rightArrow">
            <a:avLst>
              <a:gd name="adj1" fmla="val 50000"/>
              <a:gd name="adj2" fmla="val 49829"/>
            </a:avLst>
          </a:prstGeom>
          <a:solidFill>
            <a:srgbClr val="FFCCCC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eaLnBrk="1" hangingPunct="1"/>
            <a:endParaRPr lang="zh-CN" altLang="en-US" b="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0813" y="1843088"/>
            <a:ext cx="2379662" cy="9382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87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87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8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08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08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0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7" grpId="0" animBg="1"/>
      <p:bldP spid="2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anchor="ctr" anchorCtr="0"/>
          <a:lstStyle/>
          <a:p>
            <a:r>
              <a:rPr lang="zh-CN" altLang="en-US" sz="30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例：在自底向上句法分析栈中实现桌面计算器</a:t>
            </a:r>
          </a:p>
        </p:txBody>
      </p:sp>
      <p:grpSp>
        <p:nvGrpSpPr>
          <p:cNvPr id="20483" name="组合 11"/>
          <p:cNvGrpSpPr/>
          <p:nvPr/>
        </p:nvGrpSpPr>
        <p:grpSpPr>
          <a:xfrm>
            <a:off x="368300" y="1071563"/>
            <a:ext cx="8347075" cy="3419475"/>
            <a:chOff x="174552" y="2636910"/>
            <a:chExt cx="11130026" cy="4560509"/>
          </a:xfrm>
        </p:grpSpPr>
        <p:sp>
          <p:nvSpPr>
            <p:cNvPr id="6" name="内容占位符 2"/>
            <p:cNvSpPr txBox="1"/>
            <p:nvPr/>
          </p:nvSpPr>
          <p:spPr bwMode="auto">
            <a:xfrm>
              <a:off x="174552" y="2636910"/>
              <a:ext cx="11130026" cy="456050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txBody>
            <a:bodyPr lIns="51435" tIns="25718" rIns="51435" bIns="25718"/>
            <a:lstStyle>
              <a:lvl1pPr marL="342900" indent="-3429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640080" indent="-17018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indent="-17018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1828800" indent="4572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286000" indent="4572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2743200" indent="4572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200400" indent="4572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3" indent="-170180" algn="l" defTabSz="914400" rtl="0" eaLnBrk="0" fontAlgn="base" latinLnBrk="0" hangingPunct="0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Tx/>
                <a:buNone/>
                <a:defRPr/>
              </a:pPr>
              <a:r>
                <a:rPr kumimoji="0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    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产生式                                                    语义动作</a:t>
              </a:r>
              <a:endPara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  <a:p>
              <a:pPr marL="0" marR="0" lvl="3" indent="-170180" algn="l" defTabSz="914400" rtl="0" eaLnBrk="0" fontAlgn="base" latinLnBrk="0" hangingPunct="0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Tx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(1)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E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 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→ 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E	             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print(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)		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{ print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(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stack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[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top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]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.</a:t>
              </a:r>
              <a:r>
                <a:rPr kumimoji="0" lang="en-US" altLang="zh-CN" sz="16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val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);}</a:t>
              </a:r>
            </a:p>
            <a:p>
              <a:pPr marL="0" marR="0" lvl="3" indent="-170180" algn="l" defTabSz="914400" rtl="0" eaLnBrk="0" fontAlgn="base" latinLnBrk="0" hangingPunct="0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Tx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(2)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E  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→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E</a:t>
              </a:r>
              <a:r>
                <a:rPr kumimoji="0" lang="en-US" altLang="zh-CN" sz="1600" b="1" i="0" u="none" strike="noStrike" kern="120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1 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+ T      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E</a:t>
              </a:r>
              <a:r>
                <a:rPr kumimoji="1" lang="en-US" altLang="zh-CN" sz="16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+ 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	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{ 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stack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[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top-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2]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.</a:t>
              </a:r>
              <a:r>
                <a:rPr kumimoji="0" lang="en-US" altLang="zh-CN" sz="16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val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= stack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[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top-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2]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.</a:t>
              </a:r>
              <a:r>
                <a:rPr kumimoji="0" lang="en-US" altLang="zh-CN" sz="16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val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+ stack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[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top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]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.</a:t>
              </a:r>
              <a:r>
                <a:rPr kumimoji="0" lang="en-US" altLang="zh-CN" sz="16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val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;</a:t>
              </a:r>
            </a:p>
            <a:p>
              <a:pPr marL="0" marR="0" lvl="3" indent="-170180" algn="l" defTabSz="914400" rtl="0" eaLnBrk="0" fontAlgn="base" latinLnBrk="0" hangingPunct="0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Tx/>
                <a:buNone/>
                <a:defRPr/>
              </a:pP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                                  			  top=top-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2; }</a:t>
              </a:r>
            </a:p>
            <a:p>
              <a:pPr marL="0" marR="0" lvl="3" indent="-170180" algn="l" defTabSz="914400" rtl="0" eaLnBrk="0" fontAlgn="base" latinLnBrk="0" hangingPunct="0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Tx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(3)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E  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→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T	             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  <a:endPara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  <a:p>
              <a:pPr marL="0" marR="0" lvl="3" indent="-170180" algn="l" defTabSz="914400" rtl="0" eaLnBrk="0" fontAlgn="base" latinLnBrk="0" hangingPunct="0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Tx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(4)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T  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→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T</a:t>
              </a:r>
              <a:r>
                <a:rPr kumimoji="0" lang="en-US" altLang="zh-CN" sz="1600" b="1" i="0" u="none" strike="noStrike" kern="120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1 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*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楷体_GB2312" pitchFamily="49" charset="-122"/>
                  <a:cs typeface="+mn-cs"/>
                </a:rPr>
                <a:t> 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F      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1" lang="en-US" altLang="zh-CN" sz="16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× 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	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{ 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stack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[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top-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2]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.</a:t>
              </a:r>
              <a:r>
                <a:rPr kumimoji="0" lang="en-US" altLang="zh-CN" sz="16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val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= stack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[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top-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2]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.</a:t>
              </a:r>
              <a:r>
                <a:rPr kumimoji="0" lang="en-US" altLang="zh-CN" sz="16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val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× 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stack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[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top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]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.</a:t>
              </a:r>
              <a:r>
                <a:rPr kumimoji="0" lang="en-US" altLang="zh-CN" sz="16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val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;</a:t>
              </a:r>
            </a:p>
            <a:p>
              <a:pPr marL="0" marR="0" lvl="3" indent="-170180" algn="l" defTabSz="914400" rtl="0" eaLnBrk="0" fontAlgn="base" latinLnBrk="0" hangingPunct="0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Tx/>
                <a:buNone/>
                <a:defRPr/>
              </a:pP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                                  			  top=top-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2; }</a:t>
              </a:r>
            </a:p>
            <a:p>
              <a:pPr marL="0" marR="0" lvl="3" indent="-170180" algn="l" defTabSz="914400" rtl="0" eaLnBrk="0" fontAlgn="base" latinLnBrk="0" hangingPunct="0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Tx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(5)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T  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→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F	            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</a:t>
              </a:r>
              <a:endPara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  <a:p>
              <a:pPr marL="0" marR="0" lvl="3" indent="-170180" algn="l" defTabSz="914400" rtl="0" eaLnBrk="0" fontAlgn="base" latinLnBrk="0" hangingPunct="0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Tx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(6)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F  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→ ( 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E 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)         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E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		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highlight>
                    <a:srgbClr val="FFFF00"/>
                  </a:highlight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{ 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highlight>
                    <a:srgbClr val="FFFF00"/>
                  </a:highlight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stack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highlight>
                    <a:srgbClr val="FFFF00"/>
                  </a:highlight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[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highlight>
                    <a:srgbClr val="FFFF00"/>
                  </a:highlight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top-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highlight>
                    <a:srgbClr val="FFFF00"/>
                  </a:highlight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2]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highlight>
                    <a:srgbClr val="FFFF00"/>
                  </a:highlight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.</a:t>
              </a:r>
              <a:r>
                <a:rPr kumimoji="0" lang="en-US" altLang="zh-CN" sz="16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highlight>
                    <a:srgbClr val="FFFF00"/>
                  </a:highlight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val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highlight>
                    <a:srgbClr val="FFFF00"/>
                  </a:highlight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= stack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highlight>
                    <a:srgbClr val="FFFF00"/>
                  </a:highlight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[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highlight>
                    <a:srgbClr val="FFFF00"/>
                  </a:highlight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top-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highlight>
                    <a:srgbClr val="FFFF00"/>
                  </a:highlight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1]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highlight>
                    <a:srgbClr val="FFFF00"/>
                  </a:highlight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.</a:t>
              </a:r>
              <a:r>
                <a:rPr kumimoji="0" lang="en-US" altLang="zh-CN" sz="16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highlight>
                    <a:srgbClr val="FFFF00"/>
                  </a:highlight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val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highlight>
                    <a:srgbClr val="FFFF00"/>
                  </a:highlight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;</a:t>
              </a:r>
            </a:p>
            <a:p>
              <a:pPr marL="0" marR="0" lvl="3" indent="-170180" algn="l" defTabSz="914400" rtl="0" eaLnBrk="0" fontAlgn="base" latinLnBrk="0" hangingPunct="0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Tx/>
                <a:buNone/>
                <a:defRPr/>
              </a:pP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highlight>
                    <a:srgbClr val="FFFF00"/>
                  </a:highlight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                                  			  top=top-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highlight>
                    <a:srgbClr val="FFFF00"/>
                  </a:highlight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2; }</a:t>
              </a:r>
            </a:p>
            <a:p>
              <a:pPr marL="0" marR="0" lvl="3" indent="-170180" algn="l" defTabSz="914400" rtl="0" eaLnBrk="0" fontAlgn="base" latinLnBrk="0" hangingPunct="0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Tx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(7)</a:t>
              </a:r>
              <a:r>
                <a:rPr kumimoji="0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F 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→ digit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       F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val </a:t>
              </a: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16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digit</a:t>
              </a:r>
              <a:r>
                <a:rPr kumimoji="0" lang="en-US" altLang="zh-CN" sz="16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1600" b="1" i="1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lexval</a:t>
              </a:r>
              <a:endPara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  <a:p>
              <a:pPr marL="0" marR="0" lvl="3" indent="-17018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Tx/>
                <a:buNone/>
                <a:defRPr/>
              </a:pPr>
              <a:endParaRPr kumimoji="0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  <a:p>
              <a:pPr marL="0" marR="0" lvl="3" indent="-17018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Tx/>
                <a:buNone/>
                <a:defRPr/>
              </a:pP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  <a:p>
              <a:pPr marL="0" marR="0" lvl="3" indent="-17018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Tx/>
                <a:buNone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      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  <a:p>
              <a:pPr marL="0" marR="0" lvl="3" indent="-17018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Tx/>
                <a:buNone/>
                <a:defRPr/>
              </a:pP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  <a:p>
              <a:pPr marL="640080" marR="0" lvl="2" indent="-17018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  <p:cxnSp>
          <p:nvCxnSpPr>
            <p:cNvPr id="3" name="直接连接符 2"/>
            <p:cNvCxnSpPr/>
            <p:nvPr/>
          </p:nvCxnSpPr>
          <p:spPr>
            <a:xfrm>
              <a:off x="174552" y="3068825"/>
              <a:ext cx="1113002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2088121" y="2636910"/>
              <a:ext cx="0" cy="45605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4966941" y="3068825"/>
              <a:ext cx="0" cy="41285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3"/>
          <p:cNvSpPr>
            <a:spLocks noGrp="1"/>
          </p:cNvSpPr>
          <p:nvPr>
            <p:ph idx="1"/>
          </p:nvPr>
        </p:nvSpPr>
        <p:spPr>
          <a:xfrm>
            <a:off x="5748338" y="1173163"/>
            <a:ext cx="2019300" cy="317500"/>
          </a:xfrm>
        </p:spPr>
        <p:txBody>
          <a:bodyPr vert="horz" wrap="square" lIns="68580" tIns="34290" rIns="68580" bIns="34290" anchor="t" anchorCtr="0"/>
          <a:lstStyle/>
          <a:p>
            <a:pPr marL="0" indent="0">
              <a:spcBef>
                <a:spcPct val="30000"/>
              </a:spcBef>
              <a:buClrTx/>
              <a:buSzTx/>
              <a:buFont typeface="Symbol" panose="05050102010706020507" pitchFamily="18" charset="2"/>
              <a:buNone/>
            </a:pPr>
            <a:r>
              <a:rPr lang="zh-CN" altLang="en-US" sz="21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状态</a:t>
            </a:r>
            <a:r>
              <a:rPr lang="en-US" altLang="zh-CN" sz="21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  </a:t>
            </a:r>
            <a:r>
              <a:rPr lang="zh-CN" altLang="en-US" sz="21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符号</a:t>
            </a:r>
            <a:r>
              <a:rPr lang="en-US" altLang="zh-CN" sz="21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lang="zh-CN" altLang="en-US" sz="21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属性</a:t>
            </a:r>
          </a:p>
        </p:txBody>
      </p:sp>
      <p:sp>
        <p:nvSpPr>
          <p:cNvPr id="22531" name="Rectangle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anchor="ctr" anchorCtr="0"/>
          <a:lstStyle/>
          <a:p>
            <a:pPr eaLnBrk="1" hangingPunct="1"/>
            <a:r>
              <a:rPr lang="zh-CN" altLang="en-US" kern="1200" dirty="0">
                <a:solidFill>
                  <a:schemeClr val="folHlink"/>
                </a:solidFill>
                <a:latin typeface="楷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endParaRPr lang="zh-CN" altLang="en-US" kern="1200" dirty="0">
              <a:solidFill>
                <a:schemeClr val="folHlink"/>
              </a:solidFill>
              <a:latin typeface="楷体" panose="02010609060101010101" pitchFamily="49" charset="-122"/>
              <a:ea typeface="Times New Roman" panose="02020603050405020304" pitchFamily="18" charset="0"/>
              <a:cs typeface="+mj-cs"/>
            </a:endParaRPr>
          </a:p>
        </p:txBody>
      </p:sp>
      <p:sp>
        <p:nvSpPr>
          <p:cNvPr id="124932" name="矩形 1"/>
          <p:cNvSpPr>
            <a:spLocks noChangeArrowheads="1"/>
          </p:cNvSpPr>
          <p:nvPr/>
        </p:nvSpPr>
        <p:spPr bwMode="auto">
          <a:xfrm>
            <a:off x="5715000" y="268605"/>
            <a:ext cx="3339465" cy="4140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输入：</a:t>
            </a:r>
            <a:r>
              <a:rPr kumimoji="1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3*5+4    </a:t>
            </a:r>
            <a:r>
              <a:rPr kumimoji="1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sz="210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d*d+d</a:t>
            </a:r>
            <a:r>
              <a:rPr kumimoji="1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" name="矩形 1"/>
          <p:cNvSpPr/>
          <p:nvPr/>
        </p:nvSpPr>
        <p:spPr>
          <a:xfrm>
            <a:off x="5797550" y="1490663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459538" y="1490663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$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102475" y="1490663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_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794375" y="187007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462713" y="187007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110413" y="187007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22539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013" y="2033588"/>
            <a:ext cx="4700587" cy="31099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4940" name="矩形 21"/>
          <p:cNvSpPr>
            <a:spLocks noChangeArrowheads="1"/>
          </p:cNvSpPr>
          <p:nvPr/>
        </p:nvSpPr>
        <p:spPr bwMode="auto">
          <a:xfrm>
            <a:off x="0" y="4714875"/>
            <a:ext cx="1325563" cy="4159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SLR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自动机</a:t>
            </a:r>
            <a:endParaRPr kumimoji="0" lang="zh-CN" altLang="en-US" sz="21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内容占位符 2"/>
          <p:cNvSpPr txBox="1"/>
          <p:nvPr/>
        </p:nvSpPr>
        <p:spPr bwMode="auto">
          <a:xfrm>
            <a:off x="773113" y="42863"/>
            <a:ext cx="4768850" cy="19907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lIns="51435" tIns="25718" rIns="51435" bIns="25718"/>
          <a:lstStyle>
            <a:lvl1pPr marL="342900" indent="-3429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640080" indent="-17018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indent="-17018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18288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2860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27432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2004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产生式                        语义动作</a:t>
            </a:r>
            <a:endParaRPr kumimoji="0" lang="en-US" altLang="zh-CN" sz="1200" b="1" i="1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(1)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      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 print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);}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(2)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E</a:t>
            </a:r>
            <a:r>
              <a:rPr kumimoji="0" lang="en-US" altLang="zh-CN" sz="12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+ T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+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(3)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T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(4)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T</a:t>
            </a:r>
            <a:r>
              <a:rPr kumimoji="0" lang="en-US" altLang="zh-CN" sz="12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*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×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(5)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F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(6)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 (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             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(7)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→ digit</a:t>
            </a:r>
          </a:p>
          <a:p>
            <a:pPr marL="0" marR="0" lvl="3" indent="-17018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Tx/>
              <a:buNone/>
              <a:defRPr/>
            </a:pPr>
            <a:endParaRPr kumimoji="0" lang="en-US" altLang="zh-CN" sz="1500" b="1" i="1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7018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Tx/>
              <a:buNone/>
              <a:defRPr/>
            </a:pPr>
            <a:endParaRPr kumimoji="0" lang="en-US" altLang="zh-CN" sz="15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7018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7018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Tx/>
              <a:buNone/>
              <a:defRPr/>
            </a:pP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7018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640080" marR="0" lvl="2" indent="-17018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3" name="Line 41"/>
          <p:cNvSpPr>
            <a:spLocks noChangeShapeType="1"/>
          </p:cNvSpPr>
          <p:nvPr/>
        </p:nvSpPr>
        <p:spPr bwMode="auto">
          <a:xfrm flipV="1">
            <a:off x="6732588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Line 41"/>
          <p:cNvSpPr>
            <a:spLocks noChangeShapeType="1"/>
          </p:cNvSpPr>
          <p:nvPr/>
        </p:nvSpPr>
        <p:spPr bwMode="auto">
          <a:xfrm flipV="1">
            <a:off x="6877050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 animBg="1"/>
      <p:bldP spid="13" grpId="0" animBg="1"/>
      <p:bldP spid="16" grpId="0" animBg="1"/>
      <p:bldP spid="16" grpId="1" animBg="1"/>
      <p:bldP spid="17" grpId="0" animBg="1"/>
      <p:bldP spid="17" grpId="1" animBg="1"/>
      <p:bldP spid="1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/>
          <p:cNvSpPr>
            <a:spLocks noGrp="1"/>
          </p:cNvSpPr>
          <p:nvPr>
            <p:ph idx="1"/>
          </p:nvPr>
        </p:nvSpPr>
        <p:spPr>
          <a:xfrm>
            <a:off x="5748338" y="1173163"/>
            <a:ext cx="2019300" cy="317500"/>
          </a:xfrm>
        </p:spPr>
        <p:txBody>
          <a:bodyPr vert="horz" wrap="square" lIns="68580" tIns="34290" rIns="68580" bIns="34290" anchor="t" anchorCtr="0"/>
          <a:lstStyle/>
          <a:p>
            <a:pPr marL="0" indent="0">
              <a:spcBef>
                <a:spcPct val="30000"/>
              </a:spcBef>
              <a:buClrTx/>
              <a:buSzTx/>
              <a:buFont typeface="Symbol" panose="05050102010706020507" pitchFamily="18" charset="2"/>
              <a:buNone/>
            </a:pPr>
            <a:r>
              <a:rPr lang="zh-CN" altLang="en-US" sz="21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状态</a:t>
            </a:r>
            <a:r>
              <a:rPr lang="en-US" altLang="zh-CN" sz="21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  </a:t>
            </a:r>
            <a:r>
              <a:rPr lang="zh-CN" altLang="en-US" sz="21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符号</a:t>
            </a:r>
            <a:r>
              <a:rPr lang="en-US" altLang="zh-CN" sz="21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lang="zh-CN" altLang="en-US" sz="21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属性</a:t>
            </a:r>
          </a:p>
        </p:txBody>
      </p:sp>
      <p:sp>
        <p:nvSpPr>
          <p:cNvPr id="24579" name="Rectangle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anchor="ctr" anchorCtr="0"/>
          <a:lstStyle/>
          <a:p>
            <a:pPr eaLnBrk="1" hangingPunct="1"/>
            <a:r>
              <a:rPr lang="zh-CN" altLang="en-US" kern="1200" dirty="0">
                <a:solidFill>
                  <a:schemeClr val="folHlink"/>
                </a:solidFill>
                <a:latin typeface="楷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endParaRPr lang="zh-CN" altLang="en-US" kern="1200" dirty="0">
              <a:solidFill>
                <a:schemeClr val="folHlink"/>
              </a:solidFill>
              <a:latin typeface="楷体" panose="02010609060101010101" pitchFamily="49" charset="-122"/>
              <a:ea typeface="Times New Roman" panose="02020603050405020304" pitchFamily="18" charset="0"/>
              <a:cs typeface="+mj-cs"/>
            </a:endParaRPr>
          </a:p>
        </p:txBody>
      </p:sp>
      <p:sp>
        <p:nvSpPr>
          <p:cNvPr id="126980" name="矩形 1"/>
          <p:cNvSpPr>
            <a:spLocks noChangeArrowheads="1"/>
          </p:cNvSpPr>
          <p:nvPr/>
        </p:nvSpPr>
        <p:spPr bwMode="auto">
          <a:xfrm>
            <a:off x="5715000" y="268288"/>
            <a:ext cx="2914015" cy="7372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输入：</a:t>
            </a:r>
            <a:r>
              <a:rPr kumimoji="1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3*5+4</a:t>
            </a:r>
            <a:r>
              <a:rPr kumimoji="1" lang="en-US" altLang="zh-CN" sz="210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    </a:t>
            </a:r>
            <a:r>
              <a:rPr kumimoji="1" lang="en-US" altLang="zh-CN" sz="210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en-US" sz="210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d*d+d</a:t>
            </a:r>
            <a:r>
              <a:rPr kumimoji="1" lang="en-US" altLang="zh-CN" sz="210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)</a:t>
            </a:r>
            <a:endParaRPr kumimoji="1" lang="en-US" altLang="zh-CN" sz="21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1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797550" y="1490663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459538" y="1490663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$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102475" y="1490663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_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794375" y="187007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462713" y="187007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</a:t>
            </a:r>
            <a:endParaRPr kumimoji="0" lang="zh-CN" altLang="en-US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110413" y="187007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24587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013" y="2033588"/>
            <a:ext cx="4700587" cy="31099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6988" name="矩形 21"/>
          <p:cNvSpPr>
            <a:spLocks noChangeArrowheads="1"/>
          </p:cNvSpPr>
          <p:nvPr/>
        </p:nvSpPr>
        <p:spPr bwMode="auto">
          <a:xfrm>
            <a:off x="0" y="4714875"/>
            <a:ext cx="1325563" cy="4159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SLR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自动机</a:t>
            </a:r>
            <a:endParaRPr kumimoji="0" lang="zh-CN" altLang="en-US" sz="21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内容占位符 2"/>
          <p:cNvSpPr txBox="1"/>
          <p:nvPr/>
        </p:nvSpPr>
        <p:spPr bwMode="auto">
          <a:xfrm>
            <a:off x="773113" y="42863"/>
            <a:ext cx="4768850" cy="19907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lIns="51435" tIns="25718" rIns="51435" bIns="25718"/>
          <a:lstStyle>
            <a:lvl1pPr marL="342900" indent="-3429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640080" indent="-17018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indent="-17018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18288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2860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27432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2004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产生式                        语义动作</a:t>
            </a:r>
            <a:endParaRPr kumimoji="0" lang="en-US" altLang="zh-CN" sz="1200" b="1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(1)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      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 print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);}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(2)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E</a:t>
            </a:r>
            <a:r>
              <a:rPr kumimoji="0" lang="en-US" altLang="zh-CN" sz="1200" b="1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+ T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+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(3)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T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(4)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T</a:t>
            </a:r>
            <a:r>
              <a:rPr kumimoji="0" lang="en-US" altLang="zh-CN" sz="1200" b="1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*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×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(5)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F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(6)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 (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             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(7)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→ digit</a:t>
            </a:r>
          </a:p>
          <a:p>
            <a:pPr marL="0" marR="0" lvl="3" indent="-17018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endParaRPr kumimoji="0" lang="en-US" altLang="zh-CN" sz="1500" b="1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7018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endParaRPr kumimoji="0" lang="en-US" altLang="zh-CN" sz="15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7018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7018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7018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640080" marR="0" lvl="2" indent="-17018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5" name="Line 41"/>
          <p:cNvSpPr>
            <a:spLocks noChangeShapeType="1"/>
          </p:cNvSpPr>
          <p:nvPr/>
        </p:nvSpPr>
        <p:spPr bwMode="auto">
          <a:xfrm flipV="1">
            <a:off x="6732588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Line 41"/>
          <p:cNvSpPr>
            <a:spLocks noChangeShapeType="1"/>
          </p:cNvSpPr>
          <p:nvPr/>
        </p:nvSpPr>
        <p:spPr bwMode="auto">
          <a:xfrm flipV="1">
            <a:off x="6877050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7" grpId="0" animBg="1"/>
      <p:bldP spid="17" grpId="1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/>
          <p:cNvSpPr>
            <a:spLocks noGrp="1"/>
          </p:cNvSpPr>
          <p:nvPr>
            <p:ph idx="1"/>
          </p:nvPr>
        </p:nvSpPr>
        <p:spPr>
          <a:xfrm>
            <a:off x="5748338" y="1173163"/>
            <a:ext cx="2019300" cy="317500"/>
          </a:xfrm>
        </p:spPr>
        <p:txBody>
          <a:bodyPr vert="horz" wrap="square" lIns="68580" tIns="34290" rIns="68580" bIns="34290" anchor="t" anchorCtr="0"/>
          <a:lstStyle/>
          <a:p>
            <a:pPr marL="0" indent="0">
              <a:spcBef>
                <a:spcPct val="30000"/>
              </a:spcBef>
              <a:buClrTx/>
              <a:buSzTx/>
              <a:buFont typeface="Symbol" panose="05050102010706020507" pitchFamily="18" charset="2"/>
              <a:buNone/>
            </a:pPr>
            <a:r>
              <a:rPr lang="zh-CN" altLang="en-US" sz="21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状态</a:t>
            </a:r>
            <a:r>
              <a:rPr lang="en-US" altLang="zh-CN" sz="21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  </a:t>
            </a:r>
            <a:r>
              <a:rPr lang="zh-CN" altLang="en-US" sz="21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符号</a:t>
            </a:r>
            <a:r>
              <a:rPr lang="en-US" altLang="zh-CN" sz="21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lang="zh-CN" altLang="en-US" sz="21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属性</a:t>
            </a:r>
          </a:p>
        </p:txBody>
      </p:sp>
      <p:sp>
        <p:nvSpPr>
          <p:cNvPr id="26627" name="Rectangle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anchor="ctr" anchorCtr="0"/>
          <a:lstStyle/>
          <a:p>
            <a:pPr eaLnBrk="1" hangingPunct="1"/>
            <a:r>
              <a:rPr lang="zh-CN" altLang="en-US" kern="1200" dirty="0">
                <a:solidFill>
                  <a:schemeClr val="folHlink"/>
                </a:solidFill>
                <a:latin typeface="楷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endParaRPr lang="zh-CN" altLang="en-US" kern="1200" dirty="0">
              <a:solidFill>
                <a:schemeClr val="folHlink"/>
              </a:solidFill>
              <a:latin typeface="楷体" panose="02010609060101010101" pitchFamily="49" charset="-122"/>
              <a:ea typeface="Times New Roman" panose="02020603050405020304" pitchFamily="18" charset="0"/>
              <a:cs typeface="+mj-cs"/>
            </a:endParaRPr>
          </a:p>
        </p:txBody>
      </p:sp>
      <p:sp>
        <p:nvSpPr>
          <p:cNvPr id="129028" name="矩形 1"/>
          <p:cNvSpPr>
            <a:spLocks noChangeArrowheads="1"/>
          </p:cNvSpPr>
          <p:nvPr/>
        </p:nvSpPr>
        <p:spPr bwMode="auto">
          <a:xfrm>
            <a:off x="5715000" y="268288"/>
            <a:ext cx="2914015" cy="7372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输入：</a:t>
            </a:r>
            <a:r>
              <a:rPr kumimoji="1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3*5+4</a:t>
            </a:r>
            <a:r>
              <a:rPr kumimoji="1" lang="en-US" altLang="zh-CN" sz="210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    </a:t>
            </a:r>
            <a:r>
              <a:rPr kumimoji="1" lang="en-US" altLang="zh-CN" sz="210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en-US" sz="210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d*d+d</a:t>
            </a:r>
            <a:r>
              <a:rPr kumimoji="1" lang="en-US" altLang="zh-CN" sz="210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)</a:t>
            </a:r>
            <a:endParaRPr kumimoji="1" lang="en-US" altLang="zh-CN" sz="21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1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797550" y="1490663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459538" y="1490663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$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102475" y="1490663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_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794375" y="187007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462713" y="187007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endParaRPr kumimoji="0" lang="zh-CN" altLang="en-US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110413" y="187007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26635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013" y="2033588"/>
            <a:ext cx="4700587" cy="31099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9036" name="矩形 21"/>
          <p:cNvSpPr>
            <a:spLocks noChangeArrowheads="1"/>
          </p:cNvSpPr>
          <p:nvPr/>
        </p:nvSpPr>
        <p:spPr bwMode="auto">
          <a:xfrm>
            <a:off x="0" y="4714875"/>
            <a:ext cx="1325563" cy="4159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SLR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自动机</a:t>
            </a:r>
            <a:endParaRPr kumimoji="0" lang="zh-CN" altLang="en-US" sz="21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内容占位符 2"/>
          <p:cNvSpPr txBox="1"/>
          <p:nvPr/>
        </p:nvSpPr>
        <p:spPr bwMode="auto">
          <a:xfrm>
            <a:off x="773113" y="42863"/>
            <a:ext cx="4768850" cy="19907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lIns="51435" tIns="25718" rIns="51435" bIns="25718"/>
          <a:lstStyle>
            <a:lvl1pPr marL="342900" indent="-3429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640080" indent="-17018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indent="-17018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18288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2860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27432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2004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产生式                        语义动作</a:t>
            </a:r>
            <a:endParaRPr kumimoji="0" lang="en-US" altLang="zh-CN" sz="1200" b="1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(1)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      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 print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);}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(2)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E</a:t>
            </a:r>
            <a:r>
              <a:rPr kumimoji="0" lang="en-US" altLang="zh-CN" sz="1200" b="1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+ T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+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(3)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T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(4)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T</a:t>
            </a:r>
            <a:r>
              <a:rPr kumimoji="0" lang="en-US" altLang="zh-CN" sz="1200" b="1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*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×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(5)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F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(6)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 (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             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(7)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→ digit</a:t>
            </a:r>
          </a:p>
          <a:p>
            <a:pPr marL="0" marR="0" lvl="3" indent="-17018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endParaRPr kumimoji="0" lang="en-US" altLang="zh-CN" sz="1500" b="1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7018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endParaRPr kumimoji="0" lang="en-US" altLang="zh-CN" sz="15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7018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7018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7018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640080" marR="0" lvl="2" indent="-17018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794375" y="2247900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7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453188" y="2247900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*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7102475" y="2247900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_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794375" y="262572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453188" y="262572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7102475" y="262572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" name="Line 41"/>
          <p:cNvSpPr>
            <a:spLocks noChangeShapeType="1"/>
          </p:cNvSpPr>
          <p:nvPr/>
        </p:nvSpPr>
        <p:spPr bwMode="auto">
          <a:xfrm flipV="1">
            <a:off x="6732588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Line 41"/>
          <p:cNvSpPr>
            <a:spLocks noChangeShapeType="1"/>
          </p:cNvSpPr>
          <p:nvPr/>
        </p:nvSpPr>
        <p:spPr bwMode="auto">
          <a:xfrm flipV="1">
            <a:off x="6877050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" name="Line 41"/>
          <p:cNvSpPr>
            <a:spLocks noChangeShapeType="1"/>
          </p:cNvSpPr>
          <p:nvPr/>
        </p:nvSpPr>
        <p:spPr bwMode="auto">
          <a:xfrm flipV="1">
            <a:off x="7019925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" name="Line 41"/>
          <p:cNvSpPr>
            <a:spLocks noChangeShapeType="1"/>
          </p:cNvSpPr>
          <p:nvPr/>
        </p:nvSpPr>
        <p:spPr bwMode="auto">
          <a:xfrm flipV="1">
            <a:off x="7164388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21" grpId="0" animBg="1"/>
      <p:bldP spid="22" grpId="0" animBg="1"/>
      <p:bldP spid="23" grpId="0" animBg="1"/>
      <p:bldP spid="24" grpId="0" animBg="1"/>
      <p:bldP spid="24" grpId="1" animBg="1"/>
      <p:bldP spid="25" grpId="0" animBg="1"/>
      <p:bldP spid="25" grpId="1" animBg="1"/>
      <p:bldP spid="2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3"/>
          <p:cNvSpPr>
            <a:spLocks noGrp="1"/>
          </p:cNvSpPr>
          <p:nvPr>
            <p:ph idx="1"/>
          </p:nvPr>
        </p:nvSpPr>
        <p:spPr>
          <a:xfrm>
            <a:off x="5748338" y="1173163"/>
            <a:ext cx="2019300" cy="317500"/>
          </a:xfrm>
        </p:spPr>
        <p:txBody>
          <a:bodyPr vert="horz" wrap="square" lIns="68580" tIns="34290" rIns="68580" bIns="34290" anchor="t" anchorCtr="0"/>
          <a:lstStyle/>
          <a:p>
            <a:pPr marL="0" indent="0">
              <a:spcBef>
                <a:spcPct val="30000"/>
              </a:spcBef>
              <a:buClrTx/>
              <a:buSzTx/>
              <a:buFont typeface="Symbol" panose="05050102010706020507" pitchFamily="18" charset="2"/>
              <a:buNone/>
            </a:pPr>
            <a:r>
              <a:rPr lang="zh-CN" altLang="en-US" sz="21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状态</a:t>
            </a:r>
            <a:r>
              <a:rPr lang="en-US" altLang="zh-CN" sz="21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  </a:t>
            </a:r>
            <a:r>
              <a:rPr lang="zh-CN" altLang="en-US" sz="21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符号</a:t>
            </a:r>
            <a:r>
              <a:rPr lang="en-US" altLang="zh-CN" sz="21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lang="zh-CN" altLang="en-US" sz="21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属性</a:t>
            </a:r>
          </a:p>
        </p:txBody>
      </p:sp>
      <p:sp>
        <p:nvSpPr>
          <p:cNvPr id="28675" name="Rectangle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anchor="ctr" anchorCtr="0"/>
          <a:lstStyle/>
          <a:p>
            <a:pPr eaLnBrk="1" hangingPunct="1"/>
            <a:r>
              <a:rPr lang="zh-CN" altLang="en-US" kern="1200" dirty="0">
                <a:solidFill>
                  <a:schemeClr val="folHlink"/>
                </a:solidFill>
                <a:latin typeface="楷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endParaRPr lang="zh-CN" altLang="en-US" kern="1200" dirty="0">
              <a:solidFill>
                <a:schemeClr val="folHlink"/>
              </a:solidFill>
              <a:latin typeface="楷体" panose="02010609060101010101" pitchFamily="49" charset="-122"/>
              <a:ea typeface="Times New Roman" panose="02020603050405020304" pitchFamily="18" charset="0"/>
              <a:cs typeface="+mj-cs"/>
            </a:endParaRPr>
          </a:p>
        </p:txBody>
      </p:sp>
      <p:sp>
        <p:nvSpPr>
          <p:cNvPr id="131076" name="矩形 1"/>
          <p:cNvSpPr>
            <a:spLocks noChangeArrowheads="1"/>
          </p:cNvSpPr>
          <p:nvPr/>
        </p:nvSpPr>
        <p:spPr bwMode="auto">
          <a:xfrm>
            <a:off x="5715000" y="268288"/>
            <a:ext cx="2914015" cy="7372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输入：</a:t>
            </a:r>
            <a:r>
              <a:rPr kumimoji="1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3*5+4</a:t>
            </a:r>
            <a:r>
              <a:rPr kumimoji="1" lang="en-US" altLang="zh-CN" sz="210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    </a:t>
            </a:r>
            <a:r>
              <a:rPr kumimoji="1" lang="en-US" altLang="zh-CN" sz="210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en-US" sz="210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d*d+d</a:t>
            </a:r>
            <a:r>
              <a:rPr kumimoji="1" lang="en-US" altLang="zh-CN" sz="210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)</a:t>
            </a:r>
            <a:endParaRPr kumimoji="1" lang="en-US" altLang="zh-CN" sz="21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1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797550" y="1490663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459538" y="1490663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$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102475" y="1490663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_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794375" y="187007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462713" y="187007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endParaRPr kumimoji="0" lang="zh-CN" altLang="en-US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110413" y="187007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28683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013" y="2033588"/>
            <a:ext cx="4700587" cy="31099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1084" name="矩形 21"/>
          <p:cNvSpPr>
            <a:spLocks noChangeArrowheads="1"/>
          </p:cNvSpPr>
          <p:nvPr/>
        </p:nvSpPr>
        <p:spPr bwMode="auto">
          <a:xfrm>
            <a:off x="0" y="4714875"/>
            <a:ext cx="1325563" cy="4159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SLR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自动机</a:t>
            </a:r>
            <a:endParaRPr kumimoji="0" lang="zh-CN" altLang="en-US" sz="21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内容占位符 2"/>
          <p:cNvSpPr txBox="1"/>
          <p:nvPr/>
        </p:nvSpPr>
        <p:spPr bwMode="auto">
          <a:xfrm>
            <a:off x="773113" y="42863"/>
            <a:ext cx="4768850" cy="19907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lIns="51435" tIns="25718" rIns="51435" bIns="25718"/>
          <a:lstStyle>
            <a:lvl1pPr marL="342900" indent="-3429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640080" indent="-17018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indent="-17018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18288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2860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27432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2004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产生式                        语义动作</a:t>
            </a:r>
            <a:endParaRPr kumimoji="0" lang="en-US" altLang="zh-CN" sz="1200" b="1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(1)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      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 print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);}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(2)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E</a:t>
            </a:r>
            <a:r>
              <a:rPr kumimoji="0" lang="en-US" altLang="zh-CN" sz="1200" b="1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+ T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+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(3)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T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(4)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T</a:t>
            </a:r>
            <a:r>
              <a:rPr kumimoji="0" lang="en-US" altLang="zh-CN" sz="1200" b="1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*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×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(5)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F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(6)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 (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             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(7)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→ digit</a:t>
            </a:r>
          </a:p>
          <a:p>
            <a:pPr marL="0" marR="0" lvl="3" indent="-17018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endParaRPr kumimoji="0" lang="en-US" altLang="zh-CN" sz="1500" b="1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7018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endParaRPr kumimoji="0" lang="en-US" altLang="zh-CN" sz="15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7018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7018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7018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640080" marR="0" lvl="2" indent="-17018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794375" y="2247900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7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453188" y="2247900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*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7102475" y="2247900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_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794375" y="262572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10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453188" y="262572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</a:t>
            </a:r>
            <a:endParaRPr kumimoji="0" lang="zh-CN" altLang="en-US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7102475" y="262572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102475" y="187007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15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" name="Line 41"/>
          <p:cNvSpPr>
            <a:spLocks noChangeShapeType="1"/>
          </p:cNvSpPr>
          <p:nvPr/>
        </p:nvSpPr>
        <p:spPr bwMode="auto">
          <a:xfrm flipV="1">
            <a:off x="6732588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" name="Line 41"/>
          <p:cNvSpPr>
            <a:spLocks noChangeShapeType="1"/>
          </p:cNvSpPr>
          <p:nvPr/>
        </p:nvSpPr>
        <p:spPr bwMode="auto">
          <a:xfrm flipV="1">
            <a:off x="6877050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" name="Line 41"/>
          <p:cNvSpPr>
            <a:spLocks noChangeShapeType="1"/>
          </p:cNvSpPr>
          <p:nvPr/>
        </p:nvSpPr>
        <p:spPr bwMode="auto">
          <a:xfrm flipV="1">
            <a:off x="7019925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" name="Line 41"/>
          <p:cNvSpPr>
            <a:spLocks noChangeShapeType="1"/>
          </p:cNvSpPr>
          <p:nvPr/>
        </p:nvSpPr>
        <p:spPr bwMode="auto">
          <a:xfrm flipV="1">
            <a:off x="7164388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21" grpId="0" animBg="1"/>
      <p:bldP spid="22" grpId="0" animBg="1"/>
      <p:bldP spid="23" grpId="0" animBg="1"/>
      <p:bldP spid="24" grpId="0" animBg="1"/>
      <p:bldP spid="24" grpId="1" animBg="1"/>
      <p:bldP spid="25" grpId="0" animBg="1"/>
      <p:bldP spid="25" grpId="1" animBg="1"/>
      <p:bldP spid="26" grpId="0" animBg="1"/>
      <p:bldP spid="2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/>
          <p:cNvSpPr>
            <a:spLocks noGrp="1"/>
          </p:cNvSpPr>
          <p:nvPr>
            <p:ph idx="1"/>
          </p:nvPr>
        </p:nvSpPr>
        <p:spPr>
          <a:xfrm>
            <a:off x="5748338" y="1173163"/>
            <a:ext cx="2019300" cy="317500"/>
          </a:xfrm>
        </p:spPr>
        <p:txBody>
          <a:bodyPr vert="horz" wrap="square" lIns="68580" tIns="34290" rIns="68580" bIns="34290" anchor="t" anchorCtr="0"/>
          <a:lstStyle/>
          <a:p>
            <a:pPr marL="0" indent="0">
              <a:spcBef>
                <a:spcPct val="30000"/>
              </a:spcBef>
              <a:buClrTx/>
              <a:buSzTx/>
              <a:buFont typeface="Symbol" panose="05050102010706020507" pitchFamily="18" charset="2"/>
              <a:buNone/>
            </a:pPr>
            <a:r>
              <a:rPr lang="zh-CN" altLang="en-US" sz="21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状态</a:t>
            </a:r>
            <a:r>
              <a:rPr lang="en-US" altLang="zh-CN" sz="21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  </a:t>
            </a:r>
            <a:r>
              <a:rPr lang="zh-CN" altLang="en-US" sz="21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符号</a:t>
            </a:r>
            <a:r>
              <a:rPr lang="en-US" altLang="zh-CN" sz="21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lang="zh-CN" altLang="en-US" sz="21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属性</a:t>
            </a:r>
          </a:p>
        </p:txBody>
      </p:sp>
      <p:sp>
        <p:nvSpPr>
          <p:cNvPr id="30723" name="Rectangle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anchor="ctr" anchorCtr="0"/>
          <a:lstStyle/>
          <a:p>
            <a:pPr eaLnBrk="1" hangingPunct="1"/>
            <a:r>
              <a:rPr lang="zh-CN" altLang="en-US" kern="1200" dirty="0">
                <a:solidFill>
                  <a:schemeClr val="folHlink"/>
                </a:solidFill>
                <a:latin typeface="楷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endParaRPr lang="zh-CN" altLang="en-US" kern="1200" dirty="0">
              <a:solidFill>
                <a:schemeClr val="folHlink"/>
              </a:solidFill>
              <a:latin typeface="楷体" panose="02010609060101010101" pitchFamily="49" charset="-122"/>
              <a:ea typeface="Times New Roman" panose="02020603050405020304" pitchFamily="18" charset="0"/>
              <a:cs typeface="+mj-cs"/>
            </a:endParaRPr>
          </a:p>
        </p:txBody>
      </p:sp>
      <p:sp>
        <p:nvSpPr>
          <p:cNvPr id="133124" name="矩形 1"/>
          <p:cNvSpPr>
            <a:spLocks noChangeArrowheads="1"/>
          </p:cNvSpPr>
          <p:nvPr/>
        </p:nvSpPr>
        <p:spPr bwMode="auto">
          <a:xfrm>
            <a:off x="5715000" y="268288"/>
            <a:ext cx="2914015" cy="7372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输入：</a:t>
            </a:r>
            <a:r>
              <a:rPr kumimoji="1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3*5+4</a:t>
            </a:r>
            <a:r>
              <a:rPr kumimoji="1" lang="en-US" altLang="zh-CN" sz="210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    </a:t>
            </a:r>
            <a:r>
              <a:rPr kumimoji="1" lang="en-US" altLang="zh-CN" sz="210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en-US" sz="210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d*d+d</a:t>
            </a:r>
            <a:r>
              <a:rPr kumimoji="1" lang="en-US" altLang="zh-CN" sz="210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)</a:t>
            </a:r>
            <a:endParaRPr kumimoji="1" lang="en-US" altLang="zh-CN" sz="21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1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797550" y="1490663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459538" y="1490663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$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102475" y="1490663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_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794375" y="187007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462713" y="187007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endParaRPr kumimoji="0" lang="zh-CN" altLang="en-US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110413" y="187007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3073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013" y="2033588"/>
            <a:ext cx="4700587" cy="31099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3132" name="矩形 21"/>
          <p:cNvSpPr>
            <a:spLocks noChangeArrowheads="1"/>
          </p:cNvSpPr>
          <p:nvPr/>
        </p:nvSpPr>
        <p:spPr bwMode="auto">
          <a:xfrm>
            <a:off x="0" y="4714875"/>
            <a:ext cx="1325563" cy="4159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SLR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自动机</a:t>
            </a:r>
            <a:endParaRPr kumimoji="0" lang="zh-CN" altLang="en-US" sz="21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内容占位符 2"/>
          <p:cNvSpPr txBox="1"/>
          <p:nvPr/>
        </p:nvSpPr>
        <p:spPr bwMode="auto">
          <a:xfrm>
            <a:off x="773113" y="42863"/>
            <a:ext cx="4768850" cy="19907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lIns="51435" tIns="25718" rIns="51435" bIns="25718"/>
          <a:lstStyle>
            <a:lvl1pPr marL="342900" indent="-3429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640080" indent="-17018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indent="-17018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18288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2860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27432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2004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产生式                        语义动作</a:t>
            </a:r>
            <a:endParaRPr kumimoji="0" lang="en-US" altLang="zh-CN" sz="1200" b="1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(1)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      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 print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);}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(2)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E</a:t>
            </a:r>
            <a:r>
              <a:rPr kumimoji="0" lang="en-US" altLang="zh-CN" sz="1200" b="1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+ T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+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(3)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T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(4)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T</a:t>
            </a:r>
            <a:r>
              <a:rPr kumimoji="0" lang="en-US" altLang="zh-CN" sz="1200" b="1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*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×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(5)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F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(6)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 (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             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(7)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→ digit</a:t>
            </a:r>
          </a:p>
          <a:p>
            <a:pPr marL="0" marR="0" lvl="3" indent="-17018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endParaRPr kumimoji="0" lang="en-US" altLang="zh-CN" sz="1500" b="1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7018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endParaRPr kumimoji="0" lang="en-US" altLang="zh-CN" sz="15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7018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7018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7018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640080" marR="0" lvl="2" indent="-17018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102475" y="187007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15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6" name="Line 41"/>
          <p:cNvSpPr>
            <a:spLocks noChangeShapeType="1"/>
          </p:cNvSpPr>
          <p:nvPr/>
        </p:nvSpPr>
        <p:spPr bwMode="auto">
          <a:xfrm flipV="1">
            <a:off x="6732588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" name="Line 41"/>
          <p:cNvSpPr>
            <a:spLocks noChangeShapeType="1"/>
          </p:cNvSpPr>
          <p:nvPr/>
        </p:nvSpPr>
        <p:spPr bwMode="auto">
          <a:xfrm flipV="1">
            <a:off x="6877050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" name="Line 41"/>
          <p:cNvSpPr>
            <a:spLocks noChangeShapeType="1"/>
          </p:cNvSpPr>
          <p:nvPr/>
        </p:nvSpPr>
        <p:spPr bwMode="auto">
          <a:xfrm flipV="1">
            <a:off x="7019925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Line 41"/>
          <p:cNvSpPr>
            <a:spLocks noChangeShapeType="1"/>
          </p:cNvSpPr>
          <p:nvPr/>
        </p:nvSpPr>
        <p:spPr bwMode="auto">
          <a:xfrm flipV="1">
            <a:off x="7164388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7" grpId="0" animBg="1"/>
      <p:bldP spid="17" grpId="1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3"/>
          <p:cNvSpPr>
            <a:spLocks noGrp="1"/>
          </p:cNvSpPr>
          <p:nvPr>
            <p:ph idx="1"/>
          </p:nvPr>
        </p:nvSpPr>
        <p:spPr>
          <a:xfrm>
            <a:off x="5748338" y="1173163"/>
            <a:ext cx="2019300" cy="317500"/>
          </a:xfrm>
        </p:spPr>
        <p:txBody>
          <a:bodyPr vert="horz" wrap="square" lIns="68580" tIns="34290" rIns="68580" bIns="34290" anchor="t" anchorCtr="0"/>
          <a:lstStyle/>
          <a:p>
            <a:pPr marL="0" indent="0">
              <a:spcBef>
                <a:spcPct val="30000"/>
              </a:spcBef>
              <a:buClrTx/>
              <a:buSzTx/>
              <a:buFont typeface="Symbol" panose="05050102010706020507" pitchFamily="18" charset="2"/>
              <a:buNone/>
            </a:pPr>
            <a:r>
              <a:rPr lang="zh-CN" altLang="en-US" sz="21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状态</a:t>
            </a:r>
            <a:r>
              <a:rPr lang="en-US" altLang="zh-CN" sz="21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  </a:t>
            </a:r>
            <a:r>
              <a:rPr lang="zh-CN" altLang="en-US" sz="21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符号</a:t>
            </a:r>
            <a:r>
              <a:rPr lang="en-US" altLang="zh-CN" sz="21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lang="zh-CN" altLang="en-US" sz="21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属性</a:t>
            </a:r>
          </a:p>
        </p:txBody>
      </p:sp>
      <p:sp>
        <p:nvSpPr>
          <p:cNvPr id="32771" name="Rectangle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anchor="ctr" anchorCtr="0"/>
          <a:lstStyle/>
          <a:p>
            <a:pPr eaLnBrk="1" hangingPunct="1"/>
            <a:r>
              <a:rPr lang="zh-CN" altLang="en-US" kern="1200" dirty="0">
                <a:solidFill>
                  <a:schemeClr val="folHlink"/>
                </a:solidFill>
                <a:latin typeface="楷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endParaRPr lang="zh-CN" altLang="en-US" kern="1200" dirty="0">
              <a:solidFill>
                <a:schemeClr val="folHlink"/>
              </a:solidFill>
              <a:latin typeface="楷体" panose="02010609060101010101" pitchFamily="49" charset="-122"/>
              <a:ea typeface="Times New Roman" panose="02020603050405020304" pitchFamily="18" charset="0"/>
              <a:cs typeface="+mj-cs"/>
            </a:endParaRPr>
          </a:p>
        </p:txBody>
      </p:sp>
      <p:sp>
        <p:nvSpPr>
          <p:cNvPr id="135172" name="矩形 1"/>
          <p:cNvSpPr>
            <a:spLocks noChangeArrowheads="1"/>
          </p:cNvSpPr>
          <p:nvPr/>
        </p:nvSpPr>
        <p:spPr bwMode="auto">
          <a:xfrm>
            <a:off x="5715000" y="268288"/>
            <a:ext cx="2914015" cy="7372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输入：</a:t>
            </a:r>
            <a:r>
              <a:rPr kumimoji="1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3*5+4</a:t>
            </a:r>
            <a:r>
              <a:rPr kumimoji="1" lang="en-US" altLang="zh-CN" sz="210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    </a:t>
            </a:r>
            <a:r>
              <a:rPr kumimoji="1" lang="en-US" altLang="zh-CN" sz="210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en-US" sz="210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d*d+d</a:t>
            </a:r>
            <a:r>
              <a:rPr kumimoji="1" lang="en-US" altLang="zh-CN" sz="210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)</a:t>
            </a:r>
            <a:endParaRPr kumimoji="1" lang="en-US" altLang="zh-CN" sz="21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1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797550" y="1490663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459538" y="1490663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$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102475" y="1490663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_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794375" y="187007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462713" y="187007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</a:t>
            </a:r>
            <a:endParaRPr kumimoji="0" lang="zh-CN" altLang="en-US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110413" y="187007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32779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013" y="2033588"/>
            <a:ext cx="4700587" cy="31099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5180" name="矩形 21"/>
          <p:cNvSpPr>
            <a:spLocks noChangeArrowheads="1"/>
          </p:cNvSpPr>
          <p:nvPr/>
        </p:nvSpPr>
        <p:spPr bwMode="auto">
          <a:xfrm>
            <a:off x="0" y="4714875"/>
            <a:ext cx="1325563" cy="4159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SLR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自动机</a:t>
            </a:r>
            <a:endParaRPr kumimoji="0" lang="zh-CN" altLang="en-US" sz="21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内容占位符 2"/>
          <p:cNvSpPr txBox="1"/>
          <p:nvPr/>
        </p:nvSpPr>
        <p:spPr bwMode="auto">
          <a:xfrm>
            <a:off x="773113" y="42863"/>
            <a:ext cx="4768850" cy="19907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lIns="51435" tIns="25718" rIns="51435" bIns="25718"/>
          <a:lstStyle>
            <a:lvl1pPr marL="342900" indent="-3429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640080" indent="-17018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indent="-17018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18288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2860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27432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2004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产生式                        语义动作</a:t>
            </a:r>
            <a:endParaRPr kumimoji="0" lang="en-US" altLang="zh-CN" sz="1200" b="1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(1)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      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 print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);}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(2)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E</a:t>
            </a:r>
            <a:r>
              <a:rPr kumimoji="0" lang="en-US" altLang="zh-CN" sz="1200" b="1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+ T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+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(3)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T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(4)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T</a:t>
            </a:r>
            <a:r>
              <a:rPr kumimoji="0" lang="en-US" altLang="zh-CN" sz="1200" b="1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*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×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(5)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F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(6)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 (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             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(7)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→ digit</a:t>
            </a:r>
          </a:p>
          <a:p>
            <a:pPr marL="0" marR="0" lvl="3" indent="-17018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endParaRPr kumimoji="0" lang="en-US" altLang="zh-CN" sz="1500" b="1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7018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endParaRPr kumimoji="0" lang="en-US" altLang="zh-CN" sz="15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7018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7018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7018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640080" marR="0" lvl="2" indent="-17018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102475" y="187007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15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794375" y="2247900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459538" y="2247900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23" name="矩形 22"/>
          <p:cNvSpPr/>
          <p:nvPr/>
        </p:nvSpPr>
        <p:spPr>
          <a:xfrm>
            <a:off x="7102475" y="2247900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_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794375" y="262572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459538" y="262572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26" name="矩形 25"/>
          <p:cNvSpPr/>
          <p:nvPr/>
        </p:nvSpPr>
        <p:spPr>
          <a:xfrm>
            <a:off x="7102475" y="262572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8" name="Line 41"/>
          <p:cNvSpPr>
            <a:spLocks noChangeShapeType="1"/>
          </p:cNvSpPr>
          <p:nvPr/>
        </p:nvSpPr>
        <p:spPr bwMode="auto">
          <a:xfrm flipV="1">
            <a:off x="6732588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Line 41"/>
          <p:cNvSpPr>
            <a:spLocks noChangeShapeType="1"/>
          </p:cNvSpPr>
          <p:nvPr/>
        </p:nvSpPr>
        <p:spPr bwMode="auto">
          <a:xfrm flipV="1">
            <a:off x="6877050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Line 41"/>
          <p:cNvSpPr>
            <a:spLocks noChangeShapeType="1"/>
          </p:cNvSpPr>
          <p:nvPr/>
        </p:nvSpPr>
        <p:spPr bwMode="auto">
          <a:xfrm flipV="1">
            <a:off x="7019925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" name="Line 41"/>
          <p:cNvSpPr>
            <a:spLocks noChangeShapeType="1"/>
          </p:cNvSpPr>
          <p:nvPr/>
        </p:nvSpPr>
        <p:spPr bwMode="auto">
          <a:xfrm flipV="1">
            <a:off x="7164388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" name="Line 41"/>
          <p:cNvSpPr>
            <a:spLocks noChangeShapeType="1"/>
          </p:cNvSpPr>
          <p:nvPr/>
        </p:nvSpPr>
        <p:spPr bwMode="auto">
          <a:xfrm flipV="1">
            <a:off x="7307263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" name="Line 41"/>
          <p:cNvSpPr>
            <a:spLocks noChangeShapeType="1"/>
          </p:cNvSpPr>
          <p:nvPr/>
        </p:nvSpPr>
        <p:spPr bwMode="auto">
          <a:xfrm flipV="1">
            <a:off x="7481888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21" grpId="0" animBg="1"/>
      <p:bldP spid="22" grpId="0" animBg="1"/>
      <p:bldP spid="23" grpId="0" animBg="1"/>
      <p:bldP spid="24" grpId="0" animBg="1"/>
      <p:bldP spid="24" grpId="1" animBg="1"/>
      <p:bldP spid="25" grpId="0" animBg="1"/>
      <p:bldP spid="25" grpId="1" animBg="1"/>
      <p:bldP spid="2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3"/>
          <p:cNvSpPr>
            <a:spLocks noGrp="1"/>
          </p:cNvSpPr>
          <p:nvPr>
            <p:ph idx="1"/>
          </p:nvPr>
        </p:nvSpPr>
        <p:spPr>
          <a:xfrm>
            <a:off x="5748338" y="1173163"/>
            <a:ext cx="2019300" cy="317500"/>
          </a:xfrm>
        </p:spPr>
        <p:txBody>
          <a:bodyPr vert="horz" wrap="square" lIns="68580" tIns="34290" rIns="68580" bIns="34290" anchor="t" anchorCtr="0"/>
          <a:lstStyle/>
          <a:p>
            <a:pPr marL="0" indent="0">
              <a:spcBef>
                <a:spcPct val="30000"/>
              </a:spcBef>
              <a:buClrTx/>
              <a:buSzTx/>
              <a:buFont typeface="Symbol" panose="05050102010706020507" pitchFamily="18" charset="2"/>
              <a:buNone/>
            </a:pPr>
            <a:r>
              <a:rPr lang="zh-CN" altLang="en-US" sz="21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状态</a:t>
            </a:r>
            <a:r>
              <a:rPr lang="en-US" altLang="zh-CN" sz="21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  </a:t>
            </a:r>
            <a:r>
              <a:rPr lang="zh-CN" altLang="en-US" sz="21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符号</a:t>
            </a:r>
            <a:r>
              <a:rPr lang="en-US" altLang="zh-CN" sz="21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lang="zh-CN" altLang="en-US" sz="21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属性</a:t>
            </a:r>
          </a:p>
        </p:txBody>
      </p:sp>
      <p:sp>
        <p:nvSpPr>
          <p:cNvPr id="34819" name="Rectangle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anchor="ctr" anchorCtr="0"/>
          <a:lstStyle/>
          <a:p>
            <a:pPr eaLnBrk="1" hangingPunct="1"/>
            <a:r>
              <a:rPr lang="zh-CN" altLang="en-US" kern="1200" dirty="0">
                <a:solidFill>
                  <a:schemeClr val="folHlink"/>
                </a:solidFill>
                <a:latin typeface="楷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endParaRPr lang="zh-CN" altLang="en-US" kern="1200" dirty="0">
              <a:solidFill>
                <a:schemeClr val="folHlink"/>
              </a:solidFill>
              <a:latin typeface="楷体" panose="02010609060101010101" pitchFamily="49" charset="-122"/>
              <a:ea typeface="Times New Roman" panose="02020603050405020304" pitchFamily="18" charset="0"/>
              <a:cs typeface="+mj-cs"/>
            </a:endParaRPr>
          </a:p>
        </p:txBody>
      </p:sp>
      <p:sp>
        <p:nvSpPr>
          <p:cNvPr id="137220" name="矩形 1"/>
          <p:cNvSpPr>
            <a:spLocks noChangeArrowheads="1"/>
          </p:cNvSpPr>
          <p:nvPr/>
        </p:nvSpPr>
        <p:spPr bwMode="auto">
          <a:xfrm>
            <a:off x="5715000" y="268288"/>
            <a:ext cx="2914015" cy="7372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输入：</a:t>
            </a:r>
            <a:r>
              <a:rPr kumimoji="1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3*5+4</a:t>
            </a:r>
            <a:r>
              <a:rPr kumimoji="1" lang="en-US" altLang="zh-CN" sz="210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    </a:t>
            </a:r>
            <a:r>
              <a:rPr kumimoji="1" lang="en-US" altLang="zh-CN" sz="210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en-US" sz="210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d*d+d</a:t>
            </a:r>
            <a:r>
              <a:rPr kumimoji="1" lang="en-US" altLang="zh-CN" sz="210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)</a:t>
            </a:r>
            <a:endParaRPr kumimoji="1" lang="en-US" altLang="zh-CN" sz="21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1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797550" y="1490663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459538" y="1490663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$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102475" y="1490663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_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794375" y="187007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462713" y="187007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</a:t>
            </a:r>
            <a:endParaRPr kumimoji="0" lang="zh-CN" altLang="en-US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110413" y="187007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34827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013" y="2033588"/>
            <a:ext cx="4700587" cy="31099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7228" name="矩形 21"/>
          <p:cNvSpPr>
            <a:spLocks noChangeArrowheads="1"/>
          </p:cNvSpPr>
          <p:nvPr/>
        </p:nvSpPr>
        <p:spPr bwMode="auto">
          <a:xfrm>
            <a:off x="0" y="4714875"/>
            <a:ext cx="1325563" cy="4159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SLR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自动机</a:t>
            </a:r>
            <a:endParaRPr kumimoji="0" lang="zh-CN" altLang="en-US" sz="21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内容占位符 2"/>
          <p:cNvSpPr txBox="1"/>
          <p:nvPr/>
        </p:nvSpPr>
        <p:spPr bwMode="auto">
          <a:xfrm>
            <a:off x="773113" y="42863"/>
            <a:ext cx="4768850" cy="19907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lIns="51435" tIns="25718" rIns="51435" bIns="25718"/>
          <a:lstStyle>
            <a:lvl1pPr marL="342900" indent="-3429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640080" indent="-17018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indent="-17018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18288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2860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27432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2004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产生式                        语义动作</a:t>
            </a:r>
            <a:endParaRPr kumimoji="0" lang="en-US" altLang="zh-CN" sz="1200" b="1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(1)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      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 print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);}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(2)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E</a:t>
            </a:r>
            <a:r>
              <a:rPr kumimoji="0" lang="en-US" altLang="zh-CN" sz="1200" b="1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+ T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+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(3)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T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(4)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T</a:t>
            </a:r>
            <a:r>
              <a:rPr kumimoji="0" lang="en-US" altLang="zh-CN" sz="1200" b="1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*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×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(5)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F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(6)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 (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             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(7)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→ digit</a:t>
            </a:r>
          </a:p>
          <a:p>
            <a:pPr marL="0" marR="0" lvl="3" indent="-17018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endParaRPr kumimoji="0" lang="en-US" altLang="zh-CN" sz="1500" b="1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7018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endParaRPr kumimoji="0" lang="en-US" altLang="zh-CN" sz="15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7018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7018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7018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640080" marR="0" lvl="2" indent="-17018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102475" y="187007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15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794375" y="2247900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459538" y="2247900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23" name="矩形 22"/>
          <p:cNvSpPr/>
          <p:nvPr/>
        </p:nvSpPr>
        <p:spPr>
          <a:xfrm>
            <a:off x="7102475" y="2247900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_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794375" y="262572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459538" y="262572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26" name="矩形 25"/>
          <p:cNvSpPr/>
          <p:nvPr/>
        </p:nvSpPr>
        <p:spPr>
          <a:xfrm>
            <a:off x="7102475" y="262572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8" name="Line 41"/>
          <p:cNvSpPr>
            <a:spLocks noChangeShapeType="1"/>
          </p:cNvSpPr>
          <p:nvPr/>
        </p:nvSpPr>
        <p:spPr bwMode="auto">
          <a:xfrm flipV="1">
            <a:off x="6732588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Line 41"/>
          <p:cNvSpPr>
            <a:spLocks noChangeShapeType="1"/>
          </p:cNvSpPr>
          <p:nvPr/>
        </p:nvSpPr>
        <p:spPr bwMode="auto">
          <a:xfrm flipV="1">
            <a:off x="6877050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Line 41"/>
          <p:cNvSpPr>
            <a:spLocks noChangeShapeType="1"/>
          </p:cNvSpPr>
          <p:nvPr/>
        </p:nvSpPr>
        <p:spPr bwMode="auto">
          <a:xfrm flipV="1">
            <a:off x="7019925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" name="Line 41"/>
          <p:cNvSpPr>
            <a:spLocks noChangeShapeType="1"/>
          </p:cNvSpPr>
          <p:nvPr/>
        </p:nvSpPr>
        <p:spPr bwMode="auto">
          <a:xfrm flipV="1">
            <a:off x="7164388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" name="Line 41"/>
          <p:cNvSpPr>
            <a:spLocks noChangeShapeType="1"/>
          </p:cNvSpPr>
          <p:nvPr/>
        </p:nvSpPr>
        <p:spPr bwMode="auto">
          <a:xfrm flipV="1">
            <a:off x="7307263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" name="Line 41"/>
          <p:cNvSpPr>
            <a:spLocks noChangeShapeType="1"/>
          </p:cNvSpPr>
          <p:nvPr/>
        </p:nvSpPr>
        <p:spPr bwMode="auto">
          <a:xfrm flipV="1">
            <a:off x="7481888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4" grpId="1" animBg="1"/>
      <p:bldP spid="25" grpId="0" animBg="1"/>
      <p:bldP spid="25" grpId="1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/>
          <p:cNvSpPr>
            <a:spLocks noGrp="1"/>
          </p:cNvSpPr>
          <p:nvPr>
            <p:ph idx="1"/>
          </p:nvPr>
        </p:nvSpPr>
        <p:spPr>
          <a:xfrm>
            <a:off x="5748338" y="1173163"/>
            <a:ext cx="2019300" cy="317500"/>
          </a:xfrm>
        </p:spPr>
        <p:txBody>
          <a:bodyPr vert="horz" wrap="square" lIns="68580" tIns="34290" rIns="68580" bIns="34290" anchor="t" anchorCtr="0"/>
          <a:lstStyle/>
          <a:p>
            <a:pPr marL="0" indent="0">
              <a:spcBef>
                <a:spcPct val="30000"/>
              </a:spcBef>
              <a:buClrTx/>
              <a:buSzTx/>
              <a:buFont typeface="Symbol" panose="05050102010706020507" pitchFamily="18" charset="2"/>
              <a:buNone/>
            </a:pPr>
            <a:r>
              <a:rPr lang="zh-CN" altLang="en-US" sz="21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状态</a:t>
            </a:r>
            <a:r>
              <a:rPr lang="en-US" altLang="zh-CN" sz="21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  </a:t>
            </a:r>
            <a:r>
              <a:rPr lang="zh-CN" altLang="en-US" sz="21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符号</a:t>
            </a:r>
            <a:r>
              <a:rPr lang="en-US" altLang="zh-CN" sz="21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lang="zh-CN" altLang="en-US" sz="21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属性</a:t>
            </a:r>
          </a:p>
        </p:txBody>
      </p:sp>
      <p:sp>
        <p:nvSpPr>
          <p:cNvPr id="36867" name="Rectangle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anchor="ctr" anchorCtr="0"/>
          <a:lstStyle/>
          <a:p>
            <a:pPr eaLnBrk="1" hangingPunct="1"/>
            <a:r>
              <a:rPr lang="zh-CN" altLang="en-US" kern="1200" dirty="0">
                <a:solidFill>
                  <a:schemeClr val="folHlink"/>
                </a:solidFill>
                <a:latin typeface="楷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endParaRPr lang="zh-CN" altLang="en-US" kern="1200" dirty="0">
              <a:solidFill>
                <a:schemeClr val="folHlink"/>
              </a:solidFill>
              <a:latin typeface="楷体" panose="02010609060101010101" pitchFamily="49" charset="-122"/>
              <a:ea typeface="Times New Roman" panose="02020603050405020304" pitchFamily="18" charset="0"/>
              <a:cs typeface="+mj-cs"/>
            </a:endParaRPr>
          </a:p>
        </p:txBody>
      </p:sp>
      <p:sp>
        <p:nvSpPr>
          <p:cNvPr id="139268" name="矩形 1"/>
          <p:cNvSpPr>
            <a:spLocks noChangeArrowheads="1"/>
          </p:cNvSpPr>
          <p:nvPr/>
        </p:nvSpPr>
        <p:spPr bwMode="auto">
          <a:xfrm>
            <a:off x="5715000" y="268288"/>
            <a:ext cx="2914015" cy="7372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输入：</a:t>
            </a:r>
            <a:r>
              <a:rPr kumimoji="1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3*5+4</a:t>
            </a:r>
            <a:r>
              <a:rPr kumimoji="1" lang="en-US" altLang="zh-CN" sz="210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    </a:t>
            </a:r>
            <a:r>
              <a:rPr kumimoji="1" lang="en-US" altLang="zh-CN" sz="210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en-US" sz="210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d*d+d</a:t>
            </a:r>
            <a:r>
              <a:rPr kumimoji="1" lang="en-US" altLang="zh-CN" sz="210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)</a:t>
            </a:r>
            <a:endParaRPr kumimoji="1" lang="en-US" altLang="zh-CN" sz="21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1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797550" y="1490663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459538" y="1490663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$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102475" y="1490663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_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4" name="Line 41"/>
          <p:cNvSpPr>
            <a:spLocks noChangeShapeType="1"/>
          </p:cNvSpPr>
          <p:nvPr/>
        </p:nvSpPr>
        <p:spPr bwMode="auto">
          <a:xfrm flipV="1">
            <a:off x="6732588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794375" y="187007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462713" y="187007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</a:t>
            </a:r>
            <a:endParaRPr kumimoji="0" lang="zh-CN" altLang="en-US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110413" y="187007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9" name="Line 41"/>
          <p:cNvSpPr>
            <a:spLocks noChangeShapeType="1"/>
          </p:cNvSpPr>
          <p:nvPr/>
        </p:nvSpPr>
        <p:spPr bwMode="auto">
          <a:xfrm flipV="1">
            <a:off x="6877050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6877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013" y="2033588"/>
            <a:ext cx="4700587" cy="31099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9278" name="矩形 21"/>
          <p:cNvSpPr>
            <a:spLocks noChangeArrowheads="1"/>
          </p:cNvSpPr>
          <p:nvPr/>
        </p:nvSpPr>
        <p:spPr bwMode="auto">
          <a:xfrm>
            <a:off x="0" y="4714875"/>
            <a:ext cx="1325563" cy="4159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SLR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自动机</a:t>
            </a:r>
            <a:endParaRPr kumimoji="0" lang="zh-CN" altLang="en-US" sz="21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内容占位符 2"/>
          <p:cNvSpPr txBox="1"/>
          <p:nvPr/>
        </p:nvSpPr>
        <p:spPr bwMode="auto">
          <a:xfrm>
            <a:off x="773113" y="42863"/>
            <a:ext cx="4768850" cy="19907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lIns="51435" tIns="25718" rIns="51435" bIns="25718"/>
          <a:lstStyle>
            <a:lvl1pPr marL="342900" indent="-3429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640080" indent="-17018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indent="-17018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18288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2860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27432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2004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产生式                        语义动作</a:t>
            </a:r>
            <a:endParaRPr kumimoji="0" lang="en-US" altLang="zh-CN" sz="1200" b="1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(1)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      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 print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);}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(2)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E</a:t>
            </a:r>
            <a:r>
              <a:rPr kumimoji="0" lang="en-US" altLang="zh-CN" sz="1200" b="1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+ T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+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(3)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T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(4)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T</a:t>
            </a:r>
            <a:r>
              <a:rPr kumimoji="0" lang="en-US" altLang="zh-CN" sz="1200" b="1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*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×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(5)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F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(6)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 (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             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(7)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→ digit</a:t>
            </a:r>
          </a:p>
          <a:p>
            <a:pPr marL="0" marR="0" lvl="3" indent="-17018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endParaRPr kumimoji="0" lang="en-US" altLang="zh-CN" sz="1500" b="1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7018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endParaRPr kumimoji="0" lang="en-US" altLang="zh-CN" sz="15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7018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7018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7018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640080" marR="0" lvl="2" indent="-17018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7" name="Line 41"/>
          <p:cNvSpPr>
            <a:spLocks noChangeShapeType="1"/>
          </p:cNvSpPr>
          <p:nvPr/>
        </p:nvSpPr>
        <p:spPr bwMode="auto">
          <a:xfrm flipV="1">
            <a:off x="7019925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Line 41"/>
          <p:cNvSpPr>
            <a:spLocks noChangeShapeType="1"/>
          </p:cNvSpPr>
          <p:nvPr/>
        </p:nvSpPr>
        <p:spPr bwMode="auto">
          <a:xfrm flipV="1">
            <a:off x="7164388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102475" y="187007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15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794375" y="2247900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459538" y="2247900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23" name="矩形 22"/>
          <p:cNvSpPr/>
          <p:nvPr/>
        </p:nvSpPr>
        <p:spPr>
          <a:xfrm>
            <a:off x="7102475" y="2247900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_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794375" y="262572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9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459538" y="262572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26" name="矩形 25"/>
          <p:cNvSpPr/>
          <p:nvPr/>
        </p:nvSpPr>
        <p:spPr>
          <a:xfrm>
            <a:off x="7102475" y="262572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0" name="Line 41"/>
          <p:cNvSpPr>
            <a:spLocks noChangeShapeType="1"/>
          </p:cNvSpPr>
          <p:nvPr/>
        </p:nvSpPr>
        <p:spPr bwMode="auto">
          <a:xfrm flipV="1">
            <a:off x="7307263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" name="Line 41"/>
          <p:cNvSpPr>
            <a:spLocks noChangeShapeType="1"/>
          </p:cNvSpPr>
          <p:nvPr/>
        </p:nvSpPr>
        <p:spPr bwMode="auto">
          <a:xfrm flipV="1">
            <a:off x="7481888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7092950" y="187007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19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21" grpId="0" animBg="1"/>
      <p:bldP spid="22" grpId="0" animBg="1"/>
      <p:bldP spid="23" grpId="0" animBg="1"/>
      <p:bldP spid="24" grpId="0" animBg="1"/>
      <p:bldP spid="24" grpId="1" animBg="1"/>
      <p:bldP spid="25" grpId="0" animBg="1"/>
      <p:bldP spid="25" grpId="1" animBg="1"/>
      <p:bldP spid="26" grpId="0" animBg="1"/>
      <p:bldP spid="3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/>
          <p:cNvSpPr>
            <a:spLocks noGrp="1"/>
          </p:cNvSpPr>
          <p:nvPr>
            <p:ph idx="1"/>
          </p:nvPr>
        </p:nvSpPr>
        <p:spPr>
          <a:xfrm>
            <a:off x="5748338" y="1173163"/>
            <a:ext cx="2019300" cy="317500"/>
          </a:xfrm>
        </p:spPr>
        <p:txBody>
          <a:bodyPr vert="horz" wrap="square" lIns="68580" tIns="34290" rIns="68580" bIns="34290" anchor="t" anchorCtr="0"/>
          <a:lstStyle/>
          <a:p>
            <a:pPr marL="0" indent="0">
              <a:spcBef>
                <a:spcPct val="30000"/>
              </a:spcBef>
              <a:buClrTx/>
              <a:buSzTx/>
              <a:buFont typeface="Symbol" panose="05050102010706020507" pitchFamily="18" charset="2"/>
              <a:buNone/>
            </a:pPr>
            <a:r>
              <a:rPr lang="zh-CN" altLang="en-US" sz="21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状态</a:t>
            </a:r>
            <a:r>
              <a:rPr lang="en-US" altLang="zh-CN" sz="21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  </a:t>
            </a:r>
            <a:r>
              <a:rPr lang="zh-CN" altLang="en-US" sz="21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符号</a:t>
            </a:r>
            <a:r>
              <a:rPr lang="en-US" altLang="zh-CN" sz="21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lang="zh-CN" altLang="en-US" sz="21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属性</a:t>
            </a:r>
          </a:p>
        </p:txBody>
      </p:sp>
      <p:sp>
        <p:nvSpPr>
          <p:cNvPr id="38915" name="Rectangle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anchor="ctr" anchorCtr="0"/>
          <a:lstStyle/>
          <a:p>
            <a:pPr eaLnBrk="1" hangingPunct="1"/>
            <a:r>
              <a:rPr lang="zh-CN" altLang="en-US" kern="1200" dirty="0">
                <a:solidFill>
                  <a:schemeClr val="folHlink"/>
                </a:solidFill>
                <a:latin typeface="楷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endParaRPr lang="zh-CN" altLang="en-US" kern="1200" dirty="0">
              <a:solidFill>
                <a:schemeClr val="folHlink"/>
              </a:solidFill>
              <a:latin typeface="楷体" panose="02010609060101010101" pitchFamily="49" charset="-122"/>
              <a:ea typeface="Times New Roman" panose="02020603050405020304" pitchFamily="18" charset="0"/>
              <a:cs typeface="+mj-cs"/>
            </a:endParaRPr>
          </a:p>
        </p:txBody>
      </p:sp>
      <p:sp>
        <p:nvSpPr>
          <p:cNvPr id="141316" name="矩形 1"/>
          <p:cNvSpPr>
            <a:spLocks noChangeArrowheads="1"/>
          </p:cNvSpPr>
          <p:nvPr/>
        </p:nvSpPr>
        <p:spPr bwMode="auto">
          <a:xfrm>
            <a:off x="5715000" y="268288"/>
            <a:ext cx="2914015" cy="7372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输入：</a:t>
            </a:r>
            <a:r>
              <a:rPr kumimoji="1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3*5+4</a:t>
            </a:r>
            <a:r>
              <a:rPr kumimoji="1" lang="en-US" altLang="zh-CN" sz="210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    </a:t>
            </a:r>
            <a:r>
              <a:rPr kumimoji="1" lang="en-US" altLang="zh-CN" sz="210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en-US" sz="210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+mn-ea"/>
              </a:rPr>
              <a:t>d*d+d</a:t>
            </a:r>
            <a:r>
              <a:rPr kumimoji="1" lang="en-US" altLang="zh-CN" sz="210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)</a:t>
            </a:r>
            <a:endParaRPr kumimoji="1" lang="en-US" altLang="zh-CN" sz="21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1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797550" y="1490663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459538" y="1490663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$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102475" y="1490663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_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794375" y="187007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462713" y="187007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</a:t>
            </a:r>
            <a:endParaRPr kumimoji="0" lang="zh-CN" altLang="en-US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110413" y="187007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38923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013" y="2033588"/>
            <a:ext cx="4700587" cy="31099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1324" name="矩形 21"/>
          <p:cNvSpPr>
            <a:spLocks noChangeArrowheads="1"/>
          </p:cNvSpPr>
          <p:nvPr/>
        </p:nvSpPr>
        <p:spPr bwMode="auto">
          <a:xfrm>
            <a:off x="0" y="4714875"/>
            <a:ext cx="1325563" cy="4159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SLR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自动机</a:t>
            </a:r>
            <a:endParaRPr kumimoji="0" lang="zh-CN" altLang="en-US" sz="21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内容占位符 2"/>
          <p:cNvSpPr txBox="1"/>
          <p:nvPr/>
        </p:nvSpPr>
        <p:spPr bwMode="auto">
          <a:xfrm>
            <a:off x="773113" y="42863"/>
            <a:ext cx="4768850" cy="19907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lIns="51435" tIns="25718" rIns="51435" bIns="25718"/>
          <a:lstStyle>
            <a:lvl1pPr marL="342900" indent="-3429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640080" indent="-17018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indent="-17018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18288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2860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27432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2004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产生式                        语义动作</a:t>
            </a:r>
            <a:endParaRPr kumimoji="0" lang="en-US" altLang="zh-CN" sz="1200" b="1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(1)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      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 print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);}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(2)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E</a:t>
            </a:r>
            <a:r>
              <a:rPr kumimoji="0" lang="en-US" altLang="zh-CN" sz="1200" b="1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+ T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+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(3)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T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(4)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T</a:t>
            </a:r>
            <a:r>
              <a:rPr kumimoji="0" lang="en-US" altLang="zh-CN" sz="1200" b="1" i="0" u="none" strike="noStrike" kern="120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*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       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×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(5)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F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(6)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→ ( 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             {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 = stack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top-</a:t>
            </a:r>
            <a:r>
              <a: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1]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.val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               top=top-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2; }</a:t>
            </a:r>
          </a:p>
          <a:p>
            <a:pPr marL="0" marR="0" lvl="3" indent="-170180" algn="l" defTabSz="914400" rtl="0" eaLnBrk="0" fontAlgn="base" latinLnBrk="0" hangingPunct="0">
              <a:lnSpc>
                <a:spcPts val="1125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(7)</a:t>
            </a: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F 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→ digit</a:t>
            </a:r>
          </a:p>
          <a:p>
            <a:pPr marL="0" marR="0" lvl="3" indent="-17018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endParaRPr kumimoji="0" lang="en-US" altLang="zh-CN" sz="1500" b="1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7018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endParaRPr kumimoji="0" lang="en-US" altLang="zh-CN" sz="15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7018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7018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3" indent="-17018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640080" marR="0" lvl="2" indent="-17018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1B6FD"/>
              </a:buClr>
              <a:buSzPct val="100000"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102475" y="187007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15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7092950" y="1870075"/>
            <a:ext cx="684213" cy="3952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19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9" name="Line 41"/>
          <p:cNvSpPr>
            <a:spLocks noChangeShapeType="1"/>
          </p:cNvSpPr>
          <p:nvPr/>
        </p:nvSpPr>
        <p:spPr bwMode="auto">
          <a:xfrm flipV="1">
            <a:off x="6732588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Line 41"/>
          <p:cNvSpPr>
            <a:spLocks noChangeShapeType="1"/>
          </p:cNvSpPr>
          <p:nvPr/>
        </p:nvSpPr>
        <p:spPr bwMode="auto">
          <a:xfrm flipV="1">
            <a:off x="6877050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" name="Line 41"/>
          <p:cNvSpPr>
            <a:spLocks noChangeShapeType="1"/>
          </p:cNvSpPr>
          <p:nvPr/>
        </p:nvSpPr>
        <p:spPr bwMode="auto">
          <a:xfrm flipV="1">
            <a:off x="7019925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" name="Line 41"/>
          <p:cNvSpPr>
            <a:spLocks noChangeShapeType="1"/>
          </p:cNvSpPr>
          <p:nvPr/>
        </p:nvSpPr>
        <p:spPr bwMode="auto">
          <a:xfrm flipV="1">
            <a:off x="7164388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" name="Line 41"/>
          <p:cNvSpPr>
            <a:spLocks noChangeShapeType="1"/>
          </p:cNvSpPr>
          <p:nvPr/>
        </p:nvSpPr>
        <p:spPr bwMode="auto">
          <a:xfrm flipV="1">
            <a:off x="7307263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" name="Line 41"/>
          <p:cNvSpPr>
            <a:spLocks noChangeShapeType="1"/>
          </p:cNvSpPr>
          <p:nvPr/>
        </p:nvSpPr>
        <p:spPr bwMode="auto">
          <a:xfrm flipV="1">
            <a:off x="7481888" y="647700"/>
            <a:ext cx="0" cy="215900"/>
          </a:xfrm>
          <a:prstGeom prst="line">
            <a:avLst/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/>
          <p:nvPr/>
        </p:nvSpPr>
        <p:spPr>
          <a:xfrm>
            <a:off x="2000250" y="706438"/>
            <a:ext cx="5002213" cy="571500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>
            <a:spAutoFit/>
          </a:bodyPr>
          <a:lstStyle/>
          <a:p>
            <a:pPr eaLnBrk="1" hangingPunct="1"/>
            <a:endParaRPr lang="zh-CN" altLang="en-US" sz="3300" dirty="0">
              <a:solidFill>
                <a:schemeClr val="folHlink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29027" name="Rectangle 3"/>
          <p:cNvSpPr>
            <a:spLocks noChangeArrowheads="1"/>
          </p:cNvSpPr>
          <p:nvPr/>
        </p:nvSpPr>
        <p:spPr bwMode="auto">
          <a:xfrm>
            <a:off x="465138" y="857250"/>
            <a:ext cx="8499475" cy="30861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68580" tIns="34290" rIns="68580" bIns="34290"/>
          <a:lstStyle/>
          <a:p>
            <a:pPr marL="257175" marR="0" lvl="0" indent="-257175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将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L-SDD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转换为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SDT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的规则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00075" marR="0" lvl="1" indent="-257175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将计算某个非终结符号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继承属性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的动作插入到产生式右部中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紧靠在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的本次出现之前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的位置上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00075" marR="0" lvl="1" indent="-257175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将计算一个产生式左部符号的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综合属性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的动作放置在这个产生式右部的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最右端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将</a:t>
            </a:r>
            <a:r>
              <a:rPr kumimoji="0" lang="en-US" altLang="zh-CN" sz="3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L-SDD</a:t>
            </a:r>
            <a:r>
              <a:rPr kumimoji="0" lang="zh-CN" altLang="en-US" sz="3000" b="1" i="0" u="none" strike="noStrike" kern="1200" cap="none" spc="3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转换为</a:t>
            </a:r>
            <a:r>
              <a:rPr kumimoji="0" lang="en-US" altLang="zh-CN" sz="3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SDT</a:t>
            </a:r>
            <a:endParaRPr kumimoji="1" lang="zh-CN" altLang="en-US" sz="30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6"/>
          <p:cNvGrpSpPr/>
          <p:nvPr/>
        </p:nvGrpSpPr>
        <p:grpSpPr bwMode="auto">
          <a:xfrm>
            <a:off x="2051050" y="571486"/>
            <a:ext cx="4714875" cy="2611438"/>
            <a:chOff x="214282" y="1210931"/>
            <a:chExt cx="4715291" cy="2611773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3" name="Rectangle 6"/>
            <p:cNvSpPr>
              <a:spLocks noChangeArrowheads="1"/>
            </p:cNvSpPr>
            <p:nvPr/>
          </p:nvSpPr>
          <p:spPr bwMode="auto">
            <a:xfrm>
              <a:off x="214282" y="1210931"/>
              <a:ext cx="4715291" cy="2610185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tailEnd type="none" w="lg" len="lg"/>
            </a:ln>
          </p:spPr>
          <p:txBody>
            <a:bodyPr lIns="67500" tIns="35100" rIns="67500" bIns="3510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ts val="18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                </a:t>
              </a: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产生式         语义规则</a:t>
              </a:r>
            </a:p>
            <a:p>
              <a:pPr marL="0" marR="0" lvl="0" indent="0" algn="l" defTabSz="914400" rtl="0" eaLnBrk="1" fontAlgn="base" latinLnBrk="0" hangingPunct="1">
                <a:lnSpc>
                  <a:spcPts val="18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(1)</a:t>
              </a: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T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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F T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	 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inh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= 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F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.val</a:t>
              </a:r>
              <a:endPara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ts val="18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            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	                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.val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=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.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syn</a:t>
              </a:r>
              <a:endPara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ts val="18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(2) 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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*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F T</a:t>
              </a:r>
              <a:r>
                <a:rPr kumimoji="1" lang="en-US" altLang="zh-CN" sz="2000" b="1" i="1" u="none" strike="noStrike" kern="120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T</a:t>
              </a:r>
              <a:r>
                <a:rPr kumimoji="1" lang="en-US" altLang="zh-CN" sz="2000" b="1" i="1" u="none" strike="noStrike" kern="120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inh =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.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inh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 × 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F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.val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 </a:t>
              </a:r>
            </a:p>
            <a:p>
              <a:pPr marL="0" marR="0" lvl="0" indent="0" algn="l" defTabSz="914400" rtl="0" eaLnBrk="1" fontAlgn="base" latinLnBrk="0" hangingPunct="1">
                <a:lnSpc>
                  <a:spcPts val="18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                              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.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syn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=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T</a:t>
              </a:r>
              <a:r>
                <a:rPr kumimoji="1" lang="en-US" altLang="zh-CN" sz="2000" b="1" i="1" u="none" strike="noStrike" kern="120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1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.syn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                </a:t>
              </a:r>
              <a:endPara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ts val="18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(3) 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 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ε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          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 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.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syn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=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T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+mn-cs"/>
                </a:rPr>
                <a:t>′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.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inh</a:t>
              </a:r>
              <a:endPara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endParaRPr>
            </a:p>
            <a:p>
              <a:pPr marL="0" marR="0" lvl="0" indent="0" algn="l" defTabSz="914400" rtl="0" eaLnBrk="1" fontAlgn="base" latinLnBrk="0" hangingPunct="1">
                <a:lnSpc>
                  <a:spcPts val="18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(4)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  </a:t>
              </a:r>
              <a:r>
                <a:rPr kumimoji="1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F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  digit        </a:t>
              </a:r>
              <a:r>
                <a:rPr kumimoji="1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F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.val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= </a:t>
              </a:r>
              <a:r>
                <a:rPr kumimoji="0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digit</a:t>
              </a:r>
              <a:r>
                <a:rPr kumimoji="0" lang="en-US" altLang="zh-CN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.lexval</a:t>
              </a:r>
              <a:endPara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143376" name="Line 7"/>
            <p:cNvSpPr>
              <a:spLocks noChangeShapeType="1"/>
            </p:cNvSpPr>
            <p:nvPr/>
          </p:nvSpPr>
          <p:spPr bwMode="auto">
            <a:xfrm>
              <a:off x="231703" y="1522401"/>
              <a:ext cx="458197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tailEnd type="none" w="lg" len="lg"/>
            </a:ln>
          </p:spPr>
          <p:txBody>
            <a:bodyPr lIns="67500" tIns="35100" rIns="67500" bIns="3510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43377" name="直接连接符 2"/>
            <p:cNvCxnSpPr>
              <a:cxnSpLocks noChangeShapeType="1"/>
            </p:cNvCxnSpPr>
            <p:nvPr/>
          </p:nvCxnSpPr>
          <p:spPr bwMode="auto">
            <a:xfrm>
              <a:off x="626398" y="1210931"/>
              <a:ext cx="0" cy="2572065"/>
            </a:xfrm>
            <a:prstGeom prst="line">
              <a:avLst/>
            </a:prstGeom>
            <a:grpFill/>
            <a:ln w="12700" algn="ctr">
              <a:solidFill>
                <a:schemeClr val="tx1"/>
              </a:solidFill>
              <a:round/>
            </a:ln>
          </p:spPr>
        </p:cxnSp>
        <p:cxnSp>
          <p:nvCxnSpPr>
            <p:cNvPr id="143378" name="直接连接符 4"/>
            <p:cNvCxnSpPr>
              <a:cxnSpLocks noChangeShapeType="1"/>
            </p:cNvCxnSpPr>
            <p:nvPr/>
          </p:nvCxnSpPr>
          <p:spPr bwMode="auto">
            <a:xfrm>
              <a:off x="2066686" y="1210931"/>
              <a:ext cx="0" cy="2611773"/>
            </a:xfrm>
            <a:prstGeom prst="line">
              <a:avLst/>
            </a:prstGeom>
            <a:grpFill/>
            <a:ln w="12700" algn="ctr">
              <a:solidFill>
                <a:schemeClr val="tx1"/>
              </a:solidFill>
              <a:round/>
            </a:ln>
          </p:spPr>
        </p:cxnSp>
      </p:grpSp>
      <p:sp>
        <p:nvSpPr>
          <p:cNvPr id="49155" name="Rectangle 3"/>
          <p:cNvSpPr>
            <a:spLocks noGrp="1"/>
          </p:cNvSpPr>
          <p:nvPr>
            <p:ph idx="1"/>
          </p:nvPr>
        </p:nvSpPr>
        <p:spPr>
          <a:xfrm>
            <a:off x="395288" y="571500"/>
            <a:ext cx="1692275" cy="3225800"/>
          </a:xfrm>
        </p:spPr>
        <p:txBody>
          <a:bodyPr vert="horz" wrap="square" lIns="68580" tIns="34290" rIns="68580" bIns="34290" anchor="t" anchorCtr="0"/>
          <a:lstStyle/>
          <a:p>
            <a:pPr eaLnBrk="1" hangingPunct="1">
              <a:lnSpc>
                <a:spcPct val="110000"/>
              </a:lnSpc>
              <a:buClrTx/>
              <a:buSzPct val="100000"/>
              <a:buFont typeface="Wingdings" panose="05000000000000000000" pitchFamily="2" charset="2"/>
              <a:buChar char="Ø"/>
            </a:pPr>
            <a:endParaRPr lang="zh-CN" altLang="en-US" sz="3000" b="1" kern="1200" dirty="0">
              <a:solidFill>
                <a:schemeClr val="tx1"/>
              </a:solidFill>
              <a:latin typeface="楷体" panose="02010609060101010101" pitchFamily="49" charset="-122"/>
              <a:ea typeface="华文楷体" panose="02010600040101010101" pitchFamily="2" charset="-122"/>
              <a:cs typeface="+mn-cs"/>
            </a:endParaRPr>
          </a:p>
          <a:p>
            <a:pPr lvl="1" eaLnBrk="1" hangingPunct="1">
              <a:lnSpc>
                <a:spcPct val="1100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L-SDD</a:t>
            </a:r>
          </a:p>
          <a:p>
            <a:pPr lvl="1" eaLnBrk="1" hangingPunct="1">
              <a:lnSpc>
                <a:spcPct val="110000"/>
              </a:lnSpc>
              <a:buSzPct val="100000"/>
            </a:pPr>
            <a:endParaRPr lang="en-US" altLang="zh-CN" sz="3000" b="1" kern="1200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lvl="1" eaLnBrk="1" hangingPunct="1">
              <a:lnSpc>
                <a:spcPct val="110000"/>
              </a:lnSpc>
              <a:buSzPct val="100000"/>
            </a:pPr>
            <a:endParaRPr lang="en-US" altLang="zh-CN" sz="3000" b="1" kern="1200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lvl="1" eaLnBrk="1" hangingPunct="1">
              <a:lnSpc>
                <a:spcPct val="110000"/>
              </a:lnSpc>
              <a:buSzPct val="100000"/>
            </a:pPr>
            <a:endParaRPr lang="en-US" altLang="zh-CN" sz="3000" b="1" kern="1200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lvl="1" eaLnBrk="1" hangingPunct="1">
              <a:lnSpc>
                <a:spcPct val="1100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zh-CN" sz="25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SDT</a:t>
            </a:r>
          </a:p>
        </p:txBody>
      </p:sp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endParaRPr kumimoji="1" lang="zh-CN" altLang="en-US" sz="30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56329" name="Freeform 9"/>
          <p:cNvSpPr/>
          <p:nvPr/>
        </p:nvSpPr>
        <p:spPr>
          <a:xfrm>
            <a:off x="3551238" y="1117600"/>
            <a:ext cx="428625" cy="382588"/>
          </a:xfrm>
          <a:custGeom>
            <a:avLst/>
            <a:gdLst>
              <a:gd name="txL" fmla="*/ 0 w 454"/>
              <a:gd name="txT" fmla="*/ 0 h 159"/>
              <a:gd name="txR" fmla="*/ 454 w 454"/>
              <a:gd name="txB" fmla="*/ 159 h 159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0"/>
              </a:cxn>
            </a:cxnLst>
            <a:rect l="txL" t="txT" r="txR" b="txB"/>
            <a:pathLst>
              <a:path w="454" h="159">
                <a:moveTo>
                  <a:pt x="454" y="136"/>
                </a:moveTo>
                <a:cubicBezTo>
                  <a:pt x="446" y="147"/>
                  <a:pt x="439" y="159"/>
                  <a:pt x="363" y="136"/>
                </a:cubicBezTo>
                <a:cubicBezTo>
                  <a:pt x="287" y="113"/>
                  <a:pt x="143" y="56"/>
                  <a:pt x="0" y="0"/>
                </a:cubicBezTo>
              </a:path>
            </a:pathLst>
          </a:custGeom>
          <a:noFill/>
          <a:ln w="25400" cap="flat" cmpd="sng">
            <a:solidFill>
              <a:schemeClr val="hlink">
                <a:alpha val="100000"/>
              </a:schemeClr>
            </a:solidFill>
            <a:prstDash val="solid"/>
            <a:round/>
            <a:headEnd type="none" w="med" len="med"/>
            <a:tailEnd type="stealth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330" name="Freeform 10"/>
          <p:cNvSpPr/>
          <p:nvPr/>
        </p:nvSpPr>
        <p:spPr>
          <a:xfrm>
            <a:off x="3551238" y="1636713"/>
            <a:ext cx="466725" cy="220662"/>
          </a:xfrm>
          <a:custGeom>
            <a:avLst/>
            <a:gdLst>
              <a:gd name="txL" fmla="*/ 0 w 453"/>
              <a:gd name="txT" fmla="*/ 0 h 219"/>
              <a:gd name="txR" fmla="*/ 453 w 453"/>
              <a:gd name="txB" fmla="*/ 219 h 219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</a:cxnLst>
            <a:rect l="txL" t="txT" r="txR" b="txB"/>
            <a:pathLst>
              <a:path w="453" h="219">
                <a:moveTo>
                  <a:pt x="453" y="196"/>
                </a:moveTo>
                <a:cubicBezTo>
                  <a:pt x="366" y="207"/>
                  <a:pt x="280" y="219"/>
                  <a:pt x="227" y="196"/>
                </a:cubicBezTo>
                <a:cubicBezTo>
                  <a:pt x="174" y="173"/>
                  <a:pt x="166" y="90"/>
                  <a:pt x="136" y="60"/>
                </a:cubicBezTo>
                <a:cubicBezTo>
                  <a:pt x="106" y="30"/>
                  <a:pt x="68" y="0"/>
                  <a:pt x="45" y="15"/>
                </a:cubicBezTo>
                <a:cubicBezTo>
                  <a:pt x="22" y="30"/>
                  <a:pt x="11" y="90"/>
                  <a:pt x="0" y="151"/>
                </a:cubicBezTo>
              </a:path>
            </a:pathLst>
          </a:custGeom>
          <a:noFill/>
          <a:ln w="25400" cap="flat" cmpd="sng">
            <a:solidFill>
              <a:schemeClr val="hlink">
                <a:alpha val="100000"/>
              </a:schemeClr>
            </a:solidFill>
            <a:prstDash val="solid"/>
            <a:round/>
            <a:headEnd type="none" w="med" len="med"/>
            <a:tailEnd type="stealth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331" name="Freeform 11"/>
          <p:cNvSpPr/>
          <p:nvPr/>
        </p:nvSpPr>
        <p:spPr>
          <a:xfrm>
            <a:off x="3819525" y="1984375"/>
            <a:ext cx="323850" cy="214313"/>
          </a:xfrm>
          <a:custGeom>
            <a:avLst/>
            <a:gdLst>
              <a:gd name="txL" fmla="*/ 0 w 272"/>
              <a:gd name="txT" fmla="*/ 0 h 106"/>
              <a:gd name="txR" fmla="*/ 272 w 272"/>
              <a:gd name="txB" fmla="*/ 106 h 106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0"/>
              </a:cxn>
            </a:cxnLst>
            <a:rect l="txL" t="txT" r="txR" b="txB"/>
            <a:pathLst>
              <a:path w="272" h="106">
                <a:moveTo>
                  <a:pt x="272" y="91"/>
                </a:moveTo>
                <a:cubicBezTo>
                  <a:pt x="204" y="98"/>
                  <a:pt x="136" y="106"/>
                  <a:pt x="91" y="91"/>
                </a:cubicBezTo>
                <a:cubicBezTo>
                  <a:pt x="46" y="76"/>
                  <a:pt x="23" y="38"/>
                  <a:pt x="0" y="0"/>
                </a:cubicBezTo>
              </a:path>
            </a:pathLst>
          </a:custGeom>
          <a:noFill/>
          <a:ln w="25400" cap="flat" cmpd="sng">
            <a:solidFill>
              <a:schemeClr val="hlink">
                <a:alpha val="100000"/>
              </a:schemeClr>
            </a:solidFill>
            <a:prstDash val="solid"/>
            <a:round/>
            <a:headEnd type="none" w="med" len="med"/>
            <a:tailEnd type="stealth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332" name="Freeform 12"/>
          <p:cNvSpPr/>
          <p:nvPr/>
        </p:nvSpPr>
        <p:spPr>
          <a:xfrm>
            <a:off x="3303588" y="2503488"/>
            <a:ext cx="714375" cy="107950"/>
          </a:xfrm>
          <a:custGeom>
            <a:avLst/>
            <a:gdLst>
              <a:gd name="txL" fmla="*/ 0 w 499"/>
              <a:gd name="txT" fmla="*/ 0 h 90"/>
              <a:gd name="txR" fmla="*/ 499 w 499"/>
              <a:gd name="txB" fmla="*/ 90 h 90"/>
            </a:gdLst>
            <a:ahLst/>
            <a:cxnLst>
              <a:cxn ang="0">
                <a:pos x="2147483646" y="2147483646"/>
              </a:cxn>
              <a:cxn ang="0">
                <a:pos x="2147483646" y="0"/>
              </a:cxn>
              <a:cxn ang="0">
                <a:pos x="0" y="2147483646"/>
              </a:cxn>
            </a:cxnLst>
            <a:rect l="txL" t="txT" r="txR" b="txB"/>
            <a:pathLst>
              <a:path w="499" h="90">
                <a:moveTo>
                  <a:pt x="499" y="90"/>
                </a:moveTo>
                <a:cubicBezTo>
                  <a:pt x="381" y="45"/>
                  <a:pt x="264" y="0"/>
                  <a:pt x="181" y="0"/>
                </a:cubicBezTo>
                <a:cubicBezTo>
                  <a:pt x="98" y="0"/>
                  <a:pt x="49" y="45"/>
                  <a:pt x="0" y="90"/>
                </a:cubicBezTo>
              </a:path>
            </a:pathLst>
          </a:custGeom>
          <a:noFill/>
          <a:ln w="25400" cap="flat" cmpd="sng">
            <a:solidFill>
              <a:schemeClr val="hlink">
                <a:alpha val="100000"/>
              </a:schemeClr>
            </a:solidFill>
            <a:prstDash val="solid"/>
            <a:round/>
            <a:headEnd type="none" w="med" len="med"/>
            <a:tailEnd type="stealth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333" name="Freeform 13"/>
          <p:cNvSpPr/>
          <p:nvPr/>
        </p:nvSpPr>
        <p:spPr>
          <a:xfrm>
            <a:off x="3603625" y="2960688"/>
            <a:ext cx="431800" cy="53975"/>
          </a:xfrm>
          <a:custGeom>
            <a:avLst/>
            <a:gdLst>
              <a:gd name="txL" fmla="*/ 0 w 363"/>
              <a:gd name="txT" fmla="*/ 0 h 45"/>
              <a:gd name="txR" fmla="*/ 363 w 363"/>
              <a:gd name="txB" fmla="*/ 45 h 45"/>
            </a:gdLst>
            <a:ahLst/>
            <a:cxnLst>
              <a:cxn ang="0">
                <a:pos x="2147483646" y="2147483646"/>
              </a:cxn>
              <a:cxn ang="0">
                <a:pos x="2147483646" y="0"/>
              </a:cxn>
              <a:cxn ang="0">
                <a:pos x="0" y="2147483646"/>
              </a:cxn>
            </a:cxnLst>
            <a:rect l="txL" t="txT" r="txR" b="txB"/>
            <a:pathLst>
              <a:path w="363" h="45">
                <a:moveTo>
                  <a:pt x="363" y="45"/>
                </a:moveTo>
                <a:cubicBezTo>
                  <a:pt x="302" y="22"/>
                  <a:pt x="242" y="0"/>
                  <a:pt x="182" y="0"/>
                </a:cubicBezTo>
                <a:cubicBezTo>
                  <a:pt x="122" y="0"/>
                  <a:pt x="61" y="22"/>
                  <a:pt x="0" y="45"/>
                </a:cubicBezTo>
              </a:path>
            </a:pathLst>
          </a:custGeom>
          <a:noFill/>
          <a:ln w="25400" cap="flat" cmpd="sng">
            <a:solidFill>
              <a:schemeClr val="hlink">
                <a:alpha val="100000"/>
              </a:schemeClr>
            </a:solidFill>
            <a:prstDash val="solid"/>
            <a:round/>
            <a:headEnd type="none" w="med" len="med"/>
            <a:tailEnd type="stealth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328" name="Freeform 8"/>
          <p:cNvSpPr/>
          <p:nvPr/>
        </p:nvSpPr>
        <p:spPr>
          <a:xfrm>
            <a:off x="3265488" y="820738"/>
            <a:ext cx="714375" cy="250825"/>
          </a:xfrm>
          <a:custGeom>
            <a:avLst/>
            <a:gdLst>
              <a:gd name="txL" fmla="*/ 0 w 544"/>
              <a:gd name="txT" fmla="*/ 0 h 211"/>
              <a:gd name="txR" fmla="*/ 544 w 544"/>
              <a:gd name="txB" fmla="*/ 211 h 211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0" y="2147483646"/>
              </a:cxn>
            </a:cxnLst>
            <a:rect l="txL" t="txT" r="txR" b="txB"/>
            <a:pathLst>
              <a:path w="544" h="211">
                <a:moveTo>
                  <a:pt x="544" y="181"/>
                </a:moveTo>
                <a:cubicBezTo>
                  <a:pt x="483" y="196"/>
                  <a:pt x="423" y="211"/>
                  <a:pt x="363" y="181"/>
                </a:cubicBezTo>
                <a:cubicBezTo>
                  <a:pt x="303" y="151"/>
                  <a:pt x="241" y="0"/>
                  <a:pt x="181" y="0"/>
                </a:cubicBezTo>
                <a:cubicBezTo>
                  <a:pt x="121" y="0"/>
                  <a:pt x="60" y="90"/>
                  <a:pt x="0" y="181"/>
                </a:cubicBezTo>
              </a:path>
            </a:pathLst>
          </a:custGeom>
          <a:noFill/>
          <a:ln w="25400" cap="flat" cmpd="sng">
            <a:solidFill>
              <a:schemeClr val="hlink">
                <a:alpha val="100000"/>
              </a:schemeClr>
            </a:solidFill>
            <a:prstDash val="solid"/>
            <a:round/>
            <a:headEnd type="none" w="med" len="med"/>
            <a:tailEnd type="stealth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2043113" y="3378200"/>
            <a:ext cx="6643688" cy="15843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.inh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{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T.val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.syn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2D83F4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2)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→ *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2000" b="1" i="1" u="none" strike="noStrike" kern="1200" cap="none" spc="0" normalizeH="0" baseline="-2500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.inh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.inh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×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20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2000" b="1" i="1" u="none" strike="noStrike" kern="1200" cap="none" spc="0" normalizeH="0" baseline="-2500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3)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kumimoji="0" lang="el-GR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inh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4)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→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digit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F.val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digit.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lexval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}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2D83F4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63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63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6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63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63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6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63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63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6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63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63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6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63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63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6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63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63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6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allAtOnce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/>
          <p:nvPr/>
        </p:nvSpPr>
        <p:spPr>
          <a:xfrm>
            <a:off x="2000250" y="706438"/>
            <a:ext cx="5002213" cy="571500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>
            <a:spAutoFit/>
          </a:bodyPr>
          <a:lstStyle/>
          <a:p>
            <a:pPr eaLnBrk="1" hangingPunct="1"/>
            <a:endParaRPr lang="zh-CN" altLang="en-US" sz="3300" dirty="0">
              <a:solidFill>
                <a:srgbClr val="5EAE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29027" name="Rectangle 3"/>
          <p:cNvSpPr/>
          <p:nvPr/>
        </p:nvSpPr>
        <p:spPr>
          <a:xfrm>
            <a:off x="428625" y="785813"/>
            <a:ext cx="8355013" cy="3086100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/>
          <a:lstStyle/>
          <a:p>
            <a:pPr marL="257175" indent="-257175" eaLnBrk="1" hangingPunct="1">
              <a:lnSpc>
                <a:spcPts val="4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如果一个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L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-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SDD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的基本文法可以使用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LL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分析技术，那么它的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SDT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可以在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LL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LR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句法分析过程中实现</a:t>
            </a:r>
          </a:p>
          <a:p>
            <a:pPr marL="600075" lvl="1" indent="-257175" eaLnBrk="1" hangingPunct="1">
              <a:lnSpc>
                <a:spcPts val="4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例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L-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属性定义的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SDT 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实现</a:t>
            </a:r>
            <a:endParaRPr kumimoji="1" lang="zh-CN" altLang="en-US" sz="30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85750" y="2571750"/>
            <a:ext cx="6048375" cy="13763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F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.inh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{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T.val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.syn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2D83F4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2)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→ *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1800" b="1" i="1" u="none" strike="noStrike" kern="1200" cap="none" spc="0" normalizeH="0" baseline="-2500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.inh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.inh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×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18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T΄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1800" b="1" i="1" u="none" strike="noStrike" kern="1200" cap="none" spc="0" normalizeH="0" baseline="-2500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3)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kumimoji="0" lang="el-GR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T΄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inh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4)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→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digit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F.val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digit.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lexval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}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2D83F4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407150" y="2909065"/>
            <a:ext cx="2519363" cy="7017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lvl="0">
              <a:spcBef>
                <a:spcPct val="20000"/>
              </a:spcBef>
              <a:buClr>
                <a:srgbClr val="073E87"/>
              </a:buClr>
              <a:buSzPct val="75000"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FIRST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) = {  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*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}</a:t>
            </a:r>
          </a:p>
          <a:p>
            <a:pPr lvl="0">
              <a:spcBef>
                <a:spcPct val="20000"/>
              </a:spcBef>
              <a:buClr>
                <a:srgbClr val="073E87"/>
              </a:buClr>
              <a:buSzPct val="75000"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FOLLOW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) = {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$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9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9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9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129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129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29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/>
          <p:nvPr/>
        </p:nvSpPr>
        <p:spPr>
          <a:xfrm>
            <a:off x="2000250" y="706438"/>
            <a:ext cx="5002213" cy="571500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>
            <a:spAutoFit/>
          </a:bodyPr>
          <a:lstStyle/>
          <a:p>
            <a:pPr eaLnBrk="1" hangingPunct="1"/>
            <a:endParaRPr lang="zh-CN" altLang="en-US" sz="3300" dirty="0">
              <a:solidFill>
                <a:srgbClr val="5EAE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29027" name="Rectangle 3"/>
          <p:cNvSpPr/>
          <p:nvPr/>
        </p:nvSpPr>
        <p:spPr>
          <a:xfrm>
            <a:off x="428625" y="785813"/>
            <a:ext cx="8355013" cy="3086100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/>
          <a:lstStyle/>
          <a:p>
            <a:pPr marL="257175" indent="-257175" eaLnBrk="1" hangingPunct="1">
              <a:lnSpc>
                <a:spcPts val="4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如果一个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L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-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SDD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的基本文法可以使用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LL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分析技术，那么它的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SDT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可以在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LL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LR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句法分析过程中实现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600075" lvl="1" indent="-257175" eaLnBrk="1" hangingPunct="1">
              <a:lnSpc>
                <a:spcPts val="4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在非递归的预测分析过程中进行语义翻译</a:t>
            </a:r>
          </a:p>
          <a:p>
            <a:pPr marL="600075" lvl="1" indent="-257175" eaLnBrk="1" hangingPunct="1">
              <a:lnSpc>
                <a:spcPts val="4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在递归的预测分析过程中进行语义翻译</a:t>
            </a:r>
          </a:p>
          <a:p>
            <a:pPr marL="600075" lvl="1" indent="-257175" eaLnBrk="1" hangingPunct="1">
              <a:lnSpc>
                <a:spcPts val="4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LR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分析过程中进行语义翻译</a:t>
            </a:r>
          </a:p>
          <a:p>
            <a:pPr marL="257175" indent="-257175" eaLnBrk="1" hangingPunct="1">
              <a:lnSpc>
                <a:spcPts val="4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endParaRPr lang="zh-CN" altLang="en-US" sz="2800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L-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属性定义的</a:t>
            </a: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SDT 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实现</a:t>
            </a:r>
            <a:endParaRPr kumimoji="1" lang="zh-CN" altLang="en-US" sz="30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9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9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9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9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9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9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9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9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9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3" descr="G:\QQ截图201607142012副本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514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4786313" y="2428875"/>
            <a:ext cx="3443288" cy="939800"/>
          </a:xfrm>
          <a:prstGeom prst="rect">
            <a:avLst/>
          </a:prstGeom>
        </p:spPr>
        <p:txBody>
          <a:bodyPr lIns="68580" tIns="34290" rIns="68580" bIns="34290" anchor="ctr"/>
          <a:lstStyle/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kern="1200" cap="none" spc="0" normalizeH="0" baseline="0" noProof="0" dirty="0">
                <a:solidFill>
                  <a:prstClr val="white"/>
                </a:solidFill>
                <a:latin typeface="Candara" panose="020E0502030303020204"/>
                <a:ea typeface="楷体" panose="02010609060101010101" pitchFamily="49" charset="-122"/>
                <a:cs typeface="+mn-cs"/>
              </a:rPr>
              <a:t> </a:t>
            </a:r>
            <a:endParaRPr kumimoji="0" lang="zh-CN" altLang="en-US" sz="2000" kern="1200" cap="none" spc="600" normalizeH="0" baseline="0" noProof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4572000" y="1143000"/>
            <a:ext cx="3143250" cy="441325"/>
          </a:xfrm>
          <a:prstGeom prst="rect">
            <a:avLst/>
          </a:prstGeom>
          <a:ln w="12700">
            <a:noFill/>
          </a:ln>
        </p:spPr>
        <p:txBody>
          <a:bodyPr lIns="68580" tIns="34290" rIns="68580" bIns="34290" anchor="ctr"/>
          <a:lstStyle/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kern="1200" cap="none" spc="225" normalizeH="0" baseline="0" noProof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4143375" y="1631950"/>
            <a:ext cx="4464050" cy="939800"/>
          </a:xfrm>
          <a:prstGeom prst="rect">
            <a:avLst/>
          </a:prstGeom>
        </p:spPr>
        <p:txBody>
          <a:bodyPr lIns="68580" tIns="34290" rIns="68580" bIns="34290" anchor="ctr"/>
          <a:lstStyle/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0" kern="1200" cap="none" spc="300" normalizeH="0" baseline="0" noProof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在非递归的预测分析</a:t>
            </a:r>
            <a:endParaRPr kumimoji="0" lang="en-US" altLang="zh-CN" sz="3000" b="0" kern="1200" cap="none" spc="300" normalizeH="0" baseline="0" noProof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000" b="0" kern="1200" cap="none" spc="300" normalizeH="0" baseline="0" noProof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</a:t>
            </a:r>
            <a:r>
              <a:rPr kumimoji="0" lang="zh-CN" altLang="en-US" sz="3000" b="0" kern="1200" cap="none" spc="300" normalizeH="0" baseline="0" noProof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过程中进行翻译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543ED5B2-2FD2-4F88-8BAE-7DC88BFDA4A7}"/>
              </a:ext>
            </a:extLst>
          </p:cNvPr>
          <p:cNvSpPr/>
          <p:nvPr/>
        </p:nvSpPr>
        <p:spPr>
          <a:xfrm>
            <a:off x="-756592" y="483518"/>
            <a:ext cx="4104456" cy="36724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非递归的预测分析法</a:t>
            </a:r>
            <a:r>
              <a:rPr lang="zh-CN" altLang="en-US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（回顾）</a:t>
            </a:r>
            <a:endParaRPr kumimoji="0" lang="zh-CN" altLang="en-US" sz="3000" b="1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4" name="组合 66571"/>
          <p:cNvGrpSpPr/>
          <p:nvPr/>
        </p:nvGrpSpPr>
        <p:grpSpPr>
          <a:xfrm>
            <a:off x="971600" y="1203598"/>
            <a:ext cx="6446837" cy="2990850"/>
            <a:chOff x="1313694" y="2067694"/>
            <a:chExt cx="6448201" cy="2989811"/>
          </a:xfrm>
        </p:grpSpPr>
        <p:sp>
          <p:nvSpPr>
            <p:cNvPr id="2" name="矩形 1"/>
            <p:cNvSpPr/>
            <p:nvPr/>
          </p:nvSpPr>
          <p:spPr>
            <a:xfrm>
              <a:off x="1313694" y="2067694"/>
              <a:ext cx="6448201" cy="298981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112" name="TextBox 10"/>
            <p:cNvSpPr txBox="1"/>
            <p:nvPr/>
          </p:nvSpPr>
          <p:spPr>
            <a:xfrm>
              <a:off x="3371031" y="2236159"/>
              <a:ext cx="2880320" cy="355097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algn="r">
                <a:lnSpc>
                  <a:spcPts val="20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   +  b   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$  </a:t>
              </a:r>
              <a:endParaRPr lang="zh-CN" altLang="en-US" sz="2400" b="1" dirty="0">
                <a:latin typeface="Tahoma" panose="020B0604030504040204" pitchFamily="34" charset="0"/>
              </a:endParaRPr>
            </a:p>
          </p:txBody>
        </p:sp>
        <p:cxnSp>
          <p:nvCxnSpPr>
            <p:cNvPr id="18" name="直接连接符 17"/>
            <p:cNvCxnSpPr/>
            <p:nvPr/>
          </p:nvCxnSpPr>
          <p:spPr bwMode="auto">
            <a:xfrm rot="-360000" flipV="1">
              <a:off x="4563994" y="2732625"/>
              <a:ext cx="320743" cy="37452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 bwMode="auto">
            <a:xfrm>
              <a:off x="3957440" y="3107145"/>
              <a:ext cx="1213107" cy="70777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anchor="ctr">
              <a:spAutoFit/>
            </a:bodyPr>
            <a:lstStyle/>
            <a:p>
              <a:pPr marR="0" algn="ctr" defTabSz="914400">
                <a:buClrTx/>
                <a:buSzTx/>
                <a:buFontTx/>
                <a:buNone/>
                <a:defRPr/>
              </a:pPr>
              <a:r>
                <a:rPr kumimoji="0" lang="zh-CN" altLang="en-US" sz="2000" b="1" kern="1200" cap="none" spc="0" normalizeH="0" baseline="0" noProof="0" dirty="0">
                  <a:latin typeface="+mn-ea"/>
                  <a:ea typeface="+mn-ea"/>
                  <a:cs typeface="+mn-cs"/>
                </a:rPr>
                <a:t>预测分析程序</a:t>
              </a:r>
            </a:p>
          </p:txBody>
        </p:sp>
        <p:sp>
          <p:nvSpPr>
            <p:cNvPr id="9" name="TextBox 8"/>
            <p:cNvSpPr txBox="1"/>
            <p:nvPr/>
          </p:nvSpPr>
          <p:spPr bwMode="auto">
            <a:xfrm>
              <a:off x="2412476" y="2212106"/>
              <a:ext cx="1070201" cy="399911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>
              <a:spAutoFit/>
            </a:bodyPr>
            <a:lstStyle/>
            <a:p>
              <a:pPr marR="0" algn="ctr" defTabSz="914400">
                <a:buClrTx/>
                <a:buSzTx/>
                <a:buFontTx/>
                <a:buNone/>
                <a:defRPr/>
              </a:pPr>
              <a:r>
                <a:rPr kumimoji="0" lang="zh-CN" altLang="en-US" sz="2000" b="1" kern="1200" cap="none" spc="0" normalizeH="0" baseline="0" noProof="0" dirty="0">
                  <a:latin typeface="+mn-ea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27" name="等腰三角形 26"/>
            <p:cNvSpPr/>
            <p:nvPr/>
          </p:nvSpPr>
          <p:spPr bwMode="auto">
            <a:xfrm rot="2100000">
              <a:off x="4792642" y="2577104"/>
              <a:ext cx="134967" cy="263433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7"/>
            <p:cNvSpPr txBox="1"/>
            <p:nvPr/>
          </p:nvSpPr>
          <p:spPr bwMode="auto">
            <a:xfrm>
              <a:off x="3957440" y="4167226"/>
              <a:ext cx="1213107" cy="70936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anchor="ctr">
              <a:spAutoFit/>
            </a:bodyPr>
            <a:lstStyle/>
            <a:p>
              <a:pPr marR="0" algn="ctr" defTabSz="914400">
                <a:buClrTx/>
                <a:buSzTx/>
                <a:buFontTx/>
                <a:buNone/>
                <a:defRPr/>
              </a:pPr>
              <a:r>
                <a:rPr kumimoji="0" lang="zh-CN" altLang="en-US" sz="2000" b="1" kern="1200" cap="none" spc="0" normalizeH="0" baseline="0" noProof="0" dirty="0">
                  <a:latin typeface="+mn-ea"/>
                  <a:ea typeface="+mn-ea"/>
                  <a:cs typeface="+mn-cs"/>
                </a:rPr>
                <a:t>预测</a:t>
              </a:r>
              <a:endParaRPr kumimoji="0" lang="en-US" altLang="zh-CN" sz="2000" b="1" kern="1200" cap="none" spc="0" normalizeH="0" baseline="0" noProof="0" dirty="0">
                <a:latin typeface="+mn-ea"/>
                <a:ea typeface="+mn-ea"/>
                <a:cs typeface="+mn-cs"/>
              </a:endParaRPr>
            </a:p>
            <a:p>
              <a:pPr marR="0" algn="ctr" defTabSz="914400">
                <a:buClrTx/>
                <a:buSzTx/>
                <a:buFontTx/>
                <a:buNone/>
                <a:defRPr/>
              </a:pPr>
              <a:r>
                <a:rPr kumimoji="0" lang="zh-CN" altLang="en-US" sz="2000" b="1" kern="1200" cap="none" spc="0" normalizeH="0" baseline="0" noProof="0" dirty="0">
                  <a:latin typeface="+mn-ea"/>
                  <a:ea typeface="+mn-ea"/>
                  <a:cs typeface="+mn-cs"/>
                </a:rPr>
                <a:t>分析表</a:t>
              </a:r>
              <a:r>
                <a:rPr kumimoji="0" lang="en-US" altLang="zh-CN" sz="2000" b="1" kern="1200" cap="none" spc="0" normalizeH="0" baseline="0" noProof="0" dirty="0">
                  <a:latin typeface="+mn-ea"/>
                  <a:ea typeface="+mn-ea"/>
                  <a:cs typeface="+mn-cs"/>
                </a:rPr>
                <a:t>M</a:t>
              </a:r>
              <a:endParaRPr kumimoji="0" lang="zh-CN" altLang="en-US" sz="2000" b="1" kern="1200" cap="none" spc="0" normalizeH="0" baseline="0" noProof="0" dirty="0">
                <a:latin typeface="+mn-ea"/>
                <a:ea typeface="+mn-ea"/>
                <a:cs typeface="+mn-cs"/>
              </a:endParaRPr>
            </a:p>
          </p:txBody>
        </p:sp>
        <p:cxnSp>
          <p:nvCxnSpPr>
            <p:cNvPr id="29" name="直接连接符 28"/>
            <p:cNvCxnSpPr>
              <a:endCxn id="28" idx="0"/>
            </p:cNvCxnSpPr>
            <p:nvPr/>
          </p:nvCxnSpPr>
          <p:spPr bwMode="auto">
            <a:xfrm rot="5400000">
              <a:off x="4408493" y="3975206"/>
              <a:ext cx="38404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等腰三角形 31"/>
            <p:cNvSpPr/>
            <p:nvPr/>
          </p:nvSpPr>
          <p:spPr bwMode="auto">
            <a:xfrm rot="10800000">
              <a:off x="4540177" y="4013293"/>
              <a:ext cx="134966" cy="14282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33" name="直接连接符 32"/>
            <p:cNvCxnSpPr/>
            <p:nvPr/>
          </p:nvCxnSpPr>
          <p:spPr bwMode="auto">
            <a:xfrm>
              <a:off x="5170547" y="3478491"/>
              <a:ext cx="107179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 bwMode="auto">
            <a:xfrm>
              <a:off x="2885652" y="3488012"/>
              <a:ext cx="107178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等腰三角形 35"/>
            <p:cNvSpPr/>
            <p:nvPr/>
          </p:nvSpPr>
          <p:spPr bwMode="auto">
            <a:xfrm rot="5400000">
              <a:off x="6054215" y="3349082"/>
              <a:ext cx="134890" cy="263581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等腰三角形 36"/>
            <p:cNvSpPr/>
            <p:nvPr/>
          </p:nvSpPr>
          <p:spPr bwMode="auto">
            <a:xfrm rot="16200000">
              <a:off x="2919827" y="3360189"/>
              <a:ext cx="134891" cy="263581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TextBox 37"/>
            <p:cNvSpPr txBox="1"/>
            <p:nvPr/>
          </p:nvSpPr>
          <p:spPr bwMode="auto">
            <a:xfrm>
              <a:off x="1313694" y="3262666"/>
              <a:ext cx="1071789" cy="399911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>
              <a:spAutoFit/>
            </a:bodyPr>
            <a:lstStyle/>
            <a:p>
              <a:pPr marR="0" algn="ctr" defTabSz="914400">
                <a:buClrTx/>
                <a:buSzTx/>
                <a:buFontTx/>
                <a:buNone/>
                <a:defRPr/>
              </a:pPr>
              <a:r>
                <a:rPr kumimoji="0" lang="zh-CN" altLang="en-US" sz="2000" b="1" kern="1200" cap="none" spc="0" normalizeH="0" baseline="0" noProof="0" dirty="0">
                  <a:latin typeface="+mn-ea"/>
                  <a:ea typeface="+mn-ea"/>
                  <a:cs typeface="+mn-cs"/>
                </a:rPr>
                <a:t>栈</a:t>
              </a:r>
            </a:p>
          </p:txBody>
        </p:sp>
        <p:sp>
          <p:nvSpPr>
            <p:cNvPr id="39" name="TextBox 38"/>
            <p:cNvSpPr txBox="1"/>
            <p:nvPr/>
          </p:nvSpPr>
          <p:spPr bwMode="auto">
            <a:xfrm>
              <a:off x="6170883" y="3251558"/>
              <a:ext cx="1071790" cy="399911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>
              <a:spAutoFit/>
            </a:bodyPr>
            <a:lstStyle/>
            <a:p>
              <a:pPr marR="0" algn="ctr" defTabSz="914400">
                <a:buClrTx/>
                <a:buSzTx/>
                <a:buFontTx/>
                <a:buNone/>
                <a:defRPr/>
              </a:pPr>
              <a:r>
                <a:rPr kumimoji="0" lang="zh-CN" altLang="en-US" sz="2000" b="1" kern="1200" cap="none" spc="0" normalizeH="0" baseline="0" noProof="0" dirty="0">
                  <a:latin typeface="+mn-ea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47126" name="TextBox 10"/>
            <p:cNvSpPr txBox="1"/>
            <p:nvPr/>
          </p:nvSpPr>
          <p:spPr>
            <a:xfrm>
              <a:off x="2242376" y="3316889"/>
              <a:ext cx="571501" cy="1631125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en-US" altLang="zh-CN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  <a:p>
              <a:pPr algn="ctr">
                <a:lnSpc>
                  <a:spcPts val="3000"/>
                </a:lnSpc>
              </a:pPr>
              <a:r>
                <a:rPr lang="en-US" altLang="zh-CN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</a:p>
            <a:p>
              <a:pPr algn="ctr">
                <a:lnSpc>
                  <a:spcPts val="3000"/>
                </a:lnSpc>
              </a:pPr>
              <a:r>
                <a:rPr lang="en-US" altLang="zh-CN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</a:p>
            <a:p>
              <a:pPr algn="ctr">
                <a:lnSpc>
                  <a:spcPts val="3000"/>
                </a:lnSpc>
              </a:pP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$</a:t>
              </a:r>
              <a:endParaRPr lang="en-US" altLang="zh-CN" sz="2000" b="1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41" name="直接连接符 40"/>
            <p:cNvCxnSpPr/>
            <p:nvPr/>
          </p:nvCxnSpPr>
          <p:spPr bwMode="auto">
            <a:xfrm flipH="1" flipV="1">
              <a:off x="2242577" y="4084705"/>
              <a:ext cx="57162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 bwMode="auto">
            <a:xfrm flipH="1" flipV="1">
              <a:off x="2242577" y="3707011"/>
              <a:ext cx="57162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 bwMode="auto">
            <a:xfrm flipH="1" flipV="1">
              <a:off x="2242577" y="4513181"/>
              <a:ext cx="57162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 bwMode="auto">
            <a:xfrm>
              <a:off x="3730380" y="2234323"/>
              <a:ext cx="0" cy="3554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 bwMode="auto">
            <a:xfrm>
              <a:off x="4090818" y="2247019"/>
              <a:ext cx="0" cy="3554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 bwMode="auto">
            <a:xfrm>
              <a:off x="4451258" y="2229563"/>
              <a:ext cx="0" cy="35706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 bwMode="auto">
            <a:xfrm>
              <a:off x="4811696" y="2229563"/>
              <a:ext cx="0" cy="35706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 bwMode="auto">
            <a:xfrm>
              <a:off x="5170547" y="2256540"/>
              <a:ext cx="0" cy="3554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 bwMode="auto">
            <a:xfrm>
              <a:off x="5530986" y="2234323"/>
              <a:ext cx="0" cy="3554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 bwMode="auto">
            <a:xfrm>
              <a:off x="5891424" y="2234323"/>
              <a:ext cx="0" cy="35547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内容占位符 2"/>
          <p:cNvSpPr>
            <a:spLocks noGrp="1"/>
          </p:cNvSpPr>
          <p:nvPr>
            <p:ph idx="1"/>
          </p:nvPr>
        </p:nvSpPr>
        <p:spPr>
          <a:xfrm>
            <a:off x="142875" y="642938"/>
            <a:ext cx="8715375" cy="32258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1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输入：一个串</a:t>
            </a:r>
            <a:r>
              <a:rPr lang="en-US" altLang="zh-CN" sz="1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w</a:t>
            </a:r>
            <a:r>
              <a:rPr lang="zh-CN" altLang="en-US" sz="1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和文法</a:t>
            </a:r>
            <a:r>
              <a:rPr lang="en-US" altLang="zh-CN" sz="1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G</a:t>
            </a:r>
            <a:r>
              <a:rPr lang="zh-CN" altLang="en-US" sz="1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的分析表</a:t>
            </a:r>
            <a:r>
              <a:rPr lang="en-US" altLang="zh-CN" sz="1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lang="en-US" altLang="zh-CN" sz="1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M</a:t>
            </a:r>
            <a:endParaRPr lang="en-US" altLang="zh-CN" sz="1800" b="1" kern="120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1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输出：如果</a:t>
            </a:r>
            <a:r>
              <a:rPr lang="en-US" altLang="zh-CN" sz="1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w</a:t>
            </a:r>
            <a:r>
              <a:rPr lang="zh-CN" altLang="en-US" sz="1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在</a:t>
            </a:r>
            <a:r>
              <a:rPr lang="en-US" altLang="zh-CN" sz="1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L</a:t>
            </a:r>
            <a:r>
              <a:rPr lang="en-US" altLang="zh-CN" sz="1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(</a:t>
            </a:r>
            <a:r>
              <a:rPr lang="en-US" altLang="zh-CN" sz="1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G </a:t>
            </a:r>
            <a:r>
              <a:rPr lang="en-US" altLang="zh-CN" sz="1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)</a:t>
            </a:r>
            <a:r>
              <a:rPr lang="zh-CN" altLang="en-US" sz="1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中，输出</a:t>
            </a:r>
            <a:r>
              <a:rPr lang="en-US" altLang="zh-CN" sz="1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w</a:t>
            </a:r>
            <a:r>
              <a:rPr lang="zh-CN" altLang="en-US" sz="1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的最左推导；否则给出错误指示</a:t>
            </a:r>
            <a:endParaRPr lang="en-US" altLang="zh-CN" sz="1800" b="1" kern="120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eaLnBrk="1" hangingPunct="1"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1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方法：最初，语法分析器的格局如下：输入缓冲区中是</a:t>
            </a:r>
            <a:r>
              <a:rPr lang="en-US" altLang="zh-CN" sz="1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w</a:t>
            </a:r>
            <a:r>
              <a:rPr lang="en-US" altLang="zh-CN" sz="1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$</a:t>
            </a:r>
            <a:r>
              <a:rPr lang="zh-CN" altLang="en-US" sz="1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，</a:t>
            </a:r>
            <a:r>
              <a:rPr lang="en-US" altLang="zh-CN" sz="1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G</a:t>
            </a:r>
            <a:r>
              <a:rPr lang="zh-CN" altLang="en-US" sz="1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的开始符号位于栈顶，其下面是</a:t>
            </a:r>
            <a:r>
              <a:rPr lang="en-US" altLang="zh-CN" sz="1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$</a:t>
            </a:r>
            <a:r>
              <a:rPr lang="zh-CN" altLang="en-US" sz="1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。下面的程序使用预测分析表</a:t>
            </a:r>
            <a:r>
              <a:rPr lang="en-US" altLang="zh-CN" sz="18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M</a:t>
            </a:r>
            <a:r>
              <a:rPr lang="zh-CN" altLang="en-US" sz="18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生成了处理这个输入的预测分析过程</a:t>
            </a:r>
          </a:p>
        </p:txBody>
      </p:sp>
      <p:sp>
        <p:nvSpPr>
          <p:cNvPr id="69635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numCol="1" anchor="ctr" anchorCtr="0" compatLnSpc="1"/>
          <a:lstStyle/>
          <a:p>
            <a:pPr lvl="0"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非递归的预测分析法（回顾）</a:t>
            </a:r>
            <a:endParaRPr kumimoji="0" lang="zh-CN" altLang="en-US" sz="3000" b="1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7" name="内容占位符 1"/>
          <p:cNvSpPr txBox="1"/>
          <p:nvPr/>
        </p:nvSpPr>
        <p:spPr bwMode="auto">
          <a:xfrm>
            <a:off x="896938" y="2000250"/>
            <a:ext cx="7318375" cy="30003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 marL="273050" indent="-2730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273050" marR="0" lvl="0" indent="-273050" algn="l" defTabSz="914400" rtl="0" eaLnBrk="1" fontAlgn="base" latinLnBrk="0" hangingPunct="1">
              <a:lnSpc>
                <a:spcPts val="1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anose="05050102010706020507" pitchFamily="18" charset="2"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设置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ip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使它指向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w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的第一个符号，其中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ip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是输入指针；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1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anose="05050102010706020507" pitchFamily="18" charset="2"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令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X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=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栈顶符号；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1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anose="05050102010706020507" pitchFamily="18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while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( 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≠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＄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)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｛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   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/*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栈非空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*/ </a:t>
            </a:r>
          </a:p>
          <a:p>
            <a:pPr marL="273050" marR="0" lvl="0" indent="-273050" algn="l" defTabSz="914400" rtl="0" eaLnBrk="1" fontAlgn="base" latinLnBrk="0" hangingPunct="1">
              <a:lnSpc>
                <a:spcPts val="1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anose="05050102010706020507" pitchFamily="18" charset="2"/>
              <a:buNone/>
              <a:defRPr/>
            </a:pP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          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if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( 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X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等于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ip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所指向的符号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a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)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执行栈的弹出操作，将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ip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向前移动一个位置；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1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           else  if ( 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M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是一个终结符号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)  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error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( ) ;</a:t>
            </a:r>
          </a:p>
          <a:p>
            <a:pPr marL="273050" marR="0" lvl="0" indent="-273050" algn="l" defTabSz="914400" rtl="0" eaLnBrk="1" fontAlgn="base" latinLnBrk="0" hangingPunct="1">
              <a:lnSpc>
                <a:spcPts val="1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           else  if ( 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M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[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X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，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a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]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是一个报错条目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)  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error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( ) ;           </a:t>
            </a:r>
          </a:p>
          <a:p>
            <a:pPr marL="273050" marR="0" lvl="0" indent="-273050" algn="l" defTabSz="914400" rtl="0" eaLnBrk="1" fontAlgn="base" latinLnBrk="0" hangingPunct="1">
              <a:lnSpc>
                <a:spcPts val="1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           else  if ( 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M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[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X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，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a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] = 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X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→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Y</a:t>
            </a:r>
            <a:r>
              <a:rPr kumimoji="0" lang="en-US" altLang="zh-CN" sz="16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1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Y</a:t>
            </a:r>
            <a:r>
              <a:rPr kumimoji="0" lang="en-US" altLang="zh-CN" sz="16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2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… 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Y</a:t>
            </a:r>
            <a:r>
              <a:rPr kumimoji="0" lang="en-US" altLang="zh-CN" sz="1600" b="1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k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)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｛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</a:p>
          <a:p>
            <a:pPr marL="273050" marR="0" lvl="0" indent="-273050" algn="l" defTabSz="914400" rtl="0" eaLnBrk="1" fontAlgn="base" latinLnBrk="0" hangingPunct="1">
              <a:lnSpc>
                <a:spcPts val="1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                         输出产生式 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X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→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Y</a:t>
            </a:r>
            <a:r>
              <a:rPr kumimoji="0" lang="en-US" altLang="zh-CN" sz="16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1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Y</a:t>
            </a:r>
            <a:r>
              <a:rPr kumimoji="0" lang="en-US" altLang="zh-CN" sz="16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2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… 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Y</a:t>
            </a:r>
            <a:r>
              <a:rPr kumimoji="0" lang="en-US" altLang="zh-CN" sz="1600" b="1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k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；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1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                       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弹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出栈顶符号；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12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                       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将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Y</a:t>
            </a:r>
            <a:r>
              <a:rPr kumimoji="0" lang="en-US" altLang="zh-CN" sz="1600" b="1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k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，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Y</a:t>
            </a:r>
            <a:r>
              <a:rPr kumimoji="0" lang="en-US" altLang="zh-CN" sz="16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k</a:t>
            </a:r>
            <a:r>
              <a:rPr kumimoji="0" lang="en-US" altLang="zh-CN" sz="16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-1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…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，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Y</a:t>
            </a:r>
            <a:r>
              <a:rPr kumimoji="0" lang="en-US" altLang="zh-CN" sz="16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1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压入栈中，其中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Y</a:t>
            </a:r>
            <a:r>
              <a:rPr kumimoji="0" lang="en-US" altLang="zh-CN" sz="16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1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位于栈顶。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12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           }</a:t>
            </a:r>
          </a:p>
          <a:p>
            <a:pPr marL="273050" marR="0" lvl="0" indent="-273050" algn="l" defTabSz="914400" rtl="0" eaLnBrk="1" fontAlgn="base" latinLnBrk="0" hangingPunct="1">
              <a:lnSpc>
                <a:spcPts val="12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anose="05050102010706020507" pitchFamily="18" charset="2"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令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X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=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栈顶符号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273050" marR="0" lvl="0" indent="-273050" algn="l" defTabSz="914400" rtl="0" eaLnBrk="1" fontAlgn="base" latinLnBrk="0" hangingPunct="1">
              <a:lnSpc>
                <a:spcPts val="12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anose="05050102010706020507" pitchFamily="18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}                 </a:t>
            </a:r>
          </a:p>
          <a:p>
            <a:pPr marL="273050" marR="0" lvl="0" indent="-273050" algn="l" defTabSz="914400" rtl="0" eaLnBrk="1" fontAlgn="base" latinLnBrk="0" hangingPunct="1">
              <a:lnSpc>
                <a:spcPts val="1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Symbol" panose="05050102010706020507" pitchFamily="18" charset="2"/>
              <a:buNone/>
              <a:defRPr/>
            </a:pPr>
            <a:endParaRPr kumimoji="0" lang="zh-CN" altLang="en-US" sz="1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en-US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例（回顾）</a:t>
            </a:r>
            <a:endParaRPr lang="zh-CN" altLang="en-US" sz="3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735234" name="Rectangle 2"/>
          <p:cNvSpPr>
            <a:spLocks noGrp="1" noChangeArrowheads="1"/>
          </p:cNvSpPr>
          <p:nvPr>
            <p:ph idx="1"/>
          </p:nvPr>
        </p:nvSpPr>
        <p:spPr>
          <a:xfrm>
            <a:off x="5219700" y="71438"/>
            <a:ext cx="4465638" cy="5637213"/>
          </a:xfrm>
        </p:spPr>
        <p:txBody>
          <a:bodyPr vert="horz" wrap="square" lIns="92075" tIns="46038" rIns="92075" bIns="46038" numCol="1" anchor="t" anchorCtr="0" compatLnSpc="1"/>
          <a:lstStyle/>
          <a:p>
            <a:pPr marL="273050" marR="0" lvl="0" indent="-2730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栈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剩余输入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输出</a:t>
            </a:r>
          </a:p>
          <a:p>
            <a:pPr marL="342900" marR="0" lvl="2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       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	     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id+id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*id $ 	</a:t>
            </a:r>
          </a:p>
          <a:p>
            <a:pPr marL="342900" marR="0" lvl="2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    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TE'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 	     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id+id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*id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 	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TE'</a:t>
            </a:r>
          </a:p>
          <a:p>
            <a:pPr marL="273050" marR="0" lvl="0" indent="-2730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 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FT'E'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 	     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id+id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*id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 	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FT'</a:t>
            </a:r>
          </a:p>
          <a:p>
            <a:pPr marL="273050" marR="0" lvl="0" indent="-2730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id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T'E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'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	     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id+id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*id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 	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F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→id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   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T'E'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            +id*id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 	 </a:t>
            </a:r>
          </a:p>
          <a:p>
            <a:pPr marL="273050" marR="0" lvl="0" indent="-2730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       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E'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 	         +id*id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 	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T'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ε</a:t>
            </a:r>
            <a:endParaRPr kumimoji="0" lang="en-US" altLang="zh-CN" sz="16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  +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TE'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	         +id*id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 	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E'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→+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TE'</a:t>
            </a:r>
          </a:p>
          <a:p>
            <a:pPr marL="273050" marR="0" lvl="0" indent="-2730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    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TE'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	           id*id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 	</a:t>
            </a:r>
          </a:p>
          <a:p>
            <a:pPr marL="273050" marR="0" lvl="0" indent="-2730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FT'E'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 	           id*id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 	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FT'</a:t>
            </a:r>
          </a:p>
          <a:p>
            <a:pPr marL="273050" marR="0" lvl="0" indent="-2730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id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T'E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'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	           id*id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 	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F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→id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   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T'E'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 	               *id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 	</a:t>
            </a:r>
          </a:p>
          <a:p>
            <a:pPr marL="273050" marR="0" lvl="0" indent="-2730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*</a:t>
            </a:r>
            <a:r>
              <a:rPr kumimoji="1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FT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'E'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                 *id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 	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T'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→*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FT'</a:t>
            </a:r>
          </a:p>
          <a:p>
            <a:pPr marL="273050" marR="0" lvl="0" indent="-2730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 </a:t>
            </a:r>
            <a:r>
              <a:rPr kumimoji="1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FT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'E'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                   id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 	</a:t>
            </a:r>
          </a:p>
          <a:p>
            <a:pPr marL="273050" marR="0" lvl="0" indent="-2730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id</a:t>
            </a:r>
            <a:r>
              <a:rPr kumimoji="1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'E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'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                   id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 	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F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→id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   </a:t>
            </a:r>
            <a:r>
              <a:rPr kumimoji="1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'E'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	                     $ 	</a:t>
            </a:r>
          </a:p>
          <a:p>
            <a:pPr marL="273050" marR="0" lvl="0" indent="-2730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      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E'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$ 	                     $ 	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T'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ε</a:t>
            </a:r>
            <a:endParaRPr kumimoji="0" lang="en-US" altLang="zh-CN" sz="16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 marL="273050" marR="0" lvl="0" indent="-2730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           $ 	                     $     	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E'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→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ε</a:t>
            </a:r>
            <a:endParaRPr kumimoji="0" lang="en-US" altLang="zh-CN" sz="16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</p:txBody>
      </p:sp>
      <p:graphicFrame>
        <p:nvGraphicFramePr>
          <p:cNvPr id="6" name="Group 18"/>
          <p:cNvGraphicFramePr>
            <a:graphicFrameLocks noGrp="1"/>
          </p:cNvGraphicFramePr>
          <p:nvPr/>
        </p:nvGraphicFramePr>
        <p:xfrm>
          <a:off x="171450" y="1203325"/>
          <a:ext cx="4986338" cy="2203453"/>
        </p:xfrm>
        <a:graphic>
          <a:graphicData uri="http://schemas.openxmlformats.org/drawingml/2006/table">
            <a:tbl>
              <a:tblPr/>
              <a:tblGrid>
                <a:gridCol w="536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04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36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20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23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77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35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2738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3572" marR="183572" marT="34303" marB="3430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gridSpan="6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输入符号</a:t>
                      </a: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3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id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*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 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$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4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ndara" panose="020E0502030303020204" pitchFamily="34" charset="0"/>
                        <a:ea typeface="华文楷体" panose="02010600040101010101" pitchFamily="2" charset="-122"/>
                      </a:endParaRPr>
                    </a:p>
                  </a:txBody>
                  <a:tcPr marL="183572" marR="183572" marT="34303" marB="3430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9217" name="矩形 17"/>
          <p:cNvSpPr/>
          <p:nvPr/>
        </p:nvSpPr>
        <p:spPr>
          <a:xfrm>
            <a:off x="250825" y="1868488"/>
            <a:ext cx="5113338" cy="1546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400" b="1" i="1" dirty="0">
                <a:latin typeface="Times New Roman" panose="02020603050405020304" pitchFamily="18" charset="0"/>
              </a:rPr>
              <a:t>E       </a:t>
            </a:r>
            <a:r>
              <a:rPr lang="en-US" altLang="zh-CN" sz="1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E→TE</a:t>
            </a:r>
            <a:r>
              <a:rPr lang="en-US" altLang="zh-CN" sz="1400" b="1" i="1" dirty="0">
                <a:latin typeface="Times New Roman" panose="02020603050405020304" pitchFamily="18" charset="0"/>
              </a:rPr>
              <a:t>'</a:t>
            </a:r>
            <a:r>
              <a:rPr lang="en-US" altLang="zh-CN" sz="1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                  </a:t>
            </a:r>
            <a:r>
              <a:rPr lang="en-US" altLang="zh-CN" sz="1400" b="1" i="1" dirty="0">
                <a:latin typeface="Times New Roman" panose="02020603050405020304" pitchFamily="18" charset="0"/>
              </a:rPr>
              <a:t>E→TE'</a:t>
            </a:r>
            <a:endParaRPr lang="zh-CN" altLang="en-US" sz="1400" b="1" i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400" b="1" i="1" dirty="0">
                <a:latin typeface="Times New Roman" panose="02020603050405020304" pitchFamily="18" charset="0"/>
              </a:rPr>
              <a:t>E'                       E'→+TE'                                       E'→ε</a:t>
            </a:r>
            <a:r>
              <a:rPr lang="zh-CN" altLang="en-US" sz="1400" dirty="0">
                <a:latin typeface="Candara" panose="020E0502030303020204" pitchFamily="34" charset="0"/>
                <a:ea typeface="华文楷体" panose="02010600040101010101" pitchFamily="2" charset="-122"/>
              </a:rPr>
              <a:t>      </a:t>
            </a:r>
            <a:r>
              <a:rPr lang="en-US" altLang="zh-CN" sz="1400" b="1" i="1" dirty="0">
                <a:latin typeface="Times New Roman" panose="02020603050405020304" pitchFamily="18" charset="0"/>
              </a:rPr>
              <a:t>E'→ε</a:t>
            </a:r>
          </a:p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400" b="1" i="1" dirty="0">
                <a:latin typeface="Times New Roman" panose="02020603050405020304" pitchFamily="18" charset="0"/>
              </a:rPr>
              <a:t>T       T→FT'                                           T→FT'</a:t>
            </a:r>
          </a:p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400" b="1" i="1" dirty="0">
                <a:latin typeface="Times New Roman" panose="02020603050405020304" pitchFamily="18" charset="0"/>
              </a:rPr>
              <a:t>T'                         T'→ε         T'→*FT'                   T'→ε      T'→ε</a:t>
            </a:r>
          </a:p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400" b="1" i="1" dirty="0">
                <a:latin typeface="Times New Roman" panose="02020603050405020304" pitchFamily="18" charset="0"/>
              </a:rPr>
              <a:t>F       F→</a:t>
            </a:r>
            <a:r>
              <a:rPr lang="en-US" altLang="zh-CN" sz="1400" b="1" dirty="0">
                <a:latin typeface="Times New Roman" panose="02020603050405020304" pitchFamily="18" charset="0"/>
              </a:rPr>
              <a:t>id</a:t>
            </a:r>
            <a:r>
              <a:rPr lang="en-US" altLang="zh-CN" sz="1400" b="1" i="1" dirty="0">
                <a:latin typeface="Times New Roman" panose="02020603050405020304" pitchFamily="18" charset="0"/>
              </a:rPr>
              <a:t>                                              F→</a:t>
            </a:r>
            <a:r>
              <a:rPr lang="en-US" altLang="zh-CN" sz="1400" b="1" dirty="0">
                <a:latin typeface="Times New Roman" panose="02020603050405020304" pitchFamily="18" charset="0"/>
              </a:rPr>
              <a:t>( </a:t>
            </a:r>
            <a:r>
              <a:rPr lang="en-US" altLang="zh-CN" sz="1400" b="1" i="1" dirty="0">
                <a:latin typeface="Times New Roman" panose="02020603050405020304" pitchFamily="18" charset="0"/>
              </a:rPr>
              <a:t>E </a:t>
            </a:r>
            <a:r>
              <a:rPr lang="en-US" altLang="zh-CN" sz="1400" b="1" dirty="0">
                <a:latin typeface="Times New Roman" panose="02020603050405020304" pitchFamily="18" charset="0"/>
              </a:rPr>
              <a:t>)</a:t>
            </a:r>
            <a:endParaRPr lang="zh-CN" altLang="en-US" sz="1400" b="1" dirty="0">
              <a:latin typeface="Times New Roman" panose="02020603050405020304" pitchFamily="18" charset="0"/>
            </a:endParaRPr>
          </a:p>
        </p:txBody>
      </p:sp>
      <p:sp>
        <p:nvSpPr>
          <p:cNvPr id="49218" name="矩形 2"/>
          <p:cNvSpPr/>
          <p:nvPr/>
        </p:nvSpPr>
        <p:spPr>
          <a:xfrm>
            <a:off x="158750" y="1244600"/>
            <a:ext cx="595313" cy="6334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非终</a:t>
            </a:r>
            <a:endParaRPr lang="en-US" altLang="zh-CN" sz="1600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结符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35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35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35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35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35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35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352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352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352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352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352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352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352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352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352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352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352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352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352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352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352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7352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352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352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352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352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352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7352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7352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352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7352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7352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352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73523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73523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3523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73523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73523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73523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73523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73523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73523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73523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73523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73523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73523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73523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73523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73523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73523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73523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73523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73523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73523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5234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/>
          <p:nvPr/>
        </p:nvSpPr>
        <p:spPr>
          <a:xfrm>
            <a:off x="2006600" y="160338"/>
            <a:ext cx="5845175" cy="1096962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b" anchorCtr="0"/>
          <a:lstStyle/>
          <a:p>
            <a:pPr eaLnBrk="1" hangingPunct="1"/>
            <a:endParaRPr lang="zh-CN" altLang="en-US" sz="2400" dirty="0">
              <a:solidFill>
                <a:srgbClr val="5EAE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在非递归的预测分析过程中进行翻译</a:t>
            </a:r>
            <a:endParaRPr kumimoji="0" lang="zh-CN" altLang="en-US" sz="3000" b="1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53252" name="Rectangle 3"/>
          <p:cNvSpPr>
            <a:spLocks noGrp="1"/>
          </p:cNvSpPr>
          <p:nvPr>
            <p:ph idx="1"/>
          </p:nvPr>
        </p:nvSpPr>
        <p:spPr>
          <a:xfrm>
            <a:off x="611188" y="1012825"/>
            <a:ext cx="4608512" cy="704850"/>
          </a:xfrm>
        </p:spPr>
        <p:txBody>
          <a:bodyPr vert="horz" wrap="square" lIns="68580" tIns="34290" rIns="68580" bIns="34290" anchor="t" anchorCtr="0"/>
          <a:lstStyle/>
          <a:p>
            <a:pPr eaLnBrk="1" hangingPunct="1">
              <a:lnSpc>
                <a:spcPct val="1100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3000" b="1" kern="1200" dirty="0">
                <a:solidFill>
                  <a:schemeClr val="tx1"/>
                </a:solidFill>
                <a:latin typeface="楷体" panose="02010609060101010101" pitchFamily="49" charset="-122"/>
                <a:ea typeface="华文楷体" panose="02010600040101010101" pitchFamily="2" charset="-122"/>
                <a:cs typeface="+mn-cs"/>
              </a:rPr>
              <a:t>扩展句法分析栈</a:t>
            </a:r>
          </a:p>
        </p:txBody>
      </p:sp>
      <p:grpSp>
        <p:nvGrpSpPr>
          <p:cNvPr id="53253" name="组合 1"/>
          <p:cNvGrpSpPr/>
          <p:nvPr/>
        </p:nvGrpSpPr>
        <p:grpSpPr>
          <a:xfrm>
            <a:off x="2752725" y="2284413"/>
            <a:ext cx="4710113" cy="2016125"/>
            <a:chOff x="2752725" y="2283718"/>
            <a:chExt cx="4710113" cy="2016820"/>
          </a:xfrm>
        </p:grpSpPr>
        <p:sp>
          <p:nvSpPr>
            <p:cNvPr id="22" name="Rectangle 4"/>
            <p:cNvSpPr>
              <a:spLocks noChangeArrowheads="1"/>
            </p:cNvSpPr>
            <p:nvPr/>
          </p:nvSpPr>
          <p:spPr bwMode="auto">
            <a:xfrm>
              <a:off x="2916238" y="3003103"/>
              <a:ext cx="809625" cy="43353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0" tIns="34290" rIns="0" bIns="34290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      A</a:t>
              </a:r>
            </a:p>
          </p:txBody>
        </p:sp>
        <p:sp>
          <p:nvSpPr>
            <p:cNvPr id="23" name="Rectangle 7"/>
            <p:cNvSpPr>
              <a:spLocks noChangeArrowheads="1"/>
            </p:cNvSpPr>
            <p:nvPr/>
          </p:nvSpPr>
          <p:spPr bwMode="auto">
            <a:xfrm>
              <a:off x="2916238" y="2571154"/>
              <a:ext cx="809625" cy="43194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0" tIns="34290" rIns="0" bIns="3429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action</a:t>
              </a:r>
            </a:p>
          </p:txBody>
        </p:sp>
        <p:sp>
          <p:nvSpPr>
            <p:cNvPr id="24" name="Rectangle 10"/>
            <p:cNvSpPr>
              <a:spLocks noChangeArrowheads="1"/>
            </p:cNvSpPr>
            <p:nvPr/>
          </p:nvSpPr>
          <p:spPr bwMode="auto">
            <a:xfrm>
              <a:off x="2916238" y="3436640"/>
              <a:ext cx="809625" cy="43194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0" tIns="34290" rIns="0" bIns="34290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kumimoji="0" lang="en-US" altLang="zh-CN" sz="18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Asyn</a:t>
              </a:r>
              <a:endPara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3257" name="Line 13"/>
            <p:cNvSpPr/>
            <p:nvPr/>
          </p:nvSpPr>
          <p:spPr>
            <a:xfrm flipV="1">
              <a:off x="2752725" y="2627313"/>
              <a:ext cx="0" cy="1239837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6" name="AutoShape 14"/>
            <p:cNvSpPr/>
            <p:nvPr/>
          </p:nvSpPr>
          <p:spPr bwMode="auto">
            <a:xfrm>
              <a:off x="4967288" y="2283718"/>
              <a:ext cx="2495550" cy="641571"/>
            </a:xfrm>
            <a:prstGeom prst="borderCallout2">
              <a:avLst>
                <a:gd name="adj1" fmla="val 18750"/>
                <a:gd name="adj2" fmla="val -3528"/>
                <a:gd name="adj3" fmla="val 20555"/>
                <a:gd name="adj4" fmla="val -14279"/>
                <a:gd name="adj5" fmla="val 73058"/>
                <a:gd name="adj6" fmla="val -26061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1"/>
              </a:solidFill>
              <a:miter lim="800000"/>
            </a:ln>
          </p:spPr>
          <p:txBody>
            <a:bodyPr lIns="68580" tIns="34290" rIns="68580" bIns="3429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指向将被执行的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2">
                      <a:lumMod val="60000"/>
                      <a:lumOff val="40000"/>
                    </a:scheme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语义动作代码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的指针</a:t>
              </a:r>
            </a:p>
          </p:txBody>
        </p:sp>
        <p:sp>
          <p:nvSpPr>
            <p:cNvPr id="27" name="AutoShape 15"/>
            <p:cNvSpPr/>
            <p:nvPr/>
          </p:nvSpPr>
          <p:spPr bwMode="auto">
            <a:xfrm>
              <a:off x="4967288" y="2996751"/>
              <a:ext cx="1620837" cy="325550"/>
            </a:xfrm>
            <a:prstGeom prst="borderCallout2">
              <a:avLst>
                <a:gd name="adj1" fmla="val 26375"/>
                <a:gd name="adj2" fmla="val -3528"/>
                <a:gd name="adj3" fmla="val 26375"/>
                <a:gd name="adj4" fmla="val -21602"/>
                <a:gd name="adj5" fmla="val 63958"/>
                <a:gd name="adj6" fmla="val -39725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1"/>
              </a:solidFill>
              <a:miter lim="800000"/>
            </a:ln>
          </p:spPr>
          <p:txBody>
            <a:bodyPr lIns="68580" tIns="34290" rIns="68580" bIns="34290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A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的继承属性</a:t>
              </a:r>
            </a:p>
          </p:txBody>
        </p:sp>
        <p:sp>
          <p:nvSpPr>
            <p:cNvPr id="28" name="AutoShape 16"/>
            <p:cNvSpPr/>
            <p:nvPr/>
          </p:nvSpPr>
          <p:spPr bwMode="auto">
            <a:xfrm>
              <a:off x="4967288" y="3425523"/>
              <a:ext cx="1620837" cy="325550"/>
            </a:xfrm>
            <a:prstGeom prst="borderCallout2">
              <a:avLst>
                <a:gd name="adj1" fmla="val 26375"/>
                <a:gd name="adj2" fmla="val -3528"/>
                <a:gd name="adj3" fmla="val 26375"/>
                <a:gd name="adj4" fmla="val -20940"/>
                <a:gd name="adj5" fmla="val 72353"/>
                <a:gd name="adj6" fmla="val -40241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1"/>
              </a:solidFill>
              <a:miter lim="800000"/>
            </a:ln>
          </p:spPr>
          <p:txBody>
            <a:bodyPr lIns="68580" tIns="34290" rIns="68580" bIns="34290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A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的综合属性</a:t>
              </a:r>
            </a:p>
          </p:txBody>
        </p:sp>
        <p:sp>
          <p:nvSpPr>
            <p:cNvPr id="53261" name="Rectangle 10"/>
            <p:cNvSpPr/>
            <p:nvPr/>
          </p:nvSpPr>
          <p:spPr>
            <a:xfrm>
              <a:off x="2916238" y="3868738"/>
              <a:ext cx="1403350" cy="4318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34290" rIns="0" bIns="34290" anchor="ctr" anchorCtr="0"/>
            <a:lstStyle/>
            <a:p>
              <a:pPr eaLnBrk="1" hangingPunct="1">
                <a:buNone/>
              </a:pPr>
              <a:r>
                <a:rPr lang="en-US" altLang="zh-CN" i="1" dirty="0">
                  <a:latin typeface="Times New Roman" panose="02020603050405020304" pitchFamily="18" charset="0"/>
                  <a:ea typeface="楷体" panose="02010609060101010101" pitchFamily="49" charset="-122"/>
                </a:rPr>
                <a:t> Symbol  Value</a:t>
              </a:r>
            </a:p>
          </p:txBody>
        </p:sp>
        <p:sp>
          <p:nvSpPr>
            <p:cNvPr id="30" name="Rectangle 4"/>
            <p:cNvSpPr>
              <a:spLocks noChangeArrowheads="1"/>
            </p:cNvSpPr>
            <p:nvPr/>
          </p:nvSpPr>
          <p:spPr bwMode="auto">
            <a:xfrm>
              <a:off x="3725863" y="3003103"/>
              <a:ext cx="593725" cy="43353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0" tIns="34290" rIns="0" bIns="34290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1" name="Rectangle 7"/>
            <p:cNvSpPr>
              <a:spLocks noChangeArrowheads="1"/>
            </p:cNvSpPr>
            <p:nvPr/>
          </p:nvSpPr>
          <p:spPr bwMode="auto">
            <a:xfrm>
              <a:off x="3725863" y="2571154"/>
              <a:ext cx="593725" cy="43194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0" tIns="34290" rIns="0" bIns="34290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2" name="Rectangle 10"/>
            <p:cNvSpPr>
              <a:spLocks noChangeArrowheads="1"/>
            </p:cNvSpPr>
            <p:nvPr/>
          </p:nvSpPr>
          <p:spPr bwMode="auto">
            <a:xfrm>
              <a:off x="3725863" y="3436640"/>
              <a:ext cx="593725" cy="43194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lIns="0" tIns="34290" rIns="0" bIns="34290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1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      </a:t>
              </a:r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3" name="矩形 7"/>
          <p:cNvSpPr>
            <a:spLocks noChangeArrowheads="1"/>
          </p:cNvSpPr>
          <p:nvPr/>
        </p:nvSpPr>
        <p:spPr bwMode="auto">
          <a:xfrm>
            <a:off x="1500188" y="2786063"/>
            <a:ext cx="6161088" cy="21447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 algn="ctr">
            <a:solidFill>
              <a:schemeClr val="tx1"/>
            </a:solidFill>
            <a:round/>
          </a:ln>
        </p:spPr>
        <p:txBody>
          <a:bodyPr lIns="68580" tIns="34290" rIns="68580" bIns="3429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7218" name="Rectangle 3"/>
          <p:cNvSpPr txBox="1">
            <a:spLocks noChangeArrowheads="1"/>
          </p:cNvSpPr>
          <p:nvPr/>
        </p:nvSpPr>
        <p:spPr bwMode="auto">
          <a:xfrm>
            <a:off x="1285875" y="785813"/>
            <a:ext cx="6643688" cy="15001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 lIns="68580" tIns="34290" rIns="68580" bIns="34290"/>
          <a:lstStyle/>
          <a:p>
            <a:pPr marR="0" defTabSz="914400" eaLnBrk="1" hangingPunct="1">
              <a:spcBef>
                <a:spcPct val="20000"/>
              </a:spcBef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en-US" altLang="zh-CN" sz="2000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kumimoji="0" lang="zh-CN" altLang="en-US" sz="2000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i="1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 </a:t>
            </a:r>
            <a:r>
              <a:rPr kumimoji="0" lang="en-US" altLang="zh-CN" sz="2000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kumimoji="0" lang="en-US" altLang="zh-CN" sz="2000" i="1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F</a:t>
            </a:r>
            <a:r>
              <a:rPr kumimoji="0" lang="en-US" altLang="zh-CN" sz="2000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2000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kumimoji="0" lang="en-US" altLang="zh-CN" sz="2000" i="1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T</a:t>
            </a:r>
            <a:r>
              <a:rPr kumimoji="0" lang="en-US" altLang="zh-CN" sz="2000" i="1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kumimoji="0" lang="en-US" altLang="zh-CN" sz="2000" i="1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r>
              <a:rPr kumimoji="0" lang="en-US" altLang="zh-CN" sz="2000" i="1" kern="1200" cap="none" spc="0" normalizeH="0" baseline="0" noProof="0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inh</a:t>
            </a:r>
            <a:r>
              <a:rPr kumimoji="0" lang="en-US" altLang="zh-CN" sz="2000" i="1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2000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kumimoji="0" lang="en-US" altLang="zh-CN" sz="2000" i="1" kern="1200" cap="none" spc="0" normalizeH="0" baseline="0" noProof="0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kumimoji="0" lang="en-US" altLang="zh-CN" sz="2000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r>
              <a:rPr kumimoji="0" lang="en-US" altLang="zh-CN" sz="2000" i="1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sz="2000" i="1" kern="1200" cap="none" spc="0" normalizeH="0" baseline="0" noProof="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 </a:t>
            </a:r>
            <a:r>
              <a:rPr kumimoji="0" lang="en-US" altLang="zh-CN" sz="2000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{ </a:t>
            </a:r>
            <a:r>
              <a:rPr kumimoji="0" lang="en-US" altLang="zh-CN" sz="2000" i="1" kern="1200" cap="none" spc="0" normalizeH="0" baseline="0" noProof="0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T.val</a:t>
            </a:r>
            <a:r>
              <a:rPr kumimoji="0" lang="en-US" altLang="zh-CN" sz="2000" i="1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2000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kumimoji="0" lang="en-US" altLang="zh-CN" sz="2000" i="1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sz="2000" i="1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i="1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r>
              <a:rPr kumimoji="0" lang="en-US" altLang="zh-CN" sz="2000" i="1" kern="1200" cap="none" spc="0" normalizeH="0" baseline="0" noProof="0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syn</a:t>
            </a:r>
            <a:r>
              <a:rPr kumimoji="0" lang="en-US" altLang="zh-CN" sz="2000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</a:t>
            </a:r>
            <a:endParaRPr kumimoji="0" lang="zh-CN" altLang="en-US" sz="2000" kern="1200" cap="none" spc="0" normalizeH="0" baseline="0" noProof="0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R="0" defTabSz="914400" eaLnBrk="1" hangingPunct="1">
              <a:spcBef>
                <a:spcPct val="20000"/>
              </a:spcBef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en-US" altLang="zh-CN" sz="2000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2) </a:t>
            </a:r>
            <a:r>
              <a:rPr kumimoji="0" lang="en-US" altLang="zh-CN" sz="2000" i="1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i="1" kern="1200" cap="none" spc="0" normalizeH="0" baseline="0" noProof="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i="1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→ *</a:t>
            </a:r>
            <a:r>
              <a:rPr kumimoji="0" lang="zh-CN" altLang="en-US" sz="2000" i="1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kumimoji="0" lang="zh-CN" altLang="en-US" sz="2000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000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 </a:t>
            </a:r>
            <a:r>
              <a:rPr kumimoji="0" lang="zh-CN" altLang="en-US" sz="2000" i="1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2000" kern="1200" cap="none" spc="0" normalizeH="0" baseline="-2500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i="1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zh-CN" altLang="en-US" sz="2000" i="1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.inh </a:t>
            </a:r>
            <a:r>
              <a:rPr kumimoji="0" lang="zh-CN" altLang="en-US" sz="2000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kumimoji="0" lang="zh-CN" altLang="en-US" sz="2000" i="1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i="1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zh-CN" altLang="en-US" sz="2000" i="1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.inh</a:t>
            </a:r>
            <a:r>
              <a:rPr kumimoji="0" lang="zh-CN" altLang="en-US" sz="2000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×</a:t>
            </a:r>
            <a:r>
              <a:rPr kumimoji="0" lang="zh-CN" altLang="en-US" sz="2000" i="1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kumimoji="0" lang="zh-CN" altLang="en-US" sz="2000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r>
              <a:rPr kumimoji="0" lang="zh-CN" altLang="en-US" sz="2000" i="1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2000" kern="1200" cap="none" spc="0" normalizeH="0" baseline="-2500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i="1" kern="1200" cap="none" spc="0" normalizeH="0" baseline="0" noProof="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zh-CN" altLang="en-US" sz="2000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 </a:t>
            </a:r>
            <a:r>
              <a:rPr kumimoji="0" lang="zh-CN" altLang="en-US" sz="2000" i="1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i="1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i="1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2000" i="1" kern="1200" cap="none" spc="0" normalizeH="0" baseline="0" noProof="0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2000" i="1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zh-CN" altLang="en-US" sz="2000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000" i="1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2000" kern="1200" cap="none" spc="0" normalizeH="0" baseline="-2500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i="1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i="1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2000" i="1" kern="1200" cap="none" spc="0" normalizeH="0" baseline="0" noProof="0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2000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</a:t>
            </a:r>
          </a:p>
          <a:p>
            <a:pPr marR="0" defTabSz="914400" eaLnBrk="1" hangingPunct="1">
              <a:spcBef>
                <a:spcPct val="20000"/>
              </a:spcBef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en-US" altLang="zh-CN" sz="2000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3) </a:t>
            </a:r>
            <a:r>
              <a:rPr kumimoji="0" lang="zh-CN" altLang="en-US" sz="2000" i="1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i="1" kern="1200" cap="none" spc="0" normalizeH="0" baseline="0" noProof="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zh-CN" altLang="en-US" sz="2000" i="1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000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kumimoji="0" lang="el-GR" altLang="zh-CN" sz="2000" i="1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kumimoji="0" lang="en-US" altLang="zh-CN" sz="2000" i="1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2000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kumimoji="0" lang="zh-CN" altLang="en-US" sz="2000" i="1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i="1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i="1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2000" i="1" kern="1200" cap="none" spc="0" normalizeH="0" baseline="0" noProof="0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2000" i="1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zh-CN" altLang="en-US" sz="2000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000" i="1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i="1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i="1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2000" i="1" kern="1200" cap="none" spc="0" normalizeH="0" baseline="0" noProof="0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inh</a:t>
            </a:r>
            <a:r>
              <a:rPr kumimoji="0" lang="en-US" altLang="zh-CN" sz="2000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</a:t>
            </a:r>
          </a:p>
          <a:p>
            <a:pPr marR="0" defTabSz="914400" eaLnBrk="1" hangingPunct="1">
              <a:spcBef>
                <a:spcPct val="20000"/>
              </a:spcBef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en-US" altLang="zh-CN" sz="2000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4) </a:t>
            </a:r>
            <a:r>
              <a:rPr kumimoji="0" lang="en-US" altLang="zh-CN" sz="2000" i="1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</a:t>
            </a:r>
            <a:r>
              <a:rPr kumimoji="0" lang="zh-CN" altLang="en-US" sz="2000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→ </a:t>
            </a:r>
            <a:r>
              <a:rPr kumimoji="0" lang="en-US" altLang="zh-CN" sz="2000" kern="12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digit </a:t>
            </a:r>
            <a:r>
              <a:rPr kumimoji="0" lang="en-US" altLang="zh-CN" sz="2000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kumimoji="0" lang="en-US" altLang="zh-CN" sz="2000" i="1" kern="1200" cap="none" spc="0" normalizeH="0" baseline="0" noProof="0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F.val</a:t>
            </a:r>
            <a:r>
              <a:rPr kumimoji="0" lang="en-US" altLang="zh-CN" sz="2000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kumimoji="0" lang="en-US" altLang="zh-CN" sz="2000" kern="1200" cap="none" spc="0" normalizeH="0" baseline="0" noProof="0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digit.</a:t>
            </a:r>
            <a:r>
              <a:rPr kumimoji="0" lang="en-US" altLang="zh-CN" sz="2000" i="1" kern="1200" cap="none" spc="0" normalizeH="0" baseline="0" noProof="0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lexval</a:t>
            </a:r>
            <a:r>
              <a:rPr kumimoji="0" lang="en-US" altLang="zh-CN" sz="2000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}</a:t>
            </a:r>
            <a:endParaRPr kumimoji="0" lang="zh-CN" altLang="en-US" sz="2000" kern="1200" cap="none" spc="0" normalizeH="0" baseline="0" noProof="0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3251" name="Rectangle 3"/>
          <p:cNvSpPr txBox="1"/>
          <p:nvPr/>
        </p:nvSpPr>
        <p:spPr>
          <a:xfrm>
            <a:off x="4519613" y="2786063"/>
            <a:ext cx="3624262" cy="1660525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/>
          <a:lstStyle/>
          <a:p>
            <a:pPr marL="257175" indent="-257175" eaLnBrk="1" hangingPunct="1">
              <a:lnSpc>
                <a:spcPts val="2300"/>
              </a:lnSpc>
              <a:spcBef>
                <a:spcPct val="20000"/>
              </a:spcBef>
              <a:buClr>
                <a:srgbClr val="5EAEFF"/>
              </a:buClr>
              <a:buSzPct val="60000"/>
              <a:buNone/>
            </a:pP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a</a:t>
            </a:r>
            <a:r>
              <a:rPr lang="zh-CN" altLang="en-US" sz="20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：</a:t>
            </a: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T</a:t>
            </a: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.inh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</a:p>
          <a:p>
            <a:pPr marL="257175" indent="-257175" eaLnBrk="1" hangingPunct="1">
              <a:lnSpc>
                <a:spcPts val="2300"/>
              </a:lnSpc>
              <a:spcBef>
                <a:spcPct val="20000"/>
              </a:spcBef>
              <a:buClr>
                <a:srgbClr val="5EAEFF"/>
              </a:buClr>
              <a:buSzPct val="60000"/>
              <a:buNone/>
            </a:pP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a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T.val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.syn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eaLnBrk="1" hangingPunct="1">
              <a:lnSpc>
                <a:spcPts val="2300"/>
              </a:lnSpc>
              <a:spcBef>
                <a:spcPct val="20000"/>
              </a:spcBef>
              <a:buClr>
                <a:srgbClr val="5EAEFF"/>
              </a:buClr>
              <a:buSzPct val="60000"/>
              <a:buNone/>
            </a:pP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a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：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.inh 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.inh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×</a:t>
            </a:r>
            <a:r>
              <a: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eaLnBrk="1" hangingPunct="1">
              <a:lnSpc>
                <a:spcPts val="2300"/>
              </a:lnSpc>
              <a:spcBef>
                <a:spcPct val="20000"/>
              </a:spcBef>
              <a:buClr>
                <a:srgbClr val="5EAEFF"/>
              </a:buClr>
              <a:buSzPct val="60000"/>
              <a:buNone/>
            </a:pP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a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0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：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.syn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.syn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eaLnBrk="1" hangingPunct="1">
              <a:lnSpc>
                <a:spcPts val="2300"/>
              </a:lnSpc>
              <a:spcBef>
                <a:spcPct val="20000"/>
              </a:spcBef>
              <a:buClr>
                <a:srgbClr val="5EAEFF"/>
              </a:buClr>
              <a:buSzPct val="60000"/>
              <a:buNone/>
            </a:pP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a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0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：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.syn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.inh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eaLnBrk="1" hangingPunct="1">
              <a:lnSpc>
                <a:spcPts val="2300"/>
              </a:lnSpc>
              <a:spcBef>
                <a:spcPct val="20000"/>
              </a:spcBef>
              <a:buClr>
                <a:srgbClr val="5EAEFF"/>
              </a:buClr>
              <a:buSzPct val="60000"/>
              <a:buNone/>
            </a:pP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a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0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F.val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 digit.</a:t>
            </a: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lexval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3252" name="Rectangle 3"/>
          <p:cNvSpPr txBox="1"/>
          <p:nvPr/>
        </p:nvSpPr>
        <p:spPr>
          <a:xfrm>
            <a:off x="1571625" y="3289300"/>
            <a:ext cx="2962275" cy="1139825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/>
          <a:lstStyle/>
          <a:p>
            <a:pPr marL="257175" indent="-257175" eaLnBrk="1" hangingPunct="1">
              <a:spcBef>
                <a:spcPct val="20000"/>
              </a:spcBef>
              <a:buClr>
                <a:srgbClr val="5EAEFF"/>
              </a:buClr>
              <a:buSzPct val="60000"/>
              <a:buNone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F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a</a:t>
            </a:r>
            <a:r>
              <a:rPr lang="zh-CN" altLang="en-US" sz="20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} </a:t>
            </a: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{ 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a</a:t>
            </a:r>
            <a:r>
              <a:rPr lang="en-US" altLang="zh-CN" sz="20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}</a:t>
            </a:r>
            <a:endParaRPr lang="zh-CN" altLang="en-US" sz="2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257175" indent="-257175" eaLnBrk="1" hangingPunct="1">
              <a:spcBef>
                <a:spcPct val="20000"/>
              </a:spcBef>
              <a:buClr>
                <a:srgbClr val="5EAEFF"/>
              </a:buClr>
              <a:buSzPct val="60000"/>
              <a:buNone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′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*</a:t>
            </a:r>
            <a:r>
              <a: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a</a:t>
            </a:r>
            <a:r>
              <a:rPr lang="en-US" altLang="zh-CN" sz="20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r>
              <a: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a</a:t>
            </a:r>
            <a:r>
              <a:rPr lang="en-US" altLang="zh-CN" sz="20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pPr marL="257175" indent="-257175" eaLnBrk="1" hangingPunct="1">
              <a:spcBef>
                <a:spcPct val="20000"/>
              </a:spcBef>
              <a:buClr>
                <a:srgbClr val="5EAEFF"/>
              </a:buClr>
              <a:buSzPct val="60000"/>
              <a:buNone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zh-CN" altLang="en-US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′ 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lang="el-GR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a</a:t>
            </a:r>
            <a:r>
              <a:rPr lang="en-US" altLang="zh-CN" sz="20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pPr marL="257175" indent="-257175" eaLnBrk="1" hangingPunct="1">
              <a:spcBef>
                <a:spcPct val="20000"/>
              </a:spcBef>
              <a:buClr>
                <a:srgbClr val="5EAEFF"/>
              </a:buClr>
              <a:buSzPct val="60000"/>
              <a:buNone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4) </a:t>
            </a: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→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digit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a</a:t>
            </a:r>
            <a:r>
              <a:rPr lang="en-US" altLang="zh-CN" sz="20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}</a:t>
            </a:r>
            <a:endParaRPr lang="zh-CN" altLang="en-US" sz="2000" dirty="0">
              <a:solidFill>
                <a:srgbClr val="0000FF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3254" name="下箭头 8"/>
          <p:cNvSpPr>
            <a:spLocks noChangeArrowheads="1"/>
          </p:cNvSpPr>
          <p:nvPr/>
        </p:nvSpPr>
        <p:spPr bwMode="auto">
          <a:xfrm>
            <a:off x="4286250" y="2339975"/>
            <a:ext cx="428625" cy="37465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tx2">
              <a:lumMod val="60000"/>
              <a:lumOff val="40000"/>
            </a:schemeClr>
          </a:solidFill>
          <a:ln w="12700" algn="ctr">
            <a:solidFill>
              <a:schemeClr val="tx1"/>
            </a:solidFill>
            <a:round/>
          </a:ln>
        </p:spPr>
        <p:txBody>
          <a:bodyPr lIns="68580" tIns="34290" rIns="68580" bIns="3429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303" name="Rectangle 2"/>
          <p:cNvSpPr/>
          <p:nvPr/>
        </p:nvSpPr>
        <p:spPr>
          <a:xfrm>
            <a:off x="2006600" y="160338"/>
            <a:ext cx="5845175" cy="1096962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b" anchorCtr="0"/>
          <a:lstStyle/>
          <a:p>
            <a:pPr eaLnBrk="1" hangingPunct="1"/>
            <a:endParaRPr lang="zh-CN" altLang="en-US" sz="2400" dirty="0">
              <a:solidFill>
                <a:srgbClr val="5EAE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endParaRPr kumimoji="0" lang="zh-CN" altLang="en-US" sz="3000" b="1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32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32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3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3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3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32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32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3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32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32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3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3" grpId="0" animBg="1"/>
      <p:bldP spid="53251" grpId="0"/>
      <p:bldP spid="53252" grpId="0"/>
      <p:bldP spid="53254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68288"/>
            <a:ext cx="8208963" cy="358775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分析栈中的每一个记录都对应着一段执行代码</a:t>
            </a:r>
          </a:p>
        </p:txBody>
      </p:sp>
      <p:sp>
        <p:nvSpPr>
          <p:cNvPr id="77827" name="Rectangle 3"/>
          <p:cNvSpPr txBox="1"/>
          <p:nvPr/>
        </p:nvSpPr>
        <p:spPr>
          <a:xfrm>
            <a:off x="401638" y="1058863"/>
            <a:ext cx="8285162" cy="3225800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/>
          <a:lstStyle/>
          <a:p>
            <a:pPr marL="271780" indent="-271780" eaLnBrk="1" hangingPunct="1">
              <a:lnSpc>
                <a:spcPts val="4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综合记录出栈时，要将综合属性值复制给后面特定的语义动作（如果有需要）</a:t>
            </a:r>
          </a:p>
          <a:p>
            <a:pPr marL="271780" indent="-271780" eaLnBrk="1" hangingPunct="1">
              <a:lnSpc>
                <a:spcPts val="4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变量展开时（即变量本身的记录出栈时），如果其含有继承属性，则要将继承属性值复制给后面特定的语义动作（位于即将扩展的产生式右部）</a:t>
            </a:r>
          </a:p>
          <a:p>
            <a:pPr marL="271780" indent="-271780" eaLnBrk="1" hangingPunct="1">
              <a:lnSpc>
                <a:spcPts val="4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endParaRPr lang="zh-CN" altLang="en-US" sz="2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854075" lvl="2" indent="-226695" eaLnBrk="1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None/>
            </a:pPr>
            <a:endParaRPr lang="zh-CN" altLang="en-US" sz="2800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650163" y="4014788"/>
            <a:ext cx="593725" cy="4302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8243888" y="4013200"/>
            <a:ext cx="593725" cy="431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Tsyn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8837613" y="4013200"/>
            <a:ext cx="217488" cy="431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11" name="Rectangle 19"/>
          <p:cNvSpPr>
            <a:spLocks noChangeArrowheads="1"/>
          </p:cNvSpPr>
          <p:nvPr/>
        </p:nvSpPr>
        <p:spPr bwMode="auto">
          <a:xfrm>
            <a:off x="8243888" y="4445000"/>
            <a:ext cx="593725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val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7351" name="Rectangle 56"/>
          <p:cNvSpPr/>
          <p:nvPr/>
        </p:nvSpPr>
        <p:spPr>
          <a:xfrm>
            <a:off x="6757988" y="1325563"/>
            <a:ext cx="2051050" cy="415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None/>
            </a:pPr>
            <a:r>
              <a:rPr lang="zh-CN" altLang="en-US" sz="21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输入</a:t>
            </a:r>
            <a:r>
              <a:rPr lang="en-US" altLang="zh-CN" sz="21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: 3 * 5</a:t>
            </a:r>
            <a:endParaRPr lang="zh-CN" altLang="en-US" sz="2100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7352" name="Line 79"/>
          <p:cNvSpPr/>
          <p:nvPr/>
        </p:nvSpPr>
        <p:spPr>
          <a:xfrm flipV="1">
            <a:off x="7577138" y="1698625"/>
            <a:ext cx="0" cy="21590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57353" name="组合 12"/>
          <p:cNvGrpSpPr/>
          <p:nvPr/>
        </p:nvGrpSpPr>
        <p:grpSpPr>
          <a:xfrm>
            <a:off x="715963" y="682625"/>
            <a:ext cx="6092825" cy="2249488"/>
            <a:chOff x="751285" y="802569"/>
            <a:chExt cx="6091894" cy="2249363"/>
          </a:xfrm>
        </p:grpSpPr>
        <p:sp>
          <p:nvSpPr>
            <p:cNvPr id="17" name="矩形 7"/>
            <p:cNvSpPr>
              <a:spLocks noChangeArrowheads="1"/>
            </p:cNvSpPr>
            <p:nvPr/>
          </p:nvSpPr>
          <p:spPr bwMode="auto">
            <a:xfrm>
              <a:off x="751285" y="835905"/>
              <a:ext cx="6091894" cy="221602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algn="ctr">
              <a:solidFill>
                <a:schemeClr val="tx1"/>
              </a:solidFill>
              <a:rou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355" name="Rectangle 3"/>
            <p:cNvSpPr txBox="1"/>
            <p:nvPr/>
          </p:nvSpPr>
          <p:spPr>
            <a:xfrm>
              <a:off x="3670772" y="802569"/>
              <a:ext cx="3166239" cy="166092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zh-CN" altLang="en-US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 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.inh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2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T.val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.syn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20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 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×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zh-CN" altLang="en-US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20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zh-CN" altLang="en-US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zh-CN" altLang="en-US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F.val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= digit.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lexval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endPara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57356" name="Rectangle 3"/>
            <p:cNvSpPr txBox="1"/>
            <p:nvPr/>
          </p:nvSpPr>
          <p:spPr>
            <a:xfrm>
              <a:off x="807654" y="963245"/>
              <a:ext cx="3511452" cy="19486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SDT</a:t>
              </a: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 a</a:t>
              </a:r>
              <a:r>
                <a:rPr lang="zh-CN" altLang="en-US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}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{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</a:t>
              </a:r>
              <a:endPara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endParaRP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→ *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 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3)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l-GR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ε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4)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→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digit 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}</a:t>
              </a:r>
              <a:endPara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10" grpId="0" animBg="1"/>
      <p:bldP spid="11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endParaRPr kumimoji="0" lang="zh-CN" altLang="en-US" sz="397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8243888" y="4010025"/>
            <a:ext cx="593725" cy="431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Tsyn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8837613" y="4010025"/>
            <a:ext cx="217488" cy="431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11" name="Rectangle 19"/>
          <p:cNvSpPr>
            <a:spLocks noChangeArrowheads="1"/>
          </p:cNvSpPr>
          <p:nvPr/>
        </p:nvSpPr>
        <p:spPr bwMode="auto">
          <a:xfrm>
            <a:off x="8243888" y="4441825"/>
            <a:ext cx="593725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val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7434263" y="4014788"/>
            <a:ext cx="809625" cy="434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{a</a:t>
            </a: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2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5" name="Rectangle 13"/>
          <p:cNvSpPr>
            <a:spLocks noChangeArrowheads="1"/>
          </p:cNvSpPr>
          <p:nvPr/>
        </p:nvSpPr>
        <p:spPr bwMode="auto">
          <a:xfrm>
            <a:off x="6840538" y="4011613"/>
            <a:ext cx="593725" cy="4381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′ </a:t>
            </a:r>
            <a:r>
              <a:rPr kumimoji="0" lang="en-US" altLang="zh-CN" sz="1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4572000" y="4010025"/>
            <a:ext cx="541338" cy="4381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17" name="Rectangle 21"/>
          <p:cNvSpPr>
            <a:spLocks noChangeArrowheads="1"/>
          </p:cNvSpPr>
          <p:nvPr/>
        </p:nvSpPr>
        <p:spPr bwMode="auto">
          <a:xfrm>
            <a:off x="6840538" y="4445000"/>
            <a:ext cx="593725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endParaRPr kumimoji="0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Rectangle 18"/>
          <p:cNvSpPr>
            <a:spLocks noChangeArrowheads="1"/>
          </p:cNvSpPr>
          <p:nvPr/>
        </p:nvSpPr>
        <p:spPr bwMode="auto">
          <a:xfrm>
            <a:off x="5707063" y="4010025"/>
            <a:ext cx="592138" cy="4397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{a</a:t>
            </a:r>
            <a:r>
              <a:rPr kumimoji="0" lang="zh-CN" altLang="en-US" sz="1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9" name="Rectangle 24"/>
          <p:cNvSpPr>
            <a:spLocks noChangeArrowheads="1"/>
          </p:cNvSpPr>
          <p:nvPr/>
        </p:nvSpPr>
        <p:spPr bwMode="auto">
          <a:xfrm>
            <a:off x="5113338" y="4008438"/>
            <a:ext cx="593725" cy="4397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Fsyn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Rectangle 76"/>
          <p:cNvSpPr>
            <a:spLocks noChangeArrowheads="1"/>
          </p:cNvSpPr>
          <p:nvPr/>
        </p:nvSpPr>
        <p:spPr bwMode="auto">
          <a:xfrm>
            <a:off x="5113338" y="4438650"/>
            <a:ext cx="593725" cy="2778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val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" name="Rectangle 12"/>
          <p:cNvSpPr>
            <a:spLocks noChangeArrowheads="1"/>
          </p:cNvSpPr>
          <p:nvPr/>
        </p:nvSpPr>
        <p:spPr bwMode="auto">
          <a:xfrm>
            <a:off x="6299200" y="4010025"/>
            <a:ext cx="541338" cy="4397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′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" name="Rectangle 23"/>
          <p:cNvSpPr>
            <a:spLocks noChangeArrowheads="1"/>
          </p:cNvSpPr>
          <p:nvPr/>
        </p:nvSpPr>
        <p:spPr bwMode="auto">
          <a:xfrm>
            <a:off x="6299200" y="4445000"/>
            <a:ext cx="541338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inh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407" name="Rectangle 56"/>
          <p:cNvSpPr/>
          <p:nvPr/>
        </p:nvSpPr>
        <p:spPr>
          <a:xfrm>
            <a:off x="6757988" y="1325563"/>
            <a:ext cx="2051050" cy="415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None/>
            </a:pPr>
            <a:r>
              <a:rPr lang="zh-CN" altLang="en-US" sz="21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输入</a:t>
            </a:r>
            <a:r>
              <a:rPr lang="en-US" altLang="zh-CN" sz="21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: 3 * 5</a:t>
            </a:r>
            <a:endParaRPr lang="zh-CN" altLang="en-US" sz="2100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9408" name="Line 79"/>
          <p:cNvSpPr/>
          <p:nvPr/>
        </p:nvSpPr>
        <p:spPr>
          <a:xfrm flipV="1">
            <a:off x="7577138" y="1698625"/>
            <a:ext cx="0" cy="21590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59409" name="组合 12"/>
          <p:cNvGrpSpPr/>
          <p:nvPr/>
        </p:nvGrpSpPr>
        <p:grpSpPr>
          <a:xfrm>
            <a:off x="715963" y="682625"/>
            <a:ext cx="6092825" cy="2249488"/>
            <a:chOff x="751285" y="802569"/>
            <a:chExt cx="6091894" cy="2249363"/>
          </a:xfrm>
        </p:grpSpPr>
        <p:sp>
          <p:nvSpPr>
            <p:cNvPr id="27" name="矩形 7"/>
            <p:cNvSpPr>
              <a:spLocks noChangeArrowheads="1"/>
            </p:cNvSpPr>
            <p:nvPr/>
          </p:nvSpPr>
          <p:spPr bwMode="auto">
            <a:xfrm>
              <a:off x="751285" y="835905"/>
              <a:ext cx="6091894" cy="221602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algn="ctr">
              <a:solidFill>
                <a:schemeClr val="tx1"/>
              </a:solidFill>
              <a:rou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9411" name="Rectangle 3"/>
            <p:cNvSpPr txBox="1"/>
            <p:nvPr/>
          </p:nvSpPr>
          <p:spPr>
            <a:xfrm>
              <a:off x="3670772" y="802569"/>
              <a:ext cx="3166239" cy="166092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zh-CN" altLang="en-US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 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.inh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2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T.val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.syn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20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 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×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zh-CN" altLang="en-US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20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zh-CN" altLang="en-US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zh-CN" altLang="en-US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F.val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= digit.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lexval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endPara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59412" name="Rectangle 3"/>
            <p:cNvSpPr txBox="1"/>
            <p:nvPr/>
          </p:nvSpPr>
          <p:spPr>
            <a:xfrm>
              <a:off x="807654" y="963245"/>
              <a:ext cx="3511452" cy="19486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SDT</a:t>
              </a: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 a</a:t>
              </a:r>
              <a:r>
                <a:rPr lang="zh-CN" altLang="en-US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}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{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</a:t>
              </a:r>
              <a:endPara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endParaRP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→ *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 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3)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l-GR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ε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4)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→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digit 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}</a:t>
              </a:r>
              <a:endPara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6" grpId="1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76"/>
          <p:cNvSpPr>
            <a:spLocks noChangeArrowheads="1"/>
          </p:cNvSpPr>
          <p:nvPr/>
        </p:nvSpPr>
        <p:spPr bwMode="auto">
          <a:xfrm>
            <a:off x="5114925" y="4427538"/>
            <a:ext cx="596900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val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4866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endParaRPr kumimoji="0" lang="zh-CN" altLang="en-US" sz="397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8243888" y="4013200"/>
            <a:ext cx="593725" cy="431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Tsyn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8837613" y="4013200"/>
            <a:ext cx="217488" cy="431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11" name="Rectangle 19"/>
          <p:cNvSpPr>
            <a:spLocks noChangeArrowheads="1"/>
          </p:cNvSpPr>
          <p:nvPr/>
        </p:nvSpPr>
        <p:spPr bwMode="auto">
          <a:xfrm>
            <a:off x="8243888" y="4445000"/>
            <a:ext cx="593725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val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7434263" y="4006850"/>
            <a:ext cx="809625" cy="434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{a</a:t>
            </a: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2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5" name="Rectangle 13"/>
          <p:cNvSpPr>
            <a:spLocks noChangeArrowheads="1"/>
          </p:cNvSpPr>
          <p:nvPr/>
        </p:nvSpPr>
        <p:spPr bwMode="auto">
          <a:xfrm>
            <a:off x="6840538" y="4014788"/>
            <a:ext cx="593725" cy="4381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′ </a:t>
            </a:r>
            <a:r>
              <a:rPr kumimoji="0" lang="en-US" altLang="zh-CN" sz="1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Rectangle 21"/>
          <p:cNvSpPr>
            <a:spLocks noChangeArrowheads="1"/>
          </p:cNvSpPr>
          <p:nvPr/>
        </p:nvSpPr>
        <p:spPr bwMode="auto">
          <a:xfrm>
            <a:off x="6840538" y="4448175"/>
            <a:ext cx="593725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endParaRPr kumimoji="0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Rectangle 18"/>
          <p:cNvSpPr>
            <a:spLocks noChangeArrowheads="1"/>
          </p:cNvSpPr>
          <p:nvPr/>
        </p:nvSpPr>
        <p:spPr bwMode="auto">
          <a:xfrm>
            <a:off x="5707063" y="4014788"/>
            <a:ext cx="592138" cy="4381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{a</a:t>
            </a:r>
            <a:r>
              <a:rPr kumimoji="0" lang="zh-CN" altLang="en-US" sz="1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9" name="Rectangle 24"/>
          <p:cNvSpPr>
            <a:spLocks noChangeArrowheads="1"/>
          </p:cNvSpPr>
          <p:nvPr/>
        </p:nvSpPr>
        <p:spPr bwMode="auto">
          <a:xfrm>
            <a:off x="5100638" y="4011613"/>
            <a:ext cx="606425" cy="44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Fsyn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" name="Rectangle 12"/>
          <p:cNvSpPr>
            <a:spLocks noChangeArrowheads="1"/>
          </p:cNvSpPr>
          <p:nvPr/>
        </p:nvSpPr>
        <p:spPr bwMode="auto">
          <a:xfrm>
            <a:off x="6299200" y="4014788"/>
            <a:ext cx="541338" cy="4381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′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" name="Rectangle 23"/>
          <p:cNvSpPr>
            <a:spLocks noChangeArrowheads="1"/>
          </p:cNvSpPr>
          <p:nvPr/>
        </p:nvSpPr>
        <p:spPr bwMode="auto">
          <a:xfrm>
            <a:off x="6299200" y="4448175"/>
            <a:ext cx="541338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inh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" name="Rectangle 38"/>
          <p:cNvSpPr>
            <a:spLocks noChangeArrowheads="1"/>
          </p:cNvSpPr>
          <p:nvPr/>
        </p:nvSpPr>
        <p:spPr bwMode="auto">
          <a:xfrm>
            <a:off x="4000500" y="4008438"/>
            <a:ext cx="1112838" cy="44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{a</a:t>
            </a: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25" name="Rectangle 43"/>
          <p:cNvSpPr>
            <a:spLocks noChangeArrowheads="1"/>
          </p:cNvSpPr>
          <p:nvPr/>
        </p:nvSpPr>
        <p:spPr bwMode="auto">
          <a:xfrm>
            <a:off x="3249613" y="4008438"/>
            <a:ext cx="758825" cy="44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digit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Rectangle 44"/>
          <p:cNvSpPr>
            <a:spLocks noChangeArrowheads="1"/>
          </p:cNvSpPr>
          <p:nvPr/>
        </p:nvSpPr>
        <p:spPr bwMode="auto">
          <a:xfrm>
            <a:off x="3249613" y="4452938"/>
            <a:ext cx="758825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lexval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=3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27" name="Freeform 45"/>
          <p:cNvSpPr/>
          <p:nvPr/>
        </p:nvSpPr>
        <p:spPr>
          <a:xfrm>
            <a:off x="3811588" y="4767263"/>
            <a:ext cx="649287" cy="107950"/>
          </a:xfrm>
          <a:custGeom>
            <a:avLst/>
            <a:gdLst>
              <a:gd name="txL" fmla="*/ 0 w 545"/>
              <a:gd name="txT" fmla="*/ 0 h 227"/>
              <a:gd name="txR" fmla="*/ 545 w 545"/>
              <a:gd name="txB" fmla="*/ 227 h 227"/>
            </a:gdLst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2147483646" y="0"/>
              </a:cxn>
            </a:cxnLst>
            <a:rect l="txL" t="txT" r="txR" b="txB"/>
            <a:pathLst>
              <a:path w="545" h="227">
                <a:moveTo>
                  <a:pt x="0" y="0"/>
                </a:moveTo>
                <a:cubicBezTo>
                  <a:pt x="91" y="113"/>
                  <a:pt x="182" y="227"/>
                  <a:pt x="273" y="227"/>
                </a:cubicBezTo>
                <a:cubicBezTo>
                  <a:pt x="364" y="227"/>
                  <a:pt x="454" y="113"/>
                  <a:pt x="545" y="0"/>
                </a:cubicBezTo>
              </a:path>
            </a:pathLst>
          </a:custGeom>
          <a:noFill/>
          <a:ln w="1905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stealth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Rectangle 39"/>
          <p:cNvSpPr>
            <a:spLocks noChangeArrowheads="1"/>
          </p:cNvSpPr>
          <p:nvPr/>
        </p:nvSpPr>
        <p:spPr bwMode="auto">
          <a:xfrm>
            <a:off x="4000500" y="4440238"/>
            <a:ext cx="1112838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digit_lexval=3</a:t>
            </a:r>
            <a:endParaRPr kumimoji="0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29" name="Line 41"/>
          <p:cNvSpPr/>
          <p:nvPr/>
        </p:nvSpPr>
        <p:spPr>
          <a:xfrm flipH="1" flipV="1">
            <a:off x="4054475" y="3532188"/>
            <a:ext cx="460375" cy="479425"/>
          </a:xfrm>
          <a:prstGeom prst="line">
            <a:avLst/>
          </a:prstGeom>
          <a:ln w="19050" cap="flat" cmpd="sng">
            <a:solidFill>
              <a:schemeClr val="hlink"/>
            </a:solidFill>
            <a:prstDash val="lgDash"/>
            <a:headEnd type="none" w="med" len="med"/>
            <a:tailEnd type="triangle" w="med" len="med"/>
          </a:ln>
        </p:spPr>
      </p:sp>
      <p:sp>
        <p:nvSpPr>
          <p:cNvPr id="30" name="Rectangle 40"/>
          <p:cNvSpPr/>
          <p:nvPr/>
        </p:nvSpPr>
        <p:spPr>
          <a:xfrm>
            <a:off x="2951163" y="3065463"/>
            <a:ext cx="3192462" cy="444500"/>
          </a:xfrm>
          <a:prstGeom prst="rect">
            <a:avLst/>
          </a:prstGeom>
          <a:solidFill>
            <a:srgbClr val="FFCC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r>
              <a:rPr lang="en-US" altLang="zh-CN" sz="15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r>
              <a:rPr lang="en-US" altLang="zh-CN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15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  <a:r>
              <a:rPr lang="en-US" altLang="zh-CN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-1].</a:t>
            </a:r>
            <a:r>
              <a:rPr lang="en-US" altLang="zh-CN" sz="15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altLang="zh-CN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15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r>
              <a:rPr lang="en-US" altLang="zh-CN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15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  <a:r>
              <a:rPr lang="en-US" altLang="zh-CN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].</a:t>
            </a:r>
            <a:r>
              <a:rPr lang="en-US" altLang="zh-CN" sz="15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digit_lexval</a:t>
            </a:r>
            <a:endParaRPr lang="en-US" altLang="zh-CN" sz="1500" i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1" name="Rectangle 77"/>
          <p:cNvSpPr>
            <a:spLocks noChangeArrowheads="1"/>
          </p:cNvSpPr>
          <p:nvPr/>
        </p:nvSpPr>
        <p:spPr bwMode="auto">
          <a:xfrm>
            <a:off x="5694363" y="4451350"/>
            <a:ext cx="606425" cy="2603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Fval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=3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" name="Freeform 78"/>
          <p:cNvSpPr/>
          <p:nvPr/>
        </p:nvSpPr>
        <p:spPr>
          <a:xfrm>
            <a:off x="5334000" y="4760913"/>
            <a:ext cx="649288" cy="107950"/>
          </a:xfrm>
          <a:custGeom>
            <a:avLst/>
            <a:gdLst>
              <a:gd name="txL" fmla="*/ 0 w 545"/>
              <a:gd name="txT" fmla="*/ 0 h 227"/>
              <a:gd name="txR" fmla="*/ 545 w 545"/>
              <a:gd name="txB" fmla="*/ 227 h 227"/>
            </a:gdLst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2147483646" y="0"/>
              </a:cxn>
            </a:cxnLst>
            <a:rect l="txL" t="txT" r="txR" b="txB"/>
            <a:pathLst>
              <a:path w="545" h="227">
                <a:moveTo>
                  <a:pt x="0" y="0"/>
                </a:moveTo>
                <a:cubicBezTo>
                  <a:pt x="91" y="113"/>
                  <a:pt x="182" y="227"/>
                  <a:pt x="273" y="227"/>
                </a:cubicBezTo>
                <a:cubicBezTo>
                  <a:pt x="364" y="227"/>
                  <a:pt x="454" y="113"/>
                  <a:pt x="545" y="0"/>
                </a:cubicBezTo>
              </a:path>
            </a:pathLst>
          </a:custGeom>
          <a:noFill/>
          <a:ln w="1905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stealth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Line 79"/>
          <p:cNvSpPr/>
          <p:nvPr/>
        </p:nvSpPr>
        <p:spPr>
          <a:xfrm flipV="1">
            <a:off x="7794625" y="1697038"/>
            <a:ext cx="0" cy="21590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4" name="Rectangle 76"/>
          <p:cNvSpPr>
            <a:spLocks noChangeArrowheads="1"/>
          </p:cNvSpPr>
          <p:nvPr/>
        </p:nvSpPr>
        <p:spPr bwMode="auto">
          <a:xfrm>
            <a:off x="5108575" y="4445000"/>
            <a:ext cx="595313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val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=3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1465" name="Rectangle 56"/>
          <p:cNvSpPr/>
          <p:nvPr/>
        </p:nvSpPr>
        <p:spPr>
          <a:xfrm>
            <a:off x="6757988" y="1325563"/>
            <a:ext cx="2051050" cy="415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None/>
            </a:pPr>
            <a:r>
              <a:rPr lang="zh-CN" altLang="en-US" sz="21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输入</a:t>
            </a:r>
            <a:r>
              <a:rPr lang="en-US" altLang="zh-CN" sz="21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: 3 * 5</a:t>
            </a:r>
            <a:endParaRPr lang="zh-CN" altLang="en-US" sz="2100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1466" name="Line 79"/>
          <p:cNvSpPr/>
          <p:nvPr/>
        </p:nvSpPr>
        <p:spPr>
          <a:xfrm flipV="1">
            <a:off x="7577138" y="1698625"/>
            <a:ext cx="0" cy="21590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61467" name="组合 12"/>
          <p:cNvGrpSpPr/>
          <p:nvPr/>
        </p:nvGrpSpPr>
        <p:grpSpPr>
          <a:xfrm>
            <a:off x="715963" y="682625"/>
            <a:ext cx="6092825" cy="2249488"/>
            <a:chOff x="751285" y="802569"/>
            <a:chExt cx="6091894" cy="2249363"/>
          </a:xfrm>
        </p:grpSpPr>
        <p:sp>
          <p:nvSpPr>
            <p:cNvPr id="39" name="矩形 7"/>
            <p:cNvSpPr>
              <a:spLocks noChangeArrowheads="1"/>
            </p:cNvSpPr>
            <p:nvPr/>
          </p:nvSpPr>
          <p:spPr bwMode="auto">
            <a:xfrm>
              <a:off x="751285" y="835905"/>
              <a:ext cx="6091894" cy="221602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algn="ctr">
              <a:solidFill>
                <a:schemeClr val="tx1"/>
              </a:solidFill>
              <a:rou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469" name="Rectangle 3"/>
            <p:cNvSpPr txBox="1"/>
            <p:nvPr/>
          </p:nvSpPr>
          <p:spPr>
            <a:xfrm>
              <a:off x="3670772" y="802569"/>
              <a:ext cx="3166239" cy="166092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zh-CN" altLang="en-US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 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.inh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2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T.val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.syn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20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 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×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zh-CN" altLang="en-US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20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zh-CN" altLang="en-US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zh-CN" altLang="en-US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F.val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= digit.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lexval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endPara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61470" name="Rectangle 3"/>
            <p:cNvSpPr txBox="1"/>
            <p:nvPr/>
          </p:nvSpPr>
          <p:spPr>
            <a:xfrm>
              <a:off x="807654" y="963245"/>
              <a:ext cx="3511452" cy="19486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SDT</a:t>
              </a: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 a</a:t>
              </a:r>
              <a:r>
                <a:rPr lang="zh-CN" altLang="en-US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}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{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</a:t>
              </a:r>
              <a:endPara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endParaRP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→ *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 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3)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l-GR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ε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4)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→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digit 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}</a:t>
              </a:r>
              <a:endPara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8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3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2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7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2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7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9" grpId="0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8" grpId="0" animBg="1"/>
      <p:bldP spid="28" grpId="1" animBg="1"/>
      <p:bldP spid="30" grpId="0" animBg="1"/>
      <p:bldP spid="30" grpId="1" animBg="1"/>
      <p:bldP spid="31" grpId="0" animBg="1"/>
      <p:bldP spid="34" grpId="0" animBg="1"/>
      <p:bldP spid="34" grpId="1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endParaRPr kumimoji="0" lang="zh-CN" altLang="en-US" sz="397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8243888" y="4010025"/>
            <a:ext cx="593725" cy="431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Tsyn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8837613" y="4010025"/>
            <a:ext cx="217488" cy="431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11" name="Rectangle 19"/>
          <p:cNvSpPr>
            <a:spLocks noChangeArrowheads="1"/>
          </p:cNvSpPr>
          <p:nvPr/>
        </p:nvSpPr>
        <p:spPr bwMode="auto">
          <a:xfrm>
            <a:off x="8243888" y="4441825"/>
            <a:ext cx="593725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val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7434263" y="4014788"/>
            <a:ext cx="809625" cy="434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{a</a:t>
            </a: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2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5" name="Rectangle 13"/>
          <p:cNvSpPr>
            <a:spLocks noChangeArrowheads="1"/>
          </p:cNvSpPr>
          <p:nvPr/>
        </p:nvSpPr>
        <p:spPr bwMode="auto">
          <a:xfrm>
            <a:off x="6840538" y="4011613"/>
            <a:ext cx="593725" cy="4381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′ </a:t>
            </a:r>
            <a:r>
              <a:rPr kumimoji="0" lang="en-US" altLang="zh-CN" sz="1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Rectangle 18"/>
          <p:cNvSpPr>
            <a:spLocks noChangeArrowheads="1"/>
          </p:cNvSpPr>
          <p:nvPr/>
        </p:nvSpPr>
        <p:spPr bwMode="auto">
          <a:xfrm>
            <a:off x="5707063" y="4010025"/>
            <a:ext cx="592138" cy="4397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{a</a:t>
            </a:r>
            <a:r>
              <a:rPr kumimoji="0" lang="zh-CN" altLang="en-US" sz="1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22" name="Rectangle 23"/>
          <p:cNvSpPr>
            <a:spLocks noChangeArrowheads="1"/>
          </p:cNvSpPr>
          <p:nvPr/>
        </p:nvSpPr>
        <p:spPr bwMode="auto">
          <a:xfrm>
            <a:off x="6299200" y="4429125"/>
            <a:ext cx="541338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inh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" name="Rectangle 77"/>
          <p:cNvSpPr>
            <a:spLocks noChangeArrowheads="1"/>
          </p:cNvSpPr>
          <p:nvPr/>
        </p:nvSpPr>
        <p:spPr bwMode="auto">
          <a:xfrm>
            <a:off x="5694363" y="4446588"/>
            <a:ext cx="606425" cy="26193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Fval</a:t>
            </a:r>
            <a:r>
              <a:rPr kumimoji="0" lang="en-US" altLang="zh-CN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=3</a:t>
            </a:r>
            <a:endParaRPr kumimoji="0" lang="zh-CN" altLang="en-US" sz="1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5" name="Line 41"/>
          <p:cNvSpPr/>
          <p:nvPr/>
        </p:nvSpPr>
        <p:spPr>
          <a:xfrm flipH="1" flipV="1">
            <a:off x="5465763" y="3503613"/>
            <a:ext cx="458787" cy="479425"/>
          </a:xfrm>
          <a:prstGeom prst="line">
            <a:avLst/>
          </a:prstGeom>
          <a:ln w="19050" cap="flat" cmpd="sng">
            <a:solidFill>
              <a:schemeClr val="hlink"/>
            </a:solidFill>
            <a:prstDash val="lgDash"/>
            <a:headEnd type="none" w="med" len="med"/>
            <a:tailEnd type="triangle" w="med" len="med"/>
          </a:ln>
        </p:spPr>
      </p:sp>
      <p:sp>
        <p:nvSpPr>
          <p:cNvPr id="36" name="Rectangle 40"/>
          <p:cNvSpPr/>
          <p:nvPr/>
        </p:nvSpPr>
        <p:spPr>
          <a:xfrm>
            <a:off x="4268788" y="3033713"/>
            <a:ext cx="2660650" cy="442912"/>
          </a:xfrm>
          <a:prstGeom prst="rect">
            <a:avLst/>
          </a:prstGeom>
          <a:solidFill>
            <a:srgbClr val="FFCC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r>
              <a:rPr lang="en-US" altLang="zh-CN" sz="15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r>
              <a:rPr lang="en-US" altLang="zh-CN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15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  <a:r>
              <a:rPr lang="en-US" altLang="zh-CN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-1].</a:t>
            </a:r>
            <a:r>
              <a:rPr lang="en-US" altLang="zh-CN" sz="15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inh</a:t>
            </a:r>
            <a:r>
              <a:rPr lang="en-US" altLang="zh-CN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15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r>
              <a:rPr lang="en-US" altLang="zh-CN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15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  <a:r>
              <a:rPr lang="en-US" altLang="zh-CN" sz="15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].</a:t>
            </a:r>
            <a:r>
              <a:rPr lang="en-US" altLang="zh-CN" sz="15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Fval</a:t>
            </a:r>
            <a:endParaRPr lang="en-US" altLang="zh-CN" sz="1500" i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7" name="Rectangle 23"/>
          <p:cNvSpPr>
            <a:spLocks noChangeArrowheads="1"/>
          </p:cNvSpPr>
          <p:nvPr/>
        </p:nvSpPr>
        <p:spPr bwMode="auto">
          <a:xfrm>
            <a:off x="6297613" y="4449763"/>
            <a:ext cx="554038" cy="2651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inh</a:t>
            </a: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=3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" name="任意多边形 23"/>
          <p:cNvSpPr/>
          <p:nvPr/>
        </p:nvSpPr>
        <p:spPr>
          <a:xfrm>
            <a:off x="3762375" y="4779963"/>
            <a:ext cx="2835275" cy="277813"/>
          </a:xfrm>
          <a:custGeom>
            <a:avLst/>
            <a:gdLst>
              <a:gd name="connsiteX0" fmla="*/ 2835798 w 2835798"/>
              <a:gd name="connsiteY0" fmla="*/ 0 h 277987"/>
              <a:gd name="connsiteX1" fmla="*/ 1585732 w 2835798"/>
              <a:gd name="connsiteY1" fmla="*/ 277793 h 277987"/>
              <a:gd name="connsiteX2" fmla="*/ 0 w 2835798"/>
              <a:gd name="connsiteY2" fmla="*/ 34724 h 277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35798" h="277987">
                <a:moveTo>
                  <a:pt x="2835798" y="0"/>
                </a:moveTo>
                <a:cubicBezTo>
                  <a:pt x="2447081" y="136003"/>
                  <a:pt x="2058365" y="272006"/>
                  <a:pt x="1585732" y="277793"/>
                </a:cubicBezTo>
                <a:cubicBezTo>
                  <a:pt x="1113099" y="283580"/>
                  <a:pt x="556549" y="159152"/>
                  <a:pt x="0" y="34724"/>
                </a:cubicBezTo>
              </a:path>
            </a:pathLst>
          </a:custGeom>
          <a:noFill/>
          <a:ln w="19050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3503" name="Line 79"/>
          <p:cNvSpPr/>
          <p:nvPr/>
        </p:nvSpPr>
        <p:spPr>
          <a:xfrm flipV="1">
            <a:off x="7794625" y="1697038"/>
            <a:ext cx="0" cy="21590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3504" name="Rectangle 56"/>
          <p:cNvSpPr/>
          <p:nvPr/>
        </p:nvSpPr>
        <p:spPr>
          <a:xfrm>
            <a:off x="6757988" y="1325563"/>
            <a:ext cx="2051050" cy="415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None/>
            </a:pPr>
            <a:r>
              <a:rPr lang="zh-CN" altLang="en-US" sz="21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输入</a:t>
            </a:r>
            <a:r>
              <a:rPr lang="en-US" altLang="zh-CN" sz="21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: 3 * 5</a:t>
            </a:r>
            <a:endParaRPr lang="zh-CN" altLang="en-US" sz="2100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3505" name="Line 79"/>
          <p:cNvSpPr/>
          <p:nvPr/>
        </p:nvSpPr>
        <p:spPr>
          <a:xfrm flipV="1">
            <a:off x="7577138" y="1698625"/>
            <a:ext cx="0" cy="21590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63506" name="组合 12"/>
          <p:cNvGrpSpPr/>
          <p:nvPr/>
        </p:nvGrpSpPr>
        <p:grpSpPr>
          <a:xfrm>
            <a:off x="715963" y="682625"/>
            <a:ext cx="6092825" cy="2249488"/>
            <a:chOff x="751285" y="802569"/>
            <a:chExt cx="6091894" cy="2249363"/>
          </a:xfrm>
        </p:grpSpPr>
        <p:sp>
          <p:nvSpPr>
            <p:cNvPr id="30" name="矩形 7"/>
            <p:cNvSpPr>
              <a:spLocks noChangeArrowheads="1"/>
            </p:cNvSpPr>
            <p:nvPr/>
          </p:nvSpPr>
          <p:spPr bwMode="auto">
            <a:xfrm>
              <a:off x="751285" y="835905"/>
              <a:ext cx="6091894" cy="221602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algn="ctr">
              <a:solidFill>
                <a:schemeClr val="tx1"/>
              </a:solidFill>
              <a:rou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3510" name="Rectangle 3"/>
            <p:cNvSpPr txBox="1"/>
            <p:nvPr/>
          </p:nvSpPr>
          <p:spPr>
            <a:xfrm>
              <a:off x="3670772" y="802569"/>
              <a:ext cx="3166239" cy="166092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zh-CN" altLang="en-US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 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.inh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2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T.val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.syn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20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 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×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zh-CN" altLang="en-US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20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zh-CN" altLang="en-US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zh-CN" altLang="en-US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F.val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= digit.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lexval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endPara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63511" name="Rectangle 3"/>
            <p:cNvSpPr txBox="1"/>
            <p:nvPr/>
          </p:nvSpPr>
          <p:spPr>
            <a:xfrm>
              <a:off x="807654" y="963245"/>
              <a:ext cx="3511452" cy="19486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SDT</a:t>
              </a: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 a</a:t>
              </a:r>
              <a:r>
                <a:rPr lang="zh-CN" altLang="en-US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}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{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</a:t>
              </a:r>
              <a:endPara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endParaRP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→ *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 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3)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l-GR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ε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4)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→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digit 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}</a:t>
              </a:r>
              <a:endPara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21" name="Rectangle 12"/>
          <p:cNvSpPr>
            <a:spLocks noChangeArrowheads="1"/>
          </p:cNvSpPr>
          <p:nvPr/>
        </p:nvSpPr>
        <p:spPr bwMode="auto">
          <a:xfrm>
            <a:off x="6299200" y="4010025"/>
            <a:ext cx="541338" cy="4397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′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Rectangle 21"/>
          <p:cNvSpPr>
            <a:spLocks noChangeArrowheads="1"/>
          </p:cNvSpPr>
          <p:nvPr/>
        </p:nvSpPr>
        <p:spPr bwMode="auto">
          <a:xfrm>
            <a:off x="6840538" y="4445000"/>
            <a:ext cx="593725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endParaRPr kumimoji="0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2" grpId="0" animBg="1"/>
      <p:bldP spid="31" grpId="0" animBg="1"/>
      <p:bldP spid="36" grpId="0" animBg="1"/>
      <p:bldP spid="36" grpId="1" animBg="1"/>
      <p:bldP spid="37" grpId="0" animBg="1"/>
      <p:bldP spid="37" grpId="1" animBg="1"/>
      <p:bldP spid="21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endParaRPr kumimoji="0" lang="zh-CN" altLang="en-US" sz="397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8243888" y="4006850"/>
            <a:ext cx="593725" cy="431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Tsyn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8837613" y="4006850"/>
            <a:ext cx="217488" cy="431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11" name="Rectangle 19"/>
          <p:cNvSpPr>
            <a:spLocks noChangeArrowheads="1"/>
          </p:cNvSpPr>
          <p:nvPr/>
        </p:nvSpPr>
        <p:spPr bwMode="auto">
          <a:xfrm>
            <a:off x="8243888" y="4438650"/>
            <a:ext cx="593725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val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7434263" y="4011613"/>
            <a:ext cx="809625" cy="434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{a</a:t>
            </a: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2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5" name="Rectangle 13"/>
          <p:cNvSpPr>
            <a:spLocks noChangeArrowheads="1"/>
          </p:cNvSpPr>
          <p:nvPr/>
        </p:nvSpPr>
        <p:spPr bwMode="auto">
          <a:xfrm>
            <a:off x="6840538" y="4008438"/>
            <a:ext cx="593725" cy="4381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′ </a:t>
            </a:r>
            <a:r>
              <a:rPr kumimoji="0" lang="en-US" altLang="zh-CN" sz="1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Rectangle 21"/>
          <p:cNvSpPr>
            <a:spLocks noChangeArrowheads="1"/>
          </p:cNvSpPr>
          <p:nvPr/>
        </p:nvSpPr>
        <p:spPr bwMode="auto">
          <a:xfrm>
            <a:off x="6840538" y="4441825"/>
            <a:ext cx="593725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endParaRPr kumimoji="0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" name="Rectangle 96"/>
          <p:cNvSpPr>
            <a:spLocks noChangeArrowheads="1"/>
          </p:cNvSpPr>
          <p:nvPr/>
        </p:nvSpPr>
        <p:spPr bwMode="auto">
          <a:xfrm>
            <a:off x="5643563" y="4008438"/>
            <a:ext cx="1196975" cy="444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{a</a:t>
            </a: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</a:p>
        </p:txBody>
      </p:sp>
      <p:sp>
        <p:nvSpPr>
          <p:cNvPr id="24" name="Rectangle 97"/>
          <p:cNvSpPr>
            <a:spLocks noChangeArrowheads="1"/>
          </p:cNvSpPr>
          <p:nvPr/>
        </p:nvSpPr>
        <p:spPr bwMode="auto">
          <a:xfrm>
            <a:off x="4306888" y="4008438"/>
            <a:ext cx="696913" cy="444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 </a:t>
            </a:r>
            <a:r>
              <a:rPr kumimoji="0" lang="zh-CN" altLang="en-US" sz="1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Rectangle 98"/>
          <p:cNvSpPr>
            <a:spLocks noChangeArrowheads="1"/>
          </p:cNvSpPr>
          <p:nvPr/>
        </p:nvSpPr>
        <p:spPr bwMode="auto">
          <a:xfrm>
            <a:off x="5003800" y="4008438"/>
            <a:ext cx="703263" cy="444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 </a:t>
            </a:r>
            <a:r>
              <a:rPr kumimoji="0" lang="zh-CN" altLang="en-US" sz="1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kumimoji="0" lang="en-US" altLang="zh-CN" sz="1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syn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Rectangle 101"/>
          <p:cNvSpPr>
            <a:spLocks noChangeArrowheads="1"/>
          </p:cNvSpPr>
          <p:nvPr/>
        </p:nvSpPr>
        <p:spPr bwMode="auto">
          <a:xfrm>
            <a:off x="3389313" y="4008438"/>
            <a:ext cx="912813" cy="444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{a</a:t>
            </a: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</a:p>
        </p:txBody>
      </p:sp>
      <p:sp>
        <p:nvSpPr>
          <p:cNvPr id="27" name="Rectangle 102"/>
          <p:cNvSpPr>
            <a:spLocks noChangeArrowheads="1"/>
          </p:cNvSpPr>
          <p:nvPr/>
        </p:nvSpPr>
        <p:spPr bwMode="auto">
          <a:xfrm>
            <a:off x="2789238" y="4008438"/>
            <a:ext cx="595313" cy="444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Fsyn</a:t>
            </a:r>
          </a:p>
        </p:txBody>
      </p:sp>
      <p:sp>
        <p:nvSpPr>
          <p:cNvPr id="28" name="Rectangle 106"/>
          <p:cNvSpPr>
            <a:spLocks noChangeArrowheads="1"/>
          </p:cNvSpPr>
          <p:nvPr/>
        </p:nvSpPr>
        <p:spPr bwMode="auto">
          <a:xfrm>
            <a:off x="1709738" y="4008438"/>
            <a:ext cx="541338" cy="444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*</a:t>
            </a:r>
          </a:p>
        </p:txBody>
      </p:sp>
      <p:sp>
        <p:nvSpPr>
          <p:cNvPr id="29" name="Rectangle 107"/>
          <p:cNvSpPr>
            <a:spLocks noChangeArrowheads="1"/>
          </p:cNvSpPr>
          <p:nvPr/>
        </p:nvSpPr>
        <p:spPr bwMode="auto">
          <a:xfrm>
            <a:off x="2249488" y="4008438"/>
            <a:ext cx="539750" cy="444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</a:t>
            </a:r>
          </a:p>
        </p:txBody>
      </p:sp>
      <p:sp>
        <p:nvSpPr>
          <p:cNvPr id="30" name="Rectangle 95"/>
          <p:cNvSpPr>
            <a:spLocks noChangeArrowheads="1"/>
          </p:cNvSpPr>
          <p:nvPr/>
        </p:nvSpPr>
        <p:spPr bwMode="auto">
          <a:xfrm>
            <a:off x="3389313" y="4456113"/>
            <a:ext cx="912813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′</a:t>
            </a:r>
            <a:r>
              <a:rPr kumimoji="0" lang="en-US" altLang="zh-CN" sz="12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inh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=3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Rectangle 100"/>
          <p:cNvSpPr>
            <a:spLocks noChangeArrowheads="1"/>
          </p:cNvSpPr>
          <p:nvPr/>
        </p:nvSpPr>
        <p:spPr bwMode="auto">
          <a:xfrm>
            <a:off x="4297363" y="4452938"/>
            <a:ext cx="774700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inh</a:t>
            </a:r>
            <a:endParaRPr kumimoji="0" lang="zh-CN" altLang="en-US" sz="120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" name="Rectangle 103"/>
          <p:cNvSpPr>
            <a:spLocks noChangeArrowheads="1"/>
          </p:cNvSpPr>
          <p:nvPr/>
        </p:nvSpPr>
        <p:spPr bwMode="auto">
          <a:xfrm>
            <a:off x="2789238" y="4456113"/>
            <a:ext cx="595313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val</a:t>
            </a:r>
            <a:endParaRPr kumimoji="0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Line 79"/>
          <p:cNvSpPr/>
          <p:nvPr/>
        </p:nvSpPr>
        <p:spPr>
          <a:xfrm flipV="1">
            <a:off x="8010525" y="1708150"/>
            <a:ext cx="0" cy="21590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" name="任意多边形 1"/>
          <p:cNvSpPr/>
          <p:nvPr/>
        </p:nvSpPr>
        <p:spPr>
          <a:xfrm>
            <a:off x="3762375" y="4791075"/>
            <a:ext cx="2835275" cy="277813"/>
          </a:xfrm>
          <a:custGeom>
            <a:avLst/>
            <a:gdLst>
              <a:gd name="connsiteX0" fmla="*/ 2835798 w 2835798"/>
              <a:gd name="connsiteY0" fmla="*/ 0 h 277987"/>
              <a:gd name="connsiteX1" fmla="*/ 1585732 w 2835798"/>
              <a:gd name="connsiteY1" fmla="*/ 277793 h 277987"/>
              <a:gd name="connsiteX2" fmla="*/ 0 w 2835798"/>
              <a:gd name="connsiteY2" fmla="*/ 34724 h 277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35798" h="277987">
                <a:moveTo>
                  <a:pt x="2835798" y="0"/>
                </a:moveTo>
                <a:cubicBezTo>
                  <a:pt x="2447081" y="136003"/>
                  <a:pt x="2058365" y="272006"/>
                  <a:pt x="1585732" y="277793"/>
                </a:cubicBezTo>
                <a:cubicBezTo>
                  <a:pt x="1113099" y="283580"/>
                  <a:pt x="556549" y="159152"/>
                  <a:pt x="0" y="34724"/>
                </a:cubicBezTo>
              </a:path>
            </a:pathLst>
          </a:custGeom>
          <a:noFill/>
          <a:ln w="19050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5557" name="Line 79"/>
          <p:cNvSpPr/>
          <p:nvPr/>
        </p:nvSpPr>
        <p:spPr>
          <a:xfrm flipV="1">
            <a:off x="7794625" y="1697038"/>
            <a:ext cx="0" cy="21590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5558" name="Rectangle 56"/>
          <p:cNvSpPr/>
          <p:nvPr/>
        </p:nvSpPr>
        <p:spPr>
          <a:xfrm>
            <a:off x="6757988" y="1325563"/>
            <a:ext cx="2051050" cy="415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None/>
            </a:pPr>
            <a:r>
              <a:rPr lang="zh-CN" altLang="en-US" sz="21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输入</a:t>
            </a:r>
            <a:r>
              <a:rPr lang="en-US" altLang="zh-CN" sz="21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: 3 * 5</a:t>
            </a:r>
            <a:endParaRPr lang="zh-CN" altLang="en-US" sz="2100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5559" name="Line 79"/>
          <p:cNvSpPr/>
          <p:nvPr/>
        </p:nvSpPr>
        <p:spPr>
          <a:xfrm flipV="1">
            <a:off x="7577138" y="1698625"/>
            <a:ext cx="0" cy="21590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65560" name="组合 12"/>
          <p:cNvGrpSpPr/>
          <p:nvPr/>
        </p:nvGrpSpPr>
        <p:grpSpPr>
          <a:xfrm>
            <a:off x="715963" y="682625"/>
            <a:ext cx="6092825" cy="2249488"/>
            <a:chOff x="751285" y="802569"/>
            <a:chExt cx="6091894" cy="2249363"/>
          </a:xfrm>
        </p:grpSpPr>
        <p:sp>
          <p:nvSpPr>
            <p:cNvPr id="40" name="矩形 7"/>
            <p:cNvSpPr>
              <a:spLocks noChangeArrowheads="1"/>
            </p:cNvSpPr>
            <p:nvPr/>
          </p:nvSpPr>
          <p:spPr bwMode="auto">
            <a:xfrm>
              <a:off x="751285" y="835905"/>
              <a:ext cx="6091894" cy="221602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algn="ctr">
              <a:solidFill>
                <a:schemeClr val="tx1"/>
              </a:solidFill>
              <a:rou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5563" name="Rectangle 3"/>
            <p:cNvSpPr txBox="1"/>
            <p:nvPr/>
          </p:nvSpPr>
          <p:spPr>
            <a:xfrm>
              <a:off x="3670772" y="802569"/>
              <a:ext cx="3166239" cy="166092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zh-CN" altLang="en-US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 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.inh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2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T.val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.syn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20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 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×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zh-CN" altLang="en-US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20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zh-CN" altLang="en-US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zh-CN" altLang="en-US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F.val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= digit.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lexval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endPara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65564" name="Rectangle 3"/>
            <p:cNvSpPr txBox="1"/>
            <p:nvPr/>
          </p:nvSpPr>
          <p:spPr>
            <a:xfrm>
              <a:off x="807654" y="963245"/>
              <a:ext cx="3511452" cy="19486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SDT</a:t>
              </a: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 a</a:t>
              </a:r>
              <a:r>
                <a:rPr lang="zh-CN" altLang="en-US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}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{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</a:t>
              </a:r>
              <a:endPara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endParaRP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→ *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 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3)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l-GR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ε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4)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→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digit 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}</a:t>
              </a:r>
              <a:endPara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32" name="Rectangle 99"/>
          <p:cNvSpPr>
            <a:spLocks noChangeArrowheads="1"/>
          </p:cNvSpPr>
          <p:nvPr/>
        </p:nvSpPr>
        <p:spPr bwMode="auto">
          <a:xfrm>
            <a:off x="5003800" y="4456113"/>
            <a:ext cx="703263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syn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8" grpId="1" animBg="1"/>
      <p:bldP spid="29" grpId="0" animBg="1"/>
      <p:bldP spid="29" grpId="1" animBg="1"/>
      <p:bldP spid="30" grpId="0" animBg="1"/>
      <p:bldP spid="34" grpId="0" animBg="1"/>
      <p:bldP spid="38" grpId="0" animBg="1"/>
      <p:bldP spid="32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endParaRPr kumimoji="0" lang="zh-CN" altLang="en-US" sz="397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8243888" y="4008438"/>
            <a:ext cx="593725" cy="431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Tsyn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8837613" y="4008438"/>
            <a:ext cx="217488" cy="431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11" name="Rectangle 19"/>
          <p:cNvSpPr>
            <a:spLocks noChangeArrowheads="1"/>
          </p:cNvSpPr>
          <p:nvPr/>
        </p:nvSpPr>
        <p:spPr bwMode="auto">
          <a:xfrm>
            <a:off x="8243888" y="4440238"/>
            <a:ext cx="593725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val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7434263" y="4014788"/>
            <a:ext cx="809625" cy="434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{a</a:t>
            </a: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2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5" name="Rectangle 13"/>
          <p:cNvSpPr>
            <a:spLocks noChangeArrowheads="1"/>
          </p:cNvSpPr>
          <p:nvPr/>
        </p:nvSpPr>
        <p:spPr bwMode="auto">
          <a:xfrm>
            <a:off x="6840538" y="4011613"/>
            <a:ext cx="593725" cy="4381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 </a:t>
            </a: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 </a:t>
            </a:r>
            <a:r>
              <a:rPr kumimoji="0" lang="en-US" altLang="zh-CN" sz="1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Rectangle 21"/>
          <p:cNvSpPr>
            <a:spLocks noChangeArrowheads="1"/>
          </p:cNvSpPr>
          <p:nvPr/>
        </p:nvSpPr>
        <p:spPr bwMode="auto">
          <a:xfrm>
            <a:off x="6840538" y="4443413"/>
            <a:ext cx="593725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endParaRPr kumimoji="0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" name="Rectangle 96"/>
          <p:cNvSpPr>
            <a:spLocks noChangeArrowheads="1"/>
          </p:cNvSpPr>
          <p:nvPr/>
        </p:nvSpPr>
        <p:spPr bwMode="auto">
          <a:xfrm>
            <a:off x="5643563" y="4011613"/>
            <a:ext cx="1196975" cy="444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{a</a:t>
            </a: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</a:p>
        </p:txBody>
      </p:sp>
      <p:sp>
        <p:nvSpPr>
          <p:cNvPr id="24" name="Rectangle 97"/>
          <p:cNvSpPr>
            <a:spLocks noChangeArrowheads="1"/>
          </p:cNvSpPr>
          <p:nvPr/>
        </p:nvSpPr>
        <p:spPr bwMode="auto">
          <a:xfrm>
            <a:off x="4306888" y="4011613"/>
            <a:ext cx="696913" cy="444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zh-CN" altLang="en-US" sz="1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1</a:t>
            </a: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Rectangle 98"/>
          <p:cNvSpPr>
            <a:spLocks noChangeArrowheads="1"/>
          </p:cNvSpPr>
          <p:nvPr/>
        </p:nvSpPr>
        <p:spPr bwMode="auto">
          <a:xfrm>
            <a:off x="5003800" y="4011613"/>
            <a:ext cx="703263" cy="444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zh-CN" altLang="en-US" sz="1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1</a:t>
            </a: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kumimoji="0" lang="en-US" altLang="zh-CN" sz="1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syn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Rectangle 101"/>
          <p:cNvSpPr>
            <a:spLocks noChangeArrowheads="1"/>
          </p:cNvSpPr>
          <p:nvPr/>
        </p:nvSpPr>
        <p:spPr bwMode="auto">
          <a:xfrm>
            <a:off x="3389313" y="4011613"/>
            <a:ext cx="912813" cy="444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{a</a:t>
            </a: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</a:p>
        </p:txBody>
      </p:sp>
      <p:sp>
        <p:nvSpPr>
          <p:cNvPr id="27" name="Rectangle 102"/>
          <p:cNvSpPr>
            <a:spLocks noChangeArrowheads="1"/>
          </p:cNvSpPr>
          <p:nvPr/>
        </p:nvSpPr>
        <p:spPr bwMode="auto">
          <a:xfrm>
            <a:off x="2789238" y="4011613"/>
            <a:ext cx="595313" cy="444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Fsyn</a:t>
            </a:r>
          </a:p>
        </p:txBody>
      </p:sp>
      <p:sp>
        <p:nvSpPr>
          <p:cNvPr id="30" name="Rectangle 95"/>
          <p:cNvSpPr>
            <a:spLocks noChangeArrowheads="1"/>
          </p:cNvSpPr>
          <p:nvPr/>
        </p:nvSpPr>
        <p:spPr bwMode="auto">
          <a:xfrm>
            <a:off x="3389313" y="4457700"/>
            <a:ext cx="912813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′ </a:t>
            </a:r>
            <a:r>
              <a:rPr kumimoji="0" lang="en-US" altLang="zh-CN" sz="12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inh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=3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Rectangle 100"/>
          <p:cNvSpPr>
            <a:spLocks noChangeArrowheads="1"/>
          </p:cNvSpPr>
          <p:nvPr/>
        </p:nvSpPr>
        <p:spPr bwMode="auto">
          <a:xfrm>
            <a:off x="4306888" y="4452938"/>
            <a:ext cx="765175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inh</a:t>
            </a:r>
            <a:endParaRPr kumimoji="0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" name="Rectangle 103"/>
          <p:cNvSpPr>
            <a:spLocks noChangeArrowheads="1"/>
          </p:cNvSpPr>
          <p:nvPr/>
        </p:nvSpPr>
        <p:spPr bwMode="auto">
          <a:xfrm>
            <a:off x="2789238" y="4457700"/>
            <a:ext cx="595313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val</a:t>
            </a:r>
            <a:endParaRPr kumimoji="0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" name="Rectangle 90"/>
          <p:cNvSpPr>
            <a:spLocks noChangeArrowheads="1"/>
          </p:cNvSpPr>
          <p:nvPr/>
        </p:nvSpPr>
        <p:spPr bwMode="auto">
          <a:xfrm>
            <a:off x="1709738" y="4011613"/>
            <a:ext cx="1079500" cy="4381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{a</a:t>
            </a: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</a:p>
        </p:txBody>
      </p:sp>
      <p:sp>
        <p:nvSpPr>
          <p:cNvPr id="36" name="Rectangle 92"/>
          <p:cNvSpPr>
            <a:spLocks noChangeArrowheads="1"/>
          </p:cNvSpPr>
          <p:nvPr/>
        </p:nvSpPr>
        <p:spPr bwMode="auto">
          <a:xfrm>
            <a:off x="1008063" y="4011613"/>
            <a:ext cx="701675" cy="4381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digit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Rectangle 93"/>
          <p:cNvSpPr>
            <a:spLocks noChangeArrowheads="1"/>
          </p:cNvSpPr>
          <p:nvPr/>
        </p:nvSpPr>
        <p:spPr bwMode="auto">
          <a:xfrm>
            <a:off x="1008063" y="4446588"/>
            <a:ext cx="701675" cy="26193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lexval</a:t>
            </a:r>
            <a:r>
              <a:rPr kumimoji="0" lang="en-US" altLang="zh-CN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=5</a:t>
            </a:r>
            <a:endParaRPr kumimoji="0" lang="zh-CN" altLang="en-US" sz="1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0" name="Freeform 113"/>
          <p:cNvSpPr/>
          <p:nvPr/>
        </p:nvSpPr>
        <p:spPr>
          <a:xfrm>
            <a:off x="1358900" y="4848225"/>
            <a:ext cx="649288" cy="106363"/>
          </a:xfrm>
          <a:custGeom>
            <a:avLst/>
            <a:gdLst>
              <a:gd name="txL" fmla="*/ 0 w 545"/>
              <a:gd name="txT" fmla="*/ 0 h 227"/>
              <a:gd name="txR" fmla="*/ 545 w 545"/>
              <a:gd name="txB" fmla="*/ 227 h 227"/>
            </a:gdLst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2147483646" y="0"/>
              </a:cxn>
            </a:cxnLst>
            <a:rect l="txL" t="txT" r="txR" b="txB"/>
            <a:pathLst>
              <a:path w="545" h="227">
                <a:moveTo>
                  <a:pt x="0" y="0"/>
                </a:moveTo>
                <a:cubicBezTo>
                  <a:pt x="91" y="113"/>
                  <a:pt x="182" y="227"/>
                  <a:pt x="273" y="227"/>
                </a:cubicBezTo>
                <a:cubicBezTo>
                  <a:pt x="364" y="227"/>
                  <a:pt x="454" y="113"/>
                  <a:pt x="545" y="0"/>
                </a:cubicBezTo>
              </a:path>
            </a:pathLst>
          </a:custGeom>
          <a:noFill/>
          <a:ln w="1905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stealth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Rectangle 91"/>
          <p:cNvSpPr>
            <a:spLocks noChangeArrowheads="1"/>
          </p:cNvSpPr>
          <p:nvPr/>
        </p:nvSpPr>
        <p:spPr bwMode="auto">
          <a:xfrm>
            <a:off x="1714500" y="4440238"/>
            <a:ext cx="1082675" cy="28733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digit_lexval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=5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2" name="Line 79"/>
          <p:cNvSpPr/>
          <p:nvPr/>
        </p:nvSpPr>
        <p:spPr>
          <a:xfrm flipV="1">
            <a:off x="8226425" y="1708150"/>
            <a:ext cx="0" cy="21590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3" name="Rectangle 74"/>
          <p:cNvSpPr/>
          <p:nvPr/>
        </p:nvSpPr>
        <p:spPr>
          <a:xfrm>
            <a:off x="2628900" y="3257550"/>
            <a:ext cx="3228975" cy="417513"/>
          </a:xfrm>
          <a:prstGeom prst="rect">
            <a:avLst/>
          </a:prstGeom>
          <a:solidFill>
            <a:srgbClr val="FFCC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r>
              <a:rPr lang="en-US" altLang="zh-CN" sz="15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stack</a:t>
            </a:r>
            <a:r>
              <a:rPr lang="en-US" altLang="zh-CN" sz="1500" dirty="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5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top</a:t>
            </a:r>
            <a:r>
              <a:rPr lang="en-US" altLang="zh-CN" sz="1500" dirty="0">
                <a:solidFill>
                  <a:srgbClr val="000000"/>
                </a:solidFill>
                <a:latin typeface="Times New Roman" panose="02020603050405020304" pitchFamily="18" charset="0"/>
              </a:rPr>
              <a:t>-1].</a:t>
            </a:r>
            <a:r>
              <a:rPr lang="en-US" altLang="zh-CN" sz="15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val</a:t>
            </a:r>
            <a:r>
              <a:rPr lang="en-US" altLang="zh-CN" sz="1500" dirty="0">
                <a:solidFill>
                  <a:srgbClr val="000000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15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stack</a:t>
            </a:r>
            <a:r>
              <a:rPr lang="en-US" altLang="zh-CN" sz="1500" dirty="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5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top</a:t>
            </a:r>
            <a:r>
              <a:rPr lang="en-US" altLang="zh-CN" sz="1500" dirty="0">
                <a:solidFill>
                  <a:srgbClr val="000000"/>
                </a:solidFill>
                <a:latin typeface="Times New Roman" panose="02020603050405020304" pitchFamily="18" charset="0"/>
              </a:rPr>
              <a:t>].</a:t>
            </a:r>
            <a:r>
              <a:rPr lang="en-US" altLang="zh-CN" sz="1500" i="1" dirty="0">
                <a:solidFill>
                  <a:srgbClr val="000000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digit_lexval</a:t>
            </a:r>
          </a:p>
        </p:txBody>
      </p:sp>
      <p:sp>
        <p:nvSpPr>
          <p:cNvPr id="44" name="Line 75"/>
          <p:cNvSpPr/>
          <p:nvPr/>
        </p:nvSpPr>
        <p:spPr>
          <a:xfrm flipV="1">
            <a:off x="2311400" y="3695700"/>
            <a:ext cx="485775" cy="269875"/>
          </a:xfrm>
          <a:prstGeom prst="line">
            <a:avLst/>
          </a:prstGeom>
          <a:ln w="19050" cap="flat" cmpd="sng">
            <a:solidFill>
              <a:schemeClr val="hlink"/>
            </a:solidFill>
            <a:prstDash val="lgDash"/>
            <a:headEnd type="none" w="med" len="med"/>
            <a:tailEnd type="triangle" w="med" len="med"/>
          </a:ln>
        </p:spPr>
      </p:sp>
      <p:sp>
        <p:nvSpPr>
          <p:cNvPr id="45" name="Rectangle 103"/>
          <p:cNvSpPr>
            <a:spLocks noChangeArrowheads="1"/>
          </p:cNvSpPr>
          <p:nvPr/>
        </p:nvSpPr>
        <p:spPr bwMode="auto">
          <a:xfrm>
            <a:off x="2790825" y="4459288"/>
            <a:ext cx="593725" cy="2778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val=5</a:t>
            </a:r>
            <a:endParaRPr kumimoji="0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" name="Freeform 113"/>
          <p:cNvSpPr/>
          <p:nvPr/>
        </p:nvSpPr>
        <p:spPr>
          <a:xfrm>
            <a:off x="3184525" y="5010150"/>
            <a:ext cx="649288" cy="106363"/>
          </a:xfrm>
          <a:custGeom>
            <a:avLst/>
            <a:gdLst>
              <a:gd name="txL" fmla="*/ 0 w 545"/>
              <a:gd name="txT" fmla="*/ 0 h 227"/>
              <a:gd name="txR" fmla="*/ 545 w 545"/>
              <a:gd name="txB" fmla="*/ 227 h 227"/>
            </a:gdLst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2147483646" y="0"/>
              </a:cxn>
            </a:cxnLst>
            <a:rect l="txL" t="txT" r="txR" b="txB"/>
            <a:pathLst>
              <a:path w="545" h="227">
                <a:moveTo>
                  <a:pt x="0" y="0"/>
                </a:moveTo>
                <a:cubicBezTo>
                  <a:pt x="91" y="113"/>
                  <a:pt x="182" y="227"/>
                  <a:pt x="273" y="227"/>
                </a:cubicBezTo>
                <a:cubicBezTo>
                  <a:pt x="364" y="227"/>
                  <a:pt x="454" y="113"/>
                  <a:pt x="545" y="0"/>
                </a:cubicBezTo>
              </a:path>
            </a:pathLst>
          </a:custGeom>
          <a:noFill/>
          <a:ln w="1905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stealth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Rectangle 109"/>
          <p:cNvSpPr>
            <a:spLocks noChangeArrowheads="1"/>
          </p:cNvSpPr>
          <p:nvPr/>
        </p:nvSpPr>
        <p:spPr bwMode="auto">
          <a:xfrm>
            <a:off x="3381375" y="4735513"/>
            <a:ext cx="920750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Fval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=5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612" name="Line 79"/>
          <p:cNvSpPr/>
          <p:nvPr/>
        </p:nvSpPr>
        <p:spPr>
          <a:xfrm flipV="1">
            <a:off x="8010525" y="1708150"/>
            <a:ext cx="0" cy="21590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7613" name="Line 79"/>
          <p:cNvSpPr/>
          <p:nvPr/>
        </p:nvSpPr>
        <p:spPr>
          <a:xfrm flipV="1">
            <a:off x="7794625" y="1697038"/>
            <a:ext cx="0" cy="21590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7614" name="Rectangle 56"/>
          <p:cNvSpPr/>
          <p:nvPr/>
        </p:nvSpPr>
        <p:spPr>
          <a:xfrm>
            <a:off x="6757988" y="1325563"/>
            <a:ext cx="2051050" cy="415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None/>
            </a:pPr>
            <a:r>
              <a:rPr lang="zh-CN" altLang="en-US" sz="21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输入</a:t>
            </a:r>
            <a:r>
              <a:rPr lang="en-US" altLang="zh-CN" sz="21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: 3 * 5</a:t>
            </a:r>
            <a:endParaRPr lang="zh-CN" altLang="en-US" sz="2100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7615" name="Line 79"/>
          <p:cNvSpPr/>
          <p:nvPr/>
        </p:nvSpPr>
        <p:spPr>
          <a:xfrm flipV="1">
            <a:off x="7577138" y="1698625"/>
            <a:ext cx="0" cy="21590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67616" name="组合 12"/>
          <p:cNvGrpSpPr/>
          <p:nvPr/>
        </p:nvGrpSpPr>
        <p:grpSpPr>
          <a:xfrm>
            <a:off x="715963" y="682625"/>
            <a:ext cx="6092825" cy="2249488"/>
            <a:chOff x="751285" y="802569"/>
            <a:chExt cx="6091894" cy="2249363"/>
          </a:xfrm>
        </p:grpSpPr>
        <p:sp>
          <p:nvSpPr>
            <p:cNvPr id="53" name="矩形 7"/>
            <p:cNvSpPr>
              <a:spLocks noChangeArrowheads="1"/>
            </p:cNvSpPr>
            <p:nvPr/>
          </p:nvSpPr>
          <p:spPr bwMode="auto">
            <a:xfrm>
              <a:off x="751285" y="835905"/>
              <a:ext cx="6091894" cy="221602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algn="ctr">
              <a:solidFill>
                <a:schemeClr val="tx1"/>
              </a:solidFill>
              <a:rou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619" name="Rectangle 3"/>
            <p:cNvSpPr txBox="1"/>
            <p:nvPr/>
          </p:nvSpPr>
          <p:spPr>
            <a:xfrm>
              <a:off x="3670772" y="802569"/>
              <a:ext cx="3166239" cy="166092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zh-CN" altLang="en-US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 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.inh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2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T.val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.syn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20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 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×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zh-CN" altLang="en-US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20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zh-CN" altLang="en-US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zh-CN" altLang="en-US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F.val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= digit.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lexval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endPara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67620" name="Rectangle 3"/>
            <p:cNvSpPr txBox="1"/>
            <p:nvPr/>
          </p:nvSpPr>
          <p:spPr>
            <a:xfrm>
              <a:off x="807654" y="963245"/>
              <a:ext cx="3511452" cy="19486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SDT</a:t>
              </a: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 a</a:t>
              </a:r>
              <a:r>
                <a:rPr lang="zh-CN" altLang="en-US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}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{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</a:t>
              </a:r>
              <a:endPara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endParaRP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→ *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 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3)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l-GR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ε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4)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→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digit 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}</a:t>
              </a:r>
              <a:endPara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32" name="Rectangle 99"/>
          <p:cNvSpPr>
            <a:spLocks noChangeArrowheads="1"/>
          </p:cNvSpPr>
          <p:nvPr/>
        </p:nvSpPr>
        <p:spPr bwMode="auto">
          <a:xfrm>
            <a:off x="5003800" y="4457700"/>
            <a:ext cx="703263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syn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5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8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3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8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3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2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7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2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7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8" grpId="0" animBg="1"/>
      <p:bldP spid="35" grpId="0" animBg="1"/>
      <p:bldP spid="35" grpId="1" animBg="1"/>
      <p:bldP spid="36" grpId="0" animBg="1"/>
      <p:bldP spid="36" grpId="1" animBg="1"/>
      <p:bldP spid="39" grpId="0" animBg="1"/>
      <p:bldP spid="39" grpId="1" animBg="1"/>
      <p:bldP spid="41" grpId="0" animBg="1"/>
      <p:bldP spid="41" grpId="1" animBg="1"/>
      <p:bldP spid="43" grpId="0" animBg="1"/>
      <p:bldP spid="43" grpId="1" animBg="1"/>
      <p:bldP spid="45" grpId="0" animBg="1"/>
      <p:bldP spid="45" grpId="1" animBg="1"/>
      <p:bldP spid="47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100"/>
          <p:cNvSpPr>
            <a:spLocks noChangeArrowheads="1"/>
          </p:cNvSpPr>
          <p:nvPr/>
        </p:nvSpPr>
        <p:spPr bwMode="auto">
          <a:xfrm>
            <a:off x="4297363" y="4452938"/>
            <a:ext cx="711200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inh</a:t>
            </a:r>
            <a:endParaRPr kumimoji="0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8962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endParaRPr kumimoji="0" lang="zh-CN" altLang="en-US" sz="397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8243888" y="4014788"/>
            <a:ext cx="593725" cy="431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Tsyn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8837613" y="4014788"/>
            <a:ext cx="217488" cy="431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11" name="Rectangle 19"/>
          <p:cNvSpPr>
            <a:spLocks noChangeArrowheads="1"/>
          </p:cNvSpPr>
          <p:nvPr/>
        </p:nvSpPr>
        <p:spPr bwMode="auto">
          <a:xfrm>
            <a:off x="8243888" y="4446588"/>
            <a:ext cx="593725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val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7434263" y="4019550"/>
            <a:ext cx="809625" cy="434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{a</a:t>
            </a: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2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5" name="Rectangle 13"/>
          <p:cNvSpPr>
            <a:spLocks noChangeArrowheads="1"/>
          </p:cNvSpPr>
          <p:nvPr/>
        </p:nvSpPr>
        <p:spPr bwMode="auto">
          <a:xfrm>
            <a:off x="6840538" y="4016375"/>
            <a:ext cx="593725" cy="4381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 </a:t>
            </a: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 </a:t>
            </a:r>
            <a:r>
              <a:rPr kumimoji="0" lang="en-US" altLang="zh-CN" sz="1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Rectangle 21"/>
          <p:cNvSpPr>
            <a:spLocks noChangeArrowheads="1"/>
          </p:cNvSpPr>
          <p:nvPr/>
        </p:nvSpPr>
        <p:spPr bwMode="auto">
          <a:xfrm>
            <a:off x="6840538" y="4449763"/>
            <a:ext cx="593725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endParaRPr kumimoji="0" lang="zh-CN" altLang="en-US" sz="120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" name="Rectangle 96"/>
          <p:cNvSpPr>
            <a:spLocks noChangeArrowheads="1"/>
          </p:cNvSpPr>
          <p:nvPr/>
        </p:nvSpPr>
        <p:spPr bwMode="auto">
          <a:xfrm>
            <a:off x="5643563" y="4016375"/>
            <a:ext cx="1196975" cy="444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{a</a:t>
            </a: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</a:p>
        </p:txBody>
      </p:sp>
      <p:sp>
        <p:nvSpPr>
          <p:cNvPr id="24" name="Rectangle 97"/>
          <p:cNvSpPr>
            <a:spLocks noChangeArrowheads="1"/>
          </p:cNvSpPr>
          <p:nvPr/>
        </p:nvSpPr>
        <p:spPr bwMode="auto">
          <a:xfrm>
            <a:off x="4306888" y="4016375"/>
            <a:ext cx="696913" cy="444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zh-CN" altLang="en-US" sz="1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1</a:t>
            </a: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Rectangle 98"/>
          <p:cNvSpPr>
            <a:spLocks noChangeArrowheads="1"/>
          </p:cNvSpPr>
          <p:nvPr/>
        </p:nvSpPr>
        <p:spPr bwMode="auto">
          <a:xfrm>
            <a:off x="5003800" y="4016375"/>
            <a:ext cx="703263" cy="444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zh-CN" altLang="en-US" sz="1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1</a:t>
            </a: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kumimoji="0" lang="en-US" altLang="zh-CN" sz="1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syn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Rectangle 101"/>
          <p:cNvSpPr>
            <a:spLocks noChangeArrowheads="1"/>
          </p:cNvSpPr>
          <p:nvPr/>
        </p:nvSpPr>
        <p:spPr bwMode="auto">
          <a:xfrm>
            <a:off x="3389313" y="4016375"/>
            <a:ext cx="912813" cy="444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{a</a:t>
            </a: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</a:p>
        </p:txBody>
      </p:sp>
      <p:sp>
        <p:nvSpPr>
          <p:cNvPr id="30" name="Rectangle 95"/>
          <p:cNvSpPr>
            <a:spLocks noChangeArrowheads="1"/>
          </p:cNvSpPr>
          <p:nvPr/>
        </p:nvSpPr>
        <p:spPr bwMode="auto">
          <a:xfrm>
            <a:off x="3389313" y="4464050"/>
            <a:ext cx="912813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′ </a:t>
            </a:r>
            <a:r>
              <a:rPr kumimoji="0" lang="en-US" altLang="zh-CN" sz="12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inh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=3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Rectangle 99"/>
          <p:cNvSpPr>
            <a:spLocks noChangeArrowheads="1"/>
          </p:cNvSpPr>
          <p:nvPr/>
        </p:nvSpPr>
        <p:spPr bwMode="auto">
          <a:xfrm>
            <a:off x="5003800" y="4464050"/>
            <a:ext cx="703263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syn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" name="Rectangle 109"/>
          <p:cNvSpPr>
            <a:spLocks noChangeArrowheads="1"/>
          </p:cNvSpPr>
          <p:nvPr/>
        </p:nvSpPr>
        <p:spPr bwMode="auto">
          <a:xfrm>
            <a:off x="3381375" y="4738688"/>
            <a:ext cx="920750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Fval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=5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" name="Rectangle 110"/>
          <p:cNvSpPr/>
          <p:nvPr/>
        </p:nvSpPr>
        <p:spPr>
          <a:xfrm>
            <a:off x="2960688" y="3219450"/>
            <a:ext cx="4111625" cy="465138"/>
          </a:xfrm>
          <a:prstGeom prst="rect">
            <a:avLst/>
          </a:prstGeom>
          <a:solidFill>
            <a:srgbClr val="FFCC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>
              <a:buNone/>
            </a:pPr>
            <a:r>
              <a:rPr lang="en-US" altLang="zh-CN" sz="15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stack</a:t>
            </a:r>
            <a:r>
              <a:rPr lang="en-US" altLang="zh-CN" sz="1500" dirty="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5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top</a:t>
            </a:r>
            <a:r>
              <a:rPr lang="en-US" altLang="zh-CN" sz="1500" dirty="0">
                <a:solidFill>
                  <a:srgbClr val="000000"/>
                </a:solidFill>
                <a:latin typeface="Times New Roman" panose="02020603050405020304" pitchFamily="18" charset="0"/>
              </a:rPr>
              <a:t>-1].</a:t>
            </a:r>
            <a:r>
              <a:rPr lang="en-US" altLang="zh-CN" sz="15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inh</a:t>
            </a:r>
            <a:r>
              <a:rPr lang="en-US" altLang="zh-CN" sz="1500" dirty="0">
                <a:solidFill>
                  <a:srgbClr val="000000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15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stack</a:t>
            </a:r>
            <a:r>
              <a:rPr lang="en-US" altLang="zh-CN" sz="1500" dirty="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5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top</a:t>
            </a:r>
            <a:r>
              <a:rPr lang="en-US" altLang="zh-CN" sz="1500" dirty="0">
                <a:solidFill>
                  <a:srgbClr val="000000"/>
                </a:solidFill>
                <a:latin typeface="Times New Roman" panose="02020603050405020304" pitchFamily="18" charset="0"/>
              </a:rPr>
              <a:t>].</a:t>
            </a:r>
            <a:r>
              <a:rPr lang="en-US" altLang="zh-CN" sz="15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600" i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5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inh</a:t>
            </a:r>
            <a:r>
              <a:rPr lang="zh-CN" altLang="en-US" sz="1500" dirty="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×</a:t>
            </a:r>
            <a:r>
              <a:rPr lang="en-US" altLang="zh-CN" sz="15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stack</a:t>
            </a:r>
            <a:r>
              <a:rPr lang="en-US" altLang="zh-CN" sz="1500" dirty="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5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top</a:t>
            </a:r>
            <a:r>
              <a:rPr lang="en-US" altLang="zh-CN" sz="1500" dirty="0">
                <a:solidFill>
                  <a:srgbClr val="000000"/>
                </a:solidFill>
                <a:latin typeface="Times New Roman" panose="02020603050405020304" pitchFamily="18" charset="0"/>
              </a:rPr>
              <a:t>].</a:t>
            </a:r>
            <a:r>
              <a:rPr lang="zh-CN" altLang="en-US" sz="1500" i="1" dirty="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Fval</a:t>
            </a:r>
            <a:r>
              <a:rPr lang="zh-CN" altLang="en-US" sz="1500" dirty="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endParaRPr lang="en-US" altLang="zh-CN" sz="1500" dirty="0">
              <a:solidFill>
                <a:srgbClr val="000000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49" name="Line 111"/>
          <p:cNvSpPr/>
          <p:nvPr/>
        </p:nvSpPr>
        <p:spPr>
          <a:xfrm flipH="1" flipV="1">
            <a:off x="3544888" y="3705225"/>
            <a:ext cx="330200" cy="238125"/>
          </a:xfrm>
          <a:prstGeom prst="line">
            <a:avLst/>
          </a:prstGeom>
          <a:ln w="19050" cap="flat" cmpd="sng">
            <a:solidFill>
              <a:schemeClr val="hlink"/>
            </a:solidFill>
            <a:prstDash val="lgDash"/>
            <a:headEnd type="none" w="med" len="med"/>
            <a:tailEnd type="triangle" w="med" len="med"/>
          </a:ln>
        </p:spPr>
      </p:sp>
      <p:sp>
        <p:nvSpPr>
          <p:cNvPr id="50" name="Rectangle 122"/>
          <p:cNvSpPr>
            <a:spLocks noChangeArrowheads="1"/>
          </p:cNvSpPr>
          <p:nvPr/>
        </p:nvSpPr>
        <p:spPr bwMode="auto">
          <a:xfrm>
            <a:off x="4302125" y="4465638"/>
            <a:ext cx="701675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inh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=15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任意多边形 1"/>
          <p:cNvSpPr/>
          <p:nvPr/>
        </p:nvSpPr>
        <p:spPr>
          <a:xfrm>
            <a:off x="4500563" y="4784725"/>
            <a:ext cx="382588" cy="155575"/>
          </a:xfrm>
          <a:custGeom>
            <a:avLst/>
            <a:gdLst>
              <a:gd name="connsiteX0" fmla="*/ 209834 w 383719"/>
              <a:gd name="connsiteY0" fmla="*/ 34724 h 324241"/>
              <a:gd name="connsiteX1" fmla="*/ 383454 w 383719"/>
              <a:gd name="connsiteY1" fmla="*/ 208344 h 324241"/>
              <a:gd name="connsiteX2" fmla="*/ 175110 w 383719"/>
              <a:gd name="connsiteY2" fmla="*/ 324091 h 324241"/>
              <a:gd name="connsiteX3" fmla="*/ 1489 w 383719"/>
              <a:gd name="connsiteY3" fmla="*/ 185195 h 324241"/>
              <a:gd name="connsiteX4" fmla="*/ 105661 w 383719"/>
              <a:gd name="connsiteY4" fmla="*/ 0 h 324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3719" h="324241">
                <a:moveTo>
                  <a:pt x="209834" y="34724"/>
                </a:moveTo>
                <a:cubicBezTo>
                  <a:pt x="299537" y="97420"/>
                  <a:pt x="389241" y="160116"/>
                  <a:pt x="383454" y="208344"/>
                </a:cubicBezTo>
                <a:cubicBezTo>
                  <a:pt x="377667" y="256572"/>
                  <a:pt x="238771" y="327949"/>
                  <a:pt x="175110" y="324091"/>
                </a:cubicBezTo>
                <a:cubicBezTo>
                  <a:pt x="111449" y="320233"/>
                  <a:pt x="13064" y="239210"/>
                  <a:pt x="1489" y="185195"/>
                </a:cubicBezTo>
                <a:cubicBezTo>
                  <a:pt x="-10086" y="131180"/>
                  <a:pt x="47787" y="65590"/>
                  <a:pt x="105661" y="0"/>
                </a:cubicBezTo>
              </a:path>
            </a:pathLst>
          </a:custGeom>
          <a:noFill/>
          <a:ln w="19050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9653" name="Line 79"/>
          <p:cNvSpPr/>
          <p:nvPr/>
        </p:nvSpPr>
        <p:spPr>
          <a:xfrm flipV="1">
            <a:off x="8226425" y="1708150"/>
            <a:ext cx="0" cy="21590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9654" name="Line 79"/>
          <p:cNvSpPr/>
          <p:nvPr/>
        </p:nvSpPr>
        <p:spPr>
          <a:xfrm flipV="1">
            <a:off x="8010525" y="1708150"/>
            <a:ext cx="0" cy="21590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9655" name="Line 79"/>
          <p:cNvSpPr/>
          <p:nvPr/>
        </p:nvSpPr>
        <p:spPr>
          <a:xfrm flipV="1">
            <a:off x="7794625" y="1697038"/>
            <a:ext cx="0" cy="21590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9656" name="Rectangle 56"/>
          <p:cNvSpPr/>
          <p:nvPr/>
        </p:nvSpPr>
        <p:spPr>
          <a:xfrm>
            <a:off x="6757988" y="1325563"/>
            <a:ext cx="2051050" cy="415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None/>
            </a:pPr>
            <a:r>
              <a:rPr lang="zh-CN" altLang="en-US" sz="21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输入</a:t>
            </a:r>
            <a:r>
              <a:rPr lang="en-US" altLang="zh-CN" sz="21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: 3 * 5</a:t>
            </a:r>
            <a:endParaRPr lang="zh-CN" altLang="en-US" sz="2100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9657" name="Line 79"/>
          <p:cNvSpPr/>
          <p:nvPr/>
        </p:nvSpPr>
        <p:spPr>
          <a:xfrm flipV="1">
            <a:off x="7577138" y="1698625"/>
            <a:ext cx="0" cy="21590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69658" name="组合 12"/>
          <p:cNvGrpSpPr/>
          <p:nvPr/>
        </p:nvGrpSpPr>
        <p:grpSpPr>
          <a:xfrm>
            <a:off x="715963" y="682625"/>
            <a:ext cx="6092825" cy="2249488"/>
            <a:chOff x="751285" y="802569"/>
            <a:chExt cx="6091894" cy="2249363"/>
          </a:xfrm>
        </p:grpSpPr>
        <p:sp>
          <p:nvSpPr>
            <p:cNvPr id="40" name="矩形 7"/>
            <p:cNvSpPr>
              <a:spLocks noChangeArrowheads="1"/>
            </p:cNvSpPr>
            <p:nvPr/>
          </p:nvSpPr>
          <p:spPr bwMode="auto">
            <a:xfrm>
              <a:off x="751285" y="835905"/>
              <a:ext cx="6091894" cy="221602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algn="ctr">
              <a:solidFill>
                <a:schemeClr val="tx1"/>
              </a:solidFill>
              <a:rou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9660" name="Rectangle 3"/>
            <p:cNvSpPr txBox="1"/>
            <p:nvPr/>
          </p:nvSpPr>
          <p:spPr>
            <a:xfrm>
              <a:off x="3670772" y="802569"/>
              <a:ext cx="3166239" cy="166092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zh-CN" altLang="en-US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 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.inh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2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T.val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.syn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20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 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×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zh-CN" altLang="en-US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20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zh-CN" altLang="en-US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zh-CN" altLang="en-US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F.val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= digit.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lexval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endPara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69661" name="Rectangle 3"/>
            <p:cNvSpPr txBox="1"/>
            <p:nvPr/>
          </p:nvSpPr>
          <p:spPr>
            <a:xfrm>
              <a:off x="807654" y="963245"/>
              <a:ext cx="3511452" cy="19486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SDT</a:t>
              </a: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 a</a:t>
              </a:r>
              <a:r>
                <a:rPr lang="zh-CN" altLang="en-US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}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{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</a:t>
              </a:r>
              <a:endPara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endParaRP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→ *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 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3)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l-GR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ε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4)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→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digit 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}</a:t>
              </a:r>
              <a:endPara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5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24" grpId="0" animBg="1"/>
      <p:bldP spid="26" grpId="0" animBg="1"/>
      <p:bldP spid="30" grpId="0" animBg="1"/>
      <p:bldP spid="47" grpId="0" animBg="1"/>
      <p:bldP spid="48" grpId="0" animBg="1"/>
      <p:bldP spid="48" grpId="1" animBg="1"/>
      <p:bldP spid="50" grpId="0" animBg="1"/>
      <p:bldP spid="50" grpId="1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endParaRPr kumimoji="0" lang="zh-CN" altLang="en-US" sz="397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8243888" y="4011613"/>
            <a:ext cx="593725" cy="431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Tsyn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8837613" y="4011613"/>
            <a:ext cx="217488" cy="431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11" name="Rectangle 19"/>
          <p:cNvSpPr>
            <a:spLocks noChangeArrowheads="1"/>
          </p:cNvSpPr>
          <p:nvPr/>
        </p:nvSpPr>
        <p:spPr bwMode="auto">
          <a:xfrm>
            <a:off x="8243888" y="4443413"/>
            <a:ext cx="593725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val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7434263" y="4017963"/>
            <a:ext cx="809625" cy="434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{a</a:t>
            </a: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2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5" name="Rectangle 13"/>
          <p:cNvSpPr>
            <a:spLocks noChangeArrowheads="1"/>
          </p:cNvSpPr>
          <p:nvPr/>
        </p:nvSpPr>
        <p:spPr bwMode="auto">
          <a:xfrm>
            <a:off x="6840538" y="4014788"/>
            <a:ext cx="593725" cy="4381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 </a:t>
            </a: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 </a:t>
            </a:r>
            <a:r>
              <a:rPr kumimoji="0" lang="en-US" altLang="zh-CN" sz="1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Rectangle 21"/>
          <p:cNvSpPr>
            <a:spLocks noChangeArrowheads="1"/>
          </p:cNvSpPr>
          <p:nvPr/>
        </p:nvSpPr>
        <p:spPr bwMode="auto">
          <a:xfrm>
            <a:off x="6840538" y="4459288"/>
            <a:ext cx="593725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endParaRPr kumimoji="0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" name="Rectangle 96"/>
          <p:cNvSpPr>
            <a:spLocks noChangeArrowheads="1"/>
          </p:cNvSpPr>
          <p:nvPr/>
        </p:nvSpPr>
        <p:spPr bwMode="auto">
          <a:xfrm>
            <a:off x="5715000" y="4014788"/>
            <a:ext cx="1125538" cy="444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{a</a:t>
            </a: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</a:p>
        </p:txBody>
      </p:sp>
      <p:sp>
        <p:nvSpPr>
          <p:cNvPr id="25" name="Rectangle 98"/>
          <p:cNvSpPr>
            <a:spLocks noChangeArrowheads="1"/>
          </p:cNvSpPr>
          <p:nvPr/>
        </p:nvSpPr>
        <p:spPr bwMode="auto">
          <a:xfrm>
            <a:off x="5003800" y="4014788"/>
            <a:ext cx="711200" cy="444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2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syn</a:t>
            </a:r>
          </a:p>
        </p:txBody>
      </p:sp>
      <p:sp>
        <p:nvSpPr>
          <p:cNvPr id="32" name="Rectangle 99"/>
          <p:cNvSpPr>
            <a:spLocks noChangeArrowheads="1"/>
          </p:cNvSpPr>
          <p:nvPr/>
        </p:nvSpPr>
        <p:spPr bwMode="auto">
          <a:xfrm>
            <a:off x="5003800" y="4449763"/>
            <a:ext cx="703263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syn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Rectangle 77"/>
          <p:cNvSpPr>
            <a:spLocks noChangeArrowheads="1"/>
          </p:cNvSpPr>
          <p:nvPr/>
        </p:nvSpPr>
        <p:spPr bwMode="auto">
          <a:xfrm>
            <a:off x="4192588" y="4457700"/>
            <a:ext cx="811213" cy="26193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1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 </a:t>
            </a:r>
            <a:r>
              <a:rPr kumimoji="0" lang="en-US" altLang="zh-CN" sz="11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inh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=15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" name="Rectangle 78"/>
          <p:cNvSpPr>
            <a:spLocks noChangeArrowheads="1"/>
          </p:cNvSpPr>
          <p:nvPr/>
        </p:nvSpPr>
        <p:spPr bwMode="auto">
          <a:xfrm>
            <a:off x="4192588" y="4014788"/>
            <a:ext cx="811213" cy="4381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{a</a:t>
            </a: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</a:p>
        </p:txBody>
      </p:sp>
      <p:sp>
        <p:nvSpPr>
          <p:cNvPr id="35" name="Rectangle 80"/>
          <p:cNvSpPr/>
          <p:nvPr/>
        </p:nvSpPr>
        <p:spPr>
          <a:xfrm>
            <a:off x="3838575" y="3189288"/>
            <a:ext cx="2805113" cy="458787"/>
          </a:xfrm>
          <a:prstGeom prst="rect">
            <a:avLst/>
          </a:prstGeom>
          <a:solidFill>
            <a:srgbClr val="FFCC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>
              <a:buNone/>
            </a:pPr>
            <a:r>
              <a:rPr lang="en-US" altLang="zh-CN" sz="15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stack</a:t>
            </a:r>
            <a:r>
              <a:rPr lang="en-US" altLang="zh-CN" sz="1500" dirty="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5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top</a:t>
            </a:r>
            <a:r>
              <a:rPr lang="en-US" altLang="zh-CN" sz="1500" dirty="0">
                <a:solidFill>
                  <a:srgbClr val="000000"/>
                </a:solidFill>
                <a:latin typeface="Times New Roman" panose="02020603050405020304" pitchFamily="18" charset="0"/>
              </a:rPr>
              <a:t>-1].</a:t>
            </a:r>
            <a:r>
              <a:rPr lang="en-US" altLang="zh-CN" sz="15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syn</a:t>
            </a:r>
            <a:r>
              <a:rPr lang="en-US" altLang="zh-CN" sz="1500" dirty="0">
                <a:solidFill>
                  <a:srgbClr val="000000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15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stack</a:t>
            </a:r>
            <a:r>
              <a:rPr lang="en-US" altLang="zh-CN" sz="1500" dirty="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5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top</a:t>
            </a:r>
            <a:r>
              <a:rPr lang="en-US" altLang="zh-CN" sz="1500" dirty="0">
                <a:solidFill>
                  <a:srgbClr val="000000"/>
                </a:solidFill>
                <a:latin typeface="Times New Roman" panose="02020603050405020304" pitchFamily="18" charset="0"/>
              </a:rPr>
              <a:t>].</a:t>
            </a:r>
            <a:r>
              <a:rPr lang="en-US" altLang="zh-CN" sz="15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5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600" i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5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inh</a:t>
            </a:r>
          </a:p>
        </p:txBody>
      </p:sp>
      <p:sp>
        <p:nvSpPr>
          <p:cNvPr id="36" name="Line 81"/>
          <p:cNvSpPr/>
          <p:nvPr/>
        </p:nvSpPr>
        <p:spPr>
          <a:xfrm flipV="1">
            <a:off x="4464050" y="3648075"/>
            <a:ext cx="431800" cy="322263"/>
          </a:xfrm>
          <a:prstGeom prst="line">
            <a:avLst/>
          </a:prstGeom>
          <a:ln w="19050" cap="flat" cmpd="sng">
            <a:solidFill>
              <a:schemeClr val="hlink"/>
            </a:solidFill>
            <a:prstDash val="lgDash"/>
            <a:headEnd type="none" w="med" len="med"/>
            <a:tailEnd type="triangle" w="med" len="med"/>
          </a:ln>
        </p:spPr>
      </p:sp>
      <p:sp>
        <p:nvSpPr>
          <p:cNvPr id="38" name="Rectangle 90"/>
          <p:cNvSpPr>
            <a:spLocks noChangeArrowheads="1"/>
          </p:cNvSpPr>
          <p:nvPr/>
        </p:nvSpPr>
        <p:spPr bwMode="auto">
          <a:xfrm>
            <a:off x="5003800" y="4451350"/>
            <a:ext cx="711200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syn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=15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Freeform 54"/>
          <p:cNvSpPr/>
          <p:nvPr/>
        </p:nvSpPr>
        <p:spPr>
          <a:xfrm>
            <a:off x="5327650" y="4791075"/>
            <a:ext cx="649288" cy="107950"/>
          </a:xfrm>
          <a:custGeom>
            <a:avLst/>
            <a:gdLst>
              <a:gd name="txL" fmla="*/ 0 w 545"/>
              <a:gd name="txT" fmla="*/ 0 h 227"/>
              <a:gd name="txR" fmla="*/ 545 w 545"/>
              <a:gd name="txB" fmla="*/ 227 h 227"/>
            </a:gdLst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2147483646" y="0"/>
              </a:cxn>
            </a:cxnLst>
            <a:rect l="txL" t="txT" r="txR" b="txB"/>
            <a:pathLst>
              <a:path w="545" h="227">
                <a:moveTo>
                  <a:pt x="0" y="0"/>
                </a:moveTo>
                <a:cubicBezTo>
                  <a:pt x="91" y="113"/>
                  <a:pt x="182" y="227"/>
                  <a:pt x="273" y="227"/>
                </a:cubicBezTo>
                <a:cubicBezTo>
                  <a:pt x="364" y="227"/>
                  <a:pt x="454" y="113"/>
                  <a:pt x="545" y="0"/>
                </a:cubicBezTo>
              </a:path>
            </a:pathLst>
          </a:custGeom>
          <a:noFill/>
          <a:ln w="1905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stealth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Rectangle 100"/>
          <p:cNvSpPr>
            <a:spLocks noChangeArrowheads="1"/>
          </p:cNvSpPr>
          <p:nvPr/>
        </p:nvSpPr>
        <p:spPr bwMode="auto">
          <a:xfrm>
            <a:off x="5705475" y="4456113"/>
            <a:ext cx="1135063" cy="2778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2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syn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=15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任意多边形 27"/>
          <p:cNvSpPr/>
          <p:nvPr/>
        </p:nvSpPr>
        <p:spPr>
          <a:xfrm>
            <a:off x="4475163" y="4784725"/>
            <a:ext cx="382588" cy="155575"/>
          </a:xfrm>
          <a:custGeom>
            <a:avLst/>
            <a:gdLst>
              <a:gd name="connsiteX0" fmla="*/ 209834 w 383719"/>
              <a:gd name="connsiteY0" fmla="*/ 34724 h 324241"/>
              <a:gd name="connsiteX1" fmla="*/ 383454 w 383719"/>
              <a:gd name="connsiteY1" fmla="*/ 208344 h 324241"/>
              <a:gd name="connsiteX2" fmla="*/ 175110 w 383719"/>
              <a:gd name="connsiteY2" fmla="*/ 324091 h 324241"/>
              <a:gd name="connsiteX3" fmla="*/ 1489 w 383719"/>
              <a:gd name="connsiteY3" fmla="*/ 185195 h 324241"/>
              <a:gd name="connsiteX4" fmla="*/ 105661 w 383719"/>
              <a:gd name="connsiteY4" fmla="*/ 0 h 324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3719" h="324241">
                <a:moveTo>
                  <a:pt x="209834" y="34724"/>
                </a:moveTo>
                <a:cubicBezTo>
                  <a:pt x="299537" y="97420"/>
                  <a:pt x="389241" y="160116"/>
                  <a:pt x="383454" y="208344"/>
                </a:cubicBezTo>
                <a:cubicBezTo>
                  <a:pt x="377667" y="256572"/>
                  <a:pt x="238771" y="327949"/>
                  <a:pt x="175110" y="324091"/>
                </a:cubicBezTo>
                <a:cubicBezTo>
                  <a:pt x="111449" y="320233"/>
                  <a:pt x="13064" y="239210"/>
                  <a:pt x="1489" y="185195"/>
                </a:cubicBezTo>
                <a:cubicBezTo>
                  <a:pt x="-10086" y="131180"/>
                  <a:pt x="47787" y="65590"/>
                  <a:pt x="105661" y="0"/>
                </a:cubicBezTo>
              </a:path>
            </a:pathLst>
          </a:custGeom>
          <a:noFill/>
          <a:ln w="19050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1700" name="Line 79"/>
          <p:cNvSpPr/>
          <p:nvPr/>
        </p:nvSpPr>
        <p:spPr>
          <a:xfrm flipV="1">
            <a:off x="8226425" y="1708150"/>
            <a:ext cx="0" cy="21590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1701" name="Line 79"/>
          <p:cNvSpPr/>
          <p:nvPr/>
        </p:nvSpPr>
        <p:spPr>
          <a:xfrm flipV="1">
            <a:off x="8010525" y="1708150"/>
            <a:ext cx="0" cy="21590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1702" name="Line 79"/>
          <p:cNvSpPr/>
          <p:nvPr/>
        </p:nvSpPr>
        <p:spPr>
          <a:xfrm flipV="1">
            <a:off x="7794625" y="1697038"/>
            <a:ext cx="0" cy="21590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1703" name="Rectangle 56"/>
          <p:cNvSpPr/>
          <p:nvPr/>
        </p:nvSpPr>
        <p:spPr>
          <a:xfrm>
            <a:off x="6757988" y="1325563"/>
            <a:ext cx="2051050" cy="415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None/>
            </a:pPr>
            <a:r>
              <a:rPr lang="zh-CN" altLang="en-US" sz="21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输入</a:t>
            </a:r>
            <a:r>
              <a:rPr lang="en-US" altLang="zh-CN" sz="21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: 3 * 5</a:t>
            </a:r>
            <a:endParaRPr lang="zh-CN" altLang="en-US" sz="2100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1704" name="Line 79"/>
          <p:cNvSpPr/>
          <p:nvPr/>
        </p:nvSpPr>
        <p:spPr>
          <a:xfrm flipV="1">
            <a:off x="7577138" y="1698625"/>
            <a:ext cx="0" cy="21590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71705" name="组合 12"/>
          <p:cNvGrpSpPr/>
          <p:nvPr/>
        </p:nvGrpSpPr>
        <p:grpSpPr>
          <a:xfrm>
            <a:off x="715963" y="682625"/>
            <a:ext cx="6092825" cy="2249488"/>
            <a:chOff x="751285" y="802569"/>
            <a:chExt cx="6091894" cy="2249363"/>
          </a:xfrm>
        </p:grpSpPr>
        <p:sp>
          <p:nvSpPr>
            <p:cNvPr id="44" name="矩形 7"/>
            <p:cNvSpPr>
              <a:spLocks noChangeArrowheads="1"/>
            </p:cNvSpPr>
            <p:nvPr/>
          </p:nvSpPr>
          <p:spPr bwMode="auto">
            <a:xfrm>
              <a:off x="751285" y="835905"/>
              <a:ext cx="6091894" cy="221602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algn="ctr">
              <a:solidFill>
                <a:schemeClr val="tx1"/>
              </a:solidFill>
              <a:rou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707" name="Rectangle 3"/>
            <p:cNvSpPr txBox="1"/>
            <p:nvPr/>
          </p:nvSpPr>
          <p:spPr>
            <a:xfrm>
              <a:off x="3670772" y="802569"/>
              <a:ext cx="3166239" cy="166092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zh-CN" altLang="en-US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 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.inh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2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T.val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.syn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20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 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×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zh-CN" altLang="en-US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20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zh-CN" altLang="en-US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zh-CN" altLang="en-US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F.val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= digit.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lexval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endPara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71708" name="Rectangle 3"/>
            <p:cNvSpPr txBox="1"/>
            <p:nvPr/>
          </p:nvSpPr>
          <p:spPr>
            <a:xfrm>
              <a:off x="807654" y="963245"/>
              <a:ext cx="3511452" cy="19486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SDT</a:t>
              </a: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 a</a:t>
              </a:r>
              <a:r>
                <a:rPr lang="zh-CN" altLang="en-US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}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{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</a:t>
              </a:r>
              <a:endPara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endParaRP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→ *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 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3)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l-GR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ε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4)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→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digit 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}</a:t>
              </a:r>
              <a:endPara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4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4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9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32" grpId="0" animBg="1"/>
      <p:bldP spid="29" grpId="0" animBg="1"/>
      <p:bldP spid="29" grpId="1" animBg="1"/>
      <p:bldP spid="31" grpId="0" animBg="1"/>
      <p:bldP spid="31" grpId="1" animBg="1"/>
      <p:bldP spid="35" grpId="0" animBg="1"/>
      <p:bldP spid="35" grpId="1" animBg="1"/>
      <p:bldP spid="38" grpId="0" animBg="1"/>
      <p:bldP spid="38" grpId="1" animBg="1"/>
      <p:bldP spid="40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endParaRPr kumimoji="0" lang="zh-CN" altLang="en-US" sz="397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8243888" y="4005263"/>
            <a:ext cx="593725" cy="431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Tsyn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8837613" y="4005263"/>
            <a:ext cx="217488" cy="431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11" name="Rectangle 19"/>
          <p:cNvSpPr>
            <a:spLocks noChangeArrowheads="1"/>
          </p:cNvSpPr>
          <p:nvPr/>
        </p:nvSpPr>
        <p:spPr bwMode="auto">
          <a:xfrm>
            <a:off x="8243888" y="4437063"/>
            <a:ext cx="593725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val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7434263" y="4010025"/>
            <a:ext cx="809625" cy="434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{a</a:t>
            </a: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2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5" name="Rectangle 13"/>
          <p:cNvSpPr>
            <a:spLocks noChangeArrowheads="1"/>
          </p:cNvSpPr>
          <p:nvPr/>
        </p:nvSpPr>
        <p:spPr bwMode="auto">
          <a:xfrm>
            <a:off x="6840538" y="4006850"/>
            <a:ext cx="593725" cy="4381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 </a:t>
            </a: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 </a:t>
            </a:r>
            <a:r>
              <a:rPr kumimoji="0" lang="en-US" altLang="zh-CN" sz="1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Rectangle 21"/>
          <p:cNvSpPr>
            <a:spLocks noChangeArrowheads="1"/>
          </p:cNvSpPr>
          <p:nvPr/>
        </p:nvSpPr>
        <p:spPr bwMode="auto">
          <a:xfrm>
            <a:off x="6840538" y="4451350"/>
            <a:ext cx="593725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endParaRPr kumimoji="0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" name="Rectangle 96"/>
          <p:cNvSpPr>
            <a:spLocks noChangeArrowheads="1"/>
          </p:cNvSpPr>
          <p:nvPr/>
        </p:nvSpPr>
        <p:spPr bwMode="auto">
          <a:xfrm>
            <a:off x="5726113" y="4006850"/>
            <a:ext cx="1114425" cy="444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{a</a:t>
            </a: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}</a:t>
            </a:r>
          </a:p>
        </p:txBody>
      </p:sp>
      <p:sp>
        <p:nvSpPr>
          <p:cNvPr id="28" name="Rectangle 28"/>
          <p:cNvSpPr/>
          <p:nvPr/>
        </p:nvSpPr>
        <p:spPr>
          <a:xfrm>
            <a:off x="4143375" y="3214688"/>
            <a:ext cx="2786063" cy="428625"/>
          </a:xfrm>
          <a:prstGeom prst="rect">
            <a:avLst/>
          </a:prstGeom>
          <a:solidFill>
            <a:srgbClr val="FFCC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>
              <a:buNone/>
            </a:pPr>
            <a:r>
              <a:rPr lang="en-US" altLang="zh-CN" sz="15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stack</a:t>
            </a:r>
            <a:r>
              <a:rPr lang="en-US" altLang="zh-CN" sz="1500" dirty="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5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top</a:t>
            </a:r>
            <a:r>
              <a:rPr lang="en-US" altLang="zh-CN" sz="1500" dirty="0">
                <a:solidFill>
                  <a:srgbClr val="000000"/>
                </a:solidFill>
                <a:latin typeface="Times New Roman" panose="02020603050405020304" pitchFamily="18" charset="0"/>
              </a:rPr>
              <a:t>-1].</a:t>
            </a:r>
            <a:r>
              <a:rPr lang="en-US" altLang="zh-CN" sz="15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syn</a:t>
            </a:r>
            <a:r>
              <a:rPr lang="en-US" altLang="zh-CN" sz="1500" dirty="0">
                <a:solidFill>
                  <a:srgbClr val="000000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15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stack</a:t>
            </a:r>
            <a:r>
              <a:rPr lang="en-US" altLang="zh-CN" sz="1500" dirty="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5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top</a:t>
            </a:r>
            <a:r>
              <a:rPr lang="en-US" altLang="zh-CN" sz="1500" dirty="0">
                <a:solidFill>
                  <a:srgbClr val="000000"/>
                </a:solidFill>
                <a:latin typeface="Times New Roman" panose="02020603050405020304" pitchFamily="18" charset="0"/>
              </a:rPr>
              <a:t>].</a:t>
            </a:r>
            <a:r>
              <a:rPr lang="en-US" altLang="zh-CN" sz="15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500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600" i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5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syn</a:t>
            </a:r>
          </a:p>
        </p:txBody>
      </p:sp>
      <p:sp>
        <p:nvSpPr>
          <p:cNvPr id="30" name="Line 29"/>
          <p:cNvSpPr/>
          <p:nvPr/>
        </p:nvSpPr>
        <p:spPr>
          <a:xfrm flipH="1" flipV="1">
            <a:off x="5381625" y="3770313"/>
            <a:ext cx="534988" cy="207962"/>
          </a:xfrm>
          <a:prstGeom prst="line">
            <a:avLst/>
          </a:prstGeom>
          <a:ln w="9525" cap="flat" cmpd="sng">
            <a:solidFill>
              <a:schemeClr val="hlink"/>
            </a:solidFill>
            <a:prstDash val="lgDash"/>
            <a:headEnd type="none" w="med" len="med"/>
            <a:tailEnd type="triangle" w="med" len="med"/>
          </a:ln>
        </p:spPr>
      </p:sp>
      <p:sp>
        <p:nvSpPr>
          <p:cNvPr id="34" name="Rectangle 53"/>
          <p:cNvSpPr>
            <a:spLocks noChangeArrowheads="1"/>
          </p:cNvSpPr>
          <p:nvPr/>
        </p:nvSpPr>
        <p:spPr bwMode="auto">
          <a:xfrm>
            <a:off x="6823075" y="4452938"/>
            <a:ext cx="654050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syn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=15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" name="Freeform 54"/>
          <p:cNvSpPr/>
          <p:nvPr/>
        </p:nvSpPr>
        <p:spPr>
          <a:xfrm>
            <a:off x="7189788" y="4767263"/>
            <a:ext cx="649287" cy="107950"/>
          </a:xfrm>
          <a:custGeom>
            <a:avLst/>
            <a:gdLst>
              <a:gd name="txL" fmla="*/ 0 w 545"/>
              <a:gd name="txT" fmla="*/ 0 h 227"/>
              <a:gd name="txR" fmla="*/ 545 w 545"/>
              <a:gd name="txB" fmla="*/ 227 h 227"/>
            </a:gdLst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2147483646" y="0"/>
              </a:cxn>
            </a:cxnLst>
            <a:rect l="txL" t="txT" r="txR" b="txB"/>
            <a:pathLst>
              <a:path w="545" h="227">
                <a:moveTo>
                  <a:pt x="0" y="0"/>
                </a:moveTo>
                <a:cubicBezTo>
                  <a:pt x="91" y="113"/>
                  <a:pt x="182" y="227"/>
                  <a:pt x="273" y="227"/>
                </a:cubicBezTo>
                <a:cubicBezTo>
                  <a:pt x="364" y="227"/>
                  <a:pt x="454" y="113"/>
                  <a:pt x="545" y="0"/>
                </a:cubicBezTo>
              </a:path>
            </a:pathLst>
          </a:custGeom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stealth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Rectangle 59"/>
          <p:cNvSpPr>
            <a:spLocks noChangeArrowheads="1"/>
          </p:cNvSpPr>
          <p:nvPr/>
        </p:nvSpPr>
        <p:spPr bwMode="auto">
          <a:xfrm>
            <a:off x="7434263" y="4441825"/>
            <a:ext cx="809625" cy="2778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 </a:t>
            </a:r>
            <a:r>
              <a:rPr kumimoji="0" lang="en-US" altLang="zh-CN" sz="12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syn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=15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3743" name="Line 79"/>
          <p:cNvSpPr/>
          <p:nvPr/>
        </p:nvSpPr>
        <p:spPr>
          <a:xfrm flipV="1">
            <a:off x="8226425" y="1708150"/>
            <a:ext cx="0" cy="21590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3744" name="Line 79"/>
          <p:cNvSpPr/>
          <p:nvPr/>
        </p:nvSpPr>
        <p:spPr>
          <a:xfrm flipV="1">
            <a:off x="8010525" y="1708150"/>
            <a:ext cx="0" cy="21590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3745" name="Line 79"/>
          <p:cNvSpPr/>
          <p:nvPr/>
        </p:nvSpPr>
        <p:spPr>
          <a:xfrm flipV="1">
            <a:off x="7794625" y="1697038"/>
            <a:ext cx="0" cy="21590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3746" name="Rectangle 56"/>
          <p:cNvSpPr/>
          <p:nvPr/>
        </p:nvSpPr>
        <p:spPr>
          <a:xfrm>
            <a:off x="6757988" y="1325563"/>
            <a:ext cx="2051050" cy="415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None/>
            </a:pPr>
            <a:r>
              <a:rPr lang="zh-CN" altLang="en-US" sz="21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输入</a:t>
            </a:r>
            <a:r>
              <a:rPr lang="en-US" altLang="zh-CN" sz="21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: 3 * 5</a:t>
            </a:r>
            <a:endParaRPr lang="zh-CN" altLang="en-US" sz="2100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3747" name="Line 79"/>
          <p:cNvSpPr/>
          <p:nvPr/>
        </p:nvSpPr>
        <p:spPr>
          <a:xfrm flipV="1">
            <a:off x="7577138" y="1698625"/>
            <a:ext cx="0" cy="21590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73748" name="组合 12"/>
          <p:cNvGrpSpPr/>
          <p:nvPr/>
        </p:nvGrpSpPr>
        <p:grpSpPr>
          <a:xfrm>
            <a:off x="715963" y="682625"/>
            <a:ext cx="6092825" cy="2249488"/>
            <a:chOff x="751285" y="802569"/>
            <a:chExt cx="6091894" cy="2249363"/>
          </a:xfrm>
        </p:grpSpPr>
        <p:sp>
          <p:nvSpPr>
            <p:cNvPr id="35" name="矩形 7"/>
            <p:cNvSpPr>
              <a:spLocks noChangeArrowheads="1"/>
            </p:cNvSpPr>
            <p:nvPr/>
          </p:nvSpPr>
          <p:spPr bwMode="auto">
            <a:xfrm>
              <a:off x="751285" y="835905"/>
              <a:ext cx="6091894" cy="221602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algn="ctr">
              <a:solidFill>
                <a:schemeClr val="tx1"/>
              </a:solidFill>
              <a:rou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3751" name="Rectangle 3"/>
            <p:cNvSpPr txBox="1"/>
            <p:nvPr/>
          </p:nvSpPr>
          <p:spPr>
            <a:xfrm>
              <a:off x="3670772" y="802569"/>
              <a:ext cx="3166239" cy="166092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zh-CN" altLang="en-US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 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.inh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2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T.val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.syn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20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 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×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zh-CN" altLang="en-US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20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zh-CN" altLang="en-US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zh-CN" altLang="en-US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F.val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= digit.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lexval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endPara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73752" name="Rectangle 3"/>
            <p:cNvSpPr txBox="1"/>
            <p:nvPr/>
          </p:nvSpPr>
          <p:spPr>
            <a:xfrm>
              <a:off x="807654" y="963245"/>
              <a:ext cx="3511452" cy="19486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SDT</a:t>
              </a: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 a</a:t>
              </a:r>
              <a:r>
                <a:rPr lang="zh-CN" altLang="en-US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}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{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</a:t>
              </a:r>
              <a:endPara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endParaRP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→ *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 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3)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l-GR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ε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4)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→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digit 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}</a:t>
              </a:r>
              <a:endPara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40" name="Rectangle 100"/>
          <p:cNvSpPr>
            <a:spLocks noChangeArrowheads="1"/>
          </p:cNvSpPr>
          <p:nvPr/>
        </p:nvSpPr>
        <p:spPr bwMode="auto">
          <a:xfrm>
            <a:off x="5705475" y="4449763"/>
            <a:ext cx="1135063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2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syn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=15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4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  <p:bldP spid="23" grpId="0" animBg="1"/>
      <p:bldP spid="28" grpId="0" animBg="1"/>
      <p:bldP spid="28" grpId="1" animBg="1"/>
      <p:bldP spid="34" grpId="0" animBg="1"/>
      <p:bldP spid="34" grpId="1" animBg="1"/>
      <p:bldP spid="43" grpId="0" animBg="1"/>
      <p:bldP spid="40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endParaRPr kumimoji="0" lang="zh-CN" altLang="en-US" sz="397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8837613" y="4006850"/>
            <a:ext cx="217488" cy="431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$</a:t>
            </a:r>
          </a:p>
        </p:txBody>
      </p:sp>
      <p:sp>
        <p:nvSpPr>
          <p:cNvPr id="11" name="Rectangle 19"/>
          <p:cNvSpPr>
            <a:spLocks noChangeArrowheads="1"/>
          </p:cNvSpPr>
          <p:nvPr/>
        </p:nvSpPr>
        <p:spPr bwMode="auto">
          <a:xfrm>
            <a:off x="8243888" y="4427538"/>
            <a:ext cx="593725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val</a:t>
            </a: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7434263" y="4011613"/>
            <a:ext cx="809625" cy="434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{a</a:t>
            </a: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2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25" name="Rectangle 60"/>
          <p:cNvSpPr/>
          <p:nvPr/>
        </p:nvSpPr>
        <p:spPr>
          <a:xfrm>
            <a:off x="5027613" y="3268663"/>
            <a:ext cx="2687637" cy="374650"/>
          </a:xfrm>
          <a:prstGeom prst="rect">
            <a:avLst/>
          </a:prstGeom>
          <a:solidFill>
            <a:srgbClr val="FFCC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>
              <a:buNone/>
            </a:pPr>
            <a:r>
              <a:rPr lang="en-US" altLang="zh-CN" sz="15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stack</a:t>
            </a:r>
            <a:r>
              <a:rPr lang="en-US" altLang="zh-CN" sz="1500" dirty="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5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top</a:t>
            </a:r>
            <a:r>
              <a:rPr lang="en-US" altLang="zh-CN" sz="1500" dirty="0">
                <a:solidFill>
                  <a:srgbClr val="000000"/>
                </a:solidFill>
                <a:latin typeface="Times New Roman" panose="02020603050405020304" pitchFamily="18" charset="0"/>
              </a:rPr>
              <a:t>-1].</a:t>
            </a:r>
            <a:r>
              <a:rPr lang="en-US" altLang="zh-CN" sz="15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val</a:t>
            </a:r>
            <a:r>
              <a:rPr lang="en-US" altLang="zh-CN" sz="1500" dirty="0">
                <a:solidFill>
                  <a:srgbClr val="000000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15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stack</a:t>
            </a:r>
            <a:r>
              <a:rPr lang="en-US" altLang="zh-CN" sz="1500" dirty="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15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top</a:t>
            </a:r>
            <a:r>
              <a:rPr lang="en-US" altLang="zh-CN" sz="1500" dirty="0">
                <a:solidFill>
                  <a:srgbClr val="000000"/>
                </a:solidFill>
                <a:latin typeface="Times New Roman" panose="02020603050405020304" pitchFamily="18" charset="0"/>
              </a:rPr>
              <a:t>].</a:t>
            </a:r>
            <a:r>
              <a:rPr lang="en-US" altLang="zh-CN" sz="15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1400" i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5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syn</a:t>
            </a:r>
          </a:p>
        </p:txBody>
      </p:sp>
      <p:sp>
        <p:nvSpPr>
          <p:cNvPr id="26" name="Line 61"/>
          <p:cNvSpPr/>
          <p:nvPr/>
        </p:nvSpPr>
        <p:spPr>
          <a:xfrm flipH="1" flipV="1">
            <a:off x="6354763" y="3660775"/>
            <a:ext cx="1306512" cy="346075"/>
          </a:xfrm>
          <a:prstGeom prst="line">
            <a:avLst/>
          </a:prstGeom>
          <a:ln w="19050" cap="flat" cmpd="sng">
            <a:solidFill>
              <a:schemeClr val="hlink"/>
            </a:solidFill>
            <a:prstDash val="lgDash"/>
            <a:headEnd type="none" w="med" len="med"/>
            <a:tailEnd type="triangle" w="med" len="med"/>
          </a:ln>
        </p:spPr>
      </p:sp>
      <p:sp>
        <p:nvSpPr>
          <p:cNvPr id="27" name="Rectangle 19"/>
          <p:cNvSpPr>
            <a:spLocks noChangeArrowheads="1"/>
          </p:cNvSpPr>
          <p:nvPr/>
        </p:nvSpPr>
        <p:spPr bwMode="auto">
          <a:xfrm>
            <a:off x="8226425" y="4440238"/>
            <a:ext cx="622300" cy="2778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val</a:t>
            </a: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=15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5785" name="Line 79"/>
          <p:cNvSpPr/>
          <p:nvPr/>
        </p:nvSpPr>
        <p:spPr>
          <a:xfrm flipV="1">
            <a:off x="8226425" y="1708150"/>
            <a:ext cx="0" cy="21590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5786" name="Line 79"/>
          <p:cNvSpPr/>
          <p:nvPr/>
        </p:nvSpPr>
        <p:spPr>
          <a:xfrm flipV="1">
            <a:off x="8010525" y="1708150"/>
            <a:ext cx="0" cy="21590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5787" name="Line 79"/>
          <p:cNvSpPr/>
          <p:nvPr/>
        </p:nvSpPr>
        <p:spPr>
          <a:xfrm flipV="1">
            <a:off x="7794625" y="1697038"/>
            <a:ext cx="0" cy="21590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5788" name="Rectangle 56"/>
          <p:cNvSpPr/>
          <p:nvPr/>
        </p:nvSpPr>
        <p:spPr>
          <a:xfrm>
            <a:off x="6757988" y="1325563"/>
            <a:ext cx="2051050" cy="415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None/>
            </a:pPr>
            <a:r>
              <a:rPr lang="zh-CN" altLang="en-US" sz="21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输入</a:t>
            </a:r>
            <a:r>
              <a:rPr lang="en-US" altLang="zh-CN" sz="21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: 3 * 5</a:t>
            </a:r>
            <a:endParaRPr lang="zh-CN" altLang="en-US" sz="2100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5789" name="Line 79"/>
          <p:cNvSpPr/>
          <p:nvPr/>
        </p:nvSpPr>
        <p:spPr>
          <a:xfrm flipV="1">
            <a:off x="7577138" y="1698625"/>
            <a:ext cx="0" cy="21590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75790" name="组合 12"/>
          <p:cNvGrpSpPr/>
          <p:nvPr/>
        </p:nvGrpSpPr>
        <p:grpSpPr>
          <a:xfrm>
            <a:off x="715963" y="682625"/>
            <a:ext cx="6092825" cy="2249488"/>
            <a:chOff x="751285" y="802569"/>
            <a:chExt cx="6091894" cy="2249363"/>
          </a:xfrm>
        </p:grpSpPr>
        <p:sp>
          <p:nvSpPr>
            <p:cNvPr id="30" name="矩形 7"/>
            <p:cNvSpPr>
              <a:spLocks noChangeArrowheads="1"/>
            </p:cNvSpPr>
            <p:nvPr/>
          </p:nvSpPr>
          <p:spPr bwMode="auto">
            <a:xfrm>
              <a:off x="751285" y="835905"/>
              <a:ext cx="6091894" cy="221602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algn="ctr">
              <a:solidFill>
                <a:schemeClr val="tx1"/>
              </a:solidFill>
              <a:rou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5794" name="Rectangle 3"/>
            <p:cNvSpPr txBox="1"/>
            <p:nvPr/>
          </p:nvSpPr>
          <p:spPr>
            <a:xfrm>
              <a:off x="3670772" y="802569"/>
              <a:ext cx="3166239" cy="166092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zh-CN" altLang="en-US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 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.inh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2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T.val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.syn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20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 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×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zh-CN" altLang="en-US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20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zh-CN" altLang="en-US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zh-CN" altLang="en-US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F.val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= digit.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lexval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endPara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75795" name="Rectangle 3"/>
            <p:cNvSpPr txBox="1"/>
            <p:nvPr/>
          </p:nvSpPr>
          <p:spPr>
            <a:xfrm>
              <a:off x="807654" y="963245"/>
              <a:ext cx="3511452" cy="19486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SDT</a:t>
              </a: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 a</a:t>
              </a:r>
              <a:r>
                <a:rPr lang="zh-CN" altLang="en-US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}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{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</a:t>
              </a:r>
              <a:endPara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endParaRP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→ *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20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 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3) </a:t>
              </a:r>
              <a:r>
                <a:rPr lang="zh-CN" alt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l-GR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ε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4)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</a:t>
              </a: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→ 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digit 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20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}</a:t>
              </a:r>
              <a:endPara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8243888" y="4006850"/>
            <a:ext cx="593725" cy="431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32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9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6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Tsyn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3" name="Rectangle 59"/>
          <p:cNvSpPr>
            <a:spLocks noChangeArrowheads="1"/>
          </p:cNvSpPr>
          <p:nvPr/>
        </p:nvSpPr>
        <p:spPr bwMode="auto">
          <a:xfrm>
            <a:off x="7434263" y="4445000"/>
            <a:ext cx="809625" cy="2762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 </a:t>
            </a:r>
            <a:r>
              <a:rPr kumimoji="0" lang="en-US" altLang="zh-CN" sz="12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syn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=15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5" grpId="0" animBg="1"/>
      <p:bldP spid="25" grpId="1" animBg="1"/>
      <p:bldP spid="27" grpId="0" animBg="1"/>
      <p:bldP spid="43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35"/>
          <p:cNvSpPr>
            <a:spLocks noGrp="1" noChangeArrowheads="1"/>
          </p:cNvSpPr>
          <p:nvPr>
            <p:ph idx="1"/>
          </p:nvPr>
        </p:nvSpPr>
        <p:spPr>
          <a:xfrm>
            <a:off x="927100" y="1762125"/>
            <a:ext cx="5700713" cy="560388"/>
          </a:xfrm>
        </p:spPr>
        <p:txBody>
          <a:bodyPr vert="horz" wrap="square" lIns="68580" tIns="34290" rIns="68580" bIns="34290" numCol="1" anchor="t" anchorCtr="0" compatLnSpc="1"/>
          <a:lstStyle/>
          <a:p>
            <a:pPr marL="272415" marR="0" lvl="0" indent="-27241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1)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 →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F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a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1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: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.inh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}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a</a:t>
            </a:r>
            <a:r>
              <a:rPr kumimoji="0" lang="en-US" altLang="zh-CN" sz="1800" b="1" i="0" u="none" strike="noStrike" kern="1200" cap="none" spc="0" normalizeH="0" baseline="-2500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2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: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T.val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.syn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}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graphicFrame>
        <p:nvGraphicFramePr>
          <p:cNvPr id="196675" name="Group 67"/>
          <p:cNvGraphicFramePr>
            <a:graphicFrameLocks noGrp="1"/>
          </p:cNvGraphicFramePr>
          <p:nvPr/>
        </p:nvGraphicFramePr>
        <p:xfrm>
          <a:off x="928688" y="2120900"/>
          <a:ext cx="7500937" cy="2949575"/>
        </p:xfrm>
        <a:graphic>
          <a:graphicData uri="http://schemas.openxmlformats.org/drawingml/2006/table">
            <a:tbl>
              <a:tblPr/>
              <a:tblGrid>
                <a:gridCol w="903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35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633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符号</a:t>
                      </a:r>
                    </a:p>
                  </a:txBody>
                  <a:tcPr marL="68580" marR="68580" marT="34302" marB="34302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属性</a:t>
                      </a:r>
                    </a:p>
                  </a:txBody>
                  <a:tcPr marL="68580" marR="68580" marT="34302" marB="34302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执行代码</a:t>
                      </a:r>
                    </a:p>
                  </a:txBody>
                  <a:tcPr marL="68580" marR="68580" marT="34302" marB="34302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F</a:t>
                      </a:r>
                      <a:endParaRPr kumimoji="0" lang="zh-CN" altLang="en-US" sz="1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302" marB="34302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302" marB="3430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302" marB="34302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Fsyn</a:t>
                      </a:r>
                      <a:endParaRPr kumimoji="0" lang="zh-CN" altLang="en-US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302" marB="34302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val</a:t>
                      </a:r>
                      <a:endParaRPr kumimoji="0" lang="zh-CN" altLang="en-US" sz="1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302" marB="3430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stack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top-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1]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Fval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= stack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top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val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；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top=top-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1;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302" marB="34302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zh-CN" altLang="en-US" sz="18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302" marB="34302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Fval</a:t>
                      </a:r>
                      <a:endParaRPr kumimoji="0" lang="zh-CN" altLang="en-US" sz="1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302" marB="3430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stack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top-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1]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inh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= stack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top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Fval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；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top=top-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1;</a:t>
                      </a:r>
                      <a:endParaRPr kumimoji="0" lang="zh-CN" altLang="en-US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302" marB="34302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1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altLang="zh-CN" sz="1800" b="1" i="1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′</a:t>
                      </a:r>
                      <a:endParaRPr kumimoji="0" lang="zh-CN" altLang="en-US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302" marB="34302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inh</a:t>
                      </a:r>
                      <a:endParaRPr kumimoji="0" lang="zh-CN" altLang="en-US" sz="1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302" marB="3430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根据当前输入符号选择产生式进行推导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若选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 2):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 stack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top+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3]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altLang="zh-CN" sz="1800" b="1" i="1" dirty="0" err="1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′</a:t>
                      </a: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inh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stack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top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].</a:t>
                      </a: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inh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;  top=top+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6;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若选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 3): 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stack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top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altLang="zh-CN" sz="1800" b="1" i="1" dirty="0" err="1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′</a:t>
                      </a: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inh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stack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top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inh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;  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  </a:t>
                      </a:r>
                    </a:p>
                  </a:txBody>
                  <a:tcPr marL="68580" marR="68580" marT="34302" marB="34302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altLang="zh-CN" sz="1800" b="1" i="1" dirty="0" err="1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′</a:t>
                      </a: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syn</a:t>
                      </a:r>
                      <a:endParaRPr kumimoji="0" lang="zh-CN" altLang="en-US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302" marB="34302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syn</a:t>
                      </a:r>
                      <a:endParaRPr kumimoji="0" lang="zh-CN" altLang="en-US" sz="1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302" marB="3430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stack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top-1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altLang="zh-CN" sz="1800" b="1" i="1" dirty="0" err="1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′</a:t>
                      </a: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syn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 = 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stack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top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syn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；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top=top-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1;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68580" marR="68580" marT="34302" marB="34302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zh-CN" altLang="en-US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302" marB="34302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altLang="zh-CN" sz="1800" b="1" i="1" dirty="0" err="1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′</a:t>
                      </a: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syn</a:t>
                      </a:r>
                      <a:endParaRPr kumimoji="0" lang="zh-CN" altLang="en-US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302" marB="34302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stack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top-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1].</a:t>
                      </a: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val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= stack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top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altLang="zh-CN" sz="1800" b="1" i="1" dirty="0" err="1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′</a:t>
                      </a:r>
                      <a:r>
                        <a:rPr kumimoji="0" lang="en-US" altLang="zh-CN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syn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；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top=top-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1;</a:t>
                      </a:r>
                      <a:endParaRPr kumimoji="0" lang="zh-CN" altLang="en-US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68580" marR="68580" marT="34302" marB="34302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79907" name="组合 5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79916" name="五边形 8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9525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b="0" dirty="0">
                <a:solidFill>
                  <a:srgbClr val="FFFFFF"/>
                </a:solidFill>
                <a:latin typeface="Calibri" panose="020F0502020204030204" pitchFamily="34" charset="0"/>
                <a:ea typeface="楷体_GB2312" pitchFamily="49" charset="-122"/>
              </a:endParaRPr>
            </a:p>
          </p:txBody>
        </p:sp>
      </p:grpSp>
      <p:cxnSp>
        <p:nvCxnSpPr>
          <p:cNvPr id="13" name="直接连接符 12"/>
          <p:cNvCxnSpPr/>
          <p:nvPr/>
        </p:nvCxnSpPr>
        <p:spPr>
          <a:xfrm rot="5400000">
            <a:off x="6965950" y="3605213"/>
            <a:ext cx="2928938" cy="1588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rot="5400000">
            <a:off x="-534987" y="3605213"/>
            <a:ext cx="2928938" cy="1588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910" name="组合 3"/>
          <p:cNvGrpSpPr/>
          <p:nvPr/>
        </p:nvGrpSpPr>
        <p:grpSpPr>
          <a:xfrm>
            <a:off x="2124075" y="-6350"/>
            <a:ext cx="5162550" cy="1755775"/>
            <a:chOff x="4211960" y="-46273"/>
            <a:chExt cx="5163301" cy="1753927"/>
          </a:xfrm>
        </p:grpSpPr>
        <p:sp>
          <p:nvSpPr>
            <p:cNvPr id="12" name="矩形 7"/>
            <p:cNvSpPr>
              <a:spLocks noChangeArrowheads="1"/>
            </p:cNvSpPr>
            <p:nvPr/>
          </p:nvSpPr>
          <p:spPr bwMode="auto">
            <a:xfrm>
              <a:off x="4211960" y="26675"/>
              <a:ext cx="4896562" cy="1680979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algn="ctr">
              <a:solidFill>
                <a:schemeClr val="tx1"/>
              </a:solidFill>
              <a:rou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9913" name="Rectangle 3"/>
            <p:cNvSpPr txBox="1"/>
            <p:nvPr/>
          </p:nvSpPr>
          <p:spPr>
            <a:xfrm>
              <a:off x="4357199" y="132073"/>
              <a:ext cx="3041401" cy="1519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 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 a</a:t>
              </a:r>
              <a:r>
                <a:rPr lang="zh-CN" altLang="en-US" sz="16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} 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 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{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</a:t>
              </a:r>
              <a:endParaRPr lang="zh-CN" altLang="en-US" sz="1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endParaRP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 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→ *</a:t>
              </a:r>
              <a:r>
                <a:rPr lang="zh-CN" altLang="en-US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16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 </a:t>
              </a:r>
              <a:r>
                <a:rPr lang="zh-CN" altLang="en-US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16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 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3) </a:t>
              </a:r>
              <a:r>
                <a:rPr lang="zh-CN" altLang="en-US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l-GR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ε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16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4) 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→ 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digit 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16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}</a:t>
              </a:r>
              <a:endParaRPr lang="zh-CN" altLang="en-US" sz="16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79914" name="Rectangle 3"/>
            <p:cNvSpPr txBox="1"/>
            <p:nvPr/>
          </p:nvSpPr>
          <p:spPr>
            <a:xfrm>
              <a:off x="6572902" y="-46273"/>
              <a:ext cx="2802359" cy="171876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marL="342900" indent="-342900"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zh-CN" altLang="en-US" sz="16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 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T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.inh 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</a:p>
            <a:p>
              <a:pPr marL="342900" indent="-342900"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2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T.val 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.syn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16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 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</a:t>
              </a:r>
              <a:r>
                <a:rPr lang="zh-CN" altLang="en-US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×</a:t>
              </a:r>
              <a:r>
                <a:rPr lang="zh-CN" altLang="en-US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zh-CN" altLang="en-US" sz="16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16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zh-CN" altLang="en-US" sz="16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zh-CN" altLang="en-US" sz="16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F.val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= digit.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lexval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endPara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15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1173163" cy="358775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endParaRPr kumimoji="0" lang="zh-CN" altLang="en-US" sz="397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66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66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6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79" name="Rectangle 47"/>
          <p:cNvSpPr>
            <a:spLocks noGrp="1" noChangeArrowheads="1"/>
          </p:cNvSpPr>
          <p:nvPr>
            <p:ph idx="1"/>
          </p:nvPr>
        </p:nvSpPr>
        <p:spPr>
          <a:xfrm>
            <a:off x="944563" y="1820863"/>
            <a:ext cx="7058025" cy="3225800"/>
          </a:xfrm>
        </p:spPr>
        <p:txBody>
          <a:bodyPr vert="horz" wrap="square" lIns="68580" tIns="34290" rIns="68580" bIns="34290" numCol="1" anchor="t" anchorCtr="0" compatLnSpc="1"/>
          <a:lstStyle/>
          <a:p>
            <a:pPr marL="272415" marR="0" lvl="0" indent="-272415" algn="l" defTabSz="914400" rtl="0" eaLnBrk="0" fontAlgn="base" latinLnBrk="0" hangingPunct="0">
              <a:lnSpc>
                <a:spcPts val="18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2)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*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F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a</a:t>
            </a:r>
            <a:r>
              <a:rPr kumimoji="0" lang="en-US" altLang="zh-CN" sz="1400" b="1" i="0" u="none" strike="noStrike" kern="1200" cap="none" spc="0" normalizeH="0" baseline="-2500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3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: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14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.inh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.inh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×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}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T</a:t>
            </a:r>
            <a:r>
              <a:rPr kumimoji="0" lang="zh-CN" altLang="en-US" sz="14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a</a:t>
            </a:r>
            <a:r>
              <a:rPr kumimoji="0" lang="en-US" altLang="zh-CN" sz="1400" b="1" i="0" u="none" strike="noStrike" kern="1200" cap="none" spc="0" normalizeH="0" baseline="-2500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4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: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14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}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graphicFrame>
        <p:nvGraphicFramePr>
          <p:cNvPr id="197693" name="Group 61"/>
          <p:cNvGraphicFramePr>
            <a:graphicFrameLocks noGrp="1"/>
          </p:cNvGraphicFramePr>
          <p:nvPr/>
        </p:nvGraphicFramePr>
        <p:xfrm>
          <a:off x="928688" y="2154238"/>
          <a:ext cx="7358062" cy="2911477"/>
        </p:xfrm>
        <a:graphic>
          <a:graphicData uri="http://schemas.openxmlformats.org/drawingml/2006/table">
            <a:tbl>
              <a:tblPr/>
              <a:tblGrid>
                <a:gridCol w="892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863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12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9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31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3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5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7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9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91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3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符号</a:t>
                      </a:r>
                    </a:p>
                  </a:txBody>
                  <a:tcPr marL="68580" marR="68580" marT="34264" marB="34264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9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31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3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5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7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9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91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3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属性</a:t>
                      </a:r>
                    </a:p>
                  </a:txBody>
                  <a:tcPr marL="68580" marR="68580" marT="34264" marB="34264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9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31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3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5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7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9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91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3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执行代码</a:t>
                      </a:r>
                    </a:p>
                  </a:txBody>
                  <a:tcPr marL="68580" marR="68580" marT="34264" marB="34264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2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9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31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3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5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7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9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91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3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*</a:t>
                      </a:r>
                      <a:endParaRPr kumimoji="0" lang="zh-CN" altLang="en-US" sz="15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61" marB="34261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9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31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3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5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7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9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91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3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5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61" marB="34261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9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31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3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5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7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9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91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3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61" marB="34261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2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9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31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3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5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7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9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91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3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</a:t>
                      </a:r>
                      <a:endParaRPr kumimoji="0" lang="zh-CN" altLang="en-US" sz="15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61" marB="34261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9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31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3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5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7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9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91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3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5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61" marB="34261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9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31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3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5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7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9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91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3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61" marB="34261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2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9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31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3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5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7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9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91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3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Fsyn</a:t>
                      </a:r>
                      <a:endParaRPr kumimoji="0" lang="zh-CN" altLang="en-US" sz="15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61" marB="34261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9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31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3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5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7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9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91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3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val</a:t>
                      </a:r>
                      <a:endParaRPr kumimoji="0" lang="zh-CN" altLang="en-US" sz="15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61" marB="34261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9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31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3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5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7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9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91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3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stack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top-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1]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.Fval = stack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top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].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val</a:t>
                      </a:r>
                      <a:r>
                        <a:rPr kumimoji="0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；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top=top-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1;</a:t>
                      </a:r>
                      <a:endParaRPr kumimoji="0" lang="zh-CN" altLang="en-US" sz="15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61" marB="34261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2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9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31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3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5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7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9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91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3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zh-CN" altLang="en-US" sz="15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61" marB="34261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9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31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3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5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7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9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91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3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zh-CN" altLang="en-US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΄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inh; Fval</a:t>
                      </a:r>
                      <a:endParaRPr kumimoji="0" lang="zh-CN" altLang="en-US" sz="15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61" marB="34261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9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31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3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5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7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9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91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3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stack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top-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1].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inh = stack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top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].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′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inh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×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stack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top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Fval</a:t>
                      </a:r>
                      <a:r>
                        <a:rPr kumimoji="0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；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top=top-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1;</a:t>
                      </a:r>
                      <a:endParaRPr kumimoji="0" lang="en-US" altLang="zh-CN" sz="15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68580" marR="68580" marT="34261" marB="34261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480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9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31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3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5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7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9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91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3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′</a:t>
                      </a:r>
                      <a:endParaRPr kumimoji="0" lang="zh-CN" altLang="en-US" sz="15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61" marB="34261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9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31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3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5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7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9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91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3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inh</a:t>
                      </a:r>
                      <a:endParaRPr kumimoji="0" lang="zh-CN" altLang="en-US" sz="15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61" marB="34261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9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31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3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5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7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9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91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3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根据当前输入符号选择产生式进行推导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若选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2): 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stack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top+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3].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′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inh 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= 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stack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top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inh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; 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 top=top+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6;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若选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3):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 stack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top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.T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′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inh 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= 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stack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top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inh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;  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  </a:t>
                      </a:r>
                    </a:p>
                  </a:txBody>
                  <a:tcPr marL="68580" marR="68580" marT="34261" marB="34261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72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9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31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3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5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7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9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91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3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zh-CN" sz="15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′</a:t>
                      </a:r>
                      <a:r>
                        <a:rPr kumimoji="0" lang="en-US" altLang="zh-CN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syn</a:t>
                      </a:r>
                      <a:endParaRPr kumimoji="0" lang="zh-CN" altLang="en-US" sz="15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61" marB="34261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9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31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3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5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7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9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91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3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syn</a:t>
                      </a:r>
                      <a:endParaRPr kumimoji="0" lang="zh-CN" altLang="en-US" sz="15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61" marB="34261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9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31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3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5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7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9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91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3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stack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top-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1].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′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syn = 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stack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top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syn</a:t>
                      </a:r>
                      <a:r>
                        <a:rPr kumimoji="0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；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top=top-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1;</a:t>
                      </a:r>
                      <a:endParaRPr kumimoji="0" lang="zh-CN" altLang="en-US" sz="15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68580" marR="68580" marT="34261" marB="34261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272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9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31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3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5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7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9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91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3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zh-CN" altLang="en-US" sz="15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61" marB="34261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9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31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3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5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7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9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91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3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zh-CN" sz="15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′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syn</a:t>
                      </a:r>
                      <a:endParaRPr kumimoji="0" lang="zh-CN" altLang="en-US" sz="15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261" marB="34261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9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31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3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5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7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9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91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3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stack</a:t>
                      </a: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top-</a:t>
                      </a: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1].</a:t>
                      </a:r>
                      <a:r>
                        <a:rPr kumimoji="0" lang="en-US" altLang="zh-CN" sz="15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syn</a:t>
                      </a:r>
                      <a:r>
                        <a:rPr kumimoji="0" lang="en-US" altLang="zh-CN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= stack</a:t>
                      </a: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top</a:t>
                      </a: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kumimoji="0" lang="en-US" altLang="zh-CN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.T</a:t>
                      </a:r>
                      <a:r>
                        <a:rPr kumimoji="0" lang="en-US" altLang="zh-CN" sz="15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′</a:t>
                      </a:r>
                      <a:r>
                        <a:rPr kumimoji="0" lang="en-US" altLang="zh-CN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syn</a:t>
                      </a:r>
                      <a:r>
                        <a:rPr kumimoji="0" lang="zh-CN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；</a:t>
                      </a:r>
                      <a:r>
                        <a:rPr kumimoji="0" lang="en-US" altLang="zh-CN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top=top-</a:t>
                      </a: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1;</a:t>
                      </a:r>
                      <a:endParaRPr kumimoji="0" lang="zh-CN" altLang="en-US" sz="15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68580" marR="68580" marT="34261" marB="34261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81959" name="组合 5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81968" name="五边形 8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9525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b="0" dirty="0">
                <a:solidFill>
                  <a:srgbClr val="FFFFFF"/>
                </a:solidFill>
                <a:latin typeface="Calibri" panose="020F0502020204030204" pitchFamily="34" charset="0"/>
                <a:ea typeface="楷体_GB2312" pitchFamily="49" charset="-122"/>
              </a:endParaRPr>
            </a:p>
          </p:txBody>
        </p:sp>
      </p:grpSp>
      <p:cxnSp>
        <p:nvCxnSpPr>
          <p:cNvPr id="14" name="直接连接符 13"/>
          <p:cNvCxnSpPr/>
          <p:nvPr/>
        </p:nvCxnSpPr>
        <p:spPr>
          <a:xfrm rot="16200000" flipH="1">
            <a:off x="6837363" y="3609975"/>
            <a:ext cx="287972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rot="16200000" flipH="1">
            <a:off x="-511175" y="3619500"/>
            <a:ext cx="287972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endParaRPr kumimoji="0" lang="zh-CN" altLang="en-US" sz="397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grpSp>
        <p:nvGrpSpPr>
          <p:cNvPr id="81963" name="组合 3"/>
          <p:cNvGrpSpPr/>
          <p:nvPr/>
        </p:nvGrpSpPr>
        <p:grpSpPr>
          <a:xfrm>
            <a:off x="2124075" y="-6350"/>
            <a:ext cx="5162550" cy="1755775"/>
            <a:chOff x="4211960" y="-46273"/>
            <a:chExt cx="5163301" cy="1753927"/>
          </a:xfrm>
        </p:grpSpPr>
        <p:sp>
          <p:nvSpPr>
            <p:cNvPr id="16" name="矩形 7"/>
            <p:cNvSpPr>
              <a:spLocks noChangeArrowheads="1"/>
            </p:cNvSpPr>
            <p:nvPr/>
          </p:nvSpPr>
          <p:spPr bwMode="auto">
            <a:xfrm>
              <a:off x="4211960" y="26675"/>
              <a:ext cx="4896562" cy="1680979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algn="ctr">
              <a:solidFill>
                <a:schemeClr val="tx1"/>
              </a:solidFill>
              <a:rou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1965" name="Rectangle 3"/>
            <p:cNvSpPr txBox="1"/>
            <p:nvPr/>
          </p:nvSpPr>
          <p:spPr>
            <a:xfrm>
              <a:off x="4357199" y="132073"/>
              <a:ext cx="3041401" cy="1519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 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 a</a:t>
              </a:r>
              <a:r>
                <a:rPr lang="zh-CN" altLang="en-US" sz="16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} 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 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{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</a:t>
              </a:r>
              <a:endParaRPr lang="zh-CN" altLang="en-US" sz="1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endParaRP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 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→ *</a:t>
              </a:r>
              <a:r>
                <a:rPr lang="zh-CN" altLang="en-US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16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 </a:t>
              </a:r>
              <a:r>
                <a:rPr lang="zh-CN" altLang="en-US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16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 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3) </a:t>
              </a:r>
              <a:r>
                <a:rPr lang="zh-CN" altLang="en-US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l-GR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ε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16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4) 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→ 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digit 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16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}</a:t>
              </a:r>
              <a:endParaRPr lang="zh-CN" altLang="en-US" sz="16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81966" name="Rectangle 3"/>
            <p:cNvSpPr txBox="1"/>
            <p:nvPr/>
          </p:nvSpPr>
          <p:spPr>
            <a:xfrm>
              <a:off x="6572902" y="-46273"/>
              <a:ext cx="2802359" cy="171876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marL="342900" indent="-342900"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zh-CN" altLang="en-US" sz="16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 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T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.inh 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</a:p>
            <a:p>
              <a:pPr marL="342900" indent="-342900"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2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T.val 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.syn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16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 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</a:t>
              </a:r>
              <a:r>
                <a:rPr lang="zh-CN" altLang="en-US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×</a:t>
              </a:r>
              <a:r>
                <a:rPr lang="zh-CN" altLang="en-US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zh-CN" altLang="en-US" sz="16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16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zh-CN" altLang="en-US" sz="16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zh-CN" altLang="en-US" sz="16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F.val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= digit.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lexval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endPara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76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76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76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76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76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7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71" name="Rectangle 15"/>
          <p:cNvSpPr>
            <a:spLocks noGrp="1" noChangeArrowheads="1"/>
          </p:cNvSpPr>
          <p:nvPr>
            <p:ph idx="1"/>
          </p:nvPr>
        </p:nvSpPr>
        <p:spPr>
          <a:xfrm>
            <a:off x="1355725" y="1638300"/>
            <a:ext cx="5927725" cy="3225800"/>
          </a:xfrm>
        </p:spPr>
        <p:txBody>
          <a:bodyPr vert="horz" wrap="square" lIns="68580" tIns="34290" rIns="68580" bIns="34290" numCol="1" anchor="t" anchorCtr="0" compatLnSpc="1"/>
          <a:lstStyle/>
          <a:p>
            <a:pPr marL="272415" marR="0" lvl="0" indent="-27241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Times New Roman" panose="02020603050405020304" pitchFamily="18" charset="0"/>
            </a:endParaRPr>
          </a:p>
          <a:p>
            <a:pPr marL="272415" marR="0" lvl="0" indent="-27241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3)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l-GR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a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5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: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inh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}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graphicFrame>
        <p:nvGraphicFramePr>
          <p:cNvPr id="198680" name="Group 24"/>
          <p:cNvGraphicFramePr>
            <a:graphicFrameLocks noGrp="1"/>
          </p:cNvGraphicFramePr>
          <p:nvPr/>
        </p:nvGraphicFramePr>
        <p:xfrm>
          <a:off x="1357313" y="2500313"/>
          <a:ext cx="6572250" cy="1050986"/>
        </p:xfrm>
        <a:graphic>
          <a:graphicData uri="http://schemas.openxmlformats.org/drawingml/2006/table">
            <a:tbl>
              <a:tblPr/>
              <a:tblGrid>
                <a:gridCol w="134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9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5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305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9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31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3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5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7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9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91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3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符号</a:t>
                      </a:r>
                    </a:p>
                  </a:txBody>
                  <a:tcPr marL="68580" marR="68580" marT="34139" marB="34139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9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31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3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5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7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9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91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3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属性</a:t>
                      </a:r>
                    </a:p>
                  </a:txBody>
                  <a:tcPr marL="68580" marR="68580" marT="34139" marB="34139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9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31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3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5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7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9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91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3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执行代码</a:t>
                      </a:r>
                    </a:p>
                  </a:txBody>
                  <a:tcPr marL="68580" marR="68580" marT="34139" marB="34139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786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9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31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3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5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7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9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91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3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154" marB="34154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9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31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3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5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7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9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91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3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′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inh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154" marB="34154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9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31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3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5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7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9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91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3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stack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top-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1].</a:t>
                      </a: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syn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= 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stack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top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′</a:t>
                      </a: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inh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；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top=top-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1;</a:t>
                      </a:r>
                      <a:endParaRPr kumimoji="0" lang="en-US" altLang="zh-CN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68580" marR="68580" marT="34154" marB="34154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83983" name="组合 5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83992" name="五边形 8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9525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b="0" dirty="0">
                <a:solidFill>
                  <a:srgbClr val="FFFFFF"/>
                </a:solidFill>
                <a:latin typeface="Calibri" panose="020F0502020204030204" pitchFamily="34" charset="0"/>
                <a:ea typeface="楷体_GB2312" pitchFamily="49" charset="-122"/>
              </a:endParaRPr>
            </a:p>
          </p:txBody>
        </p:sp>
      </p:grpSp>
      <p:cxnSp>
        <p:nvCxnSpPr>
          <p:cNvPr id="12" name="直接连接符 11"/>
          <p:cNvCxnSpPr/>
          <p:nvPr/>
        </p:nvCxnSpPr>
        <p:spPr>
          <a:xfrm rot="5400000">
            <a:off x="821531" y="3015456"/>
            <a:ext cx="1071563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rot="5400000">
            <a:off x="7394575" y="3035300"/>
            <a:ext cx="1071563" cy="1588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endParaRPr kumimoji="0" lang="zh-CN" altLang="en-US" sz="397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grpSp>
        <p:nvGrpSpPr>
          <p:cNvPr id="83987" name="组合 3"/>
          <p:cNvGrpSpPr/>
          <p:nvPr/>
        </p:nvGrpSpPr>
        <p:grpSpPr>
          <a:xfrm>
            <a:off x="2124075" y="-6350"/>
            <a:ext cx="5162550" cy="1755775"/>
            <a:chOff x="4211960" y="-46273"/>
            <a:chExt cx="5163301" cy="1753927"/>
          </a:xfrm>
        </p:grpSpPr>
        <p:sp>
          <p:nvSpPr>
            <p:cNvPr id="17" name="矩形 7"/>
            <p:cNvSpPr>
              <a:spLocks noChangeArrowheads="1"/>
            </p:cNvSpPr>
            <p:nvPr/>
          </p:nvSpPr>
          <p:spPr bwMode="auto">
            <a:xfrm>
              <a:off x="4211960" y="26675"/>
              <a:ext cx="4896562" cy="1680979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algn="ctr">
              <a:solidFill>
                <a:schemeClr val="tx1"/>
              </a:solidFill>
              <a:rou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3989" name="Rectangle 3"/>
            <p:cNvSpPr txBox="1"/>
            <p:nvPr/>
          </p:nvSpPr>
          <p:spPr>
            <a:xfrm>
              <a:off x="4357199" y="132073"/>
              <a:ext cx="3041401" cy="1519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 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 a</a:t>
              </a:r>
              <a:r>
                <a:rPr lang="zh-CN" altLang="en-US" sz="16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} 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 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{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</a:t>
              </a:r>
              <a:endParaRPr lang="zh-CN" altLang="en-US" sz="1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endParaRP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 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→ *</a:t>
              </a:r>
              <a:r>
                <a:rPr lang="zh-CN" altLang="en-US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16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 </a:t>
              </a:r>
              <a:r>
                <a:rPr lang="zh-CN" altLang="en-US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16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 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3) </a:t>
              </a:r>
              <a:r>
                <a:rPr lang="zh-CN" altLang="en-US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l-GR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ε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16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4) 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→ 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digit 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16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}</a:t>
              </a:r>
              <a:endParaRPr lang="zh-CN" altLang="en-US" sz="16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83990" name="Rectangle 3"/>
            <p:cNvSpPr txBox="1"/>
            <p:nvPr/>
          </p:nvSpPr>
          <p:spPr>
            <a:xfrm>
              <a:off x="6572902" y="-46273"/>
              <a:ext cx="2802359" cy="171876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marL="342900" indent="-342900"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zh-CN" altLang="en-US" sz="16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 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T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.inh 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</a:p>
            <a:p>
              <a:pPr marL="342900" indent="-342900"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2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T.val 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.syn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16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 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</a:t>
              </a:r>
              <a:r>
                <a:rPr lang="zh-CN" altLang="en-US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×</a:t>
              </a:r>
              <a:r>
                <a:rPr lang="zh-CN" altLang="en-US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zh-CN" altLang="en-US" sz="16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16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zh-CN" altLang="en-US" sz="16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zh-CN" altLang="en-US" sz="16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F.val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= digit.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lexval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endPara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86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86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8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86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86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71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611" name="Rectangle 27"/>
          <p:cNvSpPr>
            <a:spLocks noGrp="1" noChangeArrowheads="1"/>
          </p:cNvSpPr>
          <p:nvPr>
            <p:ph idx="1"/>
          </p:nvPr>
        </p:nvSpPr>
        <p:spPr>
          <a:xfrm>
            <a:off x="677863" y="1612900"/>
            <a:ext cx="5927725" cy="3225800"/>
          </a:xfrm>
        </p:spPr>
        <p:txBody>
          <a:bodyPr vert="horz" wrap="square" lIns="68580" tIns="34290" rIns="68580" bIns="34290" numCol="1" anchor="t" anchorCtr="0" compatLnSpc="1"/>
          <a:lstStyle/>
          <a:p>
            <a:pPr marL="272415" marR="0" lvl="0" indent="-27241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Times New Roman" panose="02020603050405020304" pitchFamily="18" charset="0"/>
            </a:endParaRPr>
          </a:p>
          <a:p>
            <a:pPr marL="272415" marR="0" lvl="0" indent="-27241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4)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 →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digit {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a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6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: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F.val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digit.lexval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Arial" panose="020B0604020202020204" pitchFamily="34" charset="0"/>
              </a:rPr>
              <a:t>}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graphicFrame>
        <p:nvGraphicFramePr>
          <p:cNvPr id="195621" name="Group 37"/>
          <p:cNvGraphicFramePr>
            <a:graphicFrameLocks noGrp="1"/>
          </p:cNvGraphicFramePr>
          <p:nvPr/>
        </p:nvGraphicFramePr>
        <p:xfrm>
          <a:off x="642938" y="2357438"/>
          <a:ext cx="7858125" cy="1730375"/>
        </p:xfrm>
        <a:graphic>
          <a:graphicData uri="http://schemas.openxmlformats.org/drawingml/2006/table">
            <a:tbl>
              <a:tblPr/>
              <a:tblGrid>
                <a:gridCol w="1706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13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3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9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31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3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5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7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9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91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3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符号</a:t>
                      </a:r>
                    </a:p>
                  </a:txBody>
                  <a:tcPr marL="68580" marR="68580" marT="34314" marB="34314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9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31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3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5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7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9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91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3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属性</a:t>
                      </a:r>
                    </a:p>
                  </a:txBody>
                  <a:tcPr marL="68580" marR="68580" marT="34314" marB="34314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9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31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3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5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7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9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91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3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执行代码</a:t>
                      </a:r>
                    </a:p>
                  </a:txBody>
                  <a:tcPr marL="68580" marR="68580" marT="34314" marB="34314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4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9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31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3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5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7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9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91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3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digit</a:t>
                      </a:r>
                      <a:endParaRPr kumimoji="0" lang="zh-CN" altLang="en-US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315" marB="34315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9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31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3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5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7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9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91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3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lexval</a:t>
                      </a:r>
                      <a:endParaRPr kumimoji="0" lang="zh-CN" altLang="en-US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315" marB="3431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9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31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3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5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7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9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91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3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stack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top-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1]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digitlexval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= 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stack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top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lexval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;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top=top-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1;</a:t>
                      </a:r>
                      <a:endParaRPr kumimoji="0" lang="zh-CN" altLang="en-US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315" marB="3431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4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9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31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3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5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7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9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91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3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kumimoji="0" lang="zh-CN" altLang="en-US" sz="20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315" marB="34315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9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31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3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5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7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9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91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3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digitlexval</a:t>
                      </a:r>
                      <a:endParaRPr kumimoji="0" lang="zh-CN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315" marB="3431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4559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9131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3703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182753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2847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7419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1991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656330" indent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stack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top-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1].</a:t>
                      </a: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val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= 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stack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top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].</a:t>
                      </a: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digitlexval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;</a:t>
                      </a:r>
                      <a:endParaRPr kumimoji="0" lang="en-US" altLang="zh-CN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top=top-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1;</a:t>
                      </a:r>
                      <a:endParaRPr kumimoji="0" lang="zh-CN" altLang="en-US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34315" marB="3431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86035" name="组合 5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86044" name="五边形 8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9525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b="0" dirty="0">
                <a:solidFill>
                  <a:srgbClr val="FFFFFF"/>
                </a:solidFill>
                <a:latin typeface="Calibri" panose="020F0502020204030204" pitchFamily="34" charset="0"/>
                <a:ea typeface="楷体_GB2312" pitchFamily="49" charset="-122"/>
              </a:endParaRPr>
            </a:p>
          </p:txBody>
        </p:sp>
      </p:grpSp>
      <p:cxnSp>
        <p:nvCxnSpPr>
          <p:cNvPr id="12" name="直接连接符 11"/>
          <p:cNvCxnSpPr/>
          <p:nvPr/>
        </p:nvCxnSpPr>
        <p:spPr>
          <a:xfrm rot="5400000">
            <a:off x="-221456" y="3242469"/>
            <a:ext cx="172878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rot="5400000">
            <a:off x="7636669" y="3242469"/>
            <a:ext cx="172878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标题 2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endParaRPr kumimoji="0" lang="zh-CN" altLang="en-US" sz="397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grpSp>
        <p:nvGrpSpPr>
          <p:cNvPr id="86039" name="组合 3"/>
          <p:cNvGrpSpPr/>
          <p:nvPr/>
        </p:nvGrpSpPr>
        <p:grpSpPr>
          <a:xfrm>
            <a:off x="2124075" y="-6350"/>
            <a:ext cx="5162550" cy="1755775"/>
            <a:chOff x="4211960" y="-46273"/>
            <a:chExt cx="5163301" cy="1753927"/>
          </a:xfrm>
        </p:grpSpPr>
        <p:sp>
          <p:nvSpPr>
            <p:cNvPr id="17" name="矩形 7"/>
            <p:cNvSpPr>
              <a:spLocks noChangeArrowheads="1"/>
            </p:cNvSpPr>
            <p:nvPr/>
          </p:nvSpPr>
          <p:spPr bwMode="auto">
            <a:xfrm>
              <a:off x="4211960" y="26675"/>
              <a:ext cx="4896562" cy="1680979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algn="ctr">
              <a:solidFill>
                <a:schemeClr val="tx1"/>
              </a:solidFill>
              <a:rou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6041" name="Rectangle 3"/>
            <p:cNvSpPr txBox="1"/>
            <p:nvPr/>
          </p:nvSpPr>
          <p:spPr>
            <a:xfrm>
              <a:off x="4357199" y="132073"/>
              <a:ext cx="3041401" cy="1519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 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 a</a:t>
              </a:r>
              <a:r>
                <a:rPr lang="zh-CN" altLang="en-US" sz="16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} 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 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{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</a:t>
              </a:r>
              <a:endParaRPr lang="zh-CN" altLang="en-US" sz="1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endParaRP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 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→ *</a:t>
              </a:r>
              <a:r>
                <a:rPr lang="zh-CN" altLang="en-US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16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} </a:t>
              </a:r>
              <a:r>
                <a:rPr lang="zh-CN" altLang="en-US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16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 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3) </a:t>
              </a:r>
              <a:r>
                <a:rPr lang="zh-CN" altLang="en-US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→ </a:t>
              </a:r>
              <a:r>
                <a:rPr lang="el-GR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ε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16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}</a:t>
              </a:r>
            </a:p>
            <a:p>
              <a:pPr marL="342900" indent="-34290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4) 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→ 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digit 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{a</a:t>
              </a:r>
              <a:r>
                <a:rPr lang="en-US" altLang="zh-CN" sz="16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}</a:t>
              </a:r>
              <a:endParaRPr lang="zh-CN" altLang="en-US" sz="16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86042" name="Rectangle 3"/>
            <p:cNvSpPr txBox="1"/>
            <p:nvPr/>
          </p:nvSpPr>
          <p:spPr>
            <a:xfrm>
              <a:off x="6572902" y="-46273"/>
              <a:ext cx="2802359" cy="171876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marL="342900" indent="-342900"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zh-CN" altLang="en-US" sz="16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 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T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.inh 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</a:p>
            <a:p>
              <a:pPr marL="342900" indent="-342900"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2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T.val 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= 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.syn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16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 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</a:t>
              </a:r>
              <a:r>
                <a:rPr lang="zh-CN" altLang="en-US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zh-CN" altLang="en-US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×</a:t>
              </a:r>
              <a:r>
                <a:rPr lang="zh-CN" altLang="en-US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F.val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</a:t>
              </a:r>
              <a:endPara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zh-CN" altLang="en-US" sz="16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zh-CN" altLang="en-US" sz="1600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zh-CN" altLang="en-US" sz="16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.syn 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′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.inh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2900" indent="-342900" eaLnBrk="1" hangingPunct="1">
                <a:lnSpc>
                  <a:spcPts val="19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  <a:buNone/>
              </a:pP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a</a:t>
              </a:r>
              <a:r>
                <a:rPr lang="en-US" altLang="zh-CN" sz="16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zh-CN" altLang="en-US" sz="16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：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F.val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= digit.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lexval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20204" pitchFamily="34" charset="0"/>
                </a:rPr>
                <a:t> </a:t>
              </a:r>
              <a:endPara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56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56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5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56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56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5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611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3" descr="G:\QQ截图201607142012副本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514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4786313" y="2428875"/>
            <a:ext cx="3443288" cy="939800"/>
          </a:xfrm>
          <a:prstGeom prst="rect">
            <a:avLst/>
          </a:prstGeom>
        </p:spPr>
        <p:txBody>
          <a:bodyPr lIns="68580" tIns="34290" rIns="68580" bIns="34290" anchor="ctr"/>
          <a:lstStyle/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kern="1200" cap="none" spc="0" normalizeH="0" baseline="0" noProof="0" dirty="0">
                <a:solidFill>
                  <a:prstClr val="white"/>
                </a:solidFill>
                <a:latin typeface="Candara" panose="020E0502030303020204"/>
                <a:ea typeface="楷体" panose="02010609060101010101" pitchFamily="49" charset="-122"/>
                <a:cs typeface="+mn-cs"/>
              </a:rPr>
              <a:t> </a:t>
            </a:r>
            <a:endParaRPr kumimoji="0" lang="zh-CN" altLang="en-US" sz="2000" kern="1200" cap="none" spc="600" normalizeH="0" baseline="0" noProof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4572000" y="1143000"/>
            <a:ext cx="3143250" cy="441325"/>
          </a:xfrm>
          <a:prstGeom prst="rect">
            <a:avLst/>
          </a:prstGeom>
          <a:ln w="12700">
            <a:noFill/>
          </a:ln>
        </p:spPr>
        <p:txBody>
          <a:bodyPr lIns="68580" tIns="34290" rIns="68580" bIns="34290" anchor="ctr"/>
          <a:lstStyle/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kern="1200" cap="none" spc="225" normalizeH="0" baseline="0" noProof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4322763" y="1643063"/>
            <a:ext cx="4464050" cy="939800"/>
          </a:xfrm>
          <a:prstGeom prst="rect">
            <a:avLst/>
          </a:prstGeom>
        </p:spPr>
        <p:txBody>
          <a:bodyPr lIns="68580" tIns="34290" rIns="68580" bIns="34290" anchor="ctr"/>
          <a:lstStyle/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0" kern="1200" cap="none" spc="300" normalizeH="0" baseline="0" noProof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在递归的预测分析</a:t>
            </a:r>
            <a:endParaRPr kumimoji="0" lang="en-US" altLang="zh-CN" sz="3000" b="0" kern="1200" cap="none" spc="300" normalizeH="0" baseline="0" noProof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000" b="0" kern="1200" cap="none" spc="300" normalizeH="0" baseline="0" noProof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</a:t>
            </a:r>
            <a:r>
              <a:rPr kumimoji="0" lang="zh-CN" altLang="en-US" sz="3000" b="0" kern="1200" cap="none" spc="300" normalizeH="0" baseline="0" noProof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过程中进行翻译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3"/>
          <p:cNvSpPr>
            <a:spLocks noGrp="1" noChangeArrowheads="1"/>
          </p:cNvSpPr>
          <p:nvPr>
            <p:ph idx="1"/>
          </p:nvPr>
        </p:nvSpPr>
        <p:spPr>
          <a:xfrm>
            <a:off x="401638" y="1058863"/>
            <a:ext cx="8285163" cy="3225800"/>
          </a:xfrm>
        </p:spPr>
        <p:txBody>
          <a:bodyPr vert="horz" wrap="square" lIns="68580" tIns="34290" rIns="68580" bIns="34290" numCol="1" anchor="t" anchorCtr="0" compatLnSpc="1"/>
          <a:lstStyle/>
          <a:p>
            <a:pPr marL="272415" marR="0" lvl="0" indent="-272415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为每个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非终结符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构造一个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函数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的每个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继承属性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对应该函数的一个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形参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，函数的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返回值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综合属性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值。对出现在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产生式中的每个文法符号的每个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属性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都设置一个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局部变量</a:t>
            </a:r>
          </a:p>
          <a:p>
            <a:pPr marL="272415" marR="0" lvl="0" indent="-272415" algn="l" defTabSz="914400" rtl="0" eaLnBrk="1" fontAlgn="base" latinLnBrk="0" hangingPunct="1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非终结符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的代码根据当前的输入决定使用哪个产生式</a:t>
            </a:r>
          </a:p>
          <a:p>
            <a:pPr marL="854710" marR="0" lvl="2" indent="-22733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None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算法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内容占位符 2"/>
          <p:cNvSpPr>
            <a:spLocks noGrp="1"/>
          </p:cNvSpPr>
          <p:nvPr>
            <p:ph idx="1"/>
          </p:nvPr>
        </p:nvSpPr>
        <p:spPr>
          <a:xfrm>
            <a:off x="430213" y="714375"/>
            <a:ext cx="8285162" cy="3225800"/>
          </a:xfrm>
        </p:spPr>
        <p:txBody>
          <a:bodyPr vert="horz" wrap="square" lIns="68580" tIns="34290" rIns="68580" bIns="34290" anchor="t" anchorCtr="0"/>
          <a:lstStyle/>
          <a:p>
            <a:pPr>
              <a:lnSpc>
                <a:spcPts val="35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sz="2500" b="1" kern="1200" dirty="0">
                <a:solidFill>
                  <a:schemeClr val="tx1"/>
                </a:solidFill>
                <a:latin typeface="楷体" panose="02010609060101010101" pitchFamily="49" charset="-122"/>
                <a:ea typeface="华文楷体" panose="02010600040101010101" pitchFamily="2" charset="-122"/>
                <a:cs typeface="+mn-cs"/>
              </a:rPr>
              <a:t>与每个产生式有关的代码执行如下动作：从左到右考虑产生式右部的词法单元、非终结符及语义动作</a:t>
            </a:r>
            <a:r>
              <a:rPr lang="en-US" altLang="zh-CN" sz="2500" b="1" kern="1200" dirty="0">
                <a:solidFill>
                  <a:schemeClr val="tx1"/>
                </a:solidFill>
                <a:latin typeface="楷体" panose="02010609060101010101" pitchFamily="49" charset="-122"/>
                <a:ea typeface="华文楷体" panose="02010600040101010101" pitchFamily="2" charset="-122"/>
                <a:cs typeface="+mn-cs"/>
              </a:rPr>
              <a:t>   </a:t>
            </a:r>
          </a:p>
          <a:p>
            <a:pPr lvl="1">
              <a:lnSpc>
                <a:spcPts val="35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对于带有综合属性</a:t>
            </a:r>
            <a:r>
              <a:rPr lang="en-US" altLang="zh-CN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x</a:t>
            </a:r>
            <a:r>
              <a:rPr lang="zh-CN" altLang="en-US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的词法单元 </a:t>
            </a:r>
            <a:r>
              <a:rPr lang="en-US" altLang="zh-CN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X</a:t>
            </a:r>
            <a:r>
              <a:rPr lang="zh-CN" altLang="en-US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，把</a:t>
            </a:r>
            <a:r>
              <a:rPr lang="en-US" altLang="zh-CN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x</a:t>
            </a:r>
            <a:r>
              <a:rPr lang="zh-CN" altLang="en-US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的值保存在局部变量</a:t>
            </a:r>
            <a:r>
              <a:rPr lang="en-US" altLang="zh-CN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X.x</a:t>
            </a:r>
            <a:r>
              <a:rPr lang="zh-CN" altLang="en-US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中；然后产生一个匹配 </a:t>
            </a:r>
            <a:r>
              <a:rPr lang="en-US" altLang="zh-CN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X</a:t>
            </a:r>
            <a:r>
              <a:rPr lang="zh-CN" altLang="en-US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的调用，并继续输入</a:t>
            </a:r>
            <a:endParaRPr lang="en-US" altLang="zh-CN" b="1" kern="120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lvl="1">
              <a:lnSpc>
                <a:spcPts val="35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对于非终结符</a:t>
            </a:r>
            <a:r>
              <a:rPr lang="en-US" altLang="zh-CN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B</a:t>
            </a:r>
            <a:r>
              <a:rPr lang="zh-CN" altLang="en-US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，产生一个右部带有函数调用的赋值语句</a:t>
            </a:r>
            <a:r>
              <a:rPr lang="en-US" altLang="zh-CN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c </a:t>
            </a:r>
            <a:r>
              <a:rPr lang="en-US" altLang="zh-CN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:= </a:t>
            </a:r>
            <a:r>
              <a:rPr lang="en-US" altLang="zh-CN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B</a:t>
            </a:r>
            <a:r>
              <a:rPr lang="en-US" altLang="zh-CN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(</a:t>
            </a:r>
            <a:r>
              <a:rPr lang="en-US" altLang="zh-CN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b</a:t>
            </a:r>
            <a:r>
              <a:rPr lang="en-US" altLang="zh-CN" b="1" kern="12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1</a:t>
            </a:r>
            <a:r>
              <a:rPr lang="en-US" altLang="zh-CN" b="1" i="1" kern="12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lang="en-US" altLang="zh-CN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, </a:t>
            </a:r>
            <a:r>
              <a:rPr lang="en-US" altLang="zh-CN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b</a:t>
            </a:r>
            <a:r>
              <a:rPr lang="en-US" altLang="zh-CN" b="1" kern="12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2 </a:t>
            </a:r>
            <a:r>
              <a:rPr lang="en-US" altLang="zh-CN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, …, </a:t>
            </a:r>
            <a:r>
              <a:rPr lang="en-US" altLang="zh-CN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b</a:t>
            </a:r>
            <a:r>
              <a:rPr lang="en-US" altLang="zh-CN" b="1" i="1" kern="12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k</a:t>
            </a:r>
            <a:r>
              <a:rPr lang="en-US" altLang="zh-CN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)</a:t>
            </a:r>
            <a:r>
              <a:rPr lang="zh-CN" altLang="en-US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，其中</a:t>
            </a:r>
            <a:r>
              <a:rPr lang="zh-CN" altLang="zh-CN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， </a:t>
            </a:r>
            <a:r>
              <a:rPr lang="en-US" altLang="zh-CN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b</a:t>
            </a:r>
            <a:r>
              <a:rPr lang="en-US" altLang="zh-CN" b="1" kern="12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1 </a:t>
            </a:r>
            <a:r>
              <a:rPr lang="en-US" altLang="zh-CN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, </a:t>
            </a:r>
            <a:r>
              <a:rPr lang="en-US" altLang="zh-CN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b</a:t>
            </a:r>
            <a:r>
              <a:rPr lang="en-US" altLang="zh-CN" b="1" kern="12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2</a:t>
            </a:r>
            <a:r>
              <a:rPr lang="en-US" altLang="zh-CN" b="1" i="1" kern="12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lang="en-US" altLang="zh-CN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, …, </a:t>
            </a:r>
            <a:r>
              <a:rPr lang="en-US" altLang="zh-CN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b</a:t>
            </a:r>
            <a:r>
              <a:rPr lang="en-US" altLang="zh-CN" b="1" i="1" kern="12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k</a:t>
            </a:r>
            <a:r>
              <a:rPr lang="zh-CN" altLang="en-US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是代表</a:t>
            </a:r>
            <a:r>
              <a:rPr lang="zh-CN" altLang="zh-CN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B</a:t>
            </a:r>
            <a:r>
              <a:rPr lang="zh-CN" altLang="zh-CN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的继承</a:t>
            </a:r>
            <a:r>
              <a:rPr lang="zh-CN" altLang="en-US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属性的变量，</a:t>
            </a:r>
            <a:r>
              <a:rPr lang="en-US" altLang="zh-CN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c</a:t>
            </a:r>
            <a:r>
              <a:rPr lang="zh-CN" altLang="zh-CN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是</a:t>
            </a:r>
            <a:r>
              <a:rPr lang="zh-CN" altLang="en-US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代表</a:t>
            </a:r>
            <a:r>
              <a:rPr lang="zh-CN" altLang="zh-CN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B</a:t>
            </a:r>
            <a:r>
              <a:rPr lang="zh-CN" altLang="zh-CN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的</a:t>
            </a:r>
            <a:r>
              <a:rPr lang="zh-CN" altLang="en-US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综合属性的变量</a:t>
            </a:r>
            <a:endParaRPr lang="en-US" altLang="zh-CN" b="1" kern="120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  <a:p>
            <a:pPr lvl="1">
              <a:lnSpc>
                <a:spcPts val="3500"/>
              </a:lnSpc>
              <a:buClrTx/>
              <a:buSzPct val="100000"/>
              <a:buFont typeface="Wingdings" panose="05000000000000000000" pitchFamily="2" charset="2"/>
              <a:buChar char="Ø"/>
            </a:pPr>
            <a:r>
              <a:rPr lang="zh-CN" altLang="en-US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对于每个动作，将其代码复制到句法分析器，并把对属性的引用改为对相应变量的引用</a:t>
            </a:r>
          </a:p>
          <a:p>
            <a:pPr>
              <a:lnSpc>
                <a:spcPts val="3500"/>
              </a:lnSpc>
              <a:buSzPct val="100000"/>
            </a:pPr>
            <a:endParaRPr lang="zh-CN" altLang="en-US" sz="2500" b="1" kern="120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72706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算法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（续）</a:t>
            </a:r>
            <a:endParaRPr kumimoji="0" lang="zh-CN" altLang="en-US" sz="3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64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6000750" y="106363"/>
            <a:ext cx="3000375" cy="4751388"/>
          </a:xfrm>
        </p:spPr>
        <p:txBody>
          <a:bodyPr vert="horz" wrap="square" lIns="68580" tIns="34290" rIns="68580" bIns="34290" numCol="1" anchor="t" anchorCtr="0" compatLnSpc="1"/>
          <a:lstStyle/>
          <a:p>
            <a:pPr marL="272415" marR="0" lvl="0" indent="-27241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1600" b="1" i="1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syn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zh-CN" altLang="en-US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kumimoji="0" lang="zh-CN" altLang="en-US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(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token, </a:t>
            </a:r>
            <a:r>
              <a:rPr kumimoji="0" lang="zh-CN" altLang="en-US" sz="1600" b="1" i="1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inh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)</a:t>
            </a:r>
          </a:p>
          <a:p>
            <a:pPr marL="272415" marR="0" lvl="0" indent="-27241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D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: 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Fval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, </a:t>
            </a:r>
            <a:r>
              <a:rPr kumimoji="0" lang="zh-CN" altLang="en-US" sz="1600" b="1" i="1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kumimoji="0" lang="zh-CN" altLang="en-US" sz="1600" b="1" i="0" u="none" strike="noStrike" kern="1200" cap="none" spc="0" normalizeH="0" baseline="-2500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inh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kumimoji="0" lang="zh-CN" altLang="en-US" sz="1600" b="1" i="1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kumimoji="0" lang="zh-CN" altLang="en-US" sz="1600" b="1" i="0" u="none" strike="noStrike" kern="1200" cap="none" spc="0" normalizeH="0" baseline="-2500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syn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；</a:t>
            </a:r>
          </a:p>
          <a:p>
            <a:pPr marL="272415" marR="0" lvl="0" indent="-27241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    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if token=“*”  then</a:t>
            </a:r>
          </a:p>
          <a:p>
            <a:pPr marL="272415" marR="0" lvl="0" indent="-27241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   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Getnext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(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token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)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；</a:t>
            </a:r>
          </a:p>
          <a:p>
            <a:pPr marL="272415" marR="0" lvl="0" indent="-27241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	  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Fval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=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F(token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)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；</a:t>
            </a:r>
          </a:p>
          <a:p>
            <a:pPr marL="272415" marR="0" lvl="0" indent="-27241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	   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kumimoji="0" lang="zh-CN" altLang="en-US" sz="1600" b="1" i="0" u="none" strike="noStrike" kern="1200" cap="none" spc="0" normalizeH="0" baseline="-2500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inh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 </a:t>
            </a:r>
            <a:r>
              <a:rPr kumimoji="0" lang="zh-CN" altLang="en-US" sz="1600" b="1" i="1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inh×Fval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；</a:t>
            </a:r>
          </a:p>
          <a:p>
            <a:pPr marL="272415" marR="0" lvl="0" indent="-27241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   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Getnext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(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token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)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；</a:t>
            </a:r>
          </a:p>
          <a:p>
            <a:pPr marL="272415" marR="0" lvl="0" indent="-27241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  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kumimoji="0" lang="zh-CN" altLang="en-US" sz="1600" b="1" i="0" u="none" strike="noStrike" kern="1200" cap="none" spc="0" normalizeH="0" baseline="-2500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syn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kumimoji="0" lang="zh-CN" altLang="en-US" sz="16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(token, 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kumimoji="0" lang="zh-CN" altLang="en-US" sz="1600" b="1" i="0" u="none" strike="noStrike" kern="1200" cap="none" spc="0" normalizeH="0" baseline="-2500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inh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；</a:t>
            </a:r>
          </a:p>
          <a:p>
            <a:pPr marL="272415" marR="0" lvl="0" indent="-27241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   </a:t>
            </a:r>
            <a:r>
              <a:rPr kumimoji="0" lang="zh-CN" altLang="en-US" sz="1600" b="1" i="1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T΄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syn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=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kumimoji="0" lang="zh-CN" altLang="en-US" sz="1600" b="1" i="0" u="none" strike="noStrike" kern="1200" cap="none" spc="0" normalizeH="0" baseline="-2500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syn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；</a:t>
            </a:r>
          </a:p>
          <a:p>
            <a:pPr marL="272415" marR="0" lvl="0" indent="-27241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	   return </a:t>
            </a:r>
            <a:r>
              <a:rPr kumimoji="0" lang="zh-CN" altLang="en-US" sz="1600" b="1" i="1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syn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；</a:t>
            </a:r>
          </a:p>
          <a:p>
            <a:pPr marL="272415" marR="0" lvl="0" indent="-27241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    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}</a:t>
            </a:r>
          </a:p>
          <a:p>
            <a:pPr marL="272415" marR="0" lvl="0" indent="-27241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else if token=</a:t>
            </a:r>
            <a:r>
              <a:rPr kumimoji="0" lang="el-GR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“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$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”</a:t>
            </a:r>
            <a:r>
              <a:rPr kumimoji="0" lang="zh-CN" altLang="en-US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then</a:t>
            </a:r>
          </a:p>
          <a:p>
            <a:pPr marL="272415" marR="0" lvl="0" indent="-27241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    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zh-CN" altLang="en-US" sz="1600" b="1" i="1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syn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= </a:t>
            </a:r>
            <a:r>
              <a:rPr kumimoji="0" lang="zh-CN" altLang="en-US" sz="1600" b="1" i="1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inh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；</a:t>
            </a:r>
          </a:p>
          <a:p>
            <a:pPr marL="272415" marR="0" lvl="0" indent="-27241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	   return </a:t>
            </a:r>
            <a:r>
              <a:rPr kumimoji="0" lang="zh-CN" altLang="en-US" sz="1600" b="1" i="1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kumimoji="0" lang="en-US" altLang="zh-CN" sz="1600" b="1" i="1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syn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；</a:t>
            </a:r>
          </a:p>
          <a:p>
            <a:pPr marL="272415" marR="0" lvl="0" indent="-27241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     }</a:t>
            </a:r>
          </a:p>
          <a:p>
            <a:pPr marL="272415" marR="0" lvl="0" indent="-27241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     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else Error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；</a:t>
            </a:r>
          </a:p>
          <a:p>
            <a:pPr marL="272415" marR="0" lvl="0" indent="-27241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}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grpSp>
        <p:nvGrpSpPr>
          <p:cNvPr id="4" name="组合 5"/>
          <p:cNvGrpSpPr/>
          <p:nvPr/>
        </p:nvGrpSpPr>
        <p:grpSpPr>
          <a:xfrm>
            <a:off x="1365250" y="1800225"/>
            <a:ext cx="5165725" cy="3255963"/>
            <a:chOff x="1365250" y="1800225"/>
            <a:chExt cx="5165725" cy="3255963"/>
          </a:xfrm>
        </p:grpSpPr>
        <p:sp>
          <p:nvSpPr>
            <p:cNvPr id="8207" name="Line 7"/>
            <p:cNvSpPr/>
            <p:nvPr/>
          </p:nvSpPr>
          <p:spPr>
            <a:xfrm flipV="1">
              <a:off x="5892800" y="1800225"/>
              <a:ext cx="612775" cy="2632075"/>
            </a:xfrm>
            <a:prstGeom prst="line">
              <a:avLst/>
            </a:prstGeom>
            <a:ln w="1270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208" name="Line 8"/>
            <p:cNvSpPr/>
            <p:nvPr/>
          </p:nvSpPr>
          <p:spPr>
            <a:xfrm flipV="1">
              <a:off x="5892800" y="2663825"/>
              <a:ext cx="557213" cy="1768475"/>
            </a:xfrm>
            <a:prstGeom prst="line">
              <a:avLst/>
            </a:prstGeom>
            <a:ln w="1270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209" name="Line 9"/>
            <p:cNvSpPr/>
            <p:nvPr/>
          </p:nvSpPr>
          <p:spPr>
            <a:xfrm flipV="1">
              <a:off x="5892800" y="3827463"/>
              <a:ext cx="638175" cy="604837"/>
            </a:xfrm>
            <a:prstGeom prst="line">
              <a:avLst/>
            </a:prstGeom>
            <a:ln w="1270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55371" name="Rectangle 11"/>
            <p:cNvSpPr>
              <a:spLocks noChangeArrowheads="1"/>
            </p:cNvSpPr>
            <p:nvPr/>
          </p:nvSpPr>
          <p:spPr bwMode="auto">
            <a:xfrm>
              <a:off x="1365250" y="4432300"/>
              <a:ext cx="4635500" cy="623888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1"/>
              </a:solidFill>
              <a:miter lim="800000"/>
            </a:ln>
          </p:spPr>
          <p:txBody>
            <a:bodyPr lIns="68580" tIns="34290" rIns="68580" bIns="3429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对于每个动作，将其代码复制到句法分析器，并把对属性的引用改为对相应变量的引用</a:t>
              </a:r>
            </a:p>
          </p:txBody>
        </p:sp>
      </p:grpSp>
      <p:grpSp>
        <p:nvGrpSpPr>
          <p:cNvPr id="8196" name="组合 5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2" name="五边形 11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8206" name="五边形 12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9525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b="0" dirty="0">
                <a:solidFill>
                  <a:srgbClr val="FFFFFF"/>
                </a:solidFill>
                <a:latin typeface="Calibri" panose="020F0502020204030204" pitchFamily="34" charset="0"/>
                <a:ea typeface="楷体_GB2312"/>
              </a:endParaRPr>
            </a:p>
          </p:txBody>
        </p:sp>
      </p:grpSp>
      <p:sp>
        <p:nvSpPr>
          <p:cNvPr id="194570" name="Rectangle 3"/>
          <p:cNvSpPr txBox="1">
            <a:spLocks noChangeArrowheads="1"/>
          </p:cNvSpPr>
          <p:nvPr/>
        </p:nvSpPr>
        <p:spPr bwMode="auto">
          <a:xfrm>
            <a:off x="98425" y="1404938"/>
            <a:ext cx="4543425" cy="3027363"/>
          </a:xfrm>
          <a:prstGeom prst="rect">
            <a:avLst/>
          </a:prstGeom>
          <a:noFill/>
          <a:ln>
            <a:noFill/>
          </a:ln>
        </p:spPr>
        <p:txBody>
          <a:bodyPr lIns="68580" tIns="34290" rIns="68580" bIns="34290"/>
          <a:lstStyle>
            <a:lvl1pPr marL="257175" indent="-2571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257175" marR="0" lvl="0" indent="-2571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例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257175" marR="0" lvl="0" indent="-2571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SDT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marL="257175" marR="0" lvl="0" indent="-2571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{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inh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</a:p>
          <a:p>
            <a:pPr marL="257175" marR="0" lvl="0" indent="-2571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	{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T.val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syn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257175" marR="0" lvl="0" indent="-2571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2)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→ *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{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.inh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.inh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×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57175" marR="0" lvl="0" indent="-2571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{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</a:t>
            </a:r>
          </a:p>
          <a:p>
            <a:pPr marL="257175" marR="0" lvl="0" indent="-2571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3)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kumimoji="0" lang="el-GR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inh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</a:t>
            </a:r>
          </a:p>
          <a:p>
            <a:pPr marL="257175" marR="0" lvl="0" indent="-2571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4)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→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digit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F.val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digit.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lexval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}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57175" marR="0" lvl="0" indent="-2571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1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在递归的预测分析过程中进行翻译</a:t>
            </a:r>
          </a:p>
        </p:txBody>
      </p:sp>
      <p:grpSp>
        <p:nvGrpSpPr>
          <p:cNvPr id="6" name="组合 3"/>
          <p:cNvGrpSpPr/>
          <p:nvPr/>
        </p:nvGrpSpPr>
        <p:grpSpPr>
          <a:xfrm>
            <a:off x="1365250" y="279400"/>
            <a:ext cx="4719638" cy="1485900"/>
            <a:chOff x="1365250" y="278684"/>
            <a:chExt cx="4719397" cy="1486914"/>
          </a:xfrm>
        </p:grpSpPr>
        <p:sp>
          <p:nvSpPr>
            <p:cNvPr id="2" name="矩形 1"/>
            <p:cNvSpPr/>
            <p:nvPr/>
          </p:nvSpPr>
          <p:spPr>
            <a:xfrm>
              <a:off x="1365250" y="842632"/>
              <a:ext cx="4043157" cy="92296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为每个非终结符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A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构造一个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函数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，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A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的每个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继承属性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对应该函数的一个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形参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，函数的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返回值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是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A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综合属性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值</a:t>
              </a:r>
              <a:endPara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204" name="Line 7"/>
            <p:cNvSpPr/>
            <p:nvPr/>
          </p:nvSpPr>
          <p:spPr>
            <a:xfrm flipV="1">
              <a:off x="5408011" y="278684"/>
              <a:ext cx="676636" cy="953215"/>
            </a:xfrm>
            <a:prstGeom prst="line">
              <a:avLst/>
            </a:prstGeom>
            <a:ln w="1270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7" name="组合 4"/>
          <p:cNvGrpSpPr/>
          <p:nvPr/>
        </p:nvGrpSpPr>
        <p:grpSpPr>
          <a:xfrm>
            <a:off x="3352800" y="661988"/>
            <a:ext cx="2903538" cy="2197100"/>
            <a:chOff x="3352713" y="661689"/>
            <a:chExt cx="2903252" cy="2198093"/>
          </a:xfrm>
        </p:grpSpPr>
        <p:sp>
          <p:nvSpPr>
            <p:cNvPr id="3" name="矩形 2"/>
            <p:cNvSpPr/>
            <p:nvPr/>
          </p:nvSpPr>
          <p:spPr>
            <a:xfrm>
              <a:off x="3352713" y="1903675"/>
              <a:ext cx="2874680" cy="95610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对出现在</a:t>
              </a:r>
              <a:r>
                <a: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A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产生式右部中的每个文法符号的每个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属性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都设置一个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局部变量</a:t>
              </a:r>
            </a:p>
          </p:txBody>
        </p:sp>
        <p:sp>
          <p:nvSpPr>
            <p:cNvPr id="8202" name="Line 7"/>
            <p:cNvSpPr/>
            <p:nvPr/>
          </p:nvSpPr>
          <p:spPr>
            <a:xfrm flipV="1">
              <a:off x="5724128" y="661689"/>
              <a:ext cx="531837" cy="1242407"/>
            </a:xfrm>
            <a:prstGeom prst="line">
              <a:avLst/>
            </a:prstGeom>
            <a:ln w="1270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45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45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4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5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5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5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5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5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5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5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5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5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55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55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55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55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55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55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55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55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55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55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55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55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55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55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55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55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55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55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553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6553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553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5536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5536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5536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65536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65536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5536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65536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65536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5536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65536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65536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65536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65536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65536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65536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65536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65536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65536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65536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65536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65536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3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1" dur="500"/>
                                        <p:tgtEl>
                                          <p:spTgt spid="65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/>
                                        <p:tgtEl>
                                          <p:spTgt spid="65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65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53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6" dur="500"/>
                                        <p:tgtEl>
                                          <p:spTgt spid="65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/>
                                        <p:tgtEl>
                                          <p:spTgt spid="65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8" dur="500"/>
                                        <p:tgtEl>
                                          <p:spTgt spid="65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53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1" dur="500"/>
                                        <p:tgtEl>
                                          <p:spTgt spid="65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/>
                                        <p:tgtEl>
                                          <p:spTgt spid="65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3" dur="500"/>
                                        <p:tgtEl>
                                          <p:spTgt spid="65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53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6" dur="500"/>
                                        <p:tgtEl>
                                          <p:spTgt spid="655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/>
                                        <p:tgtEl>
                                          <p:spTgt spid="655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8" dur="500"/>
                                        <p:tgtEl>
                                          <p:spTgt spid="655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53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1" dur="500"/>
                                        <p:tgtEl>
                                          <p:spTgt spid="655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/>
                                        <p:tgtEl>
                                          <p:spTgt spid="655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655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53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6" dur="500"/>
                                        <p:tgtEl>
                                          <p:spTgt spid="655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/>
                                        <p:tgtEl>
                                          <p:spTgt spid="655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8" dur="500"/>
                                        <p:tgtEl>
                                          <p:spTgt spid="655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53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1" dur="500"/>
                                        <p:tgtEl>
                                          <p:spTgt spid="655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/>
                                        <p:tgtEl>
                                          <p:spTgt spid="655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655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53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6" dur="500"/>
                                        <p:tgtEl>
                                          <p:spTgt spid="655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/>
                                        <p:tgtEl>
                                          <p:spTgt spid="655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8" dur="500"/>
                                        <p:tgtEl>
                                          <p:spTgt spid="655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53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1" dur="500"/>
                                        <p:tgtEl>
                                          <p:spTgt spid="655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/>
                                        <p:tgtEl>
                                          <p:spTgt spid="655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3" dur="500"/>
                                        <p:tgtEl>
                                          <p:spTgt spid="655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53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6" dur="500"/>
                                        <p:tgtEl>
                                          <p:spTgt spid="6553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/>
                                        <p:tgtEl>
                                          <p:spTgt spid="6553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8" dur="500"/>
                                        <p:tgtEl>
                                          <p:spTgt spid="6553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53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1" dur="500"/>
                                        <p:tgtEl>
                                          <p:spTgt spid="65536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/>
                                        <p:tgtEl>
                                          <p:spTgt spid="65536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3" dur="500"/>
                                        <p:tgtEl>
                                          <p:spTgt spid="65536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53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6" dur="500"/>
                                        <p:tgtEl>
                                          <p:spTgt spid="65536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/>
                                        <p:tgtEl>
                                          <p:spTgt spid="65536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8" dur="500"/>
                                        <p:tgtEl>
                                          <p:spTgt spid="65536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53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1" dur="500"/>
                                        <p:tgtEl>
                                          <p:spTgt spid="65536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/>
                                        <p:tgtEl>
                                          <p:spTgt spid="65536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83" dur="500"/>
                                        <p:tgtEl>
                                          <p:spTgt spid="65536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53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6" dur="500"/>
                                        <p:tgtEl>
                                          <p:spTgt spid="65536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500"/>
                                        <p:tgtEl>
                                          <p:spTgt spid="65536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88" dur="500"/>
                                        <p:tgtEl>
                                          <p:spTgt spid="65536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53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1" dur="500"/>
                                        <p:tgtEl>
                                          <p:spTgt spid="65536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500"/>
                                        <p:tgtEl>
                                          <p:spTgt spid="65536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3" dur="500"/>
                                        <p:tgtEl>
                                          <p:spTgt spid="65536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53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6" dur="500"/>
                                        <p:tgtEl>
                                          <p:spTgt spid="65536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00"/>
                                        <p:tgtEl>
                                          <p:spTgt spid="65536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8" dur="500"/>
                                        <p:tgtEl>
                                          <p:spTgt spid="65536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53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1" dur="500"/>
                                        <p:tgtEl>
                                          <p:spTgt spid="65536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500"/>
                                        <p:tgtEl>
                                          <p:spTgt spid="65536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3" dur="500"/>
                                        <p:tgtEl>
                                          <p:spTgt spid="65536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6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64" grpId="0" build="p"/>
      <p:bldP spid="194570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388" name="Rectangle 4"/>
          <p:cNvSpPr>
            <a:spLocks noGrp="1" noChangeArrowheads="1"/>
          </p:cNvSpPr>
          <p:nvPr>
            <p:ph idx="1"/>
          </p:nvPr>
        </p:nvSpPr>
        <p:spPr>
          <a:xfrm>
            <a:off x="5003800" y="1074738"/>
            <a:ext cx="3159125" cy="3687763"/>
          </a:xfrm>
          <a:ln w="12700"/>
        </p:spPr>
        <p:txBody>
          <a:bodyPr vert="horz" wrap="square" lIns="68580" tIns="34290" rIns="68580" bIns="34290" numCol="1" anchor="t" anchorCtr="0" compatLnSpc="1"/>
          <a:lstStyle/>
          <a:p>
            <a:pPr marL="272415" marR="0" lvl="0" indent="-27241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 pitchFamily="18" charset="0"/>
              </a:rPr>
              <a:t>Tval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 pitchFamily="18" charset="0"/>
              </a:rPr>
              <a:t>(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 pitchFamily="18" charset="0"/>
              </a:rPr>
              <a:t>token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 pitchFamily="18" charset="0"/>
              </a:rPr>
              <a:t>)</a:t>
            </a:r>
          </a:p>
          <a:p>
            <a:pPr marL="272415" marR="0" lvl="0" indent="-27241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 pitchFamily="18" charset="0"/>
              </a:rPr>
              <a:t>{</a:t>
            </a:r>
          </a:p>
          <a:p>
            <a:pPr marL="272415" marR="0" lvl="0" indent="-27241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 pitchFamily="18" charset="0"/>
              </a:rPr>
              <a:t>	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 pitchFamily="18" charset="0"/>
              </a:rPr>
              <a:t>D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 pitchFamily="18" charset="0"/>
              </a:rPr>
              <a:t>：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 pitchFamily="18" charset="0"/>
              </a:rPr>
              <a:t>Fval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 pitchFamily="18" charset="0"/>
              </a:rPr>
              <a:t>,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inh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syn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 pitchFamily="18" charset="0"/>
              </a:rPr>
              <a:t>；</a:t>
            </a:r>
          </a:p>
          <a:p>
            <a:pPr marL="272415" marR="0" lvl="0" indent="-27241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 pitchFamily="18" charset="0"/>
              </a:rPr>
              <a:t>	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 pitchFamily="18" charset="0"/>
              </a:rPr>
              <a:t>Fval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 pitchFamily="18" charset="0"/>
              </a:rPr>
              <a:t> =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 pitchFamily="18" charset="0"/>
              </a:rPr>
              <a:t>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 pitchFamily="18" charset="0"/>
              </a:rPr>
              <a:t>(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 pitchFamily="18" charset="0"/>
              </a:rPr>
              <a:t>token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 pitchFamily="18" charset="0"/>
              </a:rPr>
              <a:t>);</a:t>
            </a:r>
          </a:p>
          <a:p>
            <a:pPr marL="272415" marR="0" lvl="0" indent="-27241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 pitchFamily="18" charset="0"/>
              </a:rPr>
              <a:t>	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inh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Fval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；</a:t>
            </a:r>
          </a:p>
          <a:p>
            <a:pPr marL="272415" marR="0" lvl="0" indent="-27241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Getnext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token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);</a:t>
            </a:r>
          </a:p>
          <a:p>
            <a:pPr marL="272415" marR="0" lvl="0" indent="-27241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syn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token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inh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);</a:t>
            </a:r>
          </a:p>
          <a:p>
            <a:pPr marL="272415" marR="0" lvl="0" indent="-27241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 pitchFamily="18" charset="0"/>
              </a:rPr>
              <a:t>	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 pitchFamily="18" charset="0"/>
              </a:rPr>
              <a:t>Tval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 pitchFamily="18" charset="0"/>
              </a:rPr>
              <a:t> =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syn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;</a:t>
            </a:r>
          </a:p>
          <a:p>
            <a:pPr marL="272415" marR="0" lvl="0" indent="-27241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 pitchFamily="18" charset="0"/>
              </a:rPr>
              <a:t>	return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 pitchFamily="18" charset="0"/>
              </a:rPr>
              <a:t>Tval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 pitchFamily="18" charset="0"/>
              </a:rPr>
              <a:t>;</a:t>
            </a:r>
          </a:p>
          <a:p>
            <a:pPr marL="272415" marR="0" lvl="0" indent="-27241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 pitchFamily="18" charset="0"/>
              </a:rPr>
              <a:t>}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grpSp>
        <p:nvGrpSpPr>
          <p:cNvPr id="10243" name="组合 5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7" name="五边形 6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10247" name="五边形 7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9525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b="0" dirty="0">
                <a:solidFill>
                  <a:srgbClr val="FFFFFF"/>
                </a:solidFill>
                <a:latin typeface="Calibri" panose="020F0502020204030204" pitchFamily="34" charset="0"/>
                <a:ea typeface="楷体_GB2312"/>
              </a:endParaRPr>
            </a:p>
          </p:txBody>
        </p:sp>
      </p:grpSp>
      <p:sp>
        <p:nvSpPr>
          <p:cNvPr id="196612" name="Rectangle 3"/>
          <p:cNvSpPr txBox="1">
            <a:spLocks noChangeArrowheads="1"/>
          </p:cNvSpPr>
          <p:nvPr/>
        </p:nvSpPr>
        <p:spPr bwMode="auto">
          <a:xfrm>
            <a:off x="98425" y="1404938"/>
            <a:ext cx="4543425" cy="3027363"/>
          </a:xfrm>
          <a:prstGeom prst="rect">
            <a:avLst/>
          </a:prstGeom>
          <a:noFill/>
          <a:ln>
            <a:noFill/>
          </a:ln>
        </p:spPr>
        <p:txBody>
          <a:bodyPr lIns="68580" tIns="34290" rIns="68580" bIns="34290"/>
          <a:lstStyle>
            <a:lvl1pPr marL="257175" indent="-2571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257175" marR="0" lvl="0" indent="-2571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例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257175" marR="0" lvl="0" indent="-2571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SDT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marL="257175" marR="0" lvl="0" indent="-2571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{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inh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</a:p>
          <a:p>
            <a:pPr marL="257175" marR="0" lvl="0" indent="-2571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	{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T.val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syn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257175" marR="0" lvl="0" indent="-2571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2)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→ *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{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.inh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.inh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×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57175" marR="0" lvl="0" indent="-2571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{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</a:t>
            </a:r>
          </a:p>
          <a:p>
            <a:pPr marL="257175" marR="0" lvl="0" indent="-2571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3)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kumimoji="0" lang="el-GR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inh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</a:t>
            </a:r>
          </a:p>
          <a:p>
            <a:pPr marL="257175" marR="0" lvl="0" indent="-2571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4)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→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digit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F.val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digit.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lexval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}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57175" marR="0" lvl="0" indent="-2571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1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在递归的预测分析过程中进行翻译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5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5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5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5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5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5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5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5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5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5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5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5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5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5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5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5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5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5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56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56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56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56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56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56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563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563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563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563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563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563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8" dur="500"/>
                                        <p:tgtEl>
                                          <p:spTgt spid="65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65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65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53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3" dur="500"/>
                                        <p:tgtEl>
                                          <p:spTgt spid="65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/>
                                        <p:tgtEl>
                                          <p:spTgt spid="65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65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53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8" dur="500"/>
                                        <p:tgtEl>
                                          <p:spTgt spid="65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/>
                                        <p:tgtEl>
                                          <p:spTgt spid="65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65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53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3" dur="500"/>
                                        <p:tgtEl>
                                          <p:spTgt spid="65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/>
                                        <p:tgtEl>
                                          <p:spTgt spid="65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65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53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8" dur="500"/>
                                        <p:tgtEl>
                                          <p:spTgt spid="65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/>
                                        <p:tgtEl>
                                          <p:spTgt spid="65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65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53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3" dur="500"/>
                                        <p:tgtEl>
                                          <p:spTgt spid="65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/>
                                        <p:tgtEl>
                                          <p:spTgt spid="65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65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53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8" dur="500"/>
                                        <p:tgtEl>
                                          <p:spTgt spid="656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/>
                                        <p:tgtEl>
                                          <p:spTgt spid="656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656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6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53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3" dur="500"/>
                                        <p:tgtEl>
                                          <p:spTgt spid="656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/>
                                        <p:tgtEl>
                                          <p:spTgt spid="656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656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63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53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8" dur="500"/>
                                        <p:tgtEl>
                                          <p:spTgt spid="6563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/>
                                        <p:tgtEl>
                                          <p:spTgt spid="6563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6563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63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53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3" dur="500"/>
                                        <p:tgtEl>
                                          <p:spTgt spid="6563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/>
                                        <p:tgtEl>
                                          <p:spTgt spid="6563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6563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63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6388" grpId="0" build="p"/>
      <p:bldP spid="656388" grpId="1" build="p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340" name="Rectangle 4"/>
          <p:cNvSpPr>
            <a:spLocks noGrp="1" noChangeArrowheads="1"/>
          </p:cNvSpPr>
          <p:nvPr>
            <p:ph idx="1"/>
          </p:nvPr>
        </p:nvSpPr>
        <p:spPr>
          <a:xfrm>
            <a:off x="4937125" y="1436688"/>
            <a:ext cx="3635375" cy="2206625"/>
          </a:xfrm>
          <a:solidFill>
            <a:schemeClr val="bg1"/>
          </a:solidFill>
          <a:ln w="12700"/>
        </p:spPr>
        <p:txBody>
          <a:bodyPr vert="horz" wrap="square" lIns="68580" tIns="34290" rIns="68580" bIns="34290" numCol="1" anchor="t" anchorCtr="0" compatLnSpc="1"/>
          <a:lstStyle/>
          <a:p>
            <a:pPr marL="272415" marR="0" lvl="0" indent="-27241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 pitchFamily="18" charset="0"/>
              </a:rPr>
              <a:t>Fval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 pitchFamily="18" charset="0"/>
              </a:rPr>
              <a:t>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 pitchFamily="18" charset="0"/>
              </a:rPr>
              <a:t>(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 pitchFamily="18" charset="0"/>
              </a:rPr>
              <a:t>token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 pitchFamily="18" charset="0"/>
              </a:rPr>
              <a:t>)</a:t>
            </a:r>
          </a:p>
          <a:p>
            <a:pPr marL="272415" marR="0" lvl="0" indent="-27241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 pitchFamily="18" charset="0"/>
              </a:rPr>
              <a:t>{</a:t>
            </a:r>
          </a:p>
          <a:p>
            <a:pPr marL="272415" marR="0" lvl="0" indent="-27241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 pitchFamily="18" charset="0"/>
              </a:rPr>
              <a:t>	if  token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≠ 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digit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then  Error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；</a:t>
            </a:r>
          </a:p>
          <a:p>
            <a:pPr marL="272415" marR="0" lvl="0" indent="-27241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 pitchFamily="18" charset="0"/>
              </a:rPr>
              <a:t>	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 pitchFamily="18" charset="0"/>
              </a:rPr>
              <a:t>Fval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 pitchFamily="18" charset="0"/>
              </a:rPr>
              <a:t>=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 pitchFamily="18" charset="0"/>
              </a:rPr>
              <a:t>token.lexval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 pitchFamily="18" charset="0"/>
              </a:rPr>
              <a:t>；</a:t>
            </a:r>
          </a:p>
          <a:p>
            <a:pPr marL="272415" marR="0" lvl="0" indent="-27241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 pitchFamily="18" charset="0"/>
              </a:rPr>
              <a:t>	 return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 pitchFamily="18" charset="0"/>
              </a:rPr>
              <a:t>Fval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 pitchFamily="18" charset="0"/>
              </a:rPr>
              <a:t>；</a:t>
            </a:r>
          </a:p>
          <a:p>
            <a:pPr marL="272415" marR="0" lvl="0" indent="-27241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Times New Roman" panose="02020603050405020304" pitchFamily="18" charset="0"/>
              </a:rPr>
              <a:t>}</a:t>
            </a:r>
          </a:p>
        </p:txBody>
      </p:sp>
      <p:grpSp>
        <p:nvGrpSpPr>
          <p:cNvPr id="12291" name="组合 5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7" name="五边形 6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12295" name="五边形 7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9525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b="0" dirty="0">
                <a:solidFill>
                  <a:srgbClr val="FFFFFF"/>
                </a:solidFill>
                <a:latin typeface="Calibri" panose="020F0502020204030204" pitchFamily="34" charset="0"/>
                <a:ea typeface="楷体_GB2312"/>
              </a:endParaRPr>
            </a:p>
          </p:txBody>
        </p:sp>
      </p:grpSp>
      <p:sp>
        <p:nvSpPr>
          <p:cNvPr id="198660" name="Rectangle 3"/>
          <p:cNvSpPr txBox="1">
            <a:spLocks noChangeArrowheads="1"/>
          </p:cNvSpPr>
          <p:nvPr/>
        </p:nvSpPr>
        <p:spPr bwMode="auto">
          <a:xfrm>
            <a:off x="98425" y="1404938"/>
            <a:ext cx="4543425" cy="3027363"/>
          </a:xfrm>
          <a:prstGeom prst="rect">
            <a:avLst/>
          </a:prstGeom>
          <a:noFill/>
          <a:ln>
            <a:noFill/>
          </a:ln>
        </p:spPr>
        <p:txBody>
          <a:bodyPr lIns="68580" tIns="34290" rIns="68580" bIns="34290"/>
          <a:lstStyle>
            <a:lvl1pPr marL="257175" indent="-2571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257175" marR="0" lvl="0" indent="-2571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例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257175" marR="0" lvl="0" indent="-2571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SDT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marL="257175" marR="0" lvl="0" indent="-2571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F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{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inh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</a:p>
          <a:p>
            <a:pPr marL="257175" marR="0" lvl="0" indent="-2571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	{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T.val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syn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257175" marR="0" lvl="0" indent="-2571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2)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→ *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{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.inh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.inh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×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57175" marR="0" lvl="0" indent="-2571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{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</a:t>
            </a:r>
          </a:p>
          <a:p>
            <a:pPr marL="257175" marR="0" lvl="0" indent="-2571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3)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kumimoji="0" lang="el-GR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inh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</a:t>
            </a:r>
          </a:p>
          <a:p>
            <a:pPr marL="257175" marR="0" lvl="0" indent="-2571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4)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→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digit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F.val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digit.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lexval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}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57175" marR="0" lvl="0" indent="-2571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zh-CN" altLang="en-US" sz="1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在递归的预测分析过程中进行翻译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65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65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65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53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65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65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65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53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" dur="500"/>
                                        <p:tgtEl>
                                          <p:spTgt spid="654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/>
                                        <p:tgtEl>
                                          <p:spTgt spid="654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654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4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53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65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/>
                                        <p:tgtEl>
                                          <p:spTgt spid="65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65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53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654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654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654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4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53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6543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6543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6543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43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53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65434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65434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65434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43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4340" grpId="0" build="p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组合 5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7" name="五边形 6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14343" name="五边形 7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9525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b="0" dirty="0">
                <a:solidFill>
                  <a:srgbClr val="FFFFFF"/>
                </a:solidFill>
                <a:latin typeface="Calibri" panose="020F0502020204030204" pitchFamily="34" charset="0"/>
                <a:ea typeface="楷体_GB2312"/>
              </a:endParaRPr>
            </a:p>
          </p:txBody>
        </p:sp>
      </p:grp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在递归的预测分析过程中进行翻译</a:t>
            </a:r>
          </a:p>
        </p:txBody>
      </p:sp>
      <p:sp>
        <p:nvSpPr>
          <p:cNvPr id="14340" name="Rectangle 3"/>
          <p:cNvSpPr txBox="1"/>
          <p:nvPr/>
        </p:nvSpPr>
        <p:spPr>
          <a:xfrm>
            <a:off x="98425" y="1404938"/>
            <a:ext cx="4543425" cy="3027362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/>
          <a:lstStyle/>
          <a:p>
            <a:pPr marL="257175" indent="-257175" eaLnBrk="1" hangingPunct="1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例</a:t>
            </a:r>
            <a:endParaRPr lang="en-US" altLang="zh-CN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57175" indent="-257175" eaLnBrk="1" hangingPunct="1">
              <a:spcBef>
                <a:spcPct val="20000"/>
              </a:spcBef>
              <a:buSzPct val="100000"/>
              <a:buNone/>
            </a:pPr>
            <a:r>
              <a:rPr lang="en-US" altLang="zh-CN" sz="2000" i="1" dirty="0">
                <a:latin typeface="Times New Roman" panose="02020603050405020304" pitchFamily="18" charset="0"/>
              </a:rPr>
              <a:t>SDT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57175" indent="-257175" eaLnBrk="1" hangingPunct="1">
              <a:spcBef>
                <a:spcPct val="20000"/>
              </a:spcBef>
              <a:buClr>
                <a:srgbClr val="3333CC"/>
              </a:buClr>
              <a:buSzPct val="60000"/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F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{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T</a:t>
            </a:r>
            <a:r>
              <a:rPr lang="en-US" altLang="zh-CN" sz="2000" i="1" dirty="0"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latin typeface="Times New Roman" panose="02020603050405020304" pitchFamily="18" charset="0"/>
                <a:ea typeface="楷体" panose="02010609060101010101" pitchFamily="49" charset="-122"/>
                <a:sym typeface="Times New Roman" panose="02020603050405020304" pitchFamily="18" charset="0"/>
              </a:rPr>
              <a:t>.inh 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sym typeface="Times New Roman" panose="02020603050405020304" pitchFamily="18" charset="0"/>
              </a:rPr>
              <a:t>= </a:t>
            </a:r>
            <a:r>
              <a:rPr lang="en-US" altLang="zh-CN" sz="2000" i="1" dirty="0">
                <a:latin typeface="Times New Roman" panose="02020603050405020304" pitchFamily="18" charset="0"/>
                <a:ea typeface="楷体" panose="02010609060101010101" pitchFamily="49" charset="-122"/>
                <a:sym typeface="Times New Roman" panose="02020603050405020304" pitchFamily="18" charset="0"/>
              </a:rPr>
              <a:t>F.val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sym typeface="Times New Roman" panose="02020603050405020304" pitchFamily="18" charset="0"/>
              </a:rPr>
              <a:t> } </a:t>
            </a:r>
            <a:r>
              <a:rPr lang="en-US" altLang="zh-CN" sz="2000" i="1" dirty="0">
                <a:latin typeface="Times New Roman" panose="02020603050405020304" pitchFamily="18" charset="0"/>
                <a:ea typeface="楷体" panose="02010609060101010101" pitchFamily="49" charset="-122"/>
                <a:sym typeface="Times New Roman" panose="02020603050405020304" pitchFamily="18" charset="0"/>
              </a:rPr>
              <a:t>T</a:t>
            </a:r>
            <a:r>
              <a:rPr lang="en-US" altLang="zh-CN" sz="2000" i="1" dirty="0"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</a:p>
          <a:p>
            <a:pPr marL="257175" indent="-257175" eaLnBrk="1" hangingPunct="1">
              <a:spcBef>
                <a:spcPct val="20000"/>
              </a:spcBef>
              <a:buClr>
                <a:srgbClr val="3333CC"/>
              </a:buClr>
              <a:buSzPct val="60000"/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	{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T.val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lang="en-US" altLang="zh-CN" sz="2000" i="1" dirty="0"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.syn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}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257175" indent="-257175" eaLnBrk="1" hangingPunct="1">
              <a:spcBef>
                <a:spcPct val="20000"/>
              </a:spcBef>
              <a:buClr>
                <a:srgbClr val="3333CC"/>
              </a:buClr>
              <a:buSzPct val="60000"/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latin typeface="Times New Roman" panose="02020603050405020304" pitchFamily="18" charset="0"/>
                <a:ea typeface="楷体" panose="02010609060101010101" pitchFamily="49" charset="-122"/>
              </a:rPr>
              <a:t>′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*</a:t>
            </a:r>
            <a:r>
              <a:rPr lang="zh-CN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</a:t>
            </a:r>
            <a:r>
              <a:rPr lang="zh-CN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i="1" dirty="0"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.inh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zh-CN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.inh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×</a:t>
            </a:r>
            <a:r>
              <a:rPr lang="zh-CN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r>
              <a:rPr lang="zh-CN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i="1" dirty="0"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eaLnBrk="1" hangingPunct="1">
              <a:spcBef>
                <a:spcPct val="20000"/>
              </a:spcBef>
              <a:buClr>
                <a:srgbClr val="3333CC"/>
              </a:buClr>
              <a:buSzPct val="60000"/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 </a:t>
            </a:r>
            <a:r>
              <a:rPr lang="zh-CN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.syn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zh-CN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i="1" dirty="0"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.syn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pPr marL="257175" indent="-257175" eaLnBrk="1" hangingPunct="1">
              <a:spcBef>
                <a:spcPct val="20000"/>
              </a:spcBef>
              <a:buClr>
                <a:srgbClr val="3333CC"/>
              </a:buClr>
              <a:buSzPct val="60000"/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zh-CN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zh-CN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lang="el-GR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lang="zh-CN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.syn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i="1" dirty="0"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.inh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pPr marL="257175" indent="-257175" eaLnBrk="1" hangingPunct="1">
              <a:spcBef>
                <a:spcPct val="20000"/>
              </a:spcBef>
              <a:buClr>
                <a:srgbClr val="3333CC"/>
              </a:buClr>
              <a:buSzPct val="60000"/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4)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→</a:t>
            </a:r>
            <a:r>
              <a:rPr lang="zh-CN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digit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F.val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= digit.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lexval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 }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endParaRPr lang="zh-CN" altLang="en-US" sz="1500" dirty="0">
              <a:latin typeface="Tahoma" panose="020B0604030504040204" pitchFamily="34" charset="0"/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idx="1"/>
          </p:nvPr>
        </p:nvSpPr>
        <p:spPr>
          <a:xfrm>
            <a:off x="5141913" y="1060450"/>
            <a:ext cx="3216275" cy="3297238"/>
          </a:xfrm>
          <a:ln w="12700"/>
        </p:spPr>
        <p:txBody>
          <a:bodyPr vert="horz" wrap="square" lIns="68580" tIns="34290" rIns="68580" bIns="34290" numCol="1" anchor="t" anchorCtr="0" compatLnSpc="1"/>
          <a:lstStyle/>
          <a:p>
            <a:pPr marL="272415" marR="0" lvl="0" indent="-27241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Desent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()</a:t>
            </a:r>
          </a:p>
          <a:p>
            <a:pPr marL="272415" marR="0" lvl="0" indent="-27241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{</a:t>
            </a:r>
          </a:p>
          <a:p>
            <a:pPr marL="575310" marR="0" lvl="1" indent="-27241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Tval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；</a:t>
            </a:r>
          </a:p>
          <a:p>
            <a:pPr marL="575310" marR="0" lvl="1" indent="-27241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Getnext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token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；</a:t>
            </a:r>
          </a:p>
          <a:p>
            <a:pPr marL="575310" marR="0" lvl="1" indent="-27241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Tval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token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；</a:t>
            </a:r>
          </a:p>
          <a:p>
            <a:pPr marL="575310" marR="0" lvl="1" indent="-27241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575310" marR="0" lvl="1" indent="-27241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if token ≠ “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$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” then Error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；</a:t>
            </a:r>
          </a:p>
          <a:p>
            <a:pPr marL="575310" marR="0" lvl="1" indent="-27241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return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；</a:t>
            </a:r>
          </a:p>
          <a:p>
            <a:pPr marL="272415" marR="0" lvl="0" indent="-27241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}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2415" marR="0" lvl="0" indent="-27241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3" descr="G:\QQ截图201607142012副本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514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4194175" y="1643063"/>
            <a:ext cx="4464050" cy="939800"/>
          </a:xfrm>
          <a:prstGeom prst="rect">
            <a:avLst/>
          </a:prstGeom>
        </p:spPr>
        <p:txBody>
          <a:bodyPr lIns="68580" tIns="34290" rIns="68580" bIns="34290" anchor="ctr"/>
          <a:lstStyle/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000" b="0" kern="1200" cap="none" spc="300" normalizeH="0" baseline="0" noProof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L-</a:t>
            </a:r>
            <a:r>
              <a:rPr kumimoji="0" lang="zh-CN" altLang="en-US" sz="3000" b="0" kern="1200" cap="none" spc="300" normalizeH="0" baseline="0" noProof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属性定义的</a:t>
            </a:r>
            <a:endParaRPr kumimoji="0" lang="en-US" altLang="zh-CN" sz="3000" b="0" kern="1200" cap="none" spc="300" normalizeH="0" baseline="0" noProof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defTabSz="914400" eaLnBrk="1" fontAlgn="auto" hangingPunct="1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000" b="0" spc="3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kumimoji="0" lang="zh-CN" altLang="en-US" sz="3000" b="0" kern="1200" cap="none" spc="300" normalizeH="0" baseline="0" noProof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自底向上翻译 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L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-</a:t>
            </a: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属性定义的自底向上翻译 </a:t>
            </a:r>
            <a:endParaRPr kumimoji="0" lang="zh-CN" altLang="en-US" sz="4000" b="1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571500" y="857250"/>
            <a:ext cx="8131175" cy="1541463"/>
          </a:xfrm>
        </p:spPr>
        <p:txBody>
          <a:bodyPr vert="horz" wrap="square" lIns="68580" tIns="34290" rIns="68580" bIns="34290" numCol="1" anchor="t" anchorCtr="0" compatLnSpc="1"/>
          <a:lstStyle/>
          <a:p>
            <a:pPr marL="271780" marR="0" lvl="0" indent="-271780" algn="l" defTabSz="914400" rtl="0" eaLnBrk="0" fontAlgn="base" latinLnBrk="0" hangingPunct="0">
              <a:lnSpc>
                <a:spcPts val="4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+mn-ea"/>
                <a:cs typeface="+mn-cs"/>
              </a:rPr>
              <a:t>给定一个以</a:t>
            </a:r>
            <a:r>
              <a:rPr kumimoji="0" lang="en-US" altLang="zh-CN" sz="3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LL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+mn-ea"/>
                <a:cs typeface="+mn-cs"/>
              </a:rPr>
              <a:t>文法为基础的</a:t>
            </a:r>
            <a:r>
              <a:rPr kumimoji="0" lang="en-US" altLang="zh-CN" sz="3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L-SDD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+mn-ea"/>
                <a:cs typeface="+mn-cs"/>
              </a:rPr>
              <a:t>，可以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+mn-ea"/>
                <a:cs typeface="+mn-cs"/>
              </a:rPr>
              <a:t>修改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+mn-ea"/>
                <a:cs typeface="+mn-cs"/>
              </a:rPr>
              <a:t>这个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+mn-ea"/>
                <a:cs typeface="+mn-cs"/>
              </a:rPr>
              <a:t>文法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+mn-ea"/>
                <a:cs typeface="+mn-cs"/>
              </a:rPr>
              <a:t>，并在</a:t>
            </a:r>
            <a:r>
              <a:rPr kumimoji="0" lang="en-US" altLang="zh-CN" sz="3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LR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+mn-ea"/>
                <a:cs typeface="+mn-cs"/>
              </a:rPr>
              <a:t>句法分析过程中计算这个新文法之上的</a:t>
            </a:r>
            <a:r>
              <a:rPr kumimoji="0" lang="en-US" altLang="zh-CN" sz="3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SDD</a:t>
            </a:r>
            <a:endParaRPr kumimoji="0" lang="zh-CN" altLang="en-US" sz="32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</a:p>
        </p:txBody>
      </p:sp>
      <p:sp>
        <p:nvSpPr>
          <p:cNvPr id="175107" name="Rectangle 3"/>
          <p:cNvSpPr txBox="1">
            <a:spLocks noChangeArrowheads="1"/>
          </p:cNvSpPr>
          <p:nvPr/>
        </p:nvSpPr>
        <p:spPr bwMode="auto">
          <a:xfrm>
            <a:off x="1803400" y="490538"/>
            <a:ext cx="6500813" cy="14732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 lIns="68580" tIns="34290" rIns="68580" bIns="34290"/>
          <a:lstStyle/>
          <a:p>
            <a:pPr marR="0" defTabSz="914400" eaLnBrk="1" hangingPunct="1">
              <a:spcBef>
                <a:spcPct val="20000"/>
              </a:spcBef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en-US" altLang="zh-CN" sz="200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kumimoji="0" lang="zh-CN" altLang="en-US" sz="200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 </a:t>
            </a:r>
            <a:r>
              <a:rPr kumimoji="0" lang="en-US" altLang="zh-CN" sz="200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kumimoji="0" lang="en-US" altLang="zh-CN" sz="2000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F</a:t>
            </a:r>
            <a:r>
              <a:rPr kumimoji="0" lang="en-US" altLang="zh-CN" sz="200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2000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kumimoji="0" lang="en-US" altLang="zh-CN" sz="2000" i="1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T</a:t>
            </a:r>
            <a:r>
              <a:rPr kumimoji="0" lang="en-US" altLang="zh-CN" sz="2000" i="1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kumimoji="0" lang="en-US" altLang="zh-CN" sz="2000" i="1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r>
              <a:rPr kumimoji="0" lang="en-US" altLang="zh-CN" sz="2000" i="1" kern="1200" cap="none" spc="0" normalizeH="0" baseline="0" noProof="0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inh</a:t>
            </a:r>
            <a:r>
              <a:rPr kumimoji="0" lang="en-US" altLang="zh-CN" sz="2000" i="1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2000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kumimoji="0" lang="en-US" altLang="zh-CN" sz="2000" i="1" kern="1200" cap="none" spc="0" normalizeH="0" baseline="0" noProof="0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kumimoji="0" lang="en-US" altLang="zh-CN" sz="2000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r>
              <a:rPr kumimoji="0" lang="en-US" altLang="zh-CN" sz="2000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sz="2000" i="1" kern="1200" cap="none" spc="0" normalizeH="0" baseline="0" noProof="0" dirty="0"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{ </a:t>
            </a:r>
            <a:r>
              <a:rPr kumimoji="0" lang="en-US" altLang="zh-CN" sz="2000" i="1" kern="1200" cap="none" spc="0" normalizeH="0" baseline="0" noProof="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T.val</a:t>
            </a:r>
            <a:r>
              <a:rPr kumimoji="0" lang="en-US" altLang="zh-CN" sz="2000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200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kumimoji="0" lang="en-US" altLang="zh-CN" sz="2000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sz="2000" i="1" kern="1200" cap="none" spc="0" normalizeH="0" baseline="0" noProof="0" dirty="0"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r>
              <a:rPr kumimoji="0" lang="en-US" altLang="zh-CN" sz="2000" i="1" kern="1200" cap="none" spc="0" normalizeH="0" baseline="0" noProof="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syn</a:t>
            </a:r>
            <a:r>
              <a:rPr kumimoji="0" lang="en-US" altLang="zh-CN" sz="200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</a:t>
            </a:r>
            <a:endParaRPr kumimoji="0" lang="zh-CN" altLang="en-US" sz="2000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R="0" defTabSz="914400" eaLnBrk="1" hangingPunct="1">
              <a:spcBef>
                <a:spcPct val="20000"/>
              </a:spcBef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en-US" altLang="zh-CN" sz="200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2) </a:t>
            </a:r>
            <a:r>
              <a:rPr kumimoji="0" lang="en-US" altLang="zh-CN" sz="2000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i="1" kern="1200" cap="none" spc="0" normalizeH="0" baseline="0" noProof="0" dirty="0"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→ *</a:t>
            </a:r>
            <a:r>
              <a:rPr kumimoji="0" lang="zh-CN" altLang="en-US" sz="2000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kumimoji="0" lang="zh-CN" altLang="en-US" sz="200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000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 </a:t>
            </a:r>
            <a:r>
              <a:rPr kumimoji="0" lang="zh-CN" altLang="en-US" sz="2000" i="1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2000" kern="1200" cap="none" spc="0" normalizeH="0" baseline="-2500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i="1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zh-CN" altLang="en-US" sz="2000" i="1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.inh </a:t>
            </a:r>
            <a:r>
              <a:rPr kumimoji="0" lang="zh-CN" altLang="en-US" sz="2000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kumimoji="0" lang="zh-CN" altLang="en-US" sz="2000" i="1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i="1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zh-CN" altLang="en-US" sz="2000" i="1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.inh</a:t>
            </a:r>
            <a:r>
              <a:rPr kumimoji="0" lang="zh-CN" altLang="en-US" sz="2000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×</a:t>
            </a:r>
            <a:r>
              <a:rPr kumimoji="0" lang="zh-CN" altLang="en-US" sz="2000" i="1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kumimoji="0" lang="zh-CN" altLang="en-US" sz="2000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r>
              <a:rPr kumimoji="0" lang="zh-CN" altLang="en-US" sz="2000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2000" kern="1200" cap="none" spc="0" normalizeH="0" baseline="-25000" noProof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i="1" kern="1200" cap="none" spc="0" normalizeH="0" baseline="0" noProof="0" dirty="0"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 </a:t>
            </a:r>
            <a:r>
              <a:rPr kumimoji="0" lang="en-US" altLang="zh-CN" sz="200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 </a:t>
            </a:r>
            <a:r>
              <a:rPr kumimoji="0" lang="zh-CN" altLang="en-US" sz="2000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i="1" kern="1200" cap="none" spc="0" normalizeH="0" baseline="0" noProof="0" dirty="0"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2000" i="1" kern="1200" cap="none" spc="0" normalizeH="0" baseline="0" noProof="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2000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kumimoji="0" lang="zh-CN" altLang="en-US" sz="2000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2000" kern="1200" cap="none" spc="0" normalizeH="0" baseline="-25000" noProof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i="1" kern="1200" cap="none" spc="0" normalizeH="0" baseline="0" noProof="0" dirty="0"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2000" i="1" kern="1200" cap="none" spc="0" normalizeH="0" baseline="0" noProof="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200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</a:t>
            </a:r>
          </a:p>
          <a:p>
            <a:pPr marR="0" defTabSz="914400" eaLnBrk="1" hangingPunct="1">
              <a:spcBef>
                <a:spcPct val="20000"/>
              </a:spcBef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en-US" altLang="zh-CN" sz="200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3) </a:t>
            </a:r>
            <a:r>
              <a:rPr kumimoji="0" lang="zh-CN" altLang="en-US" sz="2000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i="1" kern="1200" cap="none" spc="0" normalizeH="0" baseline="0" noProof="0" dirty="0"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zh-CN" altLang="en-US" sz="2000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00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kumimoji="0" lang="el-GR" altLang="zh-CN" sz="2000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kumimoji="0" lang="en-US" altLang="zh-CN" sz="2000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200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kumimoji="0" lang="zh-CN" altLang="en-US" sz="2000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i="1" kern="1200" cap="none" spc="0" normalizeH="0" baseline="0" noProof="0" dirty="0"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2000" i="1" kern="1200" cap="none" spc="0" normalizeH="0" baseline="0" noProof="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2000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zh-CN" altLang="en-US" sz="200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000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i="1" kern="1200" cap="none" spc="0" normalizeH="0" baseline="0" noProof="0" dirty="0"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2000" i="1" kern="1200" cap="none" spc="0" normalizeH="0" baseline="0" noProof="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inh</a:t>
            </a:r>
            <a:r>
              <a:rPr kumimoji="0" lang="en-US" altLang="zh-CN" sz="200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</a:t>
            </a:r>
          </a:p>
          <a:p>
            <a:pPr marR="0" defTabSz="914400" eaLnBrk="1" hangingPunct="1">
              <a:spcBef>
                <a:spcPct val="20000"/>
              </a:spcBef>
              <a:buClr>
                <a:srgbClr val="3333CC"/>
              </a:buClr>
              <a:buSzPct val="60000"/>
              <a:buFontTx/>
              <a:buNone/>
              <a:defRPr/>
            </a:pPr>
            <a:r>
              <a:rPr kumimoji="0" lang="en-US" altLang="zh-CN" sz="200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4) </a:t>
            </a:r>
            <a:r>
              <a:rPr kumimoji="0" lang="en-US" altLang="zh-CN" sz="2000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</a:t>
            </a:r>
            <a:r>
              <a:rPr kumimoji="0" lang="zh-CN" altLang="en-US" sz="200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→ </a:t>
            </a:r>
            <a:r>
              <a:rPr kumimoji="0" lang="en-US" altLang="zh-CN" sz="200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digit { </a:t>
            </a:r>
            <a:r>
              <a:rPr kumimoji="0" lang="en-US" altLang="zh-CN" sz="2000" i="1" kern="1200" cap="none" spc="0" normalizeH="0" baseline="0" noProof="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F.val</a:t>
            </a:r>
            <a:r>
              <a:rPr kumimoji="0" lang="en-US" altLang="zh-CN" sz="200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 digit</a:t>
            </a:r>
            <a:r>
              <a:rPr kumimoji="0" lang="en-US" altLang="zh-CN" sz="2000" i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.</a:t>
            </a:r>
            <a:r>
              <a:rPr kumimoji="0" lang="en-US" altLang="zh-CN" sz="2000" i="1" kern="1200" cap="none" spc="0" normalizeH="0" baseline="0" noProof="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lexval</a:t>
            </a:r>
            <a:r>
              <a:rPr kumimoji="0" lang="en-US" altLang="zh-CN" sz="200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}</a:t>
            </a:r>
            <a:endParaRPr kumimoji="0" lang="zh-CN" altLang="en-US" sz="2000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R="0" defTabSz="914400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1500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2571750" y="2428875"/>
            <a:ext cx="3857625" cy="26431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</a:ln>
        </p:spPr>
        <p:txBody>
          <a:bodyPr lIns="68580" tIns="34290" rIns="68580" bIns="34290"/>
          <a:lstStyle>
            <a:lvl1pPr marL="257175" indent="-2571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18288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2860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27432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2004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257175" marR="0" lvl="0" indent="-2571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1)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F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{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T.val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.syn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	</a:t>
            </a:r>
          </a:p>
          <a:p>
            <a:pPr marL="257175" marR="0" lvl="0" indent="-2571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kumimoji="0" lang="el-GR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kumimoji="0" lang="el-GR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;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} 	</a:t>
            </a:r>
          </a:p>
          <a:p>
            <a:pPr marL="257175" marR="0" lvl="0" indent="-2571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2)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→*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2D83F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	</a:t>
            </a:r>
          </a:p>
          <a:p>
            <a:pPr marL="257175" marR="0" lvl="0" indent="-2571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kumimoji="0" lang="el-GR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kumimoji="0" lang="el-GR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N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.inh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; 		</a:t>
            </a:r>
          </a:p>
          <a:p>
            <a:pPr marL="257175" marR="0" lvl="0" indent="-2571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N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; </a:t>
            </a:r>
          </a:p>
          <a:p>
            <a:pPr marL="257175" marR="0" lvl="0" indent="-2571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×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257175" marR="0" lvl="0" indent="-2571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3)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→</a:t>
            </a:r>
            <a:r>
              <a:rPr kumimoji="0" lang="el-GR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ε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{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.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syn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.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inh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}</a:t>
            </a:r>
          </a:p>
          <a:p>
            <a:pPr marL="257175" marR="0" lvl="0" indent="-2571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Times New Roman" panose="02020603050405020304" pitchFamily="18" charset="0"/>
              </a:rPr>
              <a:t>4) 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Times New Roman" panose="02020603050405020304" pitchFamily="18" charset="0"/>
              </a:rPr>
              <a:t>F</a:t>
            </a:r>
            <a:r>
              <a:rPr kumimoji="0" lang="zh-CN" altLang="en-US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→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digit</a:t>
            </a: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{ 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F.val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 = 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digit</a:t>
            </a:r>
            <a:r>
              <a:rPr kumimoji="0" lang="en-US" altLang="zh-CN" sz="20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.lexval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 }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0247" name="AutoShape 23"/>
          <p:cNvSpPr>
            <a:spLocks noChangeArrowheads="1"/>
          </p:cNvSpPr>
          <p:nvPr/>
        </p:nvSpPr>
        <p:spPr bwMode="auto">
          <a:xfrm>
            <a:off x="4397375" y="2100263"/>
            <a:ext cx="323850" cy="212725"/>
          </a:xfrm>
          <a:prstGeom prst="downArrow">
            <a:avLst>
              <a:gd name="adj1" fmla="val 50000"/>
              <a:gd name="adj2" fmla="val 58097"/>
            </a:avLst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vert="eaVert" wrap="none" lIns="68580" tIns="34290" rIns="68580" bIns="3429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0249" name="Rectangle 25"/>
          <p:cNvSpPr>
            <a:spLocks noChangeArrowheads="1"/>
          </p:cNvSpPr>
          <p:nvPr/>
        </p:nvSpPr>
        <p:spPr bwMode="auto">
          <a:xfrm>
            <a:off x="285750" y="3071813"/>
            <a:ext cx="1997075" cy="6080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lIns="68580" tIns="34290" rIns="68580" bIns="3429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_GB2312" pitchFamily="49" charset="-122"/>
              </a:rPr>
              <a:t>标记非终结符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楷体_GB2312" pitchFamily="49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楷体_GB2312" pitchFamily="49" charset="-122"/>
              </a:rPr>
              <a:t>(</a:t>
            </a:r>
            <a:r>
              <a:rPr kumimoji="0" lang="en-US" altLang="zh-CN" sz="1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楷体_GB2312" pitchFamily="49" charset="-122"/>
              </a:rPr>
              <a:t>Marker </a:t>
            </a:r>
            <a:r>
              <a:rPr kumimoji="0" lang="en-US" altLang="zh-CN" sz="15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楷体_GB2312" pitchFamily="49" charset="-122"/>
              </a:rPr>
              <a:t>Nonterminal</a:t>
            </a:r>
            <a:r>
              <a:rPr kumimoji="0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楷体_GB2312" pitchFamily="49" charset="-122"/>
              </a:rPr>
              <a:t>)</a:t>
            </a:r>
            <a:endParaRPr kumimoji="0" lang="zh-CN" altLang="en-US" sz="1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楷体" panose="02010609060101010101" pitchFamily="49" charset="-122"/>
              <a:cs typeface="楷体_GB2312" pitchFamily="49" charset="-122"/>
            </a:endParaRPr>
          </a:p>
        </p:txBody>
      </p:sp>
      <p:sp>
        <p:nvSpPr>
          <p:cNvPr id="180250" name="Line 26"/>
          <p:cNvSpPr/>
          <p:nvPr/>
        </p:nvSpPr>
        <p:spPr>
          <a:xfrm flipV="1">
            <a:off x="2286000" y="3071813"/>
            <a:ext cx="574675" cy="285750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80251" name="Line 27"/>
          <p:cNvSpPr/>
          <p:nvPr/>
        </p:nvSpPr>
        <p:spPr>
          <a:xfrm>
            <a:off x="2286000" y="3357563"/>
            <a:ext cx="571500" cy="285750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" name="云形标注 2"/>
          <p:cNvSpPr>
            <a:spLocks noChangeArrowheads="1"/>
          </p:cNvSpPr>
          <p:nvPr/>
        </p:nvSpPr>
        <p:spPr bwMode="auto">
          <a:xfrm>
            <a:off x="6588125" y="3357563"/>
            <a:ext cx="2357438" cy="1571625"/>
          </a:xfrm>
          <a:prstGeom prst="cloudCallout">
            <a:avLst>
              <a:gd name="adj1" fmla="val -78618"/>
              <a:gd name="adj2" fmla="val -12390"/>
            </a:avLst>
          </a:prstGeom>
          <a:solidFill>
            <a:schemeClr val="tx2">
              <a:lumMod val="60000"/>
              <a:lumOff val="40000"/>
            </a:schemeClr>
          </a:solidFill>
          <a:ln w="12700" algn="ctr">
            <a:solidFill>
              <a:schemeClr val="tx1"/>
            </a:solidFill>
            <a:round/>
          </a:ln>
        </p:spPr>
        <p:txBody>
          <a:bodyPr lIns="0" tIns="0" rIns="0" bIns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访问未出现在该产生式中的符号的属性？</a:t>
            </a:r>
          </a:p>
        </p:txBody>
      </p:sp>
      <p:sp>
        <p:nvSpPr>
          <p:cNvPr id="4" name="矩形 3"/>
          <p:cNvSpPr/>
          <p:nvPr/>
        </p:nvSpPr>
        <p:spPr>
          <a:xfrm>
            <a:off x="6716713" y="2220913"/>
            <a:ext cx="1906588" cy="9223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修改后的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SDT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，所有语义动作都位于产生式末尾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02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02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802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802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802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802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02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802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80247" grpId="0" animBg="1"/>
      <p:bldP spid="180249" grpId="0" animBg="1"/>
      <p:bldP spid="3" grpId="0" animBg="1"/>
      <p:bldP spid="4" grpId="0" build="allAtOnce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Rectangle 3"/>
          <p:cNvSpPr>
            <a:spLocks noGrp="1" noChangeArrowheads="1"/>
          </p:cNvSpPr>
          <p:nvPr>
            <p:ph idx="1"/>
          </p:nvPr>
        </p:nvSpPr>
        <p:spPr>
          <a:xfrm>
            <a:off x="251520" y="555526"/>
            <a:ext cx="8715375" cy="4587974"/>
          </a:xfrm>
        </p:spPr>
        <p:txBody>
          <a:bodyPr vert="horz" wrap="square" lIns="68580" tIns="34290" rIns="68580" bIns="34290" numCol="1" anchor="t" anchorCtr="0" compatLnSpc="1"/>
          <a:lstStyle/>
          <a:p>
            <a:pPr marL="273050" marR="0" lvl="0" indent="-273050" algn="l" defTabSz="914400" rtl="0" eaLnBrk="0" fontAlgn="base" latinLnBrk="0" hangingPunct="0">
              <a:lnSpc>
                <a:spcPts val="27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首先构造</a:t>
            </a:r>
            <a:r>
              <a:rPr kumimoji="0" lang="en-US" altLang="zh-CN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SDT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，在各个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非终结符之前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放置语义动作来计算它的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继承属性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并在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产生式后端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放置语义动作计算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综合属性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3050" marR="0" lvl="0" indent="-273050" algn="l" defTabSz="914400" rtl="0" eaLnBrk="0" fontAlgn="base" latinLnBrk="0" hangingPunct="0">
              <a:lnSpc>
                <a:spcPts val="27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对每个内嵌的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语义动作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，向文法中引入一个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标记非终结符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来替换它。每个这样的位置都有一个不同的标记，并且对于任意一个标记</a:t>
            </a:r>
            <a:r>
              <a:rPr kumimoji="0" lang="en-US" altLang="zh-CN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都有一个产生式</a:t>
            </a:r>
            <a:r>
              <a:rPr kumimoji="0" lang="en-US" altLang="zh-CN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kumimoji="0" lang="el-GR" altLang="zh-CN" b="1" i="1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endParaRPr kumimoji="0" lang="en-US" altLang="zh-CN" b="1" i="1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73050" marR="0" lvl="0" indent="-273050" algn="l" defTabSz="914400" rtl="0" eaLnBrk="0" fontAlgn="base" latinLnBrk="0" hangingPunct="0">
              <a:lnSpc>
                <a:spcPts val="27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如果标记非终结符</a:t>
            </a:r>
            <a:r>
              <a:rPr kumimoji="0" lang="en-US" altLang="zh-CN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在某个产生式</a:t>
            </a:r>
            <a:r>
              <a:rPr kumimoji="0" lang="el-GR" altLang="zh-CN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A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kumimoji="0" lang="en-US" altLang="zh-CN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α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{a}</a:t>
            </a:r>
            <a:r>
              <a:rPr kumimoji="0" lang="en-US" altLang="zh-CN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β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中替换了语义动作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a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，对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a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进行修改得到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a' 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，并且将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a'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关联到</a:t>
            </a:r>
            <a:r>
              <a:rPr kumimoji="0" lang="en-US" altLang="zh-CN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kumimoji="0" lang="el-GR" altLang="zh-CN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上。动作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a'</a:t>
            </a:r>
          </a:p>
          <a:p>
            <a:pPr marL="575945" marR="0" lvl="1" indent="-273050" algn="l" defTabSz="914400" rtl="0" eaLnBrk="0" fontAlgn="base" latinLnBrk="0" hangingPunct="0">
              <a:lnSpc>
                <a:spcPts val="27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(a)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将动作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需要的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或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 panose="020B0604020202020204" pitchFamily="34" charset="0"/>
              </a:rPr>
              <a:t>α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中符号的任何属性作为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的继承属性进行复制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575945" marR="0" lvl="1" indent="-273050" algn="l" defTabSz="914400" rtl="0" eaLnBrk="0" fontAlgn="base" latinLnBrk="0" hangingPunct="0">
              <a:lnSpc>
                <a:spcPts val="27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(b)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按照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中的方法计算各个属性，但是将计算得到的这些属性作为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的综合属性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/>
          <p:cNvSpPr>
            <a:spLocks noGrp="1"/>
          </p:cNvSpPr>
          <p:nvPr>
            <p:ph idx="1"/>
          </p:nvPr>
        </p:nvSpPr>
        <p:spPr>
          <a:xfrm>
            <a:off x="214313" y="2565400"/>
            <a:ext cx="8915400" cy="2649538"/>
          </a:xfrm>
        </p:spPr>
        <p:txBody>
          <a:bodyPr vert="horz" wrap="square" lIns="68580" tIns="34290" rIns="68580" bIns="34290" anchor="t" anchorCtr="0"/>
          <a:lstStyle/>
          <a:p>
            <a:pPr marL="457200" indent="-457200" eaLnBrk="1" hangingPunct="1">
              <a:lnSpc>
                <a:spcPts val="2800"/>
              </a:lnSpc>
              <a:buClr>
                <a:srgbClr val="3333CC"/>
              </a:buClr>
              <a:buSzPct val="100000"/>
              <a:buFont typeface="Symbol" panose="05050102010706020507" pitchFamily="18" charset="2"/>
              <a:buNone/>
            </a:pPr>
            <a:r>
              <a:rPr lang="en-US" altLang="zh-CN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1) </a:t>
            </a:r>
            <a:r>
              <a:rPr lang="en-US" altLang="zh-CN" sz="2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T</a:t>
            </a:r>
            <a:r>
              <a:rPr lang="en-US" altLang="zh-CN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Arial" panose="020B0604020202020204" pitchFamily="34" charset="0"/>
              </a:rPr>
              <a:t>→</a:t>
            </a:r>
            <a:r>
              <a:rPr lang="en-US" altLang="zh-CN" sz="2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Arial" panose="020B0604020202020204" pitchFamily="34" charset="0"/>
              </a:rPr>
              <a:t>F </a:t>
            </a:r>
            <a:r>
              <a:rPr lang="en-US" altLang="zh-CN" sz="2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M</a:t>
            </a:r>
            <a:r>
              <a:rPr lang="en-US" altLang="zh-CN" sz="2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Arial" panose="020B0604020202020204" pitchFamily="34" charset="0"/>
              </a:rPr>
              <a:t> </a:t>
            </a:r>
            <a:r>
              <a:rPr lang="en-US" altLang="zh-CN" sz="2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Times New Roman" panose="02020603050405020304" pitchFamily="18" charset="0"/>
              </a:rPr>
              <a:t>T</a:t>
            </a:r>
            <a:r>
              <a:rPr lang="en-US" altLang="zh-CN" sz="2000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lang="en-US" altLang="zh-CN" sz="2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Times New Roman" panose="02020603050405020304" pitchFamily="18" charset="0"/>
              </a:rPr>
              <a:t> </a:t>
            </a:r>
            <a:r>
              <a:rPr lang="en-US" altLang="zh-CN" sz="2000" b="1" kern="12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Times New Roman" panose="02020603050405020304" pitchFamily="18" charset="0"/>
              </a:rPr>
              <a:t>{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stack</a:t>
            </a:r>
            <a:r>
              <a:rPr lang="en-US" altLang="zh-CN" sz="2000" b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[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top-</a:t>
            </a:r>
            <a:r>
              <a:rPr lang="en-US" altLang="zh-CN" sz="2000" b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2]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.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Arial" panose="020B0604020202020204" pitchFamily="34" charset="0"/>
              </a:rPr>
              <a:t> val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  <a:sym typeface="Times New Roman" panose="02020603050405020304" pitchFamily="18" charset="0"/>
              </a:rPr>
              <a:t> 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= stack</a:t>
            </a:r>
            <a:r>
              <a:rPr lang="en-US" altLang="zh-CN" sz="2000" b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[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top</a:t>
            </a:r>
            <a:r>
              <a:rPr lang="en-US" altLang="zh-CN" sz="2000" b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]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.syn</a:t>
            </a:r>
            <a:r>
              <a:rPr lang="en-US" altLang="zh-CN" sz="2000" b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;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top = top-</a:t>
            </a:r>
            <a:r>
              <a:rPr lang="en-US" altLang="zh-CN" sz="2000" b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2;</a:t>
            </a:r>
            <a:r>
              <a:rPr lang="en-US" altLang="zh-CN" sz="2000" b="1" kern="12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Times New Roman" panose="02020603050405020304" pitchFamily="18" charset="0"/>
              </a:rPr>
              <a:t>}</a:t>
            </a:r>
          </a:p>
          <a:p>
            <a:pPr marL="457200" indent="-457200" eaLnBrk="1" hangingPunct="1">
              <a:lnSpc>
                <a:spcPts val="2800"/>
              </a:lnSpc>
              <a:buClr>
                <a:srgbClr val="3333CC"/>
              </a:buClr>
              <a:buSzPct val="100000"/>
              <a:buFont typeface="Symbol" panose="05050102010706020507" pitchFamily="18" charset="2"/>
              <a:buNone/>
            </a:pPr>
            <a:r>
              <a:rPr lang="en-US" altLang="zh-CN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Times New Roman" panose="02020603050405020304" pitchFamily="18" charset="0"/>
              </a:rPr>
              <a:t>     </a:t>
            </a:r>
            <a:r>
              <a:rPr lang="en-US" altLang="zh-CN" sz="2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M</a:t>
            </a:r>
            <a:r>
              <a:rPr lang="en-US" altLang="zh-CN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Arial" panose="020B0604020202020204" pitchFamily="34" charset="0"/>
              </a:rPr>
              <a:t>→ </a:t>
            </a:r>
            <a:r>
              <a:rPr lang="el-GR" altLang="zh-CN" sz="2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Arial" panose="020B0604020202020204" pitchFamily="34" charset="0"/>
              </a:rPr>
              <a:t>ε</a:t>
            </a:r>
            <a:r>
              <a:rPr lang="el-GR" altLang="zh-CN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Arial" panose="020B0604020202020204" pitchFamily="34" charset="0"/>
              </a:rPr>
              <a:t> </a:t>
            </a:r>
            <a:r>
              <a:rPr lang="en-US" altLang="zh-CN" sz="2000" b="1" kern="12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Arial" panose="020B0604020202020204" pitchFamily="34" charset="0"/>
              </a:rPr>
              <a:t>{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stack</a:t>
            </a:r>
            <a:r>
              <a:rPr lang="en-US" altLang="zh-CN" sz="2000" b="1" kern="12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[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top+</a:t>
            </a:r>
            <a:r>
              <a:rPr lang="en-US" altLang="zh-CN" sz="2000" b="1" kern="12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1</a:t>
            </a:r>
            <a:r>
              <a:rPr lang="en-US" altLang="zh-CN" sz="2000" b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]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.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Arial" panose="020B0604020202020204" pitchFamily="34" charset="0"/>
              </a:rPr>
              <a:t> s 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= stack</a:t>
            </a:r>
            <a:r>
              <a:rPr lang="en-US" altLang="zh-CN" sz="2000" b="1" kern="12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[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top</a:t>
            </a:r>
            <a:r>
              <a:rPr lang="en-US" altLang="zh-CN" sz="2000" b="1" kern="12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]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.val</a:t>
            </a:r>
            <a:r>
              <a:rPr lang="en-US" altLang="zh-CN" sz="2000" b="1" kern="12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;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top = top+</a:t>
            </a:r>
            <a:r>
              <a:rPr lang="en-US" altLang="zh-CN" sz="2000" b="1" kern="12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1;</a:t>
            </a:r>
            <a:r>
              <a:rPr lang="en-US" altLang="zh-CN" sz="2000" b="1" kern="12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Times New Roman" panose="02020603050405020304" pitchFamily="18" charset="0"/>
              </a:rPr>
              <a:t>} 	</a:t>
            </a:r>
          </a:p>
          <a:p>
            <a:pPr marL="457200" indent="-457200" eaLnBrk="1" hangingPunct="1">
              <a:lnSpc>
                <a:spcPts val="2800"/>
              </a:lnSpc>
              <a:buClr>
                <a:srgbClr val="3333CC"/>
              </a:buClr>
              <a:buSzPct val="100000"/>
              <a:buFont typeface="Symbol" panose="05050102010706020507" pitchFamily="18" charset="2"/>
              <a:buNone/>
            </a:pPr>
            <a:r>
              <a:rPr lang="en-US" altLang="zh-CN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2) </a:t>
            </a:r>
            <a:r>
              <a:rPr lang="en-US" altLang="zh-CN" sz="2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T</a:t>
            </a:r>
            <a:r>
              <a:rPr lang="en-US" altLang="zh-CN" sz="2000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lang="en-US" altLang="zh-CN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→*</a:t>
            </a:r>
            <a:r>
              <a:rPr lang="zh-CN" altLang="en-US" sz="2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F </a:t>
            </a:r>
            <a:r>
              <a:rPr lang="en-US" altLang="zh-CN" sz="2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N</a:t>
            </a:r>
            <a:r>
              <a:rPr lang="en-US" altLang="zh-CN" sz="2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Arial" panose="020B0604020202020204" pitchFamily="34" charset="0"/>
              </a:rPr>
              <a:t> </a:t>
            </a:r>
            <a:r>
              <a:rPr lang="zh-CN" altLang="en-US" sz="2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T</a:t>
            </a:r>
            <a:r>
              <a:rPr lang="zh-CN" altLang="en-US" sz="2000" b="1" kern="12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1</a:t>
            </a:r>
            <a:r>
              <a:rPr lang="en-US" altLang="zh-CN" sz="2000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lang="zh-CN" altLang="en-US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lang="en-US" altLang="zh-CN" sz="2000" b="1" kern="12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{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stack</a:t>
            </a:r>
            <a:r>
              <a:rPr lang="en-US" altLang="zh-CN" sz="2000" b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[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top-</a:t>
            </a:r>
            <a:r>
              <a:rPr lang="en-US" altLang="zh-CN" sz="2000" b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3]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.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Arial" panose="020B0604020202020204" pitchFamily="34" charset="0"/>
              </a:rPr>
              <a:t> syn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Times New Roman" panose="02020603050405020304" pitchFamily="18" charset="0"/>
              </a:rPr>
              <a:t> 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= stack</a:t>
            </a:r>
            <a:r>
              <a:rPr lang="en-US" altLang="zh-CN" sz="2000" b="1" kern="12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[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top</a:t>
            </a:r>
            <a:r>
              <a:rPr lang="en-US" altLang="zh-CN" sz="2000" b="1" kern="12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]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.syn</a:t>
            </a:r>
            <a:r>
              <a:rPr lang="en-US" altLang="zh-CN" sz="2000" b="1" kern="12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;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top = top-</a:t>
            </a:r>
            <a:r>
              <a:rPr lang="en-US" altLang="zh-CN" sz="2000" b="1" kern="12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3;}</a:t>
            </a:r>
          </a:p>
          <a:p>
            <a:pPr lvl="1">
              <a:lnSpc>
                <a:spcPts val="2800"/>
              </a:lnSpc>
              <a:buSzPct val="100000"/>
              <a:buFont typeface="Symbol" panose="05050102010706020507" pitchFamily="18" charset="2"/>
              <a:buNone/>
            </a:pPr>
            <a:r>
              <a:rPr lang="en-US" altLang="zh-CN" sz="2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N</a:t>
            </a:r>
            <a:r>
              <a:rPr lang="zh-CN" altLang="en-US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 </a:t>
            </a:r>
            <a:r>
              <a:rPr lang="en-US" altLang="zh-CN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Arial" panose="020B0604020202020204" pitchFamily="34" charset="0"/>
              </a:rPr>
              <a:t>→ </a:t>
            </a:r>
            <a:r>
              <a:rPr lang="el-GR" altLang="zh-CN" sz="2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Arial" panose="020B0604020202020204" pitchFamily="34" charset="0"/>
              </a:rPr>
              <a:t>ε</a:t>
            </a:r>
            <a:r>
              <a:rPr lang="el-GR" altLang="zh-CN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Arial" panose="020B0604020202020204" pitchFamily="34" charset="0"/>
              </a:rPr>
              <a:t> </a:t>
            </a:r>
            <a:r>
              <a:rPr lang="en-US" altLang="zh-CN" sz="2000" b="1" kern="12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Arial" panose="020B0604020202020204" pitchFamily="34" charset="0"/>
              </a:rPr>
              <a:t>{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stack</a:t>
            </a:r>
            <a:r>
              <a:rPr lang="en-US" altLang="zh-CN" sz="2000" b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[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top+</a:t>
            </a:r>
            <a:r>
              <a:rPr lang="en-US" altLang="zh-CN" sz="2000" b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1]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.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Arial" panose="020B0604020202020204" pitchFamily="34" charset="0"/>
              </a:rPr>
              <a:t> </a:t>
            </a:r>
            <a:r>
              <a:rPr lang="en-US" altLang="zh-CN" sz="2000" b="1" i="1" dirty="0">
                <a:solidFill>
                  <a:srgbClr val="2D83F4"/>
                </a:solidFill>
                <a:ea typeface="华文楷体" panose="02010600040101010101" pitchFamily="2" charset="-122"/>
                <a:sym typeface="Arial" panose="020B0604020202020204" pitchFamily="34" charset="0"/>
              </a:rPr>
              <a:t>s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  <a:sym typeface="Times New Roman" panose="02020603050405020304" pitchFamily="18" charset="0"/>
              </a:rPr>
              <a:t> 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= stack</a:t>
            </a:r>
            <a:r>
              <a:rPr lang="en-US" altLang="zh-CN" sz="2000" b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[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top-</a:t>
            </a:r>
            <a:r>
              <a:rPr lang="en-US" altLang="zh-CN" sz="2000" b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2]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. </a:t>
            </a:r>
            <a:r>
              <a:rPr lang="en-US" altLang="zh-CN" sz="2000" b="1" i="1" dirty="0">
                <a:solidFill>
                  <a:srgbClr val="2D83F4"/>
                </a:solidFill>
                <a:ea typeface="华文楷体" panose="02010600040101010101" pitchFamily="2" charset="-122"/>
                <a:sym typeface="Arial" panose="020B0604020202020204" pitchFamily="34" charset="0"/>
              </a:rPr>
              <a:t>s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  <a:sym typeface="Times New Roman" panose="02020603050405020304" pitchFamily="18" charset="0"/>
              </a:rPr>
              <a:t> </a:t>
            </a:r>
            <a:r>
              <a:rPr lang="en-US" altLang="zh-CN" sz="2000" b="1" kern="12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Times New Roman" panose="02020603050405020304" pitchFamily="18" charset="0"/>
              </a:rPr>
              <a:t>×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Times New Roman" panose="02020603050405020304" pitchFamily="18" charset="0"/>
              </a:rPr>
              <a:t> stack</a:t>
            </a:r>
            <a:r>
              <a:rPr lang="en-US" altLang="zh-CN" sz="2000" b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[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top</a:t>
            </a:r>
            <a:r>
              <a:rPr lang="en-US" altLang="zh-CN" sz="2000" b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]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.val</a:t>
            </a:r>
            <a:r>
              <a:rPr lang="en-US" altLang="zh-CN" sz="2000" b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; 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top = top+</a:t>
            </a:r>
            <a:r>
              <a:rPr lang="en-US" altLang="zh-CN" sz="2000" b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1;</a:t>
            </a:r>
            <a:r>
              <a:rPr lang="en-US" altLang="zh-CN" sz="2000" b="1" kern="12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Times New Roman" panose="02020603050405020304" pitchFamily="18" charset="0"/>
              </a:rPr>
              <a:t>} </a:t>
            </a:r>
            <a:endParaRPr lang="zh-CN" altLang="en-US" sz="2000" b="1" kern="1200" dirty="0">
              <a:solidFill>
                <a:srgbClr val="2D83F4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  <a:sym typeface="Times New Roman" panose="02020603050405020304" pitchFamily="18" charset="0"/>
            </a:endParaRPr>
          </a:p>
          <a:p>
            <a:pPr lvl="1">
              <a:lnSpc>
                <a:spcPts val="2800"/>
              </a:lnSpc>
              <a:buClr>
                <a:schemeClr val="folHlink"/>
              </a:buClr>
              <a:buSzPct val="60000"/>
              <a:buFont typeface="Symbol" panose="05050102010706020507" pitchFamily="18" charset="2"/>
              <a:buNone/>
            </a:pPr>
            <a:r>
              <a:rPr lang="en-US" altLang="zh-CN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3) </a:t>
            </a:r>
            <a:r>
              <a:rPr lang="zh-CN" altLang="en-US" sz="2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T</a:t>
            </a:r>
            <a:r>
              <a:rPr lang="en-US" altLang="zh-CN" sz="2000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lang="zh-CN" altLang="en-US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Arial" panose="020B0604020202020204" pitchFamily="34" charset="0"/>
              </a:rPr>
              <a:t>→</a:t>
            </a:r>
            <a:r>
              <a:rPr lang="el-GR" altLang="zh-CN" sz="2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Arial" panose="020B0604020202020204" pitchFamily="34" charset="0"/>
              </a:rPr>
              <a:t>ε</a:t>
            </a:r>
            <a:r>
              <a:rPr lang="en-US" altLang="zh-CN" sz="2000" b="1" kern="12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Arial" panose="020B0604020202020204" pitchFamily="34" charset="0"/>
              </a:rPr>
              <a:t>{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stack</a:t>
            </a:r>
            <a:r>
              <a:rPr lang="en-US" altLang="zh-CN" sz="2000" b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[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top+</a:t>
            </a:r>
            <a:r>
              <a:rPr lang="en-US" altLang="zh-CN" sz="2000" b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1]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.syn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  <a:sym typeface="Times New Roman" panose="02020603050405020304" pitchFamily="18" charset="0"/>
              </a:rPr>
              <a:t> 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= stack</a:t>
            </a:r>
            <a:r>
              <a:rPr lang="en-US" altLang="zh-CN" sz="2000" b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[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top</a:t>
            </a:r>
            <a:r>
              <a:rPr lang="en-US" altLang="zh-CN" sz="2000" b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]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.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Arial" panose="020B0604020202020204" pitchFamily="34" charset="0"/>
              </a:rPr>
              <a:t> </a:t>
            </a:r>
            <a:r>
              <a:rPr lang="en-US" altLang="zh-CN" sz="2000" b="1" i="1" dirty="0">
                <a:solidFill>
                  <a:srgbClr val="2D83F4"/>
                </a:solidFill>
                <a:ea typeface="华文楷体" panose="02010600040101010101" pitchFamily="2" charset="-122"/>
                <a:sym typeface="Arial" panose="020B0604020202020204" pitchFamily="34" charset="0"/>
              </a:rPr>
              <a:t>s</a:t>
            </a:r>
            <a:r>
              <a:rPr lang="en-US" altLang="zh-CN" sz="2000" b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;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 top = top+</a:t>
            </a:r>
            <a:r>
              <a:rPr lang="en-US" altLang="zh-CN" sz="2000" b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1;</a:t>
            </a:r>
            <a:r>
              <a:rPr lang="en-US" altLang="zh-CN" sz="2000" b="1" kern="12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}</a:t>
            </a:r>
          </a:p>
          <a:p>
            <a:pPr marL="457200" indent="-457200">
              <a:lnSpc>
                <a:spcPts val="2800"/>
              </a:lnSpc>
              <a:buSzPct val="100000"/>
              <a:buFont typeface="Symbol" panose="05050102010706020507" pitchFamily="18" charset="2"/>
              <a:buNone/>
            </a:pPr>
            <a:r>
              <a:rPr lang="en-US" altLang="zh-CN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Times New Roman" panose="02020603050405020304" pitchFamily="18" charset="0"/>
              </a:rPr>
              <a:t>4) </a:t>
            </a:r>
            <a:r>
              <a:rPr lang="en-US" altLang="zh-CN" sz="2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Times New Roman" panose="02020603050405020304" pitchFamily="18" charset="0"/>
              </a:rPr>
              <a:t>F</a:t>
            </a:r>
            <a:r>
              <a:rPr lang="zh-CN" altLang="en-US" sz="2000" b="1" i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Arial" panose="020B0604020202020204" pitchFamily="34" charset="0"/>
              </a:rPr>
              <a:t> </a:t>
            </a:r>
            <a:r>
              <a:rPr lang="zh-CN" altLang="en-US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Arial" panose="020B0604020202020204" pitchFamily="34" charset="0"/>
              </a:rPr>
              <a:t>→</a:t>
            </a:r>
            <a:r>
              <a:rPr lang="en-US" altLang="zh-CN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Arial" panose="020B0604020202020204" pitchFamily="34" charset="0"/>
              </a:rPr>
              <a:t>digit </a:t>
            </a:r>
            <a:r>
              <a:rPr lang="en-US" altLang="zh-CN" sz="2000" b="1" kern="12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Arial" panose="020B0604020202020204" pitchFamily="34" charset="0"/>
              </a:rPr>
              <a:t>{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stack</a:t>
            </a:r>
            <a:r>
              <a:rPr lang="en-US" altLang="zh-CN" sz="2000" b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[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top</a:t>
            </a:r>
            <a:r>
              <a:rPr lang="en-US" altLang="zh-CN" sz="2000" b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]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.val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  <a:sym typeface="Times New Roman" panose="02020603050405020304" pitchFamily="18" charset="0"/>
              </a:rPr>
              <a:t> 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= stack</a:t>
            </a:r>
            <a:r>
              <a:rPr lang="en-US" altLang="zh-CN" sz="2000" b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[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top</a:t>
            </a:r>
            <a:r>
              <a:rPr lang="en-US" altLang="zh-CN" sz="2000" b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]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.</a:t>
            </a:r>
            <a:r>
              <a:rPr lang="en-US" altLang="zh-CN" sz="2000" b="1" i="1" kern="12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  <a:sym typeface="Arial" panose="020B0604020202020204" pitchFamily="34" charset="0"/>
              </a:rPr>
              <a:t> lexval</a:t>
            </a:r>
            <a:r>
              <a:rPr lang="en-US" altLang="zh-CN" sz="2000" b="1" kern="1200" dirty="0">
                <a:solidFill>
                  <a:srgbClr val="2D83F4"/>
                </a:solidFill>
                <a:latin typeface="Times New Roman" panose="02020603050405020304" pitchFamily="18" charset="0"/>
                <a:ea typeface="楷体_GB2312"/>
                <a:cs typeface="+mn-cs"/>
              </a:rPr>
              <a:t>;</a:t>
            </a:r>
            <a:r>
              <a:rPr lang="en-US" altLang="zh-CN" sz="2000" b="1" kern="12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+mn-cs"/>
              </a:rPr>
              <a:t>}</a:t>
            </a:r>
            <a:endParaRPr lang="zh-CN" altLang="en-US" sz="2000" b="1" kern="1200" dirty="0">
              <a:solidFill>
                <a:srgbClr val="2D83F4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412750"/>
            <a:ext cx="7931150" cy="358775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将语义动作改写为</a:t>
            </a:r>
            <a:br>
              <a:rPr kumimoji="0" lang="en-US" altLang="zh-CN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可执行的栈操作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830763" y="119063"/>
            <a:ext cx="3884613" cy="24526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1)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F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{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T.val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syn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	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kumimoji="0" lang="el-GR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kumimoji="0" lang="el-GR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;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}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	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2)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→*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1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1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	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kumimoji="0" lang="el-GR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kumimoji="0" lang="el-GR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N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.inh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; 	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N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;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×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3)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kumimoji="0" lang="el-GR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inh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4)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digit {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F.val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digit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.lexval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}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200" name="Rectangle 56"/>
          <p:cNvSpPr>
            <a:spLocks noChangeArrowheads="1"/>
          </p:cNvSpPr>
          <p:nvPr/>
        </p:nvSpPr>
        <p:spPr bwMode="auto">
          <a:xfrm>
            <a:off x="5562600" y="2651125"/>
            <a:ext cx="1746250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输入：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3 * 5</a:t>
            </a:r>
            <a:endParaRPr kumimoji="1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2328" name="Line 56"/>
          <p:cNvSpPr/>
          <p:nvPr/>
        </p:nvSpPr>
        <p:spPr>
          <a:xfrm flipV="1">
            <a:off x="6678613" y="2974975"/>
            <a:ext cx="0" cy="217488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82329" name="Line 57"/>
          <p:cNvSpPr/>
          <p:nvPr/>
        </p:nvSpPr>
        <p:spPr>
          <a:xfrm flipV="1">
            <a:off x="6454775" y="2974975"/>
            <a:ext cx="0" cy="217488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19141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grpSp>
        <p:nvGrpSpPr>
          <p:cNvPr id="28678" name="组合 11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3" name="五边形 12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28720" name="五边形 13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9525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b="0" dirty="0">
                <a:solidFill>
                  <a:srgbClr val="FFFFFF"/>
                </a:solidFill>
                <a:latin typeface="Calibri" panose="020F0502020204030204" pitchFamily="34" charset="0"/>
                <a:ea typeface="楷体_GB2312"/>
              </a:endParaRPr>
            </a:p>
          </p:txBody>
        </p:sp>
      </p:grpSp>
      <p:sp>
        <p:nvSpPr>
          <p:cNvPr id="16" name="Rectangle 17"/>
          <p:cNvSpPr>
            <a:spLocks noChangeArrowheads="1"/>
          </p:cNvSpPr>
          <p:nvPr/>
        </p:nvSpPr>
        <p:spPr bwMode="auto">
          <a:xfrm>
            <a:off x="4895850" y="3856038"/>
            <a:ext cx="269875" cy="27146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$</a:t>
            </a:r>
          </a:p>
        </p:txBody>
      </p:sp>
      <p:sp>
        <p:nvSpPr>
          <p:cNvPr id="17" name="Rectangle 18"/>
          <p:cNvSpPr>
            <a:spLocks noChangeArrowheads="1"/>
          </p:cNvSpPr>
          <p:nvPr/>
        </p:nvSpPr>
        <p:spPr bwMode="auto">
          <a:xfrm>
            <a:off x="5165725" y="3856038"/>
            <a:ext cx="271463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</a:t>
            </a:r>
          </a:p>
        </p:txBody>
      </p:sp>
      <p:sp>
        <p:nvSpPr>
          <p:cNvPr id="18" name="Rectangle 19"/>
          <p:cNvSpPr>
            <a:spLocks noChangeArrowheads="1"/>
          </p:cNvSpPr>
          <p:nvPr/>
        </p:nvSpPr>
        <p:spPr bwMode="auto">
          <a:xfrm>
            <a:off x="5165725" y="4125913"/>
            <a:ext cx="271463" cy="3540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endParaRPr kumimoji="0" lang="zh-CN" altLang="en-US" sz="17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Rectangle 17"/>
          <p:cNvSpPr>
            <a:spLocks noChangeArrowheads="1"/>
          </p:cNvSpPr>
          <p:nvPr/>
        </p:nvSpPr>
        <p:spPr bwMode="auto">
          <a:xfrm>
            <a:off x="4895850" y="3598863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</a:p>
        </p:txBody>
      </p:sp>
      <p:sp>
        <p:nvSpPr>
          <p:cNvPr id="30" name="Rectangle 18"/>
          <p:cNvSpPr>
            <a:spLocks noChangeArrowheads="1"/>
          </p:cNvSpPr>
          <p:nvPr/>
        </p:nvSpPr>
        <p:spPr bwMode="auto">
          <a:xfrm>
            <a:off x="5165725" y="3597275"/>
            <a:ext cx="271463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</a:p>
        </p:txBody>
      </p:sp>
      <p:sp>
        <p:nvSpPr>
          <p:cNvPr id="28684" name="矩形 34"/>
          <p:cNvSpPr/>
          <p:nvPr/>
        </p:nvSpPr>
        <p:spPr>
          <a:xfrm>
            <a:off x="30163" y="4143375"/>
            <a:ext cx="1327150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SLR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自动机</a:t>
            </a:r>
          </a:p>
        </p:txBody>
      </p:sp>
      <p:grpSp>
        <p:nvGrpSpPr>
          <p:cNvPr id="28685" name="组合 80"/>
          <p:cNvGrpSpPr/>
          <p:nvPr/>
        </p:nvGrpSpPr>
        <p:grpSpPr>
          <a:xfrm>
            <a:off x="52388" y="1274763"/>
            <a:ext cx="4589462" cy="3762375"/>
            <a:chOff x="3431846" y="1052514"/>
            <a:chExt cx="6118556" cy="5015607"/>
          </a:xfrm>
        </p:grpSpPr>
        <p:sp>
          <p:nvSpPr>
            <p:cNvPr id="82" name="Text Box 2"/>
            <p:cNvSpPr txBox="1">
              <a:spLocks noChangeArrowheads="1"/>
            </p:cNvSpPr>
            <p:nvPr/>
          </p:nvSpPr>
          <p:spPr bwMode="auto">
            <a:xfrm>
              <a:off x="3575762" y="1412283"/>
              <a:ext cx="1439162" cy="114914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</a:t>
              </a:r>
              <a:r>
                <a:rPr kumimoji="0" lang="en-US" altLang="zh-CN" sz="1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 · T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T→ · FMT</a:t>
              </a:r>
              <a:r>
                <a:rPr kumimoji="0" lang="en-US" altLang="zh-CN" sz="1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</a:t>
              </a:r>
              <a:endParaRPr kumimoji="1" lang="en-US" altLang="zh-CN" sz="1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F→ · </a:t>
              </a:r>
              <a:r>
                <a:rPr kumimoji="1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</a:p>
          </p:txBody>
        </p:sp>
        <p:sp>
          <p:nvSpPr>
            <p:cNvPr id="83" name="Text Box 3"/>
            <p:cNvSpPr txBox="1">
              <a:spLocks noChangeArrowheads="1"/>
            </p:cNvSpPr>
            <p:nvPr/>
          </p:nvSpPr>
          <p:spPr bwMode="auto">
            <a:xfrm>
              <a:off x="5520747" y="1052514"/>
              <a:ext cx="1223288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</a:t>
              </a:r>
              <a:r>
                <a:rPr kumimoji="0" lang="en-US" altLang="zh-CN" sz="1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→T ·</a:t>
              </a:r>
            </a:p>
          </p:txBody>
        </p:sp>
        <p:sp>
          <p:nvSpPr>
            <p:cNvPr id="28689" name="Line 4"/>
            <p:cNvSpPr/>
            <p:nvPr/>
          </p:nvSpPr>
          <p:spPr>
            <a:xfrm flipV="1">
              <a:off x="5016500" y="1557339"/>
              <a:ext cx="503238" cy="1428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85" name="Text Box 5"/>
            <p:cNvSpPr txBox="1">
              <a:spLocks noChangeArrowheads="1"/>
            </p:cNvSpPr>
            <p:nvPr/>
          </p:nvSpPr>
          <p:spPr bwMode="auto">
            <a:xfrm>
              <a:off x="5520747" y="1844006"/>
              <a:ext cx="1655037" cy="98407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T→F · MT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M→ ·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 </a:t>
              </a:r>
              <a:r>
                <a:rPr kumimoji="1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*/$</a:t>
              </a:r>
            </a:p>
          </p:txBody>
        </p:sp>
        <p:sp>
          <p:nvSpPr>
            <p:cNvPr id="28691" name="Line 6"/>
            <p:cNvSpPr/>
            <p:nvPr/>
          </p:nvSpPr>
          <p:spPr>
            <a:xfrm>
              <a:off x="5011738" y="2370138"/>
              <a:ext cx="483093" cy="1157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28692" name="Text Box 7"/>
            <p:cNvSpPr txBox="1"/>
            <p:nvPr/>
          </p:nvSpPr>
          <p:spPr>
            <a:xfrm>
              <a:off x="5084795" y="1987180"/>
              <a:ext cx="503237" cy="41036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88" name="Text Box 8"/>
            <p:cNvSpPr txBox="1">
              <a:spLocks noChangeArrowheads="1"/>
            </p:cNvSpPr>
            <p:nvPr/>
          </p:nvSpPr>
          <p:spPr bwMode="auto">
            <a:xfrm>
              <a:off x="3431846" y="3573015"/>
              <a:ext cx="1513236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Symbol" panose="05050102010706020507" pitchFamily="18" charset="2"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F→ 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·</a:t>
              </a:r>
              <a:r>
                <a:rPr kumimoji="1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*/$</a:t>
              </a:r>
            </a:p>
          </p:txBody>
        </p:sp>
        <p:sp>
          <p:nvSpPr>
            <p:cNvPr id="28694" name="Line 9"/>
            <p:cNvSpPr/>
            <p:nvPr/>
          </p:nvSpPr>
          <p:spPr>
            <a:xfrm>
              <a:off x="4367213" y="2651125"/>
              <a:ext cx="0" cy="92233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90" name="Text Box 11"/>
            <p:cNvSpPr txBox="1">
              <a:spLocks noChangeArrowheads="1"/>
            </p:cNvSpPr>
            <p:nvPr/>
          </p:nvSpPr>
          <p:spPr bwMode="auto">
            <a:xfrm>
              <a:off x="5017040" y="3996273"/>
              <a:ext cx="1824350" cy="9861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7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→*F · NT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N→ ·       </a:t>
              </a:r>
              <a:r>
                <a:rPr kumimoji="1" lang="zh-CN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*/$</a:t>
              </a:r>
            </a:p>
          </p:txBody>
        </p:sp>
        <p:sp>
          <p:nvSpPr>
            <p:cNvPr id="91" name="Text Box 12"/>
            <p:cNvSpPr txBox="1">
              <a:spLocks noChangeArrowheads="1"/>
            </p:cNvSpPr>
            <p:nvPr/>
          </p:nvSpPr>
          <p:spPr bwMode="auto">
            <a:xfrm>
              <a:off x="7825524" y="4796230"/>
              <a:ext cx="1724878" cy="12718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8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→*FN · 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 · *FNT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</a:t>
              </a:r>
              <a:endParaRPr kumimoji="1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 ·     </a:t>
              </a:r>
              <a:r>
                <a:rPr kumimoji="1" lang="zh-CN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$</a:t>
              </a:r>
            </a:p>
          </p:txBody>
        </p:sp>
        <p:sp>
          <p:nvSpPr>
            <p:cNvPr id="28697" name="Text Box 13"/>
            <p:cNvSpPr txBox="1"/>
            <p:nvPr/>
          </p:nvSpPr>
          <p:spPr>
            <a:xfrm>
              <a:off x="7318377" y="5226990"/>
              <a:ext cx="533400" cy="41036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T’</a:t>
              </a:r>
            </a:p>
          </p:txBody>
        </p:sp>
        <p:sp>
          <p:nvSpPr>
            <p:cNvPr id="28698" name="Text Box 15"/>
            <p:cNvSpPr txBox="1"/>
            <p:nvPr/>
          </p:nvSpPr>
          <p:spPr>
            <a:xfrm>
              <a:off x="3792538" y="2852739"/>
              <a:ext cx="533400" cy="41036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94" name="Text Box 17"/>
            <p:cNvSpPr txBox="1">
              <a:spLocks noChangeArrowheads="1"/>
            </p:cNvSpPr>
            <p:nvPr/>
          </p:nvSpPr>
          <p:spPr bwMode="auto">
            <a:xfrm>
              <a:off x="7594834" y="1473655"/>
              <a:ext cx="1767207" cy="12718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T→FM · 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 · *FNT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</a:t>
              </a:r>
              <a:endParaRPr kumimoji="1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 ·     </a:t>
              </a:r>
              <a:r>
                <a:rPr kumimoji="1" lang="zh-CN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$</a:t>
              </a:r>
            </a:p>
          </p:txBody>
        </p:sp>
        <p:sp>
          <p:nvSpPr>
            <p:cNvPr id="28700" name="Line 18"/>
            <p:cNvSpPr/>
            <p:nvPr/>
          </p:nvSpPr>
          <p:spPr>
            <a:xfrm flipV="1">
              <a:off x="7201264" y="2060600"/>
              <a:ext cx="43180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28701" name="Text Box 19"/>
            <p:cNvSpPr txBox="1"/>
            <p:nvPr/>
          </p:nvSpPr>
          <p:spPr>
            <a:xfrm>
              <a:off x="7162037" y="1628799"/>
              <a:ext cx="457200" cy="41036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97" name="Text Box 20"/>
            <p:cNvSpPr txBox="1">
              <a:spLocks noChangeArrowheads="1"/>
            </p:cNvSpPr>
            <p:nvPr/>
          </p:nvSpPr>
          <p:spPr bwMode="auto">
            <a:xfrm>
              <a:off x="7391658" y="3346572"/>
              <a:ext cx="1801070" cy="9861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6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 * · FNT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F→ · 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</a:p>
          </p:txBody>
        </p:sp>
        <p:sp>
          <p:nvSpPr>
            <p:cNvPr id="28703" name="Line 21"/>
            <p:cNvSpPr/>
            <p:nvPr/>
          </p:nvSpPr>
          <p:spPr>
            <a:xfrm rot="10800000">
              <a:off x="4943476" y="3789041"/>
              <a:ext cx="244792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28704" name="Text Box 22"/>
            <p:cNvSpPr txBox="1"/>
            <p:nvPr/>
          </p:nvSpPr>
          <p:spPr>
            <a:xfrm>
              <a:off x="6888163" y="3356993"/>
              <a:ext cx="457200" cy="41036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00" name="Text Box 23"/>
            <p:cNvSpPr txBox="1">
              <a:spLocks noChangeArrowheads="1"/>
            </p:cNvSpPr>
            <p:nvPr/>
          </p:nvSpPr>
          <p:spPr bwMode="auto">
            <a:xfrm>
              <a:off x="5027623" y="5342233"/>
              <a:ext cx="2031759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9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→*FNT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·</a:t>
              </a:r>
              <a:r>
                <a:rPr kumimoji="1" lang="zh-CN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$</a:t>
              </a:r>
              <a:endParaRPr kumimoji="1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06" name="Line 24"/>
            <p:cNvSpPr/>
            <p:nvPr/>
          </p:nvSpPr>
          <p:spPr>
            <a:xfrm rot="10800000">
              <a:off x="6743700" y="4293095"/>
              <a:ext cx="64770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28707" name="Text Box 25"/>
            <p:cNvSpPr txBox="1"/>
            <p:nvPr/>
          </p:nvSpPr>
          <p:spPr>
            <a:xfrm>
              <a:off x="6888163" y="3861048"/>
              <a:ext cx="381000" cy="41036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03" name="Text Box 26"/>
            <p:cNvSpPr txBox="1">
              <a:spLocks noChangeArrowheads="1"/>
            </p:cNvSpPr>
            <p:nvPr/>
          </p:nvSpPr>
          <p:spPr bwMode="auto">
            <a:xfrm>
              <a:off x="5010692" y="2925430"/>
              <a:ext cx="1805302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5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T→FMT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·</a:t>
              </a:r>
              <a:r>
                <a:rPr kumimoji="1" lang="zh-CN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$</a:t>
              </a:r>
              <a:endParaRPr kumimoji="1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09" name="Line 27"/>
            <p:cNvSpPr/>
            <p:nvPr/>
          </p:nvSpPr>
          <p:spPr>
            <a:xfrm>
              <a:off x="8112125" y="2769666"/>
              <a:ext cx="0" cy="57626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28710" name="Line 29"/>
            <p:cNvSpPr/>
            <p:nvPr/>
          </p:nvSpPr>
          <p:spPr>
            <a:xfrm flipH="1">
              <a:off x="6815138" y="2543218"/>
              <a:ext cx="792493" cy="72352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28711" name="Text Box 30"/>
            <p:cNvSpPr txBox="1"/>
            <p:nvPr/>
          </p:nvSpPr>
          <p:spPr>
            <a:xfrm>
              <a:off x="6959599" y="2997200"/>
              <a:ext cx="533400" cy="41036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T’</a:t>
              </a:r>
            </a:p>
          </p:txBody>
        </p:sp>
        <p:sp>
          <p:nvSpPr>
            <p:cNvPr id="28712" name="Text Box 32"/>
            <p:cNvSpPr txBox="1"/>
            <p:nvPr/>
          </p:nvSpPr>
          <p:spPr>
            <a:xfrm>
              <a:off x="8328024" y="4292500"/>
              <a:ext cx="457200" cy="41036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28713" name="Text Box 35"/>
            <p:cNvSpPr txBox="1"/>
            <p:nvPr/>
          </p:nvSpPr>
          <p:spPr>
            <a:xfrm>
              <a:off x="5087939" y="1066801"/>
              <a:ext cx="533400" cy="41036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28714" name="Line 38"/>
            <p:cNvSpPr/>
            <p:nvPr/>
          </p:nvSpPr>
          <p:spPr>
            <a:xfrm>
              <a:off x="6743700" y="4869482"/>
              <a:ext cx="107950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8715" name="Text Box 39"/>
            <p:cNvSpPr txBox="1"/>
            <p:nvPr/>
          </p:nvSpPr>
          <p:spPr>
            <a:xfrm>
              <a:off x="6888163" y="4509120"/>
              <a:ext cx="533400" cy="41036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28716" name="Text Box 43"/>
            <p:cNvSpPr txBox="1"/>
            <p:nvPr/>
          </p:nvSpPr>
          <p:spPr>
            <a:xfrm>
              <a:off x="8183563" y="2842690"/>
              <a:ext cx="533400" cy="41036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28717" name="Line 27"/>
            <p:cNvSpPr/>
            <p:nvPr/>
          </p:nvSpPr>
          <p:spPr>
            <a:xfrm flipH="1">
              <a:off x="7059587" y="5661000"/>
              <a:ext cx="765203" cy="228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28718" name="Line 27"/>
            <p:cNvSpPr/>
            <p:nvPr/>
          </p:nvSpPr>
          <p:spPr>
            <a:xfrm flipH="1" flipV="1">
              <a:off x="8183563" y="4365103"/>
              <a:ext cx="0" cy="38459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triangle" w="med" len="med"/>
            </a:ln>
          </p:spPr>
        </p:sp>
      </p:grpSp>
      <p:sp>
        <p:nvSpPr>
          <p:cNvPr id="50" name="Rectangle 3"/>
          <p:cNvSpPr txBox="1">
            <a:spLocks noChangeArrowheads="1"/>
          </p:cNvSpPr>
          <p:nvPr/>
        </p:nvSpPr>
        <p:spPr bwMode="auto">
          <a:xfrm>
            <a:off x="4830763" y="119063"/>
            <a:ext cx="3884613" cy="24526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1)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F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{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T.val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syn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	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kumimoji="0" lang="el-GR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kumimoji="0" lang="el-GR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;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}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	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2)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→*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1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1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	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kumimoji="0" lang="el-GR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kumimoji="0" lang="el-GR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N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.inh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; 	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N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;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×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3)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kumimoji="0" lang="el-GR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inh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4)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digit {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F.val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digit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.lexval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}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462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462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46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23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823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2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823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823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2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6200" grpId="0"/>
      <p:bldP spid="16" grpId="0" animBg="1"/>
      <p:bldP spid="17" grpId="0" animBg="1"/>
      <p:bldP spid="17" grpId="1" animBg="1"/>
      <p:bldP spid="18" grpId="0" animBg="1"/>
      <p:bldP spid="29" grpId="0" animBg="1"/>
      <p:bldP spid="30" grpId="0" animBg="1"/>
      <p:bldP spid="30" grpId="1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Line 56"/>
          <p:cNvSpPr/>
          <p:nvPr/>
        </p:nvSpPr>
        <p:spPr>
          <a:xfrm flipV="1">
            <a:off x="6678613" y="2974975"/>
            <a:ext cx="0" cy="217488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0723" name="Line 57"/>
          <p:cNvSpPr/>
          <p:nvPr/>
        </p:nvSpPr>
        <p:spPr>
          <a:xfrm flipV="1">
            <a:off x="6454775" y="2974975"/>
            <a:ext cx="0" cy="217488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21188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grpSp>
        <p:nvGrpSpPr>
          <p:cNvPr id="30725" name="组合 11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3" name="五边形 12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30778" name="五边形 13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9525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b="0" dirty="0">
                <a:solidFill>
                  <a:srgbClr val="FFFFFF"/>
                </a:solidFill>
                <a:latin typeface="Calibri" panose="020F0502020204030204" pitchFamily="34" charset="0"/>
                <a:ea typeface="楷体_GB2312"/>
              </a:endParaRPr>
            </a:p>
          </p:txBody>
        </p:sp>
      </p:grpSp>
      <p:sp>
        <p:nvSpPr>
          <p:cNvPr id="16" name="Rectangle 17"/>
          <p:cNvSpPr>
            <a:spLocks noChangeArrowheads="1"/>
          </p:cNvSpPr>
          <p:nvPr/>
        </p:nvSpPr>
        <p:spPr bwMode="auto">
          <a:xfrm>
            <a:off x="4895850" y="3856038"/>
            <a:ext cx="269875" cy="27146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宋体" panose="02010600030101010101" pitchFamily="2" charset="-122"/>
                <a:cs typeface="+mn-cs"/>
              </a:rPr>
              <a:t>$</a:t>
            </a:r>
          </a:p>
        </p:txBody>
      </p:sp>
      <p:sp>
        <p:nvSpPr>
          <p:cNvPr id="17" name="Rectangle 18"/>
          <p:cNvSpPr>
            <a:spLocks noChangeArrowheads="1"/>
          </p:cNvSpPr>
          <p:nvPr/>
        </p:nvSpPr>
        <p:spPr bwMode="auto">
          <a:xfrm>
            <a:off x="5165725" y="3856038"/>
            <a:ext cx="271463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7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</a:t>
            </a:r>
          </a:p>
        </p:txBody>
      </p:sp>
      <p:sp>
        <p:nvSpPr>
          <p:cNvPr id="18" name="Rectangle 19"/>
          <p:cNvSpPr>
            <a:spLocks noChangeArrowheads="1"/>
          </p:cNvSpPr>
          <p:nvPr/>
        </p:nvSpPr>
        <p:spPr bwMode="auto">
          <a:xfrm>
            <a:off x="5165725" y="4125913"/>
            <a:ext cx="271463" cy="3540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endParaRPr kumimoji="0" lang="zh-CN" altLang="en-US" sz="17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Rectangle 17"/>
          <p:cNvSpPr>
            <a:spLocks noChangeArrowheads="1"/>
          </p:cNvSpPr>
          <p:nvPr/>
        </p:nvSpPr>
        <p:spPr bwMode="auto">
          <a:xfrm>
            <a:off x="4895850" y="3598863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</a:p>
        </p:txBody>
      </p:sp>
      <p:sp>
        <p:nvSpPr>
          <p:cNvPr id="30" name="Rectangle 18"/>
          <p:cNvSpPr>
            <a:spLocks noChangeArrowheads="1"/>
          </p:cNvSpPr>
          <p:nvPr/>
        </p:nvSpPr>
        <p:spPr bwMode="auto">
          <a:xfrm>
            <a:off x="5165725" y="3597275"/>
            <a:ext cx="271463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5437188" y="3833813"/>
            <a:ext cx="971550" cy="3397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7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</a:p>
        </p:txBody>
      </p:sp>
      <p:sp>
        <p:nvSpPr>
          <p:cNvPr id="21" name="Rectangle 16"/>
          <p:cNvSpPr>
            <a:spLocks noChangeArrowheads="1"/>
          </p:cNvSpPr>
          <p:nvPr/>
        </p:nvSpPr>
        <p:spPr bwMode="auto">
          <a:xfrm>
            <a:off x="5437188" y="4138613"/>
            <a:ext cx="971550" cy="3540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lvl="0" algn="ctr" eaLnBrk="1" hangingPunct="1">
              <a:spcBef>
                <a:spcPct val="0"/>
              </a:spcBef>
              <a:buClrTx/>
              <a:buSzTx/>
              <a:buNone/>
              <a:defRPr/>
            </a:pPr>
            <a:r>
              <a:rPr kumimoji="0" lang="en-US" altLang="zh-CN" sz="1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Times New Roman" panose="02020603050405020304" pitchFamily="18" charset="0"/>
              </a:rPr>
              <a:t>3 (</a:t>
            </a:r>
            <a:r>
              <a:rPr lang="en-US" altLang="zh-CN" sz="1700" i="1" dirty="0" err="1">
                <a:solidFill>
                  <a:srgbClr val="000000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T</a:t>
            </a:r>
            <a:r>
              <a:rPr lang="en-US" altLang="zh-CN" sz="1600" i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700" i="1" dirty="0" err="1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inh</a:t>
            </a:r>
            <a:r>
              <a:rPr kumimoji="0" lang="en-US" altLang="zh-CN" sz="1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Times New Roman" panose="02020603050405020304" pitchFamily="18" charset="0"/>
              </a:rPr>
              <a:t>)</a:t>
            </a:r>
            <a:endParaRPr kumimoji="0" lang="zh-CN" altLang="en-US" sz="17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22" name="Rectangle 15"/>
          <p:cNvSpPr>
            <a:spLocks noChangeArrowheads="1"/>
          </p:cNvSpPr>
          <p:nvPr/>
        </p:nvSpPr>
        <p:spPr bwMode="auto">
          <a:xfrm>
            <a:off x="5437188" y="3598863"/>
            <a:ext cx="971550" cy="2571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</a:t>
            </a:r>
          </a:p>
        </p:txBody>
      </p:sp>
      <p:sp>
        <p:nvSpPr>
          <p:cNvPr id="23" name="Rectangle 20"/>
          <p:cNvSpPr>
            <a:spLocks noChangeArrowheads="1"/>
          </p:cNvSpPr>
          <p:nvPr/>
        </p:nvSpPr>
        <p:spPr bwMode="auto">
          <a:xfrm>
            <a:off x="6408738" y="3867150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*</a:t>
            </a: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408738" y="3598863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6</a:t>
            </a:r>
          </a:p>
        </p:txBody>
      </p:sp>
      <p:sp>
        <p:nvSpPr>
          <p:cNvPr id="28" name="Line 56"/>
          <p:cNvSpPr/>
          <p:nvPr/>
        </p:nvSpPr>
        <p:spPr>
          <a:xfrm flipV="1">
            <a:off x="6894513" y="2979738"/>
            <a:ext cx="0" cy="215900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1" name="Rectangle 18"/>
          <p:cNvSpPr>
            <a:spLocks noChangeArrowheads="1"/>
          </p:cNvSpPr>
          <p:nvPr/>
        </p:nvSpPr>
        <p:spPr bwMode="auto">
          <a:xfrm>
            <a:off x="6678613" y="3856038"/>
            <a:ext cx="269875" cy="27146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</a:t>
            </a:r>
          </a:p>
        </p:txBody>
      </p:sp>
      <p:sp>
        <p:nvSpPr>
          <p:cNvPr id="32" name="Rectangle 19"/>
          <p:cNvSpPr>
            <a:spLocks noChangeArrowheads="1"/>
          </p:cNvSpPr>
          <p:nvPr/>
        </p:nvSpPr>
        <p:spPr bwMode="auto">
          <a:xfrm>
            <a:off x="6678613" y="4125913"/>
            <a:ext cx="269875" cy="3540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</a:t>
            </a:r>
            <a:endParaRPr kumimoji="0" lang="zh-CN" altLang="en-US" sz="17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Rectangle 18"/>
          <p:cNvSpPr>
            <a:spLocks noChangeArrowheads="1"/>
          </p:cNvSpPr>
          <p:nvPr/>
        </p:nvSpPr>
        <p:spPr bwMode="auto">
          <a:xfrm>
            <a:off x="6678613" y="3598863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</a:p>
        </p:txBody>
      </p:sp>
      <p:sp>
        <p:nvSpPr>
          <p:cNvPr id="34" name="Line 56"/>
          <p:cNvSpPr/>
          <p:nvPr/>
        </p:nvSpPr>
        <p:spPr>
          <a:xfrm flipV="1">
            <a:off x="7056438" y="2979738"/>
            <a:ext cx="0" cy="217487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0741" name="矩形 34"/>
          <p:cNvSpPr/>
          <p:nvPr/>
        </p:nvSpPr>
        <p:spPr>
          <a:xfrm>
            <a:off x="30163" y="4143375"/>
            <a:ext cx="1327150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SLR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自动机</a:t>
            </a:r>
          </a:p>
        </p:txBody>
      </p:sp>
      <p:sp>
        <p:nvSpPr>
          <p:cNvPr id="61" name="Rectangle 56"/>
          <p:cNvSpPr>
            <a:spLocks noChangeArrowheads="1"/>
          </p:cNvSpPr>
          <p:nvPr/>
        </p:nvSpPr>
        <p:spPr bwMode="auto">
          <a:xfrm>
            <a:off x="5562600" y="2651125"/>
            <a:ext cx="1746250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输入：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3 * 5</a:t>
            </a:r>
            <a:endParaRPr kumimoji="1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0743" name="组合 80"/>
          <p:cNvGrpSpPr/>
          <p:nvPr/>
        </p:nvGrpSpPr>
        <p:grpSpPr>
          <a:xfrm>
            <a:off x="52388" y="1274763"/>
            <a:ext cx="4589462" cy="3762375"/>
            <a:chOff x="3431846" y="1052514"/>
            <a:chExt cx="6118556" cy="5015607"/>
          </a:xfrm>
        </p:grpSpPr>
        <p:sp>
          <p:nvSpPr>
            <p:cNvPr id="172" name="Text Box 2"/>
            <p:cNvSpPr txBox="1">
              <a:spLocks noChangeArrowheads="1"/>
            </p:cNvSpPr>
            <p:nvPr/>
          </p:nvSpPr>
          <p:spPr bwMode="auto">
            <a:xfrm>
              <a:off x="3575762" y="1412283"/>
              <a:ext cx="1439162" cy="114914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</a:t>
              </a:r>
              <a:r>
                <a:rPr kumimoji="0" lang="en-US" altLang="zh-CN" sz="1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 · T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T→ · FMT</a:t>
              </a:r>
              <a:r>
                <a:rPr kumimoji="0" lang="en-US" altLang="zh-CN" sz="1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</a:t>
              </a:r>
              <a:endParaRPr kumimoji="1" lang="en-US" altLang="zh-CN" sz="1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F→ · </a:t>
              </a:r>
              <a:r>
                <a:rPr kumimoji="1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</a:p>
          </p:txBody>
        </p:sp>
        <p:sp>
          <p:nvSpPr>
            <p:cNvPr id="173" name="Text Box 3"/>
            <p:cNvSpPr txBox="1">
              <a:spLocks noChangeArrowheads="1"/>
            </p:cNvSpPr>
            <p:nvPr/>
          </p:nvSpPr>
          <p:spPr bwMode="auto">
            <a:xfrm>
              <a:off x="5520747" y="1052514"/>
              <a:ext cx="1223288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</a:t>
              </a:r>
              <a:r>
                <a:rPr kumimoji="0" lang="en-US" altLang="zh-CN" sz="1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→T ·</a:t>
              </a:r>
            </a:p>
          </p:txBody>
        </p:sp>
        <p:sp>
          <p:nvSpPr>
            <p:cNvPr id="30747" name="Line 4"/>
            <p:cNvSpPr/>
            <p:nvPr/>
          </p:nvSpPr>
          <p:spPr>
            <a:xfrm flipV="1">
              <a:off x="5016500" y="1557339"/>
              <a:ext cx="503238" cy="1428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175" name="Text Box 5"/>
            <p:cNvSpPr txBox="1">
              <a:spLocks noChangeArrowheads="1"/>
            </p:cNvSpPr>
            <p:nvPr/>
          </p:nvSpPr>
          <p:spPr bwMode="auto">
            <a:xfrm>
              <a:off x="5520747" y="1844006"/>
              <a:ext cx="1655037" cy="98407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T→F · MT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M→ ·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 </a:t>
              </a:r>
              <a:r>
                <a:rPr kumimoji="1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*/$</a:t>
              </a:r>
            </a:p>
          </p:txBody>
        </p:sp>
        <p:sp>
          <p:nvSpPr>
            <p:cNvPr id="30749" name="Line 6"/>
            <p:cNvSpPr/>
            <p:nvPr/>
          </p:nvSpPr>
          <p:spPr>
            <a:xfrm>
              <a:off x="5011738" y="2370138"/>
              <a:ext cx="483093" cy="1157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30750" name="Text Box 7"/>
            <p:cNvSpPr txBox="1"/>
            <p:nvPr/>
          </p:nvSpPr>
          <p:spPr>
            <a:xfrm>
              <a:off x="5084795" y="1987180"/>
              <a:ext cx="503237" cy="41036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78" name="Text Box 8"/>
            <p:cNvSpPr txBox="1">
              <a:spLocks noChangeArrowheads="1"/>
            </p:cNvSpPr>
            <p:nvPr/>
          </p:nvSpPr>
          <p:spPr bwMode="auto">
            <a:xfrm>
              <a:off x="3431846" y="3573015"/>
              <a:ext cx="1513236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Symbol" panose="05050102010706020507" pitchFamily="18" charset="2"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F→ 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·</a:t>
              </a:r>
              <a:r>
                <a:rPr kumimoji="1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*/$</a:t>
              </a:r>
            </a:p>
          </p:txBody>
        </p:sp>
        <p:sp>
          <p:nvSpPr>
            <p:cNvPr id="30752" name="Line 9"/>
            <p:cNvSpPr/>
            <p:nvPr/>
          </p:nvSpPr>
          <p:spPr>
            <a:xfrm>
              <a:off x="4367213" y="2651125"/>
              <a:ext cx="0" cy="92233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180" name="Text Box 11"/>
            <p:cNvSpPr txBox="1">
              <a:spLocks noChangeArrowheads="1"/>
            </p:cNvSpPr>
            <p:nvPr/>
          </p:nvSpPr>
          <p:spPr bwMode="auto">
            <a:xfrm>
              <a:off x="5017040" y="3996273"/>
              <a:ext cx="1824350" cy="9861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7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→*F · NT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N→ ·       </a:t>
              </a:r>
              <a:r>
                <a:rPr kumimoji="1" lang="zh-CN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*/$</a:t>
              </a:r>
            </a:p>
          </p:txBody>
        </p:sp>
        <p:sp>
          <p:nvSpPr>
            <p:cNvPr id="181" name="Text Box 12"/>
            <p:cNvSpPr txBox="1">
              <a:spLocks noChangeArrowheads="1"/>
            </p:cNvSpPr>
            <p:nvPr/>
          </p:nvSpPr>
          <p:spPr bwMode="auto">
            <a:xfrm>
              <a:off x="7825524" y="4796230"/>
              <a:ext cx="1724878" cy="12718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8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→*FN · 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 · *FNT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</a:t>
              </a:r>
              <a:endParaRPr kumimoji="1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 ·     </a:t>
              </a:r>
              <a:r>
                <a:rPr kumimoji="1" lang="zh-CN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$</a:t>
              </a:r>
            </a:p>
          </p:txBody>
        </p:sp>
        <p:sp>
          <p:nvSpPr>
            <p:cNvPr id="30755" name="Text Box 13"/>
            <p:cNvSpPr txBox="1"/>
            <p:nvPr/>
          </p:nvSpPr>
          <p:spPr>
            <a:xfrm>
              <a:off x="7318377" y="5226990"/>
              <a:ext cx="533400" cy="41036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T’</a:t>
              </a:r>
            </a:p>
          </p:txBody>
        </p:sp>
        <p:sp>
          <p:nvSpPr>
            <p:cNvPr id="30756" name="Text Box 15"/>
            <p:cNvSpPr txBox="1"/>
            <p:nvPr/>
          </p:nvSpPr>
          <p:spPr>
            <a:xfrm>
              <a:off x="3792538" y="2852739"/>
              <a:ext cx="533400" cy="41036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84" name="Text Box 17"/>
            <p:cNvSpPr txBox="1">
              <a:spLocks noChangeArrowheads="1"/>
            </p:cNvSpPr>
            <p:nvPr/>
          </p:nvSpPr>
          <p:spPr bwMode="auto">
            <a:xfrm>
              <a:off x="7594834" y="1473655"/>
              <a:ext cx="1767207" cy="12718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T→FM · 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 · *FNT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</a:t>
              </a:r>
              <a:endParaRPr kumimoji="1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 ·     </a:t>
              </a:r>
              <a:r>
                <a:rPr kumimoji="1" lang="zh-CN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$</a:t>
              </a:r>
            </a:p>
          </p:txBody>
        </p:sp>
        <p:sp>
          <p:nvSpPr>
            <p:cNvPr id="30758" name="Line 18"/>
            <p:cNvSpPr/>
            <p:nvPr/>
          </p:nvSpPr>
          <p:spPr>
            <a:xfrm flipV="1">
              <a:off x="7201264" y="2060600"/>
              <a:ext cx="43180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30759" name="Text Box 19"/>
            <p:cNvSpPr txBox="1"/>
            <p:nvPr/>
          </p:nvSpPr>
          <p:spPr>
            <a:xfrm>
              <a:off x="7162037" y="1628799"/>
              <a:ext cx="457200" cy="41036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187" name="Text Box 20"/>
            <p:cNvSpPr txBox="1">
              <a:spLocks noChangeArrowheads="1"/>
            </p:cNvSpPr>
            <p:nvPr/>
          </p:nvSpPr>
          <p:spPr bwMode="auto">
            <a:xfrm>
              <a:off x="7391658" y="3346572"/>
              <a:ext cx="1801070" cy="9861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6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 * · FNT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F→ · 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</a:p>
          </p:txBody>
        </p:sp>
        <p:sp>
          <p:nvSpPr>
            <p:cNvPr id="30761" name="Line 21"/>
            <p:cNvSpPr/>
            <p:nvPr/>
          </p:nvSpPr>
          <p:spPr>
            <a:xfrm rot="10800000">
              <a:off x="4943476" y="3789041"/>
              <a:ext cx="244792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30762" name="Text Box 22"/>
            <p:cNvSpPr txBox="1"/>
            <p:nvPr/>
          </p:nvSpPr>
          <p:spPr>
            <a:xfrm>
              <a:off x="6888163" y="3356993"/>
              <a:ext cx="457200" cy="41036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90" name="Text Box 23"/>
            <p:cNvSpPr txBox="1">
              <a:spLocks noChangeArrowheads="1"/>
            </p:cNvSpPr>
            <p:nvPr/>
          </p:nvSpPr>
          <p:spPr bwMode="auto">
            <a:xfrm>
              <a:off x="5027623" y="5342233"/>
              <a:ext cx="2031759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9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→*FNT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·</a:t>
              </a:r>
              <a:r>
                <a:rPr kumimoji="1" lang="zh-CN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$</a:t>
              </a:r>
              <a:endParaRPr kumimoji="1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764" name="Line 24"/>
            <p:cNvSpPr/>
            <p:nvPr/>
          </p:nvSpPr>
          <p:spPr>
            <a:xfrm rot="10800000">
              <a:off x="6743700" y="4293095"/>
              <a:ext cx="64770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30765" name="Text Box 25"/>
            <p:cNvSpPr txBox="1"/>
            <p:nvPr/>
          </p:nvSpPr>
          <p:spPr>
            <a:xfrm>
              <a:off x="6888163" y="3861048"/>
              <a:ext cx="381000" cy="41036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93" name="Text Box 26"/>
            <p:cNvSpPr txBox="1">
              <a:spLocks noChangeArrowheads="1"/>
            </p:cNvSpPr>
            <p:nvPr/>
          </p:nvSpPr>
          <p:spPr bwMode="auto">
            <a:xfrm>
              <a:off x="5010692" y="2925430"/>
              <a:ext cx="1805302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5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T→FMT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·</a:t>
              </a:r>
              <a:r>
                <a:rPr kumimoji="1" lang="zh-CN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$</a:t>
              </a:r>
              <a:endParaRPr kumimoji="1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767" name="Line 27"/>
            <p:cNvSpPr/>
            <p:nvPr/>
          </p:nvSpPr>
          <p:spPr>
            <a:xfrm>
              <a:off x="8112125" y="2769666"/>
              <a:ext cx="0" cy="57626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30768" name="Line 29"/>
            <p:cNvSpPr/>
            <p:nvPr/>
          </p:nvSpPr>
          <p:spPr>
            <a:xfrm flipH="1">
              <a:off x="6815138" y="2543218"/>
              <a:ext cx="792493" cy="72352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30769" name="Text Box 30"/>
            <p:cNvSpPr txBox="1"/>
            <p:nvPr/>
          </p:nvSpPr>
          <p:spPr>
            <a:xfrm>
              <a:off x="6959599" y="2997200"/>
              <a:ext cx="533400" cy="41036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T’</a:t>
              </a:r>
            </a:p>
          </p:txBody>
        </p:sp>
        <p:sp>
          <p:nvSpPr>
            <p:cNvPr id="30770" name="Text Box 32"/>
            <p:cNvSpPr txBox="1"/>
            <p:nvPr/>
          </p:nvSpPr>
          <p:spPr>
            <a:xfrm>
              <a:off x="8328024" y="4292500"/>
              <a:ext cx="457200" cy="41036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30771" name="Text Box 35"/>
            <p:cNvSpPr txBox="1"/>
            <p:nvPr/>
          </p:nvSpPr>
          <p:spPr>
            <a:xfrm>
              <a:off x="5087939" y="1066801"/>
              <a:ext cx="533400" cy="41036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30772" name="Line 38"/>
            <p:cNvSpPr/>
            <p:nvPr/>
          </p:nvSpPr>
          <p:spPr>
            <a:xfrm>
              <a:off x="6743700" y="4869482"/>
              <a:ext cx="107950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773" name="Text Box 39"/>
            <p:cNvSpPr txBox="1"/>
            <p:nvPr/>
          </p:nvSpPr>
          <p:spPr>
            <a:xfrm>
              <a:off x="6888163" y="4509120"/>
              <a:ext cx="533400" cy="41036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30774" name="Text Box 43"/>
            <p:cNvSpPr txBox="1"/>
            <p:nvPr/>
          </p:nvSpPr>
          <p:spPr>
            <a:xfrm>
              <a:off x="8183563" y="2842690"/>
              <a:ext cx="533400" cy="41036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30775" name="Line 27"/>
            <p:cNvSpPr/>
            <p:nvPr/>
          </p:nvSpPr>
          <p:spPr>
            <a:xfrm flipH="1">
              <a:off x="7059587" y="5661000"/>
              <a:ext cx="765203" cy="228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30776" name="Line 27"/>
            <p:cNvSpPr/>
            <p:nvPr/>
          </p:nvSpPr>
          <p:spPr>
            <a:xfrm flipH="1" flipV="1">
              <a:off x="8183563" y="4365103"/>
              <a:ext cx="0" cy="38459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triangle" w="med" len="med"/>
            </a:ln>
          </p:spPr>
        </p:sp>
      </p:grpSp>
      <p:sp>
        <p:nvSpPr>
          <p:cNvPr id="59" name="Rectangle 3"/>
          <p:cNvSpPr txBox="1">
            <a:spLocks noChangeArrowheads="1"/>
          </p:cNvSpPr>
          <p:nvPr/>
        </p:nvSpPr>
        <p:spPr bwMode="auto">
          <a:xfrm>
            <a:off x="4830763" y="119063"/>
            <a:ext cx="3884613" cy="24526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1)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F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{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T.val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syn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	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kumimoji="0" lang="el-GR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kumimoji="0" lang="el-GR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;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}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	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2)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→*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1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1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	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kumimoji="0" lang="el-GR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kumimoji="0" lang="el-GR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N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.inh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; 	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N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;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×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3)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kumimoji="0" lang="el-GR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inh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4)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digit {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F.val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digit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.lexval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}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4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9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30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31" grpId="0" animBg="1"/>
      <p:bldP spid="31" grpId="1" animBg="1"/>
      <p:bldP spid="32" grpId="0" animBg="1"/>
      <p:bldP spid="33" grpId="0" animBg="1"/>
      <p:bldP spid="33" grpId="1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Line 56"/>
          <p:cNvSpPr/>
          <p:nvPr/>
        </p:nvSpPr>
        <p:spPr>
          <a:xfrm flipV="1">
            <a:off x="6678613" y="2974975"/>
            <a:ext cx="0" cy="217488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2771" name="Line 57"/>
          <p:cNvSpPr/>
          <p:nvPr/>
        </p:nvSpPr>
        <p:spPr>
          <a:xfrm flipV="1">
            <a:off x="6454775" y="2974975"/>
            <a:ext cx="0" cy="217488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23236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grpSp>
        <p:nvGrpSpPr>
          <p:cNvPr id="32773" name="组合 11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3" name="五边形 12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32832" name="五边形 13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9525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b="0" dirty="0">
                <a:solidFill>
                  <a:srgbClr val="FFFFFF"/>
                </a:solidFill>
                <a:latin typeface="Calibri" panose="020F0502020204030204" pitchFamily="34" charset="0"/>
                <a:ea typeface="楷体_GB2312"/>
              </a:endParaRPr>
            </a:p>
          </p:txBody>
        </p:sp>
      </p:grpSp>
      <p:sp>
        <p:nvSpPr>
          <p:cNvPr id="16" name="Rectangle 17"/>
          <p:cNvSpPr>
            <a:spLocks noChangeArrowheads="1"/>
          </p:cNvSpPr>
          <p:nvPr/>
        </p:nvSpPr>
        <p:spPr bwMode="auto">
          <a:xfrm>
            <a:off x="4895850" y="3856038"/>
            <a:ext cx="269875" cy="27146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宋体" panose="02010600030101010101" pitchFamily="2" charset="-122"/>
                <a:cs typeface="+mn-cs"/>
              </a:rPr>
              <a:t>$</a:t>
            </a:r>
          </a:p>
        </p:txBody>
      </p:sp>
      <p:sp>
        <p:nvSpPr>
          <p:cNvPr id="17" name="Rectangle 18"/>
          <p:cNvSpPr>
            <a:spLocks noChangeArrowheads="1"/>
          </p:cNvSpPr>
          <p:nvPr/>
        </p:nvSpPr>
        <p:spPr bwMode="auto">
          <a:xfrm>
            <a:off x="5165725" y="3856038"/>
            <a:ext cx="271463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7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</a:t>
            </a:r>
          </a:p>
        </p:txBody>
      </p:sp>
      <p:sp>
        <p:nvSpPr>
          <p:cNvPr id="18" name="Rectangle 19"/>
          <p:cNvSpPr>
            <a:spLocks noChangeArrowheads="1"/>
          </p:cNvSpPr>
          <p:nvPr/>
        </p:nvSpPr>
        <p:spPr bwMode="auto">
          <a:xfrm>
            <a:off x="5165725" y="4125913"/>
            <a:ext cx="271463" cy="3540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endParaRPr kumimoji="0" lang="zh-CN" altLang="en-US" sz="17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Rectangle 17"/>
          <p:cNvSpPr>
            <a:spLocks noChangeArrowheads="1"/>
          </p:cNvSpPr>
          <p:nvPr/>
        </p:nvSpPr>
        <p:spPr bwMode="auto">
          <a:xfrm>
            <a:off x="4895850" y="3598863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</a:p>
        </p:txBody>
      </p:sp>
      <p:sp>
        <p:nvSpPr>
          <p:cNvPr id="30" name="Rectangle 18"/>
          <p:cNvSpPr>
            <a:spLocks noChangeArrowheads="1"/>
          </p:cNvSpPr>
          <p:nvPr/>
        </p:nvSpPr>
        <p:spPr bwMode="auto">
          <a:xfrm>
            <a:off x="5165725" y="3597275"/>
            <a:ext cx="271463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5437188" y="3833813"/>
            <a:ext cx="971550" cy="3397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7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</a:p>
        </p:txBody>
      </p:sp>
      <p:sp>
        <p:nvSpPr>
          <p:cNvPr id="21" name="Rectangle 16"/>
          <p:cNvSpPr>
            <a:spLocks noChangeArrowheads="1"/>
          </p:cNvSpPr>
          <p:nvPr/>
        </p:nvSpPr>
        <p:spPr bwMode="auto">
          <a:xfrm>
            <a:off x="5437188" y="4138613"/>
            <a:ext cx="971550" cy="35394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None/>
              <a:defRPr/>
            </a:pPr>
            <a:r>
              <a:rPr lang="en-US" altLang="zh-CN" sz="1700" dirty="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3 (</a:t>
            </a:r>
            <a:r>
              <a:rPr lang="en-US" altLang="zh-CN" sz="1700" i="1" dirty="0" err="1">
                <a:solidFill>
                  <a:srgbClr val="000000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T</a:t>
            </a:r>
            <a:r>
              <a:rPr lang="en-US" altLang="zh-CN" sz="1600" i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700" i="1" dirty="0" err="1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inh</a:t>
            </a:r>
            <a:r>
              <a:rPr lang="en-US" altLang="zh-CN" sz="1700" dirty="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)</a:t>
            </a:r>
            <a:endParaRPr lang="zh-CN" altLang="en-US" sz="1700" dirty="0">
              <a:solidFill>
                <a:srgbClr val="000000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22" name="Rectangle 15"/>
          <p:cNvSpPr>
            <a:spLocks noChangeArrowheads="1"/>
          </p:cNvSpPr>
          <p:nvPr/>
        </p:nvSpPr>
        <p:spPr bwMode="auto">
          <a:xfrm>
            <a:off x="5437188" y="3598863"/>
            <a:ext cx="971550" cy="2571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</a:t>
            </a:r>
          </a:p>
        </p:txBody>
      </p:sp>
      <p:sp>
        <p:nvSpPr>
          <p:cNvPr id="23" name="Rectangle 20"/>
          <p:cNvSpPr>
            <a:spLocks noChangeArrowheads="1"/>
          </p:cNvSpPr>
          <p:nvPr/>
        </p:nvSpPr>
        <p:spPr bwMode="auto">
          <a:xfrm>
            <a:off x="6408738" y="3867150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*</a:t>
            </a: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408738" y="3598863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6</a:t>
            </a:r>
          </a:p>
        </p:txBody>
      </p:sp>
      <p:sp>
        <p:nvSpPr>
          <p:cNvPr id="32784" name="Line 56"/>
          <p:cNvSpPr/>
          <p:nvPr/>
        </p:nvSpPr>
        <p:spPr>
          <a:xfrm flipV="1">
            <a:off x="6894513" y="2979738"/>
            <a:ext cx="0" cy="215900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1" name="Rectangle 18"/>
          <p:cNvSpPr>
            <a:spLocks noChangeArrowheads="1"/>
          </p:cNvSpPr>
          <p:nvPr/>
        </p:nvSpPr>
        <p:spPr bwMode="auto">
          <a:xfrm>
            <a:off x="6678613" y="3856038"/>
            <a:ext cx="269875" cy="27146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7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</a:t>
            </a:r>
          </a:p>
        </p:txBody>
      </p:sp>
      <p:sp>
        <p:nvSpPr>
          <p:cNvPr id="32" name="Rectangle 19"/>
          <p:cNvSpPr>
            <a:spLocks noChangeArrowheads="1"/>
          </p:cNvSpPr>
          <p:nvPr/>
        </p:nvSpPr>
        <p:spPr bwMode="auto">
          <a:xfrm>
            <a:off x="6678613" y="4125913"/>
            <a:ext cx="269875" cy="3540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</a:t>
            </a:r>
            <a:endParaRPr kumimoji="0" lang="zh-CN" altLang="en-US" sz="17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Rectangle 18"/>
          <p:cNvSpPr>
            <a:spLocks noChangeArrowheads="1"/>
          </p:cNvSpPr>
          <p:nvPr/>
        </p:nvSpPr>
        <p:spPr bwMode="auto">
          <a:xfrm>
            <a:off x="6678613" y="3598863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7</a:t>
            </a:r>
          </a:p>
        </p:txBody>
      </p:sp>
      <p:sp>
        <p:nvSpPr>
          <p:cNvPr id="32788" name="Line 56"/>
          <p:cNvSpPr/>
          <p:nvPr/>
        </p:nvSpPr>
        <p:spPr>
          <a:xfrm flipV="1">
            <a:off x="7056438" y="2979738"/>
            <a:ext cx="0" cy="217487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5" name="Rectangle 23"/>
          <p:cNvSpPr>
            <a:spLocks noChangeArrowheads="1"/>
          </p:cNvSpPr>
          <p:nvPr/>
        </p:nvSpPr>
        <p:spPr bwMode="auto">
          <a:xfrm>
            <a:off x="6948488" y="3857625"/>
            <a:ext cx="1195388" cy="28098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7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</a:p>
        </p:txBody>
      </p:sp>
      <p:sp>
        <p:nvSpPr>
          <p:cNvPr id="36" name="Rectangle 24"/>
          <p:cNvSpPr>
            <a:spLocks noChangeArrowheads="1"/>
          </p:cNvSpPr>
          <p:nvPr/>
        </p:nvSpPr>
        <p:spPr bwMode="auto">
          <a:xfrm>
            <a:off x="6948488" y="4143375"/>
            <a:ext cx="1195388" cy="3540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lvl="0" algn="ctr" eaLnBrk="1" hangingPunct="1">
              <a:spcBef>
                <a:spcPct val="0"/>
              </a:spcBef>
              <a:buClrTx/>
              <a:buSzTx/>
              <a:buNone/>
              <a:defRPr/>
            </a:pPr>
            <a:r>
              <a:rPr kumimoji="0" lang="en-US" altLang="zh-CN" sz="1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Times New Roman" panose="02020603050405020304" pitchFamily="18" charset="0"/>
              </a:rPr>
              <a:t>15 (</a:t>
            </a:r>
            <a:r>
              <a:rPr lang="en-US" altLang="zh-CN" sz="1700" i="1" dirty="0">
                <a:solidFill>
                  <a:srgbClr val="000000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T</a:t>
            </a:r>
            <a:r>
              <a:rPr lang="en-US" altLang="zh-CN" sz="1700" i="1" baseline="-25000" dirty="0">
                <a:solidFill>
                  <a:srgbClr val="000000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1</a:t>
            </a:r>
            <a:r>
              <a:rPr lang="en-US" altLang="zh-CN" sz="1600" i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700" i="1" dirty="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inh</a:t>
            </a:r>
            <a:r>
              <a:rPr kumimoji="0" lang="en-US" altLang="zh-CN" sz="1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Times New Roman" panose="02020603050405020304" pitchFamily="18" charset="0"/>
              </a:rPr>
              <a:t>)</a:t>
            </a:r>
            <a:endParaRPr kumimoji="0" lang="zh-CN" altLang="en-US" sz="17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37" name="Rectangle 23"/>
          <p:cNvSpPr>
            <a:spLocks noChangeArrowheads="1"/>
          </p:cNvSpPr>
          <p:nvPr/>
        </p:nvSpPr>
        <p:spPr bwMode="auto">
          <a:xfrm>
            <a:off x="6948488" y="3598863"/>
            <a:ext cx="11334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8</a:t>
            </a:r>
          </a:p>
        </p:txBody>
      </p:sp>
      <p:sp>
        <p:nvSpPr>
          <p:cNvPr id="38" name="Rectangle 25"/>
          <p:cNvSpPr>
            <a:spLocks noChangeArrowheads="1"/>
          </p:cNvSpPr>
          <p:nvPr/>
        </p:nvSpPr>
        <p:spPr bwMode="auto">
          <a:xfrm>
            <a:off x="8083550" y="3868738"/>
            <a:ext cx="971550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7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T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endParaRPr kumimoji="0" lang="en-US" altLang="zh-CN" sz="160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39" name="Rectangle 26"/>
          <p:cNvSpPr>
            <a:spLocks noChangeArrowheads="1"/>
          </p:cNvSpPr>
          <p:nvPr/>
        </p:nvSpPr>
        <p:spPr bwMode="auto">
          <a:xfrm>
            <a:off x="8083550" y="4141788"/>
            <a:ext cx="971550" cy="3540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Times New Roman" panose="02020603050405020304" pitchFamily="18" charset="0"/>
              </a:rPr>
              <a:t>15</a:t>
            </a:r>
            <a:endParaRPr kumimoji="0" lang="zh-CN" altLang="en-US" sz="17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40" name="Rectangle 25"/>
          <p:cNvSpPr>
            <a:spLocks noChangeArrowheads="1"/>
          </p:cNvSpPr>
          <p:nvPr/>
        </p:nvSpPr>
        <p:spPr bwMode="auto">
          <a:xfrm>
            <a:off x="8081963" y="3598863"/>
            <a:ext cx="971550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9</a:t>
            </a:r>
            <a:endParaRPr kumimoji="0" lang="en-US" altLang="zh-CN" sz="17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32795" name="矩形 40"/>
          <p:cNvSpPr/>
          <p:nvPr/>
        </p:nvSpPr>
        <p:spPr>
          <a:xfrm>
            <a:off x="30163" y="4143375"/>
            <a:ext cx="1327150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SLR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自动机</a:t>
            </a:r>
          </a:p>
        </p:txBody>
      </p:sp>
      <p:sp>
        <p:nvSpPr>
          <p:cNvPr id="66" name="Rectangle 56"/>
          <p:cNvSpPr>
            <a:spLocks noChangeArrowheads="1"/>
          </p:cNvSpPr>
          <p:nvPr/>
        </p:nvSpPr>
        <p:spPr bwMode="auto">
          <a:xfrm>
            <a:off x="5562600" y="2651125"/>
            <a:ext cx="1746250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输入：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3 * 5</a:t>
            </a:r>
            <a:endParaRPr kumimoji="1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2797" name="组合 80"/>
          <p:cNvGrpSpPr/>
          <p:nvPr/>
        </p:nvGrpSpPr>
        <p:grpSpPr>
          <a:xfrm>
            <a:off x="52388" y="1274763"/>
            <a:ext cx="4589462" cy="3762375"/>
            <a:chOff x="3431846" y="1052514"/>
            <a:chExt cx="6118556" cy="5015607"/>
          </a:xfrm>
        </p:grpSpPr>
        <p:sp>
          <p:nvSpPr>
            <p:cNvPr id="168" name="Text Box 2"/>
            <p:cNvSpPr txBox="1">
              <a:spLocks noChangeArrowheads="1"/>
            </p:cNvSpPr>
            <p:nvPr/>
          </p:nvSpPr>
          <p:spPr bwMode="auto">
            <a:xfrm>
              <a:off x="3575762" y="1412283"/>
              <a:ext cx="1439162" cy="114914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</a:t>
              </a:r>
              <a:r>
                <a:rPr kumimoji="0" lang="en-US" altLang="zh-CN" sz="1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 · T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T→ · FMT</a:t>
              </a:r>
              <a:r>
                <a:rPr kumimoji="0" lang="en-US" altLang="zh-CN" sz="1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</a:t>
              </a:r>
              <a:endParaRPr kumimoji="1" lang="en-US" altLang="zh-CN" sz="1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F→ · </a:t>
              </a:r>
              <a:r>
                <a:rPr kumimoji="1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</a:p>
          </p:txBody>
        </p:sp>
        <p:sp>
          <p:nvSpPr>
            <p:cNvPr id="169" name="Text Box 3"/>
            <p:cNvSpPr txBox="1">
              <a:spLocks noChangeArrowheads="1"/>
            </p:cNvSpPr>
            <p:nvPr/>
          </p:nvSpPr>
          <p:spPr bwMode="auto">
            <a:xfrm>
              <a:off x="5520747" y="1052514"/>
              <a:ext cx="1223288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</a:t>
              </a:r>
              <a:r>
                <a:rPr kumimoji="0" lang="en-US" altLang="zh-CN" sz="1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→T ·</a:t>
              </a:r>
            </a:p>
          </p:txBody>
        </p:sp>
        <p:sp>
          <p:nvSpPr>
            <p:cNvPr id="32801" name="Line 4"/>
            <p:cNvSpPr/>
            <p:nvPr/>
          </p:nvSpPr>
          <p:spPr>
            <a:xfrm flipV="1">
              <a:off x="5016500" y="1557339"/>
              <a:ext cx="503238" cy="1428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171" name="Text Box 5"/>
            <p:cNvSpPr txBox="1">
              <a:spLocks noChangeArrowheads="1"/>
            </p:cNvSpPr>
            <p:nvPr/>
          </p:nvSpPr>
          <p:spPr bwMode="auto">
            <a:xfrm>
              <a:off x="5520747" y="1844006"/>
              <a:ext cx="1655037" cy="98407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T→F · MT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M→ ·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 </a:t>
              </a:r>
              <a:r>
                <a:rPr kumimoji="1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*/$</a:t>
              </a:r>
            </a:p>
          </p:txBody>
        </p:sp>
        <p:sp>
          <p:nvSpPr>
            <p:cNvPr id="32803" name="Line 6"/>
            <p:cNvSpPr/>
            <p:nvPr/>
          </p:nvSpPr>
          <p:spPr>
            <a:xfrm>
              <a:off x="5011738" y="2370138"/>
              <a:ext cx="483093" cy="1157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32804" name="Text Box 7"/>
            <p:cNvSpPr txBox="1"/>
            <p:nvPr/>
          </p:nvSpPr>
          <p:spPr>
            <a:xfrm>
              <a:off x="5084795" y="1987180"/>
              <a:ext cx="503237" cy="41036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74" name="Text Box 8"/>
            <p:cNvSpPr txBox="1">
              <a:spLocks noChangeArrowheads="1"/>
            </p:cNvSpPr>
            <p:nvPr/>
          </p:nvSpPr>
          <p:spPr bwMode="auto">
            <a:xfrm>
              <a:off x="3431846" y="3573015"/>
              <a:ext cx="1513236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Symbol" panose="05050102010706020507" pitchFamily="18" charset="2"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F→ 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·</a:t>
              </a:r>
              <a:r>
                <a:rPr kumimoji="1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*/$</a:t>
              </a:r>
            </a:p>
          </p:txBody>
        </p:sp>
        <p:sp>
          <p:nvSpPr>
            <p:cNvPr id="32806" name="Line 9"/>
            <p:cNvSpPr/>
            <p:nvPr/>
          </p:nvSpPr>
          <p:spPr>
            <a:xfrm>
              <a:off x="4367213" y="2651125"/>
              <a:ext cx="0" cy="92233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176" name="Text Box 11"/>
            <p:cNvSpPr txBox="1">
              <a:spLocks noChangeArrowheads="1"/>
            </p:cNvSpPr>
            <p:nvPr/>
          </p:nvSpPr>
          <p:spPr bwMode="auto">
            <a:xfrm>
              <a:off x="5017040" y="3996273"/>
              <a:ext cx="1824350" cy="9861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7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→*F · NT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N→ ·       </a:t>
              </a:r>
              <a:r>
                <a:rPr kumimoji="1" lang="zh-CN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*/$</a:t>
              </a:r>
            </a:p>
          </p:txBody>
        </p:sp>
        <p:sp>
          <p:nvSpPr>
            <p:cNvPr id="177" name="Text Box 12"/>
            <p:cNvSpPr txBox="1">
              <a:spLocks noChangeArrowheads="1"/>
            </p:cNvSpPr>
            <p:nvPr/>
          </p:nvSpPr>
          <p:spPr bwMode="auto">
            <a:xfrm>
              <a:off x="7825524" y="4796230"/>
              <a:ext cx="1724878" cy="12718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8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→*FN · 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 · *FNT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</a:t>
              </a:r>
              <a:endParaRPr kumimoji="1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 ·     </a:t>
              </a:r>
              <a:r>
                <a:rPr kumimoji="1" lang="zh-CN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$</a:t>
              </a:r>
            </a:p>
          </p:txBody>
        </p:sp>
        <p:sp>
          <p:nvSpPr>
            <p:cNvPr id="32809" name="Text Box 13"/>
            <p:cNvSpPr txBox="1"/>
            <p:nvPr/>
          </p:nvSpPr>
          <p:spPr>
            <a:xfrm>
              <a:off x="7318377" y="5226990"/>
              <a:ext cx="533400" cy="41036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T’</a:t>
              </a:r>
            </a:p>
          </p:txBody>
        </p:sp>
        <p:sp>
          <p:nvSpPr>
            <p:cNvPr id="32810" name="Text Box 15"/>
            <p:cNvSpPr txBox="1"/>
            <p:nvPr/>
          </p:nvSpPr>
          <p:spPr>
            <a:xfrm>
              <a:off x="3792538" y="2852739"/>
              <a:ext cx="533400" cy="41036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80" name="Text Box 17"/>
            <p:cNvSpPr txBox="1">
              <a:spLocks noChangeArrowheads="1"/>
            </p:cNvSpPr>
            <p:nvPr/>
          </p:nvSpPr>
          <p:spPr bwMode="auto">
            <a:xfrm>
              <a:off x="7594834" y="1473655"/>
              <a:ext cx="1767207" cy="12718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T→FM · 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 · *FNT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</a:t>
              </a:r>
              <a:endParaRPr kumimoji="1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 ·     </a:t>
              </a:r>
              <a:r>
                <a:rPr kumimoji="1" lang="zh-CN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$</a:t>
              </a:r>
            </a:p>
          </p:txBody>
        </p:sp>
        <p:sp>
          <p:nvSpPr>
            <p:cNvPr id="32812" name="Line 18"/>
            <p:cNvSpPr/>
            <p:nvPr/>
          </p:nvSpPr>
          <p:spPr>
            <a:xfrm flipV="1">
              <a:off x="7201264" y="2060600"/>
              <a:ext cx="43180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32813" name="Text Box 19"/>
            <p:cNvSpPr txBox="1"/>
            <p:nvPr/>
          </p:nvSpPr>
          <p:spPr>
            <a:xfrm>
              <a:off x="7162037" y="1628799"/>
              <a:ext cx="457200" cy="41036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183" name="Text Box 20"/>
            <p:cNvSpPr txBox="1">
              <a:spLocks noChangeArrowheads="1"/>
            </p:cNvSpPr>
            <p:nvPr/>
          </p:nvSpPr>
          <p:spPr bwMode="auto">
            <a:xfrm>
              <a:off x="7391658" y="3346572"/>
              <a:ext cx="1801070" cy="9861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6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 * · FNT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F→ · 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</a:p>
          </p:txBody>
        </p:sp>
        <p:sp>
          <p:nvSpPr>
            <p:cNvPr id="32815" name="Line 21"/>
            <p:cNvSpPr/>
            <p:nvPr/>
          </p:nvSpPr>
          <p:spPr>
            <a:xfrm rot="10800000">
              <a:off x="4943476" y="3789041"/>
              <a:ext cx="244792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32816" name="Text Box 22"/>
            <p:cNvSpPr txBox="1"/>
            <p:nvPr/>
          </p:nvSpPr>
          <p:spPr>
            <a:xfrm>
              <a:off x="6888163" y="3356993"/>
              <a:ext cx="457200" cy="41036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86" name="Text Box 23"/>
            <p:cNvSpPr txBox="1">
              <a:spLocks noChangeArrowheads="1"/>
            </p:cNvSpPr>
            <p:nvPr/>
          </p:nvSpPr>
          <p:spPr bwMode="auto">
            <a:xfrm>
              <a:off x="5027623" y="5342233"/>
              <a:ext cx="2031759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9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→*FNT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·</a:t>
              </a:r>
              <a:r>
                <a:rPr kumimoji="1" lang="zh-CN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$</a:t>
              </a:r>
              <a:endParaRPr kumimoji="1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818" name="Line 24"/>
            <p:cNvSpPr/>
            <p:nvPr/>
          </p:nvSpPr>
          <p:spPr>
            <a:xfrm rot="10800000">
              <a:off x="6743700" y="4293095"/>
              <a:ext cx="64770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32819" name="Text Box 25"/>
            <p:cNvSpPr txBox="1"/>
            <p:nvPr/>
          </p:nvSpPr>
          <p:spPr>
            <a:xfrm>
              <a:off x="6888163" y="3861048"/>
              <a:ext cx="381000" cy="41036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89" name="Text Box 26"/>
            <p:cNvSpPr txBox="1">
              <a:spLocks noChangeArrowheads="1"/>
            </p:cNvSpPr>
            <p:nvPr/>
          </p:nvSpPr>
          <p:spPr bwMode="auto">
            <a:xfrm>
              <a:off x="5010692" y="2925430"/>
              <a:ext cx="1805302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5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T→FMT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·</a:t>
              </a:r>
              <a:r>
                <a:rPr kumimoji="1" lang="zh-CN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$</a:t>
              </a:r>
              <a:endParaRPr kumimoji="1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821" name="Line 27"/>
            <p:cNvSpPr/>
            <p:nvPr/>
          </p:nvSpPr>
          <p:spPr>
            <a:xfrm>
              <a:off x="8112125" y="2769666"/>
              <a:ext cx="0" cy="57626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32822" name="Line 29"/>
            <p:cNvSpPr/>
            <p:nvPr/>
          </p:nvSpPr>
          <p:spPr>
            <a:xfrm flipH="1">
              <a:off x="6815138" y="2543218"/>
              <a:ext cx="792493" cy="72352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32823" name="Text Box 30"/>
            <p:cNvSpPr txBox="1"/>
            <p:nvPr/>
          </p:nvSpPr>
          <p:spPr>
            <a:xfrm>
              <a:off x="6959599" y="2997200"/>
              <a:ext cx="533400" cy="41036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T’</a:t>
              </a:r>
            </a:p>
          </p:txBody>
        </p:sp>
        <p:sp>
          <p:nvSpPr>
            <p:cNvPr id="32824" name="Text Box 32"/>
            <p:cNvSpPr txBox="1"/>
            <p:nvPr/>
          </p:nvSpPr>
          <p:spPr>
            <a:xfrm>
              <a:off x="8328024" y="4292500"/>
              <a:ext cx="457200" cy="41036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32825" name="Text Box 35"/>
            <p:cNvSpPr txBox="1"/>
            <p:nvPr/>
          </p:nvSpPr>
          <p:spPr>
            <a:xfrm>
              <a:off x="5087939" y="1066801"/>
              <a:ext cx="533400" cy="41036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32826" name="Line 38"/>
            <p:cNvSpPr/>
            <p:nvPr/>
          </p:nvSpPr>
          <p:spPr>
            <a:xfrm>
              <a:off x="6743700" y="4869482"/>
              <a:ext cx="107950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2827" name="Text Box 39"/>
            <p:cNvSpPr txBox="1"/>
            <p:nvPr/>
          </p:nvSpPr>
          <p:spPr>
            <a:xfrm>
              <a:off x="6888163" y="4509120"/>
              <a:ext cx="533400" cy="41036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32828" name="Text Box 43"/>
            <p:cNvSpPr txBox="1"/>
            <p:nvPr/>
          </p:nvSpPr>
          <p:spPr>
            <a:xfrm>
              <a:off x="8183563" y="2842690"/>
              <a:ext cx="533400" cy="41036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32829" name="Line 27"/>
            <p:cNvSpPr/>
            <p:nvPr/>
          </p:nvSpPr>
          <p:spPr>
            <a:xfrm flipH="1">
              <a:off x="7059587" y="5661000"/>
              <a:ext cx="765203" cy="228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32830" name="Line 27"/>
            <p:cNvSpPr/>
            <p:nvPr/>
          </p:nvSpPr>
          <p:spPr>
            <a:xfrm flipH="1" flipV="1">
              <a:off x="8183563" y="4365103"/>
              <a:ext cx="0" cy="38459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triangle" w="med" len="med"/>
            </a:ln>
          </p:spPr>
        </p:sp>
      </p:grpSp>
      <p:sp>
        <p:nvSpPr>
          <p:cNvPr id="65" name="Rectangle 3"/>
          <p:cNvSpPr txBox="1">
            <a:spLocks noChangeArrowheads="1"/>
          </p:cNvSpPr>
          <p:nvPr/>
        </p:nvSpPr>
        <p:spPr bwMode="auto">
          <a:xfrm>
            <a:off x="4830763" y="119063"/>
            <a:ext cx="3884613" cy="24526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1)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F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{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T.val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syn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	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kumimoji="0" lang="el-GR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kumimoji="0" lang="el-GR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;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}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	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2)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→*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1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1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	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kumimoji="0" lang="el-GR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kumimoji="0" lang="el-GR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N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.inh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; 	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N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;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×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3)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kumimoji="0" lang="el-GR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inh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4)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digit {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F.val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digit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.lexval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}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2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7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2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2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7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7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2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31" grpId="0" animBg="1"/>
      <p:bldP spid="31" grpId="1" animBg="1"/>
      <p:bldP spid="32" grpId="0" animBg="1"/>
      <p:bldP spid="33" grpId="0" animBg="1"/>
      <p:bldP spid="33" grpId="1" animBg="1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40" grpId="0" animBg="1"/>
      <p:bldP spid="40" grpId="1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Line 56"/>
          <p:cNvSpPr/>
          <p:nvPr/>
        </p:nvSpPr>
        <p:spPr>
          <a:xfrm flipV="1">
            <a:off x="6678613" y="2974975"/>
            <a:ext cx="0" cy="217488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4819" name="Line 57"/>
          <p:cNvSpPr/>
          <p:nvPr/>
        </p:nvSpPr>
        <p:spPr>
          <a:xfrm flipV="1">
            <a:off x="6454775" y="2974975"/>
            <a:ext cx="0" cy="217488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25284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grpSp>
        <p:nvGrpSpPr>
          <p:cNvPr id="34821" name="组合 11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3" name="五边形 12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34872" name="五边形 13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9525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b="0" dirty="0">
                <a:solidFill>
                  <a:srgbClr val="FFFFFF"/>
                </a:solidFill>
                <a:latin typeface="Calibri" panose="020F0502020204030204" pitchFamily="34" charset="0"/>
                <a:ea typeface="楷体_GB2312"/>
              </a:endParaRPr>
            </a:p>
          </p:txBody>
        </p:sp>
      </p:grpSp>
      <p:sp>
        <p:nvSpPr>
          <p:cNvPr id="16" name="Rectangle 17"/>
          <p:cNvSpPr>
            <a:spLocks noChangeArrowheads="1"/>
          </p:cNvSpPr>
          <p:nvPr/>
        </p:nvSpPr>
        <p:spPr bwMode="auto">
          <a:xfrm>
            <a:off x="4895850" y="3856038"/>
            <a:ext cx="269875" cy="27146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宋体" panose="02010600030101010101" pitchFamily="2" charset="-122"/>
                <a:cs typeface="+mn-cs"/>
              </a:rPr>
              <a:t>$</a:t>
            </a:r>
          </a:p>
        </p:txBody>
      </p:sp>
      <p:sp>
        <p:nvSpPr>
          <p:cNvPr id="17" name="Rectangle 18"/>
          <p:cNvSpPr>
            <a:spLocks noChangeArrowheads="1"/>
          </p:cNvSpPr>
          <p:nvPr/>
        </p:nvSpPr>
        <p:spPr bwMode="auto">
          <a:xfrm>
            <a:off x="5165725" y="3856038"/>
            <a:ext cx="271463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7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</a:t>
            </a:r>
          </a:p>
        </p:txBody>
      </p:sp>
      <p:sp>
        <p:nvSpPr>
          <p:cNvPr id="18" name="Rectangle 19"/>
          <p:cNvSpPr>
            <a:spLocks noChangeArrowheads="1"/>
          </p:cNvSpPr>
          <p:nvPr/>
        </p:nvSpPr>
        <p:spPr bwMode="auto">
          <a:xfrm>
            <a:off x="5165725" y="4125913"/>
            <a:ext cx="271463" cy="3540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endParaRPr kumimoji="0" lang="zh-CN" altLang="en-US" sz="17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Rectangle 17"/>
          <p:cNvSpPr>
            <a:spLocks noChangeArrowheads="1"/>
          </p:cNvSpPr>
          <p:nvPr/>
        </p:nvSpPr>
        <p:spPr bwMode="auto">
          <a:xfrm>
            <a:off x="4895850" y="3598863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</a:p>
        </p:txBody>
      </p:sp>
      <p:sp>
        <p:nvSpPr>
          <p:cNvPr id="30" name="Rectangle 18"/>
          <p:cNvSpPr>
            <a:spLocks noChangeArrowheads="1"/>
          </p:cNvSpPr>
          <p:nvPr/>
        </p:nvSpPr>
        <p:spPr bwMode="auto">
          <a:xfrm>
            <a:off x="5165725" y="3597275"/>
            <a:ext cx="271463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5437188" y="3833813"/>
            <a:ext cx="971550" cy="3397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7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</a:p>
        </p:txBody>
      </p:sp>
      <p:sp>
        <p:nvSpPr>
          <p:cNvPr id="21" name="Rectangle 16"/>
          <p:cNvSpPr>
            <a:spLocks noChangeArrowheads="1"/>
          </p:cNvSpPr>
          <p:nvPr/>
        </p:nvSpPr>
        <p:spPr bwMode="auto">
          <a:xfrm>
            <a:off x="5437188" y="4138613"/>
            <a:ext cx="971550" cy="3540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lvl="0" algn="ctr" eaLnBrk="1" hangingPunct="1">
              <a:spcBef>
                <a:spcPct val="0"/>
              </a:spcBef>
              <a:buClrTx/>
              <a:buSzTx/>
              <a:buNone/>
              <a:defRPr/>
            </a:pPr>
            <a:r>
              <a:rPr kumimoji="0" lang="en-US" altLang="zh-CN" sz="1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Times New Roman" panose="02020603050405020304" pitchFamily="18" charset="0"/>
              </a:rPr>
              <a:t>3 (</a:t>
            </a:r>
            <a:r>
              <a:rPr lang="en-US" altLang="zh-CN" sz="1700" i="1" dirty="0" err="1">
                <a:solidFill>
                  <a:srgbClr val="000000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T</a:t>
            </a:r>
            <a:r>
              <a:rPr lang="en-US" altLang="zh-CN" sz="1600" i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′</a:t>
            </a:r>
            <a:r>
              <a:rPr lang="en-US" altLang="zh-CN" sz="1700" i="1" dirty="0" err="1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inh</a:t>
            </a:r>
            <a:r>
              <a:rPr kumimoji="0" lang="en-US" altLang="zh-CN" sz="1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Times New Roman" panose="02020603050405020304" pitchFamily="18" charset="0"/>
              </a:rPr>
              <a:t>)</a:t>
            </a:r>
            <a:endParaRPr kumimoji="0" lang="zh-CN" altLang="en-US" sz="17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22" name="Rectangle 15"/>
          <p:cNvSpPr>
            <a:spLocks noChangeArrowheads="1"/>
          </p:cNvSpPr>
          <p:nvPr/>
        </p:nvSpPr>
        <p:spPr bwMode="auto">
          <a:xfrm>
            <a:off x="5437188" y="3598863"/>
            <a:ext cx="971550" cy="2571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</a:t>
            </a:r>
          </a:p>
        </p:txBody>
      </p:sp>
      <p:sp>
        <p:nvSpPr>
          <p:cNvPr id="34830" name="Line 56"/>
          <p:cNvSpPr/>
          <p:nvPr/>
        </p:nvSpPr>
        <p:spPr>
          <a:xfrm flipV="1">
            <a:off x="6894513" y="2979738"/>
            <a:ext cx="0" cy="215900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4831" name="Line 56"/>
          <p:cNvSpPr/>
          <p:nvPr/>
        </p:nvSpPr>
        <p:spPr>
          <a:xfrm flipV="1">
            <a:off x="7056438" y="2979738"/>
            <a:ext cx="0" cy="217487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1" name="Rectangle 32"/>
          <p:cNvSpPr>
            <a:spLocks noChangeArrowheads="1"/>
          </p:cNvSpPr>
          <p:nvPr/>
        </p:nvSpPr>
        <p:spPr bwMode="auto">
          <a:xfrm>
            <a:off x="6408738" y="3868738"/>
            <a:ext cx="9175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7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endParaRPr kumimoji="0" lang="en-US" altLang="zh-CN" sz="160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" name="Rectangle 33"/>
          <p:cNvSpPr>
            <a:spLocks noChangeArrowheads="1"/>
          </p:cNvSpPr>
          <p:nvPr/>
        </p:nvSpPr>
        <p:spPr bwMode="auto">
          <a:xfrm>
            <a:off x="6408738" y="4137025"/>
            <a:ext cx="917575" cy="3540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Times New Roman" panose="02020603050405020304" pitchFamily="18" charset="0"/>
              </a:rPr>
              <a:t>15</a:t>
            </a:r>
            <a:endParaRPr kumimoji="0" lang="zh-CN" altLang="en-US" sz="17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43" name="Rectangle 32"/>
          <p:cNvSpPr>
            <a:spLocks noChangeArrowheads="1"/>
          </p:cNvSpPr>
          <p:nvPr/>
        </p:nvSpPr>
        <p:spPr bwMode="auto">
          <a:xfrm>
            <a:off x="6408738" y="3598863"/>
            <a:ext cx="9175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</a:t>
            </a:r>
          </a:p>
        </p:txBody>
      </p:sp>
      <p:sp>
        <p:nvSpPr>
          <p:cNvPr id="34835" name="矩形 43"/>
          <p:cNvSpPr/>
          <p:nvPr/>
        </p:nvSpPr>
        <p:spPr>
          <a:xfrm>
            <a:off x="30163" y="4143375"/>
            <a:ext cx="1327150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SLR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自动机</a:t>
            </a:r>
          </a:p>
        </p:txBody>
      </p:sp>
      <p:sp>
        <p:nvSpPr>
          <p:cNvPr id="58" name="Rectangle 56"/>
          <p:cNvSpPr>
            <a:spLocks noChangeArrowheads="1"/>
          </p:cNvSpPr>
          <p:nvPr/>
        </p:nvSpPr>
        <p:spPr bwMode="auto">
          <a:xfrm>
            <a:off x="5562600" y="2651125"/>
            <a:ext cx="1746250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输入：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3 * 5</a:t>
            </a:r>
            <a:endParaRPr kumimoji="1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4837" name="组合 80"/>
          <p:cNvGrpSpPr/>
          <p:nvPr/>
        </p:nvGrpSpPr>
        <p:grpSpPr>
          <a:xfrm>
            <a:off x="52388" y="1274763"/>
            <a:ext cx="4589462" cy="3762375"/>
            <a:chOff x="3431846" y="1052514"/>
            <a:chExt cx="6118556" cy="5015607"/>
          </a:xfrm>
        </p:grpSpPr>
        <p:sp>
          <p:nvSpPr>
            <p:cNvPr id="170" name="Text Box 2"/>
            <p:cNvSpPr txBox="1">
              <a:spLocks noChangeArrowheads="1"/>
            </p:cNvSpPr>
            <p:nvPr/>
          </p:nvSpPr>
          <p:spPr bwMode="auto">
            <a:xfrm>
              <a:off x="3575762" y="1412283"/>
              <a:ext cx="1439162" cy="114914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</a:t>
              </a:r>
              <a:r>
                <a:rPr kumimoji="0" lang="en-US" altLang="zh-CN" sz="1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 · T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T→ · FMT</a:t>
              </a:r>
              <a:r>
                <a:rPr kumimoji="0" lang="en-US" altLang="zh-CN" sz="1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</a:t>
              </a:r>
              <a:endParaRPr kumimoji="1" lang="en-US" altLang="zh-CN" sz="1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F→ · </a:t>
              </a:r>
              <a:r>
                <a:rPr kumimoji="1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</a:p>
          </p:txBody>
        </p:sp>
        <p:sp>
          <p:nvSpPr>
            <p:cNvPr id="171" name="Text Box 3"/>
            <p:cNvSpPr txBox="1">
              <a:spLocks noChangeArrowheads="1"/>
            </p:cNvSpPr>
            <p:nvPr/>
          </p:nvSpPr>
          <p:spPr bwMode="auto">
            <a:xfrm>
              <a:off x="5520747" y="1052514"/>
              <a:ext cx="1223288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</a:t>
              </a:r>
              <a:r>
                <a:rPr kumimoji="0" lang="en-US" altLang="zh-CN" sz="1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→T ·</a:t>
              </a:r>
            </a:p>
          </p:txBody>
        </p:sp>
        <p:sp>
          <p:nvSpPr>
            <p:cNvPr id="34841" name="Line 4"/>
            <p:cNvSpPr/>
            <p:nvPr/>
          </p:nvSpPr>
          <p:spPr>
            <a:xfrm flipV="1">
              <a:off x="5016500" y="1557339"/>
              <a:ext cx="503238" cy="1428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173" name="Text Box 5"/>
            <p:cNvSpPr txBox="1">
              <a:spLocks noChangeArrowheads="1"/>
            </p:cNvSpPr>
            <p:nvPr/>
          </p:nvSpPr>
          <p:spPr bwMode="auto">
            <a:xfrm>
              <a:off x="5520747" y="1844006"/>
              <a:ext cx="1655037" cy="98407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T→F · MT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M→ ·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 </a:t>
              </a:r>
              <a:r>
                <a:rPr kumimoji="1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*/$</a:t>
              </a:r>
            </a:p>
          </p:txBody>
        </p:sp>
        <p:sp>
          <p:nvSpPr>
            <p:cNvPr id="34843" name="Line 6"/>
            <p:cNvSpPr/>
            <p:nvPr/>
          </p:nvSpPr>
          <p:spPr>
            <a:xfrm>
              <a:off x="5011738" y="2370138"/>
              <a:ext cx="483093" cy="1157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34844" name="Text Box 7"/>
            <p:cNvSpPr txBox="1"/>
            <p:nvPr/>
          </p:nvSpPr>
          <p:spPr>
            <a:xfrm>
              <a:off x="5084795" y="1987180"/>
              <a:ext cx="503237" cy="41036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76" name="Text Box 8"/>
            <p:cNvSpPr txBox="1">
              <a:spLocks noChangeArrowheads="1"/>
            </p:cNvSpPr>
            <p:nvPr/>
          </p:nvSpPr>
          <p:spPr bwMode="auto">
            <a:xfrm>
              <a:off x="3431846" y="3573015"/>
              <a:ext cx="1513236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Symbol" panose="05050102010706020507" pitchFamily="18" charset="2"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F→ 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·</a:t>
              </a:r>
              <a:r>
                <a:rPr kumimoji="1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*/$</a:t>
              </a:r>
            </a:p>
          </p:txBody>
        </p:sp>
        <p:sp>
          <p:nvSpPr>
            <p:cNvPr id="34846" name="Line 9"/>
            <p:cNvSpPr/>
            <p:nvPr/>
          </p:nvSpPr>
          <p:spPr>
            <a:xfrm>
              <a:off x="4367213" y="2651125"/>
              <a:ext cx="0" cy="92233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178" name="Text Box 11"/>
            <p:cNvSpPr txBox="1">
              <a:spLocks noChangeArrowheads="1"/>
            </p:cNvSpPr>
            <p:nvPr/>
          </p:nvSpPr>
          <p:spPr bwMode="auto">
            <a:xfrm>
              <a:off x="5017040" y="3996273"/>
              <a:ext cx="1824350" cy="9861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7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→*F · NT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N→ ·       </a:t>
              </a:r>
              <a:r>
                <a:rPr kumimoji="1" lang="zh-CN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*/$</a:t>
              </a:r>
            </a:p>
          </p:txBody>
        </p:sp>
        <p:sp>
          <p:nvSpPr>
            <p:cNvPr id="179" name="Text Box 12"/>
            <p:cNvSpPr txBox="1">
              <a:spLocks noChangeArrowheads="1"/>
            </p:cNvSpPr>
            <p:nvPr/>
          </p:nvSpPr>
          <p:spPr bwMode="auto">
            <a:xfrm>
              <a:off x="7825524" y="4796230"/>
              <a:ext cx="1724878" cy="12718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8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→*FN · 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 · *FNT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</a:t>
              </a:r>
              <a:endParaRPr kumimoji="1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 ·     </a:t>
              </a:r>
              <a:r>
                <a:rPr kumimoji="1" lang="zh-CN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$</a:t>
              </a:r>
            </a:p>
          </p:txBody>
        </p:sp>
        <p:sp>
          <p:nvSpPr>
            <p:cNvPr id="34849" name="Text Box 13"/>
            <p:cNvSpPr txBox="1"/>
            <p:nvPr/>
          </p:nvSpPr>
          <p:spPr>
            <a:xfrm>
              <a:off x="7318377" y="5226990"/>
              <a:ext cx="533400" cy="41036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T’</a:t>
              </a:r>
            </a:p>
          </p:txBody>
        </p:sp>
        <p:sp>
          <p:nvSpPr>
            <p:cNvPr id="34850" name="Text Box 15"/>
            <p:cNvSpPr txBox="1"/>
            <p:nvPr/>
          </p:nvSpPr>
          <p:spPr>
            <a:xfrm>
              <a:off x="3792538" y="2852739"/>
              <a:ext cx="533400" cy="41036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82" name="Text Box 17"/>
            <p:cNvSpPr txBox="1">
              <a:spLocks noChangeArrowheads="1"/>
            </p:cNvSpPr>
            <p:nvPr/>
          </p:nvSpPr>
          <p:spPr bwMode="auto">
            <a:xfrm>
              <a:off x="7594834" y="1473655"/>
              <a:ext cx="1767207" cy="12718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T→FM · 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 · *FNT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</a:t>
              </a:r>
              <a:endParaRPr kumimoji="1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 ·     </a:t>
              </a:r>
              <a:r>
                <a:rPr kumimoji="1" lang="zh-CN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$</a:t>
              </a:r>
            </a:p>
          </p:txBody>
        </p:sp>
        <p:sp>
          <p:nvSpPr>
            <p:cNvPr id="34852" name="Line 18"/>
            <p:cNvSpPr/>
            <p:nvPr/>
          </p:nvSpPr>
          <p:spPr>
            <a:xfrm flipV="1">
              <a:off x="7201264" y="2060600"/>
              <a:ext cx="43180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34853" name="Text Box 19"/>
            <p:cNvSpPr txBox="1"/>
            <p:nvPr/>
          </p:nvSpPr>
          <p:spPr>
            <a:xfrm>
              <a:off x="7162037" y="1628799"/>
              <a:ext cx="457200" cy="41036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185" name="Text Box 20"/>
            <p:cNvSpPr txBox="1">
              <a:spLocks noChangeArrowheads="1"/>
            </p:cNvSpPr>
            <p:nvPr/>
          </p:nvSpPr>
          <p:spPr bwMode="auto">
            <a:xfrm>
              <a:off x="7391658" y="3346572"/>
              <a:ext cx="1801070" cy="9861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6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 * · FNT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F→ · 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</a:p>
          </p:txBody>
        </p:sp>
        <p:sp>
          <p:nvSpPr>
            <p:cNvPr id="34855" name="Line 21"/>
            <p:cNvSpPr/>
            <p:nvPr/>
          </p:nvSpPr>
          <p:spPr>
            <a:xfrm rot="10800000">
              <a:off x="4943476" y="3789041"/>
              <a:ext cx="244792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34856" name="Text Box 22"/>
            <p:cNvSpPr txBox="1"/>
            <p:nvPr/>
          </p:nvSpPr>
          <p:spPr>
            <a:xfrm>
              <a:off x="6888163" y="3356993"/>
              <a:ext cx="457200" cy="41036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88" name="Text Box 23"/>
            <p:cNvSpPr txBox="1">
              <a:spLocks noChangeArrowheads="1"/>
            </p:cNvSpPr>
            <p:nvPr/>
          </p:nvSpPr>
          <p:spPr bwMode="auto">
            <a:xfrm>
              <a:off x="5027623" y="5342233"/>
              <a:ext cx="2031759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9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→*FNT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·</a:t>
              </a:r>
              <a:r>
                <a:rPr kumimoji="1" lang="zh-CN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$</a:t>
              </a:r>
              <a:endParaRPr kumimoji="1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58" name="Line 24"/>
            <p:cNvSpPr/>
            <p:nvPr/>
          </p:nvSpPr>
          <p:spPr>
            <a:xfrm rot="10800000">
              <a:off x="6743700" y="4293095"/>
              <a:ext cx="64770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34859" name="Text Box 25"/>
            <p:cNvSpPr txBox="1"/>
            <p:nvPr/>
          </p:nvSpPr>
          <p:spPr>
            <a:xfrm>
              <a:off x="6888163" y="3861048"/>
              <a:ext cx="381000" cy="41036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91" name="Text Box 26"/>
            <p:cNvSpPr txBox="1">
              <a:spLocks noChangeArrowheads="1"/>
            </p:cNvSpPr>
            <p:nvPr/>
          </p:nvSpPr>
          <p:spPr bwMode="auto">
            <a:xfrm>
              <a:off x="5010692" y="2925430"/>
              <a:ext cx="1805302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5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T→FMT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·</a:t>
              </a:r>
              <a:r>
                <a:rPr kumimoji="1" lang="zh-CN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$</a:t>
              </a:r>
              <a:endParaRPr kumimoji="1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61" name="Line 27"/>
            <p:cNvSpPr/>
            <p:nvPr/>
          </p:nvSpPr>
          <p:spPr>
            <a:xfrm>
              <a:off x="8112125" y="2769666"/>
              <a:ext cx="0" cy="57626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34862" name="Line 29"/>
            <p:cNvSpPr/>
            <p:nvPr/>
          </p:nvSpPr>
          <p:spPr>
            <a:xfrm flipH="1">
              <a:off x="6815138" y="2543218"/>
              <a:ext cx="792493" cy="72352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34863" name="Text Box 30"/>
            <p:cNvSpPr txBox="1"/>
            <p:nvPr/>
          </p:nvSpPr>
          <p:spPr>
            <a:xfrm>
              <a:off x="6959599" y="2997200"/>
              <a:ext cx="533400" cy="41036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T’</a:t>
              </a:r>
            </a:p>
          </p:txBody>
        </p:sp>
        <p:sp>
          <p:nvSpPr>
            <p:cNvPr id="34864" name="Text Box 32"/>
            <p:cNvSpPr txBox="1"/>
            <p:nvPr/>
          </p:nvSpPr>
          <p:spPr>
            <a:xfrm>
              <a:off x="8328024" y="4292500"/>
              <a:ext cx="457200" cy="41036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34865" name="Text Box 35"/>
            <p:cNvSpPr txBox="1"/>
            <p:nvPr/>
          </p:nvSpPr>
          <p:spPr>
            <a:xfrm>
              <a:off x="5087939" y="1066801"/>
              <a:ext cx="533400" cy="41036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34866" name="Line 38"/>
            <p:cNvSpPr/>
            <p:nvPr/>
          </p:nvSpPr>
          <p:spPr>
            <a:xfrm>
              <a:off x="6743700" y="4869482"/>
              <a:ext cx="107950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4867" name="Text Box 39"/>
            <p:cNvSpPr txBox="1"/>
            <p:nvPr/>
          </p:nvSpPr>
          <p:spPr>
            <a:xfrm>
              <a:off x="6888163" y="4509120"/>
              <a:ext cx="533400" cy="41036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34868" name="Text Box 43"/>
            <p:cNvSpPr txBox="1"/>
            <p:nvPr/>
          </p:nvSpPr>
          <p:spPr>
            <a:xfrm>
              <a:off x="8183563" y="2842690"/>
              <a:ext cx="533400" cy="41036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34869" name="Line 27"/>
            <p:cNvSpPr/>
            <p:nvPr/>
          </p:nvSpPr>
          <p:spPr>
            <a:xfrm flipH="1">
              <a:off x="7059587" y="5661000"/>
              <a:ext cx="765203" cy="228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34870" name="Line 27"/>
            <p:cNvSpPr/>
            <p:nvPr/>
          </p:nvSpPr>
          <p:spPr>
            <a:xfrm flipH="1" flipV="1">
              <a:off x="8183563" y="4365103"/>
              <a:ext cx="0" cy="38459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triangle" w="med" len="med"/>
            </a:ln>
          </p:spPr>
        </p:sp>
      </p:grpSp>
      <p:sp>
        <p:nvSpPr>
          <p:cNvPr id="57" name="Rectangle 3"/>
          <p:cNvSpPr txBox="1">
            <a:spLocks noChangeArrowheads="1"/>
          </p:cNvSpPr>
          <p:nvPr/>
        </p:nvSpPr>
        <p:spPr bwMode="auto">
          <a:xfrm>
            <a:off x="4830763" y="119063"/>
            <a:ext cx="3884613" cy="24526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1)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F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{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T.val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syn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	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kumimoji="0" lang="el-GR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kumimoji="0" lang="el-GR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;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}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	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2)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→*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1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1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	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kumimoji="0" lang="el-GR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kumimoji="0" lang="el-GR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N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.inh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; 	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N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;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×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3)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kumimoji="0" lang="el-GR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inh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4)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digit {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F.val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digit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.lexval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}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30" grpId="0" animBg="1"/>
      <p:bldP spid="20" grpId="0" animBg="1"/>
      <p:bldP spid="21" grpId="0" animBg="1"/>
      <p:bldP spid="22" grpId="0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Line 56"/>
          <p:cNvSpPr/>
          <p:nvPr/>
        </p:nvSpPr>
        <p:spPr>
          <a:xfrm flipV="1">
            <a:off x="6678613" y="2974975"/>
            <a:ext cx="0" cy="217488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6867" name="Line 57"/>
          <p:cNvSpPr/>
          <p:nvPr/>
        </p:nvSpPr>
        <p:spPr>
          <a:xfrm flipV="1">
            <a:off x="6454775" y="2974975"/>
            <a:ext cx="0" cy="217488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27332" name="标题 1"/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grpSp>
        <p:nvGrpSpPr>
          <p:cNvPr id="36869" name="组合 11"/>
          <p:cNvGrpSpPr/>
          <p:nvPr/>
        </p:nvGrpSpPr>
        <p:grpSpPr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3" name="五边形 12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36914" name="五边形 13"/>
            <p:cNvSpPr/>
            <p:nvPr/>
          </p:nvSpPr>
          <p:spPr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 w="9525">
              <a:noFill/>
            </a:ln>
          </p:spPr>
          <p:txBody>
            <a:bodyPr anchor="ctr" anchorCtr="0"/>
            <a:lstStyle/>
            <a:p>
              <a:pPr algn="ctr" eaLnBrk="1" hangingPunct="1"/>
              <a:endParaRPr lang="zh-CN" altLang="en-US" b="0" dirty="0">
                <a:solidFill>
                  <a:srgbClr val="FFFFFF"/>
                </a:solidFill>
                <a:latin typeface="Calibri" panose="020F0502020204030204" pitchFamily="34" charset="0"/>
                <a:ea typeface="楷体_GB2312"/>
              </a:endParaRPr>
            </a:p>
          </p:txBody>
        </p:sp>
      </p:grpSp>
      <p:sp>
        <p:nvSpPr>
          <p:cNvPr id="16" name="Rectangle 17"/>
          <p:cNvSpPr>
            <a:spLocks noChangeArrowheads="1"/>
          </p:cNvSpPr>
          <p:nvPr/>
        </p:nvSpPr>
        <p:spPr bwMode="auto">
          <a:xfrm>
            <a:off x="4895850" y="3856038"/>
            <a:ext cx="269875" cy="27146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宋体" panose="02010600030101010101" pitchFamily="2" charset="-122"/>
                <a:cs typeface="+mn-cs"/>
              </a:rPr>
              <a:t>$</a:t>
            </a:r>
          </a:p>
        </p:txBody>
      </p:sp>
      <p:sp>
        <p:nvSpPr>
          <p:cNvPr id="29" name="Rectangle 17"/>
          <p:cNvSpPr>
            <a:spLocks noChangeArrowheads="1"/>
          </p:cNvSpPr>
          <p:nvPr/>
        </p:nvSpPr>
        <p:spPr bwMode="auto">
          <a:xfrm>
            <a:off x="4895850" y="3598863"/>
            <a:ext cx="269875" cy="2698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</a:p>
        </p:txBody>
      </p:sp>
      <p:sp>
        <p:nvSpPr>
          <p:cNvPr id="36872" name="Line 56"/>
          <p:cNvSpPr/>
          <p:nvPr/>
        </p:nvSpPr>
        <p:spPr>
          <a:xfrm flipV="1">
            <a:off x="6894513" y="2979738"/>
            <a:ext cx="0" cy="215900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6873" name="Line 56"/>
          <p:cNvSpPr/>
          <p:nvPr/>
        </p:nvSpPr>
        <p:spPr>
          <a:xfrm flipV="1">
            <a:off x="7056438" y="2979738"/>
            <a:ext cx="0" cy="217487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1" name="Rectangle 35"/>
          <p:cNvSpPr>
            <a:spLocks noChangeArrowheads="1"/>
          </p:cNvSpPr>
          <p:nvPr/>
        </p:nvSpPr>
        <p:spPr bwMode="auto">
          <a:xfrm>
            <a:off x="5165725" y="3821113"/>
            <a:ext cx="865188" cy="3413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</a:p>
        </p:txBody>
      </p:sp>
      <p:sp>
        <p:nvSpPr>
          <p:cNvPr id="32" name="Rectangle 36"/>
          <p:cNvSpPr>
            <a:spLocks noChangeArrowheads="1"/>
          </p:cNvSpPr>
          <p:nvPr/>
        </p:nvSpPr>
        <p:spPr bwMode="auto">
          <a:xfrm>
            <a:off x="5165725" y="4138613"/>
            <a:ext cx="865188" cy="3698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15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Rectangle 35"/>
          <p:cNvSpPr>
            <a:spLocks noChangeArrowheads="1"/>
          </p:cNvSpPr>
          <p:nvPr/>
        </p:nvSpPr>
        <p:spPr bwMode="auto">
          <a:xfrm>
            <a:off x="5165725" y="3598863"/>
            <a:ext cx="865188" cy="2571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36877" name="矩形 34"/>
          <p:cNvSpPr/>
          <p:nvPr/>
        </p:nvSpPr>
        <p:spPr>
          <a:xfrm>
            <a:off x="30163" y="4143375"/>
            <a:ext cx="1327150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SLR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自动机</a:t>
            </a:r>
          </a:p>
        </p:txBody>
      </p:sp>
      <p:sp>
        <p:nvSpPr>
          <p:cNvPr id="52" name="Rectangle 56"/>
          <p:cNvSpPr>
            <a:spLocks noChangeArrowheads="1"/>
          </p:cNvSpPr>
          <p:nvPr/>
        </p:nvSpPr>
        <p:spPr bwMode="auto">
          <a:xfrm>
            <a:off x="5562600" y="2651125"/>
            <a:ext cx="1746250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输入：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3 * 5</a:t>
            </a:r>
            <a:endParaRPr kumimoji="1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6879" name="组合 80"/>
          <p:cNvGrpSpPr/>
          <p:nvPr/>
        </p:nvGrpSpPr>
        <p:grpSpPr>
          <a:xfrm>
            <a:off x="52388" y="1274763"/>
            <a:ext cx="4589462" cy="3762375"/>
            <a:chOff x="3431846" y="1052514"/>
            <a:chExt cx="6118556" cy="5015607"/>
          </a:xfrm>
        </p:grpSpPr>
        <p:sp>
          <p:nvSpPr>
            <p:cNvPr id="164" name="Text Box 2"/>
            <p:cNvSpPr txBox="1">
              <a:spLocks noChangeArrowheads="1"/>
            </p:cNvSpPr>
            <p:nvPr/>
          </p:nvSpPr>
          <p:spPr bwMode="auto">
            <a:xfrm>
              <a:off x="3575762" y="1412283"/>
              <a:ext cx="1439162" cy="114914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t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</a:t>
              </a:r>
              <a:r>
                <a:rPr kumimoji="0" lang="en-US" altLang="zh-CN" sz="1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 · T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T→ · FMT</a:t>
              </a:r>
              <a:r>
                <a:rPr kumimoji="0" lang="en-US" altLang="zh-CN" sz="1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</a:t>
              </a:r>
              <a:endParaRPr kumimoji="1" lang="en-US" altLang="zh-CN" sz="1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F→ · </a:t>
              </a:r>
              <a:r>
                <a:rPr kumimoji="1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</a:p>
          </p:txBody>
        </p:sp>
        <p:sp>
          <p:nvSpPr>
            <p:cNvPr id="165" name="Text Box 3"/>
            <p:cNvSpPr txBox="1">
              <a:spLocks noChangeArrowheads="1"/>
            </p:cNvSpPr>
            <p:nvPr/>
          </p:nvSpPr>
          <p:spPr bwMode="auto">
            <a:xfrm>
              <a:off x="5520747" y="1052514"/>
              <a:ext cx="1223288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→T ·</a:t>
              </a:r>
            </a:p>
          </p:txBody>
        </p:sp>
        <p:sp>
          <p:nvSpPr>
            <p:cNvPr id="36883" name="Line 4"/>
            <p:cNvSpPr/>
            <p:nvPr/>
          </p:nvSpPr>
          <p:spPr>
            <a:xfrm flipV="1">
              <a:off x="5016500" y="1557339"/>
              <a:ext cx="503238" cy="1428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167" name="Text Box 5"/>
            <p:cNvSpPr txBox="1">
              <a:spLocks noChangeArrowheads="1"/>
            </p:cNvSpPr>
            <p:nvPr/>
          </p:nvSpPr>
          <p:spPr bwMode="auto">
            <a:xfrm>
              <a:off x="5520747" y="1844006"/>
              <a:ext cx="1655037" cy="98407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T→F · MT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M→ ·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 </a:t>
              </a:r>
              <a:r>
                <a:rPr kumimoji="1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*/$</a:t>
              </a:r>
            </a:p>
          </p:txBody>
        </p:sp>
        <p:sp>
          <p:nvSpPr>
            <p:cNvPr id="36885" name="Line 6"/>
            <p:cNvSpPr/>
            <p:nvPr/>
          </p:nvSpPr>
          <p:spPr>
            <a:xfrm>
              <a:off x="5011738" y="2370138"/>
              <a:ext cx="483093" cy="1157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36886" name="Text Box 7"/>
            <p:cNvSpPr txBox="1"/>
            <p:nvPr/>
          </p:nvSpPr>
          <p:spPr>
            <a:xfrm>
              <a:off x="5084795" y="1987180"/>
              <a:ext cx="503237" cy="41036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70" name="Text Box 8"/>
            <p:cNvSpPr txBox="1">
              <a:spLocks noChangeArrowheads="1"/>
            </p:cNvSpPr>
            <p:nvPr/>
          </p:nvSpPr>
          <p:spPr bwMode="auto">
            <a:xfrm>
              <a:off x="3431846" y="3573015"/>
              <a:ext cx="1513236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Symbol" panose="05050102010706020507" pitchFamily="18" charset="2"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F→ 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·</a:t>
              </a:r>
              <a:r>
                <a:rPr kumimoji="1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*/$</a:t>
              </a:r>
            </a:p>
          </p:txBody>
        </p:sp>
        <p:sp>
          <p:nvSpPr>
            <p:cNvPr id="36888" name="Line 9"/>
            <p:cNvSpPr/>
            <p:nvPr/>
          </p:nvSpPr>
          <p:spPr>
            <a:xfrm>
              <a:off x="4367213" y="2651125"/>
              <a:ext cx="0" cy="92233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172" name="Text Box 11"/>
            <p:cNvSpPr txBox="1">
              <a:spLocks noChangeArrowheads="1"/>
            </p:cNvSpPr>
            <p:nvPr/>
          </p:nvSpPr>
          <p:spPr bwMode="auto">
            <a:xfrm>
              <a:off x="5017040" y="3996273"/>
              <a:ext cx="1824350" cy="9861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7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→*F · NT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N→ ·       </a:t>
              </a:r>
              <a:r>
                <a:rPr kumimoji="1" lang="zh-CN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*/$</a:t>
              </a:r>
            </a:p>
          </p:txBody>
        </p:sp>
        <p:sp>
          <p:nvSpPr>
            <p:cNvPr id="173" name="Text Box 12"/>
            <p:cNvSpPr txBox="1">
              <a:spLocks noChangeArrowheads="1"/>
            </p:cNvSpPr>
            <p:nvPr/>
          </p:nvSpPr>
          <p:spPr bwMode="auto">
            <a:xfrm>
              <a:off x="7825524" y="4796230"/>
              <a:ext cx="1724878" cy="12718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8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→*FN · 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 · *FNT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</a:t>
              </a:r>
              <a:endParaRPr kumimoji="1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 ·     </a:t>
              </a:r>
              <a:r>
                <a:rPr kumimoji="1" lang="zh-CN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$</a:t>
              </a:r>
            </a:p>
          </p:txBody>
        </p:sp>
        <p:sp>
          <p:nvSpPr>
            <p:cNvPr id="36891" name="Text Box 13"/>
            <p:cNvSpPr txBox="1"/>
            <p:nvPr/>
          </p:nvSpPr>
          <p:spPr>
            <a:xfrm>
              <a:off x="7318377" y="5226990"/>
              <a:ext cx="533400" cy="41036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T’</a:t>
              </a:r>
            </a:p>
          </p:txBody>
        </p:sp>
        <p:sp>
          <p:nvSpPr>
            <p:cNvPr id="36892" name="Text Box 15"/>
            <p:cNvSpPr txBox="1"/>
            <p:nvPr/>
          </p:nvSpPr>
          <p:spPr>
            <a:xfrm>
              <a:off x="3792538" y="2852739"/>
              <a:ext cx="533400" cy="41036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76" name="Text Box 17"/>
            <p:cNvSpPr txBox="1">
              <a:spLocks noChangeArrowheads="1"/>
            </p:cNvSpPr>
            <p:nvPr/>
          </p:nvSpPr>
          <p:spPr bwMode="auto">
            <a:xfrm>
              <a:off x="7594834" y="1473655"/>
              <a:ext cx="1767207" cy="12718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T→FM · 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</a:t>
              </a:r>
              <a:endParaRPr kumimoji="1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 · *FNT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</a:t>
              </a:r>
              <a:endParaRPr kumimoji="1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 ·     </a:t>
              </a:r>
              <a:r>
                <a:rPr kumimoji="1" lang="zh-CN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$</a:t>
              </a:r>
            </a:p>
          </p:txBody>
        </p:sp>
        <p:sp>
          <p:nvSpPr>
            <p:cNvPr id="36894" name="Line 18"/>
            <p:cNvSpPr/>
            <p:nvPr/>
          </p:nvSpPr>
          <p:spPr>
            <a:xfrm flipV="1">
              <a:off x="7201264" y="2060600"/>
              <a:ext cx="43180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36895" name="Text Box 19"/>
            <p:cNvSpPr txBox="1"/>
            <p:nvPr/>
          </p:nvSpPr>
          <p:spPr>
            <a:xfrm>
              <a:off x="7162037" y="1628799"/>
              <a:ext cx="457200" cy="41036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179" name="Text Box 20"/>
            <p:cNvSpPr txBox="1">
              <a:spLocks noChangeArrowheads="1"/>
            </p:cNvSpPr>
            <p:nvPr/>
          </p:nvSpPr>
          <p:spPr bwMode="auto">
            <a:xfrm>
              <a:off x="7391658" y="3346572"/>
              <a:ext cx="1801070" cy="9861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6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 * · FNT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F→ · 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</a:p>
          </p:txBody>
        </p:sp>
        <p:sp>
          <p:nvSpPr>
            <p:cNvPr id="36897" name="Line 21"/>
            <p:cNvSpPr/>
            <p:nvPr/>
          </p:nvSpPr>
          <p:spPr>
            <a:xfrm rot="10800000">
              <a:off x="4943476" y="3789041"/>
              <a:ext cx="244792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36898" name="Text Box 22"/>
            <p:cNvSpPr txBox="1"/>
            <p:nvPr/>
          </p:nvSpPr>
          <p:spPr>
            <a:xfrm>
              <a:off x="6888163" y="3356993"/>
              <a:ext cx="457200" cy="41036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82" name="Text Box 23"/>
            <p:cNvSpPr txBox="1">
              <a:spLocks noChangeArrowheads="1"/>
            </p:cNvSpPr>
            <p:nvPr/>
          </p:nvSpPr>
          <p:spPr bwMode="auto">
            <a:xfrm>
              <a:off x="5027623" y="5342233"/>
              <a:ext cx="2031759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9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→*FNT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·</a:t>
              </a:r>
              <a:r>
                <a:rPr kumimoji="1" lang="zh-CN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$</a:t>
              </a:r>
              <a:endParaRPr kumimoji="1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900" name="Line 24"/>
            <p:cNvSpPr/>
            <p:nvPr/>
          </p:nvSpPr>
          <p:spPr>
            <a:xfrm rot="10800000">
              <a:off x="6743700" y="4293095"/>
              <a:ext cx="64770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36901" name="Text Box 25"/>
            <p:cNvSpPr txBox="1"/>
            <p:nvPr/>
          </p:nvSpPr>
          <p:spPr>
            <a:xfrm>
              <a:off x="6888163" y="3861048"/>
              <a:ext cx="381000" cy="41036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85" name="Text Box 26"/>
            <p:cNvSpPr txBox="1">
              <a:spLocks noChangeArrowheads="1"/>
            </p:cNvSpPr>
            <p:nvPr/>
          </p:nvSpPr>
          <p:spPr bwMode="auto">
            <a:xfrm>
              <a:off x="5010692" y="2925430"/>
              <a:ext cx="1805302" cy="6983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1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900"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5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1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5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T→FMT</a:t>
              </a:r>
              <a:r>
                <a:rPr kumimoji="0" lang="en-US" altLang="zh-CN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Times New Roman" panose="02020603050405020304" pitchFamily="18" charset="0"/>
                </a:rPr>
                <a:t>΄ </a:t>
              </a:r>
              <a:r>
                <a:rPr kumimoji="1" lang="en-US" altLang="zh-CN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·</a:t>
              </a:r>
              <a:r>
                <a:rPr kumimoji="1" lang="zh-CN" altLang="en-US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，</a:t>
              </a:r>
              <a:r>
                <a:rPr kumimoji="1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$</a:t>
              </a:r>
              <a:endParaRPr kumimoji="1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903" name="Line 27"/>
            <p:cNvSpPr/>
            <p:nvPr/>
          </p:nvSpPr>
          <p:spPr>
            <a:xfrm>
              <a:off x="8112125" y="2769666"/>
              <a:ext cx="0" cy="57626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36904" name="Line 29"/>
            <p:cNvSpPr/>
            <p:nvPr/>
          </p:nvSpPr>
          <p:spPr>
            <a:xfrm flipH="1">
              <a:off x="6815138" y="2543218"/>
              <a:ext cx="792493" cy="72352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36905" name="Text Box 30"/>
            <p:cNvSpPr txBox="1"/>
            <p:nvPr/>
          </p:nvSpPr>
          <p:spPr>
            <a:xfrm>
              <a:off x="6959599" y="2997200"/>
              <a:ext cx="533400" cy="41036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T’</a:t>
              </a:r>
            </a:p>
          </p:txBody>
        </p:sp>
        <p:sp>
          <p:nvSpPr>
            <p:cNvPr id="36906" name="Text Box 32"/>
            <p:cNvSpPr txBox="1"/>
            <p:nvPr/>
          </p:nvSpPr>
          <p:spPr>
            <a:xfrm>
              <a:off x="8328024" y="4292500"/>
              <a:ext cx="457200" cy="41036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36907" name="Text Box 35"/>
            <p:cNvSpPr txBox="1"/>
            <p:nvPr/>
          </p:nvSpPr>
          <p:spPr>
            <a:xfrm>
              <a:off x="5087939" y="1066801"/>
              <a:ext cx="533400" cy="41036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36908" name="Line 38"/>
            <p:cNvSpPr/>
            <p:nvPr/>
          </p:nvSpPr>
          <p:spPr>
            <a:xfrm>
              <a:off x="6743700" y="4869482"/>
              <a:ext cx="107950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6909" name="Text Box 39"/>
            <p:cNvSpPr txBox="1"/>
            <p:nvPr/>
          </p:nvSpPr>
          <p:spPr>
            <a:xfrm>
              <a:off x="6888163" y="4509120"/>
              <a:ext cx="533400" cy="41036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36910" name="Text Box 43"/>
            <p:cNvSpPr txBox="1"/>
            <p:nvPr/>
          </p:nvSpPr>
          <p:spPr>
            <a:xfrm>
              <a:off x="8183563" y="2842690"/>
              <a:ext cx="533400" cy="410368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4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36911" name="Line 27"/>
            <p:cNvSpPr/>
            <p:nvPr/>
          </p:nvSpPr>
          <p:spPr>
            <a:xfrm flipH="1">
              <a:off x="7059587" y="5661000"/>
              <a:ext cx="765203" cy="228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triangle" w="med" len="med"/>
            </a:ln>
          </p:spPr>
        </p:sp>
        <p:sp>
          <p:nvSpPr>
            <p:cNvPr id="36912" name="Line 27"/>
            <p:cNvSpPr/>
            <p:nvPr/>
          </p:nvSpPr>
          <p:spPr>
            <a:xfrm flipH="1" flipV="1">
              <a:off x="8183563" y="4365103"/>
              <a:ext cx="0" cy="38459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triangle" w="med" len="med"/>
            </a:ln>
          </p:spPr>
        </p:sp>
      </p:grpSp>
      <p:sp>
        <p:nvSpPr>
          <p:cNvPr id="51" name="Rectangle 3"/>
          <p:cNvSpPr txBox="1">
            <a:spLocks noChangeArrowheads="1"/>
          </p:cNvSpPr>
          <p:nvPr/>
        </p:nvSpPr>
        <p:spPr bwMode="auto">
          <a:xfrm>
            <a:off x="4830763" y="119063"/>
            <a:ext cx="3884613" cy="24526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1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9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5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1)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F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{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T.val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syn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	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kumimoji="0" lang="el-GR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kumimoji="0" lang="el-GR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;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}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8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	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5EAEFF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2)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→*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1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zh-CN" altLang="en-US" sz="1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	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 </a:t>
            </a:r>
            <a:r>
              <a:rPr kumimoji="0" lang="el-GR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kumimoji="0" lang="el-GR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N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.inh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; 	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N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F.val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;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×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.i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 } 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3)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kumimoji="0" lang="el-GR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ε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{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′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inh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}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4)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F</a:t>
            </a:r>
            <a:r>
              <a:rPr kumimoji="0" lang="zh-CN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→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digit { 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F.val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=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digit</a:t>
            </a:r>
            <a:r>
              <a:rPr kumimoji="0" lang="en-US" altLang="zh-CN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.lexval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}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374868dc-96d1-4c75-af43-03328addd5aa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912</TotalTime>
  <Words>12621</Words>
  <Application>Microsoft Office PowerPoint</Application>
  <PresentationFormat>全屏显示(16:9)</PresentationFormat>
  <Paragraphs>1724</Paragraphs>
  <Slides>91</Slides>
  <Notes>91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91</vt:i4>
      </vt:variant>
    </vt:vector>
  </HeadingPairs>
  <TitlesOfParts>
    <vt:vector size="105" baseType="lpstr">
      <vt:lpstr>华文楷体</vt:lpstr>
      <vt:lpstr>楷体</vt:lpstr>
      <vt:lpstr>楷体_GB2312</vt:lpstr>
      <vt:lpstr>微软雅黑</vt:lpstr>
      <vt:lpstr>Arial</vt:lpstr>
      <vt:lpstr>Calibri</vt:lpstr>
      <vt:lpstr>Candara</vt:lpstr>
      <vt:lpstr>Symbol</vt:lpstr>
      <vt:lpstr>Tahoma</vt:lpstr>
      <vt:lpstr>Times New Roman</vt:lpstr>
      <vt:lpstr>Wingdings</vt:lpstr>
      <vt:lpstr>1_波形</vt:lpstr>
      <vt:lpstr>2_波形</vt:lpstr>
      <vt:lpstr>3_波形</vt:lpstr>
      <vt:lpstr>PowerPoint 演示文稿</vt:lpstr>
      <vt:lpstr>什么是句法制导翻译</vt:lpstr>
      <vt:lpstr>句法制导翻译的基本思想</vt:lpstr>
      <vt:lpstr>两个概念</vt:lpstr>
      <vt:lpstr>句法制导定义(SDD)</vt:lpstr>
      <vt:lpstr>句法制导定义(SDD)</vt:lpstr>
      <vt:lpstr>句法制导翻译方案(SDT)</vt:lpstr>
      <vt:lpstr>SDD与SDT</vt:lpstr>
      <vt:lpstr>PowerPoint 演示文稿</vt:lpstr>
      <vt:lpstr>句法制导定义SDD</vt:lpstr>
      <vt:lpstr>综合属性(synthesized attribute)</vt:lpstr>
      <vt:lpstr>继承属性(inherited attribute)</vt:lpstr>
      <vt:lpstr>PowerPoint 演示文稿</vt:lpstr>
      <vt:lpstr>例：带有继承属性L.in的SDD </vt:lpstr>
      <vt:lpstr>属性文法 (Attribute Grammar)</vt:lpstr>
      <vt:lpstr>PowerPoint 演示文稿</vt:lpstr>
      <vt:lpstr>SDD的求值顺序</vt:lpstr>
      <vt:lpstr>依赖图(Dependency Graph)</vt:lpstr>
      <vt:lpstr>例</vt:lpstr>
      <vt:lpstr>例</vt:lpstr>
      <vt:lpstr>属性值的计算顺序 </vt:lpstr>
      <vt:lpstr>例</vt:lpstr>
      <vt:lpstr>PowerPoint 演示文稿</vt:lpstr>
      <vt:lpstr>PowerPoint 演示文稿</vt:lpstr>
      <vt:lpstr>PowerPoint 演示文稿</vt:lpstr>
      <vt:lpstr>S-属性定义</vt:lpstr>
      <vt:lpstr>L-属性定义</vt:lpstr>
      <vt:lpstr>L-SDD的正式定义</vt:lpstr>
      <vt:lpstr>L-SDD的正式定义</vt:lpstr>
      <vt:lpstr>L-SDD的正式定义</vt:lpstr>
      <vt:lpstr>例：L-SDD</vt:lpstr>
      <vt:lpstr>非L属性的SDD</vt:lpstr>
      <vt:lpstr>PowerPoint 演示文稿</vt:lpstr>
      <vt:lpstr>句法制导翻译方案SDT</vt:lpstr>
      <vt:lpstr>句法制导翻译方案SDT</vt:lpstr>
      <vt:lpstr>将S-SDD转换为SDT</vt:lpstr>
      <vt:lpstr>S-属性定义的SDT 实现</vt:lpstr>
      <vt:lpstr>扩展的LR句法分析栈</vt:lpstr>
      <vt:lpstr>将语义动作中的抽象定义式改写成具体可执行的栈操作</vt:lpstr>
      <vt:lpstr>例：在自底向上句法分析栈中实现桌面计算器</vt:lpstr>
      <vt:lpstr>例</vt:lpstr>
      <vt:lpstr>例</vt:lpstr>
      <vt:lpstr>例</vt:lpstr>
      <vt:lpstr>例</vt:lpstr>
      <vt:lpstr>例</vt:lpstr>
      <vt:lpstr>例</vt:lpstr>
      <vt:lpstr>例</vt:lpstr>
      <vt:lpstr>例</vt:lpstr>
      <vt:lpstr>例</vt:lpstr>
      <vt:lpstr>将L-SDD转换为SDT</vt:lpstr>
      <vt:lpstr>例</vt:lpstr>
      <vt:lpstr>L-属性定义的SDT 实现</vt:lpstr>
      <vt:lpstr>L-属性定义的SDT 实现</vt:lpstr>
      <vt:lpstr>PowerPoint 演示文稿</vt:lpstr>
      <vt:lpstr>非递归的预测分析法（回顾）</vt:lpstr>
      <vt:lpstr>非递归的预测分析法（回顾）</vt:lpstr>
      <vt:lpstr>例（回顾）</vt:lpstr>
      <vt:lpstr>在非递归的预测分析过程中进行翻译</vt:lpstr>
      <vt:lpstr>例</vt:lpstr>
      <vt:lpstr>分析栈中的每一个记录都对应着一段执行代码</vt:lpstr>
      <vt:lpstr>例</vt:lpstr>
      <vt:lpstr>例</vt:lpstr>
      <vt:lpstr>例</vt:lpstr>
      <vt:lpstr>例</vt:lpstr>
      <vt:lpstr>例</vt:lpstr>
      <vt:lpstr>例</vt:lpstr>
      <vt:lpstr>例</vt:lpstr>
      <vt:lpstr>例</vt:lpstr>
      <vt:lpstr>例</vt:lpstr>
      <vt:lpstr>例</vt:lpstr>
      <vt:lpstr>例</vt:lpstr>
      <vt:lpstr>例</vt:lpstr>
      <vt:lpstr>例</vt:lpstr>
      <vt:lpstr>例</vt:lpstr>
      <vt:lpstr>PowerPoint 演示文稿</vt:lpstr>
      <vt:lpstr>算法</vt:lpstr>
      <vt:lpstr>算法（续）</vt:lpstr>
      <vt:lpstr>在递归的预测分析过程中进行翻译</vt:lpstr>
      <vt:lpstr>在递归的预测分析过程中进行翻译</vt:lpstr>
      <vt:lpstr>在递归的预测分析过程中进行翻译</vt:lpstr>
      <vt:lpstr>在递归的预测分析过程中进行翻译</vt:lpstr>
      <vt:lpstr>PowerPoint 演示文稿</vt:lpstr>
      <vt:lpstr>L-属性定义的自底向上翻译 </vt:lpstr>
      <vt:lpstr>例</vt:lpstr>
      <vt:lpstr>PowerPoint 演示文稿</vt:lpstr>
      <vt:lpstr>将语义动作改写为 可执行的栈操作</vt:lpstr>
      <vt:lpstr>例</vt:lpstr>
      <vt:lpstr>例</vt:lpstr>
      <vt:lpstr>例</vt:lpstr>
      <vt:lpstr>例</vt:lpstr>
      <vt:lpstr>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第五章 语法制导翻译</dc:title>
  <dc:creator>chenyin</dc:creator>
  <cp:lastModifiedBy>王锦鸿</cp:lastModifiedBy>
  <cp:revision>831</cp:revision>
  <cp:lastPrinted>2023-10-16T02:44:00Z</cp:lastPrinted>
  <dcterms:created xsi:type="dcterms:W3CDTF">2023-10-16T02:44:00Z</dcterms:created>
  <dcterms:modified xsi:type="dcterms:W3CDTF">2025-06-28T02:09:22Z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DE434F7777E04736A6C43411B8F025AC</vt:lpwstr>
  </property>
  <property fmtid="{D5CDD505-2E9C-101B-9397-08002B2CF9AE}" pid="3" name="KSOProductBuildVer">
    <vt:lpwstr>2052-12.1.0.20784</vt:lpwstr>
  </property>
</Properties>
</file>