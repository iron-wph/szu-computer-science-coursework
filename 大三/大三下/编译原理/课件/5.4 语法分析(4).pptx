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110" r:id="rId2"/>
    <p:sldId id="2112" r:id="rId3"/>
    <p:sldId id="1337" r:id="rId4"/>
    <p:sldId id="2760" r:id="rId5"/>
    <p:sldId id="2108" r:id="rId6"/>
    <p:sldId id="2765" r:id="rId7"/>
    <p:sldId id="2766" r:id="rId8"/>
    <p:sldId id="2767" r:id="rId9"/>
    <p:sldId id="2113" r:id="rId10"/>
    <p:sldId id="2768" r:id="rId11"/>
    <p:sldId id="2109" r:id="rId12"/>
    <p:sldId id="1340" r:id="rId13"/>
    <p:sldId id="1343" r:id="rId14"/>
    <p:sldId id="1344" r:id="rId15"/>
    <p:sldId id="1345" r:id="rId16"/>
    <p:sldId id="1346" r:id="rId17"/>
    <p:sldId id="1347" r:id="rId18"/>
    <p:sldId id="2115" r:id="rId19"/>
    <p:sldId id="2114" r:id="rId20"/>
    <p:sldId id="2116" r:id="rId21"/>
    <p:sldId id="1348" r:id="rId22"/>
    <p:sldId id="1349" r:id="rId23"/>
    <p:sldId id="1350" r:id="rId24"/>
    <p:sldId id="1351" r:id="rId25"/>
    <p:sldId id="1353" r:id="rId26"/>
    <p:sldId id="1355" r:id="rId27"/>
    <p:sldId id="1356" r:id="rId28"/>
    <p:sldId id="2770" r:id="rId29"/>
    <p:sldId id="2769" r:id="rId30"/>
    <p:sldId id="1358" r:id="rId31"/>
    <p:sldId id="1359" r:id="rId32"/>
    <p:sldId id="2584" r:id="rId33"/>
    <p:sldId id="2585" r:id="rId34"/>
    <p:sldId id="1360" r:id="rId35"/>
    <p:sldId id="2119" r:id="rId36"/>
    <p:sldId id="2118" r:id="rId37"/>
    <p:sldId id="2586" r:id="rId38"/>
    <p:sldId id="2120" r:id="rId39"/>
    <p:sldId id="1366" r:id="rId40"/>
    <p:sldId id="1367" r:id="rId41"/>
    <p:sldId id="1368" r:id="rId42"/>
    <p:sldId id="1369" r:id="rId43"/>
    <p:sldId id="2117" r:id="rId44"/>
    <p:sldId id="1372" r:id="rId45"/>
    <p:sldId id="2121" r:id="rId46"/>
    <p:sldId id="2587"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5" d="100"/>
          <a:sy n="85" d="100"/>
        </p:scale>
        <p:origin x="3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F2E321-2B21-4332-AC1D-E564A6E5A1E0}" type="datetimeFigureOut">
              <a:rPr lang="zh-CN" altLang="en-US" smtClean="0"/>
              <a:t>2025/6/26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421258-1336-49CD-9697-662A9C9B9295}" type="slidenum">
              <a:rPr lang="zh-CN" altLang="en-US" smtClean="0"/>
              <a:t>‹#›</a:t>
            </a:fld>
            <a:endParaRPr lang="zh-CN" altLang="en-US"/>
          </a:p>
        </p:txBody>
      </p:sp>
    </p:spTree>
    <p:extLst>
      <p:ext uri="{BB962C8B-B14F-4D97-AF65-F5344CB8AC3E}">
        <p14:creationId xmlns:p14="http://schemas.microsoft.com/office/powerpoint/2010/main" val="1335642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B84B0210-0CF3-4B30-A78F-941C2EAEE6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buFontTx/>
              <a:buNone/>
            </a:pPr>
            <a:fld id="{EEE00899-F588-4D81-81E7-676C1494B2ED}" type="slidenum">
              <a:rPr lang="en-US" altLang="zh-CN" sz="1200"/>
              <a:pPr>
                <a:buFontTx/>
                <a:buNone/>
              </a:pPr>
              <a:t>22</a:t>
            </a:fld>
            <a:endParaRPr lang="en-US" altLang="zh-CN" sz="1200"/>
          </a:p>
        </p:txBody>
      </p:sp>
      <p:sp>
        <p:nvSpPr>
          <p:cNvPr id="91139" name="Rectangle 2">
            <a:extLst>
              <a:ext uri="{FF2B5EF4-FFF2-40B4-BE49-F238E27FC236}">
                <a16:creationId xmlns:a16="http://schemas.microsoft.com/office/drawing/2014/main" id="{77968D69-C0C2-4226-A30E-4392D03FC066}"/>
              </a:ext>
            </a:extLst>
          </p:cNvPr>
          <p:cNvSpPr>
            <a:spLocks noGrp="1" noRot="1" noChangeAspect="1" noChangeArrowheads="1" noTextEdit="1"/>
          </p:cNvSpPr>
          <p:nvPr>
            <p:ph type="sldImg" idx="4294967295"/>
          </p:nvPr>
        </p:nvSpPr>
        <p:spPr>
          <a:xfrm>
            <a:off x="393700" y="692150"/>
            <a:ext cx="6070600" cy="3416300"/>
          </a:xfrm>
          <a:ln w="12700">
            <a:solidFill>
              <a:schemeClr val="tx1"/>
            </a:solidFill>
          </a:ln>
        </p:spPr>
      </p:sp>
      <p:sp>
        <p:nvSpPr>
          <p:cNvPr id="91140" name="Rectangle 3">
            <a:extLst>
              <a:ext uri="{FF2B5EF4-FFF2-40B4-BE49-F238E27FC236}">
                <a16:creationId xmlns:a16="http://schemas.microsoft.com/office/drawing/2014/main" id="{1C632235-C08E-4A50-A104-87D54E67AE01}"/>
              </a:ext>
            </a:extLst>
          </p:cNvPr>
          <p:cNvSpPr>
            <a:spLocks noGrp="1" noChangeArrowheads="1"/>
          </p:cNvSpPr>
          <p:nvPr>
            <p:ph type="body" idx="4294967295"/>
          </p:nvPr>
        </p:nvSpPr>
        <p:spPr/>
        <p:txBody>
          <a:bodyPr lIns="92066" tIns="46033" rIns="92066" bIns="46033"/>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06F73-0C39-4DA8-821C-3C701297A9F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D5D2737-51F8-422C-B603-9989FC313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D3BEDF7-ADBF-4388-B538-406500936776}"/>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5" name="页脚占位符 4">
            <a:extLst>
              <a:ext uri="{FF2B5EF4-FFF2-40B4-BE49-F238E27FC236}">
                <a16:creationId xmlns:a16="http://schemas.microsoft.com/office/drawing/2014/main" id="{338C728E-393A-4FA5-9568-E92630550C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7621B3-4D8C-45FB-9F31-F2A4CC30B3F8}"/>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1008199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C74CCB-85D3-4E4D-94E0-2859CC89837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467C3E6-1F5A-4D48-A3AF-8BDE02A165E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01E54A8-892A-45A0-A421-4A73B9A4A0BD}"/>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5" name="页脚占位符 4">
            <a:extLst>
              <a:ext uri="{FF2B5EF4-FFF2-40B4-BE49-F238E27FC236}">
                <a16:creationId xmlns:a16="http://schemas.microsoft.com/office/drawing/2014/main" id="{8942ABA1-FC30-467F-95E9-5AB547B29D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997478-686E-455A-80EC-BC1DB5FBB084}"/>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2330031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6FAA7E-DE09-491C-BFB5-86B4DE80518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562F3D9-360B-4237-939E-F4EFA5C62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FD1DD99-350B-48E6-A4A2-A42ED5983484}"/>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5" name="页脚占位符 4">
            <a:extLst>
              <a:ext uri="{FF2B5EF4-FFF2-40B4-BE49-F238E27FC236}">
                <a16:creationId xmlns:a16="http://schemas.microsoft.com/office/drawing/2014/main" id="{DEF9EDEF-840F-4F21-9D4A-B8C342A55D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C8399A-681D-4A1A-B05A-81F512E1BD18}"/>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140037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1E7E4B-46D9-47A4-B89C-ED182C67385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F0668FE-68EE-464E-B16D-FA633DFE4F5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939E6F8-0208-43CC-9125-20DFE687DA9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6BB9BD8-B81C-4DE7-BDE0-B246485C4090}"/>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6" name="页脚占位符 5">
            <a:extLst>
              <a:ext uri="{FF2B5EF4-FFF2-40B4-BE49-F238E27FC236}">
                <a16:creationId xmlns:a16="http://schemas.microsoft.com/office/drawing/2014/main" id="{84F4348F-FAEB-419E-AEDD-032BAE54B5F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42799B-93DC-4CC2-91FB-4FF32AB58A5A}"/>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1876002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D9BCBF-0ECF-4BE0-B5A0-84DDD0849BB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76D1D48-FC6F-4F04-B953-4137F67B71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6448595-CA4B-4888-9CA0-767F85F77F3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5D8B583-813E-49AD-BA96-7D28D1DD51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53218FB-4EEC-4856-BA2B-6AE5481BB76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240F632-9352-465F-A1CD-0DA13B5D9749}"/>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8" name="页脚占位符 7">
            <a:extLst>
              <a:ext uri="{FF2B5EF4-FFF2-40B4-BE49-F238E27FC236}">
                <a16:creationId xmlns:a16="http://schemas.microsoft.com/office/drawing/2014/main" id="{8E052CDD-64C9-412C-8E57-205FE74E0A4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44FEF5B-8F9E-4178-94DB-F7CE63CFF1FB}"/>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244940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848A8-2B92-4F9D-9016-9D7CC917D97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DDAA27-EC93-477C-8D71-ADC127F859EF}"/>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4" name="页脚占位符 3">
            <a:extLst>
              <a:ext uri="{FF2B5EF4-FFF2-40B4-BE49-F238E27FC236}">
                <a16:creationId xmlns:a16="http://schemas.microsoft.com/office/drawing/2014/main" id="{A0873CAD-CEA9-4FF7-9AB4-7FA1D0AB125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20D531B-A513-4531-A441-3D49F0A37626}"/>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515339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18D136-20CA-4339-B349-A22C4BAAEEBB}"/>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3" name="页脚占位符 2">
            <a:extLst>
              <a:ext uri="{FF2B5EF4-FFF2-40B4-BE49-F238E27FC236}">
                <a16:creationId xmlns:a16="http://schemas.microsoft.com/office/drawing/2014/main" id="{7F8951D6-FB0B-4D8B-912E-9BA61445B35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30B2DE5-4F09-4649-9660-6A168C3889EF}"/>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1338287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8FE951-710A-4B50-814D-E9EDC7A123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7EE4742-FD47-4C4C-823C-BA5DB5CE3C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4696352-F1D3-4D94-B5AF-5F114A63B9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19FBE1-94FF-4F73-84C7-4C587C583A81}"/>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6" name="页脚占位符 5">
            <a:extLst>
              <a:ext uri="{FF2B5EF4-FFF2-40B4-BE49-F238E27FC236}">
                <a16:creationId xmlns:a16="http://schemas.microsoft.com/office/drawing/2014/main" id="{158539AB-01B6-466D-89E7-F4AB10FADDC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98E462-BFB0-471F-AFEC-E4C817167A46}"/>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3935663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B15EFC-887F-4AF4-A2AA-97651BC449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4E1344B-6713-4DDD-834C-71629E14FB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B589958-5BEF-4CBB-BC49-0AA13D91B5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5D34748-5127-4004-8BB4-C8BB9A126F7E}"/>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6" name="页脚占位符 5">
            <a:extLst>
              <a:ext uri="{FF2B5EF4-FFF2-40B4-BE49-F238E27FC236}">
                <a16:creationId xmlns:a16="http://schemas.microsoft.com/office/drawing/2014/main" id="{398031E4-8350-4F15-BD17-3C49CF88D6B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D21893-DEB9-46F3-842B-3A37A6F41EB3}"/>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1850751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8BD9AA-5D44-4461-B855-3E1FD728A0F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31532F6-6273-41E6-BEC4-B7EA5218105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C0A6877-7571-47C7-87D9-62963B2D32AA}"/>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5" name="页脚占位符 4">
            <a:extLst>
              <a:ext uri="{FF2B5EF4-FFF2-40B4-BE49-F238E27FC236}">
                <a16:creationId xmlns:a16="http://schemas.microsoft.com/office/drawing/2014/main" id="{F8DCA8EB-FCE2-4A69-B95A-0335F8F529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9E260D-EC8D-4CE5-868C-223D36FA4B8C}"/>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2983360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E9940D6-C023-44F3-B00C-1511E34BAB4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B569A1D-62D3-4C79-9AC4-50AF5F82FA2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F88663F-24AF-4B2B-9C2D-13463DDF9A65}"/>
              </a:ext>
            </a:extLst>
          </p:cNvPr>
          <p:cNvSpPr>
            <a:spLocks noGrp="1"/>
          </p:cNvSpPr>
          <p:nvPr>
            <p:ph type="dt" sz="half" idx="10"/>
          </p:nvPr>
        </p:nvSpPr>
        <p:spPr/>
        <p:txBody>
          <a:bodyPr/>
          <a:lstStyle/>
          <a:p>
            <a:fld id="{1BDB5350-2D28-4FDF-9975-99325DD686D7}" type="datetimeFigureOut">
              <a:rPr lang="zh-CN" altLang="en-US" smtClean="0"/>
              <a:t>2025/6/26</a:t>
            </a:fld>
            <a:endParaRPr lang="zh-CN" altLang="en-US"/>
          </a:p>
        </p:txBody>
      </p:sp>
      <p:sp>
        <p:nvSpPr>
          <p:cNvPr id="5" name="页脚占位符 4">
            <a:extLst>
              <a:ext uri="{FF2B5EF4-FFF2-40B4-BE49-F238E27FC236}">
                <a16:creationId xmlns:a16="http://schemas.microsoft.com/office/drawing/2014/main" id="{0FC76712-6A8E-478C-9BAB-6937DCA813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D29F36-99BD-4579-865A-68A9B4468A3D}"/>
              </a:ext>
            </a:extLst>
          </p:cNvPr>
          <p:cNvSpPr>
            <a:spLocks noGrp="1"/>
          </p:cNvSpPr>
          <p:nvPr>
            <p:ph type="sldNum" sz="quarter" idx="12"/>
          </p:nvPr>
        </p:nvSpPr>
        <p:spPr/>
        <p:txBody>
          <a:body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848438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5809BBB-3D64-44E5-8467-7622CE5615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D3A9C5F-5E47-48D5-84B8-4EB24F989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639FFBC-9D3F-41C1-B75A-8A6B21E166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DB5350-2D28-4FDF-9975-99325DD686D7}" type="datetimeFigureOut">
              <a:rPr lang="zh-CN" altLang="en-US" smtClean="0"/>
              <a:t>2025/6/26</a:t>
            </a:fld>
            <a:endParaRPr lang="zh-CN" altLang="en-US"/>
          </a:p>
        </p:txBody>
      </p:sp>
      <p:sp>
        <p:nvSpPr>
          <p:cNvPr id="5" name="页脚占位符 4">
            <a:extLst>
              <a:ext uri="{FF2B5EF4-FFF2-40B4-BE49-F238E27FC236}">
                <a16:creationId xmlns:a16="http://schemas.microsoft.com/office/drawing/2014/main" id="{8B0401B2-BD4C-468C-93CF-79AE7DE18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6FBA284-5A90-4257-84EE-1C619FD8CF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D246F3-2170-4418-AEA2-DE8ABE061B27}" type="slidenum">
              <a:rPr lang="zh-CN" altLang="en-US" smtClean="0"/>
              <a:t>‹#›</a:t>
            </a:fld>
            <a:endParaRPr lang="zh-CN" altLang="en-US"/>
          </a:p>
        </p:txBody>
      </p:sp>
    </p:spTree>
    <p:extLst>
      <p:ext uri="{BB962C8B-B14F-4D97-AF65-F5344CB8AC3E}">
        <p14:creationId xmlns:p14="http://schemas.microsoft.com/office/powerpoint/2010/main" val="612161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oleObject" Target="../embeddings/oleObject2.bin"/><Relationship Id="rId4"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wmf"/></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4.emf"/><Relationship Id="rId4"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5.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8.png"/><Relationship Id="rId4" Type="http://schemas.openxmlformats.org/officeDocument/2006/relationships/image" Target="../media/image6.emf"/></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4" name="日期占位符 3">
            <a:extLst>
              <a:ext uri="{FF2B5EF4-FFF2-40B4-BE49-F238E27FC236}">
                <a16:creationId xmlns:a16="http://schemas.microsoft.com/office/drawing/2014/main" id="{D172D91F-0B95-400C-B241-8BB3FEEEAB86}"/>
              </a:ext>
            </a:extLst>
          </p:cNvPr>
          <p:cNvSpPr>
            <a:spLocks noGrp="1" noChangeArrowheads="1"/>
          </p:cNvSpPr>
          <p:nvPr>
            <p:ph type="dt" sz="quarter" idx="10"/>
          </p:nvPr>
        </p:nvSpPr>
        <p:spPr bwMode="auto">
          <a:xfrm>
            <a:off x="1981200" y="6408738"/>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31DC5B9C-A8F4-43D8-9226-A2F03B80F694}" type="datetime1">
              <a:rPr lang="zh-CN" altLang="en-US" sz="1400">
                <a:latin typeface="Tahoma" panose="020B0604030504040204" pitchFamily="34" charset="0"/>
              </a:rPr>
              <a:pPr/>
              <a:t>2025/6/26</a:t>
            </a:fld>
            <a:endParaRPr lang="zh-CN" altLang="zh-CN" sz="1400">
              <a:latin typeface="Tahoma" panose="020B0604030504040204" pitchFamily="34" charset="0"/>
            </a:endParaRPr>
          </a:p>
        </p:txBody>
      </p:sp>
      <p:sp>
        <p:nvSpPr>
          <p:cNvPr id="5125" name="灯片编号占位符 5">
            <a:extLst>
              <a:ext uri="{FF2B5EF4-FFF2-40B4-BE49-F238E27FC236}">
                <a16:creationId xmlns:a16="http://schemas.microsoft.com/office/drawing/2014/main" id="{F03CEB08-738C-488D-A09E-5AED1E18CA1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0" hangingPunct="0"/>
            <a:fld id="{D21FE866-7A16-40F8-B958-E02185454C69}" type="slidenum">
              <a:rPr lang="en-US" altLang="zh-CN" sz="1400">
                <a:latin typeface="Arial" panose="020B0604020202020204" pitchFamily="34" charset="0"/>
              </a:rPr>
              <a:pPr eaLnBrk="0" hangingPunct="0"/>
              <a:t>1</a:t>
            </a:fld>
            <a:endParaRPr lang="en-US" altLang="zh-CN" sz="1400">
              <a:latin typeface="Arial" panose="020B0604020202020204" pitchFamily="34" charset="0"/>
            </a:endParaRPr>
          </a:p>
        </p:txBody>
      </p:sp>
      <p:sp>
        <p:nvSpPr>
          <p:cNvPr id="5126" name="Rectangle 5">
            <a:extLst>
              <a:ext uri="{FF2B5EF4-FFF2-40B4-BE49-F238E27FC236}">
                <a16:creationId xmlns:a16="http://schemas.microsoft.com/office/drawing/2014/main" id="{7F510C60-4B18-4C44-82E2-7DA093A51CAD}"/>
              </a:ext>
            </a:extLst>
          </p:cNvPr>
          <p:cNvSpPr>
            <a:spLocks noChangeArrowheads="1"/>
          </p:cNvSpPr>
          <p:nvPr/>
        </p:nvSpPr>
        <p:spPr bwMode="auto">
          <a:xfrm>
            <a:off x="1524001" y="308386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en-US" sz="2400"/>
          </a:p>
        </p:txBody>
      </p:sp>
      <p:graphicFrame>
        <p:nvGraphicFramePr>
          <p:cNvPr id="5122" name="Object 4">
            <a:extLst>
              <a:ext uri="{FF2B5EF4-FFF2-40B4-BE49-F238E27FC236}">
                <a16:creationId xmlns:a16="http://schemas.microsoft.com/office/drawing/2014/main" id="{15073BF4-2ECD-4117-8C7A-1F88D9AF5624}"/>
              </a:ext>
            </a:extLst>
          </p:cNvPr>
          <p:cNvGraphicFramePr>
            <a:graphicFrameLocks/>
          </p:cNvGraphicFramePr>
          <p:nvPr/>
        </p:nvGraphicFramePr>
        <p:xfrm>
          <a:off x="5951539" y="5259389"/>
          <a:ext cx="295275" cy="401637"/>
        </p:xfrm>
        <a:graphic>
          <a:graphicData uri="http://schemas.openxmlformats.org/presentationml/2006/ole">
            <mc:AlternateContent xmlns:mc="http://schemas.openxmlformats.org/markup-compatibility/2006">
              <mc:Choice xmlns:v="urn:schemas-microsoft-com:vml" Requires="v">
                <p:oleObj spid="_x0000_s1040" r:id="rId3" imgW="165028" imgH="228501" progId="Equation.DSMT4">
                  <p:embed/>
                </p:oleObj>
              </mc:Choice>
              <mc:Fallback>
                <p:oleObj r:id="rId3" imgW="165028" imgH="228501" progId="Equation.DSMT4">
                  <p:embed/>
                  <p:pic>
                    <p:nvPicPr>
                      <p:cNvPr id="5122" name="Object 4">
                        <a:extLst>
                          <a:ext uri="{FF2B5EF4-FFF2-40B4-BE49-F238E27FC236}">
                            <a16:creationId xmlns:a16="http://schemas.microsoft.com/office/drawing/2014/main" id="{15073BF4-2ECD-4117-8C7A-1F88D9AF562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1539" y="5259389"/>
                        <a:ext cx="2952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7" name="Rectangle 7">
            <a:extLst>
              <a:ext uri="{FF2B5EF4-FFF2-40B4-BE49-F238E27FC236}">
                <a16:creationId xmlns:a16="http://schemas.microsoft.com/office/drawing/2014/main" id="{C95AC47F-ED5F-465D-9218-396B22336353}"/>
              </a:ext>
            </a:extLst>
          </p:cNvPr>
          <p:cNvSpPr>
            <a:spLocks noChangeArrowheads="1"/>
          </p:cNvSpPr>
          <p:nvPr/>
        </p:nvSpPr>
        <p:spPr bwMode="auto">
          <a:xfrm>
            <a:off x="1524001" y="308386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en-US" sz="2400"/>
          </a:p>
        </p:txBody>
      </p:sp>
      <p:graphicFrame>
        <p:nvGraphicFramePr>
          <p:cNvPr id="5123" name="Object 6">
            <a:extLst>
              <a:ext uri="{FF2B5EF4-FFF2-40B4-BE49-F238E27FC236}">
                <a16:creationId xmlns:a16="http://schemas.microsoft.com/office/drawing/2014/main" id="{8A78E36E-0DBA-4DD6-B396-9747B4093BBF}"/>
              </a:ext>
            </a:extLst>
          </p:cNvPr>
          <p:cNvGraphicFramePr>
            <a:graphicFrameLocks/>
          </p:cNvGraphicFramePr>
          <p:nvPr/>
        </p:nvGraphicFramePr>
        <p:xfrm>
          <a:off x="3568701" y="5949950"/>
          <a:ext cx="295275" cy="401638"/>
        </p:xfrm>
        <a:graphic>
          <a:graphicData uri="http://schemas.openxmlformats.org/presentationml/2006/ole">
            <mc:AlternateContent xmlns:mc="http://schemas.openxmlformats.org/markup-compatibility/2006">
              <mc:Choice xmlns:v="urn:schemas-microsoft-com:vml" Requires="v">
                <p:oleObj spid="_x0000_s1041" r:id="rId5" imgW="165028" imgH="228501" progId="Equation.DSMT4">
                  <p:embed/>
                </p:oleObj>
              </mc:Choice>
              <mc:Fallback>
                <p:oleObj r:id="rId5" imgW="165028" imgH="228501" progId="Equation.DSMT4">
                  <p:embed/>
                  <p:pic>
                    <p:nvPicPr>
                      <p:cNvPr id="5123" name="Object 6">
                        <a:extLst>
                          <a:ext uri="{FF2B5EF4-FFF2-40B4-BE49-F238E27FC236}">
                            <a16:creationId xmlns:a16="http://schemas.microsoft.com/office/drawing/2014/main" id="{8A78E36E-0DBA-4DD6-B396-9747B4093BB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8701" y="5949950"/>
                        <a:ext cx="2952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128" name="图片 22539">
            <a:extLst>
              <a:ext uri="{FF2B5EF4-FFF2-40B4-BE49-F238E27FC236}">
                <a16:creationId xmlns:a16="http://schemas.microsoft.com/office/drawing/2014/main" id="{006501A5-E425-4B89-90D3-8C59D002E9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9763" y="188914"/>
            <a:ext cx="8578850"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9" name="Rectangle 2">
            <a:extLst>
              <a:ext uri="{FF2B5EF4-FFF2-40B4-BE49-F238E27FC236}">
                <a16:creationId xmlns:a16="http://schemas.microsoft.com/office/drawing/2014/main" id="{D97B569E-3BDF-44D1-957F-056EB5025380}"/>
              </a:ext>
            </a:extLst>
          </p:cNvPr>
          <p:cNvSpPr>
            <a:spLocks noChangeArrowheads="1"/>
          </p:cNvSpPr>
          <p:nvPr/>
        </p:nvSpPr>
        <p:spPr bwMode="auto">
          <a:xfrm>
            <a:off x="1644650" y="115888"/>
            <a:ext cx="74755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ctr" eaLnBrk="1" hangingPunct="1">
              <a:buFont typeface="Arial" panose="020B0604020202020204" pitchFamily="34" charset="0"/>
              <a:buNone/>
            </a:pPr>
            <a:r>
              <a:rPr lang="en-US" altLang="zh-CN" sz="4000" b="1">
                <a:solidFill>
                  <a:schemeClr val="tx2"/>
                </a:solidFill>
                <a:ea typeface="黑体" panose="02010609060101010101" pitchFamily="49" charset="-122"/>
              </a:rPr>
              <a:t>LL(1)</a:t>
            </a:r>
            <a:r>
              <a:rPr lang="zh-CN" altLang="en-US" sz="3600" b="1">
                <a:solidFill>
                  <a:schemeClr val="tx2"/>
                </a:solidFill>
                <a:latin typeface="黑体" panose="02010609060101010101" pitchFamily="49" charset="-122"/>
                <a:ea typeface="黑体" panose="02010609060101010101" pitchFamily="49" charset="-122"/>
              </a:rPr>
              <a:t>文法的判定</a:t>
            </a:r>
          </a:p>
        </p:txBody>
      </p:sp>
      <p:sp>
        <p:nvSpPr>
          <p:cNvPr id="22542" name="Rectangle 3">
            <a:extLst>
              <a:ext uri="{FF2B5EF4-FFF2-40B4-BE49-F238E27FC236}">
                <a16:creationId xmlns:a16="http://schemas.microsoft.com/office/drawing/2014/main" id="{AC28E0C9-D765-43D5-94E6-1961D5590014}"/>
              </a:ext>
            </a:extLst>
          </p:cNvPr>
          <p:cNvSpPr>
            <a:spLocks noChangeArrowheads="1"/>
          </p:cNvSpPr>
          <p:nvPr/>
        </p:nvSpPr>
        <p:spPr bwMode="auto">
          <a:xfrm>
            <a:off x="1847850" y="692150"/>
            <a:ext cx="8591550" cy="597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812800" indent="-812800">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Font typeface="Arial" panose="020B0604020202020204" pitchFamily="34" charset="0"/>
              <a:buNone/>
            </a:pPr>
            <a:r>
              <a:rPr lang="zh-CN" altLang="en-US" sz="2200" b="1" dirty="0">
                <a:ea typeface="楷体_GB2312" pitchFamily="49" charset="-122"/>
              </a:rPr>
              <a:t>算法</a:t>
            </a:r>
            <a:r>
              <a:rPr lang="en-US" altLang="zh-CN" sz="2200" b="1" dirty="0">
                <a:ea typeface="楷体_GB2312" pitchFamily="49" charset="-122"/>
              </a:rPr>
              <a:t>4.2 </a:t>
            </a:r>
            <a:r>
              <a:rPr lang="zh-CN" altLang="en-US" sz="2200" b="1" dirty="0">
                <a:ea typeface="楷体_GB2312" pitchFamily="49" charset="-122"/>
              </a:rPr>
              <a:t>计算</a:t>
            </a:r>
            <a:r>
              <a:rPr lang="en-US" altLang="zh-CN" sz="2200" b="1" dirty="0">
                <a:ea typeface="楷体_GB2312" pitchFamily="49" charset="-122"/>
              </a:rPr>
              <a:t>FIRST(</a:t>
            </a:r>
            <a:r>
              <a:rPr lang="en-US" altLang="zh-CN" sz="2200" b="1" i="1" dirty="0">
                <a:ea typeface="楷体_GB2312" pitchFamily="49" charset="-122"/>
              </a:rPr>
              <a:t>X</a:t>
            </a:r>
            <a:r>
              <a:rPr lang="en-US" altLang="zh-CN" sz="2200" b="1" dirty="0">
                <a:ea typeface="楷体_GB2312" pitchFamily="49" charset="-122"/>
              </a:rPr>
              <a:t>)</a:t>
            </a:r>
            <a:r>
              <a:rPr lang="zh-CN" altLang="en-US" sz="2200" b="1" dirty="0">
                <a:ea typeface="楷体_GB2312" pitchFamily="49" charset="-122"/>
              </a:rPr>
              <a:t>。</a:t>
            </a:r>
          </a:p>
          <a:p>
            <a:pPr eaLnBrk="1" hangingPunct="1">
              <a:lnSpc>
                <a:spcPct val="80000"/>
              </a:lnSpc>
              <a:spcBef>
                <a:spcPct val="20000"/>
              </a:spcBef>
              <a:buFont typeface="Arial" panose="020B0604020202020204" pitchFamily="34" charset="0"/>
              <a:buNone/>
            </a:pPr>
            <a:r>
              <a:rPr lang="zh-CN" altLang="en-US" sz="2200" b="1" dirty="0">
                <a:ea typeface="楷体_GB2312" pitchFamily="49" charset="-122"/>
              </a:rPr>
              <a:t>输入：文法</a:t>
            </a:r>
            <a:r>
              <a:rPr lang="en-US" altLang="zh-CN" sz="2200" b="1" i="1" dirty="0">
                <a:ea typeface="楷体_GB2312" pitchFamily="49" charset="-122"/>
              </a:rPr>
              <a:t>G</a:t>
            </a:r>
            <a:r>
              <a:rPr lang="en-US" altLang="zh-CN" sz="2200" b="1" dirty="0">
                <a:ea typeface="楷体_GB2312" pitchFamily="49" charset="-122"/>
              </a:rPr>
              <a:t>=(</a:t>
            </a:r>
            <a:r>
              <a:rPr lang="en-US" altLang="zh-CN" sz="2200" b="1" i="1" dirty="0">
                <a:ea typeface="楷体_GB2312" pitchFamily="49" charset="-122"/>
              </a:rPr>
              <a:t>V</a:t>
            </a:r>
            <a:r>
              <a:rPr lang="zh-CN" altLang="en-US" sz="2200" b="1" dirty="0">
                <a:ea typeface="楷体_GB2312" pitchFamily="49" charset="-122"/>
              </a:rPr>
              <a:t>，</a:t>
            </a:r>
            <a:r>
              <a:rPr lang="en-US" altLang="zh-CN" sz="2200" b="1" i="1" dirty="0">
                <a:ea typeface="楷体_GB2312" pitchFamily="49" charset="-122"/>
              </a:rPr>
              <a:t>T</a:t>
            </a:r>
            <a:r>
              <a:rPr lang="zh-CN" altLang="en-US" sz="2200" b="1" dirty="0">
                <a:ea typeface="楷体_GB2312" pitchFamily="49" charset="-122"/>
              </a:rPr>
              <a:t>，</a:t>
            </a:r>
            <a:r>
              <a:rPr lang="en-US" altLang="zh-CN" sz="2200" b="1" i="1" dirty="0">
                <a:ea typeface="楷体_GB2312" pitchFamily="49" charset="-122"/>
              </a:rPr>
              <a:t>P</a:t>
            </a:r>
            <a:r>
              <a:rPr lang="zh-CN" altLang="en-US" sz="2200" b="1" dirty="0">
                <a:ea typeface="楷体_GB2312" pitchFamily="49" charset="-122"/>
              </a:rPr>
              <a:t>，</a:t>
            </a:r>
            <a:r>
              <a:rPr lang="en-US" altLang="zh-CN" sz="2200" b="1" i="1" dirty="0">
                <a:ea typeface="楷体_GB2312" pitchFamily="49" charset="-122"/>
              </a:rPr>
              <a:t>S</a:t>
            </a:r>
            <a:r>
              <a:rPr lang="en-US" altLang="zh-CN" sz="2200" b="1" dirty="0">
                <a:ea typeface="楷体_GB2312" pitchFamily="49" charset="-122"/>
              </a:rPr>
              <a:t>)</a:t>
            </a:r>
            <a:r>
              <a:rPr lang="zh-CN" altLang="en-US" sz="2200" b="1" dirty="0">
                <a:ea typeface="楷体_GB2312" pitchFamily="49" charset="-122"/>
              </a:rPr>
              <a:t>，</a:t>
            </a:r>
            <a:r>
              <a:rPr lang="en-US" altLang="zh-CN" sz="2200" b="1" i="1" dirty="0">
                <a:ea typeface="楷体_GB2312" pitchFamily="49" charset="-122"/>
              </a:rPr>
              <a:t>X</a:t>
            </a:r>
            <a:r>
              <a:rPr lang="en-US" altLang="zh-CN" sz="2200" b="1" dirty="0">
                <a:ea typeface="楷体_GB2312" pitchFamily="49" charset="-122"/>
                <a:sym typeface="Symbol" panose="05050102010706020507" pitchFamily="18" charset="2"/>
              </a:rPr>
              <a:t></a:t>
            </a:r>
            <a:r>
              <a:rPr lang="en-US" altLang="zh-CN" sz="2200" b="1" dirty="0">
                <a:ea typeface="楷体_GB2312" pitchFamily="49" charset="-122"/>
              </a:rPr>
              <a:t>(</a:t>
            </a:r>
            <a:r>
              <a:rPr lang="en-US" altLang="zh-CN" sz="2200" b="1" i="1" dirty="0">
                <a:ea typeface="楷体_GB2312" pitchFamily="49" charset="-122"/>
              </a:rPr>
              <a:t>V</a:t>
            </a:r>
            <a:r>
              <a:rPr lang="en-US" altLang="zh-CN" sz="2200" b="1" dirty="0">
                <a:ea typeface="楷体_GB2312" pitchFamily="49" charset="-122"/>
              </a:rPr>
              <a:t>∪</a:t>
            </a:r>
            <a:r>
              <a:rPr lang="en-US" altLang="zh-CN" sz="2200" b="1" i="1" dirty="0">
                <a:ea typeface="楷体_GB2312" pitchFamily="49" charset="-122"/>
              </a:rPr>
              <a:t>T</a:t>
            </a:r>
            <a:r>
              <a:rPr lang="en-US" altLang="zh-CN" sz="2200" b="1" dirty="0">
                <a:ea typeface="楷体_GB2312" pitchFamily="49" charset="-122"/>
              </a:rPr>
              <a:t>);</a:t>
            </a:r>
          </a:p>
          <a:p>
            <a:pPr eaLnBrk="1" hangingPunct="1">
              <a:lnSpc>
                <a:spcPct val="80000"/>
              </a:lnSpc>
              <a:spcBef>
                <a:spcPct val="20000"/>
              </a:spcBef>
              <a:buFont typeface="Arial" panose="020B0604020202020204" pitchFamily="34" charset="0"/>
              <a:buNone/>
            </a:pPr>
            <a:r>
              <a:rPr lang="zh-CN" altLang="en-US" sz="2200" b="1" dirty="0">
                <a:ea typeface="楷体_GB2312" pitchFamily="49" charset="-122"/>
              </a:rPr>
              <a:t>输出：</a:t>
            </a:r>
            <a:r>
              <a:rPr lang="en-US" altLang="zh-CN" sz="2200" b="1" dirty="0">
                <a:ea typeface="楷体_GB2312" pitchFamily="49" charset="-122"/>
              </a:rPr>
              <a:t>FIRST(</a:t>
            </a:r>
            <a:r>
              <a:rPr lang="en-US" altLang="zh-CN" sz="2200" b="1" i="1" dirty="0">
                <a:ea typeface="楷体_GB2312" pitchFamily="49" charset="-122"/>
              </a:rPr>
              <a:t>X</a:t>
            </a:r>
            <a:r>
              <a:rPr lang="en-US" altLang="zh-CN" sz="2200" b="1" dirty="0">
                <a:ea typeface="楷体_GB2312" pitchFamily="49" charset="-122"/>
              </a:rPr>
              <a:t>);</a:t>
            </a:r>
          </a:p>
          <a:p>
            <a:pPr eaLnBrk="1" hangingPunct="1">
              <a:lnSpc>
                <a:spcPct val="80000"/>
              </a:lnSpc>
              <a:spcBef>
                <a:spcPct val="20000"/>
              </a:spcBef>
              <a:buFont typeface="Arial" panose="020B0604020202020204" pitchFamily="34" charset="0"/>
              <a:buNone/>
            </a:pPr>
            <a:r>
              <a:rPr lang="zh-CN" altLang="en-US" sz="2200" b="1" dirty="0">
                <a:ea typeface="楷体_GB2312" pitchFamily="49" charset="-122"/>
              </a:rPr>
              <a:t>步骤：</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1</a:t>
            </a:r>
            <a:r>
              <a:rPr lang="zh-CN" altLang="en-US" sz="2200" b="1" dirty="0">
                <a:ea typeface="楷体_GB2312" pitchFamily="49" charset="-122"/>
              </a:rPr>
              <a:t>．</a:t>
            </a:r>
            <a:r>
              <a:rPr lang="en-US" altLang="zh-CN" sz="2200" b="1" dirty="0">
                <a:ea typeface="楷体_GB2312" pitchFamily="49" charset="-122"/>
              </a:rPr>
              <a:t>FIRST(</a:t>
            </a:r>
            <a:r>
              <a:rPr lang="en-US" altLang="zh-CN" sz="2200" b="1" i="1" dirty="0">
                <a:ea typeface="楷体_GB2312" pitchFamily="49" charset="-122"/>
              </a:rPr>
              <a:t>X</a:t>
            </a:r>
            <a:r>
              <a:rPr lang="en-US" altLang="zh-CN" sz="2200" b="1" dirty="0">
                <a:ea typeface="楷体_GB2312" pitchFamily="49" charset="-122"/>
              </a:rPr>
              <a:t>)= </a:t>
            </a:r>
            <a:r>
              <a:rPr lang="en-US" altLang="zh-CN" sz="2200" b="1" dirty="0">
                <a:ea typeface="楷体_GB2312" pitchFamily="49" charset="-122"/>
                <a:sym typeface="Symbol" panose="05050102010706020507" pitchFamily="18" charset="2"/>
              </a:rPr>
              <a:t></a:t>
            </a:r>
            <a:r>
              <a:rPr lang="en-US" altLang="zh-CN" sz="2200" b="1" dirty="0">
                <a:ea typeface="楷体_GB2312" pitchFamily="49" charset="-122"/>
              </a:rPr>
              <a:t>;</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2</a:t>
            </a:r>
            <a:r>
              <a:rPr lang="zh-CN" altLang="en-US" sz="2200" b="1" dirty="0">
                <a:ea typeface="楷体_GB2312" pitchFamily="49" charset="-122"/>
              </a:rPr>
              <a:t>．</a:t>
            </a:r>
            <a:r>
              <a:rPr lang="en-US" altLang="zh-CN" sz="2200" b="1" dirty="0">
                <a:ea typeface="楷体_GB2312" pitchFamily="49" charset="-122"/>
              </a:rPr>
              <a:t>if (</a:t>
            </a:r>
            <a:r>
              <a:rPr lang="en-US" altLang="zh-CN" sz="2200" b="1" i="1" dirty="0">
                <a:ea typeface="楷体_GB2312" pitchFamily="49" charset="-122"/>
              </a:rPr>
              <a:t>X</a:t>
            </a:r>
            <a:r>
              <a:rPr lang="en-US" altLang="zh-CN" sz="2200" b="1" dirty="0">
                <a:ea typeface="楷体_GB2312" pitchFamily="49" charset="-122"/>
              </a:rPr>
              <a:t>∈</a:t>
            </a:r>
            <a:r>
              <a:rPr lang="en-US" altLang="zh-CN" sz="2200" b="1" i="1" dirty="0">
                <a:ea typeface="楷体_GB2312" pitchFamily="49" charset="-122"/>
              </a:rPr>
              <a:t>T</a:t>
            </a:r>
            <a:r>
              <a:rPr lang="en-US" altLang="zh-CN" sz="2200" b="1" dirty="0">
                <a:ea typeface="楷体_GB2312" pitchFamily="49" charset="-122"/>
              </a:rPr>
              <a:t>) then FIRST(</a:t>
            </a:r>
            <a:r>
              <a:rPr lang="en-US" altLang="zh-CN" sz="2200" b="1" i="1" dirty="0">
                <a:ea typeface="楷体_GB2312" pitchFamily="49" charset="-122"/>
              </a:rPr>
              <a:t>X</a:t>
            </a:r>
            <a:r>
              <a:rPr lang="en-US" altLang="zh-CN" sz="2200" b="1" dirty="0">
                <a:ea typeface="楷体_GB2312" pitchFamily="49" charset="-122"/>
              </a:rPr>
              <a:t>):= {</a:t>
            </a:r>
            <a:r>
              <a:rPr lang="en-US" altLang="zh-CN" sz="2200" b="1" i="1" dirty="0">
                <a:ea typeface="楷体_GB2312" pitchFamily="49" charset="-122"/>
              </a:rPr>
              <a:t>X</a:t>
            </a:r>
            <a:r>
              <a:rPr lang="en-US" altLang="zh-CN" sz="2200" b="1" dirty="0">
                <a:ea typeface="楷体_GB2312" pitchFamily="49" charset="-122"/>
              </a:rPr>
              <a:t>} ;</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3</a:t>
            </a:r>
            <a:r>
              <a:rPr lang="zh-CN" altLang="en-US" sz="2200" b="1" dirty="0">
                <a:ea typeface="楷体_GB2312" pitchFamily="49" charset="-122"/>
              </a:rPr>
              <a:t>．</a:t>
            </a:r>
            <a:r>
              <a:rPr lang="en-US" altLang="zh-CN" sz="2200" b="1" dirty="0">
                <a:ea typeface="楷体_GB2312" pitchFamily="49" charset="-122"/>
              </a:rPr>
              <a:t>if </a:t>
            </a:r>
            <a:r>
              <a:rPr lang="en-US" altLang="zh-CN" sz="2200" b="1" i="1" dirty="0">
                <a:ea typeface="楷体_GB2312" pitchFamily="49" charset="-122"/>
              </a:rPr>
              <a:t>X</a:t>
            </a:r>
            <a:r>
              <a:rPr lang="en-US" altLang="zh-CN" sz="2200" b="1" dirty="0">
                <a:ea typeface="楷体_GB2312" pitchFamily="49" charset="-122"/>
              </a:rPr>
              <a:t>∈</a:t>
            </a:r>
            <a:r>
              <a:rPr lang="en-US" altLang="zh-CN" sz="2200" b="1" i="1" dirty="0">
                <a:ea typeface="楷体_GB2312" pitchFamily="49" charset="-122"/>
              </a:rPr>
              <a:t>V</a:t>
            </a:r>
            <a:r>
              <a:rPr lang="en-US" altLang="zh-CN" sz="2200" b="1" dirty="0">
                <a:ea typeface="楷体_GB2312" pitchFamily="49" charset="-122"/>
              </a:rPr>
              <a:t> then </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begin</a:t>
            </a:r>
          </a:p>
          <a:p>
            <a:pPr eaLnBrk="1" hangingPunct="1">
              <a:lnSpc>
                <a:spcPct val="80000"/>
              </a:lnSpc>
              <a:spcBef>
                <a:spcPct val="20000"/>
              </a:spcBef>
            </a:pPr>
            <a:r>
              <a:rPr lang="en-US" altLang="zh-CN" sz="2200" b="1" dirty="0">
                <a:ea typeface="楷体_GB2312" pitchFamily="49" charset="-122"/>
              </a:rPr>
              <a:t>4</a:t>
            </a:r>
            <a:r>
              <a:rPr lang="zh-CN" altLang="en-US" sz="2200" b="1" dirty="0">
                <a:ea typeface="楷体_GB2312" pitchFamily="49" charset="-122"/>
              </a:rPr>
              <a:t>．</a:t>
            </a:r>
            <a:r>
              <a:rPr lang="en-US" altLang="zh-CN" sz="2200" b="1" dirty="0">
                <a:ea typeface="楷体_GB2312" pitchFamily="49" charset="-122"/>
              </a:rPr>
              <a:t>if (</a:t>
            </a:r>
            <a:r>
              <a:rPr lang="en-US" altLang="zh-CN" sz="2200" b="1" i="1" dirty="0" err="1">
                <a:ea typeface="楷体_GB2312" pitchFamily="49" charset="-122"/>
              </a:rPr>
              <a:t>X</a:t>
            </a:r>
            <a:r>
              <a:rPr lang="en-US" altLang="zh-CN" sz="2200" b="1" dirty="0" err="1">
                <a:ea typeface="楷体_GB2312" pitchFamily="49" charset="-122"/>
              </a:rPr>
              <a:t>→</a:t>
            </a:r>
            <a:r>
              <a:rPr lang="en-US" altLang="zh-CN" sz="2200" b="1" i="1" dirty="0" err="1">
                <a:ea typeface="楷体_GB2312" pitchFamily="49" charset="-122"/>
              </a:rPr>
              <a:t>ε</a:t>
            </a:r>
            <a:r>
              <a:rPr lang="en-US" altLang="zh-CN" sz="2200" b="1" dirty="0" err="1">
                <a:ea typeface="楷体_GB2312" pitchFamily="49" charset="-122"/>
              </a:rPr>
              <a:t>∈</a:t>
            </a:r>
            <a:r>
              <a:rPr lang="en-US" altLang="zh-CN" sz="2200" b="1" i="1" dirty="0" err="1">
                <a:ea typeface="楷体_GB2312" pitchFamily="49" charset="-122"/>
              </a:rPr>
              <a:t>P</a:t>
            </a:r>
            <a:r>
              <a:rPr lang="en-US" altLang="zh-CN" sz="2200" b="1" dirty="0">
                <a:ea typeface="楷体_GB2312" pitchFamily="49" charset="-122"/>
              </a:rPr>
              <a:t>) then FIRST(</a:t>
            </a:r>
            <a:r>
              <a:rPr lang="en-US" altLang="zh-CN" sz="2200" b="1" i="1" dirty="0">
                <a:ea typeface="楷体_GB2312" pitchFamily="49" charset="-122"/>
              </a:rPr>
              <a:t>X</a:t>
            </a:r>
            <a:r>
              <a:rPr lang="en-US" altLang="zh-CN" sz="2200" b="1" dirty="0">
                <a:ea typeface="楷体_GB2312" pitchFamily="49" charset="-122"/>
              </a:rPr>
              <a:t>):= FIRST(</a:t>
            </a:r>
            <a:r>
              <a:rPr lang="en-US" altLang="zh-CN" sz="2200" b="1" i="1" dirty="0">
                <a:ea typeface="楷体_GB2312" pitchFamily="49" charset="-122"/>
              </a:rPr>
              <a:t>X</a:t>
            </a:r>
            <a:r>
              <a:rPr lang="en-US" altLang="zh-CN" sz="2200" b="1" dirty="0">
                <a:ea typeface="楷体_GB2312" pitchFamily="49" charset="-122"/>
              </a:rPr>
              <a:t>)∪{</a:t>
            </a:r>
            <a:r>
              <a:rPr lang="en-US" altLang="zh-CN" sz="2200" b="1" i="1" dirty="0" err="1">
                <a:ea typeface="楷体_GB2312" pitchFamily="49" charset="-122"/>
              </a:rPr>
              <a:t>a|X</a:t>
            </a:r>
            <a:r>
              <a:rPr lang="en-US" altLang="zh-CN" sz="2200" b="1" dirty="0" err="1">
                <a:ea typeface="楷体_GB2312" pitchFamily="49" charset="-122"/>
              </a:rPr>
              <a:t>→</a:t>
            </a:r>
            <a:r>
              <a:rPr lang="en-US" altLang="zh-CN" sz="2200" b="1" i="1" dirty="0" err="1">
                <a:ea typeface="楷体_GB2312" pitchFamily="49" charset="-122"/>
              </a:rPr>
              <a:t>a</a:t>
            </a:r>
            <a:r>
              <a:rPr lang="en-US" altLang="zh-CN" sz="2200" b="1" dirty="0">
                <a:ea typeface="楷体_GB2312" pitchFamily="49" charset="-122"/>
              </a:rPr>
              <a:t>…∈</a:t>
            </a:r>
            <a:r>
              <a:rPr lang="en-US" altLang="zh-CN" sz="2200" b="1" i="1" dirty="0">
                <a:ea typeface="楷体_GB2312" pitchFamily="49" charset="-122"/>
              </a:rPr>
              <a:t>P</a:t>
            </a:r>
            <a:r>
              <a:rPr lang="en-US" altLang="zh-CN" sz="2200" b="1" dirty="0">
                <a:ea typeface="楷体_GB2312" pitchFamily="49" charset="-122"/>
              </a:rPr>
              <a:t>}∪{</a:t>
            </a:r>
            <a:r>
              <a:rPr lang="en-US" altLang="zh-CN" sz="2200" b="1" i="1" dirty="0">
                <a:ea typeface="楷体_GB2312" pitchFamily="49" charset="-122"/>
              </a:rPr>
              <a:t>ε</a:t>
            </a:r>
            <a:r>
              <a:rPr lang="en-US" altLang="zh-CN" sz="2200" b="1" dirty="0">
                <a:ea typeface="楷体_GB2312" pitchFamily="49" charset="-122"/>
              </a:rPr>
              <a:t>}</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5.   if (</a:t>
            </a:r>
            <a:r>
              <a:rPr lang="en-US" altLang="zh-CN" sz="2200" b="1" i="1" dirty="0" err="1">
                <a:ea typeface="楷体_GB2312" pitchFamily="49" charset="-122"/>
              </a:rPr>
              <a:t>X</a:t>
            </a:r>
            <a:r>
              <a:rPr lang="en-US" altLang="zh-CN" sz="2200" b="1" dirty="0" err="1">
                <a:ea typeface="楷体_GB2312" pitchFamily="49" charset="-122"/>
              </a:rPr>
              <a:t>→</a:t>
            </a:r>
            <a:r>
              <a:rPr lang="en-US" altLang="zh-CN" sz="2200" b="1" i="1" dirty="0" err="1">
                <a:ea typeface="楷体_GB2312" pitchFamily="49" charset="-122"/>
              </a:rPr>
              <a:t>ε</a:t>
            </a:r>
            <a:r>
              <a:rPr lang="en-US" altLang="zh-CN" sz="2200" b="1" dirty="0" err="1">
                <a:ea typeface="楷体_GB2312" pitchFamily="49" charset="-122"/>
                <a:sym typeface="Symbol" panose="05050102010706020507" pitchFamily="18" charset="2"/>
              </a:rPr>
              <a:t></a:t>
            </a:r>
            <a:r>
              <a:rPr lang="en-US" altLang="zh-CN" sz="2200" b="1" i="1" dirty="0" err="1">
                <a:ea typeface="楷体_GB2312" pitchFamily="49" charset="-122"/>
              </a:rPr>
              <a:t>P</a:t>
            </a:r>
            <a:r>
              <a:rPr lang="en-US" altLang="zh-CN" sz="2200" b="1" dirty="0">
                <a:ea typeface="楷体_GB2312" pitchFamily="49" charset="-122"/>
              </a:rPr>
              <a:t>) then FIRST(</a:t>
            </a:r>
            <a:r>
              <a:rPr lang="en-US" altLang="zh-CN" sz="2200" b="1" i="1" dirty="0">
                <a:ea typeface="楷体_GB2312" pitchFamily="49" charset="-122"/>
              </a:rPr>
              <a:t>X</a:t>
            </a:r>
            <a:r>
              <a:rPr lang="en-US" altLang="zh-CN" sz="2200" b="1" dirty="0">
                <a:ea typeface="楷体_GB2312" pitchFamily="49" charset="-122"/>
              </a:rPr>
              <a:t>):= FIRST(</a:t>
            </a:r>
            <a:r>
              <a:rPr lang="en-US" altLang="zh-CN" sz="2200" b="1" i="1" dirty="0">
                <a:ea typeface="楷体_GB2312" pitchFamily="49" charset="-122"/>
              </a:rPr>
              <a:t>X</a:t>
            </a:r>
            <a:r>
              <a:rPr lang="en-US" altLang="zh-CN" sz="2200" b="1" dirty="0">
                <a:ea typeface="楷体_GB2312" pitchFamily="49" charset="-122"/>
              </a:rPr>
              <a:t>)∪{</a:t>
            </a:r>
            <a:r>
              <a:rPr lang="en-US" altLang="zh-CN" sz="2200" b="1" i="1" dirty="0" err="1">
                <a:ea typeface="楷体_GB2312" pitchFamily="49" charset="-122"/>
              </a:rPr>
              <a:t>a</a:t>
            </a:r>
            <a:r>
              <a:rPr lang="en-US" altLang="zh-CN" sz="2200" b="1" dirty="0" err="1">
                <a:ea typeface="楷体_GB2312" pitchFamily="49" charset="-122"/>
              </a:rPr>
              <a:t>|</a:t>
            </a:r>
            <a:r>
              <a:rPr lang="en-US" altLang="zh-CN" sz="2200" b="1" i="1" dirty="0" err="1">
                <a:ea typeface="楷体_GB2312" pitchFamily="49" charset="-122"/>
              </a:rPr>
              <a:t>X</a:t>
            </a:r>
            <a:r>
              <a:rPr lang="en-US" altLang="zh-CN" sz="2200" b="1" dirty="0" err="1">
                <a:ea typeface="楷体_GB2312" pitchFamily="49" charset="-122"/>
              </a:rPr>
              <a:t>→</a:t>
            </a:r>
            <a:r>
              <a:rPr lang="en-US" altLang="zh-CN" sz="2200" b="1" i="1" dirty="0" err="1">
                <a:ea typeface="楷体_GB2312" pitchFamily="49" charset="-122"/>
              </a:rPr>
              <a:t>a</a:t>
            </a:r>
            <a:r>
              <a:rPr lang="en-US" altLang="zh-CN" sz="2200" b="1" dirty="0">
                <a:ea typeface="楷体_GB2312" pitchFamily="49" charset="-122"/>
              </a:rPr>
              <a:t>…∈</a:t>
            </a:r>
            <a:r>
              <a:rPr lang="en-US" altLang="zh-CN" sz="2200" b="1" i="1" dirty="0">
                <a:ea typeface="楷体_GB2312" pitchFamily="49" charset="-122"/>
              </a:rPr>
              <a:t>P</a:t>
            </a:r>
            <a:r>
              <a:rPr lang="en-US" altLang="zh-CN" sz="2200" b="1" dirty="0">
                <a:ea typeface="楷体_GB2312" pitchFamily="49" charset="-122"/>
              </a:rPr>
              <a:t>};</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end</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6</a:t>
            </a:r>
            <a:r>
              <a:rPr lang="zh-CN" altLang="en-US" sz="2200" b="1" dirty="0">
                <a:ea typeface="楷体_GB2312" pitchFamily="49" charset="-122"/>
              </a:rPr>
              <a:t>．对</a:t>
            </a:r>
            <a:r>
              <a:rPr lang="zh-CN" altLang="en-US" sz="2200" b="1" dirty="0">
                <a:ea typeface="楷体_GB2312" pitchFamily="49" charset="-122"/>
                <a:sym typeface="Symbol" panose="05050102010706020507" pitchFamily="18" charset="2"/>
              </a:rPr>
              <a:t></a:t>
            </a:r>
            <a:r>
              <a:rPr lang="en-US" altLang="zh-CN" sz="2200" b="1" i="1" dirty="0">
                <a:ea typeface="楷体_GB2312" pitchFamily="49" charset="-122"/>
              </a:rPr>
              <a:t>X</a:t>
            </a:r>
            <a:r>
              <a:rPr lang="en-US" altLang="zh-CN" sz="2200" b="1" dirty="0">
                <a:ea typeface="楷体_GB2312" pitchFamily="49" charset="-122"/>
              </a:rPr>
              <a:t>∈</a:t>
            </a:r>
            <a:r>
              <a:rPr lang="zh-CN" altLang="en-US" sz="2200" b="1" i="1" dirty="0">
                <a:ea typeface="楷体_GB2312" pitchFamily="49" charset="-122"/>
              </a:rPr>
              <a:t>Ｖ</a:t>
            </a:r>
            <a:r>
              <a:rPr lang="zh-CN" altLang="en-US" sz="2200" b="1" dirty="0">
                <a:ea typeface="楷体_GB2312" pitchFamily="49" charset="-122"/>
              </a:rPr>
              <a:t>，重复如下的过程</a:t>
            </a:r>
            <a:r>
              <a:rPr lang="en-US" altLang="zh-CN" sz="2200" b="1" dirty="0">
                <a:ea typeface="楷体_GB2312" pitchFamily="49" charset="-122"/>
              </a:rPr>
              <a:t>7-10</a:t>
            </a:r>
            <a:r>
              <a:rPr lang="zh-CN" altLang="en-US" sz="2200" b="1" dirty="0">
                <a:ea typeface="楷体_GB2312" pitchFamily="49" charset="-122"/>
              </a:rPr>
              <a:t>，直到所有</a:t>
            </a:r>
            <a:r>
              <a:rPr lang="en-US" altLang="zh-CN" sz="2200" b="1" dirty="0">
                <a:ea typeface="楷体_GB2312" pitchFamily="49" charset="-122"/>
              </a:rPr>
              <a:t>FIRST</a:t>
            </a:r>
            <a:r>
              <a:rPr lang="zh-CN" altLang="en-US" sz="2200" b="1" dirty="0">
                <a:ea typeface="楷体_GB2312" pitchFamily="49" charset="-122"/>
              </a:rPr>
              <a:t>集不变为止。</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7</a:t>
            </a:r>
            <a:r>
              <a:rPr lang="zh-CN" altLang="en-US" sz="2200" b="1" dirty="0">
                <a:ea typeface="楷体_GB2312" pitchFamily="49" charset="-122"/>
              </a:rPr>
              <a:t>．</a:t>
            </a:r>
            <a:r>
              <a:rPr lang="en-US" altLang="zh-CN" sz="2200" b="1" dirty="0">
                <a:ea typeface="楷体_GB2312" pitchFamily="49" charset="-122"/>
              </a:rPr>
              <a:t>if (</a:t>
            </a:r>
            <a:r>
              <a:rPr lang="en-US" altLang="zh-CN" sz="2200" b="1" i="1" dirty="0">
                <a:ea typeface="楷体_GB2312" pitchFamily="49" charset="-122"/>
              </a:rPr>
              <a:t>X</a:t>
            </a:r>
            <a:r>
              <a:rPr lang="en-US" altLang="zh-CN" sz="2200" b="1" dirty="0">
                <a:ea typeface="楷体_GB2312" pitchFamily="49" charset="-122"/>
              </a:rPr>
              <a:t>→</a:t>
            </a:r>
            <a:r>
              <a:rPr lang="en-US" altLang="zh-CN" sz="2200" b="1" i="1" dirty="0">
                <a:ea typeface="楷体_GB2312" pitchFamily="49" charset="-122"/>
              </a:rPr>
              <a:t>Y</a:t>
            </a:r>
            <a:r>
              <a:rPr lang="en-US" altLang="zh-CN" sz="2200" b="1" dirty="0">
                <a:ea typeface="楷体_GB2312" pitchFamily="49" charset="-122"/>
              </a:rPr>
              <a:t>…∈</a:t>
            </a:r>
            <a:r>
              <a:rPr lang="en-US" altLang="zh-CN" sz="2200" b="1" i="1" dirty="0">
                <a:ea typeface="楷体_GB2312" pitchFamily="49" charset="-122"/>
              </a:rPr>
              <a:t>P</a:t>
            </a:r>
            <a:r>
              <a:rPr lang="en-US" altLang="zh-CN" sz="2200" b="1" dirty="0">
                <a:ea typeface="楷体_GB2312" pitchFamily="49" charset="-122"/>
              </a:rPr>
              <a:t> and </a:t>
            </a:r>
            <a:r>
              <a:rPr lang="en-US" altLang="zh-CN" sz="2200" b="1" i="1" dirty="0">
                <a:ea typeface="楷体_GB2312" pitchFamily="49" charset="-122"/>
              </a:rPr>
              <a:t>Y</a:t>
            </a:r>
            <a:r>
              <a:rPr lang="en-US" altLang="zh-CN" sz="2200" b="1" dirty="0">
                <a:ea typeface="楷体_GB2312" pitchFamily="49" charset="-122"/>
              </a:rPr>
              <a:t>∈</a:t>
            </a:r>
            <a:r>
              <a:rPr lang="en-US" altLang="zh-CN" sz="2200" b="1" i="1" dirty="0">
                <a:ea typeface="楷体_GB2312" pitchFamily="49" charset="-122"/>
              </a:rPr>
              <a:t>V</a:t>
            </a:r>
            <a:r>
              <a:rPr lang="en-US" altLang="zh-CN" sz="2200" b="1" dirty="0">
                <a:ea typeface="楷体_GB2312" pitchFamily="49" charset="-122"/>
              </a:rPr>
              <a:t>) then </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          FIRST(</a:t>
            </a:r>
            <a:r>
              <a:rPr lang="en-US" altLang="zh-CN" sz="2200" b="1" i="1" dirty="0">
                <a:ea typeface="楷体_GB2312" pitchFamily="49" charset="-122"/>
              </a:rPr>
              <a:t>X</a:t>
            </a:r>
            <a:r>
              <a:rPr lang="en-US" altLang="zh-CN" sz="2200" b="1" dirty="0">
                <a:ea typeface="楷体_GB2312" pitchFamily="49" charset="-122"/>
              </a:rPr>
              <a:t>):=  FIRST(</a:t>
            </a:r>
            <a:r>
              <a:rPr lang="en-US" altLang="zh-CN" sz="2200" b="1" i="1" dirty="0">
                <a:ea typeface="楷体_GB2312" pitchFamily="49" charset="-122"/>
              </a:rPr>
              <a:t>X)</a:t>
            </a:r>
            <a:r>
              <a:rPr lang="en-US" altLang="zh-CN" sz="2200" b="1" dirty="0">
                <a:ea typeface="楷体_GB2312" pitchFamily="49" charset="-122"/>
              </a:rPr>
              <a:t>∪(FIRST(</a:t>
            </a:r>
            <a:r>
              <a:rPr lang="en-US" altLang="zh-CN" sz="2200" b="1" i="1" dirty="0">
                <a:ea typeface="楷体_GB2312" pitchFamily="49" charset="-122"/>
              </a:rPr>
              <a:t>Y</a:t>
            </a:r>
            <a:r>
              <a:rPr lang="en-US" altLang="zh-CN" sz="2200" b="1" dirty="0">
                <a:ea typeface="楷体_GB2312" pitchFamily="49" charset="-122"/>
              </a:rPr>
              <a:t>)-{</a:t>
            </a:r>
            <a:r>
              <a:rPr lang="en-US" altLang="zh-CN" sz="2200" b="1" i="1" dirty="0">
                <a:ea typeface="楷体_GB2312" pitchFamily="49" charset="-122"/>
              </a:rPr>
              <a:t>ε</a:t>
            </a:r>
            <a:r>
              <a:rPr lang="en-US" altLang="zh-CN" sz="2200" b="1" dirty="0">
                <a:ea typeface="楷体_GB2312" pitchFamily="49" charset="-122"/>
              </a:rPr>
              <a:t>})</a:t>
            </a:r>
            <a:r>
              <a:rPr lang="zh-CN" altLang="en-US" sz="2200" b="1" dirty="0">
                <a:ea typeface="楷体_GB2312" pitchFamily="49" charset="-122"/>
              </a:rPr>
              <a:t>；</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8</a:t>
            </a:r>
            <a:r>
              <a:rPr lang="zh-CN" altLang="en-US" sz="2200" b="1" dirty="0">
                <a:ea typeface="楷体_GB2312" pitchFamily="49" charset="-122"/>
              </a:rPr>
              <a:t>．</a:t>
            </a:r>
            <a:r>
              <a:rPr lang="en-US" altLang="zh-CN" sz="2200" b="1" dirty="0">
                <a:ea typeface="楷体_GB2312" pitchFamily="49" charset="-122"/>
              </a:rPr>
              <a:t>if (</a:t>
            </a:r>
            <a:r>
              <a:rPr lang="en-US" altLang="zh-CN" sz="2200" b="1" i="1" dirty="0">
                <a:ea typeface="楷体_GB2312" pitchFamily="49" charset="-122"/>
              </a:rPr>
              <a:t>X</a:t>
            </a:r>
            <a:r>
              <a:rPr lang="en-US" altLang="zh-CN" sz="2200" b="1" dirty="0">
                <a:ea typeface="楷体_GB2312" pitchFamily="49" charset="-122"/>
              </a:rPr>
              <a:t>→</a:t>
            </a:r>
            <a:r>
              <a:rPr lang="en-US" altLang="zh-CN" sz="2200" b="1" i="1" dirty="0">
                <a:ea typeface="楷体_GB2312" pitchFamily="49" charset="-122"/>
              </a:rPr>
              <a:t>Y</a:t>
            </a:r>
            <a:r>
              <a:rPr lang="en-US" altLang="zh-CN" sz="2200" b="1" baseline="-25000" dirty="0">
                <a:ea typeface="楷体_GB2312" pitchFamily="49" charset="-122"/>
              </a:rPr>
              <a:t>1</a:t>
            </a:r>
            <a:r>
              <a:rPr lang="en-US" altLang="zh-CN" sz="2200" b="1" dirty="0">
                <a:ea typeface="楷体_GB2312" pitchFamily="49" charset="-122"/>
              </a:rPr>
              <a:t>…</a:t>
            </a:r>
            <a:r>
              <a:rPr lang="en-US" altLang="zh-CN" sz="2200" b="1" i="1" dirty="0" err="1">
                <a:ea typeface="楷体_GB2312" pitchFamily="49" charset="-122"/>
              </a:rPr>
              <a:t>Y</a:t>
            </a:r>
            <a:r>
              <a:rPr lang="en-US" altLang="zh-CN" sz="2200" b="1" i="1" baseline="-25000" dirty="0" err="1">
                <a:ea typeface="楷体_GB2312" pitchFamily="49" charset="-122"/>
              </a:rPr>
              <a:t>n</a:t>
            </a:r>
            <a:r>
              <a:rPr lang="en-US" altLang="zh-CN" sz="2200" b="1" dirty="0" err="1">
                <a:ea typeface="楷体_GB2312" pitchFamily="49" charset="-122"/>
              </a:rPr>
              <a:t>∈</a:t>
            </a:r>
            <a:r>
              <a:rPr lang="en-US" altLang="zh-CN" sz="2200" b="1" i="1" dirty="0" err="1">
                <a:ea typeface="楷体_GB2312" pitchFamily="49" charset="-122"/>
              </a:rPr>
              <a:t>P</a:t>
            </a:r>
            <a:r>
              <a:rPr lang="en-US" altLang="zh-CN" sz="2200" b="1" dirty="0">
                <a:ea typeface="楷体_GB2312" pitchFamily="49" charset="-122"/>
              </a:rPr>
              <a:t> and </a:t>
            </a:r>
            <a:r>
              <a:rPr lang="en-US" altLang="zh-CN" sz="2200" b="1" i="1" dirty="0">
                <a:ea typeface="楷体_GB2312" pitchFamily="49" charset="-122"/>
              </a:rPr>
              <a:t>Y</a:t>
            </a:r>
            <a:r>
              <a:rPr lang="en-US" altLang="zh-CN" sz="2200" b="1" baseline="-25000" dirty="0">
                <a:ea typeface="楷体_GB2312" pitchFamily="49" charset="-122"/>
              </a:rPr>
              <a:t>1</a:t>
            </a:r>
            <a:r>
              <a:rPr lang="en-US" altLang="zh-CN" sz="2200" b="1" dirty="0">
                <a:ea typeface="楷体_GB2312" pitchFamily="49" charset="-122"/>
              </a:rPr>
              <a:t>...</a:t>
            </a:r>
            <a:r>
              <a:rPr lang="en-US" altLang="zh-CN" sz="2200" b="1" i="1" dirty="0">
                <a:ea typeface="楷体_GB2312" pitchFamily="49" charset="-122"/>
              </a:rPr>
              <a:t>Y</a:t>
            </a:r>
            <a:r>
              <a:rPr lang="en-US" altLang="zh-CN" sz="2200" b="1" i="1" baseline="-25000" dirty="0">
                <a:ea typeface="楷体_GB2312" pitchFamily="49" charset="-122"/>
              </a:rPr>
              <a:t>i</a:t>
            </a:r>
            <a:r>
              <a:rPr lang="en-US" altLang="zh-CN" sz="2200" b="1" baseline="-25000" dirty="0">
                <a:ea typeface="楷体_GB2312" pitchFamily="49" charset="-122"/>
              </a:rPr>
              <a:t>-1</a:t>
            </a:r>
            <a:r>
              <a:rPr lang="en-US" altLang="zh-CN" sz="2200" b="1" dirty="0">
                <a:ea typeface="楷体_GB2312" pitchFamily="49" charset="-122"/>
              </a:rPr>
              <a:t>    </a:t>
            </a:r>
            <a:r>
              <a:rPr lang="en-US" altLang="zh-CN" sz="2200" b="1" i="1" dirty="0">
                <a:ea typeface="楷体_GB2312" pitchFamily="49" charset="-122"/>
              </a:rPr>
              <a:t>ε</a:t>
            </a:r>
            <a:r>
              <a:rPr lang="en-US" altLang="zh-CN" sz="2200" b="1" dirty="0">
                <a:ea typeface="楷体_GB2312" pitchFamily="49" charset="-122"/>
              </a:rPr>
              <a:t>) then </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9</a:t>
            </a:r>
            <a:r>
              <a:rPr lang="zh-CN" altLang="en-US" sz="2200" b="1" dirty="0">
                <a:ea typeface="楷体_GB2312" pitchFamily="49" charset="-122"/>
              </a:rPr>
              <a:t>．</a:t>
            </a:r>
            <a:r>
              <a:rPr lang="en-US" altLang="zh-CN" sz="2200" b="1" dirty="0">
                <a:ea typeface="楷体_GB2312" pitchFamily="49" charset="-122"/>
              </a:rPr>
              <a:t>for </a:t>
            </a:r>
            <a:r>
              <a:rPr lang="en-US" altLang="zh-CN" sz="2200" b="1" i="1" dirty="0">
                <a:ea typeface="楷体_GB2312" pitchFamily="49" charset="-122"/>
              </a:rPr>
              <a:t>k</a:t>
            </a:r>
            <a:r>
              <a:rPr lang="en-US" altLang="zh-CN" sz="2200" b="1" dirty="0">
                <a:ea typeface="楷体_GB2312" pitchFamily="49" charset="-122"/>
              </a:rPr>
              <a:t>=2 to </a:t>
            </a:r>
            <a:r>
              <a:rPr lang="en-US" altLang="zh-CN" sz="2200" b="1" i="1" dirty="0" err="1">
                <a:ea typeface="楷体_GB2312" pitchFamily="49" charset="-122"/>
              </a:rPr>
              <a:t>i</a:t>
            </a:r>
            <a:r>
              <a:rPr lang="en-US" altLang="zh-CN" sz="2200" b="1" dirty="0">
                <a:ea typeface="楷体_GB2312" pitchFamily="49" charset="-122"/>
              </a:rPr>
              <a:t> do FIRST(</a:t>
            </a:r>
            <a:r>
              <a:rPr lang="en-US" altLang="zh-CN" sz="2200" b="1" i="1" dirty="0">
                <a:ea typeface="楷体_GB2312" pitchFamily="49" charset="-122"/>
              </a:rPr>
              <a:t>X</a:t>
            </a:r>
            <a:r>
              <a:rPr lang="en-US" altLang="zh-CN" sz="2200" b="1" dirty="0">
                <a:ea typeface="楷体_GB2312" pitchFamily="49" charset="-122"/>
              </a:rPr>
              <a:t>):= FIRST(</a:t>
            </a:r>
            <a:r>
              <a:rPr lang="en-US" altLang="zh-CN" sz="2200" b="1" i="1" dirty="0">
                <a:ea typeface="楷体_GB2312" pitchFamily="49" charset="-122"/>
              </a:rPr>
              <a:t>X</a:t>
            </a:r>
            <a:r>
              <a:rPr lang="en-US" altLang="zh-CN" sz="2200" b="1" dirty="0">
                <a:ea typeface="楷体_GB2312" pitchFamily="49" charset="-122"/>
              </a:rPr>
              <a:t>)∪(FIRST(</a:t>
            </a:r>
            <a:r>
              <a:rPr lang="en-US" altLang="zh-CN" sz="2200" b="1" i="1" dirty="0" err="1">
                <a:ea typeface="楷体_GB2312" pitchFamily="49" charset="-122"/>
              </a:rPr>
              <a:t>Y</a:t>
            </a:r>
            <a:r>
              <a:rPr lang="en-US" altLang="zh-CN" sz="2200" b="1" i="1" baseline="-25000" dirty="0" err="1">
                <a:ea typeface="楷体_GB2312" pitchFamily="49" charset="-122"/>
              </a:rPr>
              <a:t>k</a:t>
            </a:r>
            <a:r>
              <a:rPr lang="en-US" altLang="zh-CN" sz="2200" b="1" dirty="0">
                <a:ea typeface="楷体_GB2312" pitchFamily="49" charset="-122"/>
              </a:rPr>
              <a:t>)-{</a:t>
            </a:r>
            <a:r>
              <a:rPr lang="en-US" altLang="zh-CN" sz="2200" b="1" i="1" dirty="0">
                <a:ea typeface="楷体_GB2312" pitchFamily="49" charset="-122"/>
              </a:rPr>
              <a:t>ε</a:t>
            </a:r>
            <a:r>
              <a:rPr lang="en-US" altLang="zh-CN" sz="2200" b="1" dirty="0">
                <a:ea typeface="楷体_GB2312" pitchFamily="49" charset="-122"/>
              </a:rPr>
              <a:t>});</a:t>
            </a:r>
          </a:p>
          <a:p>
            <a:pPr eaLnBrk="1" hangingPunct="1">
              <a:lnSpc>
                <a:spcPct val="80000"/>
              </a:lnSpc>
              <a:spcBef>
                <a:spcPct val="20000"/>
              </a:spcBef>
              <a:buFont typeface="Arial" panose="020B0604020202020204" pitchFamily="34" charset="0"/>
              <a:buNone/>
            </a:pPr>
            <a:r>
              <a:rPr lang="en-US" altLang="zh-CN" sz="2200" b="1" dirty="0">
                <a:ea typeface="楷体_GB2312" pitchFamily="49" charset="-122"/>
              </a:rPr>
              <a:t>10</a:t>
            </a:r>
            <a:r>
              <a:rPr lang="zh-CN" altLang="en-US" sz="2200" b="1" dirty="0">
                <a:ea typeface="楷体_GB2312" pitchFamily="49" charset="-122"/>
              </a:rPr>
              <a:t>．</a:t>
            </a:r>
            <a:r>
              <a:rPr lang="en-US" altLang="zh-CN" sz="2200" b="1" dirty="0">
                <a:ea typeface="楷体_GB2312" pitchFamily="49" charset="-122"/>
              </a:rPr>
              <a:t>if </a:t>
            </a:r>
            <a:r>
              <a:rPr lang="en-US" altLang="zh-CN" sz="2200" b="1" i="1" dirty="0">
                <a:ea typeface="楷体_GB2312" pitchFamily="49" charset="-122"/>
              </a:rPr>
              <a:t>Y</a:t>
            </a:r>
            <a:r>
              <a:rPr lang="en-US" altLang="zh-CN" sz="2200" b="1" baseline="-25000" dirty="0">
                <a:ea typeface="楷体_GB2312" pitchFamily="49" charset="-122"/>
              </a:rPr>
              <a:t>1</a:t>
            </a:r>
            <a:r>
              <a:rPr lang="en-US" altLang="zh-CN" sz="2200" b="1" dirty="0">
                <a:ea typeface="楷体_GB2312" pitchFamily="49" charset="-122"/>
              </a:rPr>
              <a:t>...</a:t>
            </a:r>
            <a:r>
              <a:rPr lang="en-US" altLang="zh-CN" sz="2200" b="1" i="1" dirty="0" err="1">
                <a:ea typeface="楷体_GB2312" pitchFamily="49" charset="-122"/>
              </a:rPr>
              <a:t>Y</a:t>
            </a:r>
            <a:r>
              <a:rPr lang="en-US" altLang="zh-CN" sz="2200" b="1" i="1" baseline="-25000" dirty="0" err="1">
                <a:ea typeface="楷体_GB2312" pitchFamily="49" charset="-122"/>
              </a:rPr>
              <a:t>n</a:t>
            </a:r>
            <a:r>
              <a:rPr lang="en-US" altLang="zh-CN" sz="2200" b="1" i="1" dirty="0">
                <a:ea typeface="楷体_GB2312" pitchFamily="49" charset="-122"/>
              </a:rPr>
              <a:t>    ε</a:t>
            </a:r>
            <a:r>
              <a:rPr lang="en-US" altLang="zh-CN" sz="2200" b="1" dirty="0">
                <a:ea typeface="楷体_GB2312" pitchFamily="49" charset="-122"/>
              </a:rPr>
              <a:t> then FIRST(</a:t>
            </a:r>
            <a:r>
              <a:rPr lang="en-US" altLang="zh-CN" sz="2200" b="1" i="1" dirty="0">
                <a:ea typeface="楷体_GB2312" pitchFamily="49" charset="-122"/>
              </a:rPr>
              <a:t>X</a:t>
            </a:r>
            <a:r>
              <a:rPr lang="en-US" altLang="zh-CN" sz="2200" b="1" dirty="0">
                <a:ea typeface="楷体_GB2312" pitchFamily="49" charset="-122"/>
              </a:rPr>
              <a:t>):=FIRST(</a:t>
            </a:r>
            <a:r>
              <a:rPr lang="en-US" altLang="zh-CN" sz="2200" b="1" i="1" dirty="0">
                <a:ea typeface="楷体_GB2312" pitchFamily="49" charset="-122"/>
              </a:rPr>
              <a:t>X)</a:t>
            </a:r>
            <a:r>
              <a:rPr lang="en-US" altLang="zh-CN" sz="2200" b="1" dirty="0">
                <a:ea typeface="楷体_GB2312" pitchFamily="49" charset="-122"/>
              </a:rPr>
              <a:t>∪{</a:t>
            </a:r>
            <a:r>
              <a:rPr lang="en-US" altLang="zh-CN" sz="2200" b="1" i="1" dirty="0">
                <a:ea typeface="楷体_GB2312" pitchFamily="49" charset="-122"/>
              </a:rPr>
              <a:t>ε</a:t>
            </a:r>
            <a:r>
              <a:rPr lang="en-US" altLang="zh-CN" sz="2200" b="1" dirty="0">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2542">
                                            <p:txEl>
                                              <p:pRg st="0" end="0"/>
                                            </p:txEl>
                                          </p:spTgt>
                                        </p:tgtEl>
                                        <p:attrNameLst>
                                          <p:attrName>style.visibility</p:attrName>
                                        </p:attrNameLst>
                                      </p:cBhvr>
                                      <p:to>
                                        <p:strVal val="visible"/>
                                      </p:to>
                                    </p:set>
                                    <p:animEffect transition="in" filter="slide(fromBottom)">
                                      <p:cBhvr>
                                        <p:cTn id="7" dur="500"/>
                                        <p:tgtEl>
                                          <p:spTgt spid="225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2542">
                                            <p:txEl>
                                              <p:pRg st="1" end="1"/>
                                            </p:txEl>
                                          </p:spTgt>
                                        </p:tgtEl>
                                        <p:attrNameLst>
                                          <p:attrName>style.visibility</p:attrName>
                                        </p:attrNameLst>
                                      </p:cBhvr>
                                      <p:to>
                                        <p:strVal val="visible"/>
                                      </p:to>
                                    </p:set>
                                    <p:animEffect transition="in" filter="slide(fromBottom)">
                                      <p:cBhvr>
                                        <p:cTn id="12" dur="500"/>
                                        <p:tgtEl>
                                          <p:spTgt spid="2254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2542">
                                            <p:txEl>
                                              <p:pRg st="2" end="2"/>
                                            </p:txEl>
                                          </p:spTgt>
                                        </p:tgtEl>
                                        <p:attrNameLst>
                                          <p:attrName>style.visibility</p:attrName>
                                        </p:attrNameLst>
                                      </p:cBhvr>
                                      <p:to>
                                        <p:strVal val="visible"/>
                                      </p:to>
                                    </p:set>
                                    <p:animEffect transition="in" filter="slide(fromBottom)">
                                      <p:cBhvr>
                                        <p:cTn id="17" dur="500"/>
                                        <p:tgtEl>
                                          <p:spTgt spid="2254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2542">
                                            <p:txEl>
                                              <p:pRg st="3" end="3"/>
                                            </p:txEl>
                                          </p:spTgt>
                                        </p:tgtEl>
                                        <p:attrNameLst>
                                          <p:attrName>style.visibility</p:attrName>
                                        </p:attrNameLst>
                                      </p:cBhvr>
                                      <p:to>
                                        <p:strVal val="visible"/>
                                      </p:to>
                                    </p:set>
                                    <p:animEffect transition="in" filter="slide(fromBottom)">
                                      <p:cBhvr>
                                        <p:cTn id="22" dur="500"/>
                                        <p:tgtEl>
                                          <p:spTgt spid="2254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2542">
                                            <p:txEl>
                                              <p:pRg st="4" end="4"/>
                                            </p:txEl>
                                          </p:spTgt>
                                        </p:tgtEl>
                                        <p:attrNameLst>
                                          <p:attrName>style.visibility</p:attrName>
                                        </p:attrNameLst>
                                      </p:cBhvr>
                                      <p:to>
                                        <p:strVal val="visible"/>
                                      </p:to>
                                    </p:set>
                                    <p:animEffect transition="in" filter="slide(fromBottom)">
                                      <p:cBhvr>
                                        <p:cTn id="27" dur="500"/>
                                        <p:tgtEl>
                                          <p:spTgt spid="2254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2542">
                                            <p:txEl>
                                              <p:pRg st="5" end="5"/>
                                            </p:txEl>
                                          </p:spTgt>
                                        </p:tgtEl>
                                        <p:attrNameLst>
                                          <p:attrName>style.visibility</p:attrName>
                                        </p:attrNameLst>
                                      </p:cBhvr>
                                      <p:to>
                                        <p:strVal val="visible"/>
                                      </p:to>
                                    </p:set>
                                    <p:animEffect transition="in" filter="slide(fromBottom)">
                                      <p:cBhvr>
                                        <p:cTn id="32" dur="500"/>
                                        <p:tgtEl>
                                          <p:spTgt spid="2254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2542">
                                            <p:txEl>
                                              <p:pRg st="6" end="6"/>
                                            </p:txEl>
                                          </p:spTgt>
                                        </p:tgtEl>
                                        <p:attrNameLst>
                                          <p:attrName>style.visibility</p:attrName>
                                        </p:attrNameLst>
                                      </p:cBhvr>
                                      <p:to>
                                        <p:strVal val="visible"/>
                                      </p:to>
                                    </p:set>
                                    <p:animEffect transition="in" filter="slide(fromBottom)">
                                      <p:cBhvr>
                                        <p:cTn id="37" dur="500"/>
                                        <p:tgtEl>
                                          <p:spTgt spid="2254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2542">
                                            <p:txEl>
                                              <p:pRg st="7" end="7"/>
                                            </p:txEl>
                                          </p:spTgt>
                                        </p:tgtEl>
                                        <p:attrNameLst>
                                          <p:attrName>style.visibility</p:attrName>
                                        </p:attrNameLst>
                                      </p:cBhvr>
                                      <p:to>
                                        <p:strVal val="visible"/>
                                      </p:to>
                                    </p:set>
                                    <p:animEffect transition="in" filter="slide(fromBottom)">
                                      <p:cBhvr>
                                        <p:cTn id="42" dur="500"/>
                                        <p:tgtEl>
                                          <p:spTgt spid="22542">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2542">
                                            <p:txEl>
                                              <p:pRg st="8" end="8"/>
                                            </p:txEl>
                                          </p:spTgt>
                                        </p:tgtEl>
                                        <p:attrNameLst>
                                          <p:attrName>style.visibility</p:attrName>
                                        </p:attrNameLst>
                                      </p:cBhvr>
                                      <p:to>
                                        <p:strVal val="visible"/>
                                      </p:to>
                                    </p:set>
                                    <p:animEffect transition="in" filter="slide(fromBottom)">
                                      <p:cBhvr>
                                        <p:cTn id="47" dur="500"/>
                                        <p:tgtEl>
                                          <p:spTgt spid="2254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22542">
                                            <p:txEl>
                                              <p:pRg st="9" end="9"/>
                                            </p:txEl>
                                          </p:spTgt>
                                        </p:tgtEl>
                                        <p:attrNameLst>
                                          <p:attrName>style.visibility</p:attrName>
                                        </p:attrNameLst>
                                      </p:cBhvr>
                                      <p:to>
                                        <p:strVal val="visible"/>
                                      </p:to>
                                    </p:set>
                                    <p:animEffect transition="in" filter="slide(fromBottom)">
                                      <p:cBhvr>
                                        <p:cTn id="52" dur="500"/>
                                        <p:tgtEl>
                                          <p:spTgt spid="22542">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22542">
                                            <p:txEl>
                                              <p:pRg st="10" end="10"/>
                                            </p:txEl>
                                          </p:spTgt>
                                        </p:tgtEl>
                                        <p:attrNameLst>
                                          <p:attrName>style.visibility</p:attrName>
                                        </p:attrNameLst>
                                      </p:cBhvr>
                                      <p:to>
                                        <p:strVal val="visible"/>
                                      </p:to>
                                    </p:set>
                                    <p:animEffect transition="in" filter="slide(fromBottom)">
                                      <p:cBhvr>
                                        <p:cTn id="57" dur="500"/>
                                        <p:tgtEl>
                                          <p:spTgt spid="22542">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22542">
                                            <p:txEl>
                                              <p:pRg st="11" end="11"/>
                                            </p:txEl>
                                          </p:spTgt>
                                        </p:tgtEl>
                                        <p:attrNameLst>
                                          <p:attrName>style.visibility</p:attrName>
                                        </p:attrNameLst>
                                      </p:cBhvr>
                                      <p:to>
                                        <p:strVal val="visible"/>
                                      </p:to>
                                    </p:set>
                                    <p:animEffect transition="in" filter="slide(fromBottom)">
                                      <p:cBhvr>
                                        <p:cTn id="62" dur="500"/>
                                        <p:tgtEl>
                                          <p:spTgt spid="22542">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2542">
                                            <p:txEl>
                                              <p:pRg st="12" end="12"/>
                                            </p:txEl>
                                          </p:spTgt>
                                        </p:tgtEl>
                                        <p:attrNameLst>
                                          <p:attrName>style.visibility</p:attrName>
                                        </p:attrNameLst>
                                      </p:cBhvr>
                                      <p:to>
                                        <p:strVal val="visible"/>
                                      </p:to>
                                    </p:set>
                                    <p:animEffect transition="in" filter="slide(fromBottom)">
                                      <p:cBhvr>
                                        <p:cTn id="67" dur="500"/>
                                        <p:tgtEl>
                                          <p:spTgt spid="2254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22542">
                                            <p:txEl>
                                              <p:pRg st="13" end="13"/>
                                            </p:txEl>
                                          </p:spTgt>
                                        </p:tgtEl>
                                        <p:attrNameLst>
                                          <p:attrName>style.visibility</p:attrName>
                                        </p:attrNameLst>
                                      </p:cBhvr>
                                      <p:to>
                                        <p:strVal val="visible"/>
                                      </p:to>
                                    </p:set>
                                    <p:animEffect transition="in" filter="slide(fromBottom)">
                                      <p:cBhvr>
                                        <p:cTn id="72" dur="500"/>
                                        <p:tgtEl>
                                          <p:spTgt spid="22542">
                                            <p:txEl>
                                              <p:pRg st="13" end="1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22542">
                                            <p:txEl>
                                              <p:pRg st="14" end="14"/>
                                            </p:txEl>
                                          </p:spTgt>
                                        </p:tgtEl>
                                        <p:attrNameLst>
                                          <p:attrName>style.visibility</p:attrName>
                                        </p:attrNameLst>
                                      </p:cBhvr>
                                      <p:to>
                                        <p:strVal val="visible"/>
                                      </p:to>
                                    </p:set>
                                    <p:animEffect transition="in" filter="slide(fromBottom)">
                                      <p:cBhvr>
                                        <p:cTn id="77" dur="500"/>
                                        <p:tgtEl>
                                          <p:spTgt spid="22542">
                                            <p:txEl>
                                              <p:pRg st="14" end="14"/>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22542">
                                            <p:txEl>
                                              <p:pRg st="15" end="15"/>
                                            </p:txEl>
                                          </p:spTgt>
                                        </p:tgtEl>
                                        <p:attrNameLst>
                                          <p:attrName>style.visibility</p:attrName>
                                        </p:attrNameLst>
                                      </p:cBhvr>
                                      <p:to>
                                        <p:strVal val="visible"/>
                                      </p:to>
                                    </p:set>
                                    <p:animEffect transition="in" filter="slide(fromBottom)">
                                      <p:cBhvr>
                                        <p:cTn id="82" dur="500"/>
                                        <p:tgtEl>
                                          <p:spTgt spid="22542">
                                            <p:txEl>
                                              <p:pRg st="15" end="15"/>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22542">
                                            <p:txEl>
                                              <p:pRg st="16" end="16"/>
                                            </p:txEl>
                                          </p:spTgt>
                                        </p:tgtEl>
                                        <p:attrNameLst>
                                          <p:attrName>style.visibility</p:attrName>
                                        </p:attrNameLst>
                                      </p:cBhvr>
                                      <p:to>
                                        <p:strVal val="visible"/>
                                      </p:to>
                                    </p:set>
                                    <p:animEffect transition="in" filter="slide(fromBottom)">
                                      <p:cBhvr>
                                        <p:cTn id="87" dur="500"/>
                                        <p:tgtEl>
                                          <p:spTgt spid="22542">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2" grpId="0" build="p"/>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58BFEEA-3068-409B-80E8-C93D66C286B0}"/>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7D2736A7-3E96-402D-8DEF-1828A56A48BE}" type="datetime1">
              <a:rPr lang="zh-CN" altLang="en-US" noProof="0" smtClean="0">
                <a:latin typeface="+mn-lt"/>
              </a:rPr>
              <a:pPr>
                <a:buFontTx/>
                <a:buNone/>
                <a:defRPr/>
              </a:pPr>
              <a:t>2025/6/26</a:t>
            </a:fld>
            <a:endParaRPr lang="en-US" altLang="zh-CN" noProof="0">
              <a:latin typeface="+mn-lt"/>
            </a:endParaRPr>
          </a:p>
        </p:txBody>
      </p:sp>
      <p:sp>
        <p:nvSpPr>
          <p:cNvPr id="51203" name="灯片编号占位符 5">
            <a:extLst>
              <a:ext uri="{FF2B5EF4-FFF2-40B4-BE49-F238E27FC236}">
                <a16:creationId xmlns:a16="http://schemas.microsoft.com/office/drawing/2014/main" id="{800AE28F-0615-4493-98C1-DE40423867D9}"/>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D6F7FF1C-A593-49F0-BEE1-8B3EAF8C1D9A}" type="slidenum">
              <a:rPr lang="en-US" altLang="zh-CN" sz="1400">
                <a:latin typeface="Arial" panose="020B0604020202020204" pitchFamily="34" charset="0"/>
              </a:rPr>
              <a:pPr/>
              <a:t>2</a:t>
            </a:fld>
            <a:endParaRPr lang="en-US" altLang="zh-CN" sz="1400">
              <a:latin typeface="Arial" panose="020B0604020202020204" pitchFamily="34" charset="0"/>
            </a:endParaRPr>
          </a:p>
        </p:txBody>
      </p:sp>
      <p:sp>
        <p:nvSpPr>
          <p:cNvPr id="51204" name="Rectangle 2">
            <a:extLst>
              <a:ext uri="{FF2B5EF4-FFF2-40B4-BE49-F238E27FC236}">
                <a16:creationId xmlns:a16="http://schemas.microsoft.com/office/drawing/2014/main" id="{1F03D978-D2FE-4852-8543-BAEA8740895A}"/>
              </a:ext>
            </a:extLst>
          </p:cNvPr>
          <p:cNvSpPr>
            <a:spLocks noGrp="1" noChangeArrowheads="1"/>
          </p:cNvSpPr>
          <p:nvPr>
            <p:ph type="title" idx="4294967295"/>
          </p:nvPr>
        </p:nvSpPr>
        <p:spPr>
          <a:xfrm>
            <a:off x="2940051" y="333376"/>
            <a:ext cx="5027613" cy="792163"/>
          </a:xfrm>
        </p:spPr>
        <p:txBody>
          <a:bodyPr vert="horz" lIns="92075" tIns="46038" rIns="92075" bIns="46038" rtlCol="0" anchor="ctr">
            <a:normAutofit/>
          </a:bodyPr>
          <a:lstStyle/>
          <a:p>
            <a:pPr eaLnBrk="1" hangingPunct="1"/>
            <a:r>
              <a:rPr lang="en-US" altLang="zh-CN">
                <a:latin typeface="Times New Roman" panose="02020603050405020304" pitchFamily="18" charset="0"/>
              </a:rPr>
              <a:t>LL(1)</a:t>
            </a:r>
            <a:r>
              <a:rPr lang="zh-CN" altLang="en-US" sz="4000"/>
              <a:t>文法的判定</a:t>
            </a:r>
          </a:p>
        </p:txBody>
      </p:sp>
      <p:sp>
        <p:nvSpPr>
          <p:cNvPr id="2168835" name="Rectangle 3">
            <a:extLst>
              <a:ext uri="{FF2B5EF4-FFF2-40B4-BE49-F238E27FC236}">
                <a16:creationId xmlns:a16="http://schemas.microsoft.com/office/drawing/2014/main" id="{C0768754-8957-46B4-86B3-5463D5AAAAC9}"/>
              </a:ext>
            </a:extLst>
          </p:cNvPr>
          <p:cNvSpPr>
            <a:spLocks noGrp="1" noChangeArrowheads="1"/>
          </p:cNvSpPr>
          <p:nvPr>
            <p:ph type="body" idx="4294967295"/>
          </p:nvPr>
        </p:nvSpPr>
        <p:spPr>
          <a:xfrm>
            <a:off x="1919288" y="1557339"/>
            <a:ext cx="8591550" cy="4897437"/>
          </a:xfrm>
        </p:spPr>
        <p:txBody>
          <a:bodyPr vert="horz" lIns="92075" tIns="46038" rIns="92075" bIns="46038" rtlCol="0">
            <a:normAutofit lnSpcReduction="10000"/>
          </a:bodyPr>
          <a:lstStyle/>
          <a:p>
            <a:pPr marL="812800" indent="-812800">
              <a:buNone/>
            </a:pPr>
            <a:r>
              <a:rPr lang="zh-CN" altLang="en-US" sz="2400" dirty="0">
                <a:latin typeface="Times New Roman" panose="02020603050405020304" pitchFamily="18" charset="0"/>
              </a:rPr>
              <a:t>算法</a:t>
            </a:r>
            <a:r>
              <a:rPr lang="en-US" altLang="zh-CN" sz="2400" dirty="0">
                <a:latin typeface="Times New Roman" panose="02020603050405020304" pitchFamily="18" charset="0"/>
              </a:rPr>
              <a:t>4.3 </a:t>
            </a:r>
            <a:r>
              <a:rPr lang="zh-CN" altLang="en-US" sz="2400" dirty="0">
                <a:latin typeface="Times New Roman" panose="02020603050405020304" pitchFamily="18" charset="0"/>
              </a:rPr>
              <a:t>计算</a:t>
            </a:r>
            <a:r>
              <a:rPr lang="en-US" altLang="zh-CN" sz="2400" dirty="0">
                <a:latin typeface="Times New Roman" panose="02020603050405020304" pitchFamily="18" charset="0"/>
              </a:rPr>
              <a:t>FIRST(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marL="812800" indent="-812800">
              <a:buNone/>
            </a:pPr>
            <a:r>
              <a:rPr lang="zh-CN" altLang="en-US" sz="2400" dirty="0">
                <a:latin typeface="Times New Roman" panose="02020603050405020304" pitchFamily="18" charset="0"/>
              </a:rPr>
              <a:t>输入：文法</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en-US" altLang="zh-CN" sz="2400" i="1" dirty="0">
                <a:latin typeface="Times New Roman" panose="02020603050405020304" pitchFamily="18" charset="0"/>
              </a:rPr>
              <a:t>V</a:t>
            </a:r>
            <a:r>
              <a:rPr lang="zh-CN" altLang="en-US" sz="2400"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a:t>
            </a:r>
            <a:r>
              <a:rPr lang="en-US" altLang="zh-CN" sz="2400" i="1" dirty="0">
                <a:latin typeface="Times New Roman" panose="02020603050405020304" pitchFamily="18" charset="0"/>
              </a:rPr>
              <a:t>P</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rPr>
              <a:t>(</a:t>
            </a:r>
            <a:r>
              <a:rPr lang="en-US" altLang="zh-CN" sz="2400" i="1" dirty="0">
                <a:latin typeface="Times New Roman" panose="02020603050405020304" pitchFamily="18" charset="0"/>
              </a:rPr>
              <a:t>V</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 </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err="1">
                <a:latin typeface="Times New Roman" panose="02020603050405020304" pitchFamily="18" charset="0"/>
              </a:rPr>
              <a:t>X</a:t>
            </a:r>
            <a:r>
              <a:rPr lang="en-US" altLang="zh-CN" sz="2400" i="1" baseline="-25000" dirty="0" err="1">
                <a:latin typeface="Times New Roman" panose="02020603050405020304" pitchFamily="18" charset="0"/>
              </a:rPr>
              <a:t>n</a:t>
            </a:r>
            <a:r>
              <a:rPr lang="en-US" altLang="zh-CN" sz="2400" dirty="0">
                <a:latin typeface="Times New Roman" panose="02020603050405020304" pitchFamily="18" charset="0"/>
              </a:rPr>
              <a:t>;</a:t>
            </a:r>
          </a:p>
          <a:p>
            <a:pPr marL="812800" indent="-812800">
              <a:buNone/>
            </a:pPr>
            <a:r>
              <a:rPr lang="zh-CN" altLang="en-US" sz="2400" dirty="0">
                <a:latin typeface="Times New Roman" panose="02020603050405020304" pitchFamily="18" charset="0"/>
              </a:rPr>
              <a:t>输出：</a:t>
            </a:r>
            <a:r>
              <a:rPr lang="en-US" altLang="zh-CN" sz="2400" dirty="0">
                <a:latin typeface="Times New Roman" panose="02020603050405020304" pitchFamily="18" charset="0"/>
              </a:rPr>
              <a:t>FIRST(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a:t>
            </a:r>
          </a:p>
          <a:p>
            <a:pPr marL="812800" indent="-812800">
              <a:buNone/>
            </a:pPr>
            <a:r>
              <a:rPr lang="zh-CN" altLang="en-US" sz="2400" dirty="0">
                <a:latin typeface="Times New Roman" panose="02020603050405020304" pitchFamily="18" charset="0"/>
              </a:rPr>
              <a:t>步骤：</a:t>
            </a:r>
          </a:p>
          <a:p>
            <a:pPr marL="812800" indent="-812800">
              <a:buNone/>
            </a:pPr>
            <a:r>
              <a:rPr lang="en-US" altLang="zh-CN" sz="2400" dirty="0">
                <a:latin typeface="Times New Roman" panose="02020603050405020304" pitchFamily="18" charset="0"/>
              </a:rPr>
              <a:t>1</a:t>
            </a:r>
            <a:r>
              <a:rPr lang="zh-CN" altLang="en-US" sz="2400" dirty="0">
                <a:latin typeface="Times New Roman" panose="02020603050405020304" pitchFamily="18" charset="0"/>
              </a:rPr>
              <a:t>．计算</a:t>
            </a:r>
            <a:r>
              <a:rPr lang="en-US" altLang="zh-CN" sz="2400" dirty="0">
                <a:latin typeface="Times New Roman" panose="02020603050405020304" pitchFamily="18" charset="0"/>
              </a:rPr>
              <a:t>FIRST(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p>
          <a:p>
            <a:pPr marL="812800" indent="-812800">
              <a:buNone/>
            </a:pP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FIRST(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 FIRST(</a:t>
            </a:r>
            <a:r>
              <a:rPr lang="en-US" altLang="zh-CN" sz="2400" i="1" dirty="0">
                <a:latin typeface="Times New Roman" panose="02020603050405020304" pitchFamily="18" charset="0"/>
              </a:rPr>
              <a:t>X</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)-{ε};</a:t>
            </a:r>
          </a:p>
          <a:p>
            <a:pPr marL="812800" indent="-812800">
              <a:buNone/>
            </a:pPr>
            <a:r>
              <a:rPr lang="en-US" altLang="zh-CN" sz="2400" dirty="0">
                <a:latin typeface="Times New Roman" panose="02020603050405020304" pitchFamily="18" charset="0"/>
              </a:rPr>
              <a:t>3</a:t>
            </a:r>
            <a:r>
              <a:rPr lang="zh-CN" altLang="en-US" sz="2400" dirty="0">
                <a:latin typeface="Times New Roman" panose="02020603050405020304" pitchFamily="18" charset="0"/>
              </a:rPr>
              <a:t>．</a:t>
            </a:r>
            <a:r>
              <a:rPr lang="en-US" altLang="zh-CN" sz="2400" i="1" dirty="0">
                <a:latin typeface="Times New Roman" panose="02020603050405020304" pitchFamily="18" charset="0"/>
              </a:rPr>
              <a:t>k</a:t>
            </a:r>
            <a:r>
              <a:rPr lang="en-US" altLang="zh-CN" sz="2400" dirty="0">
                <a:latin typeface="Times New Roman" panose="02020603050405020304" pitchFamily="18" charset="0"/>
              </a:rPr>
              <a:t>:=1;</a:t>
            </a:r>
          </a:p>
          <a:p>
            <a:pPr marL="812800" indent="-812800">
              <a:buNone/>
            </a:pP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dirty="0">
                <a:latin typeface="Times New Roman" panose="02020603050405020304" pitchFamily="18" charset="0"/>
              </a:rPr>
              <a:t>while (</a:t>
            </a:r>
            <a:r>
              <a:rPr lang="en-US" altLang="zh-CN" sz="2400" dirty="0" err="1">
                <a:latin typeface="Times New Roman" panose="02020603050405020304" pitchFamily="18" charset="0"/>
              </a:rPr>
              <a:t>ε∈FIRST</a:t>
            </a:r>
            <a:r>
              <a:rPr lang="en-US" altLang="zh-CN" sz="2400" dirty="0">
                <a:latin typeface="Times New Roman" panose="02020603050405020304" pitchFamily="18" charset="0"/>
              </a:rPr>
              <a:t>(</a:t>
            </a:r>
            <a:r>
              <a:rPr lang="en-US" altLang="zh-CN" sz="2400" i="1" dirty="0" err="1">
                <a:latin typeface="Times New Roman" panose="02020603050405020304" pitchFamily="18" charset="0"/>
              </a:rPr>
              <a:t>X</a:t>
            </a:r>
            <a:r>
              <a:rPr lang="en-US" altLang="zh-CN" sz="2400" i="1" baseline="-25000" dirty="0" err="1">
                <a:latin typeface="Times New Roman" panose="02020603050405020304" pitchFamily="18" charset="0"/>
              </a:rPr>
              <a:t>k</a:t>
            </a:r>
            <a:r>
              <a:rPr lang="en-US" altLang="zh-CN" sz="2400" dirty="0">
                <a:latin typeface="Times New Roman" panose="02020603050405020304" pitchFamily="18" charset="0"/>
              </a:rPr>
              <a:t>) and </a:t>
            </a:r>
            <a:r>
              <a:rPr lang="en-US" altLang="zh-CN" sz="2400" i="1" dirty="0">
                <a:latin typeface="Times New Roman" panose="02020603050405020304" pitchFamily="18" charset="0"/>
              </a:rPr>
              <a:t>k</a:t>
            </a:r>
            <a:r>
              <a:rPr lang="en-US" altLang="zh-CN" sz="2400" dirty="0">
                <a:latin typeface="Times New Roman" panose="02020603050405020304" pitchFamily="18" charset="0"/>
              </a:rPr>
              <a:t>&lt;</a:t>
            </a:r>
            <a:r>
              <a:rPr lang="en-US" altLang="zh-CN" sz="2400" i="1" dirty="0">
                <a:latin typeface="Times New Roman" panose="02020603050405020304" pitchFamily="18" charset="0"/>
              </a:rPr>
              <a:t>n</a:t>
            </a:r>
            <a:r>
              <a:rPr lang="en-US" altLang="zh-CN" sz="2400" dirty="0">
                <a:latin typeface="Times New Roman" panose="02020603050405020304" pitchFamily="18" charset="0"/>
              </a:rPr>
              <a:t>) do begin</a:t>
            </a:r>
          </a:p>
          <a:p>
            <a:pPr marL="812800" indent="-812800">
              <a:buNone/>
            </a:pPr>
            <a:r>
              <a:rPr lang="en-US" altLang="zh-CN" sz="2400" dirty="0">
                <a:latin typeface="Times New Roman" panose="02020603050405020304" pitchFamily="18" charset="0"/>
              </a:rPr>
              <a:t>5</a:t>
            </a:r>
            <a:r>
              <a:rPr lang="zh-CN" altLang="en-US" sz="2400" dirty="0">
                <a:latin typeface="Times New Roman" panose="02020603050405020304" pitchFamily="18" charset="0"/>
              </a:rPr>
              <a:t>．    </a:t>
            </a:r>
            <a:r>
              <a:rPr lang="en-US" altLang="zh-CN" sz="2400" dirty="0">
                <a:latin typeface="Times New Roman" panose="02020603050405020304" pitchFamily="18" charset="0"/>
              </a:rPr>
              <a:t>FIRST(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 FIRST(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)∪(FIRST(</a:t>
            </a:r>
            <a:r>
              <a:rPr lang="en-US" altLang="zh-CN" sz="2400" i="1" dirty="0">
                <a:latin typeface="Times New Roman" panose="02020603050405020304" pitchFamily="18" charset="0"/>
              </a:rPr>
              <a:t>X</a:t>
            </a:r>
            <a:r>
              <a:rPr lang="en-US" altLang="zh-CN" sz="2400" i="1" baseline="-25000" dirty="0">
                <a:latin typeface="Times New Roman" panose="02020603050405020304" pitchFamily="18" charset="0"/>
              </a:rPr>
              <a:t>k</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ε</a:t>
            </a:r>
            <a:r>
              <a:rPr lang="en-US" altLang="zh-CN" sz="2400" dirty="0">
                <a:latin typeface="Times New Roman" panose="02020603050405020304" pitchFamily="18" charset="0"/>
              </a:rPr>
              <a:t>});</a:t>
            </a:r>
          </a:p>
          <a:p>
            <a:pPr marL="812800" indent="-812800">
              <a:buNone/>
            </a:pPr>
            <a:r>
              <a:rPr lang="en-US" altLang="zh-CN" sz="2400" dirty="0">
                <a:latin typeface="Times New Roman" panose="02020603050405020304" pitchFamily="18" charset="0"/>
              </a:rPr>
              <a:t>6</a:t>
            </a:r>
            <a:r>
              <a:rPr lang="zh-CN" altLang="en-US" sz="2400" dirty="0">
                <a:latin typeface="Times New Roman" panose="02020603050405020304" pitchFamily="18" charset="0"/>
              </a:rPr>
              <a:t>．    </a:t>
            </a:r>
            <a:r>
              <a:rPr lang="en-US" altLang="zh-CN" sz="2400" i="1" dirty="0">
                <a:latin typeface="Times New Roman" panose="02020603050405020304" pitchFamily="18" charset="0"/>
              </a:rPr>
              <a:t>k</a:t>
            </a:r>
            <a:r>
              <a:rPr lang="en-US" altLang="zh-CN" sz="2400" dirty="0">
                <a:latin typeface="Times New Roman" panose="02020603050405020304" pitchFamily="18" charset="0"/>
              </a:rPr>
              <a:t>:=</a:t>
            </a:r>
            <a:r>
              <a:rPr lang="en-US" altLang="zh-CN" sz="2400" i="1" dirty="0">
                <a:latin typeface="Times New Roman" panose="02020603050405020304" pitchFamily="18" charset="0"/>
              </a:rPr>
              <a:t>k</a:t>
            </a:r>
            <a:r>
              <a:rPr lang="en-US" altLang="zh-CN" sz="2400" dirty="0">
                <a:latin typeface="Times New Roman" panose="02020603050405020304" pitchFamily="18" charset="0"/>
              </a:rPr>
              <a:t>+1 end</a:t>
            </a:r>
          </a:p>
          <a:p>
            <a:pPr marL="812800" indent="-812800">
              <a:buNone/>
            </a:pPr>
            <a:r>
              <a:rPr lang="en-US" altLang="zh-CN" sz="2400" dirty="0">
                <a:latin typeface="Times New Roman" panose="02020603050405020304" pitchFamily="18" charset="0"/>
              </a:rPr>
              <a:t>7</a:t>
            </a:r>
            <a:r>
              <a:rPr lang="zh-CN" altLang="en-US" sz="2400" dirty="0">
                <a:latin typeface="Times New Roman" panose="02020603050405020304" pitchFamily="18" charset="0"/>
              </a:rPr>
              <a:t>．</a:t>
            </a:r>
            <a:r>
              <a:rPr lang="en-US" altLang="zh-CN" sz="2400" dirty="0">
                <a:latin typeface="Times New Roman" panose="02020603050405020304" pitchFamily="18" charset="0"/>
              </a:rPr>
              <a:t>if (</a:t>
            </a:r>
            <a:r>
              <a:rPr lang="en-US" altLang="zh-CN" sz="2400" i="1" dirty="0">
                <a:latin typeface="Times New Roman" panose="02020603050405020304" pitchFamily="18" charset="0"/>
              </a:rPr>
              <a:t>k</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en-US" altLang="zh-CN" sz="2400" dirty="0">
                <a:latin typeface="Times New Roman" panose="02020603050405020304" pitchFamily="18" charset="0"/>
              </a:rPr>
              <a:t> and </a:t>
            </a:r>
            <a:r>
              <a:rPr lang="en-US" altLang="zh-CN" sz="2400" i="1" dirty="0" err="1">
                <a:latin typeface="Times New Roman" panose="02020603050405020304" pitchFamily="18" charset="0"/>
              </a:rPr>
              <a:t>ε</a:t>
            </a:r>
            <a:r>
              <a:rPr lang="en-US" altLang="zh-CN" sz="2400" dirty="0" err="1">
                <a:latin typeface="Times New Roman" panose="02020603050405020304" pitchFamily="18" charset="0"/>
              </a:rPr>
              <a:t>∈FIRST</a:t>
            </a:r>
            <a:r>
              <a:rPr lang="en-US" altLang="zh-CN" sz="2400" dirty="0">
                <a:latin typeface="Times New Roman" panose="02020603050405020304" pitchFamily="18" charset="0"/>
              </a:rPr>
              <a:t>(</a:t>
            </a:r>
            <a:r>
              <a:rPr lang="en-US" altLang="zh-CN" sz="2400" i="1" dirty="0" err="1">
                <a:latin typeface="Times New Roman" panose="02020603050405020304" pitchFamily="18" charset="0"/>
              </a:rPr>
              <a:t>X</a:t>
            </a:r>
            <a:r>
              <a:rPr lang="en-US" altLang="zh-CN" sz="2400" i="1" baseline="-25000" dirty="0" err="1">
                <a:latin typeface="Times New Roman" panose="02020603050405020304" pitchFamily="18" charset="0"/>
              </a:rPr>
              <a:t>k</a:t>
            </a:r>
            <a:r>
              <a:rPr lang="en-US" altLang="zh-CN" sz="2400" dirty="0">
                <a:latin typeface="Times New Roman" panose="02020603050405020304" pitchFamily="18" charset="0"/>
              </a:rPr>
              <a:t>)) then FIRST(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):=FIRST(</a:t>
            </a:r>
            <a:r>
              <a:rPr lang="en-US" altLang="zh-CN" sz="2400" i="1" dirty="0">
                <a:latin typeface="Times New Roman" panose="02020603050405020304" pitchFamily="18" charset="0"/>
              </a:rPr>
              <a:t>α</a:t>
            </a:r>
            <a:r>
              <a:rPr lang="en-US" altLang="zh-CN" sz="2400" dirty="0">
                <a:latin typeface="Times New Roman" panose="02020603050405020304" pitchFamily="18" charset="0"/>
              </a:rPr>
              <a:t>)∪{</a:t>
            </a:r>
            <a:r>
              <a:rPr lang="en-US" altLang="zh-CN" sz="2400" i="1" dirty="0">
                <a:latin typeface="Times New Roman" panose="02020603050405020304" pitchFamily="18" charset="0"/>
              </a:rPr>
              <a:t>ε</a:t>
            </a:r>
            <a:r>
              <a:rPr lang="en-US" altLang="zh-CN" sz="2400" dirty="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68835">
                                            <p:txEl>
                                              <p:pRg st="0" end="0"/>
                                            </p:txEl>
                                          </p:spTgt>
                                        </p:tgtEl>
                                        <p:attrNameLst>
                                          <p:attrName>style.visibility</p:attrName>
                                        </p:attrNameLst>
                                      </p:cBhvr>
                                      <p:to>
                                        <p:strVal val="visible"/>
                                      </p:to>
                                    </p:set>
                                    <p:animEffect transition="in" filter="blinds(horizontal)">
                                      <p:cBhvr>
                                        <p:cTn id="7" dur="500"/>
                                        <p:tgtEl>
                                          <p:spTgt spid="2168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68835">
                                            <p:txEl>
                                              <p:pRg st="1" end="1"/>
                                            </p:txEl>
                                          </p:spTgt>
                                        </p:tgtEl>
                                        <p:attrNameLst>
                                          <p:attrName>style.visibility</p:attrName>
                                        </p:attrNameLst>
                                      </p:cBhvr>
                                      <p:to>
                                        <p:strVal val="visible"/>
                                      </p:to>
                                    </p:set>
                                    <p:animEffect transition="in" filter="blinds(horizontal)">
                                      <p:cBhvr>
                                        <p:cTn id="12" dur="500"/>
                                        <p:tgtEl>
                                          <p:spTgt spid="21688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68835">
                                            <p:txEl>
                                              <p:pRg st="2" end="2"/>
                                            </p:txEl>
                                          </p:spTgt>
                                        </p:tgtEl>
                                        <p:attrNameLst>
                                          <p:attrName>style.visibility</p:attrName>
                                        </p:attrNameLst>
                                      </p:cBhvr>
                                      <p:to>
                                        <p:strVal val="visible"/>
                                      </p:to>
                                    </p:set>
                                    <p:animEffect transition="in" filter="blinds(horizontal)">
                                      <p:cBhvr>
                                        <p:cTn id="17" dur="500"/>
                                        <p:tgtEl>
                                          <p:spTgt spid="21688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68835">
                                            <p:txEl>
                                              <p:pRg st="3" end="3"/>
                                            </p:txEl>
                                          </p:spTgt>
                                        </p:tgtEl>
                                        <p:attrNameLst>
                                          <p:attrName>style.visibility</p:attrName>
                                        </p:attrNameLst>
                                      </p:cBhvr>
                                      <p:to>
                                        <p:strVal val="visible"/>
                                      </p:to>
                                    </p:set>
                                    <p:animEffect transition="in" filter="blinds(horizontal)">
                                      <p:cBhvr>
                                        <p:cTn id="22" dur="500"/>
                                        <p:tgtEl>
                                          <p:spTgt spid="21688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68835">
                                            <p:txEl>
                                              <p:pRg st="4" end="4"/>
                                            </p:txEl>
                                          </p:spTgt>
                                        </p:tgtEl>
                                        <p:attrNameLst>
                                          <p:attrName>style.visibility</p:attrName>
                                        </p:attrNameLst>
                                      </p:cBhvr>
                                      <p:to>
                                        <p:strVal val="visible"/>
                                      </p:to>
                                    </p:set>
                                    <p:animEffect transition="in" filter="blinds(horizontal)">
                                      <p:cBhvr>
                                        <p:cTn id="27" dur="500"/>
                                        <p:tgtEl>
                                          <p:spTgt spid="21688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68835">
                                            <p:txEl>
                                              <p:pRg st="5" end="5"/>
                                            </p:txEl>
                                          </p:spTgt>
                                        </p:tgtEl>
                                        <p:attrNameLst>
                                          <p:attrName>style.visibility</p:attrName>
                                        </p:attrNameLst>
                                      </p:cBhvr>
                                      <p:to>
                                        <p:strVal val="visible"/>
                                      </p:to>
                                    </p:set>
                                    <p:animEffect transition="in" filter="blinds(horizontal)">
                                      <p:cBhvr>
                                        <p:cTn id="32" dur="500"/>
                                        <p:tgtEl>
                                          <p:spTgt spid="21688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68835">
                                            <p:txEl>
                                              <p:pRg st="6" end="6"/>
                                            </p:txEl>
                                          </p:spTgt>
                                        </p:tgtEl>
                                        <p:attrNameLst>
                                          <p:attrName>style.visibility</p:attrName>
                                        </p:attrNameLst>
                                      </p:cBhvr>
                                      <p:to>
                                        <p:strVal val="visible"/>
                                      </p:to>
                                    </p:set>
                                    <p:animEffect transition="in" filter="blinds(horizontal)">
                                      <p:cBhvr>
                                        <p:cTn id="37" dur="500"/>
                                        <p:tgtEl>
                                          <p:spTgt spid="216883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68835">
                                            <p:txEl>
                                              <p:pRg st="7" end="7"/>
                                            </p:txEl>
                                          </p:spTgt>
                                        </p:tgtEl>
                                        <p:attrNameLst>
                                          <p:attrName>style.visibility</p:attrName>
                                        </p:attrNameLst>
                                      </p:cBhvr>
                                      <p:to>
                                        <p:strVal val="visible"/>
                                      </p:to>
                                    </p:set>
                                    <p:animEffect transition="in" filter="blinds(horizontal)">
                                      <p:cBhvr>
                                        <p:cTn id="42" dur="500"/>
                                        <p:tgtEl>
                                          <p:spTgt spid="216883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68835">
                                            <p:txEl>
                                              <p:pRg st="8" end="8"/>
                                            </p:txEl>
                                          </p:spTgt>
                                        </p:tgtEl>
                                        <p:attrNameLst>
                                          <p:attrName>style.visibility</p:attrName>
                                        </p:attrNameLst>
                                      </p:cBhvr>
                                      <p:to>
                                        <p:strVal val="visible"/>
                                      </p:to>
                                    </p:set>
                                    <p:animEffect transition="in" filter="blinds(horizontal)">
                                      <p:cBhvr>
                                        <p:cTn id="47" dur="500"/>
                                        <p:tgtEl>
                                          <p:spTgt spid="216883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168835">
                                            <p:txEl>
                                              <p:pRg st="9" end="9"/>
                                            </p:txEl>
                                          </p:spTgt>
                                        </p:tgtEl>
                                        <p:attrNameLst>
                                          <p:attrName>style.visibility</p:attrName>
                                        </p:attrNameLst>
                                      </p:cBhvr>
                                      <p:to>
                                        <p:strVal val="visible"/>
                                      </p:to>
                                    </p:set>
                                    <p:animEffect transition="in" filter="blinds(horizontal)">
                                      <p:cBhvr>
                                        <p:cTn id="52" dur="500"/>
                                        <p:tgtEl>
                                          <p:spTgt spid="2168835">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168835">
                                            <p:txEl>
                                              <p:pRg st="10" end="10"/>
                                            </p:txEl>
                                          </p:spTgt>
                                        </p:tgtEl>
                                        <p:attrNameLst>
                                          <p:attrName>style.visibility</p:attrName>
                                        </p:attrNameLst>
                                      </p:cBhvr>
                                      <p:to>
                                        <p:strVal val="visible"/>
                                      </p:to>
                                    </p:set>
                                    <p:animEffect transition="in" filter="blinds(horizontal)">
                                      <p:cBhvr>
                                        <p:cTn id="57" dur="500"/>
                                        <p:tgtEl>
                                          <p:spTgt spid="21688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8835"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a:extLst>
              <a:ext uri="{FF2B5EF4-FFF2-40B4-BE49-F238E27FC236}">
                <a16:creationId xmlns:a16="http://schemas.microsoft.com/office/drawing/2014/main" id="{76CD710C-03C5-4C90-9611-6500D9FA481B}"/>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BDD71095-6652-469B-9EFA-8161F6488115}" type="datetime1">
              <a:rPr lang="zh-CN" altLang="en-US" noProof="0" smtClean="0">
                <a:latin typeface="+mn-lt"/>
              </a:rPr>
              <a:pPr>
                <a:buFontTx/>
                <a:buNone/>
                <a:defRPr/>
              </a:pPr>
              <a:t>2025/6/26</a:t>
            </a:fld>
            <a:endParaRPr lang="en-US" altLang="zh-CN" noProof="0">
              <a:latin typeface="+mn-lt"/>
            </a:endParaRPr>
          </a:p>
        </p:txBody>
      </p:sp>
      <p:sp>
        <p:nvSpPr>
          <p:cNvPr id="52227" name="灯片编号占位符 5">
            <a:extLst>
              <a:ext uri="{FF2B5EF4-FFF2-40B4-BE49-F238E27FC236}">
                <a16:creationId xmlns:a16="http://schemas.microsoft.com/office/drawing/2014/main" id="{72C3D123-BCA0-4B5D-BB1B-8746BA0DF0C0}"/>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3B4C1730-701C-49A1-A31E-20AE5FFBBF95}" type="slidenum">
              <a:rPr lang="en-US" altLang="zh-CN" sz="1400">
                <a:latin typeface="Arial" panose="020B0604020202020204" pitchFamily="34" charset="0"/>
              </a:rPr>
              <a:pPr/>
              <a:t>3</a:t>
            </a:fld>
            <a:endParaRPr lang="en-US" altLang="zh-CN" sz="1400">
              <a:latin typeface="Arial" panose="020B0604020202020204" pitchFamily="34" charset="0"/>
            </a:endParaRPr>
          </a:p>
        </p:txBody>
      </p:sp>
      <p:sp>
        <p:nvSpPr>
          <p:cNvPr id="52228" name="Rectangle 2">
            <a:extLst>
              <a:ext uri="{FF2B5EF4-FFF2-40B4-BE49-F238E27FC236}">
                <a16:creationId xmlns:a16="http://schemas.microsoft.com/office/drawing/2014/main" id="{21566197-38EC-490C-91DA-1E976CC41829}"/>
              </a:ext>
            </a:extLst>
          </p:cNvPr>
          <p:cNvSpPr>
            <a:spLocks noGrp="1" noChangeArrowheads="1"/>
          </p:cNvSpPr>
          <p:nvPr>
            <p:ph type="title" idx="4294967295"/>
          </p:nvPr>
        </p:nvSpPr>
        <p:spPr>
          <a:xfrm>
            <a:off x="2497138" y="433388"/>
            <a:ext cx="8170862" cy="908050"/>
          </a:xfrm>
        </p:spPr>
        <p:txBody>
          <a:bodyPr vert="horz" lIns="92075" tIns="46038" rIns="92075" bIns="46038" rtlCol="0" anchor="ctr">
            <a:normAutofit/>
          </a:bodyPr>
          <a:lstStyle/>
          <a:p>
            <a:pPr eaLnBrk="1" hangingPunct="1"/>
            <a:r>
              <a:rPr lang="zh-CN" altLang="en-US" sz="3600">
                <a:latin typeface="Times New Roman" panose="02020603050405020304" pitchFamily="18" charset="0"/>
              </a:rPr>
              <a:t>例 	表达式文法的语法符号的</a:t>
            </a:r>
            <a:r>
              <a:rPr lang="en-US" altLang="zh-CN" sz="3600">
                <a:latin typeface="Times New Roman" panose="02020603050405020304" pitchFamily="18" charset="0"/>
              </a:rPr>
              <a:t>FIRST </a:t>
            </a:r>
            <a:r>
              <a:rPr lang="zh-CN" altLang="en-US" sz="3600">
                <a:latin typeface="Times New Roman" panose="02020603050405020304" pitchFamily="18" charset="0"/>
              </a:rPr>
              <a:t>集</a:t>
            </a:r>
          </a:p>
        </p:txBody>
      </p:sp>
      <p:sp>
        <p:nvSpPr>
          <p:cNvPr id="1141763" name="Rectangle 3">
            <a:extLst>
              <a:ext uri="{FF2B5EF4-FFF2-40B4-BE49-F238E27FC236}">
                <a16:creationId xmlns:a16="http://schemas.microsoft.com/office/drawing/2014/main" id="{B17C61D9-439E-448E-8952-95AD91F0E664}"/>
              </a:ext>
            </a:extLst>
          </p:cNvPr>
          <p:cNvSpPr>
            <a:spLocks noGrp="1" noChangeArrowheads="1"/>
          </p:cNvSpPr>
          <p:nvPr>
            <p:ph type="body" idx="4294967295"/>
          </p:nvPr>
        </p:nvSpPr>
        <p:spPr>
          <a:xfrm>
            <a:off x="2135188" y="1557338"/>
            <a:ext cx="4267200" cy="4419600"/>
          </a:xfrm>
        </p:spPr>
        <p:txBody>
          <a:bodyPr vert="horz" lIns="92075" tIns="46038" rIns="92075" bIns="46038" rtlCol="0">
            <a:normAutofit lnSpcReduction="10000"/>
          </a:bodyPr>
          <a:lstStyle/>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FIRST(F)={</a:t>
            </a:r>
            <a:r>
              <a:rPr lang="zh-CN" altLang="en-US" sz="2400">
                <a:latin typeface="Times New Roman" panose="02020603050405020304" pitchFamily="18" charset="0"/>
              </a:rPr>
              <a:t>（</a:t>
            </a:r>
            <a:r>
              <a:rPr lang="en-US" altLang="zh-CN" sz="2400">
                <a:latin typeface="Times New Roman" panose="02020603050405020304" pitchFamily="18" charset="0"/>
              </a:rPr>
              <a:t>, id}</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FIRST(T)=FIRST(F)={</a:t>
            </a:r>
            <a:r>
              <a:rPr lang="zh-CN" altLang="en-US" sz="2400">
                <a:latin typeface="Times New Roman" panose="02020603050405020304" pitchFamily="18" charset="0"/>
              </a:rPr>
              <a:t>（</a:t>
            </a:r>
            <a:r>
              <a:rPr lang="en-US" altLang="zh-CN" sz="2400">
                <a:latin typeface="Times New Roman" panose="02020603050405020304" pitchFamily="18" charset="0"/>
              </a:rPr>
              <a:t>, id}    </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FIRST(E)=FIRST(T)={</a:t>
            </a:r>
            <a:r>
              <a:rPr lang="zh-CN" altLang="en-US" sz="2400">
                <a:latin typeface="Times New Roman" panose="02020603050405020304" pitchFamily="18" charset="0"/>
              </a:rPr>
              <a:t>（</a:t>
            </a:r>
            <a:r>
              <a:rPr lang="en-US" altLang="zh-CN" sz="2400">
                <a:latin typeface="Times New Roman" panose="02020603050405020304" pitchFamily="18" charset="0"/>
              </a:rPr>
              <a:t>, id}  </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FIRST(E')={+</a:t>
            </a:r>
            <a:r>
              <a:rPr lang="zh-CN" altLang="en-US" sz="2400">
                <a:latin typeface="Times New Roman" panose="02020603050405020304" pitchFamily="18" charset="0"/>
              </a:rPr>
              <a:t>，</a:t>
            </a:r>
            <a:r>
              <a:rPr lang="en-US" altLang="zh-CN" sz="2400">
                <a:latin typeface="Times New Roman" panose="02020603050405020304" pitchFamily="18" charset="0"/>
              </a:rPr>
              <a:t>ε}</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FIRST(T')={*,ε} </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 FIRST(*)={*}</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a:t>
            </a:r>
            <a:r>
              <a:rPr lang="zh-CN" altLang="en-US" sz="2400">
                <a:latin typeface="Times New Roman" panose="02020603050405020304" pitchFamily="18" charset="0"/>
              </a:rPr>
              <a:t>（</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a:latin typeface="Times New Roman" panose="02020603050405020304" pitchFamily="18" charset="0"/>
              </a:rPr>
              <a:t>}</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a:t>
            </a:r>
            <a:r>
              <a:rPr lang="zh-CN" altLang="en-US" sz="2400">
                <a:latin typeface="Times New Roman" panose="02020603050405020304" pitchFamily="18" charset="0"/>
              </a:rPr>
              <a:t>）</a:t>
            </a:r>
            <a:r>
              <a:rPr lang="en-US" altLang="zh-CN" sz="2400">
                <a:latin typeface="Times New Roman" panose="02020603050405020304" pitchFamily="18" charset="0"/>
              </a:rPr>
              <a:t>)={</a:t>
            </a:r>
            <a:r>
              <a:rPr lang="zh-CN" altLang="en-US" sz="2400">
                <a:latin typeface="Times New Roman" panose="02020603050405020304" pitchFamily="18" charset="0"/>
              </a:rPr>
              <a:t>）</a:t>
            </a:r>
            <a:r>
              <a:rPr lang="en-US" altLang="zh-CN" sz="2400">
                <a:latin typeface="Times New Roman" panose="02020603050405020304" pitchFamily="18" charset="0"/>
              </a:rPr>
              <a:t>}</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FIRST(id)={id}</a:t>
            </a:r>
          </a:p>
        </p:txBody>
      </p:sp>
      <p:sp>
        <p:nvSpPr>
          <p:cNvPr id="1141764" name="Text Box 4">
            <a:extLst>
              <a:ext uri="{FF2B5EF4-FFF2-40B4-BE49-F238E27FC236}">
                <a16:creationId xmlns:a16="http://schemas.microsoft.com/office/drawing/2014/main" id="{35E7FB47-8C35-4795-8DB0-BB71D7DDCF10}"/>
              </a:ext>
            </a:extLst>
          </p:cNvPr>
          <p:cNvSpPr txBox="1">
            <a:spLocks noChangeArrowheads="1"/>
          </p:cNvSpPr>
          <p:nvPr/>
        </p:nvSpPr>
        <p:spPr bwMode="auto">
          <a:xfrm>
            <a:off x="7239000" y="1651001"/>
            <a:ext cx="2362200" cy="2570163"/>
          </a:xfrm>
          <a:prstGeom prst="rect">
            <a:avLst/>
          </a:prstGeom>
          <a:noFill/>
          <a:ln w="9525">
            <a:noFill/>
            <a:miter lim="800000"/>
          </a:ln>
          <a:effectLst/>
        </p:spPr>
        <p:txBody>
          <a:bodyPr lIns="92075" tIns="46038" rIns="92075" bIns="46038">
            <a:spAutoFit/>
          </a:bodyPr>
          <a:lstStyle/>
          <a:p>
            <a:pPr>
              <a:spcBef>
                <a:spcPct val="20000"/>
              </a:spcBef>
              <a:buClr>
                <a:schemeClr val="tx2"/>
              </a:buClr>
              <a:buSzPct val="75000"/>
              <a:buFont typeface="Monotype Sorts" pitchFamily="2" charset="2"/>
              <a:buNone/>
              <a:defRPr/>
            </a:pPr>
            <a:r>
              <a:rPr kumimoji="1" lang="en-US" altLang="zh-CN" sz="2800" b="1" dirty="0">
                <a:solidFill>
                  <a:srgbClr val="FF0000"/>
                </a:solidFill>
                <a:effectLst>
                  <a:outerShdw blurRad="38100" dist="38100" dir="2700000" algn="tl">
                    <a:srgbClr val="000000"/>
                  </a:outerShdw>
                </a:effectLst>
              </a:rPr>
              <a:t>E→TE'        </a:t>
            </a:r>
          </a:p>
          <a:p>
            <a:pPr>
              <a:spcBef>
                <a:spcPct val="20000"/>
              </a:spcBef>
              <a:buClr>
                <a:schemeClr val="tx2"/>
              </a:buClr>
              <a:buSzPct val="75000"/>
              <a:buFont typeface="Monotype Sorts" pitchFamily="2" charset="2"/>
              <a:buNone/>
              <a:defRPr/>
            </a:pPr>
            <a:r>
              <a:rPr kumimoji="1" lang="en-US" altLang="zh-CN" sz="2800" b="1" dirty="0">
                <a:solidFill>
                  <a:srgbClr val="FF0000"/>
                </a:solidFill>
                <a:effectLst>
                  <a:outerShdw blurRad="38100" dist="38100" dir="2700000" algn="tl">
                    <a:srgbClr val="000000"/>
                  </a:outerShdw>
                </a:effectLst>
              </a:rPr>
              <a:t>E'→+</a:t>
            </a:r>
            <a:r>
              <a:rPr kumimoji="1" lang="en-US" altLang="zh-CN" sz="2800" b="1" dirty="0" err="1">
                <a:solidFill>
                  <a:srgbClr val="FF0000"/>
                </a:solidFill>
                <a:effectLst>
                  <a:outerShdw blurRad="38100" dist="38100" dir="2700000" algn="tl">
                    <a:srgbClr val="000000"/>
                  </a:outerShdw>
                </a:effectLst>
              </a:rPr>
              <a:t>TE'|ε</a:t>
            </a:r>
            <a:r>
              <a:rPr kumimoji="1" lang="en-US" altLang="zh-CN" sz="2800" b="1" dirty="0">
                <a:solidFill>
                  <a:srgbClr val="FF0000"/>
                </a:solidFill>
                <a:effectLst>
                  <a:outerShdw blurRad="38100" dist="38100" dir="2700000" algn="tl">
                    <a:srgbClr val="000000"/>
                  </a:outerShdw>
                </a:effectLst>
              </a:rPr>
              <a:t>  </a:t>
            </a:r>
          </a:p>
          <a:p>
            <a:pPr>
              <a:spcBef>
                <a:spcPct val="20000"/>
              </a:spcBef>
              <a:buClr>
                <a:schemeClr val="tx2"/>
              </a:buClr>
              <a:buSzPct val="75000"/>
              <a:buFont typeface="Monotype Sorts" pitchFamily="2" charset="2"/>
              <a:buNone/>
              <a:defRPr/>
            </a:pPr>
            <a:r>
              <a:rPr kumimoji="1" lang="en-US" altLang="zh-CN" sz="2800" b="1" dirty="0">
                <a:solidFill>
                  <a:srgbClr val="FF0000"/>
                </a:solidFill>
                <a:effectLst>
                  <a:outerShdw blurRad="38100" dist="38100" dir="2700000" algn="tl">
                    <a:srgbClr val="000000"/>
                  </a:outerShdw>
                </a:effectLst>
              </a:rPr>
              <a:t>T→FT'        </a:t>
            </a:r>
          </a:p>
          <a:p>
            <a:pPr>
              <a:spcBef>
                <a:spcPct val="20000"/>
              </a:spcBef>
              <a:buClr>
                <a:schemeClr val="tx2"/>
              </a:buClr>
              <a:buSzPct val="75000"/>
              <a:buFont typeface="Monotype Sorts" pitchFamily="2" charset="2"/>
              <a:buNone/>
              <a:defRPr/>
            </a:pPr>
            <a:r>
              <a:rPr kumimoji="1" lang="en-US" altLang="zh-CN" sz="2800" b="1" dirty="0">
                <a:solidFill>
                  <a:srgbClr val="FF0000"/>
                </a:solidFill>
                <a:effectLst>
                  <a:outerShdw blurRad="38100" dist="38100" dir="2700000" algn="tl">
                    <a:srgbClr val="000000"/>
                  </a:outerShdw>
                </a:effectLst>
              </a:rPr>
              <a:t>T'→*</a:t>
            </a:r>
            <a:r>
              <a:rPr kumimoji="1" lang="en-US" altLang="zh-CN" sz="2800" b="1" dirty="0" err="1">
                <a:solidFill>
                  <a:srgbClr val="FF0000"/>
                </a:solidFill>
                <a:effectLst>
                  <a:outerShdw blurRad="38100" dist="38100" dir="2700000" algn="tl">
                    <a:srgbClr val="000000"/>
                  </a:outerShdw>
                </a:effectLst>
              </a:rPr>
              <a:t>FT'|ε</a:t>
            </a:r>
            <a:r>
              <a:rPr kumimoji="1" lang="en-US" altLang="zh-CN" sz="2800" b="1" dirty="0">
                <a:solidFill>
                  <a:srgbClr val="FF0000"/>
                </a:solidFill>
                <a:effectLst>
                  <a:outerShdw blurRad="38100" dist="38100" dir="2700000" algn="tl">
                    <a:srgbClr val="000000"/>
                  </a:outerShdw>
                </a:effectLst>
              </a:rPr>
              <a:t>  </a:t>
            </a:r>
          </a:p>
          <a:p>
            <a:pPr>
              <a:spcBef>
                <a:spcPct val="20000"/>
              </a:spcBef>
              <a:buClr>
                <a:schemeClr val="tx2"/>
              </a:buClr>
              <a:buSzPct val="75000"/>
              <a:buFont typeface="Monotype Sorts" pitchFamily="2" charset="2"/>
              <a:buNone/>
              <a:defRPr/>
            </a:pPr>
            <a:r>
              <a:rPr kumimoji="1" lang="en-US" altLang="zh-CN" sz="2800" b="1" dirty="0">
                <a:solidFill>
                  <a:srgbClr val="FF0000"/>
                </a:solidFill>
                <a:effectLst>
                  <a:outerShdw blurRad="38100" dist="38100" dir="2700000" algn="tl">
                    <a:srgbClr val="000000"/>
                  </a:outerShdw>
                </a:effectLst>
              </a:rPr>
              <a:t>F→(E)|id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41763">
                                            <p:txEl>
                                              <p:pRg st="0" end="0"/>
                                            </p:txEl>
                                          </p:spTgt>
                                        </p:tgtEl>
                                        <p:attrNameLst>
                                          <p:attrName>style.visibility</p:attrName>
                                        </p:attrNameLst>
                                      </p:cBhvr>
                                      <p:to>
                                        <p:strVal val="visible"/>
                                      </p:to>
                                    </p:set>
                                    <p:animEffect transition="in" filter="wipe(up)">
                                      <p:cBhvr>
                                        <p:cTn id="7" dur="75"/>
                                        <p:tgtEl>
                                          <p:spTgt spid="11417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41763">
                                            <p:txEl>
                                              <p:pRg st="1" end="1"/>
                                            </p:txEl>
                                          </p:spTgt>
                                        </p:tgtEl>
                                        <p:attrNameLst>
                                          <p:attrName>style.visibility</p:attrName>
                                        </p:attrNameLst>
                                      </p:cBhvr>
                                      <p:to>
                                        <p:strVal val="visible"/>
                                      </p:to>
                                    </p:set>
                                    <p:animEffect transition="in" filter="wipe(up)">
                                      <p:cBhvr>
                                        <p:cTn id="12" dur="75"/>
                                        <p:tgtEl>
                                          <p:spTgt spid="11417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41763">
                                            <p:txEl>
                                              <p:pRg st="2" end="2"/>
                                            </p:txEl>
                                          </p:spTgt>
                                        </p:tgtEl>
                                        <p:attrNameLst>
                                          <p:attrName>style.visibility</p:attrName>
                                        </p:attrNameLst>
                                      </p:cBhvr>
                                      <p:to>
                                        <p:strVal val="visible"/>
                                      </p:to>
                                    </p:set>
                                    <p:animEffect transition="in" filter="wipe(up)">
                                      <p:cBhvr>
                                        <p:cTn id="17" dur="75"/>
                                        <p:tgtEl>
                                          <p:spTgt spid="11417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41763">
                                            <p:txEl>
                                              <p:pRg st="3" end="3"/>
                                            </p:txEl>
                                          </p:spTgt>
                                        </p:tgtEl>
                                        <p:attrNameLst>
                                          <p:attrName>style.visibility</p:attrName>
                                        </p:attrNameLst>
                                      </p:cBhvr>
                                      <p:to>
                                        <p:strVal val="visible"/>
                                      </p:to>
                                    </p:set>
                                    <p:animEffect transition="in" filter="wipe(up)">
                                      <p:cBhvr>
                                        <p:cTn id="22" dur="75"/>
                                        <p:tgtEl>
                                          <p:spTgt spid="11417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1141763">
                                            <p:txEl>
                                              <p:pRg st="4" end="4"/>
                                            </p:txEl>
                                          </p:spTgt>
                                        </p:tgtEl>
                                        <p:attrNameLst>
                                          <p:attrName>style.visibility</p:attrName>
                                        </p:attrNameLst>
                                      </p:cBhvr>
                                      <p:to>
                                        <p:strVal val="visible"/>
                                      </p:to>
                                    </p:set>
                                    <p:animEffect transition="in" filter="wipe(up)">
                                      <p:cBhvr>
                                        <p:cTn id="27" dur="75"/>
                                        <p:tgtEl>
                                          <p:spTgt spid="114176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1141763">
                                            <p:txEl>
                                              <p:pRg st="5" end="5"/>
                                            </p:txEl>
                                          </p:spTgt>
                                        </p:tgtEl>
                                        <p:attrNameLst>
                                          <p:attrName>style.visibility</p:attrName>
                                        </p:attrNameLst>
                                      </p:cBhvr>
                                      <p:to>
                                        <p:strVal val="visible"/>
                                      </p:to>
                                    </p:set>
                                    <p:animEffect transition="in" filter="wipe(up)">
                                      <p:cBhvr>
                                        <p:cTn id="32" dur="75"/>
                                        <p:tgtEl>
                                          <p:spTgt spid="114176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1141763">
                                            <p:txEl>
                                              <p:pRg st="6" end="6"/>
                                            </p:txEl>
                                          </p:spTgt>
                                        </p:tgtEl>
                                        <p:attrNameLst>
                                          <p:attrName>style.visibility</p:attrName>
                                        </p:attrNameLst>
                                      </p:cBhvr>
                                      <p:to>
                                        <p:strVal val="visible"/>
                                      </p:to>
                                    </p:set>
                                    <p:animEffect transition="in" filter="wipe(up)">
                                      <p:cBhvr>
                                        <p:cTn id="37" dur="75"/>
                                        <p:tgtEl>
                                          <p:spTgt spid="114176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iterate type="lt">
                                    <p:tmPct val="100000"/>
                                  </p:iterate>
                                  <p:childTnLst>
                                    <p:set>
                                      <p:cBhvr>
                                        <p:cTn id="41" dur="1" fill="hold">
                                          <p:stCondLst>
                                            <p:cond delay="0"/>
                                          </p:stCondLst>
                                        </p:cTn>
                                        <p:tgtEl>
                                          <p:spTgt spid="1141763">
                                            <p:txEl>
                                              <p:pRg st="7" end="7"/>
                                            </p:txEl>
                                          </p:spTgt>
                                        </p:tgtEl>
                                        <p:attrNameLst>
                                          <p:attrName>style.visibility</p:attrName>
                                        </p:attrNameLst>
                                      </p:cBhvr>
                                      <p:to>
                                        <p:strVal val="visible"/>
                                      </p:to>
                                    </p:set>
                                    <p:animEffect transition="in" filter="wipe(up)">
                                      <p:cBhvr>
                                        <p:cTn id="42" dur="75"/>
                                        <p:tgtEl>
                                          <p:spTgt spid="114176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iterate type="lt">
                                    <p:tmPct val="100000"/>
                                  </p:iterate>
                                  <p:childTnLst>
                                    <p:set>
                                      <p:cBhvr>
                                        <p:cTn id="46" dur="1" fill="hold">
                                          <p:stCondLst>
                                            <p:cond delay="0"/>
                                          </p:stCondLst>
                                        </p:cTn>
                                        <p:tgtEl>
                                          <p:spTgt spid="1141763">
                                            <p:txEl>
                                              <p:pRg st="8" end="8"/>
                                            </p:txEl>
                                          </p:spTgt>
                                        </p:tgtEl>
                                        <p:attrNameLst>
                                          <p:attrName>style.visibility</p:attrName>
                                        </p:attrNameLst>
                                      </p:cBhvr>
                                      <p:to>
                                        <p:strVal val="visible"/>
                                      </p:to>
                                    </p:set>
                                    <p:animEffect transition="in" filter="wipe(up)">
                                      <p:cBhvr>
                                        <p:cTn id="47" dur="75"/>
                                        <p:tgtEl>
                                          <p:spTgt spid="11417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176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400F13C-0721-4E60-A46B-22AD83A6E6B7}"/>
              </a:ext>
            </a:extLst>
          </p:cNvPr>
          <p:cNvSpPr>
            <a:spLocks noGrp="1" noChangeArrowheads="1"/>
          </p:cNvSpPr>
          <p:nvPr/>
        </p:nvSpPr>
        <p:spPr bwMode="auto">
          <a:xfrm>
            <a:off x="2855913" y="333376"/>
            <a:ext cx="491966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4400" b="1"/>
              <a:t>4.2.3 LL(1)</a:t>
            </a:r>
            <a:r>
              <a:rPr lang="zh-CN" altLang="en-US" sz="4000" b="1">
                <a:ea typeface="黑体" panose="02010609060101010101" pitchFamily="49" charset="-122"/>
              </a:rPr>
              <a:t>文法</a:t>
            </a:r>
          </a:p>
        </p:txBody>
      </p:sp>
      <p:sp>
        <p:nvSpPr>
          <p:cNvPr id="53251" name="Rectangle 3">
            <a:extLst>
              <a:ext uri="{FF2B5EF4-FFF2-40B4-BE49-F238E27FC236}">
                <a16:creationId xmlns:a16="http://schemas.microsoft.com/office/drawing/2014/main" id="{FE61271B-AF76-4114-9A4F-0116CBCCE303}"/>
              </a:ext>
            </a:extLst>
          </p:cNvPr>
          <p:cNvSpPr>
            <a:spLocks noGrp="1" noChangeArrowheads="1"/>
          </p:cNvSpPr>
          <p:nvPr/>
        </p:nvSpPr>
        <p:spPr bwMode="auto">
          <a:xfrm>
            <a:off x="1644650" y="1773238"/>
            <a:ext cx="89154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63538" indent="-363538">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folHlink"/>
              </a:buClr>
              <a:buSzPct val="60000"/>
              <a:buFont typeface="Wingdings" panose="05000000000000000000" pitchFamily="2" charset="2"/>
              <a:buNone/>
            </a:pPr>
            <a:r>
              <a:rPr lang="zh-CN" altLang="en-US" b="1">
                <a:solidFill>
                  <a:srgbClr val="FF00FF"/>
                </a:solidFill>
                <a:latin typeface="楷体_GB2312" pitchFamily="49" charset="-122"/>
                <a:ea typeface="楷体_GB2312" pitchFamily="49" charset="-122"/>
              </a:rPr>
              <a:t>存在空产生式的情况：</a:t>
            </a:r>
            <a:r>
              <a:rPr lang="en-US" altLang="zh-CN" b="1">
                <a:solidFill>
                  <a:srgbClr val="FF00FF"/>
                </a:solidFill>
                <a:latin typeface="楷体_GB2312" pitchFamily="49" charset="-122"/>
              </a:rPr>
              <a:t>FIRST</a:t>
            </a:r>
            <a:r>
              <a:rPr lang="zh-CN" altLang="en-US" b="1">
                <a:solidFill>
                  <a:srgbClr val="FF00FF"/>
                </a:solidFill>
                <a:latin typeface="楷体_GB2312" pitchFamily="49" charset="-122"/>
                <a:ea typeface="楷体_GB2312" pitchFamily="49" charset="-122"/>
              </a:rPr>
              <a:t>集不能完全解决问题</a:t>
            </a:r>
          </a:p>
          <a:p>
            <a:pPr eaLnBrk="1" hangingPunct="1">
              <a:lnSpc>
                <a:spcPct val="90000"/>
              </a:lnSpc>
              <a:spcBef>
                <a:spcPct val="20000"/>
              </a:spcBef>
              <a:buClr>
                <a:schemeClr val="folHlink"/>
              </a:buClr>
              <a:buSzPct val="60000"/>
              <a:buFont typeface="Wingdings" panose="05000000000000000000" pitchFamily="2" charset="2"/>
              <a:buChar char="n"/>
            </a:pPr>
            <a:endParaRPr lang="zh-CN" altLang="en-US" b="1">
              <a:ea typeface="楷体_GB2312" pitchFamily="49" charset="-122"/>
            </a:endParaRPr>
          </a:p>
        </p:txBody>
      </p:sp>
      <p:sp>
        <p:nvSpPr>
          <p:cNvPr id="2" name="文本框 1">
            <a:extLst>
              <a:ext uri="{FF2B5EF4-FFF2-40B4-BE49-F238E27FC236}">
                <a16:creationId xmlns:a16="http://schemas.microsoft.com/office/drawing/2014/main" id="{1C21686D-906F-4EBA-8331-2AD0595AF5CB}"/>
              </a:ext>
            </a:extLst>
          </p:cNvPr>
          <p:cNvSpPr txBox="1">
            <a:spLocks noChangeArrowheads="1"/>
          </p:cNvSpPr>
          <p:nvPr/>
        </p:nvSpPr>
        <p:spPr bwMode="auto">
          <a:xfrm>
            <a:off x="4213226" y="2624139"/>
            <a:ext cx="390207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600">
                <a:solidFill>
                  <a:schemeClr val="tx1"/>
                </a:solidFill>
                <a:latin typeface="Times New Roman" panose="02020603050405020304" pitchFamily="18" charset="0"/>
                <a:ea typeface="宋体" panose="02010600030101010101" pitchFamily="2" charset="-122"/>
              </a:defRPr>
            </a:lvl1pPr>
            <a:lvl2pPr>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lvl="1" eaLnBrk="1" hangingPunct="1">
              <a:lnSpc>
                <a:spcPct val="90000"/>
              </a:lnSpc>
              <a:buFont typeface="Wingdings" panose="05000000000000000000" pitchFamily="2" charset="2"/>
              <a:buNone/>
            </a:pPr>
            <a:r>
              <a:rPr lang="en-US" altLang="zh-CN" dirty="0" err="1">
                <a:solidFill>
                  <a:srgbClr val="00B050"/>
                </a:solidFill>
                <a:sym typeface="楷体_GB2312" pitchFamily="49" charset="-122"/>
              </a:rPr>
              <a:t>S→aAB</a:t>
            </a:r>
            <a:r>
              <a:rPr lang="en-US" altLang="zh-CN" dirty="0">
                <a:solidFill>
                  <a:srgbClr val="00B050"/>
                </a:solidFill>
                <a:sym typeface="楷体_GB2312" pitchFamily="49" charset="-122"/>
              </a:rPr>
              <a:t> | </a:t>
            </a:r>
            <a:r>
              <a:rPr lang="en-US" altLang="zh-CN" dirty="0" err="1">
                <a:solidFill>
                  <a:srgbClr val="00B050"/>
                </a:solidFill>
                <a:sym typeface="楷体_GB2312" pitchFamily="49" charset="-122"/>
              </a:rPr>
              <a:t>bB</a:t>
            </a:r>
            <a:endParaRPr lang="en-US" altLang="zh-CN" dirty="0">
              <a:solidFill>
                <a:srgbClr val="00B050"/>
              </a:solidFill>
              <a:sym typeface="楷体_GB2312" pitchFamily="49" charset="-122"/>
            </a:endParaRPr>
          </a:p>
          <a:p>
            <a:pPr lvl="1" eaLnBrk="1" hangingPunct="1">
              <a:lnSpc>
                <a:spcPct val="90000"/>
              </a:lnSpc>
              <a:buFont typeface="Wingdings" panose="05000000000000000000" pitchFamily="2" charset="2"/>
              <a:buNone/>
            </a:pPr>
            <a:r>
              <a:rPr lang="en-US" altLang="zh-CN" dirty="0">
                <a:solidFill>
                  <a:srgbClr val="00B050"/>
                </a:solidFill>
                <a:sym typeface="楷体_GB2312" pitchFamily="49" charset="-122"/>
              </a:rPr>
              <a:t>A→ </a:t>
            </a:r>
            <a:r>
              <a:rPr lang="en-US" altLang="zh-CN" i="1" dirty="0">
                <a:solidFill>
                  <a:srgbClr val="00B050"/>
                </a:solidFill>
                <a:sym typeface="楷体_GB2312" pitchFamily="49" charset="-122"/>
              </a:rPr>
              <a:t>b</a:t>
            </a:r>
            <a:r>
              <a:rPr lang="en-US" altLang="zh-CN" i="1" dirty="0">
                <a:solidFill>
                  <a:srgbClr val="00B050"/>
                </a:solidFill>
              </a:rPr>
              <a:t> |</a:t>
            </a:r>
            <a:r>
              <a:rPr lang="en-US" altLang="zh-CN" i="1" dirty="0">
                <a:solidFill>
                  <a:srgbClr val="00B050"/>
                </a:solidFill>
                <a:sym typeface="楷体_GB2312" pitchFamily="49" charset="-122"/>
              </a:rPr>
              <a:t>ε</a:t>
            </a:r>
            <a:endParaRPr lang="en-US" altLang="zh-CN" i="1" dirty="0">
              <a:solidFill>
                <a:srgbClr val="00B050"/>
              </a:solidFill>
            </a:endParaRPr>
          </a:p>
          <a:p>
            <a:pPr lvl="1" eaLnBrk="1" hangingPunct="1">
              <a:lnSpc>
                <a:spcPct val="90000"/>
              </a:lnSpc>
              <a:buFont typeface="Wingdings" panose="05000000000000000000" pitchFamily="2" charset="2"/>
              <a:buNone/>
            </a:pPr>
            <a:r>
              <a:rPr lang="en-US" altLang="zh-CN" dirty="0">
                <a:solidFill>
                  <a:srgbClr val="00B050"/>
                </a:solidFill>
                <a:sym typeface="楷体_GB2312" pitchFamily="49" charset="-122"/>
              </a:rPr>
              <a:t>B→ </a:t>
            </a:r>
            <a:r>
              <a:rPr lang="en-US" altLang="zh-CN" i="1" dirty="0">
                <a:solidFill>
                  <a:srgbClr val="00B050"/>
                </a:solidFill>
                <a:sym typeface="楷体_GB2312" pitchFamily="49" charset="-122"/>
              </a:rPr>
              <a:t>b </a:t>
            </a:r>
            <a:endParaRPr lang="zh-CN" altLang="en-US" dirty="0"/>
          </a:p>
        </p:txBody>
      </p:sp>
      <p:sp>
        <p:nvSpPr>
          <p:cNvPr id="3" name="文本框 2">
            <a:extLst>
              <a:ext uri="{FF2B5EF4-FFF2-40B4-BE49-F238E27FC236}">
                <a16:creationId xmlns:a16="http://schemas.microsoft.com/office/drawing/2014/main" id="{9B2153CF-B61B-4737-9A9F-7344C032FA59}"/>
              </a:ext>
            </a:extLst>
          </p:cNvPr>
          <p:cNvSpPr txBox="1">
            <a:spLocks noChangeArrowheads="1"/>
          </p:cNvSpPr>
          <p:nvPr/>
        </p:nvSpPr>
        <p:spPr bwMode="auto">
          <a:xfrm>
            <a:off x="3770313" y="4370389"/>
            <a:ext cx="392430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600">
                <a:solidFill>
                  <a:schemeClr val="tx1"/>
                </a:solidFill>
                <a:latin typeface="Times New Roman" panose="02020603050405020304" pitchFamily="18" charset="0"/>
                <a:ea typeface="宋体" panose="02010600030101010101" pitchFamily="2" charset="-122"/>
              </a:defRPr>
            </a:lvl1pPr>
            <a:lvl2pPr>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lvl="1" eaLnBrk="1" hangingPunct="1">
              <a:lnSpc>
                <a:spcPct val="90000"/>
              </a:lnSpc>
              <a:buFont typeface="Wingdings" panose="05000000000000000000" pitchFamily="2" charset="2"/>
              <a:buNone/>
            </a:pPr>
            <a:r>
              <a:rPr lang="zh-CN" altLang="en-US">
                <a:sym typeface="楷体_GB2312" pitchFamily="49" charset="-122"/>
              </a:rPr>
              <a:t>字符串</a:t>
            </a:r>
            <a:r>
              <a:rPr lang="en-US" altLang="zh-CN">
                <a:sym typeface="楷体_GB2312" pitchFamily="49" charset="-122"/>
              </a:rPr>
              <a:t>ab</a:t>
            </a:r>
            <a:r>
              <a:rPr lang="zh-CN" altLang="en-US">
                <a:sym typeface="楷体_GB2312" pitchFamily="49" charset="-122"/>
              </a:rPr>
              <a:t>的派生过程？</a:t>
            </a:r>
            <a:endParaRPr lang="zh-CN" altLang="en-US"/>
          </a:p>
        </p:txBody>
      </p:sp>
      <p:sp>
        <p:nvSpPr>
          <p:cNvPr id="4" name="文本框 3">
            <a:extLst>
              <a:ext uri="{FF2B5EF4-FFF2-40B4-BE49-F238E27FC236}">
                <a16:creationId xmlns:a16="http://schemas.microsoft.com/office/drawing/2014/main" id="{04BA7A30-008E-47F1-991E-2B566CB425D6}"/>
              </a:ext>
            </a:extLst>
          </p:cNvPr>
          <p:cNvSpPr txBox="1">
            <a:spLocks noChangeArrowheads="1"/>
          </p:cNvSpPr>
          <p:nvPr/>
        </p:nvSpPr>
        <p:spPr bwMode="auto">
          <a:xfrm>
            <a:off x="4281488" y="5181601"/>
            <a:ext cx="18653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600">
                <a:solidFill>
                  <a:schemeClr val="tx1"/>
                </a:solidFill>
                <a:latin typeface="Times New Roman" panose="02020603050405020304" pitchFamily="18" charset="0"/>
                <a:ea typeface="宋体" panose="02010600030101010101" pitchFamily="2" charset="-122"/>
              </a:defRPr>
            </a:lvl1pPr>
            <a:lvl2pPr>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lvl="1" eaLnBrk="1" hangingPunct="1">
              <a:lnSpc>
                <a:spcPct val="90000"/>
              </a:lnSpc>
              <a:buFont typeface="Wingdings" panose="05000000000000000000" pitchFamily="2" charset="2"/>
              <a:buNone/>
            </a:pPr>
            <a:r>
              <a:rPr lang="zh-CN" altLang="en-US" sz="3200" b="1">
                <a:solidFill>
                  <a:srgbClr val="FF0000"/>
                </a:solidFill>
              </a:rPr>
              <a:t>启示？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灯片编号占位符 5">
            <a:extLst>
              <a:ext uri="{FF2B5EF4-FFF2-40B4-BE49-F238E27FC236}">
                <a16:creationId xmlns:a16="http://schemas.microsoft.com/office/drawing/2014/main" id="{93EB8C67-3E49-4607-97F1-CFB0DE854EE0}"/>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C86B55DB-2B8D-4494-B12B-71668EEF67FA}" type="slidenum">
              <a:rPr lang="en-US" altLang="zh-CN" sz="1400">
                <a:latin typeface="Arial" panose="020B0604020202020204" pitchFamily="34" charset="0"/>
              </a:rPr>
              <a:pPr/>
              <a:t>5</a:t>
            </a:fld>
            <a:endParaRPr lang="en-US" altLang="zh-CN" sz="1400">
              <a:latin typeface="Arial" panose="020B0604020202020204" pitchFamily="34" charset="0"/>
            </a:endParaRPr>
          </a:p>
        </p:txBody>
      </p:sp>
      <p:sp>
        <p:nvSpPr>
          <p:cNvPr id="6149" name="Rectangle 2">
            <a:extLst>
              <a:ext uri="{FF2B5EF4-FFF2-40B4-BE49-F238E27FC236}">
                <a16:creationId xmlns:a16="http://schemas.microsoft.com/office/drawing/2014/main" id="{C8D7B104-673E-49CD-AFB6-DCB2F041CFAA}"/>
              </a:ext>
            </a:extLst>
          </p:cNvPr>
          <p:cNvSpPr>
            <a:spLocks noGrp="1" noChangeArrowheads="1"/>
          </p:cNvSpPr>
          <p:nvPr>
            <p:ph type="title" idx="4294967295"/>
          </p:nvPr>
        </p:nvSpPr>
        <p:spPr>
          <a:xfrm>
            <a:off x="2652713" y="333376"/>
            <a:ext cx="4883150" cy="792163"/>
          </a:xfrm>
        </p:spPr>
        <p:txBody>
          <a:bodyPr vert="horz" lIns="92075" tIns="46038" rIns="92075" bIns="46038" rtlCol="0" anchor="ctr">
            <a:normAutofit/>
          </a:bodyPr>
          <a:lstStyle/>
          <a:p>
            <a:pPr eaLnBrk="1" hangingPunct="1"/>
            <a:r>
              <a:rPr lang="en-US" altLang="zh-CN">
                <a:latin typeface="Times New Roman" panose="02020603050405020304" pitchFamily="18" charset="0"/>
              </a:rPr>
              <a:t>4.2.3 LL(1)</a:t>
            </a:r>
            <a:r>
              <a:rPr lang="zh-CN" altLang="en-US" sz="4000"/>
              <a:t>文法</a:t>
            </a:r>
          </a:p>
        </p:txBody>
      </p:sp>
      <p:sp>
        <p:nvSpPr>
          <p:cNvPr id="2163715" name="Rectangle 3">
            <a:extLst>
              <a:ext uri="{FF2B5EF4-FFF2-40B4-BE49-F238E27FC236}">
                <a16:creationId xmlns:a16="http://schemas.microsoft.com/office/drawing/2014/main" id="{6DED1F82-4B1F-48DD-B2C3-B89953557671}"/>
              </a:ext>
            </a:extLst>
          </p:cNvPr>
          <p:cNvSpPr>
            <a:spLocks noGrp="1" noChangeArrowheads="1"/>
          </p:cNvSpPr>
          <p:nvPr>
            <p:ph type="body" idx="4294967295"/>
          </p:nvPr>
        </p:nvSpPr>
        <p:spPr>
          <a:xfrm>
            <a:off x="1703388" y="1846264"/>
            <a:ext cx="9072562" cy="3743325"/>
          </a:xfrm>
        </p:spPr>
        <p:txBody>
          <a:bodyPr vert="horz" lIns="92075" tIns="46038" rIns="92075" bIns="46038" rtlCol="0">
            <a:normAutofit fontScale="85000" lnSpcReduction="20000"/>
          </a:bodyPr>
          <a:lstStyle/>
          <a:p>
            <a:pPr marL="812800" indent="-812800">
              <a:buNone/>
              <a:defRPr/>
            </a:pPr>
            <a:r>
              <a:rPr lang="zh-CN" altLang="en-US" dirty="0">
                <a:solidFill>
                  <a:srgbClr val="0000FF"/>
                </a:solidFill>
                <a:latin typeface="楷体_GB2312" pitchFamily="49" charset="-122"/>
              </a:rPr>
              <a:t>定义：</a:t>
            </a:r>
            <a:endParaRPr lang="en-US" altLang="zh-CN" dirty="0">
              <a:solidFill>
                <a:srgbClr val="0000FF"/>
              </a:solidFill>
              <a:latin typeface="楷体_GB2312" pitchFamily="49" charset="-122"/>
            </a:endParaRPr>
          </a:p>
          <a:p>
            <a:pPr marL="812800" indent="-812800">
              <a:buNone/>
              <a:defRPr/>
            </a:pPr>
            <a:r>
              <a:rPr lang="zh-CN" altLang="en-US" dirty="0">
                <a:latin typeface="楷体_GB2312" pitchFamily="49" charset="-122"/>
              </a:rPr>
              <a:t>如果</a:t>
            </a:r>
            <a:r>
              <a:rPr lang="zh-CN" altLang="en-US" dirty="0">
                <a:latin typeface="Times New Roman" pitchFamily="18" charset="0"/>
              </a:rPr>
              <a:t>存在</a:t>
            </a:r>
            <a:r>
              <a:rPr lang="en-US" altLang="zh-CN" dirty="0" err="1">
                <a:latin typeface="Times New Roman" pitchFamily="18" charset="0"/>
              </a:rPr>
              <a:t>X→</a:t>
            </a:r>
            <a:r>
              <a:rPr lang="en-US" altLang="zh-CN" i="1" dirty="0" err="1">
                <a:latin typeface="Times New Roman" pitchFamily="18" charset="0"/>
              </a:rPr>
              <a:t>ε</a:t>
            </a:r>
            <a:r>
              <a:rPr lang="zh-CN" altLang="en-US" dirty="0">
                <a:latin typeface="Times New Roman" pitchFamily="18" charset="0"/>
              </a:rPr>
              <a:t>这样的产生式，则需定义</a:t>
            </a:r>
            <a:r>
              <a:rPr lang="en-US" altLang="zh-CN" dirty="0">
                <a:latin typeface="Times New Roman" pitchFamily="18" charset="0"/>
              </a:rPr>
              <a:t>FOLLOW</a:t>
            </a:r>
            <a:r>
              <a:rPr lang="zh-CN" altLang="en-US" dirty="0">
                <a:latin typeface="Times New Roman" pitchFamily="18" charset="0"/>
              </a:rPr>
              <a:t>集合</a:t>
            </a:r>
            <a:endParaRPr lang="en-US" altLang="zh-CN" dirty="0">
              <a:latin typeface="Times New Roman" pitchFamily="18" charset="0"/>
            </a:endParaRPr>
          </a:p>
          <a:p>
            <a:pPr marL="812800" indent="-812800">
              <a:buNone/>
              <a:defRPr/>
            </a:pPr>
            <a:r>
              <a:rPr lang="en-US" altLang="zh-CN" dirty="0">
                <a:latin typeface="Times New Roman" pitchFamily="18" charset="0"/>
                <a:sym typeface="Symbol" pitchFamily="18" charset="2"/>
              </a:rPr>
              <a:t></a:t>
            </a:r>
            <a:r>
              <a:rPr lang="en-US" altLang="zh-CN" i="1" dirty="0">
                <a:latin typeface="Times New Roman" pitchFamily="18" charset="0"/>
              </a:rPr>
              <a:t>A</a:t>
            </a:r>
            <a:r>
              <a:rPr lang="en-US" altLang="zh-CN" dirty="0">
                <a:latin typeface="Times New Roman" pitchFamily="18" charset="0"/>
              </a:rPr>
              <a:t>∈</a:t>
            </a:r>
            <a:r>
              <a:rPr lang="zh-CN" altLang="en-US" i="1" dirty="0">
                <a:latin typeface="Times New Roman" pitchFamily="18" charset="0"/>
              </a:rPr>
              <a:t>Ｖ</a:t>
            </a:r>
            <a:r>
              <a:rPr lang="zh-CN" altLang="en-US" dirty="0">
                <a:latin typeface="Times New Roman" pitchFamily="18" charset="0"/>
              </a:rPr>
              <a:t>定义</a:t>
            </a:r>
            <a:r>
              <a:rPr lang="en-US" altLang="zh-CN" i="1" dirty="0">
                <a:latin typeface="Times New Roman" pitchFamily="18" charset="0"/>
              </a:rPr>
              <a:t>A</a:t>
            </a:r>
            <a:r>
              <a:rPr lang="zh-CN" altLang="en-US" dirty="0">
                <a:latin typeface="Times New Roman" pitchFamily="18" charset="0"/>
              </a:rPr>
              <a:t>的</a:t>
            </a:r>
            <a:r>
              <a:rPr lang="zh-CN" altLang="en-US" dirty="0">
                <a:solidFill>
                  <a:srgbClr val="FF0000"/>
                </a:solidFill>
                <a:latin typeface="Times New Roman" pitchFamily="18" charset="0"/>
              </a:rPr>
              <a:t>后续符号集为</a:t>
            </a:r>
            <a:r>
              <a:rPr lang="zh-CN" altLang="en-US" dirty="0">
                <a:latin typeface="Times New Roman" pitchFamily="18" charset="0"/>
              </a:rPr>
              <a:t>： </a:t>
            </a:r>
          </a:p>
          <a:p>
            <a:pPr marL="812800" indent="-812800">
              <a:buNone/>
              <a:defRPr/>
            </a:pPr>
            <a:r>
              <a:rPr lang="en-US" altLang="zh-CN" dirty="0">
                <a:latin typeface="Times New Roman" pitchFamily="18" charset="0"/>
                <a:ea typeface="宋体" pitchFamily="2" charset="-122"/>
              </a:rPr>
              <a:t>1. FOLLOW(</a:t>
            </a:r>
            <a:r>
              <a:rPr lang="en-US" altLang="zh-CN" i="1" dirty="0">
                <a:latin typeface="Times New Roman" pitchFamily="18" charset="0"/>
                <a:ea typeface="宋体" pitchFamily="2" charset="-122"/>
              </a:rPr>
              <a:t>A</a:t>
            </a:r>
            <a:r>
              <a:rPr lang="en-US" altLang="zh-CN" dirty="0">
                <a:latin typeface="Times New Roman" pitchFamily="18" charset="0"/>
                <a:ea typeface="宋体" pitchFamily="2" charset="-122"/>
              </a:rPr>
              <a:t>)={</a:t>
            </a:r>
            <a:r>
              <a:rPr lang="en-US" altLang="zh-CN" i="1" dirty="0" err="1">
                <a:latin typeface="Times New Roman" pitchFamily="18" charset="0"/>
                <a:ea typeface="宋体" pitchFamily="2" charset="-122"/>
              </a:rPr>
              <a:t>b</a:t>
            </a:r>
            <a:r>
              <a:rPr lang="en-US" altLang="zh-CN" dirty="0" err="1">
                <a:latin typeface="Times New Roman" pitchFamily="18" charset="0"/>
                <a:ea typeface="宋体" pitchFamily="2" charset="-122"/>
              </a:rPr>
              <a:t>|</a:t>
            </a:r>
            <a:r>
              <a:rPr lang="en-US" altLang="zh-CN" i="1" dirty="0" err="1">
                <a:latin typeface="Times New Roman" pitchFamily="18" charset="0"/>
                <a:ea typeface="宋体" pitchFamily="2" charset="-122"/>
              </a:rPr>
              <a:t>S</a:t>
            </a:r>
            <a:r>
              <a:rPr lang="en-US" altLang="zh-CN" i="1" dirty="0">
                <a:latin typeface="Times New Roman" pitchFamily="18" charset="0"/>
                <a:ea typeface="宋体" pitchFamily="2" charset="-122"/>
              </a:rPr>
              <a:t>    </a:t>
            </a:r>
            <a:r>
              <a:rPr lang="en-US" altLang="zh-CN" i="1" dirty="0" err="1">
                <a:latin typeface="Times New Roman" pitchFamily="18" charset="0"/>
                <a:ea typeface="宋体" pitchFamily="2" charset="-122"/>
              </a:rPr>
              <a:t>αAbβ</a:t>
            </a:r>
            <a:r>
              <a:rPr lang="en-US" altLang="zh-CN" dirty="0">
                <a:latin typeface="Times New Roman" pitchFamily="18" charset="0"/>
                <a:ea typeface="宋体" pitchFamily="2" charset="-122"/>
              </a:rPr>
              <a:t>, </a:t>
            </a:r>
            <a:r>
              <a:rPr lang="en-US" altLang="zh-CN" i="1" dirty="0" err="1">
                <a:latin typeface="Times New Roman" pitchFamily="18" charset="0"/>
                <a:ea typeface="宋体" pitchFamily="2" charset="-122"/>
              </a:rPr>
              <a:t>a</a:t>
            </a:r>
            <a:r>
              <a:rPr lang="en-US" altLang="zh-CN" dirty="0" err="1">
                <a:latin typeface="Times New Roman" pitchFamily="18" charset="0"/>
                <a:ea typeface="宋体" pitchFamily="2" charset="-122"/>
                <a:sym typeface="Symbol" pitchFamily="18" charset="2"/>
              </a:rPr>
              <a:t></a:t>
            </a:r>
            <a:r>
              <a:rPr lang="en-US" altLang="zh-CN" i="1" dirty="0" err="1">
                <a:latin typeface="Times New Roman" pitchFamily="18" charset="0"/>
                <a:ea typeface="宋体" pitchFamily="2" charset="-122"/>
              </a:rPr>
              <a:t>T</a:t>
            </a:r>
            <a:r>
              <a:rPr lang="en-US" altLang="zh-CN" dirty="0">
                <a:latin typeface="Times New Roman" pitchFamily="18" charset="0"/>
                <a:ea typeface="宋体" pitchFamily="2" charset="-122"/>
              </a:rPr>
              <a:t>, </a:t>
            </a:r>
            <a:r>
              <a:rPr lang="en-US" altLang="zh-CN" i="1" dirty="0" err="1">
                <a:latin typeface="Times New Roman" pitchFamily="18" charset="0"/>
                <a:ea typeface="宋体" pitchFamily="2" charset="-122"/>
              </a:rPr>
              <a:t>α</a:t>
            </a:r>
            <a:r>
              <a:rPr lang="en-US" altLang="zh-CN" dirty="0" err="1">
                <a:latin typeface="Times New Roman" pitchFamily="18" charset="0"/>
                <a:ea typeface="宋体" pitchFamily="2" charset="-122"/>
              </a:rPr>
              <a:t>,</a:t>
            </a:r>
            <a:r>
              <a:rPr lang="en-US" altLang="zh-CN" i="1" dirty="0" err="1">
                <a:latin typeface="Times New Roman" pitchFamily="18" charset="0"/>
                <a:ea typeface="宋体" pitchFamily="2" charset="-122"/>
              </a:rPr>
              <a:t>β</a:t>
            </a:r>
            <a:r>
              <a:rPr lang="en-US" altLang="zh-CN" dirty="0">
                <a:latin typeface="Times New Roman" pitchFamily="18" charset="0"/>
                <a:ea typeface="宋体" pitchFamily="2" charset="-122"/>
                <a:sym typeface="Symbol" pitchFamily="18" charset="2"/>
              </a:rPr>
              <a:t></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V</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T</a:t>
            </a:r>
            <a:r>
              <a:rPr lang="en-US" altLang="zh-CN" dirty="0">
                <a:latin typeface="Times New Roman" pitchFamily="18" charset="0"/>
                <a:ea typeface="宋体" pitchFamily="2" charset="-122"/>
              </a:rPr>
              <a:t>)*}</a:t>
            </a:r>
          </a:p>
          <a:p>
            <a:pPr marL="812800" indent="-812800">
              <a:buNone/>
              <a:defRPr/>
            </a:pPr>
            <a:r>
              <a:rPr lang="en-US" altLang="zh-CN" dirty="0">
                <a:latin typeface="Times New Roman" pitchFamily="18" charset="0"/>
              </a:rPr>
              <a:t>2. </a:t>
            </a:r>
            <a:r>
              <a:rPr lang="zh-CN" altLang="en-US" dirty="0">
                <a:latin typeface="Times New Roman" pitchFamily="18" charset="0"/>
              </a:rPr>
              <a:t>如果</a:t>
            </a:r>
            <a:r>
              <a:rPr lang="en-US" altLang="zh-CN" i="1" dirty="0">
                <a:latin typeface="Times New Roman" pitchFamily="18" charset="0"/>
              </a:rPr>
              <a:t>A</a:t>
            </a:r>
            <a:r>
              <a:rPr lang="zh-CN" altLang="en-US" dirty="0">
                <a:latin typeface="Times New Roman" pitchFamily="18" charset="0"/>
              </a:rPr>
              <a:t>是某个句型的最右符号，则将结束符</a:t>
            </a:r>
            <a:r>
              <a:rPr lang="en-US" altLang="zh-CN" dirty="0">
                <a:latin typeface="Times New Roman" pitchFamily="18" charset="0"/>
              </a:rPr>
              <a:t>#</a:t>
            </a:r>
          </a:p>
          <a:p>
            <a:pPr marL="812800" indent="-812800">
              <a:buNone/>
              <a:defRPr/>
            </a:pPr>
            <a:r>
              <a:rPr lang="zh-CN" altLang="en-US" dirty="0">
                <a:latin typeface="Times New Roman" pitchFamily="18" charset="0"/>
              </a:rPr>
              <a:t>添加到</a:t>
            </a:r>
            <a:r>
              <a:rPr lang="en-US" altLang="zh-CN" dirty="0">
                <a:latin typeface="Times New Roman" pitchFamily="18" charset="0"/>
              </a:rPr>
              <a:t>FOLLOW(</a:t>
            </a:r>
            <a:r>
              <a:rPr lang="en-US" altLang="zh-CN" i="1" dirty="0">
                <a:latin typeface="Times New Roman" pitchFamily="18" charset="0"/>
              </a:rPr>
              <a:t>A</a:t>
            </a:r>
            <a:r>
              <a:rPr lang="en-US" altLang="zh-CN" dirty="0">
                <a:latin typeface="Times New Roman" pitchFamily="18" charset="0"/>
              </a:rPr>
              <a:t>)</a:t>
            </a:r>
            <a:r>
              <a:rPr lang="zh-CN" altLang="en-US" dirty="0">
                <a:latin typeface="Times New Roman" pitchFamily="18" charset="0"/>
              </a:rPr>
              <a:t>中</a:t>
            </a:r>
          </a:p>
          <a:p>
            <a:pPr marL="812800" indent="-812800">
              <a:buNone/>
              <a:defRPr/>
            </a:pPr>
            <a:r>
              <a:rPr lang="zh-CN" altLang="en-US" dirty="0">
                <a:solidFill>
                  <a:srgbClr val="0000FF"/>
                </a:solidFill>
                <a:latin typeface="Times New Roman" pitchFamily="18" charset="0"/>
              </a:rPr>
              <a:t>用途：</a:t>
            </a:r>
            <a:endParaRPr lang="en-US" altLang="zh-CN" dirty="0">
              <a:solidFill>
                <a:srgbClr val="0000FF"/>
              </a:solidFill>
              <a:latin typeface="Times New Roman" pitchFamily="18" charset="0"/>
            </a:endParaRPr>
          </a:p>
          <a:p>
            <a:pPr marL="812800" indent="-812800">
              <a:buNone/>
              <a:defRPr/>
            </a:pPr>
            <a:r>
              <a:rPr lang="zh-CN" altLang="en-US" dirty="0">
                <a:latin typeface="Times New Roman" pitchFamily="18" charset="0"/>
              </a:rPr>
              <a:t>如果文法</a:t>
            </a:r>
            <a:r>
              <a:rPr lang="en-US" altLang="zh-CN" i="1" dirty="0">
                <a:latin typeface="Times New Roman" pitchFamily="18" charset="0"/>
              </a:rPr>
              <a:t>G</a:t>
            </a:r>
            <a:r>
              <a:rPr lang="zh-CN" altLang="en-US" dirty="0">
                <a:latin typeface="Times New Roman" pitchFamily="18" charset="0"/>
              </a:rPr>
              <a:t>中的所有</a:t>
            </a:r>
            <a:r>
              <a:rPr lang="en-US" altLang="zh-CN" i="1" dirty="0">
                <a:latin typeface="Times New Roman" pitchFamily="18" charset="0"/>
              </a:rPr>
              <a:t>A</a:t>
            </a:r>
            <a:r>
              <a:rPr lang="zh-CN" altLang="en-US" dirty="0">
                <a:latin typeface="Times New Roman" pitchFamily="18" charset="0"/>
              </a:rPr>
              <a:t>产生式为</a:t>
            </a:r>
            <a:r>
              <a:rPr lang="en-US" altLang="zh-CN" i="1" dirty="0">
                <a:latin typeface="Times New Roman" pitchFamily="18" charset="0"/>
              </a:rPr>
              <a:t>A</a:t>
            </a:r>
            <a:r>
              <a:rPr lang="en-US" altLang="zh-CN" dirty="0">
                <a:latin typeface="Times New Roman" pitchFamily="18" charset="0"/>
              </a:rPr>
              <a:t>→</a:t>
            </a:r>
            <a:r>
              <a:rPr lang="en-US" altLang="zh-CN" i="1" dirty="0">
                <a:latin typeface="Times New Roman" pitchFamily="18" charset="0"/>
              </a:rPr>
              <a:t>α</a:t>
            </a:r>
            <a:r>
              <a:rPr lang="en-US" altLang="zh-CN" baseline="-25000" dirty="0">
                <a:latin typeface="Times New Roman" pitchFamily="18" charset="0"/>
              </a:rPr>
              <a:t>1</a:t>
            </a:r>
            <a:r>
              <a:rPr lang="en-US" altLang="zh-CN" dirty="0">
                <a:latin typeface="Times New Roman" pitchFamily="18" charset="0"/>
              </a:rPr>
              <a:t>|</a:t>
            </a:r>
            <a:r>
              <a:rPr lang="en-US" altLang="zh-CN" i="1" dirty="0">
                <a:latin typeface="Times New Roman" pitchFamily="18" charset="0"/>
              </a:rPr>
              <a:t>α</a:t>
            </a:r>
            <a:r>
              <a:rPr lang="en-US" altLang="zh-CN" baseline="-25000" dirty="0">
                <a:latin typeface="Times New Roman" pitchFamily="18" charset="0"/>
              </a:rPr>
              <a:t>2</a:t>
            </a:r>
            <a:r>
              <a:rPr lang="en-US" altLang="zh-CN" dirty="0">
                <a:latin typeface="Times New Roman" pitchFamily="18" charset="0"/>
              </a:rPr>
              <a:t>|…|</a:t>
            </a:r>
            <a:r>
              <a:rPr lang="en-US" altLang="zh-CN" i="1" dirty="0" err="1">
                <a:latin typeface="Times New Roman" pitchFamily="18" charset="0"/>
              </a:rPr>
              <a:t>α</a:t>
            </a:r>
            <a:r>
              <a:rPr lang="en-US" altLang="zh-CN" i="1" baseline="-25000" dirty="0" err="1">
                <a:latin typeface="Times New Roman" pitchFamily="18" charset="0"/>
              </a:rPr>
              <a:t>m</a:t>
            </a:r>
            <a:r>
              <a:rPr lang="zh-CN" altLang="en-US" dirty="0">
                <a:latin typeface="Times New Roman" pitchFamily="18" charset="0"/>
              </a:rPr>
              <a:t>，</a:t>
            </a:r>
            <a:r>
              <a:rPr lang="en-US" altLang="zh-CN" i="1" dirty="0" err="1">
                <a:latin typeface="Times New Roman" pitchFamily="18" charset="0"/>
              </a:rPr>
              <a:t>α</a:t>
            </a:r>
            <a:r>
              <a:rPr lang="en-US" altLang="zh-CN" i="1" baseline="-25000" dirty="0" err="1">
                <a:latin typeface="Times New Roman" pitchFamily="18" charset="0"/>
              </a:rPr>
              <a:t>j</a:t>
            </a:r>
            <a:r>
              <a:rPr lang="en-US" altLang="zh-CN" i="1" dirty="0">
                <a:latin typeface="Times New Roman" pitchFamily="18" charset="0"/>
              </a:rPr>
              <a:t> </a:t>
            </a:r>
            <a:r>
              <a:rPr lang="zh-CN" altLang="en-US" i="1" dirty="0">
                <a:latin typeface="Times New Roman" pitchFamily="18" charset="0"/>
              </a:rPr>
              <a:t>   </a:t>
            </a:r>
            <a:r>
              <a:rPr lang="en-US" altLang="zh-CN" i="1" dirty="0">
                <a:latin typeface="Times New Roman" pitchFamily="18" charset="0"/>
              </a:rPr>
              <a:t>ε</a:t>
            </a:r>
            <a:r>
              <a:rPr lang="zh-CN" altLang="en-US" dirty="0">
                <a:latin typeface="Times New Roman" pitchFamily="18" charset="0"/>
              </a:rPr>
              <a:t>，</a:t>
            </a:r>
            <a:endParaRPr lang="en-US" altLang="zh-CN" dirty="0">
              <a:latin typeface="Times New Roman" pitchFamily="18" charset="0"/>
            </a:endParaRPr>
          </a:p>
          <a:p>
            <a:pPr marL="0" indent="0">
              <a:buNone/>
              <a:defRPr/>
            </a:pPr>
            <a:r>
              <a:rPr lang="zh-CN" altLang="en-US" dirty="0">
                <a:latin typeface="Times New Roman" pitchFamily="18" charset="0"/>
              </a:rPr>
              <a:t>则如果对</a:t>
            </a:r>
            <a:r>
              <a:rPr lang="zh-CN" altLang="en-US" dirty="0">
                <a:latin typeface="Times New Roman" pitchFamily="18" charset="0"/>
                <a:sym typeface="Symbol" pitchFamily="18" charset="2"/>
              </a:rPr>
              <a:t></a:t>
            </a:r>
            <a:r>
              <a:rPr lang="en-US" altLang="zh-CN" i="1" dirty="0" err="1">
                <a:latin typeface="Times New Roman" pitchFamily="18" charset="0"/>
              </a:rPr>
              <a:t>i</a:t>
            </a:r>
            <a:r>
              <a:rPr lang="en-US" altLang="zh-CN" dirty="0">
                <a:latin typeface="Times New Roman" pitchFamily="18" charset="0"/>
              </a:rPr>
              <a:t>(1</a:t>
            </a:r>
            <a:r>
              <a:rPr lang="en-US" altLang="zh-CN" dirty="0">
                <a:latin typeface="Times New Roman" pitchFamily="18" charset="0"/>
                <a:sym typeface="Symbol" pitchFamily="18" charset="2"/>
              </a:rPr>
              <a:t></a:t>
            </a:r>
            <a:r>
              <a:rPr lang="en-US" altLang="zh-CN" i="1" dirty="0">
                <a:latin typeface="Times New Roman" pitchFamily="18" charset="0"/>
              </a:rPr>
              <a:t>i</a:t>
            </a:r>
            <a:r>
              <a:rPr lang="en-US" altLang="zh-CN" dirty="0">
                <a:latin typeface="Times New Roman" pitchFamily="18" charset="0"/>
                <a:sym typeface="Symbol" pitchFamily="18" charset="2"/>
              </a:rPr>
              <a:t></a:t>
            </a:r>
            <a:r>
              <a:rPr lang="en-US" altLang="zh-CN" i="1" dirty="0">
                <a:latin typeface="Times New Roman" pitchFamily="18" charset="0"/>
              </a:rPr>
              <a:t>m</a:t>
            </a:r>
            <a:r>
              <a:rPr lang="en-US" altLang="zh-CN" dirty="0">
                <a:latin typeface="Times New Roman" pitchFamily="18" charset="0"/>
              </a:rPr>
              <a:t>, </a:t>
            </a:r>
            <a:r>
              <a:rPr lang="en-US" altLang="zh-CN" i="1" dirty="0" err="1">
                <a:latin typeface="Times New Roman" pitchFamily="18" charset="0"/>
              </a:rPr>
              <a:t>i</a:t>
            </a:r>
            <a:r>
              <a:rPr lang="en-US" altLang="zh-CN" dirty="0" err="1">
                <a:latin typeface="Times New Roman" pitchFamily="18" charset="0"/>
              </a:rPr>
              <a:t>≠</a:t>
            </a:r>
            <a:r>
              <a:rPr lang="en-US" altLang="zh-CN" i="1" dirty="0" err="1">
                <a:latin typeface="Times New Roman" pitchFamily="18" charset="0"/>
              </a:rPr>
              <a:t>j</a:t>
            </a:r>
            <a:r>
              <a:rPr lang="en-US" altLang="zh-CN" dirty="0">
                <a:latin typeface="Times New Roman" pitchFamily="18" charset="0"/>
              </a:rPr>
              <a:t>)</a:t>
            </a:r>
            <a:r>
              <a:rPr lang="zh-CN" altLang="en-US" dirty="0">
                <a:latin typeface="Times New Roman" pitchFamily="18" charset="0"/>
              </a:rPr>
              <a:t>，</a:t>
            </a:r>
            <a:r>
              <a:rPr lang="en-US" altLang="zh-CN" dirty="0">
                <a:latin typeface="Times New Roman" pitchFamily="18" charset="0"/>
              </a:rPr>
              <a:t>FIRST(</a:t>
            </a:r>
            <a:r>
              <a:rPr lang="en-US" altLang="zh-CN" i="1" dirty="0" err="1">
                <a:latin typeface="Times New Roman" pitchFamily="18" charset="0"/>
              </a:rPr>
              <a:t>α</a:t>
            </a:r>
            <a:r>
              <a:rPr lang="en-US" altLang="zh-CN" i="1" baseline="-25000" dirty="0" err="1">
                <a:latin typeface="Times New Roman" pitchFamily="18" charset="0"/>
              </a:rPr>
              <a:t>i</a:t>
            </a:r>
            <a:r>
              <a:rPr lang="en-US" altLang="zh-CN" dirty="0">
                <a:latin typeface="Times New Roman" pitchFamily="18" charset="0"/>
              </a:rPr>
              <a:t>) ∩FOLLOW(</a:t>
            </a:r>
            <a:r>
              <a:rPr lang="en-US" altLang="zh-CN" i="1" dirty="0">
                <a:latin typeface="Times New Roman" pitchFamily="18" charset="0"/>
              </a:rPr>
              <a:t>A</a:t>
            </a:r>
            <a:r>
              <a:rPr lang="en-US" altLang="zh-CN" dirty="0">
                <a:latin typeface="Times New Roman" pitchFamily="18" charset="0"/>
              </a:rPr>
              <a:t>)=</a:t>
            </a:r>
            <a:r>
              <a:rPr lang="en-US" altLang="zh-CN" dirty="0">
                <a:latin typeface="Times New Roman" pitchFamily="18" charset="0"/>
                <a:sym typeface="Symbol" pitchFamily="18" charset="2"/>
              </a:rPr>
              <a:t></a:t>
            </a:r>
            <a:r>
              <a:rPr lang="zh-CN" altLang="en-US" dirty="0">
                <a:latin typeface="Times New Roman" pitchFamily="18" charset="0"/>
              </a:rPr>
              <a:t>均成立，则可以对</a:t>
            </a:r>
            <a:r>
              <a:rPr lang="en-US" altLang="zh-CN" i="1" dirty="0">
                <a:latin typeface="Times New Roman" pitchFamily="18" charset="0"/>
              </a:rPr>
              <a:t>G</a:t>
            </a:r>
            <a:r>
              <a:rPr lang="zh-CN" altLang="en-US" dirty="0">
                <a:latin typeface="Times New Roman" pitchFamily="18" charset="0"/>
              </a:rPr>
              <a:t>的句子进行确定的自顶向下分析</a:t>
            </a:r>
            <a:r>
              <a:rPr lang="en-US" altLang="zh-CN" dirty="0">
                <a:latin typeface="Times New Roman" pitchFamily="18" charset="0"/>
              </a:rPr>
              <a:t>.</a:t>
            </a:r>
            <a:endParaRPr lang="zh-CN" altLang="en-US" dirty="0">
              <a:latin typeface="Times New Roman" pitchFamily="18" charset="0"/>
            </a:endParaRPr>
          </a:p>
        </p:txBody>
      </p:sp>
      <p:sp>
        <p:nvSpPr>
          <p:cNvPr id="6151" name="Rectangle 5">
            <a:extLst>
              <a:ext uri="{FF2B5EF4-FFF2-40B4-BE49-F238E27FC236}">
                <a16:creationId xmlns:a16="http://schemas.microsoft.com/office/drawing/2014/main" id="{5CE984C2-2CD9-4CC9-8601-CB504EE01982}"/>
              </a:ext>
            </a:extLst>
          </p:cNvPr>
          <p:cNvSpPr>
            <a:spLocks noChangeArrowheads="1"/>
          </p:cNvSpPr>
          <p:nvPr/>
        </p:nvSpPr>
        <p:spPr bwMode="auto">
          <a:xfrm>
            <a:off x="1524001" y="308386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en-US" sz="2400"/>
          </a:p>
        </p:txBody>
      </p:sp>
      <p:graphicFrame>
        <p:nvGraphicFramePr>
          <p:cNvPr id="6146" name="Object 4">
            <a:extLst>
              <a:ext uri="{FF2B5EF4-FFF2-40B4-BE49-F238E27FC236}">
                <a16:creationId xmlns:a16="http://schemas.microsoft.com/office/drawing/2014/main" id="{43C795F1-691A-4585-B987-AA54BDB80A75}"/>
              </a:ext>
            </a:extLst>
          </p:cNvPr>
          <p:cNvGraphicFramePr>
            <a:graphicFrameLocks/>
          </p:cNvGraphicFramePr>
          <p:nvPr>
            <p:extLst>
              <p:ext uri="{D42A27DB-BD31-4B8C-83A1-F6EECF244321}">
                <p14:modId xmlns:p14="http://schemas.microsoft.com/office/powerpoint/2010/main" val="184118201"/>
              </p:ext>
            </p:extLst>
          </p:nvPr>
        </p:nvGraphicFramePr>
        <p:xfrm>
          <a:off x="4451193" y="2867969"/>
          <a:ext cx="317500" cy="431800"/>
        </p:xfrm>
        <a:graphic>
          <a:graphicData uri="http://schemas.openxmlformats.org/presentationml/2006/ole">
            <mc:AlternateContent xmlns:mc="http://schemas.openxmlformats.org/markup-compatibility/2006">
              <mc:Choice xmlns:v="urn:schemas-microsoft-com:vml" Requires="v">
                <p:oleObj spid="_x0000_s2064" r:id="rId3" imgW="165028" imgH="228501" progId="Equation.DSMT4">
                  <p:embed/>
                </p:oleObj>
              </mc:Choice>
              <mc:Fallback>
                <p:oleObj r:id="rId3" imgW="165028" imgH="228501" progId="Equation.DSMT4">
                  <p:embed/>
                  <p:pic>
                    <p:nvPicPr>
                      <p:cNvPr id="6146" name="Object 4">
                        <a:extLst>
                          <a:ext uri="{FF2B5EF4-FFF2-40B4-BE49-F238E27FC236}">
                            <a16:creationId xmlns:a16="http://schemas.microsoft.com/office/drawing/2014/main" id="{43C795F1-691A-4585-B987-AA54BDB80A7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1193" y="2867969"/>
                        <a:ext cx="3175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52" name="Rectangle 9">
            <a:extLst>
              <a:ext uri="{FF2B5EF4-FFF2-40B4-BE49-F238E27FC236}">
                <a16:creationId xmlns:a16="http://schemas.microsoft.com/office/drawing/2014/main" id="{502990C9-0D50-420F-9D00-8531E508FC99}"/>
              </a:ext>
            </a:extLst>
          </p:cNvPr>
          <p:cNvSpPr>
            <a:spLocks noChangeArrowheads="1"/>
          </p:cNvSpPr>
          <p:nvPr/>
        </p:nvSpPr>
        <p:spPr bwMode="auto">
          <a:xfrm>
            <a:off x="1524001" y="308386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en-US" sz="2400"/>
          </a:p>
        </p:txBody>
      </p:sp>
      <p:graphicFrame>
        <p:nvGraphicFramePr>
          <p:cNvPr id="6147" name="Object 8">
            <a:extLst>
              <a:ext uri="{FF2B5EF4-FFF2-40B4-BE49-F238E27FC236}">
                <a16:creationId xmlns:a16="http://schemas.microsoft.com/office/drawing/2014/main" id="{C14F8ED4-9DA1-4401-B59D-F4FD156EC57F}"/>
              </a:ext>
            </a:extLst>
          </p:cNvPr>
          <p:cNvGraphicFramePr>
            <a:graphicFrameLocks/>
          </p:cNvGraphicFramePr>
          <p:nvPr>
            <p:extLst>
              <p:ext uri="{D42A27DB-BD31-4B8C-83A1-F6EECF244321}">
                <p14:modId xmlns:p14="http://schemas.microsoft.com/office/powerpoint/2010/main" val="1883927099"/>
              </p:ext>
            </p:extLst>
          </p:nvPr>
        </p:nvGraphicFramePr>
        <p:xfrm>
          <a:off x="8201200" y="4377123"/>
          <a:ext cx="369888" cy="503237"/>
        </p:xfrm>
        <a:graphic>
          <a:graphicData uri="http://schemas.openxmlformats.org/presentationml/2006/ole">
            <mc:AlternateContent xmlns:mc="http://schemas.openxmlformats.org/markup-compatibility/2006">
              <mc:Choice xmlns:v="urn:schemas-microsoft-com:vml" Requires="v">
                <p:oleObj spid="_x0000_s2065" r:id="rId5" imgW="165028" imgH="228501" progId="Equation.DSMT4">
                  <p:embed/>
                </p:oleObj>
              </mc:Choice>
              <mc:Fallback>
                <p:oleObj r:id="rId5" imgW="165028" imgH="228501" progId="Equation.DSMT4">
                  <p:embed/>
                  <p:pic>
                    <p:nvPicPr>
                      <p:cNvPr id="6147" name="Object 8">
                        <a:extLst>
                          <a:ext uri="{FF2B5EF4-FFF2-40B4-BE49-F238E27FC236}">
                            <a16:creationId xmlns:a16="http://schemas.microsoft.com/office/drawing/2014/main" id="{C14F8ED4-9DA1-4401-B59D-F4FD156EC57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1200" y="4377123"/>
                        <a:ext cx="36988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63715">
                                            <p:txEl>
                                              <p:pRg st="0" end="0"/>
                                            </p:txEl>
                                          </p:spTgt>
                                        </p:tgtEl>
                                        <p:attrNameLst>
                                          <p:attrName>style.visibility</p:attrName>
                                        </p:attrNameLst>
                                      </p:cBhvr>
                                      <p:to>
                                        <p:strVal val="visible"/>
                                      </p:to>
                                    </p:set>
                                    <p:animEffect transition="in" filter="slide(fromBottom)">
                                      <p:cBhvr>
                                        <p:cTn id="7" dur="500"/>
                                        <p:tgtEl>
                                          <p:spTgt spid="2163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163715">
                                            <p:txEl>
                                              <p:pRg st="1" end="1"/>
                                            </p:txEl>
                                          </p:spTgt>
                                        </p:tgtEl>
                                        <p:attrNameLst>
                                          <p:attrName>style.visibility</p:attrName>
                                        </p:attrNameLst>
                                      </p:cBhvr>
                                      <p:to>
                                        <p:strVal val="visible"/>
                                      </p:to>
                                    </p:set>
                                    <p:animEffect transition="in" filter="slide(fromBottom)">
                                      <p:cBhvr>
                                        <p:cTn id="12" dur="500"/>
                                        <p:tgtEl>
                                          <p:spTgt spid="21637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163715">
                                            <p:txEl>
                                              <p:pRg st="2" end="2"/>
                                            </p:txEl>
                                          </p:spTgt>
                                        </p:tgtEl>
                                        <p:attrNameLst>
                                          <p:attrName>style.visibility</p:attrName>
                                        </p:attrNameLst>
                                      </p:cBhvr>
                                      <p:to>
                                        <p:strVal val="visible"/>
                                      </p:to>
                                    </p:set>
                                    <p:animEffect transition="in" filter="slide(fromBottom)">
                                      <p:cBhvr>
                                        <p:cTn id="17" dur="500"/>
                                        <p:tgtEl>
                                          <p:spTgt spid="21637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163715">
                                            <p:txEl>
                                              <p:pRg st="3" end="3"/>
                                            </p:txEl>
                                          </p:spTgt>
                                        </p:tgtEl>
                                        <p:attrNameLst>
                                          <p:attrName>style.visibility</p:attrName>
                                        </p:attrNameLst>
                                      </p:cBhvr>
                                      <p:to>
                                        <p:strVal val="visible"/>
                                      </p:to>
                                    </p:set>
                                    <p:animEffect transition="in" filter="slide(fromBottom)">
                                      <p:cBhvr>
                                        <p:cTn id="22" dur="500"/>
                                        <p:tgtEl>
                                          <p:spTgt spid="21637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163715">
                                            <p:txEl>
                                              <p:pRg st="4" end="4"/>
                                            </p:txEl>
                                          </p:spTgt>
                                        </p:tgtEl>
                                        <p:attrNameLst>
                                          <p:attrName>style.visibility</p:attrName>
                                        </p:attrNameLst>
                                      </p:cBhvr>
                                      <p:to>
                                        <p:strVal val="visible"/>
                                      </p:to>
                                    </p:set>
                                    <p:animEffect transition="in" filter="slide(fromBottom)">
                                      <p:cBhvr>
                                        <p:cTn id="27" dur="500"/>
                                        <p:tgtEl>
                                          <p:spTgt spid="21637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163715">
                                            <p:txEl>
                                              <p:pRg st="5" end="5"/>
                                            </p:txEl>
                                          </p:spTgt>
                                        </p:tgtEl>
                                        <p:attrNameLst>
                                          <p:attrName>style.visibility</p:attrName>
                                        </p:attrNameLst>
                                      </p:cBhvr>
                                      <p:to>
                                        <p:strVal val="visible"/>
                                      </p:to>
                                    </p:set>
                                    <p:animEffect transition="in" filter="slide(fromBottom)">
                                      <p:cBhvr>
                                        <p:cTn id="32" dur="500"/>
                                        <p:tgtEl>
                                          <p:spTgt spid="21637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163715">
                                            <p:txEl>
                                              <p:pRg st="6" end="6"/>
                                            </p:txEl>
                                          </p:spTgt>
                                        </p:tgtEl>
                                        <p:attrNameLst>
                                          <p:attrName>style.visibility</p:attrName>
                                        </p:attrNameLst>
                                      </p:cBhvr>
                                      <p:to>
                                        <p:strVal val="visible"/>
                                      </p:to>
                                    </p:set>
                                    <p:animEffect transition="in" filter="slide(fromBottom)">
                                      <p:cBhvr>
                                        <p:cTn id="37" dur="500"/>
                                        <p:tgtEl>
                                          <p:spTgt spid="21637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163715">
                                            <p:txEl>
                                              <p:pRg st="7" end="7"/>
                                            </p:txEl>
                                          </p:spTgt>
                                        </p:tgtEl>
                                        <p:attrNameLst>
                                          <p:attrName>style.visibility</p:attrName>
                                        </p:attrNameLst>
                                      </p:cBhvr>
                                      <p:to>
                                        <p:strVal val="visible"/>
                                      </p:to>
                                    </p:set>
                                    <p:animEffect transition="in" filter="slide(fromBottom)">
                                      <p:cBhvr>
                                        <p:cTn id="42" dur="500"/>
                                        <p:tgtEl>
                                          <p:spTgt spid="216371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163715">
                                            <p:txEl>
                                              <p:pRg st="8" end="8"/>
                                            </p:txEl>
                                          </p:spTgt>
                                        </p:tgtEl>
                                        <p:attrNameLst>
                                          <p:attrName>style.visibility</p:attrName>
                                        </p:attrNameLst>
                                      </p:cBhvr>
                                      <p:to>
                                        <p:strVal val="visible"/>
                                      </p:to>
                                    </p:set>
                                    <p:animEffect transition="in" filter="slide(fromBottom)">
                                      <p:cBhvr>
                                        <p:cTn id="47" dur="500"/>
                                        <p:tgtEl>
                                          <p:spTgt spid="21637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37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93937FD-DBAB-4C40-B674-14008BC85116}"/>
              </a:ext>
            </a:extLst>
          </p:cNvPr>
          <p:cNvSpPr>
            <a:spLocks noGrp="1" noChangeArrowheads="1"/>
          </p:cNvSpPr>
          <p:nvPr>
            <p:ph type="title"/>
          </p:nvPr>
        </p:nvSpPr>
        <p:spPr/>
        <p:txBody>
          <a:bodyPr/>
          <a:lstStyle/>
          <a:p>
            <a:pPr eaLnBrk="1" hangingPunct="1"/>
            <a:r>
              <a:rPr lang="en-US" altLang="zh-CN"/>
              <a:t>FOLLOW</a:t>
            </a:r>
            <a:r>
              <a:rPr lang="zh-CN" altLang="en-US"/>
              <a:t>集的定义</a:t>
            </a:r>
          </a:p>
        </p:txBody>
      </p:sp>
      <p:sp>
        <p:nvSpPr>
          <p:cNvPr id="54275" name="Rectangle 3">
            <a:extLst>
              <a:ext uri="{FF2B5EF4-FFF2-40B4-BE49-F238E27FC236}">
                <a16:creationId xmlns:a16="http://schemas.microsoft.com/office/drawing/2014/main" id="{5F718BEC-00B7-484B-90EC-613C6E4CA1F2}"/>
              </a:ext>
            </a:extLst>
          </p:cNvPr>
          <p:cNvSpPr>
            <a:spLocks noGrp="1" noChangeArrowheads="1"/>
          </p:cNvSpPr>
          <p:nvPr>
            <p:ph type="body" idx="1"/>
          </p:nvPr>
        </p:nvSpPr>
        <p:spPr/>
        <p:txBody>
          <a:bodyPr/>
          <a:lstStyle/>
          <a:p>
            <a:pPr eaLnBrk="1" hangingPunct="1"/>
            <a:r>
              <a:rPr lang="zh-CN" altLang="en-US">
                <a:sym typeface="Symbol" panose="05050102010706020507" pitchFamily="18" charset="2"/>
              </a:rPr>
              <a:t>对非终结符</a:t>
            </a:r>
            <a:r>
              <a:rPr lang="en-US" altLang="zh-CN">
                <a:sym typeface="Symbol" panose="05050102010706020507" pitchFamily="18" charset="2"/>
              </a:rPr>
              <a:t>X</a:t>
            </a:r>
            <a:r>
              <a:rPr lang="zh-CN" altLang="en-US">
                <a:sym typeface="Symbol" panose="05050102010706020507" pitchFamily="18" charset="2"/>
              </a:rPr>
              <a:t>，</a:t>
            </a:r>
            <a:r>
              <a:rPr lang="en-US" altLang="zh-CN">
                <a:sym typeface="Symbol" panose="05050102010706020507" pitchFamily="18" charset="2"/>
              </a:rPr>
              <a:t>FOLLOW(X)={a|S#*Xa</a:t>
            </a:r>
            <a:r>
              <a:rPr lang="en-US" altLang="zh-CN">
                <a:ea typeface="方正舒体" panose="02010601030101010101" pitchFamily="2" charset="-122"/>
                <a:sym typeface="Symbol" panose="05050102010706020507" pitchFamily="18" charset="2"/>
              </a:rPr>
              <a:t>, </a:t>
            </a:r>
            <a:r>
              <a:rPr lang="zh-CN" altLang="en-US">
                <a:sym typeface="Symbol" panose="05050102010706020507" pitchFamily="18" charset="2"/>
              </a:rPr>
              <a:t>且</a:t>
            </a:r>
            <a:r>
              <a:rPr lang="en-US" altLang="zh-CN">
                <a:sym typeface="Symbol" panose="05050102010706020507" pitchFamily="18" charset="2"/>
              </a:rPr>
              <a:t>aV</a:t>
            </a:r>
            <a:r>
              <a:rPr lang="en-US" altLang="zh-CN" baseline="-25000">
                <a:sym typeface="Symbol" panose="05050102010706020507" pitchFamily="18" charset="2"/>
              </a:rPr>
              <a:t>T</a:t>
            </a:r>
            <a:r>
              <a:rPr lang="en-US" altLang="zh-CN">
                <a:sym typeface="Symbol" panose="05050102010706020507" pitchFamily="18" charset="2"/>
              </a:rPr>
              <a:t>{#}, </a:t>
            </a:r>
            <a:r>
              <a:rPr lang="en-US" altLang="zh-CN">
                <a:ea typeface="方正舒体" panose="02010601030101010101" pitchFamily="2" charset="-122"/>
                <a:sym typeface="Symbol" panose="05050102010706020507" pitchFamily="18" charset="2"/>
              </a:rPr>
              <a:t>, V</a:t>
            </a:r>
            <a:r>
              <a:rPr lang="en-US" altLang="zh-CN" baseline="30000">
                <a:ea typeface="方正舒体" panose="02010601030101010101" pitchFamily="2" charset="-122"/>
                <a:sym typeface="Symbol" panose="05050102010706020507" pitchFamily="18" charset="2"/>
              </a:rPr>
              <a:t>*</a:t>
            </a:r>
            <a:r>
              <a:rPr lang="en-US" altLang="zh-CN">
                <a:ea typeface="方正舒体" panose="02010601030101010101" pitchFamily="2" charset="-122"/>
                <a:sym typeface="Symbol" panose="05050102010706020507" pitchFamily="18" charset="2"/>
              </a:rPr>
              <a:t>},</a:t>
            </a:r>
            <a:r>
              <a:rPr lang="en-US" altLang="zh-CN">
                <a:sym typeface="Symbol" panose="05050102010706020507" pitchFamily="18" charset="2"/>
              </a:rPr>
              <a:t> </a:t>
            </a:r>
            <a:r>
              <a:rPr lang="zh-CN" altLang="en-US">
                <a:sym typeface="Symbol" panose="05050102010706020507" pitchFamily="18" charset="2"/>
              </a:rPr>
              <a:t>即</a:t>
            </a:r>
            <a:r>
              <a:rPr lang="en-US" altLang="zh-CN">
                <a:sym typeface="Symbol" panose="05050102010706020507" pitchFamily="18" charset="2"/>
              </a:rPr>
              <a:t>FOLLOW(X)</a:t>
            </a:r>
            <a:r>
              <a:rPr lang="zh-CN" altLang="en-US">
                <a:sym typeface="Symbol" panose="05050102010706020507" pitchFamily="18" charset="2"/>
              </a:rPr>
              <a:t>由语言中可能出现在</a:t>
            </a:r>
            <a:r>
              <a:rPr lang="en-US" altLang="zh-CN">
                <a:sym typeface="Symbol" panose="05050102010706020507" pitchFamily="18" charset="2"/>
              </a:rPr>
              <a:t>X</a:t>
            </a:r>
            <a:r>
              <a:rPr lang="zh-CN" altLang="en-US">
                <a:sym typeface="Symbol" panose="05050102010706020507" pitchFamily="18" charset="2"/>
              </a:rPr>
              <a:t>后面的终结符组成。</a:t>
            </a:r>
          </a:p>
          <a:p>
            <a:pPr eaLnBrk="1" hangingPunct="1"/>
            <a:endParaRPr lang="en-US" altLang="zh-CN"/>
          </a:p>
        </p:txBody>
      </p:sp>
      <p:grpSp>
        <p:nvGrpSpPr>
          <p:cNvPr id="2" name="Group 4">
            <a:extLst>
              <a:ext uri="{FF2B5EF4-FFF2-40B4-BE49-F238E27FC236}">
                <a16:creationId xmlns:a16="http://schemas.microsoft.com/office/drawing/2014/main" id="{E4AA0758-B4DC-48DB-9B93-888538A3CE5A}"/>
              </a:ext>
            </a:extLst>
          </p:cNvPr>
          <p:cNvGrpSpPr>
            <a:grpSpLocks/>
          </p:cNvGrpSpPr>
          <p:nvPr/>
        </p:nvGrpSpPr>
        <p:grpSpPr bwMode="auto">
          <a:xfrm>
            <a:off x="2209801" y="3657600"/>
            <a:ext cx="1827213" cy="1371600"/>
            <a:chOff x="432" y="2448"/>
            <a:chExt cx="1151" cy="864"/>
          </a:xfrm>
        </p:grpSpPr>
        <p:sp>
          <p:nvSpPr>
            <p:cNvPr id="54298" name="Rectangle 5">
              <a:extLst>
                <a:ext uri="{FF2B5EF4-FFF2-40B4-BE49-F238E27FC236}">
                  <a16:creationId xmlns:a16="http://schemas.microsoft.com/office/drawing/2014/main" id="{7974762A-94F3-4BA1-8CF2-62081C95ED26}"/>
                </a:ext>
              </a:extLst>
            </p:cNvPr>
            <p:cNvSpPr>
              <a:spLocks noChangeArrowheads="1"/>
            </p:cNvSpPr>
            <p:nvPr/>
          </p:nvSpPr>
          <p:spPr bwMode="auto">
            <a:xfrm>
              <a:off x="1045" y="3030"/>
              <a:ext cx="189" cy="216"/>
            </a:xfrm>
            <a:prstGeom prst="rect">
              <a:avLst/>
            </a:prstGeom>
            <a:solidFill>
              <a:schemeClr val="accent1"/>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b="1"/>
                <a:t>a</a:t>
              </a:r>
              <a:endParaRPr lang="en-US" altLang="zh-CN" sz="2800" b="1" baseline="-25000"/>
            </a:p>
          </p:txBody>
        </p:sp>
        <p:sp>
          <p:nvSpPr>
            <p:cNvPr id="54299" name="Rectangle 6">
              <a:extLst>
                <a:ext uri="{FF2B5EF4-FFF2-40B4-BE49-F238E27FC236}">
                  <a16:creationId xmlns:a16="http://schemas.microsoft.com/office/drawing/2014/main" id="{D8FB028C-62B1-4C0A-B1F1-46BD9804743D}"/>
                </a:ext>
              </a:extLst>
            </p:cNvPr>
            <p:cNvSpPr>
              <a:spLocks noChangeArrowheads="1"/>
            </p:cNvSpPr>
            <p:nvPr/>
          </p:nvSpPr>
          <p:spPr bwMode="auto">
            <a:xfrm>
              <a:off x="432" y="2973"/>
              <a:ext cx="1151" cy="3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b="1">
                  <a:sym typeface="Symbol" panose="05050102010706020507" pitchFamily="18" charset="2"/>
                </a:rPr>
                <a:t>  </a:t>
              </a:r>
              <a:r>
                <a:rPr lang="en-US" altLang="zh-CN" sz="2800" b="1">
                  <a:solidFill>
                    <a:srgbClr val="0000CC"/>
                  </a:solidFill>
                  <a:sym typeface="Symbol" panose="05050102010706020507" pitchFamily="18" charset="2"/>
                </a:rPr>
                <a:t>X</a:t>
              </a:r>
              <a:r>
                <a:rPr lang="en-US" altLang="zh-CN" sz="2800" b="1">
                  <a:sym typeface="Symbol" panose="05050102010706020507" pitchFamily="18" charset="2"/>
                </a:rPr>
                <a:t>         </a:t>
              </a:r>
            </a:p>
          </p:txBody>
        </p:sp>
        <p:sp>
          <p:nvSpPr>
            <p:cNvPr id="54300" name="Line 7">
              <a:extLst>
                <a:ext uri="{FF2B5EF4-FFF2-40B4-BE49-F238E27FC236}">
                  <a16:creationId xmlns:a16="http://schemas.microsoft.com/office/drawing/2014/main" id="{BCA6A210-77FC-41C8-8B2C-C449BD24677E}"/>
                </a:ext>
              </a:extLst>
            </p:cNvPr>
            <p:cNvSpPr>
              <a:spLocks noChangeShapeType="1"/>
            </p:cNvSpPr>
            <p:nvPr/>
          </p:nvSpPr>
          <p:spPr bwMode="auto">
            <a:xfrm>
              <a:off x="721" y="295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1" name="Line 8">
              <a:extLst>
                <a:ext uri="{FF2B5EF4-FFF2-40B4-BE49-F238E27FC236}">
                  <a16:creationId xmlns:a16="http://schemas.microsoft.com/office/drawing/2014/main" id="{AE2CA67D-A14D-4CE3-989E-9B2DA2BADB18}"/>
                </a:ext>
              </a:extLst>
            </p:cNvPr>
            <p:cNvSpPr>
              <a:spLocks noChangeShapeType="1"/>
            </p:cNvSpPr>
            <p:nvPr/>
          </p:nvSpPr>
          <p:spPr bwMode="auto">
            <a:xfrm>
              <a:off x="1006" y="2967"/>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2" name="Line 9">
              <a:extLst>
                <a:ext uri="{FF2B5EF4-FFF2-40B4-BE49-F238E27FC236}">
                  <a16:creationId xmlns:a16="http://schemas.microsoft.com/office/drawing/2014/main" id="{8216B323-B627-4A87-9F01-83AE93F7D2E3}"/>
                </a:ext>
              </a:extLst>
            </p:cNvPr>
            <p:cNvSpPr>
              <a:spLocks noChangeShapeType="1"/>
            </p:cNvSpPr>
            <p:nvPr/>
          </p:nvSpPr>
          <p:spPr bwMode="auto">
            <a:xfrm flipH="1">
              <a:off x="438" y="2718"/>
              <a:ext cx="466" cy="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3" name="Line 10">
              <a:extLst>
                <a:ext uri="{FF2B5EF4-FFF2-40B4-BE49-F238E27FC236}">
                  <a16:creationId xmlns:a16="http://schemas.microsoft.com/office/drawing/2014/main" id="{429EA91B-8C9D-43BB-9C60-680D57395B1C}"/>
                </a:ext>
              </a:extLst>
            </p:cNvPr>
            <p:cNvSpPr>
              <a:spLocks noChangeShapeType="1"/>
            </p:cNvSpPr>
            <p:nvPr/>
          </p:nvSpPr>
          <p:spPr bwMode="auto">
            <a:xfrm>
              <a:off x="1167" y="2718"/>
              <a:ext cx="40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4" name="Text Box 11">
              <a:extLst>
                <a:ext uri="{FF2B5EF4-FFF2-40B4-BE49-F238E27FC236}">
                  <a16:creationId xmlns:a16="http://schemas.microsoft.com/office/drawing/2014/main" id="{AA3F8740-F240-4816-99AE-F11635ACD9B9}"/>
                </a:ext>
              </a:extLst>
            </p:cNvPr>
            <p:cNvSpPr txBox="1">
              <a:spLocks noChangeArrowheads="1"/>
            </p:cNvSpPr>
            <p:nvPr/>
          </p:nvSpPr>
          <p:spPr bwMode="auto">
            <a:xfrm>
              <a:off x="908" y="2448"/>
              <a:ext cx="258"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b="1">
                  <a:latin typeface="Verdana" panose="020B0604030504040204" pitchFamily="34" charset="0"/>
                </a:rPr>
                <a:t>S</a:t>
              </a:r>
            </a:p>
          </p:txBody>
        </p:sp>
      </p:grpSp>
      <p:grpSp>
        <p:nvGrpSpPr>
          <p:cNvPr id="3" name="Group 12">
            <a:extLst>
              <a:ext uri="{FF2B5EF4-FFF2-40B4-BE49-F238E27FC236}">
                <a16:creationId xmlns:a16="http://schemas.microsoft.com/office/drawing/2014/main" id="{9389DDBF-7D11-4781-96E1-68B8F5E1D8A1}"/>
              </a:ext>
            </a:extLst>
          </p:cNvPr>
          <p:cNvGrpSpPr>
            <a:grpSpLocks/>
          </p:cNvGrpSpPr>
          <p:nvPr/>
        </p:nvGrpSpPr>
        <p:grpSpPr bwMode="auto">
          <a:xfrm>
            <a:off x="4876801" y="3679826"/>
            <a:ext cx="1992313" cy="1273175"/>
            <a:chOff x="3698" y="2176"/>
            <a:chExt cx="1255" cy="802"/>
          </a:xfrm>
        </p:grpSpPr>
        <p:sp>
          <p:nvSpPr>
            <p:cNvPr id="54288" name="Rectangle 13">
              <a:extLst>
                <a:ext uri="{FF2B5EF4-FFF2-40B4-BE49-F238E27FC236}">
                  <a16:creationId xmlns:a16="http://schemas.microsoft.com/office/drawing/2014/main" id="{1CF6CF5E-5F24-4CBA-ABA2-4659BA0A8DBB}"/>
                </a:ext>
              </a:extLst>
            </p:cNvPr>
            <p:cNvSpPr>
              <a:spLocks noChangeArrowheads="1"/>
            </p:cNvSpPr>
            <p:nvPr/>
          </p:nvSpPr>
          <p:spPr bwMode="auto">
            <a:xfrm>
              <a:off x="4425" y="2641"/>
              <a:ext cx="296" cy="3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zh-CN" sz="2800" b="1" baseline="-25000"/>
            </a:p>
          </p:txBody>
        </p:sp>
        <p:sp>
          <p:nvSpPr>
            <p:cNvPr id="54289" name="Rectangle 14">
              <a:extLst>
                <a:ext uri="{FF2B5EF4-FFF2-40B4-BE49-F238E27FC236}">
                  <a16:creationId xmlns:a16="http://schemas.microsoft.com/office/drawing/2014/main" id="{FA158EA8-B426-4BAC-AD4A-5FE7FE9F0565}"/>
                </a:ext>
              </a:extLst>
            </p:cNvPr>
            <p:cNvSpPr>
              <a:spLocks noChangeArrowheads="1"/>
            </p:cNvSpPr>
            <p:nvPr/>
          </p:nvSpPr>
          <p:spPr bwMode="auto">
            <a:xfrm>
              <a:off x="3698" y="2634"/>
              <a:ext cx="1031" cy="3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b="1">
                  <a:sym typeface="Symbol" panose="05050102010706020507" pitchFamily="18" charset="2"/>
                </a:rPr>
                <a:t>    </a:t>
              </a:r>
              <a:r>
                <a:rPr lang="en-US" altLang="zh-CN" sz="2800" b="1">
                  <a:solidFill>
                    <a:srgbClr val="0000CC"/>
                  </a:solidFill>
                  <a:sym typeface="Symbol" panose="05050102010706020507" pitchFamily="18" charset="2"/>
                </a:rPr>
                <a:t>X</a:t>
              </a:r>
              <a:r>
                <a:rPr lang="en-US" altLang="zh-CN" sz="2800" b="1">
                  <a:sym typeface="Symbol" panose="05050102010706020507" pitchFamily="18" charset="2"/>
                </a:rPr>
                <a:t>   </a:t>
              </a:r>
            </a:p>
          </p:txBody>
        </p:sp>
        <p:sp>
          <p:nvSpPr>
            <p:cNvPr id="54290" name="Line 15">
              <a:extLst>
                <a:ext uri="{FF2B5EF4-FFF2-40B4-BE49-F238E27FC236}">
                  <a16:creationId xmlns:a16="http://schemas.microsoft.com/office/drawing/2014/main" id="{95E5855D-0A74-48B6-B8EA-06BAD8A3CAC8}"/>
                </a:ext>
              </a:extLst>
            </p:cNvPr>
            <p:cNvSpPr>
              <a:spLocks noChangeShapeType="1"/>
            </p:cNvSpPr>
            <p:nvPr/>
          </p:nvSpPr>
          <p:spPr bwMode="auto">
            <a:xfrm>
              <a:off x="4065" y="2633"/>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1" name="Line 16">
              <a:extLst>
                <a:ext uri="{FF2B5EF4-FFF2-40B4-BE49-F238E27FC236}">
                  <a16:creationId xmlns:a16="http://schemas.microsoft.com/office/drawing/2014/main" id="{6DE921DA-5CEA-46C1-98F5-41EC05CF5853}"/>
                </a:ext>
              </a:extLst>
            </p:cNvPr>
            <p:cNvSpPr>
              <a:spLocks noChangeShapeType="1"/>
            </p:cNvSpPr>
            <p:nvPr/>
          </p:nvSpPr>
          <p:spPr bwMode="auto">
            <a:xfrm>
              <a:off x="4426" y="264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2" name="Line 17">
              <a:extLst>
                <a:ext uri="{FF2B5EF4-FFF2-40B4-BE49-F238E27FC236}">
                  <a16:creationId xmlns:a16="http://schemas.microsoft.com/office/drawing/2014/main" id="{EA3414BA-6E7F-4BA3-9025-6867F678788B}"/>
                </a:ext>
              </a:extLst>
            </p:cNvPr>
            <p:cNvSpPr>
              <a:spLocks noChangeShapeType="1"/>
            </p:cNvSpPr>
            <p:nvPr/>
          </p:nvSpPr>
          <p:spPr bwMode="auto">
            <a:xfrm flipH="1">
              <a:off x="3704" y="2448"/>
              <a:ext cx="424"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3" name="Line 18">
              <a:extLst>
                <a:ext uri="{FF2B5EF4-FFF2-40B4-BE49-F238E27FC236}">
                  <a16:creationId xmlns:a16="http://schemas.microsoft.com/office/drawing/2014/main" id="{A911A31C-A362-432C-BE9F-4FD36C95B18A}"/>
                </a:ext>
              </a:extLst>
            </p:cNvPr>
            <p:cNvSpPr>
              <a:spLocks noChangeShapeType="1"/>
            </p:cNvSpPr>
            <p:nvPr/>
          </p:nvSpPr>
          <p:spPr bwMode="auto">
            <a:xfrm>
              <a:off x="4360" y="2456"/>
              <a:ext cx="376"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4" name="Text Box 19">
              <a:extLst>
                <a:ext uri="{FF2B5EF4-FFF2-40B4-BE49-F238E27FC236}">
                  <a16:creationId xmlns:a16="http://schemas.microsoft.com/office/drawing/2014/main" id="{D20A5A2A-14B5-4AE2-B633-C6DE9F76BFD5}"/>
                </a:ext>
              </a:extLst>
            </p:cNvPr>
            <p:cNvSpPr txBox="1">
              <a:spLocks noChangeArrowheads="1"/>
            </p:cNvSpPr>
            <p:nvPr/>
          </p:nvSpPr>
          <p:spPr bwMode="auto">
            <a:xfrm>
              <a:off x="4360" y="2176"/>
              <a:ext cx="200" cy="275"/>
            </a:xfrm>
            <a:prstGeom prst="rect">
              <a:avLst/>
            </a:prstGeom>
            <a:solidFill>
              <a:schemeClr val="accent1"/>
            </a:solidFill>
            <a:ln w="9525">
              <a:solidFill>
                <a:schemeClr val="tx1"/>
              </a:solidFill>
              <a:miter lim="800000"/>
              <a:headEnd/>
              <a:tailEnd/>
            </a:ln>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a:t>#</a:t>
              </a:r>
            </a:p>
          </p:txBody>
        </p:sp>
        <p:sp>
          <p:nvSpPr>
            <p:cNvPr id="54295" name="Text Box 20">
              <a:extLst>
                <a:ext uri="{FF2B5EF4-FFF2-40B4-BE49-F238E27FC236}">
                  <a16:creationId xmlns:a16="http://schemas.microsoft.com/office/drawing/2014/main" id="{593B2677-B549-44B6-AAC4-9396CE55299C}"/>
                </a:ext>
              </a:extLst>
            </p:cNvPr>
            <p:cNvSpPr txBox="1">
              <a:spLocks noChangeArrowheads="1"/>
            </p:cNvSpPr>
            <p:nvPr/>
          </p:nvSpPr>
          <p:spPr bwMode="auto">
            <a:xfrm>
              <a:off x="4753" y="2665"/>
              <a:ext cx="200" cy="275"/>
            </a:xfrm>
            <a:prstGeom prst="rect">
              <a:avLst/>
            </a:prstGeom>
            <a:solidFill>
              <a:schemeClr val="accent1"/>
            </a:solidFill>
            <a:ln w="9525">
              <a:solidFill>
                <a:schemeClr val="tx1"/>
              </a:solidFill>
              <a:miter lim="800000"/>
              <a:headEnd/>
              <a:tailEnd/>
            </a:ln>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a:t>#</a:t>
              </a:r>
            </a:p>
          </p:txBody>
        </p:sp>
        <p:sp>
          <p:nvSpPr>
            <p:cNvPr id="54296" name="Freeform 21">
              <a:extLst>
                <a:ext uri="{FF2B5EF4-FFF2-40B4-BE49-F238E27FC236}">
                  <a16:creationId xmlns:a16="http://schemas.microsoft.com/office/drawing/2014/main" id="{ED9859B5-7455-4FBC-8040-05633D187837}"/>
                </a:ext>
              </a:extLst>
            </p:cNvPr>
            <p:cNvSpPr>
              <a:spLocks/>
            </p:cNvSpPr>
            <p:nvPr/>
          </p:nvSpPr>
          <p:spPr bwMode="auto">
            <a:xfrm>
              <a:off x="4600" y="2328"/>
              <a:ext cx="272" cy="336"/>
            </a:xfrm>
            <a:custGeom>
              <a:avLst/>
              <a:gdLst>
                <a:gd name="T0" fmla="*/ 0 w 272"/>
                <a:gd name="T1" fmla="*/ 0 h 336"/>
                <a:gd name="T2" fmla="*/ 168 w 272"/>
                <a:gd name="T3" fmla="*/ 96 h 336"/>
                <a:gd name="T4" fmla="*/ 272 w 272"/>
                <a:gd name="T5" fmla="*/ 336 h 336"/>
                <a:gd name="T6" fmla="*/ 0 60000 65536"/>
                <a:gd name="T7" fmla="*/ 0 60000 65536"/>
                <a:gd name="T8" fmla="*/ 0 60000 65536"/>
                <a:gd name="T9" fmla="*/ 0 w 272"/>
                <a:gd name="T10" fmla="*/ 0 h 336"/>
                <a:gd name="T11" fmla="*/ 272 w 272"/>
                <a:gd name="T12" fmla="*/ 336 h 336"/>
              </a:gdLst>
              <a:ahLst/>
              <a:cxnLst>
                <a:cxn ang="T6">
                  <a:pos x="T0" y="T1"/>
                </a:cxn>
                <a:cxn ang="T7">
                  <a:pos x="T2" y="T3"/>
                </a:cxn>
                <a:cxn ang="T8">
                  <a:pos x="T4" y="T5"/>
                </a:cxn>
              </a:cxnLst>
              <a:rect l="T9" t="T10" r="T11" b="T12"/>
              <a:pathLst>
                <a:path w="272" h="336">
                  <a:moveTo>
                    <a:pt x="0" y="0"/>
                  </a:moveTo>
                  <a:cubicBezTo>
                    <a:pt x="61" y="20"/>
                    <a:pt x="123" y="40"/>
                    <a:pt x="168" y="96"/>
                  </a:cubicBezTo>
                  <a:cubicBezTo>
                    <a:pt x="213" y="152"/>
                    <a:pt x="242" y="244"/>
                    <a:pt x="272" y="336"/>
                  </a:cubicBezTo>
                </a:path>
              </a:pathLst>
            </a:custGeom>
            <a:noFill/>
            <a:ln w="9525" cap="flat">
              <a:solidFill>
                <a:schemeClr val="tx1"/>
              </a:solidFill>
              <a:prstDash val="lgDash"/>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97" name="Text Box 22">
              <a:extLst>
                <a:ext uri="{FF2B5EF4-FFF2-40B4-BE49-F238E27FC236}">
                  <a16:creationId xmlns:a16="http://schemas.microsoft.com/office/drawing/2014/main" id="{DE006C98-2C54-4BCD-93D0-49F1FD666096}"/>
                </a:ext>
              </a:extLst>
            </p:cNvPr>
            <p:cNvSpPr txBox="1">
              <a:spLocks noChangeArrowheads="1"/>
            </p:cNvSpPr>
            <p:nvPr/>
          </p:nvSpPr>
          <p:spPr bwMode="auto">
            <a:xfrm>
              <a:off x="4102" y="2179"/>
              <a:ext cx="258"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b="1">
                  <a:latin typeface="Verdana" panose="020B0604030504040204" pitchFamily="34" charset="0"/>
                </a:rPr>
                <a:t>S</a:t>
              </a:r>
            </a:p>
          </p:txBody>
        </p:sp>
      </p:grpSp>
      <p:grpSp>
        <p:nvGrpSpPr>
          <p:cNvPr id="4" name="Group 23">
            <a:extLst>
              <a:ext uri="{FF2B5EF4-FFF2-40B4-BE49-F238E27FC236}">
                <a16:creationId xmlns:a16="http://schemas.microsoft.com/office/drawing/2014/main" id="{40C19342-AB78-4EDE-AD8E-F75361072F80}"/>
              </a:ext>
            </a:extLst>
          </p:cNvPr>
          <p:cNvGrpSpPr>
            <a:grpSpLocks/>
          </p:cNvGrpSpPr>
          <p:nvPr/>
        </p:nvGrpSpPr>
        <p:grpSpPr bwMode="auto">
          <a:xfrm>
            <a:off x="7680326" y="3933826"/>
            <a:ext cx="1584325" cy="1273175"/>
            <a:chOff x="3843" y="3073"/>
            <a:chExt cx="998" cy="802"/>
          </a:xfrm>
        </p:grpSpPr>
        <p:sp>
          <p:nvSpPr>
            <p:cNvPr id="54279" name="Rectangle 24">
              <a:extLst>
                <a:ext uri="{FF2B5EF4-FFF2-40B4-BE49-F238E27FC236}">
                  <a16:creationId xmlns:a16="http://schemas.microsoft.com/office/drawing/2014/main" id="{BA251FA1-9D98-448C-AD4D-32552634E3DD}"/>
                </a:ext>
              </a:extLst>
            </p:cNvPr>
            <p:cNvSpPr>
              <a:spLocks noChangeArrowheads="1"/>
            </p:cNvSpPr>
            <p:nvPr/>
          </p:nvSpPr>
          <p:spPr bwMode="auto">
            <a:xfrm>
              <a:off x="3843" y="3531"/>
              <a:ext cx="727" cy="3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b="1">
                  <a:sym typeface="Symbol" panose="05050102010706020507" pitchFamily="18" charset="2"/>
                </a:rPr>
                <a:t>    </a:t>
              </a:r>
              <a:r>
                <a:rPr lang="en-US" altLang="zh-CN" sz="2800" b="1">
                  <a:solidFill>
                    <a:srgbClr val="0000CC"/>
                  </a:solidFill>
                  <a:sym typeface="Symbol" panose="05050102010706020507" pitchFamily="18" charset="2"/>
                </a:rPr>
                <a:t>X</a:t>
              </a:r>
            </a:p>
          </p:txBody>
        </p:sp>
        <p:sp>
          <p:nvSpPr>
            <p:cNvPr id="54280" name="Line 25">
              <a:extLst>
                <a:ext uri="{FF2B5EF4-FFF2-40B4-BE49-F238E27FC236}">
                  <a16:creationId xmlns:a16="http://schemas.microsoft.com/office/drawing/2014/main" id="{E8E3173F-2790-4362-B1D2-A2D68CB3B96A}"/>
                </a:ext>
              </a:extLst>
            </p:cNvPr>
            <p:cNvSpPr>
              <a:spLocks noChangeShapeType="1"/>
            </p:cNvSpPr>
            <p:nvPr/>
          </p:nvSpPr>
          <p:spPr bwMode="auto">
            <a:xfrm>
              <a:off x="4210" y="353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1" name="Line 26">
              <a:extLst>
                <a:ext uri="{FF2B5EF4-FFF2-40B4-BE49-F238E27FC236}">
                  <a16:creationId xmlns:a16="http://schemas.microsoft.com/office/drawing/2014/main" id="{0FD395FE-0E1D-4098-92BD-0AD2A382B7D6}"/>
                </a:ext>
              </a:extLst>
            </p:cNvPr>
            <p:cNvSpPr>
              <a:spLocks noChangeShapeType="1"/>
            </p:cNvSpPr>
            <p:nvPr/>
          </p:nvSpPr>
          <p:spPr bwMode="auto">
            <a:xfrm>
              <a:off x="4571" y="3539"/>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2" name="Line 27">
              <a:extLst>
                <a:ext uri="{FF2B5EF4-FFF2-40B4-BE49-F238E27FC236}">
                  <a16:creationId xmlns:a16="http://schemas.microsoft.com/office/drawing/2014/main" id="{79753442-66E0-436A-83EB-C59BFAD3C7A0}"/>
                </a:ext>
              </a:extLst>
            </p:cNvPr>
            <p:cNvSpPr>
              <a:spLocks noChangeShapeType="1"/>
            </p:cNvSpPr>
            <p:nvPr/>
          </p:nvSpPr>
          <p:spPr bwMode="auto">
            <a:xfrm flipH="1">
              <a:off x="3849" y="3345"/>
              <a:ext cx="264"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3" name="Line 28">
              <a:extLst>
                <a:ext uri="{FF2B5EF4-FFF2-40B4-BE49-F238E27FC236}">
                  <a16:creationId xmlns:a16="http://schemas.microsoft.com/office/drawing/2014/main" id="{4F7B8BC4-AAB0-4C68-B0E2-D972564B59E7}"/>
                </a:ext>
              </a:extLst>
            </p:cNvPr>
            <p:cNvSpPr>
              <a:spLocks noChangeShapeType="1"/>
            </p:cNvSpPr>
            <p:nvPr/>
          </p:nvSpPr>
          <p:spPr bwMode="auto">
            <a:xfrm>
              <a:off x="4361" y="3345"/>
              <a:ext cx="208"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4" name="Text Box 29">
              <a:extLst>
                <a:ext uri="{FF2B5EF4-FFF2-40B4-BE49-F238E27FC236}">
                  <a16:creationId xmlns:a16="http://schemas.microsoft.com/office/drawing/2014/main" id="{6FEDD83C-0063-4AA7-84FA-CA9C794B8D44}"/>
                </a:ext>
              </a:extLst>
            </p:cNvPr>
            <p:cNvSpPr txBox="1">
              <a:spLocks noChangeArrowheads="1"/>
            </p:cNvSpPr>
            <p:nvPr/>
          </p:nvSpPr>
          <p:spPr bwMode="auto">
            <a:xfrm>
              <a:off x="4369" y="3073"/>
              <a:ext cx="200" cy="275"/>
            </a:xfrm>
            <a:prstGeom prst="rect">
              <a:avLst/>
            </a:prstGeom>
            <a:solidFill>
              <a:schemeClr val="accent1"/>
            </a:solidFill>
            <a:ln w="9525">
              <a:solidFill>
                <a:schemeClr val="tx1"/>
              </a:solidFill>
              <a:miter lim="800000"/>
              <a:headEnd/>
              <a:tailEnd/>
            </a:ln>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a:t>#</a:t>
              </a:r>
            </a:p>
          </p:txBody>
        </p:sp>
        <p:sp>
          <p:nvSpPr>
            <p:cNvPr id="54285" name="Text Box 30">
              <a:extLst>
                <a:ext uri="{FF2B5EF4-FFF2-40B4-BE49-F238E27FC236}">
                  <a16:creationId xmlns:a16="http://schemas.microsoft.com/office/drawing/2014/main" id="{7F301095-946F-40E0-9374-76780CC7D9F3}"/>
                </a:ext>
              </a:extLst>
            </p:cNvPr>
            <p:cNvSpPr txBox="1">
              <a:spLocks noChangeArrowheads="1"/>
            </p:cNvSpPr>
            <p:nvPr/>
          </p:nvSpPr>
          <p:spPr bwMode="auto">
            <a:xfrm>
              <a:off x="4601" y="3553"/>
              <a:ext cx="240" cy="275"/>
            </a:xfrm>
            <a:prstGeom prst="rect">
              <a:avLst/>
            </a:prstGeom>
            <a:solidFill>
              <a:schemeClr val="accent1"/>
            </a:solidFill>
            <a:ln w="9525">
              <a:solidFill>
                <a:schemeClr val="tx1"/>
              </a:solidFill>
              <a:miter lim="800000"/>
              <a:headEnd/>
              <a:tailEnd/>
            </a:ln>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a:t>#</a:t>
              </a:r>
            </a:p>
          </p:txBody>
        </p:sp>
        <p:sp>
          <p:nvSpPr>
            <p:cNvPr id="54286" name="Freeform 31">
              <a:extLst>
                <a:ext uri="{FF2B5EF4-FFF2-40B4-BE49-F238E27FC236}">
                  <a16:creationId xmlns:a16="http://schemas.microsoft.com/office/drawing/2014/main" id="{AEC7A153-B6CA-49DC-B3B6-D9D116140BDD}"/>
                </a:ext>
              </a:extLst>
            </p:cNvPr>
            <p:cNvSpPr>
              <a:spLocks/>
            </p:cNvSpPr>
            <p:nvPr/>
          </p:nvSpPr>
          <p:spPr bwMode="auto">
            <a:xfrm>
              <a:off x="4576" y="3208"/>
              <a:ext cx="172" cy="336"/>
            </a:xfrm>
            <a:custGeom>
              <a:avLst/>
              <a:gdLst>
                <a:gd name="T0" fmla="*/ 0 w 172"/>
                <a:gd name="T1" fmla="*/ 0 h 336"/>
                <a:gd name="T2" fmla="*/ 144 w 172"/>
                <a:gd name="T3" fmla="*/ 120 h 336"/>
                <a:gd name="T4" fmla="*/ 168 w 172"/>
                <a:gd name="T5" fmla="*/ 336 h 336"/>
                <a:gd name="T6" fmla="*/ 0 60000 65536"/>
                <a:gd name="T7" fmla="*/ 0 60000 65536"/>
                <a:gd name="T8" fmla="*/ 0 60000 65536"/>
                <a:gd name="T9" fmla="*/ 0 w 172"/>
                <a:gd name="T10" fmla="*/ 0 h 336"/>
                <a:gd name="T11" fmla="*/ 172 w 172"/>
                <a:gd name="T12" fmla="*/ 336 h 336"/>
              </a:gdLst>
              <a:ahLst/>
              <a:cxnLst>
                <a:cxn ang="T6">
                  <a:pos x="T0" y="T1"/>
                </a:cxn>
                <a:cxn ang="T7">
                  <a:pos x="T2" y="T3"/>
                </a:cxn>
                <a:cxn ang="T8">
                  <a:pos x="T4" y="T5"/>
                </a:cxn>
              </a:cxnLst>
              <a:rect l="T9" t="T10" r="T11" b="T12"/>
              <a:pathLst>
                <a:path w="172" h="336">
                  <a:moveTo>
                    <a:pt x="0" y="0"/>
                  </a:moveTo>
                  <a:cubicBezTo>
                    <a:pt x="58" y="32"/>
                    <a:pt x="116" y="64"/>
                    <a:pt x="144" y="120"/>
                  </a:cubicBezTo>
                  <a:cubicBezTo>
                    <a:pt x="172" y="176"/>
                    <a:pt x="170" y="256"/>
                    <a:pt x="168" y="336"/>
                  </a:cubicBezTo>
                </a:path>
              </a:pathLst>
            </a:custGeom>
            <a:noFill/>
            <a:ln w="9525" cap="flat">
              <a:solidFill>
                <a:schemeClr val="tx1"/>
              </a:solidFill>
              <a:prstDash val="lgDash"/>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87" name="Text Box 32">
              <a:extLst>
                <a:ext uri="{FF2B5EF4-FFF2-40B4-BE49-F238E27FC236}">
                  <a16:creationId xmlns:a16="http://schemas.microsoft.com/office/drawing/2014/main" id="{19EFCAAC-6362-426F-8981-F14E2E0351D2}"/>
                </a:ext>
              </a:extLst>
            </p:cNvPr>
            <p:cNvSpPr txBox="1">
              <a:spLocks noChangeArrowheads="1"/>
            </p:cNvSpPr>
            <p:nvPr/>
          </p:nvSpPr>
          <p:spPr bwMode="auto">
            <a:xfrm>
              <a:off x="4118" y="3075"/>
              <a:ext cx="258" cy="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b="1">
                  <a:latin typeface="Verdana" panose="020B0604030504040204" pitchFamily="34" charset="0"/>
                </a:rPr>
                <a:t>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5716E135-18CA-477E-A092-828003C4AE20}"/>
              </a:ext>
            </a:extLst>
          </p:cNvPr>
          <p:cNvSpPr>
            <a:spLocks noGrp="1" noChangeArrowheads="1"/>
          </p:cNvSpPr>
          <p:nvPr>
            <p:ph type="title"/>
          </p:nvPr>
        </p:nvSpPr>
        <p:spPr>
          <a:xfrm>
            <a:off x="1993900" y="196851"/>
            <a:ext cx="8172450" cy="608013"/>
          </a:xfrm>
        </p:spPr>
        <p:txBody>
          <a:bodyPr>
            <a:normAutofit fontScale="90000"/>
          </a:bodyPr>
          <a:lstStyle/>
          <a:p>
            <a:pPr eaLnBrk="1" hangingPunct="1"/>
            <a:r>
              <a:rPr lang="zh-CN" altLang="en-US" sz="3800"/>
              <a:t>构造</a:t>
            </a:r>
            <a:r>
              <a:rPr lang="en-US" altLang="zh-CN" sz="3800"/>
              <a:t>FOLLOW</a:t>
            </a:r>
            <a:r>
              <a:rPr lang="zh-CN" altLang="en-US" sz="3800"/>
              <a:t>集</a:t>
            </a:r>
            <a:r>
              <a:rPr lang="en-US" altLang="zh-CN" sz="3800"/>
              <a:t>1/2</a:t>
            </a:r>
          </a:p>
        </p:txBody>
      </p:sp>
      <p:sp>
        <p:nvSpPr>
          <p:cNvPr id="55299" name="Rectangle 3">
            <a:extLst>
              <a:ext uri="{FF2B5EF4-FFF2-40B4-BE49-F238E27FC236}">
                <a16:creationId xmlns:a16="http://schemas.microsoft.com/office/drawing/2014/main" id="{77C59409-AD1A-4F4D-A6E1-0DC9C64DB733}"/>
              </a:ext>
            </a:extLst>
          </p:cNvPr>
          <p:cNvSpPr>
            <a:spLocks noChangeArrowheads="1"/>
          </p:cNvSpPr>
          <p:nvPr/>
        </p:nvSpPr>
        <p:spPr bwMode="auto">
          <a:xfrm>
            <a:off x="1957388" y="923926"/>
            <a:ext cx="80010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buClr>
                <a:schemeClr val="accent1"/>
              </a:buClr>
              <a:buSzPct val="65000"/>
              <a:buFont typeface="Wingdings" panose="05000000000000000000" pitchFamily="2" charset="2"/>
              <a:buNone/>
            </a:pPr>
            <a:r>
              <a:rPr lang="en-US" altLang="zh-CN" sz="2400" b="1">
                <a:latin typeface="Verdana" panose="020B0604030504040204" pitchFamily="34" charset="0"/>
              </a:rPr>
              <a:t>   </a:t>
            </a:r>
            <a:r>
              <a:rPr lang="zh-CN" altLang="zh-CN" sz="2400" b="1">
                <a:latin typeface="Verdana" panose="020B0604030504040204" pitchFamily="34" charset="0"/>
              </a:rPr>
              <a:t>令</a:t>
            </a:r>
            <a:r>
              <a:rPr lang="en-US" altLang="zh-CN" sz="2400" b="1">
                <a:latin typeface="Verdana" panose="020B0604030504040204" pitchFamily="34" charset="0"/>
              </a:rPr>
              <a:t>X</a:t>
            </a:r>
            <a:r>
              <a:rPr lang="en-US" altLang="zh-CN" sz="2400" b="1">
                <a:latin typeface="Verdana" panose="020B0604030504040204" pitchFamily="34" charset="0"/>
                <a:sym typeface="Symbol" panose="05050102010706020507" pitchFamily="18" charset="2"/>
              </a:rPr>
              <a:t></a:t>
            </a:r>
            <a:r>
              <a:rPr lang="en-US" altLang="zh-CN" sz="2400" b="1">
                <a:latin typeface="Verdana" panose="020B0604030504040204" pitchFamily="34" charset="0"/>
              </a:rPr>
              <a:t> V</a:t>
            </a:r>
            <a:r>
              <a:rPr lang="en-US" altLang="zh-CN" sz="2400" b="1" baseline="-25000">
                <a:latin typeface="Verdana" panose="020B0604030504040204" pitchFamily="34" charset="0"/>
              </a:rPr>
              <a:t>N</a:t>
            </a:r>
            <a:r>
              <a:rPr lang="zh-CN" altLang="en-US" sz="2400" b="1">
                <a:latin typeface="Verdana" panose="020B0604030504040204" pitchFamily="34" charset="0"/>
              </a:rPr>
              <a:t>，</a:t>
            </a:r>
            <a:r>
              <a:rPr lang="zh-CN" altLang="en-US" sz="2400" b="1">
                <a:latin typeface="Verdana" panose="020B0604030504040204" pitchFamily="34" charset="0"/>
                <a:sym typeface="Symbol" panose="05050102010706020507" pitchFamily="18" charset="2"/>
              </a:rPr>
              <a:t></a:t>
            </a:r>
            <a:r>
              <a:rPr lang="en-US" altLang="zh-CN" sz="2400" b="1">
                <a:latin typeface="Verdana" panose="020B0604030504040204" pitchFamily="34" charset="0"/>
                <a:sym typeface="Symbol" panose="05050102010706020507" pitchFamily="18" charset="2"/>
              </a:rPr>
              <a:t>, </a:t>
            </a:r>
            <a:r>
              <a:rPr lang="en-US" altLang="zh-CN" sz="2400" b="1">
                <a:latin typeface="Verdana" panose="020B0604030504040204" pitchFamily="34" charset="0"/>
              </a:rPr>
              <a:t> V*</a:t>
            </a:r>
            <a:r>
              <a:rPr lang="zh-CN" altLang="en-US" sz="2400" b="1">
                <a:latin typeface="Verdana" panose="020B0604030504040204" pitchFamily="34" charset="0"/>
              </a:rPr>
              <a:t>，</a:t>
            </a:r>
            <a:r>
              <a:rPr lang="en-US" altLang="zh-CN" sz="2400" b="1">
                <a:latin typeface="Verdana" panose="020B0604030504040204" pitchFamily="34" charset="0"/>
              </a:rPr>
              <a:t>X</a:t>
            </a:r>
            <a:r>
              <a:rPr lang="zh-CN" altLang="en-US" sz="2400" b="1">
                <a:latin typeface="Verdana" panose="020B0604030504040204" pitchFamily="34" charset="0"/>
              </a:rPr>
              <a:t>的产生式具有下述</a:t>
            </a:r>
            <a:r>
              <a:rPr lang="en-US" altLang="zh-CN" sz="2400" b="1">
                <a:latin typeface="Verdana" panose="020B0604030504040204" pitchFamily="34" charset="0"/>
              </a:rPr>
              <a:t>4</a:t>
            </a:r>
            <a:r>
              <a:rPr lang="zh-CN" altLang="en-US" sz="2400" b="1">
                <a:latin typeface="Verdana" panose="020B0604030504040204" pitchFamily="34" charset="0"/>
              </a:rPr>
              <a:t>种形式：</a:t>
            </a:r>
          </a:p>
        </p:txBody>
      </p:sp>
      <p:grpSp>
        <p:nvGrpSpPr>
          <p:cNvPr id="2" name="Group 4">
            <a:extLst>
              <a:ext uri="{FF2B5EF4-FFF2-40B4-BE49-F238E27FC236}">
                <a16:creationId xmlns:a16="http://schemas.microsoft.com/office/drawing/2014/main" id="{AEF7354A-08D2-4CD8-80B7-32C213A8A5B0}"/>
              </a:ext>
            </a:extLst>
          </p:cNvPr>
          <p:cNvGrpSpPr>
            <a:grpSpLocks/>
          </p:cNvGrpSpPr>
          <p:nvPr/>
        </p:nvGrpSpPr>
        <p:grpSpPr bwMode="auto">
          <a:xfrm>
            <a:off x="2439989" y="1587499"/>
            <a:ext cx="3754437" cy="1555750"/>
            <a:chOff x="577" y="1000"/>
            <a:chExt cx="2365" cy="980"/>
          </a:xfrm>
        </p:grpSpPr>
        <p:sp>
          <p:nvSpPr>
            <p:cNvPr id="55339" name="Text Box 5">
              <a:extLst>
                <a:ext uri="{FF2B5EF4-FFF2-40B4-BE49-F238E27FC236}">
                  <a16:creationId xmlns:a16="http://schemas.microsoft.com/office/drawing/2014/main" id="{8EE63AC3-74F2-4217-B8A1-AFFF9C262C6A}"/>
                </a:ext>
              </a:extLst>
            </p:cNvPr>
            <p:cNvSpPr txBox="1">
              <a:spLocks noChangeArrowheads="1"/>
            </p:cNvSpPr>
            <p:nvPr/>
          </p:nvSpPr>
          <p:spPr bwMode="auto">
            <a:xfrm>
              <a:off x="1470" y="1417"/>
              <a:ext cx="1472" cy="2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just" eaLnBrk="1" hangingPunct="1">
                <a:buFont typeface="Arial" panose="020B0604020202020204" pitchFamily="34" charset="0"/>
                <a:buNone/>
              </a:pPr>
              <a:r>
                <a:rPr lang="en-US" altLang="zh-CN" sz="2400" b="1">
                  <a:latin typeface="Verdana" panose="020B0604030504040204" pitchFamily="34" charset="0"/>
                </a:rPr>
                <a:t>1.X</a:t>
              </a:r>
              <a:r>
                <a:rPr lang="en-US" altLang="zh-CN" sz="2400" b="1">
                  <a:latin typeface="Verdana" panose="020B0604030504040204" pitchFamily="34" charset="0"/>
                  <a:sym typeface="Symbol" panose="05050102010706020507" pitchFamily="18" charset="2"/>
                </a:rPr>
                <a:t>=</a:t>
              </a:r>
              <a:r>
                <a:rPr lang="en-US" altLang="zh-CN" sz="2400" b="1">
                  <a:latin typeface="Verdana" panose="020B0604030504040204" pitchFamily="34" charset="0"/>
                </a:rPr>
                <a:t>S</a:t>
              </a:r>
              <a:endParaRPr lang="en-US" altLang="zh-CN" sz="2400"/>
            </a:p>
          </p:txBody>
        </p:sp>
        <p:sp>
          <p:nvSpPr>
            <p:cNvPr id="55340" name="Text Box 6">
              <a:extLst>
                <a:ext uri="{FF2B5EF4-FFF2-40B4-BE49-F238E27FC236}">
                  <a16:creationId xmlns:a16="http://schemas.microsoft.com/office/drawing/2014/main" id="{22277FFB-5468-4CCB-9BA4-E4FABB48E669}"/>
                </a:ext>
              </a:extLst>
            </p:cNvPr>
            <p:cNvSpPr txBox="1">
              <a:spLocks noChangeArrowheads="1"/>
            </p:cNvSpPr>
            <p:nvPr/>
          </p:nvSpPr>
          <p:spPr bwMode="auto">
            <a:xfrm>
              <a:off x="816" y="1016"/>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X</a:t>
              </a:r>
            </a:p>
          </p:txBody>
        </p:sp>
        <p:sp>
          <p:nvSpPr>
            <p:cNvPr id="55341" name="Text Box 7">
              <a:extLst>
                <a:ext uri="{FF2B5EF4-FFF2-40B4-BE49-F238E27FC236}">
                  <a16:creationId xmlns:a16="http://schemas.microsoft.com/office/drawing/2014/main" id="{F9CA607A-54E9-46E2-8FB3-4646886B1A0F}"/>
                </a:ext>
              </a:extLst>
            </p:cNvPr>
            <p:cNvSpPr txBox="1">
              <a:spLocks noChangeArrowheads="1"/>
            </p:cNvSpPr>
            <p:nvPr/>
          </p:nvSpPr>
          <p:spPr bwMode="auto">
            <a:xfrm>
              <a:off x="577" y="1689"/>
              <a:ext cx="832"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a:t>
              </a:r>
            </a:p>
          </p:txBody>
        </p:sp>
        <p:sp>
          <p:nvSpPr>
            <p:cNvPr id="55342" name="Rectangle 8">
              <a:extLst>
                <a:ext uri="{FF2B5EF4-FFF2-40B4-BE49-F238E27FC236}">
                  <a16:creationId xmlns:a16="http://schemas.microsoft.com/office/drawing/2014/main" id="{B67F33C6-3338-4857-8F54-907FE63063C5}"/>
                </a:ext>
              </a:extLst>
            </p:cNvPr>
            <p:cNvSpPr>
              <a:spLocks noChangeArrowheads="1"/>
            </p:cNvSpPr>
            <p:nvPr/>
          </p:nvSpPr>
          <p:spPr bwMode="auto">
            <a:xfrm>
              <a:off x="1192" y="1000"/>
              <a:ext cx="304" cy="320"/>
            </a:xfrm>
            <a:prstGeom prst="rect">
              <a:avLst/>
            </a:prstGeom>
            <a:solidFill>
              <a:schemeClr val="accent1">
                <a:alpha val="56078"/>
              </a:schemeClr>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a:t>#</a:t>
              </a:r>
            </a:p>
          </p:txBody>
        </p:sp>
        <p:sp>
          <p:nvSpPr>
            <p:cNvPr id="55343" name="Line 9">
              <a:extLst>
                <a:ext uri="{FF2B5EF4-FFF2-40B4-BE49-F238E27FC236}">
                  <a16:creationId xmlns:a16="http://schemas.microsoft.com/office/drawing/2014/main" id="{ECC2D07C-7962-4EB8-9B15-D72395B964BF}"/>
                </a:ext>
              </a:extLst>
            </p:cNvPr>
            <p:cNvSpPr>
              <a:spLocks noChangeShapeType="1"/>
            </p:cNvSpPr>
            <p:nvPr/>
          </p:nvSpPr>
          <p:spPr bwMode="auto">
            <a:xfrm flipH="1">
              <a:off x="584" y="1312"/>
              <a:ext cx="248" cy="3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4" name="Line 10">
              <a:extLst>
                <a:ext uri="{FF2B5EF4-FFF2-40B4-BE49-F238E27FC236}">
                  <a16:creationId xmlns:a16="http://schemas.microsoft.com/office/drawing/2014/main" id="{8C6A9269-6F92-4DFB-9BA8-DB8504001E46}"/>
                </a:ext>
              </a:extLst>
            </p:cNvPr>
            <p:cNvSpPr>
              <a:spLocks noChangeShapeType="1"/>
            </p:cNvSpPr>
            <p:nvPr/>
          </p:nvSpPr>
          <p:spPr bwMode="auto">
            <a:xfrm>
              <a:off x="1160" y="1328"/>
              <a:ext cx="248" cy="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1">
            <a:extLst>
              <a:ext uri="{FF2B5EF4-FFF2-40B4-BE49-F238E27FC236}">
                <a16:creationId xmlns:a16="http://schemas.microsoft.com/office/drawing/2014/main" id="{CFF9FDD3-C054-49E6-BB18-7389602CFB80}"/>
              </a:ext>
            </a:extLst>
          </p:cNvPr>
          <p:cNvGrpSpPr>
            <a:grpSpLocks/>
          </p:cNvGrpSpPr>
          <p:nvPr/>
        </p:nvGrpSpPr>
        <p:grpSpPr bwMode="auto">
          <a:xfrm>
            <a:off x="6807200" y="1514476"/>
            <a:ext cx="3352800" cy="1662113"/>
            <a:chOff x="3328" y="954"/>
            <a:chExt cx="2112" cy="1047"/>
          </a:xfrm>
        </p:grpSpPr>
        <p:sp>
          <p:nvSpPr>
            <p:cNvPr id="55330" name="Text Box 12">
              <a:extLst>
                <a:ext uri="{FF2B5EF4-FFF2-40B4-BE49-F238E27FC236}">
                  <a16:creationId xmlns:a16="http://schemas.microsoft.com/office/drawing/2014/main" id="{04C48537-5B39-4DD9-998B-C44922F0449E}"/>
                </a:ext>
              </a:extLst>
            </p:cNvPr>
            <p:cNvSpPr txBox="1">
              <a:spLocks noChangeArrowheads="1"/>
            </p:cNvSpPr>
            <p:nvPr/>
          </p:nvSpPr>
          <p:spPr bwMode="auto">
            <a:xfrm>
              <a:off x="4376" y="955"/>
              <a:ext cx="1064" cy="2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just" eaLnBrk="1" hangingPunct="1">
                <a:buFont typeface="Arial" panose="020B0604020202020204" pitchFamily="34" charset="0"/>
                <a:buNone/>
              </a:pPr>
              <a:r>
                <a:rPr lang="en-US" altLang="zh-CN" sz="2400" b="1">
                  <a:latin typeface="Verdana" panose="020B0604030504040204" pitchFamily="34" charset="0"/>
                </a:rPr>
                <a:t>2. A</a:t>
              </a:r>
              <a:r>
                <a:rPr lang="en-US" altLang="zh-CN" sz="2400" b="1">
                  <a:latin typeface="Verdana" panose="020B0604030504040204" pitchFamily="34" charset="0"/>
                  <a:sym typeface="Symbol" panose="05050102010706020507" pitchFamily="18" charset="2"/>
                </a:rPr>
                <a:t></a:t>
              </a:r>
              <a:r>
                <a:rPr lang="en-US" altLang="zh-CN" sz="2400" b="1">
                  <a:sym typeface="Symbol" panose="05050102010706020507" pitchFamily="18" charset="2"/>
                </a:rPr>
                <a:t></a:t>
              </a:r>
              <a:r>
                <a:rPr lang="en-US" altLang="zh-CN" sz="2400" b="1">
                  <a:latin typeface="Verdana" panose="020B0604030504040204" pitchFamily="34" charset="0"/>
                  <a:sym typeface="Symbol" panose="05050102010706020507" pitchFamily="18" charset="2"/>
                </a:rPr>
                <a:t>X</a:t>
              </a:r>
            </a:p>
          </p:txBody>
        </p:sp>
        <p:sp>
          <p:nvSpPr>
            <p:cNvPr id="55331" name="Text Box 13">
              <a:extLst>
                <a:ext uri="{FF2B5EF4-FFF2-40B4-BE49-F238E27FC236}">
                  <a16:creationId xmlns:a16="http://schemas.microsoft.com/office/drawing/2014/main" id="{5499BA59-657C-4AE9-82F6-8EBFC0A61796}"/>
                </a:ext>
              </a:extLst>
            </p:cNvPr>
            <p:cNvSpPr txBox="1">
              <a:spLocks noChangeArrowheads="1"/>
            </p:cNvSpPr>
            <p:nvPr/>
          </p:nvSpPr>
          <p:spPr bwMode="auto">
            <a:xfrm>
              <a:off x="3882" y="1690"/>
              <a:ext cx="360"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X</a:t>
              </a:r>
            </a:p>
          </p:txBody>
        </p:sp>
        <p:sp>
          <p:nvSpPr>
            <p:cNvPr id="55332" name="Text Box 14">
              <a:extLst>
                <a:ext uri="{FF2B5EF4-FFF2-40B4-BE49-F238E27FC236}">
                  <a16:creationId xmlns:a16="http://schemas.microsoft.com/office/drawing/2014/main" id="{D61115D3-0321-425C-9787-E527A84E4C91}"/>
                </a:ext>
              </a:extLst>
            </p:cNvPr>
            <p:cNvSpPr txBox="1">
              <a:spLocks noChangeArrowheads="1"/>
            </p:cNvSpPr>
            <p:nvPr/>
          </p:nvSpPr>
          <p:spPr bwMode="auto">
            <a:xfrm>
              <a:off x="3611" y="963"/>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A</a:t>
              </a:r>
            </a:p>
          </p:txBody>
        </p:sp>
        <p:sp>
          <p:nvSpPr>
            <p:cNvPr id="55333" name="Rectangle 15">
              <a:extLst>
                <a:ext uri="{FF2B5EF4-FFF2-40B4-BE49-F238E27FC236}">
                  <a16:creationId xmlns:a16="http://schemas.microsoft.com/office/drawing/2014/main" id="{D7FC620D-2E26-46FF-AC33-25B2DB4323B5}"/>
                </a:ext>
              </a:extLst>
            </p:cNvPr>
            <p:cNvSpPr>
              <a:spLocks noChangeArrowheads="1"/>
            </p:cNvSpPr>
            <p:nvPr/>
          </p:nvSpPr>
          <p:spPr bwMode="auto">
            <a:xfrm>
              <a:off x="4257" y="1673"/>
              <a:ext cx="256" cy="328"/>
            </a:xfrm>
            <a:prstGeom prst="rect">
              <a:avLst/>
            </a:prstGeom>
            <a:solidFill>
              <a:schemeClr val="accent1"/>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a:t>a</a:t>
              </a:r>
            </a:p>
          </p:txBody>
        </p:sp>
        <p:sp>
          <p:nvSpPr>
            <p:cNvPr id="55334" name="Rectangle 16">
              <a:extLst>
                <a:ext uri="{FF2B5EF4-FFF2-40B4-BE49-F238E27FC236}">
                  <a16:creationId xmlns:a16="http://schemas.microsoft.com/office/drawing/2014/main" id="{82854F1D-9722-415F-9659-128124A68CBE}"/>
                </a:ext>
              </a:extLst>
            </p:cNvPr>
            <p:cNvSpPr>
              <a:spLocks noChangeArrowheads="1"/>
            </p:cNvSpPr>
            <p:nvPr/>
          </p:nvSpPr>
          <p:spPr bwMode="auto">
            <a:xfrm>
              <a:off x="3978" y="954"/>
              <a:ext cx="256" cy="328"/>
            </a:xfrm>
            <a:prstGeom prst="rect">
              <a:avLst/>
            </a:prstGeom>
            <a:solidFill>
              <a:schemeClr val="accent1"/>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a:t>a</a:t>
              </a:r>
            </a:p>
          </p:txBody>
        </p:sp>
        <p:sp>
          <p:nvSpPr>
            <p:cNvPr id="55335" name="Text Box 17">
              <a:extLst>
                <a:ext uri="{FF2B5EF4-FFF2-40B4-BE49-F238E27FC236}">
                  <a16:creationId xmlns:a16="http://schemas.microsoft.com/office/drawing/2014/main" id="{97A5A3F2-3A20-4925-AF3A-E7128E1F65DA}"/>
                </a:ext>
              </a:extLst>
            </p:cNvPr>
            <p:cNvSpPr txBox="1">
              <a:spLocks noChangeArrowheads="1"/>
            </p:cNvSpPr>
            <p:nvPr/>
          </p:nvSpPr>
          <p:spPr bwMode="auto">
            <a:xfrm>
              <a:off x="3331" y="1691"/>
              <a:ext cx="544"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sym typeface="Symbol" panose="05050102010706020507" pitchFamily="18" charset="2"/>
                </a:rPr>
                <a:t></a:t>
              </a:r>
            </a:p>
          </p:txBody>
        </p:sp>
        <p:sp>
          <p:nvSpPr>
            <p:cNvPr id="55336" name="Line 18">
              <a:extLst>
                <a:ext uri="{FF2B5EF4-FFF2-40B4-BE49-F238E27FC236}">
                  <a16:creationId xmlns:a16="http://schemas.microsoft.com/office/drawing/2014/main" id="{E4917D52-33BB-4818-A8A9-185A069B96A2}"/>
                </a:ext>
              </a:extLst>
            </p:cNvPr>
            <p:cNvSpPr>
              <a:spLocks noChangeShapeType="1"/>
            </p:cNvSpPr>
            <p:nvPr/>
          </p:nvSpPr>
          <p:spPr bwMode="auto">
            <a:xfrm flipH="1">
              <a:off x="3328" y="1264"/>
              <a:ext cx="288" cy="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7" name="Line 19">
              <a:extLst>
                <a:ext uri="{FF2B5EF4-FFF2-40B4-BE49-F238E27FC236}">
                  <a16:creationId xmlns:a16="http://schemas.microsoft.com/office/drawing/2014/main" id="{97EF4D38-1756-4C68-9A19-CF8C6B82D838}"/>
                </a:ext>
              </a:extLst>
            </p:cNvPr>
            <p:cNvSpPr>
              <a:spLocks noChangeShapeType="1"/>
            </p:cNvSpPr>
            <p:nvPr/>
          </p:nvSpPr>
          <p:spPr bwMode="auto">
            <a:xfrm>
              <a:off x="3960" y="1272"/>
              <a:ext cx="280"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8" name="Freeform 20">
              <a:extLst>
                <a:ext uri="{FF2B5EF4-FFF2-40B4-BE49-F238E27FC236}">
                  <a16:creationId xmlns:a16="http://schemas.microsoft.com/office/drawing/2014/main" id="{04E3257C-1673-47A5-A36C-8E8F069D495C}"/>
                </a:ext>
              </a:extLst>
            </p:cNvPr>
            <p:cNvSpPr>
              <a:spLocks/>
            </p:cNvSpPr>
            <p:nvPr/>
          </p:nvSpPr>
          <p:spPr bwMode="auto">
            <a:xfrm>
              <a:off x="4168" y="1296"/>
              <a:ext cx="224" cy="376"/>
            </a:xfrm>
            <a:custGeom>
              <a:avLst/>
              <a:gdLst>
                <a:gd name="T0" fmla="*/ 0 w 224"/>
                <a:gd name="T1" fmla="*/ 0 h 376"/>
                <a:gd name="T2" fmla="*/ 160 w 224"/>
                <a:gd name="T3" fmla="*/ 144 h 376"/>
                <a:gd name="T4" fmla="*/ 224 w 224"/>
                <a:gd name="T5" fmla="*/ 376 h 376"/>
                <a:gd name="T6" fmla="*/ 0 60000 65536"/>
                <a:gd name="T7" fmla="*/ 0 60000 65536"/>
                <a:gd name="T8" fmla="*/ 0 60000 65536"/>
                <a:gd name="T9" fmla="*/ 0 w 224"/>
                <a:gd name="T10" fmla="*/ 0 h 376"/>
                <a:gd name="T11" fmla="*/ 224 w 224"/>
                <a:gd name="T12" fmla="*/ 376 h 376"/>
              </a:gdLst>
              <a:ahLst/>
              <a:cxnLst>
                <a:cxn ang="T6">
                  <a:pos x="T0" y="T1"/>
                </a:cxn>
                <a:cxn ang="T7">
                  <a:pos x="T2" y="T3"/>
                </a:cxn>
                <a:cxn ang="T8">
                  <a:pos x="T4" y="T5"/>
                </a:cxn>
              </a:cxnLst>
              <a:rect l="T9" t="T10" r="T11" b="T12"/>
              <a:pathLst>
                <a:path w="224" h="376">
                  <a:moveTo>
                    <a:pt x="0" y="0"/>
                  </a:moveTo>
                  <a:cubicBezTo>
                    <a:pt x="61" y="40"/>
                    <a:pt x="123" y="81"/>
                    <a:pt x="160" y="144"/>
                  </a:cubicBezTo>
                  <a:cubicBezTo>
                    <a:pt x="197" y="207"/>
                    <a:pt x="210" y="291"/>
                    <a:pt x="224" y="376"/>
                  </a:cubicBezTo>
                </a:path>
              </a:pathLst>
            </a:custGeom>
            <a:noFill/>
            <a:ln w="9525" cap="flat">
              <a:solidFill>
                <a:schemeClr val="tx1"/>
              </a:solidFill>
              <a:prstDash val="lgDash"/>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Group 21">
            <a:extLst>
              <a:ext uri="{FF2B5EF4-FFF2-40B4-BE49-F238E27FC236}">
                <a16:creationId xmlns:a16="http://schemas.microsoft.com/office/drawing/2014/main" id="{34EB9C7A-5C00-4052-95DB-838EF06047E0}"/>
              </a:ext>
            </a:extLst>
          </p:cNvPr>
          <p:cNvGrpSpPr>
            <a:grpSpLocks/>
          </p:cNvGrpSpPr>
          <p:nvPr/>
        </p:nvGrpSpPr>
        <p:grpSpPr bwMode="auto">
          <a:xfrm>
            <a:off x="2133601" y="3481389"/>
            <a:ext cx="4062413" cy="2414587"/>
            <a:chOff x="384" y="2193"/>
            <a:chExt cx="2559" cy="1521"/>
          </a:xfrm>
        </p:grpSpPr>
        <p:sp>
          <p:nvSpPr>
            <p:cNvPr id="55315" name="Text Box 22">
              <a:extLst>
                <a:ext uri="{FF2B5EF4-FFF2-40B4-BE49-F238E27FC236}">
                  <a16:creationId xmlns:a16="http://schemas.microsoft.com/office/drawing/2014/main" id="{F33682BD-DEE0-4F1C-A8C2-2380D8959BF5}"/>
                </a:ext>
              </a:extLst>
            </p:cNvPr>
            <p:cNvSpPr txBox="1">
              <a:spLocks noChangeArrowheads="1"/>
            </p:cNvSpPr>
            <p:nvPr/>
          </p:nvSpPr>
          <p:spPr bwMode="auto">
            <a:xfrm>
              <a:off x="1671" y="2314"/>
              <a:ext cx="1272" cy="5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just" eaLnBrk="1" hangingPunct="1">
                <a:buFont typeface="Arial" panose="020B0604020202020204" pitchFamily="34" charset="0"/>
                <a:buNone/>
              </a:pPr>
              <a:r>
                <a:rPr lang="en-US" altLang="zh-CN" sz="2400" b="1">
                  <a:latin typeface="Verdana" panose="020B0604030504040204" pitchFamily="34" charset="0"/>
                </a:rPr>
                <a:t>3. A</a:t>
              </a:r>
              <a:r>
                <a:rPr lang="en-US" altLang="zh-CN" sz="2400" b="1">
                  <a:latin typeface="Verdana" panose="020B0604030504040204" pitchFamily="34" charset="0"/>
                  <a:sym typeface="Symbol" panose="05050102010706020507" pitchFamily="18" charset="2"/>
                </a:rPr>
                <a:t> X</a:t>
              </a:r>
            </a:p>
            <a:p>
              <a:pPr algn="just" eaLnBrk="1" hangingPunct="1">
                <a:buFont typeface="Arial" panose="020B0604020202020204" pitchFamily="34" charset="0"/>
                <a:buNone/>
              </a:pPr>
              <a:r>
                <a:rPr lang="en-US" altLang="zh-CN" sz="2800" b="1">
                  <a:latin typeface="Verdana" panose="020B0604030504040204" pitchFamily="34" charset="0"/>
                  <a:sym typeface="Symbol" panose="05050102010706020507" pitchFamily="18" charset="2"/>
                </a:rPr>
                <a:t>   * </a:t>
              </a:r>
              <a:r>
                <a:rPr lang="en-US" altLang="zh-CN" sz="2800"/>
                <a:t> </a:t>
              </a:r>
            </a:p>
          </p:txBody>
        </p:sp>
        <p:sp>
          <p:nvSpPr>
            <p:cNvPr id="55316" name="Text Box 23">
              <a:extLst>
                <a:ext uri="{FF2B5EF4-FFF2-40B4-BE49-F238E27FC236}">
                  <a16:creationId xmlns:a16="http://schemas.microsoft.com/office/drawing/2014/main" id="{EF2A6FE8-E4F5-4168-A21B-01A3DEC14C96}"/>
                </a:ext>
              </a:extLst>
            </p:cNvPr>
            <p:cNvSpPr txBox="1">
              <a:spLocks noChangeArrowheads="1"/>
            </p:cNvSpPr>
            <p:nvPr/>
          </p:nvSpPr>
          <p:spPr bwMode="auto">
            <a:xfrm>
              <a:off x="769" y="2673"/>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X</a:t>
              </a:r>
            </a:p>
          </p:txBody>
        </p:sp>
        <p:sp>
          <p:nvSpPr>
            <p:cNvPr id="55317" name="Text Box 24">
              <a:extLst>
                <a:ext uri="{FF2B5EF4-FFF2-40B4-BE49-F238E27FC236}">
                  <a16:creationId xmlns:a16="http://schemas.microsoft.com/office/drawing/2014/main" id="{F169F46F-45BD-4FAF-9DF3-02647C6119EE}"/>
                </a:ext>
              </a:extLst>
            </p:cNvPr>
            <p:cNvSpPr txBox="1">
              <a:spLocks noChangeArrowheads="1"/>
            </p:cNvSpPr>
            <p:nvPr/>
          </p:nvSpPr>
          <p:spPr bwMode="auto">
            <a:xfrm>
              <a:off x="898" y="3154"/>
              <a:ext cx="824" cy="27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b="1">
                  <a:latin typeface="Verdana" panose="020B0604030504040204" pitchFamily="34" charset="0"/>
                  <a:sym typeface="Symbol" panose="05050102010706020507" pitchFamily="18" charset="2"/>
                </a:rPr>
                <a:t></a:t>
              </a:r>
            </a:p>
          </p:txBody>
        </p:sp>
        <p:sp>
          <p:nvSpPr>
            <p:cNvPr id="55318" name="Text Box 25">
              <a:extLst>
                <a:ext uri="{FF2B5EF4-FFF2-40B4-BE49-F238E27FC236}">
                  <a16:creationId xmlns:a16="http://schemas.microsoft.com/office/drawing/2014/main" id="{09F044F1-10B4-415F-A39C-C7359471E841}"/>
                </a:ext>
              </a:extLst>
            </p:cNvPr>
            <p:cNvSpPr txBox="1">
              <a:spLocks noChangeArrowheads="1"/>
            </p:cNvSpPr>
            <p:nvPr/>
          </p:nvSpPr>
          <p:spPr bwMode="auto">
            <a:xfrm>
              <a:off x="1146" y="2674"/>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sym typeface="Symbol" panose="05050102010706020507" pitchFamily="18" charset="2"/>
                </a:rPr>
                <a:t></a:t>
              </a:r>
            </a:p>
          </p:txBody>
        </p:sp>
        <p:sp>
          <p:nvSpPr>
            <p:cNvPr id="55319" name="Text Box 26">
              <a:extLst>
                <a:ext uri="{FF2B5EF4-FFF2-40B4-BE49-F238E27FC236}">
                  <a16:creationId xmlns:a16="http://schemas.microsoft.com/office/drawing/2014/main" id="{7056A3AB-7EAA-4324-9E0F-7D8C509A684D}"/>
                </a:ext>
              </a:extLst>
            </p:cNvPr>
            <p:cNvSpPr txBox="1">
              <a:spLocks noChangeArrowheads="1"/>
            </p:cNvSpPr>
            <p:nvPr/>
          </p:nvSpPr>
          <p:spPr bwMode="auto">
            <a:xfrm>
              <a:off x="738" y="2202"/>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A</a:t>
              </a:r>
            </a:p>
          </p:txBody>
        </p:sp>
        <p:sp>
          <p:nvSpPr>
            <p:cNvPr id="55320" name="Rectangle 27">
              <a:extLst>
                <a:ext uri="{FF2B5EF4-FFF2-40B4-BE49-F238E27FC236}">
                  <a16:creationId xmlns:a16="http://schemas.microsoft.com/office/drawing/2014/main" id="{D218F5EA-AB51-40D6-AB56-960EDC2F94F4}"/>
                </a:ext>
              </a:extLst>
            </p:cNvPr>
            <p:cNvSpPr>
              <a:spLocks noChangeArrowheads="1"/>
            </p:cNvSpPr>
            <p:nvPr/>
          </p:nvSpPr>
          <p:spPr bwMode="auto">
            <a:xfrm>
              <a:off x="1121" y="2193"/>
              <a:ext cx="256" cy="320"/>
            </a:xfrm>
            <a:prstGeom prst="rect">
              <a:avLst/>
            </a:prstGeom>
            <a:solidFill>
              <a:schemeClr val="accent1"/>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a:t>a</a:t>
              </a:r>
            </a:p>
          </p:txBody>
        </p:sp>
        <p:sp>
          <p:nvSpPr>
            <p:cNvPr id="55321" name="Text Box 28">
              <a:extLst>
                <a:ext uri="{FF2B5EF4-FFF2-40B4-BE49-F238E27FC236}">
                  <a16:creationId xmlns:a16="http://schemas.microsoft.com/office/drawing/2014/main" id="{F69019F6-B8B5-4F32-9DA7-072F6BF93297}"/>
                </a:ext>
              </a:extLst>
            </p:cNvPr>
            <p:cNvSpPr txBox="1">
              <a:spLocks noChangeArrowheads="1"/>
            </p:cNvSpPr>
            <p:nvPr/>
          </p:nvSpPr>
          <p:spPr bwMode="auto">
            <a:xfrm>
              <a:off x="899" y="3443"/>
              <a:ext cx="824" cy="27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b="1">
                  <a:sym typeface="Symbol" panose="05050102010706020507" pitchFamily="18" charset="2"/>
                </a:rPr>
                <a:t></a:t>
              </a:r>
            </a:p>
          </p:txBody>
        </p:sp>
        <p:sp>
          <p:nvSpPr>
            <p:cNvPr id="55322" name="Text Box 29">
              <a:extLst>
                <a:ext uri="{FF2B5EF4-FFF2-40B4-BE49-F238E27FC236}">
                  <a16:creationId xmlns:a16="http://schemas.microsoft.com/office/drawing/2014/main" id="{DCA08466-96C0-46D5-9A71-54810B7890B0}"/>
                </a:ext>
              </a:extLst>
            </p:cNvPr>
            <p:cNvSpPr txBox="1">
              <a:spLocks noChangeArrowheads="1"/>
            </p:cNvSpPr>
            <p:nvPr/>
          </p:nvSpPr>
          <p:spPr bwMode="auto">
            <a:xfrm>
              <a:off x="394" y="2674"/>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sym typeface="Symbol" panose="05050102010706020507" pitchFamily="18" charset="2"/>
                </a:rPr>
                <a:t></a:t>
              </a:r>
            </a:p>
          </p:txBody>
        </p:sp>
        <p:sp>
          <p:nvSpPr>
            <p:cNvPr id="55323" name="Rectangle 30">
              <a:extLst>
                <a:ext uri="{FF2B5EF4-FFF2-40B4-BE49-F238E27FC236}">
                  <a16:creationId xmlns:a16="http://schemas.microsoft.com/office/drawing/2014/main" id="{2254825A-6A5F-427A-BEB6-329D1DF58F69}"/>
                </a:ext>
              </a:extLst>
            </p:cNvPr>
            <p:cNvSpPr>
              <a:spLocks noChangeArrowheads="1"/>
            </p:cNvSpPr>
            <p:nvPr/>
          </p:nvSpPr>
          <p:spPr bwMode="auto">
            <a:xfrm>
              <a:off x="930" y="3475"/>
              <a:ext cx="216" cy="224"/>
            </a:xfrm>
            <a:prstGeom prst="rect">
              <a:avLst/>
            </a:prstGeom>
            <a:solidFill>
              <a:schemeClr val="accent1"/>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a:t>b</a:t>
              </a:r>
            </a:p>
          </p:txBody>
        </p:sp>
        <p:sp>
          <p:nvSpPr>
            <p:cNvPr id="55324" name="Rectangle 31">
              <a:extLst>
                <a:ext uri="{FF2B5EF4-FFF2-40B4-BE49-F238E27FC236}">
                  <a16:creationId xmlns:a16="http://schemas.microsoft.com/office/drawing/2014/main" id="{0FDBF412-EECD-4F4E-8E44-63A2AA5E9AAD}"/>
                </a:ext>
              </a:extLst>
            </p:cNvPr>
            <p:cNvSpPr>
              <a:spLocks noChangeArrowheads="1"/>
            </p:cNvSpPr>
            <p:nvPr/>
          </p:nvSpPr>
          <p:spPr bwMode="auto">
            <a:xfrm>
              <a:off x="1738" y="3146"/>
              <a:ext cx="256" cy="256"/>
            </a:xfrm>
            <a:prstGeom prst="rect">
              <a:avLst/>
            </a:prstGeom>
            <a:solidFill>
              <a:schemeClr val="accent1"/>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a:t>a</a:t>
              </a:r>
            </a:p>
          </p:txBody>
        </p:sp>
        <p:sp>
          <p:nvSpPr>
            <p:cNvPr id="55325" name="Line 32">
              <a:extLst>
                <a:ext uri="{FF2B5EF4-FFF2-40B4-BE49-F238E27FC236}">
                  <a16:creationId xmlns:a16="http://schemas.microsoft.com/office/drawing/2014/main" id="{D8EA58EE-DF65-4E3B-BFC1-814B63AFDB11}"/>
                </a:ext>
              </a:extLst>
            </p:cNvPr>
            <p:cNvSpPr>
              <a:spLocks noChangeShapeType="1"/>
            </p:cNvSpPr>
            <p:nvPr/>
          </p:nvSpPr>
          <p:spPr bwMode="auto">
            <a:xfrm flipH="1">
              <a:off x="384" y="2496"/>
              <a:ext cx="368"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6" name="Line 33">
              <a:extLst>
                <a:ext uri="{FF2B5EF4-FFF2-40B4-BE49-F238E27FC236}">
                  <a16:creationId xmlns:a16="http://schemas.microsoft.com/office/drawing/2014/main" id="{54D999C0-41C3-4FE5-BDD0-D41B8F8E8991}"/>
                </a:ext>
              </a:extLst>
            </p:cNvPr>
            <p:cNvSpPr>
              <a:spLocks noChangeShapeType="1"/>
            </p:cNvSpPr>
            <p:nvPr/>
          </p:nvSpPr>
          <p:spPr bwMode="auto">
            <a:xfrm>
              <a:off x="1120" y="2520"/>
              <a:ext cx="3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7" name="Line 34">
              <a:extLst>
                <a:ext uri="{FF2B5EF4-FFF2-40B4-BE49-F238E27FC236}">
                  <a16:creationId xmlns:a16="http://schemas.microsoft.com/office/drawing/2014/main" id="{EE912318-F698-4D25-BBCC-2E9E153A31D8}"/>
                </a:ext>
              </a:extLst>
            </p:cNvPr>
            <p:cNvSpPr>
              <a:spLocks noChangeShapeType="1"/>
            </p:cNvSpPr>
            <p:nvPr/>
          </p:nvSpPr>
          <p:spPr bwMode="auto">
            <a:xfrm flipH="1">
              <a:off x="896" y="2968"/>
              <a:ext cx="25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8" name="Line 35">
              <a:extLst>
                <a:ext uri="{FF2B5EF4-FFF2-40B4-BE49-F238E27FC236}">
                  <a16:creationId xmlns:a16="http://schemas.microsoft.com/office/drawing/2014/main" id="{DA09E0F0-8F14-4CB5-B6CF-201493BFEF11}"/>
                </a:ext>
              </a:extLst>
            </p:cNvPr>
            <p:cNvSpPr>
              <a:spLocks noChangeShapeType="1"/>
            </p:cNvSpPr>
            <p:nvPr/>
          </p:nvSpPr>
          <p:spPr bwMode="auto">
            <a:xfrm>
              <a:off x="1488" y="2968"/>
              <a:ext cx="224"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9" name="Freeform 36">
              <a:extLst>
                <a:ext uri="{FF2B5EF4-FFF2-40B4-BE49-F238E27FC236}">
                  <a16:creationId xmlns:a16="http://schemas.microsoft.com/office/drawing/2014/main" id="{F412CCA0-19D4-4C2F-A0DE-5C46C5796D61}"/>
                </a:ext>
              </a:extLst>
            </p:cNvPr>
            <p:cNvSpPr>
              <a:spLocks/>
            </p:cNvSpPr>
            <p:nvPr/>
          </p:nvSpPr>
          <p:spPr bwMode="auto">
            <a:xfrm>
              <a:off x="1384" y="2384"/>
              <a:ext cx="480" cy="752"/>
            </a:xfrm>
            <a:custGeom>
              <a:avLst/>
              <a:gdLst>
                <a:gd name="T0" fmla="*/ 0 w 496"/>
                <a:gd name="T1" fmla="*/ 0 h 760"/>
                <a:gd name="T2" fmla="*/ 223 w 496"/>
                <a:gd name="T3" fmla="*/ 251 h 760"/>
                <a:gd name="T4" fmla="*/ 394 w 496"/>
                <a:gd name="T5" fmla="*/ 705 h 760"/>
                <a:gd name="T6" fmla="*/ 0 60000 65536"/>
                <a:gd name="T7" fmla="*/ 0 60000 65536"/>
                <a:gd name="T8" fmla="*/ 0 60000 65536"/>
                <a:gd name="T9" fmla="*/ 0 w 496"/>
                <a:gd name="T10" fmla="*/ 0 h 760"/>
                <a:gd name="T11" fmla="*/ 496 w 496"/>
                <a:gd name="T12" fmla="*/ 760 h 760"/>
              </a:gdLst>
              <a:ahLst/>
              <a:cxnLst>
                <a:cxn ang="T6">
                  <a:pos x="T0" y="T1"/>
                </a:cxn>
                <a:cxn ang="T7">
                  <a:pos x="T2" y="T3"/>
                </a:cxn>
                <a:cxn ang="T8">
                  <a:pos x="T4" y="T5"/>
                </a:cxn>
              </a:cxnLst>
              <a:rect l="T9" t="T10" r="T11" b="T12"/>
              <a:pathLst>
                <a:path w="496" h="760">
                  <a:moveTo>
                    <a:pt x="0" y="0"/>
                  </a:moveTo>
                  <a:cubicBezTo>
                    <a:pt x="98" y="72"/>
                    <a:pt x="197" y="145"/>
                    <a:pt x="280" y="272"/>
                  </a:cubicBezTo>
                  <a:cubicBezTo>
                    <a:pt x="363" y="399"/>
                    <a:pt x="429" y="579"/>
                    <a:pt x="496" y="760"/>
                  </a:cubicBezTo>
                </a:path>
              </a:pathLst>
            </a:custGeom>
            <a:noFill/>
            <a:ln w="9525" cap="flat">
              <a:solidFill>
                <a:schemeClr val="tx1"/>
              </a:solidFill>
              <a:prstDash val="lgDash"/>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 name="Group 37">
            <a:extLst>
              <a:ext uri="{FF2B5EF4-FFF2-40B4-BE49-F238E27FC236}">
                <a16:creationId xmlns:a16="http://schemas.microsoft.com/office/drawing/2014/main" id="{C5644A94-4ADF-4601-ACE6-F8425E11C764}"/>
              </a:ext>
            </a:extLst>
          </p:cNvPr>
          <p:cNvGrpSpPr>
            <a:grpSpLocks/>
          </p:cNvGrpSpPr>
          <p:nvPr/>
        </p:nvGrpSpPr>
        <p:grpSpPr bwMode="auto">
          <a:xfrm>
            <a:off x="6438900" y="3675063"/>
            <a:ext cx="4064000" cy="1981200"/>
            <a:chOff x="2944" y="2323"/>
            <a:chExt cx="2560" cy="1248"/>
          </a:xfrm>
        </p:grpSpPr>
        <p:sp>
          <p:nvSpPr>
            <p:cNvPr id="55304" name="Text Box 38">
              <a:extLst>
                <a:ext uri="{FF2B5EF4-FFF2-40B4-BE49-F238E27FC236}">
                  <a16:creationId xmlns:a16="http://schemas.microsoft.com/office/drawing/2014/main" id="{48F2FA60-AD89-47BA-9793-E6378955AAE6}"/>
                </a:ext>
              </a:extLst>
            </p:cNvPr>
            <p:cNvSpPr txBox="1">
              <a:spLocks noChangeArrowheads="1"/>
            </p:cNvSpPr>
            <p:nvPr/>
          </p:nvSpPr>
          <p:spPr bwMode="auto">
            <a:xfrm>
              <a:off x="4232" y="2515"/>
              <a:ext cx="1272" cy="5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just" eaLnBrk="1" hangingPunct="1">
                <a:buFont typeface="Arial" panose="020B0604020202020204" pitchFamily="34" charset="0"/>
                <a:buNone/>
              </a:pPr>
              <a:r>
                <a:rPr lang="en-US" altLang="zh-CN" sz="2400" b="1">
                  <a:latin typeface="Verdana" panose="020B0604030504040204" pitchFamily="34" charset="0"/>
                </a:rPr>
                <a:t>4. A</a:t>
              </a:r>
              <a:r>
                <a:rPr lang="en-US" altLang="zh-CN" sz="2400" b="1">
                  <a:latin typeface="Verdana" panose="020B0604030504040204" pitchFamily="34" charset="0"/>
                  <a:sym typeface="Symbol" panose="05050102010706020507" pitchFamily="18" charset="2"/>
                </a:rPr>
                <a:t> </a:t>
              </a:r>
              <a:r>
                <a:rPr lang="en-US" altLang="zh-CN" sz="2400" b="1">
                  <a:sym typeface="Symbol" panose="05050102010706020507" pitchFamily="18" charset="2"/>
                </a:rPr>
                <a:t>X</a:t>
              </a:r>
            </a:p>
            <a:p>
              <a:pPr algn="just" eaLnBrk="1" hangingPunct="1">
                <a:buFont typeface="Arial" panose="020B0604020202020204" pitchFamily="34" charset="0"/>
                <a:buNone/>
              </a:pPr>
              <a:r>
                <a:rPr lang="en-US" altLang="zh-CN" sz="2800" b="1">
                  <a:sym typeface="Symbol" panose="05050102010706020507" pitchFamily="18" charset="2"/>
                </a:rPr>
                <a:t> * </a:t>
              </a:r>
            </a:p>
          </p:txBody>
        </p:sp>
        <p:sp>
          <p:nvSpPr>
            <p:cNvPr id="55305" name="Text Box 39">
              <a:extLst>
                <a:ext uri="{FF2B5EF4-FFF2-40B4-BE49-F238E27FC236}">
                  <a16:creationId xmlns:a16="http://schemas.microsoft.com/office/drawing/2014/main" id="{3DC830DE-5495-4231-81AB-9AAAAA8CFF1F}"/>
                </a:ext>
              </a:extLst>
            </p:cNvPr>
            <p:cNvSpPr txBox="1">
              <a:spLocks noChangeArrowheads="1"/>
            </p:cNvSpPr>
            <p:nvPr/>
          </p:nvSpPr>
          <p:spPr bwMode="auto">
            <a:xfrm>
              <a:off x="3347" y="2323"/>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A</a:t>
              </a:r>
            </a:p>
          </p:txBody>
        </p:sp>
        <p:sp>
          <p:nvSpPr>
            <p:cNvPr id="55306" name="Line 40">
              <a:extLst>
                <a:ext uri="{FF2B5EF4-FFF2-40B4-BE49-F238E27FC236}">
                  <a16:creationId xmlns:a16="http://schemas.microsoft.com/office/drawing/2014/main" id="{03FBE287-B05A-44C9-BF13-3A5D377B736E}"/>
                </a:ext>
              </a:extLst>
            </p:cNvPr>
            <p:cNvSpPr>
              <a:spLocks noChangeShapeType="1"/>
            </p:cNvSpPr>
            <p:nvPr/>
          </p:nvSpPr>
          <p:spPr bwMode="auto">
            <a:xfrm flipH="1">
              <a:off x="2944" y="2640"/>
              <a:ext cx="400" cy="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7" name="Line 41">
              <a:extLst>
                <a:ext uri="{FF2B5EF4-FFF2-40B4-BE49-F238E27FC236}">
                  <a16:creationId xmlns:a16="http://schemas.microsoft.com/office/drawing/2014/main" id="{66DCDAC8-8349-41E0-99B3-55E1ECA94159}"/>
                </a:ext>
              </a:extLst>
            </p:cNvPr>
            <p:cNvSpPr>
              <a:spLocks noChangeShapeType="1"/>
            </p:cNvSpPr>
            <p:nvPr/>
          </p:nvSpPr>
          <p:spPr bwMode="auto">
            <a:xfrm>
              <a:off x="3728" y="2632"/>
              <a:ext cx="344" cy="1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8" name="Text Box 42">
              <a:extLst>
                <a:ext uri="{FF2B5EF4-FFF2-40B4-BE49-F238E27FC236}">
                  <a16:creationId xmlns:a16="http://schemas.microsoft.com/office/drawing/2014/main" id="{442B2A57-1BF1-4D60-A43D-F18FB2C1C19E}"/>
                </a:ext>
              </a:extLst>
            </p:cNvPr>
            <p:cNvSpPr txBox="1">
              <a:spLocks noChangeArrowheads="1"/>
            </p:cNvSpPr>
            <p:nvPr/>
          </p:nvSpPr>
          <p:spPr bwMode="auto">
            <a:xfrm>
              <a:off x="3428" y="3300"/>
              <a:ext cx="824" cy="27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b="1">
                  <a:sym typeface="Symbol" panose="05050102010706020507" pitchFamily="18" charset="2"/>
                </a:rPr>
                <a:t></a:t>
              </a:r>
            </a:p>
          </p:txBody>
        </p:sp>
        <p:sp>
          <p:nvSpPr>
            <p:cNvPr id="55309" name="Rectangle 43">
              <a:extLst>
                <a:ext uri="{FF2B5EF4-FFF2-40B4-BE49-F238E27FC236}">
                  <a16:creationId xmlns:a16="http://schemas.microsoft.com/office/drawing/2014/main" id="{BB6FC170-F9AA-4137-B150-9B7D2CAFA6F1}"/>
                </a:ext>
              </a:extLst>
            </p:cNvPr>
            <p:cNvSpPr>
              <a:spLocks noChangeArrowheads="1"/>
            </p:cNvSpPr>
            <p:nvPr/>
          </p:nvSpPr>
          <p:spPr bwMode="auto">
            <a:xfrm>
              <a:off x="3458" y="3338"/>
              <a:ext cx="216" cy="224"/>
            </a:xfrm>
            <a:prstGeom prst="rect">
              <a:avLst/>
            </a:prstGeom>
            <a:solidFill>
              <a:schemeClr val="accent1"/>
            </a:solidFill>
            <a:ln w="9525">
              <a:solidFill>
                <a:schemeClr val="tx1"/>
              </a:solidFill>
              <a:miter lim="800000"/>
              <a:headEnd/>
              <a:tailEnd/>
            </a:ln>
          </p:spPr>
          <p:txBody>
            <a:bodyPr wrap="none"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sz="2800"/>
                <a:t>b</a:t>
              </a:r>
            </a:p>
          </p:txBody>
        </p:sp>
        <p:sp>
          <p:nvSpPr>
            <p:cNvPr id="55310" name="Line 44">
              <a:extLst>
                <a:ext uri="{FF2B5EF4-FFF2-40B4-BE49-F238E27FC236}">
                  <a16:creationId xmlns:a16="http://schemas.microsoft.com/office/drawing/2014/main" id="{1E4F95FC-1B6C-465F-9508-53630C12FBA3}"/>
                </a:ext>
              </a:extLst>
            </p:cNvPr>
            <p:cNvSpPr>
              <a:spLocks noChangeShapeType="1"/>
            </p:cNvSpPr>
            <p:nvPr/>
          </p:nvSpPr>
          <p:spPr bwMode="auto">
            <a:xfrm flipH="1">
              <a:off x="3424" y="3096"/>
              <a:ext cx="27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1" name="Line 45">
              <a:extLst>
                <a:ext uri="{FF2B5EF4-FFF2-40B4-BE49-F238E27FC236}">
                  <a16:creationId xmlns:a16="http://schemas.microsoft.com/office/drawing/2014/main" id="{A5191197-4AED-401D-ADFD-F2C266565377}"/>
                </a:ext>
              </a:extLst>
            </p:cNvPr>
            <p:cNvSpPr>
              <a:spLocks noChangeShapeType="1"/>
            </p:cNvSpPr>
            <p:nvPr/>
          </p:nvSpPr>
          <p:spPr bwMode="auto">
            <a:xfrm>
              <a:off x="4056" y="3096"/>
              <a:ext cx="20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2" name="Text Box 46">
              <a:extLst>
                <a:ext uri="{FF2B5EF4-FFF2-40B4-BE49-F238E27FC236}">
                  <a16:creationId xmlns:a16="http://schemas.microsoft.com/office/drawing/2014/main" id="{633B3010-FD42-46C8-BCB2-2ADD12DE7B0C}"/>
                </a:ext>
              </a:extLst>
            </p:cNvPr>
            <p:cNvSpPr txBox="1">
              <a:spLocks noChangeArrowheads="1"/>
            </p:cNvSpPr>
            <p:nvPr/>
          </p:nvSpPr>
          <p:spPr bwMode="auto">
            <a:xfrm>
              <a:off x="3322" y="2794"/>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rPr>
                <a:t>X</a:t>
              </a:r>
            </a:p>
          </p:txBody>
        </p:sp>
        <p:sp>
          <p:nvSpPr>
            <p:cNvPr id="55313" name="Text Box 47">
              <a:extLst>
                <a:ext uri="{FF2B5EF4-FFF2-40B4-BE49-F238E27FC236}">
                  <a16:creationId xmlns:a16="http://schemas.microsoft.com/office/drawing/2014/main" id="{99F94A9C-E5B5-4E2D-A8A2-D4DC5CA5970D}"/>
                </a:ext>
              </a:extLst>
            </p:cNvPr>
            <p:cNvSpPr txBox="1">
              <a:spLocks noChangeArrowheads="1"/>
            </p:cNvSpPr>
            <p:nvPr/>
          </p:nvSpPr>
          <p:spPr bwMode="auto">
            <a:xfrm>
              <a:off x="3699" y="2795"/>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sym typeface="Symbol" panose="05050102010706020507" pitchFamily="18" charset="2"/>
                </a:rPr>
                <a:t></a:t>
              </a:r>
            </a:p>
          </p:txBody>
        </p:sp>
        <p:sp>
          <p:nvSpPr>
            <p:cNvPr id="55314" name="Text Box 48">
              <a:extLst>
                <a:ext uri="{FF2B5EF4-FFF2-40B4-BE49-F238E27FC236}">
                  <a16:creationId xmlns:a16="http://schemas.microsoft.com/office/drawing/2014/main" id="{E949168A-6957-4A4C-A664-D1AD08030794}"/>
                </a:ext>
              </a:extLst>
            </p:cNvPr>
            <p:cNvSpPr txBox="1">
              <a:spLocks noChangeArrowheads="1"/>
            </p:cNvSpPr>
            <p:nvPr/>
          </p:nvSpPr>
          <p:spPr bwMode="auto">
            <a:xfrm>
              <a:off x="2947" y="2795"/>
              <a:ext cx="368" cy="291"/>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400" b="1">
                  <a:latin typeface="Verdana" panose="020B0604030504040204" pitchFamily="34" charset="0"/>
                  <a:sym typeface="Symbol" panose="05050102010706020507" pitchFamily="18" charset="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4D1BFFB-6527-4169-BDDE-E6F5BB00F10A}"/>
              </a:ext>
            </a:extLst>
          </p:cNvPr>
          <p:cNvSpPr>
            <a:spLocks noGrp="1" noChangeArrowheads="1"/>
          </p:cNvSpPr>
          <p:nvPr>
            <p:ph type="title"/>
          </p:nvPr>
        </p:nvSpPr>
        <p:spPr/>
        <p:txBody>
          <a:bodyPr/>
          <a:lstStyle/>
          <a:p>
            <a:pPr eaLnBrk="1" hangingPunct="1"/>
            <a:r>
              <a:rPr lang="zh-CN" altLang="en-US"/>
              <a:t>构造</a:t>
            </a:r>
            <a:r>
              <a:rPr lang="en-US" altLang="zh-CN"/>
              <a:t>FOLLOW</a:t>
            </a:r>
            <a:r>
              <a:rPr lang="zh-CN" altLang="en-US"/>
              <a:t>集</a:t>
            </a:r>
            <a:r>
              <a:rPr lang="en-US" altLang="zh-CN"/>
              <a:t>2/2</a:t>
            </a:r>
          </a:p>
        </p:txBody>
      </p:sp>
      <p:sp>
        <p:nvSpPr>
          <p:cNvPr id="56323" name="Rectangle 3">
            <a:extLst>
              <a:ext uri="{FF2B5EF4-FFF2-40B4-BE49-F238E27FC236}">
                <a16:creationId xmlns:a16="http://schemas.microsoft.com/office/drawing/2014/main" id="{B6D121DF-E388-4499-90FF-3627DF1A70B1}"/>
              </a:ext>
            </a:extLst>
          </p:cNvPr>
          <p:cNvSpPr>
            <a:spLocks noGrp="1" noChangeArrowheads="1"/>
          </p:cNvSpPr>
          <p:nvPr>
            <p:ph type="body" idx="1"/>
          </p:nvPr>
        </p:nvSpPr>
        <p:spPr/>
        <p:txBody>
          <a:bodyPr>
            <a:normAutofit lnSpcReduction="10000"/>
          </a:bodyPr>
          <a:lstStyle/>
          <a:p>
            <a:pPr eaLnBrk="1" hangingPunct="1">
              <a:lnSpc>
                <a:spcPct val="90000"/>
              </a:lnSpc>
            </a:pPr>
            <a:r>
              <a:rPr lang="en-US" altLang="zh-CN" sz="2600"/>
              <a:t>Set FOLLOW(X) {</a:t>
            </a:r>
          </a:p>
          <a:p>
            <a:pPr lvl="1" eaLnBrk="1" hangingPunct="1">
              <a:lnSpc>
                <a:spcPct val="90000"/>
              </a:lnSpc>
            </a:pPr>
            <a:r>
              <a:rPr lang="en-US" altLang="zh-CN" sz="2200"/>
              <a:t>if (X == S </a:t>
            </a:r>
            <a:r>
              <a:rPr lang="en-US" altLang="zh-CN" sz="2200">
                <a:sym typeface="Symbol" panose="05050102010706020507" pitchFamily="18" charset="2"/>
              </a:rPr>
              <a:t></a:t>
            </a:r>
            <a:r>
              <a:rPr lang="en-US" altLang="zh-CN" sz="2200"/>
              <a:t> G[S]) return {#}</a:t>
            </a:r>
          </a:p>
          <a:p>
            <a:pPr lvl="1" eaLnBrk="1" hangingPunct="1">
              <a:lnSpc>
                <a:spcPct val="90000"/>
              </a:lnSpc>
            </a:pPr>
            <a:r>
              <a:rPr lang="en-US" altLang="zh-CN" sz="2200"/>
              <a:t>fw=</a:t>
            </a:r>
            <a:r>
              <a:rPr lang="en-US" altLang="zh-CN" sz="2200">
                <a:sym typeface="Symbol" panose="05050102010706020507" pitchFamily="18" charset="2"/>
              </a:rPr>
              <a:t>;</a:t>
            </a:r>
          </a:p>
          <a:p>
            <a:pPr lvl="1" eaLnBrk="1" hangingPunct="1">
              <a:lnSpc>
                <a:spcPct val="90000"/>
              </a:lnSpc>
            </a:pPr>
            <a:r>
              <a:rPr lang="en-US" altLang="zh-CN" sz="2200"/>
              <a:t>forEach(A</a:t>
            </a:r>
            <a:r>
              <a:rPr lang="en-US" altLang="zh-CN" sz="2200">
                <a:sym typeface="Symbol" panose="05050102010706020507" pitchFamily="18" charset="2"/>
              </a:rPr>
              <a:t></a:t>
            </a:r>
            <a:r>
              <a:rPr lang="en-US" altLang="zh-CN" sz="2200"/>
              <a:t>X</a:t>
            </a:r>
            <a:r>
              <a:rPr lang="en-US" altLang="zh-CN" sz="2200">
                <a:sym typeface="Symbol" panose="05050102010706020507" pitchFamily="18" charset="2"/>
              </a:rPr>
              <a:t></a:t>
            </a:r>
            <a:r>
              <a:rPr lang="en-US" altLang="zh-CN" sz="2200"/>
              <a:t> </a:t>
            </a:r>
            <a:r>
              <a:rPr lang="en-US" altLang="zh-CN" sz="2200">
                <a:sym typeface="Symbol" panose="05050102010706020507" pitchFamily="18" charset="2"/>
              </a:rPr>
              <a:t></a:t>
            </a:r>
            <a:r>
              <a:rPr lang="en-US" altLang="zh-CN" sz="2200"/>
              <a:t> P) {</a:t>
            </a:r>
          </a:p>
          <a:p>
            <a:pPr lvl="2" eaLnBrk="1" hangingPunct="1">
              <a:lnSpc>
                <a:spcPct val="90000"/>
              </a:lnSpc>
            </a:pPr>
            <a:r>
              <a:rPr lang="en-US" altLang="zh-CN"/>
              <a:t>if (</a:t>
            </a:r>
            <a:r>
              <a:rPr lang="en-US" altLang="zh-CN">
                <a:sym typeface="Symbol" panose="05050102010706020507" pitchFamily="18" charset="2"/>
              </a:rPr>
              <a:t></a:t>
            </a:r>
            <a:r>
              <a:rPr lang="en-US" altLang="zh-CN"/>
              <a:t> </a:t>
            </a:r>
            <a:r>
              <a:rPr lang="en-US" altLang="zh-CN">
                <a:sym typeface="Symbol" panose="05050102010706020507" pitchFamily="18" charset="2"/>
              </a:rPr>
              <a:t></a:t>
            </a:r>
            <a:r>
              <a:rPr lang="en-US" altLang="zh-CN"/>
              <a:t> FIRST(</a:t>
            </a:r>
            <a:r>
              <a:rPr lang="en-US" altLang="zh-CN">
                <a:sym typeface="Symbol" panose="05050102010706020507" pitchFamily="18" charset="2"/>
              </a:rPr>
              <a:t></a:t>
            </a:r>
            <a:r>
              <a:rPr lang="en-US" altLang="zh-CN"/>
              <a:t>)) {</a:t>
            </a:r>
          </a:p>
          <a:p>
            <a:pPr lvl="3" eaLnBrk="1" hangingPunct="1">
              <a:lnSpc>
                <a:spcPct val="90000"/>
              </a:lnSpc>
            </a:pPr>
            <a:r>
              <a:rPr lang="en-US" altLang="zh-CN"/>
              <a:t>fw += (FIRST(</a:t>
            </a:r>
            <a:r>
              <a:rPr lang="en-US" altLang="zh-CN">
                <a:sym typeface="Symbol" panose="05050102010706020507" pitchFamily="18" charset="2"/>
              </a:rPr>
              <a:t></a:t>
            </a:r>
            <a:r>
              <a:rPr lang="en-US" altLang="zh-CN"/>
              <a:t>) – {</a:t>
            </a:r>
            <a:r>
              <a:rPr lang="en-US" altLang="zh-CN">
                <a:sym typeface="Symbol" panose="05050102010706020507" pitchFamily="18" charset="2"/>
              </a:rPr>
              <a:t></a:t>
            </a:r>
            <a:r>
              <a:rPr lang="en-US" altLang="zh-CN"/>
              <a:t>});</a:t>
            </a:r>
          </a:p>
          <a:p>
            <a:pPr lvl="3" eaLnBrk="1" hangingPunct="1">
              <a:lnSpc>
                <a:spcPct val="90000"/>
              </a:lnSpc>
            </a:pPr>
            <a:r>
              <a:rPr lang="en-US" altLang="zh-CN"/>
              <a:t>fw += FOLLOW(A);</a:t>
            </a:r>
          </a:p>
          <a:p>
            <a:pPr lvl="2" eaLnBrk="1" hangingPunct="1">
              <a:lnSpc>
                <a:spcPct val="90000"/>
              </a:lnSpc>
            </a:pPr>
            <a:r>
              <a:rPr lang="en-US" altLang="zh-CN"/>
              <a:t>} else fw += FIRST(</a:t>
            </a:r>
            <a:r>
              <a:rPr lang="en-US" altLang="zh-CN">
                <a:sym typeface="Symbol" panose="05050102010706020507" pitchFamily="18" charset="2"/>
              </a:rPr>
              <a:t></a:t>
            </a:r>
            <a:r>
              <a:rPr lang="en-US" altLang="zh-CN"/>
              <a:t>);  </a:t>
            </a:r>
          </a:p>
          <a:p>
            <a:pPr lvl="1" eaLnBrk="1" hangingPunct="1">
              <a:lnSpc>
                <a:spcPct val="90000"/>
              </a:lnSpc>
            </a:pPr>
            <a:r>
              <a:rPr lang="en-US" altLang="zh-CN" sz="2200"/>
              <a:t>}</a:t>
            </a:r>
          </a:p>
          <a:p>
            <a:pPr lvl="1" eaLnBrk="1" hangingPunct="1">
              <a:lnSpc>
                <a:spcPct val="90000"/>
              </a:lnSpc>
            </a:pPr>
            <a:r>
              <a:rPr lang="en-US" altLang="zh-CN" sz="2200"/>
              <a:t>forEach(A</a:t>
            </a:r>
            <a:r>
              <a:rPr lang="en-US" altLang="zh-CN" sz="2200">
                <a:sym typeface="Symbol" panose="05050102010706020507" pitchFamily="18" charset="2"/>
              </a:rPr>
              <a:t></a:t>
            </a:r>
            <a:r>
              <a:rPr lang="en-US" altLang="zh-CN" sz="2200"/>
              <a:t>X </a:t>
            </a:r>
            <a:r>
              <a:rPr lang="en-US" altLang="zh-CN" sz="2200">
                <a:sym typeface="Symbol" panose="05050102010706020507" pitchFamily="18" charset="2"/>
              </a:rPr>
              <a:t></a:t>
            </a:r>
            <a:r>
              <a:rPr lang="en-US" altLang="zh-CN" sz="2200"/>
              <a:t> P) fw += FOLLOW(A);</a:t>
            </a:r>
          </a:p>
          <a:p>
            <a:pPr lvl="1" eaLnBrk="1" hangingPunct="1">
              <a:lnSpc>
                <a:spcPct val="90000"/>
              </a:lnSpc>
            </a:pPr>
            <a:r>
              <a:rPr lang="en-US" altLang="zh-CN" sz="2200"/>
              <a:t>return fw(X);</a:t>
            </a:r>
          </a:p>
          <a:p>
            <a:pPr eaLnBrk="1" hangingPunct="1">
              <a:lnSpc>
                <a:spcPct val="90000"/>
              </a:lnSpc>
            </a:pPr>
            <a:r>
              <a:rPr lang="en-US" altLang="zh-CN" sz="2600"/>
              <a:t>}</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a:extLst>
              <a:ext uri="{FF2B5EF4-FFF2-40B4-BE49-F238E27FC236}">
                <a16:creationId xmlns:a16="http://schemas.microsoft.com/office/drawing/2014/main" id="{B7738179-9B86-455F-8D55-ADCC3215D5C6}"/>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7EDED6A5-D406-40EF-B272-0D4E92D83781}" type="datetime1">
              <a:rPr lang="zh-CN" altLang="en-US" noProof="0" smtClean="0">
                <a:latin typeface="+mn-lt"/>
              </a:rPr>
              <a:pPr>
                <a:buFontTx/>
                <a:buNone/>
                <a:defRPr/>
              </a:pPr>
              <a:t>2025/6/26</a:t>
            </a:fld>
            <a:endParaRPr lang="en-US" altLang="zh-CN" noProof="0">
              <a:latin typeface="+mn-lt"/>
            </a:endParaRPr>
          </a:p>
        </p:txBody>
      </p:sp>
      <p:sp>
        <p:nvSpPr>
          <p:cNvPr id="7172" name="灯片编号占位符 5">
            <a:extLst>
              <a:ext uri="{FF2B5EF4-FFF2-40B4-BE49-F238E27FC236}">
                <a16:creationId xmlns:a16="http://schemas.microsoft.com/office/drawing/2014/main" id="{9497E064-F339-4738-B214-895CC7797AD8}"/>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72359526-C4CD-42E4-B147-D25DF4ACDB66}" type="slidenum">
              <a:rPr lang="en-US" altLang="zh-CN" sz="1400">
                <a:latin typeface="Arial" panose="020B0604020202020204" pitchFamily="34" charset="0"/>
              </a:rPr>
              <a:pPr/>
              <a:t>9</a:t>
            </a:fld>
            <a:endParaRPr lang="en-US" altLang="zh-CN" sz="1400">
              <a:latin typeface="Arial" panose="020B0604020202020204" pitchFamily="34" charset="0"/>
            </a:endParaRPr>
          </a:p>
        </p:txBody>
      </p:sp>
      <p:sp>
        <p:nvSpPr>
          <p:cNvPr id="7173" name="Rectangle 2">
            <a:extLst>
              <a:ext uri="{FF2B5EF4-FFF2-40B4-BE49-F238E27FC236}">
                <a16:creationId xmlns:a16="http://schemas.microsoft.com/office/drawing/2014/main" id="{A3D2B4D3-0C78-4511-A225-935D25C1A070}"/>
              </a:ext>
            </a:extLst>
          </p:cNvPr>
          <p:cNvSpPr>
            <a:spLocks noGrp="1" noChangeArrowheads="1"/>
          </p:cNvSpPr>
          <p:nvPr>
            <p:ph type="title" idx="4294967295"/>
          </p:nvPr>
        </p:nvSpPr>
        <p:spPr>
          <a:xfrm>
            <a:off x="2927351" y="333376"/>
            <a:ext cx="4595813" cy="792163"/>
          </a:xfrm>
        </p:spPr>
        <p:txBody>
          <a:bodyPr vert="horz" lIns="92075" tIns="46038" rIns="92075" bIns="46038" rtlCol="0" anchor="ctr">
            <a:normAutofit/>
          </a:bodyPr>
          <a:lstStyle/>
          <a:p>
            <a:pPr eaLnBrk="1" hangingPunct="1"/>
            <a:r>
              <a:rPr lang="en-US" altLang="zh-CN">
                <a:latin typeface="Times New Roman" panose="02020603050405020304" pitchFamily="18" charset="0"/>
              </a:rPr>
              <a:t>LL(1)</a:t>
            </a:r>
            <a:r>
              <a:rPr lang="zh-CN" altLang="en-US" sz="4000"/>
              <a:t>文法的判定</a:t>
            </a:r>
          </a:p>
        </p:txBody>
      </p:sp>
      <p:sp>
        <p:nvSpPr>
          <p:cNvPr id="2169859" name="Rectangle 3">
            <a:extLst>
              <a:ext uri="{FF2B5EF4-FFF2-40B4-BE49-F238E27FC236}">
                <a16:creationId xmlns:a16="http://schemas.microsoft.com/office/drawing/2014/main" id="{C11F12F1-6FFE-44CB-BBD8-8DD2A557C03C}"/>
              </a:ext>
            </a:extLst>
          </p:cNvPr>
          <p:cNvSpPr>
            <a:spLocks noGrp="1" noChangeArrowheads="1"/>
          </p:cNvSpPr>
          <p:nvPr>
            <p:ph type="body" idx="4294967295"/>
          </p:nvPr>
        </p:nvSpPr>
        <p:spPr>
          <a:xfrm>
            <a:off x="1847850" y="1628776"/>
            <a:ext cx="8591550" cy="4968875"/>
          </a:xfrm>
        </p:spPr>
        <p:txBody>
          <a:bodyPr vert="horz" lIns="92075" tIns="46038" rIns="92075" bIns="46038" rtlCol="0">
            <a:normAutofit lnSpcReduction="10000"/>
          </a:bodyPr>
          <a:lstStyle/>
          <a:p>
            <a:pPr marL="812800" indent="-812800">
              <a:lnSpc>
                <a:spcPct val="80000"/>
              </a:lnSpc>
              <a:buNone/>
            </a:pPr>
            <a:r>
              <a:rPr lang="zh-CN" altLang="en-US" sz="2600">
                <a:latin typeface="Times New Roman" panose="02020603050405020304" pitchFamily="18" charset="0"/>
              </a:rPr>
              <a:t>算法</a:t>
            </a:r>
            <a:r>
              <a:rPr lang="en-US" altLang="zh-CN" sz="2600">
                <a:latin typeface="Times New Roman" panose="02020603050405020304" pitchFamily="18" charset="0"/>
              </a:rPr>
              <a:t>4.4 </a:t>
            </a:r>
            <a:r>
              <a:rPr lang="zh-CN" altLang="en-US" sz="2600">
                <a:latin typeface="Times New Roman" panose="02020603050405020304" pitchFamily="18" charset="0"/>
              </a:rPr>
              <a:t>计算</a:t>
            </a:r>
            <a:r>
              <a:rPr lang="en-US" altLang="zh-CN" sz="2600">
                <a:latin typeface="Times New Roman" panose="02020603050405020304" pitchFamily="18" charset="0"/>
              </a:rPr>
              <a:t>FOLLOW</a:t>
            </a:r>
            <a:r>
              <a:rPr lang="zh-CN" altLang="en-US" sz="2600">
                <a:latin typeface="Times New Roman" panose="02020603050405020304" pitchFamily="18" charset="0"/>
              </a:rPr>
              <a:t>集。</a:t>
            </a:r>
          </a:p>
          <a:p>
            <a:pPr marL="812800" indent="-812800">
              <a:lnSpc>
                <a:spcPct val="80000"/>
              </a:lnSpc>
              <a:buNone/>
            </a:pPr>
            <a:r>
              <a:rPr lang="zh-CN" altLang="en-US" sz="2600">
                <a:latin typeface="Times New Roman" panose="02020603050405020304" pitchFamily="18" charset="0"/>
              </a:rPr>
              <a:t>输入：文法</a:t>
            </a:r>
            <a:r>
              <a:rPr lang="en-US" altLang="zh-CN" sz="2600" i="1">
                <a:latin typeface="Times New Roman" panose="02020603050405020304" pitchFamily="18" charset="0"/>
              </a:rPr>
              <a:t>G</a:t>
            </a:r>
            <a:r>
              <a:rPr lang="en-US" altLang="zh-CN" sz="2600">
                <a:latin typeface="Times New Roman" panose="02020603050405020304" pitchFamily="18" charset="0"/>
              </a:rPr>
              <a:t>=(</a:t>
            </a:r>
            <a:r>
              <a:rPr lang="en-US" altLang="zh-CN" sz="2600" i="1">
                <a:latin typeface="Times New Roman" panose="02020603050405020304" pitchFamily="18" charset="0"/>
              </a:rPr>
              <a:t>V</a:t>
            </a:r>
            <a:r>
              <a:rPr lang="zh-CN" altLang="en-US" sz="2600">
                <a:latin typeface="Times New Roman" panose="02020603050405020304" pitchFamily="18" charset="0"/>
              </a:rPr>
              <a:t>，</a:t>
            </a:r>
            <a:r>
              <a:rPr lang="en-US" altLang="zh-CN" sz="2600" i="1">
                <a:latin typeface="Times New Roman" panose="02020603050405020304" pitchFamily="18" charset="0"/>
              </a:rPr>
              <a:t>T</a:t>
            </a:r>
            <a:r>
              <a:rPr lang="zh-CN" altLang="en-US" sz="2600">
                <a:latin typeface="Times New Roman" panose="02020603050405020304" pitchFamily="18" charset="0"/>
              </a:rPr>
              <a:t>，</a:t>
            </a:r>
            <a:r>
              <a:rPr lang="en-US" altLang="zh-CN" sz="2600" i="1">
                <a:latin typeface="Times New Roman" panose="02020603050405020304" pitchFamily="18" charset="0"/>
              </a:rPr>
              <a:t>P</a:t>
            </a:r>
            <a:r>
              <a:rPr lang="zh-CN" altLang="en-US" sz="2600">
                <a:latin typeface="Times New Roman" panose="02020603050405020304" pitchFamily="18" charset="0"/>
              </a:rPr>
              <a:t>，</a:t>
            </a:r>
            <a:r>
              <a:rPr lang="en-US" altLang="zh-CN" sz="2600" i="1">
                <a:latin typeface="Times New Roman" panose="02020603050405020304" pitchFamily="18" charset="0"/>
              </a:rPr>
              <a:t>S</a:t>
            </a:r>
            <a:r>
              <a:rPr lang="en-US" altLang="zh-CN" sz="2600">
                <a:latin typeface="Times New Roman" panose="02020603050405020304" pitchFamily="18" charset="0"/>
              </a:rPr>
              <a:t>)</a:t>
            </a:r>
            <a:r>
              <a:rPr lang="zh-CN" altLang="en-US" sz="2600">
                <a:latin typeface="Times New Roman" panose="02020603050405020304" pitchFamily="18" charset="0"/>
              </a:rPr>
              <a:t>，</a:t>
            </a:r>
            <a:r>
              <a:rPr lang="en-US" altLang="zh-CN" sz="2600" i="1">
                <a:latin typeface="Times New Roman" panose="02020603050405020304" pitchFamily="18" charset="0"/>
              </a:rPr>
              <a:t>A</a:t>
            </a:r>
            <a:r>
              <a:rPr lang="en-US" altLang="zh-CN" sz="2600">
                <a:latin typeface="Times New Roman" panose="02020603050405020304" pitchFamily="18" charset="0"/>
                <a:sym typeface="Symbol" panose="05050102010706020507" pitchFamily="18" charset="2"/>
              </a:rPr>
              <a:t></a:t>
            </a:r>
            <a:r>
              <a:rPr lang="en-US" altLang="zh-CN" sz="2600" i="1">
                <a:latin typeface="Times New Roman" panose="02020603050405020304" pitchFamily="18" charset="0"/>
              </a:rPr>
              <a:t>V</a:t>
            </a:r>
            <a:r>
              <a:rPr lang="en-US" altLang="zh-CN" sz="2600">
                <a:latin typeface="Times New Roman" panose="02020603050405020304" pitchFamily="18" charset="0"/>
              </a:rPr>
              <a:t>;</a:t>
            </a:r>
          </a:p>
          <a:p>
            <a:pPr marL="812800" indent="-812800">
              <a:lnSpc>
                <a:spcPct val="80000"/>
              </a:lnSpc>
              <a:buNone/>
            </a:pPr>
            <a:r>
              <a:rPr lang="zh-CN" altLang="en-US" sz="2600">
                <a:latin typeface="Times New Roman" panose="02020603050405020304" pitchFamily="18" charset="0"/>
              </a:rPr>
              <a:t>输出：</a:t>
            </a:r>
            <a:r>
              <a:rPr lang="en-US" altLang="zh-CN" sz="2600">
                <a:latin typeface="Times New Roman" panose="02020603050405020304" pitchFamily="18" charset="0"/>
              </a:rPr>
              <a:t>FOLLOW(</a:t>
            </a:r>
            <a:r>
              <a:rPr lang="en-US" altLang="zh-CN" sz="2600" i="1">
                <a:latin typeface="Times New Roman" panose="02020603050405020304" pitchFamily="18" charset="0"/>
              </a:rPr>
              <a:t>A</a:t>
            </a:r>
            <a:r>
              <a:rPr lang="en-US" altLang="zh-CN" sz="2600">
                <a:latin typeface="Times New Roman" panose="02020603050405020304" pitchFamily="18" charset="0"/>
              </a:rPr>
              <a:t>);</a:t>
            </a:r>
          </a:p>
          <a:p>
            <a:pPr marL="812800" indent="-812800">
              <a:lnSpc>
                <a:spcPct val="80000"/>
              </a:lnSpc>
              <a:buNone/>
            </a:pPr>
            <a:r>
              <a:rPr lang="zh-CN" altLang="en-US" sz="2600">
                <a:latin typeface="Times New Roman" panose="02020603050405020304" pitchFamily="18" charset="0"/>
              </a:rPr>
              <a:t>步骤：</a:t>
            </a:r>
          </a:p>
          <a:p>
            <a:pPr marL="812800" indent="-812800">
              <a:lnSpc>
                <a:spcPct val="80000"/>
              </a:lnSpc>
              <a:buNone/>
            </a:pPr>
            <a:r>
              <a:rPr lang="en-US" altLang="zh-CN" sz="2600">
                <a:latin typeface="Times New Roman" panose="02020603050405020304" pitchFamily="18" charset="0"/>
              </a:rPr>
              <a:t>1</a:t>
            </a:r>
            <a:r>
              <a:rPr lang="zh-CN" altLang="en-US" sz="2600">
                <a:latin typeface="Times New Roman" panose="02020603050405020304" pitchFamily="18" charset="0"/>
              </a:rPr>
              <a:t>．对</a:t>
            </a:r>
            <a:r>
              <a:rPr lang="zh-CN" altLang="en-US" sz="2600">
                <a:latin typeface="Times New Roman" panose="02020603050405020304" pitchFamily="18" charset="0"/>
                <a:sym typeface="Symbol" panose="05050102010706020507" pitchFamily="18" charset="2"/>
              </a:rPr>
              <a:t></a:t>
            </a:r>
            <a:r>
              <a:rPr lang="en-US" altLang="zh-CN" sz="2600" i="1">
                <a:latin typeface="Times New Roman" panose="02020603050405020304" pitchFamily="18" charset="0"/>
              </a:rPr>
              <a:t>X</a:t>
            </a:r>
            <a:r>
              <a:rPr lang="en-US" altLang="zh-CN" sz="2600">
                <a:latin typeface="Times New Roman" panose="02020603050405020304" pitchFamily="18" charset="0"/>
              </a:rPr>
              <a:t>∈</a:t>
            </a:r>
            <a:r>
              <a:rPr lang="en-US" altLang="zh-CN" sz="2600" i="1">
                <a:latin typeface="Times New Roman" panose="02020603050405020304" pitchFamily="18" charset="0"/>
              </a:rPr>
              <a:t>V</a:t>
            </a:r>
            <a:r>
              <a:rPr lang="zh-CN" altLang="en-US" sz="2600">
                <a:latin typeface="Times New Roman" panose="02020603050405020304" pitchFamily="18" charset="0"/>
              </a:rPr>
              <a:t>，</a:t>
            </a:r>
            <a:r>
              <a:rPr lang="en-US" altLang="zh-CN" sz="2600">
                <a:latin typeface="Times New Roman" panose="02020603050405020304" pitchFamily="18" charset="0"/>
              </a:rPr>
              <a:t>FOLLOW(</a:t>
            </a:r>
            <a:r>
              <a:rPr lang="en-US" altLang="zh-CN" sz="2600" i="1">
                <a:latin typeface="Times New Roman" panose="02020603050405020304" pitchFamily="18" charset="0"/>
              </a:rPr>
              <a:t>X</a:t>
            </a:r>
            <a:r>
              <a:rPr lang="en-US" altLang="zh-CN" sz="2600">
                <a:latin typeface="Times New Roman" panose="02020603050405020304" pitchFamily="18" charset="0"/>
              </a:rPr>
              <a:t>) := </a:t>
            </a:r>
            <a:r>
              <a:rPr lang="en-US" altLang="zh-CN" sz="2600">
                <a:latin typeface="Times New Roman" panose="02020603050405020304" pitchFamily="18" charset="0"/>
                <a:sym typeface="Symbol" panose="05050102010706020507" pitchFamily="18" charset="2"/>
              </a:rPr>
              <a:t></a:t>
            </a:r>
            <a:r>
              <a:rPr lang="en-US" altLang="zh-CN" sz="2600">
                <a:latin typeface="Times New Roman" panose="02020603050405020304" pitchFamily="18" charset="0"/>
              </a:rPr>
              <a:t>;</a:t>
            </a:r>
          </a:p>
          <a:p>
            <a:pPr marL="812800" indent="-812800">
              <a:lnSpc>
                <a:spcPct val="80000"/>
              </a:lnSpc>
              <a:buNone/>
            </a:pPr>
            <a:r>
              <a:rPr lang="en-US" altLang="zh-CN" sz="2600">
                <a:latin typeface="Times New Roman" panose="02020603050405020304" pitchFamily="18" charset="0"/>
              </a:rPr>
              <a:t>2</a:t>
            </a:r>
            <a:r>
              <a:rPr lang="zh-CN" altLang="en-US" sz="2600">
                <a:latin typeface="Times New Roman" panose="02020603050405020304" pitchFamily="18" charset="0"/>
              </a:rPr>
              <a:t>．</a:t>
            </a:r>
            <a:r>
              <a:rPr lang="en-US" altLang="zh-CN" sz="2600">
                <a:latin typeface="Times New Roman" panose="02020603050405020304" pitchFamily="18" charset="0"/>
              </a:rPr>
              <a:t>FOLLOW(</a:t>
            </a:r>
            <a:r>
              <a:rPr lang="en-US" altLang="zh-CN" sz="2600" i="1">
                <a:latin typeface="Times New Roman" panose="02020603050405020304" pitchFamily="18" charset="0"/>
              </a:rPr>
              <a:t>S</a:t>
            </a:r>
            <a:r>
              <a:rPr lang="en-US" altLang="zh-CN" sz="2600">
                <a:latin typeface="Times New Roman" panose="02020603050405020304" pitchFamily="18" charset="0"/>
              </a:rPr>
              <a:t>) := {</a:t>
            </a:r>
            <a:r>
              <a:rPr lang="en-US" altLang="zh-CN" sz="2600" i="1">
                <a:latin typeface="Times New Roman" panose="02020603050405020304" pitchFamily="18" charset="0"/>
              </a:rPr>
              <a:t>#</a:t>
            </a:r>
            <a:r>
              <a:rPr lang="en-US" altLang="zh-CN" sz="2600">
                <a:latin typeface="Times New Roman" panose="02020603050405020304" pitchFamily="18" charset="0"/>
              </a:rPr>
              <a:t>}</a:t>
            </a:r>
            <a:r>
              <a:rPr lang="zh-CN" altLang="en-US" sz="2600">
                <a:latin typeface="Times New Roman" panose="02020603050405020304" pitchFamily="18" charset="0"/>
              </a:rPr>
              <a:t>，</a:t>
            </a:r>
            <a:r>
              <a:rPr lang="en-US" altLang="zh-CN" sz="2600">
                <a:latin typeface="Times New Roman" panose="02020603050405020304" pitchFamily="18" charset="0"/>
              </a:rPr>
              <a:t>#</a:t>
            </a:r>
            <a:r>
              <a:rPr lang="zh-CN" altLang="en-US" sz="2600">
                <a:latin typeface="Times New Roman" panose="02020603050405020304" pitchFamily="18" charset="0"/>
              </a:rPr>
              <a:t>为句子的结束符</a:t>
            </a:r>
            <a:r>
              <a:rPr lang="en-US" altLang="zh-CN" sz="2600">
                <a:latin typeface="Times New Roman" panose="02020603050405020304" pitchFamily="18" charset="0"/>
              </a:rPr>
              <a:t>;</a:t>
            </a:r>
          </a:p>
          <a:p>
            <a:pPr marL="812800" indent="-812800">
              <a:lnSpc>
                <a:spcPct val="80000"/>
              </a:lnSpc>
              <a:buNone/>
            </a:pPr>
            <a:r>
              <a:rPr lang="en-US" altLang="zh-CN" sz="2600">
                <a:latin typeface="Times New Roman" panose="02020603050405020304" pitchFamily="18" charset="0"/>
              </a:rPr>
              <a:t>3</a:t>
            </a:r>
            <a:r>
              <a:rPr lang="zh-CN" altLang="en-US" sz="2600">
                <a:latin typeface="Times New Roman" panose="02020603050405020304" pitchFamily="18" charset="0"/>
              </a:rPr>
              <a:t>．对</a:t>
            </a:r>
            <a:r>
              <a:rPr lang="zh-CN" altLang="en-US" sz="2600">
                <a:latin typeface="Times New Roman" panose="02020603050405020304" pitchFamily="18" charset="0"/>
                <a:sym typeface="Symbol" panose="05050102010706020507" pitchFamily="18" charset="2"/>
              </a:rPr>
              <a:t></a:t>
            </a:r>
            <a:r>
              <a:rPr lang="en-US" altLang="zh-CN" sz="2600" i="1">
                <a:latin typeface="Times New Roman" panose="02020603050405020304" pitchFamily="18" charset="0"/>
              </a:rPr>
              <a:t>X</a:t>
            </a:r>
            <a:r>
              <a:rPr lang="en-US" altLang="zh-CN" sz="2600">
                <a:latin typeface="Times New Roman" panose="02020603050405020304" pitchFamily="18" charset="0"/>
              </a:rPr>
              <a:t>∈</a:t>
            </a:r>
            <a:r>
              <a:rPr lang="en-US" altLang="zh-CN" sz="2600" i="1">
                <a:latin typeface="Times New Roman" panose="02020603050405020304" pitchFamily="18" charset="0"/>
              </a:rPr>
              <a:t>V</a:t>
            </a:r>
            <a:r>
              <a:rPr lang="zh-CN" altLang="en-US" sz="2600">
                <a:latin typeface="Times New Roman" panose="02020603050405020304" pitchFamily="18" charset="0"/>
              </a:rPr>
              <a:t>，重复下面的第</a:t>
            </a:r>
            <a:r>
              <a:rPr lang="en-US" altLang="zh-CN" sz="2600">
                <a:latin typeface="Times New Roman" panose="02020603050405020304" pitchFamily="18" charset="0"/>
              </a:rPr>
              <a:t>4</a:t>
            </a:r>
            <a:r>
              <a:rPr lang="zh-CN" altLang="en-US" sz="2600">
                <a:latin typeface="Times New Roman" panose="02020603050405020304" pitchFamily="18" charset="0"/>
              </a:rPr>
              <a:t>步到第</a:t>
            </a:r>
            <a:r>
              <a:rPr lang="en-US" altLang="zh-CN" sz="2600">
                <a:latin typeface="Times New Roman" panose="02020603050405020304" pitchFamily="18" charset="0"/>
              </a:rPr>
              <a:t>5</a:t>
            </a:r>
            <a:r>
              <a:rPr lang="zh-CN" altLang="en-US" sz="2600">
                <a:latin typeface="Times New Roman" panose="02020603050405020304" pitchFamily="18" charset="0"/>
              </a:rPr>
              <a:t>步，直到所有</a:t>
            </a:r>
            <a:r>
              <a:rPr lang="en-US" altLang="zh-CN" sz="2600">
                <a:latin typeface="Times New Roman" panose="02020603050405020304" pitchFamily="18" charset="0"/>
              </a:rPr>
              <a:t>FOLLOW</a:t>
            </a:r>
            <a:r>
              <a:rPr lang="zh-CN" altLang="en-US" sz="2600">
                <a:latin typeface="Times New Roman" panose="02020603050405020304" pitchFamily="18" charset="0"/>
              </a:rPr>
              <a:t>集不变为止。</a:t>
            </a:r>
          </a:p>
          <a:p>
            <a:pPr marL="812800" indent="-812800">
              <a:lnSpc>
                <a:spcPct val="80000"/>
              </a:lnSpc>
              <a:buNone/>
            </a:pPr>
            <a:r>
              <a:rPr lang="en-US" altLang="zh-CN" sz="2600">
                <a:latin typeface="Times New Roman" panose="02020603050405020304" pitchFamily="18" charset="0"/>
              </a:rPr>
              <a:t>4</a:t>
            </a:r>
            <a:r>
              <a:rPr lang="zh-CN" altLang="en-US" sz="2600">
                <a:latin typeface="Times New Roman" panose="02020603050405020304" pitchFamily="18" charset="0"/>
              </a:rPr>
              <a:t>．若</a:t>
            </a:r>
            <a:r>
              <a:rPr lang="en-US" altLang="zh-CN" sz="2600" i="1">
                <a:latin typeface="Times New Roman" panose="02020603050405020304" pitchFamily="18" charset="0"/>
              </a:rPr>
              <a:t>A</a:t>
            </a:r>
            <a:r>
              <a:rPr lang="en-US" altLang="zh-CN" sz="2600">
                <a:latin typeface="Times New Roman" panose="02020603050405020304" pitchFamily="18" charset="0"/>
              </a:rPr>
              <a:t>→</a:t>
            </a:r>
            <a:r>
              <a:rPr lang="en-US" altLang="zh-CN" sz="2600" i="1">
                <a:latin typeface="Times New Roman" panose="02020603050405020304" pitchFamily="18" charset="0"/>
              </a:rPr>
              <a:t>αBβ</a:t>
            </a:r>
            <a:r>
              <a:rPr lang="en-US" altLang="zh-CN" sz="2600">
                <a:latin typeface="Times New Roman" panose="02020603050405020304" pitchFamily="18" charset="0"/>
              </a:rPr>
              <a:t>∈</a:t>
            </a:r>
            <a:r>
              <a:rPr lang="en-US" altLang="zh-CN" sz="2600" i="1">
                <a:latin typeface="Times New Roman" panose="02020603050405020304" pitchFamily="18" charset="0"/>
              </a:rPr>
              <a:t>P</a:t>
            </a:r>
            <a:r>
              <a:rPr lang="zh-CN" altLang="en-US" sz="2600">
                <a:latin typeface="Times New Roman" panose="02020603050405020304" pitchFamily="18" charset="0"/>
              </a:rPr>
              <a:t>，则</a:t>
            </a:r>
            <a:r>
              <a:rPr lang="en-US" altLang="zh-CN" sz="2600">
                <a:latin typeface="Times New Roman" panose="02020603050405020304" pitchFamily="18" charset="0"/>
              </a:rPr>
              <a:t>FOLLOW(</a:t>
            </a:r>
            <a:r>
              <a:rPr lang="en-US" altLang="zh-CN" sz="2600" i="1">
                <a:latin typeface="Times New Roman" panose="02020603050405020304" pitchFamily="18" charset="0"/>
              </a:rPr>
              <a:t>B</a:t>
            </a:r>
            <a:r>
              <a:rPr lang="en-US" altLang="zh-CN" sz="2600">
                <a:latin typeface="Times New Roman" panose="02020603050405020304" pitchFamily="18" charset="0"/>
              </a:rPr>
              <a:t>):=FOLLOW(</a:t>
            </a:r>
            <a:r>
              <a:rPr lang="en-US" altLang="zh-CN" sz="2600" i="1">
                <a:latin typeface="Times New Roman" panose="02020603050405020304" pitchFamily="18" charset="0"/>
              </a:rPr>
              <a:t>B</a:t>
            </a:r>
            <a:r>
              <a:rPr lang="en-US" altLang="zh-CN" sz="2600">
                <a:latin typeface="Times New Roman" panose="02020603050405020304" pitchFamily="18" charset="0"/>
              </a:rPr>
              <a:t>)∪FIRST(</a:t>
            </a:r>
            <a:r>
              <a:rPr lang="en-US" altLang="zh-CN" sz="2600" i="1">
                <a:latin typeface="Times New Roman" panose="02020603050405020304" pitchFamily="18" charset="0"/>
              </a:rPr>
              <a:t>β</a:t>
            </a:r>
            <a:r>
              <a:rPr lang="en-US" altLang="zh-CN" sz="2600">
                <a:latin typeface="Times New Roman" panose="02020603050405020304" pitchFamily="18" charset="0"/>
              </a:rPr>
              <a:t>)–{</a:t>
            </a:r>
            <a:r>
              <a:rPr lang="en-US" altLang="zh-CN" sz="2600" i="1">
                <a:latin typeface="Times New Roman" panose="02020603050405020304" pitchFamily="18" charset="0"/>
              </a:rPr>
              <a:t>ε</a:t>
            </a:r>
            <a:r>
              <a:rPr lang="en-US" altLang="zh-CN" sz="2600">
                <a:latin typeface="Times New Roman" panose="02020603050405020304" pitchFamily="18" charset="0"/>
              </a:rPr>
              <a:t>};</a:t>
            </a:r>
          </a:p>
          <a:p>
            <a:pPr marL="812800" indent="-812800">
              <a:lnSpc>
                <a:spcPct val="80000"/>
              </a:lnSpc>
              <a:buNone/>
            </a:pPr>
            <a:r>
              <a:rPr lang="en-US" altLang="zh-CN" sz="2600">
                <a:latin typeface="Times New Roman" panose="02020603050405020304" pitchFamily="18" charset="0"/>
              </a:rPr>
              <a:t>5</a:t>
            </a:r>
            <a:r>
              <a:rPr lang="zh-CN" altLang="en-US" sz="2600">
                <a:latin typeface="Times New Roman" panose="02020603050405020304" pitchFamily="18" charset="0"/>
              </a:rPr>
              <a:t>．若</a:t>
            </a:r>
            <a:r>
              <a:rPr lang="en-US" altLang="zh-CN" sz="2600" i="1">
                <a:latin typeface="Times New Roman" panose="02020603050405020304" pitchFamily="18" charset="0"/>
              </a:rPr>
              <a:t>A</a:t>
            </a:r>
            <a:r>
              <a:rPr lang="en-US" altLang="zh-CN" sz="2600">
                <a:latin typeface="Times New Roman" panose="02020603050405020304" pitchFamily="18" charset="0"/>
              </a:rPr>
              <a:t>→</a:t>
            </a:r>
            <a:r>
              <a:rPr lang="en-US" altLang="zh-CN" sz="2600" i="1">
                <a:latin typeface="Times New Roman" panose="02020603050405020304" pitchFamily="18" charset="0"/>
              </a:rPr>
              <a:t>αB</a:t>
            </a:r>
            <a:r>
              <a:rPr lang="zh-CN" altLang="en-US" sz="2600">
                <a:latin typeface="Times New Roman" panose="02020603050405020304" pitchFamily="18" charset="0"/>
              </a:rPr>
              <a:t>或</a:t>
            </a:r>
            <a:r>
              <a:rPr lang="en-US" altLang="zh-CN" sz="2600" i="1">
                <a:latin typeface="Times New Roman" panose="02020603050405020304" pitchFamily="18" charset="0"/>
              </a:rPr>
              <a:t>A</a:t>
            </a:r>
            <a:r>
              <a:rPr lang="en-US" altLang="zh-CN" sz="2600">
                <a:latin typeface="Times New Roman" panose="02020603050405020304" pitchFamily="18" charset="0"/>
              </a:rPr>
              <a:t>→</a:t>
            </a:r>
            <a:r>
              <a:rPr lang="en-US" altLang="zh-CN" sz="2600" i="1">
                <a:latin typeface="Times New Roman" panose="02020603050405020304" pitchFamily="18" charset="0"/>
              </a:rPr>
              <a:t>αBβ</a:t>
            </a:r>
            <a:r>
              <a:rPr lang="en-US" altLang="zh-CN" sz="2600">
                <a:latin typeface="Times New Roman" panose="02020603050405020304" pitchFamily="18" charset="0"/>
              </a:rPr>
              <a:t>∈</a:t>
            </a:r>
            <a:r>
              <a:rPr lang="en-US" altLang="zh-CN" sz="2600" i="1">
                <a:latin typeface="Times New Roman" panose="02020603050405020304" pitchFamily="18" charset="0"/>
              </a:rPr>
              <a:t>P</a:t>
            </a:r>
            <a:r>
              <a:rPr lang="zh-CN" altLang="en-US" sz="2600">
                <a:latin typeface="Times New Roman" panose="02020603050405020304" pitchFamily="18" charset="0"/>
              </a:rPr>
              <a:t>，且</a:t>
            </a:r>
            <a:r>
              <a:rPr lang="en-US" altLang="zh-CN" sz="2600" i="1">
                <a:latin typeface="Times New Roman" panose="02020603050405020304" pitchFamily="18" charset="0"/>
              </a:rPr>
              <a:t>β    ε</a:t>
            </a:r>
            <a:r>
              <a:rPr lang="zh-CN" altLang="en-US" sz="2600">
                <a:latin typeface="Times New Roman" panose="02020603050405020304" pitchFamily="18" charset="0"/>
              </a:rPr>
              <a:t>，</a:t>
            </a:r>
            <a:r>
              <a:rPr lang="en-US" altLang="zh-CN" sz="2600" i="1">
                <a:latin typeface="Times New Roman" panose="02020603050405020304" pitchFamily="18" charset="0"/>
              </a:rPr>
              <a:t>A</a:t>
            </a:r>
            <a:r>
              <a:rPr lang="en-US" altLang="zh-CN" sz="2600">
                <a:latin typeface="Times New Roman" panose="02020603050405020304" pitchFamily="18" charset="0"/>
              </a:rPr>
              <a:t>≠</a:t>
            </a:r>
            <a:r>
              <a:rPr lang="en-US" altLang="zh-CN" sz="2600" i="1">
                <a:latin typeface="Times New Roman" panose="02020603050405020304" pitchFamily="18" charset="0"/>
              </a:rPr>
              <a:t>B</a:t>
            </a:r>
            <a:r>
              <a:rPr lang="zh-CN" altLang="en-US" sz="2600">
                <a:latin typeface="Times New Roman" panose="02020603050405020304" pitchFamily="18" charset="0"/>
              </a:rPr>
              <a:t>，则</a:t>
            </a:r>
          </a:p>
          <a:p>
            <a:pPr marL="812800" indent="-812800">
              <a:lnSpc>
                <a:spcPct val="80000"/>
              </a:lnSpc>
              <a:buNone/>
            </a:pPr>
            <a:r>
              <a:rPr lang="en-US" altLang="zh-CN" sz="2600">
                <a:latin typeface="Times New Roman" panose="02020603050405020304" pitchFamily="18" charset="0"/>
              </a:rPr>
              <a:t>FOLLOW(</a:t>
            </a:r>
            <a:r>
              <a:rPr lang="en-US" altLang="zh-CN" sz="2600" i="1">
                <a:latin typeface="Times New Roman" panose="02020603050405020304" pitchFamily="18" charset="0"/>
              </a:rPr>
              <a:t>B</a:t>
            </a:r>
            <a:r>
              <a:rPr lang="en-US" altLang="zh-CN" sz="2600">
                <a:latin typeface="Times New Roman" panose="02020603050405020304" pitchFamily="18" charset="0"/>
              </a:rPr>
              <a:t>):=FOLLOW(</a:t>
            </a:r>
            <a:r>
              <a:rPr lang="en-US" altLang="zh-CN" sz="2600" i="1">
                <a:latin typeface="Times New Roman" panose="02020603050405020304" pitchFamily="18" charset="0"/>
              </a:rPr>
              <a:t>B</a:t>
            </a:r>
            <a:r>
              <a:rPr lang="en-US" altLang="zh-CN" sz="2600">
                <a:latin typeface="Times New Roman" panose="02020603050405020304" pitchFamily="18" charset="0"/>
              </a:rPr>
              <a:t>)∪FOLLOW(</a:t>
            </a:r>
            <a:r>
              <a:rPr lang="en-US" altLang="zh-CN" sz="2600" i="1">
                <a:latin typeface="Times New Roman" panose="02020603050405020304" pitchFamily="18" charset="0"/>
              </a:rPr>
              <a:t>A</a:t>
            </a:r>
            <a:r>
              <a:rPr lang="en-US" altLang="zh-CN" sz="2600">
                <a:latin typeface="Times New Roman" panose="02020603050405020304" pitchFamily="18" charset="0"/>
              </a:rPr>
              <a:t>); </a:t>
            </a:r>
          </a:p>
        </p:txBody>
      </p:sp>
      <p:sp>
        <p:nvSpPr>
          <p:cNvPr id="7175" name="Rectangle 5">
            <a:extLst>
              <a:ext uri="{FF2B5EF4-FFF2-40B4-BE49-F238E27FC236}">
                <a16:creationId xmlns:a16="http://schemas.microsoft.com/office/drawing/2014/main" id="{AC3576FD-3A9B-4B24-9D7D-1BD75A0A378D}"/>
              </a:ext>
            </a:extLst>
          </p:cNvPr>
          <p:cNvSpPr>
            <a:spLocks noChangeArrowheads="1"/>
          </p:cNvSpPr>
          <p:nvPr/>
        </p:nvSpPr>
        <p:spPr bwMode="auto">
          <a:xfrm>
            <a:off x="1524001" y="30759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en-US" sz="2400"/>
          </a:p>
        </p:txBody>
      </p:sp>
      <p:graphicFrame>
        <p:nvGraphicFramePr>
          <p:cNvPr id="7170" name="Object 4">
            <a:extLst>
              <a:ext uri="{FF2B5EF4-FFF2-40B4-BE49-F238E27FC236}">
                <a16:creationId xmlns:a16="http://schemas.microsoft.com/office/drawing/2014/main" id="{9A3CF8E0-C74D-4C44-993E-C3BFC948AAF6}"/>
              </a:ext>
            </a:extLst>
          </p:cNvPr>
          <p:cNvGraphicFramePr>
            <a:graphicFrameLocks/>
          </p:cNvGraphicFramePr>
          <p:nvPr/>
        </p:nvGraphicFramePr>
        <p:xfrm>
          <a:off x="6527800" y="5300663"/>
          <a:ext cx="344488" cy="482600"/>
        </p:xfrm>
        <a:graphic>
          <a:graphicData uri="http://schemas.openxmlformats.org/presentationml/2006/ole">
            <mc:AlternateContent xmlns:mc="http://schemas.openxmlformats.org/markup-compatibility/2006">
              <mc:Choice xmlns:v="urn:schemas-microsoft-com:vml" Requires="v">
                <p:oleObj spid="_x0000_s3081" r:id="rId3" imgW="177646" imgH="241091" progId="Equation.DSMT4">
                  <p:embed/>
                </p:oleObj>
              </mc:Choice>
              <mc:Fallback>
                <p:oleObj r:id="rId3" imgW="177646" imgH="241091" progId="Equation.DSMT4">
                  <p:embed/>
                  <p:pic>
                    <p:nvPicPr>
                      <p:cNvPr id="7170" name="Object 4">
                        <a:extLst>
                          <a:ext uri="{FF2B5EF4-FFF2-40B4-BE49-F238E27FC236}">
                            <a16:creationId xmlns:a16="http://schemas.microsoft.com/office/drawing/2014/main" id="{9A3CF8E0-C74D-4C44-993E-C3BFC948AAF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0" y="5300663"/>
                        <a:ext cx="34448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69859">
                                            <p:txEl>
                                              <p:pRg st="0" end="0"/>
                                            </p:txEl>
                                          </p:spTgt>
                                        </p:tgtEl>
                                        <p:attrNameLst>
                                          <p:attrName>style.visibility</p:attrName>
                                        </p:attrNameLst>
                                      </p:cBhvr>
                                      <p:to>
                                        <p:strVal val="visible"/>
                                      </p:to>
                                    </p:set>
                                    <p:animEffect transition="in" filter="slide(fromBottom)">
                                      <p:cBhvr>
                                        <p:cTn id="7" dur="500"/>
                                        <p:tgtEl>
                                          <p:spTgt spid="21698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169859">
                                            <p:txEl>
                                              <p:pRg st="1" end="1"/>
                                            </p:txEl>
                                          </p:spTgt>
                                        </p:tgtEl>
                                        <p:attrNameLst>
                                          <p:attrName>style.visibility</p:attrName>
                                        </p:attrNameLst>
                                      </p:cBhvr>
                                      <p:to>
                                        <p:strVal val="visible"/>
                                      </p:to>
                                    </p:set>
                                    <p:animEffect transition="in" filter="slide(fromBottom)">
                                      <p:cBhvr>
                                        <p:cTn id="12" dur="500"/>
                                        <p:tgtEl>
                                          <p:spTgt spid="21698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169859">
                                            <p:txEl>
                                              <p:pRg st="2" end="2"/>
                                            </p:txEl>
                                          </p:spTgt>
                                        </p:tgtEl>
                                        <p:attrNameLst>
                                          <p:attrName>style.visibility</p:attrName>
                                        </p:attrNameLst>
                                      </p:cBhvr>
                                      <p:to>
                                        <p:strVal val="visible"/>
                                      </p:to>
                                    </p:set>
                                    <p:animEffect transition="in" filter="slide(fromBottom)">
                                      <p:cBhvr>
                                        <p:cTn id="17" dur="500"/>
                                        <p:tgtEl>
                                          <p:spTgt spid="21698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169859">
                                            <p:txEl>
                                              <p:pRg st="3" end="3"/>
                                            </p:txEl>
                                          </p:spTgt>
                                        </p:tgtEl>
                                        <p:attrNameLst>
                                          <p:attrName>style.visibility</p:attrName>
                                        </p:attrNameLst>
                                      </p:cBhvr>
                                      <p:to>
                                        <p:strVal val="visible"/>
                                      </p:to>
                                    </p:set>
                                    <p:animEffect transition="in" filter="slide(fromBottom)">
                                      <p:cBhvr>
                                        <p:cTn id="22" dur="500"/>
                                        <p:tgtEl>
                                          <p:spTgt spid="21698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169859">
                                            <p:txEl>
                                              <p:pRg st="4" end="4"/>
                                            </p:txEl>
                                          </p:spTgt>
                                        </p:tgtEl>
                                        <p:attrNameLst>
                                          <p:attrName>style.visibility</p:attrName>
                                        </p:attrNameLst>
                                      </p:cBhvr>
                                      <p:to>
                                        <p:strVal val="visible"/>
                                      </p:to>
                                    </p:set>
                                    <p:animEffect transition="in" filter="slide(fromBottom)">
                                      <p:cBhvr>
                                        <p:cTn id="27" dur="500"/>
                                        <p:tgtEl>
                                          <p:spTgt spid="21698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169859">
                                            <p:txEl>
                                              <p:pRg st="5" end="5"/>
                                            </p:txEl>
                                          </p:spTgt>
                                        </p:tgtEl>
                                        <p:attrNameLst>
                                          <p:attrName>style.visibility</p:attrName>
                                        </p:attrNameLst>
                                      </p:cBhvr>
                                      <p:to>
                                        <p:strVal val="visible"/>
                                      </p:to>
                                    </p:set>
                                    <p:animEffect transition="in" filter="slide(fromBottom)">
                                      <p:cBhvr>
                                        <p:cTn id="32" dur="500"/>
                                        <p:tgtEl>
                                          <p:spTgt spid="21698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169859">
                                            <p:txEl>
                                              <p:pRg st="6" end="6"/>
                                            </p:txEl>
                                          </p:spTgt>
                                        </p:tgtEl>
                                        <p:attrNameLst>
                                          <p:attrName>style.visibility</p:attrName>
                                        </p:attrNameLst>
                                      </p:cBhvr>
                                      <p:to>
                                        <p:strVal val="visible"/>
                                      </p:to>
                                    </p:set>
                                    <p:animEffect transition="in" filter="slide(fromBottom)">
                                      <p:cBhvr>
                                        <p:cTn id="37" dur="500"/>
                                        <p:tgtEl>
                                          <p:spTgt spid="216985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169859">
                                            <p:txEl>
                                              <p:pRg st="7" end="7"/>
                                            </p:txEl>
                                          </p:spTgt>
                                        </p:tgtEl>
                                        <p:attrNameLst>
                                          <p:attrName>style.visibility</p:attrName>
                                        </p:attrNameLst>
                                      </p:cBhvr>
                                      <p:to>
                                        <p:strVal val="visible"/>
                                      </p:to>
                                    </p:set>
                                    <p:animEffect transition="in" filter="slide(fromBottom)">
                                      <p:cBhvr>
                                        <p:cTn id="42" dur="500"/>
                                        <p:tgtEl>
                                          <p:spTgt spid="216985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169859">
                                            <p:txEl>
                                              <p:pRg st="8" end="8"/>
                                            </p:txEl>
                                          </p:spTgt>
                                        </p:tgtEl>
                                        <p:attrNameLst>
                                          <p:attrName>style.visibility</p:attrName>
                                        </p:attrNameLst>
                                      </p:cBhvr>
                                      <p:to>
                                        <p:strVal val="visible"/>
                                      </p:to>
                                    </p:set>
                                    <p:animEffect transition="in" filter="slide(fromBottom)">
                                      <p:cBhvr>
                                        <p:cTn id="47" dur="500"/>
                                        <p:tgtEl>
                                          <p:spTgt spid="216985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2169859">
                                            <p:txEl>
                                              <p:pRg st="9" end="9"/>
                                            </p:txEl>
                                          </p:spTgt>
                                        </p:tgtEl>
                                        <p:attrNameLst>
                                          <p:attrName>style.visibility</p:attrName>
                                        </p:attrNameLst>
                                      </p:cBhvr>
                                      <p:to>
                                        <p:strVal val="visible"/>
                                      </p:to>
                                    </p:set>
                                    <p:animEffect transition="in" filter="slide(fromBottom)">
                                      <p:cBhvr>
                                        <p:cTn id="52" dur="500"/>
                                        <p:tgtEl>
                                          <p:spTgt spid="21698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985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F367AEB-DC1E-455A-A7FF-7C25A2EB96E4}"/>
              </a:ext>
            </a:extLst>
          </p:cNvPr>
          <p:cNvSpPr>
            <a:spLocks noGrp="1" noChangeArrowheads="1"/>
          </p:cNvSpPr>
          <p:nvPr>
            <p:ph type="title"/>
          </p:nvPr>
        </p:nvSpPr>
        <p:spPr/>
        <p:txBody>
          <a:bodyPr/>
          <a:lstStyle/>
          <a:p>
            <a:pPr eaLnBrk="1" hangingPunct="1"/>
            <a:r>
              <a:rPr lang="en-US" altLang="zh-CN"/>
              <a:t>4.1 FIRST</a:t>
            </a:r>
            <a:r>
              <a:rPr lang="zh-CN" altLang="en-US"/>
              <a:t>和</a:t>
            </a:r>
            <a:r>
              <a:rPr lang="en-US" altLang="zh-CN"/>
              <a:t>FOLLOW</a:t>
            </a:r>
            <a:r>
              <a:rPr lang="zh-CN" altLang="en-US"/>
              <a:t>的区别</a:t>
            </a:r>
          </a:p>
        </p:txBody>
      </p:sp>
      <p:sp>
        <p:nvSpPr>
          <p:cNvPr id="57347" name="Rectangle 3">
            <a:extLst>
              <a:ext uri="{FF2B5EF4-FFF2-40B4-BE49-F238E27FC236}">
                <a16:creationId xmlns:a16="http://schemas.microsoft.com/office/drawing/2014/main" id="{B8716FD7-35BE-4FB8-9A2E-AAB92D439DC5}"/>
              </a:ext>
            </a:extLst>
          </p:cNvPr>
          <p:cNvSpPr>
            <a:spLocks noGrp="1" noChangeArrowheads="1"/>
          </p:cNvSpPr>
          <p:nvPr>
            <p:ph type="body" idx="1"/>
          </p:nvPr>
        </p:nvSpPr>
        <p:spPr>
          <a:xfrm>
            <a:off x="1981200" y="1544639"/>
            <a:ext cx="8229600" cy="458787"/>
          </a:xfrm>
        </p:spPr>
        <p:txBody>
          <a:bodyPr>
            <a:normAutofit lnSpcReduction="10000"/>
          </a:bodyPr>
          <a:lstStyle/>
          <a:p>
            <a:pPr eaLnBrk="1" hangingPunct="1">
              <a:buFont typeface="Wingdings" panose="05000000000000000000" pitchFamily="2" charset="2"/>
              <a:buNone/>
            </a:pPr>
            <a:r>
              <a:rPr lang="zh-CN" altLang="en-US">
                <a:latin typeface="Verdana" panose="020B0604030504040204" pitchFamily="34" charset="0"/>
                <a:sym typeface="Symbol" panose="05050102010706020507" pitchFamily="18" charset="2"/>
              </a:rPr>
              <a:t>令</a:t>
            </a:r>
            <a:r>
              <a:rPr lang="en-US" altLang="zh-CN">
                <a:latin typeface="Verdana" panose="020B0604030504040204" pitchFamily="34" charset="0"/>
                <a:sym typeface="Symbol" panose="05050102010706020507" pitchFamily="18" charset="2"/>
              </a:rPr>
              <a:t>XT</a:t>
            </a:r>
            <a:r>
              <a:rPr lang="zh-CN" altLang="en-US">
                <a:latin typeface="Verdana" panose="020B0604030504040204" pitchFamily="34" charset="0"/>
                <a:sym typeface="Symbol" panose="05050102010706020507" pitchFamily="18" charset="2"/>
              </a:rPr>
              <a:t>，有如下断言：</a:t>
            </a:r>
          </a:p>
        </p:txBody>
      </p:sp>
      <p:sp>
        <p:nvSpPr>
          <p:cNvPr id="362500" name="Text Box 4">
            <a:extLst>
              <a:ext uri="{FF2B5EF4-FFF2-40B4-BE49-F238E27FC236}">
                <a16:creationId xmlns:a16="http://schemas.microsoft.com/office/drawing/2014/main" id="{D3A2C104-006F-4F57-B425-5E991F41DDA1}"/>
              </a:ext>
            </a:extLst>
          </p:cNvPr>
          <p:cNvSpPr txBox="1">
            <a:spLocks noChangeArrowheads="1"/>
          </p:cNvSpPr>
          <p:nvPr/>
        </p:nvSpPr>
        <p:spPr bwMode="auto">
          <a:xfrm>
            <a:off x="2552700" y="2141538"/>
            <a:ext cx="2717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800" b="1">
                <a:sym typeface="Symbol" panose="05050102010706020507" pitchFamily="18" charset="2"/>
              </a:rPr>
              <a:t> FIRST(X)</a:t>
            </a:r>
            <a:endParaRPr lang="zh-CN" altLang="en-US" sz="2800"/>
          </a:p>
        </p:txBody>
      </p:sp>
      <p:sp>
        <p:nvSpPr>
          <p:cNvPr id="362501" name="Text Box 5">
            <a:extLst>
              <a:ext uri="{FF2B5EF4-FFF2-40B4-BE49-F238E27FC236}">
                <a16:creationId xmlns:a16="http://schemas.microsoft.com/office/drawing/2014/main" id="{AF4711BB-9C33-4AD6-ABF9-93C9EE484207}"/>
              </a:ext>
            </a:extLst>
          </p:cNvPr>
          <p:cNvSpPr txBox="1">
            <a:spLocks noChangeArrowheads="1"/>
          </p:cNvSpPr>
          <p:nvPr/>
        </p:nvSpPr>
        <p:spPr bwMode="auto">
          <a:xfrm>
            <a:off x="2552700" y="2827338"/>
            <a:ext cx="307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800" b="1">
                <a:sym typeface="Symbol" panose="05050102010706020507" pitchFamily="18" charset="2"/>
              </a:rPr>
              <a:t> FOLLOW(X)</a:t>
            </a:r>
            <a:endParaRPr lang="zh-CN" altLang="en-US" sz="2800"/>
          </a:p>
        </p:txBody>
      </p:sp>
      <p:sp>
        <p:nvSpPr>
          <p:cNvPr id="362502" name="Text Box 6">
            <a:extLst>
              <a:ext uri="{FF2B5EF4-FFF2-40B4-BE49-F238E27FC236}">
                <a16:creationId xmlns:a16="http://schemas.microsoft.com/office/drawing/2014/main" id="{2B136BE9-7302-4185-96A3-9460AFAE0CFD}"/>
              </a:ext>
            </a:extLst>
          </p:cNvPr>
          <p:cNvSpPr txBox="1">
            <a:spLocks noChangeArrowheads="1"/>
          </p:cNvSpPr>
          <p:nvPr/>
        </p:nvSpPr>
        <p:spPr bwMode="auto">
          <a:xfrm>
            <a:off x="2552700" y="3551238"/>
            <a:ext cx="2705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800" b="1">
                <a:sym typeface="Symbol" panose="05050102010706020507" pitchFamily="18" charset="2"/>
              </a:rPr>
              <a:t># FIRST(X)</a:t>
            </a:r>
            <a:endParaRPr lang="zh-CN" altLang="en-US" sz="2800" b="1">
              <a:sym typeface="Symbol" panose="05050102010706020507" pitchFamily="18" charset="2"/>
            </a:endParaRPr>
          </a:p>
        </p:txBody>
      </p:sp>
      <p:sp>
        <p:nvSpPr>
          <p:cNvPr id="362503" name="Text Box 7">
            <a:extLst>
              <a:ext uri="{FF2B5EF4-FFF2-40B4-BE49-F238E27FC236}">
                <a16:creationId xmlns:a16="http://schemas.microsoft.com/office/drawing/2014/main" id="{C35D3B89-1135-4C05-821F-892E4192CF43}"/>
              </a:ext>
            </a:extLst>
          </p:cNvPr>
          <p:cNvSpPr txBox="1">
            <a:spLocks noChangeArrowheads="1"/>
          </p:cNvSpPr>
          <p:nvPr/>
        </p:nvSpPr>
        <p:spPr bwMode="auto">
          <a:xfrm>
            <a:off x="2540000" y="4249738"/>
            <a:ext cx="3136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800" b="1">
                <a:sym typeface="Symbol" panose="05050102010706020507" pitchFamily="18" charset="2"/>
              </a:rPr>
              <a:t># FOLLOW(X)</a:t>
            </a:r>
            <a:endParaRPr lang="zh-CN" altLang="en-US" sz="2800"/>
          </a:p>
        </p:txBody>
      </p:sp>
      <p:sp>
        <p:nvSpPr>
          <p:cNvPr id="362504" name="Text Box 8">
            <a:extLst>
              <a:ext uri="{FF2B5EF4-FFF2-40B4-BE49-F238E27FC236}">
                <a16:creationId xmlns:a16="http://schemas.microsoft.com/office/drawing/2014/main" id="{70156521-217C-43AA-ABA5-802F5B01A1B9}"/>
              </a:ext>
            </a:extLst>
          </p:cNvPr>
          <p:cNvSpPr txBox="1">
            <a:spLocks noChangeArrowheads="1"/>
          </p:cNvSpPr>
          <p:nvPr/>
        </p:nvSpPr>
        <p:spPr bwMode="auto">
          <a:xfrm>
            <a:off x="6032500" y="2128838"/>
            <a:ext cx="172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800" b="1">
                <a:sym typeface="Symbol" panose="05050102010706020507" pitchFamily="18" charset="2"/>
              </a:rPr>
              <a:t> </a:t>
            </a:r>
            <a:r>
              <a:rPr lang="zh-CN" altLang="en-US" sz="2800" b="1">
                <a:sym typeface="Symbol" panose="05050102010706020507" pitchFamily="18" charset="2"/>
              </a:rPr>
              <a:t>可能为真</a:t>
            </a:r>
            <a:endParaRPr lang="zh-CN" altLang="en-US" sz="2800"/>
          </a:p>
        </p:txBody>
      </p:sp>
      <p:sp>
        <p:nvSpPr>
          <p:cNvPr id="362505" name="Text Box 9">
            <a:extLst>
              <a:ext uri="{FF2B5EF4-FFF2-40B4-BE49-F238E27FC236}">
                <a16:creationId xmlns:a16="http://schemas.microsoft.com/office/drawing/2014/main" id="{21977D95-BE4F-4AF6-9300-3DCE72AC69F1}"/>
              </a:ext>
            </a:extLst>
          </p:cNvPr>
          <p:cNvSpPr txBox="1">
            <a:spLocks noChangeArrowheads="1"/>
          </p:cNvSpPr>
          <p:nvPr/>
        </p:nvSpPr>
        <p:spPr bwMode="auto">
          <a:xfrm>
            <a:off x="6108700" y="2763838"/>
            <a:ext cx="269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sym typeface="Symbol" panose="05050102010706020507" pitchFamily="18" charset="2"/>
              </a:rPr>
              <a:t>一定不为真</a:t>
            </a:r>
          </a:p>
        </p:txBody>
      </p:sp>
      <p:sp>
        <p:nvSpPr>
          <p:cNvPr id="362506" name="Text Box 10">
            <a:extLst>
              <a:ext uri="{FF2B5EF4-FFF2-40B4-BE49-F238E27FC236}">
                <a16:creationId xmlns:a16="http://schemas.microsoft.com/office/drawing/2014/main" id="{8008B0B5-1CCA-4447-8026-40D466BFE4CC}"/>
              </a:ext>
            </a:extLst>
          </p:cNvPr>
          <p:cNvSpPr txBox="1">
            <a:spLocks noChangeArrowheads="1"/>
          </p:cNvSpPr>
          <p:nvPr/>
        </p:nvSpPr>
        <p:spPr bwMode="auto">
          <a:xfrm>
            <a:off x="6146800" y="3487738"/>
            <a:ext cx="217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zh-CN" altLang="en-US" sz="2800" b="1">
                <a:sym typeface="Symbol" panose="05050102010706020507" pitchFamily="18" charset="2"/>
              </a:rPr>
              <a:t>一定不为真</a:t>
            </a:r>
            <a:endParaRPr lang="zh-CN" altLang="en-US" sz="2800"/>
          </a:p>
        </p:txBody>
      </p:sp>
      <p:sp>
        <p:nvSpPr>
          <p:cNvPr id="362507" name="Text Box 11">
            <a:extLst>
              <a:ext uri="{FF2B5EF4-FFF2-40B4-BE49-F238E27FC236}">
                <a16:creationId xmlns:a16="http://schemas.microsoft.com/office/drawing/2014/main" id="{AB895C1E-CE3A-45D9-B565-99F6597522E7}"/>
              </a:ext>
            </a:extLst>
          </p:cNvPr>
          <p:cNvSpPr txBox="1">
            <a:spLocks noChangeArrowheads="1"/>
          </p:cNvSpPr>
          <p:nvPr/>
        </p:nvSpPr>
        <p:spPr bwMode="auto">
          <a:xfrm>
            <a:off x="6184900" y="4148138"/>
            <a:ext cx="1841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zh-CN" altLang="en-US" sz="2800" b="1">
                <a:sym typeface="Symbol" panose="05050102010706020507" pitchFamily="18" charset="2"/>
              </a:rPr>
              <a:t>可能为真</a:t>
            </a:r>
            <a:endParaRPr lang="zh-CN" altLang="en-US" sz="2800"/>
          </a:p>
        </p:txBody>
      </p:sp>
      <p:sp>
        <p:nvSpPr>
          <p:cNvPr id="362508" name="Text Box 12">
            <a:extLst>
              <a:ext uri="{FF2B5EF4-FFF2-40B4-BE49-F238E27FC236}">
                <a16:creationId xmlns:a16="http://schemas.microsoft.com/office/drawing/2014/main" id="{640775FF-F422-4A7F-A923-E8F6A3F7D0D5}"/>
              </a:ext>
            </a:extLst>
          </p:cNvPr>
          <p:cNvSpPr txBox="1">
            <a:spLocks noChangeArrowheads="1"/>
          </p:cNvSpPr>
          <p:nvPr/>
        </p:nvSpPr>
        <p:spPr bwMode="auto">
          <a:xfrm>
            <a:off x="2657475" y="5402263"/>
            <a:ext cx="6180138" cy="52322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sym typeface="Symbol" panose="05050102010706020507" pitchFamily="18" charset="2"/>
              </a:rPr>
              <a:t># FOLLOW(X)</a:t>
            </a:r>
            <a:r>
              <a:rPr lang="zh-CN" altLang="en-US" sz="2800" b="1">
                <a:sym typeface="Symbol" panose="05050102010706020507" pitchFamily="18" charset="2"/>
              </a:rPr>
              <a:t>为真的条件是什么？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2500"/>
                                        </p:tgtEl>
                                        <p:attrNameLst>
                                          <p:attrName>style.visibility</p:attrName>
                                        </p:attrNameLst>
                                      </p:cBhvr>
                                      <p:to>
                                        <p:strVal val="visible"/>
                                      </p:to>
                                    </p:set>
                                    <p:anim calcmode="lin" valueType="num">
                                      <p:cBhvr additive="base">
                                        <p:cTn id="7" dur="500" fill="hold"/>
                                        <p:tgtEl>
                                          <p:spTgt spid="362500"/>
                                        </p:tgtEl>
                                        <p:attrNameLst>
                                          <p:attrName>ppt_x</p:attrName>
                                        </p:attrNameLst>
                                      </p:cBhvr>
                                      <p:tavLst>
                                        <p:tav tm="0">
                                          <p:val>
                                            <p:strVal val="#ppt_x"/>
                                          </p:val>
                                        </p:tav>
                                        <p:tav tm="100000">
                                          <p:val>
                                            <p:strVal val="#ppt_x"/>
                                          </p:val>
                                        </p:tav>
                                      </p:tavLst>
                                    </p:anim>
                                    <p:anim calcmode="lin" valueType="num">
                                      <p:cBhvr additive="base">
                                        <p:cTn id="8" dur="500" fill="hold"/>
                                        <p:tgtEl>
                                          <p:spTgt spid="36250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2504"/>
                                        </p:tgtEl>
                                        <p:attrNameLst>
                                          <p:attrName>style.visibility</p:attrName>
                                        </p:attrNameLst>
                                      </p:cBhvr>
                                      <p:to>
                                        <p:strVal val="visible"/>
                                      </p:to>
                                    </p:set>
                                    <p:anim calcmode="lin" valueType="num">
                                      <p:cBhvr additive="base">
                                        <p:cTn id="13" dur="500" fill="hold"/>
                                        <p:tgtEl>
                                          <p:spTgt spid="362504"/>
                                        </p:tgtEl>
                                        <p:attrNameLst>
                                          <p:attrName>ppt_x</p:attrName>
                                        </p:attrNameLst>
                                      </p:cBhvr>
                                      <p:tavLst>
                                        <p:tav tm="0">
                                          <p:val>
                                            <p:strVal val="#ppt_x"/>
                                          </p:val>
                                        </p:tav>
                                        <p:tav tm="100000">
                                          <p:val>
                                            <p:strVal val="#ppt_x"/>
                                          </p:val>
                                        </p:tav>
                                      </p:tavLst>
                                    </p:anim>
                                    <p:anim calcmode="lin" valueType="num">
                                      <p:cBhvr additive="base">
                                        <p:cTn id="14" dur="500" fill="hold"/>
                                        <p:tgtEl>
                                          <p:spTgt spid="36250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2501"/>
                                        </p:tgtEl>
                                        <p:attrNameLst>
                                          <p:attrName>style.visibility</p:attrName>
                                        </p:attrNameLst>
                                      </p:cBhvr>
                                      <p:to>
                                        <p:strVal val="visible"/>
                                      </p:to>
                                    </p:set>
                                    <p:anim calcmode="lin" valueType="num">
                                      <p:cBhvr additive="base">
                                        <p:cTn id="19" dur="500" fill="hold"/>
                                        <p:tgtEl>
                                          <p:spTgt spid="362501"/>
                                        </p:tgtEl>
                                        <p:attrNameLst>
                                          <p:attrName>ppt_x</p:attrName>
                                        </p:attrNameLst>
                                      </p:cBhvr>
                                      <p:tavLst>
                                        <p:tav tm="0">
                                          <p:val>
                                            <p:strVal val="#ppt_x"/>
                                          </p:val>
                                        </p:tav>
                                        <p:tav tm="100000">
                                          <p:val>
                                            <p:strVal val="#ppt_x"/>
                                          </p:val>
                                        </p:tav>
                                      </p:tavLst>
                                    </p:anim>
                                    <p:anim calcmode="lin" valueType="num">
                                      <p:cBhvr additive="base">
                                        <p:cTn id="20" dur="500" fill="hold"/>
                                        <p:tgtEl>
                                          <p:spTgt spid="36250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2505"/>
                                        </p:tgtEl>
                                        <p:attrNameLst>
                                          <p:attrName>style.visibility</p:attrName>
                                        </p:attrNameLst>
                                      </p:cBhvr>
                                      <p:to>
                                        <p:strVal val="visible"/>
                                      </p:to>
                                    </p:set>
                                    <p:anim calcmode="lin" valueType="num">
                                      <p:cBhvr additive="base">
                                        <p:cTn id="25" dur="500" fill="hold"/>
                                        <p:tgtEl>
                                          <p:spTgt spid="362505"/>
                                        </p:tgtEl>
                                        <p:attrNameLst>
                                          <p:attrName>ppt_x</p:attrName>
                                        </p:attrNameLst>
                                      </p:cBhvr>
                                      <p:tavLst>
                                        <p:tav tm="0">
                                          <p:val>
                                            <p:strVal val="#ppt_x"/>
                                          </p:val>
                                        </p:tav>
                                        <p:tav tm="100000">
                                          <p:val>
                                            <p:strVal val="#ppt_x"/>
                                          </p:val>
                                        </p:tav>
                                      </p:tavLst>
                                    </p:anim>
                                    <p:anim calcmode="lin" valueType="num">
                                      <p:cBhvr additive="base">
                                        <p:cTn id="26" dur="500" fill="hold"/>
                                        <p:tgtEl>
                                          <p:spTgt spid="36250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2502"/>
                                        </p:tgtEl>
                                        <p:attrNameLst>
                                          <p:attrName>style.visibility</p:attrName>
                                        </p:attrNameLst>
                                      </p:cBhvr>
                                      <p:to>
                                        <p:strVal val="visible"/>
                                      </p:to>
                                    </p:set>
                                    <p:anim calcmode="lin" valueType="num">
                                      <p:cBhvr additive="base">
                                        <p:cTn id="31" dur="500" fill="hold"/>
                                        <p:tgtEl>
                                          <p:spTgt spid="362502"/>
                                        </p:tgtEl>
                                        <p:attrNameLst>
                                          <p:attrName>ppt_x</p:attrName>
                                        </p:attrNameLst>
                                      </p:cBhvr>
                                      <p:tavLst>
                                        <p:tav tm="0">
                                          <p:val>
                                            <p:strVal val="#ppt_x"/>
                                          </p:val>
                                        </p:tav>
                                        <p:tav tm="100000">
                                          <p:val>
                                            <p:strVal val="#ppt_x"/>
                                          </p:val>
                                        </p:tav>
                                      </p:tavLst>
                                    </p:anim>
                                    <p:anim calcmode="lin" valueType="num">
                                      <p:cBhvr additive="base">
                                        <p:cTn id="32" dur="500" fill="hold"/>
                                        <p:tgtEl>
                                          <p:spTgt spid="36250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2506"/>
                                        </p:tgtEl>
                                        <p:attrNameLst>
                                          <p:attrName>style.visibility</p:attrName>
                                        </p:attrNameLst>
                                      </p:cBhvr>
                                      <p:to>
                                        <p:strVal val="visible"/>
                                      </p:to>
                                    </p:set>
                                    <p:anim calcmode="lin" valueType="num">
                                      <p:cBhvr additive="base">
                                        <p:cTn id="37" dur="500" fill="hold"/>
                                        <p:tgtEl>
                                          <p:spTgt spid="362506"/>
                                        </p:tgtEl>
                                        <p:attrNameLst>
                                          <p:attrName>ppt_x</p:attrName>
                                        </p:attrNameLst>
                                      </p:cBhvr>
                                      <p:tavLst>
                                        <p:tav tm="0">
                                          <p:val>
                                            <p:strVal val="#ppt_x"/>
                                          </p:val>
                                        </p:tav>
                                        <p:tav tm="100000">
                                          <p:val>
                                            <p:strVal val="#ppt_x"/>
                                          </p:val>
                                        </p:tav>
                                      </p:tavLst>
                                    </p:anim>
                                    <p:anim calcmode="lin" valueType="num">
                                      <p:cBhvr additive="base">
                                        <p:cTn id="38" dur="500" fill="hold"/>
                                        <p:tgtEl>
                                          <p:spTgt spid="362506"/>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62503"/>
                                        </p:tgtEl>
                                        <p:attrNameLst>
                                          <p:attrName>style.visibility</p:attrName>
                                        </p:attrNameLst>
                                      </p:cBhvr>
                                      <p:to>
                                        <p:strVal val="visible"/>
                                      </p:to>
                                    </p:set>
                                    <p:anim calcmode="lin" valueType="num">
                                      <p:cBhvr additive="base">
                                        <p:cTn id="43" dur="500" fill="hold"/>
                                        <p:tgtEl>
                                          <p:spTgt spid="362503"/>
                                        </p:tgtEl>
                                        <p:attrNameLst>
                                          <p:attrName>ppt_x</p:attrName>
                                        </p:attrNameLst>
                                      </p:cBhvr>
                                      <p:tavLst>
                                        <p:tav tm="0">
                                          <p:val>
                                            <p:strVal val="#ppt_x"/>
                                          </p:val>
                                        </p:tav>
                                        <p:tav tm="100000">
                                          <p:val>
                                            <p:strVal val="#ppt_x"/>
                                          </p:val>
                                        </p:tav>
                                      </p:tavLst>
                                    </p:anim>
                                    <p:anim calcmode="lin" valueType="num">
                                      <p:cBhvr additive="base">
                                        <p:cTn id="44" dur="500" fill="hold"/>
                                        <p:tgtEl>
                                          <p:spTgt spid="362503"/>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62507"/>
                                        </p:tgtEl>
                                        <p:attrNameLst>
                                          <p:attrName>style.visibility</p:attrName>
                                        </p:attrNameLst>
                                      </p:cBhvr>
                                      <p:to>
                                        <p:strVal val="visible"/>
                                      </p:to>
                                    </p:set>
                                    <p:anim calcmode="lin" valueType="num">
                                      <p:cBhvr additive="base">
                                        <p:cTn id="49" dur="500" fill="hold"/>
                                        <p:tgtEl>
                                          <p:spTgt spid="362507"/>
                                        </p:tgtEl>
                                        <p:attrNameLst>
                                          <p:attrName>ppt_x</p:attrName>
                                        </p:attrNameLst>
                                      </p:cBhvr>
                                      <p:tavLst>
                                        <p:tav tm="0">
                                          <p:val>
                                            <p:strVal val="#ppt_x"/>
                                          </p:val>
                                        </p:tav>
                                        <p:tav tm="100000">
                                          <p:val>
                                            <p:strVal val="#ppt_x"/>
                                          </p:val>
                                        </p:tav>
                                      </p:tavLst>
                                    </p:anim>
                                    <p:anim calcmode="lin" valueType="num">
                                      <p:cBhvr additive="base">
                                        <p:cTn id="50" dur="500" fill="hold"/>
                                        <p:tgtEl>
                                          <p:spTgt spid="362507"/>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62508"/>
                                        </p:tgtEl>
                                        <p:attrNameLst>
                                          <p:attrName>style.visibility</p:attrName>
                                        </p:attrNameLst>
                                      </p:cBhvr>
                                      <p:to>
                                        <p:strVal val="visible"/>
                                      </p:to>
                                    </p:set>
                                    <p:anim calcmode="lin" valueType="num">
                                      <p:cBhvr additive="base">
                                        <p:cTn id="55" dur="500" fill="hold"/>
                                        <p:tgtEl>
                                          <p:spTgt spid="362508"/>
                                        </p:tgtEl>
                                        <p:attrNameLst>
                                          <p:attrName>ppt_x</p:attrName>
                                        </p:attrNameLst>
                                      </p:cBhvr>
                                      <p:tavLst>
                                        <p:tav tm="0">
                                          <p:val>
                                            <p:strVal val="#ppt_x"/>
                                          </p:val>
                                        </p:tav>
                                        <p:tav tm="100000">
                                          <p:val>
                                            <p:strVal val="#ppt_x"/>
                                          </p:val>
                                        </p:tav>
                                      </p:tavLst>
                                    </p:anim>
                                    <p:anim calcmode="lin" valueType="num">
                                      <p:cBhvr additive="base">
                                        <p:cTn id="56" dur="500" fill="hold"/>
                                        <p:tgtEl>
                                          <p:spTgt spid="362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00" grpId="0"/>
      <p:bldP spid="362501" grpId="0"/>
      <p:bldP spid="362502" grpId="0"/>
      <p:bldP spid="362503" grpId="0"/>
      <p:bldP spid="362504" grpId="0"/>
      <p:bldP spid="362505" grpId="0"/>
      <p:bldP spid="362506" grpId="0"/>
      <p:bldP spid="362507" grpId="0"/>
      <p:bldP spid="36250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a:extLst>
              <a:ext uri="{FF2B5EF4-FFF2-40B4-BE49-F238E27FC236}">
                <a16:creationId xmlns:a16="http://schemas.microsoft.com/office/drawing/2014/main" id="{6D14CC9D-0410-4664-9516-B5E75A86AE91}"/>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5396B105-200D-4DA8-8A18-1F7DA9A9191D}" type="datetime1">
              <a:rPr lang="zh-CN" altLang="en-US" noProof="0" smtClean="0">
                <a:latin typeface="+mn-lt"/>
              </a:rPr>
              <a:pPr>
                <a:buFontTx/>
                <a:buNone/>
                <a:defRPr/>
              </a:pPr>
              <a:t>2025/6/26</a:t>
            </a:fld>
            <a:endParaRPr lang="en-US" altLang="zh-CN" noProof="0">
              <a:latin typeface="+mn-lt"/>
            </a:endParaRPr>
          </a:p>
        </p:txBody>
      </p:sp>
      <p:sp>
        <p:nvSpPr>
          <p:cNvPr id="8196" name="灯片编号占位符 5">
            <a:extLst>
              <a:ext uri="{FF2B5EF4-FFF2-40B4-BE49-F238E27FC236}">
                <a16:creationId xmlns:a16="http://schemas.microsoft.com/office/drawing/2014/main" id="{E9AD7F18-9159-4BFD-BE61-318F1E719AE2}"/>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CDFFA9C3-ADA8-491E-ACA9-C59684F67849}" type="slidenum">
              <a:rPr lang="en-US" altLang="zh-CN" sz="1400">
                <a:latin typeface="Arial" panose="020B0604020202020204" pitchFamily="34" charset="0"/>
              </a:rPr>
              <a:pPr/>
              <a:t>11</a:t>
            </a:fld>
            <a:endParaRPr lang="en-US" altLang="zh-CN" sz="1400">
              <a:latin typeface="Arial" panose="020B0604020202020204" pitchFamily="34" charset="0"/>
            </a:endParaRPr>
          </a:p>
        </p:txBody>
      </p:sp>
      <p:sp>
        <p:nvSpPr>
          <p:cNvPr id="8197" name="Rectangle 2">
            <a:extLst>
              <a:ext uri="{FF2B5EF4-FFF2-40B4-BE49-F238E27FC236}">
                <a16:creationId xmlns:a16="http://schemas.microsoft.com/office/drawing/2014/main" id="{CBA8F6A3-250A-486A-9D2C-448ED5F634BD}"/>
              </a:ext>
            </a:extLst>
          </p:cNvPr>
          <p:cNvSpPr>
            <a:spLocks noGrp="1" noChangeArrowheads="1"/>
          </p:cNvSpPr>
          <p:nvPr>
            <p:ph type="title" idx="4294967295"/>
          </p:nvPr>
        </p:nvSpPr>
        <p:spPr>
          <a:xfrm>
            <a:off x="2566988" y="333376"/>
            <a:ext cx="4608512" cy="792163"/>
          </a:xfrm>
        </p:spPr>
        <p:txBody>
          <a:bodyPr vert="horz" lIns="92075" tIns="46038" rIns="92075" bIns="46038" rtlCol="0" anchor="ctr">
            <a:normAutofit/>
          </a:bodyPr>
          <a:lstStyle/>
          <a:p>
            <a:pPr eaLnBrk="1" hangingPunct="1"/>
            <a:r>
              <a:rPr lang="en-US" altLang="zh-CN">
                <a:latin typeface="Times New Roman" panose="02020603050405020304" pitchFamily="18" charset="0"/>
              </a:rPr>
              <a:t>4.2.3 LL(1)</a:t>
            </a:r>
            <a:r>
              <a:rPr lang="zh-CN" altLang="en-US" sz="4000"/>
              <a:t>文法</a:t>
            </a:r>
          </a:p>
        </p:txBody>
      </p:sp>
      <p:sp>
        <p:nvSpPr>
          <p:cNvPr id="2164739" name="Rectangle 3">
            <a:extLst>
              <a:ext uri="{FF2B5EF4-FFF2-40B4-BE49-F238E27FC236}">
                <a16:creationId xmlns:a16="http://schemas.microsoft.com/office/drawing/2014/main" id="{9AE04C7D-F308-4FFE-BA29-0C0FEAB7C4B5}"/>
              </a:ext>
            </a:extLst>
          </p:cNvPr>
          <p:cNvSpPr>
            <a:spLocks noGrp="1" noChangeArrowheads="1"/>
          </p:cNvSpPr>
          <p:nvPr>
            <p:ph type="body" idx="4294967295"/>
          </p:nvPr>
        </p:nvSpPr>
        <p:spPr>
          <a:xfrm>
            <a:off x="1644650" y="1555750"/>
            <a:ext cx="9023350" cy="5329238"/>
          </a:xfrm>
        </p:spPr>
        <p:txBody>
          <a:bodyPr vert="horz" lIns="92075" tIns="46038" rIns="92075" bIns="46038" rtlCol="0">
            <a:normAutofit/>
          </a:bodyPr>
          <a:lstStyle/>
          <a:p>
            <a:pPr marL="812800" indent="-812800">
              <a:buNone/>
            </a:pPr>
            <a:r>
              <a:rPr lang="zh-CN" altLang="en-US" sz="2600" dirty="0">
                <a:highlight>
                  <a:srgbClr val="FFFF00"/>
                </a:highlight>
                <a:latin typeface="Times New Roman" panose="02020603050405020304" pitchFamily="18" charset="0"/>
              </a:rPr>
              <a:t>如果</a:t>
            </a:r>
            <a:r>
              <a:rPr lang="en-US" altLang="zh-CN" sz="2600" i="1" dirty="0">
                <a:highlight>
                  <a:srgbClr val="FFFF00"/>
                </a:highlight>
                <a:latin typeface="Times New Roman" panose="02020603050405020304" pitchFamily="18" charset="0"/>
              </a:rPr>
              <a:t>G</a:t>
            </a:r>
            <a:r>
              <a:rPr lang="zh-CN" altLang="en-US" sz="2600" dirty="0">
                <a:highlight>
                  <a:srgbClr val="FFFF00"/>
                </a:highlight>
                <a:latin typeface="Times New Roman" panose="02020603050405020304" pitchFamily="18" charset="0"/>
              </a:rPr>
              <a:t>的任意两个具有相同左部的产生式</a:t>
            </a:r>
            <a:endParaRPr lang="en-US" altLang="zh-CN" sz="2600" dirty="0">
              <a:highlight>
                <a:srgbClr val="FFFF00"/>
              </a:highlight>
              <a:latin typeface="Times New Roman" panose="02020603050405020304" pitchFamily="18" charset="0"/>
            </a:endParaRPr>
          </a:p>
          <a:p>
            <a:pPr marL="812800" indent="-812800">
              <a:buNone/>
            </a:pPr>
            <a:r>
              <a:rPr lang="en-US" altLang="zh-CN" sz="2600" i="1" dirty="0">
                <a:highlight>
                  <a:srgbClr val="FFFF00"/>
                </a:highlight>
                <a:latin typeface="Times New Roman" panose="02020603050405020304" pitchFamily="18" charset="0"/>
              </a:rPr>
              <a:t>	A</a:t>
            </a:r>
            <a:r>
              <a:rPr lang="en-US" altLang="zh-CN" sz="2600" dirty="0">
                <a:highlight>
                  <a:srgbClr val="FFFF00"/>
                </a:highlight>
                <a:latin typeface="Times New Roman" panose="02020603050405020304" pitchFamily="18" charset="0"/>
              </a:rPr>
              <a:t>→</a:t>
            </a:r>
            <a:r>
              <a:rPr lang="en-US" altLang="zh-CN" sz="2600" i="1" dirty="0">
                <a:highlight>
                  <a:srgbClr val="FFFF00"/>
                </a:highlight>
                <a:latin typeface="Times New Roman" panose="02020603050405020304" pitchFamily="18" charset="0"/>
              </a:rPr>
              <a:t>α</a:t>
            </a:r>
            <a:r>
              <a:rPr lang="en-US" altLang="zh-CN" sz="2600" dirty="0">
                <a:highlight>
                  <a:srgbClr val="FFFF00"/>
                </a:highlight>
                <a:latin typeface="Times New Roman" panose="02020603050405020304" pitchFamily="18" charset="0"/>
              </a:rPr>
              <a:t>|</a:t>
            </a:r>
            <a:r>
              <a:rPr lang="en-US" altLang="zh-CN" sz="2600" i="1" dirty="0">
                <a:highlight>
                  <a:srgbClr val="FFFF00"/>
                </a:highlight>
                <a:latin typeface="Times New Roman" panose="02020603050405020304" pitchFamily="18" charset="0"/>
              </a:rPr>
              <a:t>β </a:t>
            </a:r>
            <a:r>
              <a:rPr lang="zh-CN" altLang="en-US" sz="2600" dirty="0">
                <a:highlight>
                  <a:srgbClr val="FFFF00"/>
                </a:highlight>
                <a:latin typeface="Times New Roman" panose="02020603050405020304" pitchFamily="18" charset="0"/>
              </a:rPr>
              <a:t>满足下列条件：</a:t>
            </a:r>
          </a:p>
          <a:p>
            <a:pPr marL="812800" indent="-812800">
              <a:buNone/>
            </a:pPr>
            <a:r>
              <a:rPr lang="en-US" altLang="zh-CN" sz="2600" dirty="0">
                <a:highlight>
                  <a:srgbClr val="FFFF00"/>
                </a:highlight>
                <a:latin typeface="Times New Roman" panose="02020603050405020304" pitchFamily="18" charset="0"/>
              </a:rPr>
              <a:t>1. </a:t>
            </a:r>
            <a:r>
              <a:rPr lang="en-US" altLang="zh-CN" sz="2600" i="1" dirty="0">
                <a:highlight>
                  <a:srgbClr val="FFFF00"/>
                </a:highlight>
                <a:latin typeface="Times New Roman" panose="02020603050405020304" pitchFamily="18" charset="0"/>
              </a:rPr>
              <a:t>α</a:t>
            </a:r>
            <a:r>
              <a:rPr lang="zh-CN" altLang="en-US" sz="2600" dirty="0">
                <a:highlight>
                  <a:srgbClr val="FFFF00"/>
                </a:highlight>
                <a:latin typeface="Times New Roman" panose="02020603050405020304" pitchFamily="18" charset="0"/>
              </a:rPr>
              <a:t>和</a:t>
            </a:r>
            <a:r>
              <a:rPr lang="en-US" altLang="zh-CN" sz="2600" i="1" dirty="0">
                <a:highlight>
                  <a:srgbClr val="FFFF00"/>
                </a:highlight>
                <a:latin typeface="Times New Roman" panose="02020603050405020304" pitchFamily="18" charset="0"/>
              </a:rPr>
              <a:t>β</a:t>
            </a:r>
            <a:r>
              <a:rPr lang="zh-CN" altLang="en-US" sz="2600" dirty="0">
                <a:highlight>
                  <a:srgbClr val="FFFF00"/>
                </a:highlight>
                <a:latin typeface="Times New Roman" panose="02020603050405020304" pitchFamily="18" charset="0"/>
              </a:rPr>
              <a:t>至多有一个能推导出</a:t>
            </a:r>
            <a:r>
              <a:rPr lang="en-US" altLang="zh-CN" sz="2600" i="1" dirty="0">
                <a:highlight>
                  <a:srgbClr val="FFFF00"/>
                </a:highlight>
                <a:latin typeface="Times New Roman" panose="02020603050405020304" pitchFamily="18" charset="0"/>
              </a:rPr>
              <a:t>ε</a:t>
            </a:r>
          </a:p>
          <a:p>
            <a:pPr marL="812800" indent="-812800">
              <a:buNone/>
            </a:pPr>
            <a:r>
              <a:rPr lang="en-US" altLang="zh-CN" sz="2600" dirty="0">
                <a:highlight>
                  <a:srgbClr val="FFFF00"/>
                </a:highlight>
                <a:latin typeface="Times New Roman" panose="02020603050405020304" pitchFamily="18" charset="0"/>
              </a:rPr>
              <a:t>2. </a:t>
            </a:r>
            <a:r>
              <a:rPr lang="zh-CN" altLang="en-US" sz="2600" dirty="0">
                <a:highlight>
                  <a:srgbClr val="FFFF00"/>
                </a:highlight>
                <a:latin typeface="Times New Roman" panose="02020603050405020304" pitchFamily="18" charset="0"/>
              </a:rPr>
              <a:t>如果</a:t>
            </a:r>
            <a:r>
              <a:rPr lang="en-US" altLang="zh-CN" sz="2600" i="1" dirty="0">
                <a:highlight>
                  <a:srgbClr val="FFFF00"/>
                </a:highlight>
                <a:latin typeface="Times New Roman" panose="02020603050405020304" pitchFamily="18" charset="0"/>
              </a:rPr>
              <a:t>α</a:t>
            </a:r>
            <a:r>
              <a:rPr lang="zh-CN" altLang="en-US" sz="2600" dirty="0">
                <a:highlight>
                  <a:srgbClr val="FFFF00"/>
                </a:highlight>
                <a:latin typeface="Times New Roman" panose="02020603050405020304" pitchFamily="18" charset="0"/>
              </a:rPr>
              <a:t>、</a:t>
            </a:r>
            <a:r>
              <a:rPr lang="en-US" altLang="zh-CN" sz="2600" i="1" dirty="0">
                <a:highlight>
                  <a:srgbClr val="FFFF00"/>
                </a:highlight>
                <a:latin typeface="Times New Roman" panose="02020603050405020304" pitchFamily="18" charset="0"/>
              </a:rPr>
              <a:t>β</a:t>
            </a:r>
            <a:r>
              <a:rPr lang="zh-CN" altLang="en-US" sz="2600" dirty="0">
                <a:highlight>
                  <a:srgbClr val="FFFF00"/>
                </a:highlight>
                <a:latin typeface="Times New Roman" panose="02020603050405020304" pitchFamily="18" charset="0"/>
              </a:rPr>
              <a:t>均不能推导出</a:t>
            </a:r>
            <a:r>
              <a:rPr lang="en-US" altLang="zh-CN" sz="2600" i="1" dirty="0">
                <a:highlight>
                  <a:srgbClr val="FFFF00"/>
                </a:highlight>
                <a:latin typeface="Times New Roman" panose="02020603050405020304" pitchFamily="18" charset="0"/>
              </a:rPr>
              <a:t>ε</a:t>
            </a:r>
            <a:r>
              <a:rPr lang="zh-CN" altLang="en-US" sz="2600" dirty="0">
                <a:highlight>
                  <a:srgbClr val="FFFF00"/>
                </a:highlight>
                <a:latin typeface="Times New Roman" panose="02020603050405020304" pitchFamily="18" charset="0"/>
              </a:rPr>
              <a:t>，则</a:t>
            </a:r>
            <a:r>
              <a:rPr lang="en-US" altLang="zh-CN" sz="2600" dirty="0">
                <a:highlight>
                  <a:srgbClr val="FFFF00"/>
                </a:highlight>
                <a:latin typeface="Times New Roman" panose="02020603050405020304" pitchFamily="18" charset="0"/>
              </a:rPr>
              <a:t>FIRST(</a:t>
            </a:r>
            <a:r>
              <a:rPr lang="en-US" altLang="zh-CN" sz="2600" i="1" dirty="0">
                <a:highlight>
                  <a:srgbClr val="FFFF00"/>
                </a:highlight>
                <a:latin typeface="Times New Roman" panose="02020603050405020304" pitchFamily="18" charset="0"/>
              </a:rPr>
              <a:t>α</a:t>
            </a:r>
            <a:r>
              <a:rPr lang="en-US" altLang="zh-CN" sz="2600" dirty="0">
                <a:highlight>
                  <a:srgbClr val="FFFF00"/>
                </a:highlight>
                <a:latin typeface="Times New Roman" panose="02020603050405020304" pitchFamily="18" charset="0"/>
              </a:rPr>
              <a:t>)∩FIRST(</a:t>
            </a:r>
            <a:r>
              <a:rPr lang="en-US" altLang="zh-CN" sz="2600" i="1" dirty="0">
                <a:highlight>
                  <a:srgbClr val="FFFF00"/>
                </a:highlight>
                <a:latin typeface="Times New Roman" panose="02020603050405020304" pitchFamily="18" charset="0"/>
              </a:rPr>
              <a:t>β</a:t>
            </a:r>
            <a:r>
              <a:rPr lang="en-US" altLang="zh-CN" sz="2600" dirty="0">
                <a:highlight>
                  <a:srgbClr val="FFFF00"/>
                </a:highlight>
                <a:latin typeface="Times New Roman" panose="02020603050405020304" pitchFamily="18" charset="0"/>
              </a:rPr>
              <a:t>)=</a:t>
            </a:r>
            <a:r>
              <a:rPr lang="en-US" altLang="zh-CN" sz="2600" dirty="0">
                <a:highlight>
                  <a:srgbClr val="FFFF00"/>
                </a:highlight>
                <a:latin typeface="Times New Roman" panose="02020603050405020304" pitchFamily="18" charset="0"/>
                <a:sym typeface="Symbol" panose="05050102010706020507" pitchFamily="18" charset="2"/>
              </a:rPr>
              <a:t></a:t>
            </a:r>
            <a:r>
              <a:rPr lang="zh-CN" altLang="en-US" sz="2600" dirty="0">
                <a:highlight>
                  <a:srgbClr val="FFFF00"/>
                </a:highlight>
                <a:latin typeface="Times New Roman" panose="02020603050405020304" pitchFamily="18" charset="0"/>
              </a:rPr>
              <a:t>；</a:t>
            </a:r>
          </a:p>
          <a:p>
            <a:pPr marL="812800" indent="-812800">
              <a:buNone/>
            </a:pPr>
            <a:r>
              <a:rPr lang="en-US" altLang="zh-CN" sz="2600" dirty="0">
                <a:highlight>
                  <a:srgbClr val="FFFF00"/>
                </a:highlight>
                <a:latin typeface="Times New Roman" panose="02020603050405020304" pitchFamily="18" charset="0"/>
              </a:rPr>
              <a:t>3. </a:t>
            </a:r>
            <a:r>
              <a:rPr lang="zh-CN" altLang="en-US" sz="2600" dirty="0">
                <a:highlight>
                  <a:srgbClr val="FFFF00"/>
                </a:highlight>
                <a:latin typeface="Times New Roman" panose="02020603050405020304" pitchFamily="18" charset="0"/>
              </a:rPr>
              <a:t>如果</a:t>
            </a:r>
            <a:r>
              <a:rPr lang="en-US" altLang="zh-CN" sz="2600" i="1" dirty="0">
                <a:highlight>
                  <a:srgbClr val="FFFF00"/>
                </a:highlight>
                <a:latin typeface="Times New Roman" panose="02020603050405020304" pitchFamily="18" charset="0"/>
              </a:rPr>
              <a:t>β     ε</a:t>
            </a:r>
            <a:r>
              <a:rPr lang="zh-CN" altLang="en-US" sz="2600" dirty="0">
                <a:highlight>
                  <a:srgbClr val="FFFF00"/>
                </a:highlight>
                <a:latin typeface="Times New Roman" panose="02020603050405020304" pitchFamily="18" charset="0"/>
              </a:rPr>
              <a:t>，则</a:t>
            </a:r>
            <a:r>
              <a:rPr lang="en-US" altLang="zh-CN" sz="2600" dirty="0">
                <a:highlight>
                  <a:srgbClr val="FFFF00"/>
                </a:highlight>
                <a:latin typeface="Times New Roman" panose="02020603050405020304" pitchFamily="18" charset="0"/>
              </a:rPr>
              <a:t>FIRST(</a:t>
            </a:r>
            <a:r>
              <a:rPr lang="en-US" altLang="zh-CN" sz="2600" i="1" dirty="0">
                <a:highlight>
                  <a:srgbClr val="FFFF00"/>
                </a:highlight>
                <a:latin typeface="Times New Roman" panose="02020603050405020304" pitchFamily="18" charset="0"/>
              </a:rPr>
              <a:t>α</a:t>
            </a:r>
            <a:r>
              <a:rPr lang="en-US" altLang="zh-CN" sz="2600" dirty="0">
                <a:highlight>
                  <a:srgbClr val="FFFF00"/>
                </a:highlight>
                <a:latin typeface="Times New Roman" panose="02020603050405020304" pitchFamily="18" charset="0"/>
              </a:rPr>
              <a:t>)∩FOLLOW(</a:t>
            </a:r>
            <a:r>
              <a:rPr lang="en-US" altLang="zh-CN" sz="2600" i="1" dirty="0">
                <a:highlight>
                  <a:srgbClr val="FFFF00"/>
                </a:highlight>
                <a:latin typeface="Times New Roman" panose="02020603050405020304" pitchFamily="18" charset="0"/>
              </a:rPr>
              <a:t>A</a:t>
            </a:r>
            <a:r>
              <a:rPr lang="en-US" altLang="zh-CN" sz="2600" dirty="0">
                <a:highlight>
                  <a:srgbClr val="FFFF00"/>
                </a:highlight>
                <a:latin typeface="Times New Roman" panose="02020603050405020304" pitchFamily="18" charset="0"/>
              </a:rPr>
              <a:t>) =</a:t>
            </a:r>
            <a:r>
              <a:rPr lang="en-US" altLang="zh-CN" sz="2600" dirty="0">
                <a:highlight>
                  <a:srgbClr val="FFFF00"/>
                </a:highlight>
                <a:latin typeface="Times New Roman" panose="02020603050405020304" pitchFamily="18" charset="0"/>
                <a:sym typeface="Symbol" panose="05050102010706020507" pitchFamily="18" charset="2"/>
              </a:rPr>
              <a:t></a:t>
            </a:r>
            <a:endParaRPr lang="en-US" altLang="zh-CN" sz="2600" dirty="0">
              <a:highlight>
                <a:srgbClr val="FFFF00"/>
              </a:highlight>
              <a:latin typeface="Times New Roman" panose="02020603050405020304" pitchFamily="18" charset="0"/>
            </a:endParaRPr>
          </a:p>
          <a:p>
            <a:pPr marL="812800" indent="-812800">
              <a:buNone/>
            </a:pPr>
            <a:r>
              <a:rPr lang="zh-CN" altLang="en-US" sz="2600" dirty="0">
                <a:highlight>
                  <a:srgbClr val="FFFF00"/>
                </a:highlight>
                <a:latin typeface="Times New Roman" panose="02020603050405020304" pitchFamily="18" charset="0"/>
              </a:rPr>
              <a:t>则称</a:t>
            </a:r>
            <a:r>
              <a:rPr lang="en-US" altLang="zh-CN" sz="2600" i="1" dirty="0">
                <a:highlight>
                  <a:srgbClr val="FFFF00"/>
                </a:highlight>
                <a:latin typeface="Times New Roman" panose="02020603050405020304" pitchFamily="18" charset="0"/>
              </a:rPr>
              <a:t>G</a:t>
            </a:r>
            <a:r>
              <a:rPr lang="zh-CN" altLang="en-US" sz="2600" dirty="0">
                <a:highlight>
                  <a:srgbClr val="FFFF00"/>
                </a:highlight>
                <a:latin typeface="Times New Roman" panose="02020603050405020304" pitchFamily="18" charset="0"/>
              </a:rPr>
              <a:t>为</a:t>
            </a:r>
            <a:r>
              <a:rPr lang="en-US" altLang="zh-CN" sz="2600" i="1" dirty="0">
                <a:highlight>
                  <a:srgbClr val="FFFF00"/>
                </a:highlight>
                <a:latin typeface="Times New Roman" panose="02020603050405020304" pitchFamily="18" charset="0"/>
              </a:rPr>
              <a:t>LL</a:t>
            </a:r>
            <a:r>
              <a:rPr lang="en-US" altLang="zh-CN" sz="2600" dirty="0">
                <a:highlight>
                  <a:srgbClr val="FFFF00"/>
                </a:highlight>
                <a:latin typeface="Times New Roman" panose="02020603050405020304" pitchFamily="18" charset="0"/>
              </a:rPr>
              <a:t>(1)</a:t>
            </a:r>
            <a:r>
              <a:rPr lang="zh-CN" altLang="en-US" sz="2600" dirty="0">
                <a:highlight>
                  <a:srgbClr val="FFFF00"/>
                </a:highlight>
                <a:latin typeface="Times New Roman" panose="02020603050405020304" pitchFamily="18" charset="0"/>
              </a:rPr>
              <a:t>文法。</a:t>
            </a:r>
          </a:p>
          <a:p>
            <a:pPr marL="812800" indent="-812800">
              <a:buNone/>
            </a:pPr>
            <a:r>
              <a:rPr lang="zh-CN" altLang="en-US" sz="2600" dirty="0">
                <a:latin typeface="Times New Roman" panose="02020603050405020304" pitchFamily="18" charset="0"/>
              </a:rPr>
              <a:t>第一个</a:t>
            </a:r>
            <a:r>
              <a:rPr lang="en-US" altLang="zh-CN" sz="2600" i="1" dirty="0">
                <a:latin typeface="Times New Roman" panose="02020603050405020304" pitchFamily="18" charset="0"/>
              </a:rPr>
              <a:t>L</a:t>
            </a:r>
            <a:r>
              <a:rPr lang="zh-CN" altLang="en-US" sz="2600" dirty="0">
                <a:latin typeface="Times New Roman" panose="02020603050405020304" pitchFamily="18" charset="0"/>
              </a:rPr>
              <a:t>代表从左向右扫描输入符号串，第二个</a:t>
            </a:r>
            <a:r>
              <a:rPr lang="en-US" altLang="zh-CN" sz="2600" i="1" dirty="0">
                <a:latin typeface="Times New Roman" panose="02020603050405020304" pitchFamily="18" charset="0"/>
              </a:rPr>
              <a:t>L</a:t>
            </a:r>
            <a:r>
              <a:rPr lang="zh-CN" altLang="en-US" sz="2600" dirty="0">
                <a:latin typeface="Times New Roman" panose="02020603050405020304" pitchFamily="18" charset="0"/>
              </a:rPr>
              <a:t>代表产</a:t>
            </a:r>
          </a:p>
          <a:p>
            <a:pPr marL="812800" indent="-812800">
              <a:buNone/>
            </a:pPr>
            <a:r>
              <a:rPr lang="zh-CN" altLang="en-US" sz="2600" dirty="0">
                <a:latin typeface="Times New Roman" panose="02020603050405020304" pitchFamily="18" charset="0"/>
              </a:rPr>
              <a:t>生最左推导，</a:t>
            </a:r>
            <a:r>
              <a:rPr lang="en-US" altLang="zh-CN" sz="2600" dirty="0">
                <a:latin typeface="Times New Roman" panose="02020603050405020304" pitchFamily="18" charset="0"/>
              </a:rPr>
              <a:t>1</a:t>
            </a:r>
            <a:r>
              <a:rPr lang="zh-CN" altLang="en-US" sz="2600" dirty="0">
                <a:latin typeface="Times New Roman" panose="02020603050405020304" pitchFamily="18" charset="0"/>
              </a:rPr>
              <a:t>代表在分析过程中执行每步推导都要向</a:t>
            </a:r>
          </a:p>
          <a:p>
            <a:pPr marL="812800" indent="-812800">
              <a:buNone/>
            </a:pPr>
            <a:r>
              <a:rPr lang="zh-CN" altLang="en-US" sz="2600" dirty="0">
                <a:latin typeface="Times New Roman" panose="02020603050405020304" pitchFamily="18" charset="0"/>
              </a:rPr>
              <a:t>前查看一个输入符号 </a:t>
            </a:r>
          </a:p>
        </p:txBody>
      </p:sp>
      <p:sp>
        <p:nvSpPr>
          <p:cNvPr id="8199" name="Rectangle 5">
            <a:extLst>
              <a:ext uri="{FF2B5EF4-FFF2-40B4-BE49-F238E27FC236}">
                <a16:creationId xmlns:a16="http://schemas.microsoft.com/office/drawing/2014/main" id="{A61DBA86-D790-497B-9CFC-B5DC7F321D9A}"/>
              </a:ext>
            </a:extLst>
          </p:cNvPr>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en-US" sz="2400"/>
          </a:p>
        </p:txBody>
      </p:sp>
      <p:graphicFrame>
        <p:nvGraphicFramePr>
          <p:cNvPr id="8194" name="Object 4">
            <a:extLst>
              <a:ext uri="{FF2B5EF4-FFF2-40B4-BE49-F238E27FC236}">
                <a16:creationId xmlns:a16="http://schemas.microsoft.com/office/drawing/2014/main" id="{5154299E-8B9D-4F31-9189-DEC57E2065F7}"/>
              </a:ext>
            </a:extLst>
          </p:cNvPr>
          <p:cNvGraphicFramePr>
            <a:graphicFrameLocks/>
          </p:cNvGraphicFramePr>
          <p:nvPr/>
        </p:nvGraphicFramePr>
        <p:xfrm>
          <a:off x="2927350" y="3357563"/>
          <a:ext cx="425450" cy="576262"/>
        </p:xfrm>
        <a:graphic>
          <a:graphicData uri="http://schemas.openxmlformats.org/presentationml/2006/ole">
            <mc:AlternateContent xmlns:mc="http://schemas.openxmlformats.org/markup-compatibility/2006">
              <mc:Choice xmlns:v="urn:schemas-microsoft-com:vml" Requires="v">
                <p:oleObj spid="_x0000_s4105" r:id="rId3" imgW="165028" imgH="228501" progId="Equation.DSMT4">
                  <p:embed/>
                </p:oleObj>
              </mc:Choice>
              <mc:Fallback>
                <p:oleObj r:id="rId3" imgW="165028" imgH="228501" progId="Equation.DSMT4">
                  <p:embed/>
                  <p:pic>
                    <p:nvPicPr>
                      <p:cNvPr id="8194" name="Object 4">
                        <a:extLst>
                          <a:ext uri="{FF2B5EF4-FFF2-40B4-BE49-F238E27FC236}">
                            <a16:creationId xmlns:a16="http://schemas.microsoft.com/office/drawing/2014/main" id="{5154299E-8B9D-4F31-9189-DEC57E2065F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350" y="3357563"/>
                        <a:ext cx="4254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00" name="文本框 1">
            <a:extLst>
              <a:ext uri="{FF2B5EF4-FFF2-40B4-BE49-F238E27FC236}">
                <a16:creationId xmlns:a16="http://schemas.microsoft.com/office/drawing/2014/main" id="{AF804EED-C1E4-4D8B-82D2-9FD4311D5466}"/>
              </a:ext>
            </a:extLst>
          </p:cNvPr>
          <p:cNvSpPr txBox="1">
            <a:spLocks noChangeArrowheads="1"/>
          </p:cNvSpPr>
          <p:nvPr/>
        </p:nvSpPr>
        <p:spPr bwMode="auto">
          <a:xfrm>
            <a:off x="2495551" y="5805489"/>
            <a:ext cx="66752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lang="en-US" altLang="zh-CN" b="1" i="1">
                <a:solidFill>
                  <a:srgbClr val="FF00FF"/>
                </a:solidFill>
              </a:rPr>
              <a:t>LL</a:t>
            </a:r>
            <a:r>
              <a:rPr lang="en-US" altLang="zh-CN" b="1">
                <a:solidFill>
                  <a:srgbClr val="FF00FF"/>
                </a:solidFill>
              </a:rPr>
              <a:t>(1)</a:t>
            </a:r>
            <a:r>
              <a:rPr lang="zh-CN" altLang="en-US" b="1">
                <a:solidFill>
                  <a:srgbClr val="FF00FF"/>
                </a:solidFill>
              </a:rPr>
              <a:t>文法既不是二义性的，也不是左递归的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64739">
                                            <p:txEl>
                                              <p:pRg st="0" end="0"/>
                                            </p:txEl>
                                          </p:spTgt>
                                        </p:tgtEl>
                                        <p:attrNameLst>
                                          <p:attrName>style.visibility</p:attrName>
                                        </p:attrNameLst>
                                      </p:cBhvr>
                                      <p:to>
                                        <p:strVal val="visible"/>
                                      </p:to>
                                    </p:set>
                                    <p:animEffect transition="in" filter="slide(fromBottom)">
                                      <p:cBhvr>
                                        <p:cTn id="7" dur="500"/>
                                        <p:tgtEl>
                                          <p:spTgt spid="2164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164739">
                                            <p:txEl>
                                              <p:pRg st="1" end="1"/>
                                            </p:txEl>
                                          </p:spTgt>
                                        </p:tgtEl>
                                        <p:attrNameLst>
                                          <p:attrName>style.visibility</p:attrName>
                                        </p:attrNameLst>
                                      </p:cBhvr>
                                      <p:to>
                                        <p:strVal val="visible"/>
                                      </p:to>
                                    </p:set>
                                    <p:animEffect transition="in" filter="slide(fromBottom)">
                                      <p:cBhvr>
                                        <p:cTn id="12" dur="500"/>
                                        <p:tgtEl>
                                          <p:spTgt spid="21647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164739">
                                            <p:txEl>
                                              <p:pRg st="2" end="2"/>
                                            </p:txEl>
                                          </p:spTgt>
                                        </p:tgtEl>
                                        <p:attrNameLst>
                                          <p:attrName>style.visibility</p:attrName>
                                        </p:attrNameLst>
                                      </p:cBhvr>
                                      <p:to>
                                        <p:strVal val="visible"/>
                                      </p:to>
                                    </p:set>
                                    <p:animEffect transition="in" filter="slide(fromBottom)">
                                      <p:cBhvr>
                                        <p:cTn id="17" dur="500"/>
                                        <p:tgtEl>
                                          <p:spTgt spid="21647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164739">
                                            <p:txEl>
                                              <p:pRg st="3" end="3"/>
                                            </p:txEl>
                                          </p:spTgt>
                                        </p:tgtEl>
                                        <p:attrNameLst>
                                          <p:attrName>style.visibility</p:attrName>
                                        </p:attrNameLst>
                                      </p:cBhvr>
                                      <p:to>
                                        <p:strVal val="visible"/>
                                      </p:to>
                                    </p:set>
                                    <p:animEffect transition="in" filter="slide(fromBottom)">
                                      <p:cBhvr>
                                        <p:cTn id="22" dur="500"/>
                                        <p:tgtEl>
                                          <p:spTgt spid="21647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164739">
                                            <p:txEl>
                                              <p:pRg st="4" end="4"/>
                                            </p:txEl>
                                          </p:spTgt>
                                        </p:tgtEl>
                                        <p:attrNameLst>
                                          <p:attrName>style.visibility</p:attrName>
                                        </p:attrNameLst>
                                      </p:cBhvr>
                                      <p:to>
                                        <p:strVal val="visible"/>
                                      </p:to>
                                    </p:set>
                                    <p:animEffect transition="in" filter="slide(fromBottom)">
                                      <p:cBhvr>
                                        <p:cTn id="27" dur="500"/>
                                        <p:tgtEl>
                                          <p:spTgt spid="21647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164739">
                                            <p:txEl>
                                              <p:pRg st="5" end="5"/>
                                            </p:txEl>
                                          </p:spTgt>
                                        </p:tgtEl>
                                        <p:attrNameLst>
                                          <p:attrName>style.visibility</p:attrName>
                                        </p:attrNameLst>
                                      </p:cBhvr>
                                      <p:to>
                                        <p:strVal val="visible"/>
                                      </p:to>
                                    </p:set>
                                    <p:animEffect transition="in" filter="slide(fromBottom)">
                                      <p:cBhvr>
                                        <p:cTn id="32" dur="500"/>
                                        <p:tgtEl>
                                          <p:spTgt spid="21647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164739">
                                            <p:txEl>
                                              <p:pRg st="6" end="6"/>
                                            </p:txEl>
                                          </p:spTgt>
                                        </p:tgtEl>
                                        <p:attrNameLst>
                                          <p:attrName>style.visibility</p:attrName>
                                        </p:attrNameLst>
                                      </p:cBhvr>
                                      <p:to>
                                        <p:strVal val="visible"/>
                                      </p:to>
                                    </p:set>
                                    <p:animEffect transition="in" filter="slide(fromBottom)">
                                      <p:cBhvr>
                                        <p:cTn id="37" dur="500"/>
                                        <p:tgtEl>
                                          <p:spTgt spid="216473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164739">
                                            <p:txEl>
                                              <p:pRg st="7" end="7"/>
                                            </p:txEl>
                                          </p:spTgt>
                                        </p:tgtEl>
                                        <p:attrNameLst>
                                          <p:attrName>style.visibility</p:attrName>
                                        </p:attrNameLst>
                                      </p:cBhvr>
                                      <p:to>
                                        <p:strVal val="visible"/>
                                      </p:to>
                                    </p:set>
                                    <p:animEffect transition="in" filter="slide(fromBottom)">
                                      <p:cBhvr>
                                        <p:cTn id="42" dur="500"/>
                                        <p:tgtEl>
                                          <p:spTgt spid="216473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2164739">
                                            <p:txEl>
                                              <p:pRg st="8" end="8"/>
                                            </p:txEl>
                                          </p:spTgt>
                                        </p:tgtEl>
                                        <p:attrNameLst>
                                          <p:attrName>style.visibility</p:attrName>
                                        </p:attrNameLst>
                                      </p:cBhvr>
                                      <p:to>
                                        <p:strVal val="visible"/>
                                      </p:to>
                                    </p:set>
                                    <p:animEffect transition="in" filter="slide(fromBottom)">
                                      <p:cBhvr>
                                        <p:cTn id="47" dur="500"/>
                                        <p:tgtEl>
                                          <p:spTgt spid="21647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4739"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a:extLst>
              <a:ext uri="{FF2B5EF4-FFF2-40B4-BE49-F238E27FC236}">
                <a16:creationId xmlns:a16="http://schemas.microsoft.com/office/drawing/2014/main" id="{313EB0D0-D3DB-4312-B84E-45BE990DCE2F}"/>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F1E85BD1-1E9F-4F62-8E09-923FB6E48D3E}" type="datetime1">
              <a:rPr lang="zh-CN" altLang="en-US" noProof="0" smtClean="0">
                <a:latin typeface="+mn-lt"/>
              </a:rPr>
              <a:pPr>
                <a:buFontTx/>
                <a:buNone/>
                <a:defRPr/>
              </a:pPr>
              <a:t>2025/6/26</a:t>
            </a:fld>
            <a:endParaRPr lang="en-US" altLang="zh-CN" noProof="0">
              <a:latin typeface="+mn-lt"/>
            </a:endParaRPr>
          </a:p>
        </p:txBody>
      </p:sp>
      <p:sp>
        <p:nvSpPr>
          <p:cNvPr id="58371" name="灯片编号占位符 5">
            <a:extLst>
              <a:ext uri="{FF2B5EF4-FFF2-40B4-BE49-F238E27FC236}">
                <a16:creationId xmlns:a16="http://schemas.microsoft.com/office/drawing/2014/main" id="{018CEB48-872A-46C8-8CD8-6BC930020137}"/>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C9189E9D-5E18-4A5B-88DA-52E7783F69DE}" type="slidenum">
              <a:rPr lang="en-US" altLang="zh-CN" sz="1400">
                <a:latin typeface="Arial" panose="020B0604020202020204" pitchFamily="34" charset="0"/>
              </a:rPr>
              <a:pPr/>
              <a:t>12</a:t>
            </a:fld>
            <a:endParaRPr lang="en-US" altLang="zh-CN" sz="1400">
              <a:latin typeface="Arial" panose="020B0604020202020204" pitchFamily="34" charset="0"/>
            </a:endParaRPr>
          </a:p>
        </p:txBody>
      </p:sp>
      <p:sp>
        <p:nvSpPr>
          <p:cNvPr id="58372" name="Rectangle 2">
            <a:extLst>
              <a:ext uri="{FF2B5EF4-FFF2-40B4-BE49-F238E27FC236}">
                <a16:creationId xmlns:a16="http://schemas.microsoft.com/office/drawing/2014/main" id="{ED0CB068-BED5-4AB2-8DF8-5D31E3F2DA3D}"/>
              </a:ext>
            </a:extLst>
          </p:cNvPr>
          <p:cNvSpPr>
            <a:spLocks noGrp="1" noChangeArrowheads="1"/>
          </p:cNvSpPr>
          <p:nvPr>
            <p:ph type="title" idx="4294967295"/>
          </p:nvPr>
        </p:nvSpPr>
        <p:spPr>
          <a:xfrm>
            <a:off x="2566989" y="476251"/>
            <a:ext cx="7921625" cy="720725"/>
          </a:xfrm>
        </p:spPr>
        <p:txBody>
          <a:bodyPr anchor="ctr"/>
          <a:lstStyle/>
          <a:p>
            <a:pPr eaLnBrk="1" hangingPunct="1">
              <a:lnSpc>
                <a:spcPct val="90000"/>
              </a:lnSpc>
            </a:pPr>
            <a:r>
              <a:rPr lang="zh-CN" altLang="en-US" sz="3200">
                <a:latin typeface="Times New Roman" panose="02020603050405020304" pitchFamily="18" charset="0"/>
              </a:rPr>
              <a:t>例 表达式文法的语法变量的 </a:t>
            </a:r>
            <a:r>
              <a:rPr lang="en-US" altLang="zh-CN" sz="3200">
                <a:latin typeface="Times New Roman" panose="02020603050405020304" pitchFamily="18" charset="0"/>
              </a:rPr>
              <a:t>FOLLOW </a:t>
            </a:r>
            <a:r>
              <a:rPr lang="zh-CN" altLang="en-US" sz="3200">
                <a:latin typeface="Times New Roman" panose="02020603050405020304" pitchFamily="18" charset="0"/>
              </a:rPr>
              <a:t>集</a:t>
            </a:r>
          </a:p>
        </p:txBody>
      </p:sp>
      <p:sp>
        <p:nvSpPr>
          <p:cNvPr id="1144835" name="Rectangle 3">
            <a:extLst>
              <a:ext uri="{FF2B5EF4-FFF2-40B4-BE49-F238E27FC236}">
                <a16:creationId xmlns:a16="http://schemas.microsoft.com/office/drawing/2014/main" id="{D33BBFD2-2D1D-4FD4-8806-3D2D6C9D7E59}"/>
              </a:ext>
            </a:extLst>
          </p:cNvPr>
          <p:cNvSpPr>
            <a:spLocks noGrp="1"/>
          </p:cNvSpPr>
          <p:nvPr>
            <p:ph type="body" idx="4294967295"/>
          </p:nvPr>
        </p:nvSpPr>
        <p:spPr>
          <a:xfrm>
            <a:off x="1703388" y="4005263"/>
            <a:ext cx="8964612" cy="2519362"/>
          </a:xfrm>
        </p:spPr>
        <p:txBody>
          <a:bodyPr/>
          <a:lstStyle/>
          <a:p>
            <a:pPr eaLnBrk="1" hangingPunct="1">
              <a:lnSpc>
                <a:spcPct val="110000"/>
              </a:lnSpc>
              <a:buFont typeface="Wingdings" panose="05000000000000000000" pitchFamily="2" charset="2"/>
              <a:buNone/>
              <a:defRPr/>
            </a:pPr>
            <a:r>
              <a:rPr lang="en-US" altLang="zh-CN" sz="2200" noProof="1">
                <a:latin typeface="Times New Roman" panose="02020603050405020304" pitchFamily="18" charset="0"/>
              </a:rPr>
              <a:t>FOLLOW(E) =  { #, ) }</a:t>
            </a:r>
          </a:p>
          <a:p>
            <a:pPr eaLnBrk="1" hangingPunct="1">
              <a:lnSpc>
                <a:spcPct val="110000"/>
              </a:lnSpc>
              <a:buFont typeface="Wingdings" panose="05000000000000000000" pitchFamily="2" charset="2"/>
              <a:buNone/>
              <a:defRPr/>
            </a:pPr>
            <a:r>
              <a:rPr lang="en-US" altLang="zh-CN" sz="2200" noProof="1">
                <a:latin typeface="Times New Roman" panose="02020603050405020304" pitchFamily="18" charset="0"/>
              </a:rPr>
              <a:t>FOLLOW(E')= FOLLOW( E ) = { #, ) }</a:t>
            </a:r>
          </a:p>
          <a:p>
            <a:pPr eaLnBrk="1" hangingPunct="1">
              <a:lnSpc>
                <a:spcPct val="110000"/>
              </a:lnSpc>
              <a:buFont typeface="Wingdings" panose="05000000000000000000" pitchFamily="2" charset="2"/>
              <a:buNone/>
              <a:defRPr/>
            </a:pPr>
            <a:r>
              <a:rPr lang="en-US" altLang="zh-CN" sz="2200" noProof="1">
                <a:latin typeface="Times New Roman" panose="02020603050405020304" pitchFamily="18" charset="0"/>
              </a:rPr>
              <a:t>FOLLOW(T) = {FIRST(E')-{</a:t>
            </a:r>
            <a:r>
              <a:rPr lang="en-US" altLang="zh-CN" sz="2000" noProof="1">
                <a:effectLst>
                  <a:outerShdw blurRad="38100" dist="38100" dir="2700000">
                    <a:srgbClr val="C0C0C0"/>
                  </a:outerShdw>
                </a:effectLst>
              </a:rPr>
              <a:t>ε</a:t>
            </a:r>
            <a:r>
              <a:rPr lang="en-US" altLang="zh-CN" sz="2200" noProof="1">
                <a:latin typeface="Times New Roman" panose="02020603050405020304" pitchFamily="18" charset="0"/>
              </a:rPr>
              <a:t>}}∪FOLLOW(E)∪FOLLOW(E')= {+,),#}</a:t>
            </a:r>
          </a:p>
          <a:p>
            <a:pPr eaLnBrk="1" hangingPunct="1">
              <a:lnSpc>
                <a:spcPct val="110000"/>
              </a:lnSpc>
              <a:buFont typeface="Wingdings" panose="05000000000000000000" pitchFamily="2" charset="2"/>
              <a:buNone/>
              <a:defRPr/>
            </a:pPr>
            <a:r>
              <a:rPr lang="en-US" altLang="zh-CN" sz="2200" noProof="1">
                <a:latin typeface="Times New Roman" panose="02020603050405020304" pitchFamily="18" charset="0"/>
              </a:rPr>
              <a:t>FOLLOW(T')= FOLLOW(T)= {+,),#}</a:t>
            </a:r>
          </a:p>
          <a:p>
            <a:pPr eaLnBrk="1" hangingPunct="1">
              <a:lnSpc>
                <a:spcPct val="110000"/>
              </a:lnSpc>
              <a:buFont typeface="Wingdings" panose="05000000000000000000" pitchFamily="2" charset="2"/>
              <a:buNone/>
              <a:defRPr/>
            </a:pPr>
            <a:r>
              <a:rPr lang="en-US" altLang="zh-CN" sz="2200" noProof="1">
                <a:latin typeface="Times New Roman" panose="02020603050405020304" pitchFamily="18" charset="0"/>
              </a:rPr>
              <a:t>FOLLOW(F) = FIRST(T’)∪FOLLOW(T)∪FOLLOW(T') ={*,+,),#}  </a:t>
            </a:r>
          </a:p>
        </p:txBody>
      </p:sp>
      <p:sp>
        <p:nvSpPr>
          <p:cNvPr id="1144836" name="Text Box 4">
            <a:extLst>
              <a:ext uri="{FF2B5EF4-FFF2-40B4-BE49-F238E27FC236}">
                <a16:creationId xmlns:a16="http://schemas.microsoft.com/office/drawing/2014/main" id="{88E90EC9-AE1F-4E4D-9AE5-53AE8255A331}"/>
              </a:ext>
            </a:extLst>
          </p:cNvPr>
          <p:cNvSpPr txBox="1">
            <a:spLocks noChangeArrowheads="1"/>
          </p:cNvSpPr>
          <p:nvPr/>
        </p:nvSpPr>
        <p:spPr bwMode="auto">
          <a:xfrm>
            <a:off x="1703389" y="1919288"/>
            <a:ext cx="3455987" cy="1348704"/>
          </a:xfrm>
          <a:prstGeom prst="rect">
            <a:avLst/>
          </a:prstGeom>
          <a:noFill/>
          <a:ln w="9525">
            <a:noFill/>
            <a:miter lim="800000"/>
          </a:ln>
          <a:effectLst/>
        </p:spPr>
        <p:txBody>
          <a:bodyPr lIns="92075" tIns="46038" rIns="92075" bIns="46038">
            <a:spAutoFit/>
          </a:bodyPr>
          <a:lstStyle/>
          <a:p>
            <a:pPr>
              <a:spcBef>
                <a:spcPct val="20000"/>
              </a:spcBef>
              <a:buClr>
                <a:schemeClr val="tx2"/>
              </a:buClr>
              <a:buSzPct val="75000"/>
              <a:buFont typeface="Monotype Sorts" pitchFamily="2" charset="2"/>
              <a:buNone/>
              <a:defRPr/>
            </a:pPr>
            <a:r>
              <a:rPr kumimoji="1" lang="en-US" altLang="zh-CN" sz="2400" b="1" dirty="0">
                <a:solidFill>
                  <a:srgbClr val="0000FF"/>
                </a:solidFill>
                <a:effectLst>
                  <a:outerShdw blurRad="38100" dist="38100" dir="2700000" algn="tl">
                    <a:srgbClr val="000000"/>
                  </a:outerShdw>
                </a:effectLst>
              </a:rPr>
              <a:t>E→TE</a:t>
            </a:r>
            <a:r>
              <a:rPr lang="en-US" altLang="zh-CN" sz="2400" b="1" dirty="0">
                <a:solidFill>
                  <a:srgbClr val="0000FF"/>
                </a:solidFill>
              </a:rPr>
              <a:t>'</a:t>
            </a:r>
            <a:r>
              <a:rPr kumimoji="1" lang="en-US" altLang="zh-CN" sz="2400" b="1" dirty="0">
                <a:solidFill>
                  <a:srgbClr val="0000FF"/>
                </a:solidFill>
                <a:effectLst>
                  <a:outerShdw blurRad="38100" dist="38100" dir="2700000" algn="tl">
                    <a:srgbClr val="000000"/>
                  </a:outerShdw>
                </a:effectLst>
              </a:rPr>
              <a:t>   E</a:t>
            </a:r>
            <a:r>
              <a:rPr lang="en-US" altLang="zh-CN" sz="2400" b="1" dirty="0">
                <a:solidFill>
                  <a:srgbClr val="0000FF"/>
                </a:solidFill>
              </a:rPr>
              <a:t>'</a:t>
            </a:r>
            <a:r>
              <a:rPr kumimoji="1" lang="en-US" altLang="zh-CN" sz="2400" b="1" dirty="0">
                <a:solidFill>
                  <a:srgbClr val="0000FF"/>
                </a:solidFill>
                <a:effectLst>
                  <a:outerShdw blurRad="38100" dist="38100" dir="2700000" algn="tl">
                    <a:srgbClr val="000000"/>
                  </a:outerShdw>
                </a:effectLst>
              </a:rPr>
              <a:t>→+</a:t>
            </a:r>
            <a:r>
              <a:rPr kumimoji="1" lang="en-US" altLang="zh-CN" sz="2400" b="1" dirty="0" err="1">
                <a:solidFill>
                  <a:srgbClr val="0000FF"/>
                </a:solidFill>
                <a:effectLst>
                  <a:outerShdw blurRad="38100" dist="38100" dir="2700000" algn="tl">
                    <a:srgbClr val="000000"/>
                  </a:outerShdw>
                </a:effectLst>
              </a:rPr>
              <a:t>TE</a:t>
            </a:r>
            <a:r>
              <a:rPr lang="en-US" altLang="zh-CN" sz="2400" b="1" dirty="0" err="1">
                <a:solidFill>
                  <a:srgbClr val="0000FF"/>
                </a:solidFill>
              </a:rPr>
              <a:t>'</a:t>
            </a:r>
            <a:r>
              <a:rPr kumimoji="1" lang="en-US" altLang="zh-CN" sz="2400" b="1" dirty="0" err="1">
                <a:solidFill>
                  <a:srgbClr val="0000FF"/>
                </a:solidFill>
                <a:effectLst>
                  <a:outerShdw blurRad="38100" dist="38100" dir="2700000" algn="tl">
                    <a:srgbClr val="000000"/>
                  </a:outerShdw>
                </a:effectLst>
              </a:rPr>
              <a:t>|ε</a:t>
            </a:r>
            <a:endParaRPr kumimoji="1" lang="en-US" altLang="zh-CN" sz="2400" b="1" dirty="0">
              <a:solidFill>
                <a:srgbClr val="0000FF"/>
              </a:solidFill>
              <a:effectLst>
                <a:outerShdw blurRad="38100" dist="38100" dir="2700000" algn="tl">
                  <a:srgbClr val="000000"/>
                </a:outerShdw>
              </a:effectLst>
            </a:endParaRPr>
          </a:p>
          <a:p>
            <a:pPr>
              <a:spcBef>
                <a:spcPct val="20000"/>
              </a:spcBef>
              <a:buClr>
                <a:schemeClr val="tx2"/>
              </a:buClr>
              <a:buSzPct val="75000"/>
              <a:buFont typeface="Monotype Sorts" pitchFamily="2" charset="2"/>
              <a:buNone/>
              <a:defRPr/>
            </a:pPr>
            <a:r>
              <a:rPr kumimoji="1" lang="en-US" altLang="zh-CN" sz="2400" b="1" dirty="0">
                <a:solidFill>
                  <a:srgbClr val="0000FF"/>
                </a:solidFill>
                <a:effectLst>
                  <a:outerShdw blurRad="38100" dist="38100" dir="2700000" algn="tl">
                    <a:srgbClr val="000000"/>
                  </a:outerShdw>
                </a:effectLst>
              </a:rPr>
              <a:t>T→FT</a:t>
            </a:r>
            <a:r>
              <a:rPr lang="en-US" altLang="zh-CN" sz="2400" b="1" dirty="0">
                <a:solidFill>
                  <a:srgbClr val="0000FF"/>
                </a:solidFill>
              </a:rPr>
              <a:t>'</a:t>
            </a:r>
            <a:r>
              <a:rPr kumimoji="1" lang="en-US" altLang="zh-CN" sz="2400" b="1" dirty="0">
                <a:solidFill>
                  <a:srgbClr val="0000FF"/>
                </a:solidFill>
                <a:effectLst>
                  <a:outerShdw blurRad="38100" dist="38100" dir="2700000" algn="tl">
                    <a:srgbClr val="000000"/>
                  </a:outerShdw>
                </a:effectLst>
              </a:rPr>
              <a:t>   T</a:t>
            </a:r>
            <a:r>
              <a:rPr lang="en-US" altLang="zh-CN" sz="2400" b="1" dirty="0">
                <a:solidFill>
                  <a:srgbClr val="0000FF"/>
                </a:solidFill>
              </a:rPr>
              <a:t>'</a:t>
            </a:r>
            <a:r>
              <a:rPr kumimoji="1" lang="en-US" altLang="zh-CN" sz="2400" b="1" dirty="0">
                <a:solidFill>
                  <a:srgbClr val="0000FF"/>
                </a:solidFill>
                <a:effectLst>
                  <a:outerShdw blurRad="38100" dist="38100" dir="2700000" algn="tl">
                    <a:srgbClr val="000000"/>
                  </a:outerShdw>
                </a:effectLst>
              </a:rPr>
              <a:t>→*</a:t>
            </a:r>
            <a:r>
              <a:rPr kumimoji="1" lang="en-US" altLang="zh-CN" sz="2400" b="1" dirty="0" err="1">
                <a:solidFill>
                  <a:srgbClr val="0000FF"/>
                </a:solidFill>
                <a:effectLst>
                  <a:outerShdw blurRad="38100" dist="38100" dir="2700000" algn="tl">
                    <a:srgbClr val="000000"/>
                  </a:outerShdw>
                </a:effectLst>
              </a:rPr>
              <a:t>FT</a:t>
            </a:r>
            <a:r>
              <a:rPr lang="en-US" altLang="zh-CN" sz="2400" b="1" dirty="0" err="1">
                <a:solidFill>
                  <a:srgbClr val="0000FF"/>
                </a:solidFill>
              </a:rPr>
              <a:t>'</a:t>
            </a:r>
            <a:r>
              <a:rPr kumimoji="1" lang="en-US" altLang="zh-CN" sz="2400" b="1" dirty="0" err="1">
                <a:solidFill>
                  <a:srgbClr val="0000FF"/>
                </a:solidFill>
                <a:effectLst>
                  <a:outerShdw blurRad="38100" dist="38100" dir="2700000" algn="tl">
                    <a:srgbClr val="000000"/>
                  </a:outerShdw>
                </a:effectLst>
              </a:rPr>
              <a:t>|ε</a:t>
            </a:r>
            <a:endParaRPr kumimoji="1" lang="en-US" altLang="zh-CN" sz="2400" b="1" dirty="0">
              <a:solidFill>
                <a:srgbClr val="0000FF"/>
              </a:solidFill>
              <a:effectLst>
                <a:outerShdw blurRad="38100" dist="38100" dir="2700000" algn="tl">
                  <a:srgbClr val="000000"/>
                </a:outerShdw>
              </a:effectLst>
            </a:endParaRPr>
          </a:p>
          <a:p>
            <a:pPr>
              <a:spcBef>
                <a:spcPct val="20000"/>
              </a:spcBef>
              <a:buClr>
                <a:schemeClr val="tx2"/>
              </a:buClr>
              <a:buSzPct val="75000"/>
              <a:buFont typeface="Monotype Sorts" pitchFamily="2" charset="2"/>
              <a:buNone/>
              <a:defRPr/>
            </a:pPr>
            <a:r>
              <a:rPr kumimoji="1" lang="en-US" altLang="zh-CN" sz="2400" b="1" dirty="0">
                <a:solidFill>
                  <a:srgbClr val="0000FF"/>
                </a:solidFill>
                <a:effectLst>
                  <a:outerShdw blurRad="38100" dist="38100" dir="2700000" algn="tl">
                    <a:srgbClr val="000000"/>
                  </a:outerShdw>
                </a:effectLst>
              </a:rPr>
              <a:t>F→(E)|id</a:t>
            </a:r>
          </a:p>
        </p:txBody>
      </p:sp>
      <p:sp>
        <p:nvSpPr>
          <p:cNvPr id="1144837" name="Rectangle 5">
            <a:extLst>
              <a:ext uri="{FF2B5EF4-FFF2-40B4-BE49-F238E27FC236}">
                <a16:creationId xmlns:a16="http://schemas.microsoft.com/office/drawing/2014/main" id="{131D1C20-DD2A-493A-B669-5C86AE541D1E}"/>
              </a:ext>
            </a:extLst>
          </p:cNvPr>
          <p:cNvSpPr>
            <a:spLocks noChangeArrowheads="1"/>
          </p:cNvSpPr>
          <p:nvPr/>
        </p:nvSpPr>
        <p:spPr bwMode="auto">
          <a:xfrm>
            <a:off x="5664200" y="1846263"/>
            <a:ext cx="4572000" cy="2392362"/>
          </a:xfrm>
          <a:prstGeom prst="rect">
            <a:avLst/>
          </a:prstGeom>
          <a:noFill/>
          <a:ln w="9525">
            <a:noFill/>
            <a:miter lim="800000"/>
          </a:ln>
          <a:effectLst/>
        </p:spPr>
        <p:txBody>
          <a:bodyPr lIns="92075" tIns="46038" rIns="92075" bIns="46038">
            <a:spAutoFit/>
          </a:bodyPr>
          <a:lstStyle/>
          <a:p>
            <a:pPr>
              <a:lnSpc>
                <a:spcPct val="110000"/>
              </a:lnSpc>
              <a:spcBef>
                <a:spcPct val="20000"/>
              </a:spcBef>
              <a:buClr>
                <a:schemeClr val="tx2"/>
              </a:buClr>
              <a:buSzPct val="75000"/>
              <a:buFont typeface="Monotype Sorts" pitchFamily="2" charset="2"/>
              <a:buNone/>
              <a:defRPr/>
            </a:pPr>
            <a:r>
              <a:rPr kumimoji="1" lang="en-US" altLang="zh-CN" sz="2400" b="1">
                <a:solidFill>
                  <a:srgbClr val="FF0000"/>
                </a:solidFill>
                <a:effectLst>
                  <a:outerShdw blurRad="38100" dist="38100" dir="2700000" algn="tl">
                    <a:srgbClr val="000000"/>
                  </a:outerShdw>
                </a:effectLst>
              </a:rPr>
              <a:t>FIRST(F)={</a:t>
            </a:r>
            <a:r>
              <a:rPr kumimoji="1" lang="zh-CN" altLang="en-US" sz="2400" b="1">
                <a:solidFill>
                  <a:srgbClr val="FF0000"/>
                </a:solidFill>
                <a:effectLst>
                  <a:outerShdw blurRad="38100" dist="38100" dir="2700000" algn="tl">
                    <a:srgbClr val="000000"/>
                  </a:outerShdw>
                </a:effectLst>
              </a:rPr>
              <a:t>（</a:t>
            </a:r>
            <a:r>
              <a:rPr kumimoji="1" lang="en-US" altLang="zh-CN" sz="2400" b="1">
                <a:solidFill>
                  <a:srgbClr val="FF0000"/>
                </a:solidFill>
                <a:effectLst>
                  <a:outerShdw blurRad="38100" dist="38100" dir="2700000" algn="tl">
                    <a:srgbClr val="000000"/>
                  </a:outerShdw>
                </a:effectLst>
              </a:rPr>
              <a:t>,id}</a:t>
            </a:r>
          </a:p>
          <a:p>
            <a:pPr>
              <a:lnSpc>
                <a:spcPct val="110000"/>
              </a:lnSpc>
              <a:spcBef>
                <a:spcPct val="20000"/>
              </a:spcBef>
              <a:buClr>
                <a:schemeClr val="tx2"/>
              </a:buClr>
              <a:buSzPct val="75000"/>
              <a:buFont typeface="Monotype Sorts" pitchFamily="2" charset="2"/>
              <a:buNone/>
              <a:defRPr/>
            </a:pPr>
            <a:r>
              <a:rPr kumimoji="1" lang="en-US" altLang="zh-CN" sz="2400" b="1">
                <a:solidFill>
                  <a:srgbClr val="FF0000"/>
                </a:solidFill>
                <a:effectLst>
                  <a:outerShdw blurRad="38100" dist="38100" dir="2700000" algn="tl">
                    <a:srgbClr val="000000"/>
                  </a:outerShdw>
                </a:effectLst>
              </a:rPr>
              <a:t>FIRST(T)=FIRST(F)={</a:t>
            </a:r>
            <a:r>
              <a:rPr kumimoji="1" lang="zh-CN" altLang="en-US" sz="2400" b="1">
                <a:solidFill>
                  <a:srgbClr val="FF0000"/>
                </a:solidFill>
                <a:effectLst>
                  <a:outerShdw blurRad="38100" dist="38100" dir="2700000" algn="tl">
                    <a:srgbClr val="000000"/>
                  </a:outerShdw>
                </a:effectLst>
              </a:rPr>
              <a:t>（</a:t>
            </a:r>
            <a:r>
              <a:rPr kumimoji="1" lang="en-US" altLang="zh-CN" sz="2400" b="1">
                <a:solidFill>
                  <a:srgbClr val="FF0000"/>
                </a:solidFill>
                <a:effectLst>
                  <a:outerShdw blurRad="38100" dist="38100" dir="2700000" algn="tl">
                    <a:srgbClr val="000000"/>
                  </a:outerShdw>
                </a:effectLst>
              </a:rPr>
              <a:t>,id}    </a:t>
            </a:r>
          </a:p>
          <a:p>
            <a:pPr>
              <a:lnSpc>
                <a:spcPct val="110000"/>
              </a:lnSpc>
              <a:spcBef>
                <a:spcPct val="20000"/>
              </a:spcBef>
              <a:buClr>
                <a:schemeClr val="tx2"/>
              </a:buClr>
              <a:buSzPct val="75000"/>
              <a:buFont typeface="Monotype Sorts" pitchFamily="2" charset="2"/>
              <a:buNone/>
              <a:defRPr/>
            </a:pPr>
            <a:r>
              <a:rPr kumimoji="1" lang="en-US" altLang="zh-CN" sz="2400" b="1">
                <a:solidFill>
                  <a:srgbClr val="FF0000"/>
                </a:solidFill>
                <a:effectLst>
                  <a:outerShdw blurRad="38100" dist="38100" dir="2700000" algn="tl">
                    <a:srgbClr val="000000"/>
                  </a:outerShdw>
                </a:effectLst>
              </a:rPr>
              <a:t>FIRST(E)=FIRST(T)={</a:t>
            </a:r>
            <a:r>
              <a:rPr kumimoji="1" lang="zh-CN" altLang="en-US" sz="2400" b="1">
                <a:solidFill>
                  <a:srgbClr val="FF0000"/>
                </a:solidFill>
                <a:effectLst>
                  <a:outerShdw blurRad="38100" dist="38100" dir="2700000" algn="tl">
                    <a:srgbClr val="000000"/>
                  </a:outerShdw>
                </a:effectLst>
              </a:rPr>
              <a:t>（</a:t>
            </a:r>
            <a:r>
              <a:rPr kumimoji="1" lang="en-US" altLang="zh-CN" sz="2400" b="1">
                <a:solidFill>
                  <a:srgbClr val="FF0000"/>
                </a:solidFill>
                <a:effectLst>
                  <a:outerShdw blurRad="38100" dist="38100" dir="2700000" algn="tl">
                    <a:srgbClr val="000000"/>
                  </a:outerShdw>
                </a:effectLst>
              </a:rPr>
              <a:t>,id}  </a:t>
            </a:r>
          </a:p>
          <a:p>
            <a:pPr>
              <a:lnSpc>
                <a:spcPct val="110000"/>
              </a:lnSpc>
              <a:spcBef>
                <a:spcPct val="20000"/>
              </a:spcBef>
              <a:buClr>
                <a:schemeClr val="tx2"/>
              </a:buClr>
              <a:buSzPct val="75000"/>
              <a:buFont typeface="Monotype Sorts" pitchFamily="2" charset="2"/>
              <a:buNone/>
              <a:defRPr/>
            </a:pPr>
            <a:r>
              <a:rPr kumimoji="1" lang="en-US" altLang="zh-CN" sz="2400" b="1">
                <a:solidFill>
                  <a:srgbClr val="FF0000"/>
                </a:solidFill>
                <a:effectLst>
                  <a:outerShdw blurRad="38100" dist="38100" dir="2700000" algn="tl">
                    <a:srgbClr val="000000"/>
                  </a:outerShdw>
                </a:effectLst>
              </a:rPr>
              <a:t>FIRST(E</a:t>
            </a:r>
            <a:r>
              <a:rPr lang="en-US" altLang="zh-CN" b="1">
                <a:solidFill>
                  <a:srgbClr val="FF0000"/>
                </a:solidFill>
              </a:rPr>
              <a:t>'</a:t>
            </a:r>
            <a:r>
              <a:rPr kumimoji="1" lang="en-US" altLang="zh-CN" sz="2400" b="1">
                <a:solidFill>
                  <a:srgbClr val="FF0000"/>
                </a:solidFill>
                <a:effectLst>
                  <a:outerShdw blurRad="38100" dist="38100" dir="2700000" algn="tl">
                    <a:srgbClr val="000000"/>
                  </a:outerShdw>
                </a:effectLst>
              </a:rPr>
              <a:t>)={+</a:t>
            </a:r>
            <a:r>
              <a:rPr kumimoji="1" lang="zh-CN" altLang="en-US" sz="2400" b="1">
                <a:solidFill>
                  <a:srgbClr val="FF0000"/>
                </a:solidFill>
                <a:effectLst>
                  <a:outerShdw blurRad="38100" dist="38100" dir="2700000" algn="tl">
                    <a:srgbClr val="000000"/>
                  </a:outerShdw>
                </a:effectLst>
              </a:rPr>
              <a:t>，</a:t>
            </a:r>
            <a:r>
              <a:rPr kumimoji="1" lang="en-US" altLang="zh-CN" sz="2400" b="1">
                <a:solidFill>
                  <a:srgbClr val="FF0000"/>
                </a:solidFill>
                <a:effectLst>
                  <a:outerShdw blurRad="38100" dist="38100" dir="2700000" algn="tl">
                    <a:srgbClr val="000000"/>
                  </a:outerShdw>
                </a:effectLst>
              </a:rPr>
              <a:t>ε}</a:t>
            </a:r>
          </a:p>
          <a:p>
            <a:pPr>
              <a:lnSpc>
                <a:spcPct val="110000"/>
              </a:lnSpc>
              <a:spcBef>
                <a:spcPct val="20000"/>
              </a:spcBef>
              <a:buClr>
                <a:schemeClr val="tx2"/>
              </a:buClr>
              <a:buSzPct val="75000"/>
              <a:buFont typeface="Monotype Sorts" pitchFamily="2" charset="2"/>
              <a:buNone/>
              <a:defRPr/>
            </a:pPr>
            <a:r>
              <a:rPr kumimoji="1" lang="en-US" altLang="zh-CN" sz="2400" b="1">
                <a:solidFill>
                  <a:srgbClr val="FF0000"/>
                </a:solidFill>
                <a:effectLst>
                  <a:outerShdw blurRad="38100" dist="38100" dir="2700000" algn="tl">
                    <a:srgbClr val="000000"/>
                  </a:outerShdw>
                </a:effectLst>
              </a:rPr>
              <a:t>FIRST(T</a:t>
            </a:r>
            <a:r>
              <a:rPr lang="en-US" altLang="zh-CN" b="1">
                <a:solidFill>
                  <a:srgbClr val="FF0000"/>
                </a:solidFill>
              </a:rPr>
              <a:t>'</a:t>
            </a:r>
            <a:r>
              <a:rPr kumimoji="1" lang="en-US" altLang="zh-CN" sz="2400" b="1">
                <a:solidFill>
                  <a:srgbClr val="FF0000"/>
                </a:solidFill>
                <a:effectLst>
                  <a:outerShdw blurRad="38100" dist="38100" dir="2700000" algn="tl">
                    <a:srgbClr val="000000"/>
                  </a:outerShdw>
                </a:effectLst>
              </a:rPr>
              <a:t>)={*,ε}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4837"/>
                                        </p:tgtEl>
                                        <p:attrNameLst>
                                          <p:attrName>style.visibility</p:attrName>
                                        </p:attrNameLst>
                                      </p:cBhvr>
                                      <p:to>
                                        <p:strVal val="visible"/>
                                      </p:to>
                                    </p:set>
                                    <p:animEffect transition="in" filter="blinds(horizontal)">
                                      <p:cBhvr>
                                        <p:cTn id="7" dur="500"/>
                                        <p:tgtEl>
                                          <p:spTgt spid="11448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44835">
                                            <p:txEl>
                                              <p:pRg st="0" end="0"/>
                                            </p:txEl>
                                          </p:spTgt>
                                        </p:tgtEl>
                                        <p:attrNameLst>
                                          <p:attrName>style.visibility</p:attrName>
                                        </p:attrNameLst>
                                      </p:cBhvr>
                                      <p:to>
                                        <p:strVal val="visible"/>
                                      </p:to>
                                    </p:set>
                                    <p:animEffect transition="in" filter="wipe(up)">
                                      <p:cBhvr>
                                        <p:cTn id="12" dur="75"/>
                                        <p:tgtEl>
                                          <p:spTgt spid="1144835">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44835">
                                            <p:txEl>
                                              <p:pRg st="1" end="1"/>
                                            </p:txEl>
                                          </p:spTgt>
                                        </p:tgtEl>
                                        <p:attrNameLst>
                                          <p:attrName>style.visibility</p:attrName>
                                        </p:attrNameLst>
                                      </p:cBhvr>
                                      <p:to>
                                        <p:strVal val="visible"/>
                                      </p:to>
                                    </p:set>
                                    <p:animEffect transition="in" filter="wipe(up)">
                                      <p:cBhvr>
                                        <p:cTn id="17" dur="75"/>
                                        <p:tgtEl>
                                          <p:spTgt spid="1144835">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44835">
                                            <p:txEl>
                                              <p:pRg st="2" end="2"/>
                                            </p:txEl>
                                          </p:spTgt>
                                        </p:tgtEl>
                                        <p:attrNameLst>
                                          <p:attrName>style.visibility</p:attrName>
                                        </p:attrNameLst>
                                      </p:cBhvr>
                                      <p:to>
                                        <p:strVal val="visible"/>
                                      </p:to>
                                    </p:set>
                                    <p:animEffect transition="in" filter="wipe(up)">
                                      <p:cBhvr>
                                        <p:cTn id="22" dur="75"/>
                                        <p:tgtEl>
                                          <p:spTgt spid="1144835">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1144835">
                                            <p:txEl>
                                              <p:pRg st="3" end="3"/>
                                            </p:txEl>
                                          </p:spTgt>
                                        </p:tgtEl>
                                        <p:attrNameLst>
                                          <p:attrName>style.visibility</p:attrName>
                                        </p:attrNameLst>
                                      </p:cBhvr>
                                      <p:to>
                                        <p:strVal val="visible"/>
                                      </p:to>
                                    </p:set>
                                    <p:animEffect transition="in" filter="wipe(up)">
                                      <p:cBhvr>
                                        <p:cTn id="27" dur="75"/>
                                        <p:tgtEl>
                                          <p:spTgt spid="1144835">
                                            <p:txEl>
                                              <p:pRg st="3" end="3"/>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1144835">
                                            <p:txEl>
                                              <p:pRg st="4" end="4"/>
                                            </p:txEl>
                                          </p:spTgt>
                                        </p:tgtEl>
                                        <p:attrNameLst>
                                          <p:attrName>style.visibility</p:attrName>
                                        </p:attrNameLst>
                                      </p:cBhvr>
                                      <p:to>
                                        <p:strVal val="visible"/>
                                      </p:to>
                                    </p:set>
                                    <p:animEffect transition="in" filter="wipe(up)">
                                      <p:cBhvr>
                                        <p:cTn id="32" dur="75"/>
                                        <p:tgtEl>
                                          <p:spTgt spid="1144835">
                                            <p:txEl>
                                              <p:pRg st="4" end="4"/>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835" grpId="0" build="p"/>
      <p:bldP spid="11448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a:extLst>
              <a:ext uri="{FF2B5EF4-FFF2-40B4-BE49-F238E27FC236}">
                <a16:creationId xmlns:a16="http://schemas.microsoft.com/office/drawing/2014/main" id="{59D345DF-7D75-459E-B153-AEBA9C783707}"/>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8CC76A98-B731-401B-9042-457281335774}" type="datetime1">
              <a:rPr lang="zh-CN" altLang="en-US" noProof="0" smtClean="0">
                <a:latin typeface="+mn-lt"/>
              </a:rPr>
              <a:pPr>
                <a:buFontTx/>
                <a:buNone/>
                <a:defRPr/>
              </a:pPr>
              <a:t>2025/6/26</a:t>
            </a:fld>
            <a:endParaRPr lang="en-US" altLang="zh-CN" noProof="0">
              <a:latin typeface="+mn-lt"/>
            </a:endParaRPr>
          </a:p>
        </p:txBody>
      </p:sp>
      <p:sp>
        <p:nvSpPr>
          <p:cNvPr id="59395" name="灯片编号占位符 5">
            <a:extLst>
              <a:ext uri="{FF2B5EF4-FFF2-40B4-BE49-F238E27FC236}">
                <a16:creationId xmlns:a16="http://schemas.microsoft.com/office/drawing/2014/main" id="{3E2F8FD3-902D-4130-8385-B2F045F03E60}"/>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CCC5EACF-1C54-4A90-A0B2-AAC3F674A08A}" type="slidenum">
              <a:rPr lang="en-US" altLang="zh-CN" sz="1400">
                <a:latin typeface="Arial" panose="020B0604020202020204" pitchFamily="34" charset="0"/>
              </a:rPr>
              <a:pPr/>
              <a:t>13</a:t>
            </a:fld>
            <a:endParaRPr lang="en-US" altLang="zh-CN" sz="1400">
              <a:latin typeface="Arial" panose="020B0604020202020204" pitchFamily="34" charset="0"/>
            </a:endParaRPr>
          </a:p>
        </p:txBody>
      </p:sp>
      <p:sp>
        <p:nvSpPr>
          <p:cNvPr id="59396" name="Rectangle 2">
            <a:extLst>
              <a:ext uri="{FF2B5EF4-FFF2-40B4-BE49-F238E27FC236}">
                <a16:creationId xmlns:a16="http://schemas.microsoft.com/office/drawing/2014/main" id="{714C3971-645E-45EB-9B37-561ECCDF952C}"/>
              </a:ext>
            </a:extLst>
          </p:cNvPr>
          <p:cNvSpPr>
            <a:spLocks noGrp="1" noChangeArrowheads="1"/>
          </p:cNvSpPr>
          <p:nvPr>
            <p:ph type="title" idx="4294967295"/>
          </p:nvPr>
        </p:nvSpPr>
        <p:spPr>
          <a:xfrm>
            <a:off x="2711450" y="333375"/>
            <a:ext cx="6953250" cy="865188"/>
          </a:xfrm>
        </p:spPr>
        <p:txBody>
          <a:bodyPr anchor="ctr"/>
          <a:lstStyle/>
          <a:p>
            <a:pPr eaLnBrk="1" hangingPunct="1"/>
            <a:r>
              <a:rPr lang="zh-CN" altLang="en-US">
                <a:latin typeface="Times New Roman" panose="02020603050405020304" pitchFamily="18" charset="0"/>
              </a:rPr>
              <a:t>表达式文法是 </a:t>
            </a:r>
            <a:r>
              <a:rPr lang="en-US" altLang="zh-CN">
                <a:latin typeface="Times New Roman" panose="02020603050405020304" pitchFamily="18" charset="0"/>
              </a:rPr>
              <a:t>LL(1) </a:t>
            </a:r>
            <a:r>
              <a:rPr lang="zh-CN" altLang="zh-CN">
                <a:latin typeface="Times New Roman" panose="02020603050405020304" pitchFamily="18" charset="0"/>
              </a:rPr>
              <a:t>文法</a:t>
            </a:r>
            <a:endParaRPr lang="zh-CN" altLang="en-US">
              <a:latin typeface="Times New Roman" panose="02020603050405020304" pitchFamily="18" charset="0"/>
            </a:endParaRPr>
          </a:p>
        </p:txBody>
      </p:sp>
      <p:sp>
        <p:nvSpPr>
          <p:cNvPr id="59397" name="Rectangle 3">
            <a:extLst>
              <a:ext uri="{FF2B5EF4-FFF2-40B4-BE49-F238E27FC236}">
                <a16:creationId xmlns:a16="http://schemas.microsoft.com/office/drawing/2014/main" id="{BB7B5213-C272-4514-8C1C-706E6EF913E9}"/>
              </a:ext>
            </a:extLst>
          </p:cNvPr>
          <p:cNvSpPr>
            <a:spLocks noGrp="1" noChangeArrowheads="1"/>
          </p:cNvSpPr>
          <p:nvPr>
            <p:ph type="body" idx="4294967295"/>
          </p:nvPr>
        </p:nvSpPr>
        <p:spPr>
          <a:xfrm>
            <a:off x="2279651" y="1484313"/>
            <a:ext cx="7777163" cy="4724400"/>
          </a:xfrm>
        </p:spPr>
        <p:txBody>
          <a:bodyPr/>
          <a:lstStyle/>
          <a:p>
            <a:pPr eaLnBrk="1" hangingPunct="1"/>
            <a:r>
              <a:rPr lang="en-US" altLang="zh-CN">
                <a:latin typeface="楷体_GB2312" pitchFamily="49" charset="-122"/>
              </a:rPr>
              <a:t>E → T E'        </a:t>
            </a:r>
          </a:p>
          <a:p>
            <a:pPr eaLnBrk="1" hangingPunct="1"/>
            <a:r>
              <a:rPr lang="en-US" altLang="zh-CN">
                <a:latin typeface="楷体_GB2312" pitchFamily="49" charset="-122"/>
              </a:rPr>
              <a:t>E'→ + T E'</a:t>
            </a:r>
            <a:r>
              <a:rPr lang="zh-CN" altLang="en-US">
                <a:latin typeface="楷体_GB2312" pitchFamily="49" charset="-122"/>
              </a:rPr>
              <a:t>｜</a:t>
            </a:r>
            <a:r>
              <a:rPr lang="en-US" altLang="zh-CN">
                <a:latin typeface="楷体_GB2312" pitchFamily="49" charset="-122"/>
              </a:rPr>
              <a:t>ε  </a:t>
            </a:r>
          </a:p>
          <a:p>
            <a:pPr eaLnBrk="1" hangingPunct="1"/>
            <a:r>
              <a:rPr lang="en-US" altLang="zh-CN">
                <a:latin typeface="楷体_GB2312" pitchFamily="49" charset="-122"/>
              </a:rPr>
              <a:t>T → F T'        </a:t>
            </a:r>
          </a:p>
          <a:p>
            <a:pPr eaLnBrk="1" hangingPunct="1"/>
            <a:r>
              <a:rPr lang="en-US" altLang="zh-CN">
                <a:latin typeface="楷体_GB2312" pitchFamily="49" charset="-122"/>
              </a:rPr>
              <a:t>T'→ * F T'</a:t>
            </a:r>
            <a:r>
              <a:rPr lang="zh-CN" altLang="en-US">
                <a:latin typeface="楷体_GB2312" pitchFamily="49" charset="-122"/>
              </a:rPr>
              <a:t>｜</a:t>
            </a:r>
            <a:r>
              <a:rPr lang="en-US" altLang="zh-CN">
                <a:latin typeface="楷体_GB2312" pitchFamily="49" charset="-122"/>
              </a:rPr>
              <a:t>ε  </a:t>
            </a:r>
          </a:p>
          <a:p>
            <a:pPr eaLnBrk="1" hangingPunct="1"/>
            <a:r>
              <a:rPr lang="en-US" altLang="zh-CN">
                <a:latin typeface="楷体_GB2312" pitchFamily="49" charset="-122"/>
              </a:rPr>
              <a:t>F → ( E )</a:t>
            </a:r>
            <a:r>
              <a:rPr lang="zh-CN" altLang="en-US">
                <a:latin typeface="楷体_GB2312" pitchFamily="49" charset="-122"/>
              </a:rPr>
              <a:t>｜</a:t>
            </a:r>
            <a:r>
              <a:rPr lang="en-US" altLang="zh-CN">
                <a:latin typeface="楷体_GB2312" pitchFamily="49" charset="-122"/>
              </a:rPr>
              <a:t>id</a:t>
            </a:r>
          </a:p>
          <a:p>
            <a:pPr eaLnBrk="1" hangingPunct="1">
              <a:buFont typeface="Wingdings" panose="05000000000000000000" pitchFamily="2" charset="2"/>
              <a:buNone/>
            </a:pPr>
            <a:r>
              <a:rPr lang="zh-CN" altLang="en-US">
                <a:latin typeface="楷体_GB2312" pitchFamily="49" charset="-122"/>
              </a:rPr>
              <a:t>考察</a:t>
            </a:r>
          </a:p>
          <a:p>
            <a:pPr eaLnBrk="1" hangingPunct="1"/>
            <a:r>
              <a:rPr lang="en-US" altLang="zh-CN">
                <a:latin typeface="楷体_GB2312" pitchFamily="49" charset="-122"/>
              </a:rPr>
              <a:t>E' :   + </a:t>
            </a:r>
            <a:r>
              <a:rPr lang="zh-CN" altLang="en-US">
                <a:latin typeface="楷体_GB2312" pitchFamily="49" charset="-122"/>
              </a:rPr>
              <a:t>不在 </a:t>
            </a:r>
            <a:r>
              <a:rPr lang="en-US" altLang="zh-CN">
                <a:latin typeface="楷体_GB2312" pitchFamily="49" charset="-122"/>
              </a:rPr>
              <a:t>FOLLOW( E' ) = { ), # }</a:t>
            </a:r>
          </a:p>
          <a:p>
            <a:pPr eaLnBrk="1" hangingPunct="1"/>
            <a:r>
              <a:rPr lang="en-US" altLang="zh-CN">
                <a:latin typeface="楷体_GB2312" pitchFamily="49" charset="-122"/>
              </a:rPr>
              <a:t>T' :   * </a:t>
            </a:r>
            <a:r>
              <a:rPr lang="zh-CN" altLang="en-US">
                <a:latin typeface="楷体_GB2312" pitchFamily="49" charset="-122"/>
              </a:rPr>
              <a:t>不在 </a:t>
            </a:r>
            <a:r>
              <a:rPr lang="en-US" altLang="zh-CN">
                <a:latin typeface="楷体_GB2312" pitchFamily="49" charset="-122"/>
              </a:rPr>
              <a:t>FOLLOW( T' ) = { +, ), # }</a:t>
            </a:r>
          </a:p>
          <a:p>
            <a:pPr eaLnBrk="1" hangingPunct="1"/>
            <a:r>
              <a:rPr lang="en-US" altLang="zh-CN">
                <a:latin typeface="楷体_GB2312" pitchFamily="49" charset="-122"/>
              </a:rPr>
              <a:t>F:   ( </a:t>
            </a:r>
            <a:r>
              <a:rPr lang="zh-CN" altLang="zh-CN">
                <a:latin typeface="楷体_GB2312" pitchFamily="49" charset="-122"/>
              </a:rPr>
              <a:t>和 </a:t>
            </a:r>
            <a:r>
              <a:rPr lang="en-US" altLang="zh-CN">
                <a:latin typeface="楷体_GB2312" pitchFamily="49" charset="-122"/>
              </a:rPr>
              <a:t>id </a:t>
            </a:r>
            <a:r>
              <a:rPr lang="zh-CN" altLang="en-US">
                <a:latin typeface="楷体_GB2312" pitchFamily="49" charset="-122"/>
              </a:rPr>
              <a:t>不同</a:t>
            </a:r>
          </a:p>
        </p:txBody>
      </p:sp>
      <p:sp>
        <p:nvSpPr>
          <p:cNvPr id="1147908" name="Freeform 4">
            <a:extLst>
              <a:ext uri="{FF2B5EF4-FFF2-40B4-BE49-F238E27FC236}">
                <a16:creationId xmlns:a16="http://schemas.microsoft.com/office/drawing/2014/main" id="{CC72768D-89F0-4A9D-97E4-89C98334D0A4}"/>
              </a:ext>
            </a:extLst>
          </p:cNvPr>
          <p:cNvSpPr>
            <a:spLocks noChangeArrowheads="1"/>
          </p:cNvSpPr>
          <p:nvPr/>
        </p:nvSpPr>
        <p:spPr bwMode="auto">
          <a:xfrm>
            <a:off x="2584450" y="2063750"/>
            <a:ext cx="1079500" cy="2514600"/>
          </a:xfrm>
          <a:custGeom>
            <a:avLst/>
            <a:gdLst>
              <a:gd name="T0" fmla="*/ 2147483647 w 680"/>
              <a:gd name="T1" fmla="*/ 2147483647 h 1584"/>
              <a:gd name="T2" fmla="*/ 2147483647 w 680"/>
              <a:gd name="T3" fmla="*/ 2147483647 h 1584"/>
              <a:gd name="T4" fmla="*/ 2147483647 w 680"/>
              <a:gd name="T5" fmla="*/ 0 h 1584"/>
              <a:gd name="T6" fmla="*/ 0 60000 65536"/>
              <a:gd name="T7" fmla="*/ 0 60000 65536"/>
              <a:gd name="T8" fmla="*/ 0 60000 65536"/>
              <a:gd name="T9" fmla="*/ 0 w 680"/>
              <a:gd name="T10" fmla="*/ 0 h 1584"/>
              <a:gd name="T11" fmla="*/ 680 w 680"/>
              <a:gd name="T12" fmla="*/ 1584 h 1584"/>
            </a:gdLst>
            <a:ahLst/>
            <a:cxnLst>
              <a:cxn ang="T6">
                <a:pos x="T0" y="T1"/>
              </a:cxn>
              <a:cxn ang="T7">
                <a:pos x="T2" y="T3"/>
              </a:cxn>
              <a:cxn ang="T8">
                <a:pos x="T4" y="T5"/>
              </a:cxn>
            </a:cxnLst>
            <a:rect l="T9" t="T10" r="T11" b="T12"/>
            <a:pathLst>
              <a:path w="680" h="1584">
                <a:moveTo>
                  <a:pt x="680" y="1584"/>
                </a:moveTo>
                <a:cubicBezTo>
                  <a:pt x="348" y="1308"/>
                  <a:pt x="16" y="1032"/>
                  <a:pt x="8" y="768"/>
                </a:cubicBezTo>
                <a:cubicBezTo>
                  <a:pt x="0" y="504"/>
                  <a:pt x="316" y="252"/>
                  <a:pt x="632" y="0"/>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7909" name="Freeform 5">
            <a:extLst>
              <a:ext uri="{FF2B5EF4-FFF2-40B4-BE49-F238E27FC236}">
                <a16:creationId xmlns:a16="http://schemas.microsoft.com/office/drawing/2014/main" id="{3A656E5F-0417-43DF-BB26-256441064565}"/>
              </a:ext>
            </a:extLst>
          </p:cNvPr>
          <p:cNvSpPr>
            <a:spLocks noChangeArrowheads="1"/>
          </p:cNvSpPr>
          <p:nvPr/>
        </p:nvSpPr>
        <p:spPr bwMode="auto">
          <a:xfrm>
            <a:off x="5327650" y="2063750"/>
            <a:ext cx="1574800" cy="2514600"/>
          </a:xfrm>
          <a:custGeom>
            <a:avLst/>
            <a:gdLst>
              <a:gd name="T0" fmla="*/ 2147483647 w 992"/>
              <a:gd name="T1" fmla="*/ 2147483647 h 1536"/>
              <a:gd name="T2" fmla="*/ 2147483647 w 992"/>
              <a:gd name="T3" fmla="*/ 2147483647 h 1536"/>
              <a:gd name="T4" fmla="*/ 0 w 992"/>
              <a:gd name="T5" fmla="*/ 0 h 1536"/>
              <a:gd name="T6" fmla="*/ 0 60000 65536"/>
              <a:gd name="T7" fmla="*/ 0 60000 65536"/>
              <a:gd name="T8" fmla="*/ 0 60000 65536"/>
              <a:gd name="T9" fmla="*/ 0 w 992"/>
              <a:gd name="T10" fmla="*/ 0 h 1536"/>
              <a:gd name="T11" fmla="*/ 992 w 992"/>
              <a:gd name="T12" fmla="*/ 1536 h 1536"/>
            </a:gdLst>
            <a:ahLst/>
            <a:cxnLst>
              <a:cxn ang="T6">
                <a:pos x="T0" y="T1"/>
              </a:cxn>
              <a:cxn ang="T7">
                <a:pos x="T2" y="T3"/>
              </a:cxn>
              <a:cxn ang="T8">
                <a:pos x="T4" y="T5"/>
              </a:cxn>
            </a:cxnLst>
            <a:rect l="T9" t="T10" r="T11" b="T12"/>
            <a:pathLst>
              <a:path w="992" h="1536">
                <a:moveTo>
                  <a:pt x="480" y="1536"/>
                </a:moveTo>
                <a:cubicBezTo>
                  <a:pt x="736" y="1256"/>
                  <a:pt x="992" y="976"/>
                  <a:pt x="912" y="720"/>
                </a:cubicBezTo>
                <a:cubicBezTo>
                  <a:pt x="832" y="464"/>
                  <a:pt x="160" y="120"/>
                  <a:pt x="0" y="0"/>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7910" name="Freeform 6">
            <a:extLst>
              <a:ext uri="{FF2B5EF4-FFF2-40B4-BE49-F238E27FC236}">
                <a16:creationId xmlns:a16="http://schemas.microsoft.com/office/drawing/2014/main" id="{0C3E42A0-B712-4790-98F6-14277D8F585C}"/>
              </a:ext>
            </a:extLst>
          </p:cNvPr>
          <p:cNvSpPr>
            <a:spLocks noChangeArrowheads="1"/>
          </p:cNvSpPr>
          <p:nvPr/>
        </p:nvSpPr>
        <p:spPr bwMode="auto">
          <a:xfrm>
            <a:off x="5327650" y="3054350"/>
            <a:ext cx="558800" cy="1981200"/>
          </a:xfrm>
          <a:custGeom>
            <a:avLst/>
            <a:gdLst>
              <a:gd name="T0" fmla="*/ 2147483647 w 352"/>
              <a:gd name="T1" fmla="*/ 2147483647 h 1248"/>
              <a:gd name="T2" fmla="*/ 2147483647 w 352"/>
              <a:gd name="T3" fmla="*/ 2147483647 h 1248"/>
              <a:gd name="T4" fmla="*/ 0 w 352"/>
              <a:gd name="T5" fmla="*/ 0 h 1248"/>
              <a:gd name="T6" fmla="*/ 0 60000 65536"/>
              <a:gd name="T7" fmla="*/ 0 60000 65536"/>
              <a:gd name="T8" fmla="*/ 0 60000 65536"/>
              <a:gd name="T9" fmla="*/ 0 w 352"/>
              <a:gd name="T10" fmla="*/ 0 h 1248"/>
              <a:gd name="T11" fmla="*/ 352 w 352"/>
              <a:gd name="T12" fmla="*/ 1248 h 1248"/>
            </a:gdLst>
            <a:ahLst/>
            <a:cxnLst>
              <a:cxn ang="T6">
                <a:pos x="T0" y="T1"/>
              </a:cxn>
              <a:cxn ang="T7">
                <a:pos x="T2" y="T3"/>
              </a:cxn>
              <a:cxn ang="T8">
                <a:pos x="T4" y="T5"/>
              </a:cxn>
            </a:cxnLst>
            <a:rect l="T9" t="T10" r="T11" b="T12"/>
            <a:pathLst>
              <a:path w="352" h="1248">
                <a:moveTo>
                  <a:pt x="96" y="1248"/>
                </a:moveTo>
                <a:cubicBezTo>
                  <a:pt x="224" y="992"/>
                  <a:pt x="352" y="736"/>
                  <a:pt x="336" y="528"/>
                </a:cubicBezTo>
                <a:cubicBezTo>
                  <a:pt x="320" y="320"/>
                  <a:pt x="56" y="72"/>
                  <a:pt x="0" y="0"/>
                </a:cubicBezTo>
              </a:path>
            </a:pathLst>
          </a:custGeom>
          <a:noFill/>
          <a:ln w="28575">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7911" name="Freeform 7">
            <a:extLst>
              <a:ext uri="{FF2B5EF4-FFF2-40B4-BE49-F238E27FC236}">
                <a16:creationId xmlns:a16="http://schemas.microsoft.com/office/drawing/2014/main" id="{C3AF2550-B223-44FF-8B8F-837DE3267C69}"/>
              </a:ext>
            </a:extLst>
          </p:cNvPr>
          <p:cNvSpPr>
            <a:spLocks noChangeArrowheads="1"/>
          </p:cNvSpPr>
          <p:nvPr/>
        </p:nvSpPr>
        <p:spPr bwMode="auto">
          <a:xfrm>
            <a:off x="3270251" y="3130551"/>
            <a:ext cx="593725" cy="1954213"/>
          </a:xfrm>
          <a:custGeom>
            <a:avLst/>
            <a:gdLst>
              <a:gd name="T0" fmla="*/ 2147483647 w 296"/>
              <a:gd name="T1" fmla="*/ 2147483647 h 1248"/>
              <a:gd name="T2" fmla="*/ 2147483647 w 296"/>
              <a:gd name="T3" fmla="*/ 2147483647 h 1248"/>
              <a:gd name="T4" fmla="*/ 2147483647 w 296"/>
              <a:gd name="T5" fmla="*/ 0 h 1248"/>
              <a:gd name="T6" fmla="*/ 0 60000 65536"/>
              <a:gd name="T7" fmla="*/ 0 60000 65536"/>
              <a:gd name="T8" fmla="*/ 0 60000 65536"/>
              <a:gd name="T9" fmla="*/ 0 w 296"/>
              <a:gd name="T10" fmla="*/ 0 h 1248"/>
              <a:gd name="T11" fmla="*/ 296 w 296"/>
              <a:gd name="T12" fmla="*/ 1248 h 1248"/>
            </a:gdLst>
            <a:ahLst/>
            <a:cxnLst>
              <a:cxn ang="T6">
                <a:pos x="T0" y="T1"/>
              </a:cxn>
              <a:cxn ang="T7">
                <a:pos x="T2" y="T3"/>
              </a:cxn>
              <a:cxn ang="T8">
                <a:pos x="T4" y="T5"/>
              </a:cxn>
            </a:cxnLst>
            <a:rect l="T9" t="T10" r="T11" b="T12"/>
            <a:pathLst>
              <a:path w="296" h="1248">
                <a:moveTo>
                  <a:pt x="296" y="1248"/>
                </a:moveTo>
                <a:cubicBezTo>
                  <a:pt x="156" y="1040"/>
                  <a:pt x="16" y="832"/>
                  <a:pt x="8" y="624"/>
                </a:cubicBezTo>
                <a:cubicBezTo>
                  <a:pt x="0" y="416"/>
                  <a:pt x="124" y="208"/>
                  <a:pt x="248" y="0"/>
                </a:cubicBezTo>
              </a:path>
            </a:pathLst>
          </a:custGeom>
          <a:noFill/>
          <a:ln w="28575">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47909"/>
                                        </p:tgtEl>
                                        <p:attrNameLst>
                                          <p:attrName>style.visibility</p:attrName>
                                        </p:attrNameLst>
                                      </p:cBhvr>
                                      <p:to>
                                        <p:strVal val="visible"/>
                                      </p:to>
                                    </p:set>
                                    <p:anim calcmode="lin" valueType="num">
                                      <p:cBhvr additive="base">
                                        <p:cTn id="7" dur="500" fill="hold"/>
                                        <p:tgtEl>
                                          <p:spTgt spid="1147909"/>
                                        </p:tgtEl>
                                        <p:attrNameLst>
                                          <p:attrName>ppt_x</p:attrName>
                                        </p:attrNameLst>
                                      </p:cBhvr>
                                      <p:tavLst>
                                        <p:tav tm="0">
                                          <p:val>
                                            <p:strVal val="0-#ppt_w/2"/>
                                          </p:val>
                                        </p:tav>
                                        <p:tav tm="100000">
                                          <p:val>
                                            <p:strVal val="#ppt_x"/>
                                          </p:val>
                                        </p:tav>
                                      </p:tavLst>
                                    </p:anim>
                                    <p:anim calcmode="lin" valueType="num">
                                      <p:cBhvr additive="base">
                                        <p:cTn id="8" dur="500" fill="hold"/>
                                        <p:tgtEl>
                                          <p:spTgt spid="114790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47908"/>
                                        </p:tgtEl>
                                        <p:attrNameLst>
                                          <p:attrName>style.visibility</p:attrName>
                                        </p:attrNameLst>
                                      </p:cBhvr>
                                      <p:to>
                                        <p:strVal val="visible"/>
                                      </p:to>
                                    </p:set>
                                    <p:anim calcmode="lin" valueType="num">
                                      <p:cBhvr additive="base">
                                        <p:cTn id="13" dur="500" fill="hold"/>
                                        <p:tgtEl>
                                          <p:spTgt spid="1147908"/>
                                        </p:tgtEl>
                                        <p:attrNameLst>
                                          <p:attrName>ppt_x</p:attrName>
                                        </p:attrNameLst>
                                      </p:cBhvr>
                                      <p:tavLst>
                                        <p:tav tm="0">
                                          <p:val>
                                            <p:strVal val="0-#ppt_w/2"/>
                                          </p:val>
                                        </p:tav>
                                        <p:tav tm="100000">
                                          <p:val>
                                            <p:strVal val="#ppt_x"/>
                                          </p:val>
                                        </p:tav>
                                      </p:tavLst>
                                    </p:anim>
                                    <p:anim calcmode="lin" valueType="num">
                                      <p:cBhvr additive="base">
                                        <p:cTn id="14" dur="500" fill="hold"/>
                                        <p:tgtEl>
                                          <p:spTgt spid="114790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47910"/>
                                        </p:tgtEl>
                                        <p:attrNameLst>
                                          <p:attrName>style.visibility</p:attrName>
                                        </p:attrNameLst>
                                      </p:cBhvr>
                                      <p:to>
                                        <p:strVal val="visible"/>
                                      </p:to>
                                    </p:set>
                                    <p:anim calcmode="lin" valueType="num">
                                      <p:cBhvr additive="base">
                                        <p:cTn id="19" dur="500" fill="hold"/>
                                        <p:tgtEl>
                                          <p:spTgt spid="1147910"/>
                                        </p:tgtEl>
                                        <p:attrNameLst>
                                          <p:attrName>ppt_x</p:attrName>
                                        </p:attrNameLst>
                                      </p:cBhvr>
                                      <p:tavLst>
                                        <p:tav tm="0">
                                          <p:val>
                                            <p:strVal val="0-#ppt_w/2"/>
                                          </p:val>
                                        </p:tav>
                                        <p:tav tm="100000">
                                          <p:val>
                                            <p:strVal val="#ppt_x"/>
                                          </p:val>
                                        </p:tav>
                                      </p:tavLst>
                                    </p:anim>
                                    <p:anim calcmode="lin" valueType="num">
                                      <p:cBhvr additive="base">
                                        <p:cTn id="20" dur="500" fill="hold"/>
                                        <p:tgtEl>
                                          <p:spTgt spid="114791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147911"/>
                                        </p:tgtEl>
                                        <p:attrNameLst>
                                          <p:attrName>style.visibility</p:attrName>
                                        </p:attrNameLst>
                                      </p:cBhvr>
                                      <p:to>
                                        <p:strVal val="visible"/>
                                      </p:to>
                                    </p:set>
                                    <p:anim calcmode="lin" valueType="num">
                                      <p:cBhvr additive="base">
                                        <p:cTn id="25" dur="500" fill="hold"/>
                                        <p:tgtEl>
                                          <p:spTgt spid="1147911"/>
                                        </p:tgtEl>
                                        <p:attrNameLst>
                                          <p:attrName>ppt_x</p:attrName>
                                        </p:attrNameLst>
                                      </p:cBhvr>
                                      <p:tavLst>
                                        <p:tav tm="0">
                                          <p:val>
                                            <p:strVal val="0-#ppt_w/2"/>
                                          </p:val>
                                        </p:tav>
                                        <p:tav tm="100000">
                                          <p:val>
                                            <p:strVal val="#ppt_x"/>
                                          </p:val>
                                        </p:tav>
                                      </p:tavLst>
                                    </p:anim>
                                    <p:anim calcmode="lin" valueType="num">
                                      <p:cBhvr additive="base">
                                        <p:cTn id="26" dur="500" fill="hold"/>
                                        <p:tgtEl>
                                          <p:spTgt spid="11479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 name="日期占位符 3">
            <a:extLst>
              <a:ext uri="{FF2B5EF4-FFF2-40B4-BE49-F238E27FC236}">
                <a16:creationId xmlns:a16="http://schemas.microsoft.com/office/drawing/2014/main" id="{7E60D48B-CCA0-44F4-A678-BE62586CE0BF}"/>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85731302-5DF2-4D68-BB34-719B4511331C}" type="datetime1">
              <a:rPr lang="zh-CN" altLang="en-US" noProof="0" smtClean="0">
                <a:latin typeface="+mn-lt"/>
              </a:rPr>
              <a:pPr>
                <a:buFontTx/>
                <a:buNone/>
                <a:defRPr/>
              </a:pPr>
              <a:t>2025/6/26</a:t>
            </a:fld>
            <a:endParaRPr lang="en-US" altLang="zh-CN" noProof="0">
              <a:latin typeface="+mn-lt"/>
            </a:endParaRPr>
          </a:p>
        </p:txBody>
      </p:sp>
      <p:sp>
        <p:nvSpPr>
          <p:cNvPr id="60419" name="灯片编号占位符 5">
            <a:extLst>
              <a:ext uri="{FF2B5EF4-FFF2-40B4-BE49-F238E27FC236}">
                <a16:creationId xmlns:a16="http://schemas.microsoft.com/office/drawing/2014/main" id="{372FFF08-ED6A-45DC-BEFB-7B6983AFF07C}"/>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8A8AE6F0-337B-437F-AD52-7E13F92615CC}" type="slidenum">
              <a:rPr lang="en-US" altLang="zh-CN" sz="1400">
                <a:latin typeface="Arial" panose="020B0604020202020204" pitchFamily="34" charset="0"/>
              </a:rPr>
              <a:pPr/>
              <a:t>14</a:t>
            </a:fld>
            <a:endParaRPr lang="en-US" altLang="zh-CN" sz="1400">
              <a:latin typeface="Arial" panose="020B0604020202020204" pitchFamily="34" charset="0"/>
            </a:endParaRPr>
          </a:p>
        </p:txBody>
      </p:sp>
      <p:sp>
        <p:nvSpPr>
          <p:cNvPr id="60420" name="Rectangle 2">
            <a:extLst>
              <a:ext uri="{FF2B5EF4-FFF2-40B4-BE49-F238E27FC236}">
                <a16:creationId xmlns:a16="http://schemas.microsoft.com/office/drawing/2014/main" id="{B6B7538B-396E-461F-813F-1F6B4FE0E697}"/>
              </a:ext>
            </a:extLst>
          </p:cNvPr>
          <p:cNvSpPr>
            <a:spLocks noGrp="1" noChangeArrowheads="1"/>
          </p:cNvSpPr>
          <p:nvPr>
            <p:ph type="title" idx="4294967295"/>
          </p:nvPr>
        </p:nvSpPr>
        <p:spPr>
          <a:xfrm>
            <a:off x="6164263" y="1008063"/>
            <a:ext cx="3892550" cy="1371600"/>
          </a:xfrm>
        </p:spPr>
        <p:txBody>
          <a:bodyPr vert="horz" lIns="92075" tIns="46038" rIns="92075" bIns="46038" rtlCol="0" anchor="ctr">
            <a:normAutofit/>
          </a:bodyPr>
          <a:lstStyle/>
          <a:p>
            <a:pPr eaLnBrk="1" hangingPunct="1"/>
            <a:r>
              <a:rPr lang="zh-CN" altLang="en-US">
                <a:latin typeface="Times New Roman" panose="02020603050405020304" pitchFamily="18" charset="0"/>
              </a:rPr>
              <a:t>非 </a:t>
            </a:r>
            <a:r>
              <a:rPr lang="en-US" altLang="zh-CN">
                <a:latin typeface="Times New Roman" panose="02020603050405020304" pitchFamily="18" charset="0"/>
              </a:rPr>
              <a:t>LL(1)</a:t>
            </a:r>
            <a:r>
              <a:rPr lang="zh-CN" altLang="en-US">
                <a:latin typeface="Times New Roman" panose="02020603050405020304" pitchFamily="18" charset="0"/>
              </a:rPr>
              <a:t>文法的不确定性</a:t>
            </a:r>
          </a:p>
        </p:txBody>
      </p:sp>
      <p:sp>
        <p:nvSpPr>
          <p:cNvPr id="1148931" name="Rectangle 3">
            <a:extLst>
              <a:ext uri="{FF2B5EF4-FFF2-40B4-BE49-F238E27FC236}">
                <a16:creationId xmlns:a16="http://schemas.microsoft.com/office/drawing/2014/main" id="{38A0E4A0-EC7F-402E-B2B6-2AF830B78F31}"/>
              </a:ext>
            </a:extLst>
          </p:cNvPr>
          <p:cNvSpPr>
            <a:spLocks noGrp="1" noChangeArrowheads="1"/>
          </p:cNvSpPr>
          <p:nvPr>
            <p:ph type="body" idx="4294967295"/>
          </p:nvPr>
        </p:nvSpPr>
        <p:spPr>
          <a:xfrm>
            <a:off x="2566988" y="692150"/>
            <a:ext cx="3505200" cy="2362200"/>
          </a:xfrm>
        </p:spPr>
        <p:txBody>
          <a:bodyPr vert="horz" lIns="92075" tIns="46038" rIns="92075" bIns="46038" rtlCol="0">
            <a:normAutofit/>
          </a:bodyPr>
          <a:lstStyle/>
          <a:p>
            <a:pPr eaLnBrk="1" hangingPunct="1">
              <a:buFont typeface="Wingdings" panose="05000000000000000000" pitchFamily="2" charset="2"/>
              <a:buNone/>
            </a:pPr>
            <a:r>
              <a:rPr lang="zh-CN" altLang="en-US">
                <a:latin typeface="Times New Roman" panose="02020603050405020304" pitchFamily="18" charset="0"/>
              </a:rPr>
              <a:t>例 对文法</a:t>
            </a:r>
          </a:p>
          <a:p>
            <a:pPr eaLnBrk="1" hangingPunct="1"/>
            <a:r>
              <a:rPr lang="en-US" altLang="zh-CN">
                <a:latin typeface="Times New Roman" panose="02020603050405020304" pitchFamily="18" charset="0"/>
              </a:rPr>
              <a:t>S→cAd</a:t>
            </a:r>
          </a:p>
          <a:p>
            <a:pPr eaLnBrk="1" hangingPunct="1"/>
            <a:r>
              <a:rPr lang="en-US" altLang="zh-CN">
                <a:latin typeface="Times New Roman" panose="02020603050405020304" pitchFamily="18" charset="0"/>
              </a:rPr>
              <a:t>A→ab|a      </a:t>
            </a:r>
          </a:p>
          <a:p>
            <a:pPr eaLnBrk="1" hangingPunct="1">
              <a:buFont typeface="Wingdings" panose="05000000000000000000" pitchFamily="2" charset="2"/>
              <a:buNone/>
            </a:pPr>
            <a:r>
              <a:rPr lang="zh-CN" altLang="en-US">
                <a:latin typeface="Times New Roman" panose="02020603050405020304" pitchFamily="18" charset="0"/>
              </a:rPr>
              <a:t>输入 </a:t>
            </a:r>
            <a:r>
              <a:rPr lang="en-US" altLang="zh-CN">
                <a:latin typeface="Times New Roman" panose="02020603050405020304" pitchFamily="18" charset="0"/>
              </a:rPr>
              <a:t>cad </a:t>
            </a:r>
            <a:r>
              <a:rPr lang="zh-CN" altLang="en-US">
                <a:latin typeface="Times New Roman" panose="02020603050405020304" pitchFamily="18" charset="0"/>
              </a:rPr>
              <a:t>的分析</a:t>
            </a:r>
          </a:p>
        </p:txBody>
      </p:sp>
      <p:grpSp>
        <p:nvGrpSpPr>
          <p:cNvPr id="2" name="Group 4">
            <a:extLst>
              <a:ext uri="{FF2B5EF4-FFF2-40B4-BE49-F238E27FC236}">
                <a16:creationId xmlns:a16="http://schemas.microsoft.com/office/drawing/2014/main" id="{3DEDA517-87A6-4426-881C-29177D9208CF}"/>
              </a:ext>
            </a:extLst>
          </p:cNvPr>
          <p:cNvGrpSpPr>
            <a:grpSpLocks/>
          </p:cNvGrpSpPr>
          <p:nvPr/>
        </p:nvGrpSpPr>
        <p:grpSpPr bwMode="auto">
          <a:xfrm>
            <a:off x="3124200" y="3295650"/>
            <a:ext cx="2743200" cy="3176588"/>
            <a:chOff x="288" y="1824"/>
            <a:chExt cx="1728" cy="2001"/>
          </a:xfrm>
        </p:grpSpPr>
        <p:grpSp>
          <p:nvGrpSpPr>
            <p:cNvPr id="60434" name="Group 5">
              <a:extLst>
                <a:ext uri="{FF2B5EF4-FFF2-40B4-BE49-F238E27FC236}">
                  <a16:creationId xmlns:a16="http://schemas.microsoft.com/office/drawing/2014/main" id="{35A023E1-CC3D-490D-BFC9-62E20DB6AD36}"/>
                </a:ext>
              </a:extLst>
            </p:cNvPr>
            <p:cNvGrpSpPr>
              <a:grpSpLocks/>
            </p:cNvGrpSpPr>
            <p:nvPr/>
          </p:nvGrpSpPr>
          <p:grpSpPr bwMode="auto">
            <a:xfrm>
              <a:off x="288" y="1824"/>
              <a:ext cx="1728" cy="2001"/>
              <a:chOff x="288" y="1824"/>
              <a:chExt cx="1728" cy="2001"/>
            </a:xfrm>
          </p:grpSpPr>
          <p:sp>
            <p:nvSpPr>
              <p:cNvPr id="1148934" name="Text Box 6">
                <a:extLst>
                  <a:ext uri="{FF2B5EF4-FFF2-40B4-BE49-F238E27FC236}">
                    <a16:creationId xmlns:a16="http://schemas.microsoft.com/office/drawing/2014/main" id="{4A24CD78-9C95-4F24-90C7-CAB05D25D9C6}"/>
                  </a:ext>
                </a:extLst>
              </p:cNvPr>
              <p:cNvSpPr txBox="1">
                <a:spLocks noChangeArrowheads="1"/>
              </p:cNvSpPr>
              <p:nvPr/>
            </p:nvSpPr>
            <p:spPr bwMode="auto">
              <a:xfrm>
                <a:off x="912" y="1824"/>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S</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35" name="Text Box 7">
                <a:extLst>
                  <a:ext uri="{FF2B5EF4-FFF2-40B4-BE49-F238E27FC236}">
                    <a16:creationId xmlns:a16="http://schemas.microsoft.com/office/drawing/2014/main" id="{DC171D10-50BF-44FA-88D8-52775E83052F}"/>
                  </a:ext>
                </a:extLst>
              </p:cNvPr>
              <p:cNvSpPr txBox="1">
                <a:spLocks noChangeArrowheads="1"/>
              </p:cNvSpPr>
              <p:nvPr/>
            </p:nvSpPr>
            <p:spPr bwMode="auto">
              <a:xfrm>
                <a:off x="1536" y="2736"/>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d</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36" name="Text Box 8">
                <a:extLst>
                  <a:ext uri="{FF2B5EF4-FFF2-40B4-BE49-F238E27FC236}">
                    <a16:creationId xmlns:a16="http://schemas.microsoft.com/office/drawing/2014/main" id="{17BD9DFC-AF71-4F81-8FF8-16F7C6AA92C1}"/>
                  </a:ext>
                </a:extLst>
              </p:cNvPr>
              <p:cNvSpPr txBox="1">
                <a:spLocks noChangeArrowheads="1"/>
              </p:cNvSpPr>
              <p:nvPr/>
            </p:nvSpPr>
            <p:spPr bwMode="auto">
              <a:xfrm>
                <a:off x="288" y="2736"/>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c</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37" name="Text Box 9">
                <a:extLst>
                  <a:ext uri="{FF2B5EF4-FFF2-40B4-BE49-F238E27FC236}">
                    <a16:creationId xmlns:a16="http://schemas.microsoft.com/office/drawing/2014/main" id="{F9129154-5FF5-454F-8025-0C9AA7D890D0}"/>
                  </a:ext>
                </a:extLst>
              </p:cNvPr>
              <p:cNvSpPr txBox="1">
                <a:spLocks noChangeArrowheads="1"/>
              </p:cNvSpPr>
              <p:nvPr/>
            </p:nvSpPr>
            <p:spPr bwMode="auto">
              <a:xfrm>
                <a:off x="864" y="2736"/>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A</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38" name="Text Box 10">
                <a:extLst>
                  <a:ext uri="{FF2B5EF4-FFF2-40B4-BE49-F238E27FC236}">
                    <a16:creationId xmlns:a16="http://schemas.microsoft.com/office/drawing/2014/main" id="{2F8FB17F-33A6-4E88-B66C-481F84F7FB17}"/>
                  </a:ext>
                </a:extLst>
              </p:cNvPr>
              <p:cNvSpPr txBox="1">
                <a:spLocks noChangeArrowheads="1"/>
              </p:cNvSpPr>
              <p:nvPr/>
            </p:nvSpPr>
            <p:spPr bwMode="auto">
              <a:xfrm>
                <a:off x="1200" y="3504"/>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b</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39" name="Text Box 11">
                <a:extLst>
                  <a:ext uri="{FF2B5EF4-FFF2-40B4-BE49-F238E27FC236}">
                    <a16:creationId xmlns:a16="http://schemas.microsoft.com/office/drawing/2014/main" id="{575A0D06-3D19-4836-B563-9C174CA3B243}"/>
                  </a:ext>
                </a:extLst>
              </p:cNvPr>
              <p:cNvSpPr txBox="1">
                <a:spLocks noChangeArrowheads="1"/>
              </p:cNvSpPr>
              <p:nvPr/>
            </p:nvSpPr>
            <p:spPr bwMode="auto">
              <a:xfrm>
                <a:off x="480" y="3504"/>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a</a:t>
                </a:r>
                <a:endParaRPr lang="en-US" altLang="zh-CN" sz="2800" b="1" noProof="1">
                  <a:effectLst>
                    <a:outerShdw blurRad="38100" dist="38100" dir="2700000">
                      <a:srgbClr val="C0C0C0"/>
                    </a:outerShdw>
                  </a:effectLst>
                  <a:latin typeface="宋体" panose="02010600030101010101" pitchFamily="2" charset="-122"/>
                </a:endParaRPr>
              </a:p>
            </p:txBody>
          </p:sp>
        </p:grpSp>
        <p:sp>
          <p:nvSpPr>
            <p:cNvPr id="60435" name="Line 12">
              <a:extLst>
                <a:ext uri="{FF2B5EF4-FFF2-40B4-BE49-F238E27FC236}">
                  <a16:creationId xmlns:a16="http://schemas.microsoft.com/office/drawing/2014/main" id="{1AAF77B1-407B-4759-AA5F-5A992F8AF750}"/>
                </a:ext>
              </a:extLst>
            </p:cNvPr>
            <p:cNvSpPr>
              <a:spLocks noChangeShapeType="1"/>
            </p:cNvSpPr>
            <p:nvPr/>
          </p:nvSpPr>
          <p:spPr bwMode="auto">
            <a:xfrm flipH="1">
              <a:off x="432" y="2112"/>
              <a:ext cx="576" cy="81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6" name="Line 13">
              <a:extLst>
                <a:ext uri="{FF2B5EF4-FFF2-40B4-BE49-F238E27FC236}">
                  <a16:creationId xmlns:a16="http://schemas.microsoft.com/office/drawing/2014/main" id="{1ABDDC12-E4E6-4E6B-8514-DF86FD26F66B}"/>
                </a:ext>
              </a:extLst>
            </p:cNvPr>
            <p:cNvSpPr>
              <a:spLocks noChangeShapeType="1"/>
            </p:cNvSpPr>
            <p:nvPr/>
          </p:nvSpPr>
          <p:spPr bwMode="auto">
            <a:xfrm flipH="1">
              <a:off x="1008" y="2160"/>
              <a:ext cx="0" cy="7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7" name="Line 14">
              <a:extLst>
                <a:ext uri="{FF2B5EF4-FFF2-40B4-BE49-F238E27FC236}">
                  <a16:creationId xmlns:a16="http://schemas.microsoft.com/office/drawing/2014/main" id="{BC71E4D1-4468-49E5-B9A4-9A5806CCAFA8}"/>
                </a:ext>
              </a:extLst>
            </p:cNvPr>
            <p:cNvSpPr>
              <a:spLocks noChangeShapeType="1"/>
            </p:cNvSpPr>
            <p:nvPr/>
          </p:nvSpPr>
          <p:spPr bwMode="auto">
            <a:xfrm>
              <a:off x="1056" y="2112"/>
              <a:ext cx="576" cy="7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8" name="Line 15">
              <a:extLst>
                <a:ext uri="{FF2B5EF4-FFF2-40B4-BE49-F238E27FC236}">
                  <a16:creationId xmlns:a16="http://schemas.microsoft.com/office/drawing/2014/main" id="{ED5780BD-EEA5-446D-B52F-68D282FE939F}"/>
                </a:ext>
              </a:extLst>
            </p:cNvPr>
            <p:cNvSpPr>
              <a:spLocks noChangeShapeType="1"/>
            </p:cNvSpPr>
            <p:nvPr/>
          </p:nvSpPr>
          <p:spPr bwMode="auto">
            <a:xfrm>
              <a:off x="1008" y="3072"/>
              <a:ext cx="240" cy="6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9" name="Line 16">
              <a:extLst>
                <a:ext uri="{FF2B5EF4-FFF2-40B4-BE49-F238E27FC236}">
                  <a16:creationId xmlns:a16="http://schemas.microsoft.com/office/drawing/2014/main" id="{030751BE-7E0F-4382-A416-8C50626A56B1}"/>
                </a:ext>
              </a:extLst>
            </p:cNvPr>
            <p:cNvSpPr>
              <a:spLocks noChangeShapeType="1"/>
            </p:cNvSpPr>
            <p:nvPr/>
          </p:nvSpPr>
          <p:spPr bwMode="auto">
            <a:xfrm flipH="1">
              <a:off x="576" y="3024"/>
              <a:ext cx="384" cy="7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7">
            <a:extLst>
              <a:ext uri="{FF2B5EF4-FFF2-40B4-BE49-F238E27FC236}">
                <a16:creationId xmlns:a16="http://schemas.microsoft.com/office/drawing/2014/main" id="{30CAFA1E-0EE0-42D4-82BA-5E1929BE685B}"/>
              </a:ext>
            </a:extLst>
          </p:cNvPr>
          <p:cNvGrpSpPr>
            <a:grpSpLocks/>
          </p:cNvGrpSpPr>
          <p:nvPr/>
        </p:nvGrpSpPr>
        <p:grpSpPr bwMode="auto">
          <a:xfrm>
            <a:off x="7239000" y="3371850"/>
            <a:ext cx="2743200" cy="3100388"/>
            <a:chOff x="3264" y="1872"/>
            <a:chExt cx="1728" cy="1953"/>
          </a:xfrm>
        </p:grpSpPr>
        <p:grpSp>
          <p:nvGrpSpPr>
            <p:cNvPr id="60424" name="Group 18">
              <a:extLst>
                <a:ext uri="{FF2B5EF4-FFF2-40B4-BE49-F238E27FC236}">
                  <a16:creationId xmlns:a16="http://schemas.microsoft.com/office/drawing/2014/main" id="{D24D027C-E5BF-4BC9-BE99-1061CD37400F}"/>
                </a:ext>
              </a:extLst>
            </p:cNvPr>
            <p:cNvGrpSpPr>
              <a:grpSpLocks/>
            </p:cNvGrpSpPr>
            <p:nvPr/>
          </p:nvGrpSpPr>
          <p:grpSpPr bwMode="auto">
            <a:xfrm>
              <a:off x="3264" y="1872"/>
              <a:ext cx="1728" cy="1953"/>
              <a:chOff x="3264" y="1872"/>
              <a:chExt cx="1728" cy="1953"/>
            </a:xfrm>
          </p:grpSpPr>
          <p:sp>
            <p:nvSpPr>
              <p:cNvPr id="1148947" name="Text Box 19">
                <a:extLst>
                  <a:ext uri="{FF2B5EF4-FFF2-40B4-BE49-F238E27FC236}">
                    <a16:creationId xmlns:a16="http://schemas.microsoft.com/office/drawing/2014/main" id="{E34168FB-705B-44BE-87AF-F48487A4E86F}"/>
                  </a:ext>
                </a:extLst>
              </p:cNvPr>
              <p:cNvSpPr txBox="1">
                <a:spLocks noChangeArrowheads="1"/>
              </p:cNvSpPr>
              <p:nvPr/>
            </p:nvSpPr>
            <p:spPr bwMode="auto">
              <a:xfrm>
                <a:off x="3888" y="1872"/>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S</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48" name="Text Box 20">
                <a:extLst>
                  <a:ext uri="{FF2B5EF4-FFF2-40B4-BE49-F238E27FC236}">
                    <a16:creationId xmlns:a16="http://schemas.microsoft.com/office/drawing/2014/main" id="{8373A621-A922-4B46-8B9B-CDB5E361DA27}"/>
                  </a:ext>
                </a:extLst>
              </p:cNvPr>
              <p:cNvSpPr txBox="1">
                <a:spLocks noChangeArrowheads="1"/>
              </p:cNvSpPr>
              <p:nvPr/>
            </p:nvSpPr>
            <p:spPr bwMode="auto">
              <a:xfrm>
                <a:off x="4512" y="2784"/>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d</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49" name="Text Box 21">
                <a:extLst>
                  <a:ext uri="{FF2B5EF4-FFF2-40B4-BE49-F238E27FC236}">
                    <a16:creationId xmlns:a16="http://schemas.microsoft.com/office/drawing/2014/main" id="{CA1C8723-6ECD-4C8E-A2C0-44DA308C741C}"/>
                  </a:ext>
                </a:extLst>
              </p:cNvPr>
              <p:cNvSpPr txBox="1">
                <a:spLocks noChangeArrowheads="1"/>
              </p:cNvSpPr>
              <p:nvPr/>
            </p:nvSpPr>
            <p:spPr bwMode="auto">
              <a:xfrm>
                <a:off x="3264" y="2784"/>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c</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50" name="Text Box 22">
                <a:extLst>
                  <a:ext uri="{FF2B5EF4-FFF2-40B4-BE49-F238E27FC236}">
                    <a16:creationId xmlns:a16="http://schemas.microsoft.com/office/drawing/2014/main" id="{1A7A6F8F-EF10-483C-96D8-CBAF5E032DA0}"/>
                  </a:ext>
                </a:extLst>
              </p:cNvPr>
              <p:cNvSpPr txBox="1">
                <a:spLocks noChangeArrowheads="1"/>
              </p:cNvSpPr>
              <p:nvPr/>
            </p:nvSpPr>
            <p:spPr bwMode="auto">
              <a:xfrm>
                <a:off x="3840" y="2784"/>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A</a:t>
                </a:r>
                <a:endParaRPr lang="en-US" altLang="zh-CN" sz="2800" b="1" noProof="1">
                  <a:effectLst>
                    <a:outerShdw blurRad="38100" dist="38100" dir="2700000">
                      <a:srgbClr val="C0C0C0"/>
                    </a:outerShdw>
                  </a:effectLst>
                  <a:latin typeface="宋体" panose="02010600030101010101" pitchFamily="2" charset="-122"/>
                </a:endParaRPr>
              </a:p>
            </p:txBody>
          </p:sp>
          <p:sp>
            <p:nvSpPr>
              <p:cNvPr id="1148951" name="Text Box 23">
                <a:extLst>
                  <a:ext uri="{FF2B5EF4-FFF2-40B4-BE49-F238E27FC236}">
                    <a16:creationId xmlns:a16="http://schemas.microsoft.com/office/drawing/2014/main" id="{3F6562ED-EA74-41A4-980F-004B4DEDCB84}"/>
                  </a:ext>
                </a:extLst>
              </p:cNvPr>
              <p:cNvSpPr txBox="1">
                <a:spLocks noChangeArrowheads="1"/>
              </p:cNvSpPr>
              <p:nvPr/>
            </p:nvSpPr>
            <p:spPr bwMode="auto">
              <a:xfrm>
                <a:off x="3840" y="3504"/>
                <a:ext cx="480" cy="321"/>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lang="en-US" altLang="zh-CN" sz="2800" b="1" noProof="1">
                    <a:effectLst>
                      <a:outerShdw blurRad="38100" dist="38100" dir="2700000">
                        <a:srgbClr val="C0C0C0"/>
                      </a:outerShdw>
                    </a:effectLst>
                    <a:latin typeface="宋体" panose="02010600030101010101" pitchFamily="2" charset="-122"/>
                    <a:cs typeface="+mn-ea"/>
                  </a:rPr>
                  <a:t>a</a:t>
                </a:r>
                <a:endParaRPr lang="en-US" altLang="zh-CN" sz="2800" b="1" noProof="1">
                  <a:effectLst>
                    <a:outerShdw blurRad="38100" dist="38100" dir="2700000">
                      <a:srgbClr val="C0C0C0"/>
                    </a:outerShdw>
                  </a:effectLst>
                  <a:latin typeface="宋体" panose="02010600030101010101" pitchFamily="2" charset="-122"/>
                </a:endParaRPr>
              </a:p>
            </p:txBody>
          </p:sp>
        </p:grpSp>
        <p:sp>
          <p:nvSpPr>
            <p:cNvPr id="60425" name="Line 24">
              <a:extLst>
                <a:ext uri="{FF2B5EF4-FFF2-40B4-BE49-F238E27FC236}">
                  <a16:creationId xmlns:a16="http://schemas.microsoft.com/office/drawing/2014/main" id="{E4DE7466-D84E-40D6-80AF-8FBE7DAEC4A9}"/>
                </a:ext>
              </a:extLst>
            </p:cNvPr>
            <p:cNvSpPr>
              <a:spLocks noChangeShapeType="1"/>
            </p:cNvSpPr>
            <p:nvPr/>
          </p:nvSpPr>
          <p:spPr bwMode="auto">
            <a:xfrm flipH="1">
              <a:off x="3408" y="2160"/>
              <a:ext cx="576" cy="81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6" name="Line 25">
              <a:extLst>
                <a:ext uri="{FF2B5EF4-FFF2-40B4-BE49-F238E27FC236}">
                  <a16:creationId xmlns:a16="http://schemas.microsoft.com/office/drawing/2014/main" id="{B4F1788C-7413-44C3-AB76-CD2797F015FA}"/>
                </a:ext>
              </a:extLst>
            </p:cNvPr>
            <p:cNvSpPr>
              <a:spLocks noChangeShapeType="1"/>
            </p:cNvSpPr>
            <p:nvPr/>
          </p:nvSpPr>
          <p:spPr bwMode="auto">
            <a:xfrm flipH="1">
              <a:off x="3984" y="2208"/>
              <a:ext cx="0" cy="7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7" name="Line 26">
              <a:extLst>
                <a:ext uri="{FF2B5EF4-FFF2-40B4-BE49-F238E27FC236}">
                  <a16:creationId xmlns:a16="http://schemas.microsoft.com/office/drawing/2014/main" id="{8CB119C3-70B8-47FE-A7DD-99BB47545742}"/>
                </a:ext>
              </a:extLst>
            </p:cNvPr>
            <p:cNvSpPr>
              <a:spLocks noChangeShapeType="1"/>
            </p:cNvSpPr>
            <p:nvPr/>
          </p:nvSpPr>
          <p:spPr bwMode="auto">
            <a:xfrm>
              <a:off x="4032" y="2160"/>
              <a:ext cx="576" cy="7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8" name="Line 27">
              <a:extLst>
                <a:ext uri="{FF2B5EF4-FFF2-40B4-BE49-F238E27FC236}">
                  <a16:creationId xmlns:a16="http://schemas.microsoft.com/office/drawing/2014/main" id="{BB22B753-DF5D-4300-82EC-7654F1F772FC}"/>
                </a:ext>
              </a:extLst>
            </p:cNvPr>
            <p:cNvSpPr>
              <a:spLocks noChangeShapeType="1"/>
            </p:cNvSpPr>
            <p:nvPr/>
          </p:nvSpPr>
          <p:spPr bwMode="auto">
            <a:xfrm flipH="1">
              <a:off x="3984" y="3072"/>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48931"/>
                                        </p:tgtEl>
                                        <p:attrNameLst>
                                          <p:attrName>style.visibility</p:attrName>
                                        </p:attrNameLst>
                                      </p:cBhvr>
                                      <p:to>
                                        <p:strVal val="visible"/>
                                      </p:to>
                                    </p:set>
                                    <p:animEffect transition="in" filter="wipe(up)">
                                      <p:cBhvr>
                                        <p:cTn id="7" dur="500"/>
                                        <p:tgtEl>
                                          <p:spTgt spid="1148931"/>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93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6E83914D-28F2-47A7-8B6E-9C6AD657AC26}"/>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8766C7EE-72DA-4CB9-816B-672BD03A1B16}" type="datetime1">
              <a:rPr lang="zh-CN" altLang="en-US" noProof="0" smtClean="0">
                <a:latin typeface="+mn-lt"/>
              </a:rPr>
              <a:pPr>
                <a:buFontTx/>
                <a:buNone/>
                <a:defRPr/>
              </a:pPr>
              <a:t>2025/6/26</a:t>
            </a:fld>
            <a:endParaRPr lang="en-US" altLang="zh-CN" noProof="0">
              <a:latin typeface="+mn-lt"/>
            </a:endParaRPr>
          </a:p>
        </p:txBody>
      </p:sp>
      <p:sp>
        <p:nvSpPr>
          <p:cNvPr id="61443" name="灯片编号占位符 5">
            <a:extLst>
              <a:ext uri="{FF2B5EF4-FFF2-40B4-BE49-F238E27FC236}">
                <a16:creationId xmlns:a16="http://schemas.microsoft.com/office/drawing/2014/main" id="{120A4115-A0EF-4C9B-9704-CBE9B1A77BCC}"/>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FF1C5C79-3936-46AE-A8E4-85801605D99C}" type="slidenum">
              <a:rPr lang="en-US" altLang="zh-CN" sz="1400">
                <a:latin typeface="Arial" panose="020B0604020202020204" pitchFamily="34" charset="0"/>
              </a:rPr>
              <a:pPr/>
              <a:t>15</a:t>
            </a:fld>
            <a:endParaRPr lang="en-US" altLang="zh-CN" sz="1400">
              <a:latin typeface="Arial" panose="020B0604020202020204" pitchFamily="34" charset="0"/>
            </a:endParaRPr>
          </a:p>
        </p:txBody>
      </p:sp>
      <p:sp>
        <p:nvSpPr>
          <p:cNvPr id="61444" name="Rectangle 2">
            <a:extLst>
              <a:ext uri="{FF2B5EF4-FFF2-40B4-BE49-F238E27FC236}">
                <a16:creationId xmlns:a16="http://schemas.microsoft.com/office/drawing/2014/main" id="{C9E8AAFC-4953-488C-9B63-2BCAB5D59465}"/>
              </a:ext>
            </a:extLst>
          </p:cNvPr>
          <p:cNvSpPr>
            <a:spLocks noGrp="1" noChangeArrowheads="1"/>
          </p:cNvSpPr>
          <p:nvPr>
            <p:ph type="title" idx="4294967295"/>
          </p:nvPr>
        </p:nvSpPr>
        <p:spPr>
          <a:xfrm>
            <a:off x="2927350" y="549275"/>
            <a:ext cx="7296150" cy="484188"/>
          </a:xfrm>
        </p:spPr>
        <p:txBody>
          <a:bodyPr vert="horz" lIns="92075" tIns="46038" rIns="92075" bIns="46038" rtlCol="0" anchor="ctr">
            <a:normAutofit fontScale="90000"/>
          </a:bodyPr>
          <a:lstStyle/>
          <a:p>
            <a:pPr eaLnBrk="1" hangingPunct="1"/>
            <a:r>
              <a:rPr lang="zh-CN" altLang="en-US">
                <a:latin typeface="Times New Roman" panose="02020603050405020304" pitchFamily="18" charset="0"/>
              </a:rPr>
              <a:t>不确定性的解决方法</a:t>
            </a:r>
          </a:p>
        </p:txBody>
      </p:sp>
      <p:sp>
        <p:nvSpPr>
          <p:cNvPr id="1149955" name="Rectangle 3">
            <a:extLst>
              <a:ext uri="{FF2B5EF4-FFF2-40B4-BE49-F238E27FC236}">
                <a16:creationId xmlns:a16="http://schemas.microsoft.com/office/drawing/2014/main" id="{C62349C2-CDF6-4A4C-BDCD-7D4726AC3B9D}"/>
              </a:ext>
            </a:extLst>
          </p:cNvPr>
          <p:cNvSpPr>
            <a:spLocks noGrp="1" noChangeArrowheads="1"/>
          </p:cNvSpPr>
          <p:nvPr>
            <p:ph type="body" idx="4294967295"/>
          </p:nvPr>
        </p:nvSpPr>
        <p:spPr>
          <a:xfrm>
            <a:off x="2286000" y="1341438"/>
            <a:ext cx="7924800" cy="5111750"/>
          </a:xfrm>
        </p:spPr>
        <p:txBody>
          <a:bodyPr vert="horz" lIns="92075" tIns="46038" rIns="92075" bIns="46038" rtlCol="0">
            <a:normAutofit/>
          </a:bodyPr>
          <a:lstStyle/>
          <a:p>
            <a:pPr eaLnBrk="1" hangingPunct="1">
              <a:lnSpc>
                <a:spcPct val="140000"/>
              </a:lnSpc>
              <a:buFont typeface="Wingdings" panose="05000000000000000000" pitchFamily="2" charset="2"/>
              <a:buNone/>
            </a:pPr>
            <a:r>
              <a:rPr lang="en-US" altLang="zh-CN">
                <a:latin typeface="楷体_GB2312" pitchFamily="49" charset="-122"/>
              </a:rPr>
              <a:t>1) </a:t>
            </a:r>
            <a:r>
              <a:rPr lang="zh-CN" altLang="en-US">
                <a:latin typeface="楷体_GB2312" pitchFamily="49" charset="-122"/>
              </a:rPr>
              <a:t>采用回溯算法</a:t>
            </a:r>
          </a:p>
          <a:p>
            <a:pPr lvl="1" eaLnBrk="1" hangingPunct="1">
              <a:lnSpc>
                <a:spcPct val="140000"/>
              </a:lnSpc>
            </a:pPr>
            <a:r>
              <a:rPr lang="zh-CN" altLang="en-US">
                <a:latin typeface="楷体_GB2312" pitchFamily="49" charset="-122"/>
              </a:rPr>
              <a:t>过于复杂，效率低下</a:t>
            </a:r>
          </a:p>
          <a:p>
            <a:pPr eaLnBrk="1" hangingPunct="1">
              <a:lnSpc>
                <a:spcPct val="140000"/>
              </a:lnSpc>
              <a:buFont typeface="Wingdings" panose="05000000000000000000" pitchFamily="2" charset="2"/>
              <a:buNone/>
            </a:pPr>
            <a:r>
              <a:rPr lang="en-US" altLang="zh-CN">
                <a:latin typeface="楷体_GB2312" pitchFamily="49" charset="-122"/>
              </a:rPr>
              <a:t>2</a:t>
            </a:r>
            <a:r>
              <a:rPr lang="zh-CN" altLang="en-US">
                <a:latin typeface="楷体_GB2312" pitchFamily="49" charset="-122"/>
              </a:rPr>
              <a:t>）改写文法</a:t>
            </a:r>
          </a:p>
          <a:p>
            <a:pPr lvl="1" eaLnBrk="1" hangingPunct="1">
              <a:lnSpc>
                <a:spcPct val="140000"/>
              </a:lnSpc>
            </a:pPr>
            <a:r>
              <a:rPr lang="zh-CN" altLang="en-US">
                <a:latin typeface="楷体_GB2312" pitchFamily="49" charset="-122"/>
              </a:rPr>
              <a:t>将非</a:t>
            </a:r>
            <a:r>
              <a:rPr lang="en-US" altLang="zh-CN">
                <a:latin typeface="楷体_GB2312" pitchFamily="49" charset="-122"/>
              </a:rPr>
              <a:t>LL(1)</a:t>
            </a:r>
            <a:r>
              <a:rPr lang="zh-CN" altLang="en-US">
                <a:latin typeface="楷体_GB2312" pitchFamily="49" charset="-122"/>
              </a:rPr>
              <a:t>文法改写为等价的</a:t>
            </a:r>
            <a:r>
              <a:rPr lang="en-US" altLang="zh-CN">
                <a:latin typeface="楷体_GB2312" pitchFamily="49" charset="-122"/>
              </a:rPr>
              <a:t>LL(1)</a:t>
            </a:r>
            <a:r>
              <a:rPr lang="zh-CN" altLang="zh-CN">
                <a:latin typeface="楷体_GB2312" pitchFamily="49" charset="-122"/>
              </a:rPr>
              <a:t>文法</a:t>
            </a:r>
          </a:p>
          <a:p>
            <a:pPr eaLnBrk="1" hangingPunct="1">
              <a:lnSpc>
                <a:spcPct val="140000"/>
              </a:lnSpc>
            </a:pPr>
            <a:r>
              <a:rPr lang="zh-CN" altLang="zh-CN">
                <a:latin typeface="楷体_GB2312" pitchFamily="49" charset="-122"/>
              </a:rPr>
              <a:t>无法改写时：</a:t>
            </a:r>
          </a:p>
          <a:p>
            <a:pPr lvl="1" eaLnBrk="1" hangingPunct="1">
              <a:lnSpc>
                <a:spcPct val="140000"/>
              </a:lnSpc>
            </a:pPr>
            <a:r>
              <a:rPr lang="zh-CN" altLang="zh-CN">
                <a:latin typeface="楷体_GB2312" pitchFamily="49" charset="-122"/>
              </a:rPr>
              <a:t>增加其它的判别因素</a:t>
            </a:r>
            <a:endParaRPr lang="zh-CN" altLang="en-US">
              <a:latin typeface="楷体_GB2312" pitchFamily="49" charset="-122"/>
            </a:endParaRPr>
          </a:p>
          <a:p>
            <a:pPr lvl="1" eaLnBrk="1" hangingPunct="1">
              <a:lnSpc>
                <a:spcPct val="140000"/>
              </a:lnSpc>
            </a:pPr>
            <a:r>
              <a:rPr lang="zh-CN" altLang="zh-CN">
                <a:latin typeface="楷体_GB2312" pitchFamily="49" charset="-122"/>
              </a:rPr>
              <a:t>文法过于复杂，无法用自顶向下方法处理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49955">
                                            <p:txEl>
                                              <p:pRg st="0" end="0"/>
                                            </p:txEl>
                                          </p:spTgt>
                                        </p:tgtEl>
                                        <p:attrNameLst>
                                          <p:attrName>style.visibility</p:attrName>
                                        </p:attrNameLst>
                                      </p:cBhvr>
                                      <p:to>
                                        <p:strVal val="visible"/>
                                      </p:to>
                                    </p:set>
                                    <p:animEffect transition="in" filter="wipe(up)">
                                      <p:cBhvr>
                                        <p:cTn id="7" dur="75"/>
                                        <p:tgtEl>
                                          <p:spTgt spid="114995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par>
                                <p:cTn id="8" presetID="22" presetClass="entr" presetSubtype="1" fill="hold" grpId="0" nodeType="withEffect">
                                  <p:stCondLst>
                                    <p:cond delay="0"/>
                                  </p:stCondLst>
                                  <p:iterate type="lt">
                                    <p:tmPct val="100000"/>
                                  </p:iterate>
                                  <p:childTnLst>
                                    <p:set>
                                      <p:cBhvr>
                                        <p:cTn id="9" dur="1" fill="hold">
                                          <p:stCondLst>
                                            <p:cond delay="0"/>
                                          </p:stCondLst>
                                        </p:cTn>
                                        <p:tgtEl>
                                          <p:spTgt spid="1149955">
                                            <p:txEl>
                                              <p:pRg st="1" end="1"/>
                                            </p:txEl>
                                          </p:spTgt>
                                        </p:tgtEl>
                                        <p:attrNameLst>
                                          <p:attrName>style.visibility</p:attrName>
                                        </p:attrNameLst>
                                      </p:cBhvr>
                                      <p:to>
                                        <p:strVal val="visible"/>
                                      </p:to>
                                    </p:set>
                                    <p:animEffect transition="in" filter="wipe(up)">
                                      <p:cBhvr>
                                        <p:cTn id="10" dur="75"/>
                                        <p:tgtEl>
                                          <p:spTgt spid="1149955">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TYPE.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iterate type="lt">
                                    <p:tmPct val="100000"/>
                                  </p:iterate>
                                  <p:childTnLst>
                                    <p:set>
                                      <p:cBhvr>
                                        <p:cTn id="14" dur="1" fill="hold">
                                          <p:stCondLst>
                                            <p:cond delay="0"/>
                                          </p:stCondLst>
                                        </p:cTn>
                                        <p:tgtEl>
                                          <p:spTgt spid="1149955">
                                            <p:txEl>
                                              <p:pRg st="2" end="2"/>
                                            </p:txEl>
                                          </p:spTgt>
                                        </p:tgtEl>
                                        <p:attrNameLst>
                                          <p:attrName>style.visibility</p:attrName>
                                        </p:attrNameLst>
                                      </p:cBhvr>
                                      <p:to>
                                        <p:strVal val="visible"/>
                                      </p:to>
                                    </p:set>
                                    <p:animEffect transition="in" filter="wipe(up)">
                                      <p:cBhvr>
                                        <p:cTn id="15" dur="75"/>
                                        <p:tgtEl>
                                          <p:spTgt spid="1149955">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TYPE.WAV"/>
                                        </p:tgtEl>
                                      </p:cMediaNode>
                                    </p:audio>
                                  </p:subTnLst>
                                </p:cTn>
                              </p:par>
                              <p:par>
                                <p:cTn id="16" presetID="22" presetClass="entr" presetSubtype="1" fill="hold" grpId="0" nodeType="withEffect">
                                  <p:stCondLst>
                                    <p:cond delay="0"/>
                                  </p:stCondLst>
                                  <p:iterate type="lt">
                                    <p:tmPct val="100000"/>
                                  </p:iterate>
                                  <p:childTnLst>
                                    <p:set>
                                      <p:cBhvr>
                                        <p:cTn id="17" dur="1" fill="hold">
                                          <p:stCondLst>
                                            <p:cond delay="0"/>
                                          </p:stCondLst>
                                        </p:cTn>
                                        <p:tgtEl>
                                          <p:spTgt spid="1149955">
                                            <p:txEl>
                                              <p:pRg st="3" end="3"/>
                                            </p:txEl>
                                          </p:spTgt>
                                        </p:tgtEl>
                                        <p:attrNameLst>
                                          <p:attrName>style.visibility</p:attrName>
                                        </p:attrNameLst>
                                      </p:cBhvr>
                                      <p:to>
                                        <p:strVal val="visible"/>
                                      </p:to>
                                    </p:set>
                                    <p:animEffect transition="in" filter="wipe(up)">
                                      <p:cBhvr>
                                        <p:cTn id="18" dur="75"/>
                                        <p:tgtEl>
                                          <p:spTgt spid="1149955">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TYPE.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iterate type="lt">
                                    <p:tmPct val="100000"/>
                                  </p:iterate>
                                  <p:childTnLst>
                                    <p:set>
                                      <p:cBhvr>
                                        <p:cTn id="22" dur="1" fill="hold">
                                          <p:stCondLst>
                                            <p:cond delay="0"/>
                                          </p:stCondLst>
                                        </p:cTn>
                                        <p:tgtEl>
                                          <p:spTgt spid="1149955">
                                            <p:txEl>
                                              <p:pRg st="4" end="4"/>
                                            </p:txEl>
                                          </p:spTgt>
                                        </p:tgtEl>
                                        <p:attrNameLst>
                                          <p:attrName>style.visibility</p:attrName>
                                        </p:attrNameLst>
                                      </p:cBhvr>
                                      <p:to>
                                        <p:strVal val="visible"/>
                                      </p:to>
                                    </p:set>
                                    <p:animEffect transition="in" filter="wipe(up)">
                                      <p:cBhvr>
                                        <p:cTn id="23" dur="75"/>
                                        <p:tgtEl>
                                          <p:spTgt spid="1149955">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TYPE.WAV"/>
                                        </p:tgtEl>
                                      </p:cMediaNode>
                                    </p:audio>
                                  </p:subTnLst>
                                </p:cTn>
                              </p:par>
                              <p:par>
                                <p:cTn id="24" presetID="22" presetClass="entr" presetSubtype="1" fill="hold" grpId="0" nodeType="withEffect">
                                  <p:stCondLst>
                                    <p:cond delay="0"/>
                                  </p:stCondLst>
                                  <p:iterate type="lt">
                                    <p:tmPct val="100000"/>
                                  </p:iterate>
                                  <p:childTnLst>
                                    <p:set>
                                      <p:cBhvr>
                                        <p:cTn id="25" dur="1" fill="hold">
                                          <p:stCondLst>
                                            <p:cond delay="0"/>
                                          </p:stCondLst>
                                        </p:cTn>
                                        <p:tgtEl>
                                          <p:spTgt spid="1149955">
                                            <p:txEl>
                                              <p:pRg st="5" end="5"/>
                                            </p:txEl>
                                          </p:spTgt>
                                        </p:tgtEl>
                                        <p:attrNameLst>
                                          <p:attrName>style.visibility</p:attrName>
                                        </p:attrNameLst>
                                      </p:cBhvr>
                                      <p:to>
                                        <p:strVal val="visible"/>
                                      </p:to>
                                    </p:set>
                                    <p:animEffect transition="in" filter="wipe(up)">
                                      <p:cBhvr>
                                        <p:cTn id="26" dur="75"/>
                                        <p:tgtEl>
                                          <p:spTgt spid="1149955">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TYPE.WAV"/>
                                        </p:tgtEl>
                                      </p:cMediaNode>
                                    </p:audio>
                                  </p:subTnLst>
                                </p:cTn>
                              </p:par>
                              <p:par>
                                <p:cTn id="27" presetID="22" presetClass="entr" presetSubtype="1" fill="hold" grpId="0" nodeType="withEffect">
                                  <p:stCondLst>
                                    <p:cond delay="0"/>
                                  </p:stCondLst>
                                  <p:iterate type="lt">
                                    <p:tmPct val="100000"/>
                                  </p:iterate>
                                  <p:childTnLst>
                                    <p:set>
                                      <p:cBhvr>
                                        <p:cTn id="28" dur="1" fill="hold">
                                          <p:stCondLst>
                                            <p:cond delay="0"/>
                                          </p:stCondLst>
                                        </p:cTn>
                                        <p:tgtEl>
                                          <p:spTgt spid="1149955">
                                            <p:txEl>
                                              <p:pRg st="6" end="6"/>
                                            </p:txEl>
                                          </p:spTgt>
                                        </p:tgtEl>
                                        <p:attrNameLst>
                                          <p:attrName>style.visibility</p:attrName>
                                        </p:attrNameLst>
                                      </p:cBhvr>
                                      <p:to>
                                        <p:strVal val="visible"/>
                                      </p:to>
                                    </p:set>
                                    <p:animEffect transition="in" filter="wipe(up)">
                                      <p:cBhvr>
                                        <p:cTn id="29" dur="75"/>
                                        <p:tgtEl>
                                          <p:spTgt spid="1149955">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88EF9D5-1D3B-4175-AC7E-960E55A67599}"/>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1B80A14B-6C84-4FEC-8B6C-C81C68326F73}" type="datetime1">
              <a:rPr lang="zh-CN" altLang="en-US" noProof="0" smtClean="0">
                <a:latin typeface="+mn-lt"/>
              </a:rPr>
              <a:pPr>
                <a:buFontTx/>
                <a:buNone/>
                <a:defRPr/>
              </a:pPr>
              <a:t>2025/6/26</a:t>
            </a:fld>
            <a:endParaRPr lang="en-US" altLang="zh-CN" noProof="0">
              <a:latin typeface="+mn-lt"/>
            </a:endParaRPr>
          </a:p>
        </p:txBody>
      </p:sp>
      <p:sp>
        <p:nvSpPr>
          <p:cNvPr id="62467" name="灯片编号占位符 5">
            <a:extLst>
              <a:ext uri="{FF2B5EF4-FFF2-40B4-BE49-F238E27FC236}">
                <a16:creationId xmlns:a16="http://schemas.microsoft.com/office/drawing/2014/main" id="{03E3A751-14E6-45E1-A6B1-7B8C156DF985}"/>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F7CA452D-F89B-499B-ACCF-6CA0ED047D9D}" type="slidenum">
              <a:rPr lang="en-US" altLang="zh-CN" sz="1400">
                <a:latin typeface="Arial" panose="020B0604020202020204" pitchFamily="34" charset="0"/>
              </a:rPr>
              <a:pPr/>
              <a:t>16</a:t>
            </a:fld>
            <a:endParaRPr lang="en-US" altLang="zh-CN" sz="1400">
              <a:latin typeface="Arial" panose="020B0604020202020204" pitchFamily="34" charset="0"/>
            </a:endParaRPr>
          </a:p>
        </p:txBody>
      </p:sp>
      <p:sp>
        <p:nvSpPr>
          <p:cNvPr id="62468" name="Rectangle 2">
            <a:extLst>
              <a:ext uri="{FF2B5EF4-FFF2-40B4-BE49-F238E27FC236}">
                <a16:creationId xmlns:a16="http://schemas.microsoft.com/office/drawing/2014/main" id="{7DA5D6C6-E45B-42AE-8647-3B5FE256F0F3}"/>
              </a:ext>
            </a:extLst>
          </p:cNvPr>
          <p:cNvSpPr>
            <a:spLocks noGrp="1" noChangeArrowheads="1"/>
          </p:cNvSpPr>
          <p:nvPr>
            <p:ph type="title" idx="4294967295"/>
          </p:nvPr>
        </p:nvSpPr>
        <p:spPr>
          <a:xfrm>
            <a:off x="2711450" y="404813"/>
            <a:ext cx="7848600" cy="762000"/>
          </a:xfrm>
        </p:spPr>
        <p:txBody>
          <a:bodyPr anchor="ctr"/>
          <a:lstStyle/>
          <a:p>
            <a:pPr eaLnBrk="1" hangingPunct="1"/>
            <a:r>
              <a:rPr lang="en-US" altLang="zh-CN">
                <a:latin typeface="Times New Roman" panose="02020603050405020304" pitchFamily="18" charset="0"/>
              </a:rPr>
              <a:t>4.3 </a:t>
            </a:r>
            <a:r>
              <a:rPr lang="zh-CN" altLang="en-US">
                <a:latin typeface="Times New Roman" panose="02020603050405020304" pitchFamily="18" charset="0"/>
              </a:rPr>
              <a:t>预测分析法</a:t>
            </a:r>
            <a:r>
              <a:rPr lang="zh-CN" altLang="en-US" sz="3600">
                <a:latin typeface="Times New Roman" panose="02020603050405020304" pitchFamily="18" charset="0"/>
              </a:rPr>
              <a:t>（</a:t>
            </a:r>
            <a:r>
              <a:rPr lang="en-US" altLang="zh-CN" sz="3600">
                <a:latin typeface="Times New Roman" panose="02020603050405020304" pitchFamily="18" charset="0"/>
              </a:rPr>
              <a:t>LL(1) parsing</a:t>
            </a:r>
            <a:r>
              <a:rPr lang="zh-CN" altLang="en-US" sz="3600">
                <a:latin typeface="Times New Roman" panose="02020603050405020304" pitchFamily="18" charset="0"/>
              </a:rPr>
              <a:t>）</a:t>
            </a:r>
            <a:endParaRPr lang="zh-CN" altLang="en-US">
              <a:latin typeface="Times New Roman" panose="02020603050405020304" pitchFamily="18" charset="0"/>
            </a:endParaRPr>
          </a:p>
        </p:txBody>
      </p:sp>
      <p:sp>
        <p:nvSpPr>
          <p:cNvPr id="62469" name="Rectangle 3">
            <a:extLst>
              <a:ext uri="{FF2B5EF4-FFF2-40B4-BE49-F238E27FC236}">
                <a16:creationId xmlns:a16="http://schemas.microsoft.com/office/drawing/2014/main" id="{05318BF6-364D-4F5A-B1AB-E90196948C6D}"/>
              </a:ext>
            </a:extLst>
          </p:cNvPr>
          <p:cNvSpPr>
            <a:spLocks noGrp="1" noChangeArrowheads="1"/>
          </p:cNvSpPr>
          <p:nvPr>
            <p:ph type="body" idx="4294967295"/>
          </p:nvPr>
        </p:nvSpPr>
        <p:spPr>
          <a:xfrm>
            <a:off x="1981200" y="1627189"/>
            <a:ext cx="8458200" cy="4681537"/>
          </a:xfrm>
        </p:spPr>
        <p:txBody>
          <a:bodyPr/>
          <a:lstStyle/>
          <a:p>
            <a:pPr eaLnBrk="1" hangingPunct="1"/>
            <a:r>
              <a:rPr lang="zh-CN" altLang="en-US">
                <a:latin typeface="Times New Roman" panose="02020603050405020304" pitchFamily="18" charset="0"/>
              </a:rPr>
              <a:t>系统维持一个分析表和一个分析栈，根据当前扫描到的符号，选择当前语法变量（处于栈顶）的候选式进行推导</a:t>
            </a:r>
            <a:r>
              <a:rPr lang="en-US" altLang="zh-CN">
                <a:latin typeface="Times New Roman" panose="02020603050405020304" pitchFamily="18" charset="0"/>
              </a:rPr>
              <a:t>——</a:t>
            </a:r>
            <a:r>
              <a:rPr lang="zh-CN" altLang="en-US">
                <a:latin typeface="Times New Roman" panose="02020603050405020304" pitchFamily="18" charset="0"/>
              </a:rPr>
              <a:t>希望找到相应输入符号串的最左推导。</a:t>
            </a:r>
          </a:p>
          <a:p>
            <a:pPr eaLnBrk="1" hangingPunct="1"/>
            <a:r>
              <a:rPr lang="zh-CN" altLang="en-US">
                <a:latin typeface="Times New Roman" panose="02020603050405020304" pitchFamily="18" charset="0"/>
              </a:rPr>
              <a:t>一个通用的控制算法</a:t>
            </a:r>
          </a:p>
          <a:p>
            <a:pPr eaLnBrk="1" hangingPunct="1"/>
            <a:r>
              <a:rPr lang="zh-CN" altLang="en-US">
                <a:latin typeface="Times New Roman" panose="02020603050405020304" pitchFamily="18" charset="0"/>
              </a:rPr>
              <a:t>一个分析栈，</a:t>
            </a:r>
            <a:r>
              <a:rPr lang="en-US" altLang="zh-CN">
                <a:latin typeface="Times New Roman" panose="02020603050405020304" pitchFamily="18" charset="0"/>
              </a:rPr>
              <a:t>#</a:t>
            </a:r>
            <a:r>
              <a:rPr lang="zh-CN" altLang="en-US">
                <a:latin typeface="Times New Roman" panose="02020603050405020304" pitchFamily="18" charset="0"/>
              </a:rPr>
              <a:t>为栈底符号</a:t>
            </a:r>
          </a:p>
          <a:p>
            <a:pPr eaLnBrk="1" hangingPunct="1"/>
            <a:r>
              <a:rPr lang="zh-CN" altLang="en-US">
                <a:latin typeface="Times New Roman" panose="02020603050405020304" pitchFamily="18" charset="0"/>
              </a:rPr>
              <a:t>一个输入缓冲区，</a:t>
            </a:r>
            <a:r>
              <a:rPr lang="en-US" altLang="zh-CN">
                <a:latin typeface="Times New Roman" panose="02020603050405020304" pitchFamily="18" charset="0"/>
              </a:rPr>
              <a:t>#</a:t>
            </a:r>
            <a:r>
              <a:rPr lang="zh-CN" altLang="en-US">
                <a:latin typeface="Times New Roman" panose="02020603050405020304" pitchFamily="18" charset="0"/>
              </a:rPr>
              <a:t>为输入串结束符</a:t>
            </a:r>
          </a:p>
          <a:p>
            <a:pPr eaLnBrk="1" hangingPunct="1"/>
            <a:r>
              <a:rPr lang="zh-CN" altLang="en-US">
                <a:latin typeface="Times New Roman" panose="02020603050405020304" pitchFamily="18" charset="0"/>
              </a:rPr>
              <a:t>一个统一形式的分析表</a:t>
            </a:r>
            <a:r>
              <a:rPr lang="en-US" altLang="zh-CN">
                <a:latin typeface="Times New Roman" panose="02020603050405020304" pitchFamily="18" charset="0"/>
              </a:rPr>
              <a:t>M</a:t>
            </a:r>
          </a:p>
          <a:p>
            <a:pPr lvl="1" eaLnBrk="1" hangingPunct="1"/>
            <a:r>
              <a:rPr lang="zh-CN" altLang="en-US">
                <a:solidFill>
                  <a:srgbClr val="FF0000"/>
                </a:solidFill>
                <a:latin typeface="Times New Roman" panose="02020603050405020304" pitchFamily="18" charset="0"/>
              </a:rPr>
              <a:t>不同语言使用内容不同的分析表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a:extLst>
              <a:ext uri="{FF2B5EF4-FFF2-40B4-BE49-F238E27FC236}">
                <a16:creationId xmlns:a16="http://schemas.microsoft.com/office/drawing/2014/main" id="{BAAF19E6-7BA8-4CF3-9C89-6AA01FA1D0FF}"/>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D82CAA8B-1EAA-4812-820C-B8E35737FE60}" type="datetime1">
              <a:rPr lang="zh-CN" altLang="en-US" noProof="0" smtClean="0">
                <a:latin typeface="+mn-lt"/>
              </a:rPr>
              <a:pPr>
                <a:buFontTx/>
                <a:buNone/>
                <a:defRPr/>
              </a:pPr>
              <a:t>2025/6/26</a:t>
            </a:fld>
            <a:endParaRPr lang="en-US" altLang="zh-CN" noProof="0" dirty="0">
              <a:latin typeface="+mn-lt"/>
            </a:endParaRPr>
          </a:p>
        </p:txBody>
      </p:sp>
      <p:sp>
        <p:nvSpPr>
          <p:cNvPr id="63491" name="灯片编号占位符 5">
            <a:extLst>
              <a:ext uri="{FF2B5EF4-FFF2-40B4-BE49-F238E27FC236}">
                <a16:creationId xmlns:a16="http://schemas.microsoft.com/office/drawing/2014/main" id="{3111DE74-8217-442E-B124-D9C5102FF76F}"/>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C74A2438-97C5-438E-A3F6-8A612FC5347E}" type="slidenum">
              <a:rPr lang="en-US" altLang="zh-CN" sz="1400">
                <a:latin typeface="Arial" panose="020B0604020202020204" pitchFamily="34" charset="0"/>
              </a:rPr>
              <a:pPr/>
              <a:t>17</a:t>
            </a:fld>
            <a:endParaRPr lang="en-US" altLang="zh-CN" sz="1400">
              <a:latin typeface="Arial" panose="020B0604020202020204" pitchFamily="34" charset="0"/>
            </a:endParaRPr>
          </a:p>
        </p:txBody>
      </p:sp>
      <p:sp>
        <p:nvSpPr>
          <p:cNvPr id="63492" name="Rectangle 2">
            <a:extLst>
              <a:ext uri="{FF2B5EF4-FFF2-40B4-BE49-F238E27FC236}">
                <a16:creationId xmlns:a16="http://schemas.microsoft.com/office/drawing/2014/main" id="{3180262F-7748-4E7E-95DD-BBA6FFE18655}"/>
              </a:ext>
            </a:extLst>
          </p:cNvPr>
          <p:cNvSpPr>
            <a:spLocks noGrp="1" noChangeArrowheads="1"/>
          </p:cNvSpPr>
          <p:nvPr>
            <p:ph type="title" idx="4294967295"/>
          </p:nvPr>
        </p:nvSpPr>
        <p:spPr>
          <a:xfrm>
            <a:off x="2455863" y="303213"/>
            <a:ext cx="6711950" cy="965200"/>
          </a:xfrm>
        </p:spPr>
        <p:txBody>
          <a:bodyPr vert="horz" lIns="92075" tIns="46038" rIns="92075" bIns="46038" rtlCol="0" anchor="ctr">
            <a:normAutofit/>
          </a:bodyPr>
          <a:lstStyle/>
          <a:p>
            <a:pPr eaLnBrk="1" hangingPunct="1"/>
            <a:r>
              <a:rPr lang="en-US" altLang="zh-CN">
                <a:latin typeface="Times New Roman" panose="02020603050405020304" pitchFamily="18" charset="0"/>
              </a:rPr>
              <a:t>4.3.1 </a:t>
            </a:r>
            <a:r>
              <a:rPr lang="zh-CN" altLang="en-US">
                <a:latin typeface="Times New Roman" panose="02020603050405020304" pitchFamily="18" charset="0"/>
              </a:rPr>
              <a:t>预测分析器的构成</a:t>
            </a:r>
          </a:p>
        </p:txBody>
      </p:sp>
      <p:grpSp>
        <p:nvGrpSpPr>
          <p:cNvPr id="63493" name="Group 3">
            <a:extLst>
              <a:ext uri="{FF2B5EF4-FFF2-40B4-BE49-F238E27FC236}">
                <a16:creationId xmlns:a16="http://schemas.microsoft.com/office/drawing/2014/main" id="{625AE8C5-8E61-40EA-890F-D617C7D6EA0B}"/>
              </a:ext>
            </a:extLst>
          </p:cNvPr>
          <p:cNvGrpSpPr>
            <a:grpSpLocks/>
          </p:cNvGrpSpPr>
          <p:nvPr/>
        </p:nvGrpSpPr>
        <p:grpSpPr bwMode="auto">
          <a:xfrm>
            <a:off x="1992314" y="1609725"/>
            <a:ext cx="8370887" cy="4267200"/>
            <a:chOff x="432" y="912"/>
            <a:chExt cx="5136" cy="2684"/>
          </a:xfrm>
        </p:grpSpPr>
        <p:sp>
          <p:nvSpPr>
            <p:cNvPr id="1152004" name="Rectangle 4">
              <a:extLst>
                <a:ext uri="{FF2B5EF4-FFF2-40B4-BE49-F238E27FC236}">
                  <a16:creationId xmlns:a16="http://schemas.microsoft.com/office/drawing/2014/main" id="{999A17D6-114B-49A9-8DB0-698B5E77BD48}"/>
                </a:ext>
              </a:extLst>
            </p:cNvPr>
            <p:cNvSpPr>
              <a:spLocks noChangeArrowheads="1"/>
            </p:cNvSpPr>
            <p:nvPr/>
          </p:nvSpPr>
          <p:spPr bwMode="auto">
            <a:xfrm>
              <a:off x="1152" y="912"/>
              <a:ext cx="3505" cy="376"/>
            </a:xfrm>
            <a:prstGeom prst="rect">
              <a:avLst/>
            </a:prstGeom>
            <a:noFill/>
            <a:ln w="12700">
              <a:solidFill>
                <a:schemeClr val="tx1"/>
              </a:solidFill>
              <a:miter lim="800000"/>
            </a:ln>
            <a:effectLst/>
          </p:spPr>
          <p:txBody>
            <a:bodyPr wrap="none" lIns="92075" tIns="46038" rIns="92075" bIns="46038" anchor="ctr"/>
            <a:lstStyle/>
            <a:p>
              <a:pPr algn="ctr">
                <a:buFont typeface="Arial" panose="020B0604020202020204" pitchFamily="34" charset="0"/>
                <a:buNone/>
                <a:defRPr/>
              </a:pPr>
              <a:r>
                <a:rPr lang="en-US" altLang="zh-CN" sz="3600">
                  <a:solidFill>
                    <a:srgbClr val="FF33CC"/>
                  </a:solidFill>
                </a:rPr>
                <a:t> </a:t>
              </a:r>
              <a:r>
                <a:rPr lang="zh-CN" altLang="en-US" sz="3600" b="1">
                  <a:solidFill>
                    <a:srgbClr val="0000FF"/>
                  </a:solidFill>
                  <a:latin typeface="楷体_GB2312" pitchFamily="49" charset="-122"/>
                  <a:ea typeface="楷体_GB2312" pitchFamily="49" charset="-122"/>
                </a:rPr>
                <a:t>输入缓冲区</a:t>
              </a:r>
              <a:r>
                <a:rPr lang="en-US" altLang="zh-CN" sz="3600" b="1">
                  <a:solidFill>
                    <a:srgbClr val="0000FF"/>
                  </a:solidFill>
                  <a:latin typeface="楷体_GB2312" pitchFamily="49" charset="-122"/>
                  <a:ea typeface="楷体_GB2312" pitchFamily="49" charset="-122"/>
                </a:rPr>
                <a:t>(</a:t>
              </a:r>
              <a:r>
                <a:rPr lang="zh-CN" altLang="en-US" sz="3600" b="1">
                  <a:solidFill>
                    <a:srgbClr val="0000FF"/>
                  </a:solidFill>
                  <a:latin typeface="楷体_GB2312" pitchFamily="49" charset="-122"/>
                  <a:ea typeface="楷体_GB2312" pitchFamily="49" charset="-122"/>
                </a:rPr>
                <a:t>符号序列</a:t>
              </a:r>
              <a:r>
                <a:rPr lang="en-US" altLang="zh-CN" sz="3600" b="1">
                  <a:solidFill>
                    <a:srgbClr val="0000FF"/>
                  </a:solidFill>
                  <a:latin typeface="楷体_GB2312" pitchFamily="49" charset="-122"/>
                  <a:ea typeface="楷体_GB2312" pitchFamily="49" charset="-122"/>
                </a:rPr>
                <a:t>)</a:t>
              </a:r>
              <a:endParaRPr lang="en-US" altLang="zh-CN" sz="3600" b="1">
                <a:solidFill>
                  <a:srgbClr val="0000FF"/>
                </a:solidFill>
                <a:effectLst>
                  <a:outerShdw blurRad="38100" dist="38100" dir="2700000" algn="tl">
                    <a:srgbClr val="C0C0C0"/>
                  </a:outerShdw>
                </a:effectLst>
                <a:latin typeface="楷体_GB2312" pitchFamily="49" charset="-122"/>
                <a:ea typeface="楷体_GB2312" pitchFamily="49" charset="-122"/>
              </a:endParaRPr>
            </a:p>
          </p:txBody>
        </p:sp>
        <p:sp>
          <p:nvSpPr>
            <p:cNvPr id="1152005" name="Rectangle 5">
              <a:extLst>
                <a:ext uri="{FF2B5EF4-FFF2-40B4-BE49-F238E27FC236}">
                  <a16:creationId xmlns:a16="http://schemas.microsoft.com/office/drawing/2014/main" id="{7B62E329-6085-471C-ABE9-FDFCA13B658A}"/>
                </a:ext>
              </a:extLst>
            </p:cNvPr>
            <p:cNvSpPr>
              <a:spLocks noChangeArrowheads="1"/>
            </p:cNvSpPr>
            <p:nvPr/>
          </p:nvSpPr>
          <p:spPr bwMode="auto">
            <a:xfrm>
              <a:off x="432" y="1444"/>
              <a:ext cx="476" cy="2108"/>
            </a:xfrm>
            <a:prstGeom prst="rect">
              <a:avLst/>
            </a:prstGeom>
            <a:noFill/>
            <a:ln w="12700">
              <a:solidFill>
                <a:schemeClr val="tx1"/>
              </a:solidFill>
              <a:miter lim="800000"/>
            </a:ln>
            <a:effectLst/>
          </p:spPr>
          <p:txBody>
            <a:bodyPr wrap="none" lIns="92075" tIns="46038" rIns="92075" bIns="46038" anchor="ctr"/>
            <a:lstStyle/>
            <a:p>
              <a:pPr>
                <a:lnSpc>
                  <a:spcPct val="120000"/>
                </a:lnSpc>
                <a:buFont typeface="Arial" panose="020B0604020202020204" pitchFamily="34" charset="0"/>
                <a:buNone/>
                <a:defRPr/>
              </a:pPr>
              <a:r>
                <a:rPr lang="zh-CN" altLang="en-US" sz="3600" b="1">
                  <a:solidFill>
                    <a:srgbClr val="0000FF"/>
                  </a:solidFill>
                  <a:effectLst>
                    <a:outerShdw blurRad="38100" dist="38100" dir="2700000" algn="tl">
                      <a:srgbClr val="C0C0C0"/>
                    </a:outerShdw>
                  </a:effectLst>
                  <a:ea typeface="楷体_GB2312" pitchFamily="49" charset="-122"/>
                </a:rPr>
                <a:t>栈</a:t>
              </a:r>
            </a:p>
          </p:txBody>
        </p:sp>
        <p:sp>
          <p:nvSpPr>
            <p:cNvPr id="63496" name="Rectangle 6">
              <a:extLst>
                <a:ext uri="{FF2B5EF4-FFF2-40B4-BE49-F238E27FC236}">
                  <a16:creationId xmlns:a16="http://schemas.microsoft.com/office/drawing/2014/main" id="{FC815A44-7E1F-4237-9303-EF38FADA3CA8}"/>
                </a:ext>
              </a:extLst>
            </p:cNvPr>
            <p:cNvSpPr>
              <a:spLocks noChangeArrowheads="1"/>
            </p:cNvSpPr>
            <p:nvPr/>
          </p:nvSpPr>
          <p:spPr bwMode="auto">
            <a:xfrm>
              <a:off x="1635" y="1780"/>
              <a:ext cx="1821" cy="8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ctr">
                <a:buFont typeface="Arial" panose="020B0604020202020204" pitchFamily="34" charset="0"/>
                <a:buNone/>
              </a:pPr>
              <a:r>
                <a:rPr lang="zh-CN" altLang="en-US" sz="3600" b="1">
                  <a:solidFill>
                    <a:srgbClr val="0000FF"/>
                  </a:solidFill>
                  <a:ea typeface="楷体_GB2312" pitchFamily="49" charset="-122"/>
                </a:rPr>
                <a:t>预测分析程序</a:t>
              </a:r>
              <a:endParaRPr lang="zh-CN" altLang="en-US" sz="3600" b="1">
                <a:solidFill>
                  <a:srgbClr val="0000FF"/>
                </a:solidFill>
              </a:endParaRPr>
            </a:p>
          </p:txBody>
        </p:sp>
        <p:sp>
          <p:nvSpPr>
            <p:cNvPr id="63497" name="Rectangle 7">
              <a:extLst>
                <a:ext uri="{FF2B5EF4-FFF2-40B4-BE49-F238E27FC236}">
                  <a16:creationId xmlns:a16="http://schemas.microsoft.com/office/drawing/2014/main" id="{B614FF6C-00EC-4223-AB81-6F01A4903846}"/>
                </a:ext>
              </a:extLst>
            </p:cNvPr>
            <p:cNvSpPr>
              <a:spLocks noChangeArrowheads="1"/>
            </p:cNvSpPr>
            <p:nvPr/>
          </p:nvSpPr>
          <p:spPr bwMode="auto">
            <a:xfrm>
              <a:off x="1632" y="3072"/>
              <a:ext cx="1820" cy="52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ctr">
                <a:buFont typeface="Arial" panose="020B0604020202020204" pitchFamily="34" charset="0"/>
                <a:buNone/>
              </a:pPr>
              <a:r>
                <a:rPr lang="zh-CN" altLang="en-US" sz="3600" b="1" dirty="0">
                  <a:solidFill>
                    <a:srgbClr val="0000FF"/>
                  </a:solidFill>
                  <a:latin typeface="楷体_GB2312" pitchFamily="49" charset="-122"/>
                  <a:ea typeface="楷体_GB2312" pitchFamily="49" charset="-122"/>
                </a:rPr>
                <a:t>预测分析表</a:t>
              </a:r>
              <a:r>
                <a:rPr lang="en-US" altLang="zh-CN" sz="3600" b="1" dirty="0">
                  <a:solidFill>
                    <a:srgbClr val="0000FF"/>
                  </a:solidFill>
                  <a:ea typeface="楷体_GB2312" pitchFamily="49" charset="-122"/>
                </a:rPr>
                <a:t>M</a:t>
              </a:r>
            </a:p>
          </p:txBody>
        </p:sp>
        <p:sp>
          <p:nvSpPr>
            <p:cNvPr id="63498" name="Line 8">
              <a:extLst>
                <a:ext uri="{FF2B5EF4-FFF2-40B4-BE49-F238E27FC236}">
                  <a16:creationId xmlns:a16="http://schemas.microsoft.com/office/drawing/2014/main" id="{4DD55838-9E4C-4A00-82ED-FF9E7A39EC72}"/>
                </a:ext>
              </a:extLst>
            </p:cNvPr>
            <p:cNvSpPr>
              <a:spLocks noChangeShapeType="1"/>
            </p:cNvSpPr>
            <p:nvPr/>
          </p:nvSpPr>
          <p:spPr bwMode="auto">
            <a:xfrm flipV="1">
              <a:off x="2496" y="1296"/>
              <a:ext cx="0" cy="48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499" name="Line 9">
              <a:extLst>
                <a:ext uri="{FF2B5EF4-FFF2-40B4-BE49-F238E27FC236}">
                  <a16:creationId xmlns:a16="http://schemas.microsoft.com/office/drawing/2014/main" id="{49368CA7-2E60-405F-8B62-A8E9509340B4}"/>
                </a:ext>
              </a:extLst>
            </p:cNvPr>
            <p:cNvSpPr>
              <a:spLocks noChangeShapeType="1"/>
            </p:cNvSpPr>
            <p:nvPr/>
          </p:nvSpPr>
          <p:spPr bwMode="auto">
            <a:xfrm flipH="1">
              <a:off x="912" y="2160"/>
              <a:ext cx="720" cy="0"/>
            </a:xfrm>
            <a:prstGeom prst="line">
              <a:avLst/>
            </a:prstGeom>
            <a:noFill/>
            <a:ln w="38100" cmpd="dbl">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0" name="Line 10">
              <a:extLst>
                <a:ext uri="{FF2B5EF4-FFF2-40B4-BE49-F238E27FC236}">
                  <a16:creationId xmlns:a16="http://schemas.microsoft.com/office/drawing/2014/main" id="{C0486EDD-1D74-463A-90EE-FEB9D4FABD7B}"/>
                </a:ext>
              </a:extLst>
            </p:cNvPr>
            <p:cNvSpPr>
              <a:spLocks noChangeShapeType="1"/>
            </p:cNvSpPr>
            <p:nvPr/>
          </p:nvSpPr>
          <p:spPr bwMode="auto">
            <a:xfrm flipV="1">
              <a:off x="2496" y="2592"/>
              <a:ext cx="0" cy="480"/>
            </a:xfrm>
            <a:prstGeom prst="line">
              <a:avLst/>
            </a:prstGeom>
            <a:noFill/>
            <a:ln w="38100" cmpd="dbl">
              <a:solidFill>
                <a:schemeClr val="tx1"/>
              </a:solidFill>
              <a:round/>
              <a:headEnd type="triangle" w="med" len="me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3501" name="Line 11">
              <a:extLst>
                <a:ext uri="{FF2B5EF4-FFF2-40B4-BE49-F238E27FC236}">
                  <a16:creationId xmlns:a16="http://schemas.microsoft.com/office/drawing/2014/main" id="{16F633C5-6AEF-48CA-A815-DCE8FA61F736}"/>
                </a:ext>
              </a:extLst>
            </p:cNvPr>
            <p:cNvSpPr>
              <a:spLocks noChangeShapeType="1"/>
            </p:cNvSpPr>
            <p:nvPr/>
          </p:nvSpPr>
          <p:spPr bwMode="auto">
            <a:xfrm>
              <a:off x="3456" y="2112"/>
              <a:ext cx="864" cy="0"/>
            </a:xfrm>
            <a:prstGeom prst="line">
              <a:avLst/>
            </a:prstGeom>
            <a:noFill/>
            <a:ln w="38100" cmpd="dbl">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152012" name="Rectangle 12">
              <a:extLst>
                <a:ext uri="{FF2B5EF4-FFF2-40B4-BE49-F238E27FC236}">
                  <a16:creationId xmlns:a16="http://schemas.microsoft.com/office/drawing/2014/main" id="{404D80A1-85BF-4917-845D-76A24B4CB7CC}"/>
                </a:ext>
              </a:extLst>
            </p:cNvPr>
            <p:cNvSpPr>
              <a:spLocks noChangeArrowheads="1"/>
            </p:cNvSpPr>
            <p:nvPr/>
          </p:nvSpPr>
          <p:spPr bwMode="auto">
            <a:xfrm>
              <a:off x="4209" y="1785"/>
              <a:ext cx="1359" cy="596"/>
            </a:xfrm>
            <a:prstGeom prst="rect">
              <a:avLst/>
            </a:prstGeom>
            <a:noFill/>
            <a:ln w="9525">
              <a:noFill/>
              <a:miter lim="800000"/>
            </a:ln>
            <a:effectLst/>
          </p:spPr>
          <p:txBody>
            <a:bodyPr lIns="92075" tIns="46038" rIns="92075" bIns="46038">
              <a:spAutoFit/>
            </a:bodyPr>
            <a:lstStyle/>
            <a:p>
              <a:pPr algn="ctr">
                <a:buFont typeface="Arial" panose="020B0604020202020204" pitchFamily="34" charset="0"/>
                <a:buNone/>
                <a:defRPr/>
              </a:pPr>
              <a:r>
                <a:rPr lang="zh-CN" altLang="en-US" sz="2800" b="1">
                  <a:effectLst>
                    <a:outerShdw blurRad="38100" dist="38100" dir="2700000" algn="tl">
                      <a:srgbClr val="C0C0C0"/>
                    </a:outerShdw>
                  </a:effectLst>
                  <a:ea typeface="楷体_GB2312" pitchFamily="49" charset="-122"/>
                </a:rPr>
                <a:t>输出的</a:t>
              </a:r>
            </a:p>
            <a:p>
              <a:pPr algn="ctr">
                <a:buFont typeface="Arial" panose="020B0604020202020204" pitchFamily="34" charset="0"/>
                <a:buNone/>
                <a:defRPr/>
              </a:pPr>
              <a:r>
                <a:rPr lang="zh-CN" altLang="en-US" sz="2800" b="1">
                  <a:effectLst>
                    <a:outerShdw blurRad="38100" dist="38100" dir="2700000" algn="tl">
                      <a:srgbClr val="C0C0C0"/>
                    </a:outerShdw>
                  </a:effectLst>
                  <a:ea typeface="楷体_GB2312" pitchFamily="49" charset="-122"/>
                </a:rPr>
                <a:t>产生式序列</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BE003CC5-7393-431C-97C0-BA52C52C377A}"/>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50D7AC29-675B-40F1-A454-51D3F3C4CADB}" type="datetime1">
              <a:rPr lang="zh-CN" altLang="en-US" noProof="0" smtClean="0">
                <a:latin typeface="+mn-lt"/>
              </a:rPr>
              <a:pPr>
                <a:buFontTx/>
                <a:buNone/>
                <a:defRPr/>
              </a:pPr>
              <a:t>2025/6/26</a:t>
            </a:fld>
            <a:endParaRPr lang="en-US" altLang="zh-CN" noProof="0">
              <a:latin typeface="+mn-lt"/>
            </a:endParaRPr>
          </a:p>
        </p:txBody>
      </p:sp>
      <p:sp>
        <p:nvSpPr>
          <p:cNvPr id="64515" name="灯片编号占位符 5">
            <a:extLst>
              <a:ext uri="{FF2B5EF4-FFF2-40B4-BE49-F238E27FC236}">
                <a16:creationId xmlns:a16="http://schemas.microsoft.com/office/drawing/2014/main" id="{509FEFE9-97BF-4269-B05A-2959760E7CEE}"/>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75C6AB26-4E1A-4681-BCEF-AC46FF592CF3}" type="slidenum">
              <a:rPr lang="en-US" altLang="zh-CN" sz="1400">
                <a:latin typeface="Arial" panose="020B0604020202020204" pitchFamily="34" charset="0"/>
              </a:rPr>
              <a:pPr/>
              <a:t>18</a:t>
            </a:fld>
            <a:endParaRPr lang="en-US" altLang="zh-CN" sz="1400">
              <a:latin typeface="Arial" panose="020B0604020202020204" pitchFamily="34" charset="0"/>
            </a:endParaRPr>
          </a:p>
        </p:txBody>
      </p:sp>
      <p:sp>
        <p:nvSpPr>
          <p:cNvPr id="64516" name="Rectangle 2">
            <a:extLst>
              <a:ext uri="{FF2B5EF4-FFF2-40B4-BE49-F238E27FC236}">
                <a16:creationId xmlns:a16="http://schemas.microsoft.com/office/drawing/2014/main" id="{1BC94A0E-FA3A-42B6-B24D-D44499382363}"/>
              </a:ext>
            </a:extLst>
          </p:cNvPr>
          <p:cNvSpPr>
            <a:spLocks noGrp="1" noChangeArrowheads="1"/>
          </p:cNvSpPr>
          <p:nvPr>
            <p:ph type="title" idx="4294967295"/>
          </p:nvPr>
        </p:nvSpPr>
        <p:spPr>
          <a:xfrm>
            <a:off x="3252788" y="404813"/>
            <a:ext cx="5867400" cy="476250"/>
          </a:xfrm>
        </p:spPr>
        <p:txBody>
          <a:bodyPr vert="horz" lIns="92075" tIns="46038" rIns="92075" bIns="46038" rtlCol="0" anchor="ctr">
            <a:normAutofit fontScale="90000"/>
          </a:bodyPr>
          <a:lstStyle/>
          <a:p>
            <a:pPr eaLnBrk="1" hangingPunct="1"/>
            <a:r>
              <a:rPr lang="zh-CN" altLang="en-US">
                <a:latin typeface="Times New Roman" panose="02020603050405020304" pitchFamily="18" charset="0"/>
              </a:rPr>
              <a:t>系统的执行与特点</a:t>
            </a:r>
          </a:p>
        </p:txBody>
      </p:sp>
      <p:sp>
        <p:nvSpPr>
          <p:cNvPr id="2172931" name="Rectangle 3">
            <a:extLst>
              <a:ext uri="{FF2B5EF4-FFF2-40B4-BE49-F238E27FC236}">
                <a16:creationId xmlns:a16="http://schemas.microsoft.com/office/drawing/2014/main" id="{87F2C271-7729-41D7-AD7A-1D5434DC9399}"/>
              </a:ext>
            </a:extLst>
          </p:cNvPr>
          <p:cNvSpPr>
            <a:spLocks noGrp="1" noChangeArrowheads="1"/>
          </p:cNvSpPr>
          <p:nvPr>
            <p:ph type="body" idx="4294967295"/>
          </p:nvPr>
        </p:nvSpPr>
        <p:spPr>
          <a:xfrm>
            <a:off x="1992313" y="1700213"/>
            <a:ext cx="8305800" cy="4176712"/>
          </a:xfrm>
        </p:spPr>
        <p:txBody>
          <a:bodyPr vert="horz" lIns="92075" tIns="46038" rIns="92075" bIns="46038" rtlCol="0">
            <a:normAutofit/>
          </a:bodyPr>
          <a:lstStyle/>
          <a:p>
            <a:pPr eaLnBrk="1" hangingPunct="1"/>
            <a:r>
              <a:rPr lang="zh-CN" altLang="en-US">
                <a:latin typeface="楷体_GB2312" pitchFamily="49" charset="-122"/>
              </a:rPr>
              <a:t>在系统启动时，输入指针指向输入串的第一个字符，分析栈中存放着栈底符号</a:t>
            </a:r>
            <a:r>
              <a:rPr lang="en-US" altLang="zh-CN">
                <a:latin typeface="楷体_GB2312" pitchFamily="49" charset="-122"/>
              </a:rPr>
              <a:t>#</a:t>
            </a:r>
            <a:r>
              <a:rPr lang="zh-CN" altLang="en-US">
                <a:latin typeface="楷体_GB2312" pitchFamily="49" charset="-122"/>
              </a:rPr>
              <a:t>和文法的开始符号。</a:t>
            </a:r>
          </a:p>
          <a:p>
            <a:pPr eaLnBrk="1" hangingPunct="1"/>
            <a:r>
              <a:rPr lang="zh-CN" altLang="en-US">
                <a:latin typeface="楷体_GB2312" pitchFamily="49" charset="-122"/>
              </a:rPr>
              <a:t>根据栈顶符号</a:t>
            </a:r>
            <a:r>
              <a:rPr lang="en-US" altLang="zh-CN">
                <a:latin typeface="楷体_GB2312" pitchFamily="49" charset="-122"/>
              </a:rPr>
              <a:t>A</a:t>
            </a:r>
            <a:r>
              <a:rPr lang="zh-CN" altLang="en-US">
                <a:latin typeface="楷体_GB2312" pitchFamily="49" charset="-122"/>
              </a:rPr>
              <a:t>和读入的符号</a:t>
            </a:r>
            <a:r>
              <a:rPr lang="en-US" altLang="zh-CN">
                <a:latin typeface="楷体_GB2312" pitchFamily="49" charset="-122"/>
              </a:rPr>
              <a:t>a</a:t>
            </a:r>
            <a:r>
              <a:rPr lang="zh-CN" altLang="en-US">
                <a:latin typeface="楷体_GB2312" pitchFamily="49" charset="-122"/>
              </a:rPr>
              <a:t>，查看分析表</a:t>
            </a:r>
            <a:r>
              <a:rPr lang="en-US" altLang="zh-CN">
                <a:latin typeface="楷体_GB2312" pitchFamily="49" charset="-122"/>
              </a:rPr>
              <a:t>M,</a:t>
            </a:r>
            <a:r>
              <a:rPr lang="zh-CN" altLang="en-US">
                <a:latin typeface="楷体_GB2312" pitchFamily="49" charset="-122"/>
              </a:rPr>
              <a:t>以决定相应的动作。</a:t>
            </a:r>
          </a:p>
          <a:p>
            <a:pPr eaLnBrk="1" hangingPunct="1"/>
            <a:r>
              <a:rPr lang="zh-CN" altLang="en-US">
                <a:latin typeface="楷体_GB2312" pitchFamily="49" charset="-122"/>
              </a:rPr>
              <a:t>优点：</a:t>
            </a:r>
          </a:p>
          <a:p>
            <a:pPr lvl="1" eaLnBrk="1" hangingPunct="1">
              <a:buFont typeface="Wingdings" panose="05000000000000000000" pitchFamily="2" charset="2"/>
              <a:buNone/>
            </a:pPr>
            <a:r>
              <a:rPr lang="en-US" altLang="zh-CN">
                <a:latin typeface="楷体_GB2312" pitchFamily="49" charset="-122"/>
              </a:rPr>
              <a:t>1</a:t>
            </a:r>
            <a:r>
              <a:rPr lang="zh-CN" altLang="en-US">
                <a:latin typeface="楷体_GB2312" pitchFamily="49" charset="-122"/>
              </a:rPr>
              <a:t>）效率高</a:t>
            </a:r>
          </a:p>
          <a:p>
            <a:pPr lvl="1" eaLnBrk="1" hangingPunct="1">
              <a:buFont typeface="Wingdings" panose="05000000000000000000" pitchFamily="2" charset="2"/>
              <a:buNone/>
            </a:pPr>
            <a:r>
              <a:rPr lang="en-US" altLang="zh-CN">
                <a:latin typeface="楷体_GB2312" pitchFamily="49" charset="-122"/>
              </a:rPr>
              <a:t>2</a:t>
            </a:r>
            <a:r>
              <a:rPr lang="zh-CN" altLang="en-US">
                <a:latin typeface="楷体_GB2312" pitchFamily="49" charset="-122"/>
              </a:rPr>
              <a:t>）便于维护、自动生成</a:t>
            </a:r>
          </a:p>
          <a:p>
            <a:pPr eaLnBrk="1" hangingPunct="1"/>
            <a:r>
              <a:rPr lang="zh-CN" altLang="en-US">
                <a:latin typeface="楷体_GB2312" pitchFamily="49" charset="-122"/>
              </a:rPr>
              <a:t>关键</a:t>
            </a:r>
            <a:r>
              <a:rPr lang="en-US" altLang="zh-CN"/>
              <a:t>——</a:t>
            </a:r>
            <a:r>
              <a:rPr lang="zh-CN" altLang="en-US">
                <a:latin typeface="楷体_GB2312" pitchFamily="49" charset="-122"/>
              </a:rPr>
              <a:t>分析表</a:t>
            </a:r>
            <a:r>
              <a:rPr lang="en-US" altLang="zh-CN">
                <a:latin typeface="楷体_GB2312" pitchFamily="49" charset="-122"/>
              </a:rPr>
              <a:t>M</a:t>
            </a:r>
            <a:r>
              <a:rPr lang="zh-CN" altLang="en-US">
                <a:latin typeface="楷体_GB2312" pitchFamily="49" charset="-122"/>
              </a:rPr>
              <a:t>的构造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72931">
                                            <p:txEl>
                                              <p:pRg st="0" end="0"/>
                                            </p:txEl>
                                          </p:spTgt>
                                        </p:tgtEl>
                                        <p:attrNameLst>
                                          <p:attrName>style.visibility</p:attrName>
                                        </p:attrNameLst>
                                      </p:cBhvr>
                                      <p:to>
                                        <p:strVal val="visible"/>
                                      </p:to>
                                    </p:set>
                                    <p:animEffect transition="in" filter="slide(fromBottom)">
                                      <p:cBhvr>
                                        <p:cTn id="7" dur="500"/>
                                        <p:tgtEl>
                                          <p:spTgt spid="21729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172931">
                                            <p:txEl>
                                              <p:pRg st="1" end="1"/>
                                            </p:txEl>
                                          </p:spTgt>
                                        </p:tgtEl>
                                        <p:attrNameLst>
                                          <p:attrName>style.visibility</p:attrName>
                                        </p:attrNameLst>
                                      </p:cBhvr>
                                      <p:to>
                                        <p:strVal val="visible"/>
                                      </p:to>
                                    </p:set>
                                    <p:animEffect transition="in" filter="slide(fromBottom)">
                                      <p:cBhvr>
                                        <p:cTn id="12" dur="500"/>
                                        <p:tgtEl>
                                          <p:spTgt spid="21729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172931">
                                            <p:txEl>
                                              <p:pRg st="2" end="2"/>
                                            </p:txEl>
                                          </p:spTgt>
                                        </p:tgtEl>
                                        <p:attrNameLst>
                                          <p:attrName>style.visibility</p:attrName>
                                        </p:attrNameLst>
                                      </p:cBhvr>
                                      <p:to>
                                        <p:strVal val="visible"/>
                                      </p:to>
                                    </p:set>
                                    <p:animEffect transition="in" filter="slide(fromBottom)">
                                      <p:cBhvr>
                                        <p:cTn id="17" dur="500"/>
                                        <p:tgtEl>
                                          <p:spTgt spid="2172931">
                                            <p:txEl>
                                              <p:pRg st="2" end="2"/>
                                            </p:txEl>
                                          </p:spTgt>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2172931">
                                            <p:txEl>
                                              <p:pRg st="3" end="3"/>
                                            </p:txEl>
                                          </p:spTgt>
                                        </p:tgtEl>
                                        <p:attrNameLst>
                                          <p:attrName>style.visibility</p:attrName>
                                        </p:attrNameLst>
                                      </p:cBhvr>
                                      <p:to>
                                        <p:strVal val="visible"/>
                                      </p:to>
                                    </p:set>
                                    <p:animEffect transition="in" filter="slide(fromBottom)">
                                      <p:cBhvr>
                                        <p:cTn id="20" dur="500"/>
                                        <p:tgtEl>
                                          <p:spTgt spid="2172931">
                                            <p:txEl>
                                              <p:pRg st="3" end="3"/>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2172931">
                                            <p:txEl>
                                              <p:pRg st="4" end="4"/>
                                            </p:txEl>
                                          </p:spTgt>
                                        </p:tgtEl>
                                        <p:attrNameLst>
                                          <p:attrName>style.visibility</p:attrName>
                                        </p:attrNameLst>
                                      </p:cBhvr>
                                      <p:to>
                                        <p:strVal val="visible"/>
                                      </p:to>
                                    </p:set>
                                    <p:animEffect transition="in" filter="slide(fromBottom)">
                                      <p:cBhvr>
                                        <p:cTn id="23" dur="500"/>
                                        <p:tgtEl>
                                          <p:spTgt spid="2172931">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172931">
                                            <p:txEl>
                                              <p:pRg st="5" end="5"/>
                                            </p:txEl>
                                          </p:spTgt>
                                        </p:tgtEl>
                                        <p:attrNameLst>
                                          <p:attrName>style.visibility</p:attrName>
                                        </p:attrNameLst>
                                      </p:cBhvr>
                                      <p:to>
                                        <p:strVal val="visible"/>
                                      </p:to>
                                    </p:set>
                                    <p:animEffect transition="in" filter="slide(fromBottom)">
                                      <p:cBhvr>
                                        <p:cTn id="28" dur="500"/>
                                        <p:tgtEl>
                                          <p:spTgt spid="21729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293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0C2376B5-76C8-4069-B4D7-EB947BBA4958}"/>
              </a:ext>
            </a:extLst>
          </p:cNvPr>
          <p:cNvSpPr>
            <a:spLocks noGrp="1"/>
          </p:cNvSpPr>
          <p:nvPr>
            <p:ph type="dt" sz="quarter" idx="10"/>
          </p:nvPr>
        </p:nvSpPr>
        <p:spPr bwMode="auto">
          <a:xfrm>
            <a:off x="2855913" y="6265863"/>
            <a:ext cx="2133600" cy="476250"/>
          </a:xfrm>
          <a:ln>
            <a:miter lim="800000"/>
          </a:ln>
        </p:spPr>
        <p:txBody>
          <a:bodyPr vert="horz" wrap="square" lIns="91440" tIns="45720" rIns="91440" bIns="45720" numCol="1" rtlCol="0" anchor="t" anchorCtr="0" compatLnSpc="1"/>
          <a:lstStyle/>
          <a:p>
            <a:pPr>
              <a:buFontTx/>
              <a:buNone/>
              <a:defRPr/>
            </a:pPr>
            <a:fld id="{81816CAC-36DA-42D4-B395-77351A71CD89}" type="datetime1">
              <a:rPr lang="zh-CN" altLang="en-US" noProof="0" smtClean="0">
                <a:latin typeface="+mn-lt"/>
              </a:rPr>
              <a:pPr>
                <a:buFontTx/>
                <a:buNone/>
                <a:defRPr/>
              </a:pPr>
              <a:t>2025/6/26</a:t>
            </a:fld>
            <a:endParaRPr lang="en-US" altLang="zh-CN" noProof="0">
              <a:latin typeface="+mn-lt"/>
            </a:endParaRPr>
          </a:p>
        </p:txBody>
      </p:sp>
      <p:sp>
        <p:nvSpPr>
          <p:cNvPr id="65539" name="灯片编号占位符 5">
            <a:extLst>
              <a:ext uri="{FF2B5EF4-FFF2-40B4-BE49-F238E27FC236}">
                <a16:creationId xmlns:a16="http://schemas.microsoft.com/office/drawing/2014/main" id="{A47D5F1A-6DB9-408C-9744-40D8B8E0B335}"/>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61A7CEC6-CD50-4642-AEB5-97044AD3D7AC}" type="slidenum">
              <a:rPr lang="en-US" altLang="zh-CN" sz="1400">
                <a:latin typeface="Arial" panose="020B0604020202020204" pitchFamily="34" charset="0"/>
              </a:rPr>
              <a:pPr/>
              <a:t>19</a:t>
            </a:fld>
            <a:endParaRPr lang="en-US" altLang="zh-CN" sz="1400">
              <a:latin typeface="Arial" panose="020B0604020202020204" pitchFamily="34" charset="0"/>
            </a:endParaRPr>
          </a:p>
        </p:txBody>
      </p:sp>
      <p:sp>
        <p:nvSpPr>
          <p:cNvPr id="65540" name="Rectangle 2">
            <a:extLst>
              <a:ext uri="{FF2B5EF4-FFF2-40B4-BE49-F238E27FC236}">
                <a16:creationId xmlns:a16="http://schemas.microsoft.com/office/drawing/2014/main" id="{4845B3FC-1D8F-464C-936C-375DBEF617F2}"/>
              </a:ext>
            </a:extLst>
          </p:cNvPr>
          <p:cNvSpPr>
            <a:spLocks noGrp="1" noChangeArrowheads="1"/>
          </p:cNvSpPr>
          <p:nvPr>
            <p:ph type="title" idx="4294967295"/>
          </p:nvPr>
        </p:nvSpPr>
        <p:spPr>
          <a:xfrm>
            <a:off x="3000375" y="115888"/>
            <a:ext cx="6719888" cy="685800"/>
          </a:xfrm>
        </p:spPr>
        <p:txBody>
          <a:bodyPr anchor="ctr">
            <a:normAutofit fontScale="90000"/>
          </a:bodyPr>
          <a:lstStyle/>
          <a:p>
            <a:pPr eaLnBrk="1" hangingPunct="1"/>
            <a:r>
              <a:rPr lang="zh-CN" altLang="en-US"/>
              <a:t>预测分析程序的总控程序 </a:t>
            </a:r>
          </a:p>
        </p:txBody>
      </p:sp>
      <p:sp>
        <p:nvSpPr>
          <p:cNvPr id="65541" name="Rectangle 3">
            <a:extLst>
              <a:ext uri="{FF2B5EF4-FFF2-40B4-BE49-F238E27FC236}">
                <a16:creationId xmlns:a16="http://schemas.microsoft.com/office/drawing/2014/main" id="{5CDCE1C2-850A-4421-8A6F-B55C16E8FCFA}"/>
              </a:ext>
            </a:extLst>
          </p:cNvPr>
          <p:cNvSpPr>
            <a:spLocks noGrp="1" noChangeArrowheads="1"/>
          </p:cNvSpPr>
          <p:nvPr>
            <p:ph type="body" idx="4294967295"/>
          </p:nvPr>
        </p:nvSpPr>
        <p:spPr>
          <a:xfrm>
            <a:off x="2135188" y="908050"/>
            <a:ext cx="8610600" cy="5761038"/>
          </a:xfrm>
        </p:spPr>
        <p:txBody>
          <a:bodyPr>
            <a:normAutofit lnSpcReduction="10000"/>
          </a:bodyPr>
          <a:lstStyle/>
          <a:p>
            <a:pPr eaLnBrk="1" hangingPunct="1">
              <a:lnSpc>
                <a:spcPct val="80000"/>
              </a:lnSpc>
              <a:buFont typeface="Wingdings" panose="05000000000000000000" pitchFamily="2" charset="2"/>
              <a:buNone/>
            </a:pPr>
            <a:r>
              <a:rPr lang="zh-CN" altLang="en-US" sz="2400" dirty="0">
                <a:latin typeface="Times New Roman" panose="02020603050405020304" pitchFamily="18" charset="0"/>
              </a:rPr>
              <a:t>    算法</a:t>
            </a:r>
            <a:r>
              <a:rPr lang="en-US" altLang="zh-CN" sz="2400" dirty="0">
                <a:latin typeface="Times New Roman" panose="02020603050405020304" pitchFamily="18" charset="0"/>
              </a:rPr>
              <a:t>4.5 </a:t>
            </a:r>
            <a:r>
              <a:rPr lang="zh-CN" altLang="en-US" sz="2400" dirty="0">
                <a:latin typeface="Times New Roman" panose="02020603050405020304" pitchFamily="18" charset="0"/>
              </a:rPr>
              <a:t>预测分析程序的总控程序。</a:t>
            </a:r>
          </a:p>
          <a:p>
            <a:pPr eaLnBrk="1" hangingPunct="1">
              <a:lnSpc>
                <a:spcPct val="80000"/>
              </a:lnSpc>
              <a:buFont typeface="Wingdings" panose="05000000000000000000" pitchFamily="2" charset="2"/>
              <a:buNone/>
            </a:pPr>
            <a:endParaRPr lang="zh-CN" altLang="en-US" sz="2400" dirty="0">
              <a:latin typeface="Times New Roman" panose="02020603050405020304" pitchFamily="18" charset="0"/>
            </a:endParaRPr>
          </a:p>
          <a:p>
            <a:pPr eaLnBrk="1" hangingPunct="1">
              <a:lnSpc>
                <a:spcPct val="80000"/>
              </a:lnSpc>
              <a:buFont typeface="Wingdings" panose="05000000000000000000" pitchFamily="2" charset="2"/>
              <a:buNone/>
            </a:pPr>
            <a:r>
              <a:rPr lang="zh-CN" altLang="en-US" sz="2400" dirty="0">
                <a:latin typeface="Times New Roman" panose="02020603050405020304" pitchFamily="18" charset="0"/>
              </a:rPr>
              <a:t>输入：输入串</a:t>
            </a:r>
            <a:r>
              <a:rPr lang="en-US" altLang="zh-CN" sz="2400" i="1" dirty="0">
                <a:latin typeface="Times New Roman" panose="02020603050405020304" pitchFamily="18" charset="0"/>
              </a:rPr>
              <a:t>w</a:t>
            </a:r>
            <a:r>
              <a:rPr lang="zh-CN" altLang="en-US" sz="2400" dirty="0">
                <a:latin typeface="Times New Roman" panose="02020603050405020304" pitchFamily="18" charset="0"/>
              </a:rPr>
              <a:t>和文法</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en-US" altLang="zh-CN" sz="2400" i="1" dirty="0">
                <a:latin typeface="Times New Roman" panose="02020603050405020304" pitchFamily="18" charset="0"/>
              </a:rPr>
              <a:t>V</a:t>
            </a:r>
            <a:r>
              <a:rPr lang="en-US" altLang="zh-CN" sz="2400" dirty="0">
                <a:latin typeface="Times New Roman" panose="02020603050405020304" pitchFamily="18" charset="0"/>
              </a:rPr>
              <a:t>, </a:t>
            </a:r>
            <a:r>
              <a:rPr lang="en-US" altLang="zh-CN" sz="2400" i="1" dirty="0">
                <a:latin typeface="Times New Roman" panose="02020603050405020304" pitchFamily="18" charset="0"/>
              </a:rPr>
              <a:t>T</a:t>
            </a:r>
            <a:r>
              <a:rPr lang="en-US" altLang="zh-CN" sz="2400" dirty="0">
                <a:latin typeface="Times New Roman" panose="02020603050405020304" pitchFamily="18" charset="0"/>
              </a:rPr>
              <a:t>, </a:t>
            </a:r>
            <a:r>
              <a:rPr lang="en-US" altLang="zh-CN" sz="2400" i="1" dirty="0">
                <a:latin typeface="Times New Roman" panose="02020603050405020304" pitchFamily="18" charset="0"/>
              </a:rPr>
              <a:t>P</a:t>
            </a:r>
            <a:r>
              <a:rPr lang="en-US" altLang="zh-CN" sz="2400" dirty="0">
                <a:latin typeface="Times New Roman" panose="02020603050405020304" pitchFamily="18" charset="0"/>
              </a:rPr>
              <a:t>,</a:t>
            </a:r>
            <a:r>
              <a:rPr lang="en-US" altLang="zh-CN" sz="2400" i="1" dirty="0">
                <a:latin typeface="Times New Roman" panose="02020603050405020304" pitchFamily="18" charset="0"/>
              </a:rPr>
              <a:t> S</a:t>
            </a:r>
            <a:r>
              <a:rPr lang="en-US" altLang="zh-CN" sz="2400" dirty="0">
                <a:latin typeface="Times New Roman" panose="02020603050405020304" pitchFamily="18" charset="0"/>
              </a:rPr>
              <a:t>)</a:t>
            </a:r>
            <a:r>
              <a:rPr lang="zh-CN" altLang="en-US" sz="2400" dirty="0">
                <a:latin typeface="Times New Roman" panose="02020603050405020304" pitchFamily="18" charset="0"/>
              </a:rPr>
              <a:t>的分析表</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p>
          <a:p>
            <a:pPr eaLnBrk="1" hangingPunct="1">
              <a:lnSpc>
                <a:spcPct val="80000"/>
              </a:lnSpc>
              <a:buFont typeface="Wingdings" panose="05000000000000000000" pitchFamily="2" charset="2"/>
              <a:buNone/>
            </a:pPr>
            <a:r>
              <a:rPr lang="zh-CN" altLang="en-US" sz="2400" dirty="0">
                <a:latin typeface="Times New Roman" panose="02020603050405020304" pitchFamily="18" charset="0"/>
              </a:rPr>
              <a:t>输出：如果</a:t>
            </a:r>
            <a:r>
              <a:rPr lang="en-US" altLang="zh-CN" sz="2400" i="1" dirty="0">
                <a:latin typeface="Times New Roman" panose="02020603050405020304" pitchFamily="18" charset="0"/>
              </a:rPr>
              <a:t>w</a:t>
            </a:r>
            <a:r>
              <a:rPr lang="zh-CN" altLang="en-US" sz="2400" dirty="0">
                <a:latin typeface="Times New Roman" panose="02020603050405020304" pitchFamily="18" charset="0"/>
              </a:rPr>
              <a:t>属于</a:t>
            </a:r>
            <a:r>
              <a:rPr lang="en-US" altLang="zh-CN" sz="2400" i="1" dirty="0">
                <a:latin typeface="Times New Roman" panose="02020603050405020304" pitchFamily="18" charset="0"/>
              </a:rPr>
              <a:t>L</a:t>
            </a:r>
            <a:r>
              <a:rPr lang="en-US" altLang="zh-CN" sz="2400" dirty="0">
                <a:latin typeface="Times New Roman" panose="02020603050405020304" pitchFamily="18" charset="0"/>
              </a:rPr>
              <a:t>(</a:t>
            </a:r>
            <a:r>
              <a:rPr lang="en-US" altLang="zh-CN" sz="2400" i="1" dirty="0">
                <a:latin typeface="Times New Roman" panose="02020603050405020304" pitchFamily="18" charset="0"/>
              </a:rPr>
              <a:t>G</a:t>
            </a:r>
            <a:r>
              <a:rPr lang="en-US" altLang="zh-CN" sz="2400" dirty="0">
                <a:latin typeface="Times New Roman" panose="02020603050405020304" pitchFamily="18" charset="0"/>
              </a:rPr>
              <a:t>)</a:t>
            </a:r>
            <a:r>
              <a:rPr lang="zh-CN" altLang="en-US" sz="2400" dirty="0">
                <a:latin typeface="Times New Roman" panose="02020603050405020304" pitchFamily="18" charset="0"/>
              </a:rPr>
              <a:t>，则输出</a:t>
            </a:r>
            <a:r>
              <a:rPr lang="en-US" altLang="zh-CN" sz="2400" i="1" dirty="0">
                <a:latin typeface="Times New Roman" panose="02020603050405020304" pitchFamily="18" charset="0"/>
              </a:rPr>
              <a:t>w</a:t>
            </a:r>
            <a:r>
              <a:rPr lang="zh-CN" altLang="en-US" sz="2400" dirty="0">
                <a:latin typeface="Times New Roman" panose="02020603050405020304" pitchFamily="18" charset="0"/>
              </a:rPr>
              <a:t>的最左推导，否则报告错误</a:t>
            </a:r>
            <a:r>
              <a:rPr lang="en-US" altLang="zh-CN" sz="2400" dirty="0">
                <a:latin typeface="Times New Roman" panose="02020603050405020304" pitchFamily="18" charset="0"/>
              </a:rPr>
              <a:t>;</a:t>
            </a:r>
          </a:p>
          <a:p>
            <a:pPr eaLnBrk="1" hangingPunct="1">
              <a:lnSpc>
                <a:spcPct val="80000"/>
              </a:lnSpc>
              <a:buFont typeface="Wingdings" panose="05000000000000000000" pitchFamily="2" charset="2"/>
              <a:buNone/>
            </a:pPr>
            <a:r>
              <a:rPr lang="zh-CN" altLang="en-US" sz="2400" dirty="0">
                <a:latin typeface="Times New Roman" panose="02020603050405020304" pitchFamily="18" charset="0"/>
              </a:rPr>
              <a:t>步骤：</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1</a:t>
            </a:r>
            <a:r>
              <a:rPr lang="zh-CN" altLang="en-US" sz="2400" dirty="0">
                <a:latin typeface="Times New Roman" panose="02020603050405020304" pitchFamily="18" charset="0"/>
              </a:rPr>
              <a:t>．将栈底符号</a:t>
            </a:r>
            <a:r>
              <a:rPr lang="en-US" altLang="zh-CN" sz="2400" dirty="0">
                <a:latin typeface="Times New Roman" panose="02020603050405020304" pitchFamily="18" charset="0"/>
              </a:rPr>
              <a:t>#</a:t>
            </a:r>
            <a:r>
              <a:rPr lang="zh-CN" altLang="en-US" sz="2400" dirty="0">
                <a:latin typeface="Times New Roman" panose="02020603050405020304" pitchFamily="18" charset="0"/>
              </a:rPr>
              <a:t>和文法开始符号</a:t>
            </a:r>
            <a:r>
              <a:rPr lang="en-US" altLang="zh-CN" sz="2400" i="1" dirty="0">
                <a:latin typeface="Times New Roman" panose="02020603050405020304" pitchFamily="18" charset="0"/>
              </a:rPr>
              <a:t>S</a:t>
            </a:r>
            <a:r>
              <a:rPr lang="zh-CN" altLang="en-US" sz="2400" dirty="0">
                <a:latin typeface="Times New Roman" panose="02020603050405020304" pitchFamily="18" charset="0"/>
              </a:rPr>
              <a:t>压入栈中</a:t>
            </a:r>
            <a:r>
              <a:rPr lang="en-US" altLang="zh-CN" sz="2400" dirty="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repeat</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3</a:t>
            </a:r>
            <a:r>
              <a:rPr lang="zh-CN" altLang="en-US" sz="2400" dirty="0">
                <a:latin typeface="Times New Roman" panose="02020603050405020304" pitchFamily="18" charset="0"/>
              </a:rPr>
              <a:t>．		</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zh-CN" altLang="en-US" sz="2400" dirty="0">
                <a:latin typeface="Times New Roman" panose="02020603050405020304" pitchFamily="18" charset="0"/>
              </a:rPr>
              <a:t>当前栈顶符号</a:t>
            </a:r>
            <a:r>
              <a:rPr lang="en-US" altLang="zh-CN" sz="2400" dirty="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4</a:t>
            </a:r>
            <a:r>
              <a:rPr lang="zh-CN" altLang="en-US" sz="2400" dirty="0">
                <a:latin typeface="Times New Roman" panose="02020603050405020304" pitchFamily="18" charset="0"/>
              </a:rPr>
              <a:t>．		</a:t>
            </a:r>
            <a:r>
              <a:rPr lang="en-US" altLang="zh-CN" sz="2400" i="1"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当前输入符号</a:t>
            </a:r>
            <a:r>
              <a:rPr lang="en-US" altLang="zh-CN" sz="2400" dirty="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5</a:t>
            </a:r>
            <a:r>
              <a:rPr lang="zh-CN" altLang="en-US" sz="2400" dirty="0">
                <a:latin typeface="Times New Roman" panose="02020603050405020304" pitchFamily="18" charset="0"/>
              </a:rPr>
              <a:t>．		</a:t>
            </a:r>
            <a:r>
              <a:rPr lang="en-US" altLang="zh-CN" sz="2400" dirty="0">
                <a:latin typeface="Times New Roman" panose="02020603050405020304" pitchFamily="18" charset="0"/>
              </a:rPr>
              <a:t>if </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en-US" altLang="zh-CN" sz="2400" i="1" dirty="0">
                <a:latin typeface="Times New Roman" panose="02020603050405020304" pitchFamily="18" charset="0"/>
              </a:rPr>
              <a:t>T</a:t>
            </a:r>
            <a:r>
              <a:rPr lang="en-US" altLang="zh-CN" sz="2400" dirty="0">
                <a:latin typeface="Times New Roman" panose="02020603050405020304" pitchFamily="18" charset="0"/>
              </a:rPr>
              <a:t>∪{#} then</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6</a:t>
            </a:r>
            <a:r>
              <a:rPr lang="zh-CN" altLang="en-US" sz="2400" dirty="0">
                <a:latin typeface="Times New Roman" panose="02020603050405020304" pitchFamily="18" charset="0"/>
              </a:rPr>
              <a:t>．		</a:t>
            </a:r>
            <a:r>
              <a:rPr lang="en-US" altLang="zh-CN" sz="2400" dirty="0">
                <a:latin typeface="Times New Roman" panose="02020603050405020304" pitchFamily="18" charset="0"/>
              </a:rPr>
              <a:t>	if </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en-US" altLang="zh-CN" sz="2400" i="1" dirty="0">
                <a:latin typeface="Times New Roman" panose="02020603050405020304" pitchFamily="18" charset="0"/>
              </a:rPr>
              <a:t>a</a:t>
            </a:r>
            <a:r>
              <a:rPr lang="en-US" altLang="zh-CN" sz="2400" dirty="0">
                <a:latin typeface="Times New Roman" panose="02020603050405020304" pitchFamily="18" charset="0"/>
              </a:rPr>
              <a:t> then</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7</a:t>
            </a:r>
            <a:r>
              <a:rPr lang="zh-CN" altLang="en-US" sz="2400" dirty="0">
                <a:latin typeface="Times New Roman" panose="02020603050405020304" pitchFamily="18" charset="0"/>
              </a:rPr>
              <a:t>．		      	</a:t>
            </a:r>
            <a:r>
              <a:rPr lang="en-US" altLang="zh-CN" sz="2400" dirty="0">
                <a:latin typeface="Times New Roman" panose="02020603050405020304" pitchFamily="18" charset="0"/>
              </a:rPr>
              <a:t>	if </a:t>
            </a:r>
            <a:r>
              <a:rPr lang="en-US" altLang="zh-CN" sz="2400" i="1" dirty="0">
                <a:latin typeface="Times New Roman" panose="02020603050405020304" pitchFamily="18" charset="0"/>
              </a:rPr>
              <a:t>X</a:t>
            </a:r>
            <a:r>
              <a:rPr lang="en-US" altLang="zh-CN" sz="2400" dirty="0">
                <a:latin typeface="Times New Roman" panose="02020603050405020304" pitchFamily="18" charset="0"/>
              </a:rPr>
              <a:t>≠# then begin</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8</a:t>
            </a:r>
            <a:r>
              <a:rPr lang="zh-CN" altLang="en-US" sz="2400" dirty="0">
                <a:latin typeface="Times New Roman" panose="02020603050405020304" pitchFamily="18" charset="0"/>
              </a:rPr>
              <a:t>．					将</a:t>
            </a:r>
            <a:r>
              <a:rPr lang="en-US" altLang="zh-CN" sz="2400" i="1" dirty="0">
                <a:latin typeface="Times New Roman" panose="02020603050405020304" pitchFamily="18" charset="0"/>
              </a:rPr>
              <a:t>X</a:t>
            </a:r>
            <a:r>
              <a:rPr lang="zh-CN" altLang="en-US" sz="2400" dirty="0">
                <a:latin typeface="Times New Roman" panose="02020603050405020304" pitchFamily="18" charset="0"/>
              </a:rPr>
              <a:t>弹出栈</a:t>
            </a:r>
            <a:r>
              <a:rPr lang="en-US" altLang="zh-CN" sz="2400" dirty="0">
                <a:latin typeface="Times New Roman" panose="02020603050405020304" pitchFamily="18" charset="0"/>
              </a:rPr>
              <a:t>;</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9</a:t>
            </a:r>
            <a:r>
              <a:rPr lang="zh-CN" altLang="en-US" sz="2400" dirty="0">
                <a:latin typeface="Times New Roman" panose="02020603050405020304" pitchFamily="18" charset="0"/>
              </a:rPr>
              <a:t>．					前移输入指针</a:t>
            </a:r>
          </a:p>
          <a:p>
            <a:pPr eaLnBrk="1" hangingPunct="1">
              <a:lnSpc>
                <a:spcPct val="80000"/>
              </a:lnSpc>
              <a:buFont typeface="Wingdings" panose="05000000000000000000" pitchFamily="2" charset="2"/>
              <a:buNone/>
            </a:pPr>
            <a:r>
              <a:rPr lang="en-US" altLang="zh-CN" sz="2400" dirty="0">
                <a:latin typeface="Times New Roman" panose="02020603050405020304" pitchFamily="18" charset="0"/>
              </a:rPr>
              <a:t>10</a:t>
            </a:r>
            <a:r>
              <a:rPr lang="zh-CN" altLang="en-US" sz="2400" dirty="0">
                <a:latin typeface="Times New Roman" panose="02020603050405020304" pitchFamily="18" charset="0"/>
              </a:rPr>
              <a:t>．					</a:t>
            </a:r>
            <a:r>
              <a:rPr lang="en-US" altLang="zh-CN" sz="2400" dirty="0">
                <a:latin typeface="Times New Roman" panose="02020603050405020304" pitchFamily="18" charset="0"/>
              </a:rPr>
              <a:t>end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C62C3FE-C00D-4D72-9895-0E0D8B757512}"/>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3ED14721-5FF6-4A56-B21A-124F35A9DAE1}" type="datetime1">
              <a:rPr lang="zh-CN" altLang="en-US" noProof="0" smtClean="0">
                <a:latin typeface="+mn-lt"/>
              </a:rPr>
              <a:pPr>
                <a:buFontTx/>
                <a:buNone/>
                <a:defRPr/>
              </a:pPr>
              <a:t>2025/6/26</a:t>
            </a:fld>
            <a:endParaRPr lang="en-US" altLang="zh-CN" noProof="0">
              <a:latin typeface="+mn-lt"/>
            </a:endParaRPr>
          </a:p>
        </p:txBody>
      </p:sp>
      <p:sp>
        <p:nvSpPr>
          <p:cNvPr id="66563" name="灯片编号占位符 5">
            <a:extLst>
              <a:ext uri="{FF2B5EF4-FFF2-40B4-BE49-F238E27FC236}">
                <a16:creationId xmlns:a16="http://schemas.microsoft.com/office/drawing/2014/main" id="{1E4B5787-1EF4-46C2-B825-0EAAF329CB14}"/>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B7E67AD8-396D-481E-A60B-C34AEC8D2B1E}" type="slidenum">
              <a:rPr lang="en-US" altLang="zh-CN" sz="1400">
                <a:latin typeface="Arial" panose="020B0604020202020204" pitchFamily="34" charset="0"/>
              </a:rPr>
              <a:pPr/>
              <a:t>20</a:t>
            </a:fld>
            <a:endParaRPr lang="en-US" altLang="zh-CN" sz="1400">
              <a:latin typeface="Arial" panose="020B0604020202020204" pitchFamily="34" charset="0"/>
            </a:endParaRPr>
          </a:p>
        </p:txBody>
      </p:sp>
      <p:sp>
        <p:nvSpPr>
          <p:cNvPr id="66564" name="Rectangle 2">
            <a:extLst>
              <a:ext uri="{FF2B5EF4-FFF2-40B4-BE49-F238E27FC236}">
                <a16:creationId xmlns:a16="http://schemas.microsoft.com/office/drawing/2014/main" id="{5757C7B3-1C33-488E-BC6D-AE91A341268C}"/>
              </a:ext>
            </a:extLst>
          </p:cNvPr>
          <p:cNvSpPr>
            <a:spLocks noGrp="1" noChangeArrowheads="1"/>
          </p:cNvSpPr>
          <p:nvPr>
            <p:ph type="title" idx="4294967295"/>
          </p:nvPr>
        </p:nvSpPr>
        <p:spPr>
          <a:xfrm>
            <a:off x="3000375" y="333375"/>
            <a:ext cx="6719888" cy="685800"/>
          </a:xfrm>
        </p:spPr>
        <p:txBody>
          <a:bodyPr anchor="ctr">
            <a:normAutofit fontScale="90000"/>
          </a:bodyPr>
          <a:lstStyle/>
          <a:p>
            <a:pPr eaLnBrk="1" hangingPunct="1"/>
            <a:r>
              <a:rPr lang="zh-CN" altLang="en-US"/>
              <a:t>预测分析程序的总控程序 </a:t>
            </a:r>
          </a:p>
        </p:txBody>
      </p:sp>
      <p:sp>
        <p:nvSpPr>
          <p:cNvPr id="66565" name="Rectangle 3">
            <a:extLst>
              <a:ext uri="{FF2B5EF4-FFF2-40B4-BE49-F238E27FC236}">
                <a16:creationId xmlns:a16="http://schemas.microsoft.com/office/drawing/2014/main" id="{6C3747A6-FDB2-48D2-BDBB-0171C9564D16}"/>
              </a:ext>
            </a:extLst>
          </p:cNvPr>
          <p:cNvSpPr>
            <a:spLocks noGrp="1" noChangeArrowheads="1"/>
          </p:cNvSpPr>
          <p:nvPr>
            <p:ph type="body" idx="4294967295"/>
          </p:nvPr>
        </p:nvSpPr>
        <p:spPr>
          <a:xfrm>
            <a:off x="1949450" y="1484313"/>
            <a:ext cx="8610600" cy="5256212"/>
          </a:xfrm>
        </p:spPr>
        <p:txBody>
          <a:bodyPr/>
          <a:lstStyle/>
          <a:p>
            <a:pPr eaLnBrk="1" hangingPunct="1">
              <a:buFont typeface="Wingdings" panose="05000000000000000000" pitchFamily="2" charset="2"/>
              <a:buNone/>
            </a:pPr>
            <a:r>
              <a:rPr lang="en-US" altLang="zh-CN">
                <a:latin typeface="Times New Roman" panose="02020603050405020304" pitchFamily="18" charset="0"/>
              </a:rPr>
              <a:t>11</a:t>
            </a:r>
            <a:r>
              <a:rPr lang="zh-CN" altLang="en-US">
                <a:latin typeface="Times New Roman" panose="02020603050405020304" pitchFamily="18" charset="0"/>
              </a:rPr>
              <a:t>．			</a:t>
            </a:r>
            <a:r>
              <a:rPr lang="en-US" altLang="zh-CN">
                <a:latin typeface="Times New Roman" panose="02020603050405020304" pitchFamily="18" charset="0"/>
              </a:rPr>
              <a:t>else error</a:t>
            </a:r>
          </a:p>
          <a:p>
            <a:pPr eaLnBrk="1" hangingPunct="1">
              <a:buFont typeface="Wingdings" panose="05000000000000000000" pitchFamily="2" charset="2"/>
              <a:buNone/>
            </a:pPr>
            <a:r>
              <a:rPr lang="en-US" altLang="zh-CN">
                <a:latin typeface="Times New Roman" panose="02020603050405020304" pitchFamily="18" charset="0"/>
              </a:rPr>
              <a:t>12</a:t>
            </a:r>
            <a:r>
              <a:rPr lang="zh-CN" altLang="en-US">
                <a:latin typeface="Times New Roman" panose="02020603050405020304" pitchFamily="18" charset="0"/>
              </a:rPr>
              <a:t>．		</a:t>
            </a:r>
            <a:r>
              <a:rPr lang="en-US" altLang="zh-CN">
                <a:latin typeface="Times New Roman" panose="02020603050405020304" pitchFamily="18" charset="0"/>
              </a:rPr>
              <a:t>else </a:t>
            </a:r>
          </a:p>
          <a:p>
            <a:pPr eaLnBrk="1" hangingPunct="1">
              <a:buFont typeface="Wingdings" panose="05000000000000000000" pitchFamily="2" charset="2"/>
              <a:buNone/>
            </a:pPr>
            <a:r>
              <a:rPr lang="en-US" altLang="zh-CN">
                <a:latin typeface="Times New Roman" panose="02020603050405020304" pitchFamily="18" charset="0"/>
              </a:rPr>
              <a:t>13</a:t>
            </a:r>
            <a:r>
              <a:rPr lang="zh-CN" altLang="en-US">
                <a:latin typeface="Times New Roman" panose="02020603050405020304" pitchFamily="18" charset="0"/>
              </a:rPr>
              <a:t>．			</a:t>
            </a:r>
            <a:r>
              <a:rPr lang="en-US" altLang="zh-CN">
                <a:latin typeface="Times New Roman" panose="02020603050405020304" pitchFamily="18" charset="0"/>
              </a:rPr>
              <a:t>if </a:t>
            </a:r>
            <a:r>
              <a:rPr lang="en-US" altLang="zh-CN" i="1">
                <a:latin typeface="Times New Roman" panose="02020603050405020304" pitchFamily="18" charset="0"/>
              </a:rPr>
              <a:t>M</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 X</a:t>
            </a:r>
            <a:r>
              <a:rPr lang="en-US" altLang="zh-CN">
                <a:latin typeface="Times New Roman" panose="02020603050405020304" pitchFamily="18" charset="0"/>
              </a:rPr>
              <a:t>→ </a:t>
            </a:r>
            <a:r>
              <a:rPr lang="en-US" altLang="zh-CN" i="1">
                <a:latin typeface="Times New Roman" panose="02020603050405020304" pitchFamily="18" charset="0"/>
              </a:rPr>
              <a:t>Y</a:t>
            </a:r>
            <a:r>
              <a:rPr lang="en-US" altLang="zh-CN" baseline="-25000">
                <a:latin typeface="Times New Roman" panose="02020603050405020304" pitchFamily="18" charset="0"/>
              </a:rPr>
              <a:t>1</a:t>
            </a:r>
            <a:r>
              <a:rPr lang="en-US" altLang="zh-CN" i="1">
                <a:latin typeface="Times New Roman" panose="02020603050405020304" pitchFamily="18" charset="0"/>
              </a:rPr>
              <a:t>Y</a:t>
            </a:r>
            <a:r>
              <a:rPr lang="en-US" altLang="zh-CN" baseline="-25000">
                <a:latin typeface="Times New Roman" panose="02020603050405020304" pitchFamily="18" charset="0"/>
              </a:rPr>
              <a:t>2</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i="1" baseline="-25000">
                <a:latin typeface="Times New Roman" panose="02020603050405020304" pitchFamily="18" charset="0"/>
              </a:rPr>
              <a:t>k</a:t>
            </a:r>
            <a:r>
              <a:rPr lang="en-US" altLang="zh-CN">
                <a:latin typeface="Times New Roman" panose="02020603050405020304" pitchFamily="18" charset="0"/>
              </a:rPr>
              <a:t> then begin</a:t>
            </a:r>
          </a:p>
          <a:p>
            <a:pPr eaLnBrk="1" hangingPunct="1">
              <a:buFont typeface="Wingdings" panose="05000000000000000000" pitchFamily="2" charset="2"/>
              <a:buNone/>
            </a:pPr>
            <a:r>
              <a:rPr lang="en-US" altLang="zh-CN">
                <a:latin typeface="Times New Roman" panose="02020603050405020304" pitchFamily="18" charset="0"/>
              </a:rPr>
              <a:t>14</a:t>
            </a:r>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将</a:t>
            </a:r>
            <a:r>
              <a:rPr lang="en-US" altLang="zh-CN" i="1">
                <a:latin typeface="Times New Roman" panose="02020603050405020304" pitchFamily="18" charset="0"/>
              </a:rPr>
              <a:t>X</a:t>
            </a:r>
            <a:r>
              <a:rPr lang="zh-CN" altLang="en-US">
                <a:latin typeface="Times New Roman" panose="02020603050405020304" pitchFamily="18" charset="0"/>
              </a:rPr>
              <a:t>弹出栈</a:t>
            </a:r>
            <a:r>
              <a:rPr lang="en-US" altLang="zh-CN">
                <a:latin typeface="Times New Roman" panose="02020603050405020304" pitchFamily="18" charset="0"/>
              </a:rPr>
              <a:t>;</a:t>
            </a:r>
          </a:p>
          <a:p>
            <a:pPr eaLnBrk="1" hangingPunct="1">
              <a:buFont typeface="Wingdings" panose="05000000000000000000" pitchFamily="2" charset="2"/>
              <a:buNone/>
            </a:pPr>
            <a:r>
              <a:rPr lang="en-US" altLang="zh-CN">
                <a:latin typeface="Times New Roman" panose="02020603050405020304" pitchFamily="18" charset="0"/>
              </a:rPr>
              <a:t>15</a:t>
            </a:r>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依次将</a:t>
            </a:r>
            <a:r>
              <a:rPr lang="en-US" altLang="zh-CN" i="1">
                <a:latin typeface="Times New Roman" panose="02020603050405020304" pitchFamily="18" charset="0"/>
              </a:rPr>
              <a:t>Y</a:t>
            </a:r>
            <a:r>
              <a:rPr lang="en-US" altLang="zh-CN" i="1" baseline="-25000">
                <a:latin typeface="Times New Roman" panose="02020603050405020304" pitchFamily="18" charset="0"/>
              </a:rPr>
              <a:t>k</a:t>
            </a:r>
            <a:r>
              <a:rPr lang="zh-CN" altLang="en-US" i="1">
                <a:latin typeface="Times New Roman" panose="02020603050405020304" pitchFamily="18" charset="0"/>
              </a:rPr>
              <a:t>，</a:t>
            </a:r>
            <a:r>
              <a:rPr lang="en-US" altLang="zh-CN">
                <a:latin typeface="Times New Roman" panose="02020603050405020304" pitchFamily="18" charset="0"/>
              </a:rPr>
              <a:t>…</a:t>
            </a:r>
            <a:r>
              <a:rPr lang="zh-CN" altLang="en-US">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2</a:t>
            </a:r>
            <a:r>
              <a:rPr lang="zh-CN" altLang="en-US">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1</a:t>
            </a:r>
            <a:r>
              <a:rPr lang="zh-CN" altLang="en-US">
                <a:latin typeface="Times New Roman" panose="02020603050405020304" pitchFamily="18" charset="0"/>
              </a:rPr>
              <a:t>压入栈</a:t>
            </a:r>
            <a:r>
              <a:rPr lang="en-US" altLang="zh-CN">
                <a:latin typeface="Times New Roman" panose="02020603050405020304" pitchFamily="18" charset="0"/>
              </a:rPr>
              <a:t>;</a:t>
            </a:r>
          </a:p>
          <a:p>
            <a:pPr eaLnBrk="1" hangingPunct="1">
              <a:buFont typeface="Wingdings" panose="05000000000000000000" pitchFamily="2" charset="2"/>
              <a:buNone/>
            </a:pPr>
            <a:r>
              <a:rPr lang="en-US" altLang="zh-CN">
                <a:latin typeface="Times New Roman" panose="02020603050405020304" pitchFamily="18" charset="0"/>
              </a:rPr>
              <a:t>16</a:t>
            </a:r>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输出产生式</a:t>
            </a:r>
            <a:r>
              <a:rPr lang="en-US" altLang="zh-CN" i="1">
                <a:latin typeface="Times New Roman" panose="02020603050405020304" pitchFamily="18" charset="0"/>
              </a:rPr>
              <a:t>X</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baseline="-25000">
                <a:latin typeface="Times New Roman" panose="02020603050405020304" pitchFamily="18" charset="0"/>
              </a:rPr>
              <a:t>1</a:t>
            </a:r>
            <a:r>
              <a:rPr lang="en-US" altLang="zh-CN" i="1">
                <a:latin typeface="Times New Roman" panose="02020603050405020304" pitchFamily="18" charset="0"/>
              </a:rPr>
              <a:t>Y</a:t>
            </a:r>
            <a:r>
              <a:rPr lang="en-US" altLang="zh-CN" baseline="-25000">
                <a:latin typeface="Times New Roman" panose="02020603050405020304" pitchFamily="18" charset="0"/>
              </a:rPr>
              <a:t>2</a:t>
            </a:r>
            <a:r>
              <a:rPr lang="en-US" altLang="zh-CN">
                <a:latin typeface="Times New Roman" panose="02020603050405020304" pitchFamily="18" charset="0"/>
              </a:rPr>
              <a:t>…</a:t>
            </a:r>
            <a:r>
              <a:rPr lang="en-US" altLang="zh-CN" i="1">
                <a:latin typeface="Times New Roman" panose="02020603050405020304" pitchFamily="18" charset="0"/>
              </a:rPr>
              <a:t>Y</a:t>
            </a:r>
            <a:r>
              <a:rPr lang="en-US" altLang="zh-CN" i="1" baseline="-25000">
                <a:latin typeface="Times New Roman" panose="02020603050405020304" pitchFamily="18" charset="0"/>
              </a:rPr>
              <a:t>k</a:t>
            </a:r>
            <a:endParaRPr lang="en-US" altLang="zh-CN" baseline="-25000">
              <a:latin typeface="Times New Roman" panose="02020603050405020304" pitchFamily="18" charset="0"/>
            </a:endParaRPr>
          </a:p>
          <a:p>
            <a:pPr eaLnBrk="1" hangingPunct="1">
              <a:buFont typeface="Wingdings" panose="05000000000000000000" pitchFamily="2" charset="2"/>
              <a:buNone/>
            </a:pPr>
            <a:r>
              <a:rPr lang="en-US" altLang="zh-CN">
                <a:latin typeface="Times New Roman" panose="02020603050405020304" pitchFamily="18" charset="0"/>
              </a:rPr>
              <a:t>17</a:t>
            </a:r>
            <a:r>
              <a:rPr lang="zh-CN" altLang="en-US">
                <a:latin typeface="Times New Roman" panose="02020603050405020304" pitchFamily="18" charset="0"/>
              </a:rPr>
              <a:t>．			</a:t>
            </a:r>
            <a:r>
              <a:rPr lang="en-US" altLang="zh-CN">
                <a:latin typeface="Times New Roman" panose="02020603050405020304" pitchFamily="18" charset="0"/>
              </a:rPr>
              <a:t>	end</a:t>
            </a:r>
          </a:p>
          <a:p>
            <a:pPr eaLnBrk="1" hangingPunct="1">
              <a:buFont typeface="Wingdings" panose="05000000000000000000" pitchFamily="2" charset="2"/>
              <a:buNone/>
            </a:pPr>
            <a:r>
              <a:rPr lang="en-US" altLang="zh-CN">
                <a:latin typeface="Times New Roman" panose="02020603050405020304" pitchFamily="18" charset="0"/>
              </a:rPr>
              <a:t>18</a:t>
            </a:r>
            <a:r>
              <a:rPr lang="zh-CN" altLang="en-US">
                <a:latin typeface="Times New Roman" panose="02020603050405020304" pitchFamily="18" charset="0"/>
              </a:rPr>
              <a:t>．			</a:t>
            </a:r>
            <a:r>
              <a:rPr lang="en-US" altLang="zh-CN">
                <a:latin typeface="Times New Roman" panose="02020603050405020304" pitchFamily="18" charset="0"/>
              </a:rPr>
              <a:t>else error</a:t>
            </a:r>
          </a:p>
          <a:p>
            <a:pPr eaLnBrk="1" hangingPunct="1">
              <a:buFont typeface="Wingdings" panose="05000000000000000000" pitchFamily="2" charset="2"/>
              <a:buNone/>
            </a:pPr>
            <a:r>
              <a:rPr lang="en-US" altLang="zh-CN">
                <a:latin typeface="Times New Roman" panose="02020603050405020304" pitchFamily="18" charset="0"/>
              </a:rPr>
              <a:t>19</a:t>
            </a:r>
            <a:r>
              <a:rPr lang="zh-CN" altLang="en-US">
                <a:latin typeface="Times New Roman" panose="02020603050405020304" pitchFamily="18" charset="0"/>
              </a:rPr>
              <a:t>．</a:t>
            </a:r>
            <a:r>
              <a:rPr lang="en-US" altLang="zh-CN">
                <a:latin typeface="Times New Roman" panose="02020603050405020304" pitchFamily="18" charset="0"/>
              </a:rPr>
              <a:t>until </a:t>
            </a:r>
            <a:r>
              <a:rPr lang="en-US" altLang="zh-CN" i="1">
                <a:latin typeface="Times New Roman" panose="02020603050405020304" pitchFamily="18" charset="0"/>
              </a:rPr>
              <a:t>X</a:t>
            </a:r>
            <a:r>
              <a:rPr lang="en-US" altLang="zh-CN">
                <a:latin typeface="Times New Roman" panose="02020603050405020304" pitchFamily="18"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a:extLst>
              <a:ext uri="{FF2B5EF4-FFF2-40B4-BE49-F238E27FC236}">
                <a16:creationId xmlns:a16="http://schemas.microsoft.com/office/drawing/2014/main" id="{4D75AF13-1DBE-4487-A94C-C7D980F2ECA2}"/>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A07DD514-F12D-483D-9BEF-FB7389DF0A60}" type="datetime1">
              <a:rPr lang="zh-CN" altLang="en-US" noProof="0" smtClean="0">
                <a:latin typeface="+mn-lt"/>
              </a:rPr>
              <a:pPr>
                <a:buFontTx/>
                <a:buNone/>
                <a:defRPr/>
              </a:pPr>
              <a:t>2025/6/26</a:t>
            </a:fld>
            <a:endParaRPr lang="en-US" altLang="zh-CN" noProof="0">
              <a:latin typeface="+mn-lt"/>
            </a:endParaRPr>
          </a:p>
        </p:txBody>
      </p:sp>
      <p:sp>
        <p:nvSpPr>
          <p:cNvPr id="67587" name="灯片编号占位符 5">
            <a:extLst>
              <a:ext uri="{FF2B5EF4-FFF2-40B4-BE49-F238E27FC236}">
                <a16:creationId xmlns:a16="http://schemas.microsoft.com/office/drawing/2014/main" id="{E32974B9-ADC7-424D-89B8-977144D86DD1}"/>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E1F4AF3C-1B53-4F63-8B0E-442C14EF3244}" type="slidenum">
              <a:rPr lang="en-US" altLang="zh-CN" sz="1400">
                <a:latin typeface="Arial" panose="020B0604020202020204" pitchFamily="34" charset="0"/>
              </a:rPr>
              <a:pPr/>
              <a:t>21</a:t>
            </a:fld>
            <a:endParaRPr lang="en-US" altLang="zh-CN" sz="1400">
              <a:latin typeface="Arial" panose="020B0604020202020204" pitchFamily="34" charset="0"/>
            </a:endParaRPr>
          </a:p>
        </p:txBody>
      </p:sp>
      <p:sp>
        <p:nvSpPr>
          <p:cNvPr id="67588" name="Rectangle 2">
            <a:extLst>
              <a:ext uri="{FF2B5EF4-FFF2-40B4-BE49-F238E27FC236}">
                <a16:creationId xmlns:a16="http://schemas.microsoft.com/office/drawing/2014/main" id="{209417CC-135E-4F5A-AD62-94B594733508}"/>
              </a:ext>
            </a:extLst>
          </p:cNvPr>
          <p:cNvSpPr>
            <a:spLocks noGrp="1" noChangeArrowheads="1"/>
          </p:cNvSpPr>
          <p:nvPr>
            <p:ph type="body" idx="4294967295"/>
          </p:nvPr>
        </p:nvSpPr>
        <p:spPr>
          <a:xfrm>
            <a:off x="2722564" y="1657351"/>
            <a:ext cx="7458075" cy="3260725"/>
          </a:xfrm>
        </p:spPr>
        <p:txBody>
          <a:bodyPr/>
          <a:lstStyle/>
          <a:p>
            <a:pPr eaLnBrk="1" hangingPunct="1">
              <a:lnSpc>
                <a:spcPct val="110000"/>
              </a:lnSpc>
              <a:buFont typeface="Wingdings" panose="05000000000000000000" pitchFamily="2" charset="2"/>
              <a:buNone/>
            </a:pPr>
            <a:r>
              <a:rPr lang="en-US" altLang="zh-CN" sz="2400">
                <a:latin typeface="Times New Roman" panose="02020603050405020304" pitchFamily="18" charset="0"/>
              </a:rPr>
              <a:t>FOLLOW( E')={ ), # }</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FOLLOW( T')={ +, ), # }</a:t>
            </a:r>
          </a:p>
          <a:p>
            <a:pPr eaLnBrk="1" hangingPunct="1">
              <a:lnSpc>
                <a:spcPct val="110000"/>
              </a:lnSpc>
              <a:buFont typeface="Wingdings" panose="05000000000000000000" pitchFamily="2" charset="2"/>
              <a:buNone/>
            </a:pPr>
            <a:endParaRPr lang="en-US" altLang="zh-CN" sz="2400">
              <a:latin typeface="Times New Roman" panose="02020603050405020304" pitchFamily="18" charset="0"/>
            </a:endParaRP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FIRST(TE')={(,id}        FIRST(+TE')={+}</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FIRST(FT')={(,id}        FIRST(*FT')={*}</a:t>
            </a:r>
          </a:p>
          <a:p>
            <a:pPr eaLnBrk="1" hangingPunct="1">
              <a:lnSpc>
                <a:spcPct val="110000"/>
              </a:lnSpc>
              <a:buFont typeface="Wingdings" panose="05000000000000000000" pitchFamily="2" charset="2"/>
              <a:buNone/>
            </a:pPr>
            <a:r>
              <a:rPr lang="en-US" altLang="zh-CN" sz="2400">
                <a:latin typeface="Times New Roman" panose="02020603050405020304" pitchFamily="18" charset="0"/>
              </a:rPr>
              <a:t>FIRST((E))={(} 	    FIRST(id)={id}</a:t>
            </a:r>
          </a:p>
        </p:txBody>
      </p:sp>
      <p:sp>
        <p:nvSpPr>
          <p:cNvPr id="1153027" name="Text Box 3">
            <a:extLst>
              <a:ext uri="{FF2B5EF4-FFF2-40B4-BE49-F238E27FC236}">
                <a16:creationId xmlns:a16="http://schemas.microsoft.com/office/drawing/2014/main" id="{7524575F-BFAA-4C56-A7A9-080D9E3DB235}"/>
              </a:ext>
            </a:extLst>
          </p:cNvPr>
          <p:cNvSpPr txBox="1">
            <a:spLocks noChangeArrowheads="1"/>
          </p:cNvSpPr>
          <p:nvPr/>
        </p:nvSpPr>
        <p:spPr bwMode="auto">
          <a:xfrm>
            <a:off x="2279650" y="4797426"/>
            <a:ext cx="6629400" cy="1176349"/>
          </a:xfrm>
          <a:prstGeom prst="rect">
            <a:avLst/>
          </a:prstGeom>
          <a:noFill/>
          <a:ln w="9525">
            <a:noFill/>
            <a:miter lim="800000"/>
          </a:ln>
          <a:effectLst/>
        </p:spPr>
        <p:txBody>
          <a:bodyPr lIns="92075" tIns="46038" rIns="92075" bIns="46038">
            <a:spAutoFit/>
          </a:bodyPr>
          <a:lstStyle/>
          <a:p>
            <a:pPr>
              <a:spcBef>
                <a:spcPct val="20000"/>
              </a:spcBef>
              <a:buClr>
                <a:schemeClr val="tx2"/>
              </a:buClr>
              <a:buSzPct val="75000"/>
              <a:buFont typeface="Monotype Sorts" pitchFamily="2" charset="2"/>
              <a:buNone/>
              <a:defRPr/>
            </a:pPr>
            <a:r>
              <a:rPr kumimoji="1" lang="en-US" altLang="zh-CN" sz="3200" b="1" dirty="0">
                <a:solidFill>
                  <a:srgbClr val="FF0000"/>
                </a:solidFill>
                <a:effectLst>
                  <a:outerShdw blurRad="38100" dist="38100" dir="2700000" algn="tl">
                    <a:srgbClr val="000000"/>
                  </a:outerShdw>
                </a:effectLst>
              </a:rPr>
              <a:t>E→TE' 	E'→+</a:t>
            </a:r>
            <a:r>
              <a:rPr kumimoji="1" lang="en-US" altLang="zh-CN" sz="3200" b="1" dirty="0" err="1">
                <a:solidFill>
                  <a:srgbClr val="FF0000"/>
                </a:solidFill>
                <a:effectLst>
                  <a:outerShdw blurRad="38100" dist="38100" dir="2700000" algn="tl">
                    <a:srgbClr val="000000"/>
                  </a:outerShdw>
                </a:effectLst>
              </a:rPr>
              <a:t>TE’|ε</a:t>
            </a:r>
            <a:r>
              <a:rPr kumimoji="1" lang="en-US" altLang="zh-CN" sz="3200" b="1" dirty="0">
                <a:solidFill>
                  <a:srgbClr val="FF0000"/>
                </a:solidFill>
                <a:effectLst>
                  <a:outerShdw blurRad="38100" dist="38100" dir="2700000" algn="tl">
                    <a:srgbClr val="000000"/>
                  </a:outerShdw>
                </a:effectLst>
              </a:rPr>
              <a:t> 	T→FT'        </a:t>
            </a:r>
          </a:p>
          <a:p>
            <a:pPr>
              <a:spcBef>
                <a:spcPct val="20000"/>
              </a:spcBef>
              <a:buClr>
                <a:schemeClr val="tx2"/>
              </a:buClr>
              <a:buSzPct val="75000"/>
              <a:buFont typeface="Monotype Sorts" pitchFamily="2" charset="2"/>
              <a:buNone/>
              <a:defRPr/>
            </a:pPr>
            <a:r>
              <a:rPr kumimoji="1" lang="en-US" altLang="zh-CN" sz="3200" b="1" dirty="0">
                <a:solidFill>
                  <a:srgbClr val="FF0000"/>
                </a:solidFill>
                <a:effectLst>
                  <a:outerShdw blurRad="38100" dist="38100" dir="2700000" algn="tl">
                    <a:srgbClr val="000000"/>
                  </a:outerShdw>
                </a:effectLst>
              </a:rPr>
              <a:t>T'→*</a:t>
            </a:r>
            <a:r>
              <a:rPr kumimoji="1" lang="en-US" altLang="zh-CN" sz="3200" b="1" dirty="0" err="1">
                <a:solidFill>
                  <a:srgbClr val="FF0000"/>
                </a:solidFill>
                <a:effectLst>
                  <a:outerShdw blurRad="38100" dist="38100" dir="2700000" algn="tl">
                    <a:srgbClr val="000000"/>
                  </a:outerShdw>
                </a:effectLst>
              </a:rPr>
              <a:t>FT’|ε</a:t>
            </a:r>
            <a:r>
              <a:rPr kumimoji="1" lang="en-US" altLang="zh-CN" sz="3200" b="1" dirty="0">
                <a:solidFill>
                  <a:srgbClr val="FF0000"/>
                </a:solidFill>
                <a:effectLst>
                  <a:outerShdw blurRad="38100" dist="38100" dir="2700000" algn="tl">
                    <a:srgbClr val="000000"/>
                  </a:outerShdw>
                </a:effectLst>
              </a:rPr>
              <a:t>  		F→(E)|id</a:t>
            </a:r>
            <a:endParaRPr kumimoji="1" lang="en-US" altLang="zh-CN" sz="2800" b="1" dirty="0">
              <a:solidFill>
                <a:srgbClr val="FF0000"/>
              </a:solidFill>
              <a:effectLst>
                <a:outerShdw blurRad="38100" dist="38100" dir="2700000" algn="tl">
                  <a:srgbClr val="000000"/>
                </a:outerShdw>
              </a:effectLst>
            </a:endParaRPr>
          </a:p>
        </p:txBody>
      </p:sp>
      <p:sp>
        <p:nvSpPr>
          <p:cNvPr id="67590" name="Rectangle 4">
            <a:extLst>
              <a:ext uri="{FF2B5EF4-FFF2-40B4-BE49-F238E27FC236}">
                <a16:creationId xmlns:a16="http://schemas.microsoft.com/office/drawing/2014/main" id="{25914E89-6DFB-41E4-8995-C5A717F74EAA}"/>
              </a:ext>
            </a:extLst>
          </p:cNvPr>
          <p:cNvSpPr>
            <a:spLocks noGrp="1" noChangeArrowheads="1"/>
          </p:cNvSpPr>
          <p:nvPr>
            <p:ph type="title" idx="4294967295"/>
          </p:nvPr>
        </p:nvSpPr>
        <p:spPr>
          <a:xfrm>
            <a:off x="2424114" y="333376"/>
            <a:ext cx="8243887" cy="862013"/>
          </a:xfrm>
        </p:spPr>
        <p:txBody>
          <a:bodyPr anchor="ctr"/>
          <a:lstStyle/>
          <a:p>
            <a:pPr eaLnBrk="1" hangingPunct="1"/>
            <a:r>
              <a:rPr lang="zh-CN" altLang="en-US" sz="3600">
                <a:latin typeface="Times New Roman" panose="02020603050405020304" pitchFamily="18" charset="0"/>
              </a:rPr>
              <a:t>例</a:t>
            </a:r>
            <a:r>
              <a:rPr lang="en-US" altLang="zh-CN" sz="3600">
                <a:latin typeface="Times New Roman" panose="02020603050405020304" pitchFamily="18" charset="0"/>
              </a:rPr>
              <a:t>4.10</a:t>
            </a:r>
            <a:r>
              <a:rPr lang="en-US" altLang="zh-CN" sz="3600"/>
              <a:t> </a:t>
            </a:r>
            <a:r>
              <a:rPr lang="zh-CN" altLang="en-US" sz="3600"/>
              <a:t>考虑简单算术表达式文法的实现</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28EB3A7-DCA6-4786-A12E-EE1639E122CD}"/>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C6C700B3-CCD1-4E2A-91EF-4F05FC073F3A}" type="datetime1">
              <a:rPr lang="zh-CN" altLang="en-US" noProof="0" smtClean="0">
                <a:latin typeface="+mn-lt"/>
              </a:rPr>
              <a:pPr>
                <a:buFontTx/>
                <a:buNone/>
                <a:defRPr/>
              </a:pPr>
              <a:t>2025/6/26</a:t>
            </a:fld>
            <a:endParaRPr lang="en-US" altLang="zh-CN" noProof="0">
              <a:latin typeface="+mn-lt"/>
            </a:endParaRPr>
          </a:p>
        </p:txBody>
      </p:sp>
      <p:sp>
        <p:nvSpPr>
          <p:cNvPr id="9220" name="灯片编号占位符 5">
            <a:extLst>
              <a:ext uri="{FF2B5EF4-FFF2-40B4-BE49-F238E27FC236}">
                <a16:creationId xmlns:a16="http://schemas.microsoft.com/office/drawing/2014/main" id="{85D8F161-8471-425C-A24A-45F013FD818E}"/>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900B5CBB-41B3-44F5-9228-82E253F8E58D}" type="slidenum">
              <a:rPr lang="en-US" altLang="zh-CN" sz="1400">
                <a:latin typeface="Arial" panose="020B0604020202020204" pitchFamily="34" charset="0"/>
              </a:rPr>
              <a:pPr/>
              <a:t>22</a:t>
            </a:fld>
            <a:endParaRPr lang="en-US" altLang="zh-CN" sz="1400">
              <a:latin typeface="Arial" panose="020B0604020202020204" pitchFamily="34" charset="0"/>
            </a:endParaRPr>
          </a:p>
        </p:txBody>
      </p:sp>
      <p:sp>
        <p:nvSpPr>
          <p:cNvPr id="9221" name="Rectangle 2">
            <a:extLst>
              <a:ext uri="{FF2B5EF4-FFF2-40B4-BE49-F238E27FC236}">
                <a16:creationId xmlns:a16="http://schemas.microsoft.com/office/drawing/2014/main" id="{F1F5B66F-35C4-43F5-A239-75CF5932C2CA}"/>
              </a:ext>
            </a:extLst>
          </p:cNvPr>
          <p:cNvSpPr>
            <a:spLocks noGrp="1" noChangeArrowheads="1"/>
          </p:cNvSpPr>
          <p:nvPr>
            <p:ph type="title" idx="4294967295"/>
          </p:nvPr>
        </p:nvSpPr>
        <p:spPr>
          <a:xfrm>
            <a:off x="2927350" y="260351"/>
            <a:ext cx="7272338" cy="792163"/>
          </a:xfrm>
        </p:spPr>
        <p:txBody>
          <a:bodyPr vert="horz" lIns="92075" tIns="46038" rIns="92075" bIns="46038" rtlCol="0" anchor="ctr">
            <a:normAutofit/>
          </a:bodyPr>
          <a:lstStyle/>
          <a:p>
            <a:pPr eaLnBrk="1" hangingPunct="1"/>
            <a:r>
              <a:rPr lang="zh-CN" altLang="en-US" sz="3600"/>
              <a:t>简单算术表达式文法的预测分析表</a:t>
            </a:r>
          </a:p>
        </p:txBody>
      </p:sp>
      <p:graphicFrame>
        <p:nvGraphicFramePr>
          <p:cNvPr id="24578" name="Object 3">
            <a:extLst>
              <a:ext uri="{FF2B5EF4-FFF2-40B4-BE49-F238E27FC236}">
                <a16:creationId xmlns:a16="http://schemas.microsoft.com/office/drawing/2014/main" id="{964C97AA-FBAE-4053-B0C9-2917C83AF8E8}"/>
              </a:ext>
            </a:extLst>
          </p:cNvPr>
          <p:cNvGraphicFramePr>
            <a:graphicFrameLocks/>
          </p:cNvGraphicFramePr>
          <p:nvPr/>
        </p:nvGraphicFramePr>
        <p:xfrm>
          <a:off x="1858964" y="1563688"/>
          <a:ext cx="8435975" cy="4984750"/>
        </p:xfrm>
        <a:graphic>
          <a:graphicData uri="http://schemas.openxmlformats.org/presentationml/2006/ole">
            <mc:AlternateContent xmlns:mc="http://schemas.openxmlformats.org/markup-compatibility/2006">
              <mc:Choice xmlns:v="urn:schemas-microsoft-com:vml" Requires="v">
                <p:oleObj spid="_x0000_s5129" name="Document" r:id="rId4" imgW="7996543" imgH="4730484" progId="Word.Document.8">
                  <p:embed/>
                </p:oleObj>
              </mc:Choice>
              <mc:Fallback>
                <p:oleObj name="Document" r:id="rId4" imgW="7996543" imgH="4730484" progId="Word.Document.8">
                  <p:embed/>
                  <p:pic>
                    <p:nvPicPr>
                      <p:cNvPr id="24578" name="Object 3">
                        <a:extLst>
                          <a:ext uri="{FF2B5EF4-FFF2-40B4-BE49-F238E27FC236}">
                            <a16:creationId xmlns:a16="http://schemas.microsoft.com/office/drawing/2014/main" id="{964C97AA-FBAE-4053-B0C9-2917C83AF8E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8964" y="1563688"/>
                        <a:ext cx="8435975"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slide(fromBottom)">
                                      <p:cBhvr>
                                        <p:cTn id="7" dur="500"/>
                                        <p:tgtEl>
                                          <p:spTgt spid="24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CED2005-7E6C-4DCC-BB33-995277C69602}"/>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319B04AC-6AA8-4AF5-9D60-506B0025A8F0}" type="datetime1">
              <a:rPr lang="zh-CN" altLang="en-US" noProof="0" smtClean="0">
                <a:latin typeface="+mn-lt"/>
              </a:rPr>
              <a:pPr>
                <a:buFontTx/>
                <a:buNone/>
                <a:defRPr/>
              </a:pPr>
              <a:t>2025/6/26</a:t>
            </a:fld>
            <a:endParaRPr lang="en-US" altLang="zh-CN" noProof="0">
              <a:latin typeface="+mn-lt"/>
            </a:endParaRPr>
          </a:p>
        </p:txBody>
      </p:sp>
      <p:sp>
        <p:nvSpPr>
          <p:cNvPr id="68611" name="灯片编号占位符 5">
            <a:extLst>
              <a:ext uri="{FF2B5EF4-FFF2-40B4-BE49-F238E27FC236}">
                <a16:creationId xmlns:a16="http://schemas.microsoft.com/office/drawing/2014/main" id="{0806702C-36DE-488D-881F-387B33957717}"/>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604A156B-E08D-4E9A-ADE6-FECABFD0C7B7}" type="slidenum">
              <a:rPr lang="en-US" altLang="zh-CN" sz="1400">
                <a:latin typeface="Arial" panose="020B0604020202020204" pitchFamily="34" charset="0"/>
              </a:rPr>
              <a:pPr/>
              <a:t>23</a:t>
            </a:fld>
            <a:endParaRPr lang="en-US" altLang="zh-CN" sz="1400">
              <a:latin typeface="Arial" panose="020B0604020202020204" pitchFamily="34" charset="0"/>
            </a:endParaRPr>
          </a:p>
        </p:txBody>
      </p:sp>
      <p:sp>
        <p:nvSpPr>
          <p:cNvPr id="68612" name="Rectangle 2">
            <a:extLst>
              <a:ext uri="{FF2B5EF4-FFF2-40B4-BE49-F238E27FC236}">
                <a16:creationId xmlns:a16="http://schemas.microsoft.com/office/drawing/2014/main" id="{6616CF32-31B1-410D-8137-989810175DD1}"/>
              </a:ext>
            </a:extLst>
          </p:cNvPr>
          <p:cNvSpPr>
            <a:spLocks noGrp="1" noChangeArrowheads="1"/>
          </p:cNvSpPr>
          <p:nvPr>
            <p:ph type="title" idx="4294967295"/>
          </p:nvPr>
        </p:nvSpPr>
        <p:spPr>
          <a:xfrm>
            <a:off x="2568575" y="188914"/>
            <a:ext cx="8064500" cy="1068387"/>
          </a:xfrm>
        </p:spPr>
        <p:txBody>
          <a:bodyPr vert="horz" lIns="92075" tIns="46038" rIns="92075" bIns="46038" rtlCol="0" anchor="ctr">
            <a:normAutofit/>
          </a:bodyPr>
          <a:lstStyle/>
          <a:p>
            <a:pPr eaLnBrk="1" hangingPunct="1"/>
            <a:r>
              <a:rPr lang="zh-CN" altLang="en-US" sz="4000"/>
              <a:t>对输入</a:t>
            </a:r>
            <a:r>
              <a:rPr lang="zh-CN" altLang="en-US" sz="4000">
                <a:latin typeface="Times New Roman" panose="02020603050405020304" pitchFamily="18" charset="0"/>
              </a:rPr>
              <a:t>串</a:t>
            </a:r>
            <a:r>
              <a:rPr lang="en-US" altLang="zh-CN" sz="4000">
                <a:latin typeface="Times New Roman" panose="02020603050405020304" pitchFamily="18" charset="0"/>
              </a:rPr>
              <a:t>id+id*id</a:t>
            </a:r>
            <a:r>
              <a:rPr lang="zh-CN" altLang="en-US" sz="4000">
                <a:latin typeface="Times New Roman" panose="02020603050405020304" pitchFamily="18" charset="0"/>
              </a:rPr>
              <a:t>进行</a:t>
            </a:r>
            <a:r>
              <a:rPr lang="zh-CN" altLang="en-US" sz="4000"/>
              <a:t>分析的过程</a:t>
            </a:r>
            <a:endParaRPr lang="zh-CN" altLang="en-US" sz="2400">
              <a:solidFill>
                <a:srgbClr val="FF0000"/>
              </a:solidFill>
              <a:latin typeface="楷体_GB2312" pitchFamily="49" charset="-122"/>
              <a:ea typeface="楷体_GB2312" pitchFamily="49" charset="-122"/>
            </a:endParaRPr>
          </a:p>
        </p:txBody>
      </p:sp>
      <p:sp>
        <p:nvSpPr>
          <p:cNvPr id="1156099" name="Rectangle 3">
            <a:extLst>
              <a:ext uri="{FF2B5EF4-FFF2-40B4-BE49-F238E27FC236}">
                <a16:creationId xmlns:a16="http://schemas.microsoft.com/office/drawing/2014/main" id="{710BE818-770B-44CF-8A17-8A74F47C8366}"/>
              </a:ext>
            </a:extLst>
          </p:cNvPr>
          <p:cNvSpPr>
            <a:spLocks noGrp="1" noChangeArrowheads="1"/>
          </p:cNvSpPr>
          <p:nvPr>
            <p:ph type="body" idx="4294967295"/>
          </p:nvPr>
        </p:nvSpPr>
        <p:spPr>
          <a:xfrm>
            <a:off x="2351089" y="1484313"/>
            <a:ext cx="7921625" cy="4724400"/>
          </a:xfrm>
        </p:spPr>
        <p:txBody>
          <a:bodyPr vert="horz" lIns="92075" tIns="46038" rIns="92075" bIns="46038" rtlCol="0">
            <a:normAutofit/>
          </a:bodyPr>
          <a:lstStyle/>
          <a:p>
            <a:pPr eaLnBrk="1" hangingPunct="1">
              <a:buFont typeface="Wingdings" panose="05000000000000000000" pitchFamily="2" charset="2"/>
              <a:buNone/>
            </a:pPr>
            <a:r>
              <a:rPr lang="zh-CN" altLang="en-US" dirty="0">
                <a:latin typeface="楷体_GB2312" pitchFamily="49" charset="-122"/>
              </a:rPr>
              <a:t>栈         输入缓冲区     输出</a:t>
            </a:r>
          </a:p>
          <a:p>
            <a:pPr eaLnBrk="1" hangingPunct="1">
              <a:buFont typeface="Wingdings" panose="05000000000000000000" pitchFamily="2" charset="2"/>
              <a:buNone/>
            </a:pPr>
            <a:r>
              <a:rPr lang="en-US" altLang="zh-CN" dirty="0">
                <a:latin typeface="楷体_GB2312" pitchFamily="49" charset="-122"/>
              </a:rPr>
              <a:t>#E         </a:t>
            </a:r>
            <a:r>
              <a:rPr lang="en-US" altLang="zh-CN" dirty="0" err="1">
                <a:latin typeface="楷体_GB2312" pitchFamily="49" charset="-122"/>
              </a:rPr>
              <a:t>id+id</a:t>
            </a:r>
            <a:r>
              <a:rPr lang="en-US" altLang="zh-CN" dirty="0">
                <a:latin typeface="楷体_GB2312" pitchFamily="49" charset="-122"/>
              </a:rPr>
              <a:t>*id# </a:t>
            </a:r>
          </a:p>
          <a:p>
            <a:pPr eaLnBrk="1" hangingPunct="1">
              <a:buFont typeface="Wingdings" panose="05000000000000000000" pitchFamily="2" charset="2"/>
              <a:buNone/>
            </a:pPr>
            <a:r>
              <a:rPr lang="en-US" altLang="zh-CN" dirty="0">
                <a:latin typeface="楷体_GB2312" pitchFamily="49" charset="-122"/>
              </a:rPr>
              <a:t>#E'T       </a:t>
            </a:r>
            <a:r>
              <a:rPr lang="en-US" altLang="zh-CN" dirty="0" err="1">
                <a:latin typeface="楷体_GB2312" pitchFamily="49" charset="-122"/>
              </a:rPr>
              <a:t>id+id</a:t>
            </a:r>
            <a:r>
              <a:rPr lang="en-US" altLang="zh-CN" dirty="0">
                <a:latin typeface="楷体_GB2312" pitchFamily="49" charset="-122"/>
              </a:rPr>
              <a:t>*id#    E→TE'</a:t>
            </a:r>
          </a:p>
          <a:p>
            <a:pPr eaLnBrk="1" hangingPunct="1">
              <a:buFont typeface="Wingdings" panose="05000000000000000000" pitchFamily="2" charset="2"/>
              <a:buNone/>
            </a:pPr>
            <a:r>
              <a:rPr lang="en-US" altLang="zh-CN" dirty="0">
                <a:latin typeface="楷体_GB2312" pitchFamily="49" charset="-122"/>
              </a:rPr>
              <a:t>#E'T'F     </a:t>
            </a:r>
            <a:r>
              <a:rPr lang="en-US" altLang="zh-CN" dirty="0" err="1">
                <a:latin typeface="楷体_GB2312" pitchFamily="49" charset="-122"/>
              </a:rPr>
              <a:t>id+id</a:t>
            </a:r>
            <a:r>
              <a:rPr lang="en-US" altLang="zh-CN" dirty="0">
                <a:latin typeface="楷体_GB2312" pitchFamily="49" charset="-122"/>
              </a:rPr>
              <a:t>*id#    T→FT'</a:t>
            </a:r>
          </a:p>
          <a:p>
            <a:pPr eaLnBrk="1" hangingPunct="1">
              <a:buFont typeface="Wingdings" panose="05000000000000000000" pitchFamily="2" charset="2"/>
              <a:buNone/>
            </a:pPr>
            <a:r>
              <a:rPr lang="en-US" altLang="zh-CN" dirty="0">
                <a:latin typeface="楷体_GB2312" pitchFamily="49" charset="-122"/>
              </a:rPr>
              <a:t>#</a:t>
            </a:r>
            <a:r>
              <a:rPr lang="en-US" altLang="zh-CN" dirty="0" err="1">
                <a:latin typeface="楷体_GB2312" pitchFamily="49" charset="-122"/>
              </a:rPr>
              <a:t>E'T'id</a:t>
            </a:r>
            <a:r>
              <a:rPr lang="en-US" altLang="zh-CN" dirty="0">
                <a:latin typeface="楷体_GB2312" pitchFamily="49" charset="-122"/>
              </a:rPr>
              <a:t>    </a:t>
            </a:r>
            <a:r>
              <a:rPr lang="en-US" altLang="zh-CN" dirty="0" err="1">
                <a:latin typeface="楷体_GB2312" pitchFamily="49" charset="-122"/>
              </a:rPr>
              <a:t>id+id</a:t>
            </a:r>
            <a:r>
              <a:rPr lang="en-US" altLang="zh-CN" dirty="0">
                <a:latin typeface="楷体_GB2312" pitchFamily="49" charset="-122"/>
              </a:rPr>
              <a:t>*id#    </a:t>
            </a:r>
            <a:r>
              <a:rPr lang="en-US" altLang="zh-CN" dirty="0" err="1">
                <a:latin typeface="楷体_GB2312" pitchFamily="49" charset="-122"/>
              </a:rPr>
              <a:t>F→id</a:t>
            </a:r>
            <a:endParaRPr lang="en-US" altLang="zh-CN" dirty="0">
              <a:latin typeface="楷体_GB2312" pitchFamily="49" charset="-122"/>
            </a:endParaRPr>
          </a:p>
          <a:p>
            <a:pPr eaLnBrk="1" hangingPunct="1">
              <a:buFont typeface="Wingdings" panose="05000000000000000000" pitchFamily="2" charset="2"/>
              <a:buNone/>
            </a:pPr>
            <a:r>
              <a:rPr lang="en-US" altLang="zh-CN" dirty="0">
                <a:latin typeface="楷体_GB2312" pitchFamily="49" charset="-122"/>
              </a:rPr>
              <a:t>#E'T'        +id*id#      </a:t>
            </a:r>
          </a:p>
          <a:p>
            <a:pPr eaLnBrk="1" hangingPunct="1">
              <a:buFont typeface="Wingdings" panose="05000000000000000000" pitchFamily="2" charset="2"/>
              <a:buNone/>
            </a:pPr>
            <a:r>
              <a:rPr lang="en-US" altLang="zh-CN" dirty="0">
                <a:latin typeface="楷体_GB2312" pitchFamily="49" charset="-122"/>
              </a:rPr>
              <a:t>#E'          +id*id#    </a:t>
            </a:r>
            <a:r>
              <a:rPr lang="en-US" altLang="zh-CN" dirty="0" err="1">
                <a:latin typeface="楷体_GB2312" pitchFamily="49" charset="-122"/>
              </a:rPr>
              <a:t>T'→ε</a:t>
            </a:r>
            <a:endParaRPr lang="en-US" altLang="zh-CN" dirty="0">
              <a:latin typeface="楷体_GB2312" pitchFamily="49" charset="-122"/>
            </a:endParaRPr>
          </a:p>
          <a:p>
            <a:pPr eaLnBrk="1" hangingPunct="1">
              <a:buFont typeface="Wingdings" panose="05000000000000000000" pitchFamily="2" charset="2"/>
              <a:buNone/>
            </a:pPr>
            <a:r>
              <a:rPr lang="en-US" altLang="zh-CN" dirty="0">
                <a:latin typeface="楷体_GB2312" pitchFamily="49" charset="-122"/>
              </a:rPr>
              <a:t>#E'T+        +id*id#    E'→+TE'</a:t>
            </a:r>
          </a:p>
          <a:p>
            <a:pPr eaLnBrk="1" hangingPunct="1">
              <a:buFont typeface="Wingdings" panose="05000000000000000000" pitchFamily="2" charset="2"/>
              <a:buNone/>
            </a:pPr>
            <a:r>
              <a:rPr lang="en-US" altLang="zh-CN" dirty="0">
                <a:latin typeface="楷体_GB2312" pitchFamily="49" charset="-122"/>
              </a:rPr>
              <a:t>#E'T          id*id#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56099">
                                            <p:txEl>
                                              <p:pRg st="0" end="0"/>
                                            </p:txEl>
                                          </p:spTgt>
                                        </p:tgtEl>
                                        <p:attrNameLst>
                                          <p:attrName>style.visibility</p:attrName>
                                        </p:attrNameLst>
                                      </p:cBhvr>
                                      <p:to>
                                        <p:strVal val="visible"/>
                                      </p:to>
                                    </p:set>
                                    <p:animEffect transition="in" filter="barn(outHorizontal)">
                                      <p:cBhvr>
                                        <p:cTn id="7" dur="500"/>
                                        <p:tgtEl>
                                          <p:spTgt spid="115609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156099">
                                            <p:txEl>
                                              <p:pRg st="1" end="1"/>
                                            </p:txEl>
                                          </p:spTgt>
                                        </p:tgtEl>
                                        <p:attrNameLst>
                                          <p:attrName>style.visibility</p:attrName>
                                        </p:attrNameLst>
                                      </p:cBhvr>
                                      <p:to>
                                        <p:strVal val="visible"/>
                                      </p:to>
                                    </p:set>
                                    <p:animEffect transition="in" filter="barn(outHorizontal)">
                                      <p:cBhvr>
                                        <p:cTn id="12" dur="500"/>
                                        <p:tgtEl>
                                          <p:spTgt spid="115609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156099">
                                            <p:txEl>
                                              <p:pRg st="2" end="2"/>
                                            </p:txEl>
                                          </p:spTgt>
                                        </p:tgtEl>
                                        <p:attrNameLst>
                                          <p:attrName>style.visibility</p:attrName>
                                        </p:attrNameLst>
                                      </p:cBhvr>
                                      <p:to>
                                        <p:strVal val="visible"/>
                                      </p:to>
                                    </p:set>
                                    <p:animEffect transition="in" filter="barn(outHorizontal)">
                                      <p:cBhvr>
                                        <p:cTn id="17" dur="500"/>
                                        <p:tgtEl>
                                          <p:spTgt spid="115609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156099">
                                            <p:txEl>
                                              <p:pRg st="3" end="3"/>
                                            </p:txEl>
                                          </p:spTgt>
                                        </p:tgtEl>
                                        <p:attrNameLst>
                                          <p:attrName>style.visibility</p:attrName>
                                        </p:attrNameLst>
                                      </p:cBhvr>
                                      <p:to>
                                        <p:strVal val="visible"/>
                                      </p:to>
                                    </p:set>
                                    <p:animEffect transition="in" filter="barn(outHorizontal)">
                                      <p:cBhvr>
                                        <p:cTn id="22" dur="500"/>
                                        <p:tgtEl>
                                          <p:spTgt spid="115609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1156099">
                                            <p:txEl>
                                              <p:pRg st="4" end="4"/>
                                            </p:txEl>
                                          </p:spTgt>
                                        </p:tgtEl>
                                        <p:attrNameLst>
                                          <p:attrName>style.visibility</p:attrName>
                                        </p:attrNameLst>
                                      </p:cBhvr>
                                      <p:to>
                                        <p:strVal val="visible"/>
                                      </p:to>
                                    </p:set>
                                    <p:animEffect transition="in" filter="barn(outHorizontal)">
                                      <p:cBhvr>
                                        <p:cTn id="27" dur="500"/>
                                        <p:tgtEl>
                                          <p:spTgt spid="115609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1156099">
                                            <p:txEl>
                                              <p:pRg st="5" end="5"/>
                                            </p:txEl>
                                          </p:spTgt>
                                        </p:tgtEl>
                                        <p:attrNameLst>
                                          <p:attrName>style.visibility</p:attrName>
                                        </p:attrNameLst>
                                      </p:cBhvr>
                                      <p:to>
                                        <p:strVal val="visible"/>
                                      </p:to>
                                    </p:set>
                                    <p:animEffect transition="in" filter="barn(outHorizontal)">
                                      <p:cBhvr>
                                        <p:cTn id="32" dur="500"/>
                                        <p:tgtEl>
                                          <p:spTgt spid="115609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1156099">
                                            <p:txEl>
                                              <p:pRg st="6" end="6"/>
                                            </p:txEl>
                                          </p:spTgt>
                                        </p:tgtEl>
                                        <p:attrNameLst>
                                          <p:attrName>style.visibility</p:attrName>
                                        </p:attrNameLst>
                                      </p:cBhvr>
                                      <p:to>
                                        <p:strVal val="visible"/>
                                      </p:to>
                                    </p:set>
                                    <p:animEffect transition="in" filter="barn(outHorizontal)">
                                      <p:cBhvr>
                                        <p:cTn id="37" dur="500"/>
                                        <p:tgtEl>
                                          <p:spTgt spid="115609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1156099">
                                            <p:txEl>
                                              <p:pRg st="7" end="7"/>
                                            </p:txEl>
                                          </p:spTgt>
                                        </p:tgtEl>
                                        <p:attrNameLst>
                                          <p:attrName>style.visibility</p:attrName>
                                        </p:attrNameLst>
                                      </p:cBhvr>
                                      <p:to>
                                        <p:strVal val="visible"/>
                                      </p:to>
                                    </p:set>
                                    <p:animEffect transition="in" filter="barn(outHorizontal)">
                                      <p:cBhvr>
                                        <p:cTn id="42" dur="500"/>
                                        <p:tgtEl>
                                          <p:spTgt spid="1156099">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1156099">
                                            <p:txEl>
                                              <p:pRg st="8" end="8"/>
                                            </p:txEl>
                                          </p:spTgt>
                                        </p:tgtEl>
                                        <p:attrNameLst>
                                          <p:attrName>style.visibility</p:attrName>
                                        </p:attrNameLst>
                                      </p:cBhvr>
                                      <p:to>
                                        <p:strVal val="visible"/>
                                      </p:to>
                                    </p:set>
                                    <p:animEffect transition="in" filter="barn(outHorizontal)">
                                      <p:cBhvr>
                                        <p:cTn id="47" dur="500"/>
                                        <p:tgtEl>
                                          <p:spTgt spid="1156099">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6099"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a:extLst>
              <a:ext uri="{FF2B5EF4-FFF2-40B4-BE49-F238E27FC236}">
                <a16:creationId xmlns:a16="http://schemas.microsoft.com/office/drawing/2014/main" id="{CAF665D0-5040-4E30-BB36-5653CAA647F2}"/>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EE1EC0D9-2D78-40C7-AEDE-FAB4198BAE3C}" type="datetime1">
              <a:rPr lang="zh-CN" altLang="en-US" noProof="0" smtClean="0">
                <a:latin typeface="+mn-lt"/>
              </a:rPr>
              <a:pPr>
                <a:buFontTx/>
                <a:buNone/>
                <a:defRPr/>
              </a:pPr>
              <a:t>2025/6/26</a:t>
            </a:fld>
            <a:endParaRPr lang="en-US" altLang="zh-CN" noProof="0">
              <a:latin typeface="+mn-lt"/>
            </a:endParaRPr>
          </a:p>
        </p:txBody>
      </p:sp>
      <p:sp>
        <p:nvSpPr>
          <p:cNvPr id="69635" name="灯片编号占位符 5">
            <a:extLst>
              <a:ext uri="{FF2B5EF4-FFF2-40B4-BE49-F238E27FC236}">
                <a16:creationId xmlns:a16="http://schemas.microsoft.com/office/drawing/2014/main" id="{F1A43A29-8E46-4AB0-B84B-D1DF6CF8344C}"/>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4371F7EB-DA38-42A9-93C7-9EDB30C46A5D}" type="slidenum">
              <a:rPr lang="en-US" altLang="zh-CN" sz="1400">
                <a:latin typeface="Arial" panose="020B0604020202020204" pitchFamily="34" charset="0"/>
              </a:rPr>
              <a:pPr/>
              <a:t>24</a:t>
            </a:fld>
            <a:endParaRPr lang="en-US" altLang="zh-CN" sz="1400">
              <a:latin typeface="Arial" panose="020B0604020202020204" pitchFamily="34" charset="0"/>
            </a:endParaRPr>
          </a:p>
        </p:txBody>
      </p:sp>
      <p:sp>
        <p:nvSpPr>
          <p:cNvPr id="1157122" name="Rectangle 2">
            <a:extLst>
              <a:ext uri="{FF2B5EF4-FFF2-40B4-BE49-F238E27FC236}">
                <a16:creationId xmlns:a16="http://schemas.microsoft.com/office/drawing/2014/main" id="{936261A6-003B-4616-B0DD-6B9F43CB7043}"/>
              </a:ext>
            </a:extLst>
          </p:cNvPr>
          <p:cNvSpPr>
            <a:spLocks noGrp="1" noChangeArrowheads="1"/>
          </p:cNvSpPr>
          <p:nvPr>
            <p:ph type="body" idx="4294967295"/>
          </p:nvPr>
        </p:nvSpPr>
        <p:spPr>
          <a:xfrm>
            <a:off x="2640013" y="1317625"/>
            <a:ext cx="6602412" cy="4343400"/>
          </a:xfrm>
        </p:spPr>
        <p:txBody>
          <a:bodyPr>
            <a:normAutofit lnSpcReduction="10000"/>
          </a:bodyPr>
          <a:lstStyle/>
          <a:p>
            <a:pPr eaLnBrk="1" hangingPunct="1">
              <a:lnSpc>
                <a:spcPct val="90000"/>
              </a:lnSpc>
              <a:buFont typeface="Wingdings" panose="05000000000000000000" pitchFamily="2" charset="2"/>
              <a:buNone/>
            </a:pPr>
            <a:r>
              <a:rPr lang="en-US" altLang="zh-CN">
                <a:latin typeface="楷体_GB2312" pitchFamily="49" charset="-122"/>
              </a:rPr>
              <a:t>#E'T'F         id*id#     T→FT'</a:t>
            </a:r>
          </a:p>
          <a:p>
            <a:pPr eaLnBrk="1" hangingPunct="1">
              <a:lnSpc>
                <a:spcPct val="90000"/>
              </a:lnSpc>
              <a:buFont typeface="Wingdings" panose="05000000000000000000" pitchFamily="2" charset="2"/>
              <a:buNone/>
            </a:pPr>
            <a:r>
              <a:rPr lang="en-US" altLang="zh-CN">
                <a:latin typeface="楷体_GB2312" pitchFamily="49" charset="-122"/>
              </a:rPr>
              <a:t>#E'T'id        id*id#     F→id</a:t>
            </a:r>
          </a:p>
          <a:p>
            <a:pPr eaLnBrk="1" hangingPunct="1">
              <a:lnSpc>
                <a:spcPct val="90000"/>
              </a:lnSpc>
              <a:buFont typeface="Wingdings" panose="05000000000000000000" pitchFamily="2" charset="2"/>
              <a:buNone/>
            </a:pPr>
            <a:r>
              <a:rPr lang="en-US" altLang="zh-CN">
                <a:latin typeface="楷体_GB2312" pitchFamily="49" charset="-122"/>
              </a:rPr>
              <a:t>#E'T'            *id# </a:t>
            </a:r>
          </a:p>
          <a:p>
            <a:pPr eaLnBrk="1" hangingPunct="1">
              <a:lnSpc>
                <a:spcPct val="90000"/>
              </a:lnSpc>
              <a:buFont typeface="Wingdings" panose="05000000000000000000" pitchFamily="2" charset="2"/>
              <a:buNone/>
            </a:pPr>
            <a:r>
              <a:rPr lang="en-US" altLang="zh-CN">
                <a:latin typeface="楷体_GB2312" pitchFamily="49" charset="-122"/>
              </a:rPr>
              <a:t>#E'T'F*          *id#     T'→*FT'</a:t>
            </a:r>
          </a:p>
          <a:p>
            <a:pPr eaLnBrk="1" hangingPunct="1">
              <a:lnSpc>
                <a:spcPct val="90000"/>
              </a:lnSpc>
              <a:buFont typeface="Wingdings" panose="05000000000000000000" pitchFamily="2" charset="2"/>
              <a:buNone/>
            </a:pPr>
            <a:r>
              <a:rPr lang="en-US" altLang="zh-CN">
                <a:latin typeface="楷体_GB2312" pitchFamily="49" charset="-122"/>
              </a:rPr>
              <a:t>#E'T'F            id#</a:t>
            </a:r>
          </a:p>
          <a:p>
            <a:pPr eaLnBrk="1" hangingPunct="1">
              <a:lnSpc>
                <a:spcPct val="90000"/>
              </a:lnSpc>
              <a:buFont typeface="Wingdings" panose="05000000000000000000" pitchFamily="2" charset="2"/>
              <a:buNone/>
            </a:pPr>
            <a:r>
              <a:rPr lang="en-US" altLang="zh-CN">
                <a:latin typeface="楷体_GB2312" pitchFamily="49" charset="-122"/>
              </a:rPr>
              <a:t>#E'T'id           id#     F→id</a:t>
            </a:r>
          </a:p>
          <a:p>
            <a:pPr eaLnBrk="1" hangingPunct="1">
              <a:lnSpc>
                <a:spcPct val="90000"/>
              </a:lnSpc>
              <a:buFont typeface="Wingdings" panose="05000000000000000000" pitchFamily="2" charset="2"/>
              <a:buNone/>
            </a:pPr>
            <a:r>
              <a:rPr lang="en-US" altLang="zh-CN">
                <a:latin typeface="楷体_GB2312" pitchFamily="49" charset="-122"/>
              </a:rPr>
              <a:t>#E'T'               #</a:t>
            </a:r>
          </a:p>
          <a:p>
            <a:pPr eaLnBrk="1" hangingPunct="1">
              <a:lnSpc>
                <a:spcPct val="90000"/>
              </a:lnSpc>
              <a:buFont typeface="Wingdings" panose="05000000000000000000" pitchFamily="2" charset="2"/>
              <a:buNone/>
            </a:pPr>
            <a:r>
              <a:rPr lang="en-US" altLang="zh-CN">
                <a:latin typeface="楷体_GB2312" pitchFamily="49" charset="-122"/>
              </a:rPr>
              <a:t>#E'                 #    	T'→ε</a:t>
            </a:r>
          </a:p>
          <a:p>
            <a:pPr eaLnBrk="1" hangingPunct="1">
              <a:lnSpc>
                <a:spcPct val="90000"/>
              </a:lnSpc>
              <a:buFont typeface="Wingdings" panose="05000000000000000000" pitchFamily="2" charset="2"/>
              <a:buNone/>
            </a:pPr>
            <a:r>
              <a:rPr lang="en-US" altLang="zh-CN">
                <a:latin typeface="楷体_GB2312" pitchFamily="49" charset="-122"/>
              </a:rPr>
              <a:t>#                   #     E'→ε</a:t>
            </a:r>
          </a:p>
        </p:txBody>
      </p:sp>
      <p:sp>
        <p:nvSpPr>
          <p:cNvPr id="1157123" name="Rectangle 3">
            <a:extLst>
              <a:ext uri="{FF2B5EF4-FFF2-40B4-BE49-F238E27FC236}">
                <a16:creationId xmlns:a16="http://schemas.microsoft.com/office/drawing/2014/main" id="{0BE45D7B-6E93-428D-9EBE-6190C17637B6}"/>
              </a:ext>
            </a:extLst>
          </p:cNvPr>
          <p:cNvSpPr>
            <a:spLocks noChangeArrowheads="1"/>
          </p:cNvSpPr>
          <p:nvPr/>
        </p:nvSpPr>
        <p:spPr bwMode="auto">
          <a:xfrm>
            <a:off x="1827213" y="5573713"/>
            <a:ext cx="8229600" cy="519112"/>
          </a:xfrm>
          <a:prstGeom prst="rect">
            <a:avLst/>
          </a:prstGeom>
          <a:noFill/>
          <a:ln w="9525">
            <a:noFill/>
            <a:miter lim="800000"/>
          </a:ln>
          <a:effectLst/>
        </p:spPr>
        <p:txBody>
          <a:bodyPr lIns="92075" tIns="46038" rIns="92075" bIns="46038">
            <a:spAutoFit/>
          </a:bodyPr>
          <a:lstStyle/>
          <a:p>
            <a:pPr>
              <a:buFont typeface="Arial" panose="020B0604020202020204" pitchFamily="34" charset="0"/>
              <a:buNone/>
              <a:defRPr/>
            </a:pPr>
            <a:r>
              <a:rPr lang="zh-CN" altLang="en-US" sz="2800" b="1">
                <a:solidFill>
                  <a:srgbClr val="FF0000"/>
                </a:solidFill>
                <a:effectLst>
                  <a:outerShdw blurRad="38100" dist="38100" dir="2700000" algn="tl">
                    <a:srgbClr val="C0C0C0"/>
                  </a:outerShdw>
                </a:effectLst>
                <a:ea typeface="楷体_GB2312" pitchFamily="49" charset="-122"/>
              </a:rPr>
              <a:t>输出的产生式序列形成了最左推导对应的分析树</a:t>
            </a:r>
          </a:p>
        </p:txBody>
      </p:sp>
      <p:sp>
        <p:nvSpPr>
          <p:cNvPr id="1157124" name="Text Box 4">
            <a:extLst>
              <a:ext uri="{FF2B5EF4-FFF2-40B4-BE49-F238E27FC236}">
                <a16:creationId xmlns:a16="http://schemas.microsoft.com/office/drawing/2014/main" id="{76622E32-4B3D-4022-A4E0-C04D0904A3C2}"/>
              </a:ext>
            </a:extLst>
          </p:cNvPr>
          <p:cNvSpPr txBox="1">
            <a:spLocks noChangeArrowheads="1"/>
          </p:cNvSpPr>
          <p:nvPr/>
        </p:nvSpPr>
        <p:spPr bwMode="auto">
          <a:xfrm>
            <a:off x="2640013" y="708025"/>
            <a:ext cx="6985000" cy="533930"/>
          </a:xfrm>
          <a:prstGeom prst="rect">
            <a:avLst/>
          </a:prstGeom>
          <a:noFill/>
          <a:ln w="9525">
            <a:noFill/>
            <a:miter lim="800000"/>
          </a:ln>
          <a:effectLst/>
        </p:spPr>
        <p:txBody>
          <a:bodyPr lIns="92075" tIns="46038" rIns="92075" bIns="46038">
            <a:spAutoFit/>
          </a:bodyPr>
          <a:lstStyle/>
          <a:p>
            <a:pPr>
              <a:lnSpc>
                <a:spcPct val="110000"/>
              </a:lnSpc>
              <a:spcBef>
                <a:spcPct val="50000"/>
              </a:spcBef>
              <a:buClr>
                <a:schemeClr val="folHlink"/>
              </a:buClr>
              <a:buSzPct val="75000"/>
              <a:buFont typeface="Monotype Sorts" pitchFamily="2" charset="2"/>
              <a:buNone/>
              <a:defRPr/>
            </a:pPr>
            <a:r>
              <a:rPr kumimoji="1" lang="en-US" altLang="zh-CN" sz="2800" b="1">
                <a:solidFill>
                  <a:srgbClr val="FF0000"/>
                </a:solidFill>
                <a:effectLst>
                  <a:outerShdw blurRad="38100" dist="38100" dir="2700000" algn="tl">
                    <a:srgbClr val="000000"/>
                  </a:outerShdw>
                </a:effectLst>
                <a:latin typeface="楷体_GB2312" pitchFamily="49" charset="-122"/>
                <a:ea typeface="楷体_GB2312" pitchFamily="49" charset="-122"/>
              </a:rPr>
              <a:t>#E'T           id*id#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57122">
                                            <p:txEl>
                                              <p:pRg st="0" end="0"/>
                                            </p:txEl>
                                          </p:spTgt>
                                        </p:tgtEl>
                                        <p:attrNameLst>
                                          <p:attrName>style.visibility</p:attrName>
                                        </p:attrNameLst>
                                      </p:cBhvr>
                                      <p:to>
                                        <p:strVal val="visible"/>
                                      </p:to>
                                    </p:set>
                                    <p:animEffect transition="in" filter="wipe(up)">
                                      <p:cBhvr>
                                        <p:cTn id="7" dur="500"/>
                                        <p:tgtEl>
                                          <p:spTgt spid="115712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57122">
                                            <p:txEl>
                                              <p:pRg st="1" end="1"/>
                                            </p:txEl>
                                          </p:spTgt>
                                        </p:tgtEl>
                                        <p:attrNameLst>
                                          <p:attrName>style.visibility</p:attrName>
                                        </p:attrNameLst>
                                      </p:cBhvr>
                                      <p:to>
                                        <p:strVal val="visible"/>
                                      </p:to>
                                    </p:set>
                                    <p:animEffect transition="in" filter="wipe(up)">
                                      <p:cBhvr>
                                        <p:cTn id="12" dur="500"/>
                                        <p:tgtEl>
                                          <p:spTgt spid="1157122">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57122">
                                            <p:txEl>
                                              <p:pRg st="2" end="2"/>
                                            </p:txEl>
                                          </p:spTgt>
                                        </p:tgtEl>
                                        <p:attrNameLst>
                                          <p:attrName>style.visibility</p:attrName>
                                        </p:attrNameLst>
                                      </p:cBhvr>
                                      <p:to>
                                        <p:strVal val="visible"/>
                                      </p:to>
                                    </p:set>
                                    <p:animEffect transition="in" filter="wipe(up)">
                                      <p:cBhvr>
                                        <p:cTn id="17" dur="500"/>
                                        <p:tgtEl>
                                          <p:spTgt spid="1157122">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57122">
                                            <p:txEl>
                                              <p:pRg st="3" end="3"/>
                                            </p:txEl>
                                          </p:spTgt>
                                        </p:tgtEl>
                                        <p:attrNameLst>
                                          <p:attrName>style.visibility</p:attrName>
                                        </p:attrNameLst>
                                      </p:cBhvr>
                                      <p:to>
                                        <p:strVal val="visible"/>
                                      </p:to>
                                    </p:set>
                                    <p:animEffect transition="in" filter="wipe(up)">
                                      <p:cBhvr>
                                        <p:cTn id="22" dur="500"/>
                                        <p:tgtEl>
                                          <p:spTgt spid="1157122">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57122">
                                            <p:txEl>
                                              <p:pRg st="4" end="4"/>
                                            </p:txEl>
                                          </p:spTgt>
                                        </p:tgtEl>
                                        <p:attrNameLst>
                                          <p:attrName>style.visibility</p:attrName>
                                        </p:attrNameLst>
                                      </p:cBhvr>
                                      <p:to>
                                        <p:strVal val="visible"/>
                                      </p:to>
                                    </p:set>
                                    <p:animEffect transition="in" filter="wipe(up)">
                                      <p:cBhvr>
                                        <p:cTn id="27" dur="500"/>
                                        <p:tgtEl>
                                          <p:spTgt spid="1157122">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57122">
                                            <p:txEl>
                                              <p:pRg st="5" end="5"/>
                                            </p:txEl>
                                          </p:spTgt>
                                        </p:tgtEl>
                                        <p:attrNameLst>
                                          <p:attrName>style.visibility</p:attrName>
                                        </p:attrNameLst>
                                      </p:cBhvr>
                                      <p:to>
                                        <p:strVal val="visible"/>
                                      </p:to>
                                    </p:set>
                                    <p:animEffect transition="in" filter="wipe(up)">
                                      <p:cBhvr>
                                        <p:cTn id="32" dur="500"/>
                                        <p:tgtEl>
                                          <p:spTgt spid="1157122">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57122">
                                            <p:txEl>
                                              <p:pRg st="6" end="6"/>
                                            </p:txEl>
                                          </p:spTgt>
                                        </p:tgtEl>
                                        <p:attrNameLst>
                                          <p:attrName>style.visibility</p:attrName>
                                        </p:attrNameLst>
                                      </p:cBhvr>
                                      <p:to>
                                        <p:strVal val="visible"/>
                                      </p:to>
                                    </p:set>
                                    <p:animEffect transition="in" filter="wipe(up)">
                                      <p:cBhvr>
                                        <p:cTn id="37" dur="500"/>
                                        <p:tgtEl>
                                          <p:spTgt spid="1157122">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157122">
                                            <p:txEl>
                                              <p:pRg st="7" end="7"/>
                                            </p:txEl>
                                          </p:spTgt>
                                        </p:tgtEl>
                                        <p:attrNameLst>
                                          <p:attrName>style.visibility</p:attrName>
                                        </p:attrNameLst>
                                      </p:cBhvr>
                                      <p:to>
                                        <p:strVal val="visible"/>
                                      </p:to>
                                    </p:set>
                                    <p:animEffect transition="in" filter="wipe(up)">
                                      <p:cBhvr>
                                        <p:cTn id="42" dur="500"/>
                                        <p:tgtEl>
                                          <p:spTgt spid="1157122">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157122">
                                            <p:txEl>
                                              <p:pRg st="8" end="8"/>
                                            </p:txEl>
                                          </p:spTgt>
                                        </p:tgtEl>
                                        <p:attrNameLst>
                                          <p:attrName>style.visibility</p:attrName>
                                        </p:attrNameLst>
                                      </p:cBhvr>
                                      <p:to>
                                        <p:strVal val="visible"/>
                                      </p:to>
                                    </p:set>
                                    <p:animEffect transition="in" filter="wipe(up)">
                                      <p:cBhvr>
                                        <p:cTn id="47" dur="500"/>
                                        <p:tgtEl>
                                          <p:spTgt spid="1157122">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157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22" grpId="0" build="p"/>
      <p:bldP spid="1157123"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D7C2A7D-B633-48B9-8003-76C52194C590}"/>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E5579CD3-8D69-487A-BA02-42C2348BC88C}" type="datetime1">
              <a:rPr lang="zh-CN" altLang="en-US" noProof="0" smtClean="0">
                <a:latin typeface="+mn-lt"/>
              </a:rPr>
              <a:pPr>
                <a:buFontTx/>
                <a:buNone/>
                <a:defRPr/>
              </a:pPr>
              <a:t>2025/6/26</a:t>
            </a:fld>
            <a:endParaRPr lang="en-US" altLang="zh-CN" noProof="0">
              <a:latin typeface="+mn-lt"/>
            </a:endParaRPr>
          </a:p>
        </p:txBody>
      </p:sp>
      <p:sp>
        <p:nvSpPr>
          <p:cNvPr id="70659" name="灯片编号占位符 5">
            <a:extLst>
              <a:ext uri="{FF2B5EF4-FFF2-40B4-BE49-F238E27FC236}">
                <a16:creationId xmlns:a16="http://schemas.microsoft.com/office/drawing/2014/main" id="{C722D817-6BED-42A6-8BE2-E3A7C47FECD3}"/>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BF6C0904-87E9-41BB-8F6B-A3CE01725F8A}" type="slidenum">
              <a:rPr lang="en-US" altLang="zh-CN" sz="1400">
                <a:latin typeface="Arial" panose="020B0604020202020204" pitchFamily="34" charset="0"/>
              </a:rPr>
              <a:pPr/>
              <a:t>25</a:t>
            </a:fld>
            <a:endParaRPr lang="en-US" altLang="zh-CN" sz="1400">
              <a:latin typeface="Arial" panose="020B0604020202020204" pitchFamily="34" charset="0"/>
            </a:endParaRPr>
          </a:p>
        </p:txBody>
      </p:sp>
      <p:sp>
        <p:nvSpPr>
          <p:cNvPr id="70660" name="Rectangle 2">
            <a:extLst>
              <a:ext uri="{FF2B5EF4-FFF2-40B4-BE49-F238E27FC236}">
                <a16:creationId xmlns:a16="http://schemas.microsoft.com/office/drawing/2014/main" id="{A880DD09-6BB3-4107-92E8-C294BC6F6673}"/>
              </a:ext>
            </a:extLst>
          </p:cNvPr>
          <p:cNvSpPr>
            <a:spLocks noGrp="1" noChangeArrowheads="1"/>
          </p:cNvSpPr>
          <p:nvPr>
            <p:ph type="title" idx="4294967295"/>
          </p:nvPr>
        </p:nvSpPr>
        <p:spPr>
          <a:xfrm>
            <a:off x="2403475" y="333375"/>
            <a:ext cx="8229600" cy="935038"/>
          </a:xfrm>
        </p:spPr>
        <p:txBody>
          <a:bodyPr vert="horz" lIns="92075" tIns="46038" rIns="92075" bIns="46038" rtlCol="0" anchor="ctr">
            <a:normAutofit/>
          </a:bodyPr>
          <a:lstStyle/>
          <a:p>
            <a:pPr eaLnBrk="1" hangingPunct="1"/>
            <a:r>
              <a:rPr lang="en-US" altLang="zh-CN">
                <a:latin typeface="Times New Roman" panose="02020603050405020304" pitchFamily="18" charset="0"/>
              </a:rPr>
              <a:t>4.3.2 </a:t>
            </a:r>
            <a:r>
              <a:rPr lang="zh-CN" altLang="en-US"/>
              <a:t>预测分析表的构造算法</a:t>
            </a:r>
          </a:p>
        </p:txBody>
      </p:sp>
      <p:sp>
        <p:nvSpPr>
          <p:cNvPr id="1159171" name="Rectangle 3">
            <a:extLst>
              <a:ext uri="{FF2B5EF4-FFF2-40B4-BE49-F238E27FC236}">
                <a16:creationId xmlns:a16="http://schemas.microsoft.com/office/drawing/2014/main" id="{FAD9B67B-E8A5-4B2D-9868-1BD20CEB4341}"/>
              </a:ext>
            </a:extLst>
          </p:cNvPr>
          <p:cNvSpPr>
            <a:spLocks noGrp="1" noChangeArrowheads="1"/>
          </p:cNvSpPr>
          <p:nvPr>
            <p:ph type="body" idx="4294967295"/>
          </p:nvPr>
        </p:nvSpPr>
        <p:spPr>
          <a:xfrm>
            <a:off x="1828800" y="1557338"/>
            <a:ext cx="8610600" cy="5111750"/>
          </a:xfrm>
        </p:spPr>
        <p:txBody>
          <a:bodyPr vert="horz" lIns="92075" tIns="46038" rIns="92075" bIns="46038" rtlCol="0">
            <a:normAutofit/>
          </a:bodyPr>
          <a:lstStyle/>
          <a:p>
            <a:pPr eaLnBrk="1" hangingPunct="1">
              <a:lnSpc>
                <a:spcPct val="90000"/>
              </a:lnSpc>
              <a:buFont typeface="Wingdings" panose="05000000000000000000" pitchFamily="2" charset="2"/>
              <a:buNone/>
            </a:pPr>
            <a:r>
              <a:rPr lang="zh-CN" altLang="en-US" sz="2600" dirty="0">
                <a:latin typeface="Times New Roman" panose="02020603050405020304" pitchFamily="18" charset="0"/>
              </a:rPr>
              <a:t>算法</a:t>
            </a:r>
            <a:r>
              <a:rPr lang="en-US" altLang="zh-CN" sz="2600" dirty="0">
                <a:latin typeface="Times New Roman" panose="02020603050405020304" pitchFamily="18" charset="0"/>
              </a:rPr>
              <a:t>4.6 </a:t>
            </a:r>
            <a:r>
              <a:rPr lang="zh-CN" altLang="en-US" sz="2600" dirty="0">
                <a:latin typeface="Times New Roman" panose="02020603050405020304" pitchFamily="18" charset="0"/>
              </a:rPr>
              <a:t>预测分析表</a:t>
            </a:r>
            <a:r>
              <a:rPr lang="en-US" altLang="zh-CN" sz="2600" dirty="0">
                <a:latin typeface="Times New Roman" panose="02020603050405020304" pitchFamily="18" charset="0"/>
              </a:rPr>
              <a:t>(</a:t>
            </a:r>
            <a:r>
              <a:rPr lang="en-US" altLang="zh-CN" sz="2600" i="1" dirty="0">
                <a:latin typeface="Times New Roman" panose="02020603050405020304" pitchFamily="18" charset="0"/>
              </a:rPr>
              <a:t>LL</a:t>
            </a:r>
            <a:r>
              <a:rPr lang="en-US" altLang="zh-CN" sz="2600" dirty="0">
                <a:latin typeface="Times New Roman" panose="02020603050405020304" pitchFamily="18" charset="0"/>
              </a:rPr>
              <a:t>(1)</a:t>
            </a:r>
            <a:r>
              <a:rPr lang="zh-CN" altLang="en-US" sz="2600" dirty="0">
                <a:latin typeface="Times New Roman" panose="02020603050405020304" pitchFamily="18" charset="0"/>
              </a:rPr>
              <a:t>分析表</a:t>
            </a:r>
            <a:r>
              <a:rPr lang="en-US" altLang="zh-CN" sz="2600" dirty="0">
                <a:latin typeface="Times New Roman" panose="02020603050405020304" pitchFamily="18" charset="0"/>
              </a:rPr>
              <a:t>)</a:t>
            </a:r>
            <a:r>
              <a:rPr lang="zh-CN" altLang="en-US" sz="2600" dirty="0">
                <a:latin typeface="Times New Roman" panose="02020603050405020304" pitchFamily="18" charset="0"/>
              </a:rPr>
              <a:t>的构造算法。</a:t>
            </a:r>
          </a:p>
          <a:p>
            <a:pPr eaLnBrk="1" hangingPunct="1">
              <a:lnSpc>
                <a:spcPct val="90000"/>
              </a:lnSpc>
              <a:buFont typeface="Wingdings" panose="05000000000000000000" pitchFamily="2" charset="2"/>
              <a:buNone/>
            </a:pPr>
            <a:r>
              <a:rPr lang="zh-CN" altLang="en-US" sz="2600" dirty="0">
                <a:latin typeface="Times New Roman" panose="02020603050405020304" pitchFamily="18" charset="0"/>
              </a:rPr>
              <a:t>输入：文法</a:t>
            </a:r>
            <a:r>
              <a:rPr lang="en-US" altLang="zh-CN" sz="2600" i="1" dirty="0">
                <a:latin typeface="Times New Roman" panose="02020603050405020304" pitchFamily="18" charset="0"/>
              </a:rPr>
              <a:t>G</a:t>
            </a:r>
            <a:r>
              <a:rPr lang="en-US" altLang="zh-CN" sz="2600" dirty="0">
                <a:latin typeface="Times New Roman" panose="02020603050405020304" pitchFamily="18" charset="0"/>
              </a:rPr>
              <a:t>;</a:t>
            </a:r>
          </a:p>
          <a:p>
            <a:pPr eaLnBrk="1" hangingPunct="1">
              <a:lnSpc>
                <a:spcPct val="90000"/>
              </a:lnSpc>
              <a:buFont typeface="Wingdings" panose="05000000000000000000" pitchFamily="2" charset="2"/>
              <a:buNone/>
            </a:pPr>
            <a:r>
              <a:rPr lang="zh-CN" altLang="en-US" sz="2600" dirty="0">
                <a:latin typeface="Times New Roman" panose="02020603050405020304" pitchFamily="18" charset="0"/>
              </a:rPr>
              <a:t>输出：分析表</a:t>
            </a:r>
            <a:r>
              <a:rPr lang="en-US" altLang="zh-CN" sz="2600" i="1" dirty="0">
                <a:latin typeface="Times New Roman" panose="02020603050405020304" pitchFamily="18" charset="0"/>
              </a:rPr>
              <a:t>M</a:t>
            </a:r>
            <a:r>
              <a:rPr lang="en-US" altLang="zh-CN" sz="2600" dirty="0">
                <a:latin typeface="Times New Roman" panose="02020603050405020304" pitchFamily="18" charset="0"/>
              </a:rPr>
              <a:t>;</a:t>
            </a:r>
          </a:p>
          <a:p>
            <a:pPr eaLnBrk="1" hangingPunct="1">
              <a:lnSpc>
                <a:spcPct val="90000"/>
              </a:lnSpc>
              <a:buFont typeface="Wingdings" panose="05000000000000000000" pitchFamily="2" charset="2"/>
              <a:buNone/>
            </a:pPr>
            <a:r>
              <a:rPr lang="zh-CN" altLang="en-US" sz="2600" dirty="0">
                <a:latin typeface="Times New Roman" panose="02020603050405020304" pitchFamily="18" charset="0"/>
              </a:rPr>
              <a:t>步骤：</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rPr>
              <a:t>1</a:t>
            </a:r>
            <a:r>
              <a:rPr lang="zh-CN" altLang="en-US" sz="2600" dirty="0">
                <a:latin typeface="Times New Roman" panose="02020603050405020304" pitchFamily="18" charset="0"/>
              </a:rPr>
              <a:t>．对</a:t>
            </a:r>
            <a:r>
              <a:rPr lang="en-US" altLang="zh-CN" sz="2600" i="1" dirty="0">
                <a:latin typeface="Times New Roman" panose="02020603050405020304" pitchFamily="18" charset="0"/>
              </a:rPr>
              <a:t>G</a:t>
            </a:r>
            <a:r>
              <a:rPr lang="zh-CN" altLang="en-US" sz="2600" dirty="0">
                <a:latin typeface="Times New Roman" panose="02020603050405020304" pitchFamily="18" charset="0"/>
              </a:rPr>
              <a:t>中的任意一个产生式</a:t>
            </a:r>
            <a:r>
              <a:rPr lang="en-US" altLang="zh-CN" sz="2600" i="1" dirty="0">
                <a:latin typeface="Times New Roman" panose="02020603050405020304" pitchFamily="18" charset="0"/>
              </a:rPr>
              <a:t>A</a:t>
            </a:r>
            <a:r>
              <a:rPr lang="en-US" altLang="zh-CN" sz="2600" dirty="0">
                <a:latin typeface="Times New Roman" panose="02020603050405020304" pitchFamily="18" charset="0"/>
              </a:rPr>
              <a:t>→</a:t>
            </a:r>
            <a:r>
              <a:rPr lang="en-US" altLang="zh-CN" sz="2600" i="1" dirty="0">
                <a:latin typeface="Times New Roman" panose="02020603050405020304" pitchFamily="18" charset="0"/>
              </a:rPr>
              <a:t>α</a:t>
            </a:r>
            <a:r>
              <a:rPr lang="en-US" altLang="zh-CN" sz="2600" dirty="0">
                <a:latin typeface="Times New Roman" panose="02020603050405020304" pitchFamily="18" charset="0"/>
              </a:rPr>
              <a:t>, </a:t>
            </a:r>
            <a:r>
              <a:rPr lang="zh-CN" altLang="en-US" sz="2600" dirty="0">
                <a:latin typeface="Times New Roman" panose="02020603050405020304" pitchFamily="18" charset="0"/>
              </a:rPr>
              <a:t>执行第</a:t>
            </a:r>
            <a:r>
              <a:rPr lang="en-US" altLang="zh-CN" sz="2600" dirty="0">
                <a:latin typeface="Times New Roman" panose="02020603050405020304" pitchFamily="18" charset="0"/>
              </a:rPr>
              <a:t>2</a:t>
            </a:r>
            <a:r>
              <a:rPr lang="zh-CN" altLang="en-US" sz="2600" dirty="0">
                <a:latin typeface="Times New Roman" panose="02020603050405020304" pitchFamily="18" charset="0"/>
              </a:rPr>
              <a:t>步和第</a:t>
            </a:r>
            <a:r>
              <a:rPr lang="en-US" altLang="zh-CN" sz="2600" dirty="0">
                <a:latin typeface="Times New Roman" panose="02020603050405020304" pitchFamily="18" charset="0"/>
              </a:rPr>
              <a:t>3</a:t>
            </a:r>
            <a:r>
              <a:rPr lang="zh-CN" altLang="en-US" sz="2600" dirty="0">
                <a:latin typeface="Times New Roman" panose="02020603050405020304" pitchFamily="18" charset="0"/>
              </a:rPr>
              <a:t>步</a:t>
            </a:r>
            <a:r>
              <a:rPr lang="en-US" altLang="zh-CN" sz="2600" dirty="0">
                <a:latin typeface="Times New Roman" panose="02020603050405020304" pitchFamily="18" charset="0"/>
              </a:rPr>
              <a:t>;</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rPr>
              <a:t>2</a:t>
            </a:r>
            <a:r>
              <a:rPr lang="zh-CN" altLang="en-US" sz="2600" dirty="0">
                <a:latin typeface="Times New Roman" panose="02020603050405020304" pitchFamily="18" charset="0"/>
              </a:rPr>
              <a:t>． </a:t>
            </a:r>
            <a:r>
              <a:rPr lang="en-US" altLang="zh-CN" sz="2600" dirty="0">
                <a:latin typeface="Times New Roman" panose="02020603050405020304" pitchFamily="18" charset="0"/>
              </a:rPr>
              <a:t>for </a:t>
            </a:r>
            <a:r>
              <a:rPr lang="en-US" altLang="zh-CN" sz="2600" dirty="0">
                <a:latin typeface="Times New Roman" panose="02020603050405020304" pitchFamily="18" charset="0"/>
                <a:sym typeface="Symbol" panose="05050102010706020507" pitchFamily="18" charset="2"/>
              </a:rPr>
              <a:t></a:t>
            </a:r>
            <a:r>
              <a:rPr lang="en-US" altLang="zh-CN" sz="2600" i="1" dirty="0" err="1">
                <a:latin typeface="Times New Roman" panose="02020603050405020304" pitchFamily="18" charset="0"/>
              </a:rPr>
              <a:t>b</a:t>
            </a:r>
            <a:r>
              <a:rPr lang="en-US" altLang="zh-CN" sz="2600" dirty="0" err="1">
                <a:latin typeface="Times New Roman" panose="02020603050405020304" pitchFamily="18" charset="0"/>
                <a:sym typeface="Symbol" panose="05050102010706020507" pitchFamily="18" charset="2"/>
              </a:rPr>
              <a:t></a:t>
            </a:r>
            <a:r>
              <a:rPr lang="en-US" altLang="zh-CN" sz="2600" dirty="0" err="1">
                <a:latin typeface="Times New Roman" panose="02020603050405020304" pitchFamily="18" charset="0"/>
              </a:rPr>
              <a:t>FIRST</a:t>
            </a:r>
            <a:r>
              <a:rPr lang="en-US" altLang="zh-CN" sz="2600" dirty="0">
                <a:latin typeface="Times New Roman" panose="02020603050405020304" pitchFamily="18" charset="0"/>
              </a:rPr>
              <a:t>(</a:t>
            </a:r>
            <a:r>
              <a:rPr lang="en-US" altLang="zh-CN" sz="2600" i="1" dirty="0">
                <a:latin typeface="Times New Roman" panose="02020603050405020304" pitchFamily="18" charset="0"/>
              </a:rPr>
              <a:t>α</a:t>
            </a:r>
            <a:r>
              <a:rPr lang="en-US" altLang="zh-CN" sz="2600" dirty="0">
                <a:latin typeface="Times New Roman" panose="02020603050405020304" pitchFamily="18" charset="0"/>
              </a:rPr>
              <a:t>), </a:t>
            </a:r>
            <a:r>
              <a:rPr lang="zh-CN" altLang="en-US" sz="2600" dirty="0">
                <a:latin typeface="Times New Roman" panose="02020603050405020304" pitchFamily="18" charset="0"/>
              </a:rPr>
              <a:t>将</a:t>
            </a:r>
            <a:r>
              <a:rPr lang="en-US" altLang="zh-CN" sz="2600" i="1" dirty="0">
                <a:latin typeface="Times New Roman" panose="02020603050405020304" pitchFamily="18" charset="0"/>
              </a:rPr>
              <a:t>A</a:t>
            </a:r>
            <a:r>
              <a:rPr lang="en-US" altLang="zh-CN" sz="2600" dirty="0">
                <a:latin typeface="Times New Roman" panose="02020603050405020304" pitchFamily="18" charset="0"/>
              </a:rPr>
              <a:t>→</a:t>
            </a:r>
            <a:r>
              <a:rPr lang="en-US" altLang="zh-CN" sz="2600" i="1" dirty="0">
                <a:latin typeface="Times New Roman" panose="02020603050405020304" pitchFamily="18" charset="0"/>
              </a:rPr>
              <a:t>α</a:t>
            </a:r>
            <a:r>
              <a:rPr lang="zh-CN" altLang="en-US" sz="2600" dirty="0">
                <a:latin typeface="Times New Roman" panose="02020603050405020304" pitchFamily="18" charset="0"/>
              </a:rPr>
              <a:t>填入</a:t>
            </a:r>
            <a:r>
              <a:rPr lang="en-US" altLang="zh-CN" sz="2600" i="1" dirty="0">
                <a:latin typeface="Times New Roman" panose="02020603050405020304" pitchFamily="18" charset="0"/>
              </a:rPr>
              <a:t>M</a:t>
            </a:r>
            <a:r>
              <a:rPr lang="en-US" altLang="zh-CN" sz="2600" dirty="0">
                <a:latin typeface="Times New Roman" panose="02020603050405020304" pitchFamily="18" charset="0"/>
              </a:rPr>
              <a:t>[</a:t>
            </a:r>
            <a:r>
              <a:rPr lang="en-US" altLang="zh-CN" sz="2600" i="1" dirty="0">
                <a:latin typeface="Times New Roman" panose="02020603050405020304" pitchFamily="18" charset="0"/>
              </a:rPr>
              <a:t>A</a:t>
            </a:r>
            <a:r>
              <a:rPr lang="en-US" altLang="zh-CN" sz="2600" dirty="0">
                <a:latin typeface="Times New Roman" panose="02020603050405020304" pitchFamily="18" charset="0"/>
              </a:rPr>
              <a:t>, </a:t>
            </a:r>
            <a:r>
              <a:rPr lang="en-US" altLang="zh-CN" sz="2600" i="1" dirty="0">
                <a:latin typeface="Times New Roman" panose="02020603050405020304" pitchFamily="18" charset="0"/>
              </a:rPr>
              <a:t>b</a:t>
            </a:r>
            <a:r>
              <a:rPr lang="en-US" altLang="zh-CN" sz="2600" dirty="0">
                <a:latin typeface="Times New Roman" panose="02020603050405020304" pitchFamily="18" charset="0"/>
              </a:rPr>
              <a:t>];</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rPr>
              <a:t>3</a:t>
            </a:r>
            <a:r>
              <a:rPr lang="zh-CN" altLang="en-US" sz="2600" dirty="0">
                <a:highlight>
                  <a:srgbClr val="FFFF00"/>
                </a:highlight>
                <a:latin typeface="Times New Roman" panose="02020603050405020304" pitchFamily="18" charset="0"/>
              </a:rPr>
              <a:t>． </a:t>
            </a:r>
            <a:r>
              <a:rPr lang="en-US" altLang="zh-CN" sz="2600" dirty="0">
                <a:highlight>
                  <a:srgbClr val="FFFF00"/>
                </a:highlight>
                <a:latin typeface="Times New Roman" panose="02020603050405020304" pitchFamily="18" charset="0"/>
              </a:rPr>
              <a:t>if </a:t>
            </a:r>
            <a:r>
              <a:rPr lang="en-US" altLang="zh-CN" sz="2600" i="1" dirty="0" err="1">
                <a:highlight>
                  <a:srgbClr val="FFFF00"/>
                </a:highlight>
                <a:latin typeface="Times New Roman" panose="02020603050405020304" pitchFamily="18" charset="0"/>
              </a:rPr>
              <a:t>ε</a:t>
            </a:r>
            <a:r>
              <a:rPr lang="en-US" altLang="zh-CN" sz="2600" dirty="0" err="1">
                <a:highlight>
                  <a:srgbClr val="FFFF00"/>
                </a:highlight>
                <a:latin typeface="Times New Roman" panose="02020603050405020304" pitchFamily="18" charset="0"/>
                <a:sym typeface="Symbol" panose="05050102010706020507" pitchFamily="18" charset="2"/>
              </a:rPr>
              <a:t></a:t>
            </a:r>
            <a:r>
              <a:rPr lang="en-US" altLang="zh-CN" sz="2600" dirty="0" err="1">
                <a:highlight>
                  <a:srgbClr val="FFFF00"/>
                </a:highlight>
                <a:latin typeface="Times New Roman" panose="02020603050405020304" pitchFamily="18" charset="0"/>
              </a:rPr>
              <a:t>FIRST</a:t>
            </a:r>
            <a:r>
              <a:rPr lang="en-US" altLang="zh-CN" sz="2600" dirty="0">
                <a:highlight>
                  <a:srgbClr val="FFFF00"/>
                </a:highlight>
                <a:latin typeface="Times New Roman" panose="02020603050405020304" pitchFamily="18" charset="0"/>
              </a:rPr>
              <a:t>(</a:t>
            </a:r>
            <a:r>
              <a:rPr lang="en-US" altLang="zh-CN" sz="2600" i="1" dirty="0">
                <a:highlight>
                  <a:srgbClr val="FFFF00"/>
                </a:highlight>
                <a:latin typeface="Times New Roman" panose="02020603050405020304" pitchFamily="18" charset="0"/>
              </a:rPr>
              <a:t>α</a:t>
            </a:r>
            <a:r>
              <a:rPr lang="en-US" altLang="zh-CN" sz="2600" dirty="0">
                <a:highlight>
                  <a:srgbClr val="FFFF00"/>
                </a:highlight>
                <a:latin typeface="Times New Roman" panose="02020603050405020304" pitchFamily="18" charset="0"/>
              </a:rPr>
              <a:t>) then </a:t>
            </a:r>
            <a:r>
              <a:rPr lang="en-US" altLang="zh-CN" sz="2600" dirty="0">
                <a:highlight>
                  <a:srgbClr val="FFFF00"/>
                </a:highlight>
                <a:latin typeface="Times New Roman" panose="02020603050405020304" pitchFamily="18" charset="0"/>
                <a:sym typeface="Symbol" panose="05050102010706020507" pitchFamily="18" charset="2"/>
              </a:rPr>
              <a:t></a:t>
            </a:r>
            <a:r>
              <a:rPr lang="en-US" altLang="zh-CN" sz="2600" i="1" dirty="0" err="1">
                <a:highlight>
                  <a:srgbClr val="FFFF00"/>
                </a:highlight>
                <a:latin typeface="Times New Roman" panose="02020603050405020304" pitchFamily="18" charset="0"/>
              </a:rPr>
              <a:t>b</a:t>
            </a:r>
            <a:r>
              <a:rPr lang="en-US" altLang="zh-CN" sz="2600" dirty="0" err="1">
                <a:highlight>
                  <a:srgbClr val="FFFF00"/>
                </a:highlight>
                <a:latin typeface="Times New Roman" panose="02020603050405020304" pitchFamily="18" charset="0"/>
                <a:sym typeface="Symbol" panose="05050102010706020507" pitchFamily="18" charset="2"/>
              </a:rPr>
              <a:t></a:t>
            </a:r>
            <a:r>
              <a:rPr lang="en-US" altLang="zh-CN" sz="2600" dirty="0" err="1">
                <a:highlight>
                  <a:srgbClr val="FFFF00"/>
                </a:highlight>
                <a:latin typeface="Times New Roman" panose="02020603050405020304" pitchFamily="18" charset="0"/>
              </a:rPr>
              <a:t>FOLLOW</a:t>
            </a:r>
            <a:r>
              <a:rPr lang="en-US" altLang="zh-CN" sz="2600" dirty="0">
                <a:highlight>
                  <a:srgbClr val="FFFF00"/>
                </a:highlight>
                <a:latin typeface="Times New Roman" panose="02020603050405020304" pitchFamily="18" charset="0"/>
              </a:rPr>
              <a:t>(</a:t>
            </a:r>
            <a:r>
              <a:rPr lang="en-US" altLang="zh-CN" sz="2600" i="1" dirty="0">
                <a:highlight>
                  <a:srgbClr val="FFFF00"/>
                </a:highlight>
                <a:latin typeface="Times New Roman" panose="02020603050405020304" pitchFamily="18" charset="0"/>
              </a:rPr>
              <a:t>A</a:t>
            </a:r>
            <a:r>
              <a:rPr lang="en-US" altLang="zh-CN" sz="2600" dirty="0">
                <a:highlight>
                  <a:srgbClr val="FFFF00"/>
                </a:highlight>
                <a:latin typeface="Times New Roman" panose="02020603050405020304" pitchFamily="18" charset="0"/>
              </a:rPr>
              <a:t>),</a:t>
            </a:r>
            <a:r>
              <a:rPr lang="zh-CN" altLang="en-US" sz="2600" dirty="0">
                <a:highlight>
                  <a:srgbClr val="FFFF00"/>
                </a:highlight>
                <a:latin typeface="Times New Roman" panose="02020603050405020304" pitchFamily="18" charset="0"/>
              </a:rPr>
              <a:t>将</a:t>
            </a:r>
            <a:r>
              <a:rPr lang="en-US" altLang="zh-CN" sz="2600" i="1" dirty="0">
                <a:highlight>
                  <a:srgbClr val="FFFF00"/>
                </a:highlight>
                <a:latin typeface="Times New Roman" panose="02020603050405020304" pitchFamily="18" charset="0"/>
              </a:rPr>
              <a:t>A</a:t>
            </a:r>
            <a:r>
              <a:rPr lang="en-US" altLang="zh-CN" sz="2600" dirty="0">
                <a:highlight>
                  <a:srgbClr val="FFFF00"/>
                </a:highlight>
                <a:latin typeface="Times New Roman" panose="02020603050405020304" pitchFamily="18" charset="0"/>
              </a:rPr>
              <a:t>→</a:t>
            </a:r>
            <a:r>
              <a:rPr lang="en-US" altLang="zh-CN" sz="2600" i="1" dirty="0">
                <a:highlight>
                  <a:srgbClr val="FFFF00"/>
                </a:highlight>
                <a:latin typeface="Times New Roman" panose="02020603050405020304" pitchFamily="18" charset="0"/>
              </a:rPr>
              <a:t>α</a:t>
            </a:r>
            <a:r>
              <a:rPr lang="zh-CN" altLang="en-US" sz="2600" dirty="0">
                <a:highlight>
                  <a:srgbClr val="FFFF00"/>
                </a:highlight>
                <a:latin typeface="Times New Roman" panose="02020603050405020304" pitchFamily="18" charset="0"/>
              </a:rPr>
              <a:t>填入</a:t>
            </a:r>
            <a:r>
              <a:rPr lang="en-US" altLang="zh-CN" sz="2600" i="1" dirty="0">
                <a:highlight>
                  <a:srgbClr val="FFFF00"/>
                </a:highlight>
                <a:latin typeface="Times New Roman" panose="02020603050405020304" pitchFamily="18" charset="0"/>
              </a:rPr>
              <a:t>M</a:t>
            </a:r>
            <a:r>
              <a:rPr lang="en-US" altLang="zh-CN" sz="2600" dirty="0">
                <a:highlight>
                  <a:srgbClr val="FFFF00"/>
                </a:highlight>
                <a:latin typeface="Times New Roman" panose="02020603050405020304" pitchFamily="18" charset="0"/>
              </a:rPr>
              <a:t>[</a:t>
            </a:r>
            <a:r>
              <a:rPr lang="en-US" altLang="zh-CN" sz="2600" i="1" dirty="0">
                <a:highlight>
                  <a:srgbClr val="FFFF00"/>
                </a:highlight>
                <a:latin typeface="Times New Roman" panose="02020603050405020304" pitchFamily="18" charset="0"/>
              </a:rPr>
              <a:t>A</a:t>
            </a:r>
            <a:r>
              <a:rPr lang="en-US" altLang="zh-CN" sz="2600" dirty="0">
                <a:highlight>
                  <a:srgbClr val="FFFF00"/>
                </a:highlight>
                <a:latin typeface="Times New Roman" panose="02020603050405020304" pitchFamily="18" charset="0"/>
              </a:rPr>
              <a:t>, </a:t>
            </a:r>
            <a:r>
              <a:rPr lang="en-US" altLang="zh-CN" sz="2600" i="1" dirty="0">
                <a:highlight>
                  <a:srgbClr val="FFFF00"/>
                </a:highlight>
                <a:latin typeface="Times New Roman" panose="02020603050405020304" pitchFamily="18" charset="0"/>
              </a:rPr>
              <a:t>b</a:t>
            </a:r>
            <a:r>
              <a:rPr lang="en-US" altLang="zh-CN" sz="2600" dirty="0">
                <a:highlight>
                  <a:srgbClr val="FFFF00"/>
                </a:highlight>
                <a:latin typeface="Times New Roman" panose="02020603050405020304" pitchFamily="18" charset="0"/>
              </a:rPr>
              <a:t>];</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rPr>
              <a:t>	   if </a:t>
            </a:r>
            <a:r>
              <a:rPr lang="en-US" altLang="zh-CN" sz="2600" i="1" dirty="0" err="1">
                <a:latin typeface="Times New Roman" panose="02020603050405020304" pitchFamily="18" charset="0"/>
              </a:rPr>
              <a:t>ε</a:t>
            </a:r>
            <a:r>
              <a:rPr lang="en-US" altLang="zh-CN" sz="2600" dirty="0" err="1">
                <a:latin typeface="Times New Roman" panose="02020603050405020304" pitchFamily="18" charset="0"/>
                <a:sym typeface="Symbol" panose="05050102010706020507" pitchFamily="18" charset="2"/>
              </a:rPr>
              <a:t></a:t>
            </a:r>
            <a:r>
              <a:rPr lang="en-US" altLang="zh-CN" sz="2600" dirty="0" err="1">
                <a:latin typeface="Times New Roman" panose="02020603050405020304" pitchFamily="18" charset="0"/>
              </a:rPr>
              <a:t>FIRST</a:t>
            </a:r>
            <a:r>
              <a:rPr lang="en-US" altLang="zh-CN" sz="2600" dirty="0">
                <a:latin typeface="Times New Roman" panose="02020603050405020304" pitchFamily="18" charset="0"/>
              </a:rPr>
              <a:t>(</a:t>
            </a:r>
            <a:r>
              <a:rPr lang="en-US" altLang="zh-CN" sz="2600" i="1" dirty="0">
                <a:latin typeface="Times New Roman" panose="02020603050405020304" pitchFamily="18" charset="0"/>
              </a:rPr>
              <a:t>α</a:t>
            </a:r>
            <a:r>
              <a:rPr lang="en-US" altLang="zh-CN" sz="2600" dirty="0">
                <a:highlight>
                  <a:srgbClr val="FFFF00"/>
                </a:highlight>
                <a:latin typeface="Times New Roman" panose="02020603050405020304" pitchFamily="18" charset="0"/>
              </a:rPr>
              <a:t>)&amp;#</a:t>
            </a:r>
            <a:r>
              <a:rPr lang="en-US" altLang="zh-CN" sz="2600" dirty="0">
                <a:highlight>
                  <a:srgbClr val="FFFF00"/>
                </a:highlight>
                <a:latin typeface="Times New Roman" panose="02020603050405020304" pitchFamily="18" charset="0"/>
                <a:sym typeface="Symbol" panose="05050102010706020507" pitchFamily="18" charset="2"/>
              </a:rPr>
              <a:t></a:t>
            </a:r>
            <a:r>
              <a:rPr lang="en-US" altLang="zh-CN" sz="2600" dirty="0">
                <a:highlight>
                  <a:srgbClr val="FFFF00"/>
                </a:highlight>
                <a:latin typeface="Times New Roman" panose="02020603050405020304" pitchFamily="18" charset="0"/>
              </a:rPr>
              <a:t>FOLLOW(</a:t>
            </a:r>
            <a:r>
              <a:rPr lang="en-US" altLang="zh-CN" sz="2600" i="1" dirty="0">
                <a:highlight>
                  <a:srgbClr val="FFFF00"/>
                </a:highlight>
                <a:latin typeface="Times New Roman" panose="02020603050405020304" pitchFamily="18" charset="0"/>
              </a:rPr>
              <a:t>A</a:t>
            </a:r>
            <a:r>
              <a:rPr lang="en-US" altLang="zh-CN" sz="2600" dirty="0">
                <a:highlight>
                  <a:srgbClr val="FFFF00"/>
                </a:highlight>
                <a:latin typeface="Times New Roman" panose="02020603050405020304" pitchFamily="18" charset="0"/>
              </a:rPr>
              <a:t>) </a:t>
            </a:r>
            <a:r>
              <a:rPr lang="en-US" altLang="zh-CN" sz="2600" dirty="0">
                <a:latin typeface="Times New Roman" panose="02020603050405020304" pitchFamily="18" charset="0"/>
              </a:rPr>
              <a:t>then</a:t>
            </a:r>
            <a:r>
              <a:rPr lang="zh-CN" altLang="en-US" sz="2600" dirty="0">
                <a:latin typeface="Times New Roman" panose="02020603050405020304" pitchFamily="18" charset="0"/>
              </a:rPr>
              <a:t>将</a:t>
            </a:r>
            <a:r>
              <a:rPr lang="en-US" altLang="zh-CN" sz="2600" i="1" dirty="0">
                <a:latin typeface="Times New Roman" panose="02020603050405020304" pitchFamily="18" charset="0"/>
              </a:rPr>
              <a:t>A</a:t>
            </a:r>
            <a:r>
              <a:rPr lang="en-US" altLang="zh-CN" sz="2600" dirty="0">
                <a:latin typeface="Times New Roman" panose="02020603050405020304" pitchFamily="18" charset="0"/>
              </a:rPr>
              <a:t>→</a:t>
            </a:r>
            <a:r>
              <a:rPr lang="en-US" altLang="zh-CN" sz="2600" i="1" dirty="0">
                <a:latin typeface="Times New Roman" panose="02020603050405020304" pitchFamily="18" charset="0"/>
              </a:rPr>
              <a:t>α</a:t>
            </a:r>
            <a:r>
              <a:rPr lang="zh-CN" altLang="en-US" sz="2600" dirty="0">
                <a:latin typeface="Times New Roman" panose="02020603050405020304" pitchFamily="18" charset="0"/>
              </a:rPr>
              <a:t>填入</a:t>
            </a:r>
            <a:r>
              <a:rPr lang="en-US" altLang="zh-CN" sz="2600" i="1" dirty="0">
                <a:latin typeface="Times New Roman" panose="02020603050405020304" pitchFamily="18" charset="0"/>
              </a:rPr>
              <a:t>M</a:t>
            </a:r>
            <a:r>
              <a:rPr lang="en-US" altLang="zh-CN" sz="2600" dirty="0">
                <a:latin typeface="Times New Roman" panose="02020603050405020304" pitchFamily="18" charset="0"/>
              </a:rPr>
              <a:t>[</a:t>
            </a:r>
            <a:r>
              <a:rPr lang="en-US" altLang="zh-CN" sz="2600" i="1" dirty="0">
                <a:latin typeface="Times New Roman" panose="02020603050405020304" pitchFamily="18" charset="0"/>
              </a:rPr>
              <a:t>A</a:t>
            </a:r>
            <a:r>
              <a:rPr lang="en-US" altLang="zh-CN" sz="2600" dirty="0">
                <a:latin typeface="Times New Roman" panose="02020603050405020304" pitchFamily="18" charset="0"/>
              </a:rPr>
              <a:t>, #];</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rPr>
              <a:t>4</a:t>
            </a:r>
            <a:r>
              <a:rPr lang="zh-CN" altLang="en-US" sz="2600" dirty="0">
                <a:latin typeface="Times New Roman" panose="02020603050405020304" pitchFamily="18" charset="0"/>
              </a:rPr>
              <a:t>．将所有无定义的</a:t>
            </a:r>
            <a:r>
              <a:rPr lang="en-US" altLang="zh-CN" sz="2600" i="1" dirty="0">
                <a:latin typeface="Times New Roman" panose="02020603050405020304" pitchFamily="18" charset="0"/>
              </a:rPr>
              <a:t>M</a:t>
            </a:r>
            <a:r>
              <a:rPr lang="en-US" altLang="zh-CN" sz="2600" dirty="0">
                <a:latin typeface="Times New Roman" panose="02020603050405020304" pitchFamily="18" charset="0"/>
              </a:rPr>
              <a:t>[</a:t>
            </a:r>
            <a:r>
              <a:rPr lang="en-US" altLang="zh-CN" sz="2600" i="1" dirty="0">
                <a:latin typeface="Times New Roman" panose="02020603050405020304" pitchFamily="18" charset="0"/>
              </a:rPr>
              <a:t>A</a:t>
            </a:r>
            <a:r>
              <a:rPr lang="en-US" altLang="zh-CN" sz="2600" dirty="0">
                <a:latin typeface="Times New Roman" panose="02020603050405020304" pitchFamily="18" charset="0"/>
              </a:rPr>
              <a:t>, </a:t>
            </a:r>
            <a:r>
              <a:rPr lang="en-US" altLang="zh-CN" sz="2600" i="1" dirty="0">
                <a:latin typeface="Times New Roman" panose="02020603050405020304" pitchFamily="18" charset="0"/>
              </a:rPr>
              <a:t>b</a:t>
            </a:r>
            <a:r>
              <a:rPr lang="en-US" altLang="zh-CN" sz="2600" dirty="0">
                <a:latin typeface="Times New Roman" panose="02020603050405020304" pitchFamily="18" charset="0"/>
              </a:rPr>
              <a:t>]</a:t>
            </a:r>
            <a:r>
              <a:rPr lang="zh-CN" altLang="en-US" sz="2600" dirty="0">
                <a:latin typeface="Times New Roman" panose="02020603050405020304" pitchFamily="18" charset="0"/>
              </a:rPr>
              <a:t>标上</a:t>
            </a:r>
            <a:r>
              <a:rPr lang="zh-CN" altLang="en-US" sz="2600" dirty="0">
                <a:highlight>
                  <a:srgbClr val="FFFF00"/>
                </a:highlight>
                <a:latin typeface="Times New Roman" panose="02020603050405020304" pitchFamily="18" charset="0"/>
              </a:rPr>
              <a:t>出错标志</a:t>
            </a:r>
            <a:r>
              <a:rPr lang="zh-CN" altLang="en-US" sz="2600" dirty="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59171">
                                            <p:txEl>
                                              <p:pRg st="0" end="0"/>
                                            </p:txEl>
                                          </p:spTgt>
                                        </p:tgtEl>
                                        <p:attrNameLst>
                                          <p:attrName>style.visibility</p:attrName>
                                        </p:attrNameLst>
                                      </p:cBhvr>
                                      <p:to>
                                        <p:strVal val="visible"/>
                                      </p:to>
                                    </p:set>
                                    <p:animEffect transition="in" filter="wipe(up)">
                                      <p:cBhvr>
                                        <p:cTn id="7" dur="75"/>
                                        <p:tgtEl>
                                          <p:spTgt spid="115917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59171">
                                            <p:txEl>
                                              <p:pRg st="1" end="1"/>
                                            </p:txEl>
                                          </p:spTgt>
                                        </p:tgtEl>
                                        <p:attrNameLst>
                                          <p:attrName>style.visibility</p:attrName>
                                        </p:attrNameLst>
                                      </p:cBhvr>
                                      <p:to>
                                        <p:strVal val="visible"/>
                                      </p:to>
                                    </p:set>
                                    <p:animEffect transition="in" filter="wipe(up)">
                                      <p:cBhvr>
                                        <p:cTn id="12" dur="75"/>
                                        <p:tgtEl>
                                          <p:spTgt spid="115917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59171">
                                            <p:txEl>
                                              <p:pRg st="2" end="2"/>
                                            </p:txEl>
                                          </p:spTgt>
                                        </p:tgtEl>
                                        <p:attrNameLst>
                                          <p:attrName>style.visibility</p:attrName>
                                        </p:attrNameLst>
                                      </p:cBhvr>
                                      <p:to>
                                        <p:strVal val="visible"/>
                                      </p:to>
                                    </p:set>
                                    <p:animEffect transition="in" filter="wipe(up)">
                                      <p:cBhvr>
                                        <p:cTn id="17" dur="75"/>
                                        <p:tgtEl>
                                          <p:spTgt spid="115917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59171">
                                            <p:txEl>
                                              <p:pRg st="3" end="3"/>
                                            </p:txEl>
                                          </p:spTgt>
                                        </p:tgtEl>
                                        <p:attrNameLst>
                                          <p:attrName>style.visibility</p:attrName>
                                        </p:attrNameLst>
                                      </p:cBhvr>
                                      <p:to>
                                        <p:strVal val="visible"/>
                                      </p:to>
                                    </p:set>
                                    <p:animEffect transition="in" filter="wipe(up)">
                                      <p:cBhvr>
                                        <p:cTn id="22" dur="75"/>
                                        <p:tgtEl>
                                          <p:spTgt spid="1159171">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1159171">
                                            <p:txEl>
                                              <p:pRg st="4" end="4"/>
                                            </p:txEl>
                                          </p:spTgt>
                                        </p:tgtEl>
                                        <p:attrNameLst>
                                          <p:attrName>style.visibility</p:attrName>
                                        </p:attrNameLst>
                                      </p:cBhvr>
                                      <p:to>
                                        <p:strVal val="visible"/>
                                      </p:to>
                                    </p:set>
                                    <p:animEffect transition="in" filter="wipe(up)">
                                      <p:cBhvr>
                                        <p:cTn id="27" dur="75"/>
                                        <p:tgtEl>
                                          <p:spTgt spid="1159171">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1159171">
                                            <p:txEl>
                                              <p:pRg st="5" end="5"/>
                                            </p:txEl>
                                          </p:spTgt>
                                        </p:tgtEl>
                                        <p:attrNameLst>
                                          <p:attrName>style.visibility</p:attrName>
                                        </p:attrNameLst>
                                      </p:cBhvr>
                                      <p:to>
                                        <p:strVal val="visible"/>
                                      </p:to>
                                    </p:set>
                                    <p:animEffect transition="in" filter="wipe(up)">
                                      <p:cBhvr>
                                        <p:cTn id="32" dur="75"/>
                                        <p:tgtEl>
                                          <p:spTgt spid="1159171">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1159171">
                                            <p:txEl>
                                              <p:pRg st="6" end="6"/>
                                            </p:txEl>
                                          </p:spTgt>
                                        </p:tgtEl>
                                        <p:attrNameLst>
                                          <p:attrName>style.visibility</p:attrName>
                                        </p:attrNameLst>
                                      </p:cBhvr>
                                      <p:to>
                                        <p:strVal val="visible"/>
                                      </p:to>
                                    </p:set>
                                    <p:animEffect transition="in" filter="wipe(up)">
                                      <p:cBhvr>
                                        <p:cTn id="37" dur="75"/>
                                        <p:tgtEl>
                                          <p:spTgt spid="1159171">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iterate type="lt">
                                    <p:tmPct val="100000"/>
                                  </p:iterate>
                                  <p:childTnLst>
                                    <p:set>
                                      <p:cBhvr>
                                        <p:cTn id="41" dur="1" fill="hold">
                                          <p:stCondLst>
                                            <p:cond delay="0"/>
                                          </p:stCondLst>
                                        </p:cTn>
                                        <p:tgtEl>
                                          <p:spTgt spid="1159171">
                                            <p:txEl>
                                              <p:pRg st="7" end="7"/>
                                            </p:txEl>
                                          </p:spTgt>
                                        </p:tgtEl>
                                        <p:attrNameLst>
                                          <p:attrName>style.visibility</p:attrName>
                                        </p:attrNameLst>
                                      </p:cBhvr>
                                      <p:to>
                                        <p:strVal val="visible"/>
                                      </p:to>
                                    </p:set>
                                    <p:animEffect transition="in" filter="wipe(up)">
                                      <p:cBhvr>
                                        <p:cTn id="42" dur="75"/>
                                        <p:tgtEl>
                                          <p:spTgt spid="1159171">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iterate type="lt">
                                    <p:tmPct val="100000"/>
                                  </p:iterate>
                                  <p:childTnLst>
                                    <p:set>
                                      <p:cBhvr>
                                        <p:cTn id="46" dur="1" fill="hold">
                                          <p:stCondLst>
                                            <p:cond delay="0"/>
                                          </p:stCondLst>
                                        </p:cTn>
                                        <p:tgtEl>
                                          <p:spTgt spid="1159171">
                                            <p:txEl>
                                              <p:pRg st="8" end="8"/>
                                            </p:txEl>
                                          </p:spTgt>
                                        </p:tgtEl>
                                        <p:attrNameLst>
                                          <p:attrName>style.visibility</p:attrName>
                                        </p:attrNameLst>
                                      </p:cBhvr>
                                      <p:to>
                                        <p:strVal val="visible"/>
                                      </p:to>
                                    </p:set>
                                    <p:animEffect transition="in" filter="wipe(up)">
                                      <p:cBhvr>
                                        <p:cTn id="47" dur="75"/>
                                        <p:tgtEl>
                                          <p:spTgt spid="1159171">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1" grpId="0" build="p" bldLvl="2"/>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A6CC920-E06C-4061-A9A3-1DB98F61C581}"/>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6D29EA99-2AED-48B5-A8F4-E31D7E0EDB7A}" type="datetime1">
              <a:rPr lang="zh-CN" altLang="en-US" noProof="0" smtClean="0">
                <a:latin typeface="+mn-lt"/>
              </a:rPr>
              <a:pPr>
                <a:buFontTx/>
                <a:buNone/>
                <a:defRPr/>
              </a:pPr>
              <a:t>2025/6/26</a:t>
            </a:fld>
            <a:endParaRPr lang="en-US" altLang="zh-CN" noProof="0">
              <a:latin typeface="+mn-lt"/>
            </a:endParaRPr>
          </a:p>
        </p:txBody>
      </p:sp>
      <p:sp>
        <p:nvSpPr>
          <p:cNvPr id="71683" name="灯片编号占位符 5">
            <a:extLst>
              <a:ext uri="{FF2B5EF4-FFF2-40B4-BE49-F238E27FC236}">
                <a16:creationId xmlns:a16="http://schemas.microsoft.com/office/drawing/2014/main" id="{5F89F53A-3763-471C-A264-BFDE6DA1DB3E}"/>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51CB6B70-2AD7-4D7E-91FF-EDA018621909}" type="slidenum">
              <a:rPr lang="en-US" altLang="zh-CN" sz="1400">
                <a:latin typeface="Arial" panose="020B0604020202020204" pitchFamily="34" charset="0"/>
              </a:rPr>
              <a:pPr/>
              <a:t>26</a:t>
            </a:fld>
            <a:endParaRPr lang="en-US" altLang="zh-CN" sz="1400">
              <a:latin typeface="Arial" panose="020B0604020202020204" pitchFamily="34" charset="0"/>
            </a:endParaRPr>
          </a:p>
        </p:txBody>
      </p:sp>
      <p:sp>
        <p:nvSpPr>
          <p:cNvPr id="71684" name="Rectangle 2">
            <a:extLst>
              <a:ext uri="{FF2B5EF4-FFF2-40B4-BE49-F238E27FC236}">
                <a16:creationId xmlns:a16="http://schemas.microsoft.com/office/drawing/2014/main" id="{EE9A78A5-35A6-4141-9C48-C0D1C419F250}"/>
              </a:ext>
            </a:extLst>
          </p:cNvPr>
          <p:cNvSpPr>
            <a:spLocks noGrp="1" noChangeArrowheads="1"/>
          </p:cNvSpPr>
          <p:nvPr>
            <p:ph type="title" idx="4294967295"/>
          </p:nvPr>
        </p:nvSpPr>
        <p:spPr>
          <a:xfrm>
            <a:off x="2855914" y="260351"/>
            <a:ext cx="6200775" cy="792163"/>
          </a:xfrm>
        </p:spPr>
        <p:txBody>
          <a:bodyPr vert="horz" lIns="92075" tIns="46038" rIns="92075" bIns="46038" rtlCol="0" anchor="ctr">
            <a:normAutofit/>
          </a:bodyPr>
          <a:lstStyle/>
          <a:p>
            <a:pPr eaLnBrk="1" hangingPunct="1"/>
            <a:r>
              <a:rPr lang="zh-CN" altLang="en-US"/>
              <a:t>预测分析法的实现步骤</a:t>
            </a:r>
          </a:p>
        </p:txBody>
      </p:sp>
      <p:sp>
        <p:nvSpPr>
          <p:cNvPr id="1161219" name="Rectangle 3">
            <a:extLst>
              <a:ext uri="{FF2B5EF4-FFF2-40B4-BE49-F238E27FC236}">
                <a16:creationId xmlns:a16="http://schemas.microsoft.com/office/drawing/2014/main" id="{517AF4A1-9429-4F30-AD12-AA0D5CD26E38}"/>
              </a:ext>
            </a:extLst>
          </p:cNvPr>
          <p:cNvSpPr>
            <a:spLocks noGrp="1" noChangeArrowheads="1"/>
          </p:cNvSpPr>
          <p:nvPr>
            <p:ph type="body" idx="4294967295"/>
          </p:nvPr>
        </p:nvSpPr>
        <p:spPr>
          <a:xfrm>
            <a:off x="1847851" y="1628776"/>
            <a:ext cx="8785225" cy="4824413"/>
          </a:xfrm>
        </p:spPr>
        <p:txBody>
          <a:bodyPr vert="horz" lIns="92075" tIns="46038" rIns="92075" bIns="46038" rtlCol="0">
            <a:normAutofit/>
          </a:bodyPr>
          <a:lstStyle/>
          <a:p>
            <a:pPr eaLnBrk="1" hangingPunct="1">
              <a:lnSpc>
                <a:spcPct val="120000"/>
              </a:lnSpc>
              <a:buFont typeface="Wingdings" panose="05000000000000000000" pitchFamily="2" charset="2"/>
              <a:buNone/>
            </a:pPr>
            <a:r>
              <a:rPr lang="en-US" altLang="zh-CN">
                <a:latin typeface="Times New Roman" panose="02020603050405020304" pitchFamily="18" charset="0"/>
              </a:rPr>
              <a:t>1. </a:t>
            </a:r>
            <a:r>
              <a:rPr lang="zh-CN" altLang="en-US">
                <a:latin typeface="Times New Roman" panose="02020603050405020304" pitchFamily="18" charset="0"/>
              </a:rPr>
              <a:t>构造文法</a:t>
            </a:r>
          </a:p>
          <a:p>
            <a:pPr eaLnBrk="1" hangingPunct="1">
              <a:lnSpc>
                <a:spcPct val="120000"/>
              </a:lnSpc>
              <a:buFont typeface="Wingdings" panose="05000000000000000000" pitchFamily="2" charset="2"/>
              <a:buNone/>
            </a:pPr>
            <a:r>
              <a:rPr lang="en-US" altLang="zh-CN">
                <a:latin typeface="Times New Roman" panose="02020603050405020304" pitchFamily="18" charset="0"/>
              </a:rPr>
              <a:t>2. </a:t>
            </a:r>
            <a:r>
              <a:rPr lang="zh-CN" altLang="en-US">
                <a:latin typeface="Times New Roman" panose="02020603050405020304" pitchFamily="18" charset="0"/>
              </a:rPr>
              <a:t>改造文法：消除二义性、消除左递归、提取左因子</a:t>
            </a:r>
          </a:p>
          <a:p>
            <a:pPr eaLnBrk="1" hangingPunct="1">
              <a:lnSpc>
                <a:spcPct val="120000"/>
              </a:lnSpc>
              <a:buFont typeface="Wingdings" panose="05000000000000000000" pitchFamily="2" charset="2"/>
              <a:buNone/>
            </a:pPr>
            <a:r>
              <a:rPr lang="en-US" altLang="zh-CN">
                <a:latin typeface="Times New Roman" panose="02020603050405020304" pitchFamily="18" charset="0"/>
              </a:rPr>
              <a:t>3. </a:t>
            </a:r>
            <a:r>
              <a:rPr lang="zh-CN" altLang="en-US">
                <a:latin typeface="Times New Roman" panose="02020603050405020304" pitchFamily="18" charset="0"/>
              </a:rPr>
              <a:t>求每个候选式的</a:t>
            </a:r>
            <a:r>
              <a:rPr lang="en-US" altLang="zh-CN">
                <a:latin typeface="Times New Roman" panose="02020603050405020304" pitchFamily="18" charset="0"/>
              </a:rPr>
              <a:t>FIRST</a:t>
            </a:r>
            <a:r>
              <a:rPr lang="zh-CN" altLang="zh-CN">
                <a:latin typeface="Times New Roman" panose="02020603050405020304" pitchFamily="18" charset="0"/>
              </a:rPr>
              <a:t>集和</a:t>
            </a:r>
            <a:r>
              <a:rPr lang="zh-CN" altLang="en-US">
                <a:latin typeface="Times New Roman" panose="02020603050405020304" pitchFamily="18" charset="0"/>
              </a:rPr>
              <a:t>变量的</a:t>
            </a:r>
            <a:r>
              <a:rPr lang="en-US" altLang="zh-CN">
                <a:latin typeface="Times New Roman" panose="02020603050405020304" pitchFamily="18" charset="0"/>
              </a:rPr>
              <a:t>FOLLOW</a:t>
            </a:r>
            <a:r>
              <a:rPr lang="zh-CN" altLang="zh-CN">
                <a:latin typeface="Times New Roman" panose="02020603050405020304" pitchFamily="18" charset="0"/>
              </a:rPr>
              <a:t>集</a:t>
            </a:r>
          </a:p>
          <a:p>
            <a:pPr eaLnBrk="1" hangingPunct="1">
              <a:lnSpc>
                <a:spcPct val="120000"/>
              </a:lnSpc>
              <a:buFont typeface="Wingdings" panose="05000000000000000000" pitchFamily="2" charset="2"/>
              <a:buNone/>
            </a:pPr>
            <a:r>
              <a:rPr lang="zh-CN" altLang="zh-CN">
                <a:latin typeface="Times New Roman" panose="02020603050405020304" pitchFamily="18" charset="0"/>
              </a:rPr>
              <a:t>4</a:t>
            </a:r>
            <a:r>
              <a:rPr lang="en-US" altLang="zh-CN">
                <a:latin typeface="Times New Roman" panose="02020603050405020304" pitchFamily="18" charset="0"/>
              </a:rPr>
              <a:t>. </a:t>
            </a:r>
            <a:r>
              <a:rPr lang="zh-CN" altLang="zh-CN">
                <a:latin typeface="Times New Roman" panose="02020603050405020304" pitchFamily="18" charset="0"/>
              </a:rPr>
              <a:t>检查是不是 </a:t>
            </a:r>
            <a:r>
              <a:rPr lang="en-US" altLang="zh-CN">
                <a:latin typeface="Times New Roman" panose="02020603050405020304" pitchFamily="18" charset="0"/>
              </a:rPr>
              <a:t>LL(1) </a:t>
            </a:r>
            <a:r>
              <a:rPr lang="zh-CN" altLang="en-US">
                <a:latin typeface="Times New Roman" panose="02020603050405020304" pitchFamily="18" charset="0"/>
              </a:rPr>
              <a:t>文法</a:t>
            </a:r>
          </a:p>
          <a:p>
            <a:pPr lvl="1" eaLnBrk="1" hangingPunct="1">
              <a:lnSpc>
                <a:spcPct val="120000"/>
              </a:lnSpc>
              <a:buFont typeface="Wingdings" panose="05000000000000000000" pitchFamily="2" charset="2"/>
              <a:buNone/>
            </a:pPr>
            <a:r>
              <a:rPr lang="zh-CN" altLang="en-US">
                <a:latin typeface="Times New Roman" panose="02020603050405020304" pitchFamily="18" charset="0"/>
              </a:rPr>
              <a:t>    若不是 </a:t>
            </a:r>
            <a:r>
              <a:rPr lang="en-US" altLang="zh-CN">
                <a:latin typeface="Times New Roman" panose="02020603050405020304" pitchFamily="18" charset="0"/>
              </a:rPr>
              <a:t>LL(1),</a:t>
            </a:r>
            <a:r>
              <a:rPr lang="zh-CN" altLang="en-US">
                <a:latin typeface="Times New Roman" panose="02020603050405020304" pitchFamily="18" charset="0"/>
              </a:rPr>
              <a:t>说明文法的复杂性超过自顶向下方法的分析能力，需要附加新的“信息”</a:t>
            </a:r>
          </a:p>
          <a:p>
            <a:pPr eaLnBrk="1" hangingPunct="1">
              <a:lnSpc>
                <a:spcPct val="120000"/>
              </a:lnSpc>
              <a:buFont typeface="Wingdings" panose="05000000000000000000" pitchFamily="2" charset="2"/>
              <a:buNone/>
            </a:pPr>
            <a:r>
              <a:rPr lang="en-US" altLang="zh-CN">
                <a:latin typeface="Times New Roman" panose="02020603050405020304" pitchFamily="18" charset="0"/>
              </a:rPr>
              <a:t>5. </a:t>
            </a:r>
            <a:r>
              <a:rPr lang="zh-CN" altLang="en-US">
                <a:latin typeface="Times New Roman" panose="02020603050405020304" pitchFamily="18" charset="0"/>
              </a:rPr>
              <a:t>构造预测分析表</a:t>
            </a:r>
          </a:p>
          <a:p>
            <a:pPr eaLnBrk="1" hangingPunct="1">
              <a:lnSpc>
                <a:spcPct val="120000"/>
              </a:lnSpc>
              <a:buFont typeface="Wingdings" panose="05000000000000000000" pitchFamily="2" charset="2"/>
              <a:buNone/>
            </a:pPr>
            <a:r>
              <a:rPr lang="en-US" altLang="zh-CN">
                <a:latin typeface="Times New Roman" panose="02020603050405020304" pitchFamily="18" charset="0"/>
              </a:rPr>
              <a:t>6. </a:t>
            </a:r>
            <a:r>
              <a:rPr lang="zh-CN" altLang="en-US">
                <a:latin typeface="Times New Roman" panose="02020603050405020304" pitchFamily="18" charset="0"/>
              </a:rPr>
              <a:t>实现预测分析器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61219">
                                            <p:txEl>
                                              <p:pRg st="0" end="0"/>
                                            </p:txEl>
                                          </p:spTgt>
                                        </p:tgtEl>
                                        <p:attrNameLst>
                                          <p:attrName>style.visibility</p:attrName>
                                        </p:attrNameLst>
                                      </p:cBhvr>
                                      <p:to>
                                        <p:strVal val="visible"/>
                                      </p:to>
                                    </p:set>
                                    <p:animEffect transition="in" filter="wipe(up)">
                                      <p:cBhvr>
                                        <p:cTn id="7" dur="75"/>
                                        <p:tgtEl>
                                          <p:spTgt spid="116121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61219">
                                            <p:txEl>
                                              <p:pRg st="1" end="1"/>
                                            </p:txEl>
                                          </p:spTgt>
                                        </p:tgtEl>
                                        <p:attrNameLst>
                                          <p:attrName>style.visibility</p:attrName>
                                        </p:attrNameLst>
                                      </p:cBhvr>
                                      <p:to>
                                        <p:strVal val="visible"/>
                                      </p:to>
                                    </p:set>
                                    <p:animEffect transition="in" filter="wipe(up)">
                                      <p:cBhvr>
                                        <p:cTn id="12" dur="75"/>
                                        <p:tgtEl>
                                          <p:spTgt spid="116121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61219">
                                            <p:txEl>
                                              <p:pRg st="2" end="2"/>
                                            </p:txEl>
                                          </p:spTgt>
                                        </p:tgtEl>
                                        <p:attrNameLst>
                                          <p:attrName>style.visibility</p:attrName>
                                        </p:attrNameLst>
                                      </p:cBhvr>
                                      <p:to>
                                        <p:strVal val="visible"/>
                                      </p:to>
                                    </p:set>
                                    <p:animEffect transition="in" filter="wipe(up)">
                                      <p:cBhvr>
                                        <p:cTn id="17" dur="75"/>
                                        <p:tgtEl>
                                          <p:spTgt spid="116121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61219">
                                            <p:txEl>
                                              <p:pRg st="3" end="3"/>
                                            </p:txEl>
                                          </p:spTgt>
                                        </p:tgtEl>
                                        <p:attrNameLst>
                                          <p:attrName>style.visibility</p:attrName>
                                        </p:attrNameLst>
                                      </p:cBhvr>
                                      <p:to>
                                        <p:strVal val="visible"/>
                                      </p:to>
                                    </p:set>
                                    <p:animEffect transition="in" filter="wipe(up)">
                                      <p:cBhvr>
                                        <p:cTn id="22" dur="75"/>
                                        <p:tgtEl>
                                          <p:spTgt spid="116121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par>
                                <p:cTn id="23" presetID="22" presetClass="entr" presetSubtype="1" fill="hold" grpId="0" nodeType="withEffect">
                                  <p:stCondLst>
                                    <p:cond delay="0"/>
                                  </p:stCondLst>
                                  <p:iterate type="lt">
                                    <p:tmPct val="100000"/>
                                  </p:iterate>
                                  <p:childTnLst>
                                    <p:set>
                                      <p:cBhvr>
                                        <p:cTn id="24" dur="1" fill="hold">
                                          <p:stCondLst>
                                            <p:cond delay="0"/>
                                          </p:stCondLst>
                                        </p:cTn>
                                        <p:tgtEl>
                                          <p:spTgt spid="1161219">
                                            <p:txEl>
                                              <p:pRg st="4" end="4"/>
                                            </p:txEl>
                                          </p:spTgt>
                                        </p:tgtEl>
                                        <p:attrNameLst>
                                          <p:attrName>style.visibility</p:attrName>
                                        </p:attrNameLst>
                                      </p:cBhvr>
                                      <p:to>
                                        <p:strVal val="visible"/>
                                      </p:to>
                                    </p:set>
                                    <p:animEffect transition="in" filter="wipe(up)">
                                      <p:cBhvr>
                                        <p:cTn id="25" dur="75"/>
                                        <p:tgtEl>
                                          <p:spTgt spid="1161219">
                                            <p:txEl>
                                              <p:pRg st="4" end="4"/>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TYPE.WAV"/>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iterate type="lt">
                                    <p:tmPct val="100000"/>
                                  </p:iterate>
                                  <p:childTnLst>
                                    <p:set>
                                      <p:cBhvr>
                                        <p:cTn id="29" dur="1" fill="hold">
                                          <p:stCondLst>
                                            <p:cond delay="0"/>
                                          </p:stCondLst>
                                        </p:cTn>
                                        <p:tgtEl>
                                          <p:spTgt spid="1161219">
                                            <p:txEl>
                                              <p:pRg st="5" end="5"/>
                                            </p:txEl>
                                          </p:spTgt>
                                        </p:tgtEl>
                                        <p:attrNameLst>
                                          <p:attrName>style.visibility</p:attrName>
                                        </p:attrNameLst>
                                      </p:cBhvr>
                                      <p:to>
                                        <p:strVal val="visible"/>
                                      </p:to>
                                    </p:set>
                                    <p:animEffect transition="in" filter="wipe(up)">
                                      <p:cBhvr>
                                        <p:cTn id="30" dur="75"/>
                                        <p:tgtEl>
                                          <p:spTgt spid="1161219">
                                            <p:txEl>
                                              <p:pRg st="5" end="5"/>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TYPE.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iterate type="lt">
                                    <p:tmPct val="100000"/>
                                  </p:iterate>
                                  <p:childTnLst>
                                    <p:set>
                                      <p:cBhvr>
                                        <p:cTn id="34" dur="1" fill="hold">
                                          <p:stCondLst>
                                            <p:cond delay="0"/>
                                          </p:stCondLst>
                                        </p:cTn>
                                        <p:tgtEl>
                                          <p:spTgt spid="1161219">
                                            <p:txEl>
                                              <p:pRg st="6" end="6"/>
                                            </p:txEl>
                                          </p:spTgt>
                                        </p:tgtEl>
                                        <p:attrNameLst>
                                          <p:attrName>style.visibility</p:attrName>
                                        </p:attrNameLst>
                                      </p:cBhvr>
                                      <p:to>
                                        <p:strVal val="visible"/>
                                      </p:to>
                                    </p:set>
                                    <p:animEffect transition="in" filter="wipe(up)">
                                      <p:cBhvr>
                                        <p:cTn id="35" dur="75"/>
                                        <p:tgtEl>
                                          <p:spTgt spid="1161219">
                                            <p:txEl>
                                              <p:pRg st="6" end="6"/>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21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D6856DA-FDD5-484C-A084-1A17FBEFC7AC}"/>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D74F0EEC-A7E8-4E06-85B8-4E1ACA218B54}" type="datetime1">
              <a:rPr lang="zh-CN" altLang="en-US" noProof="0" smtClean="0">
                <a:latin typeface="+mn-lt"/>
              </a:rPr>
              <a:pPr>
                <a:buFontTx/>
                <a:buNone/>
                <a:defRPr/>
              </a:pPr>
              <a:t>2025/6/26</a:t>
            </a:fld>
            <a:endParaRPr lang="en-US" altLang="zh-CN" noProof="0">
              <a:latin typeface="+mn-lt"/>
            </a:endParaRPr>
          </a:p>
        </p:txBody>
      </p:sp>
      <p:sp>
        <p:nvSpPr>
          <p:cNvPr id="72707" name="灯片编号占位符 5">
            <a:extLst>
              <a:ext uri="{FF2B5EF4-FFF2-40B4-BE49-F238E27FC236}">
                <a16:creationId xmlns:a16="http://schemas.microsoft.com/office/drawing/2014/main" id="{187133DC-5618-4248-B93E-9FC62F498451}"/>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05DAC662-4077-42F6-9B40-FF343110173D}" type="slidenum">
              <a:rPr lang="en-US" altLang="zh-CN" sz="1400">
                <a:latin typeface="Arial" panose="020B0604020202020204" pitchFamily="34" charset="0"/>
              </a:rPr>
              <a:pPr/>
              <a:t>27</a:t>
            </a:fld>
            <a:endParaRPr lang="en-US" altLang="zh-CN" sz="1400">
              <a:latin typeface="Arial" panose="020B0604020202020204" pitchFamily="34" charset="0"/>
            </a:endParaRPr>
          </a:p>
        </p:txBody>
      </p:sp>
      <p:sp>
        <p:nvSpPr>
          <p:cNvPr id="72708" name="Rectangle 2">
            <a:extLst>
              <a:ext uri="{FF2B5EF4-FFF2-40B4-BE49-F238E27FC236}">
                <a16:creationId xmlns:a16="http://schemas.microsoft.com/office/drawing/2014/main" id="{DA4B5B79-6759-4A24-B825-7F3FCEA8C50D}"/>
              </a:ext>
            </a:extLst>
          </p:cNvPr>
          <p:cNvSpPr>
            <a:spLocks noGrp="1" noChangeArrowheads="1"/>
          </p:cNvSpPr>
          <p:nvPr>
            <p:ph type="title" idx="4294967295"/>
          </p:nvPr>
        </p:nvSpPr>
        <p:spPr>
          <a:xfrm>
            <a:off x="2557463" y="404814"/>
            <a:ext cx="7283450" cy="714375"/>
          </a:xfrm>
        </p:spPr>
        <p:txBody>
          <a:bodyPr anchor="ctr"/>
          <a:lstStyle/>
          <a:p>
            <a:pPr eaLnBrk="1" hangingPunct="1"/>
            <a:r>
              <a:rPr lang="en-US" altLang="zh-CN">
                <a:latin typeface="Times New Roman" panose="02020603050405020304" pitchFamily="18" charset="0"/>
              </a:rPr>
              <a:t>4.3.3 </a:t>
            </a:r>
            <a:r>
              <a:rPr lang="zh-CN" altLang="en-US"/>
              <a:t>预测分析中错误的处理 </a:t>
            </a:r>
          </a:p>
        </p:txBody>
      </p:sp>
      <p:sp>
        <p:nvSpPr>
          <p:cNvPr id="72709" name="Rectangle 3">
            <a:extLst>
              <a:ext uri="{FF2B5EF4-FFF2-40B4-BE49-F238E27FC236}">
                <a16:creationId xmlns:a16="http://schemas.microsoft.com/office/drawing/2014/main" id="{73C57708-4F99-4B75-8D6B-5F2DF803B92D}"/>
              </a:ext>
            </a:extLst>
          </p:cNvPr>
          <p:cNvSpPr>
            <a:spLocks noGrp="1" noChangeArrowheads="1"/>
          </p:cNvSpPr>
          <p:nvPr>
            <p:ph type="body" idx="4294967295"/>
          </p:nvPr>
        </p:nvSpPr>
        <p:spPr>
          <a:xfrm>
            <a:off x="1703389" y="1555751"/>
            <a:ext cx="8785225" cy="4968875"/>
          </a:xfrm>
        </p:spPr>
        <p:txBody>
          <a:bodyPr/>
          <a:lstStyle/>
          <a:p>
            <a:pPr marL="609600" indent="-609600"/>
            <a:r>
              <a:rPr lang="zh-CN" altLang="en-US" sz="2600" dirty="0">
                <a:latin typeface="Times New Roman" panose="02020603050405020304" pitchFamily="18" charset="0"/>
              </a:rPr>
              <a:t>对语法变量</a:t>
            </a:r>
            <a:r>
              <a:rPr lang="en-US" altLang="zh-CN" sz="2600" dirty="0">
                <a:latin typeface="Times New Roman" panose="02020603050405020304" pitchFamily="18" charset="0"/>
              </a:rPr>
              <a:t>A</a:t>
            </a:r>
            <a:r>
              <a:rPr lang="zh-CN" altLang="en-US" sz="2600" dirty="0">
                <a:latin typeface="Times New Roman" panose="02020603050405020304" pitchFamily="18" charset="0"/>
              </a:rPr>
              <a:t>，如果</a:t>
            </a:r>
            <a:r>
              <a:rPr lang="en-US" altLang="zh-CN" sz="2600" dirty="0">
                <a:latin typeface="Times New Roman" panose="02020603050405020304" pitchFamily="18" charset="0"/>
              </a:rPr>
              <a:t>M[</a:t>
            </a:r>
            <a:r>
              <a:rPr lang="en-US" altLang="zh-CN" sz="2600" dirty="0" err="1">
                <a:latin typeface="Times New Roman" panose="02020603050405020304" pitchFamily="18" charset="0"/>
              </a:rPr>
              <a:t>A,a</a:t>
            </a:r>
            <a:r>
              <a:rPr lang="en-US" altLang="zh-CN" sz="2600" dirty="0">
                <a:latin typeface="Times New Roman" panose="02020603050405020304" pitchFamily="18" charset="0"/>
              </a:rPr>
              <a:t>]</a:t>
            </a:r>
            <a:r>
              <a:rPr lang="zh-CN" altLang="en-US" sz="2600" dirty="0">
                <a:latin typeface="Times New Roman" panose="02020603050405020304" pitchFamily="18" charset="0"/>
              </a:rPr>
              <a:t>无定义，并且</a:t>
            </a:r>
            <a:r>
              <a:rPr lang="en-US" altLang="zh-CN" sz="2600" dirty="0">
                <a:latin typeface="Times New Roman" panose="02020603050405020304" pitchFamily="18" charset="0"/>
              </a:rPr>
              <a:t>a</a:t>
            </a:r>
            <a:r>
              <a:rPr lang="zh-CN" altLang="en-US" sz="2600" dirty="0">
                <a:latin typeface="Times New Roman" panose="02020603050405020304" pitchFamily="18" charset="0"/>
              </a:rPr>
              <a:t>属于</a:t>
            </a:r>
            <a:r>
              <a:rPr lang="en-US" altLang="zh-CN" sz="2600" dirty="0">
                <a:latin typeface="Times New Roman" panose="02020603050405020304" pitchFamily="18" charset="0"/>
              </a:rPr>
              <a:t>FOLLOW(A)</a:t>
            </a:r>
            <a:r>
              <a:rPr lang="zh-CN" altLang="en-US" sz="2600" dirty="0">
                <a:latin typeface="Times New Roman" panose="02020603050405020304" pitchFamily="18" charset="0"/>
              </a:rPr>
              <a:t>，则增加</a:t>
            </a:r>
            <a:r>
              <a:rPr lang="en-US" altLang="zh-CN" sz="2600" dirty="0">
                <a:latin typeface="Times New Roman" panose="02020603050405020304" pitchFamily="18" charset="0"/>
              </a:rPr>
              <a:t>M[</a:t>
            </a:r>
            <a:r>
              <a:rPr lang="en-US" altLang="zh-CN" sz="2600" dirty="0" err="1">
                <a:latin typeface="Times New Roman" panose="02020603050405020304" pitchFamily="18" charset="0"/>
              </a:rPr>
              <a:t>A,a</a:t>
            </a:r>
            <a:r>
              <a:rPr lang="en-US" altLang="zh-CN" sz="2600" dirty="0">
                <a:latin typeface="Times New Roman" panose="02020603050405020304" pitchFamily="18" charset="0"/>
              </a:rPr>
              <a:t>]</a:t>
            </a:r>
            <a:r>
              <a:rPr lang="zh-CN" altLang="en-US" sz="2600" dirty="0">
                <a:latin typeface="Times New Roman" panose="02020603050405020304" pitchFamily="18" charset="0"/>
              </a:rPr>
              <a:t>为“同步点”</a:t>
            </a:r>
            <a:r>
              <a:rPr lang="en-US" altLang="zh-CN" sz="2600" dirty="0">
                <a:latin typeface="Times New Roman" panose="02020603050405020304" pitchFamily="18" charset="0"/>
              </a:rPr>
              <a:t>(synch), </a:t>
            </a:r>
            <a:r>
              <a:rPr lang="zh-CN" altLang="en-US" sz="2600" dirty="0">
                <a:latin typeface="Times New Roman" panose="02020603050405020304" pitchFamily="18" charset="0"/>
              </a:rPr>
              <a:t>同步记号选择方法如下：</a:t>
            </a:r>
          </a:p>
          <a:p>
            <a:pPr marL="990600" lvl="1" indent="-533400"/>
            <a:r>
              <a:rPr lang="zh-CN" altLang="en-US" sz="2600" dirty="0">
                <a:latin typeface="Times New Roman" panose="02020603050405020304" pitchFamily="18" charset="0"/>
              </a:rPr>
              <a:t>把</a:t>
            </a:r>
            <a:r>
              <a:rPr lang="en-US" altLang="zh-CN" sz="2600" dirty="0">
                <a:latin typeface="Times New Roman" panose="02020603050405020304" pitchFamily="18" charset="0"/>
              </a:rPr>
              <a:t>FOLLOW(</a:t>
            </a:r>
            <a:r>
              <a:rPr lang="en-US" altLang="zh-CN" sz="2600" i="1" dirty="0">
                <a:latin typeface="Times New Roman" panose="02020603050405020304" pitchFamily="18" charset="0"/>
              </a:rPr>
              <a:t>A</a:t>
            </a:r>
            <a:r>
              <a:rPr lang="en-US" altLang="zh-CN" sz="2600" dirty="0">
                <a:latin typeface="Times New Roman" panose="02020603050405020304" pitchFamily="18" charset="0"/>
              </a:rPr>
              <a:t>)</a:t>
            </a:r>
            <a:r>
              <a:rPr lang="zh-CN" altLang="en-US" sz="2600" dirty="0">
                <a:latin typeface="Times New Roman" panose="02020603050405020304" pitchFamily="18" charset="0"/>
              </a:rPr>
              <a:t>的所有符号放入语法变量</a:t>
            </a:r>
            <a:r>
              <a:rPr lang="en-US" altLang="zh-CN" sz="2600" i="1" dirty="0">
                <a:latin typeface="Times New Roman" panose="02020603050405020304" pitchFamily="18" charset="0"/>
              </a:rPr>
              <a:t>A</a:t>
            </a:r>
            <a:r>
              <a:rPr lang="zh-CN" altLang="en-US" sz="2600" dirty="0">
                <a:latin typeface="Times New Roman" panose="02020603050405020304" pitchFamily="18" charset="0"/>
              </a:rPr>
              <a:t>的同步记号集合中。</a:t>
            </a:r>
          </a:p>
          <a:p>
            <a:pPr marL="990600" lvl="1" indent="-533400"/>
            <a:r>
              <a:rPr lang="zh-CN" altLang="en-US" sz="2600" dirty="0">
                <a:latin typeface="Times New Roman" panose="02020603050405020304" pitchFamily="18" charset="0"/>
              </a:rPr>
              <a:t>把高层结构的开始符号加到低层结构的同步记号集合中。</a:t>
            </a:r>
          </a:p>
          <a:p>
            <a:pPr marL="990600" lvl="1" indent="-533400"/>
            <a:r>
              <a:rPr lang="zh-CN" altLang="en-US" sz="2600" dirty="0">
                <a:latin typeface="Times New Roman" panose="02020603050405020304" pitchFamily="18" charset="0"/>
              </a:rPr>
              <a:t>把</a:t>
            </a:r>
            <a:r>
              <a:rPr lang="en-US" altLang="zh-CN" sz="2600" dirty="0">
                <a:latin typeface="Times New Roman" panose="02020603050405020304" pitchFamily="18" charset="0"/>
              </a:rPr>
              <a:t>FIRST(</a:t>
            </a:r>
            <a:r>
              <a:rPr lang="en-US" altLang="zh-CN" sz="2600" i="1" dirty="0">
                <a:latin typeface="Times New Roman" panose="02020603050405020304" pitchFamily="18" charset="0"/>
              </a:rPr>
              <a:t>A</a:t>
            </a:r>
            <a:r>
              <a:rPr lang="en-US" altLang="zh-CN" sz="2600" dirty="0">
                <a:latin typeface="Times New Roman" panose="02020603050405020304" pitchFamily="18" charset="0"/>
              </a:rPr>
              <a:t>)</a:t>
            </a:r>
            <a:r>
              <a:rPr lang="zh-CN" altLang="en-US" sz="2600" dirty="0">
                <a:latin typeface="Times New Roman" panose="02020603050405020304" pitchFamily="18" charset="0"/>
              </a:rPr>
              <a:t>的符号加入</a:t>
            </a:r>
            <a:r>
              <a:rPr lang="en-US" altLang="zh-CN" sz="2600" i="1" dirty="0">
                <a:latin typeface="Times New Roman" panose="02020603050405020304" pitchFamily="18" charset="0"/>
              </a:rPr>
              <a:t>A</a:t>
            </a:r>
            <a:r>
              <a:rPr lang="zh-CN" altLang="en-US" sz="2600" dirty="0">
                <a:latin typeface="Times New Roman" panose="02020603050405020304" pitchFamily="18" charset="0"/>
              </a:rPr>
              <a:t>的同步记号集合。</a:t>
            </a:r>
          </a:p>
          <a:p>
            <a:pPr marL="990600" lvl="1" indent="-533400"/>
            <a:r>
              <a:rPr lang="zh-CN" altLang="en-US" sz="2600" dirty="0">
                <a:latin typeface="Times New Roman" panose="02020603050405020304" pitchFamily="18" charset="0"/>
              </a:rPr>
              <a:t>如果语法变量可以产生空串，若出错时栈顶是这样的语法变量，则可以使用产生空串的产生式。</a:t>
            </a:r>
          </a:p>
          <a:p>
            <a:pPr marL="990600" lvl="1" indent="-533400"/>
            <a:r>
              <a:rPr lang="zh-CN" altLang="en-US" sz="2600" dirty="0">
                <a:latin typeface="Times New Roman" panose="02020603050405020304" pitchFamily="18" charset="0"/>
              </a:rPr>
              <a:t>如果符号在栈顶而不能匹配，则弹出此符号。</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A2FA20C-F103-4973-B66C-A401FE0568EA}"/>
                  </a:ext>
                </a:extLst>
              </p:cNvPr>
              <p:cNvSpPr/>
              <p:nvPr/>
            </p:nvSpPr>
            <p:spPr>
              <a:xfrm>
                <a:off x="2227511" y="907534"/>
                <a:ext cx="2781531" cy="1077218"/>
              </a:xfrm>
              <a:prstGeom prst="rect">
                <a:avLst/>
              </a:prstGeom>
            </p:spPr>
            <p:txBody>
              <a:bodyPr wrap="none">
                <a:spAutoFit/>
              </a:bodyPr>
              <a:lstStyle/>
              <a:p>
                <a:r>
                  <a:rPr lang="en-US" altLang="zh-CN" sz="3200" b="1" dirty="0">
                    <a:solidFill>
                      <a:schemeClr val="tx1"/>
                    </a:solidFill>
                  </a:rPr>
                  <a:t>S</a:t>
                </a:r>
                <a14:m>
                  <m:oMath xmlns:m="http://schemas.openxmlformats.org/officeDocument/2006/math">
                    <m:r>
                      <a:rPr lang="en-US" altLang="zh-CN" sz="3200" b="1" i="0" smtClean="0">
                        <a:solidFill>
                          <a:schemeClr val="tx1"/>
                        </a:solidFill>
                        <a:latin typeface="Cambria Math" panose="02040503050406030204" pitchFamily="18" charset="0"/>
                      </a:rPr>
                      <m:t> </m:t>
                    </m:r>
                    <m:r>
                      <a:rPr lang="en-US" altLang="zh-CN" sz="3200" b="1" i="1" smtClean="0">
                        <a:solidFill>
                          <a:schemeClr val="tx1"/>
                        </a:solidFill>
                        <a:latin typeface="Cambria Math" panose="02040503050406030204" pitchFamily="18" charset="0"/>
                      </a:rPr>
                      <m:t>→</m:t>
                    </m:r>
                  </m:oMath>
                </a14:m>
                <a:r>
                  <a:rPr lang="en-US" altLang="zh-CN" sz="3200" b="1" dirty="0">
                    <a:solidFill>
                      <a:schemeClr val="tx1"/>
                    </a:solidFill>
                  </a:rPr>
                  <a:t> S*</a:t>
                </a:r>
                <a:r>
                  <a:rPr lang="en-US" altLang="zh-CN" sz="3200" b="1" dirty="0" err="1">
                    <a:solidFill>
                      <a:schemeClr val="tx1"/>
                    </a:solidFill>
                  </a:rPr>
                  <a:t>aP</a:t>
                </a:r>
                <a:r>
                  <a:rPr lang="en-US" altLang="zh-CN" sz="3200" b="1" dirty="0">
                    <a:solidFill>
                      <a:schemeClr val="tx1"/>
                    </a:solidFill>
                  </a:rPr>
                  <a:t> | *</a:t>
                </a:r>
                <a:r>
                  <a:rPr lang="en-US" altLang="zh-CN" sz="3200" b="1" dirty="0" err="1">
                    <a:solidFill>
                      <a:schemeClr val="tx1"/>
                    </a:solidFill>
                  </a:rPr>
                  <a:t>aP</a:t>
                </a:r>
                <a:endParaRPr lang="en-US" altLang="zh-CN" sz="3200" b="1" dirty="0">
                  <a:solidFill>
                    <a:schemeClr val="tx1"/>
                  </a:solidFill>
                </a:endParaRPr>
              </a:p>
              <a:p>
                <a:r>
                  <a:rPr lang="en-US" altLang="zh-CN" sz="3200" b="1" dirty="0" err="1">
                    <a:solidFill>
                      <a:schemeClr val="tx1"/>
                    </a:solidFill>
                  </a:rPr>
                  <a:t>P</a:t>
                </a:r>
                <a14:m>
                  <m:oMath xmlns:m="http://schemas.openxmlformats.org/officeDocument/2006/math">
                    <m:r>
                      <a:rPr lang="en-US" altLang="zh-CN" sz="3200" b="1">
                        <a:solidFill>
                          <a:schemeClr val="tx1"/>
                        </a:solidFill>
                        <a:latin typeface="Cambria Math" panose="02040503050406030204" pitchFamily="18" charset="0"/>
                      </a:rPr>
                      <m:t> </m:t>
                    </m:r>
                    <m:r>
                      <a:rPr lang="en-US" altLang="zh-CN" sz="3200" b="1" i="1">
                        <a:solidFill>
                          <a:schemeClr val="tx1"/>
                        </a:solidFill>
                        <a:latin typeface="Cambria Math" panose="02040503050406030204" pitchFamily="18" charset="0"/>
                      </a:rPr>
                      <m:t>→</m:t>
                    </m:r>
                  </m:oMath>
                </a14:m>
                <a:r>
                  <a:rPr lang="en-US" altLang="zh-CN" sz="3200" b="1" dirty="0">
                    <a:solidFill>
                      <a:schemeClr val="tx1"/>
                    </a:solidFill>
                  </a:rPr>
                  <a:t> </a:t>
                </a:r>
                <a:r>
                  <a:rPr lang="en-US" altLang="zh-CN" sz="3200" b="1" dirty="0" err="1">
                    <a:solidFill>
                      <a:schemeClr val="tx1"/>
                    </a:solidFill>
                  </a:rPr>
                  <a:t>+aP</a:t>
                </a:r>
                <a:r>
                  <a:rPr lang="en-US" altLang="zh-CN" sz="3200" b="1" dirty="0">
                    <a:solidFill>
                      <a:schemeClr val="tx1"/>
                    </a:solidFill>
                  </a:rPr>
                  <a:t> | +a</a:t>
                </a:r>
                <a:endParaRPr lang="zh-CN" altLang="en-US" sz="3200" b="1" dirty="0">
                  <a:solidFill>
                    <a:schemeClr val="tx1"/>
                  </a:solidFill>
                </a:endParaRPr>
              </a:p>
            </p:txBody>
          </p:sp>
        </mc:Choice>
        <mc:Fallback xmlns="">
          <p:sp>
            <p:nvSpPr>
              <p:cNvPr id="3" name="矩形 2">
                <a:extLst>
                  <a:ext uri="{FF2B5EF4-FFF2-40B4-BE49-F238E27FC236}">
                    <a16:creationId xmlns:a16="http://schemas.microsoft.com/office/drawing/2014/main" id="{DA2FA20C-F103-4973-B66C-A401FE0568EA}"/>
                  </a:ext>
                </a:extLst>
              </p:cNvPr>
              <p:cNvSpPr>
                <a:spLocks noRot="1" noChangeAspect="1" noMove="1" noResize="1" noEditPoints="1" noAdjustHandles="1" noChangeArrowheads="1" noChangeShapeType="1" noTextEdit="1"/>
              </p:cNvSpPr>
              <p:nvPr/>
            </p:nvSpPr>
            <p:spPr>
              <a:xfrm>
                <a:off x="2227511" y="907534"/>
                <a:ext cx="2781531" cy="1077218"/>
              </a:xfrm>
              <a:prstGeom prst="rect">
                <a:avLst/>
              </a:prstGeom>
              <a:blipFill>
                <a:blip r:embed="rId2"/>
                <a:stretch>
                  <a:fillRect l="-5470" t="-7345" r="-4595" b="-17514"/>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26692CC0-2105-4D0D-A692-CF278DFCF104}"/>
              </a:ext>
            </a:extLst>
          </p:cNvPr>
          <p:cNvSpPr/>
          <p:nvPr/>
        </p:nvSpPr>
        <p:spPr>
          <a:xfrm>
            <a:off x="2227511" y="2351782"/>
            <a:ext cx="7787709" cy="1200329"/>
          </a:xfrm>
          <a:prstGeom prst="rect">
            <a:avLst/>
          </a:prstGeom>
        </p:spPr>
        <p:txBody>
          <a:bodyPr wrap="none">
            <a:spAutoFit/>
          </a:bodyPr>
          <a:lstStyle/>
          <a:p>
            <a:pPr marL="457200" indent="-457200">
              <a:buAutoNum type="arabicPeriod"/>
            </a:pPr>
            <a:r>
              <a:rPr lang="zh-CN" altLang="en-US" sz="2400" b="1" dirty="0"/>
              <a:t>是否为</a:t>
            </a:r>
            <a:r>
              <a:rPr lang="en-US" altLang="zh-CN" sz="2400" b="1" dirty="0"/>
              <a:t>LL(1)</a:t>
            </a:r>
            <a:r>
              <a:rPr lang="zh-CN" altLang="en-US" sz="2400" b="1" dirty="0"/>
              <a:t>型文法？若是，证明之；若不是，改写之</a:t>
            </a:r>
            <a:endParaRPr lang="en-US" altLang="zh-CN" sz="2400" b="1" dirty="0"/>
          </a:p>
          <a:p>
            <a:pPr marL="457200" indent="-457200">
              <a:buAutoNum type="arabicPeriod"/>
            </a:pPr>
            <a:r>
              <a:rPr lang="zh-CN" altLang="en-US" sz="2400" b="1" dirty="0">
                <a:solidFill>
                  <a:schemeClr val="tx1"/>
                </a:solidFill>
              </a:rPr>
              <a:t>构造其预测分析表</a:t>
            </a:r>
            <a:endParaRPr lang="en-US" altLang="zh-CN" sz="2400" b="1" dirty="0">
              <a:solidFill>
                <a:schemeClr val="tx1"/>
              </a:solidFill>
            </a:endParaRPr>
          </a:p>
          <a:p>
            <a:pPr marL="457200" indent="-457200">
              <a:buAutoNum type="arabicPeriod"/>
            </a:pPr>
            <a:r>
              <a:rPr lang="zh-CN" altLang="en-US" sz="2400" b="1" dirty="0"/>
              <a:t>写出字符串</a:t>
            </a:r>
            <a:r>
              <a:rPr lang="en-US" altLang="zh-CN" sz="2400" b="1" dirty="0"/>
              <a:t>*</a:t>
            </a:r>
            <a:r>
              <a:rPr lang="en-US" altLang="zh-CN" sz="2400" b="1" dirty="0" err="1"/>
              <a:t>a+a</a:t>
            </a:r>
            <a:r>
              <a:rPr lang="en-US" altLang="zh-CN" sz="2400" b="1" dirty="0"/>
              <a:t>*</a:t>
            </a:r>
            <a:r>
              <a:rPr lang="en-US" altLang="zh-CN" sz="2400" b="1" dirty="0" err="1"/>
              <a:t>a+a+a</a:t>
            </a:r>
            <a:r>
              <a:rPr lang="zh-CN" altLang="en-US" sz="2400" b="1" dirty="0"/>
              <a:t>的识别过程</a:t>
            </a:r>
            <a:endParaRPr lang="zh-CN" altLang="en-US" sz="2400" b="1" dirty="0">
              <a:solidFill>
                <a:schemeClr val="tx1"/>
              </a:solidFill>
            </a:endParaRPr>
          </a:p>
        </p:txBody>
      </p:sp>
    </p:spTree>
    <p:extLst>
      <p:ext uri="{BB962C8B-B14F-4D97-AF65-F5344CB8AC3E}">
        <p14:creationId xmlns:p14="http://schemas.microsoft.com/office/powerpoint/2010/main" val="2391434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A2FA20C-F103-4973-B66C-A401FE0568EA}"/>
                  </a:ext>
                </a:extLst>
              </p:cNvPr>
              <p:cNvSpPr/>
              <p:nvPr/>
            </p:nvSpPr>
            <p:spPr>
              <a:xfrm>
                <a:off x="2629320" y="985897"/>
                <a:ext cx="2691441" cy="20621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200" i="1" dirty="0" smtClean="0">
                          <a:latin typeface="Cambria Math" panose="02040503050406030204" pitchFamily="18" charset="0"/>
                        </a:rPr>
                        <m:t>𝐴</m:t>
                      </m:r>
                      <m:r>
                        <a:rPr lang="en-US" altLang="zh-CN" sz="3200" i="1" dirty="0" smtClean="0">
                          <a:latin typeface="Cambria Math" panose="02040503050406030204" pitchFamily="18" charset="0"/>
                        </a:rPr>
                        <m:t>→</m:t>
                      </m:r>
                      <m:r>
                        <a:rPr lang="en-US" altLang="zh-CN" sz="3200" i="1" dirty="0" smtClean="0">
                          <a:latin typeface="Cambria Math" panose="02040503050406030204" pitchFamily="18" charset="0"/>
                        </a:rPr>
                        <m:t>𝐴</m:t>
                      </m:r>
                      <m:r>
                        <a:rPr lang="en-US" altLang="zh-CN" sz="3200" i="1" dirty="0" smtClean="0">
                          <a:latin typeface="Cambria Math" panose="02040503050406030204" pitchFamily="18" charset="0"/>
                        </a:rPr>
                        <m:t>∨</m:t>
                      </m:r>
                      <m:r>
                        <a:rPr lang="en-US" altLang="zh-CN" sz="3200" i="1" dirty="0" smtClean="0">
                          <a:latin typeface="Cambria Math" panose="02040503050406030204" pitchFamily="18" charset="0"/>
                        </a:rPr>
                        <m:t>𝐵</m:t>
                      </m:r>
                      <m:r>
                        <a:rPr lang="en-US" altLang="zh-CN" sz="3200" b="0" i="1" dirty="0" smtClean="0">
                          <a:latin typeface="Cambria Math" panose="02040503050406030204" pitchFamily="18" charset="0"/>
                        </a:rPr>
                        <m:t> </m:t>
                      </m:r>
                      <m:r>
                        <a:rPr lang="en-US" altLang="zh-CN" sz="3200" i="1" dirty="0" smtClean="0">
                          <a:latin typeface="Cambria Math" panose="02040503050406030204" pitchFamily="18" charset="0"/>
                        </a:rPr>
                        <m:t>|</m:t>
                      </m:r>
                      <m:r>
                        <a:rPr lang="en-US" altLang="zh-CN" sz="3200" b="0" i="1" dirty="0" smtClean="0">
                          <a:latin typeface="Cambria Math" panose="02040503050406030204" pitchFamily="18" charset="0"/>
                        </a:rPr>
                        <m:t> </m:t>
                      </m:r>
                      <m:r>
                        <a:rPr lang="en-US" altLang="zh-CN" sz="3200" i="1" dirty="0" smtClean="0">
                          <a:latin typeface="Cambria Math" panose="02040503050406030204" pitchFamily="18" charset="0"/>
                        </a:rPr>
                        <m:t>𝐵</m:t>
                      </m:r>
                    </m:oMath>
                  </m:oMathPara>
                </a14:m>
                <a:endParaRPr lang="en-US" altLang="zh-CN" sz="3200" dirty="0"/>
              </a:p>
              <a:p>
                <a:pPr/>
                <a14:m>
                  <m:oMathPara xmlns:m="http://schemas.openxmlformats.org/officeDocument/2006/math">
                    <m:oMathParaPr>
                      <m:jc m:val="centerGroup"/>
                    </m:oMathParaPr>
                    <m:oMath xmlns:m="http://schemas.openxmlformats.org/officeDocument/2006/math">
                      <m:r>
                        <a:rPr lang="en-US" altLang="zh-CN" sz="3200" i="1" dirty="0" smtClean="0">
                          <a:latin typeface="Cambria Math" panose="02040503050406030204" pitchFamily="18" charset="0"/>
                        </a:rPr>
                        <m:t>𝐵</m:t>
                      </m:r>
                      <m:r>
                        <a:rPr lang="en-US" altLang="zh-CN" sz="3200" i="1" dirty="0" smtClean="0">
                          <a:latin typeface="Cambria Math" panose="02040503050406030204" pitchFamily="18" charset="0"/>
                        </a:rPr>
                        <m:t>→</m:t>
                      </m:r>
                      <m:r>
                        <a:rPr lang="en-US" altLang="zh-CN" sz="3200" i="1" dirty="0" smtClean="0">
                          <a:latin typeface="Cambria Math" panose="02040503050406030204" pitchFamily="18" charset="0"/>
                        </a:rPr>
                        <m:t>𝐵</m:t>
                      </m:r>
                      <m:r>
                        <a:rPr lang="en-US" altLang="zh-CN" sz="3200" i="1" dirty="0" smtClean="0">
                          <a:latin typeface="Cambria Math" panose="02040503050406030204" pitchFamily="18" charset="0"/>
                        </a:rPr>
                        <m:t>∧</m:t>
                      </m:r>
                      <m:r>
                        <a:rPr lang="en-US" altLang="zh-CN" sz="3200" i="1" dirty="0" smtClean="0">
                          <a:latin typeface="Cambria Math" panose="02040503050406030204" pitchFamily="18" charset="0"/>
                        </a:rPr>
                        <m:t>𝐶</m:t>
                      </m:r>
                      <m:r>
                        <a:rPr lang="en-US" altLang="zh-CN" sz="3200" b="0" i="1" dirty="0" smtClean="0">
                          <a:latin typeface="Cambria Math" panose="02040503050406030204" pitchFamily="18" charset="0"/>
                        </a:rPr>
                        <m:t> </m:t>
                      </m:r>
                      <m:r>
                        <a:rPr lang="en-US" altLang="zh-CN" sz="3200" i="1" dirty="0" smtClean="0">
                          <a:latin typeface="Cambria Math" panose="02040503050406030204" pitchFamily="18" charset="0"/>
                        </a:rPr>
                        <m:t>|</m:t>
                      </m:r>
                      <m:r>
                        <a:rPr lang="en-US" altLang="zh-CN" sz="3200" b="0" i="1" dirty="0" smtClean="0">
                          <a:latin typeface="Cambria Math" panose="02040503050406030204" pitchFamily="18" charset="0"/>
                        </a:rPr>
                        <m:t> </m:t>
                      </m:r>
                      <m:r>
                        <a:rPr lang="en-US" altLang="zh-CN" sz="3200" i="1" dirty="0" smtClean="0">
                          <a:latin typeface="Cambria Math" panose="02040503050406030204" pitchFamily="18" charset="0"/>
                        </a:rPr>
                        <m:t>𝐶</m:t>
                      </m:r>
                    </m:oMath>
                  </m:oMathPara>
                </a14:m>
                <a:endParaRPr lang="en-US" altLang="zh-CN" sz="3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3200" i="1" dirty="0" smtClean="0">
                          <a:latin typeface="Cambria Math" panose="02040503050406030204" pitchFamily="18" charset="0"/>
                        </a:rPr>
                        <m:t>𝐶</m:t>
                      </m:r>
                      <m:r>
                        <a:rPr lang="en-US" altLang="zh-CN" sz="3200" i="1" dirty="0" smtClean="0">
                          <a:latin typeface="Cambria Math" panose="02040503050406030204" pitchFamily="18" charset="0"/>
                        </a:rPr>
                        <m:t>→</m:t>
                      </m:r>
                      <m:r>
                        <a:rPr lang="en-US" altLang="zh-CN" sz="3200" i="1" dirty="0" smtClean="0">
                          <a:latin typeface="Cambria Math" panose="02040503050406030204" pitchFamily="18" charset="0"/>
                        </a:rPr>
                        <m:t>﹁</m:t>
                      </m:r>
                      <m:r>
                        <a:rPr lang="en-US" altLang="zh-CN" sz="3200" i="1" dirty="0" smtClean="0">
                          <a:latin typeface="Cambria Math" panose="02040503050406030204" pitchFamily="18" charset="0"/>
                        </a:rPr>
                        <m:t>𝐷</m:t>
                      </m:r>
                      <m:r>
                        <a:rPr lang="en-US" altLang="zh-CN" sz="3200" b="0" i="1" dirty="0" smtClean="0">
                          <a:latin typeface="Cambria Math" panose="02040503050406030204" pitchFamily="18" charset="0"/>
                        </a:rPr>
                        <m:t> </m:t>
                      </m:r>
                      <m:r>
                        <a:rPr lang="en-US" altLang="zh-CN" sz="3200" i="1" dirty="0" smtClean="0">
                          <a:latin typeface="Cambria Math" panose="02040503050406030204" pitchFamily="18" charset="0"/>
                        </a:rPr>
                        <m:t>|</m:t>
                      </m:r>
                      <m:r>
                        <a:rPr lang="en-US" altLang="zh-CN" sz="3200" b="0" i="1" dirty="0" smtClean="0">
                          <a:latin typeface="Cambria Math" panose="02040503050406030204" pitchFamily="18" charset="0"/>
                        </a:rPr>
                        <m:t> </m:t>
                      </m:r>
                      <m:r>
                        <a:rPr lang="en-US" altLang="zh-CN" sz="3200" i="1" dirty="0" smtClean="0">
                          <a:latin typeface="Cambria Math" panose="02040503050406030204" pitchFamily="18" charset="0"/>
                        </a:rPr>
                        <m:t>𝐷</m:t>
                      </m:r>
                    </m:oMath>
                  </m:oMathPara>
                </a14:m>
                <a:endParaRPr lang="en-US" altLang="zh-CN" sz="3200" dirty="0"/>
              </a:p>
              <a:p>
                <a:pPr/>
                <a14:m>
                  <m:oMathPara xmlns:m="http://schemas.openxmlformats.org/officeDocument/2006/math">
                    <m:oMathParaPr>
                      <m:jc m:val="centerGroup"/>
                    </m:oMathParaPr>
                    <m:oMath xmlns:m="http://schemas.openxmlformats.org/officeDocument/2006/math">
                      <m:r>
                        <a:rPr lang="en-US" altLang="zh-CN" sz="3200" i="1" dirty="0" smtClean="0">
                          <a:latin typeface="Cambria Math" panose="02040503050406030204" pitchFamily="18" charset="0"/>
                        </a:rPr>
                        <m:t>𝐷</m:t>
                      </m:r>
                      <m:r>
                        <a:rPr lang="en-US" altLang="zh-CN" sz="3200" i="1" dirty="0" smtClean="0">
                          <a:latin typeface="Cambria Math" panose="02040503050406030204" pitchFamily="18" charset="0"/>
                        </a:rPr>
                        <m:t>→</m:t>
                      </m:r>
                      <m:d>
                        <m:dPr>
                          <m:ctrlPr>
                            <a:rPr lang="en-US" altLang="zh-CN" sz="3200" i="1" dirty="0" smtClean="0">
                              <a:latin typeface="Cambria Math" panose="02040503050406030204" pitchFamily="18" charset="0"/>
                            </a:rPr>
                          </m:ctrlPr>
                        </m:dPr>
                        <m:e>
                          <m:r>
                            <a:rPr lang="en-US" altLang="zh-CN" sz="3200" i="1" dirty="0" smtClean="0">
                              <a:latin typeface="Cambria Math" panose="02040503050406030204" pitchFamily="18" charset="0"/>
                            </a:rPr>
                            <m:t>𝐴</m:t>
                          </m:r>
                        </m:e>
                      </m:d>
                      <m:r>
                        <a:rPr lang="en-US" altLang="zh-CN" sz="3200" i="1" dirty="0" smtClean="0">
                          <a:latin typeface="Cambria Math" panose="02040503050406030204" pitchFamily="18" charset="0"/>
                        </a:rPr>
                        <m:t>|</m:t>
                      </m:r>
                      <m:r>
                        <a:rPr lang="en-US" altLang="zh-CN" sz="3200" b="0" i="1" dirty="0" smtClean="0">
                          <a:latin typeface="Cambria Math" panose="02040503050406030204" pitchFamily="18" charset="0"/>
                        </a:rPr>
                        <m:t> </m:t>
                      </m:r>
                      <m:r>
                        <a:rPr lang="en-US" altLang="zh-CN" sz="3200" i="1" dirty="0" err="1">
                          <a:latin typeface="Cambria Math" panose="02040503050406030204" pitchFamily="18" charset="0"/>
                        </a:rPr>
                        <m:t>𝑖</m:t>
                      </m:r>
                    </m:oMath>
                  </m:oMathPara>
                </a14:m>
                <a:endParaRPr lang="en-US" altLang="zh-CN" sz="3200" dirty="0"/>
              </a:p>
            </p:txBody>
          </p:sp>
        </mc:Choice>
        <mc:Fallback xmlns="">
          <p:sp>
            <p:nvSpPr>
              <p:cNvPr id="3" name="矩形 2">
                <a:extLst>
                  <a:ext uri="{FF2B5EF4-FFF2-40B4-BE49-F238E27FC236}">
                    <a16:creationId xmlns:a16="http://schemas.microsoft.com/office/drawing/2014/main" id="{DA2FA20C-F103-4973-B66C-A401FE0568EA}"/>
                  </a:ext>
                </a:extLst>
              </p:cNvPr>
              <p:cNvSpPr>
                <a:spLocks noRot="1" noChangeAspect="1" noMove="1" noResize="1" noEditPoints="1" noAdjustHandles="1" noChangeArrowheads="1" noChangeShapeType="1" noTextEdit="1"/>
              </p:cNvSpPr>
              <p:nvPr/>
            </p:nvSpPr>
            <p:spPr>
              <a:xfrm>
                <a:off x="2629320" y="985897"/>
                <a:ext cx="2691441" cy="206210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6692CC0-2105-4D0D-A692-CF278DFCF104}"/>
                  </a:ext>
                </a:extLst>
              </p:cNvPr>
              <p:cNvSpPr/>
              <p:nvPr/>
            </p:nvSpPr>
            <p:spPr>
              <a:xfrm>
                <a:off x="2407944" y="3644900"/>
                <a:ext cx="5864362" cy="707886"/>
              </a:xfrm>
              <a:prstGeom prst="rect">
                <a:avLst/>
              </a:prstGeom>
            </p:spPr>
            <p:txBody>
              <a:bodyPr wrap="none">
                <a:spAutoFit/>
              </a:bodyPr>
              <a:lstStyle/>
              <a:p>
                <a:pPr marL="457200" indent="-457200">
                  <a:buAutoNum type="arabicPeriod"/>
                </a:pPr>
                <a:r>
                  <a:rPr lang="zh-CN" altLang="en-US" sz="2000" b="1" dirty="0"/>
                  <a:t>是否为</a:t>
                </a:r>
                <a:r>
                  <a:rPr lang="en-US" altLang="zh-CN" sz="2000" b="1" dirty="0"/>
                  <a:t>LL(1)</a:t>
                </a:r>
                <a:r>
                  <a:rPr lang="zh-CN" altLang="en-US" sz="2000" b="1" dirty="0"/>
                  <a:t>型文法？若是，</a:t>
                </a:r>
                <a:r>
                  <a:rPr lang="zh-CN" altLang="en-US" sz="2000" b="1" dirty="0">
                    <a:solidFill>
                      <a:schemeClr val="tx1"/>
                    </a:solidFill>
                  </a:rPr>
                  <a:t>构造其预测分析表</a:t>
                </a:r>
                <a:endParaRPr lang="en-US" altLang="zh-CN" sz="2000" b="1" dirty="0">
                  <a:solidFill>
                    <a:schemeClr val="tx1"/>
                  </a:solidFill>
                </a:endParaRPr>
              </a:p>
              <a:p>
                <a:pPr marL="457200" indent="-457200">
                  <a:buAutoNum type="arabicPeriod"/>
                </a:pPr>
                <a:r>
                  <a:rPr lang="zh-CN" altLang="en-US" sz="2000" b="1" dirty="0"/>
                  <a:t>写出</a:t>
                </a:r>
                <a:r>
                  <a:rPr lang="en-US" altLang="zh-CN" sz="2000" b="1" dirty="0"/>
                  <a:t>LL(1)</a:t>
                </a:r>
                <a:r>
                  <a:rPr lang="zh-CN" altLang="en-US" sz="2000" b="1" dirty="0"/>
                  <a:t>算法分析字符串</a:t>
                </a:r>
                <a14:m>
                  <m:oMath xmlns:m="http://schemas.openxmlformats.org/officeDocument/2006/math">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𝒊</m:t>
                    </m:r>
                    <m:r>
                      <a:rPr lang="en-US" altLang="zh-CN" sz="2000" b="1" i="1" smtClean="0">
                        <a:latin typeface="Cambria Math" panose="02040503050406030204" pitchFamily="18" charset="0"/>
                      </a:rPr>
                      <m:t>∨</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𝒊</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𝒊</m:t>
                        </m:r>
                      </m:e>
                    </m:d>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𝒊</m:t>
                    </m:r>
                  </m:oMath>
                </a14:m>
                <a:r>
                  <a:rPr lang="zh-CN" altLang="en-US" sz="2000" b="1" dirty="0"/>
                  <a:t>的过程</a:t>
                </a:r>
                <a:endParaRPr lang="zh-CN" altLang="en-US" sz="2000" b="1" dirty="0">
                  <a:solidFill>
                    <a:schemeClr val="tx1"/>
                  </a:solidFill>
                </a:endParaRPr>
              </a:p>
            </p:txBody>
          </p:sp>
        </mc:Choice>
        <mc:Fallback xmlns="">
          <p:sp>
            <p:nvSpPr>
              <p:cNvPr id="4" name="矩形 3">
                <a:extLst>
                  <a:ext uri="{FF2B5EF4-FFF2-40B4-BE49-F238E27FC236}">
                    <a16:creationId xmlns:a16="http://schemas.microsoft.com/office/drawing/2014/main" id="{26692CC0-2105-4D0D-A692-CF278DFCF104}"/>
                  </a:ext>
                </a:extLst>
              </p:cNvPr>
              <p:cNvSpPr>
                <a:spLocks noRot="1" noChangeAspect="1" noMove="1" noResize="1" noEditPoints="1" noAdjustHandles="1" noChangeArrowheads="1" noChangeShapeType="1" noTextEdit="1"/>
              </p:cNvSpPr>
              <p:nvPr/>
            </p:nvSpPr>
            <p:spPr>
              <a:xfrm>
                <a:off x="2407944" y="3644900"/>
                <a:ext cx="5864362" cy="707886"/>
              </a:xfrm>
              <a:prstGeom prst="rect">
                <a:avLst/>
              </a:prstGeom>
              <a:blipFill>
                <a:blip r:embed="rId3"/>
                <a:stretch>
                  <a:fillRect l="-728" t="-5172" r="-416" b="-146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7134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a:extLst>
              <a:ext uri="{FF2B5EF4-FFF2-40B4-BE49-F238E27FC236}">
                <a16:creationId xmlns:a16="http://schemas.microsoft.com/office/drawing/2014/main" id="{F0EB0E3E-084B-4476-9C49-64038608F74E}"/>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70C3077F-D807-43C5-AC03-50A5B78C360D}" type="datetime1">
              <a:rPr lang="zh-CN" altLang="en-US" noProof="0" smtClean="0">
                <a:latin typeface="+mn-lt"/>
              </a:rPr>
              <a:pPr>
                <a:buFontTx/>
                <a:buNone/>
                <a:defRPr/>
              </a:pPr>
              <a:t>2025/6/26</a:t>
            </a:fld>
            <a:endParaRPr lang="en-US" altLang="zh-CN" noProof="0">
              <a:latin typeface="+mn-lt"/>
            </a:endParaRPr>
          </a:p>
        </p:txBody>
      </p:sp>
      <p:sp>
        <p:nvSpPr>
          <p:cNvPr id="73731" name="灯片编号占位符 5">
            <a:extLst>
              <a:ext uri="{FF2B5EF4-FFF2-40B4-BE49-F238E27FC236}">
                <a16:creationId xmlns:a16="http://schemas.microsoft.com/office/drawing/2014/main" id="{47C2E985-2447-4E2B-9F72-E544D44120FA}"/>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7F34272C-6C86-4D3F-913D-FC798C34AA35}" type="slidenum">
              <a:rPr lang="en-US" altLang="zh-CN" sz="1400">
                <a:latin typeface="Arial" panose="020B0604020202020204" pitchFamily="34" charset="0"/>
              </a:rPr>
              <a:pPr/>
              <a:t>30</a:t>
            </a:fld>
            <a:endParaRPr lang="en-US" altLang="zh-CN" sz="1400">
              <a:latin typeface="Arial" panose="020B0604020202020204" pitchFamily="34" charset="0"/>
            </a:endParaRPr>
          </a:p>
        </p:txBody>
      </p:sp>
      <p:sp>
        <p:nvSpPr>
          <p:cNvPr id="73732" name="Rectangle 2">
            <a:extLst>
              <a:ext uri="{FF2B5EF4-FFF2-40B4-BE49-F238E27FC236}">
                <a16:creationId xmlns:a16="http://schemas.microsoft.com/office/drawing/2014/main" id="{F3F9172C-6B62-49BA-9233-FA7ACCEE8D03}"/>
              </a:ext>
            </a:extLst>
          </p:cNvPr>
          <p:cNvSpPr>
            <a:spLocks noGrp="1" noChangeArrowheads="1"/>
          </p:cNvSpPr>
          <p:nvPr>
            <p:ph type="title" idx="4294967295"/>
          </p:nvPr>
        </p:nvSpPr>
        <p:spPr>
          <a:xfrm>
            <a:off x="2711450" y="-26988"/>
            <a:ext cx="5905500" cy="1384301"/>
          </a:xfrm>
        </p:spPr>
        <p:txBody>
          <a:bodyPr anchor="ctr"/>
          <a:lstStyle/>
          <a:p>
            <a:pPr eaLnBrk="1" hangingPunct="1"/>
            <a:r>
              <a:rPr lang="en-US" altLang="zh-CN" sz="4200">
                <a:latin typeface="Times New Roman" panose="02020603050405020304" pitchFamily="18" charset="0"/>
              </a:rPr>
              <a:t>4.4 </a:t>
            </a:r>
            <a:r>
              <a:rPr lang="zh-CN" altLang="en-US" sz="4200">
                <a:latin typeface="Times New Roman" panose="02020603050405020304" pitchFamily="18" charset="0"/>
              </a:rPr>
              <a:t>递归下降分析法</a:t>
            </a:r>
            <a:r>
              <a:rPr lang="en-US" altLang="zh-CN" sz="4200">
                <a:latin typeface="Arial" panose="020B0604020202020204" pitchFamily="34" charset="0"/>
              </a:rPr>
              <a:t>—</a:t>
            </a:r>
            <a:br>
              <a:rPr lang="en-US" altLang="zh-CN" sz="4200">
                <a:latin typeface="Arial" panose="020B0604020202020204" pitchFamily="34" charset="0"/>
              </a:rPr>
            </a:br>
            <a:r>
              <a:rPr lang="zh-CN" altLang="en-US" sz="3600">
                <a:solidFill>
                  <a:srgbClr val="FF0000"/>
                </a:solidFill>
                <a:latin typeface="楷体_GB2312" pitchFamily="49" charset="-122"/>
                <a:ea typeface="楷体_GB2312" pitchFamily="49" charset="-122"/>
              </a:rPr>
              <a:t>一个设想</a:t>
            </a:r>
          </a:p>
        </p:txBody>
      </p:sp>
      <p:sp>
        <p:nvSpPr>
          <p:cNvPr id="1164291" name="Rectangle 3">
            <a:extLst>
              <a:ext uri="{FF2B5EF4-FFF2-40B4-BE49-F238E27FC236}">
                <a16:creationId xmlns:a16="http://schemas.microsoft.com/office/drawing/2014/main" id="{46D4483E-5DF2-44C0-BC1C-D6ED1AF92232}"/>
              </a:ext>
            </a:extLst>
          </p:cNvPr>
          <p:cNvSpPr>
            <a:spLocks noGrp="1" noChangeArrowheads="1"/>
          </p:cNvSpPr>
          <p:nvPr>
            <p:ph type="body" idx="4294967295"/>
          </p:nvPr>
        </p:nvSpPr>
        <p:spPr>
          <a:xfrm>
            <a:off x="1774826" y="2060576"/>
            <a:ext cx="7872413" cy="4175125"/>
          </a:xfrm>
        </p:spPr>
        <p:txBody>
          <a:bodyPr/>
          <a:lstStyle/>
          <a:p>
            <a:pPr marL="0" indent="0">
              <a:spcBef>
                <a:spcPct val="50000"/>
              </a:spcBef>
              <a:buNone/>
            </a:pPr>
            <a:r>
              <a:rPr lang="en-US" altLang="zh-CN" sz="3000">
                <a:latin typeface="Times New Roman" panose="02020603050405020304" pitchFamily="18" charset="0"/>
              </a:rPr>
              <a:t>1. </a:t>
            </a:r>
            <a:r>
              <a:rPr lang="zh-CN" altLang="en-US" sz="3000">
                <a:latin typeface="Times New Roman" panose="02020603050405020304" pitchFamily="18" charset="0"/>
              </a:rPr>
              <a:t>对应每个变量设置一个处理子程序：</a:t>
            </a:r>
          </a:p>
          <a:p>
            <a:pPr marL="0" indent="0">
              <a:spcBef>
                <a:spcPct val="50000"/>
              </a:spcBef>
              <a:buNone/>
            </a:pPr>
            <a:r>
              <a:rPr lang="zh-CN" altLang="en-US" sz="3000">
                <a:latin typeface="Times New Roman" panose="02020603050405020304" pitchFamily="18" charset="0"/>
              </a:rPr>
              <a:t>       </a:t>
            </a:r>
            <a:r>
              <a:rPr lang="en-US" altLang="zh-CN" sz="3000">
                <a:latin typeface="Times New Roman" panose="02020603050405020304" pitchFamily="18" charset="0"/>
              </a:rPr>
              <a:t>A→X</a:t>
            </a:r>
            <a:r>
              <a:rPr lang="en-US" altLang="zh-CN" sz="3000" baseline="-25000">
                <a:latin typeface="Times New Roman" panose="02020603050405020304" pitchFamily="18" charset="0"/>
              </a:rPr>
              <a:t>1 </a:t>
            </a:r>
            <a:r>
              <a:rPr lang="en-US" altLang="zh-CN" sz="3000">
                <a:latin typeface="Times New Roman" panose="02020603050405020304" pitchFamily="18" charset="0"/>
              </a:rPr>
              <a:t>X</a:t>
            </a:r>
            <a:r>
              <a:rPr lang="en-US" altLang="zh-CN" sz="3000" baseline="-25000">
                <a:latin typeface="Times New Roman" panose="02020603050405020304" pitchFamily="18" charset="0"/>
              </a:rPr>
              <a:t>2 </a:t>
            </a:r>
            <a:r>
              <a:rPr lang="en-US" altLang="zh-CN" sz="3000">
                <a:latin typeface="Times New Roman" panose="02020603050405020304" pitchFamily="18" charset="0"/>
              </a:rPr>
              <a:t>… X</a:t>
            </a:r>
            <a:r>
              <a:rPr lang="en-US" altLang="zh-CN" sz="3000" i="1" baseline="-25000">
                <a:latin typeface="Times New Roman" panose="02020603050405020304" pitchFamily="18" charset="0"/>
              </a:rPr>
              <a:t>k</a:t>
            </a:r>
            <a:r>
              <a:rPr lang="en-US" altLang="zh-CN" sz="3000" baseline="-25000">
                <a:latin typeface="Times New Roman" panose="02020603050405020304" pitchFamily="18" charset="0"/>
              </a:rPr>
              <a:t> </a:t>
            </a:r>
            <a:r>
              <a:rPr lang="en-US" altLang="zh-CN" sz="3000">
                <a:latin typeface="Times New Roman" panose="02020603050405020304" pitchFamily="18" charset="0"/>
              </a:rPr>
              <a:t>… X</a:t>
            </a:r>
            <a:r>
              <a:rPr lang="en-US" altLang="zh-CN" sz="3000" i="1" baseline="-25000">
                <a:latin typeface="Times New Roman" panose="02020603050405020304" pitchFamily="18" charset="0"/>
              </a:rPr>
              <a:t>n</a:t>
            </a:r>
          </a:p>
          <a:p>
            <a:pPr marL="0" indent="0">
              <a:spcBef>
                <a:spcPct val="50000"/>
              </a:spcBef>
              <a:buNone/>
            </a:pPr>
            <a:r>
              <a:rPr lang="en-US" altLang="zh-CN" sz="3000">
                <a:latin typeface="宋体" panose="02010600030101010101" pitchFamily="2" charset="-122"/>
                <a:ea typeface="宋体" panose="02010600030101010101" pitchFamily="2" charset="-122"/>
              </a:rPr>
              <a:t>  ⑴ </a:t>
            </a:r>
            <a:r>
              <a:rPr lang="zh-CN" altLang="en-US" sz="3000">
                <a:latin typeface="Times New Roman" panose="02020603050405020304" pitchFamily="18" charset="0"/>
              </a:rPr>
              <a:t>当遇到</a:t>
            </a:r>
            <a:r>
              <a:rPr lang="en-US" altLang="zh-CN" sz="3000">
                <a:latin typeface="Times New Roman" panose="02020603050405020304" pitchFamily="18" charset="0"/>
              </a:rPr>
              <a:t>X</a:t>
            </a:r>
            <a:r>
              <a:rPr lang="en-US" altLang="zh-CN" sz="3000" i="1" baseline="-25000">
                <a:latin typeface="Times New Roman" panose="02020603050405020304" pitchFamily="18" charset="0"/>
              </a:rPr>
              <a:t>k</a:t>
            </a:r>
            <a:r>
              <a:rPr lang="zh-CN" altLang="en-US" sz="3000">
                <a:latin typeface="Times New Roman" panose="02020603050405020304" pitchFamily="18" charset="0"/>
              </a:rPr>
              <a:t>是终结符时直接进行匹配</a:t>
            </a:r>
            <a:r>
              <a:rPr lang="en-US" altLang="zh-CN" sz="3000">
                <a:latin typeface="Times New Roman" panose="02020603050405020304" pitchFamily="18" charset="0"/>
              </a:rPr>
              <a:t>;</a:t>
            </a:r>
          </a:p>
          <a:p>
            <a:pPr marL="0" indent="0">
              <a:spcBef>
                <a:spcPct val="50000"/>
              </a:spcBef>
              <a:buNone/>
            </a:pPr>
            <a:r>
              <a:rPr lang="en-US" altLang="zh-CN" sz="3000">
                <a:latin typeface="宋体" panose="02010600030101010101" pitchFamily="2" charset="-122"/>
                <a:ea typeface="宋体" panose="02010600030101010101" pitchFamily="2" charset="-122"/>
              </a:rPr>
              <a:t>  ⑵ </a:t>
            </a:r>
            <a:r>
              <a:rPr lang="zh-CN" altLang="en-US" sz="3000">
                <a:latin typeface="Times New Roman" panose="02020603050405020304" pitchFamily="18" charset="0"/>
              </a:rPr>
              <a:t>当遇到</a:t>
            </a:r>
            <a:r>
              <a:rPr lang="en-US" altLang="zh-CN" sz="3000">
                <a:latin typeface="Times New Roman" panose="02020603050405020304" pitchFamily="18" charset="0"/>
              </a:rPr>
              <a:t>X</a:t>
            </a:r>
            <a:r>
              <a:rPr lang="en-US" altLang="zh-CN" sz="3000" i="1" baseline="-25000">
                <a:latin typeface="Times New Roman" panose="02020603050405020304" pitchFamily="18" charset="0"/>
              </a:rPr>
              <a:t>k</a:t>
            </a:r>
            <a:r>
              <a:rPr lang="zh-CN" altLang="en-US" sz="3000">
                <a:latin typeface="Times New Roman" panose="02020603050405020304" pitchFamily="18" charset="0"/>
              </a:rPr>
              <a:t>是语法变量时就调用</a:t>
            </a:r>
            <a:r>
              <a:rPr lang="en-US" altLang="zh-CN" sz="3000">
                <a:latin typeface="Times New Roman" panose="02020603050405020304" pitchFamily="18" charset="0"/>
              </a:rPr>
              <a:t>X</a:t>
            </a:r>
            <a:r>
              <a:rPr lang="zh-CN" altLang="en-US" sz="3000">
                <a:latin typeface="Times New Roman" panose="02020603050405020304" pitchFamily="18" charset="0"/>
              </a:rPr>
              <a:t>对应的处理子程序</a:t>
            </a:r>
            <a:r>
              <a:rPr lang="en-US" altLang="zh-CN" sz="3000">
                <a:latin typeface="Times New Roman" panose="02020603050405020304" pitchFamily="18" charset="0"/>
              </a:rPr>
              <a:t>.</a:t>
            </a:r>
          </a:p>
          <a:p>
            <a:pPr marL="0" indent="0">
              <a:spcBef>
                <a:spcPct val="50000"/>
              </a:spcBef>
              <a:buNone/>
            </a:pPr>
            <a:r>
              <a:rPr lang="en-US" altLang="zh-CN" sz="3000">
                <a:latin typeface="Times New Roman" panose="02020603050405020304" pitchFamily="18" charset="0"/>
              </a:rPr>
              <a:t>2. </a:t>
            </a:r>
            <a:r>
              <a:rPr lang="zh-CN" altLang="en-US" sz="3000">
                <a:latin typeface="Times New Roman" panose="02020603050405020304" pitchFamily="18" charset="0"/>
              </a:rPr>
              <a:t>要求处理子程序是可以</a:t>
            </a:r>
            <a:r>
              <a:rPr lang="zh-CN" altLang="en-US" sz="3000">
                <a:solidFill>
                  <a:srgbClr val="FF0000"/>
                </a:solidFill>
                <a:latin typeface="Times New Roman" panose="02020603050405020304" pitchFamily="18" charset="0"/>
              </a:rPr>
              <a:t>递归调用</a:t>
            </a:r>
            <a:r>
              <a:rPr lang="zh-CN" altLang="en-US" sz="3000">
                <a:latin typeface="Times New Roman" panose="02020603050405020304" pitchFamily="18" charset="0"/>
              </a:rPr>
              <a:t>的</a:t>
            </a:r>
          </a:p>
        </p:txBody>
      </p:sp>
      <p:sp>
        <p:nvSpPr>
          <p:cNvPr id="1164292" name="Rectangle 4">
            <a:extLst>
              <a:ext uri="{FF2B5EF4-FFF2-40B4-BE49-F238E27FC236}">
                <a16:creationId xmlns:a16="http://schemas.microsoft.com/office/drawing/2014/main" id="{D5FF05AE-1A20-46F7-9C2B-A067660E9E24}"/>
              </a:ext>
            </a:extLst>
          </p:cNvPr>
          <p:cNvSpPr>
            <a:spLocks noChangeArrowheads="1"/>
          </p:cNvSpPr>
          <p:nvPr/>
        </p:nvSpPr>
        <p:spPr bwMode="auto">
          <a:xfrm>
            <a:off x="8426450" y="188914"/>
            <a:ext cx="2133600"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2"/>
              </a:buClr>
              <a:buSzPct val="75000"/>
              <a:buFont typeface="Monotype Sorts" charset="2"/>
              <a:buNone/>
            </a:pPr>
            <a:r>
              <a:rPr lang="en-US" altLang="zh-CN" sz="2800" b="1" dirty="0">
                <a:solidFill>
                  <a:srgbClr val="0000FF"/>
                </a:solidFill>
              </a:rPr>
              <a:t>E→TE'        </a:t>
            </a:r>
          </a:p>
          <a:p>
            <a:pPr>
              <a:spcBef>
                <a:spcPct val="20000"/>
              </a:spcBef>
              <a:buClr>
                <a:schemeClr val="tx2"/>
              </a:buClr>
              <a:buSzPct val="75000"/>
              <a:buFont typeface="Monotype Sorts" charset="2"/>
              <a:buNone/>
            </a:pPr>
            <a:r>
              <a:rPr lang="en-US" altLang="zh-CN" sz="2800" b="1" dirty="0">
                <a:solidFill>
                  <a:srgbClr val="0000FF"/>
                </a:solidFill>
              </a:rPr>
              <a:t>E'→+</a:t>
            </a:r>
            <a:r>
              <a:rPr lang="en-US" altLang="zh-CN" sz="2800" b="1" dirty="0" err="1">
                <a:solidFill>
                  <a:srgbClr val="0000FF"/>
                </a:solidFill>
              </a:rPr>
              <a:t>TE'|ε</a:t>
            </a:r>
            <a:r>
              <a:rPr lang="en-US" altLang="zh-CN" sz="2800" b="1" dirty="0">
                <a:solidFill>
                  <a:srgbClr val="0000FF"/>
                </a:solidFill>
              </a:rPr>
              <a:t>  </a:t>
            </a:r>
          </a:p>
          <a:p>
            <a:pPr>
              <a:spcBef>
                <a:spcPct val="20000"/>
              </a:spcBef>
              <a:buClr>
                <a:schemeClr val="tx2"/>
              </a:buClr>
              <a:buSzPct val="75000"/>
              <a:buFont typeface="Monotype Sorts" charset="2"/>
              <a:buNone/>
            </a:pPr>
            <a:r>
              <a:rPr lang="en-US" altLang="zh-CN" sz="2800" b="1" dirty="0">
                <a:solidFill>
                  <a:srgbClr val="0000FF"/>
                </a:solidFill>
              </a:rPr>
              <a:t>T→FT'        </a:t>
            </a:r>
          </a:p>
          <a:p>
            <a:pPr>
              <a:spcBef>
                <a:spcPct val="20000"/>
              </a:spcBef>
              <a:buClr>
                <a:schemeClr val="tx2"/>
              </a:buClr>
              <a:buSzPct val="75000"/>
              <a:buFont typeface="Monotype Sorts" charset="2"/>
              <a:buNone/>
            </a:pPr>
            <a:r>
              <a:rPr lang="en-US" altLang="zh-CN" sz="2800" b="1" dirty="0">
                <a:solidFill>
                  <a:srgbClr val="0000FF"/>
                </a:solidFill>
              </a:rPr>
              <a:t>T'→*</a:t>
            </a:r>
            <a:r>
              <a:rPr lang="en-US" altLang="zh-CN" sz="2800" b="1" dirty="0" err="1">
                <a:solidFill>
                  <a:srgbClr val="0000FF"/>
                </a:solidFill>
              </a:rPr>
              <a:t>FT'|ε</a:t>
            </a:r>
            <a:r>
              <a:rPr lang="en-US" altLang="zh-CN" sz="2800" b="1" dirty="0">
                <a:solidFill>
                  <a:srgbClr val="0000FF"/>
                </a:solidFill>
              </a:rPr>
              <a:t>  </a:t>
            </a:r>
          </a:p>
          <a:p>
            <a:pPr>
              <a:spcBef>
                <a:spcPct val="20000"/>
              </a:spcBef>
              <a:buClr>
                <a:schemeClr val="tx2"/>
              </a:buClr>
              <a:buSzPct val="75000"/>
              <a:buFont typeface="Monotype Sorts" charset="2"/>
              <a:buNone/>
            </a:pPr>
            <a:r>
              <a:rPr lang="en-US" altLang="zh-CN" sz="2800" b="1" dirty="0">
                <a:solidFill>
                  <a:srgbClr val="0000FF"/>
                </a:solidFill>
              </a:rPr>
              <a:t>F→(E)|id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4292"/>
                                        </p:tgtEl>
                                        <p:attrNameLst>
                                          <p:attrName>style.visibility</p:attrName>
                                        </p:attrNameLst>
                                      </p:cBhvr>
                                      <p:to>
                                        <p:strVal val="visible"/>
                                      </p:to>
                                    </p:set>
                                    <p:anim calcmode="lin" valueType="num">
                                      <p:cBhvr additive="base">
                                        <p:cTn id="7" dur="500" fill="hold"/>
                                        <p:tgtEl>
                                          <p:spTgt spid="1164292"/>
                                        </p:tgtEl>
                                        <p:attrNameLst>
                                          <p:attrName>ppt_x</p:attrName>
                                        </p:attrNameLst>
                                      </p:cBhvr>
                                      <p:tavLst>
                                        <p:tav tm="0">
                                          <p:val>
                                            <p:strVal val="0-#ppt_w/2"/>
                                          </p:val>
                                        </p:tav>
                                        <p:tav tm="100000">
                                          <p:val>
                                            <p:strVal val="#ppt_x"/>
                                          </p:val>
                                        </p:tav>
                                      </p:tavLst>
                                    </p:anim>
                                    <p:anim calcmode="lin" valueType="num">
                                      <p:cBhvr additive="base">
                                        <p:cTn id="8" dur="500" fill="hold"/>
                                        <p:tgtEl>
                                          <p:spTgt spid="11642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64291">
                                            <p:txEl>
                                              <p:pRg st="0" end="0"/>
                                            </p:txEl>
                                          </p:spTgt>
                                        </p:tgtEl>
                                        <p:attrNameLst>
                                          <p:attrName>style.visibility</p:attrName>
                                        </p:attrNameLst>
                                      </p:cBhvr>
                                      <p:to>
                                        <p:strVal val="visible"/>
                                      </p:to>
                                    </p:set>
                                    <p:anim calcmode="lin" valueType="num">
                                      <p:cBhvr additive="base">
                                        <p:cTn id="13" dur="500" fill="hold"/>
                                        <p:tgtEl>
                                          <p:spTgt spid="116429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64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64291">
                                            <p:txEl>
                                              <p:pRg st="1" end="1"/>
                                            </p:txEl>
                                          </p:spTgt>
                                        </p:tgtEl>
                                        <p:attrNameLst>
                                          <p:attrName>style.visibility</p:attrName>
                                        </p:attrNameLst>
                                      </p:cBhvr>
                                      <p:to>
                                        <p:strVal val="visible"/>
                                      </p:to>
                                    </p:set>
                                    <p:anim calcmode="lin" valueType="num">
                                      <p:cBhvr additive="base">
                                        <p:cTn id="19" dur="500" fill="hold"/>
                                        <p:tgtEl>
                                          <p:spTgt spid="116429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642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64291">
                                            <p:txEl>
                                              <p:pRg st="2" end="2"/>
                                            </p:txEl>
                                          </p:spTgt>
                                        </p:tgtEl>
                                        <p:attrNameLst>
                                          <p:attrName>style.visibility</p:attrName>
                                        </p:attrNameLst>
                                      </p:cBhvr>
                                      <p:to>
                                        <p:strVal val="visible"/>
                                      </p:to>
                                    </p:set>
                                    <p:anim calcmode="lin" valueType="num">
                                      <p:cBhvr additive="base">
                                        <p:cTn id="25" dur="500" fill="hold"/>
                                        <p:tgtEl>
                                          <p:spTgt spid="116429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642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64291">
                                            <p:txEl>
                                              <p:pRg st="3" end="3"/>
                                            </p:txEl>
                                          </p:spTgt>
                                        </p:tgtEl>
                                        <p:attrNameLst>
                                          <p:attrName>style.visibility</p:attrName>
                                        </p:attrNameLst>
                                      </p:cBhvr>
                                      <p:to>
                                        <p:strVal val="visible"/>
                                      </p:to>
                                    </p:set>
                                    <p:anim calcmode="lin" valueType="num">
                                      <p:cBhvr additive="base">
                                        <p:cTn id="31" dur="500" fill="hold"/>
                                        <p:tgtEl>
                                          <p:spTgt spid="1164291">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642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64291">
                                            <p:txEl>
                                              <p:pRg st="4" end="4"/>
                                            </p:txEl>
                                          </p:spTgt>
                                        </p:tgtEl>
                                        <p:attrNameLst>
                                          <p:attrName>style.visibility</p:attrName>
                                        </p:attrNameLst>
                                      </p:cBhvr>
                                      <p:to>
                                        <p:strVal val="visible"/>
                                      </p:to>
                                    </p:set>
                                    <p:anim calcmode="lin" valueType="num">
                                      <p:cBhvr additive="base">
                                        <p:cTn id="37" dur="500" fill="hold"/>
                                        <p:tgtEl>
                                          <p:spTgt spid="1164291">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6429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4291" grpId="0" build="p"/>
      <p:bldP spid="1164292"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85B2335-F465-41C3-9A62-0B68DCC3627E}"/>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8A5FE4CD-1782-4792-9B44-7961AD11F037}" type="datetime1">
              <a:rPr lang="zh-CN" altLang="en-US" noProof="0" smtClean="0">
                <a:latin typeface="+mn-lt"/>
              </a:rPr>
              <a:pPr>
                <a:buFontTx/>
                <a:buNone/>
                <a:defRPr/>
              </a:pPr>
              <a:t>2025/6/26</a:t>
            </a:fld>
            <a:endParaRPr lang="en-US" altLang="zh-CN" noProof="0">
              <a:latin typeface="+mn-lt"/>
            </a:endParaRPr>
          </a:p>
        </p:txBody>
      </p:sp>
      <p:sp>
        <p:nvSpPr>
          <p:cNvPr id="74755" name="灯片编号占位符 5">
            <a:extLst>
              <a:ext uri="{FF2B5EF4-FFF2-40B4-BE49-F238E27FC236}">
                <a16:creationId xmlns:a16="http://schemas.microsoft.com/office/drawing/2014/main" id="{BB790368-BE4B-412F-8674-290375243841}"/>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A44C1F68-FCE4-4D10-9C0E-3B26539C135E}" type="slidenum">
              <a:rPr lang="en-US" altLang="zh-CN" sz="1400">
                <a:latin typeface="Arial" panose="020B0604020202020204" pitchFamily="34" charset="0"/>
              </a:rPr>
              <a:pPr/>
              <a:t>31</a:t>
            </a:fld>
            <a:endParaRPr lang="en-US" altLang="zh-CN" sz="1400">
              <a:latin typeface="Arial" panose="020B0604020202020204" pitchFamily="34" charset="0"/>
            </a:endParaRPr>
          </a:p>
        </p:txBody>
      </p:sp>
      <p:sp>
        <p:nvSpPr>
          <p:cNvPr id="74756" name="Rectangle 2">
            <a:extLst>
              <a:ext uri="{FF2B5EF4-FFF2-40B4-BE49-F238E27FC236}">
                <a16:creationId xmlns:a16="http://schemas.microsoft.com/office/drawing/2014/main" id="{37D63860-3C09-413C-8E82-3FCB8CB06C90}"/>
              </a:ext>
            </a:extLst>
          </p:cNvPr>
          <p:cNvSpPr>
            <a:spLocks noGrp="1" noChangeArrowheads="1"/>
          </p:cNvSpPr>
          <p:nvPr>
            <p:ph type="title" idx="4294967295"/>
          </p:nvPr>
        </p:nvSpPr>
        <p:spPr>
          <a:xfrm>
            <a:off x="2495551" y="333376"/>
            <a:ext cx="7902575" cy="722313"/>
          </a:xfrm>
        </p:spPr>
        <p:txBody>
          <a:bodyPr vert="horz" lIns="92075" tIns="46038" rIns="92075" bIns="46038" rtlCol="0" anchor="ctr">
            <a:normAutofit/>
          </a:bodyPr>
          <a:lstStyle/>
          <a:p>
            <a:pPr eaLnBrk="1" hangingPunct="1"/>
            <a:r>
              <a:rPr lang="en-US" altLang="zh-CN" sz="4000">
                <a:latin typeface="Times New Roman" panose="02020603050405020304" pitchFamily="18" charset="0"/>
              </a:rPr>
              <a:t>4.4.1 </a:t>
            </a:r>
            <a:r>
              <a:rPr lang="zh-CN" altLang="en-US" sz="4000">
                <a:latin typeface="Times New Roman" panose="02020603050405020304" pitchFamily="18" charset="0"/>
              </a:rPr>
              <a:t>递归下降分析法的基本思想</a:t>
            </a:r>
          </a:p>
        </p:txBody>
      </p:sp>
      <p:sp>
        <p:nvSpPr>
          <p:cNvPr id="1165315" name="Rectangle 3">
            <a:extLst>
              <a:ext uri="{FF2B5EF4-FFF2-40B4-BE49-F238E27FC236}">
                <a16:creationId xmlns:a16="http://schemas.microsoft.com/office/drawing/2014/main" id="{D2EF678F-74CE-4EFD-8C9B-37F4EBCA680E}"/>
              </a:ext>
            </a:extLst>
          </p:cNvPr>
          <p:cNvSpPr>
            <a:spLocks noGrp="1" noChangeArrowheads="1"/>
          </p:cNvSpPr>
          <p:nvPr>
            <p:ph type="body" idx="4294967295"/>
          </p:nvPr>
        </p:nvSpPr>
        <p:spPr>
          <a:xfrm>
            <a:off x="1847850" y="1555751"/>
            <a:ext cx="8712200" cy="4968875"/>
          </a:xfrm>
        </p:spPr>
        <p:txBody>
          <a:bodyPr vert="horz" lIns="92075" tIns="46038" rIns="92075" bIns="46038" rtlCol="0">
            <a:normAutofit/>
          </a:bodyPr>
          <a:lstStyle/>
          <a:p>
            <a:pPr eaLnBrk="1" hangingPunct="1">
              <a:buFont typeface="Wingdings" panose="05000000000000000000" pitchFamily="2" charset="2"/>
              <a:buNone/>
            </a:pPr>
            <a:r>
              <a:rPr lang="zh-CN" altLang="en-US">
                <a:latin typeface="Times New Roman" panose="02020603050405020304" pitchFamily="18" charset="0"/>
              </a:rPr>
              <a:t>例</a:t>
            </a:r>
            <a:r>
              <a:rPr lang="en-US" altLang="zh-CN">
                <a:latin typeface="Times New Roman" panose="02020603050405020304" pitchFamily="18" charset="0"/>
              </a:rPr>
              <a:t>4.14 </a:t>
            </a:r>
            <a:r>
              <a:rPr lang="zh-CN" altLang="en-US">
                <a:latin typeface="Times New Roman" panose="02020603050405020304" pitchFamily="18" charset="0"/>
              </a:rPr>
              <a:t>对于产生式</a:t>
            </a:r>
            <a:r>
              <a:rPr lang="en-US" altLang="zh-CN" i="1">
                <a:latin typeface="Times New Roman" panose="02020603050405020304" pitchFamily="18" charset="0"/>
              </a:rPr>
              <a:t>E</a:t>
            </a:r>
            <a:r>
              <a:rPr lang="en-US" altLang="zh-CN">
                <a:latin typeface="Times New Roman" panose="02020603050405020304" pitchFamily="18" charset="0"/>
              </a:rPr>
              <a:t>'→+</a:t>
            </a:r>
            <a:r>
              <a:rPr lang="en-US" altLang="zh-CN" i="1">
                <a:latin typeface="Times New Roman" panose="02020603050405020304" pitchFamily="18" charset="0"/>
              </a:rPr>
              <a:t>TE</a:t>
            </a:r>
            <a:r>
              <a:rPr lang="en-US" altLang="zh-CN">
                <a:latin typeface="Times New Roman" panose="02020603050405020304" pitchFamily="18" charset="0"/>
              </a:rPr>
              <a:t>'</a:t>
            </a:r>
            <a:r>
              <a:rPr lang="zh-CN" altLang="en-US">
                <a:latin typeface="Times New Roman" panose="02020603050405020304" pitchFamily="18" charset="0"/>
              </a:rPr>
              <a:t>，与</a:t>
            </a:r>
            <a:r>
              <a:rPr lang="en-US" altLang="zh-CN" i="1">
                <a:latin typeface="Times New Roman" panose="02020603050405020304" pitchFamily="18" charset="0"/>
              </a:rPr>
              <a:t>E</a:t>
            </a:r>
            <a:r>
              <a:rPr lang="en-US" altLang="zh-CN">
                <a:latin typeface="Times New Roman" panose="02020603050405020304" pitchFamily="18" charset="0"/>
              </a:rPr>
              <a:t>'</a:t>
            </a:r>
            <a:r>
              <a:rPr lang="zh-CN" altLang="en-US">
                <a:latin typeface="Times New Roman" panose="02020603050405020304" pitchFamily="18" charset="0"/>
              </a:rPr>
              <a:t>对应的子程序可以按如下方式来编写：</a:t>
            </a:r>
          </a:p>
          <a:p>
            <a:pPr eaLnBrk="1" hangingPunct="1">
              <a:buFont typeface="Wingdings" panose="05000000000000000000" pitchFamily="2" charset="2"/>
              <a:buNone/>
            </a:pPr>
            <a:r>
              <a:rPr lang="en-US" altLang="zh-CN">
                <a:latin typeface="Times New Roman" panose="02020603050405020304" pitchFamily="18" charset="0"/>
              </a:rPr>
              <a:t>procedure </a:t>
            </a:r>
            <a:r>
              <a:rPr lang="en-US" altLang="zh-CN" i="1">
                <a:latin typeface="Times New Roman" panose="02020603050405020304" pitchFamily="18" charset="0"/>
              </a:rPr>
              <a:t>E</a:t>
            </a:r>
            <a:r>
              <a:rPr lang="en-US" altLang="zh-CN">
                <a:latin typeface="Times New Roman" panose="02020603050405020304" pitchFamily="18" charset="0"/>
              </a:rPr>
              <a:t>'</a:t>
            </a:r>
          </a:p>
          <a:p>
            <a:pPr eaLnBrk="1" hangingPunct="1">
              <a:buFont typeface="Wingdings" panose="05000000000000000000" pitchFamily="2" charset="2"/>
              <a:buNone/>
            </a:pPr>
            <a:r>
              <a:rPr lang="en-US" altLang="zh-CN">
                <a:latin typeface="Times New Roman" panose="02020603050405020304" pitchFamily="18" charset="0"/>
              </a:rPr>
              <a:t>  begin</a:t>
            </a:r>
          </a:p>
          <a:p>
            <a:pPr lvl="1" eaLnBrk="1" hangingPunct="1">
              <a:buFont typeface="Wingdings" panose="05000000000000000000" pitchFamily="2" charset="2"/>
              <a:buNone/>
            </a:pPr>
            <a:r>
              <a:rPr lang="en-US" altLang="zh-CN" i="1">
                <a:latin typeface="Times New Roman" panose="02020603050405020304" pitchFamily="18" charset="0"/>
              </a:rPr>
              <a:t>     match(‘+’);</a:t>
            </a:r>
          </a:p>
          <a:p>
            <a:pPr lvl="1" eaLnBrk="1" hangingPunct="1">
              <a:buFont typeface="Wingdings" panose="05000000000000000000" pitchFamily="2" charset="2"/>
              <a:buNone/>
            </a:pPr>
            <a:r>
              <a:rPr lang="en-US" altLang="zh-CN" i="1">
                <a:latin typeface="Times New Roman" panose="02020603050405020304" pitchFamily="18" charset="0"/>
              </a:rPr>
              <a:t>     T;                    /*</a:t>
            </a:r>
            <a:r>
              <a:rPr lang="zh-CN" altLang="en-US" i="1">
                <a:latin typeface="Times New Roman" panose="02020603050405020304" pitchFamily="18" charset="0"/>
              </a:rPr>
              <a:t>调用识别</a:t>
            </a:r>
            <a:r>
              <a:rPr lang="en-US" altLang="zh-CN" i="1">
                <a:latin typeface="Times New Roman" panose="02020603050405020304" pitchFamily="18" charset="0"/>
              </a:rPr>
              <a:t>T</a:t>
            </a:r>
            <a:r>
              <a:rPr lang="zh-CN" altLang="en-US" i="1">
                <a:latin typeface="Times New Roman" panose="02020603050405020304" pitchFamily="18" charset="0"/>
              </a:rPr>
              <a:t>的过程*</a:t>
            </a:r>
            <a:r>
              <a:rPr lang="en-US" altLang="zh-CN" i="1">
                <a:latin typeface="Times New Roman" panose="02020603050405020304" pitchFamily="18" charset="0"/>
              </a:rPr>
              <a:t>/</a:t>
            </a:r>
          </a:p>
          <a:p>
            <a:pPr eaLnBrk="1" hangingPunct="1">
              <a:buFont typeface="Wingdings" panose="05000000000000000000" pitchFamily="2" charset="2"/>
              <a:buNone/>
            </a:pPr>
            <a:r>
              <a:rPr lang="en-US" altLang="zh-CN" i="1">
                <a:latin typeface="Times New Roman" panose="02020603050405020304" pitchFamily="18" charset="0"/>
              </a:rPr>
              <a:t>		E'                    /*</a:t>
            </a:r>
            <a:r>
              <a:rPr lang="zh-CN" altLang="en-US" i="1">
                <a:latin typeface="Times New Roman" panose="02020603050405020304" pitchFamily="18" charset="0"/>
              </a:rPr>
              <a:t>调用识别</a:t>
            </a:r>
            <a:r>
              <a:rPr lang="en-US" altLang="zh-CN" i="1">
                <a:latin typeface="Times New Roman" panose="02020603050405020304" pitchFamily="18" charset="0"/>
              </a:rPr>
              <a:t>E'</a:t>
            </a:r>
            <a:r>
              <a:rPr lang="zh-CN" altLang="en-US" i="1">
                <a:latin typeface="Times New Roman" panose="02020603050405020304" pitchFamily="18" charset="0"/>
              </a:rPr>
              <a:t>的过程*</a:t>
            </a:r>
            <a:r>
              <a:rPr lang="en-US" altLang="zh-CN" i="1">
                <a:latin typeface="Times New Roman" panose="02020603050405020304" pitchFamily="18" charset="0"/>
              </a:rPr>
              <a:t>/</a:t>
            </a:r>
          </a:p>
          <a:p>
            <a:pPr eaLnBrk="1" hangingPunct="1">
              <a:buFont typeface="Wingdings" panose="05000000000000000000" pitchFamily="2" charset="2"/>
              <a:buNone/>
            </a:pPr>
            <a:r>
              <a:rPr lang="en-US" altLang="zh-CN">
                <a:latin typeface="Times New Roman" panose="02020603050405020304" pitchFamily="18" charset="0"/>
              </a:rPr>
              <a:t>  end;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165315">
                                            <p:txEl>
                                              <p:pRg st="0" end="0"/>
                                            </p:txEl>
                                          </p:spTgt>
                                        </p:tgtEl>
                                        <p:attrNameLst>
                                          <p:attrName>style.visibility</p:attrName>
                                        </p:attrNameLst>
                                      </p:cBhvr>
                                      <p:to>
                                        <p:strVal val="visible"/>
                                      </p:to>
                                    </p:set>
                                    <p:anim calcmode="lin" valueType="num">
                                      <p:cBhvr>
                                        <p:cTn id="7" dur="500" fill="hold"/>
                                        <p:tgtEl>
                                          <p:spTgt spid="1165315">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16531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165315">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165315">
                                            <p:txEl>
                                              <p:pRg st="0" end="0"/>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165315">
                                            <p:txEl>
                                              <p:pRg st="1" end="1"/>
                                            </p:txEl>
                                          </p:spTgt>
                                        </p:tgtEl>
                                        <p:attrNameLst>
                                          <p:attrName>style.visibility</p:attrName>
                                        </p:attrNameLst>
                                      </p:cBhvr>
                                      <p:to>
                                        <p:strVal val="visible"/>
                                      </p:to>
                                    </p:set>
                                    <p:anim calcmode="lin" valueType="num">
                                      <p:cBhvr>
                                        <p:cTn id="15" dur="500" fill="hold"/>
                                        <p:tgtEl>
                                          <p:spTgt spid="1165315">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165315">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165315">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165315">
                                            <p:txEl>
                                              <p:pRg st="1" end="1"/>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2" name="CARBRAKE.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165315">
                                            <p:txEl>
                                              <p:pRg st="2" end="2"/>
                                            </p:txEl>
                                          </p:spTgt>
                                        </p:tgtEl>
                                        <p:attrNameLst>
                                          <p:attrName>style.visibility</p:attrName>
                                        </p:attrNameLst>
                                      </p:cBhvr>
                                      <p:to>
                                        <p:strVal val="visible"/>
                                      </p:to>
                                    </p:set>
                                    <p:anim calcmode="lin" valueType="num">
                                      <p:cBhvr>
                                        <p:cTn id="23" dur="500" fill="hold"/>
                                        <p:tgtEl>
                                          <p:spTgt spid="1165315">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165315">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165315">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165315">
                                            <p:txEl>
                                              <p:pRg st="2" end="2"/>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2" name="CARBRAKE.WAV"/>
                                        </p:tgtEl>
                                      </p:cMediaNode>
                                    </p:audio>
                                  </p:subTnLst>
                                </p:cTn>
                              </p:par>
                              <p:par>
                                <p:cTn id="27" presetID="17" presetClass="entr" presetSubtype="8" fill="hold" grpId="0" nodeType="withEffect">
                                  <p:stCondLst>
                                    <p:cond delay="0"/>
                                  </p:stCondLst>
                                  <p:childTnLst>
                                    <p:set>
                                      <p:cBhvr>
                                        <p:cTn id="28" dur="1" fill="hold">
                                          <p:stCondLst>
                                            <p:cond delay="0"/>
                                          </p:stCondLst>
                                        </p:cTn>
                                        <p:tgtEl>
                                          <p:spTgt spid="1165315">
                                            <p:txEl>
                                              <p:pRg st="3" end="3"/>
                                            </p:txEl>
                                          </p:spTgt>
                                        </p:tgtEl>
                                        <p:attrNameLst>
                                          <p:attrName>style.visibility</p:attrName>
                                        </p:attrNameLst>
                                      </p:cBhvr>
                                      <p:to>
                                        <p:strVal val="visible"/>
                                      </p:to>
                                    </p:set>
                                    <p:anim calcmode="lin" valueType="num">
                                      <p:cBhvr>
                                        <p:cTn id="29" dur="500" fill="hold"/>
                                        <p:tgtEl>
                                          <p:spTgt spid="1165315">
                                            <p:txEl>
                                              <p:pRg st="3" end="3"/>
                                            </p:txEl>
                                          </p:spTgt>
                                        </p:tgtEl>
                                        <p:attrNameLst>
                                          <p:attrName>ppt_x</p:attrName>
                                        </p:attrNameLst>
                                      </p:cBhvr>
                                      <p:tavLst>
                                        <p:tav tm="0">
                                          <p:val>
                                            <p:strVal val="#ppt_x-#ppt_w/2"/>
                                          </p:val>
                                        </p:tav>
                                        <p:tav tm="100000">
                                          <p:val>
                                            <p:strVal val="#ppt_x"/>
                                          </p:val>
                                        </p:tav>
                                      </p:tavLst>
                                    </p:anim>
                                    <p:anim calcmode="lin" valueType="num">
                                      <p:cBhvr>
                                        <p:cTn id="30" dur="500" fill="hold"/>
                                        <p:tgtEl>
                                          <p:spTgt spid="1165315">
                                            <p:txEl>
                                              <p:pRg st="3" end="3"/>
                                            </p:txEl>
                                          </p:spTgt>
                                        </p:tgtEl>
                                        <p:attrNameLst>
                                          <p:attrName>ppt_y</p:attrName>
                                        </p:attrNameLst>
                                      </p:cBhvr>
                                      <p:tavLst>
                                        <p:tav tm="0">
                                          <p:val>
                                            <p:strVal val="#ppt_y"/>
                                          </p:val>
                                        </p:tav>
                                        <p:tav tm="100000">
                                          <p:val>
                                            <p:strVal val="#ppt_y"/>
                                          </p:val>
                                        </p:tav>
                                      </p:tavLst>
                                    </p:anim>
                                    <p:anim calcmode="lin" valueType="num">
                                      <p:cBhvr>
                                        <p:cTn id="31" dur="500" fill="hold"/>
                                        <p:tgtEl>
                                          <p:spTgt spid="1165315">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165315">
                                            <p:txEl>
                                              <p:pRg st="3" end="3"/>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2" name="CARBRAKE.WAV"/>
                                        </p:tgtEl>
                                      </p:cMediaNode>
                                    </p:audio>
                                  </p:subTnLst>
                                </p:cTn>
                              </p:par>
                              <p:par>
                                <p:cTn id="33" presetID="17" presetClass="entr" presetSubtype="8" fill="hold" grpId="0" nodeType="withEffect">
                                  <p:stCondLst>
                                    <p:cond delay="0"/>
                                  </p:stCondLst>
                                  <p:childTnLst>
                                    <p:set>
                                      <p:cBhvr>
                                        <p:cTn id="34" dur="1" fill="hold">
                                          <p:stCondLst>
                                            <p:cond delay="0"/>
                                          </p:stCondLst>
                                        </p:cTn>
                                        <p:tgtEl>
                                          <p:spTgt spid="1165315">
                                            <p:txEl>
                                              <p:pRg st="4" end="4"/>
                                            </p:txEl>
                                          </p:spTgt>
                                        </p:tgtEl>
                                        <p:attrNameLst>
                                          <p:attrName>style.visibility</p:attrName>
                                        </p:attrNameLst>
                                      </p:cBhvr>
                                      <p:to>
                                        <p:strVal val="visible"/>
                                      </p:to>
                                    </p:set>
                                    <p:anim calcmode="lin" valueType="num">
                                      <p:cBhvr>
                                        <p:cTn id="35" dur="500" fill="hold"/>
                                        <p:tgtEl>
                                          <p:spTgt spid="1165315">
                                            <p:txEl>
                                              <p:pRg st="4" end="4"/>
                                            </p:txEl>
                                          </p:spTgt>
                                        </p:tgtEl>
                                        <p:attrNameLst>
                                          <p:attrName>ppt_x</p:attrName>
                                        </p:attrNameLst>
                                      </p:cBhvr>
                                      <p:tavLst>
                                        <p:tav tm="0">
                                          <p:val>
                                            <p:strVal val="#ppt_x-#ppt_w/2"/>
                                          </p:val>
                                        </p:tav>
                                        <p:tav tm="100000">
                                          <p:val>
                                            <p:strVal val="#ppt_x"/>
                                          </p:val>
                                        </p:tav>
                                      </p:tavLst>
                                    </p:anim>
                                    <p:anim calcmode="lin" valueType="num">
                                      <p:cBhvr>
                                        <p:cTn id="36" dur="500" fill="hold"/>
                                        <p:tgtEl>
                                          <p:spTgt spid="1165315">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1165315">
                                            <p:txEl>
                                              <p:pRg st="4" end="4"/>
                                            </p:txEl>
                                          </p:spTgt>
                                        </p:tgtEl>
                                        <p:attrNameLst>
                                          <p:attrName>ppt_w</p:attrName>
                                        </p:attrNameLst>
                                      </p:cBhvr>
                                      <p:tavLst>
                                        <p:tav tm="0">
                                          <p:val>
                                            <p:fltVal val="0"/>
                                          </p:val>
                                        </p:tav>
                                        <p:tav tm="100000">
                                          <p:val>
                                            <p:strVal val="#ppt_w"/>
                                          </p:val>
                                        </p:tav>
                                      </p:tavLst>
                                    </p:anim>
                                    <p:anim calcmode="lin" valueType="num">
                                      <p:cBhvr>
                                        <p:cTn id="38" dur="500" fill="hold"/>
                                        <p:tgtEl>
                                          <p:spTgt spid="1165315">
                                            <p:txEl>
                                              <p:pRg st="4" end="4"/>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2" name="CARBRAK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8" fill="hold" grpId="0" nodeType="clickEffect">
                                  <p:stCondLst>
                                    <p:cond delay="0"/>
                                  </p:stCondLst>
                                  <p:childTnLst>
                                    <p:set>
                                      <p:cBhvr>
                                        <p:cTn id="42" dur="1" fill="hold">
                                          <p:stCondLst>
                                            <p:cond delay="0"/>
                                          </p:stCondLst>
                                        </p:cTn>
                                        <p:tgtEl>
                                          <p:spTgt spid="1165315">
                                            <p:txEl>
                                              <p:pRg st="5" end="5"/>
                                            </p:txEl>
                                          </p:spTgt>
                                        </p:tgtEl>
                                        <p:attrNameLst>
                                          <p:attrName>style.visibility</p:attrName>
                                        </p:attrNameLst>
                                      </p:cBhvr>
                                      <p:to>
                                        <p:strVal val="visible"/>
                                      </p:to>
                                    </p:set>
                                    <p:anim calcmode="lin" valueType="num">
                                      <p:cBhvr>
                                        <p:cTn id="43" dur="500" fill="hold"/>
                                        <p:tgtEl>
                                          <p:spTgt spid="1165315">
                                            <p:txEl>
                                              <p:pRg st="5" end="5"/>
                                            </p:txEl>
                                          </p:spTgt>
                                        </p:tgtEl>
                                        <p:attrNameLst>
                                          <p:attrName>ppt_x</p:attrName>
                                        </p:attrNameLst>
                                      </p:cBhvr>
                                      <p:tavLst>
                                        <p:tav tm="0">
                                          <p:val>
                                            <p:strVal val="#ppt_x-#ppt_w/2"/>
                                          </p:val>
                                        </p:tav>
                                        <p:tav tm="100000">
                                          <p:val>
                                            <p:strVal val="#ppt_x"/>
                                          </p:val>
                                        </p:tav>
                                      </p:tavLst>
                                    </p:anim>
                                    <p:anim calcmode="lin" valueType="num">
                                      <p:cBhvr>
                                        <p:cTn id="44" dur="500" fill="hold"/>
                                        <p:tgtEl>
                                          <p:spTgt spid="1165315">
                                            <p:txEl>
                                              <p:pRg st="5" end="5"/>
                                            </p:txEl>
                                          </p:spTgt>
                                        </p:tgtEl>
                                        <p:attrNameLst>
                                          <p:attrName>ppt_y</p:attrName>
                                        </p:attrNameLst>
                                      </p:cBhvr>
                                      <p:tavLst>
                                        <p:tav tm="0">
                                          <p:val>
                                            <p:strVal val="#ppt_y"/>
                                          </p:val>
                                        </p:tav>
                                        <p:tav tm="100000">
                                          <p:val>
                                            <p:strVal val="#ppt_y"/>
                                          </p:val>
                                        </p:tav>
                                      </p:tavLst>
                                    </p:anim>
                                    <p:anim calcmode="lin" valueType="num">
                                      <p:cBhvr>
                                        <p:cTn id="45" dur="500" fill="hold"/>
                                        <p:tgtEl>
                                          <p:spTgt spid="1165315">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1165315">
                                            <p:txEl>
                                              <p:pRg st="5" end="5"/>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7" fill="hold" nodeType="clickPar">
                      <p:stCondLst>
                        <p:cond delay="indefinite"/>
                      </p:stCondLst>
                      <p:childTnLst>
                        <p:par>
                          <p:cTn id="48" fill="hold" nodeType="withGroup">
                            <p:stCondLst>
                              <p:cond delay="0"/>
                            </p:stCondLst>
                            <p:childTnLst>
                              <p:par>
                                <p:cTn id="49" presetID="17" presetClass="entr" presetSubtype="8" fill="hold" grpId="0" nodeType="clickEffect">
                                  <p:stCondLst>
                                    <p:cond delay="0"/>
                                  </p:stCondLst>
                                  <p:childTnLst>
                                    <p:set>
                                      <p:cBhvr>
                                        <p:cTn id="50" dur="1" fill="hold">
                                          <p:stCondLst>
                                            <p:cond delay="0"/>
                                          </p:stCondLst>
                                        </p:cTn>
                                        <p:tgtEl>
                                          <p:spTgt spid="1165315">
                                            <p:txEl>
                                              <p:pRg st="6" end="6"/>
                                            </p:txEl>
                                          </p:spTgt>
                                        </p:tgtEl>
                                        <p:attrNameLst>
                                          <p:attrName>style.visibility</p:attrName>
                                        </p:attrNameLst>
                                      </p:cBhvr>
                                      <p:to>
                                        <p:strVal val="visible"/>
                                      </p:to>
                                    </p:set>
                                    <p:anim calcmode="lin" valueType="num">
                                      <p:cBhvr>
                                        <p:cTn id="51" dur="500" fill="hold"/>
                                        <p:tgtEl>
                                          <p:spTgt spid="1165315">
                                            <p:txEl>
                                              <p:pRg st="6" end="6"/>
                                            </p:txEl>
                                          </p:spTgt>
                                        </p:tgtEl>
                                        <p:attrNameLst>
                                          <p:attrName>ppt_x</p:attrName>
                                        </p:attrNameLst>
                                      </p:cBhvr>
                                      <p:tavLst>
                                        <p:tav tm="0">
                                          <p:val>
                                            <p:strVal val="#ppt_x-#ppt_w/2"/>
                                          </p:val>
                                        </p:tav>
                                        <p:tav tm="100000">
                                          <p:val>
                                            <p:strVal val="#ppt_x"/>
                                          </p:val>
                                        </p:tav>
                                      </p:tavLst>
                                    </p:anim>
                                    <p:anim calcmode="lin" valueType="num">
                                      <p:cBhvr>
                                        <p:cTn id="52" dur="500" fill="hold"/>
                                        <p:tgtEl>
                                          <p:spTgt spid="1165315">
                                            <p:txEl>
                                              <p:pRg st="6" end="6"/>
                                            </p:txEl>
                                          </p:spTgt>
                                        </p:tgtEl>
                                        <p:attrNameLst>
                                          <p:attrName>ppt_y</p:attrName>
                                        </p:attrNameLst>
                                      </p:cBhvr>
                                      <p:tavLst>
                                        <p:tav tm="0">
                                          <p:val>
                                            <p:strVal val="#ppt_y"/>
                                          </p:val>
                                        </p:tav>
                                        <p:tav tm="100000">
                                          <p:val>
                                            <p:strVal val="#ppt_y"/>
                                          </p:val>
                                        </p:tav>
                                      </p:tavLst>
                                    </p:anim>
                                    <p:anim calcmode="lin" valueType="num">
                                      <p:cBhvr>
                                        <p:cTn id="53" dur="500" fill="hold"/>
                                        <p:tgtEl>
                                          <p:spTgt spid="1165315">
                                            <p:txEl>
                                              <p:pRg st="6" end="6"/>
                                            </p:txEl>
                                          </p:spTgt>
                                        </p:tgtEl>
                                        <p:attrNameLst>
                                          <p:attrName>ppt_w</p:attrName>
                                        </p:attrNameLst>
                                      </p:cBhvr>
                                      <p:tavLst>
                                        <p:tav tm="0">
                                          <p:val>
                                            <p:fltVal val="0"/>
                                          </p:val>
                                        </p:tav>
                                        <p:tav tm="100000">
                                          <p:val>
                                            <p:strVal val="#ppt_w"/>
                                          </p:val>
                                        </p:tav>
                                      </p:tavLst>
                                    </p:anim>
                                    <p:anim calcmode="lin" valueType="num">
                                      <p:cBhvr>
                                        <p:cTn id="54" dur="500" fill="hold"/>
                                        <p:tgtEl>
                                          <p:spTgt spid="1165315">
                                            <p:txEl>
                                              <p:pRg st="6" end="6"/>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5"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0010AD67-67AC-47EC-8F0F-C2A88FB30798}"/>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E70EB877-62EC-4852-A4E2-E05169C07DA9}" type="datetime1">
              <a:rPr lang="zh-CN" altLang="en-US" noProof="0" smtClean="0">
                <a:latin typeface="+mn-lt"/>
              </a:rPr>
              <a:pPr>
                <a:buFontTx/>
                <a:buNone/>
                <a:defRPr/>
              </a:pPr>
              <a:t>2025/6/26</a:t>
            </a:fld>
            <a:endParaRPr lang="en-US" altLang="zh-CN" noProof="0">
              <a:latin typeface="+mn-lt"/>
            </a:endParaRPr>
          </a:p>
        </p:txBody>
      </p:sp>
      <p:sp>
        <p:nvSpPr>
          <p:cNvPr id="75779" name="灯片编号占位符 5">
            <a:extLst>
              <a:ext uri="{FF2B5EF4-FFF2-40B4-BE49-F238E27FC236}">
                <a16:creationId xmlns:a16="http://schemas.microsoft.com/office/drawing/2014/main" id="{D5C0DF46-C7E9-499B-A5CF-93016E8AEF91}"/>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145FEEFD-8C0B-4E51-AB49-A341EE300952}" type="slidenum">
              <a:rPr lang="en-US" altLang="zh-CN" sz="1400">
                <a:latin typeface="Arial" panose="020B0604020202020204" pitchFamily="34" charset="0"/>
              </a:rPr>
              <a:pPr/>
              <a:t>32</a:t>
            </a:fld>
            <a:endParaRPr lang="en-US" altLang="zh-CN" sz="1400">
              <a:latin typeface="Arial" panose="020B0604020202020204" pitchFamily="34" charset="0"/>
            </a:endParaRPr>
          </a:p>
        </p:txBody>
      </p:sp>
      <p:sp>
        <p:nvSpPr>
          <p:cNvPr id="75780" name="Rectangle 2">
            <a:extLst>
              <a:ext uri="{FF2B5EF4-FFF2-40B4-BE49-F238E27FC236}">
                <a16:creationId xmlns:a16="http://schemas.microsoft.com/office/drawing/2014/main" id="{887C83A3-4C84-490D-9DC9-5B9096CCB6D4}"/>
              </a:ext>
            </a:extLst>
          </p:cNvPr>
          <p:cNvSpPr>
            <a:spLocks noGrp="1" noChangeArrowheads="1"/>
          </p:cNvSpPr>
          <p:nvPr>
            <p:ph type="title" idx="4294967295"/>
          </p:nvPr>
        </p:nvSpPr>
        <p:spPr>
          <a:xfrm>
            <a:off x="2566989" y="404813"/>
            <a:ext cx="7902575" cy="722312"/>
          </a:xfrm>
        </p:spPr>
        <p:txBody>
          <a:bodyPr vert="horz" lIns="92075" tIns="46038" rIns="92075" bIns="46038" rtlCol="0" anchor="ctr">
            <a:normAutofit/>
          </a:bodyPr>
          <a:lstStyle/>
          <a:p>
            <a:pPr eaLnBrk="1" hangingPunct="1"/>
            <a:r>
              <a:rPr lang="en-US" altLang="zh-CN" sz="4000">
                <a:latin typeface="Times New Roman" panose="02020603050405020304" pitchFamily="18" charset="0"/>
              </a:rPr>
              <a:t>4.4.1 </a:t>
            </a:r>
            <a:r>
              <a:rPr lang="zh-CN" altLang="en-US" sz="4000">
                <a:latin typeface="Times New Roman" panose="02020603050405020304" pitchFamily="18" charset="0"/>
              </a:rPr>
              <a:t>递归下降分析法的基本思想</a:t>
            </a:r>
          </a:p>
        </p:txBody>
      </p:sp>
      <p:sp>
        <p:nvSpPr>
          <p:cNvPr id="2934787" name="Rectangle 3">
            <a:extLst>
              <a:ext uri="{FF2B5EF4-FFF2-40B4-BE49-F238E27FC236}">
                <a16:creationId xmlns:a16="http://schemas.microsoft.com/office/drawing/2014/main" id="{D3064616-8134-4068-B601-446A485EE819}"/>
              </a:ext>
            </a:extLst>
          </p:cNvPr>
          <p:cNvSpPr>
            <a:spLocks noGrp="1" noChangeArrowheads="1"/>
          </p:cNvSpPr>
          <p:nvPr>
            <p:ph type="body" idx="4294967295"/>
          </p:nvPr>
        </p:nvSpPr>
        <p:spPr>
          <a:xfrm>
            <a:off x="1776413" y="1484313"/>
            <a:ext cx="8712200" cy="5040312"/>
          </a:xfrm>
        </p:spPr>
        <p:txBody>
          <a:bodyPr vert="horz" lIns="92075" tIns="46038" rIns="92075" bIns="46038" rtlCol="0">
            <a:normAutofit/>
          </a:bodyPr>
          <a:lstStyle/>
          <a:p>
            <a:pPr eaLnBrk="1" hangingPunct="1">
              <a:buFont typeface="Wingdings" panose="05000000000000000000" pitchFamily="2" charset="2"/>
              <a:buNone/>
            </a:pPr>
            <a:r>
              <a:rPr lang="zh-CN" altLang="en-US">
                <a:latin typeface="Times New Roman" panose="02020603050405020304" pitchFamily="18" charset="0"/>
              </a:rPr>
              <a:t>其中，服务子程序</a:t>
            </a:r>
            <a:r>
              <a:rPr lang="en-US" altLang="zh-CN" i="1">
                <a:latin typeface="Times New Roman" panose="02020603050405020304" pitchFamily="18" charset="0"/>
              </a:rPr>
              <a:t>match</a:t>
            </a:r>
            <a:r>
              <a:rPr lang="zh-CN" altLang="en-US">
                <a:latin typeface="Times New Roman" panose="02020603050405020304" pitchFamily="18" charset="0"/>
              </a:rPr>
              <a:t>用来匹配当前的输入记号，其代码为：</a:t>
            </a:r>
          </a:p>
          <a:p>
            <a:pPr eaLnBrk="1" hangingPunct="1">
              <a:buFont typeface="Wingdings" panose="05000000000000000000" pitchFamily="2" charset="2"/>
              <a:buNone/>
            </a:pPr>
            <a:r>
              <a:rPr lang="en-US" altLang="zh-CN">
                <a:latin typeface="Times New Roman" panose="02020603050405020304" pitchFamily="18" charset="0"/>
              </a:rPr>
              <a:t>procedure </a:t>
            </a:r>
            <a:r>
              <a:rPr lang="en-US" altLang="zh-CN" i="1">
                <a:latin typeface="Times New Roman" panose="02020603050405020304" pitchFamily="18" charset="0"/>
              </a:rPr>
              <a:t>match</a:t>
            </a:r>
            <a:r>
              <a:rPr lang="en-US" altLang="zh-CN">
                <a:latin typeface="Times New Roman" panose="02020603050405020304" pitchFamily="18" charset="0"/>
              </a:rPr>
              <a:t>(</a:t>
            </a:r>
            <a:r>
              <a:rPr lang="en-US" altLang="zh-CN" i="1">
                <a:latin typeface="Times New Roman" panose="02020603050405020304" pitchFamily="18" charset="0"/>
              </a:rPr>
              <a:t>t</a:t>
            </a:r>
            <a:r>
              <a:rPr lang="en-US" altLang="zh-CN">
                <a:latin typeface="Times New Roman" panose="02020603050405020304" pitchFamily="18" charset="0"/>
              </a:rPr>
              <a:t>:</a:t>
            </a:r>
            <a:r>
              <a:rPr lang="en-US" altLang="zh-CN" i="1">
                <a:latin typeface="Times New Roman" panose="02020603050405020304" pitchFamily="18" charset="0"/>
              </a:rPr>
              <a:t>token</a:t>
            </a:r>
            <a:r>
              <a:rPr lang="en-US" altLang="zh-CN">
                <a:latin typeface="Times New Roman" panose="02020603050405020304" pitchFamily="18" charset="0"/>
              </a:rPr>
              <a:t>); </a:t>
            </a:r>
          </a:p>
          <a:p>
            <a:pPr eaLnBrk="1" hangingPunct="1">
              <a:buFont typeface="Wingdings" panose="05000000000000000000" pitchFamily="2" charset="2"/>
              <a:buNone/>
            </a:pPr>
            <a:r>
              <a:rPr lang="en-US" altLang="zh-CN">
                <a:latin typeface="Times New Roman" panose="02020603050405020304" pitchFamily="18" charset="0"/>
              </a:rPr>
              <a:t>  begin</a:t>
            </a:r>
          </a:p>
          <a:p>
            <a:pPr eaLnBrk="1" hangingPunct="1">
              <a:buFont typeface="Wingdings" panose="05000000000000000000" pitchFamily="2" charset="2"/>
              <a:buNone/>
            </a:pPr>
            <a:r>
              <a:rPr lang="en-US" altLang="zh-CN">
                <a:latin typeface="Times New Roman" panose="02020603050405020304" pitchFamily="18" charset="0"/>
              </a:rPr>
              <a:t>      if </a:t>
            </a:r>
            <a:r>
              <a:rPr lang="en-US" altLang="zh-CN" i="1">
                <a:latin typeface="Times New Roman" panose="02020603050405020304" pitchFamily="18" charset="0"/>
              </a:rPr>
              <a:t>lookhead</a:t>
            </a:r>
            <a:r>
              <a:rPr lang="en-US" altLang="zh-CN">
                <a:latin typeface="Times New Roman" panose="02020603050405020304" pitchFamily="18" charset="0"/>
              </a:rPr>
              <a:t>=</a:t>
            </a:r>
            <a:r>
              <a:rPr lang="en-US" altLang="zh-CN" i="1">
                <a:latin typeface="Times New Roman" panose="02020603050405020304" pitchFamily="18" charset="0"/>
              </a:rPr>
              <a:t>t</a:t>
            </a:r>
            <a:r>
              <a:rPr lang="en-US" altLang="zh-CN">
                <a:latin typeface="Times New Roman" panose="02020603050405020304" pitchFamily="18" charset="0"/>
              </a:rPr>
              <a:t>  then</a:t>
            </a:r>
          </a:p>
          <a:p>
            <a:pPr eaLnBrk="1" hangingPunct="1">
              <a:buFont typeface="Wingdings" panose="05000000000000000000" pitchFamily="2" charset="2"/>
              <a:buNone/>
            </a:pPr>
            <a:r>
              <a:rPr lang="en-US" altLang="zh-CN">
                <a:latin typeface="Times New Roman" panose="02020603050405020304" pitchFamily="18" charset="0"/>
              </a:rPr>
              <a:t>            </a:t>
            </a:r>
            <a:r>
              <a:rPr lang="en-US" altLang="zh-CN" i="1">
                <a:latin typeface="Times New Roman" panose="02020603050405020304" pitchFamily="18" charset="0"/>
              </a:rPr>
              <a:t>lookhead</a:t>
            </a:r>
            <a:r>
              <a:rPr lang="en-US" altLang="zh-CN">
                <a:latin typeface="Times New Roman" panose="02020603050405020304" pitchFamily="18" charset="0"/>
              </a:rPr>
              <a:t>:=</a:t>
            </a:r>
            <a:r>
              <a:rPr lang="en-US" altLang="zh-CN" i="1">
                <a:latin typeface="Times New Roman" panose="02020603050405020304" pitchFamily="18" charset="0"/>
              </a:rPr>
              <a:t>nexttoken</a:t>
            </a:r>
            <a:r>
              <a:rPr lang="en-US" altLang="zh-CN">
                <a:latin typeface="Times New Roman" panose="02020603050405020304" pitchFamily="18" charset="0"/>
              </a:rPr>
              <a:t>;</a:t>
            </a:r>
          </a:p>
          <a:p>
            <a:pPr eaLnBrk="1" hangingPunct="1">
              <a:buFont typeface="Wingdings" panose="05000000000000000000" pitchFamily="2" charset="2"/>
              <a:buNone/>
            </a:pPr>
            <a:r>
              <a:rPr lang="en-US" altLang="zh-CN">
                <a:latin typeface="Times New Roman" panose="02020603050405020304" pitchFamily="18" charset="0"/>
              </a:rPr>
              <a:t>      else error              /*</a:t>
            </a:r>
            <a:r>
              <a:rPr lang="zh-CN" altLang="en-US">
                <a:latin typeface="Times New Roman" panose="02020603050405020304" pitchFamily="18" charset="0"/>
              </a:rPr>
              <a:t>调用出错处理程序*</a:t>
            </a:r>
            <a:r>
              <a:rPr lang="en-US" altLang="zh-CN">
                <a:latin typeface="Times New Roman" panose="02020603050405020304" pitchFamily="18" charset="0"/>
              </a:rPr>
              <a:t>/</a:t>
            </a:r>
          </a:p>
          <a:p>
            <a:pPr eaLnBrk="1" hangingPunct="1">
              <a:buFont typeface="Wingdings" panose="05000000000000000000" pitchFamily="2" charset="2"/>
              <a:buNone/>
            </a:pPr>
            <a:r>
              <a:rPr lang="en-US" altLang="zh-CN">
                <a:latin typeface="Times New Roman" panose="02020603050405020304" pitchFamily="18" charset="0"/>
              </a:rPr>
              <a:t>  end;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934787">
                                            <p:txEl>
                                              <p:pRg st="0" end="0"/>
                                            </p:txEl>
                                          </p:spTgt>
                                        </p:tgtEl>
                                        <p:attrNameLst>
                                          <p:attrName>style.visibility</p:attrName>
                                        </p:attrNameLst>
                                      </p:cBhvr>
                                      <p:to>
                                        <p:strVal val="visible"/>
                                      </p:to>
                                    </p:set>
                                    <p:anim calcmode="lin" valueType="num">
                                      <p:cBhvr>
                                        <p:cTn id="7" dur="500" fill="hold"/>
                                        <p:tgtEl>
                                          <p:spTgt spid="293478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293478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93478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2934787">
                                            <p:txEl>
                                              <p:pRg st="0" end="0"/>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934787">
                                            <p:txEl>
                                              <p:pRg st="1" end="1"/>
                                            </p:txEl>
                                          </p:spTgt>
                                        </p:tgtEl>
                                        <p:attrNameLst>
                                          <p:attrName>style.visibility</p:attrName>
                                        </p:attrNameLst>
                                      </p:cBhvr>
                                      <p:to>
                                        <p:strVal val="visible"/>
                                      </p:to>
                                    </p:set>
                                    <p:anim calcmode="lin" valueType="num">
                                      <p:cBhvr>
                                        <p:cTn id="15" dur="500" fill="hold"/>
                                        <p:tgtEl>
                                          <p:spTgt spid="293478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293478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293478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2934787">
                                            <p:txEl>
                                              <p:pRg st="1" end="1"/>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2" name="CARBRAKE.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934787">
                                            <p:txEl>
                                              <p:pRg st="2" end="2"/>
                                            </p:txEl>
                                          </p:spTgt>
                                        </p:tgtEl>
                                        <p:attrNameLst>
                                          <p:attrName>style.visibility</p:attrName>
                                        </p:attrNameLst>
                                      </p:cBhvr>
                                      <p:to>
                                        <p:strVal val="visible"/>
                                      </p:to>
                                    </p:set>
                                    <p:anim calcmode="lin" valueType="num">
                                      <p:cBhvr>
                                        <p:cTn id="23" dur="500" fill="hold"/>
                                        <p:tgtEl>
                                          <p:spTgt spid="293478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293478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293478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2934787">
                                            <p:txEl>
                                              <p:pRg st="2" end="2"/>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2" name="CARBRAK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2934787">
                                            <p:txEl>
                                              <p:pRg st="3" end="3"/>
                                            </p:txEl>
                                          </p:spTgt>
                                        </p:tgtEl>
                                        <p:attrNameLst>
                                          <p:attrName>style.visibility</p:attrName>
                                        </p:attrNameLst>
                                      </p:cBhvr>
                                      <p:to>
                                        <p:strVal val="visible"/>
                                      </p:to>
                                    </p:set>
                                    <p:anim calcmode="lin" valueType="num">
                                      <p:cBhvr>
                                        <p:cTn id="31" dur="500" fill="hold"/>
                                        <p:tgtEl>
                                          <p:spTgt spid="293478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293478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293478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2934787">
                                            <p:txEl>
                                              <p:pRg st="3" end="3"/>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2934787">
                                            <p:txEl>
                                              <p:pRg st="4" end="4"/>
                                            </p:txEl>
                                          </p:spTgt>
                                        </p:tgtEl>
                                        <p:attrNameLst>
                                          <p:attrName>style.visibility</p:attrName>
                                        </p:attrNameLst>
                                      </p:cBhvr>
                                      <p:to>
                                        <p:strVal val="visible"/>
                                      </p:to>
                                    </p:set>
                                    <p:anim calcmode="lin" valueType="num">
                                      <p:cBhvr>
                                        <p:cTn id="39" dur="500" fill="hold"/>
                                        <p:tgtEl>
                                          <p:spTgt spid="2934787">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2934787">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293478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2934787">
                                            <p:txEl>
                                              <p:pRg st="4" end="4"/>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2" name="CARBRAK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2934787">
                                            <p:txEl>
                                              <p:pRg st="5" end="5"/>
                                            </p:txEl>
                                          </p:spTgt>
                                        </p:tgtEl>
                                        <p:attrNameLst>
                                          <p:attrName>style.visibility</p:attrName>
                                        </p:attrNameLst>
                                      </p:cBhvr>
                                      <p:to>
                                        <p:strVal val="visible"/>
                                      </p:to>
                                    </p:set>
                                    <p:anim calcmode="lin" valueType="num">
                                      <p:cBhvr>
                                        <p:cTn id="47" dur="500" fill="hold"/>
                                        <p:tgtEl>
                                          <p:spTgt spid="2934787">
                                            <p:txEl>
                                              <p:pRg st="5" end="5"/>
                                            </p:txEl>
                                          </p:spTgt>
                                        </p:tgtEl>
                                        <p:attrNameLst>
                                          <p:attrName>ppt_x</p:attrName>
                                        </p:attrNameLst>
                                      </p:cBhvr>
                                      <p:tavLst>
                                        <p:tav tm="0">
                                          <p:val>
                                            <p:strVal val="#ppt_x-#ppt_w/2"/>
                                          </p:val>
                                        </p:tav>
                                        <p:tav tm="100000">
                                          <p:val>
                                            <p:strVal val="#ppt_x"/>
                                          </p:val>
                                        </p:tav>
                                      </p:tavLst>
                                    </p:anim>
                                    <p:anim calcmode="lin" valueType="num">
                                      <p:cBhvr>
                                        <p:cTn id="48" dur="500" fill="hold"/>
                                        <p:tgtEl>
                                          <p:spTgt spid="2934787">
                                            <p:txEl>
                                              <p:pRg st="5" end="5"/>
                                            </p:txEl>
                                          </p:spTgt>
                                        </p:tgtEl>
                                        <p:attrNameLst>
                                          <p:attrName>ppt_y</p:attrName>
                                        </p:attrNameLst>
                                      </p:cBhvr>
                                      <p:tavLst>
                                        <p:tav tm="0">
                                          <p:val>
                                            <p:strVal val="#ppt_y"/>
                                          </p:val>
                                        </p:tav>
                                        <p:tav tm="100000">
                                          <p:val>
                                            <p:strVal val="#ppt_y"/>
                                          </p:val>
                                        </p:tav>
                                      </p:tavLst>
                                    </p:anim>
                                    <p:anim calcmode="lin" valueType="num">
                                      <p:cBhvr>
                                        <p:cTn id="49" dur="500" fill="hold"/>
                                        <p:tgtEl>
                                          <p:spTgt spid="2934787">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2934787">
                                            <p:txEl>
                                              <p:pRg st="5" end="5"/>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2" name="CARBRAKE.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8" fill="hold" grpId="0" nodeType="clickEffect">
                                  <p:stCondLst>
                                    <p:cond delay="0"/>
                                  </p:stCondLst>
                                  <p:childTnLst>
                                    <p:set>
                                      <p:cBhvr>
                                        <p:cTn id="54" dur="1" fill="hold">
                                          <p:stCondLst>
                                            <p:cond delay="0"/>
                                          </p:stCondLst>
                                        </p:cTn>
                                        <p:tgtEl>
                                          <p:spTgt spid="2934787">
                                            <p:txEl>
                                              <p:pRg st="6" end="6"/>
                                            </p:txEl>
                                          </p:spTgt>
                                        </p:tgtEl>
                                        <p:attrNameLst>
                                          <p:attrName>style.visibility</p:attrName>
                                        </p:attrNameLst>
                                      </p:cBhvr>
                                      <p:to>
                                        <p:strVal val="visible"/>
                                      </p:to>
                                    </p:set>
                                    <p:anim calcmode="lin" valueType="num">
                                      <p:cBhvr>
                                        <p:cTn id="55" dur="500" fill="hold"/>
                                        <p:tgtEl>
                                          <p:spTgt spid="2934787">
                                            <p:txEl>
                                              <p:pRg st="6" end="6"/>
                                            </p:txEl>
                                          </p:spTgt>
                                        </p:tgtEl>
                                        <p:attrNameLst>
                                          <p:attrName>ppt_x</p:attrName>
                                        </p:attrNameLst>
                                      </p:cBhvr>
                                      <p:tavLst>
                                        <p:tav tm="0">
                                          <p:val>
                                            <p:strVal val="#ppt_x-#ppt_w/2"/>
                                          </p:val>
                                        </p:tav>
                                        <p:tav tm="100000">
                                          <p:val>
                                            <p:strVal val="#ppt_x"/>
                                          </p:val>
                                        </p:tav>
                                      </p:tavLst>
                                    </p:anim>
                                    <p:anim calcmode="lin" valueType="num">
                                      <p:cBhvr>
                                        <p:cTn id="56" dur="500" fill="hold"/>
                                        <p:tgtEl>
                                          <p:spTgt spid="2934787">
                                            <p:txEl>
                                              <p:pRg st="6" end="6"/>
                                            </p:txEl>
                                          </p:spTgt>
                                        </p:tgtEl>
                                        <p:attrNameLst>
                                          <p:attrName>ppt_y</p:attrName>
                                        </p:attrNameLst>
                                      </p:cBhvr>
                                      <p:tavLst>
                                        <p:tav tm="0">
                                          <p:val>
                                            <p:strVal val="#ppt_y"/>
                                          </p:val>
                                        </p:tav>
                                        <p:tav tm="100000">
                                          <p:val>
                                            <p:strVal val="#ppt_y"/>
                                          </p:val>
                                        </p:tav>
                                      </p:tavLst>
                                    </p:anim>
                                    <p:anim calcmode="lin" valueType="num">
                                      <p:cBhvr>
                                        <p:cTn id="57" dur="500" fill="hold"/>
                                        <p:tgtEl>
                                          <p:spTgt spid="2934787">
                                            <p:txEl>
                                              <p:pRg st="6" end="6"/>
                                            </p:txEl>
                                          </p:spTgt>
                                        </p:tgtEl>
                                        <p:attrNameLst>
                                          <p:attrName>ppt_w</p:attrName>
                                        </p:attrNameLst>
                                      </p:cBhvr>
                                      <p:tavLst>
                                        <p:tav tm="0">
                                          <p:val>
                                            <p:fltVal val="0"/>
                                          </p:val>
                                        </p:tav>
                                        <p:tav tm="100000">
                                          <p:val>
                                            <p:strVal val="#ppt_w"/>
                                          </p:val>
                                        </p:tav>
                                      </p:tavLst>
                                    </p:anim>
                                    <p:anim calcmode="lin" valueType="num">
                                      <p:cBhvr>
                                        <p:cTn id="58" dur="500" fill="hold"/>
                                        <p:tgtEl>
                                          <p:spTgt spid="2934787">
                                            <p:txEl>
                                              <p:pRg st="6" end="6"/>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478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68DCB6D-E035-44E4-B3C7-FDF1462EF1B0}"/>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68C13949-86D8-4FA6-B7CA-D09BE4C57C90}" type="datetime1">
              <a:rPr lang="zh-CN" altLang="en-US" noProof="0" smtClean="0">
                <a:latin typeface="+mn-lt"/>
              </a:rPr>
              <a:pPr>
                <a:buFontTx/>
                <a:buNone/>
                <a:defRPr/>
              </a:pPr>
              <a:t>2025/6/26</a:t>
            </a:fld>
            <a:endParaRPr lang="en-US" altLang="zh-CN" noProof="0">
              <a:latin typeface="+mn-lt"/>
            </a:endParaRPr>
          </a:p>
        </p:txBody>
      </p:sp>
      <p:sp>
        <p:nvSpPr>
          <p:cNvPr id="76803" name="灯片编号占位符 5">
            <a:extLst>
              <a:ext uri="{FF2B5EF4-FFF2-40B4-BE49-F238E27FC236}">
                <a16:creationId xmlns:a16="http://schemas.microsoft.com/office/drawing/2014/main" id="{4EC1B5FF-C85B-420A-A8F9-C9688BF2068A}"/>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D2238A00-9764-4C5A-8CB3-51FB7FD71291}" type="slidenum">
              <a:rPr lang="en-US" altLang="zh-CN" sz="1400">
                <a:latin typeface="Arial" panose="020B0604020202020204" pitchFamily="34" charset="0"/>
              </a:rPr>
              <a:pPr/>
              <a:t>33</a:t>
            </a:fld>
            <a:endParaRPr lang="en-US" altLang="zh-CN" sz="1400">
              <a:latin typeface="Arial" panose="020B0604020202020204" pitchFamily="34" charset="0"/>
            </a:endParaRPr>
          </a:p>
        </p:txBody>
      </p:sp>
      <p:sp>
        <p:nvSpPr>
          <p:cNvPr id="76804" name="Rectangle 2">
            <a:extLst>
              <a:ext uri="{FF2B5EF4-FFF2-40B4-BE49-F238E27FC236}">
                <a16:creationId xmlns:a16="http://schemas.microsoft.com/office/drawing/2014/main" id="{059CD69D-88E8-4BEA-9C09-7168AFB28D56}"/>
              </a:ext>
            </a:extLst>
          </p:cNvPr>
          <p:cNvSpPr>
            <a:spLocks noGrp="1" noChangeArrowheads="1"/>
          </p:cNvSpPr>
          <p:nvPr>
            <p:ph type="title" idx="4294967295"/>
          </p:nvPr>
        </p:nvSpPr>
        <p:spPr>
          <a:xfrm>
            <a:off x="2424114" y="333375"/>
            <a:ext cx="7837487" cy="863600"/>
          </a:xfrm>
        </p:spPr>
        <p:txBody>
          <a:bodyPr anchor="ctr"/>
          <a:lstStyle/>
          <a:p>
            <a:pPr eaLnBrk="1" hangingPunct="1"/>
            <a:r>
              <a:rPr lang="en-US" altLang="zh-CN">
                <a:latin typeface="Times New Roman" panose="02020603050405020304" pitchFamily="18" charset="0"/>
              </a:rPr>
              <a:t>4.4.2 </a:t>
            </a:r>
            <a:r>
              <a:rPr lang="zh-CN" altLang="en-US">
                <a:latin typeface="Times New Roman" panose="02020603050405020304" pitchFamily="18" charset="0"/>
              </a:rPr>
              <a:t>语法图和递归子程序法</a:t>
            </a:r>
          </a:p>
        </p:txBody>
      </p:sp>
      <p:sp>
        <p:nvSpPr>
          <p:cNvPr id="76805" name="Rectangle 3">
            <a:extLst>
              <a:ext uri="{FF2B5EF4-FFF2-40B4-BE49-F238E27FC236}">
                <a16:creationId xmlns:a16="http://schemas.microsoft.com/office/drawing/2014/main" id="{855A03C8-CA67-405A-946B-D1C525E5E3F4}"/>
              </a:ext>
            </a:extLst>
          </p:cNvPr>
          <p:cNvSpPr>
            <a:spLocks noGrp="1" noChangeArrowheads="1"/>
          </p:cNvSpPr>
          <p:nvPr>
            <p:ph type="body" idx="4294967295"/>
          </p:nvPr>
        </p:nvSpPr>
        <p:spPr>
          <a:xfrm>
            <a:off x="1703388" y="1557338"/>
            <a:ext cx="8686800" cy="4824412"/>
          </a:xfrm>
        </p:spPr>
        <p:txBody>
          <a:bodyPr/>
          <a:lstStyle/>
          <a:p>
            <a:pPr eaLnBrk="1" hangingPunct="1">
              <a:lnSpc>
                <a:spcPct val="120000"/>
              </a:lnSpc>
            </a:pPr>
            <a:r>
              <a:rPr lang="zh-CN" altLang="en-US">
                <a:latin typeface="Times New Roman" panose="02020603050405020304" pitchFamily="18" charset="0"/>
              </a:rPr>
              <a:t>状态转换图（语法图）是非常有用的设计工具</a:t>
            </a:r>
          </a:p>
          <a:p>
            <a:pPr eaLnBrk="1" hangingPunct="1">
              <a:lnSpc>
                <a:spcPct val="120000"/>
              </a:lnSpc>
            </a:pPr>
            <a:r>
              <a:rPr lang="zh-CN" altLang="en-US">
                <a:latin typeface="Times New Roman" panose="02020603050405020304" pitchFamily="18" charset="0"/>
              </a:rPr>
              <a:t>语法分析器和词法分析器的状态转换图不同</a:t>
            </a:r>
          </a:p>
          <a:p>
            <a:pPr lvl="1" eaLnBrk="1" hangingPunct="1">
              <a:lnSpc>
                <a:spcPct val="120000"/>
              </a:lnSpc>
            </a:pPr>
            <a:r>
              <a:rPr lang="zh-CN" altLang="en-US">
                <a:latin typeface="Times New Roman" panose="02020603050405020304" pitchFamily="18" charset="0"/>
              </a:rPr>
              <a:t>每个非终结符对应一个状态转换图，边上的标记是记号和非终结符</a:t>
            </a:r>
          </a:p>
          <a:p>
            <a:pPr lvl="1" eaLnBrk="1" hangingPunct="1">
              <a:lnSpc>
                <a:spcPct val="120000"/>
              </a:lnSpc>
            </a:pPr>
            <a:r>
              <a:rPr lang="zh-CN" altLang="en-US">
                <a:latin typeface="Times New Roman" panose="02020603050405020304" pitchFamily="18" charset="0"/>
              </a:rPr>
              <a:t>记号上的转换意味着如果该记号是下一个输入符号，就应进行转换</a:t>
            </a:r>
          </a:p>
          <a:p>
            <a:pPr lvl="1" eaLnBrk="1" hangingPunct="1">
              <a:lnSpc>
                <a:spcPct val="120000"/>
              </a:lnSpc>
            </a:pPr>
            <a:r>
              <a:rPr lang="zh-CN" altLang="en-US">
                <a:latin typeface="Times New Roman" panose="02020603050405020304" pitchFamily="18" charset="0"/>
              </a:rPr>
              <a:t>非终结符</a:t>
            </a:r>
            <a:r>
              <a:rPr lang="en-US" altLang="zh-CN">
                <a:latin typeface="Times New Roman" panose="02020603050405020304" pitchFamily="18" charset="0"/>
              </a:rPr>
              <a:t>A</a:t>
            </a:r>
            <a:r>
              <a:rPr lang="zh-CN" altLang="en-US">
                <a:latin typeface="Times New Roman" panose="02020603050405020304" pitchFamily="18" charset="0"/>
              </a:rPr>
              <a:t>上的转换是对与</a:t>
            </a:r>
            <a:r>
              <a:rPr lang="en-US" altLang="zh-CN">
                <a:latin typeface="Times New Roman" panose="02020603050405020304" pitchFamily="18" charset="0"/>
              </a:rPr>
              <a:t>A</a:t>
            </a:r>
            <a:r>
              <a:rPr lang="zh-CN" altLang="en-US">
                <a:latin typeface="Times New Roman" panose="02020603050405020304" pitchFamily="18" charset="0"/>
              </a:rPr>
              <a:t>对应的过程的调用</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391BE11-149F-405C-A073-FCE7F2B16482}"/>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CA064424-ABF9-417D-B461-216AB6B350FA}" type="datetime1">
              <a:rPr lang="zh-CN" altLang="en-US" noProof="0" smtClean="0">
                <a:latin typeface="+mn-lt"/>
              </a:rPr>
              <a:pPr>
                <a:buFontTx/>
                <a:buNone/>
                <a:defRPr/>
              </a:pPr>
              <a:t>2025/6/26</a:t>
            </a:fld>
            <a:endParaRPr lang="en-US" altLang="zh-CN" noProof="0">
              <a:latin typeface="+mn-lt"/>
            </a:endParaRPr>
          </a:p>
        </p:txBody>
      </p:sp>
      <p:sp>
        <p:nvSpPr>
          <p:cNvPr id="77827" name="灯片编号占位符 5">
            <a:extLst>
              <a:ext uri="{FF2B5EF4-FFF2-40B4-BE49-F238E27FC236}">
                <a16:creationId xmlns:a16="http://schemas.microsoft.com/office/drawing/2014/main" id="{B6B1FBE9-6316-415E-A385-20D185706040}"/>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FF71DC32-525C-457F-9D5F-52661C114F1F}" type="slidenum">
              <a:rPr lang="en-US" altLang="zh-CN" sz="1400">
                <a:latin typeface="Arial" panose="020B0604020202020204" pitchFamily="34" charset="0"/>
              </a:rPr>
              <a:pPr/>
              <a:t>34</a:t>
            </a:fld>
            <a:endParaRPr lang="en-US" altLang="zh-CN" sz="1400">
              <a:latin typeface="Arial" panose="020B0604020202020204" pitchFamily="34" charset="0"/>
            </a:endParaRPr>
          </a:p>
        </p:txBody>
      </p:sp>
      <p:sp>
        <p:nvSpPr>
          <p:cNvPr id="77828" name="Rectangle 2">
            <a:extLst>
              <a:ext uri="{FF2B5EF4-FFF2-40B4-BE49-F238E27FC236}">
                <a16:creationId xmlns:a16="http://schemas.microsoft.com/office/drawing/2014/main" id="{9E577C88-C385-43E5-8549-4F6FD27B2797}"/>
              </a:ext>
            </a:extLst>
          </p:cNvPr>
          <p:cNvSpPr>
            <a:spLocks noGrp="1" noChangeArrowheads="1"/>
          </p:cNvSpPr>
          <p:nvPr>
            <p:ph type="title" idx="4294967295"/>
          </p:nvPr>
        </p:nvSpPr>
        <p:spPr>
          <a:xfrm>
            <a:off x="2566989" y="333375"/>
            <a:ext cx="7837487" cy="863600"/>
          </a:xfrm>
        </p:spPr>
        <p:txBody>
          <a:bodyPr anchor="ctr"/>
          <a:lstStyle/>
          <a:p>
            <a:pPr eaLnBrk="1" hangingPunct="1"/>
            <a:r>
              <a:rPr lang="en-US" altLang="zh-CN">
                <a:latin typeface="Times New Roman" panose="02020603050405020304" pitchFamily="18" charset="0"/>
              </a:rPr>
              <a:t>4.4.2 </a:t>
            </a:r>
            <a:r>
              <a:rPr lang="zh-CN" altLang="en-US">
                <a:latin typeface="Times New Roman" panose="02020603050405020304" pitchFamily="18" charset="0"/>
              </a:rPr>
              <a:t>语法图和递归子程序法</a:t>
            </a:r>
          </a:p>
        </p:txBody>
      </p:sp>
      <p:sp>
        <p:nvSpPr>
          <p:cNvPr id="77829" name="Rectangle 3">
            <a:extLst>
              <a:ext uri="{FF2B5EF4-FFF2-40B4-BE49-F238E27FC236}">
                <a16:creationId xmlns:a16="http://schemas.microsoft.com/office/drawing/2014/main" id="{4043E94B-ECAF-4981-B0EB-0DB116FBA407}"/>
              </a:ext>
            </a:extLst>
          </p:cNvPr>
          <p:cNvSpPr>
            <a:spLocks noGrp="1" noChangeArrowheads="1"/>
          </p:cNvSpPr>
          <p:nvPr>
            <p:ph type="body" idx="4294967295"/>
          </p:nvPr>
        </p:nvSpPr>
        <p:spPr>
          <a:xfrm>
            <a:off x="1703388" y="1557338"/>
            <a:ext cx="8686800" cy="4824412"/>
          </a:xfrm>
        </p:spPr>
        <p:txBody>
          <a:bodyPr/>
          <a:lstStyle/>
          <a:p>
            <a:pPr eaLnBrk="1" hangingPunct="1">
              <a:lnSpc>
                <a:spcPct val="120000"/>
              </a:lnSpc>
            </a:pPr>
            <a:r>
              <a:rPr lang="zh-CN" altLang="en-US">
                <a:latin typeface="楷体_GB2312" pitchFamily="49" charset="-122"/>
              </a:rPr>
              <a:t>从文法构造语法图，对每个非终结符</a:t>
            </a:r>
            <a:r>
              <a:rPr lang="en-US" altLang="zh-CN">
                <a:latin typeface="楷体_GB2312" pitchFamily="49" charset="-122"/>
              </a:rPr>
              <a:t>A</a:t>
            </a:r>
            <a:r>
              <a:rPr lang="zh-CN" altLang="en-US">
                <a:latin typeface="楷体_GB2312" pitchFamily="49" charset="-122"/>
              </a:rPr>
              <a:t>执行如下操作</a:t>
            </a:r>
          </a:p>
          <a:p>
            <a:pPr lvl="1" eaLnBrk="1" hangingPunct="1">
              <a:lnSpc>
                <a:spcPct val="120000"/>
              </a:lnSpc>
            </a:pPr>
            <a:r>
              <a:rPr lang="zh-CN" altLang="en-US">
                <a:latin typeface="楷体_GB2312" pitchFamily="49" charset="-122"/>
              </a:rPr>
              <a:t>创建一</a:t>
            </a:r>
            <a:r>
              <a:rPr lang="zh-CN" altLang="en-US">
                <a:latin typeface="Times New Roman" panose="02020603050405020304" pitchFamily="18" charset="0"/>
              </a:rPr>
              <a:t>个开始状态和一个终止状态（返回状态）</a:t>
            </a:r>
          </a:p>
          <a:p>
            <a:pPr lvl="1" eaLnBrk="1" hangingPunct="1">
              <a:lnSpc>
                <a:spcPct val="120000"/>
              </a:lnSpc>
            </a:pPr>
            <a:r>
              <a:rPr lang="zh-CN" altLang="en-US">
                <a:latin typeface="Times New Roman" panose="02020603050405020304" pitchFamily="18" charset="0"/>
              </a:rPr>
              <a:t>对每个产生式</a:t>
            </a:r>
            <a:r>
              <a:rPr lang="en-US" altLang="zh-CN">
                <a:latin typeface="Times New Roman" panose="02020603050405020304" pitchFamily="18" charset="0"/>
              </a:rPr>
              <a:t>A→X</a:t>
            </a:r>
            <a:r>
              <a:rPr lang="en-US" altLang="zh-CN" baseline="-25000">
                <a:latin typeface="Times New Roman" panose="02020603050405020304" pitchFamily="18" charset="0"/>
              </a:rPr>
              <a:t>1</a:t>
            </a:r>
            <a:r>
              <a:rPr lang="en-US" altLang="zh-CN">
                <a:latin typeface="Times New Roman" panose="02020603050405020304" pitchFamily="18" charset="0"/>
              </a:rPr>
              <a:t>X</a:t>
            </a:r>
            <a:r>
              <a:rPr lang="en-US" altLang="zh-CN" baseline="-25000">
                <a:latin typeface="Times New Roman" panose="02020603050405020304" pitchFamily="18" charset="0"/>
              </a:rPr>
              <a:t>2</a:t>
            </a:r>
            <a:r>
              <a:rPr lang="zh-CN" altLang="en-US">
                <a:latin typeface="Times New Roman" panose="02020603050405020304" pitchFamily="18" charset="0"/>
              </a:rPr>
              <a:t>　</a:t>
            </a:r>
            <a:r>
              <a:rPr lang="en-US" altLang="zh-CN">
                <a:latin typeface="Times New Roman" panose="02020603050405020304" pitchFamily="18" charset="0"/>
              </a:rPr>
              <a:t>… X</a:t>
            </a:r>
            <a:r>
              <a:rPr lang="en-US" altLang="zh-CN" i="1" baseline="-25000">
                <a:latin typeface="Times New Roman" panose="02020603050405020304" pitchFamily="18" charset="0"/>
              </a:rPr>
              <a:t>n</a:t>
            </a:r>
            <a:r>
              <a:rPr lang="zh-CN" altLang="en-US">
                <a:latin typeface="Times New Roman" panose="02020603050405020304" pitchFamily="18" charset="0"/>
              </a:rPr>
              <a:t>，创建一条从开始状态到终止状态的路径，边上的标记分别为</a:t>
            </a:r>
            <a:r>
              <a:rPr lang="en-US" altLang="zh-CN">
                <a:latin typeface="Times New Roman" panose="02020603050405020304" pitchFamily="18" charset="0"/>
              </a:rPr>
              <a:t>X</a:t>
            </a:r>
            <a:r>
              <a:rPr lang="en-US" altLang="zh-CN" baseline="-25000">
                <a:latin typeface="Times New Roman" panose="02020603050405020304" pitchFamily="18" charset="0"/>
              </a:rPr>
              <a:t>1</a:t>
            </a:r>
            <a:r>
              <a:rPr lang="zh-CN" altLang="en-US">
                <a:latin typeface="Times New Roman" panose="02020603050405020304" pitchFamily="18" charset="0"/>
              </a:rPr>
              <a:t>，</a:t>
            </a:r>
            <a:r>
              <a:rPr lang="en-US" altLang="zh-CN">
                <a:latin typeface="Times New Roman" panose="02020603050405020304" pitchFamily="18" charset="0"/>
              </a:rPr>
              <a:t>X</a:t>
            </a:r>
            <a:r>
              <a:rPr lang="en-US" altLang="zh-CN" baseline="-25000">
                <a:latin typeface="Times New Roman" panose="02020603050405020304" pitchFamily="18" charset="0"/>
              </a:rPr>
              <a:t>2</a:t>
            </a:r>
            <a:r>
              <a:rPr lang="zh-CN" altLang="en-US">
                <a:latin typeface="Times New Roman" panose="02020603050405020304" pitchFamily="18" charset="0"/>
              </a:rPr>
              <a:t>，</a:t>
            </a:r>
            <a:r>
              <a:rPr lang="en-US" altLang="zh-CN">
                <a:latin typeface="Times New Roman" panose="02020603050405020304" pitchFamily="18" charset="0"/>
              </a:rPr>
              <a:t>… </a:t>
            </a:r>
            <a:r>
              <a:rPr lang="zh-CN" altLang="en-US">
                <a:latin typeface="Times New Roman" panose="02020603050405020304" pitchFamily="18" charset="0"/>
              </a:rPr>
              <a:t>，</a:t>
            </a:r>
            <a:r>
              <a:rPr lang="en-US" altLang="zh-CN">
                <a:latin typeface="Times New Roman" panose="02020603050405020304" pitchFamily="18" charset="0"/>
              </a:rPr>
              <a:t>X</a:t>
            </a:r>
            <a:r>
              <a:rPr lang="en-US" altLang="zh-CN" i="1" baseline="-25000">
                <a:latin typeface="Times New Roman" panose="02020603050405020304" pitchFamily="18" charset="0"/>
              </a:rPr>
              <a:t>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a:extLst>
              <a:ext uri="{FF2B5EF4-FFF2-40B4-BE49-F238E27FC236}">
                <a16:creationId xmlns:a16="http://schemas.microsoft.com/office/drawing/2014/main" id="{6FDE7E7D-E923-4C1E-9735-B4CBBD8165B5}"/>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8A7E4D51-03D4-491A-BAD8-93DBA2563D18}" type="datetime1">
              <a:rPr lang="zh-CN" altLang="en-US" noProof="0" smtClean="0">
                <a:latin typeface="+mn-lt"/>
              </a:rPr>
              <a:pPr>
                <a:buFontTx/>
                <a:buNone/>
                <a:defRPr/>
              </a:pPr>
              <a:t>2025/6/26</a:t>
            </a:fld>
            <a:endParaRPr lang="en-US" altLang="zh-CN" noProof="0">
              <a:latin typeface="+mn-lt"/>
            </a:endParaRPr>
          </a:p>
        </p:txBody>
      </p:sp>
      <p:sp>
        <p:nvSpPr>
          <p:cNvPr id="10244" name="灯片编号占位符 5">
            <a:extLst>
              <a:ext uri="{FF2B5EF4-FFF2-40B4-BE49-F238E27FC236}">
                <a16:creationId xmlns:a16="http://schemas.microsoft.com/office/drawing/2014/main" id="{F665295D-7277-454F-BFE9-F2D9E173D2EC}"/>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FAFDC5D7-243E-4563-A10E-0F45B62F40BD}" type="slidenum">
              <a:rPr lang="en-US" altLang="zh-CN" sz="1400">
                <a:latin typeface="Arial" panose="020B0604020202020204" pitchFamily="34" charset="0"/>
              </a:rPr>
              <a:pPr/>
              <a:t>35</a:t>
            </a:fld>
            <a:endParaRPr lang="en-US" altLang="zh-CN" sz="1400">
              <a:latin typeface="Arial" panose="020B0604020202020204" pitchFamily="34" charset="0"/>
            </a:endParaRPr>
          </a:p>
        </p:txBody>
      </p:sp>
      <p:sp>
        <p:nvSpPr>
          <p:cNvPr id="10245" name="Rectangle 2">
            <a:extLst>
              <a:ext uri="{FF2B5EF4-FFF2-40B4-BE49-F238E27FC236}">
                <a16:creationId xmlns:a16="http://schemas.microsoft.com/office/drawing/2014/main" id="{E04BBF27-AE4A-4D92-B862-08325B96B576}"/>
              </a:ext>
            </a:extLst>
          </p:cNvPr>
          <p:cNvSpPr>
            <a:spLocks noGrp="1" noChangeArrowheads="1"/>
          </p:cNvSpPr>
          <p:nvPr>
            <p:ph type="title" idx="4294967295"/>
          </p:nvPr>
        </p:nvSpPr>
        <p:spPr>
          <a:xfrm>
            <a:off x="2424114" y="404813"/>
            <a:ext cx="6696075" cy="863600"/>
          </a:xfrm>
        </p:spPr>
        <p:txBody>
          <a:bodyPr vert="horz" lIns="92075" tIns="46038" rIns="92075" bIns="46038" rtlCol="0" anchor="ctr">
            <a:normAutofit/>
          </a:bodyPr>
          <a:lstStyle/>
          <a:p>
            <a:pPr eaLnBrk="1" hangingPunct="1"/>
            <a:r>
              <a:rPr lang="zh-CN" altLang="en-US" sz="3600">
                <a:latin typeface="Times New Roman" panose="02020603050405020304" pitchFamily="18" charset="0"/>
              </a:rPr>
              <a:t>例</a:t>
            </a:r>
            <a:r>
              <a:rPr lang="en-US" altLang="zh-CN" sz="3600">
                <a:latin typeface="Times New Roman" panose="02020603050405020304" pitchFamily="18" charset="0"/>
              </a:rPr>
              <a:t>4.15 </a:t>
            </a:r>
            <a:r>
              <a:rPr lang="zh-CN" altLang="en-US" sz="3600">
                <a:latin typeface="Times New Roman" panose="02020603050405020304" pitchFamily="18" charset="0"/>
              </a:rPr>
              <a:t>简单表达式文法的语法图</a:t>
            </a:r>
          </a:p>
        </p:txBody>
      </p:sp>
      <p:sp>
        <p:nvSpPr>
          <p:cNvPr id="10246" name="Text Box 21">
            <a:extLst>
              <a:ext uri="{FF2B5EF4-FFF2-40B4-BE49-F238E27FC236}">
                <a16:creationId xmlns:a16="http://schemas.microsoft.com/office/drawing/2014/main" id="{8792AAEA-0467-4A95-9EAE-BCBDE8D6E220}"/>
              </a:ext>
            </a:extLst>
          </p:cNvPr>
          <p:cNvSpPr txBox="1">
            <a:spLocks noChangeArrowheads="1"/>
          </p:cNvSpPr>
          <p:nvPr/>
        </p:nvSpPr>
        <p:spPr bwMode="auto">
          <a:xfrm>
            <a:off x="8636000" y="1363663"/>
            <a:ext cx="1924050"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2"/>
              </a:buClr>
              <a:buSzPct val="75000"/>
              <a:buFont typeface="Monotype Sorts" charset="2"/>
              <a:buNone/>
            </a:pPr>
            <a:r>
              <a:rPr lang="en-US" altLang="zh-CN" sz="2400" b="1">
                <a:solidFill>
                  <a:srgbClr val="0000FF"/>
                </a:solidFill>
                <a:ea typeface="楷体_GB2312" pitchFamily="49" charset="-122"/>
              </a:rPr>
              <a:t>E→TE'</a:t>
            </a:r>
          </a:p>
          <a:p>
            <a:pPr>
              <a:spcBef>
                <a:spcPct val="20000"/>
              </a:spcBef>
              <a:buClr>
                <a:schemeClr val="tx2"/>
              </a:buClr>
              <a:buSzPct val="75000"/>
              <a:buFont typeface="Monotype Sorts" charset="2"/>
              <a:buNone/>
            </a:pPr>
            <a:r>
              <a:rPr lang="en-US" altLang="zh-CN" sz="2400" b="1">
                <a:solidFill>
                  <a:srgbClr val="0000FF"/>
                </a:solidFill>
                <a:ea typeface="楷体_GB2312" pitchFamily="49" charset="-122"/>
              </a:rPr>
              <a:t>E'→+TE'|ε</a:t>
            </a:r>
          </a:p>
          <a:p>
            <a:pPr>
              <a:spcBef>
                <a:spcPct val="20000"/>
              </a:spcBef>
              <a:buClr>
                <a:schemeClr val="tx2"/>
              </a:buClr>
              <a:buSzPct val="75000"/>
              <a:buFont typeface="Monotype Sorts" charset="2"/>
              <a:buNone/>
            </a:pPr>
            <a:r>
              <a:rPr lang="en-US" altLang="zh-CN" sz="2400" b="1">
                <a:solidFill>
                  <a:srgbClr val="0000FF"/>
                </a:solidFill>
                <a:ea typeface="楷体_GB2312" pitchFamily="49" charset="-122"/>
              </a:rPr>
              <a:t>T→FT'</a:t>
            </a:r>
          </a:p>
          <a:p>
            <a:pPr>
              <a:spcBef>
                <a:spcPct val="20000"/>
              </a:spcBef>
              <a:buClr>
                <a:schemeClr val="tx2"/>
              </a:buClr>
              <a:buSzPct val="75000"/>
              <a:buFont typeface="Monotype Sorts" charset="2"/>
              <a:buNone/>
            </a:pPr>
            <a:r>
              <a:rPr lang="en-US" altLang="zh-CN" sz="2400" b="1">
                <a:solidFill>
                  <a:srgbClr val="0000FF"/>
                </a:solidFill>
                <a:ea typeface="楷体_GB2312" pitchFamily="49" charset="-122"/>
              </a:rPr>
              <a:t>T'→*FT'|ε</a:t>
            </a:r>
          </a:p>
          <a:p>
            <a:pPr>
              <a:spcBef>
                <a:spcPct val="20000"/>
              </a:spcBef>
              <a:buClr>
                <a:schemeClr val="tx2"/>
              </a:buClr>
              <a:buSzPct val="75000"/>
              <a:buFont typeface="Monotype Sorts" charset="2"/>
              <a:buNone/>
            </a:pPr>
            <a:r>
              <a:rPr lang="en-US" altLang="zh-CN" sz="2400" b="1">
                <a:solidFill>
                  <a:srgbClr val="0000FF"/>
                </a:solidFill>
                <a:ea typeface="楷体_GB2312" pitchFamily="49" charset="-122"/>
              </a:rPr>
              <a:t>F→(E)|id</a:t>
            </a:r>
          </a:p>
        </p:txBody>
      </p:sp>
      <p:sp>
        <p:nvSpPr>
          <p:cNvPr id="10247" name="Rectangle 24">
            <a:extLst>
              <a:ext uri="{FF2B5EF4-FFF2-40B4-BE49-F238E27FC236}">
                <a16:creationId xmlns:a16="http://schemas.microsoft.com/office/drawing/2014/main" id="{4866F44A-00DD-461F-847A-212555E92004}"/>
              </a:ext>
            </a:extLst>
          </p:cNvPr>
          <p:cNvSpPr>
            <a:spLocks noChangeArrowheads="1"/>
          </p:cNvSpPr>
          <p:nvPr/>
        </p:nvSpPr>
        <p:spPr bwMode="auto">
          <a:xfrm>
            <a:off x="1524001" y="1491607"/>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endParaRPr lang="zh-CN" altLang="en-US" sz="2400"/>
          </a:p>
        </p:txBody>
      </p:sp>
      <p:graphicFrame>
        <p:nvGraphicFramePr>
          <p:cNvPr id="10242" name="Object 23">
            <a:extLst>
              <a:ext uri="{FF2B5EF4-FFF2-40B4-BE49-F238E27FC236}">
                <a16:creationId xmlns:a16="http://schemas.microsoft.com/office/drawing/2014/main" id="{B267D395-60ED-456E-8D40-5D71EDA6A150}"/>
              </a:ext>
            </a:extLst>
          </p:cNvPr>
          <p:cNvGraphicFramePr>
            <a:graphicFrameLocks/>
          </p:cNvGraphicFramePr>
          <p:nvPr/>
        </p:nvGraphicFramePr>
        <p:xfrm>
          <a:off x="2566988" y="1341439"/>
          <a:ext cx="5580062" cy="5229225"/>
        </p:xfrm>
        <a:graphic>
          <a:graphicData uri="http://schemas.openxmlformats.org/presentationml/2006/ole">
            <mc:AlternateContent xmlns:mc="http://schemas.openxmlformats.org/markup-compatibility/2006">
              <mc:Choice xmlns:v="urn:schemas-microsoft-com:vml" Requires="v">
                <p:oleObj spid="_x0000_s6153" r:id="rId3" imgW="5050800" imgH="4723560" progId="Visio.Drawing.11">
                  <p:embed/>
                </p:oleObj>
              </mc:Choice>
              <mc:Fallback>
                <p:oleObj r:id="rId3" imgW="5050800" imgH="4723560" progId="Visio.Drawing.11">
                  <p:embed/>
                  <p:pic>
                    <p:nvPicPr>
                      <p:cNvPr id="10242" name="Object 23">
                        <a:extLst>
                          <a:ext uri="{FF2B5EF4-FFF2-40B4-BE49-F238E27FC236}">
                            <a16:creationId xmlns:a16="http://schemas.microsoft.com/office/drawing/2014/main" id="{B267D395-60ED-456E-8D40-5D71EDA6A15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6988" y="1341439"/>
                        <a:ext cx="5580062" cy="522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6D0C2F7E-9E8F-4AEC-ACAB-59E7898C41F0}"/>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BE36DA34-1064-4D4D-B4B8-FB32EDC58297}" type="datetime1">
              <a:rPr lang="zh-CN" altLang="en-US" noProof="0" smtClean="0">
                <a:latin typeface="+mn-lt"/>
              </a:rPr>
              <a:pPr>
                <a:buFontTx/>
                <a:buNone/>
                <a:defRPr/>
              </a:pPr>
              <a:t>2025/6/26</a:t>
            </a:fld>
            <a:endParaRPr lang="en-US" altLang="zh-CN" noProof="0">
              <a:latin typeface="+mn-lt"/>
            </a:endParaRPr>
          </a:p>
        </p:txBody>
      </p:sp>
      <p:sp>
        <p:nvSpPr>
          <p:cNvPr id="78851" name="灯片编号占位符 5">
            <a:extLst>
              <a:ext uri="{FF2B5EF4-FFF2-40B4-BE49-F238E27FC236}">
                <a16:creationId xmlns:a16="http://schemas.microsoft.com/office/drawing/2014/main" id="{99286141-83DC-4C3D-A06B-F2BA2D5F0691}"/>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35891F3E-1FC1-4A77-8929-433021AE0C36}" type="slidenum">
              <a:rPr lang="en-US" altLang="zh-CN" sz="1400">
                <a:latin typeface="Arial" panose="020B0604020202020204" pitchFamily="34" charset="0"/>
              </a:rPr>
              <a:pPr/>
              <a:t>36</a:t>
            </a:fld>
            <a:endParaRPr lang="en-US" altLang="zh-CN" sz="1400">
              <a:latin typeface="Arial" panose="020B0604020202020204" pitchFamily="34" charset="0"/>
            </a:endParaRPr>
          </a:p>
        </p:txBody>
      </p:sp>
      <p:sp>
        <p:nvSpPr>
          <p:cNvPr id="78852" name="Rectangle 2">
            <a:extLst>
              <a:ext uri="{FF2B5EF4-FFF2-40B4-BE49-F238E27FC236}">
                <a16:creationId xmlns:a16="http://schemas.microsoft.com/office/drawing/2014/main" id="{E19BDAE0-AB9C-481A-9D41-AA3EDAB7245E}"/>
              </a:ext>
            </a:extLst>
          </p:cNvPr>
          <p:cNvSpPr>
            <a:spLocks noGrp="1" noChangeArrowheads="1"/>
          </p:cNvSpPr>
          <p:nvPr>
            <p:ph type="title" idx="4294967295"/>
          </p:nvPr>
        </p:nvSpPr>
        <p:spPr>
          <a:xfrm>
            <a:off x="2422526" y="260350"/>
            <a:ext cx="8245475" cy="863600"/>
          </a:xfrm>
        </p:spPr>
        <p:txBody>
          <a:bodyPr anchor="ctr"/>
          <a:lstStyle/>
          <a:p>
            <a:pPr eaLnBrk="1" hangingPunct="1"/>
            <a:r>
              <a:rPr lang="en-US" altLang="zh-CN" sz="3600">
                <a:latin typeface="Times New Roman" panose="02020603050405020304" pitchFamily="18" charset="0"/>
              </a:rPr>
              <a:t>4.4.3</a:t>
            </a:r>
            <a:r>
              <a:rPr lang="zh-CN" altLang="en-US" sz="3600"/>
              <a:t>基于语法图的语法分析器工作方式 </a:t>
            </a:r>
          </a:p>
        </p:txBody>
      </p:sp>
      <p:sp>
        <p:nvSpPr>
          <p:cNvPr id="78853" name="Rectangle 3">
            <a:extLst>
              <a:ext uri="{FF2B5EF4-FFF2-40B4-BE49-F238E27FC236}">
                <a16:creationId xmlns:a16="http://schemas.microsoft.com/office/drawing/2014/main" id="{3801EB30-E406-4F15-9254-556B47396425}"/>
              </a:ext>
            </a:extLst>
          </p:cNvPr>
          <p:cNvSpPr>
            <a:spLocks noGrp="1" noChangeArrowheads="1"/>
          </p:cNvSpPr>
          <p:nvPr>
            <p:ph type="body" idx="4294967295"/>
          </p:nvPr>
        </p:nvSpPr>
        <p:spPr>
          <a:xfrm>
            <a:off x="1774825" y="1773239"/>
            <a:ext cx="8686800" cy="4465637"/>
          </a:xfrm>
        </p:spPr>
        <p:txBody>
          <a:bodyPr/>
          <a:lstStyle/>
          <a:p>
            <a:pPr eaLnBrk="1" hangingPunct="1"/>
            <a:r>
              <a:rPr lang="zh-CN" altLang="en-US">
                <a:latin typeface="楷体_GB2312" pitchFamily="49" charset="-122"/>
              </a:rPr>
              <a:t>初始时，分析器进入状态图的开始状态，输入指针指向</a:t>
            </a:r>
            <a:r>
              <a:rPr lang="zh-CN" altLang="en-US">
                <a:latin typeface="Times New Roman" panose="02020603050405020304" pitchFamily="18" charset="0"/>
              </a:rPr>
              <a:t>输入符号串的第一个符号。</a:t>
            </a:r>
          </a:p>
          <a:p>
            <a:pPr eaLnBrk="1" hangingPunct="1"/>
            <a:r>
              <a:rPr lang="zh-CN" altLang="en-US">
                <a:latin typeface="Times New Roman" panose="02020603050405020304" pitchFamily="18" charset="0"/>
              </a:rPr>
              <a:t>如果经过一些动作后，它进入状态</a:t>
            </a:r>
            <a:r>
              <a:rPr lang="en-US" altLang="zh-CN">
                <a:latin typeface="Times New Roman" panose="02020603050405020304" pitchFamily="18" charset="0"/>
              </a:rPr>
              <a:t>s</a:t>
            </a:r>
            <a:r>
              <a:rPr lang="zh-CN" altLang="en-US">
                <a:latin typeface="Times New Roman" panose="02020603050405020304" pitchFamily="18" charset="0"/>
              </a:rPr>
              <a:t>，且从状态</a:t>
            </a:r>
            <a:r>
              <a:rPr lang="en-US" altLang="zh-CN">
                <a:latin typeface="Times New Roman" panose="02020603050405020304" pitchFamily="18" charset="0"/>
              </a:rPr>
              <a:t>s</a:t>
            </a:r>
            <a:r>
              <a:rPr lang="zh-CN" altLang="en-US">
                <a:latin typeface="Times New Roman" panose="02020603050405020304" pitchFamily="18" charset="0"/>
              </a:rPr>
              <a:t>到状态</a:t>
            </a:r>
            <a:r>
              <a:rPr lang="en-US" altLang="zh-CN">
                <a:latin typeface="Times New Roman" panose="02020603050405020304" pitchFamily="18" charset="0"/>
              </a:rPr>
              <a:t>t</a:t>
            </a:r>
            <a:r>
              <a:rPr lang="zh-CN" altLang="en-US">
                <a:latin typeface="Times New Roman" panose="02020603050405020304" pitchFamily="18" charset="0"/>
              </a:rPr>
              <a:t>的边上标记了终结符</a:t>
            </a:r>
            <a:r>
              <a:rPr lang="en-US" altLang="zh-CN" i="1">
                <a:latin typeface="Times New Roman" panose="02020603050405020304" pitchFamily="18" charset="0"/>
              </a:rPr>
              <a:t>a</a:t>
            </a:r>
            <a:r>
              <a:rPr lang="zh-CN" altLang="en-US">
                <a:latin typeface="Times New Roman" panose="02020603050405020304" pitchFamily="18" charset="0"/>
              </a:rPr>
              <a:t>，</a:t>
            </a:r>
            <a:r>
              <a:rPr lang="zh-CN" altLang="en-US">
                <a:latin typeface="楷体_GB2312" pitchFamily="49" charset="-122"/>
              </a:rPr>
              <a:t>此时下一个输入符又正好是</a:t>
            </a:r>
            <a:r>
              <a:rPr lang="en-US" altLang="zh-CN" i="1">
                <a:latin typeface="Times New Roman" panose="02020603050405020304" pitchFamily="18" charset="0"/>
              </a:rPr>
              <a:t>a</a:t>
            </a:r>
            <a:r>
              <a:rPr lang="zh-CN" altLang="en-US">
                <a:latin typeface="楷体_GB2312" pitchFamily="49" charset="-122"/>
              </a:rPr>
              <a:t>，则分析器将输入指针向右移动一位，并</a:t>
            </a:r>
            <a:r>
              <a:rPr lang="zh-CN" altLang="en-US">
                <a:latin typeface="Times New Roman" panose="02020603050405020304" pitchFamily="18" charset="0"/>
              </a:rPr>
              <a:t>进入状态</a:t>
            </a:r>
            <a:r>
              <a:rPr lang="en-US" altLang="zh-CN">
                <a:latin typeface="Times New Roman" panose="02020603050405020304" pitchFamily="18" charset="0"/>
              </a:rPr>
              <a:t>t</a:t>
            </a:r>
            <a:r>
              <a:rPr lang="zh-CN" altLang="en-US">
                <a:latin typeface="Times New Roman" panose="02020603050405020304" pitchFamily="18"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11270AF-15FA-423F-986C-98D32D90CA08}"/>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E81F7FAE-2618-4A84-837D-CF146F3EA3BE}" type="datetime1">
              <a:rPr lang="zh-CN" altLang="en-US" noProof="0" smtClean="0">
                <a:latin typeface="+mn-lt"/>
              </a:rPr>
              <a:pPr>
                <a:buFontTx/>
                <a:buNone/>
                <a:defRPr/>
              </a:pPr>
              <a:t>2025/6/26</a:t>
            </a:fld>
            <a:endParaRPr lang="en-US" altLang="zh-CN" noProof="0">
              <a:latin typeface="+mn-lt"/>
            </a:endParaRPr>
          </a:p>
        </p:txBody>
      </p:sp>
      <p:sp>
        <p:nvSpPr>
          <p:cNvPr id="79875" name="灯片编号占位符 5">
            <a:extLst>
              <a:ext uri="{FF2B5EF4-FFF2-40B4-BE49-F238E27FC236}">
                <a16:creationId xmlns:a16="http://schemas.microsoft.com/office/drawing/2014/main" id="{F983FAB9-6C50-47C5-884B-73D46535DE23}"/>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410B8657-96CE-4492-8E81-274B712FF0A4}" type="slidenum">
              <a:rPr lang="en-US" altLang="zh-CN" sz="1400">
                <a:latin typeface="Arial" panose="020B0604020202020204" pitchFamily="34" charset="0"/>
              </a:rPr>
              <a:pPr/>
              <a:t>37</a:t>
            </a:fld>
            <a:endParaRPr lang="en-US" altLang="zh-CN" sz="1400">
              <a:latin typeface="Arial" panose="020B0604020202020204" pitchFamily="34" charset="0"/>
            </a:endParaRPr>
          </a:p>
        </p:txBody>
      </p:sp>
      <p:sp>
        <p:nvSpPr>
          <p:cNvPr id="79876" name="Rectangle 2">
            <a:extLst>
              <a:ext uri="{FF2B5EF4-FFF2-40B4-BE49-F238E27FC236}">
                <a16:creationId xmlns:a16="http://schemas.microsoft.com/office/drawing/2014/main" id="{E6C2DFDE-F44A-4FA6-9373-9D99C21B4370}"/>
              </a:ext>
            </a:extLst>
          </p:cNvPr>
          <p:cNvSpPr>
            <a:spLocks noGrp="1" noChangeArrowheads="1"/>
          </p:cNvSpPr>
          <p:nvPr>
            <p:ph type="title" idx="4294967295"/>
          </p:nvPr>
        </p:nvSpPr>
        <p:spPr>
          <a:xfrm>
            <a:off x="2495551" y="260350"/>
            <a:ext cx="8029575" cy="863600"/>
          </a:xfrm>
        </p:spPr>
        <p:txBody>
          <a:bodyPr anchor="ctr"/>
          <a:lstStyle/>
          <a:p>
            <a:pPr eaLnBrk="1" hangingPunct="1"/>
            <a:r>
              <a:rPr lang="en-US" altLang="zh-CN" sz="3600">
                <a:latin typeface="Times New Roman" panose="02020603050405020304" pitchFamily="18" charset="0"/>
              </a:rPr>
              <a:t>4.4.3</a:t>
            </a:r>
            <a:r>
              <a:rPr lang="zh-CN" altLang="en-US" sz="3600"/>
              <a:t>基于语法图的语法分析器工作方式 </a:t>
            </a:r>
          </a:p>
        </p:txBody>
      </p:sp>
      <p:sp>
        <p:nvSpPr>
          <p:cNvPr id="79877" name="Rectangle 3">
            <a:extLst>
              <a:ext uri="{FF2B5EF4-FFF2-40B4-BE49-F238E27FC236}">
                <a16:creationId xmlns:a16="http://schemas.microsoft.com/office/drawing/2014/main" id="{78F08AC3-EA51-4636-900C-9E19A4635DCA}"/>
              </a:ext>
            </a:extLst>
          </p:cNvPr>
          <p:cNvSpPr>
            <a:spLocks noGrp="1" noChangeArrowheads="1"/>
          </p:cNvSpPr>
          <p:nvPr>
            <p:ph type="body" idx="4294967295"/>
          </p:nvPr>
        </p:nvSpPr>
        <p:spPr>
          <a:xfrm>
            <a:off x="1774825" y="1557338"/>
            <a:ext cx="8686800" cy="4608512"/>
          </a:xfrm>
        </p:spPr>
        <p:txBody>
          <a:bodyPr/>
          <a:lstStyle/>
          <a:p>
            <a:pPr eaLnBrk="1" hangingPunct="1"/>
            <a:r>
              <a:rPr lang="zh-CN" altLang="en-US">
                <a:latin typeface="Times New Roman" panose="02020603050405020304" pitchFamily="18" charset="0"/>
              </a:rPr>
              <a:t>另一方面，如果边上标记的是非终结符</a:t>
            </a:r>
            <a:r>
              <a:rPr lang="en-US" altLang="zh-CN">
                <a:latin typeface="Times New Roman" panose="02020603050405020304" pitchFamily="18" charset="0"/>
              </a:rPr>
              <a:t>A</a:t>
            </a:r>
            <a:r>
              <a:rPr lang="zh-CN" altLang="en-US">
                <a:latin typeface="Times New Roman" panose="02020603050405020304" pitchFamily="18" charset="0"/>
              </a:rPr>
              <a:t>，则分析器进入</a:t>
            </a:r>
            <a:r>
              <a:rPr lang="en-US" altLang="zh-CN">
                <a:latin typeface="Times New Roman" panose="02020603050405020304" pitchFamily="18" charset="0"/>
              </a:rPr>
              <a:t>A</a:t>
            </a:r>
            <a:r>
              <a:rPr lang="zh-CN" altLang="en-US">
                <a:latin typeface="Times New Roman" panose="02020603050405020304" pitchFamily="18" charset="0"/>
              </a:rPr>
              <a:t>的初始状态，但不移动输入指针。一旦到达</a:t>
            </a:r>
            <a:r>
              <a:rPr lang="en-US" altLang="zh-CN">
                <a:latin typeface="Times New Roman" panose="02020603050405020304" pitchFamily="18" charset="0"/>
              </a:rPr>
              <a:t>A</a:t>
            </a:r>
            <a:r>
              <a:rPr lang="zh-CN" altLang="en-US">
                <a:latin typeface="Times New Roman" panose="02020603050405020304" pitchFamily="18" charset="0"/>
              </a:rPr>
              <a:t>的终态，则立刻进入状态</a:t>
            </a:r>
            <a:r>
              <a:rPr lang="en-US" altLang="zh-CN">
                <a:latin typeface="Times New Roman" panose="02020603050405020304" pitchFamily="18" charset="0"/>
              </a:rPr>
              <a:t>t</a:t>
            </a:r>
            <a:r>
              <a:rPr lang="zh-CN" altLang="en-US">
                <a:latin typeface="Times New Roman" panose="02020603050405020304" pitchFamily="18" charset="0"/>
              </a:rPr>
              <a:t>，事实上，分析器从状态</a:t>
            </a:r>
            <a:r>
              <a:rPr lang="en-US" altLang="zh-CN">
                <a:latin typeface="Times New Roman" panose="02020603050405020304" pitchFamily="18" charset="0"/>
              </a:rPr>
              <a:t>s</a:t>
            </a:r>
            <a:r>
              <a:rPr lang="zh-CN" altLang="en-US">
                <a:latin typeface="Times New Roman" panose="02020603050405020304" pitchFamily="18" charset="0"/>
              </a:rPr>
              <a:t>转移到状态</a:t>
            </a:r>
            <a:r>
              <a:rPr lang="en-US" altLang="zh-CN">
                <a:latin typeface="Times New Roman" panose="02020603050405020304" pitchFamily="18" charset="0"/>
              </a:rPr>
              <a:t>t</a:t>
            </a:r>
            <a:r>
              <a:rPr lang="zh-CN" altLang="en-US">
                <a:latin typeface="Times New Roman" panose="02020603050405020304" pitchFamily="18" charset="0"/>
              </a:rPr>
              <a:t>时，它已经从输入符号串“读”了</a:t>
            </a:r>
            <a:r>
              <a:rPr lang="en-US" altLang="zh-CN">
                <a:latin typeface="Times New Roman" panose="02020603050405020304" pitchFamily="18" charset="0"/>
              </a:rPr>
              <a:t>A </a:t>
            </a:r>
            <a:r>
              <a:rPr lang="zh-CN" altLang="en-US">
                <a:latin typeface="Times New Roman" panose="02020603050405020304" pitchFamily="18" charset="0"/>
              </a:rPr>
              <a:t>（</a:t>
            </a:r>
            <a:r>
              <a:rPr lang="zh-CN" altLang="en-US">
                <a:solidFill>
                  <a:srgbClr val="FF0000"/>
                </a:solidFill>
                <a:latin typeface="Times New Roman" panose="02020603050405020304" pitchFamily="18" charset="0"/>
              </a:rPr>
              <a:t>调用</a:t>
            </a:r>
            <a:r>
              <a:rPr lang="en-US" altLang="zh-CN">
                <a:solidFill>
                  <a:srgbClr val="FF0000"/>
                </a:solidFill>
                <a:latin typeface="Times New Roman" panose="02020603050405020304" pitchFamily="18" charset="0"/>
              </a:rPr>
              <a:t>A</a:t>
            </a:r>
            <a:r>
              <a:rPr lang="zh-CN" altLang="en-US">
                <a:solidFill>
                  <a:srgbClr val="FF0000"/>
                </a:solidFill>
                <a:latin typeface="Times New Roman" panose="02020603050405020304" pitchFamily="18" charset="0"/>
              </a:rPr>
              <a:t>对应的过程</a:t>
            </a:r>
            <a:r>
              <a:rPr lang="zh-CN" altLang="en-US">
                <a:latin typeface="Times New Roman" panose="02020603050405020304" pitchFamily="18" charset="0"/>
              </a:rPr>
              <a:t>）。</a:t>
            </a:r>
          </a:p>
          <a:p>
            <a:pPr eaLnBrk="1" hangingPunct="1"/>
            <a:r>
              <a:rPr lang="zh-CN" altLang="en-US">
                <a:latin typeface="Times New Roman" panose="02020603050405020304" pitchFamily="18" charset="0"/>
              </a:rPr>
              <a:t>最后，如果从</a:t>
            </a:r>
            <a:r>
              <a:rPr lang="en-US" altLang="zh-CN">
                <a:latin typeface="Times New Roman" panose="02020603050405020304" pitchFamily="18" charset="0"/>
              </a:rPr>
              <a:t>s</a:t>
            </a:r>
            <a:r>
              <a:rPr lang="zh-CN" altLang="en-US">
                <a:latin typeface="Times New Roman" panose="02020603050405020304" pitchFamily="18" charset="0"/>
              </a:rPr>
              <a:t>到</a:t>
            </a:r>
            <a:r>
              <a:rPr lang="en-US" altLang="zh-CN">
                <a:latin typeface="Times New Roman" panose="02020603050405020304" pitchFamily="18" charset="0"/>
              </a:rPr>
              <a:t>t</a:t>
            </a:r>
            <a:r>
              <a:rPr lang="zh-CN" altLang="en-US">
                <a:latin typeface="Times New Roman" panose="02020603050405020304" pitchFamily="18" charset="0"/>
              </a:rPr>
              <a:t>有一条标记为</a:t>
            </a:r>
            <a:r>
              <a:rPr lang="en-US" altLang="zh-CN">
                <a:latin typeface="Times New Roman" panose="02020603050405020304" pitchFamily="18" charset="0"/>
              </a:rPr>
              <a:t>ε</a:t>
            </a:r>
            <a:r>
              <a:rPr lang="zh-CN" altLang="en-US">
                <a:latin typeface="Times New Roman" panose="02020603050405020304" pitchFamily="18" charset="0"/>
              </a:rPr>
              <a:t>的边，那么分析器从状态</a:t>
            </a:r>
            <a:r>
              <a:rPr lang="en-US" altLang="zh-CN">
                <a:latin typeface="Times New Roman" panose="02020603050405020304" pitchFamily="18" charset="0"/>
              </a:rPr>
              <a:t>s</a:t>
            </a:r>
            <a:r>
              <a:rPr lang="zh-CN" altLang="en-US">
                <a:latin typeface="Times New Roman" panose="02020603050405020304" pitchFamily="18" charset="0"/>
              </a:rPr>
              <a:t>直接进入状态</a:t>
            </a:r>
            <a:r>
              <a:rPr lang="en-US" altLang="zh-CN">
                <a:latin typeface="Times New Roman" panose="02020603050405020304" pitchFamily="18" charset="0"/>
              </a:rPr>
              <a:t>t</a:t>
            </a:r>
            <a:r>
              <a:rPr lang="zh-CN" altLang="en-US">
                <a:latin typeface="Times New Roman" panose="02020603050405020304" pitchFamily="18" charset="0"/>
              </a:rPr>
              <a:t>而不移动输入指针。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a:extLst>
              <a:ext uri="{FF2B5EF4-FFF2-40B4-BE49-F238E27FC236}">
                <a16:creationId xmlns:a16="http://schemas.microsoft.com/office/drawing/2014/main" id="{177FEFCA-3E77-454F-8AC3-9C5642BDF586}"/>
              </a:ext>
            </a:extLst>
          </p:cNvPr>
          <p:cNvSpPr>
            <a:spLocks noGrp="1"/>
          </p:cNvSpPr>
          <p:nvPr>
            <p:ph type="dt" sz="quarter" idx="10"/>
          </p:nvPr>
        </p:nvSpPr>
        <p:spPr/>
        <p:txBody>
          <a:bodyPr/>
          <a:lstStyle/>
          <a:p>
            <a:pPr>
              <a:defRPr/>
            </a:pPr>
            <a:fld id="{B2EBE72A-27C1-4828-B426-56FDC722494B}" type="datetime1">
              <a:rPr lang="zh-CN" altLang="en-US"/>
              <a:pPr>
                <a:defRPr/>
              </a:pPr>
              <a:t>2025/6/26</a:t>
            </a:fld>
            <a:endParaRPr lang="en-US" altLang="zh-CN"/>
          </a:p>
        </p:txBody>
      </p:sp>
      <p:sp>
        <p:nvSpPr>
          <p:cNvPr id="11269" name="灯片编号占位符 5">
            <a:extLst>
              <a:ext uri="{FF2B5EF4-FFF2-40B4-BE49-F238E27FC236}">
                <a16:creationId xmlns:a16="http://schemas.microsoft.com/office/drawing/2014/main" id="{7847ACEA-B7F4-4AB3-ADDB-5ED4CEA9428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0" hangingPunct="0">
              <a:buFontTx/>
              <a:buNone/>
            </a:pPr>
            <a:fld id="{E5092FAB-A25A-4EF7-8BB5-FA0992020314}" type="slidenum">
              <a:rPr lang="en-US" altLang="zh-CN" sz="1400">
                <a:latin typeface="Arial" panose="020B0604020202020204" pitchFamily="34" charset="0"/>
              </a:rPr>
              <a:pPr eaLnBrk="0" hangingPunct="0">
                <a:buFontTx/>
                <a:buNone/>
              </a:pPr>
              <a:t>38</a:t>
            </a:fld>
            <a:endParaRPr lang="en-US" altLang="zh-CN" sz="1400">
              <a:latin typeface="Arial" panose="020B0604020202020204" pitchFamily="34" charset="0"/>
            </a:endParaRPr>
          </a:p>
        </p:txBody>
      </p:sp>
      <p:sp>
        <p:nvSpPr>
          <p:cNvPr id="11270" name="Rectangle 5">
            <a:extLst>
              <a:ext uri="{FF2B5EF4-FFF2-40B4-BE49-F238E27FC236}">
                <a16:creationId xmlns:a16="http://schemas.microsoft.com/office/drawing/2014/main" id="{A9FD1C27-9347-4B7C-9E0C-0F73922F332A}"/>
              </a:ext>
            </a:extLst>
          </p:cNvPr>
          <p:cNvSpPr>
            <a:spLocks noChangeArrowheads="1"/>
          </p:cNvSpPr>
          <p:nvPr/>
        </p:nvSpPr>
        <p:spPr bwMode="auto">
          <a:xfrm>
            <a:off x="1524001" y="2051994"/>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00"/>
          </a:p>
        </p:txBody>
      </p:sp>
      <p:graphicFrame>
        <p:nvGraphicFramePr>
          <p:cNvPr id="11266" name="Object 4">
            <a:extLst>
              <a:ext uri="{FF2B5EF4-FFF2-40B4-BE49-F238E27FC236}">
                <a16:creationId xmlns:a16="http://schemas.microsoft.com/office/drawing/2014/main" id="{CBBE8493-DD76-4A13-85F5-974E24DD5E72}"/>
              </a:ext>
            </a:extLst>
          </p:cNvPr>
          <p:cNvGraphicFramePr>
            <a:graphicFrameLocks/>
          </p:cNvGraphicFramePr>
          <p:nvPr/>
        </p:nvGraphicFramePr>
        <p:xfrm>
          <a:off x="3614738" y="3363914"/>
          <a:ext cx="5002212" cy="3089275"/>
        </p:xfrm>
        <a:graphic>
          <a:graphicData uri="http://schemas.openxmlformats.org/presentationml/2006/ole">
            <mc:AlternateContent xmlns:mc="http://schemas.openxmlformats.org/markup-compatibility/2006">
              <mc:Choice xmlns:v="urn:schemas-microsoft-com:vml" Requires="v">
                <p:oleObj spid="_x0000_s7177" r:id="rId3" imgW="4644000" imgH="2859840" progId="Visio.Drawing.11">
                  <p:embed/>
                </p:oleObj>
              </mc:Choice>
              <mc:Fallback>
                <p:oleObj r:id="rId3" imgW="4644000" imgH="2859840" progId="Visio.Drawing.11">
                  <p:embed/>
                  <p:pic>
                    <p:nvPicPr>
                      <p:cNvPr id="11266" name="Object 4">
                        <a:extLst>
                          <a:ext uri="{FF2B5EF4-FFF2-40B4-BE49-F238E27FC236}">
                            <a16:creationId xmlns:a16="http://schemas.microsoft.com/office/drawing/2014/main" id="{CBBE8493-DD76-4A13-85F5-974E24DD5E7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4738" y="3363914"/>
                        <a:ext cx="5002212" cy="308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71" name="Rectangle 6">
            <a:extLst>
              <a:ext uri="{FF2B5EF4-FFF2-40B4-BE49-F238E27FC236}">
                <a16:creationId xmlns:a16="http://schemas.microsoft.com/office/drawing/2014/main" id="{817BA26B-FFFC-412A-A057-5544028D75A8}"/>
              </a:ext>
            </a:extLst>
          </p:cNvPr>
          <p:cNvSpPr>
            <a:spLocks noChangeArrowheads="1"/>
          </p:cNvSpPr>
          <p:nvPr/>
        </p:nvSpPr>
        <p:spPr bwMode="auto">
          <a:xfrm>
            <a:off x="4187826" y="6416676"/>
            <a:ext cx="3636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楷体_GB2312" pitchFamily="49" charset="-122"/>
                <a:ea typeface="楷体_GB2312" pitchFamily="49" charset="-122"/>
              </a:rPr>
              <a:t>图</a:t>
            </a:r>
            <a:r>
              <a:rPr lang="en-US" altLang="zh-CN" sz="2000" b="1">
                <a:latin typeface="楷体_GB2312" pitchFamily="49" charset="-122"/>
                <a:ea typeface="楷体_GB2312" pitchFamily="49" charset="-122"/>
              </a:rPr>
              <a:t>4.6</a:t>
            </a:r>
            <a:r>
              <a:rPr lang="zh-CN" altLang="en-US" sz="2000" b="1">
                <a:latin typeface="楷体_GB2312" pitchFamily="49" charset="-122"/>
                <a:ea typeface="楷体_GB2312" pitchFamily="49" charset="-122"/>
              </a:rPr>
              <a:t>算术表达式的简化语法图</a:t>
            </a:r>
          </a:p>
        </p:txBody>
      </p:sp>
      <p:pic>
        <p:nvPicPr>
          <p:cNvPr id="11272" name="图片 26637">
            <a:extLst>
              <a:ext uri="{FF2B5EF4-FFF2-40B4-BE49-F238E27FC236}">
                <a16:creationId xmlns:a16="http://schemas.microsoft.com/office/drawing/2014/main" id="{C36F7C41-A024-45C2-954A-D756EF6050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88914"/>
            <a:ext cx="6948488"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3" name="Rectangle 2">
            <a:extLst>
              <a:ext uri="{FF2B5EF4-FFF2-40B4-BE49-F238E27FC236}">
                <a16:creationId xmlns:a16="http://schemas.microsoft.com/office/drawing/2014/main" id="{2E7E37EC-55CB-4AED-8218-C5E0916A355D}"/>
              </a:ext>
            </a:extLst>
          </p:cNvPr>
          <p:cNvSpPr>
            <a:spLocks noChangeArrowheads="1"/>
          </p:cNvSpPr>
          <p:nvPr/>
        </p:nvSpPr>
        <p:spPr bwMode="auto">
          <a:xfrm>
            <a:off x="2208213" y="44450"/>
            <a:ext cx="65897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ctr"/>
            <a:r>
              <a:rPr lang="en-US" altLang="zh-CN" sz="4000" b="1">
                <a:solidFill>
                  <a:schemeClr val="tx2"/>
                </a:solidFill>
                <a:ea typeface="黑体" panose="02010609060101010101" pitchFamily="49" charset="-122"/>
              </a:rPr>
              <a:t>4.4.4</a:t>
            </a:r>
            <a:r>
              <a:rPr lang="en-US" altLang="zh-CN" sz="4000" b="1">
                <a:solidFill>
                  <a:schemeClr val="tx2"/>
                </a:solidFill>
                <a:latin typeface="黑体" panose="02010609060101010101" pitchFamily="49" charset="-122"/>
                <a:ea typeface="黑体" panose="02010609060101010101" pitchFamily="49" charset="-122"/>
              </a:rPr>
              <a:t> </a:t>
            </a:r>
            <a:r>
              <a:rPr lang="zh-CN" altLang="en-US" sz="4000" b="1">
                <a:solidFill>
                  <a:schemeClr val="tx2"/>
                </a:solidFill>
                <a:latin typeface="黑体" panose="02010609060101010101" pitchFamily="49" charset="-122"/>
                <a:ea typeface="黑体" panose="02010609060101010101" pitchFamily="49" charset="-122"/>
              </a:rPr>
              <a:t>语法图的化简与实现 </a:t>
            </a:r>
          </a:p>
        </p:txBody>
      </p:sp>
      <p:sp>
        <p:nvSpPr>
          <p:cNvPr id="11274" name="文本框 26639">
            <a:extLst>
              <a:ext uri="{FF2B5EF4-FFF2-40B4-BE49-F238E27FC236}">
                <a16:creationId xmlns:a16="http://schemas.microsoft.com/office/drawing/2014/main" id="{0539F839-121E-4A70-8025-594B5DEB1DA1}"/>
              </a:ext>
            </a:extLst>
          </p:cNvPr>
          <p:cNvSpPr txBox="1">
            <a:spLocks noChangeArrowheads="1"/>
          </p:cNvSpPr>
          <p:nvPr/>
        </p:nvSpPr>
        <p:spPr bwMode="auto">
          <a:xfrm>
            <a:off x="2208214" y="908050"/>
            <a:ext cx="6772275" cy="2870200"/>
          </a:xfrm>
          <a:prstGeom prst="rect">
            <a:avLst/>
          </a:prstGeom>
          <a:noFill/>
          <a:ln>
            <a:noFill/>
          </a:ln>
          <a:effectLst>
            <a:prstShdw prst="shdw17" dist="17961" dir="27000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ea typeface="楷体_GB2312" pitchFamily="49" charset="-122"/>
              </a:rPr>
              <a:t>⑴ </a:t>
            </a:r>
            <a:r>
              <a:rPr lang="zh-CN" altLang="en-US" b="1">
                <a:ea typeface="楷体_GB2312" pitchFamily="49" charset="-122"/>
              </a:rPr>
              <a:t>左因子提取</a:t>
            </a:r>
          </a:p>
          <a:p>
            <a:pPr eaLnBrk="1" hangingPunct="1"/>
            <a:r>
              <a:rPr lang="zh-CN" altLang="en-US" b="1">
                <a:ea typeface="楷体_GB2312" pitchFamily="49" charset="-122"/>
              </a:rPr>
              <a:t>将形如</a:t>
            </a:r>
            <a:r>
              <a:rPr lang="en-US" altLang="zh-CN" b="1" i="1">
                <a:ea typeface="楷体_GB2312" pitchFamily="49" charset="-122"/>
              </a:rPr>
              <a:t>A</a:t>
            </a:r>
            <a:r>
              <a:rPr lang="en-US" altLang="zh-CN" b="1">
                <a:ea typeface="楷体_GB2312" pitchFamily="49" charset="-122"/>
              </a:rPr>
              <a:t>→</a:t>
            </a:r>
            <a:r>
              <a:rPr lang="en-US" altLang="zh-CN" b="1" i="1">
                <a:ea typeface="楷体_GB2312" pitchFamily="49" charset="-122"/>
              </a:rPr>
              <a:t>YX</a:t>
            </a:r>
            <a:r>
              <a:rPr lang="en-US" altLang="zh-CN" b="1">
                <a:ea typeface="楷体_GB2312" pitchFamily="49" charset="-122"/>
              </a:rPr>
              <a:t>|</a:t>
            </a:r>
            <a:r>
              <a:rPr lang="en-US" altLang="zh-CN" b="1" i="1">
                <a:ea typeface="楷体_GB2312" pitchFamily="49" charset="-122"/>
              </a:rPr>
              <a:t>YZ</a:t>
            </a:r>
            <a:r>
              <a:rPr lang="zh-CN" altLang="en-US" b="1">
                <a:ea typeface="楷体_GB2312" pitchFamily="49" charset="-122"/>
              </a:rPr>
              <a:t>的产生式替换为</a:t>
            </a:r>
            <a:r>
              <a:rPr lang="en-US" altLang="zh-CN" b="1" i="1">
                <a:ea typeface="楷体_GB2312" pitchFamily="49" charset="-122"/>
              </a:rPr>
              <a:t>A</a:t>
            </a:r>
            <a:r>
              <a:rPr lang="en-US" altLang="zh-CN" b="1">
                <a:ea typeface="楷体_GB2312" pitchFamily="49" charset="-122"/>
              </a:rPr>
              <a:t>→</a:t>
            </a:r>
            <a:r>
              <a:rPr lang="en-US" altLang="zh-CN" b="1" i="1">
                <a:ea typeface="楷体_GB2312" pitchFamily="49" charset="-122"/>
              </a:rPr>
              <a:t>Y</a:t>
            </a:r>
            <a:r>
              <a:rPr lang="en-US" altLang="zh-CN" b="1">
                <a:ea typeface="楷体_GB2312" pitchFamily="49" charset="-122"/>
              </a:rPr>
              <a:t>(</a:t>
            </a:r>
            <a:r>
              <a:rPr lang="en-US" altLang="zh-CN" b="1" i="1">
                <a:ea typeface="楷体_GB2312" pitchFamily="49" charset="-122"/>
              </a:rPr>
              <a:t>X</a:t>
            </a:r>
            <a:r>
              <a:rPr lang="en-US" altLang="zh-CN" b="1">
                <a:ea typeface="楷体_GB2312" pitchFamily="49" charset="-122"/>
              </a:rPr>
              <a:t>|</a:t>
            </a:r>
            <a:r>
              <a:rPr lang="en-US" altLang="zh-CN" b="1" i="1">
                <a:ea typeface="楷体_GB2312" pitchFamily="49" charset="-122"/>
              </a:rPr>
              <a:t>Z</a:t>
            </a:r>
            <a:r>
              <a:rPr lang="en-US" altLang="zh-CN" b="1">
                <a:ea typeface="楷体_GB2312" pitchFamily="49" charset="-122"/>
              </a:rPr>
              <a:t>)</a:t>
            </a:r>
            <a:r>
              <a:rPr lang="zh-CN" altLang="en-US" b="1">
                <a:ea typeface="楷体_GB2312" pitchFamily="49" charset="-122"/>
              </a:rPr>
              <a:t>；</a:t>
            </a:r>
          </a:p>
          <a:p>
            <a:pPr eaLnBrk="1" hangingPunct="1"/>
            <a:r>
              <a:rPr lang="zh-CN" altLang="en-US" b="1">
                <a:ea typeface="楷体_GB2312" pitchFamily="49" charset="-122"/>
              </a:rPr>
              <a:t>⑵ 右因子提取</a:t>
            </a:r>
          </a:p>
          <a:p>
            <a:pPr eaLnBrk="1" hangingPunct="1"/>
            <a:r>
              <a:rPr lang="zh-CN" altLang="en-US" b="1">
                <a:ea typeface="楷体_GB2312" pitchFamily="49" charset="-122"/>
              </a:rPr>
              <a:t>将形如</a:t>
            </a:r>
            <a:r>
              <a:rPr lang="en-US" altLang="zh-CN" b="1" i="1">
                <a:ea typeface="楷体_GB2312" pitchFamily="49" charset="-122"/>
              </a:rPr>
              <a:t>A</a:t>
            </a:r>
            <a:r>
              <a:rPr lang="en-US" altLang="zh-CN" b="1">
                <a:ea typeface="楷体_GB2312" pitchFamily="49" charset="-122"/>
              </a:rPr>
              <a:t>→</a:t>
            </a:r>
            <a:r>
              <a:rPr lang="en-US" altLang="zh-CN" b="1" i="1">
                <a:ea typeface="楷体_GB2312" pitchFamily="49" charset="-122"/>
              </a:rPr>
              <a:t>YX</a:t>
            </a:r>
            <a:r>
              <a:rPr lang="en-US" altLang="zh-CN" b="1">
                <a:ea typeface="楷体_GB2312" pitchFamily="49" charset="-122"/>
              </a:rPr>
              <a:t>|</a:t>
            </a:r>
            <a:r>
              <a:rPr lang="en-US" altLang="zh-CN" b="1" i="1">
                <a:ea typeface="楷体_GB2312" pitchFamily="49" charset="-122"/>
              </a:rPr>
              <a:t>ZX</a:t>
            </a:r>
            <a:r>
              <a:rPr lang="zh-CN" altLang="en-US" b="1">
                <a:ea typeface="楷体_GB2312" pitchFamily="49" charset="-122"/>
              </a:rPr>
              <a:t>的产生式替换为</a:t>
            </a:r>
            <a:r>
              <a:rPr lang="en-US" altLang="zh-CN" b="1" i="1">
                <a:ea typeface="楷体_GB2312" pitchFamily="49" charset="-122"/>
              </a:rPr>
              <a:t>A</a:t>
            </a:r>
            <a:r>
              <a:rPr lang="en-US" altLang="zh-CN" b="1">
                <a:ea typeface="楷体_GB2312" pitchFamily="49" charset="-122"/>
              </a:rPr>
              <a:t>→(</a:t>
            </a:r>
            <a:r>
              <a:rPr lang="en-US" altLang="zh-CN" b="1" i="1">
                <a:ea typeface="楷体_GB2312" pitchFamily="49" charset="-122"/>
              </a:rPr>
              <a:t>Y</a:t>
            </a:r>
            <a:r>
              <a:rPr lang="en-US" altLang="zh-CN" b="1">
                <a:ea typeface="楷体_GB2312" pitchFamily="49" charset="-122"/>
              </a:rPr>
              <a:t>|</a:t>
            </a:r>
            <a:r>
              <a:rPr lang="en-US" altLang="zh-CN" b="1" i="1">
                <a:ea typeface="楷体_GB2312" pitchFamily="49" charset="-122"/>
              </a:rPr>
              <a:t>Z</a:t>
            </a:r>
            <a:r>
              <a:rPr lang="en-US" altLang="zh-CN" b="1">
                <a:ea typeface="楷体_GB2312" pitchFamily="49" charset="-122"/>
              </a:rPr>
              <a:t>)</a:t>
            </a:r>
            <a:r>
              <a:rPr lang="en-US" altLang="zh-CN" b="1" i="1">
                <a:ea typeface="楷体_GB2312" pitchFamily="49" charset="-122"/>
              </a:rPr>
              <a:t>X</a:t>
            </a:r>
            <a:r>
              <a:rPr lang="zh-CN" altLang="en-US" b="1">
                <a:ea typeface="楷体_GB2312" pitchFamily="49" charset="-122"/>
              </a:rPr>
              <a:t>；</a:t>
            </a:r>
          </a:p>
          <a:p>
            <a:pPr eaLnBrk="1" hangingPunct="1"/>
            <a:r>
              <a:rPr lang="zh-CN" altLang="en-US" b="1">
                <a:ea typeface="楷体_GB2312" pitchFamily="49" charset="-122"/>
              </a:rPr>
              <a:t>⑶ 尾递归消除</a:t>
            </a:r>
          </a:p>
          <a:p>
            <a:pPr eaLnBrk="1" hangingPunct="1"/>
            <a:r>
              <a:rPr lang="zh-CN" altLang="en-US" b="1">
                <a:ea typeface="楷体_GB2312" pitchFamily="49" charset="-122"/>
              </a:rPr>
              <a:t>将形如</a:t>
            </a:r>
            <a:r>
              <a:rPr lang="en-US" altLang="zh-CN" b="1" i="1">
                <a:ea typeface="楷体_GB2312" pitchFamily="49" charset="-122"/>
              </a:rPr>
              <a:t>X</a:t>
            </a:r>
            <a:r>
              <a:rPr lang="en-US" altLang="zh-CN" b="1">
                <a:ea typeface="楷体_GB2312" pitchFamily="49" charset="-122"/>
              </a:rPr>
              <a:t>→</a:t>
            </a:r>
            <a:r>
              <a:rPr lang="en-US" altLang="zh-CN" b="1" i="1">
                <a:ea typeface="楷体_GB2312" pitchFamily="49" charset="-122"/>
              </a:rPr>
              <a:t>YX</a:t>
            </a:r>
            <a:r>
              <a:rPr lang="en-US" altLang="zh-CN" b="1">
                <a:ea typeface="楷体_GB2312" pitchFamily="49" charset="-122"/>
              </a:rPr>
              <a:t>|</a:t>
            </a:r>
            <a:r>
              <a:rPr lang="en-US" altLang="zh-CN" b="1" i="1">
                <a:ea typeface="楷体_GB2312" pitchFamily="49" charset="-122"/>
              </a:rPr>
              <a:t>Z</a:t>
            </a:r>
            <a:r>
              <a:rPr lang="zh-CN" altLang="en-US" b="1">
                <a:ea typeface="楷体_GB2312" pitchFamily="49" charset="-122"/>
              </a:rPr>
              <a:t>的产生式替换为</a:t>
            </a:r>
            <a:r>
              <a:rPr lang="en-US" altLang="zh-CN" b="1" i="1">
                <a:ea typeface="楷体_GB2312" pitchFamily="49" charset="-122"/>
              </a:rPr>
              <a:t>X</a:t>
            </a:r>
            <a:r>
              <a:rPr lang="en-US" altLang="zh-CN" b="1">
                <a:ea typeface="楷体_GB2312" pitchFamily="49" charset="-122"/>
              </a:rPr>
              <a:t>→</a:t>
            </a:r>
            <a:r>
              <a:rPr lang="en-US" altLang="zh-CN" b="1" i="1">
                <a:ea typeface="楷体_GB2312" pitchFamily="49" charset="-122"/>
              </a:rPr>
              <a:t>Y</a:t>
            </a:r>
            <a:r>
              <a:rPr lang="en-US" altLang="zh-CN" b="1">
                <a:ea typeface="楷体_GB2312" pitchFamily="49" charset="-122"/>
              </a:rPr>
              <a:t>*</a:t>
            </a:r>
            <a:r>
              <a:rPr lang="en-US" altLang="zh-CN" b="1" i="1">
                <a:ea typeface="楷体_GB2312" pitchFamily="49" charset="-122"/>
              </a:rPr>
              <a:t>Z</a:t>
            </a:r>
            <a:r>
              <a:rPr lang="zh-CN" altLang="en-US" b="1">
                <a:ea typeface="楷体_GB2312" pitchFamily="49" charset="-122"/>
              </a:rPr>
              <a:t>。</a:t>
            </a:r>
          </a:p>
          <a:p>
            <a:pPr eaLnBrk="1" hangingPunct="1"/>
            <a:endParaRPr lang="zh-CN" altLang="en-US">
              <a:ea typeface="楷体_GB2312"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8D1CB0D-70FB-4501-BF54-AF4A40DB6E23}"/>
              </a:ext>
            </a:extLst>
          </p:cNvPr>
          <p:cNvSpPr>
            <a:spLocks noGrp="1"/>
          </p:cNvSpPr>
          <p:nvPr>
            <p:ph type="dt" sz="quarter" idx="10"/>
          </p:nvPr>
        </p:nvSpPr>
        <p:spPr/>
        <p:txBody>
          <a:bodyPr/>
          <a:lstStyle/>
          <a:p>
            <a:pPr>
              <a:defRPr/>
            </a:pPr>
            <a:fld id="{15D53003-4AA8-4A40-B73F-C542A0CBE4B4}" type="datetime1">
              <a:rPr lang="zh-CN" altLang="en-US"/>
              <a:pPr>
                <a:defRPr/>
              </a:pPr>
              <a:t>2025/6/26</a:t>
            </a:fld>
            <a:endParaRPr lang="en-US" altLang="zh-CN"/>
          </a:p>
        </p:txBody>
      </p:sp>
      <p:sp>
        <p:nvSpPr>
          <p:cNvPr id="80899" name="灯片编号占位符 5">
            <a:extLst>
              <a:ext uri="{FF2B5EF4-FFF2-40B4-BE49-F238E27FC236}">
                <a16:creationId xmlns:a16="http://schemas.microsoft.com/office/drawing/2014/main" id="{A5C737D8-D060-47D8-BA41-B5CE360D461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eaLnBrk="0" hangingPunct="0">
              <a:buFontTx/>
              <a:buNone/>
            </a:pPr>
            <a:fld id="{6AD58E8B-CA21-4F8D-B951-F470EBD055F3}" type="slidenum">
              <a:rPr lang="en-US" altLang="zh-CN" sz="1400">
                <a:latin typeface="Arial" panose="020B0604020202020204" pitchFamily="34" charset="0"/>
              </a:rPr>
              <a:pPr eaLnBrk="0" hangingPunct="0">
                <a:buFontTx/>
                <a:buNone/>
              </a:pPr>
              <a:t>39</a:t>
            </a:fld>
            <a:endParaRPr lang="en-US" altLang="zh-CN" sz="1400">
              <a:latin typeface="Arial" panose="020B0604020202020204" pitchFamily="34" charset="0"/>
            </a:endParaRPr>
          </a:p>
        </p:txBody>
      </p:sp>
      <p:sp>
        <p:nvSpPr>
          <p:cNvPr id="1172483" name="Rectangle 3">
            <a:extLst>
              <a:ext uri="{FF2B5EF4-FFF2-40B4-BE49-F238E27FC236}">
                <a16:creationId xmlns:a16="http://schemas.microsoft.com/office/drawing/2014/main" id="{042EC97C-1D37-4C10-A985-0FD3AACD8668}"/>
              </a:ext>
            </a:extLst>
          </p:cNvPr>
          <p:cNvSpPr>
            <a:spLocks noGrp="1" noChangeArrowheads="1"/>
          </p:cNvSpPr>
          <p:nvPr>
            <p:ph type="body" idx="4294967295"/>
          </p:nvPr>
        </p:nvSpPr>
        <p:spPr>
          <a:xfrm>
            <a:off x="2424113" y="1052513"/>
            <a:ext cx="6767512" cy="5257800"/>
          </a:xfrm>
        </p:spPr>
        <p:txBody>
          <a:bodyPr vert="horz" lIns="92075" tIns="46038" rIns="92075" bIns="46038" rtlCol="0">
            <a:normAutofit/>
          </a:bodyPr>
          <a:lstStyle/>
          <a:p>
            <a:r>
              <a:rPr lang="zh-CN" altLang="en-US" b="1">
                <a:latin typeface="Times New Roman" panose="02020603050405020304" pitchFamily="18" charset="0"/>
                <a:ea typeface="楷体_GB2312" pitchFamily="49" charset="-122"/>
              </a:rPr>
              <a:t>Ｅ的子程序</a:t>
            </a:r>
            <a:r>
              <a:rPr lang="en-US" altLang="zh-CN" b="1">
                <a:latin typeface="Times New Roman" panose="02020603050405020304" pitchFamily="18" charset="0"/>
                <a:ea typeface="楷体_GB2312" pitchFamily="49" charset="-122"/>
              </a:rPr>
              <a:t>(E→T(+T)</a:t>
            </a:r>
            <a:r>
              <a:rPr lang="en-US" altLang="zh-CN" b="1" baseline="30000">
                <a:latin typeface="Times New Roman" panose="02020603050405020304" pitchFamily="18" charset="0"/>
                <a:ea typeface="楷体_GB2312" pitchFamily="49" charset="-122"/>
              </a:rPr>
              <a:t>*</a:t>
            </a:r>
            <a:r>
              <a:rPr lang="en-US" altLang="zh-CN" b="1">
                <a:latin typeface="Times New Roman" panose="02020603050405020304" pitchFamily="18" charset="0"/>
                <a:ea typeface="楷体_GB2312" pitchFamily="49" charset="-122"/>
              </a:rPr>
              <a:t>)</a:t>
            </a:r>
          </a:p>
          <a:p>
            <a:pPr>
              <a:buFontTx/>
              <a:buNone/>
            </a:pPr>
            <a:r>
              <a:rPr lang="en-US" altLang="zh-CN" b="1">
                <a:latin typeface="Times New Roman" panose="02020603050405020304" pitchFamily="18" charset="0"/>
                <a:ea typeface="楷体_GB2312" pitchFamily="49" charset="-122"/>
              </a:rPr>
              <a:t>procedure E;</a:t>
            </a:r>
          </a:p>
          <a:p>
            <a:pPr>
              <a:buFontTx/>
              <a:buNone/>
            </a:pPr>
            <a:r>
              <a:rPr lang="en-US" altLang="zh-CN" b="1">
                <a:latin typeface="Times New Roman" panose="02020603050405020304" pitchFamily="18" charset="0"/>
                <a:ea typeface="楷体_GB2312" pitchFamily="49" charset="-122"/>
              </a:rPr>
              <a:t>  begin</a:t>
            </a:r>
          </a:p>
          <a:p>
            <a:pPr>
              <a:buFontTx/>
              <a:buNone/>
            </a:pPr>
            <a:r>
              <a:rPr lang="en-US" altLang="zh-CN" b="1">
                <a:latin typeface="Times New Roman" panose="02020603050405020304" pitchFamily="18" charset="0"/>
                <a:ea typeface="楷体_GB2312" pitchFamily="49" charset="-122"/>
              </a:rPr>
              <a:t>     T;            	 	T</a:t>
            </a:r>
            <a:r>
              <a:rPr lang="zh-CN" altLang="en-US" b="1">
                <a:latin typeface="Times New Roman" panose="02020603050405020304" pitchFamily="18" charset="0"/>
                <a:ea typeface="楷体_GB2312" pitchFamily="49" charset="-122"/>
              </a:rPr>
              <a:t>的过程调用</a:t>
            </a:r>
          </a:p>
          <a:p>
            <a:pPr>
              <a:buFontTx/>
              <a:buNone/>
            </a:pPr>
            <a:r>
              <a:rPr lang="zh-CN" altLang="en-US" b="1">
                <a:latin typeface="Times New Roman" panose="02020603050405020304" pitchFamily="18" charset="0"/>
                <a:ea typeface="楷体_GB2312" pitchFamily="49" charset="-122"/>
              </a:rPr>
              <a:t>     </a:t>
            </a:r>
            <a:r>
              <a:rPr lang="en-US" altLang="zh-CN" b="1">
                <a:latin typeface="Times New Roman" panose="02020603050405020304" pitchFamily="18" charset="0"/>
                <a:ea typeface="楷体_GB2312" pitchFamily="49" charset="-122"/>
              </a:rPr>
              <a:t>while lookhead='+' do </a:t>
            </a:r>
          </a:p>
          <a:p>
            <a:pPr>
              <a:buFontTx/>
              <a:buNone/>
            </a:pPr>
            <a:r>
              <a:rPr lang="en-US" altLang="zh-CN" b="1">
                <a:latin typeface="Times New Roman" panose="02020603050405020304" pitchFamily="18" charset="0"/>
                <a:ea typeface="楷体_GB2312" pitchFamily="49" charset="-122"/>
              </a:rPr>
              <a:t>       begin             	</a:t>
            </a:r>
            <a:r>
              <a:rPr lang="zh-CN" altLang="en-US" b="1">
                <a:latin typeface="Times New Roman" panose="02020603050405020304" pitchFamily="18" charset="0"/>
                <a:ea typeface="楷体_GB2312" pitchFamily="49" charset="-122"/>
              </a:rPr>
              <a:t>当前符号等于</a:t>
            </a:r>
            <a:r>
              <a:rPr lang="en-US" altLang="zh-CN" b="1">
                <a:latin typeface="Times New Roman" panose="02020603050405020304" pitchFamily="18" charset="0"/>
                <a:ea typeface="楷体_GB2312" pitchFamily="49" charset="-122"/>
              </a:rPr>
              <a:t>+</a:t>
            </a:r>
            <a:r>
              <a:rPr lang="zh-CN" altLang="en-US" b="1">
                <a:latin typeface="Times New Roman" panose="02020603050405020304" pitchFamily="18" charset="0"/>
                <a:ea typeface="楷体_GB2312" pitchFamily="49" charset="-122"/>
              </a:rPr>
              <a:t>时</a:t>
            </a:r>
          </a:p>
          <a:p>
            <a:pPr>
              <a:buFontTx/>
              <a:buNone/>
            </a:pPr>
            <a:r>
              <a:rPr lang="zh-CN" altLang="en-US" b="1">
                <a:latin typeface="Times New Roman" panose="02020603050405020304" pitchFamily="18" charset="0"/>
                <a:ea typeface="楷体_GB2312" pitchFamily="49" charset="-122"/>
              </a:rPr>
              <a:t>           </a:t>
            </a:r>
            <a:r>
              <a:rPr lang="en-US" altLang="zh-CN" b="1">
                <a:latin typeface="Times New Roman" panose="02020603050405020304" pitchFamily="18" charset="0"/>
                <a:ea typeface="楷体_GB2312" pitchFamily="49" charset="-122"/>
              </a:rPr>
              <a:t>match(‘+’);   	</a:t>
            </a:r>
            <a:r>
              <a:rPr lang="zh-CN" altLang="en-US" b="1">
                <a:latin typeface="Times New Roman" panose="02020603050405020304" pitchFamily="18" charset="0"/>
                <a:ea typeface="楷体_GB2312" pitchFamily="49" charset="-122"/>
              </a:rPr>
              <a:t>处理终结符</a:t>
            </a:r>
            <a:r>
              <a:rPr lang="en-US" altLang="zh-CN" b="1">
                <a:latin typeface="Times New Roman" panose="02020603050405020304" pitchFamily="18" charset="0"/>
                <a:ea typeface="楷体_GB2312" pitchFamily="49" charset="-122"/>
              </a:rPr>
              <a:t>+</a:t>
            </a:r>
          </a:p>
          <a:p>
            <a:pPr>
              <a:buFontTx/>
              <a:buNone/>
            </a:pPr>
            <a:r>
              <a:rPr lang="zh-CN" altLang="en-US" b="1">
                <a:latin typeface="Times New Roman" panose="02020603050405020304" pitchFamily="18" charset="0"/>
                <a:ea typeface="楷体_GB2312" pitchFamily="49" charset="-122"/>
              </a:rPr>
              <a:t>           </a:t>
            </a:r>
            <a:r>
              <a:rPr lang="en-US" altLang="zh-CN" b="1">
                <a:latin typeface="Times New Roman" panose="02020603050405020304" pitchFamily="18" charset="0"/>
                <a:ea typeface="楷体_GB2312" pitchFamily="49" charset="-122"/>
              </a:rPr>
              <a:t>T          	T</a:t>
            </a:r>
            <a:r>
              <a:rPr lang="zh-CN" altLang="en-US" b="1">
                <a:latin typeface="Times New Roman" panose="02020603050405020304" pitchFamily="18" charset="0"/>
                <a:ea typeface="楷体_GB2312" pitchFamily="49" charset="-122"/>
              </a:rPr>
              <a:t>的过程调用</a:t>
            </a:r>
          </a:p>
          <a:p>
            <a:pPr>
              <a:buFontTx/>
              <a:buNone/>
            </a:pPr>
            <a:r>
              <a:rPr lang="zh-CN" altLang="en-US" b="1">
                <a:latin typeface="Times New Roman" panose="02020603050405020304" pitchFamily="18" charset="0"/>
                <a:ea typeface="楷体_GB2312" pitchFamily="49" charset="-122"/>
              </a:rPr>
              <a:t>       </a:t>
            </a:r>
            <a:r>
              <a:rPr lang="en-US" altLang="zh-CN" b="1">
                <a:latin typeface="Times New Roman" panose="02020603050405020304" pitchFamily="18" charset="0"/>
                <a:ea typeface="楷体_GB2312" pitchFamily="49" charset="-122"/>
              </a:rPr>
              <a:t>end</a:t>
            </a:r>
          </a:p>
          <a:p>
            <a:pPr>
              <a:buFontTx/>
              <a:buNone/>
            </a:pPr>
            <a:r>
              <a:rPr lang="en-US" altLang="zh-CN" b="1">
                <a:latin typeface="Times New Roman" panose="02020603050405020304" pitchFamily="18" charset="0"/>
                <a:ea typeface="楷体_GB2312" pitchFamily="49" charset="-122"/>
              </a:rPr>
              <a:t>  end;		           lookhead</a:t>
            </a:r>
            <a:r>
              <a:rPr lang="zh-CN" altLang="en-US" b="1">
                <a:latin typeface="Times New Roman" panose="02020603050405020304" pitchFamily="18" charset="0"/>
                <a:ea typeface="楷体_GB2312" pitchFamily="49" charset="-122"/>
              </a:rPr>
              <a:t>：当前符号 </a:t>
            </a:r>
          </a:p>
        </p:txBody>
      </p:sp>
      <p:pic>
        <p:nvPicPr>
          <p:cNvPr id="80901" name="图片 310278">
            <a:extLst>
              <a:ext uri="{FF2B5EF4-FFF2-40B4-BE49-F238E27FC236}">
                <a16:creationId xmlns:a16="http://schemas.microsoft.com/office/drawing/2014/main" id="{DDE813D5-300B-4F06-9FE0-9C69AB181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260350"/>
            <a:ext cx="6804025"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Rectangle 2">
            <a:extLst>
              <a:ext uri="{FF2B5EF4-FFF2-40B4-BE49-F238E27FC236}">
                <a16:creationId xmlns:a16="http://schemas.microsoft.com/office/drawing/2014/main" id="{063174D7-37F7-47F6-B0CB-7576D0AF84F7}"/>
              </a:ext>
            </a:extLst>
          </p:cNvPr>
          <p:cNvSpPr>
            <a:spLocks noChangeArrowheads="1"/>
          </p:cNvSpPr>
          <p:nvPr/>
        </p:nvSpPr>
        <p:spPr bwMode="auto">
          <a:xfrm>
            <a:off x="2171701" y="187325"/>
            <a:ext cx="8101013"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ctr"/>
            <a:r>
              <a:rPr lang="zh-CN" altLang="en-US" sz="3600" b="1">
                <a:solidFill>
                  <a:schemeClr val="tx2"/>
                </a:solidFill>
                <a:ea typeface="黑体" panose="02010609060101010101" pitchFamily="49" charset="-122"/>
              </a:rPr>
              <a:t>例</a:t>
            </a:r>
            <a:r>
              <a:rPr lang="en-US" altLang="zh-CN" sz="3600" b="1">
                <a:solidFill>
                  <a:schemeClr val="tx2"/>
                </a:solidFill>
                <a:ea typeface="黑体" panose="02010609060101010101" pitchFamily="49" charset="-122"/>
              </a:rPr>
              <a:t>4.16</a:t>
            </a:r>
            <a:r>
              <a:rPr lang="en-US" altLang="zh-CN" sz="3600" b="1">
                <a:solidFill>
                  <a:schemeClr val="tx2"/>
                </a:solidFill>
                <a:latin typeface="黑体" panose="02010609060101010101" pitchFamily="49" charset="-122"/>
                <a:ea typeface="黑体" panose="02010609060101010101" pitchFamily="49" charset="-122"/>
              </a:rPr>
              <a:t> </a:t>
            </a:r>
            <a:r>
              <a:rPr lang="zh-CN" altLang="en-US" sz="3600" b="1">
                <a:solidFill>
                  <a:schemeClr val="tx2"/>
                </a:solidFill>
                <a:latin typeface="黑体" panose="02010609060101010101" pitchFamily="49" charset="-122"/>
                <a:ea typeface="黑体" panose="02010609060101010101" pitchFamily="49" charset="-122"/>
              </a:rPr>
              <a:t>简单算术表达式的语法分析器</a:t>
            </a:r>
          </a:p>
        </p:txBody>
      </p:sp>
      <p:sp>
        <p:nvSpPr>
          <p:cNvPr id="80903" name="矩形 6">
            <a:extLst>
              <a:ext uri="{FF2B5EF4-FFF2-40B4-BE49-F238E27FC236}">
                <a16:creationId xmlns:a16="http://schemas.microsoft.com/office/drawing/2014/main" id="{8A1A501F-C930-47AA-94B5-500A391A0728}"/>
              </a:ext>
            </a:extLst>
          </p:cNvPr>
          <p:cNvSpPr>
            <a:spLocks noChangeArrowheads="1"/>
          </p:cNvSpPr>
          <p:nvPr/>
        </p:nvSpPr>
        <p:spPr bwMode="auto">
          <a:xfrm>
            <a:off x="8040689" y="836614"/>
            <a:ext cx="205898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0000FF"/>
                </a:solidFill>
                <a:ea typeface="楷体_GB2312" pitchFamily="49" charset="-122"/>
              </a:rPr>
              <a:t>E→T(+T)</a:t>
            </a:r>
            <a:r>
              <a:rPr lang="en-US" altLang="zh-CN" sz="3200" b="1" baseline="30000">
                <a:solidFill>
                  <a:srgbClr val="0000FF"/>
                </a:solidFill>
                <a:ea typeface="楷体_GB2312" pitchFamily="49" charset="-122"/>
              </a:rPr>
              <a:t>*</a:t>
            </a:r>
          </a:p>
          <a:p>
            <a:r>
              <a:rPr lang="en-US" altLang="zh-CN" sz="3200" b="1">
                <a:solidFill>
                  <a:srgbClr val="0000FF"/>
                </a:solidFill>
                <a:ea typeface="楷体_GB2312" pitchFamily="49" charset="-122"/>
              </a:rPr>
              <a:t>T→F(*F)*</a:t>
            </a:r>
          </a:p>
          <a:p>
            <a:r>
              <a:rPr lang="en-US" altLang="zh-CN" sz="3200" b="1">
                <a:solidFill>
                  <a:srgbClr val="0000FF"/>
                </a:solidFill>
                <a:ea typeface="楷体_GB2312" pitchFamily="49" charset="-122"/>
              </a:rPr>
              <a:t>F→(E)|id</a:t>
            </a:r>
            <a:endParaRPr lang="zh-CN" altLang="en-US" sz="3200" b="1">
              <a:solidFill>
                <a:srgbClr val="0000FF"/>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72483">
                                            <p:txEl>
                                              <p:pRg st="0" end="0"/>
                                            </p:txEl>
                                          </p:spTgt>
                                        </p:tgtEl>
                                        <p:attrNameLst>
                                          <p:attrName>style.visibility</p:attrName>
                                        </p:attrNameLst>
                                      </p:cBhvr>
                                      <p:to>
                                        <p:strVal val="visible"/>
                                      </p:to>
                                    </p:set>
                                    <p:animEffect transition="in" filter="wipe(up)">
                                      <p:cBhvr>
                                        <p:cTn id="7" dur="75"/>
                                        <p:tgtEl>
                                          <p:spTgt spid="117248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72483">
                                            <p:txEl>
                                              <p:pRg st="1" end="1"/>
                                            </p:txEl>
                                          </p:spTgt>
                                        </p:tgtEl>
                                        <p:attrNameLst>
                                          <p:attrName>style.visibility</p:attrName>
                                        </p:attrNameLst>
                                      </p:cBhvr>
                                      <p:to>
                                        <p:strVal val="visible"/>
                                      </p:to>
                                    </p:set>
                                    <p:animEffect transition="in" filter="wipe(up)">
                                      <p:cBhvr>
                                        <p:cTn id="12" dur="75"/>
                                        <p:tgtEl>
                                          <p:spTgt spid="117248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72483">
                                            <p:txEl>
                                              <p:pRg st="2" end="2"/>
                                            </p:txEl>
                                          </p:spTgt>
                                        </p:tgtEl>
                                        <p:attrNameLst>
                                          <p:attrName>style.visibility</p:attrName>
                                        </p:attrNameLst>
                                      </p:cBhvr>
                                      <p:to>
                                        <p:strVal val="visible"/>
                                      </p:to>
                                    </p:set>
                                    <p:animEffect transition="in" filter="wipe(up)">
                                      <p:cBhvr>
                                        <p:cTn id="17" dur="75"/>
                                        <p:tgtEl>
                                          <p:spTgt spid="1172483">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72483">
                                            <p:txEl>
                                              <p:pRg st="3" end="3"/>
                                            </p:txEl>
                                          </p:spTgt>
                                        </p:tgtEl>
                                        <p:attrNameLst>
                                          <p:attrName>style.visibility</p:attrName>
                                        </p:attrNameLst>
                                      </p:cBhvr>
                                      <p:to>
                                        <p:strVal val="visible"/>
                                      </p:to>
                                    </p:set>
                                    <p:animEffect transition="in" filter="wipe(up)">
                                      <p:cBhvr>
                                        <p:cTn id="22" dur="75"/>
                                        <p:tgtEl>
                                          <p:spTgt spid="1172483">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1172483">
                                            <p:txEl>
                                              <p:pRg st="4" end="4"/>
                                            </p:txEl>
                                          </p:spTgt>
                                        </p:tgtEl>
                                        <p:attrNameLst>
                                          <p:attrName>style.visibility</p:attrName>
                                        </p:attrNameLst>
                                      </p:cBhvr>
                                      <p:to>
                                        <p:strVal val="visible"/>
                                      </p:to>
                                    </p:set>
                                    <p:animEffect transition="in" filter="wipe(up)">
                                      <p:cBhvr>
                                        <p:cTn id="27" dur="75"/>
                                        <p:tgtEl>
                                          <p:spTgt spid="1172483">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1172483">
                                            <p:txEl>
                                              <p:pRg st="5" end="5"/>
                                            </p:txEl>
                                          </p:spTgt>
                                        </p:tgtEl>
                                        <p:attrNameLst>
                                          <p:attrName>style.visibility</p:attrName>
                                        </p:attrNameLst>
                                      </p:cBhvr>
                                      <p:to>
                                        <p:strVal val="visible"/>
                                      </p:to>
                                    </p:set>
                                    <p:animEffect transition="in" filter="wipe(up)">
                                      <p:cBhvr>
                                        <p:cTn id="32" dur="75"/>
                                        <p:tgtEl>
                                          <p:spTgt spid="1172483">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1172483">
                                            <p:txEl>
                                              <p:pRg st="6" end="6"/>
                                            </p:txEl>
                                          </p:spTgt>
                                        </p:tgtEl>
                                        <p:attrNameLst>
                                          <p:attrName>style.visibility</p:attrName>
                                        </p:attrNameLst>
                                      </p:cBhvr>
                                      <p:to>
                                        <p:strVal val="visible"/>
                                      </p:to>
                                    </p:set>
                                    <p:animEffect transition="in" filter="wipe(up)">
                                      <p:cBhvr>
                                        <p:cTn id="37" dur="75"/>
                                        <p:tgtEl>
                                          <p:spTgt spid="1172483">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iterate type="lt">
                                    <p:tmPct val="100000"/>
                                  </p:iterate>
                                  <p:childTnLst>
                                    <p:set>
                                      <p:cBhvr>
                                        <p:cTn id="41" dur="1" fill="hold">
                                          <p:stCondLst>
                                            <p:cond delay="0"/>
                                          </p:stCondLst>
                                        </p:cTn>
                                        <p:tgtEl>
                                          <p:spTgt spid="1172483">
                                            <p:txEl>
                                              <p:pRg st="7" end="7"/>
                                            </p:txEl>
                                          </p:spTgt>
                                        </p:tgtEl>
                                        <p:attrNameLst>
                                          <p:attrName>style.visibility</p:attrName>
                                        </p:attrNameLst>
                                      </p:cBhvr>
                                      <p:to>
                                        <p:strVal val="visible"/>
                                      </p:to>
                                    </p:set>
                                    <p:animEffect transition="in" filter="wipe(up)">
                                      <p:cBhvr>
                                        <p:cTn id="42" dur="75"/>
                                        <p:tgtEl>
                                          <p:spTgt spid="1172483">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iterate type="lt">
                                    <p:tmPct val="100000"/>
                                  </p:iterate>
                                  <p:childTnLst>
                                    <p:set>
                                      <p:cBhvr>
                                        <p:cTn id="46" dur="1" fill="hold">
                                          <p:stCondLst>
                                            <p:cond delay="0"/>
                                          </p:stCondLst>
                                        </p:cTn>
                                        <p:tgtEl>
                                          <p:spTgt spid="1172483">
                                            <p:txEl>
                                              <p:pRg st="8" end="8"/>
                                            </p:txEl>
                                          </p:spTgt>
                                        </p:tgtEl>
                                        <p:attrNameLst>
                                          <p:attrName>style.visibility</p:attrName>
                                        </p:attrNameLst>
                                      </p:cBhvr>
                                      <p:to>
                                        <p:strVal val="visible"/>
                                      </p:to>
                                    </p:set>
                                    <p:animEffect transition="in" filter="wipe(up)">
                                      <p:cBhvr>
                                        <p:cTn id="47" dur="75"/>
                                        <p:tgtEl>
                                          <p:spTgt spid="1172483">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iterate type="lt">
                                    <p:tmPct val="100000"/>
                                  </p:iterate>
                                  <p:childTnLst>
                                    <p:set>
                                      <p:cBhvr>
                                        <p:cTn id="51" dur="1" fill="hold">
                                          <p:stCondLst>
                                            <p:cond delay="0"/>
                                          </p:stCondLst>
                                        </p:cTn>
                                        <p:tgtEl>
                                          <p:spTgt spid="1172483">
                                            <p:txEl>
                                              <p:pRg st="9" end="9"/>
                                            </p:txEl>
                                          </p:spTgt>
                                        </p:tgtEl>
                                        <p:attrNameLst>
                                          <p:attrName>style.visibility</p:attrName>
                                        </p:attrNameLst>
                                      </p:cBhvr>
                                      <p:to>
                                        <p:strVal val="visible"/>
                                      </p:to>
                                    </p:set>
                                    <p:animEffect transition="in" filter="wipe(up)">
                                      <p:cBhvr>
                                        <p:cTn id="52" dur="75"/>
                                        <p:tgtEl>
                                          <p:spTgt spid="1172483">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2483"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2CB1A0D-2600-429E-8F14-38034E83E5D7}"/>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B0511F80-6547-4A0E-8D6F-7860C4E181B8}" type="datetime1">
              <a:rPr lang="zh-CN" altLang="en-US" noProof="0" smtClean="0">
                <a:latin typeface="+mn-lt"/>
              </a:rPr>
              <a:pPr>
                <a:buFontTx/>
                <a:buNone/>
                <a:defRPr/>
              </a:pPr>
              <a:t>2025/6/26</a:t>
            </a:fld>
            <a:endParaRPr lang="en-US" altLang="zh-CN" noProof="0">
              <a:latin typeface="+mn-lt"/>
            </a:endParaRPr>
          </a:p>
        </p:txBody>
      </p:sp>
      <p:sp>
        <p:nvSpPr>
          <p:cNvPr id="81923" name="灯片编号占位符 5">
            <a:extLst>
              <a:ext uri="{FF2B5EF4-FFF2-40B4-BE49-F238E27FC236}">
                <a16:creationId xmlns:a16="http://schemas.microsoft.com/office/drawing/2014/main" id="{4870B97B-06B2-4058-AAEC-FAC0AE5336B1}"/>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465B15E3-DC5B-4835-988E-B714C5422A0D}" type="slidenum">
              <a:rPr lang="en-US" altLang="zh-CN" sz="1400">
                <a:latin typeface="Arial" panose="020B0604020202020204" pitchFamily="34" charset="0"/>
              </a:rPr>
              <a:pPr/>
              <a:t>40</a:t>
            </a:fld>
            <a:endParaRPr lang="en-US" altLang="zh-CN" sz="1400">
              <a:latin typeface="Arial" panose="020B0604020202020204" pitchFamily="34" charset="0"/>
            </a:endParaRPr>
          </a:p>
        </p:txBody>
      </p:sp>
      <p:sp>
        <p:nvSpPr>
          <p:cNvPr id="81924" name="Rectangle 2">
            <a:extLst>
              <a:ext uri="{FF2B5EF4-FFF2-40B4-BE49-F238E27FC236}">
                <a16:creationId xmlns:a16="http://schemas.microsoft.com/office/drawing/2014/main" id="{1B39531D-B321-4B86-9F4F-41A5B2D734AE}"/>
              </a:ext>
            </a:extLst>
          </p:cNvPr>
          <p:cNvSpPr>
            <a:spLocks noGrp="1" noChangeArrowheads="1"/>
          </p:cNvSpPr>
          <p:nvPr>
            <p:ph type="title" idx="4294967295"/>
          </p:nvPr>
        </p:nvSpPr>
        <p:spPr>
          <a:xfrm>
            <a:off x="2495550" y="434975"/>
            <a:ext cx="6267450" cy="762000"/>
          </a:xfrm>
        </p:spPr>
        <p:txBody>
          <a:bodyPr vert="horz" lIns="92075" tIns="46038" rIns="92075" bIns="46038" rtlCol="0" anchor="ctr">
            <a:normAutofit/>
          </a:bodyPr>
          <a:lstStyle/>
          <a:p>
            <a:pPr eaLnBrk="1" hangingPunct="1"/>
            <a:r>
              <a:rPr lang="zh-CN" altLang="en-US">
                <a:latin typeface="黑体" panose="02010609060101010101" pitchFamily="49" charset="-122"/>
              </a:rPr>
              <a:t>Ｔ的子程序</a:t>
            </a:r>
            <a:r>
              <a:rPr lang="en-US" altLang="zh-CN">
                <a:latin typeface="黑体" panose="02010609060101010101" pitchFamily="49" charset="-122"/>
              </a:rPr>
              <a:t>(T→F(*F)</a:t>
            </a:r>
            <a:r>
              <a:rPr lang="en-US" altLang="zh-CN" baseline="30000">
                <a:latin typeface="黑体" panose="02010609060101010101" pitchFamily="49" charset="-122"/>
              </a:rPr>
              <a:t>*</a:t>
            </a:r>
            <a:r>
              <a:rPr lang="en-US" altLang="zh-CN">
                <a:latin typeface="黑体" panose="02010609060101010101" pitchFamily="49" charset="-122"/>
              </a:rPr>
              <a:t>)</a:t>
            </a:r>
          </a:p>
        </p:txBody>
      </p:sp>
      <p:sp>
        <p:nvSpPr>
          <p:cNvPr id="1173507" name="Rectangle 3">
            <a:extLst>
              <a:ext uri="{FF2B5EF4-FFF2-40B4-BE49-F238E27FC236}">
                <a16:creationId xmlns:a16="http://schemas.microsoft.com/office/drawing/2014/main" id="{842E73BF-48A3-4A5E-BD02-ADC637F02501}"/>
              </a:ext>
            </a:extLst>
          </p:cNvPr>
          <p:cNvSpPr>
            <a:spLocks noGrp="1" noChangeArrowheads="1"/>
          </p:cNvSpPr>
          <p:nvPr>
            <p:ph type="body" idx="4294967295"/>
          </p:nvPr>
        </p:nvSpPr>
        <p:spPr>
          <a:xfrm>
            <a:off x="2116138" y="1581150"/>
            <a:ext cx="8083550" cy="4800600"/>
          </a:xfrm>
        </p:spPr>
        <p:txBody>
          <a:bodyPr vert="horz" lIns="92075" tIns="46038" rIns="92075" bIns="46038" rtlCol="0">
            <a:normAutofit/>
          </a:bodyPr>
          <a:lstStyle/>
          <a:p>
            <a:pPr eaLnBrk="1" hangingPunct="1">
              <a:buFont typeface="Wingdings" panose="05000000000000000000" pitchFamily="2" charset="2"/>
              <a:buNone/>
            </a:pPr>
            <a:r>
              <a:rPr lang="en-US" altLang="zh-CN">
                <a:latin typeface="Times New Roman" panose="02020603050405020304" pitchFamily="18" charset="0"/>
              </a:rPr>
              <a:t>procedure T; </a:t>
            </a:r>
          </a:p>
          <a:p>
            <a:pPr eaLnBrk="1" hangingPunct="1">
              <a:buFont typeface="Wingdings" panose="05000000000000000000" pitchFamily="2" charset="2"/>
              <a:buNone/>
            </a:pPr>
            <a:r>
              <a:rPr lang="en-US" altLang="zh-CN">
                <a:latin typeface="Times New Roman" panose="02020603050405020304" pitchFamily="18" charset="0"/>
              </a:rPr>
              <a:t>  begin</a:t>
            </a:r>
          </a:p>
          <a:p>
            <a:pPr eaLnBrk="1" hangingPunct="1">
              <a:buFont typeface="Wingdings" panose="05000000000000000000" pitchFamily="2" charset="2"/>
              <a:buNone/>
            </a:pPr>
            <a:r>
              <a:rPr lang="en-US" altLang="zh-CN">
                <a:latin typeface="Times New Roman" panose="02020603050405020304" pitchFamily="18" charset="0"/>
              </a:rPr>
              <a:t>      F;	                             F</a:t>
            </a:r>
            <a:r>
              <a:rPr lang="zh-CN" altLang="en-US">
                <a:latin typeface="Times New Roman" panose="02020603050405020304" pitchFamily="18" charset="0"/>
              </a:rPr>
              <a:t>的过程调用</a:t>
            </a:r>
          </a:p>
          <a:p>
            <a:pPr eaLnBrk="1" hangingPunct="1">
              <a:buFont typeface="Wingdings" panose="05000000000000000000" pitchFamily="2" charset="2"/>
              <a:buNone/>
            </a:pPr>
            <a:r>
              <a:rPr lang="zh-CN" altLang="en-US">
                <a:latin typeface="Times New Roman" panose="02020603050405020304" pitchFamily="18" charset="0"/>
              </a:rPr>
              <a:t>      </a:t>
            </a:r>
            <a:r>
              <a:rPr lang="en-US" altLang="zh-CN">
                <a:latin typeface="Times New Roman" panose="02020603050405020304" pitchFamily="18" charset="0"/>
              </a:rPr>
              <a:t>while lookhead='*' then</a:t>
            </a:r>
          </a:p>
          <a:p>
            <a:pPr eaLnBrk="1" hangingPunct="1">
              <a:buFont typeface="Wingdings" panose="05000000000000000000" pitchFamily="2" charset="2"/>
              <a:buNone/>
            </a:pPr>
            <a:r>
              <a:rPr lang="en-US" altLang="zh-CN">
                <a:latin typeface="Times New Roman" panose="02020603050405020304" pitchFamily="18" charset="0"/>
              </a:rPr>
              <a:t>        begin    			</a:t>
            </a:r>
            <a:r>
              <a:rPr lang="zh-CN" altLang="en-US">
                <a:latin typeface="Times New Roman" panose="02020603050405020304" pitchFamily="18" charset="0"/>
              </a:rPr>
              <a:t>当前符号等于*时</a:t>
            </a:r>
          </a:p>
          <a:p>
            <a:pPr eaLnBrk="1" hangingPunct="1">
              <a:buFont typeface="Wingdings" panose="05000000000000000000" pitchFamily="2" charset="2"/>
              <a:buNone/>
            </a:pPr>
            <a:r>
              <a:rPr lang="zh-CN" altLang="en-US">
                <a:latin typeface="Times New Roman" panose="02020603050405020304" pitchFamily="18" charset="0"/>
              </a:rPr>
              <a:t>            </a:t>
            </a:r>
            <a:r>
              <a:rPr lang="en-US" altLang="zh-CN">
                <a:latin typeface="Times New Roman" panose="02020603050405020304" pitchFamily="18" charset="0"/>
              </a:rPr>
              <a:t>match(‘*’);        </a:t>
            </a:r>
            <a:r>
              <a:rPr lang="zh-CN" altLang="en-US">
                <a:latin typeface="Times New Roman" panose="02020603050405020304" pitchFamily="18" charset="0"/>
              </a:rPr>
              <a:t>处理终结符*</a:t>
            </a:r>
          </a:p>
          <a:p>
            <a:pPr eaLnBrk="1" hangingPunct="1">
              <a:buFont typeface="Wingdings" panose="05000000000000000000" pitchFamily="2" charset="2"/>
              <a:buNone/>
            </a:pPr>
            <a:r>
              <a:rPr lang="zh-CN" altLang="en-US">
                <a:latin typeface="Times New Roman" panose="02020603050405020304" pitchFamily="18" charset="0"/>
              </a:rPr>
              <a:t>            </a:t>
            </a:r>
            <a:r>
              <a:rPr lang="en-US" altLang="zh-CN">
                <a:latin typeface="Times New Roman" panose="02020603050405020304" pitchFamily="18" charset="0"/>
              </a:rPr>
              <a:t>F             	F</a:t>
            </a:r>
            <a:r>
              <a:rPr lang="zh-CN" altLang="en-US">
                <a:latin typeface="Times New Roman" panose="02020603050405020304" pitchFamily="18" charset="0"/>
              </a:rPr>
              <a:t>的递归调用</a:t>
            </a:r>
          </a:p>
          <a:p>
            <a:pPr eaLnBrk="1" hangingPunct="1">
              <a:buFont typeface="Wingdings" panose="05000000000000000000" pitchFamily="2" charset="2"/>
              <a:buNone/>
            </a:pPr>
            <a:r>
              <a:rPr lang="zh-CN" altLang="en-US">
                <a:latin typeface="Times New Roman" panose="02020603050405020304" pitchFamily="18" charset="0"/>
              </a:rPr>
              <a:t>        </a:t>
            </a:r>
            <a:r>
              <a:rPr lang="en-US" altLang="zh-CN">
                <a:latin typeface="Times New Roman" panose="02020603050405020304" pitchFamily="18" charset="0"/>
              </a:rPr>
              <a:t>end</a:t>
            </a:r>
          </a:p>
          <a:p>
            <a:pPr eaLnBrk="1" hangingPunct="1">
              <a:buFont typeface="Wingdings" panose="05000000000000000000" pitchFamily="2" charset="2"/>
              <a:buNone/>
            </a:pPr>
            <a:r>
              <a:rPr lang="en-US" altLang="zh-CN">
                <a:latin typeface="Times New Roman" panose="02020603050405020304" pitchFamily="18" charset="0"/>
              </a:rPr>
              <a:t>  end;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73507">
                                            <p:txEl>
                                              <p:pRg st="0" end="0"/>
                                            </p:txEl>
                                          </p:spTgt>
                                        </p:tgtEl>
                                        <p:attrNameLst>
                                          <p:attrName>style.visibility</p:attrName>
                                        </p:attrNameLst>
                                      </p:cBhvr>
                                      <p:to>
                                        <p:strVal val="visible"/>
                                      </p:to>
                                    </p:set>
                                    <p:animEffect transition="in" filter="wipe(up)">
                                      <p:cBhvr>
                                        <p:cTn id="7" dur="75"/>
                                        <p:tgtEl>
                                          <p:spTgt spid="117350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73507">
                                            <p:txEl>
                                              <p:pRg st="1" end="1"/>
                                            </p:txEl>
                                          </p:spTgt>
                                        </p:tgtEl>
                                        <p:attrNameLst>
                                          <p:attrName>style.visibility</p:attrName>
                                        </p:attrNameLst>
                                      </p:cBhvr>
                                      <p:to>
                                        <p:strVal val="visible"/>
                                      </p:to>
                                    </p:set>
                                    <p:animEffect transition="in" filter="wipe(up)">
                                      <p:cBhvr>
                                        <p:cTn id="12" dur="75"/>
                                        <p:tgtEl>
                                          <p:spTgt spid="117350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73507">
                                            <p:txEl>
                                              <p:pRg st="2" end="2"/>
                                            </p:txEl>
                                          </p:spTgt>
                                        </p:tgtEl>
                                        <p:attrNameLst>
                                          <p:attrName>style.visibility</p:attrName>
                                        </p:attrNameLst>
                                      </p:cBhvr>
                                      <p:to>
                                        <p:strVal val="visible"/>
                                      </p:to>
                                    </p:set>
                                    <p:animEffect transition="in" filter="wipe(up)">
                                      <p:cBhvr>
                                        <p:cTn id="17" dur="75"/>
                                        <p:tgtEl>
                                          <p:spTgt spid="117350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73507">
                                            <p:txEl>
                                              <p:pRg st="3" end="3"/>
                                            </p:txEl>
                                          </p:spTgt>
                                        </p:tgtEl>
                                        <p:attrNameLst>
                                          <p:attrName>style.visibility</p:attrName>
                                        </p:attrNameLst>
                                      </p:cBhvr>
                                      <p:to>
                                        <p:strVal val="visible"/>
                                      </p:to>
                                    </p:set>
                                    <p:animEffect transition="in" filter="wipe(up)">
                                      <p:cBhvr>
                                        <p:cTn id="22" dur="75"/>
                                        <p:tgtEl>
                                          <p:spTgt spid="1173507">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1173507">
                                            <p:txEl>
                                              <p:pRg st="4" end="4"/>
                                            </p:txEl>
                                          </p:spTgt>
                                        </p:tgtEl>
                                        <p:attrNameLst>
                                          <p:attrName>style.visibility</p:attrName>
                                        </p:attrNameLst>
                                      </p:cBhvr>
                                      <p:to>
                                        <p:strVal val="visible"/>
                                      </p:to>
                                    </p:set>
                                    <p:animEffect transition="in" filter="wipe(up)">
                                      <p:cBhvr>
                                        <p:cTn id="27" dur="75"/>
                                        <p:tgtEl>
                                          <p:spTgt spid="1173507">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1173507">
                                            <p:txEl>
                                              <p:pRg st="5" end="5"/>
                                            </p:txEl>
                                          </p:spTgt>
                                        </p:tgtEl>
                                        <p:attrNameLst>
                                          <p:attrName>style.visibility</p:attrName>
                                        </p:attrNameLst>
                                      </p:cBhvr>
                                      <p:to>
                                        <p:strVal val="visible"/>
                                      </p:to>
                                    </p:set>
                                    <p:animEffect transition="in" filter="wipe(up)">
                                      <p:cBhvr>
                                        <p:cTn id="32" dur="75"/>
                                        <p:tgtEl>
                                          <p:spTgt spid="1173507">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1173507">
                                            <p:txEl>
                                              <p:pRg st="6" end="6"/>
                                            </p:txEl>
                                          </p:spTgt>
                                        </p:tgtEl>
                                        <p:attrNameLst>
                                          <p:attrName>style.visibility</p:attrName>
                                        </p:attrNameLst>
                                      </p:cBhvr>
                                      <p:to>
                                        <p:strVal val="visible"/>
                                      </p:to>
                                    </p:set>
                                    <p:animEffect transition="in" filter="wipe(up)">
                                      <p:cBhvr>
                                        <p:cTn id="37" dur="75"/>
                                        <p:tgtEl>
                                          <p:spTgt spid="1173507">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iterate type="lt">
                                    <p:tmPct val="100000"/>
                                  </p:iterate>
                                  <p:childTnLst>
                                    <p:set>
                                      <p:cBhvr>
                                        <p:cTn id="41" dur="1" fill="hold">
                                          <p:stCondLst>
                                            <p:cond delay="0"/>
                                          </p:stCondLst>
                                        </p:cTn>
                                        <p:tgtEl>
                                          <p:spTgt spid="1173507">
                                            <p:txEl>
                                              <p:pRg st="7" end="7"/>
                                            </p:txEl>
                                          </p:spTgt>
                                        </p:tgtEl>
                                        <p:attrNameLst>
                                          <p:attrName>style.visibility</p:attrName>
                                        </p:attrNameLst>
                                      </p:cBhvr>
                                      <p:to>
                                        <p:strVal val="visible"/>
                                      </p:to>
                                    </p:set>
                                    <p:animEffect transition="in" filter="wipe(up)">
                                      <p:cBhvr>
                                        <p:cTn id="42" dur="75"/>
                                        <p:tgtEl>
                                          <p:spTgt spid="1173507">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iterate type="lt">
                                    <p:tmPct val="100000"/>
                                  </p:iterate>
                                  <p:childTnLst>
                                    <p:set>
                                      <p:cBhvr>
                                        <p:cTn id="46" dur="1" fill="hold">
                                          <p:stCondLst>
                                            <p:cond delay="0"/>
                                          </p:stCondLst>
                                        </p:cTn>
                                        <p:tgtEl>
                                          <p:spTgt spid="1173507">
                                            <p:txEl>
                                              <p:pRg st="8" end="8"/>
                                            </p:txEl>
                                          </p:spTgt>
                                        </p:tgtEl>
                                        <p:attrNameLst>
                                          <p:attrName>style.visibility</p:attrName>
                                        </p:attrNameLst>
                                      </p:cBhvr>
                                      <p:to>
                                        <p:strVal val="visible"/>
                                      </p:to>
                                    </p:set>
                                    <p:animEffect transition="in" filter="wipe(up)">
                                      <p:cBhvr>
                                        <p:cTn id="47" dur="75"/>
                                        <p:tgtEl>
                                          <p:spTgt spid="1173507">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07"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4FAB3984-E514-4B8E-90AB-07FD4BC09D09}"/>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555E49C8-D00C-434D-86B9-DC23FF5926E9}" type="datetime1">
              <a:rPr lang="zh-CN" altLang="en-US" noProof="0" smtClean="0">
                <a:latin typeface="+mn-lt"/>
              </a:rPr>
              <a:pPr>
                <a:buFontTx/>
                <a:buNone/>
                <a:defRPr/>
              </a:pPr>
              <a:t>2025/6/26</a:t>
            </a:fld>
            <a:endParaRPr lang="en-US" altLang="zh-CN" noProof="0">
              <a:latin typeface="+mn-lt"/>
            </a:endParaRPr>
          </a:p>
        </p:txBody>
      </p:sp>
      <p:sp>
        <p:nvSpPr>
          <p:cNvPr id="82947" name="灯片编号占位符 5">
            <a:extLst>
              <a:ext uri="{FF2B5EF4-FFF2-40B4-BE49-F238E27FC236}">
                <a16:creationId xmlns:a16="http://schemas.microsoft.com/office/drawing/2014/main" id="{85A276BE-BCBF-48FD-889D-D04039C55F65}"/>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777EEAC9-F6D8-4209-9916-F6C11F0805D5}" type="slidenum">
              <a:rPr lang="en-US" altLang="zh-CN" sz="1400">
                <a:latin typeface="Arial" panose="020B0604020202020204" pitchFamily="34" charset="0"/>
              </a:rPr>
              <a:pPr/>
              <a:t>41</a:t>
            </a:fld>
            <a:endParaRPr lang="en-US" altLang="zh-CN" sz="1400">
              <a:latin typeface="Arial" panose="020B0604020202020204" pitchFamily="34" charset="0"/>
            </a:endParaRPr>
          </a:p>
        </p:txBody>
      </p:sp>
      <p:sp>
        <p:nvSpPr>
          <p:cNvPr id="1174530" name="Rectangle 2">
            <a:extLst>
              <a:ext uri="{FF2B5EF4-FFF2-40B4-BE49-F238E27FC236}">
                <a16:creationId xmlns:a16="http://schemas.microsoft.com/office/drawing/2014/main" id="{EA48B912-4900-473B-B3EE-C1BE495E1B01}"/>
              </a:ext>
            </a:extLst>
          </p:cNvPr>
          <p:cNvSpPr>
            <a:spLocks noGrp="1" noChangeArrowheads="1"/>
          </p:cNvSpPr>
          <p:nvPr>
            <p:ph type="title" idx="4294967295"/>
          </p:nvPr>
        </p:nvSpPr>
        <p:spPr>
          <a:xfrm>
            <a:off x="2640014" y="352425"/>
            <a:ext cx="5659437" cy="628650"/>
          </a:xfrm>
        </p:spPr>
        <p:txBody>
          <a:bodyPr vert="horz" lIns="92075" tIns="46038" rIns="92075" bIns="46038" rtlCol="0" anchor="ctr">
            <a:normAutofit fontScale="90000"/>
          </a:bodyPr>
          <a:lstStyle/>
          <a:p>
            <a:pPr eaLnBrk="1" hangingPunct="1">
              <a:defRPr/>
            </a:pPr>
            <a:r>
              <a:rPr lang="zh-CN" altLang="en-US" dirty="0">
                <a:latin typeface="Times New Roman" pitchFamily="18" charset="0"/>
                <a:ea typeface="楷体_GB2312" pitchFamily="49" charset="-122"/>
              </a:rPr>
              <a:t>Ｆ的子程序</a:t>
            </a:r>
            <a:r>
              <a:rPr lang="en-US" altLang="zh-CN" dirty="0">
                <a:latin typeface="Times New Roman" pitchFamily="18" charset="0"/>
                <a:ea typeface="楷体_GB2312" pitchFamily="49" charset="-122"/>
              </a:rPr>
              <a:t>(</a:t>
            </a:r>
            <a:r>
              <a:rPr lang="en-US" altLang="zh-CN" dirty="0">
                <a:effectLst>
                  <a:outerShdw blurRad="38100" dist="38100" dir="2700000" algn="tl">
                    <a:srgbClr val="C0C0C0"/>
                  </a:outerShdw>
                </a:effectLst>
                <a:latin typeface="Times New Roman" pitchFamily="18" charset="0"/>
                <a:ea typeface="楷体_GB2312" pitchFamily="49" charset="-122"/>
              </a:rPr>
              <a:t>F→(E)|id</a:t>
            </a:r>
            <a:r>
              <a:rPr lang="en-US" altLang="zh-CN" dirty="0">
                <a:latin typeface="Times New Roman" pitchFamily="18" charset="0"/>
                <a:ea typeface="楷体_GB2312" pitchFamily="49" charset="-122"/>
              </a:rPr>
              <a:t>)</a:t>
            </a:r>
          </a:p>
        </p:txBody>
      </p:sp>
      <p:sp>
        <p:nvSpPr>
          <p:cNvPr id="1174531" name="Rectangle 3">
            <a:extLst>
              <a:ext uri="{FF2B5EF4-FFF2-40B4-BE49-F238E27FC236}">
                <a16:creationId xmlns:a16="http://schemas.microsoft.com/office/drawing/2014/main" id="{A2896BCF-2368-44E8-BBCA-B30EED20C11D}"/>
              </a:ext>
            </a:extLst>
          </p:cNvPr>
          <p:cNvSpPr>
            <a:spLocks noGrp="1" noChangeArrowheads="1"/>
          </p:cNvSpPr>
          <p:nvPr>
            <p:ph type="body" idx="4294967295"/>
          </p:nvPr>
        </p:nvSpPr>
        <p:spPr>
          <a:xfrm>
            <a:off x="2424113" y="1508125"/>
            <a:ext cx="6851650" cy="4800600"/>
          </a:xfrm>
        </p:spPr>
        <p:txBody>
          <a:bodyPr vert="horz" lIns="92075" tIns="46038" rIns="92075" bIns="46038" rtlCol="0">
            <a:normAutofit fontScale="92500" lnSpcReduction="10000"/>
          </a:bodyPr>
          <a:lstStyle/>
          <a:p>
            <a:pPr eaLnBrk="1" hangingPunct="1">
              <a:lnSpc>
                <a:spcPct val="90000"/>
              </a:lnSpc>
              <a:buFont typeface="Wingdings" panose="05000000000000000000" pitchFamily="2" charset="2"/>
              <a:buNone/>
            </a:pPr>
            <a:r>
              <a:rPr lang="en-US" altLang="zh-CN" sz="2400">
                <a:latin typeface="Times New Roman" panose="02020603050405020304" pitchFamily="18" charset="0"/>
              </a:rPr>
              <a:t>procedure F; </a:t>
            </a:r>
          </a:p>
          <a:p>
            <a:pPr eaLnBrk="1" hangingPunct="1">
              <a:lnSpc>
                <a:spcPct val="90000"/>
              </a:lnSpc>
              <a:buFont typeface="Wingdings" panose="05000000000000000000" pitchFamily="2" charset="2"/>
              <a:buNone/>
            </a:pPr>
            <a:r>
              <a:rPr lang="en-US" altLang="zh-CN" sz="2400">
                <a:latin typeface="Times New Roman" panose="02020603050405020304" pitchFamily="18" charset="0"/>
              </a:rPr>
              <a:t>  begin</a:t>
            </a:r>
          </a:p>
          <a:p>
            <a:pPr eaLnBrk="1" hangingPunct="1">
              <a:lnSpc>
                <a:spcPct val="90000"/>
              </a:lnSpc>
              <a:buFont typeface="Wingdings" panose="05000000000000000000" pitchFamily="2" charset="2"/>
              <a:buNone/>
            </a:pPr>
            <a:r>
              <a:rPr lang="en-US" altLang="zh-CN" sz="2400">
                <a:latin typeface="Times New Roman" panose="02020603050405020304" pitchFamily="18" charset="0"/>
              </a:rPr>
              <a:t>      if lookhead='(' then </a:t>
            </a:r>
          </a:p>
          <a:p>
            <a:pPr eaLnBrk="1" hangingPunct="1">
              <a:lnSpc>
                <a:spcPct val="90000"/>
              </a:lnSpc>
              <a:buFont typeface="Wingdings" panose="05000000000000000000" pitchFamily="2" charset="2"/>
              <a:buNone/>
            </a:pPr>
            <a:r>
              <a:rPr lang="en-US" altLang="zh-CN" sz="2400">
                <a:latin typeface="Times New Roman" panose="02020603050405020304" pitchFamily="18" charset="0"/>
              </a:rPr>
              <a:t>          begin    		</a:t>
            </a:r>
            <a:r>
              <a:rPr lang="zh-CN" altLang="en-US" sz="2400">
                <a:latin typeface="Times New Roman" panose="02020603050405020304" pitchFamily="18" charset="0"/>
              </a:rPr>
              <a:t>当前符号等于（</a:t>
            </a:r>
          </a:p>
          <a:p>
            <a:pPr eaLnBrk="1" hangingPunct="1">
              <a:lnSpc>
                <a:spcPct val="90000"/>
              </a:lnSpc>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match('(');      </a:t>
            </a:r>
            <a:r>
              <a:rPr lang="zh-CN" altLang="en-US" sz="2400">
                <a:latin typeface="Times New Roman" panose="02020603050405020304" pitchFamily="18" charset="0"/>
              </a:rPr>
              <a:t>处理终结符（</a:t>
            </a:r>
          </a:p>
          <a:p>
            <a:pPr eaLnBrk="1" hangingPunct="1">
              <a:lnSpc>
                <a:spcPct val="90000"/>
              </a:lnSpc>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E;			</a:t>
            </a:r>
            <a:r>
              <a:rPr lang="zh-CN" altLang="en-US" sz="2400">
                <a:latin typeface="Times New Roman" panose="02020603050405020304" pitchFamily="18" charset="0"/>
              </a:rPr>
              <a:t>Ｅ的递归调用</a:t>
            </a:r>
          </a:p>
          <a:p>
            <a:pPr eaLnBrk="1" hangingPunct="1">
              <a:lnSpc>
                <a:spcPct val="90000"/>
              </a:lnSpc>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match(')');      </a:t>
            </a:r>
            <a:r>
              <a:rPr lang="zh-CN" altLang="en-US" sz="2400">
                <a:latin typeface="Times New Roman" panose="02020603050405020304" pitchFamily="18" charset="0"/>
              </a:rPr>
              <a:t>处理终结符）</a:t>
            </a:r>
          </a:p>
          <a:p>
            <a:pPr eaLnBrk="1" hangingPunct="1">
              <a:lnSpc>
                <a:spcPct val="90000"/>
              </a:lnSpc>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end</a:t>
            </a:r>
          </a:p>
          <a:p>
            <a:pPr eaLnBrk="1" hangingPunct="1">
              <a:lnSpc>
                <a:spcPct val="90000"/>
              </a:lnSpc>
              <a:buFont typeface="Wingdings" panose="05000000000000000000" pitchFamily="2" charset="2"/>
              <a:buNone/>
            </a:pPr>
            <a:r>
              <a:rPr lang="en-US" altLang="zh-CN" sz="2400">
                <a:latin typeface="Times New Roman" panose="02020603050405020304" pitchFamily="18" charset="0"/>
              </a:rPr>
              <a:t>      else if lookhead=id then </a:t>
            </a:r>
          </a:p>
          <a:p>
            <a:pPr eaLnBrk="1" hangingPunct="1">
              <a:lnSpc>
                <a:spcPct val="90000"/>
              </a:lnSpc>
              <a:buFont typeface="Wingdings" panose="05000000000000000000" pitchFamily="2" charset="2"/>
              <a:buNone/>
            </a:pPr>
            <a:r>
              <a:rPr lang="en-US" altLang="zh-CN" sz="2400">
                <a:latin typeface="Times New Roman" panose="02020603050405020304" pitchFamily="18" charset="0"/>
              </a:rPr>
              <a:t>			match(id)            </a:t>
            </a:r>
            <a:r>
              <a:rPr lang="zh-CN" altLang="en-US" sz="2400">
                <a:latin typeface="Times New Roman" panose="02020603050405020304" pitchFamily="18" charset="0"/>
              </a:rPr>
              <a:t>处理终结符</a:t>
            </a:r>
            <a:r>
              <a:rPr lang="en-US" altLang="zh-CN" sz="2400">
                <a:latin typeface="Times New Roman" panose="02020603050405020304" pitchFamily="18" charset="0"/>
              </a:rPr>
              <a:t>id</a:t>
            </a:r>
          </a:p>
          <a:p>
            <a:pPr eaLnBrk="1" hangingPunct="1">
              <a:lnSpc>
                <a:spcPct val="90000"/>
              </a:lnSpc>
              <a:buFont typeface="Wingdings" panose="05000000000000000000" pitchFamily="2" charset="2"/>
              <a:buNone/>
            </a:pPr>
            <a:r>
              <a:rPr lang="en-US" altLang="zh-CN" sz="2400">
                <a:latin typeface="Times New Roman" panose="02020603050405020304" pitchFamily="18" charset="0"/>
              </a:rPr>
              <a:t>      else error               </a:t>
            </a:r>
            <a:r>
              <a:rPr lang="zh-CN" altLang="en-US" sz="2400">
                <a:latin typeface="Times New Roman" panose="02020603050405020304" pitchFamily="18" charset="0"/>
              </a:rPr>
              <a:t>出错处理</a:t>
            </a:r>
          </a:p>
          <a:p>
            <a:pPr eaLnBrk="1" hangingPunct="1">
              <a:lnSpc>
                <a:spcPct val="90000"/>
              </a:lnSpc>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74531">
                                            <p:txEl>
                                              <p:pRg st="0" end="0"/>
                                            </p:txEl>
                                          </p:spTgt>
                                        </p:tgtEl>
                                        <p:attrNameLst>
                                          <p:attrName>style.visibility</p:attrName>
                                        </p:attrNameLst>
                                      </p:cBhvr>
                                      <p:to>
                                        <p:strVal val="visible"/>
                                      </p:to>
                                    </p:set>
                                    <p:animEffect transition="in" filter="wipe(up)">
                                      <p:cBhvr>
                                        <p:cTn id="7" dur="75"/>
                                        <p:tgtEl>
                                          <p:spTgt spid="117453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74531">
                                            <p:txEl>
                                              <p:pRg st="1" end="1"/>
                                            </p:txEl>
                                          </p:spTgt>
                                        </p:tgtEl>
                                        <p:attrNameLst>
                                          <p:attrName>style.visibility</p:attrName>
                                        </p:attrNameLst>
                                      </p:cBhvr>
                                      <p:to>
                                        <p:strVal val="visible"/>
                                      </p:to>
                                    </p:set>
                                    <p:animEffect transition="in" filter="wipe(up)">
                                      <p:cBhvr>
                                        <p:cTn id="12" dur="75"/>
                                        <p:tgtEl>
                                          <p:spTgt spid="1174531">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74531">
                                            <p:txEl>
                                              <p:pRg st="2" end="2"/>
                                            </p:txEl>
                                          </p:spTgt>
                                        </p:tgtEl>
                                        <p:attrNameLst>
                                          <p:attrName>style.visibility</p:attrName>
                                        </p:attrNameLst>
                                      </p:cBhvr>
                                      <p:to>
                                        <p:strVal val="visible"/>
                                      </p:to>
                                    </p:set>
                                    <p:animEffect transition="in" filter="wipe(up)">
                                      <p:cBhvr>
                                        <p:cTn id="17" dur="75"/>
                                        <p:tgtEl>
                                          <p:spTgt spid="1174531">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74531">
                                            <p:txEl>
                                              <p:pRg st="3" end="3"/>
                                            </p:txEl>
                                          </p:spTgt>
                                        </p:tgtEl>
                                        <p:attrNameLst>
                                          <p:attrName>style.visibility</p:attrName>
                                        </p:attrNameLst>
                                      </p:cBhvr>
                                      <p:to>
                                        <p:strVal val="visible"/>
                                      </p:to>
                                    </p:set>
                                    <p:animEffect transition="in" filter="wipe(up)">
                                      <p:cBhvr>
                                        <p:cTn id="22" dur="75"/>
                                        <p:tgtEl>
                                          <p:spTgt spid="1174531">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1174531">
                                            <p:txEl>
                                              <p:pRg st="4" end="4"/>
                                            </p:txEl>
                                          </p:spTgt>
                                        </p:tgtEl>
                                        <p:attrNameLst>
                                          <p:attrName>style.visibility</p:attrName>
                                        </p:attrNameLst>
                                      </p:cBhvr>
                                      <p:to>
                                        <p:strVal val="visible"/>
                                      </p:to>
                                    </p:set>
                                    <p:animEffect transition="in" filter="wipe(up)">
                                      <p:cBhvr>
                                        <p:cTn id="27" dur="75"/>
                                        <p:tgtEl>
                                          <p:spTgt spid="1174531">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1174531">
                                            <p:txEl>
                                              <p:pRg st="5" end="5"/>
                                            </p:txEl>
                                          </p:spTgt>
                                        </p:tgtEl>
                                        <p:attrNameLst>
                                          <p:attrName>style.visibility</p:attrName>
                                        </p:attrNameLst>
                                      </p:cBhvr>
                                      <p:to>
                                        <p:strVal val="visible"/>
                                      </p:to>
                                    </p:set>
                                    <p:animEffect transition="in" filter="wipe(up)">
                                      <p:cBhvr>
                                        <p:cTn id="32" dur="75"/>
                                        <p:tgtEl>
                                          <p:spTgt spid="1174531">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1174531">
                                            <p:txEl>
                                              <p:pRg st="6" end="6"/>
                                            </p:txEl>
                                          </p:spTgt>
                                        </p:tgtEl>
                                        <p:attrNameLst>
                                          <p:attrName>style.visibility</p:attrName>
                                        </p:attrNameLst>
                                      </p:cBhvr>
                                      <p:to>
                                        <p:strVal val="visible"/>
                                      </p:to>
                                    </p:set>
                                    <p:animEffect transition="in" filter="wipe(up)">
                                      <p:cBhvr>
                                        <p:cTn id="37" dur="75"/>
                                        <p:tgtEl>
                                          <p:spTgt spid="1174531">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iterate type="lt">
                                    <p:tmPct val="100000"/>
                                  </p:iterate>
                                  <p:childTnLst>
                                    <p:set>
                                      <p:cBhvr>
                                        <p:cTn id="41" dur="1" fill="hold">
                                          <p:stCondLst>
                                            <p:cond delay="0"/>
                                          </p:stCondLst>
                                        </p:cTn>
                                        <p:tgtEl>
                                          <p:spTgt spid="1174531">
                                            <p:txEl>
                                              <p:pRg st="7" end="7"/>
                                            </p:txEl>
                                          </p:spTgt>
                                        </p:tgtEl>
                                        <p:attrNameLst>
                                          <p:attrName>style.visibility</p:attrName>
                                        </p:attrNameLst>
                                      </p:cBhvr>
                                      <p:to>
                                        <p:strVal val="visible"/>
                                      </p:to>
                                    </p:set>
                                    <p:animEffect transition="in" filter="wipe(up)">
                                      <p:cBhvr>
                                        <p:cTn id="42" dur="75"/>
                                        <p:tgtEl>
                                          <p:spTgt spid="1174531">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iterate type="lt">
                                    <p:tmPct val="100000"/>
                                  </p:iterate>
                                  <p:childTnLst>
                                    <p:set>
                                      <p:cBhvr>
                                        <p:cTn id="46" dur="1" fill="hold">
                                          <p:stCondLst>
                                            <p:cond delay="0"/>
                                          </p:stCondLst>
                                        </p:cTn>
                                        <p:tgtEl>
                                          <p:spTgt spid="1174531">
                                            <p:txEl>
                                              <p:pRg st="8" end="8"/>
                                            </p:txEl>
                                          </p:spTgt>
                                        </p:tgtEl>
                                        <p:attrNameLst>
                                          <p:attrName>style.visibility</p:attrName>
                                        </p:attrNameLst>
                                      </p:cBhvr>
                                      <p:to>
                                        <p:strVal val="visible"/>
                                      </p:to>
                                    </p:set>
                                    <p:animEffect transition="in" filter="wipe(up)">
                                      <p:cBhvr>
                                        <p:cTn id="47" dur="75"/>
                                        <p:tgtEl>
                                          <p:spTgt spid="1174531">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iterate type="lt">
                                    <p:tmPct val="100000"/>
                                  </p:iterate>
                                  <p:childTnLst>
                                    <p:set>
                                      <p:cBhvr>
                                        <p:cTn id="51" dur="1" fill="hold">
                                          <p:stCondLst>
                                            <p:cond delay="0"/>
                                          </p:stCondLst>
                                        </p:cTn>
                                        <p:tgtEl>
                                          <p:spTgt spid="1174531">
                                            <p:txEl>
                                              <p:pRg st="9" end="9"/>
                                            </p:txEl>
                                          </p:spTgt>
                                        </p:tgtEl>
                                        <p:attrNameLst>
                                          <p:attrName>style.visibility</p:attrName>
                                        </p:attrNameLst>
                                      </p:cBhvr>
                                      <p:to>
                                        <p:strVal val="visible"/>
                                      </p:to>
                                    </p:set>
                                    <p:animEffect transition="in" filter="wipe(up)">
                                      <p:cBhvr>
                                        <p:cTn id="52" dur="75"/>
                                        <p:tgtEl>
                                          <p:spTgt spid="1174531">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TYPE.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iterate type="lt">
                                    <p:tmPct val="100000"/>
                                  </p:iterate>
                                  <p:childTnLst>
                                    <p:set>
                                      <p:cBhvr>
                                        <p:cTn id="56" dur="1" fill="hold">
                                          <p:stCondLst>
                                            <p:cond delay="0"/>
                                          </p:stCondLst>
                                        </p:cTn>
                                        <p:tgtEl>
                                          <p:spTgt spid="1174531">
                                            <p:txEl>
                                              <p:pRg st="10" end="10"/>
                                            </p:txEl>
                                          </p:spTgt>
                                        </p:tgtEl>
                                        <p:attrNameLst>
                                          <p:attrName>style.visibility</p:attrName>
                                        </p:attrNameLst>
                                      </p:cBhvr>
                                      <p:to>
                                        <p:strVal val="visible"/>
                                      </p:to>
                                    </p:set>
                                    <p:animEffect transition="in" filter="wipe(up)">
                                      <p:cBhvr>
                                        <p:cTn id="57" dur="75"/>
                                        <p:tgtEl>
                                          <p:spTgt spid="1174531">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TYPE.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iterate type="lt">
                                    <p:tmPct val="100000"/>
                                  </p:iterate>
                                  <p:childTnLst>
                                    <p:set>
                                      <p:cBhvr>
                                        <p:cTn id="61" dur="1" fill="hold">
                                          <p:stCondLst>
                                            <p:cond delay="0"/>
                                          </p:stCondLst>
                                        </p:cTn>
                                        <p:tgtEl>
                                          <p:spTgt spid="1174531">
                                            <p:txEl>
                                              <p:pRg st="11" end="11"/>
                                            </p:txEl>
                                          </p:spTgt>
                                        </p:tgtEl>
                                        <p:attrNameLst>
                                          <p:attrName>style.visibility</p:attrName>
                                        </p:attrNameLst>
                                      </p:cBhvr>
                                      <p:to>
                                        <p:strVal val="visible"/>
                                      </p:to>
                                    </p:set>
                                    <p:animEffect transition="in" filter="wipe(up)">
                                      <p:cBhvr>
                                        <p:cTn id="62" dur="75"/>
                                        <p:tgtEl>
                                          <p:spTgt spid="1174531">
                                            <p:txEl>
                                              <p:pRg st="11" end="1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4531"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a:extLst>
              <a:ext uri="{FF2B5EF4-FFF2-40B4-BE49-F238E27FC236}">
                <a16:creationId xmlns:a16="http://schemas.microsoft.com/office/drawing/2014/main" id="{9D49E666-20C4-4C16-8FE3-97C598D76F77}"/>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325D6BA1-A027-40EC-B0A4-DBADB695BF94}" type="datetime1">
              <a:rPr lang="zh-CN" altLang="en-US" noProof="0" smtClean="0">
                <a:latin typeface="+mn-lt"/>
              </a:rPr>
              <a:pPr>
                <a:buFontTx/>
                <a:buNone/>
                <a:defRPr/>
              </a:pPr>
              <a:t>2025/6/26</a:t>
            </a:fld>
            <a:endParaRPr lang="en-US" altLang="zh-CN" noProof="0">
              <a:latin typeface="+mn-lt"/>
            </a:endParaRPr>
          </a:p>
        </p:txBody>
      </p:sp>
      <p:sp>
        <p:nvSpPr>
          <p:cNvPr id="83971" name="灯片编号占位符 5">
            <a:extLst>
              <a:ext uri="{FF2B5EF4-FFF2-40B4-BE49-F238E27FC236}">
                <a16:creationId xmlns:a16="http://schemas.microsoft.com/office/drawing/2014/main" id="{DE46D7C1-ADE7-4E2C-B507-9B8BB079FECA}"/>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B53B20D9-4459-42C6-A789-2FC4269DCE6D}" type="slidenum">
              <a:rPr lang="en-US" altLang="zh-CN" sz="1400">
                <a:latin typeface="Arial" panose="020B0604020202020204" pitchFamily="34" charset="0"/>
              </a:rPr>
              <a:pPr/>
              <a:t>42</a:t>
            </a:fld>
            <a:endParaRPr lang="en-US" altLang="zh-CN" sz="1400">
              <a:latin typeface="Arial" panose="020B0604020202020204" pitchFamily="34" charset="0"/>
            </a:endParaRPr>
          </a:p>
        </p:txBody>
      </p:sp>
      <p:sp>
        <p:nvSpPr>
          <p:cNvPr id="83972" name="Rectangle 2">
            <a:extLst>
              <a:ext uri="{FF2B5EF4-FFF2-40B4-BE49-F238E27FC236}">
                <a16:creationId xmlns:a16="http://schemas.microsoft.com/office/drawing/2014/main" id="{6C3E2DD9-3CDB-41CA-9965-740C9269E12E}"/>
              </a:ext>
            </a:extLst>
          </p:cNvPr>
          <p:cNvSpPr>
            <a:spLocks noGrp="1" noChangeArrowheads="1"/>
          </p:cNvSpPr>
          <p:nvPr>
            <p:ph type="title" idx="4294967295"/>
          </p:nvPr>
        </p:nvSpPr>
        <p:spPr>
          <a:xfrm>
            <a:off x="2659064" y="371475"/>
            <a:ext cx="3076575" cy="609600"/>
          </a:xfrm>
        </p:spPr>
        <p:txBody>
          <a:bodyPr anchor="ctr">
            <a:normAutofit fontScale="90000"/>
          </a:bodyPr>
          <a:lstStyle/>
          <a:p>
            <a:pPr eaLnBrk="1" hangingPunct="1">
              <a:lnSpc>
                <a:spcPct val="90000"/>
              </a:lnSpc>
            </a:pPr>
            <a:r>
              <a:rPr lang="zh-CN" altLang="en-US">
                <a:latin typeface="楷体_GB2312" pitchFamily="49" charset="-122"/>
                <a:ea typeface="楷体_GB2312" pitchFamily="49" charset="-122"/>
              </a:rPr>
              <a:t>主程序</a:t>
            </a:r>
          </a:p>
        </p:txBody>
      </p:sp>
      <p:sp>
        <p:nvSpPr>
          <p:cNvPr id="1175555" name="Rectangle 3">
            <a:extLst>
              <a:ext uri="{FF2B5EF4-FFF2-40B4-BE49-F238E27FC236}">
                <a16:creationId xmlns:a16="http://schemas.microsoft.com/office/drawing/2014/main" id="{0F0FCCCE-99DC-4FA1-A8D5-D8E889DE75CC}"/>
              </a:ext>
            </a:extLst>
          </p:cNvPr>
          <p:cNvSpPr>
            <a:spLocks noGrp="1" noChangeArrowheads="1"/>
          </p:cNvSpPr>
          <p:nvPr>
            <p:ph type="body" idx="4294967295"/>
          </p:nvPr>
        </p:nvSpPr>
        <p:spPr>
          <a:xfrm>
            <a:off x="2543175" y="1385888"/>
            <a:ext cx="8305800" cy="1752600"/>
          </a:xfrm>
        </p:spPr>
        <p:txBody>
          <a:bodyPr>
            <a:normAutofit lnSpcReduction="10000"/>
          </a:bodyPr>
          <a:lstStyle/>
          <a:p>
            <a:pPr eaLnBrk="1" hangingPunct="1">
              <a:lnSpc>
                <a:spcPct val="90000"/>
              </a:lnSpc>
              <a:spcBef>
                <a:spcPct val="10000"/>
              </a:spcBef>
              <a:buFont typeface="Wingdings" panose="05000000000000000000" pitchFamily="2" charset="2"/>
              <a:buNone/>
            </a:pPr>
            <a:r>
              <a:rPr lang="en-US" altLang="zh-CN">
                <a:latin typeface="Times New Roman" panose="02020603050405020304" pitchFamily="18" charset="0"/>
              </a:rPr>
              <a:t>begin 	 	</a:t>
            </a:r>
          </a:p>
          <a:p>
            <a:pPr eaLnBrk="1" hangingPunct="1">
              <a:lnSpc>
                <a:spcPct val="90000"/>
              </a:lnSpc>
              <a:spcBef>
                <a:spcPct val="10000"/>
              </a:spcBef>
              <a:buFont typeface="Wingdings" panose="05000000000000000000" pitchFamily="2" charset="2"/>
              <a:buNone/>
            </a:pPr>
            <a:r>
              <a:rPr lang="en-US" altLang="zh-CN">
                <a:latin typeface="Times New Roman" panose="02020603050405020304" pitchFamily="18" charset="0"/>
              </a:rPr>
              <a:t>    lookhead:=nexttoken;	</a:t>
            </a:r>
            <a:r>
              <a:rPr lang="zh-CN" altLang="en-US">
                <a:latin typeface="Times New Roman" panose="02020603050405020304" pitchFamily="18" charset="0"/>
              </a:rPr>
              <a:t>调词法分析程序</a:t>
            </a:r>
          </a:p>
          <a:p>
            <a:pPr eaLnBrk="1" hangingPunct="1">
              <a:lnSpc>
                <a:spcPct val="90000"/>
              </a:lnSpc>
              <a:spcBef>
                <a:spcPct val="10000"/>
              </a:spcBef>
              <a:buFont typeface="Wingdings" panose="05000000000000000000" pitchFamily="2" charset="2"/>
              <a:buNone/>
            </a:pPr>
            <a:r>
              <a:rPr lang="zh-CN" altLang="en-US">
                <a:latin typeface="Times New Roman" panose="02020603050405020304" pitchFamily="18" charset="0"/>
              </a:rPr>
              <a:t>    </a:t>
            </a:r>
            <a:r>
              <a:rPr lang="en-US" altLang="zh-CN">
                <a:latin typeface="Times New Roman" panose="02020603050405020304" pitchFamily="18" charset="0"/>
              </a:rPr>
              <a:t>E 			   	</a:t>
            </a:r>
            <a:r>
              <a:rPr lang="zh-CN" altLang="en-US">
                <a:latin typeface="Times New Roman" panose="02020603050405020304" pitchFamily="18" charset="0"/>
              </a:rPr>
              <a:t>Ｅ的过程调用</a:t>
            </a:r>
          </a:p>
          <a:p>
            <a:pPr eaLnBrk="1" hangingPunct="1">
              <a:lnSpc>
                <a:spcPct val="90000"/>
              </a:lnSpc>
              <a:spcBef>
                <a:spcPct val="10000"/>
              </a:spcBef>
              <a:buFont typeface="Wingdings" panose="05000000000000000000" pitchFamily="2" charset="2"/>
              <a:buNone/>
            </a:pPr>
            <a:r>
              <a:rPr lang="en-US" altLang="zh-CN">
                <a:latin typeface="Times New Roman" panose="02020603050405020304" pitchFamily="18" charset="0"/>
              </a:rPr>
              <a:t>end 					</a:t>
            </a:r>
          </a:p>
        </p:txBody>
      </p:sp>
      <p:sp>
        <p:nvSpPr>
          <p:cNvPr id="1175556" name="Rectangle 4">
            <a:extLst>
              <a:ext uri="{FF2B5EF4-FFF2-40B4-BE49-F238E27FC236}">
                <a16:creationId xmlns:a16="http://schemas.microsoft.com/office/drawing/2014/main" id="{5C239366-C71B-44A7-A8E6-945224EDDB9C}"/>
              </a:ext>
            </a:extLst>
          </p:cNvPr>
          <p:cNvSpPr>
            <a:spLocks noChangeArrowheads="1"/>
          </p:cNvSpPr>
          <p:nvPr/>
        </p:nvSpPr>
        <p:spPr bwMode="auto">
          <a:xfrm>
            <a:off x="2314575" y="3429000"/>
            <a:ext cx="8153400" cy="2825750"/>
          </a:xfrm>
          <a:prstGeom prst="rect">
            <a:avLst/>
          </a:prstGeom>
          <a:noFill/>
          <a:ln w="9525">
            <a:noFill/>
            <a:miter lim="800000"/>
          </a:ln>
          <a:effectLst/>
        </p:spPr>
        <p:txBody>
          <a:bodyPr lIns="92075" tIns="46038" rIns="92075" bIns="46038">
            <a:spAutoFit/>
          </a:bodyPr>
          <a:lstStyle/>
          <a:p>
            <a:pPr>
              <a:lnSpc>
                <a:spcPct val="90000"/>
              </a:lnSpc>
              <a:spcBef>
                <a:spcPct val="20000"/>
              </a:spcBef>
              <a:buClr>
                <a:schemeClr val="tx2"/>
              </a:buClr>
              <a:buSzPct val="75000"/>
              <a:buFont typeface="Monotype Sorts" charset="2"/>
              <a:buNone/>
              <a:defRPr/>
            </a:pPr>
            <a:r>
              <a:rPr lang="en-US" altLang="zh-CN" sz="2800" b="1">
                <a:solidFill>
                  <a:srgbClr val="FF0000"/>
                </a:solidFill>
                <a:effectLst>
                  <a:outerShdw blurRad="38100" dist="38100" dir="2700000" algn="tl">
                    <a:srgbClr val="C0C0C0"/>
                  </a:outerShdw>
                </a:effectLst>
              </a:rPr>
              <a:t>procedure match(t:token); </a:t>
            </a:r>
          </a:p>
          <a:p>
            <a:pPr>
              <a:lnSpc>
                <a:spcPct val="90000"/>
              </a:lnSpc>
              <a:spcBef>
                <a:spcPct val="20000"/>
              </a:spcBef>
              <a:buClr>
                <a:schemeClr val="tx2"/>
              </a:buClr>
              <a:buSzPct val="75000"/>
              <a:buFont typeface="Monotype Sorts" charset="2"/>
              <a:buNone/>
              <a:defRPr/>
            </a:pPr>
            <a:r>
              <a:rPr lang="en-US" altLang="zh-CN" sz="2800" b="1">
                <a:solidFill>
                  <a:srgbClr val="FF0000"/>
                </a:solidFill>
                <a:effectLst>
                  <a:outerShdw blurRad="38100" dist="38100" dir="2700000" algn="tl">
                    <a:srgbClr val="C0C0C0"/>
                  </a:outerShdw>
                </a:effectLst>
              </a:rPr>
              <a:t>  begin</a:t>
            </a:r>
          </a:p>
          <a:p>
            <a:pPr>
              <a:lnSpc>
                <a:spcPct val="90000"/>
              </a:lnSpc>
              <a:spcBef>
                <a:spcPct val="20000"/>
              </a:spcBef>
              <a:buClr>
                <a:schemeClr val="tx2"/>
              </a:buClr>
              <a:buSzPct val="75000"/>
              <a:buFont typeface="Monotype Sorts" charset="2"/>
              <a:buNone/>
              <a:defRPr/>
            </a:pPr>
            <a:r>
              <a:rPr lang="en-US" altLang="zh-CN" sz="2800" b="1">
                <a:solidFill>
                  <a:srgbClr val="FF0000"/>
                </a:solidFill>
                <a:effectLst>
                  <a:outerShdw blurRad="38100" dist="38100" dir="2700000" algn="tl">
                    <a:srgbClr val="C0C0C0"/>
                  </a:outerShdw>
                </a:effectLst>
              </a:rPr>
              <a:t>      if lookhead=t  then  </a:t>
            </a:r>
          </a:p>
          <a:p>
            <a:pPr>
              <a:lnSpc>
                <a:spcPct val="90000"/>
              </a:lnSpc>
              <a:spcBef>
                <a:spcPct val="20000"/>
              </a:spcBef>
              <a:buClr>
                <a:schemeClr val="tx2"/>
              </a:buClr>
              <a:buSzPct val="75000"/>
              <a:buFont typeface="Monotype Sorts" charset="2"/>
              <a:buNone/>
              <a:defRPr/>
            </a:pPr>
            <a:r>
              <a:rPr lang="en-US" altLang="zh-CN" sz="2800" b="1">
                <a:solidFill>
                  <a:srgbClr val="FF0000"/>
                </a:solidFill>
                <a:effectLst>
                  <a:outerShdw blurRad="38100" dist="38100" dir="2700000" algn="tl">
                    <a:srgbClr val="C0C0C0"/>
                  </a:outerShdw>
                </a:effectLst>
              </a:rPr>
              <a:t>            lookhead:=nexttoken         </a:t>
            </a:r>
          </a:p>
          <a:p>
            <a:pPr>
              <a:lnSpc>
                <a:spcPct val="90000"/>
              </a:lnSpc>
              <a:spcBef>
                <a:spcPct val="20000"/>
              </a:spcBef>
              <a:buClr>
                <a:schemeClr val="tx2"/>
              </a:buClr>
              <a:buSzPct val="75000"/>
              <a:buFont typeface="Monotype Sorts" charset="2"/>
              <a:buNone/>
              <a:defRPr/>
            </a:pPr>
            <a:r>
              <a:rPr lang="en-US" altLang="zh-CN" sz="2800" b="1">
                <a:solidFill>
                  <a:srgbClr val="FF0000"/>
                </a:solidFill>
                <a:effectLst>
                  <a:outerShdw blurRad="38100" dist="38100" dir="2700000" algn="tl">
                    <a:srgbClr val="C0C0C0"/>
                  </a:outerShdw>
                </a:effectLst>
              </a:rPr>
              <a:t>      else error         </a:t>
            </a:r>
            <a:r>
              <a:rPr lang="zh-CN" altLang="en-US" sz="2800" b="1">
                <a:solidFill>
                  <a:srgbClr val="FF0000"/>
                </a:solidFill>
                <a:effectLst>
                  <a:outerShdw blurRad="38100" dist="38100" dir="2700000" algn="tl">
                    <a:srgbClr val="C0C0C0"/>
                  </a:outerShdw>
                </a:effectLst>
                <a:ea typeface="楷体_GB2312" pitchFamily="49" charset="-122"/>
              </a:rPr>
              <a:t>出错处理程序</a:t>
            </a:r>
          </a:p>
          <a:p>
            <a:pPr>
              <a:lnSpc>
                <a:spcPct val="90000"/>
              </a:lnSpc>
              <a:spcBef>
                <a:spcPct val="20000"/>
              </a:spcBef>
              <a:buClr>
                <a:schemeClr val="tx2"/>
              </a:buClr>
              <a:buSzPct val="75000"/>
              <a:buFont typeface="Monotype Sorts" charset="2"/>
              <a:buNone/>
              <a:defRPr/>
            </a:pPr>
            <a:r>
              <a:rPr lang="zh-CN" altLang="en-US" sz="2800" b="1">
                <a:solidFill>
                  <a:srgbClr val="FF0000"/>
                </a:solidFill>
                <a:effectLst>
                  <a:outerShdw blurRad="38100" dist="38100" dir="2700000" algn="tl">
                    <a:srgbClr val="C0C0C0"/>
                  </a:outerShdw>
                </a:effectLst>
              </a:rPr>
              <a:t>  </a:t>
            </a:r>
            <a:r>
              <a:rPr lang="en-US" altLang="zh-CN" sz="2800" b="1">
                <a:solidFill>
                  <a:srgbClr val="FF0000"/>
                </a:solidFill>
                <a:effectLst>
                  <a:outerShdw blurRad="38100" dist="38100" dir="2700000" algn="tl">
                    <a:srgbClr val="C0C0C0"/>
                  </a:outerShdw>
                </a:effectLst>
              </a:rPr>
              <a:t>end;</a:t>
            </a:r>
          </a:p>
        </p:txBody>
      </p:sp>
      <p:sp>
        <p:nvSpPr>
          <p:cNvPr id="1175557" name="Rectangle 5">
            <a:extLst>
              <a:ext uri="{FF2B5EF4-FFF2-40B4-BE49-F238E27FC236}">
                <a16:creationId xmlns:a16="http://schemas.microsoft.com/office/drawing/2014/main" id="{0547598F-F5DC-4FD8-8EEB-F90CADD1FEB6}"/>
              </a:ext>
            </a:extLst>
          </p:cNvPr>
          <p:cNvSpPr>
            <a:spLocks noChangeArrowheads="1"/>
          </p:cNvSpPr>
          <p:nvPr/>
        </p:nvSpPr>
        <p:spPr bwMode="auto">
          <a:xfrm>
            <a:off x="1992313" y="2852738"/>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pPr algn="ctr">
              <a:lnSpc>
                <a:spcPct val="90000"/>
              </a:lnSpc>
              <a:buFont typeface="Arial" panose="020B0604020202020204" pitchFamily="34" charset="0"/>
              <a:buNone/>
            </a:pPr>
            <a:r>
              <a:rPr lang="zh-CN" altLang="en-US" sz="4400">
                <a:latin typeface="楷体_GB2312" pitchFamily="49" charset="-122"/>
                <a:ea typeface="楷体_GB2312" pitchFamily="49" charset="-122"/>
              </a:rPr>
              <a:t>服务子程序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75555">
                                            <p:txEl>
                                              <p:pRg st="0" end="0"/>
                                            </p:txEl>
                                          </p:spTgt>
                                        </p:tgtEl>
                                        <p:attrNameLst>
                                          <p:attrName>style.visibility</p:attrName>
                                        </p:attrNameLst>
                                      </p:cBhvr>
                                      <p:to>
                                        <p:strVal val="visible"/>
                                      </p:to>
                                    </p:set>
                                    <p:animEffect transition="in" filter="wipe(up)">
                                      <p:cBhvr>
                                        <p:cTn id="7" dur="75"/>
                                        <p:tgtEl>
                                          <p:spTgt spid="117555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175555">
                                            <p:txEl>
                                              <p:pRg st="1" end="1"/>
                                            </p:txEl>
                                          </p:spTgt>
                                        </p:tgtEl>
                                        <p:attrNameLst>
                                          <p:attrName>style.visibility</p:attrName>
                                        </p:attrNameLst>
                                      </p:cBhvr>
                                      <p:to>
                                        <p:strVal val="visible"/>
                                      </p:to>
                                    </p:set>
                                    <p:animEffect transition="in" filter="wipe(up)">
                                      <p:cBhvr>
                                        <p:cTn id="12" dur="75"/>
                                        <p:tgtEl>
                                          <p:spTgt spid="117555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1175555">
                                            <p:txEl>
                                              <p:pRg st="2" end="2"/>
                                            </p:txEl>
                                          </p:spTgt>
                                        </p:tgtEl>
                                        <p:attrNameLst>
                                          <p:attrName>style.visibility</p:attrName>
                                        </p:attrNameLst>
                                      </p:cBhvr>
                                      <p:to>
                                        <p:strVal val="visible"/>
                                      </p:to>
                                    </p:set>
                                    <p:animEffect transition="in" filter="wipe(up)">
                                      <p:cBhvr>
                                        <p:cTn id="17" dur="75"/>
                                        <p:tgtEl>
                                          <p:spTgt spid="117555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75555">
                                            <p:txEl>
                                              <p:pRg st="3" end="3"/>
                                            </p:txEl>
                                          </p:spTgt>
                                        </p:tgtEl>
                                        <p:attrNameLst>
                                          <p:attrName>style.visibility</p:attrName>
                                        </p:attrNameLst>
                                      </p:cBhvr>
                                      <p:to>
                                        <p:strVal val="visible"/>
                                      </p:to>
                                    </p:set>
                                    <p:animEffect transition="in" filter="wipe(up)">
                                      <p:cBhvr>
                                        <p:cTn id="22" dur="75"/>
                                        <p:tgtEl>
                                          <p:spTgt spid="1175555">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75557"/>
                                        </p:tgtEl>
                                        <p:attrNameLst>
                                          <p:attrName>style.visibility</p:attrName>
                                        </p:attrNameLst>
                                      </p:cBhvr>
                                      <p:to>
                                        <p:strVal val="visible"/>
                                      </p:to>
                                    </p:set>
                                    <p:animEffect transition="in" filter="blinds(horizontal)">
                                      <p:cBhvr>
                                        <p:cTn id="27" dur="500"/>
                                        <p:tgtEl>
                                          <p:spTgt spid="11755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75556"/>
                                        </p:tgtEl>
                                        <p:attrNameLst>
                                          <p:attrName>style.visibility</p:attrName>
                                        </p:attrNameLst>
                                      </p:cBhvr>
                                      <p:to>
                                        <p:strVal val="visible"/>
                                      </p:to>
                                    </p:set>
                                    <p:animEffect transition="in" filter="blinds(horizontal)">
                                      <p:cBhvr>
                                        <p:cTn id="32" dur="500"/>
                                        <p:tgtEl>
                                          <p:spTgt spid="1175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P spid="1175556" grpId="0"/>
      <p:bldP spid="1175557"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A3D3C2A-ED17-4B7E-8395-CF9FAD61DEE4}"/>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A1F8FA21-1393-48B4-BBA5-E8AE9DEF408E}" type="datetime1">
              <a:rPr lang="zh-CN" altLang="en-US" noProof="0" smtClean="0">
                <a:latin typeface="+mn-lt"/>
              </a:rPr>
              <a:pPr>
                <a:buFontTx/>
                <a:buNone/>
                <a:defRPr/>
              </a:pPr>
              <a:t>2025/6/26</a:t>
            </a:fld>
            <a:endParaRPr lang="en-US" altLang="zh-CN" noProof="0">
              <a:latin typeface="+mn-lt"/>
            </a:endParaRPr>
          </a:p>
        </p:txBody>
      </p:sp>
      <p:sp>
        <p:nvSpPr>
          <p:cNvPr id="84995" name="灯片编号占位符 5">
            <a:extLst>
              <a:ext uri="{FF2B5EF4-FFF2-40B4-BE49-F238E27FC236}">
                <a16:creationId xmlns:a16="http://schemas.microsoft.com/office/drawing/2014/main" id="{6F862FDF-BA94-4938-A7FB-5E5A6CD59CAA}"/>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7E490CF9-A3E7-4486-90C3-352F2978A8D0}" type="slidenum">
              <a:rPr lang="en-US" altLang="zh-CN" sz="1400">
                <a:latin typeface="Arial" panose="020B0604020202020204" pitchFamily="34" charset="0"/>
              </a:rPr>
              <a:pPr/>
              <a:t>43</a:t>
            </a:fld>
            <a:endParaRPr lang="en-US" altLang="zh-CN" sz="1400">
              <a:latin typeface="Arial" panose="020B0604020202020204" pitchFamily="34" charset="0"/>
            </a:endParaRPr>
          </a:p>
        </p:txBody>
      </p:sp>
      <p:sp>
        <p:nvSpPr>
          <p:cNvPr id="84996" name="Rectangle 2">
            <a:extLst>
              <a:ext uri="{FF2B5EF4-FFF2-40B4-BE49-F238E27FC236}">
                <a16:creationId xmlns:a16="http://schemas.microsoft.com/office/drawing/2014/main" id="{21CC9229-D333-436A-8E69-4871AC1485D2}"/>
              </a:ext>
            </a:extLst>
          </p:cNvPr>
          <p:cNvSpPr>
            <a:spLocks noGrp="1" noChangeArrowheads="1"/>
          </p:cNvSpPr>
          <p:nvPr>
            <p:ph type="title" idx="4294967295"/>
          </p:nvPr>
        </p:nvSpPr>
        <p:spPr>
          <a:xfrm>
            <a:off x="2566989" y="449263"/>
            <a:ext cx="7780337" cy="531812"/>
          </a:xfrm>
        </p:spPr>
        <p:txBody>
          <a:bodyPr vert="horz" lIns="92075" tIns="46038" rIns="92075" bIns="46038" rtlCol="0" anchor="ctr">
            <a:normAutofit fontScale="90000"/>
          </a:bodyPr>
          <a:lstStyle/>
          <a:p>
            <a:pPr eaLnBrk="1" hangingPunct="1"/>
            <a:r>
              <a:rPr lang="en-US" altLang="zh-CN">
                <a:latin typeface="Times New Roman" panose="02020603050405020304" pitchFamily="18" charset="0"/>
              </a:rPr>
              <a:t>4.4.5 </a:t>
            </a:r>
            <a:r>
              <a:rPr lang="zh-CN" altLang="en-US"/>
              <a:t>递归子程序法的实现步骤 </a:t>
            </a:r>
          </a:p>
        </p:txBody>
      </p:sp>
      <p:sp>
        <p:nvSpPr>
          <p:cNvPr id="2174979" name="Rectangle 3">
            <a:extLst>
              <a:ext uri="{FF2B5EF4-FFF2-40B4-BE49-F238E27FC236}">
                <a16:creationId xmlns:a16="http://schemas.microsoft.com/office/drawing/2014/main" id="{DAE30F9B-8971-454F-B993-AD7734542148}"/>
              </a:ext>
            </a:extLst>
          </p:cNvPr>
          <p:cNvSpPr>
            <a:spLocks noGrp="1" noChangeArrowheads="1"/>
          </p:cNvSpPr>
          <p:nvPr>
            <p:ph type="body" idx="4294967295"/>
          </p:nvPr>
        </p:nvSpPr>
        <p:spPr>
          <a:xfrm>
            <a:off x="1774826" y="1628775"/>
            <a:ext cx="8785225" cy="4464050"/>
          </a:xfrm>
        </p:spPr>
        <p:txBody>
          <a:bodyPr vert="horz" lIns="92075" tIns="46038" rIns="92075" bIns="46038" rtlCol="0">
            <a:normAutofit/>
          </a:bodyPr>
          <a:lstStyle/>
          <a:p>
            <a:pPr eaLnBrk="1" hangingPunct="1">
              <a:lnSpc>
                <a:spcPct val="90000"/>
              </a:lnSpc>
              <a:buFont typeface="Wingdings" panose="05000000000000000000" pitchFamily="2" charset="2"/>
              <a:buNone/>
            </a:pPr>
            <a:r>
              <a:rPr lang="en-US" altLang="zh-CN">
                <a:latin typeface="Times New Roman" panose="02020603050405020304" pitchFamily="18" charset="0"/>
              </a:rPr>
              <a:t>1) </a:t>
            </a:r>
            <a:r>
              <a:rPr lang="zh-CN" altLang="en-US">
                <a:latin typeface="Times New Roman" panose="02020603050405020304" pitchFamily="18" charset="0"/>
              </a:rPr>
              <a:t>构造文法；</a:t>
            </a:r>
          </a:p>
          <a:p>
            <a:pPr eaLnBrk="1" hangingPunct="1">
              <a:lnSpc>
                <a:spcPct val="90000"/>
              </a:lnSpc>
              <a:buFont typeface="Wingdings" panose="05000000000000000000" pitchFamily="2" charset="2"/>
              <a:buNone/>
            </a:pPr>
            <a:r>
              <a:rPr lang="en-US" altLang="zh-CN">
                <a:latin typeface="Times New Roman" panose="02020603050405020304" pitchFamily="18" charset="0"/>
              </a:rPr>
              <a:t>2) </a:t>
            </a:r>
            <a:r>
              <a:rPr lang="zh-CN" altLang="en-US">
                <a:latin typeface="Times New Roman" panose="02020603050405020304" pitchFamily="18" charset="0"/>
              </a:rPr>
              <a:t>改造文法：消除二义性、消除左递归、提取左因子；</a:t>
            </a:r>
          </a:p>
          <a:p>
            <a:pPr eaLnBrk="1" hangingPunct="1">
              <a:lnSpc>
                <a:spcPct val="90000"/>
              </a:lnSpc>
              <a:buFont typeface="Wingdings" panose="05000000000000000000" pitchFamily="2" charset="2"/>
              <a:buNone/>
            </a:pPr>
            <a:r>
              <a:rPr lang="en-US" altLang="zh-CN">
                <a:latin typeface="Times New Roman" panose="02020603050405020304" pitchFamily="18" charset="0"/>
              </a:rPr>
              <a:t>3) </a:t>
            </a:r>
            <a:r>
              <a:rPr lang="zh-CN" altLang="en-US">
                <a:latin typeface="Times New Roman" panose="02020603050405020304" pitchFamily="18" charset="0"/>
              </a:rPr>
              <a:t>求每个候选式的</a:t>
            </a:r>
            <a:r>
              <a:rPr lang="en-US" altLang="zh-CN">
                <a:latin typeface="Times New Roman" panose="02020603050405020304" pitchFamily="18" charset="0"/>
              </a:rPr>
              <a:t>FIRST</a:t>
            </a:r>
            <a:r>
              <a:rPr lang="zh-CN" altLang="en-US">
                <a:latin typeface="Times New Roman" panose="02020603050405020304" pitchFamily="18" charset="0"/>
              </a:rPr>
              <a:t>集和语法变量的</a:t>
            </a:r>
            <a:r>
              <a:rPr lang="en-US" altLang="zh-CN">
                <a:latin typeface="Times New Roman" panose="02020603050405020304" pitchFamily="18" charset="0"/>
              </a:rPr>
              <a:t>FOLLOW</a:t>
            </a:r>
            <a:r>
              <a:rPr lang="zh-CN" altLang="en-US">
                <a:latin typeface="Times New Roman" panose="02020603050405020304" pitchFamily="18" charset="0"/>
              </a:rPr>
              <a:t>集；</a:t>
            </a:r>
          </a:p>
          <a:p>
            <a:pPr eaLnBrk="1" hangingPunct="1">
              <a:lnSpc>
                <a:spcPct val="90000"/>
              </a:lnSpc>
              <a:buFont typeface="Wingdings" panose="05000000000000000000" pitchFamily="2" charset="2"/>
              <a:buNone/>
            </a:pPr>
            <a:r>
              <a:rPr lang="en-US" altLang="zh-CN">
                <a:latin typeface="Times New Roman" panose="02020603050405020304" pitchFamily="18" charset="0"/>
              </a:rPr>
              <a:t>4) </a:t>
            </a:r>
            <a:r>
              <a:rPr lang="zh-CN" altLang="en-US">
                <a:latin typeface="Times New Roman" panose="02020603050405020304" pitchFamily="18" charset="0"/>
              </a:rPr>
              <a:t>检查</a:t>
            </a:r>
            <a:r>
              <a:rPr lang="en-US" altLang="zh-CN" i="1">
                <a:latin typeface="Times New Roman" panose="02020603050405020304" pitchFamily="18" charset="0"/>
              </a:rPr>
              <a:t>G</a:t>
            </a:r>
            <a:r>
              <a:rPr lang="zh-CN" altLang="en-US">
                <a:latin typeface="Times New Roman" panose="02020603050405020304" pitchFamily="18" charset="0"/>
              </a:rPr>
              <a:t>是不是</a:t>
            </a:r>
            <a:r>
              <a:rPr lang="zh-CN" altLang="en-US" i="1">
                <a:latin typeface="Times New Roman" panose="02020603050405020304" pitchFamily="18" charset="0"/>
              </a:rPr>
              <a:t> </a:t>
            </a:r>
            <a:r>
              <a:rPr lang="en-US" altLang="zh-CN" i="1">
                <a:latin typeface="Times New Roman" panose="02020603050405020304" pitchFamily="18" charset="0"/>
              </a:rPr>
              <a:t>LL</a:t>
            </a:r>
            <a:r>
              <a:rPr lang="en-US" altLang="zh-CN">
                <a:latin typeface="Times New Roman" panose="02020603050405020304" pitchFamily="18" charset="0"/>
              </a:rPr>
              <a:t>(1) </a:t>
            </a:r>
            <a:r>
              <a:rPr lang="zh-CN" altLang="en-US">
                <a:latin typeface="Times New Roman" panose="02020603050405020304" pitchFamily="18" charset="0"/>
              </a:rPr>
              <a:t>文法，若</a:t>
            </a:r>
            <a:r>
              <a:rPr lang="en-US" altLang="zh-CN" i="1">
                <a:latin typeface="Times New Roman" panose="02020603050405020304" pitchFamily="18" charset="0"/>
              </a:rPr>
              <a:t>G</a:t>
            </a:r>
            <a:r>
              <a:rPr lang="zh-CN" altLang="en-US">
                <a:latin typeface="Times New Roman" panose="02020603050405020304" pitchFamily="18" charset="0"/>
              </a:rPr>
              <a:t>不是 </a:t>
            </a:r>
            <a:r>
              <a:rPr lang="en-US" altLang="zh-CN" i="1">
                <a:latin typeface="Times New Roman" panose="02020603050405020304" pitchFamily="18" charset="0"/>
              </a:rPr>
              <a:t>LL</a:t>
            </a:r>
            <a:r>
              <a:rPr lang="en-US" altLang="zh-CN">
                <a:latin typeface="Times New Roman" panose="02020603050405020304" pitchFamily="18" charset="0"/>
              </a:rPr>
              <a:t>(1)</a:t>
            </a:r>
            <a:r>
              <a:rPr lang="zh-CN" altLang="en-US">
                <a:latin typeface="Times New Roman" panose="02020603050405020304" pitchFamily="18" charset="0"/>
              </a:rPr>
              <a:t>文法，说明文法</a:t>
            </a:r>
            <a:r>
              <a:rPr lang="en-US" altLang="zh-CN" i="1">
                <a:latin typeface="Times New Roman" panose="02020603050405020304" pitchFamily="18" charset="0"/>
              </a:rPr>
              <a:t>G</a:t>
            </a:r>
            <a:r>
              <a:rPr lang="zh-CN" altLang="en-US">
                <a:latin typeface="Times New Roman" panose="02020603050405020304" pitchFamily="18" charset="0"/>
              </a:rPr>
              <a:t>的复杂性超过了自顶向下方法的分析能力，需要附加新的“信息”；</a:t>
            </a:r>
          </a:p>
          <a:p>
            <a:pPr eaLnBrk="1" hangingPunct="1">
              <a:lnSpc>
                <a:spcPct val="90000"/>
              </a:lnSpc>
              <a:buFont typeface="Wingdings" panose="05000000000000000000" pitchFamily="2" charset="2"/>
              <a:buNone/>
            </a:pPr>
            <a:r>
              <a:rPr lang="en-US" altLang="zh-CN">
                <a:latin typeface="Times New Roman" panose="02020603050405020304" pitchFamily="18" charset="0"/>
              </a:rPr>
              <a:t>5) </a:t>
            </a:r>
            <a:r>
              <a:rPr lang="zh-CN" altLang="en-US">
                <a:latin typeface="Times New Roman" panose="02020603050405020304" pitchFamily="18" charset="0"/>
              </a:rPr>
              <a:t>按照</a:t>
            </a:r>
            <a:r>
              <a:rPr lang="en-US" altLang="zh-CN" i="1">
                <a:latin typeface="Times New Roman" panose="02020603050405020304" pitchFamily="18" charset="0"/>
              </a:rPr>
              <a:t>LL</a:t>
            </a:r>
            <a:r>
              <a:rPr lang="en-US" altLang="zh-CN">
                <a:latin typeface="Times New Roman" panose="02020603050405020304" pitchFamily="18" charset="0"/>
              </a:rPr>
              <a:t>(1)</a:t>
            </a:r>
            <a:r>
              <a:rPr lang="zh-CN" altLang="en-US">
                <a:latin typeface="Times New Roman" panose="02020603050405020304" pitchFamily="18" charset="0"/>
              </a:rPr>
              <a:t>文法画语法图；</a:t>
            </a:r>
          </a:p>
          <a:p>
            <a:pPr eaLnBrk="1" hangingPunct="1">
              <a:lnSpc>
                <a:spcPct val="90000"/>
              </a:lnSpc>
              <a:buFont typeface="Wingdings" panose="05000000000000000000" pitchFamily="2" charset="2"/>
              <a:buNone/>
            </a:pPr>
            <a:r>
              <a:rPr lang="en-US" altLang="zh-CN">
                <a:latin typeface="Times New Roman" panose="02020603050405020304" pitchFamily="18" charset="0"/>
              </a:rPr>
              <a:t>6) </a:t>
            </a:r>
            <a:r>
              <a:rPr lang="zh-CN" altLang="en-US">
                <a:latin typeface="Times New Roman" panose="02020603050405020304" pitchFamily="18" charset="0"/>
              </a:rPr>
              <a:t>化简语法图；</a:t>
            </a:r>
          </a:p>
          <a:p>
            <a:pPr eaLnBrk="1" hangingPunct="1">
              <a:lnSpc>
                <a:spcPct val="90000"/>
              </a:lnSpc>
              <a:buFont typeface="Wingdings" panose="05000000000000000000" pitchFamily="2" charset="2"/>
              <a:buNone/>
            </a:pPr>
            <a:r>
              <a:rPr lang="en-US" altLang="zh-CN">
                <a:latin typeface="Times New Roman" panose="02020603050405020304" pitchFamily="18" charset="0"/>
              </a:rPr>
              <a:t>7) </a:t>
            </a:r>
            <a:r>
              <a:rPr lang="zh-CN" altLang="en-US">
                <a:latin typeface="Times New Roman" panose="02020603050405020304" pitchFamily="18" charset="0"/>
              </a:rPr>
              <a:t>按照语法图为每个语法变量设置一个子程序。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174979">
                                            <p:txEl>
                                              <p:pRg st="0" end="0"/>
                                            </p:txEl>
                                          </p:spTgt>
                                        </p:tgtEl>
                                        <p:attrNameLst>
                                          <p:attrName>style.visibility</p:attrName>
                                        </p:attrNameLst>
                                      </p:cBhvr>
                                      <p:to>
                                        <p:strVal val="visible"/>
                                      </p:to>
                                    </p:set>
                                    <p:animEffect transition="in" filter="wipe(up)">
                                      <p:cBhvr>
                                        <p:cTn id="7" dur="75"/>
                                        <p:tgtEl>
                                          <p:spTgt spid="217497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174979">
                                            <p:txEl>
                                              <p:pRg st="1" end="1"/>
                                            </p:txEl>
                                          </p:spTgt>
                                        </p:tgtEl>
                                        <p:attrNameLst>
                                          <p:attrName>style.visibility</p:attrName>
                                        </p:attrNameLst>
                                      </p:cBhvr>
                                      <p:to>
                                        <p:strVal val="visible"/>
                                      </p:to>
                                    </p:set>
                                    <p:animEffect transition="in" filter="wipe(up)">
                                      <p:cBhvr>
                                        <p:cTn id="12" dur="75"/>
                                        <p:tgtEl>
                                          <p:spTgt spid="217497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174979">
                                            <p:txEl>
                                              <p:pRg st="2" end="2"/>
                                            </p:txEl>
                                          </p:spTgt>
                                        </p:tgtEl>
                                        <p:attrNameLst>
                                          <p:attrName>style.visibility</p:attrName>
                                        </p:attrNameLst>
                                      </p:cBhvr>
                                      <p:to>
                                        <p:strVal val="visible"/>
                                      </p:to>
                                    </p:set>
                                    <p:animEffect transition="in" filter="wipe(up)">
                                      <p:cBhvr>
                                        <p:cTn id="17" dur="75"/>
                                        <p:tgtEl>
                                          <p:spTgt spid="217497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2174979">
                                            <p:txEl>
                                              <p:pRg st="3" end="3"/>
                                            </p:txEl>
                                          </p:spTgt>
                                        </p:tgtEl>
                                        <p:attrNameLst>
                                          <p:attrName>style.visibility</p:attrName>
                                        </p:attrNameLst>
                                      </p:cBhvr>
                                      <p:to>
                                        <p:strVal val="visible"/>
                                      </p:to>
                                    </p:set>
                                    <p:animEffect transition="in" filter="wipe(up)">
                                      <p:cBhvr>
                                        <p:cTn id="22" dur="75"/>
                                        <p:tgtEl>
                                          <p:spTgt spid="217497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2174979">
                                            <p:txEl>
                                              <p:pRg st="4" end="4"/>
                                            </p:txEl>
                                          </p:spTgt>
                                        </p:tgtEl>
                                        <p:attrNameLst>
                                          <p:attrName>style.visibility</p:attrName>
                                        </p:attrNameLst>
                                      </p:cBhvr>
                                      <p:to>
                                        <p:strVal val="visible"/>
                                      </p:to>
                                    </p:set>
                                    <p:animEffect transition="in" filter="wipe(up)">
                                      <p:cBhvr>
                                        <p:cTn id="27" dur="75"/>
                                        <p:tgtEl>
                                          <p:spTgt spid="217497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2174979">
                                            <p:txEl>
                                              <p:pRg st="5" end="5"/>
                                            </p:txEl>
                                          </p:spTgt>
                                        </p:tgtEl>
                                        <p:attrNameLst>
                                          <p:attrName>style.visibility</p:attrName>
                                        </p:attrNameLst>
                                      </p:cBhvr>
                                      <p:to>
                                        <p:strVal val="visible"/>
                                      </p:to>
                                    </p:set>
                                    <p:animEffect transition="in" filter="wipe(up)">
                                      <p:cBhvr>
                                        <p:cTn id="32" dur="75"/>
                                        <p:tgtEl>
                                          <p:spTgt spid="217497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2174979">
                                            <p:txEl>
                                              <p:pRg st="6" end="6"/>
                                            </p:txEl>
                                          </p:spTgt>
                                        </p:tgtEl>
                                        <p:attrNameLst>
                                          <p:attrName>style.visibility</p:attrName>
                                        </p:attrNameLst>
                                      </p:cBhvr>
                                      <p:to>
                                        <p:strVal val="visible"/>
                                      </p:to>
                                    </p:set>
                                    <p:animEffect transition="in" filter="wipe(up)">
                                      <p:cBhvr>
                                        <p:cTn id="37" dur="75"/>
                                        <p:tgtEl>
                                          <p:spTgt spid="217497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4979"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D021886-54FF-469F-A977-24CD837E9DEF}"/>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2993331F-8A0B-4B4D-9FF3-91754C95FBCA}" type="datetime1">
              <a:rPr lang="zh-CN" altLang="en-US" noProof="0" smtClean="0">
                <a:latin typeface="+mn-lt"/>
              </a:rPr>
              <a:pPr>
                <a:buFontTx/>
                <a:buNone/>
                <a:defRPr/>
              </a:pPr>
              <a:t>2025/6/26</a:t>
            </a:fld>
            <a:endParaRPr lang="en-US" altLang="zh-CN" noProof="0">
              <a:latin typeface="+mn-lt"/>
            </a:endParaRPr>
          </a:p>
        </p:txBody>
      </p:sp>
      <p:sp>
        <p:nvSpPr>
          <p:cNvPr id="86019" name="灯片编号占位符 5">
            <a:extLst>
              <a:ext uri="{FF2B5EF4-FFF2-40B4-BE49-F238E27FC236}">
                <a16:creationId xmlns:a16="http://schemas.microsoft.com/office/drawing/2014/main" id="{EF08165B-07DB-4E9A-A125-4EF76D6A75D5}"/>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18318B5E-EC8B-4AEA-9EA3-6F50DD06F927}" type="slidenum">
              <a:rPr lang="en-US" altLang="zh-CN" sz="1400">
                <a:latin typeface="Arial" panose="020B0604020202020204" pitchFamily="34" charset="0"/>
              </a:rPr>
              <a:pPr/>
              <a:t>44</a:t>
            </a:fld>
            <a:endParaRPr lang="en-US" altLang="zh-CN" sz="1400">
              <a:latin typeface="Arial" panose="020B0604020202020204" pitchFamily="34" charset="0"/>
            </a:endParaRPr>
          </a:p>
        </p:txBody>
      </p:sp>
      <p:sp>
        <p:nvSpPr>
          <p:cNvPr id="86020" name="Rectangle 2">
            <a:extLst>
              <a:ext uri="{FF2B5EF4-FFF2-40B4-BE49-F238E27FC236}">
                <a16:creationId xmlns:a16="http://schemas.microsoft.com/office/drawing/2014/main" id="{D3F0C5A9-BCD9-499B-9541-5044E7803DAD}"/>
              </a:ext>
            </a:extLst>
          </p:cNvPr>
          <p:cNvSpPr>
            <a:spLocks noGrp="1" noChangeArrowheads="1"/>
          </p:cNvSpPr>
          <p:nvPr>
            <p:ph type="title" idx="4294967295"/>
          </p:nvPr>
        </p:nvSpPr>
        <p:spPr>
          <a:xfrm>
            <a:off x="2640013" y="449263"/>
            <a:ext cx="7296150" cy="531812"/>
          </a:xfrm>
        </p:spPr>
        <p:txBody>
          <a:bodyPr vert="horz" lIns="92075" tIns="46038" rIns="92075" bIns="46038" rtlCol="0" anchor="ctr">
            <a:normAutofit fontScale="90000"/>
          </a:bodyPr>
          <a:lstStyle/>
          <a:p>
            <a:pPr eaLnBrk="1" hangingPunct="1"/>
            <a:r>
              <a:rPr lang="zh-CN" altLang="en-US"/>
              <a:t>递归子程序法的优缺点分析</a:t>
            </a:r>
          </a:p>
        </p:txBody>
      </p:sp>
      <p:sp>
        <p:nvSpPr>
          <p:cNvPr id="1178627" name="Rectangle 3">
            <a:extLst>
              <a:ext uri="{FF2B5EF4-FFF2-40B4-BE49-F238E27FC236}">
                <a16:creationId xmlns:a16="http://schemas.microsoft.com/office/drawing/2014/main" id="{542251E0-FD26-4149-9E4A-CFFE201733E1}"/>
              </a:ext>
            </a:extLst>
          </p:cNvPr>
          <p:cNvSpPr>
            <a:spLocks noGrp="1" noChangeArrowheads="1"/>
          </p:cNvSpPr>
          <p:nvPr>
            <p:ph type="body" idx="4294967295"/>
          </p:nvPr>
        </p:nvSpPr>
        <p:spPr>
          <a:xfrm>
            <a:off x="2063751" y="1628776"/>
            <a:ext cx="8208963" cy="4608513"/>
          </a:xfrm>
        </p:spPr>
        <p:txBody>
          <a:bodyPr vert="horz" lIns="92075" tIns="46038" rIns="92075" bIns="46038" rtlCol="0">
            <a:normAutofit/>
          </a:bodyPr>
          <a:lstStyle/>
          <a:p>
            <a:pPr eaLnBrk="1" hangingPunct="1">
              <a:lnSpc>
                <a:spcPct val="90000"/>
              </a:lnSpc>
            </a:pPr>
            <a:r>
              <a:rPr lang="zh-CN" altLang="en-US">
                <a:latin typeface="Times New Roman" panose="02020603050405020304" pitchFamily="18" charset="0"/>
              </a:rPr>
              <a:t>优点：</a:t>
            </a:r>
          </a:p>
          <a:p>
            <a:pPr lvl="1" eaLnBrk="1" hangingPunct="1">
              <a:lnSpc>
                <a:spcPct val="90000"/>
              </a:lnSpc>
              <a:buFont typeface="Wingdings" panose="05000000000000000000" pitchFamily="2" charset="2"/>
              <a:buNone/>
            </a:pPr>
            <a:r>
              <a:rPr lang="en-US" altLang="zh-CN">
                <a:latin typeface="Times New Roman" panose="02020603050405020304" pitchFamily="18" charset="0"/>
              </a:rPr>
              <a:t>1</a:t>
            </a:r>
            <a:r>
              <a:rPr lang="zh-CN" altLang="en-US">
                <a:latin typeface="Times New Roman" panose="02020603050405020304" pitchFamily="18" charset="0"/>
              </a:rPr>
              <a:t>）直观、简单、可读性好</a:t>
            </a:r>
          </a:p>
          <a:p>
            <a:pPr lvl="1" eaLnBrk="1" hangingPunct="1">
              <a:lnSpc>
                <a:spcPct val="90000"/>
              </a:lnSpc>
              <a:buFont typeface="Wingdings" panose="05000000000000000000" pitchFamily="2" charset="2"/>
              <a:buNone/>
            </a:pPr>
            <a:r>
              <a:rPr lang="en-US" altLang="zh-CN">
                <a:latin typeface="Times New Roman" panose="02020603050405020304" pitchFamily="18" charset="0"/>
              </a:rPr>
              <a:t>2</a:t>
            </a:r>
            <a:r>
              <a:rPr lang="zh-CN" altLang="en-US">
                <a:latin typeface="Times New Roman" panose="02020603050405020304" pitchFamily="18" charset="0"/>
              </a:rPr>
              <a:t>）便于扩充</a:t>
            </a:r>
          </a:p>
          <a:p>
            <a:pPr eaLnBrk="1" hangingPunct="1">
              <a:lnSpc>
                <a:spcPct val="90000"/>
              </a:lnSpc>
            </a:pPr>
            <a:r>
              <a:rPr lang="zh-CN" altLang="en-US">
                <a:latin typeface="Times New Roman" panose="02020603050405020304" pitchFamily="18" charset="0"/>
              </a:rPr>
              <a:t>缺点：</a:t>
            </a:r>
          </a:p>
          <a:p>
            <a:pPr lvl="1" eaLnBrk="1" hangingPunct="1">
              <a:lnSpc>
                <a:spcPct val="90000"/>
              </a:lnSpc>
              <a:buFont typeface="Wingdings" panose="05000000000000000000" pitchFamily="2" charset="2"/>
              <a:buNone/>
            </a:pPr>
            <a:r>
              <a:rPr lang="en-US" altLang="zh-CN">
                <a:latin typeface="Times New Roman" panose="02020603050405020304" pitchFamily="18" charset="0"/>
              </a:rPr>
              <a:t>1) </a:t>
            </a:r>
            <a:r>
              <a:rPr lang="zh-CN" altLang="en-US">
                <a:latin typeface="Times New Roman" panose="02020603050405020304" pitchFamily="18" charset="0"/>
              </a:rPr>
              <a:t>递归算法的实现效率低</a:t>
            </a:r>
          </a:p>
          <a:p>
            <a:pPr lvl="1" eaLnBrk="1" hangingPunct="1">
              <a:lnSpc>
                <a:spcPct val="90000"/>
              </a:lnSpc>
              <a:buFont typeface="Wingdings" panose="05000000000000000000" pitchFamily="2" charset="2"/>
              <a:buNone/>
            </a:pPr>
            <a:r>
              <a:rPr lang="en-US" altLang="zh-CN">
                <a:latin typeface="Times New Roman" panose="02020603050405020304" pitchFamily="18" charset="0"/>
              </a:rPr>
              <a:t>2) </a:t>
            </a:r>
            <a:r>
              <a:rPr lang="zh-CN" altLang="en-US">
                <a:latin typeface="Times New Roman" panose="02020603050405020304" pitchFamily="18" charset="0"/>
              </a:rPr>
              <a:t>处理能力相对有限</a:t>
            </a:r>
          </a:p>
          <a:p>
            <a:pPr lvl="1" eaLnBrk="1" hangingPunct="1">
              <a:lnSpc>
                <a:spcPct val="90000"/>
              </a:lnSpc>
              <a:buFont typeface="Wingdings" panose="05000000000000000000" pitchFamily="2" charset="2"/>
              <a:buNone/>
            </a:pPr>
            <a:r>
              <a:rPr lang="en-US" altLang="zh-CN">
                <a:latin typeface="Times New Roman" panose="02020603050405020304" pitchFamily="18" charset="0"/>
              </a:rPr>
              <a:t>3) </a:t>
            </a:r>
            <a:r>
              <a:rPr lang="zh-CN" altLang="en-US">
                <a:latin typeface="Times New Roman" panose="02020603050405020304" pitchFamily="18" charset="0"/>
              </a:rPr>
              <a:t>通用性差，难以自动生成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178627">
                                            <p:txEl>
                                              <p:pRg st="0" end="0"/>
                                            </p:txEl>
                                          </p:spTgt>
                                        </p:tgtEl>
                                        <p:attrNameLst>
                                          <p:attrName>style.visibility</p:attrName>
                                        </p:attrNameLst>
                                      </p:cBhvr>
                                      <p:to>
                                        <p:strVal val="visible"/>
                                      </p:to>
                                    </p:set>
                                    <p:animEffect transition="in" filter="wipe(up)">
                                      <p:cBhvr>
                                        <p:cTn id="7" dur="75"/>
                                        <p:tgtEl>
                                          <p:spTgt spid="117862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par>
                                <p:cTn id="8" presetID="22" presetClass="entr" presetSubtype="1" fill="hold" grpId="0" nodeType="withEffect">
                                  <p:stCondLst>
                                    <p:cond delay="0"/>
                                  </p:stCondLst>
                                  <p:iterate type="lt">
                                    <p:tmPct val="100000"/>
                                  </p:iterate>
                                  <p:childTnLst>
                                    <p:set>
                                      <p:cBhvr>
                                        <p:cTn id="9" dur="1" fill="hold">
                                          <p:stCondLst>
                                            <p:cond delay="0"/>
                                          </p:stCondLst>
                                        </p:cTn>
                                        <p:tgtEl>
                                          <p:spTgt spid="1178627">
                                            <p:txEl>
                                              <p:pRg st="1" end="1"/>
                                            </p:txEl>
                                          </p:spTgt>
                                        </p:tgtEl>
                                        <p:attrNameLst>
                                          <p:attrName>style.visibility</p:attrName>
                                        </p:attrNameLst>
                                      </p:cBhvr>
                                      <p:to>
                                        <p:strVal val="visible"/>
                                      </p:to>
                                    </p:set>
                                    <p:animEffect transition="in" filter="wipe(up)">
                                      <p:cBhvr>
                                        <p:cTn id="10" dur="75"/>
                                        <p:tgtEl>
                                          <p:spTgt spid="1178627">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TYPE.WAV"/>
                                        </p:tgtEl>
                                      </p:cMediaNode>
                                    </p:audio>
                                  </p:subTnLst>
                                </p:cTn>
                              </p:par>
                              <p:par>
                                <p:cTn id="11" presetID="22" presetClass="entr" presetSubtype="1" fill="hold" grpId="0" nodeType="withEffect">
                                  <p:stCondLst>
                                    <p:cond delay="0"/>
                                  </p:stCondLst>
                                  <p:iterate type="lt">
                                    <p:tmPct val="100000"/>
                                  </p:iterate>
                                  <p:childTnLst>
                                    <p:set>
                                      <p:cBhvr>
                                        <p:cTn id="12" dur="1" fill="hold">
                                          <p:stCondLst>
                                            <p:cond delay="0"/>
                                          </p:stCondLst>
                                        </p:cTn>
                                        <p:tgtEl>
                                          <p:spTgt spid="1178627">
                                            <p:txEl>
                                              <p:pRg st="2" end="2"/>
                                            </p:txEl>
                                          </p:spTgt>
                                        </p:tgtEl>
                                        <p:attrNameLst>
                                          <p:attrName>style.visibility</p:attrName>
                                        </p:attrNameLst>
                                      </p:cBhvr>
                                      <p:to>
                                        <p:strVal val="visible"/>
                                      </p:to>
                                    </p:set>
                                    <p:animEffect transition="in" filter="wipe(up)">
                                      <p:cBhvr>
                                        <p:cTn id="13" dur="75"/>
                                        <p:tgtEl>
                                          <p:spTgt spid="1178627">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TYPE.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iterate type="lt">
                                    <p:tmPct val="100000"/>
                                  </p:iterate>
                                  <p:childTnLst>
                                    <p:set>
                                      <p:cBhvr>
                                        <p:cTn id="17" dur="1" fill="hold">
                                          <p:stCondLst>
                                            <p:cond delay="0"/>
                                          </p:stCondLst>
                                        </p:cTn>
                                        <p:tgtEl>
                                          <p:spTgt spid="1178627">
                                            <p:txEl>
                                              <p:pRg st="3" end="3"/>
                                            </p:txEl>
                                          </p:spTgt>
                                        </p:tgtEl>
                                        <p:attrNameLst>
                                          <p:attrName>style.visibility</p:attrName>
                                        </p:attrNameLst>
                                      </p:cBhvr>
                                      <p:to>
                                        <p:strVal val="visible"/>
                                      </p:to>
                                    </p:set>
                                    <p:animEffect transition="in" filter="wipe(up)">
                                      <p:cBhvr>
                                        <p:cTn id="18" dur="75"/>
                                        <p:tgtEl>
                                          <p:spTgt spid="1178627">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TYPE.WAV"/>
                                        </p:tgtEl>
                                      </p:cMediaNode>
                                    </p:audio>
                                  </p:subTnLst>
                                </p:cTn>
                              </p:par>
                              <p:par>
                                <p:cTn id="19" presetID="22" presetClass="entr" presetSubtype="1" fill="hold" grpId="0" nodeType="withEffect">
                                  <p:stCondLst>
                                    <p:cond delay="0"/>
                                  </p:stCondLst>
                                  <p:iterate type="lt">
                                    <p:tmPct val="100000"/>
                                  </p:iterate>
                                  <p:childTnLst>
                                    <p:set>
                                      <p:cBhvr>
                                        <p:cTn id="20" dur="1" fill="hold">
                                          <p:stCondLst>
                                            <p:cond delay="0"/>
                                          </p:stCondLst>
                                        </p:cTn>
                                        <p:tgtEl>
                                          <p:spTgt spid="1178627">
                                            <p:txEl>
                                              <p:pRg st="4" end="4"/>
                                            </p:txEl>
                                          </p:spTgt>
                                        </p:tgtEl>
                                        <p:attrNameLst>
                                          <p:attrName>style.visibility</p:attrName>
                                        </p:attrNameLst>
                                      </p:cBhvr>
                                      <p:to>
                                        <p:strVal val="visible"/>
                                      </p:to>
                                    </p:set>
                                    <p:animEffect transition="in" filter="wipe(up)">
                                      <p:cBhvr>
                                        <p:cTn id="21" dur="75"/>
                                        <p:tgtEl>
                                          <p:spTgt spid="1178627">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TYPE.WAV"/>
                                        </p:tgtEl>
                                      </p:cMediaNode>
                                    </p:audio>
                                  </p:subTnLst>
                                </p:cTn>
                              </p:par>
                              <p:par>
                                <p:cTn id="22" presetID="22" presetClass="entr" presetSubtype="1" fill="hold" grpId="0" nodeType="withEffect">
                                  <p:stCondLst>
                                    <p:cond delay="0"/>
                                  </p:stCondLst>
                                  <p:iterate type="lt">
                                    <p:tmPct val="100000"/>
                                  </p:iterate>
                                  <p:childTnLst>
                                    <p:set>
                                      <p:cBhvr>
                                        <p:cTn id="23" dur="1" fill="hold">
                                          <p:stCondLst>
                                            <p:cond delay="0"/>
                                          </p:stCondLst>
                                        </p:cTn>
                                        <p:tgtEl>
                                          <p:spTgt spid="1178627">
                                            <p:txEl>
                                              <p:pRg st="5" end="5"/>
                                            </p:txEl>
                                          </p:spTgt>
                                        </p:tgtEl>
                                        <p:attrNameLst>
                                          <p:attrName>style.visibility</p:attrName>
                                        </p:attrNameLst>
                                      </p:cBhvr>
                                      <p:to>
                                        <p:strVal val="visible"/>
                                      </p:to>
                                    </p:set>
                                    <p:animEffect transition="in" filter="wipe(up)">
                                      <p:cBhvr>
                                        <p:cTn id="24" dur="75"/>
                                        <p:tgtEl>
                                          <p:spTgt spid="1178627">
                                            <p:txEl>
                                              <p:pRg st="5" end="5"/>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2" name="TYPE.WAV"/>
                                        </p:tgtEl>
                                      </p:cMediaNode>
                                    </p:audio>
                                  </p:subTnLst>
                                </p:cTn>
                              </p:par>
                              <p:par>
                                <p:cTn id="25" presetID="22" presetClass="entr" presetSubtype="1" fill="hold" grpId="0" nodeType="withEffect">
                                  <p:stCondLst>
                                    <p:cond delay="0"/>
                                  </p:stCondLst>
                                  <p:iterate type="lt">
                                    <p:tmPct val="100000"/>
                                  </p:iterate>
                                  <p:childTnLst>
                                    <p:set>
                                      <p:cBhvr>
                                        <p:cTn id="26" dur="1" fill="hold">
                                          <p:stCondLst>
                                            <p:cond delay="0"/>
                                          </p:stCondLst>
                                        </p:cTn>
                                        <p:tgtEl>
                                          <p:spTgt spid="1178627">
                                            <p:txEl>
                                              <p:pRg st="6" end="6"/>
                                            </p:txEl>
                                          </p:spTgt>
                                        </p:tgtEl>
                                        <p:attrNameLst>
                                          <p:attrName>style.visibility</p:attrName>
                                        </p:attrNameLst>
                                      </p:cBhvr>
                                      <p:to>
                                        <p:strVal val="visible"/>
                                      </p:to>
                                    </p:set>
                                    <p:animEffect transition="in" filter="wipe(up)">
                                      <p:cBhvr>
                                        <p:cTn id="27" dur="75"/>
                                        <p:tgtEl>
                                          <p:spTgt spid="1178627">
                                            <p:txEl>
                                              <p:pRg st="6" end="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627"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F0307A0-7021-48E9-A193-4B2B6D71FF19}"/>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8852B1D5-6371-4356-A6C8-D34E210A232E}" type="datetime1">
              <a:rPr lang="zh-CN" altLang="en-US" noProof="0" smtClean="0">
                <a:latin typeface="+mn-lt"/>
              </a:rPr>
              <a:pPr>
                <a:buFontTx/>
                <a:buNone/>
                <a:defRPr/>
              </a:pPr>
              <a:t>2025/6/26</a:t>
            </a:fld>
            <a:endParaRPr lang="en-US" altLang="zh-CN" noProof="0">
              <a:latin typeface="+mn-lt"/>
            </a:endParaRPr>
          </a:p>
        </p:txBody>
      </p:sp>
      <p:sp>
        <p:nvSpPr>
          <p:cNvPr id="87043" name="灯片编号占位符 5">
            <a:extLst>
              <a:ext uri="{FF2B5EF4-FFF2-40B4-BE49-F238E27FC236}">
                <a16:creationId xmlns:a16="http://schemas.microsoft.com/office/drawing/2014/main" id="{92B89419-89C7-454D-9E49-884A512E79F4}"/>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8BA8A8AF-ED5D-4466-A5DE-3CA2466C0B7D}" type="slidenum">
              <a:rPr lang="en-US" altLang="zh-CN" sz="1400">
                <a:latin typeface="Arial" panose="020B0604020202020204" pitchFamily="34" charset="0"/>
              </a:rPr>
              <a:pPr/>
              <a:t>45</a:t>
            </a:fld>
            <a:endParaRPr lang="en-US" altLang="zh-CN" sz="1400">
              <a:latin typeface="Arial" panose="020B0604020202020204" pitchFamily="34" charset="0"/>
            </a:endParaRPr>
          </a:p>
        </p:txBody>
      </p:sp>
      <p:sp>
        <p:nvSpPr>
          <p:cNvPr id="87044" name="Rectangle 2">
            <a:extLst>
              <a:ext uri="{FF2B5EF4-FFF2-40B4-BE49-F238E27FC236}">
                <a16:creationId xmlns:a16="http://schemas.microsoft.com/office/drawing/2014/main" id="{4B7BD6B1-6313-42DA-9B91-A375813D9327}"/>
              </a:ext>
            </a:extLst>
          </p:cNvPr>
          <p:cNvSpPr>
            <a:spLocks noGrp="1" noChangeArrowheads="1"/>
          </p:cNvSpPr>
          <p:nvPr>
            <p:ph type="title" idx="4294967295"/>
          </p:nvPr>
        </p:nvSpPr>
        <p:spPr>
          <a:xfrm>
            <a:off x="2782888" y="376238"/>
            <a:ext cx="7296150" cy="531812"/>
          </a:xfrm>
        </p:spPr>
        <p:txBody>
          <a:bodyPr vert="horz" lIns="92075" tIns="46038" rIns="92075" bIns="46038" rtlCol="0" anchor="ctr">
            <a:normAutofit fontScale="90000"/>
          </a:bodyPr>
          <a:lstStyle/>
          <a:p>
            <a:pPr eaLnBrk="1" hangingPunct="1"/>
            <a:r>
              <a:rPr lang="zh-CN" altLang="en-US"/>
              <a:t>本章小结</a:t>
            </a:r>
          </a:p>
        </p:txBody>
      </p:sp>
      <p:sp>
        <p:nvSpPr>
          <p:cNvPr id="2179075" name="Rectangle 3">
            <a:extLst>
              <a:ext uri="{FF2B5EF4-FFF2-40B4-BE49-F238E27FC236}">
                <a16:creationId xmlns:a16="http://schemas.microsoft.com/office/drawing/2014/main" id="{E96C9013-5EFD-4DE0-9DE2-5DC239446CA2}"/>
              </a:ext>
            </a:extLst>
          </p:cNvPr>
          <p:cNvSpPr>
            <a:spLocks noGrp="1" noChangeArrowheads="1"/>
          </p:cNvSpPr>
          <p:nvPr>
            <p:ph type="body" idx="4294967295"/>
          </p:nvPr>
        </p:nvSpPr>
        <p:spPr>
          <a:xfrm>
            <a:off x="2063751" y="1484314"/>
            <a:ext cx="8137525" cy="4897437"/>
          </a:xfrm>
        </p:spPr>
        <p:txBody>
          <a:bodyPr vert="horz" lIns="92075" tIns="46038" rIns="92075" bIns="46038" rtlCol="0">
            <a:normAutofit/>
          </a:bodyPr>
          <a:lstStyle/>
          <a:p>
            <a:pPr marL="609600" indent="-609600">
              <a:spcBef>
                <a:spcPct val="40000"/>
              </a:spcBef>
              <a:buNone/>
            </a:pPr>
            <a:r>
              <a:rPr lang="en-US" altLang="zh-CN">
                <a:latin typeface="Times New Roman" panose="02020603050405020304" pitchFamily="18" charset="0"/>
              </a:rPr>
              <a:t>1.</a:t>
            </a:r>
            <a:r>
              <a:rPr lang="zh-CN" altLang="en-US">
                <a:latin typeface="Times New Roman" panose="02020603050405020304" pitchFamily="18" charset="0"/>
              </a:rPr>
              <a:t>自顶向下分析法和自底向上分析法分别寻找输入串的最左推导和最左归约</a:t>
            </a:r>
          </a:p>
          <a:p>
            <a:pPr marL="609600" indent="-609600">
              <a:spcBef>
                <a:spcPct val="40000"/>
              </a:spcBef>
              <a:buNone/>
            </a:pPr>
            <a:r>
              <a:rPr lang="en-US" altLang="zh-CN">
                <a:latin typeface="Times New Roman" panose="02020603050405020304" pitchFamily="18" charset="0"/>
              </a:rPr>
              <a:t>2.</a:t>
            </a:r>
            <a:r>
              <a:rPr lang="zh-CN" altLang="en-US">
                <a:latin typeface="Times New Roman" panose="02020603050405020304" pitchFamily="18" charset="0"/>
              </a:rPr>
              <a:t>自顶向下分析会遇到二义性问题、回溯问题、左递归引起的无穷推导问题，需对文法进行改造：消除二义性、消除左递归、提取公共左因子</a:t>
            </a:r>
            <a:endParaRPr lang="zh-CN" altLang="en-US" i="1">
              <a:latin typeface="Times New Roman" panose="02020603050405020304" pitchFamily="18" charset="0"/>
            </a:endParaRPr>
          </a:p>
          <a:p>
            <a:pPr marL="609600" indent="-609600">
              <a:spcBef>
                <a:spcPct val="40000"/>
              </a:spcBef>
              <a:buNone/>
            </a:pPr>
            <a:r>
              <a:rPr lang="en-US" altLang="zh-CN">
                <a:latin typeface="Times New Roman" panose="02020603050405020304" pitchFamily="18" charset="0"/>
              </a:rPr>
              <a:t>3. </a:t>
            </a:r>
            <a:r>
              <a:rPr lang="en-US" altLang="zh-CN" i="1">
                <a:latin typeface="Times New Roman" panose="02020603050405020304" pitchFamily="18" charset="0"/>
              </a:rPr>
              <a:t>LL</a:t>
            </a:r>
            <a:r>
              <a:rPr lang="en-US" altLang="zh-CN">
                <a:latin typeface="Times New Roman" panose="02020603050405020304" pitchFamily="18" charset="0"/>
              </a:rPr>
              <a:t>(1)</a:t>
            </a:r>
            <a:r>
              <a:rPr lang="zh-CN" altLang="en-US">
                <a:latin typeface="Times New Roman" panose="02020603050405020304" pitchFamily="18" charset="0"/>
              </a:rPr>
              <a:t>文法是一类可以进行确定分析的文法，利用</a:t>
            </a:r>
            <a:r>
              <a:rPr lang="en-US" altLang="zh-CN">
                <a:latin typeface="Times New Roman" panose="02020603050405020304" pitchFamily="18" charset="0"/>
              </a:rPr>
              <a:t>FIRST</a:t>
            </a:r>
            <a:r>
              <a:rPr lang="zh-CN" altLang="en-US">
                <a:latin typeface="Times New Roman" panose="02020603050405020304" pitchFamily="18" charset="0"/>
              </a:rPr>
              <a:t>集和</a:t>
            </a:r>
            <a:r>
              <a:rPr lang="en-US" altLang="zh-CN">
                <a:latin typeface="Times New Roman" panose="02020603050405020304" pitchFamily="18" charset="0"/>
              </a:rPr>
              <a:t>FOLLOW</a:t>
            </a:r>
            <a:r>
              <a:rPr lang="zh-CN" altLang="en-US">
                <a:latin typeface="Times New Roman" panose="02020603050405020304" pitchFamily="18" charset="0"/>
              </a:rPr>
              <a:t>集可以判定某个上下文无关文法是否为</a:t>
            </a:r>
            <a:r>
              <a:rPr lang="en-US" altLang="zh-CN" i="1">
                <a:latin typeface="Times New Roman" panose="02020603050405020304" pitchFamily="18" charset="0"/>
              </a:rPr>
              <a:t>LL</a:t>
            </a:r>
            <a:r>
              <a:rPr lang="en-US" altLang="zh-CN">
                <a:latin typeface="Times New Roman" panose="02020603050405020304" pitchFamily="18" charset="0"/>
              </a:rPr>
              <a:t>(1)</a:t>
            </a:r>
            <a:r>
              <a:rPr lang="zh-CN" altLang="en-US">
                <a:latin typeface="Times New Roman" panose="02020603050405020304" pitchFamily="18" charset="0"/>
              </a:rPr>
              <a:t>文法</a:t>
            </a:r>
            <a:endParaRPr lang="zh-CN" altLang="en-US"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179075">
                                            <p:txEl>
                                              <p:pRg st="0" end="0"/>
                                            </p:txEl>
                                          </p:spTgt>
                                        </p:tgtEl>
                                        <p:attrNameLst>
                                          <p:attrName>style.visibility</p:attrName>
                                        </p:attrNameLst>
                                      </p:cBhvr>
                                      <p:to>
                                        <p:strVal val="visible"/>
                                      </p:to>
                                    </p:set>
                                    <p:animEffect transition="in" filter="wipe(up)">
                                      <p:cBhvr>
                                        <p:cTn id="7" dur="75"/>
                                        <p:tgtEl>
                                          <p:spTgt spid="217907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179075">
                                            <p:txEl>
                                              <p:pRg st="1" end="1"/>
                                            </p:txEl>
                                          </p:spTgt>
                                        </p:tgtEl>
                                        <p:attrNameLst>
                                          <p:attrName>style.visibility</p:attrName>
                                        </p:attrNameLst>
                                      </p:cBhvr>
                                      <p:to>
                                        <p:strVal val="visible"/>
                                      </p:to>
                                    </p:set>
                                    <p:animEffect transition="in" filter="wipe(up)">
                                      <p:cBhvr>
                                        <p:cTn id="12" dur="75"/>
                                        <p:tgtEl>
                                          <p:spTgt spid="217907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179075">
                                            <p:txEl>
                                              <p:pRg st="2" end="2"/>
                                            </p:txEl>
                                          </p:spTgt>
                                        </p:tgtEl>
                                        <p:attrNameLst>
                                          <p:attrName>style.visibility</p:attrName>
                                        </p:attrNameLst>
                                      </p:cBhvr>
                                      <p:to>
                                        <p:strVal val="visible"/>
                                      </p:to>
                                    </p:set>
                                    <p:animEffect transition="in" filter="wipe(up)">
                                      <p:cBhvr>
                                        <p:cTn id="17" dur="75"/>
                                        <p:tgtEl>
                                          <p:spTgt spid="217907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9075"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1CCA935-595F-467B-A140-64535718F0FA}"/>
              </a:ext>
            </a:extLst>
          </p:cNvPr>
          <p:cNvSpPr>
            <a:spLocks noGrp="1"/>
          </p:cNvSpPr>
          <p:nvPr>
            <p:ph type="dt" sz="quarter" idx="10"/>
          </p:nvPr>
        </p:nvSpPr>
        <p:spPr bwMode="auto">
          <a:xfrm>
            <a:off x="1981200" y="6245225"/>
            <a:ext cx="2133600" cy="476250"/>
          </a:xfrm>
          <a:ln>
            <a:miter lim="800000"/>
          </a:ln>
        </p:spPr>
        <p:txBody>
          <a:bodyPr vert="horz" wrap="square" lIns="91440" tIns="45720" rIns="91440" bIns="45720" numCol="1" rtlCol="0" anchor="t" anchorCtr="0" compatLnSpc="1"/>
          <a:lstStyle/>
          <a:p>
            <a:pPr>
              <a:buFontTx/>
              <a:buNone/>
              <a:defRPr/>
            </a:pPr>
            <a:fld id="{FE11F256-2609-48E0-8A53-7016A708A6A1}" type="datetime1">
              <a:rPr lang="zh-CN" altLang="en-US" noProof="0" smtClean="0">
                <a:latin typeface="+mn-lt"/>
              </a:rPr>
              <a:pPr>
                <a:buFontTx/>
                <a:buNone/>
                <a:defRPr/>
              </a:pPr>
              <a:t>2025/6/26</a:t>
            </a:fld>
            <a:endParaRPr lang="en-US" altLang="zh-CN" noProof="0">
              <a:latin typeface="+mn-lt"/>
            </a:endParaRPr>
          </a:p>
        </p:txBody>
      </p:sp>
      <p:sp>
        <p:nvSpPr>
          <p:cNvPr id="88067" name="灯片编号占位符 5">
            <a:extLst>
              <a:ext uri="{FF2B5EF4-FFF2-40B4-BE49-F238E27FC236}">
                <a16:creationId xmlns:a16="http://schemas.microsoft.com/office/drawing/2014/main" id="{370D254B-3E7F-4FAB-81B5-280C3CB00F1A}"/>
              </a:ext>
            </a:extLst>
          </p:cNvPr>
          <p:cNvSpPr>
            <a:spLocks noGrp="1" noChangeArrowheads="1"/>
          </p:cNvSpPr>
          <p:nvPr>
            <p:ph type="sldNum" sz="quarter" idx="12"/>
          </p:nvPr>
        </p:nvSpPr>
        <p:spPr bwMode="auto">
          <a:xfrm>
            <a:off x="807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fld id="{B804951F-A1A4-4921-8C3B-AE5CF82466BE}" type="slidenum">
              <a:rPr lang="en-US" altLang="zh-CN" sz="1400">
                <a:latin typeface="Arial" panose="020B0604020202020204" pitchFamily="34" charset="0"/>
              </a:rPr>
              <a:pPr/>
              <a:t>46</a:t>
            </a:fld>
            <a:endParaRPr lang="en-US" altLang="zh-CN" sz="1400">
              <a:latin typeface="Arial" panose="020B0604020202020204" pitchFamily="34" charset="0"/>
            </a:endParaRPr>
          </a:p>
        </p:txBody>
      </p:sp>
      <p:sp>
        <p:nvSpPr>
          <p:cNvPr id="88068" name="Rectangle 2">
            <a:extLst>
              <a:ext uri="{FF2B5EF4-FFF2-40B4-BE49-F238E27FC236}">
                <a16:creationId xmlns:a16="http://schemas.microsoft.com/office/drawing/2014/main" id="{74FB6FD9-9FDB-4CC3-B5C1-C8A339EE290A}"/>
              </a:ext>
            </a:extLst>
          </p:cNvPr>
          <p:cNvSpPr>
            <a:spLocks noGrp="1" noChangeArrowheads="1"/>
          </p:cNvSpPr>
          <p:nvPr>
            <p:ph type="title" idx="4294967295"/>
          </p:nvPr>
        </p:nvSpPr>
        <p:spPr>
          <a:xfrm>
            <a:off x="2711451" y="333376"/>
            <a:ext cx="4467225" cy="531813"/>
          </a:xfrm>
        </p:spPr>
        <p:txBody>
          <a:bodyPr vert="horz" lIns="92075" tIns="46038" rIns="92075" bIns="46038" rtlCol="0" anchor="ctr">
            <a:normAutofit fontScale="90000"/>
          </a:bodyPr>
          <a:lstStyle/>
          <a:p>
            <a:pPr eaLnBrk="1" hangingPunct="1"/>
            <a:r>
              <a:rPr lang="zh-CN" altLang="en-US"/>
              <a:t>本章小结</a:t>
            </a:r>
          </a:p>
        </p:txBody>
      </p:sp>
      <p:sp>
        <p:nvSpPr>
          <p:cNvPr id="2937859" name="Rectangle 3">
            <a:extLst>
              <a:ext uri="{FF2B5EF4-FFF2-40B4-BE49-F238E27FC236}">
                <a16:creationId xmlns:a16="http://schemas.microsoft.com/office/drawing/2014/main" id="{8E005268-246F-485A-BAF3-60B7E0B66B0C}"/>
              </a:ext>
            </a:extLst>
          </p:cNvPr>
          <p:cNvSpPr>
            <a:spLocks noGrp="1" noChangeArrowheads="1"/>
          </p:cNvSpPr>
          <p:nvPr>
            <p:ph type="body" idx="4294967295"/>
          </p:nvPr>
        </p:nvSpPr>
        <p:spPr>
          <a:xfrm>
            <a:off x="1774825" y="1917700"/>
            <a:ext cx="8713788" cy="3816350"/>
          </a:xfrm>
        </p:spPr>
        <p:txBody>
          <a:bodyPr vert="horz" lIns="92075" tIns="46038" rIns="92075" bIns="46038" rtlCol="0">
            <a:normAutofit/>
          </a:bodyPr>
          <a:lstStyle/>
          <a:p>
            <a:pPr marL="609600" indent="-609600">
              <a:spcBef>
                <a:spcPct val="100000"/>
              </a:spcBef>
              <a:buNone/>
            </a:pPr>
            <a:r>
              <a:rPr lang="en-US" altLang="zh-CN">
                <a:latin typeface="Times New Roman" panose="02020603050405020304" pitchFamily="18" charset="0"/>
              </a:rPr>
              <a:t>4. </a:t>
            </a:r>
            <a:r>
              <a:rPr lang="en-US" altLang="zh-CN" i="1">
                <a:latin typeface="Times New Roman" panose="02020603050405020304" pitchFamily="18" charset="0"/>
              </a:rPr>
              <a:t>LL</a:t>
            </a:r>
            <a:r>
              <a:rPr lang="en-US" altLang="zh-CN">
                <a:latin typeface="Times New Roman" panose="02020603050405020304" pitchFamily="18" charset="0"/>
              </a:rPr>
              <a:t>(1)</a:t>
            </a:r>
            <a:r>
              <a:rPr lang="zh-CN" altLang="en-US">
                <a:latin typeface="Times New Roman" panose="02020603050405020304" pitchFamily="18" charset="0"/>
              </a:rPr>
              <a:t>文法可以用</a:t>
            </a:r>
            <a:r>
              <a:rPr lang="en-US" altLang="zh-CN" i="1">
                <a:latin typeface="Times New Roman" panose="02020603050405020304" pitchFamily="18" charset="0"/>
              </a:rPr>
              <a:t>LL</a:t>
            </a:r>
            <a:r>
              <a:rPr lang="en-US" altLang="zh-CN">
                <a:latin typeface="Times New Roman" panose="02020603050405020304" pitchFamily="18" charset="0"/>
              </a:rPr>
              <a:t>(1)</a:t>
            </a:r>
            <a:r>
              <a:rPr lang="zh-CN" altLang="en-US">
                <a:latin typeface="Times New Roman" panose="02020603050405020304" pitchFamily="18" charset="0"/>
              </a:rPr>
              <a:t>分析法进行分析。</a:t>
            </a:r>
          </a:p>
          <a:p>
            <a:pPr marL="609600" indent="-609600">
              <a:spcBef>
                <a:spcPct val="100000"/>
              </a:spcBef>
              <a:buNone/>
            </a:pPr>
            <a:r>
              <a:rPr lang="en-US" altLang="zh-CN">
                <a:latin typeface="Times New Roman" panose="02020603050405020304" pitchFamily="18" charset="0"/>
              </a:rPr>
              <a:t>5. </a:t>
            </a:r>
            <a:r>
              <a:rPr lang="zh-CN" altLang="en-US">
                <a:latin typeface="Times New Roman" panose="02020603050405020304" pitchFamily="18" charset="0"/>
              </a:rPr>
              <a:t>递归下降分析法根据各个候选式的结构为每个非终结符编写一个子程序。</a:t>
            </a:r>
          </a:p>
          <a:p>
            <a:pPr marL="609600" indent="-609600">
              <a:spcBef>
                <a:spcPct val="100000"/>
              </a:spcBef>
              <a:buNone/>
            </a:pPr>
            <a:r>
              <a:rPr lang="en-US" altLang="zh-CN">
                <a:latin typeface="Times New Roman" panose="02020603050405020304" pitchFamily="18" charset="0"/>
              </a:rPr>
              <a:t>6. </a:t>
            </a:r>
            <a:r>
              <a:rPr lang="zh-CN" altLang="en-US">
                <a:latin typeface="Times New Roman" panose="02020603050405020304" pitchFamily="18" charset="0"/>
              </a:rPr>
              <a:t>使用语法图可以方便地进行递归子程序的设计。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937859">
                                            <p:txEl>
                                              <p:pRg st="0" end="0"/>
                                            </p:txEl>
                                          </p:spTgt>
                                        </p:tgtEl>
                                        <p:attrNameLst>
                                          <p:attrName>style.visibility</p:attrName>
                                        </p:attrNameLst>
                                      </p:cBhvr>
                                      <p:to>
                                        <p:strVal val="visible"/>
                                      </p:to>
                                    </p:set>
                                    <p:animEffect transition="in" filter="wipe(up)">
                                      <p:cBhvr>
                                        <p:cTn id="7" dur="75"/>
                                        <p:tgtEl>
                                          <p:spTgt spid="293785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937859">
                                            <p:txEl>
                                              <p:pRg st="1" end="1"/>
                                            </p:txEl>
                                          </p:spTgt>
                                        </p:tgtEl>
                                        <p:attrNameLst>
                                          <p:attrName>style.visibility</p:attrName>
                                        </p:attrNameLst>
                                      </p:cBhvr>
                                      <p:to>
                                        <p:strVal val="visible"/>
                                      </p:to>
                                    </p:set>
                                    <p:animEffect transition="in" filter="wipe(up)">
                                      <p:cBhvr>
                                        <p:cTn id="12" dur="75"/>
                                        <p:tgtEl>
                                          <p:spTgt spid="293785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937859">
                                            <p:txEl>
                                              <p:pRg st="2" end="2"/>
                                            </p:txEl>
                                          </p:spTgt>
                                        </p:tgtEl>
                                        <p:attrNameLst>
                                          <p:attrName>style.visibility</p:attrName>
                                        </p:attrNameLst>
                                      </p:cBhvr>
                                      <p:to>
                                        <p:strVal val="visible"/>
                                      </p:to>
                                    </p:set>
                                    <p:animEffect transition="in" filter="wipe(up)">
                                      <p:cBhvr>
                                        <p:cTn id="17" dur="75"/>
                                        <p:tgtEl>
                                          <p:spTgt spid="293785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7859" grpId="0" build="p"/>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4355</TotalTime>
  <Words>4189</Words>
  <Application>Microsoft Office PowerPoint</Application>
  <PresentationFormat>宽屏</PresentationFormat>
  <Paragraphs>522</Paragraphs>
  <Slides>46</Slides>
  <Notes>1</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46</vt:i4>
      </vt:variant>
    </vt:vector>
  </HeadingPairs>
  <TitlesOfParts>
    <vt:vector size="62" baseType="lpstr">
      <vt:lpstr>Monotype Sorts</vt:lpstr>
      <vt:lpstr>等线</vt:lpstr>
      <vt:lpstr>等线 Light</vt:lpstr>
      <vt:lpstr>黑体</vt:lpstr>
      <vt:lpstr>楷体_GB2312</vt:lpstr>
      <vt:lpstr>宋体</vt:lpstr>
      <vt:lpstr>Arial</vt:lpstr>
      <vt:lpstr>Cambria Math</vt:lpstr>
      <vt:lpstr>Tahoma</vt:lpstr>
      <vt:lpstr>Times New Roman</vt:lpstr>
      <vt:lpstr>Verdana</vt:lpstr>
      <vt:lpstr>Wingdings</vt:lpstr>
      <vt:lpstr>Office 主题​​</vt:lpstr>
      <vt:lpstr>Equation.DSMT4</vt:lpstr>
      <vt:lpstr>Document</vt:lpstr>
      <vt:lpstr>Visio.Drawing.11</vt:lpstr>
      <vt:lpstr>PowerPoint 演示文稿</vt:lpstr>
      <vt:lpstr>LL(1)文法的判定</vt:lpstr>
      <vt:lpstr>例  表达式文法的语法符号的FIRST 集</vt:lpstr>
      <vt:lpstr>PowerPoint 演示文稿</vt:lpstr>
      <vt:lpstr>4.2.3 LL(1)文法</vt:lpstr>
      <vt:lpstr>FOLLOW集的定义</vt:lpstr>
      <vt:lpstr>构造FOLLOW集1/2</vt:lpstr>
      <vt:lpstr>构造FOLLOW集2/2</vt:lpstr>
      <vt:lpstr>LL(1)文法的判定</vt:lpstr>
      <vt:lpstr>4.1 FIRST和FOLLOW的区别</vt:lpstr>
      <vt:lpstr>4.2.3 LL(1)文法</vt:lpstr>
      <vt:lpstr>例 表达式文法的语法变量的 FOLLOW 集</vt:lpstr>
      <vt:lpstr>表达式文法是 LL(1) 文法</vt:lpstr>
      <vt:lpstr>非 LL(1)文法的不确定性</vt:lpstr>
      <vt:lpstr>不确定性的解决方法</vt:lpstr>
      <vt:lpstr>4.3 预测分析法（LL(1) parsing）</vt:lpstr>
      <vt:lpstr>4.3.1 预测分析器的构成</vt:lpstr>
      <vt:lpstr>系统的执行与特点</vt:lpstr>
      <vt:lpstr>预测分析程序的总控程序 </vt:lpstr>
      <vt:lpstr>预测分析程序的总控程序 </vt:lpstr>
      <vt:lpstr>例4.10 考虑简单算术表达式文法的实现</vt:lpstr>
      <vt:lpstr>简单算术表达式文法的预测分析表</vt:lpstr>
      <vt:lpstr>对输入串id+id*id进行分析的过程</vt:lpstr>
      <vt:lpstr>PowerPoint 演示文稿</vt:lpstr>
      <vt:lpstr>4.3.2 预测分析表的构造算法</vt:lpstr>
      <vt:lpstr>预测分析法的实现步骤</vt:lpstr>
      <vt:lpstr>4.3.3 预测分析中错误的处理 </vt:lpstr>
      <vt:lpstr>PowerPoint 演示文稿</vt:lpstr>
      <vt:lpstr>PowerPoint 演示文稿</vt:lpstr>
      <vt:lpstr>4.4 递归下降分析法— 一个设想</vt:lpstr>
      <vt:lpstr>4.4.1 递归下降分析法的基本思想</vt:lpstr>
      <vt:lpstr>4.4.1 递归下降分析法的基本思想</vt:lpstr>
      <vt:lpstr>4.4.2 语法图和递归子程序法</vt:lpstr>
      <vt:lpstr>4.4.2 语法图和递归子程序法</vt:lpstr>
      <vt:lpstr>例4.15 简单表达式文法的语法图</vt:lpstr>
      <vt:lpstr>4.4.3基于语法图的语法分析器工作方式 </vt:lpstr>
      <vt:lpstr>4.4.3基于语法图的语法分析器工作方式 </vt:lpstr>
      <vt:lpstr>PowerPoint 演示文稿</vt:lpstr>
      <vt:lpstr>PowerPoint 演示文稿</vt:lpstr>
      <vt:lpstr>Ｔ的子程序(T→F(*F)*)</vt:lpstr>
      <vt:lpstr>Ｆ的子程序(F→(E)|id)</vt:lpstr>
      <vt:lpstr>主程序</vt:lpstr>
      <vt:lpstr>4.4.5 递归子程序法的实现步骤 </vt:lpstr>
      <vt:lpstr>递归子程序法的优缺点分析</vt:lpstr>
      <vt:lpstr>本章小结</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Haodi Zhang</dc:creator>
  <cp:lastModifiedBy>王锦鸿</cp:lastModifiedBy>
  <cp:revision>10</cp:revision>
  <dcterms:created xsi:type="dcterms:W3CDTF">2020-06-09T08:37:09Z</dcterms:created>
  <dcterms:modified xsi:type="dcterms:W3CDTF">2025-06-26T07:25:08Z</dcterms:modified>
</cp:coreProperties>
</file>