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9" r:id="rId2"/>
    <p:sldId id="260" r:id="rId3"/>
    <p:sldId id="261" r:id="rId4"/>
    <p:sldId id="285" r:id="rId5"/>
    <p:sldId id="277" r:id="rId6"/>
    <p:sldId id="301" r:id="rId7"/>
    <p:sldId id="278" r:id="rId8"/>
    <p:sldId id="279" r:id="rId9"/>
    <p:sldId id="280" r:id="rId10"/>
    <p:sldId id="281" r:id="rId11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93" autoAdjust="0"/>
    <p:restoredTop sz="94660"/>
  </p:normalViewPr>
  <p:slideViewPr>
    <p:cSldViewPr showGuides="1">
      <p:cViewPr varScale="1">
        <p:scale>
          <a:sx n="80" d="100"/>
          <a:sy n="80" d="100"/>
        </p:scale>
        <p:origin x="11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页眉占位符 4608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en-US" altLang="x-none" sz="1200" dirty="0"/>
          </a:p>
        </p:txBody>
      </p:sp>
      <p:sp>
        <p:nvSpPr>
          <p:cNvPr id="46083" name="日期占位符 4608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en-US" altLang="x-none" sz="1200" dirty="0"/>
          </a:p>
        </p:txBody>
      </p:sp>
      <p:sp>
        <p:nvSpPr>
          <p:cNvPr id="46084" name="幻灯片图像占位符 4608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6085" name="文本占位符 4608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x-none" dirty="0"/>
              <a:t>单击此处编辑母版文本样式</a:t>
            </a:r>
          </a:p>
          <a:p>
            <a:pPr lvl="1"/>
            <a:r>
              <a:rPr lang="en-US" altLang="x-none" dirty="0"/>
              <a:t>第二级</a:t>
            </a:r>
          </a:p>
          <a:p>
            <a:pPr lvl="2"/>
            <a:r>
              <a:rPr lang="en-US" altLang="x-none" dirty="0"/>
              <a:t>第三级</a:t>
            </a:r>
          </a:p>
          <a:p>
            <a:pPr lvl="3"/>
            <a:r>
              <a:rPr lang="en-US" altLang="x-none" dirty="0"/>
              <a:t>第四级</a:t>
            </a:r>
          </a:p>
          <a:p>
            <a:pPr lvl="4"/>
            <a:r>
              <a:rPr lang="en-US" altLang="x-none" dirty="0"/>
              <a:t>第五级</a:t>
            </a:r>
          </a:p>
        </p:txBody>
      </p:sp>
      <p:sp>
        <p:nvSpPr>
          <p:cNvPr id="46086" name="页脚占位符 4608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en-US" altLang="x-none" sz="1200" dirty="0"/>
          </a:p>
        </p:txBody>
      </p:sp>
      <p:sp>
        <p:nvSpPr>
          <p:cNvPr id="46087" name="灯片编号占位符 4608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en-US" altLang="x-none" sz="1200" dirty="0"/>
              <a:t>‹#›</a:t>
            </a:fld>
            <a:endParaRPr lang="en-US" altLang="x-none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5120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文本占位符 5120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lang="en-US" altLang="x-non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altLang="x-none" sz="1200" dirty="0"/>
              <a:t>1</a:t>
            </a:fld>
            <a:endParaRPr lang="en-US" altLang="x-none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52225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文本占位符 52226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lang="en-US" altLang="x-non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altLang="x-none" sz="1200" dirty="0"/>
              <a:t>2</a:t>
            </a:fld>
            <a:endParaRPr lang="en-US" altLang="x-none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53249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文本占位符 53250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lang="en-US" altLang="x-non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altLang="x-none" sz="1200" dirty="0"/>
              <a:t>3</a:t>
            </a:fld>
            <a:endParaRPr lang="en-US" altLang="x-none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6144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文本占位符 6144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lang="en-US" altLang="x-non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altLang="x-none" sz="1200" dirty="0"/>
              <a:t>4</a:t>
            </a:fld>
            <a:endParaRPr lang="en-US" altLang="x-none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62465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文本占位符 62466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lang="en-US" altLang="x-non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altLang="x-none" sz="1200" dirty="0"/>
              <a:t>5</a:t>
            </a:fld>
            <a:endParaRPr lang="en-US" altLang="x-none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9216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文本占位符 9216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lang="en-US" altLang="x-non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altLang="x-none" sz="1200" dirty="0"/>
              <a:t>6</a:t>
            </a:fld>
            <a:endParaRPr lang="en-US" altLang="x-none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63489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文本占位符 63490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lang="en-US" altLang="x-non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altLang="x-none" sz="1200" dirty="0"/>
              <a:t>7</a:t>
            </a:fld>
            <a:endParaRPr lang="en-US" altLang="x-none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64513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文本占位符 64514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lang="en-US" altLang="x-non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altLang="x-none" sz="1200" dirty="0"/>
              <a:t>8</a:t>
            </a:fld>
            <a:endParaRPr lang="en-US" altLang="x-none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65537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文本占位符 65538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lang="en-US" altLang="x-non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altLang="x-none" sz="1200" dirty="0"/>
              <a:t>9</a:t>
            </a:fld>
            <a:endParaRPr lang="en-US" altLang="x-none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6656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文本占位符 6656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lvl="0"/>
            <a:endParaRPr lang="en-US" altLang="x-none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altLang="x-none" sz="1200" dirty="0"/>
              <a:t>10</a:t>
            </a:fld>
            <a:endParaRPr lang="en-US" altLang="x-none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组合 30721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0723" name="组合 30722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0724" name="矩形 30723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25" name="矩形 30724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0726" name="组合 30725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0727" name="矩形 30726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28" name="矩形 30727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729" name="矩形 30728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0" name="矩形 30729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1" name="矩形 30730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32" name="标题 30731"/>
          <p:cNvSpPr>
            <a:spLocks noGrp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lvl="0"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33" name="副标题 3073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ctr">
              <a:buNone/>
              <a:defRPr/>
            </a:lvl1pPr>
            <a:lvl2pPr marL="457200" lvl="1" indent="0" algn="ctr">
              <a:buNone/>
              <a:defRPr/>
            </a:lvl2pPr>
            <a:lvl3pPr marL="914400" lvl="2" indent="0" algn="ctr">
              <a:buNone/>
              <a:defRPr/>
            </a:lvl3pPr>
            <a:lvl4pPr marL="1371600" lvl="3" indent="0" algn="ctr">
              <a:buNone/>
              <a:defRPr/>
            </a:lvl4pPr>
            <a:lvl5pPr marL="1828800" lvl="4" indent="0" algn="ctr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30734" name="日期占位符 30733"/>
          <p:cNvSpPr>
            <a:spLocks noGrp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endParaRPr lang="zh-CN" altLang="en-US" dirty="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0735" name="页脚占位符 30734"/>
          <p:cNvSpPr>
            <a:spLocks noGrp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endParaRPr lang="zh-CN" dirty="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0736" name="灯片编号占位符 30735"/>
          <p:cNvSpPr>
            <a:spLocks noGrp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en-US" altLang="zh-CN" dirty="0">
                <a:solidFill>
                  <a:schemeClr val="bg2"/>
                </a:solidFill>
                <a:latin typeface="Tahoma" panose="020B0604030504040204" pitchFamily="34" charset="0"/>
              </a:rPr>
              <a:t>‹#›</a:t>
            </a:fld>
            <a:endParaRPr lang="zh-CN" dirty="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2025/5/12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 dirty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 dirty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6612" y="2017713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 dirty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 dirty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 dirty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 dirty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 dirty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 dirty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 dirty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1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4000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 dirty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29697"/>
          <p:cNvSpPr/>
          <p:nvPr/>
        </p:nvSpPr>
        <p:spPr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lang="en-US" altLang="x-none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矩形 29698"/>
          <p:cNvSpPr/>
          <p:nvPr/>
        </p:nvSpPr>
        <p:spPr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lang="en-US" altLang="x-none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矩形 29699"/>
          <p:cNvSpPr/>
          <p:nvPr/>
        </p:nvSpPr>
        <p:spPr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lang="en-US" altLang="x-none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矩形 29700"/>
          <p:cNvSpPr/>
          <p:nvPr/>
        </p:nvSpPr>
        <p:spPr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lang="en-US" altLang="x-none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2" name="矩形 29701"/>
          <p:cNvSpPr/>
          <p:nvPr/>
        </p:nvSpPr>
        <p:spPr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lang="en-US" altLang="x-none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3" name="矩形 29702"/>
          <p:cNvSpPr/>
          <p:nvPr/>
        </p:nvSpPr>
        <p:spPr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lang="en-US" altLang="x-none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4" name="矩形 29703"/>
          <p:cNvSpPr/>
          <p:nvPr/>
        </p:nvSpPr>
        <p:spPr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lang="en-US" altLang="x-none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标题 29704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9706" name="文本占位符 29705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9707" name="日期占位符 29706"/>
          <p:cNvSpPr>
            <a:spLocks noGrp="1"/>
          </p:cNvSpPr>
          <p:nvPr>
            <p:ph type="dt" sz="half" idx="2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>
                <a:latin typeface="Tahoma" panose="020B0604030504040204" pitchFamily="34" charset="0"/>
              </a:defRPr>
            </a:lvl1pPr>
          </a:lstStyle>
          <a:p>
            <a:pPr lvl="0"/>
            <a:fld id="{BB962C8B-B14F-4D97-AF65-F5344CB8AC3E}" type="datetime1">
              <a:rPr lang="zh-CN" altLang="en-US" dirty="0"/>
              <a:t>2025/5/12</a:t>
            </a:fld>
            <a:endParaRPr lang="zh-CN" altLang="en-US" dirty="0"/>
          </a:p>
        </p:txBody>
      </p:sp>
      <p:sp>
        <p:nvSpPr>
          <p:cNvPr id="29708" name="页脚占位符 29707"/>
          <p:cNvSpPr>
            <a:spLocks noGrp="1"/>
          </p:cNvSpPr>
          <p:nvPr>
            <p:ph type="ftr" sz="quarter" idx="3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>
                <a:latin typeface="Tahoma" panose="020B0604030504040204" pitchFamily="34" charset="0"/>
              </a:defRPr>
            </a:lvl1pPr>
          </a:lstStyle>
          <a:p>
            <a:pPr lvl="0"/>
            <a:endParaRPr lang="zh-CN" dirty="0"/>
          </a:p>
        </p:txBody>
      </p:sp>
      <p:sp>
        <p:nvSpPr>
          <p:cNvPr id="29709" name="灯片编号占位符 29708"/>
          <p:cNvSpPr>
            <a:spLocks noGrp="1"/>
          </p:cNvSpPr>
          <p:nvPr>
            <p:ph type="sldNum" sz="quarter" idx="4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pPr lvl="0"/>
            <a:fld id="{9A0DB2DC-4C9A-4742-B13C-FB6460FD3503}" type="slidenum">
              <a:rPr lang="en-US" altLang="zh-CN" dirty="0"/>
              <a:t>‹#›</a:t>
            </a:fld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5121"/>
          <p:cNvSpPr>
            <a:spLocks noGrp="1"/>
          </p:cNvSpPr>
          <p:nvPr>
            <p:ph type="title"/>
          </p:nvPr>
        </p:nvSpPr>
        <p:spPr>
          <a:ln/>
        </p:spPr>
        <p:txBody>
          <a:bodyPr anchor="b"/>
          <a:lstStyle/>
          <a:p>
            <a:r>
              <a:rPr lang="en-US" altLang="zh-CN"/>
              <a:t>The TINY Language</a:t>
            </a:r>
          </a:p>
        </p:txBody>
      </p:sp>
      <p:sp>
        <p:nvSpPr>
          <p:cNvPr id="5123" name="文本占位符 5122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419600"/>
          </a:xfrm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Syntax description 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A program is a sequence of statements separated by semicolons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Declarations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0000"/>
                </a:solidFill>
              </a:rPr>
              <a:t>	No procedures and no declarations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Data Type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0000"/>
                </a:solidFill>
              </a:rPr>
              <a:t>	All variables are integer variables, and variables are declared by assigning values to them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占位符 6145"/>
          <p:cNvSpPr>
            <a:spLocks noGrp="1"/>
          </p:cNvSpPr>
          <p:nvPr>
            <p:ph type="body" idx="1"/>
          </p:nvPr>
        </p:nvSpPr>
        <p:spPr>
          <a:xfrm>
            <a:off x="533400" y="1981200"/>
            <a:ext cx="8305800" cy="4038600"/>
          </a:xfrm>
          <a:ln/>
        </p:spPr>
        <p:txBody>
          <a:bodyPr/>
          <a:lstStyle/>
          <a:p>
            <a:pPr lvl="1"/>
            <a:r>
              <a:rPr lang="en-US" altLang="zh-CN" dirty="0">
                <a:solidFill>
                  <a:srgbClr val="000000"/>
                </a:solidFill>
              </a:rPr>
              <a:t>Statement</a:t>
            </a:r>
          </a:p>
          <a:p>
            <a:pPr lvl="1">
              <a:buNone/>
            </a:pPr>
            <a:r>
              <a:rPr lang="en-US" altLang="zh-CN" dirty="0">
                <a:solidFill>
                  <a:srgbClr val="000000"/>
                </a:solidFill>
              </a:rPr>
              <a:t>	Two control statements: if-statement and repeat-statement, read and write statements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Expression</a:t>
            </a:r>
          </a:p>
          <a:p>
            <a:pPr lvl="1">
              <a:buNone/>
            </a:pPr>
            <a:r>
              <a:rPr lang="en-US" altLang="zh-CN" dirty="0">
                <a:solidFill>
                  <a:srgbClr val="000000"/>
                </a:solidFill>
              </a:rPr>
              <a:t>	Boolean and integer arithmetic expressions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Comment</a:t>
            </a:r>
          </a:p>
          <a:p>
            <a:pPr lvl="1">
              <a:buNone/>
            </a:pPr>
            <a:r>
              <a:rPr lang="en-US" altLang="zh-CN" dirty="0">
                <a:solidFill>
                  <a:srgbClr val="000000"/>
                </a:solidFill>
              </a:rPr>
              <a:t>	Comments are allowed within curly bracket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文本占位符 7169"/>
          <p:cNvSpPr>
            <a:spLocks noGrp="1"/>
          </p:cNvSpPr>
          <p:nvPr>
            <p:ph type="body" idx="1"/>
          </p:nvPr>
        </p:nvSpPr>
        <p:spPr>
          <a:xfrm>
            <a:off x="533400" y="1066800"/>
            <a:ext cx="8305800" cy="5410200"/>
          </a:xfrm>
          <a:ln/>
        </p:spPr>
        <p:txBody>
          <a:bodyPr/>
          <a:lstStyle/>
          <a:p>
            <a:pPr marL="457200" indent="-4572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{sample program in TINY language- computes factorial}</a:t>
            </a:r>
          </a:p>
          <a:p>
            <a:pPr marL="457200" indent="-4572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read x;  { input an integer }</a:t>
            </a:r>
          </a:p>
          <a:p>
            <a:pPr marL="457200" indent="-4572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if 0&lt;x then  { don’t compute if x&lt;=0 }</a:t>
            </a:r>
          </a:p>
          <a:p>
            <a:pPr marL="457200" indent="-4572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	fact:=1;</a:t>
            </a:r>
          </a:p>
          <a:p>
            <a:pPr marL="457200" indent="-4572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	repeat</a:t>
            </a:r>
          </a:p>
          <a:p>
            <a:pPr marL="457200" indent="-4572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		fact := fact*x;</a:t>
            </a:r>
          </a:p>
          <a:p>
            <a:pPr marL="457200" indent="-4572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		x := x-1</a:t>
            </a:r>
          </a:p>
          <a:p>
            <a:pPr marL="457200" indent="-4572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	until x=0;</a:t>
            </a:r>
          </a:p>
          <a:p>
            <a:pPr marL="457200" indent="-4572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	write fact{output factorial of x}</a:t>
            </a:r>
          </a:p>
          <a:p>
            <a:pPr marL="457200" indent="-457200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end</a:t>
            </a:r>
          </a:p>
        </p:txBody>
      </p:sp>
      <p:sp>
        <p:nvSpPr>
          <p:cNvPr id="7171" name="矩形 7170"/>
          <p:cNvSpPr/>
          <p:nvPr/>
        </p:nvSpPr>
        <p:spPr>
          <a:xfrm>
            <a:off x="442913" y="381000"/>
            <a:ext cx="1524000" cy="519113"/>
          </a:xfrm>
          <a:prstGeom prst="rect">
            <a:avLst/>
          </a:prstGeom>
          <a:noFill/>
          <a:ln w="25400">
            <a:noFill/>
          </a:ln>
        </p:spPr>
        <p:txBody>
          <a:bodyPr wrap="none" lIns="90000" tIns="46800" rIns="90000" bIns="46800" anchor="t">
            <a:spAutoFit/>
          </a:bodyPr>
          <a:lstStyle/>
          <a:p>
            <a:pPr lvl="0"/>
            <a:r>
              <a:rPr lang="en-US" altLang="zh-CN" sz="2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34817"/>
          <p:cNvSpPr>
            <a:spLocks noGrp="1"/>
          </p:cNvSpPr>
          <p:nvPr>
            <p:ph type="title"/>
          </p:nvPr>
        </p:nvSpPr>
        <p:spPr>
          <a:xfrm>
            <a:off x="762000" y="2514600"/>
            <a:ext cx="7793038" cy="1143000"/>
          </a:xfrm>
          <a:ln/>
        </p:spPr>
        <p:txBody>
          <a:bodyPr anchor="b"/>
          <a:lstStyle/>
          <a:p>
            <a:r>
              <a:rPr lang="en-US" altLang="zh-CN" sz="4000"/>
              <a:t>  Syntax of the TINY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3553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15200" cy="1143000"/>
          </a:xfrm>
          <a:ln/>
        </p:spPr>
        <p:txBody>
          <a:bodyPr anchor="b"/>
          <a:lstStyle/>
          <a:p>
            <a:r>
              <a:rPr lang="en-US" altLang="zh-CN" sz="3200"/>
              <a:t>A Context-Free Grammar for TINY</a:t>
            </a:r>
          </a:p>
        </p:txBody>
      </p:sp>
      <p:sp>
        <p:nvSpPr>
          <p:cNvPr id="23555" name="文本占位符 23554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8229600" cy="4572000"/>
          </a:xfrm>
          <a:ln/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US" altLang="zh-CN" sz="2800">
                <a:solidFill>
                  <a:srgbClr val="3333FF"/>
                </a:solidFill>
              </a:rPr>
              <a:t>program	</a:t>
            </a:r>
            <a:r>
              <a:rPr lang="en-US" altLang="zh-CN" sz="2800" err="1"/>
              <a:t>-&gt; stmt-seq</a:t>
            </a:r>
            <a:endParaRPr lang="en-US" altLang="zh-CN" sz="2800"/>
          </a:p>
          <a:p>
            <a:pPr>
              <a:lnSpc>
                <a:spcPct val="80000"/>
              </a:lnSpc>
              <a:buNone/>
            </a:pPr>
            <a:r>
              <a:rPr lang="en-US" altLang="zh-CN" sz="2800" err="1">
                <a:solidFill>
                  <a:srgbClr val="3333FF"/>
                </a:solidFill>
              </a:rPr>
              <a:t>stmt-&gt;seq</a:t>
            </a:r>
            <a:r>
              <a:rPr lang="en-US" altLang="zh-CN" sz="2800">
                <a:solidFill>
                  <a:srgbClr val="3333FF"/>
                </a:solidFill>
              </a:rPr>
              <a:t>	</a:t>
            </a:r>
            <a:r>
              <a:rPr lang="en-US" altLang="zh-CN" sz="2800" err="1"/>
              <a:t>-&gt; stmt-seq</a:t>
            </a:r>
            <a:r>
              <a:rPr lang="en-US" altLang="zh-CN" sz="2800"/>
              <a:t>;stmt | stmt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800">
                <a:solidFill>
                  <a:srgbClr val="3333FF"/>
                </a:solidFill>
              </a:rPr>
              <a:t>stmt		</a:t>
            </a:r>
            <a:r>
              <a:rPr lang="en-US" altLang="zh-CN" sz="2800"/>
              <a:t>-&gt; if-stmt|repeat-stmt|assign-			    stmt|read-stmt | write-stmt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800">
                <a:solidFill>
                  <a:schemeClr val="folHlink"/>
                </a:solidFill>
              </a:rPr>
              <a:t>if-stmt</a:t>
            </a:r>
            <a:r>
              <a:rPr lang="en-US" altLang="zh-CN" sz="2800" err="1"/>
              <a:t> 	-&gt;if exp then stmt-seq</a:t>
            </a:r>
            <a:r>
              <a:rPr lang="en-US" altLang="zh-CN" sz="2800"/>
              <a:t> end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800" err="1"/>
              <a:t>		     | if exp then stmt-seq else stmt-seq</a:t>
            </a:r>
            <a:r>
              <a:rPr lang="en-US" altLang="zh-CN" sz="2800"/>
              <a:t> end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800">
                <a:solidFill>
                  <a:schemeClr val="folHlink"/>
                </a:solidFill>
              </a:rPr>
              <a:t>repeat-stmt</a:t>
            </a:r>
            <a:r>
              <a:rPr lang="en-US" altLang="zh-CN" sz="2800" err="1"/>
              <a:t>-&gt;repeat stmt-seq</a:t>
            </a:r>
            <a:r>
              <a:rPr lang="en-US" altLang="zh-CN" sz="2800"/>
              <a:t> until exp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800">
                <a:solidFill>
                  <a:schemeClr val="folHlink"/>
                </a:solidFill>
              </a:rPr>
              <a:t>assign-stmt</a:t>
            </a:r>
            <a:r>
              <a:rPr lang="en-US" altLang="zh-CN" sz="2800"/>
              <a:t>-&gt; id:= exp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800">
                <a:solidFill>
                  <a:schemeClr val="folHlink"/>
                </a:solidFill>
              </a:rPr>
              <a:t>read-stmt</a:t>
            </a:r>
            <a:r>
              <a:rPr lang="en-US" altLang="zh-CN" sz="2800"/>
              <a:t> 	-&gt; read id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800">
                <a:solidFill>
                  <a:schemeClr val="folHlink"/>
                </a:solidFill>
              </a:rPr>
              <a:t>write-stmt</a:t>
            </a:r>
            <a:r>
              <a:rPr lang="en-US" altLang="zh-CN" sz="2800"/>
              <a:t> 	-&gt; write exp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91137"/>
          <p:cNvSpPr>
            <a:spLocks noGrp="1"/>
          </p:cNvSpPr>
          <p:nvPr>
            <p:ph type="title"/>
          </p:nvPr>
        </p:nvSpPr>
        <p:spPr>
          <a:ln/>
        </p:spPr>
        <p:txBody>
          <a:bodyPr anchor="b"/>
          <a:lstStyle/>
          <a:p>
            <a:endParaRPr lang="en-US" altLang="x-none" dirty="0"/>
          </a:p>
        </p:txBody>
      </p:sp>
      <p:sp>
        <p:nvSpPr>
          <p:cNvPr id="91139" name="文本占位符 91138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buNone/>
            </a:pPr>
            <a:r>
              <a:rPr lang="en-US" altLang="zh-CN">
                <a:solidFill>
                  <a:srgbClr val="3333FF"/>
                </a:solidFill>
              </a:rPr>
              <a:t>exp		</a:t>
            </a:r>
            <a:r>
              <a:rPr lang="en-US" altLang="zh-CN" err="1"/>
              <a:t>-&gt; simp-exp cop simp-exp 			    |simp</a:t>
            </a:r>
            <a:r>
              <a:rPr lang="en-US" altLang="zh-CN"/>
              <a:t>-exp</a:t>
            </a:r>
          </a:p>
          <a:p>
            <a:pPr>
              <a:buNone/>
            </a:pPr>
            <a:r>
              <a:rPr lang="en-US" altLang="zh-CN">
                <a:solidFill>
                  <a:srgbClr val="3333FF"/>
                </a:solidFill>
              </a:rPr>
              <a:t>cop		</a:t>
            </a:r>
            <a:r>
              <a:rPr lang="en-US" altLang="zh-CN"/>
              <a:t>-&gt; &lt; | =</a:t>
            </a:r>
          </a:p>
          <a:p>
            <a:pPr>
              <a:buNone/>
            </a:pPr>
            <a:r>
              <a:rPr lang="en-US" altLang="zh-CN" err="1">
                <a:solidFill>
                  <a:srgbClr val="3333FF"/>
                </a:solidFill>
              </a:rPr>
              <a:t>simp</a:t>
            </a:r>
            <a:r>
              <a:rPr lang="en-US" altLang="zh-CN">
                <a:solidFill>
                  <a:srgbClr val="3333FF"/>
                </a:solidFill>
              </a:rPr>
              <a:t>-exp	</a:t>
            </a:r>
            <a:r>
              <a:rPr lang="en-US" altLang="zh-CN" err="1"/>
              <a:t>-&gt; simp-exp addop</a:t>
            </a:r>
            <a:r>
              <a:rPr lang="en-US" altLang="zh-CN"/>
              <a:t> term |term</a:t>
            </a:r>
          </a:p>
          <a:p>
            <a:pPr>
              <a:buNone/>
            </a:pPr>
            <a:r>
              <a:rPr lang="en-US" altLang="zh-CN">
                <a:solidFill>
                  <a:srgbClr val="3333FF"/>
                </a:solidFill>
              </a:rPr>
              <a:t>term		</a:t>
            </a:r>
            <a:r>
              <a:rPr lang="en-US" altLang="zh-CN" err="1"/>
              <a:t>-&gt; term mulop</a:t>
            </a:r>
            <a:r>
              <a:rPr lang="en-US" altLang="zh-CN"/>
              <a:t> factor | factor</a:t>
            </a:r>
          </a:p>
          <a:p>
            <a:pPr>
              <a:buNone/>
            </a:pPr>
            <a:r>
              <a:rPr lang="en-US" altLang="zh-CN">
                <a:solidFill>
                  <a:srgbClr val="3333FF"/>
                </a:solidFill>
              </a:rPr>
              <a:t>factor	</a:t>
            </a:r>
            <a:r>
              <a:rPr lang="en-US" altLang="x-none" dirty="0"/>
              <a:t>-&gt; (exp) |num |id</a:t>
            </a:r>
          </a:p>
          <a:p>
            <a:pPr>
              <a:buNone/>
            </a:pPr>
            <a:r>
              <a:rPr lang="en-US" altLang="zh-CN">
                <a:solidFill>
                  <a:srgbClr val="3333FF"/>
                </a:solidFill>
                <a:sym typeface="+mn-ea"/>
              </a:rPr>
              <a:t>addop  	</a:t>
            </a:r>
            <a:r>
              <a:rPr lang="en-US" altLang="zh-CN">
                <a:sym typeface="+mn-ea"/>
              </a:rPr>
              <a:t>-&gt; +|-</a:t>
            </a:r>
          </a:p>
          <a:p>
            <a:pPr>
              <a:buNone/>
            </a:pPr>
            <a:r>
              <a:rPr lang="en-US" altLang="zh-CN">
                <a:solidFill>
                  <a:srgbClr val="3333FF"/>
                </a:solidFill>
                <a:sym typeface="+mn-ea"/>
              </a:rPr>
              <a:t>mulop 	</a:t>
            </a:r>
            <a:r>
              <a:rPr lang="en-US" altLang="zh-CN">
                <a:sym typeface="+mn-ea"/>
              </a:rPr>
              <a:t>-&gt; *|/</a:t>
            </a:r>
            <a:endParaRPr lang="en-US" altLang="x-non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4577"/>
          <p:cNvSpPr>
            <a:spLocks noGrp="1"/>
          </p:cNvSpPr>
          <p:nvPr>
            <p:ph type="title"/>
          </p:nvPr>
        </p:nvSpPr>
        <p:spPr>
          <a:xfrm>
            <a:off x="1219200" y="685800"/>
            <a:ext cx="7239000" cy="838200"/>
          </a:xfrm>
          <a:ln/>
        </p:spPr>
        <p:txBody>
          <a:bodyPr anchor="b"/>
          <a:lstStyle/>
          <a:p>
            <a:r>
              <a:rPr lang="en-US" altLang="zh-CN" sz="3200"/>
              <a:t>Syntax Tree Structure for the TINY Compiler</a:t>
            </a:r>
          </a:p>
        </p:txBody>
      </p:sp>
      <p:sp>
        <p:nvSpPr>
          <p:cNvPr id="24579" name="文本占位符 24578"/>
          <p:cNvSpPr>
            <a:spLocks noGrp="1"/>
          </p:cNvSpPr>
          <p:nvPr>
            <p:ph type="body" idx="1"/>
          </p:nvPr>
        </p:nvSpPr>
        <p:spPr>
          <a:xfrm>
            <a:off x="685800" y="1866900"/>
            <a:ext cx="7543800" cy="952500"/>
          </a:xfrm>
          <a:ln/>
        </p:spPr>
        <p:txBody>
          <a:bodyPr/>
          <a:lstStyle/>
          <a:p>
            <a:pPr marL="609600" indent="-609600">
              <a:lnSpc>
                <a:spcPct val="90000"/>
              </a:lnSpc>
              <a:buNone/>
            </a:pPr>
            <a:r>
              <a:rPr lang="en-US" altLang="zh-CN" sz="2800"/>
              <a:t>Basic syntax tree structures</a:t>
            </a:r>
          </a:p>
          <a:p>
            <a:pPr marL="609600" indent="-609600">
              <a:lnSpc>
                <a:spcPct val="90000"/>
              </a:lnSpc>
              <a:buNone/>
            </a:pPr>
            <a:r>
              <a:rPr lang="en-US" altLang="zh-CN" sz="2800"/>
              <a:t>1 A sequence of statements</a:t>
            </a:r>
          </a:p>
        </p:txBody>
      </p:sp>
      <p:pic>
        <p:nvPicPr>
          <p:cNvPr id="24580" name="图片 245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828925"/>
            <a:ext cx="6743700" cy="1362075"/>
          </a:xfrm>
          <a:prstGeom prst="rect">
            <a:avLst/>
          </a:prstGeom>
          <a:noFill/>
          <a:ln w="25400">
            <a:noFill/>
          </a:ln>
        </p:spPr>
      </p:pic>
      <p:sp>
        <p:nvSpPr>
          <p:cNvPr id="24581" name="文本框 24580"/>
          <p:cNvSpPr txBox="1"/>
          <p:nvPr/>
        </p:nvSpPr>
        <p:spPr>
          <a:xfrm>
            <a:off x="533400" y="4114800"/>
            <a:ext cx="6781800" cy="4762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457200" lvl="0" indent="-457200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zh-CN" sz="2800" b="1">
                <a:latin typeface="Arial" panose="020B0604020202020204" pitchFamily="34" charset="0"/>
                <a:ea typeface="宋体" panose="02010600030101010101" pitchFamily="2" charset="-122"/>
              </a:rPr>
              <a:t>2 An if-statement</a:t>
            </a:r>
          </a:p>
        </p:txBody>
      </p:sp>
      <p:pic>
        <p:nvPicPr>
          <p:cNvPr id="24582" name="图片 245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4648200"/>
            <a:ext cx="3429000" cy="2057400"/>
          </a:xfrm>
          <a:prstGeom prst="rect">
            <a:avLst/>
          </a:prstGeom>
          <a:noFill/>
          <a:ln w="2540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文本框 25601"/>
          <p:cNvSpPr txBox="1"/>
          <p:nvPr/>
        </p:nvSpPr>
        <p:spPr>
          <a:xfrm>
            <a:off x="457200" y="209550"/>
            <a:ext cx="3886200" cy="4762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457200" lvl="0" indent="-457200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zh-CN" sz="2800" b="1">
                <a:latin typeface="Arial" panose="020B0604020202020204" pitchFamily="34" charset="0"/>
                <a:ea typeface="宋体" panose="02010600030101010101" pitchFamily="2" charset="-122"/>
              </a:rPr>
              <a:t>3 A repeat-statement</a:t>
            </a:r>
          </a:p>
        </p:txBody>
      </p:sp>
      <p:pic>
        <p:nvPicPr>
          <p:cNvPr id="25603" name="图片 256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762000"/>
            <a:ext cx="2571750" cy="1990725"/>
          </a:xfrm>
          <a:prstGeom prst="rect">
            <a:avLst/>
          </a:prstGeom>
          <a:noFill/>
          <a:ln w="25400">
            <a:noFill/>
          </a:ln>
        </p:spPr>
      </p:pic>
      <p:sp>
        <p:nvSpPr>
          <p:cNvPr id="25604" name="文本框 25603"/>
          <p:cNvSpPr txBox="1"/>
          <p:nvPr/>
        </p:nvSpPr>
        <p:spPr>
          <a:xfrm>
            <a:off x="4800600" y="228600"/>
            <a:ext cx="4114800" cy="4762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457200" lvl="0" indent="-457200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zh-CN" sz="2800" b="1">
                <a:latin typeface="Arial" panose="020B0604020202020204" pitchFamily="34" charset="0"/>
                <a:ea typeface="宋体" panose="02010600030101010101" pitchFamily="2" charset="-122"/>
              </a:rPr>
              <a:t>4 An assign-statement</a:t>
            </a:r>
          </a:p>
        </p:txBody>
      </p:sp>
      <p:pic>
        <p:nvPicPr>
          <p:cNvPr id="25605" name="图片 256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762000"/>
            <a:ext cx="1600200" cy="1905000"/>
          </a:xfrm>
          <a:prstGeom prst="rect">
            <a:avLst/>
          </a:prstGeom>
          <a:noFill/>
          <a:ln w="25400">
            <a:noFill/>
          </a:ln>
        </p:spPr>
      </p:pic>
      <p:sp>
        <p:nvSpPr>
          <p:cNvPr id="25606" name="文本框 25605"/>
          <p:cNvSpPr txBox="1"/>
          <p:nvPr/>
        </p:nvSpPr>
        <p:spPr>
          <a:xfrm>
            <a:off x="609600" y="2971800"/>
            <a:ext cx="4114800" cy="4762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457200" lvl="0" indent="-457200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zh-CN" sz="2800" b="1">
                <a:latin typeface="Arial" panose="020B0604020202020204" pitchFamily="34" charset="0"/>
                <a:ea typeface="宋体" panose="02010600030101010101" pitchFamily="2" charset="-122"/>
              </a:rPr>
              <a:t>5 A write-statement</a:t>
            </a:r>
          </a:p>
        </p:txBody>
      </p:sp>
      <p:pic>
        <p:nvPicPr>
          <p:cNvPr id="25607" name="图片 256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657600"/>
            <a:ext cx="1438275" cy="1981200"/>
          </a:xfrm>
          <a:prstGeom prst="rect">
            <a:avLst/>
          </a:prstGeom>
          <a:noFill/>
          <a:ln w="25400">
            <a:noFill/>
          </a:ln>
        </p:spPr>
      </p:pic>
      <p:sp>
        <p:nvSpPr>
          <p:cNvPr id="25608" name="文本框 25607"/>
          <p:cNvSpPr txBox="1"/>
          <p:nvPr/>
        </p:nvSpPr>
        <p:spPr>
          <a:xfrm>
            <a:off x="4572000" y="3048000"/>
            <a:ext cx="4572000" cy="4762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457200" lvl="0" indent="-457200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zh-CN" sz="2800" b="1">
                <a:latin typeface="Arial" panose="020B0604020202020204" pitchFamily="34" charset="0"/>
                <a:ea typeface="宋体" panose="02010600030101010101" pitchFamily="2" charset="-122"/>
              </a:rPr>
              <a:t>6 An operator-expression</a:t>
            </a:r>
          </a:p>
        </p:txBody>
      </p:sp>
      <p:pic>
        <p:nvPicPr>
          <p:cNvPr id="25609" name="图片 256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3581400"/>
            <a:ext cx="3048000" cy="2085975"/>
          </a:xfrm>
          <a:prstGeom prst="rect">
            <a:avLst/>
          </a:prstGeom>
          <a:noFill/>
          <a:ln w="2540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文本占位符 26626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8178800" cy="5105400"/>
          </a:xfrm>
          <a:ln/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CN" sz="2800">
                <a:solidFill>
                  <a:srgbClr val="000000"/>
                </a:solidFill>
              </a:rPr>
              <a:t>{sample program in TINY language- computes factorial}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>
                <a:solidFill>
                  <a:srgbClr val="000000"/>
                </a:solidFill>
              </a:rPr>
              <a:t>read x;{input an integer}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>
                <a:solidFill>
                  <a:srgbClr val="000000"/>
                </a:solidFill>
              </a:rPr>
              <a:t>if 0&lt;x then {don’t compute if x&lt;=0}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>
                <a:solidFill>
                  <a:srgbClr val="000000"/>
                </a:solidFill>
              </a:rPr>
              <a:t>	fact:=1;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>
                <a:solidFill>
                  <a:srgbClr val="000000"/>
                </a:solidFill>
              </a:rPr>
              <a:t>	repeat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>
                <a:solidFill>
                  <a:srgbClr val="000000"/>
                </a:solidFill>
              </a:rPr>
              <a:t>		fact:=fact*x;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>
                <a:solidFill>
                  <a:srgbClr val="000000"/>
                </a:solidFill>
              </a:rPr>
              <a:t>		x:=x-1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>
                <a:solidFill>
                  <a:srgbClr val="000000"/>
                </a:solidFill>
              </a:rPr>
              <a:t>	until x=0;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>
                <a:solidFill>
                  <a:srgbClr val="000000"/>
                </a:solidFill>
              </a:rPr>
              <a:t>	write fact{output factorial of x}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>
                <a:solidFill>
                  <a:srgbClr val="000000"/>
                </a:solidFill>
              </a:rPr>
              <a:t>end</a:t>
            </a:r>
            <a:endParaRPr lang="en-US" altLang="zh-CN" sz="2800"/>
          </a:p>
        </p:txBody>
      </p:sp>
      <p:sp>
        <p:nvSpPr>
          <p:cNvPr id="26628" name="右箭头 26627">
            <a:hlinkClick r:id="rId3" action="ppaction://hlinksldjump"/>
          </p:cNvPr>
          <p:cNvSpPr/>
          <p:nvPr/>
        </p:nvSpPr>
        <p:spPr>
          <a:xfrm>
            <a:off x="8229600" y="6324600"/>
            <a:ext cx="381000" cy="228600"/>
          </a:xfrm>
          <a:prstGeom prst="rightArrow">
            <a:avLst>
              <a:gd name="adj1" fmla="val 50000"/>
              <a:gd name="adj2" fmla="val 41666"/>
            </a:avLst>
          </a:prstGeom>
          <a:noFill/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276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28" y="228600"/>
            <a:ext cx="8915400" cy="6400800"/>
          </a:xfrm>
          <a:prstGeom prst="rect">
            <a:avLst/>
          </a:prstGeom>
          <a:noFill/>
          <a:ln w="25400">
            <a:noFill/>
          </a:ln>
        </p:spPr>
      </p:pic>
      <p:sp>
        <p:nvSpPr>
          <p:cNvPr id="27651" name="左箭头 27650">
            <a:hlinkClick r:id="rId4" action="ppaction://hlinksldjump"/>
          </p:cNvPr>
          <p:cNvSpPr/>
          <p:nvPr/>
        </p:nvSpPr>
        <p:spPr>
          <a:xfrm>
            <a:off x="-1476672" y="5733256"/>
            <a:ext cx="533400" cy="304800"/>
          </a:xfrm>
          <a:prstGeom prst="leftArrow">
            <a:avLst>
              <a:gd name="adj1" fmla="val 50000"/>
              <a:gd name="adj2" fmla="val 43750"/>
            </a:avLst>
          </a:prstGeom>
          <a:noFill/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2F2F2"/>
        </a:accent5>
        <a:accent6>
          <a:srgbClr val="727272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1951</TotalTime>
  <Words>380</Words>
  <Application>Microsoft Office PowerPoint</Application>
  <PresentationFormat>全屏显示(4:3)</PresentationFormat>
  <Paragraphs>70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Monotype Sorts</vt:lpstr>
      <vt:lpstr>Arial</vt:lpstr>
      <vt:lpstr>Tahoma</vt:lpstr>
      <vt:lpstr>Times New Roman</vt:lpstr>
      <vt:lpstr>Wingdings</vt:lpstr>
      <vt:lpstr>Blends</vt:lpstr>
      <vt:lpstr>The TINY Language</vt:lpstr>
      <vt:lpstr>PowerPoint 演示文稿</vt:lpstr>
      <vt:lpstr>PowerPoint 演示文稿</vt:lpstr>
      <vt:lpstr>  Syntax of the TINY Language</vt:lpstr>
      <vt:lpstr>A Context-Free Grammar for TINY</vt:lpstr>
      <vt:lpstr>PowerPoint 演示文稿</vt:lpstr>
      <vt:lpstr>Syntax Tree Structure for the TINY Compiler</vt:lpstr>
      <vt:lpstr>PowerPoint 演示文稿</vt:lpstr>
      <vt:lpstr>PowerPoint 演示文稿</vt:lpstr>
      <vt:lpstr>PowerPoint 演示文稿</vt:lpstr>
    </vt:vector>
  </TitlesOfParts>
  <Company>华南理工大学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1.5 The TINY Sample Language and Compiler</dc:title>
  <dc:creator>刘欣欣</dc:creator>
  <cp:lastModifiedBy>王锦鸿</cp:lastModifiedBy>
  <cp:revision>128</cp:revision>
  <dcterms:created xsi:type="dcterms:W3CDTF">2006-09-05T10:34:30Z</dcterms:created>
  <dcterms:modified xsi:type="dcterms:W3CDTF">2025-05-13T12:51:16Z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