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72" r:id="rId2"/>
    <p:sldId id="274" r:id="rId3"/>
    <p:sldId id="278" r:id="rId4"/>
    <p:sldId id="275" r:id="rId5"/>
    <p:sldId id="276" r:id="rId6"/>
    <p:sldId id="277" r:id="rId7"/>
    <p:sldId id="279" r:id="rId8"/>
    <p:sldId id="280" r:id="rId9"/>
    <p:sldId id="287" r:id="rId10"/>
    <p:sldId id="288" r:id="rId11"/>
    <p:sldId id="289" r:id="rId12"/>
    <p:sldId id="281" r:id="rId13"/>
    <p:sldId id="282" r:id="rId14"/>
    <p:sldId id="283" r:id="rId15"/>
    <p:sldId id="284" r:id="rId16"/>
    <p:sldId id="285" r:id="rId17"/>
    <p:sldId id="286" r:id="rId18"/>
    <p:sldId id="271" r:id="rId19"/>
    <p:sldId id="256" r:id="rId20"/>
    <p:sldId id="260" r:id="rId21"/>
    <p:sldId id="259" r:id="rId22"/>
    <p:sldId id="264" r:id="rId23"/>
    <p:sldId id="262" r:id="rId24"/>
    <p:sldId id="263" r:id="rId25"/>
    <p:sldId id="265" r:id="rId26"/>
    <p:sldId id="266" r:id="rId27"/>
    <p:sldId id="290" r:id="rId28"/>
    <p:sldId id="291" r:id="rId29"/>
    <p:sldId id="292" r:id="rId30"/>
    <p:sldId id="267" r:id="rId31"/>
    <p:sldId id="268" r:id="rId32"/>
    <p:sldId id="269" r:id="rId33"/>
    <p:sldId id="270" r:id="rId34"/>
    <p:sldId id="261" r:id="rId35"/>
    <p:sldId id="25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91" autoAdjust="0"/>
  </p:normalViewPr>
  <p:slideViewPr>
    <p:cSldViewPr snapToGrid="0">
      <p:cViewPr varScale="1">
        <p:scale>
          <a:sx n="62" d="100"/>
          <a:sy n="62" d="100"/>
        </p:scale>
        <p:origin x="7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729540-2959-4B73-B487-25C0AABE0C24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2D1D6-9D11-48AF-B501-8D4099E525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1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graph TD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0["0&lt;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/&gt;S' -&gt; .S&lt;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/&gt;S -&gt; .AB&lt;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.a&lt;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.$"] -- "$" --&gt; 4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0 -- "A" --&gt; 2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0 -- "S" --&gt; 1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0 -- "a" --&gt; 3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1["1&lt;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/&gt;S' -&gt; S."]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2["2&lt;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/&gt;S -&gt; A.B&lt;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/&gt;B -&gt; .b&lt;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/&gt;B -&gt; .A&lt;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.a&lt;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.$"] -- "$" --&gt; 4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2 -- "A" --&gt; 7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2 -- "B" --&gt; 5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2 -- "a" --&gt; 3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2 -- "b" --&gt; 6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3["3&lt;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a."]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4["4&lt;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/&gt;A -&gt; $."]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5["5&lt;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/&gt;S -&gt; AB."]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6["6&lt;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/&gt;B -&gt; b."]</a:t>
            </a:r>
          </a:p>
          <a:p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    7["7&lt;</a:t>
            </a:r>
            <a:r>
              <a:rPr lang="en-US" altLang="zh-CN" b="0" dirty="0" err="1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zh-CN" b="0" dirty="0">
                <a:solidFill>
                  <a:srgbClr val="7B88A1"/>
                </a:solidFill>
                <a:effectLst/>
                <a:latin typeface="Consolas" panose="020B0609020204030204" pitchFamily="49" charset="0"/>
              </a:rPr>
              <a:t>/&gt;B -&gt; A."]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D1D6-9D11-48AF-B501-8D4099E5256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491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graph LR</a:t>
            </a:r>
          </a:p>
          <a:p>
            <a:r>
              <a:rPr lang="en-US" altLang="zh-CN" dirty="0"/>
              <a:t>  State0["S0&lt;</a:t>
            </a:r>
            <a:r>
              <a:rPr lang="en-US" altLang="zh-CN" dirty="0" err="1"/>
              <a:t>br</a:t>
            </a:r>
            <a:r>
              <a:rPr lang="en-US" altLang="zh-CN" dirty="0"/>
              <a:t>/&gt;S' -&gt; .E&lt;</a:t>
            </a:r>
            <a:r>
              <a:rPr lang="en-US" altLang="zh-CN" dirty="0" err="1"/>
              <a:t>br</a:t>
            </a:r>
            <a:r>
              <a:rPr lang="en-US" altLang="zh-CN" dirty="0"/>
              <a:t>/&gt;E -&gt; .E+T&lt;</a:t>
            </a:r>
            <a:r>
              <a:rPr lang="en-US" altLang="zh-CN" dirty="0" err="1"/>
              <a:t>br</a:t>
            </a:r>
            <a:r>
              <a:rPr lang="en-US" altLang="zh-CN" dirty="0"/>
              <a:t>/&gt;E -&gt; .T&lt;</a:t>
            </a:r>
            <a:r>
              <a:rPr lang="en-US" altLang="zh-CN" dirty="0" err="1"/>
              <a:t>br</a:t>
            </a:r>
            <a:r>
              <a:rPr lang="en-US" altLang="zh-CN" dirty="0"/>
              <a:t>/&gt;T -&gt; .T*F&lt;</a:t>
            </a:r>
            <a:r>
              <a:rPr lang="en-US" altLang="zh-CN" dirty="0" err="1"/>
              <a:t>br</a:t>
            </a:r>
            <a:r>
              <a:rPr lang="en-US" altLang="zh-CN" dirty="0"/>
              <a:t>/&gt;T -&gt; .F&lt;</a:t>
            </a:r>
            <a:r>
              <a:rPr lang="en-US" altLang="zh-CN" dirty="0" err="1"/>
              <a:t>br</a:t>
            </a:r>
            <a:r>
              <a:rPr lang="en-US" altLang="zh-CN" dirty="0"/>
              <a:t>/&gt;F -&gt; .(E)&lt;</a:t>
            </a:r>
            <a:r>
              <a:rPr lang="en-US" altLang="zh-CN" dirty="0" err="1"/>
              <a:t>br</a:t>
            </a:r>
            <a:r>
              <a:rPr lang="en-US" altLang="zh-CN" dirty="0"/>
              <a:t>/&gt;F -&gt; .</a:t>
            </a:r>
            <a:r>
              <a:rPr lang="en-US" altLang="zh-CN" dirty="0" err="1"/>
              <a:t>i</a:t>
            </a:r>
            <a:r>
              <a:rPr lang="en-US" altLang="zh-CN" dirty="0"/>
              <a:t>"]</a:t>
            </a:r>
          </a:p>
          <a:p>
            <a:r>
              <a:rPr lang="en-US" altLang="zh-CN" dirty="0"/>
              <a:t>  State1["S1&lt;</a:t>
            </a:r>
            <a:r>
              <a:rPr lang="en-US" altLang="zh-CN" dirty="0" err="1"/>
              <a:t>br</a:t>
            </a:r>
            <a:r>
              <a:rPr lang="en-US" altLang="zh-CN" dirty="0"/>
              <a:t>/&gt;S' -&gt; E.&lt;</a:t>
            </a:r>
            <a:r>
              <a:rPr lang="en-US" altLang="zh-CN" dirty="0" err="1"/>
              <a:t>br</a:t>
            </a:r>
            <a:r>
              <a:rPr lang="en-US" altLang="zh-CN" dirty="0"/>
              <a:t>/&gt;E -&gt; E.+T"]</a:t>
            </a:r>
          </a:p>
          <a:p>
            <a:r>
              <a:rPr lang="en-US" altLang="zh-CN" dirty="0"/>
              <a:t>  State2["S2&lt;</a:t>
            </a:r>
            <a:r>
              <a:rPr lang="en-US" altLang="zh-CN" dirty="0" err="1"/>
              <a:t>br</a:t>
            </a:r>
            <a:r>
              <a:rPr lang="en-US" altLang="zh-CN" dirty="0"/>
              <a:t>/&gt;E -&gt; T.&lt;</a:t>
            </a:r>
            <a:r>
              <a:rPr lang="en-US" altLang="zh-CN" dirty="0" err="1"/>
              <a:t>br</a:t>
            </a:r>
            <a:r>
              <a:rPr lang="en-US" altLang="zh-CN" dirty="0"/>
              <a:t>/&gt;T -&gt; T.*F"]</a:t>
            </a:r>
          </a:p>
          <a:p>
            <a:r>
              <a:rPr lang="en-US" altLang="zh-CN" dirty="0"/>
              <a:t>  State3["S3&lt;</a:t>
            </a:r>
            <a:r>
              <a:rPr lang="en-US" altLang="zh-CN" dirty="0" err="1"/>
              <a:t>br</a:t>
            </a:r>
            <a:r>
              <a:rPr lang="en-US" altLang="zh-CN" dirty="0"/>
              <a:t>/&gt;T -&gt; F."]</a:t>
            </a:r>
          </a:p>
          <a:p>
            <a:r>
              <a:rPr lang="en-US" altLang="zh-CN" dirty="0"/>
              <a:t>  State4["S4&lt;</a:t>
            </a:r>
            <a:r>
              <a:rPr lang="en-US" altLang="zh-CN" dirty="0" err="1"/>
              <a:t>br</a:t>
            </a:r>
            <a:r>
              <a:rPr lang="en-US" altLang="zh-CN" dirty="0"/>
              <a:t>/&gt;F -&gt; (.E)&lt;</a:t>
            </a:r>
            <a:r>
              <a:rPr lang="en-US" altLang="zh-CN" dirty="0" err="1"/>
              <a:t>br</a:t>
            </a:r>
            <a:r>
              <a:rPr lang="en-US" altLang="zh-CN" dirty="0"/>
              <a:t>/&gt;E -&gt; .E+T&lt;</a:t>
            </a:r>
            <a:r>
              <a:rPr lang="en-US" altLang="zh-CN" dirty="0" err="1"/>
              <a:t>br</a:t>
            </a:r>
            <a:r>
              <a:rPr lang="en-US" altLang="zh-CN" dirty="0"/>
              <a:t>/&gt;E -&gt; .T&lt;</a:t>
            </a:r>
            <a:r>
              <a:rPr lang="en-US" altLang="zh-CN" dirty="0" err="1"/>
              <a:t>br</a:t>
            </a:r>
            <a:r>
              <a:rPr lang="en-US" altLang="zh-CN" dirty="0"/>
              <a:t>/&gt;T -&gt; .T*F&lt;</a:t>
            </a:r>
            <a:r>
              <a:rPr lang="en-US" altLang="zh-CN" dirty="0" err="1"/>
              <a:t>br</a:t>
            </a:r>
            <a:r>
              <a:rPr lang="en-US" altLang="zh-CN" dirty="0"/>
              <a:t>/&gt;T -&gt; .F&lt;</a:t>
            </a:r>
            <a:r>
              <a:rPr lang="en-US" altLang="zh-CN" dirty="0" err="1"/>
              <a:t>br</a:t>
            </a:r>
            <a:r>
              <a:rPr lang="en-US" altLang="zh-CN" dirty="0"/>
              <a:t>/&gt;F -&gt; .(E)&lt;</a:t>
            </a:r>
            <a:r>
              <a:rPr lang="en-US" altLang="zh-CN" dirty="0" err="1"/>
              <a:t>br</a:t>
            </a:r>
            <a:r>
              <a:rPr lang="en-US" altLang="zh-CN" dirty="0"/>
              <a:t>/&gt;F -&gt; .</a:t>
            </a:r>
            <a:r>
              <a:rPr lang="en-US" altLang="zh-CN" dirty="0" err="1"/>
              <a:t>i</a:t>
            </a:r>
            <a:r>
              <a:rPr lang="en-US" altLang="zh-CN" dirty="0"/>
              <a:t>"]</a:t>
            </a:r>
          </a:p>
          <a:p>
            <a:r>
              <a:rPr lang="en-US" altLang="zh-CN" dirty="0"/>
              <a:t>  State5["S5&lt;</a:t>
            </a:r>
            <a:r>
              <a:rPr lang="en-US" altLang="zh-CN" dirty="0" err="1"/>
              <a:t>br</a:t>
            </a:r>
            <a:r>
              <a:rPr lang="en-US" altLang="zh-CN" dirty="0"/>
              <a:t>/&gt;F -&gt; </a:t>
            </a:r>
            <a:r>
              <a:rPr lang="en-US" altLang="zh-CN" dirty="0" err="1"/>
              <a:t>i</a:t>
            </a:r>
            <a:r>
              <a:rPr lang="en-US" altLang="zh-CN" dirty="0"/>
              <a:t>."]</a:t>
            </a:r>
          </a:p>
          <a:p>
            <a:r>
              <a:rPr lang="en-US" altLang="zh-CN" dirty="0"/>
              <a:t>  State6["S6&lt;</a:t>
            </a:r>
            <a:r>
              <a:rPr lang="en-US" altLang="zh-CN" dirty="0" err="1"/>
              <a:t>br</a:t>
            </a:r>
            <a:r>
              <a:rPr lang="en-US" altLang="zh-CN" dirty="0"/>
              <a:t>/&gt;E -&gt; E+.T&lt;</a:t>
            </a:r>
            <a:r>
              <a:rPr lang="en-US" altLang="zh-CN" dirty="0" err="1"/>
              <a:t>br</a:t>
            </a:r>
            <a:r>
              <a:rPr lang="en-US" altLang="zh-CN" dirty="0"/>
              <a:t>/&gt;T -&gt; .T*F&lt;</a:t>
            </a:r>
            <a:r>
              <a:rPr lang="en-US" altLang="zh-CN" dirty="0" err="1"/>
              <a:t>br</a:t>
            </a:r>
            <a:r>
              <a:rPr lang="en-US" altLang="zh-CN" dirty="0"/>
              <a:t>/&gt;T -&gt; .F&lt;</a:t>
            </a:r>
            <a:r>
              <a:rPr lang="en-US" altLang="zh-CN" dirty="0" err="1"/>
              <a:t>br</a:t>
            </a:r>
            <a:r>
              <a:rPr lang="en-US" altLang="zh-CN" dirty="0"/>
              <a:t>/&gt;F -&gt; .(E)&lt;</a:t>
            </a:r>
            <a:r>
              <a:rPr lang="en-US" altLang="zh-CN" dirty="0" err="1"/>
              <a:t>br</a:t>
            </a:r>
            <a:r>
              <a:rPr lang="en-US" altLang="zh-CN" dirty="0"/>
              <a:t>/&gt;F -&gt; .</a:t>
            </a:r>
            <a:r>
              <a:rPr lang="en-US" altLang="zh-CN" dirty="0" err="1"/>
              <a:t>i</a:t>
            </a:r>
            <a:r>
              <a:rPr lang="en-US" altLang="zh-CN" dirty="0"/>
              <a:t>"]</a:t>
            </a:r>
          </a:p>
          <a:p>
            <a:r>
              <a:rPr lang="en-US" altLang="zh-CN" dirty="0"/>
              <a:t>  State7["S7&lt;</a:t>
            </a:r>
            <a:r>
              <a:rPr lang="en-US" altLang="zh-CN" dirty="0" err="1"/>
              <a:t>br</a:t>
            </a:r>
            <a:r>
              <a:rPr lang="en-US" altLang="zh-CN" dirty="0"/>
              <a:t>/&gt;T -&gt; T*.F&lt;</a:t>
            </a:r>
            <a:r>
              <a:rPr lang="en-US" altLang="zh-CN" dirty="0" err="1"/>
              <a:t>br</a:t>
            </a:r>
            <a:r>
              <a:rPr lang="en-US" altLang="zh-CN" dirty="0"/>
              <a:t>/&gt;F -&gt; .(E)&lt;</a:t>
            </a:r>
            <a:r>
              <a:rPr lang="en-US" altLang="zh-CN" dirty="0" err="1"/>
              <a:t>br</a:t>
            </a:r>
            <a:r>
              <a:rPr lang="en-US" altLang="zh-CN" dirty="0"/>
              <a:t>/&gt;F -&gt; .</a:t>
            </a:r>
            <a:r>
              <a:rPr lang="en-US" altLang="zh-CN" dirty="0" err="1"/>
              <a:t>i</a:t>
            </a:r>
            <a:r>
              <a:rPr lang="en-US" altLang="zh-CN" dirty="0"/>
              <a:t>"]</a:t>
            </a:r>
          </a:p>
          <a:p>
            <a:r>
              <a:rPr lang="en-US" altLang="zh-CN" dirty="0"/>
              <a:t>  State8["S8&lt;</a:t>
            </a:r>
            <a:r>
              <a:rPr lang="en-US" altLang="zh-CN" dirty="0" err="1"/>
              <a:t>br</a:t>
            </a:r>
            <a:r>
              <a:rPr lang="en-US" altLang="zh-CN" dirty="0"/>
              <a:t>/&gt;F -&gt; (E.)&lt;</a:t>
            </a:r>
            <a:r>
              <a:rPr lang="en-US" altLang="zh-CN" dirty="0" err="1"/>
              <a:t>br</a:t>
            </a:r>
            <a:r>
              <a:rPr lang="en-US" altLang="zh-CN" dirty="0"/>
              <a:t>/&gt;E -&gt; E.+T"]</a:t>
            </a:r>
          </a:p>
          <a:p>
            <a:r>
              <a:rPr lang="en-US" altLang="zh-CN" dirty="0"/>
              <a:t>  State9["S9&lt;</a:t>
            </a:r>
            <a:r>
              <a:rPr lang="en-US" altLang="zh-CN" dirty="0" err="1"/>
              <a:t>br</a:t>
            </a:r>
            <a:r>
              <a:rPr lang="en-US" altLang="zh-CN" dirty="0"/>
              <a:t>/&gt;E -&gt; E+T.&lt;</a:t>
            </a:r>
            <a:r>
              <a:rPr lang="en-US" altLang="zh-CN" dirty="0" err="1"/>
              <a:t>br</a:t>
            </a:r>
            <a:r>
              <a:rPr lang="en-US" altLang="zh-CN" dirty="0"/>
              <a:t>/&gt;T -&gt; T.*F"]</a:t>
            </a:r>
          </a:p>
          <a:p>
            <a:r>
              <a:rPr lang="en-US" altLang="zh-CN" dirty="0"/>
              <a:t>  State10["S10&lt;</a:t>
            </a:r>
            <a:r>
              <a:rPr lang="en-US" altLang="zh-CN" dirty="0" err="1"/>
              <a:t>br</a:t>
            </a:r>
            <a:r>
              <a:rPr lang="en-US" altLang="zh-CN" dirty="0"/>
              <a:t>/&gt;T -&gt; T*F."]</a:t>
            </a:r>
          </a:p>
          <a:p>
            <a:r>
              <a:rPr lang="en-US" altLang="zh-CN" dirty="0"/>
              <a:t>  State11["S11&lt;</a:t>
            </a:r>
            <a:r>
              <a:rPr lang="en-US" altLang="zh-CN" dirty="0" err="1"/>
              <a:t>br</a:t>
            </a:r>
            <a:r>
              <a:rPr lang="en-US" altLang="zh-CN" dirty="0"/>
              <a:t>/&gt;F -&gt; (E)."]</a:t>
            </a:r>
          </a:p>
          <a:p>
            <a:r>
              <a:rPr lang="en-US" altLang="zh-CN" dirty="0"/>
              <a:t>  State0 -- "(" --&gt; State4</a:t>
            </a:r>
          </a:p>
          <a:p>
            <a:r>
              <a:rPr lang="en-US" altLang="zh-CN" dirty="0"/>
              <a:t>  State0 -- "E" --&gt; State1</a:t>
            </a:r>
          </a:p>
          <a:p>
            <a:r>
              <a:rPr lang="en-US" altLang="zh-CN" dirty="0"/>
              <a:t>  State0 -- "F" --&gt; State3</a:t>
            </a:r>
          </a:p>
          <a:p>
            <a:r>
              <a:rPr lang="en-US" altLang="zh-CN" dirty="0"/>
              <a:t>  State0 -- "T" --&gt; State2</a:t>
            </a:r>
          </a:p>
          <a:p>
            <a:r>
              <a:rPr lang="en-US" altLang="zh-CN" dirty="0"/>
              <a:t>  State1 -- "\+" --&gt; State6</a:t>
            </a:r>
          </a:p>
          <a:p>
            <a:r>
              <a:rPr lang="en-US" altLang="zh-CN" dirty="0"/>
              <a:t>  State2 -- "\*" --&gt; State7</a:t>
            </a:r>
          </a:p>
          <a:p>
            <a:r>
              <a:rPr lang="en-US" altLang="zh-CN" dirty="0"/>
              <a:t>  State4 -- "(" --&gt; State4</a:t>
            </a:r>
          </a:p>
          <a:p>
            <a:r>
              <a:rPr lang="en-US" altLang="zh-CN" dirty="0"/>
              <a:t>  State4 -- "E" --&gt; State8</a:t>
            </a:r>
          </a:p>
          <a:p>
            <a:r>
              <a:rPr lang="en-US" altLang="zh-CN" dirty="0"/>
              <a:t>  State4 -- "F" --&gt; State3</a:t>
            </a:r>
          </a:p>
          <a:p>
            <a:r>
              <a:rPr lang="en-US" altLang="zh-CN" dirty="0"/>
              <a:t>  State4 -- "T" --&gt; State2</a:t>
            </a:r>
          </a:p>
          <a:p>
            <a:r>
              <a:rPr lang="en-US" altLang="zh-CN" dirty="0"/>
              <a:t>  State6 -- "(" --&gt; State4</a:t>
            </a:r>
          </a:p>
          <a:p>
            <a:r>
              <a:rPr lang="en-US" altLang="zh-CN" dirty="0"/>
              <a:t>  State6 -- "F" --&gt; State3</a:t>
            </a:r>
          </a:p>
          <a:p>
            <a:r>
              <a:rPr lang="en-US" altLang="zh-CN" dirty="0"/>
              <a:t>  State6 -- "T" --&gt; State9</a:t>
            </a:r>
          </a:p>
          <a:p>
            <a:r>
              <a:rPr lang="en-US" altLang="zh-CN" dirty="0"/>
              <a:t>  State7 -- "(" --&gt; State4</a:t>
            </a:r>
          </a:p>
          <a:p>
            <a:r>
              <a:rPr lang="en-US" altLang="zh-CN" dirty="0"/>
              <a:t>  State7 -- "F" --&gt; State10</a:t>
            </a:r>
          </a:p>
          <a:p>
            <a:r>
              <a:rPr lang="en-US" altLang="zh-CN" dirty="0"/>
              <a:t>  State8 -- ")" --&gt; State11</a:t>
            </a:r>
          </a:p>
          <a:p>
            <a:r>
              <a:rPr lang="en-US" altLang="zh-CN" dirty="0"/>
              <a:t>  State8 -- "\+" --&gt; State6</a:t>
            </a:r>
          </a:p>
          <a:p>
            <a:r>
              <a:rPr lang="en-US" altLang="zh-CN" dirty="0"/>
              <a:t>  State9 -- "\*" --&gt; State7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D1D6-9D11-48AF-B501-8D4099E5256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87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graph LR</a:t>
            </a:r>
          </a:p>
          <a:p>
            <a:r>
              <a:rPr lang="en-US" altLang="zh-CN" dirty="0"/>
              <a:t>    0["State 0&lt;</a:t>
            </a:r>
            <a:r>
              <a:rPr lang="en-US" altLang="zh-CN" dirty="0" err="1"/>
              <a:t>br</a:t>
            </a:r>
            <a:r>
              <a:rPr lang="en-US" altLang="zh-CN" dirty="0"/>
              <a:t>&gt;S' -&gt; .S&lt;</a:t>
            </a:r>
            <a:r>
              <a:rPr lang="en-US" altLang="zh-CN" dirty="0" err="1"/>
              <a:t>br</a:t>
            </a:r>
            <a:r>
              <a:rPr lang="en-US" altLang="zh-CN" dirty="0"/>
              <a:t>&gt;S -&gt; .AB&lt;</a:t>
            </a:r>
            <a:r>
              <a:rPr lang="en-US" altLang="zh-CN" dirty="0" err="1"/>
              <a:t>br</a:t>
            </a:r>
            <a:r>
              <a:rPr lang="en-US" altLang="zh-CN" dirty="0"/>
              <a:t>&gt;S -&gt; .A&lt;</a:t>
            </a:r>
            <a:r>
              <a:rPr lang="en-US" altLang="zh-CN" dirty="0" err="1"/>
              <a:t>br</a:t>
            </a:r>
            <a:r>
              <a:rPr lang="en-US" altLang="zh-CN" dirty="0"/>
              <a:t>&gt;A -&gt; .a"]</a:t>
            </a:r>
          </a:p>
          <a:p>
            <a:r>
              <a:rPr lang="en-US" altLang="zh-CN" dirty="0"/>
              <a:t>    1["State 1&lt;</a:t>
            </a:r>
            <a:r>
              <a:rPr lang="en-US" altLang="zh-CN" dirty="0" err="1"/>
              <a:t>br</a:t>
            </a:r>
            <a:r>
              <a:rPr lang="en-US" altLang="zh-CN" dirty="0"/>
              <a:t>&gt;S' -&gt; S."]</a:t>
            </a:r>
          </a:p>
          <a:p>
            <a:r>
              <a:rPr lang="en-US" altLang="zh-CN" dirty="0"/>
              <a:t>    2["State 2&lt;</a:t>
            </a:r>
            <a:r>
              <a:rPr lang="en-US" altLang="zh-CN" dirty="0" err="1"/>
              <a:t>br</a:t>
            </a:r>
            <a:r>
              <a:rPr lang="en-US" altLang="zh-CN" dirty="0"/>
              <a:t>&gt;S -&gt; A.B&lt;</a:t>
            </a:r>
            <a:r>
              <a:rPr lang="en-US" altLang="zh-CN" dirty="0" err="1"/>
              <a:t>br</a:t>
            </a:r>
            <a:r>
              <a:rPr lang="en-US" altLang="zh-CN" dirty="0"/>
              <a:t>&gt;S -&gt; A.&lt;</a:t>
            </a:r>
            <a:r>
              <a:rPr lang="en-US" altLang="zh-CN" dirty="0" err="1"/>
              <a:t>br</a:t>
            </a:r>
            <a:r>
              <a:rPr lang="en-US" altLang="zh-CN" dirty="0"/>
              <a:t>&gt;B -&gt; .b"]</a:t>
            </a:r>
          </a:p>
          <a:p>
            <a:r>
              <a:rPr lang="en-US" altLang="zh-CN" dirty="0"/>
              <a:t>    3["State 3&lt;</a:t>
            </a:r>
            <a:r>
              <a:rPr lang="en-US" altLang="zh-CN" dirty="0" err="1"/>
              <a:t>br</a:t>
            </a:r>
            <a:r>
              <a:rPr lang="en-US" altLang="zh-CN" dirty="0"/>
              <a:t>&gt;A -&gt; a."]</a:t>
            </a:r>
          </a:p>
          <a:p>
            <a:r>
              <a:rPr lang="en-US" altLang="zh-CN" dirty="0"/>
              <a:t>    4["State 4&lt;</a:t>
            </a:r>
            <a:r>
              <a:rPr lang="en-US" altLang="zh-CN" dirty="0" err="1"/>
              <a:t>br</a:t>
            </a:r>
            <a:r>
              <a:rPr lang="en-US" altLang="zh-CN" dirty="0"/>
              <a:t>&gt;S -&gt; AB."]</a:t>
            </a:r>
          </a:p>
          <a:p>
            <a:r>
              <a:rPr lang="en-US" altLang="zh-CN" dirty="0"/>
              <a:t>    5["State 5&lt;</a:t>
            </a:r>
            <a:r>
              <a:rPr lang="en-US" altLang="zh-CN" dirty="0" err="1"/>
              <a:t>br</a:t>
            </a:r>
            <a:r>
              <a:rPr lang="en-US" altLang="zh-CN" dirty="0"/>
              <a:t>&gt;B -&gt; b."]</a:t>
            </a:r>
          </a:p>
          <a:p>
            <a:endParaRPr lang="en-US" altLang="zh-CN" dirty="0"/>
          </a:p>
          <a:p>
            <a:r>
              <a:rPr lang="en-US" altLang="zh-CN" dirty="0"/>
              <a:t>    0 -- A --&gt; 2</a:t>
            </a:r>
          </a:p>
          <a:p>
            <a:r>
              <a:rPr lang="en-US" altLang="zh-CN" dirty="0"/>
              <a:t>    0 -- S --&gt; 1</a:t>
            </a:r>
          </a:p>
          <a:p>
            <a:r>
              <a:rPr lang="en-US" altLang="zh-CN" dirty="0"/>
              <a:t>    0 -- a --&gt; 3</a:t>
            </a:r>
          </a:p>
          <a:p>
            <a:r>
              <a:rPr lang="en-US" altLang="zh-CN" dirty="0"/>
              <a:t>    2 -- B --&gt; 4</a:t>
            </a:r>
          </a:p>
          <a:p>
            <a:r>
              <a:rPr lang="en-US" altLang="zh-CN" dirty="0"/>
              <a:t>    2 -- b --&gt; 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D1D6-9D11-48AF-B501-8D4099E5256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607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graph LR</a:t>
            </a:r>
          </a:p>
          <a:p>
            <a:r>
              <a:rPr lang="en-US" altLang="zh-CN" dirty="0"/>
              <a:t>    0["State 0&lt;</a:t>
            </a:r>
            <a:r>
              <a:rPr lang="en-US" altLang="zh-CN" dirty="0" err="1"/>
              <a:t>br</a:t>
            </a:r>
            <a:r>
              <a:rPr lang="en-US" altLang="zh-CN" dirty="0"/>
              <a:t>/&gt;S' -&gt; .S, [#]&lt;br/&gt;S -&gt; .L=R, [#]&lt;br/&gt;S -&gt; .R, [#]&lt;br/&gt;L -&gt; .*R,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.</a:t>
            </a:r>
            <a:r>
              <a:rPr lang="en-US" altLang="zh-CN" dirty="0" err="1"/>
              <a:t>i</a:t>
            </a:r>
            <a:r>
              <a:rPr lang="en-US" altLang="zh-CN" dirty="0"/>
              <a:t>, [=]&lt;</a:t>
            </a:r>
            <a:r>
              <a:rPr lang="en-US" altLang="zh-CN" dirty="0" err="1"/>
              <a:t>br</a:t>
            </a:r>
            <a:r>
              <a:rPr lang="en-US" altLang="zh-CN" dirty="0"/>
              <a:t>/&gt;R -&gt; .L, [#]&lt;br/&gt;L -&gt; .*R, [#]&lt;br/&gt;L -&gt; .</a:t>
            </a:r>
            <a:r>
              <a:rPr lang="en-US" altLang="zh-CN" dirty="0" err="1"/>
              <a:t>i</a:t>
            </a:r>
            <a:r>
              <a:rPr lang="en-US" altLang="zh-CN" dirty="0"/>
              <a:t>, [#]"]</a:t>
            </a:r>
          </a:p>
          <a:p>
            <a:r>
              <a:rPr lang="en-US" altLang="zh-CN" dirty="0"/>
              <a:t>    1["State 1&lt;</a:t>
            </a:r>
            <a:r>
              <a:rPr lang="en-US" altLang="zh-CN" dirty="0" err="1"/>
              <a:t>br</a:t>
            </a:r>
            <a:r>
              <a:rPr lang="en-US" altLang="zh-CN" dirty="0"/>
              <a:t>/&gt;S' -&gt; S., [#]"]</a:t>
            </a:r>
          </a:p>
          <a:p>
            <a:r>
              <a:rPr lang="en-US" altLang="zh-CN" dirty="0"/>
              <a:t>    2["State 2&lt;</a:t>
            </a:r>
            <a:r>
              <a:rPr lang="en-US" altLang="zh-CN" dirty="0" err="1"/>
              <a:t>br</a:t>
            </a:r>
            <a:r>
              <a:rPr lang="en-US" altLang="zh-CN" dirty="0"/>
              <a:t>/&gt;S -&gt; L.=R, [#]&lt;br/&gt;R -&gt; L., [#]"]</a:t>
            </a:r>
          </a:p>
          <a:p>
            <a:r>
              <a:rPr lang="en-US" altLang="zh-CN" dirty="0"/>
              <a:t>    3["State 3&lt;</a:t>
            </a:r>
            <a:r>
              <a:rPr lang="en-US" altLang="zh-CN" dirty="0" err="1"/>
              <a:t>br</a:t>
            </a:r>
            <a:r>
              <a:rPr lang="en-US" altLang="zh-CN" dirty="0"/>
              <a:t>/&gt;S -&gt; R., [#]"]</a:t>
            </a:r>
          </a:p>
          <a:p>
            <a:r>
              <a:rPr lang="en-US" altLang="zh-CN" dirty="0"/>
              <a:t>    4["State 4&lt;</a:t>
            </a:r>
            <a:r>
              <a:rPr lang="en-US" altLang="zh-CN" dirty="0" err="1"/>
              <a:t>br</a:t>
            </a:r>
            <a:r>
              <a:rPr lang="en-US" altLang="zh-CN" dirty="0"/>
              <a:t>/&gt;L -&gt; *.R,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*.R, [#]&lt;br/&gt;R -&gt; .L, [=]&lt;</a:t>
            </a:r>
            <a:r>
              <a:rPr lang="en-US" altLang="zh-CN" dirty="0" err="1"/>
              <a:t>br</a:t>
            </a:r>
            <a:r>
              <a:rPr lang="en-US" altLang="zh-CN" dirty="0"/>
              <a:t>/&gt;R -&gt; .L, [#]&lt;br/&gt;L -&gt; .*R,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.</a:t>
            </a:r>
            <a:r>
              <a:rPr lang="en-US" altLang="zh-CN" dirty="0" err="1"/>
              <a:t>i</a:t>
            </a:r>
            <a:r>
              <a:rPr lang="en-US" altLang="zh-CN" dirty="0"/>
              <a:t>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.*R, [#]&lt;br/&gt;L -&gt; .</a:t>
            </a:r>
            <a:r>
              <a:rPr lang="en-US" altLang="zh-CN" dirty="0" err="1"/>
              <a:t>i</a:t>
            </a:r>
            <a:r>
              <a:rPr lang="en-US" altLang="zh-CN" dirty="0"/>
              <a:t>, [#]"]</a:t>
            </a:r>
          </a:p>
          <a:p>
            <a:r>
              <a:rPr lang="en-US" altLang="zh-CN" dirty="0"/>
              <a:t>    5["State 5&lt;</a:t>
            </a:r>
            <a:r>
              <a:rPr lang="en-US" altLang="zh-CN" dirty="0" err="1"/>
              <a:t>br</a:t>
            </a:r>
            <a:r>
              <a:rPr lang="en-US" altLang="zh-CN" dirty="0"/>
              <a:t>/&gt;L -&gt; </a:t>
            </a:r>
            <a:r>
              <a:rPr lang="en-US" altLang="zh-CN" dirty="0" err="1"/>
              <a:t>i</a:t>
            </a:r>
            <a:r>
              <a:rPr lang="en-US" altLang="zh-CN" dirty="0"/>
              <a:t>.,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</a:t>
            </a:r>
            <a:r>
              <a:rPr lang="en-US" altLang="zh-CN" dirty="0" err="1"/>
              <a:t>i</a:t>
            </a:r>
            <a:r>
              <a:rPr lang="en-US" altLang="zh-CN" dirty="0"/>
              <a:t>., [#]"]</a:t>
            </a:r>
          </a:p>
          <a:p>
            <a:r>
              <a:rPr lang="en-US" altLang="zh-CN" dirty="0"/>
              <a:t>    6["State 6&lt;</a:t>
            </a:r>
            <a:r>
              <a:rPr lang="en-US" altLang="zh-CN" dirty="0" err="1"/>
              <a:t>br</a:t>
            </a:r>
            <a:r>
              <a:rPr lang="en-US" altLang="zh-CN" dirty="0"/>
              <a:t>/&gt;S -&gt; L=.R, [#]&lt;br/&gt;R -&gt; .L, [#]&lt;br/&gt;L -&gt; .*R, [#]&lt;br/&gt;L -&gt; .</a:t>
            </a:r>
            <a:r>
              <a:rPr lang="en-US" altLang="zh-CN" dirty="0" err="1"/>
              <a:t>i</a:t>
            </a:r>
            <a:r>
              <a:rPr lang="en-US" altLang="zh-CN" dirty="0"/>
              <a:t>, [#]"]</a:t>
            </a:r>
          </a:p>
          <a:p>
            <a:r>
              <a:rPr lang="en-US" altLang="zh-CN" dirty="0"/>
              <a:t>    7["State 7&lt;</a:t>
            </a:r>
            <a:r>
              <a:rPr lang="en-US" altLang="zh-CN" dirty="0" err="1"/>
              <a:t>br</a:t>
            </a:r>
            <a:r>
              <a:rPr lang="en-US" altLang="zh-CN" dirty="0"/>
              <a:t>/&gt;L -&gt; *R., [=]&lt;</a:t>
            </a:r>
            <a:r>
              <a:rPr lang="en-US" altLang="zh-CN" dirty="0" err="1"/>
              <a:t>br</a:t>
            </a:r>
            <a:r>
              <a:rPr lang="en-US" altLang="zh-CN" dirty="0"/>
              <a:t>/&gt;L -&gt; *R., [#]"]</a:t>
            </a:r>
          </a:p>
          <a:p>
            <a:r>
              <a:rPr lang="en-US" altLang="zh-CN" dirty="0"/>
              <a:t>    8["State 8&lt;</a:t>
            </a:r>
            <a:r>
              <a:rPr lang="en-US" altLang="zh-CN" dirty="0" err="1"/>
              <a:t>br</a:t>
            </a:r>
            <a:r>
              <a:rPr lang="en-US" altLang="zh-CN" dirty="0"/>
              <a:t>/&gt;R -&gt; L., [=]&lt;</a:t>
            </a:r>
            <a:r>
              <a:rPr lang="en-US" altLang="zh-CN" dirty="0" err="1"/>
              <a:t>br</a:t>
            </a:r>
            <a:r>
              <a:rPr lang="en-US" altLang="zh-CN" dirty="0"/>
              <a:t>/&gt;R -&gt; L., [#]"]</a:t>
            </a:r>
          </a:p>
          <a:p>
            <a:r>
              <a:rPr lang="en-US" altLang="zh-CN" dirty="0"/>
              <a:t>    9["State 9&lt;</a:t>
            </a:r>
            <a:r>
              <a:rPr lang="en-US" altLang="zh-CN" dirty="0" err="1"/>
              <a:t>br</a:t>
            </a:r>
            <a:r>
              <a:rPr lang="en-US" altLang="zh-CN" dirty="0"/>
              <a:t>/&gt;S -&gt; L=R., [#]"]</a:t>
            </a:r>
          </a:p>
          <a:p>
            <a:r>
              <a:rPr lang="en-US" altLang="zh-CN" dirty="0"/>
              <a:t>    10["State 10&lt;</a:t>
            </a:r>
            <a:r>
              <a:rPr lang="en-US" altLang="zh-CN" dirty="0" err="1"/>
              <a:t>br</a:t>
            </a:r>
            <a:r>
              <a:rPr lang="en-US" altLang="zh-CN" dirty="0"/>
              <a:t>/&gt;R -&gt; L., [#]"]</a:t>
            </a:r>
          </a:p>
          <a:p>
            <a:r>
              <a:rPr lang="en-US" altLang="zh-CN" dirty="0"/>
              <a:t>    11["State 11&lt;</a:t>
            </a:r>
            <a:r>
              <a:rPr lang="en-US" altLang="zh-CN" dirty="0" err="1"/>
              <a:t>br</a:t>
            </a:r>
            <a:r>
              <a:rPr lang="en-US" altLang="zh-CN" dirty="0"/>
              <a:t>/&gt;L -&gt; *.R, [#]&lt;br/&gt;R -&gt; .L, [#]&lt;br/&gt;L -&gt; .*R, [#]&lt;br/&gt;L -&gt; .</a:t>
            </a:r>
            <a:r>
              <a:rPr lang="en-US" altLang="zh-CN" dirty="0" err="1"/>
              <a:t>i</a:t>
            </a:r>
            <a:r>
              <a:rPr lang="en-US" altLang="zh-CN" dirty="0"/>
              <a:t>, [#]"]</a:t>
            </a:r>
          </a:p>
          <a:p>
            <a:r>
              <a:rPr lang="en-US" altLang="zh-CN" dirty="0"/>
              <a:t>    12["State 12&lt;</a:t>
            </a:r>
            <a:r>
              <a:rPr lang="en-US" altLang="zh-CN" dirty="0" err="1"/>
              <a:t>br</a:t>
            </a:r>
            <a:r>
              <a:rPr lang="en-US" altLang="zh-CN" dirty="0"/>
              <a:t>/&gt;L -&gt; </a:t>
            </a:r>
            <a:r>
              <a:rPr lang="en-US" altLang="zh-CN" dirty="0" err="1"/>
              <a:t>i</a:t>
            </a:r>
            <a:r>
              <a:rPr lang="en-US" altLang="zh-CN" dirty="0"/>
              <a:t>., [#]"]</a:t>
            </a:r>
          </a:p>
          <a:p>
            <a:r>
              <a:rPr lang="en-US" altLang="zh-CN" dirty="0"/>
              <a:t>    13["State 13&lt;</a:t>
            </a:r>
            <a:r>
              <a:rPr lang="en-US" altLang="zh-CN" dirty="0" err="1"/>
              <a:t>br</a:t>
            </a:r>
            <a:r>
              <a:rPr lang="en-US" altLang="zh-CN" dirty="0"/>
              <a:t>/&gt;L -&gt; *R., [#]"]</a:t>
            </a:r>
          </a:p>
          <a:p>
            <a:endParaRPr lang="en-US" altLang="zh-CN" dirty="0"/>
          </a:p>
          <a:p>
            <a:r>
              <a:rPr lang="en-US" altLang="zh-CN" dirty="0"/>
              <a:t>    0 -- "\*" --&gt; 4</a:t>
            </a:r>
          </a:p>
          <a:p>
            <a:r>
              <a:rPr lang="en-US" altLang="zh-CN" dirty="0"/>
              <a:t>    0 -- "L" --&gt; 2</a:t>
            </a:r>
          </a:p>
          <a:p>
            <a:r>
              <a:rPr lang="en-US" altLang="zh-CN" dirty="0"/>
              <a:t>    0 -- "R" --&gt; 3</a:t>
            </a:r>
          </a:p>
          <a:p>
            <a:r>
              <a:rPr lang="en-US" altLang="zh-CN" dirty="0"/>
              <a:t>    0 -- "S" --&gt; 1</a:t>
            </a:r>
          </a:p>
          <a:p>
            <a:r>
              <a:rPr lang="en-US" altLang="zh-CN" dirty="0"/>
              <a:t>    0 -- "</a:t>
            </a:r>
            <a:r>
              <a:rPr lang="en-US" altLang="zh-CN" dirty="0" err="1"/>
              <a:t>i</a:t>
            </a:r>
            <a:r>
              <a:rPr lang="en-US" altLang="zh-CN" dirty="0"/>
              <a:t>" --&gt; 5</a:t>
            </a:r>
          </a:p>
          <a:p>
            <a:r>
              <a:rPr lang="en-US" altLang="zh-CN" dirty="0"/>
              <a:t>    2 -- "=" --&gt; 6</a:t>
            </a:r>
          </a:p>
          <a:p>
            <a:r>
              <a:rPr lang="en-US" altLang="zh-CN" dirty="0"/>
              <a:t>    4 -- "\*" --&gt; 4</a:t>
            </a:r>
          </a:p>
          <a:p>
            <a:r>
              <a:rPr lang="en-US" altLang="zh-CN" dirty="0"/>
              <a:t>    4 -- "L" --&gt; 8</a:t>
            </a:r>
          </a:p>
          <a:p>
            <a:r>
              <a:rPr lang="en-US" altLang="zh-CN" dirty="0"/>
              <a:t>    4 -- "R" --&gt; 7</a:t>
            </a:r>
          </a:p>
          <a:p>
            <a:r>
              <a:rPr lang="en-US" altLang="zh-CN" dirty="0"/>
              <a:t>    4 -- "</a:t>
            </a:r>
            <a:r>
              <a:rPr lang="en-US" altLang="zh-CN" dirty="0" err="1"/>
              <a:t>i</a:t>
            </a:r>
            <a:r>
              <a:rPr lang="en-US" altLang="zh-CN" dirty="0"/>
              <a:t>" --&gt; 5</a:t>
            </a:r>
          </a:p>
          <a:p>
            <a:r>
              <a:rPr lang="en-US" altLang="zh-CN" dirty="0"/>
              <a:t>    6 -- "\*" --&gt; 11</a:t>
            </a:r>
          </a:p>
          <a:p>
            <a:r>
              <a:rPr lang="en-US" altLang="zh-CN" dirty="0"/>
              <a:t>    6 -- "L" --&gt; 10</a:t>
            </a:r>
          </a:p>
          <a:p>
            <a:r>
              <a:rPr lang="en-US" altLang="zh-CN" dirty="0"/>
              <a:t>    6 -- "R" --&gt; 9</a:t>
            </a:r>
          </a:p>
          <a:p>
            <a:r>
              <a:rPr lang="en-US" altLang="zh-CN" dirty="0"/>
              <a:t>    6 -- "</a:t>
            </a:r>
            <a:r>
              <a:rPr lang="en-US" altLang="zh-CN" dirty="0" err="1"/>
              <a:t>i</a:t>
            </a:r>
            <a:r>
              <a:rPr lang="en-US" altLang="zh-CN" dirty="0"/>
              <a:t>" --&gt; 12</a:t>
            </a:r>
          </a:p>
          <a:p>
            <a:r>
              <a:rPr lang="en-US" altLang="zh-CN" dirty="0"/>
              <a:t>    11 -- "\*" --&gt; 11</a:t>
            </a:r>
          </a:p>
          <a:p>
            <a:r>
              <a:rPr lang="en-US" altLang="zh-CN" dirty="0"/>
              <a:t>    11 -- "L" --&gt; 10</a:t>
            </a:r>
          </a:p>
          <a:p>
            <a:r>
              <a:rPr lang="en-US" altLang="zh-CN" dirty="0"/>
              <a:t>    11 -- "R" --&gt; 13</a:t>
            </a:r>
          </a:p>
          <a:p>
            <a:r>
              <a:rPr lang="en-US" altLang="zh-CN" dirty="0"/>
              <a:t>    11 -- "</a:t>
            </a:r>
            <a:r>
              <a:rPr lang="en-US" altLang="zh-CN" dirty="0" err="1"/>
              <a:t>i</a:t>
            </a:r>
            <a:r>
              <a:rPr lang="en-US" altLang="zh-CN" dirty="0"/>
              <a:t>" --&gt; 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2D1D6-9D11-48AF-B501-8D4099E5256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8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E459C2-3FA1-434F-8E15-21C3673ECD12}"/>
              </a:ext>
            </a:extLst>
          </p:cNvPr>
          <p:cNvGrpSpPr/>
          <p:nvPr userDrawn="1"/>
        </p:nvGrpSpPr>
        <p:grpSpPr>
          <a:xfrm>
            <a:off x="9619785" y="267543"/>
            <a:ext cx="2290733" cy="713763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2069DB4-670B-47E9-B362-EFC3007E9EE8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17651C-9870-4C3D-A9C6-7F978C743B02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CBB602A-3E9E-4706-9627-A9F7E05786B2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D4E4EBA-2B37-4719-A234-F9F4ACDAA12A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08532A4D-EB90-4FC7-A9CE-DB3CEB2E537C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99F7FCB7-B2D3-4F1B-8BF7-7B159CB44530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13D270F2-C6B7-4F66-8BF7-756798774B79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C73A1702-4174-4153-8A92-9ECAE666B80C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66C079F4-2D6C-4C99-94F0-96772D69906B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E4FA220-F316-4D03-A376-0FC912751942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95C70979-BF43-41C2-9A44-302DC8330773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FE38ACCC-64FC-4ADE-903B-07F7A5B30B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1A50919F-DE22-42B4-89CE-FF64A07FAF38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70745C63-7C8E-43A1-9D2A-B348CFDFFFA4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C4423D7F-7241-49C8-A81F-D0E222932D72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F363CD1D-7FC6-4260-B16C-D18592C20966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B9F37D08-18BB-4C1D-A074-55DD73BA3A14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519C2FB5-F8D6-4D81-88F2-8471530878C3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A380C270-6815-404B-99D9-3356936E2CE3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F94E8971-244A-445F-A771-11A2AEAA90FF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9F58A438-D178-4715-8996-C450550A3EE0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EFCF113C-21DA-43E8-B851-2664DC943C91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154BD6CC-6E18-4F0F-81FF-5962175F3562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3CFC3652-F1CD-47AC-8409-541180A8FCAA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05F9530B-12BE-40CF-9FE7-0F7A869B598E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8858CC95-740D-4135-8104-E561B0EC2C2E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E05041A4-5491-4F22-A675-93432BD283E1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79010168-D087-4043-83F1-C4EED2F6BEE6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5C127CAD-CA76-4505-BDA5-F69E80D151C6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62475E17-F2FD-4FEC-8AD2-4CA4039F000E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098EE5C7-491E-4C9B-A728-D4009EA33F89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7AAA4740-201D-4CE0-A01E-D66FE998E146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654B1CC2-E17C-47AD-8105-07338E3D6CCF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6A22AE63-69F3-4530-84F7-46727AA48EA5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C97546B0-E104-471F-BF1C-DC13FC496229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3D74078D-460E-451E-8DF6-801B53CF3ED4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7AC70EEF-B8A1-413A-9BFC-92BF58E23773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E03EAB58-6FA5-4ED0-8B05-9F5F939C5408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34AC6765-64E8-481A-9958-5ECD2D5AC0D3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B2282D00-AE0E-4D9C-9B3C-96961122555D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8E4F3CB0-8078-495D-B5F6-45AC98F999D9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7D9F2C64-6C9C-455A-A9E0-67E7F291A7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47E563B4-B8D3-4EFD-BA3D-5960C5EB26E3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1D3407A3-039F-47C0-AE11-013E3ACA0F77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029ABE96-9593-4026-87DD-C0D0D07F7551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8463E4F6-354D-46E2-91D8-D1637B8F3A11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2C47ED45-1347-4DB2-B7DA-5829D924F9C1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9DE7376A-CAFD-429A-8E3D-3DCED58A5184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29E431A2-C049-4D9B-900A-0BE8AE5438AF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40096FC9-C9D0-4A34-A43E-66CBECF47B22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CBF91F97-C391-4155-AC29-D694CF022A9C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AAE54AC2-052E-405E-85BA-1FA7F366744F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48CF29B1-04AE-4BEC-A63F-C38174D9C751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91C4FC85-9BF6-42CD-B961-222BFD0554BD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2" name="Oval 59">
              <a:extLst>
                <a:ext uri="{FF2B5EF4-FFF2-40B4-BE49-F238E27FC236}">
                  <a16:creationId xmlns:a16="http://schemas.microsoft.com/office/drawing/2014/main" id="{B674B16E-B0ED-4F1C-8CE6-225F16AC8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3" name="Oval 60">
              <a:extLst>
                <a:ext uri="{FF2B5EF4-FFF2-40B4-BE49-F238E27FC236}">
                  <a16:creationId xmlns:a16="http://schemas.microsoft.com/office/drawing/2014/main" id="{3370A438-7005-4084-B508-38E381E98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1C68EE48-6539-461D-A6EC-E86DACFB17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AFF51C79-7DD6-417D-B6D9-450F0EF28558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B4AA301D-3754-4739-84C7-3C48A7EB97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9690C425-2306-44F5-A1B3-AC9F32EFD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22665BE1-9ACF-44D6-BA2C-E935E982A984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1CC74FB4-1F00-437F-963D-C88FF5D75631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29209026-967D-4D6B-A988-6A4CFF98E590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773EA68E-D06B-4E10-88EA-A4470A758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1E1C1F90-E01C-4FF7-B244-97B9D64B10BC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503D167B-BA8B-4763-9696-5012E7D65D62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8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0EA3269-F5A2-4009-925A-859691A13E48}"/>
              </a:ext>
            </a:extLst>
          </p:cNvPr>
          <p:cNvSpPr txBox="1"/>
          <p:nvPr/>
        </p:nvSpPr>
        <p:spPr>
          <a:xfrm>
            <a:off x="2057400" y="2126463"/>
            <a:ext cx="7895122" cy="1475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自底向上的语法分析程序设计以及中间代码生成</a:t>
            </a:r>
            <a:endParaRPr lang="zh-CN" altLang="en-US" sz="44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717D8B-E5B4-4E6D-9F79-F3E55BFC0057}"/>
              </a:ext>
            </a:extLst>
          </p:cNvPr>
          <p:cNvSpPr txBox="1"/>
          <p:nvPr/>
        </p:nvSpPr>
        <p:spPr>
          <a:xfrm>
            <a:off x="4755376" y="4352713"/>
            <a:ext cx="22685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/>
              <a:t>王培鸿</a:t>
            </a:r>
            <a:br>
              <a:rPr lang="en-US" altLang="zh-CN" sz="3200" b="1" dirty="0"/>
            </a:br>
            <a:r>
              <a:rPr lang="en-US" altLang="zh-CN" sz="3200" b="1" dirty="0"/>
              <a:t>2022152021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61192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BB93D3-839D-4A9A-907D-D7D3D1763D0A}"/>
              </a:ext>
            </a:extLst>
          </p:cNvPr>
          <p:cNvSpPr txBox="1"/>
          <p:nvPr/>
        </p:nvSpPr>
        <p:spPr>
          <a:xfrm>
            <a:off x="581074" y="2875002"/>
            <a:ext cx="18774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dirty="0"/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DB2569-BADA-4A1E-8B91-125F2FE9B8C9}"/>
              </a:ext>
            </a:extLst>
          </p:cNvPr>
          <p:cNvSpPr txBox="1"/>
          <p:nvPr/>
        </p:nvSpPr>
        <p:spPr>
          <a:xfrm>
            <a:off x="5065215" y="2736514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9E639E-27CB-473F-B59F-AF9D3B38CEAF}"/>
              </a:ext>
            </a:extLst>
          </p:cNvPr>
          <p:cNvSpPr txBox="1"/>
          <p:nvPr/>
        </p:nvSpPr>
        <p:spPr>
          <a:xfrm>
            <a:off x="5065215" y="1772442"/>
            <a:ext cx="2303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SLR(1)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CF0AF5-B183-429F-AEA6-072FA0BB4CF2}"/>
              </a:ext>
            </a:extLst>
          </p:cNvPr>
          <p:cNvSpPr txBox="1"/>
          <p:nvPr/>
        </p:nvSpPr>
        <p:spPr>
          <a:xfrm>
            <a:off x="5065214" y="808370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28BE07-81AC-4D9E-A0D8-CB1DCAC76177}"/>
              </a:ext>
            </a:extLst>
          </p:cNvPr>
          <p:cNvSpPr txBox="1"/>
          <p:nvPr/>
        </p:nvSpPr>
        <p:spPr>
          <a:xfrm>
            <a:off x="5065214" y="552043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案例测试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5B12AF-6D3D-4198-95FE-A91D4858DD95}"/>
              </a:ext>
            </a:extLst>
          </p:cNvPr>
          <p:cNvSpPr txBox="1"/>
          <p:nvPr/>
        </p:nvSpPr>
        <p:spPr>
          <a:xfrm>
            <a:off x="5065215" y="3700576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中间代码生成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3FAD5D-3C82-46E8-8782-DF97FA970ABF}"/>
              </a:ext>
            </a:extLst>
          </p:cNvPr>
          <p:cNvSpPr txBox="1"/>
          <p:nvPr/>
        </p:nvSpPr>
        <p:spPr>
          <a:xfrm>
            <a:off x="5065214" y="4625979"/>
            <a:ext cx="20008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MCP</a:t>
            </a:r>
            <a:r>
              <a:rPr lang="zh-CN" altLang="en-US" sz="3600" b="1" dirty="0"/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256921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AB062CE-098A-47CE-92A1-7E938551B9BF}"/>
              </a:ext>
            </a:extLst>
          </p:cNvPr>
          <p:cNvSpPr/>
          <p:nvPr/>
        </p:nvSpPr>
        <p:spPr>
          <a:xfrm>
            <a:off x="5844281" y="1624841"/>
            <a:ext cx="6021404" cy="523315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C7EBE1-F664-46E5-BFB4-9D1246C194A7}"/>
              </a:ext>
            </a:extLst>
          </p:cNvPr>
          <p:cNvSpPr/>
          <p:nvPr/>
        </p:nvSpPr>
        <p:spPr>
          <a:xfrm>
            <a:off x="134754" y="1624841"/>
            <a:ext cx="5159141" cy="46847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2294C2-2C59-4C43-A8C8-E3A583B9A23F}"/>
              </a:ext>
            </a:extLst>
          </p:cNvPr>
          <p:cNvSpPr txBox="1"/>
          <p:nvPr/>
        </p:nvSpPr>
        <p:spPr>
          <a:xfrm>
            <a:off x="541341" y="317482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F56BA3-3F08-425E-96EE-A26DF36DAEA4}"/>
              </a:ext>
            </a:extLst>
          </p:cNvPr>
          <p:cNvSpPr txBox="1"/>
          <p:nvPr/>
        </p:nvSpPr>
        <p:spPr>
          <a:xfrm>
            <a:off x="541341" y="1785266"/>
            <a:ext cx="60976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产生式结构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typedef struct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char left[MAX_PROD_LEN];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左部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char right[MAX_PROD_LEN];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右部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int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dot_pos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           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点的位置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 Production;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// LR(0)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项目结构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typedef struct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Production prod;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bool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is_reduce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        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是否为归约项目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 LR0Item;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项目集结构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typedef struct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LR0Item items[MAX_ITEMS];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int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item_count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ItemSet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E21BC1-8172-4C84-9B70-5F8073BEF39B}"/>
              </a:ext>
            </a:extLst>
          </p:cNvPr>
          <p:cNvSpPr txBox="1"/>
          <p:nvPr/>
        </p:nvSpPr>
        <p:spPr>
          <a:xfrm>
            <a:off x="250115" y="1174484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结构体定义，存储产生式、项目集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B0D1AD-8551-4B89-898A-9B4CC54B2105}"/>
              </a:ext>
            </a:extLst>
          </p:cNvPr>
          <p:cNvSpPr txBox="1"/>
          <p:nvPr/>
        </p:nvSpPr>
        <p:spPr>
          <a:xfrm>
            <a:off x="5844281" y="1574594"/>
            <a:ext cx="609760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扩展文法（添加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S'-&gt;S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产生式）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void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extend_grammar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获取原文法的开始符号（第一个产生式的左部）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char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start_symbol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[MAX_PROD_LEN];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start_symbol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grammar[0].left);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为所有产生式腾出位置，整体后移一位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for (int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prod_count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&gt; 0;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--)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逐个复制，因为是数组整体后移，不能直接赋值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].left, 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- 1].left);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].right, 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- 1].right);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].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dot_pos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grammar[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- 1].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dot_pos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}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在位置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添加新的产生式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S' -&gt; S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(grammar[0].left, "S'");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strcpy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(grammar[0].right,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start_symbol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grammar[0].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dot_pos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0;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产生式数量加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prod_count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++;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F2050B-FAA4-4D71-B32E-6DCC4AF7A1EE}"/>
              </a:ext>
            </a:extLst>
          </p:cNvPr>
          <p:cNvSpPr txBox="1"/>
          <p:nvPr/>
        </p:nvSpPr>
        <p:spPr>
          <a:xfrm>
            <a:off x="5844281" y="1164941"/>
            <a:ext cx="60844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增广文法实现，将</a:t>
            </a:r>
            <a:r>
              <a:rPr lang="en-US" altLang="zh-CN" sz="2000" b="1" dirty="0"/>
              <a:t>S‘-&gt;S</a:t>
            </a:r>
            <a:r>
              <a:rPr lang="zh-CN" altLang="en-US" sz="2000" b="1" dirty="0"/>
              <a:t>产生式添加到产生式数组首位</a:t>
            </a:r>
          </a:p>
        </p:txBody>
      </p:sp>
    </p:spTree>
    <p:extLst>
      <p:ext uri="{BB962C8B-B14F-4D97-AF65-F5344CB8AC3E}">
        <p14:creationId xmlns:p14="http://schemas.microsoft.com/office/powerpoint/2010/main" val="320490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B2EF8B7-8289-406B-BFAB-2DAF2FDBFDFD}"/>
              </a:ext>
            </a:extLst>
          </p:cNvPr>
          <p:cNvSpPr/>
          <p:nvPr/>
        </p:nvSpPr>
        <p:spPr>
          <a:xfrm>
            <a:off x="74596" y="1764033"/>
            <a:ext cx="6021404" cy="33299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C44170-0C98-4BCB-877B-008C9C56CD75}"/>
              </a:ext>
            </a:extLst>
          </p:cNvPr>
          <p:cNvSpPr txBox="1"/>
          <p:nvPr/>
        </p:nvSpPr>
        <p:spPr>
          <a:xfrm>
            <a:off x="541341" y="317482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456DF4-D28D-4B51-B6DD-EDC7C0A02A2A}"/>
              </a:ext>
            </a:extLst>
          </p:cNvPr>
          <p:cNvSpPr txBox="1"/>
          <p:nvPr/>
        </p:nvSpPr>
        <p:spPr>
          <a:xfrm>
            <a:off x="6682521" y="96381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闭包计算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1570B7-6637-48A9-931D-A4B3F15EC7D2}"/>
              </a:ext>
            </a:extLst>
          </p:cNvPr>
          <p:cNvSpPr txBox="1"/>
          <p:nvPr/>
        </p:nvSpPr>
        <p:spPr>
          <a:xfrm>
            <a:off x="245432" y="96381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终结符判断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4EC335-46FF-4BB4-9CD7-93A8C8567F91}"/>
              </a:ext>
            </a:extLst>
          </p:cNvPr>
          <p:cNvSpPr txBox="1"/>
          <p:nvPr/>
        </p:nvSpPr>
        <p:spPr>
          <a:xfrm>
            <a:off x="142371" y="1363923"/>
            <a:ext cx="4156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/>
              <a:t>小写字母、数字、运算符为终结符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C79CF3-8D2A-44C3-AB23-43482439B8F0}"/>
              </a:ext>
            </a:extLst>
          </p:cNvPr>
          <p:cNvSpPr txBox="1"/>
          <p:nvPr/>
        </p:nvSpPr>
        <p:spPr>
          <a:xfrm>
            <a:off x="74596" y="1764033"/>
            <a:ext cx="60976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终结符判断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bool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is_terminal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(char symbol) {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//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判断逻辑：小写字母、运算符、括号、数字等为终结符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return (symbol &gt;= 'a' &amp;&amp; symbol &lt;= 'z')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symbol == '+' || symbol == '-'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symbol == '*' || symbol == '/'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symbol == '(' || symbol == ')'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symbol == '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' || symbol == 'n'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(symbol &gt;= '0' &amp;&amp; symbol &lt;= '9') ||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symbol == '#' || symbol == '=';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67D18B-7327-4676-8FF9-22454CFBD7BD}"/>
              </a:ext>
            </a:extLst>
          </p:cNvPr>
          <p:cNvSpPr txBox="1"/>
          <p:nvPr/>
        </p:nvSpPr>
        <p:spPr>
          <a:xfrm>
            <a:off x="-1604" y="5482503"/>
            <a:ext cx="60976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循环遍历每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个项目。若项目点后符号为非终结符，就查找所有以该非终结符为左部的产生式，为每个产生式创建点在产生式右部开头的新项目，若该项目不在结果集中则添加进去，直到结果集不再有新项目添加时结束</a:t>
            </a:r>
            <a:endParaRPr lang="zh-CN" altLang="en-US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550C07E-6F0B-439D-852D-55D28A1D23D1}"/>
              </a:ext>
            </a:extLst>
          </p:cNvPr>
          <p:cNvSpPr/>
          <p:nvPr/>
        </p:nvSpPr>
        <p:spPr>
          <a:xfrm>
            <a:off x="6324600" y="1764033"/>
            <a:ext cx="5562600" cy="493037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B192E5-0382-47BD-994C-C72867C18CFF}"/>
              </a:ext>
            </a:extLst>
          </p:cNvPr>
          <p:cNvSpPr txBox="1"/>
          <p:nvPr/>
        </p:nvSpPr>
        <p:spPr>
          <a:xfrm>
            <a:off x="6324600" y="1931013"/>
            <a:ext cx="562997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changed = false;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for (int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0;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result.item_count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++)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LR0Item item =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if 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item.prod.dot_pos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strlen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item.prod.right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char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next_symbol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item.prod.right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item.prod.dot_pos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if (!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is_terminal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next_symbol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//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对每个以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next_symbol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为左部的产生式</a:t>
            </a: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for (int j = 0; j &lt;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prod_count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j++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if (grammar[j].left[0] ==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next_symbol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&amp;&amp; grammar[j].left[1] == '\0')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// </a:t>
            </a:r>
            <a:r>
              <a:rPr lang="zh-CN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检查是否已存在该项目</a:t>
            </a: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bool exists = false;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for (int k = 0; k &lt;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result.item_count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; k++)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if 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strcmp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[k].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prod.left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grammar[j].left) == 0 &amp;&amp;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strcmp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[k].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prod.right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grammar[j].right) == 0 &amp;&amp;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result.items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[k].</a:t>
            </a:r>
            <a:r>
              <a:rPr lang="en-US" altLang="zh-CN" sz="1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prod.dot_pos</a:t>
            </a:r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== 0) {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exists = true;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break;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}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1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}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847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5D13EE4-33C2-421F-9BD3-2E7977D7BBED}"/>
              </a:ext>
            </a:extLst>
          </p:cNvPr>
          <p:cNvSpPr txBox="1"/>
          <p:nvPr/>
        </p:nvSpPr>
        <p:spPr>
          <a:xfrm>
            <a:off x="541341" y="317482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C57764-2310-43A3-824B-65BAD0009C8D}"/>
              </a:ext>
            </a:extLst>
          </p:cNvPr>
          <p:cNvSpPr txBox="1"/>
          <p:nvPr/>
        </p:nvSpPr>
        <p:spPr>
          <a:xfrm>
            <a:off x="541341" y="1187262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活前缀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构造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0E9A6E-9932-4D7D-9A5D-ADBE3EC118ED}"/>
              </a:ext>
            </a:extLst>
          </p:cNvPr>
          <p:cNvSpPr txBox="1"/>
          <p:nvPr/>
        </p:nvSpPr>
        <p:spPr>
          <a:xfrm>
            <a:off x="310335" y="5834670"/>
            <a:ext cx="11283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最后，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检查新状态是否已存在，若存在则直接将当前状态的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transitions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设置为已有状态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ID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，否则作为新状态添加到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DFA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中，并记录转移关系，直至所有状态的转移处理完毕。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0D9BCA-3A39-432E-B4FB-AF917509AA75}"/>
              </a:ext>
            </a:extLst>
          </p:cNvPr>
          <p:cNvSpPr txBox="1"/>
          <p:nvPr/>
        </p:nvSpPr>
        <p:spPr>
          <a:xfrm>
            <a:off x="-357974" y="1877507"/>
            <a:ext cx="4148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en-US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以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产生式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S'-&gt;S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作为初始项目，计算其闭包后加入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DFA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作为初始状态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0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2EE68B-F951-467F-B24E-31E61B8D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9" y="2767974"/>
            <a:ext cx="3717452" cy="26585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CB83D69-5B49-46A7-ADE4-400C5D35D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136" y="2725967"/>
            <a:ext cx="3084696" cy="265858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6F47329A-150E-499A-97FB-62E2AA4A4350}"/>
              </a:ext>
            </a:extLst>
          </p:cNvPr>
          <p:cNvSpPr txBox="1"/>
          <p:nvPr/>
        </p:nvSpPr>
        <p:spPr>
          <a:xfrm>
            <a:off x="3899514" y="1886651"/>
            <a:ext cx="3714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遍历每个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DFA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状态，收集当前状态所有项目点后的符号作为转移符号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89D19E6-66E7-450E-BB0F-1150B08B1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385" y="2725967"/>
            <a:ext cx="4493393" cy="265858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086EACE-166F-43D3-91ED-6EB39FB31B4D}"/>
              </a:ext>
            </a:extLst>
          </p:cNvPr>
          <p:cNvSpPr txBox="1"/>
          <p:nvPr/>
        </p:nvSpPr>
        <p:spPr>
          <a:xfrm>
            <a:off x="7348037" y="1802637"/>
            <a:ext cx="46094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提取当前状态中点后为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X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的项目，将点右移一位生成新的项目集，再计算该项目集的闭包得到新状态。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15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1FCACF5-274A-42C7-9B2D-A35D712ECBF5}"/>
              </a:ext>
            </a:extLst>
          </p:cNvPr>
          <p:cNvSpPr txBox="1"/>
          <p:nvPr/>
        </p:nvSpPr>
        <p:spPr>
          <a:xfrm>
            <a:off x="512465" y="346358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917DF7-6974-4B49-88CD-5C66D898CBBD}"/>
              </a:ext>
            </a:extLst>
          </p:cNvPr>
          <p:cNvSpPr txBox="1"/>
          <p:nvPr/>
        </p:nvSpPr>
        <p:spPr>
          <a:xfrm>
            <a:off x="5633103" y="1864026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移进</a:t>
            </a:r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，如果下一个字符是终结符，设置动作为移进动作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(‘s’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及转移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状态编号；如果下一个字符是非终结符，则设置动作为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(‘g’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，转移表状态编号。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D63069-5E63-4D66-9AF7-751D78E4565E}"/>
              </a:ext>
            </a:extLst>
          </p:cNvPr>
          <p:cNvSpPr txBox="1"/>
          <p:nvPr/>
        </p:nvSpPr>
        <p:spPr>
          <a:xfrm>
            <a:off x="2088680" y="992689"/>
            <a:ext cx="11648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初始化分析表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所有元素初始化为错误状态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字符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’e’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遍历文法中所有产生式，收集文法中的终结符和非终结符。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DCEE79-35C9-44D2-8608-04D49DA76D93}"/>
              </a:ext>
            </a:extLst>
          </p:cNvPr>
          <p:cNvSpPr txBox="1"/>
          <p:nvPr/>
        </p:nvSpPr>
        <p:spPr>
          <a:xfrm>
            <a:off x="308008" y="992689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分析表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构造</a:t>
            </a:r>
            <a:endParaRPr lang="zh-CN" altLang="zh-CN" sz="20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A357A6B-D694-4647-940E-A9B05FAE2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08" y="2787356"/>
            <a:ext cx="4088877" cy="374741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49FB281-C482-4D7A-A3D8-A6682C1F3C17}"/>
              </a:ext>
            </a:extLst>
          </p:cNvPr>
          <p:cNvSpPr txBox="1"/>
          <p:nvPr/>
        </p:nvSpPr>
        <p:spPr>
          <a:xfrm>
            <a:off x="192504" y="1820803"/>
            <a:ext cx="5197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归约项目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，如果是产生式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S’-&gt;S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，则填入动作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’a’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表示接收，其他产生式则对所有终结符填入‘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’归约动作及归约产生式的编号。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1B20D98-BED7-4E18-AA8D-8DFED0098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147" y="2912470"/>
            <a:ext cx="6635181" cy="231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43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6340BB-04D8-4EEB-819F-9DC8FC65CFC1}"/>
              </a:ext>
            </a:extLst>
          </p:cNvPr>
          <p:cNvSpPr txBox="1"/>
          <p:nvPr/>
        </p:nvSpPr>
        <p:spPr>
          <a:xfrm>
            <a:off x="512465" y="346358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LR(0)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10D98C-F7AA-4429-A0FE-8644FEB192DA}"/>
              </a:ext>
            </a:extLst>
          </p:cNvPr>
          <p:cNvSpPr txBox="1"/>
          <p:nvPr/>
        </p:nvSpPr>
        <p:spPr>
          <a:xfrm>
            <a:off x="6552397" y="2289337"/>
            <a:ext cx="53155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若为归约，按产生式的右部弹出对应长度的栈内容，根据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压入归约后的非终结符和新状态；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17F5EB-1F3A-49CA-8E9A-4CFC58231FAE}"/>
              </a:ext>
            </a:extLst>
          </p:cNvPr>
          <p:cNvSpPr txBox="1"/>
          <p:nvPr/>
        </p:nvSpPr>
        <p:spPr>
          <a:xfrm>
            <a:off x="3207540" y="438690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4C3B84-CD80-4C87-938F-B439F18D4482}"/>
              </a:ext>
            </a:extLst>
          </p:cNvPr>
          <p:cNvSpPr txBox="1"/>
          <p:nvPr/>
        </p:nvSpPr>
        <p:spPr>
          <a:xfrm>
            <a:off x="1010251" y="1142886"/>
            <a:ext cx="10171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首先，初始化状态栈和字符栈，压入初始状态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0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和栈底符号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#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，在输入串末尾添加结束符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#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05163F0-8E98-41B1-9197-49C5338A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68" y="2069492"/>
            <a:ext cx="5958409" cy="165548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F1E0A0-F2FB-4E77-A1E9-89EA0443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459" y="3053271"/>
            <a:ext cx="5380606" cy="257750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155AEBD-C2A1-4EBA-8A72-47CACCB02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68" y="4417689"/>
            <a:ext cx="5986941" cy="17717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9A6CDB8-B314-40F4-BB24-C7A00AAFAF1B}"/>
              </a:ext>
            </a:extLst>
          </p:cNvPr>
          <p:cNvSpPr txBox="1"/>
          <p:nvPr/>
        </p:nvSpPr>
        <p:spPr>
          <a:xfrm>
            <a:off x="178068" y="1700159"/>
            <a:ext cx="9384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若为移进，根据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压入符号和新状态并后移输入指针；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D78D6A7-D363-44DB-8580-145400A4E4E2}"/>
              </a:ext>
            </a:extLst>
          </p:cNvPr>
          <p:cNvSpPr txBox="1"/>
          <p:nvPr/>
        </p:nvSpPr>
        <p:spPr>
          <a:xfrm>
            <a:off x="187693" y="3915658"/>
            <a:ext cx="7647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若为接受，则成功解析，否则报错。程序的实现如下所示。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064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DA3A8D-1715-455F-8D2D-B1139BEC6EBD}"/>
              </a:ext>
            </a:extLst>
          </p:cNvPr>
          <p:cNvSpPr txBox="1"/>
          <p:nvPr/>
        </p:nvSpPr>
        <p:spPr>
          <a:xfrm>
            <a:off x="403461" y="346358"/>
            <a:ext cx="2303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SLR(1)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029180-E883-4F6A-B709-7C27C4515F73}"/>
              </a:ext>
            </a:extLst>
          </p:cNvPr>
          <p:cNvSpPr txBox="1"/>
          <p:nvPr/>
        </p:nvSpPr>
        <p:spPr>
          <a:xfrm>
            <a:off x="3080540" y="438690"/>
            <a:ext cx="1999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集计算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06201D-9B87-4494-A55E-66CB78BED8F9}"/>
              </a:ext>
            </a:extLst>
          </p:cNvPr>
          <p:cNvSpPr txBox="1"/>
          <p:nvPr/>
        </p:nvSpPr>
        <p:spPr>
          <a:xfrm>
            <a:off x="5183700" y="1085021"/>
            <a:ext cx="6997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其次，若为非空串，遍历右部每个符号，将当前符号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集中非空串的元素加入左部非终结符的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集；若所有符号都能推导出空串则将空串标记加入左部非终结符的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342867-D1EA-477B-A16D-2A546C6BD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61" y="1454353"/>
            <a:ext cx="3203339" cy="18893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71EAF6-2FE4-4859-8106-41F2FB1D5695}"/>
              </a:ext>
            </a:extLst>
          </p:cNvPr>
          <p:cNvSpPr txBox="1"/>
          <p:nvPr/>
        </p:nvSpPr>
        <p:spPr>
          <a:xfrm>
            <a:off x="238361" y="1085021"/>
            <a:ext cx="3924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将每个终结符的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集设为自身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B38D1D7-F2F6-414F-9DCF-7D7CD9562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23" y="4199943"/>
            <a:ext cx="3104677" cy="250303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6A2927D-8BE4-43F0-9ABA-23DD83AEFA4D}"/>
              </a:ext>
            </a:extLst>
          </p:cNvPr>
          <p:cNvSpPr txBox="1"/>
          <p:nvPr/>
        </p:nvSpPr>
        <p:spPr>
          <a:xfrm>
            <a:off x="0" y="3446121"/>
            <a:ext cx="3924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若右部为空串，将空串标记加入左部非终结符的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集；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FB5E7EC-3FC0-4D2B-8FAF-C12B5E06F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190" y="2010662"/>
            <a:ext cx="4254824" cy="469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11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695283-7B73-42E5-B2B9-F18B0A85B495}"/>
              </a:ext>
            </a:extLst>
          </p:cNvPr>
          <p:cNvSpPr txBox="1"/>
          <p:nvPr/>
        </p:nvSpPr>
        <p:spPr>
          <a:xfrm>
            <a:off x="3156740" y="438690"/>
            <a:ext cx="1999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Follow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集计算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D6E3B9-FAEC-4C14-8105-5C0858DBFA7F}"/>
              </a:ext>
            </a:extLst>
          </p:cNvPr>
          <p:cNvSpPr txBox="1"/>
          <p:nvPr/>
        </p:nvSpPr>
        <p:spPr>
          <a:xfrm>
            <a:off x="403461" y="346358"/>
            <a:ext cx="2303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SLR(1)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0DCE3C-E8C0-4607-8AB0-463F5E559CC4}"/>
              </a:ext>
            </a:extLst>
          </p:cNvPr>
          <p:cNvSpPr txBox="1"/>
          <p:nvPr/>
        </p:nvSpPr>
        <p:spPr>
          <a:xfrm>
            <a:off x="6445733" y="1277539"/>
            <a:ext cx="5492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A → αB 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的情况，直接将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A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集加入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B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集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A24939-76E5-4D1B-BEE2-999DAB2BF954}"/>
              </a:ext>
            </a:extLst>
          </p:cNvPr>
          <p:cNvSpPr txBox="1"/>
          <p:nvPr/>
        </p:nvSpPr>
        <p:spPr>
          <a:xfrm>
            <a:off x="254000" y="1213008"/>
            <a:ext cx="562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首先，初始化存储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集的二维数组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，将终止符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加入到开始符号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follow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集中。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670606-5F9A-4723-B235-6B22247A2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33" y="1923870"/>
            <a:ext cx="4820632" cy="22826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3F94F7F-92EE-4811-849A-5A56771A7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678" y="2050892"/>
            <a:ext cx="52863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95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BFDF36-48D2-4300-B261-44E5E34B6543}"/>
              </a:ext>
            </a:extLst>
          </p:cNvPr>
          <p:cNvSpPr txBox="1"/>
          <p:nvPr/>
        </p:nvSpPr>
        <p:spPr>
          <a:xfrm>
            <a:off x="3156740" y="438690"/>
            <a:ext cx="19994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Follow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集计算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DF0CE9-2625-4EA2-9E96-ED1A6104134F}"/>
              </a:ext>
            </a:extLst>
          </p:cNvPr>
          <p:cNvSpPr txBox="1"/>
          <p:nvPr/>
        </p:nvSpPr>
        <p:spPr>
          <a:xfrm>
            <a:off x="403461" y="346358"/>
            <a:ext cx="2303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SLR(1)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0779B9-C29C-46EA-9F87-65C125569C08}"/>
              </a:ext>
            </a:extLst>
          </p:cNvPr>
          <p:cNvSpPr txBox="1"/>
          <p:nvPr/>
        </p:nvSpPr>
        <p:spPr>
          <a:xfrm>
            <a:off x="403461" y="1353633"/>
            <a:ext cx="5248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→ α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β的情况，将 β 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First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集（除 ε 外）加入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696F7E-3CA0-44F0-970B-966DEAE6E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03" y="2360885"/>
            <a:ext cx="4101754" cy="4058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79E18A5-AD68-4C68-9B5B-70099852D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61" y="2453242"/>
            <a:ext cx="5086350" cy="3429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67D3E9E-1F65-433F-A9CB-D1C1F277A877}"/>
              </a:ext>
            </a:extLst>
          </p:cNvPr>
          <p:cNvSpPr txBox="1"/>
          <p:nvPr/>
        </p:nvSpPr>
        <p:spPr>
          <a:xfrm>
            <a:off x="6096000" y="13536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如果 β 中的所有符号能推导出 ε，则将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集加入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B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59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C02851A-5461-4C13-8FEE-C42FCA725C8B}"/>
              </a:ext>
            </a:extLst>
          </p:cNvPr>
          <p:cNvSpPr txBox="1"/>
          <p:nvPr/>
        </p:nvSpPr>
        <p:spPr>
          <a:xfrm>
            <a:off x="403461" y="346358"/>
            <a:ext cx="2303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SLR(1)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229ACC-E207-4ED4-A549-47F22366803B}"/>
              </a:ext>
            </a:extLst>
          </p:cNvPr>
          <p:cNvSpPr txBox="1"/>
          <p:nvPr/>
        </p:nvSpPr>
        <p:spPr>
          <a:xfrm>
            <a:off x="3156740" y="438691"/>
            <a:ext cx="3612360" cy="46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语法分析表构造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9B3A63-B853-4017-9A42-EB36A807A423}"/>
              </a:ext>
            </a:extLst>
          </p:cNvPr>
          <p:cNvSpPr txBox="1"/>
          <p:nvPr/>
        </p:nvSpPr>
        <p:spPr>
          <a:xfrm>
            <a:off x="280190" y="1159157"/>
            <a:ext cx="4888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首先，初始化分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value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分别为‘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’（表示错误状态）和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85F55B-FD2B-4843-BB4D-52CDBAEAB2FC}"/>
              </a:ext>
            </a:extLst>
          </p:cNvPr>
          <p:cNvSpPr txBox="1"/>
          <p:nvPr/>
        </p:nvSpPr>
        <p:spPr>
          <a:xfrm>
            <a:off x="6096000" y="943273"/>
            <a:ext cx="5815810" cy="1241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对于归约项目，若为增广产生式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S'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→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的归约项目，在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对应状态的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#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列设接收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’a’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动作；否则根据归约项目左部非终结符的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集，在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对应状态的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Follow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集终结符列设置归约动作及产生式编号。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6298DB-33F5-4D5C-BBEA-FDA942A74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914" y="2185174"/>
            <a:ext cx="4097475" cy="46932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207B01F-5F5F-430A-9FB0-917ACABA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61" y="4583001"/>
            <a:ext cx="5867400" cy="22098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22AB903-F67A-4FA5-B390-46A12BF7247C}"/>
              </a:ext>
            </a:extLst>
          </p:cNvPr>
          <p:cNvSpPr txBox="1"/>
          <p:nvPr/>
        </p:nvSpPr>
        <p:spPr>
          <a:xfrm>
            <a:off x="134564" y="3659671"/>
            <a:ext cx="6355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对于移进项目，若下一个符号为终结符，在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设置移进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’s’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动作及目标状态；若为非终结符，在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设置转向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’g’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动作及目标状态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F9613CF-0ED6-448E-8EDD-C04E18252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131" y="1820310"/>
            <a:ext cx="40957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32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65162A-091D-4F47-AC29-A94CB51C011A}"/>
              </a:ext>
            </a:extLst>
          </p:cNvPr>
          <p:cNvSpPr txBox="1"/>
          <p:nvPr/>
        </p:nvSpPr>
        <p:spPr>
          <a:xfrm>
            <a:off x="512465" y="346358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74CB9E-F231-4AE1-86F7-A2A307C0A0AE}"/>
              </a:ext>
            </a:extLst>
          </p:cNvPr>
          <p:cNvSpPr txBox="1"/>
          <p:nvPr/>
        </p:nvSpPr>
        <p:spPr>
          <a:xfrm>
            <a:off x="2841780" y="438690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构造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9CDA69-4680-45CB-9E00-50C9131DC632}"/>
              </a:ext>
            </a:extLst>
          </p:cNvPr>
          <p:cNvSpPr txBox="1"/>
          <p:nvPr/>
        </p:nvSpPr>
        <p:spPr>
          <a:xfrm>
            <a:off x="74595" y="992689"/>
            <a:ext cx="56716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遍历所有的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项目集中的所有项目，对于每个项目，如果句柄符号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的位置不在产生式的右部，则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获取点后面转移符号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next_symbol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，如果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next_symbol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不在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symbols_to_process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数组中，则加入数组中，等待处理。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40AF6C-34DA-4D75-9138-59B4E61B991E}"/>
              </a:ext>
            </a:extLst>
          </p:cNvPr>
          <p:cNvSpPr txBox="1"/>
          <p:nvPr/>
        </p:nvSpPr>
        <p:spPr>
          <a:xfrm>
            <a:off x="6096000" y="984351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遍历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 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symbols_to_process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 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数组中的符号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通过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goto_lr1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函数计算当前状态的项目集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current_set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在遇到符号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X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时的转移的项目集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next_set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F1D0CA-5794-4EB9-A284-CF8A7251C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03" y="2225737"/>
            <a:ext cx="4959576" cy="190523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632900-A8E9-41B2-91A2-ABC8A07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720" y="2212438"/>
            <a:ext cx="5239349" cy="38370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F3E1806-A4BA-47C7-B51B-F51C1A59F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03" y="4541988"/>
            <a:ext cx="5052542" cy="219993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DD1A7AA-609A-4D1C-997F-0ECC9422E6E2}"/>
              </a:ext>
            </a:extLst>
          </p:cNvPr>
          <p:cNvSpPr txBox="1"/>
          <p:nvPr/>
        </p:nvSpPr>
        <p:spPr>
          <a:xfrm>
            <a:off x="2531446" y="4130971"/>
            <a:ext cx="6121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goto_lr1 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953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DAD49E-8B0F-472E-AA25-BAE8F4148C83}"/>
              </a:ext>
            </a:extLst>
          </p:cNvPr>
          <p:cNvSpPr txBox="1"/>
          <p:nvPr/>
        </p:nvSpPr>
        <p:spPr>
          <a:xfrm>
            <a:off x="512465" y="346358"/>
            <a:ext cx="20858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LR(1)</a:t>
            </a:r>
            <a:r>
              <a:rPr lang="zh-CN" altLang="en-US" sz="3600" b="1" dirty="0"/>
              <a:t>实现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24C257-10BE-48B6-81E8-ADFFBCC0E756}"/>
              </a:ext>
            </a:extLst>
          </p:cNvPr>
          <p:cNvSpPr txBox="1"/>
          <p:nvPr/>
        </p:nvSpPr>
        <p:spPr>
          <a:xfrm>
            <a:off x="3047198" y="438690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语法分析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5E05DE-85C4-452D-976D-2B1583DF647E}"/>
              </a:ext>
            </a:extLst>
          </p:cNvPr>
          <p:cNvSpPr txBox="1"/>
          <p:nvPr/>
        </p:nvSpPr>
        <p:spPr>
          <a:xfrm>
            <a:off x="6368718" y="1070163"/>
            <a:ext cx="56339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对于归约项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，若产生式左部为扩展文法的开始符号且展望符为结束符，将对应动作表项设置为接受‘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’操作；其他，则查找对应的产生式编号，将对应动作表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 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项设置为归约操作，找到使用的归约产生式编号，同时，如果动作表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 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中对应的项已经设置且不为‘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’归约动作或归约后使用的产生式编号和当前的不同，说明存在冲突。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B7A181-3418-4939-AA6F-E87E10110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4" y="3159964"/>
            <a:ext cx="5907506" cy="24936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D31F483-5589-4B38-96EC-6FBAB945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139" y="3159964"/>
            <a:ext cx="5252185" cy="303630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698D0DB-F528-41D9-8310-EBA6E0A0EDC8}"/>
              </a:ext>
            </a:extLst>
          </p:cNvPr>
          <p:cNvSpPr txBox="1"/>
          <p:nvPr/>
        </p:nvSpPr>
        <p:spPr>
          <a:xfrm>
            <a:off x="105878" y="1204397"/>
            <a:ext cx="5717406" cy="176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对于移进项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，如果下一个符号是终结符，就将对应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动作表项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设置为移进操作，记录转移到的下一个状态；如果是非终结符，则将对应转移表项设置为转移操作，记录转移到的下一个状态。在设置过程中，如果动作表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action table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中对应的项已经设置且不为‘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’移进动作或移进后转移的状态和当前的不同，则说明存在冲突。</a:t>
            </a:r>
          </a:p>
        </p:txBody>
      </p:sp>
    </p:spTree>
    <p:extLst>
      <p:ext uri="{BB962C8B-B14F-4D97-AF65-F5344CB8AC3E}">
        <p14:creationId xmlns:p14="http://schemas.microsoft.com/office/powerpoint/2010/main" val="1928462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2C4A7B4-B3F7-4871-821E-A3F1F250EDAB}"/>
              </a:ext>
            </a:extLst>
          </p:cNvPr>
          <p:cNvSpPr txBox="1"/>
          <p:nvPr/>
        </p:nvSpPr>
        <p:spPr>
          <a:xfrm>
            <a:off x="212805" y="34635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中间代码生成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BDBD0A-5033-412D-A3A8-C19C54119FC5}"/>
              </a:ext>
            </a:extLst>
          </p:cNvPr>
          <p:cNvSpPr txBox="1"/>
          <p:nvPr/>
        </p:nvSpPr>
        <p:spPr>
          <a:xfrm>
            <a:off x="515754" y="1064332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存储设计</a:t>
            </a:r>
            <a:endParaRPr lang="zh-CN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25DF9E-BC6B-49CE-9003-69E7CCEC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41" y="2674491"/>
            <a:ext cx="3129013" cy="39589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AA0072-A8D9-4C2B-8E15-0AB2CDDEFFF5}"/>
              </a:ext>
            </a:extLst>
          </p:cNvPr>
          <p:cNvSpPr txBox="1"/>
          <p:nvPr/>
        </p:nvSpPr>
        <p:spPr>
          <a:xfrm>
            <a:off x="-1604" y="1597639"/>
            <a:ext cx="4448476" cy="953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定义词法类型为枚举类型，定义词法单元结构体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，符号表项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结构体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Symbol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三地址码结构体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A3301A-5CD5-4C59-B195-E395BECA1F84}"/>
              </a:ext>
            </a:extLst>
          </p:cNvPr>
          <p:cNvSpPr txBox="1"/>
          <p:nvPr/>
        </p:nvSpPr>
        <p:spPr>
          <a:xfrm>
            <a:off x="5974882" y="1064332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r>
              <a:rPr lang="zh-CN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识别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308EBF1-2DE0-4568-AD58-3B124AAC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379" y="2354479"/>
            <a:ext cx="4549541" cy="437955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C89F466-1C20-405C-BCD9-BCF1C14C998E}"/>
              </a:ext>
            </a:extLst>
          </p:cNvPr>
          <p:cNvSpPr txBox="1"/>
          <p:nvPr/>
        </p:nvSpPr>
        <p:spPr>
          <a:xfrm>
            <a:off x="5466347" y="1617072"/>
            <a:ext cx="6097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先判断当前字符是否为字母、数字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，再判断是否运算符，将词法解析结果存储到类型为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Token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tokens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1635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C0F38CC-8BAE-4180-87E0-D4DABE90B4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69" y="1119555"/>
            <a:ext cx="4521568" cy="50213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E75001-0693-439B-BD3F-BE4F8B733856}"/>
              </a:ext>
            </a:extLst>
          </p:cNvPr>
          <p:cNvSpPr txBox="1"/>
          <p:nvPr/>
        </p:nvSpPr>
        <p:spPr>
          <a:xfrm>
            <a:off x="212805" y="34635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中间代码生成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373B1D-83A3-464F-8805-41E7EAE4F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79205"/>
            <a:ext cx="4781550" cy="15621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61AAA5-6481-477B-8069-8BA6B38AA4BC}"/>
              </a:ext>
            </a:extLst>
          </p:cNvPr>
          <p:cNvSpPr txBox="1"/>
          <p:nvPr/>
        </p:nvSpPr>
        <p:spPr>
          <a:xfrm>
            <a:off x="1379361" y="626778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中间代码生成流程图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A5B7FD-C92D-4CE6-A71C-8C860CA45AA7}"/>
              </a:ext>
            </a:extLst>
          </p:cNvPr>
          <p:cNvSpPr txBox="1"/>
          <p:nvPr/>
        </p:nvSpPr>
        <p:spPr>
          <a:xfrm>
            <a:off x="7104532" y="80987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生成临时变量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D5F69CC-4B28-4062-95C7-81ECAA483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314" y="3813663"/>
            <a:ext cx="5812617" cy="273252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110D198-39AE-431D-A0A4-A8A235999127}"/>
              </a:ext>
            </a:extLst>
          </p:cNvPr>
          <p:cNvSpPr txBox="1"/>
          <p:nvPr/>
        </p:nvSpPr>
        <p:spPr>
          <a:xfrm>
            <a:off x="5514573" y="2890333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b="1" dirty="0"/>
              <a:t>factor</a:t>
            </a:r>
            <a:r>
              <a:rPr lang="zh-CN" altLang="zh-CN" b="1" dirty="0"/>
              <a:t>用于解析标识符或数字或括号，如果当前词法单元是标识符或数字，直接复制其值作为结果</a:t>
            </a:r>
            <a:r>
              <a:rPr lang="zh-CN" altLang="en-US" b="1" dirty="0"/>
              <a:t>；并检查符号是否闭合</a:t>
            </a:r>
          </a:p>
        </p:txBody>
      </p:sp>
    </p:spTree>
    <p:extLst>
      <p:ext uri="{BB962C8B-B14F-4D97-AF65-F5344CB8AC3E}">
        <p14:creationId xmlns:p14="http://schemas.microsoft.com/office/powerpoint/2010/main" val="183263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2F6B931-1CE4-4F21-AB6A-3CDADFA22C57}"/>
              </a:ext>
            </a:extLst>
          </p:cNvPr>
          <p:cNvSpPr txBox="1"/>
          <p:nvPr/>
        </p:nvSpPr>
        <p:spPr>
          <a:xfrm>
            <a:off x="212805" y="34635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中间代码生成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76E0C6-C505-4A80-AF2F-84E7B1E8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51" y="1998756"/>
            <a:ext cx="4745204" cy="35218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15541AF-3967-4E88-81EC-B4938060AFC5}"/>
              </a:ext>
            </a:extLst>
          </p:cNvPr>
          <p:cNvSpPr txBox="1"/>
          <p:nvPr/>
        </p:nvSpPr>
        <p:spPr>
          <a:xfrm>
            <a:off x="-182300" y="1263997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term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乘除运算</a:t>
            </a: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解析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，生成相应的三地址码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,</a:t>
            </a:r>
          </a:p>
          <a:p>
            <a:pPr marL="266700" indent="266700" algn="just"/>
            <a:r>
              <a:rPr lang="zh-CN" altLang="en-US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依次调用</a:t>
            </a:r>
            <a:r>
              <a:rPr lang="en-US" altLang="zh-CN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factor</a:t>
            </a:r>
            <a:r>
              <a:rPr lang="zh-CN" altLang="en-US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解析操作数和临时变量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宋体" panose="02010600030101010101" pitchFamily="2" charset="-122"/>
              <a:cs typeface="Segoe UI" panose="020B0502040204020203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904F598-7949-4019-A122-A50E05F0D406}"/>
              </a:ext>
            </a:extLst>
          </p:cNvPr>
          <p:cNvSpPr txBox="1"/>
          <p:nvPr/>
        </p:nvSpPr>
        <p:spPr>
          <a:xfrm>
            <a:off x="5511800" y="1263997"/>
            <a:ext cx="618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266700" algn="just"/>
            <a:r>
              <a:rPr lang="en-US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expression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用于处理加减运算，生成相应的三地址码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66700" indent="266700" algn="just"/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因为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token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可能为乘除运算，依次调用</a:t>
            </a:r>
            <a:r>
              <a:rPr lang="en-US" altLang="zh-CN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term</a:t>
            </a:r>
            <a:r>
              <a:rPr lang="zh-CN" altLang="en-US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解析操作数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A94A755-F5D0-4E97-9D29-BD53F7E0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8756"/>
            <a:ext cx="5481598" cy="408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3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67F7B0-5007-43EE-B627-5977C6A23EFE}"/>
              </a:ext>
            </a:extLst>
          </p:cNvPr>
          <p:cNvSpPr txBox="1"/>
          <p:nvPr/>
        </p:nvSpPr>
        <p:spPr>
          <a:xfrm>
            <a:off x="212805" y="34635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/>
              <a:t>中间代码生成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671623-B4D3-4B67-819F-DC710AAFB085}"/>
              </a:ext>
            </a:extLst>
          </p:cNvPr>
          <p:cNvSpPr txBox="1"/>
          <p:nvPr/>
        </p:nvSpPr>
        <p:spPr>
          <a:xfrm>
            <a:off x="212805" y="1655078"/>
            <a:ext cx="55885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/>
            <a:r>
              <a:rPr lang="en-US" altLang="zh-CN" sz="1800" b="1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generate_code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用于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从词法单元序列中生成三地址码形式的中间代码。</a:t>
            </a:r>
            <a:endParaRPr lang="en-US" altLang="zh-CN" sz="1800" b="1" kern="100" dirty="0">
              <a:solidFill>
                <a:srgbClr val="000000"/>
              </a:solidFill>
              <a:effectLst/>
              <a:latin typeface="Segoe UI" panose="020B0502040204020203" pitchFamily="34" charset="0"/>
              <a:ea typeface="宋体" panose="02010600030101010101" pitchFamily="2" charset="-122"/>
              <a:cs typeface="Segoe UI" panose="020B0502040204020203" pitchFamily="34" charset="0"/>
            </a:endParaRPr>
          </a:p>
          <a:p>
            <a:pPr indent="267970" algn="just"/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程序通过循环解析，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如果下一个词法单元是赋值符号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=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，则调用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</a:rPr>
              <a:t> expression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函数解析赋值表达式，返回生成三地址码</a:t>
            </a:r>
            <a:r>
              <a:rPr lang="zh-CN" altLang="en-US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，直到遇到</a:t>
            </a:r>
            <a:r>
              <a:rPr lang="en-US" altLang="zh-CN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token type </a:t>
            </a:r>
            <a:r>
              <a:rPr lang="zh-CN" altLang="en-US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为 </a:t>
            </a:r>
            <a:r>
              <a:rPr lang="en-US" altLang="zh-CN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EOF</a:t>
            </a:r>
            <a:r>
              <a:rPr lang="zh-CN" altLang="en-US" b="1" kern="100" dirty="0">
                <a:solidFill>
                  <a:srgbClr val="000000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的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0"/>
              </a:rPr>
              <a:t>。</a:t>
            </a:r>
            <a:endParaRPr lang="zh-CN" altLang="zh-CN" sz="1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CA222B-CA42-4198-A774-4BC74184E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640" y="1291205"/>
            <a:ext cx="5498422" cy="503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04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EEC69F-62DA-47FF-853C-A226A61F4EC7}"/>
              </a:ext>
            </a:extLst>
          </p:cNvPr>
          <p:cNvSpPr txBox="1"/>
          <p:nvPr/>
        </p:nvSpPr>
        <p:spPr>
          <a:xfrm>
            <a:off x="433633" y="338978"/>
            <a:ext cx="1800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MCP</a:t>
            </a:r>
            <a:r>
              <a:rPr lang="zh-CN" altLang="en-US" sz="3200" b="1" dirty="0"/>
              <a:t>实现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CEC414-2BBB-4EB2-831B-DF4E976A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97" y="1412331"/>
            <a:ext cx="5032996" cy="17231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7255BC6-28C1-4331-B05B-16F784719CC1}"/>
              </a:ext>
            </a:extLst>
          </p:cNvPr>
          <p:cNvSpPr txBox="1"/>
          <p:nvPr/>
        </p:nvSpPr>
        <p:spPr>
          <a:xfrm>
            <a:off x="343864" y="923753"/>
            <a:ext cx="1738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1. </a:t>
            </a:r>
            <a:r>
              <a:rPr lang="zh-CN" altLang="en-US" sz="2000" b="1" dirty="0"/>
              <a:t>申请</a:t>
            </a:r>
            <a:r>
              <a:rPr lang="en-US" altLang="zh-CN" sz="2000" b="1" dirty="0"/>
              <a:t>API key</a:t>
            </a:r>
            <a:endParaRPr lang="zh-CN" altLang="en-US" sz="20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356776-B587-4772-8949-7F51577A5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97" y="3722476"/>
            <a:ext cx="5032996" cy="27987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17DE84-C371-4108-BBD7-711F789827CC}"/>
              </a:ext>
            </a:extLst>
          </p:cNvPr>
          <p:cNvSpPr txBox="1"/>
          <p:nvPr/>
        </p:nvSpPr>
        <p:spPr>
          <a:xfrm>
            <a:off x="343863" y="3135524"/>
            <a:ext cx="24901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2. Cursor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API key</a:t>
            </a:r>
            <a:endParaRPr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6939AD-857C-4C0F-9D74-D093EBA19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862" y="1412882"/>
            <a:ext cx="5257275" cy="19226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227D46-180F-41D8-B969-E932EC02A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507" y="3789853"/>
            <a:ext cx="4361789" cy="29683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0A3622B-41F5-4639-AEB3-A5D20457D92A}"/>
              </a:ext>
            </a:extLst>
          </p:cNvPr>
          <p:cNvSpPr txBox="1"/>
          <p:nvPr/>
        </p:nvSpPr>
        <p:spPr>
          <a:xfrm>
            <a:off x="6590861" y="1012221"/>
            <a:ext cx="2194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3.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MCP Server</a:t>
            </a:r>
            <a:endParaRPr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5857DB-3B14-4F72-AD7D-B91043C708FC}"/>
              </a:ext>
            </a:extLst>
          </p:cNvPr>
          <p:cNvSpPr txBox="1"/>
          <p:nvPr/>
        </p:nvSpPr>
        <p:spPr>
          <a:xfrm>
            <a:off x="6463724" y="336266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4. </a:t>
            </a:r>
            <a:r>
              <a:rPr lang="zh-CN" altLang="en-US" sz="2000" b="1" dirty="0"/>
              <a:t>配置文件内容</a:t>
            </a:r>
          </a:p>
        </p:txBody>
      </p:sp>
    </p:spTree>
    <p:extLst>
      <p:ext uri="{BB962C8B-B14F-4D97-AF65-F5344CB8AC3E}">
        <p14:creationId xmlns:p14="http://schemas.microsoft.com/office/powerpoint/2010/main" val="237691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B51670-31BB-4C4D-A892-3713CA4C1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397" y="3603337"/>
            <a:ext cx="4323495" cy="30141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701117-B0BF-4E85-86F7-71B22A673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889" y="1606710"/>
            <a:ext cx="2785475" cy="16951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E89254C-FFB6-45DA-8A3B-7E36C359C5E7}"/>
              </a:ext>
            </a:extLst>
          </p:cNvPr>
          <p:cNvSpPr txBox="1"/>
          <p:nvPr/>
        </p:nvSpPr>
        <p:spPr>
          <a:xfrm>
            <a:off x="433633" y="338978"/>
            <a:ext cx="35012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LR(0)</a:t>
            </a:r>
            <a:r>
              <a:rPr lang="zh-CN" altLang="en-US" sz="3200" b="1" dirty="0"/>
              <a:t>闭包计算测试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B7330E-A2D0-477B-9167-A92DF791F8C3}"/>
              </a:ext>
            </a:extLst>
          </p:cNvPr>
          <p:cNvSpPr txBox="1"/>
          <p:nvPr/>
        </p:nvSpPr>
        <p:spPr>
          <a:xfrm>
            <a:off x="7990430" y="1206599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临界例：带空串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0F0640-E402-400A-AF30-63DB16627A48}"/>
              </a:ext>
            </a:extLst>
          </p:cNvPr>
          <p:cNvSpPr txBox="1"/>
          <p:nvPr/>
        </p:nvSpPr>
        <p:spPr>
          <a:xfrm>
            <a:off x="2184273" y="120659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正例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8EFF17-21B1-47CB-8295-69415D329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53" y="1606710"/>
            <a:ext cx="3062484" cy="169513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BDC4C00-2641-4348-8386-CCD7BF29C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414" y="3579745"/>
            <a:ext cx="4580971" cy="306137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299E7AC1-B067-4A29-86E5-C330D6D88981}"/>
              </a:ext>
            </a:extLst>
          </p:cNvPr>
          <p:cNvSpPr txBox="1"/>
          <p:nvPr/>
        </p:nvSpPr>
        <p:spPr>
          <a:xfrm>
            <a:off x="5588699" y="225422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文法文件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A7AD54-0394-495E-BF33-4D60E6D81705}"/>
              </a:ext>
            </a:extLst>
          </p:cNvPr>
          <p:cNvSpPr txBox="1"/>
          <p:nvPr/>
        </p:nvSpPr>
        <p:spPr>
          <a:xfrm>
            <a:off x="5075738" y="477840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初始状态闭包计算</a:t>
            </a:r>
          </a:p>
        </p:txBody>
      </p:sp>
    </p:spTree>
    <p:extLst>
      <p:ext uri="{BB962C8B-B14F-4D97-AF65-F5344CB8AC3E}">
        <p14:creationId xmlns:p14="http://schemas.microsoft.com/office/powerpoint/2010/main" val="11167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071BD1-D34A-4B95-BC04-CDC91690A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251" y="888448"/>
            <a:ext cx="7689710" cy="54731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7496AB-4755-488D-8F4E-84F183B26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138" y="4515439"/>
            <a:ext cx="3286345" cy="23425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89BAFE9-CF77-43F7-A075-B94ED37F9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245" y="546403"/>
            <a:ext cx="5424622" cy="299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42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939628-8240-47BE-9D75-675BABB34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410" y="886119"/>
            <a:ext cx="9322594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9A4C0D-2328-4293-BA72-4D67FD33B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4153" y="3114520"/>
            <a:ext cx="3035429" cy="31967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8F7E196-0D1C-402D-8DB7-300A961F2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74576" y="323342"/>
            <a:ext cx="8396996" cy="342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78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BA8DD3-286E-40BE-8517-BE6DE75C56F6}"/>
              </a:ext>
            </a:extLst>
          </p:cNvPr>
          <p:cNvSpPr txBox="1"/>
          <p:nvPr/>
        </p:nvSpPr>
        <p:spPr>
          <a:xfrm>
            <a:off x="433633" y="338978"/>
            <a:ext cx="3367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LR(0)DFA</a:t>
            </a:r>
            <a:r>
              <a:rPr lang="zh-CN" altLang="en-US" sz="3200" b="1" dirty="0"/>
              <a:t>计算测试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4F2947-B0D4-46A8-93A2-FD6EEE0C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870" y="1500831"/>
            <a:ext cx="2700822" cy="164663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C051358-FDEB-4388-8072-4C8E0C7A2D1E}"/>
              </a:ext>
            </a:extLst>
          </p:cNvPr>
          <p:cNvSpPr txBox="1"/>
          <p:nvPr/>
        </p:nvSpPr>
        <p:spPr>
          <a:xfrm>
            <a:off x="7609947" y="1052594"/>
            <a:ext cx="3023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临界例：归约和移进冲突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6C9D85-B30A-4C1D-8A08-3E31320229CC}"/>
              </a:ext>
            </a:extLst>
          </p:cNvPr>
          <p:cNvSpPr txBox="1"/>
          <p:nvPr/>
        </p:nvSpPr>
        <p:spPr>
          <a:xfrm>
            <a:off x="2184273" y="110072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正例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B3399C-DF45-44ED-B981-EB62FAB12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037" y="3284621"/>
            <a:ext cx="3964931" cy="32857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0C82532-CD1F-4E99-8878-36FD037AF19B}"/>
              </a:ext>
            </a:extLst>
          </p:cNvPr>
          <p:cNvSpPr txBox="1"/>
          <p:nvPr/>
        </p:nvSpPr>
        <p:spPr>
          <a:xfrm>
            <a:off x="5588699" y="225422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文法文件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81155E-CECB-4ED0-BEBF-1E2076DDA972}"/>
              </a:ext>
            </a:extLst>
          </p:cNvPr>
          <p:cNvSpPr txBox="1"/>
          <p:nvPr/>
        </p:nvSpPr>
        <p:spPr>
          <a:xfrm>
            <a:off x="5507010" y="4727442"/>
            <a:ext cx="1373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DFA</a:t>
            </a:r>
            <a:r>
              <a:rPr lang="zh-CN" altLang="en-US" sz="2000" b="1" dirty="0">
                <a:solidFill>
                  <a:srgbClr val="FF0000"/>
                </a:solidFill>
              </a:rPr>
              <a:t>状态图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8A2BB63-435A-49B8-8E94-E859D939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647" y="1500831"/>
            <a:ext cx="3062484" cy="16951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F7CCCFC-959F-40EE-8243-6AA0F1DC30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41" y="3328348"/>
            <a:ext cx="4625318" cy="34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63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97ED4B-70B0-4E84-9CF2-9895462EA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573" y="4508217"/>
            <a:ext cx="2952750" cy="18002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F5E4D5C-A6D1-46E0-B1E2-64C0C9E7D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23929" y="4144691"/>
            <a:ext cx="5681417" cy="3790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D41D0D-4CB5-428F-8D6D-7AD73E92E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948" y="179058"/>
            <a:ext cx="6638925" cy="36290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B5C2610-3A19-4F9E-901C-197A981B8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621" y="4065880"/>
            <a:ext cx="8020050" cy="48101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3CE3201-ACE5-420F-A91B-2D21951890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833895" y="-6680"/>
            <a:ext cx="79248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38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A4D4F2-6928-41B7-A3A8-3F40FEE03905}"/>
              </a:ext>
            </a:extLst>
          </p:cNvPr>
          <p:cNvSpPr txBox="1"/>
          <p:nvPr/>
        </p:nvSpPr>
        <p:spPr>
          <a:xfrm>
            <a:off x="433633" y="338978"/>
            <a:ext cx="40190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LR(0) </a:t>
            </a:r>
            <a:r>
              <a:rPr lang="zh-CN" altLang="en-US" sz="3200" b="1" dirty="0"/>
              <a:t>分析表构造测试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6EAA7D-F62A-4C63-8A10-4A5FDD79905E}"/>
              </a:ext>
            </a:extLst>
          </p:cNvPr>
          <p:cNvSpPr txBox="1"/>
          <p:nvPr/>
        </p:nvSpPr>
        <p:spPr>
          <a:xfrm>
            <a:off x="7609947" y="1052594"/>
            <a:ext cx="3023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临界例：归约和移进冲突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379BAA-E0F7-4005-A46D-C23FEA87AD2D}"/>
              </a:ext>
            </a:extLst>
          </p:cNvPr>
          <p:cNvSpPr txBox="1"/>
          <p:nvPr/>
        </p:nvSpPr>
        <p:spPr>
          <a:xfrm>
            <a:off x="2184273" y="110072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正例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5E6A61-67EC-439C-B27D-519A12A2FCAA}"/>
              </a:ext>
            </a:extLst>
          </p:cNvPr>
          <p:cNvSpPr txBox="1"/>
          <p:nvPr/>
        </p:nvSpPr>
        <p:spPr>
          <a:xfrm>
            <a:off x="5588699" y="225422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文法文件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81AD69-B619-404E-B989-33157AF9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47" y="1500831"/>
            <a:ext cx="3062484" cy="16951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86A374-2E52-46DC-9811-D4FDA44F9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870" y="1500831"/>
            <a:ext cx="2700822" cy="16466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2109C2B-41CA-442D-838D-90B5B2F0E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739" y="3469214"/>
            <a:ext cx="4864877" cy="29408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78A673-1CF2-4F20-9C2C-1B9C7D5A0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92" y="3429000"/>
            <a:ext cx="6343715" cy="298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77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AD11DA-007C-4314-A9F1-DDCCB33B913C}"/>
              </a:ext>
            </a:extLst>
          </p:cNvPr>
          <p:cNvSpPr txBox="1"/>
          <p:nvPr/>
        </p:nvSpPr>
        <p:spPr>
          <a:xfrm>
            <a:off x="433633" y="338978"/>
            <a:ext cx="3622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LR(0) </a:t>
            </a:r>
            <a:r>
              <a:rPr lang="zh-CN" altLang="en-US" sz="3200" b="1" dirty="0"/>
              <a:t>语法分析测试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8E1455-80FC-4593-B549-E215BAE7321B}"/>
              </a:ext>
            </a:extLst>
          </p:cNvPr>
          <p:cNvSpPr txBox="1"/>
          <p:nvPr/>
        </p:nvSpPr>
        <p:spPr>
          <a:xfrm>
            <a:off x="2655347" y="3808747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负例：解析失败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B5146A-0635-425B-AF46-790D3D333F89}"/>
              </a:ext>
            </a:extLst>
          </p:cNvPr>
          <p:cNvSpPr txBox="1"/>
          <p:nvPr/>
        </p:nvSpPr>
        <p:spPr>
          <a:xfrm>
            <a:off x="8725319" y="1318627"/>
            <a:ext cx="23214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正例：</a:t>
            </a:r>
            <a:r>
              <a:rPr lang="en-US" altLang="zh-CN" sz="2000" b="1" dirty="0"/>
              <a:t>acc</a:t>
            </a:r>
            <a:r>
              <a:rPr lang="zh-CN" altLang="en-US" sz="2000" b="1" dirty="0"/>
              <a:t>解析成功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848770-8FB1-40AE-A4F4-6BBACDB68DA4}"/>
              </a:ext>
            </a:extLst>
          </p:cNvPr>
          <p:cNvSpPr txBox="1"/>
          <p:nvPr/>
        </p:nvSpPr>
        <p:spPr>
          <a:xfrm>
            <a:off x="2256095" y="10109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文法文件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D0DB79-50C5-4D1A-98B5-EE23B42A1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853" y="1518682"/>
            <a:ext cx="3062484" cy="16951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CF88CA-E337-4F59-A81A-71CC2F998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088" y="1816744"/>
            <a:ext cx="4020583" cy="40247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22B9CA9-5BC5-438E-B3C5-001EC7CEB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56" y="4259474"/>
            <a:ext cx="7032768" cy="1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21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6787254-B966-4B7C-88C7-9B8A19108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82" y="923753"/>
            <a:ext cx="2952750" cy="1800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2271D20-F585-4F29-ADB3-53E2BF8E0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3" y="3429000"/>
            <a:ext cx="5262107" cy="31560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7BECC7C-09F8-4A08-B4BF-2E33C7907263}"/>
              </a:ext>
            </a:extLst>
          </p:cNvPr>
          <p:cNvSpPr txBox="1"/>
          <p:nvPr/>
        </p:nvSpPr>
        <p:spPr>
          <a:xfrm>
            <a:off x="433633" y="338978"/>
            <a:ext cx="3622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LR(0) </a:t>
            </a:r>
            <a:r>
              <a:rPr lang="zh-CN" altLang="en-US" sz="3200" b="1" dirty="0"/>
              <a:t>语法分析测试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ED576F-CC53-43B4-BB61-BAA069758F37}"/>
              </a:ext>
            </a:extLst>
          </p:cNvPr>
          <p:cNvSpPr txBox="1"/>
          <p:nvPr/>
        </p:nvSpPr>
        <p:spPr>
          <a:xfrm>
            <a:off x="1389821" y="105770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文法文件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DF6C3E-5B77-4569-B5CF-038523C08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256" y="3429000"/>
            <a:ext cx="5493111" cy="315601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402A051-7E73-432D-8D29-1A077FF906CB}"/>
              </a:ext>
            </a:extLst>
          </p:cNvPr>
          <p:cNvSpPr txBox="1"/>
          <p:nvPr/>
        </p:nvSpPr>
        <p:spPr>
          <a:xfrm>
            <a:off x="2096447" y="290864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临界例：成功归约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0A1A85-D3CE-4A82-BD4C-BB3470DA0069}"/>
              </a:ext>
            </a:extLst>
          </p:cNvPr>
          <p:cNvSpPr txBox="1"/>
          <p:nvPr/>
        </p:nvSpPr>
        <p:spPr>
          <a:xfrm>
            <a:off x="7893556" y="2975758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临界例：成功归约</a:t>
            </a:r>
          </a:p>
        </p:txBody>
      </p:sp>
    </p:spTree>
    <p:extLst>
      <p:ext uri="{BB962C8B-B14F-4D97-AF65-F5344CB8AC3E}">
        <p14:creationId xmlns:p14="http://schemas.microsoft.com/office/powerpoint/2010/main" val="1532359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FAFCBB-535B-42A5-85FE-73479FDA1978}"/>
              </a:ext>
            </a:extLst>
          </p:cNvPr>
          <p:cNvSpPr txBox="1"/>
          <p:nvPr/>
        </p:nvSpPr>
        <p:spPr>
          <a:xfrm>
            <a:off x="433633" y="338978"/>
            <a:ext cx="3802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SLR(1) </a:t>
            </a:r>
            <a:r>
              <a:rPr lang="zh-CN" altLang="en-US" sz="3200" b="1" dirty="0"/>
              <a:t>语法分析测试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D2C363-6784-4505-B6E6-5DC226993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3" y="2295021"/>
            <a:ext cx="2628900" cy="4229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2B1F20-ACA7-41BF-A01F-B434A077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500" y="2985247"/>
            <a:ext cx="7315200" cy="3495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D5AFAA-1A67-48A5-9930-12E16E564CBF}"/>
              </a:ext>
            </a:extLst>
          </p:cNvPr>
          <p:cNvSpPr txBox="1"/>
          <p:nvPr/>
        </p:nvSpPr>
        <p:spPr>
          <a:xfrm>
            <a:off x="285750" y="1752884"/>
            <a:ext cx="2503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First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Follow</a:t>
            </a:r>
            <a:r>
              <a:rPr lang="zh-CN" altLang="en-US" sz="2400" b="1" dirty="0"/>
              <a:t>计算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31709-A580-4E43-B986-FD9C49CF0BA0}"/>
              </a:ext>
            </a:extLst>
          </p:cNvPr>
          <p:cNvSpPr txBox="1"/>
          <p:nvPr/>
        </p:nvSpPr>
        <p:spPr>
          <a:xfrm>
            <a:off x="3533775" y="239641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语法分析表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F259811-C213-44C2-B007-2492EFD8B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566" y="330809"/>
            <a:ext cx="3802644" cy="21214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3DEBCB5-6DA3-4BDB-928E-A09B06546D7F}"/>
              </a:ext>
            </a:extLst>
          </p:cNvPr>
          <p:cNvSpPr txBox="1"/>
          <p:nvPr/>
        </p:nvSpPr>
        <p:spPr>
          <a:xfrm>
            <a:off x="4299301" y="11074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增广文法</a:t>
            </a:r>
          </a:p>
        </p:txBody>
      </p:sp>
    </p:spTree>
    <p:extLst>
      <p:ext uri="{BB962C8B-B14F-4D97-AF65-F5344CB8AC3E}">
        <p14:creationId xmlns:p14="http://schemas.microsoft.com/office/powerpoint/2010/main" val="904861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6770CE9-C56F-4081-AAE2-3225EA8185AF}"/>
              </a:ext>
            </a:extLst>
          </p:cNvPr>
          <p:cNvGrpSpPr/>
          <p:nvPr/>
        </p:nvGrpSpPr>
        <p:grpSpPr>
          <a:xfrm>
            <a:off x="7112000" y="1624146"/>
            <a:ext cx="4076700" cy="5040845"/>
            <a:chOff x="977900" y="90487"/>
            <a:chExt cx="6181725" cy="827616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CA15295-4683-4722-9A13-12C6B7F56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7900" y="90487"/>
              <a:ext cx="6181725" cy="4467225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F6D1C21-846F-4E06-BF4D-AA8785BFA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7900" y="4557713"/>
              <a:ext cx="6181725" cy="3808942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86E2DC8-F487-45CE-B701-C84A946096B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2" t="14388" r="10413" b="12635"/>
          <a:stretch/>
        </p:blipFill>
        <p:spPr>
          <a:xfrm>
            <a:off x="342900" y="1349764"/>
            <a:ext cx="6019800" cy="55082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992C988-0964-4119-87CC-46034CA93976}"/>
              </a:ext>
            </a:extLst>
          </p:cNvPr>
          <p:cNvSpPr txBox="1"/>
          <p:nvPr/>
        </p:nvSpPr>
        <p:spPr>
          <a:xfrm>
            <a:off x="433633" y="338978"/>
            <a:ext cx="3802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SLR(1) </a:t>
            </a:r>
            <a:r>
              <a:rPr lang="zh-CN" altLang="en-US" sz="3200" b="1" dirty="0"/>
              <a:t>语法分析测试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51835C-5821-4CC6-87F5-D4B433A35B7A}"/>
              </a:ext>
            </a:extLst>
          </p:cNvPr>
          <p:cNvSpPr txBox="1"/>
          <p:nvPr/>
        </p:nvSpPr>
        <p:spPr>
          <a:xfrm>
            <a:off x="2188745" y="983906"/>
            <a:ext cx="1303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DFA</a:t>
            </a:r>
            <a:r>
              <a:rPr lang="zh-CN" altLang="en-US" sz="2400" b="1" dirty="0"/>
              <a:t>构造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ED2028-6527-4F8C-B2E4-60B6BB77FE67}"/>
              </a:ext>
            </a:extLst>
          </p:cNvPr>
          <p:cNvSpPr txBox="1"/>
          <p:nvPr/>
        </p:nvSpPr>
        <p:spPr>
          <a:xfrm>
            <a:off x="7777052" y="983906"/>
            <a:ext cx="3065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正例：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*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语句解析</a:t>
            </a:r>
          </a:p>
        </p:txBody>
      </p:sp>
    </p:spTree>
    <p:extLst>
      <p:ext uri="{BB962C8B-B14F-4D97-AF65-F5344CB8AC3E}">
        <p14:creationId xmlns:p14="http://schemas.microsoft.com/office/powerpoint/2010/main" val="152243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941202-C5E7-47AE-816E-4441E2880DAD}"/>
              </a:ext>
            </a:extLst>
          </p:cNvPr>
          <p:cNvSpPr txBox="1"/>
          <p:nvPr/>
        </p:nvSpPr>
        <p:spPr>
          <a:xfrm>
            <a:off x="433633" y="338978"/>
            <a:ext cx="3802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SLR(1) </a:t>
            </a:r>
            <a:r>
              <a:rPr lang="zh-CN" altLang="en-US" sz="3200" b="1" dirty="0"/>
              <a:t>语法分析测试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EC05AF-1D63-4EED-B9B9-532060717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75" y="1656579"/>
            <a:ext cx="4544090" cy="508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0F34A9-D0E5-43A4-847C-EE9F6F511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33" y="2025559"/>
            <a:ext cx="6134123" cy="163027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AD220B2-F174-4FDD-A6B6-FD9C8D2F3099}"/>
              </a:ext>
            </a:extLst>
          </p:cNvPr>
          <p:cNvSpPr txBox="1"/>
          <p:nvPr/>
        </p:nvSpPr>
        <p:spPr>
          <a:xfrm>
            <a:off x="1171014" y="1194914"/>
            <a:ext cx="2797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负例：</a:t>
            </a:r>
            <a:r>
              <a:rPr lang="en-US" altLang="zh-CN" sz="2400" b="1" dirty="0"/>
              <a:t>+</a:t>
            </a:r>
            <a:r>
              <a:rPr lang="en-US" altLang="zh-CN" sz="2400" b="1" dirty="0" err="1"/>
              <a:t>i+i</a:t>
            </a:r>
            <a:r>
              <a:rPr lang="zh-CN" altLang="en-US" sz="2400" b="1" dirty="0"/>
              <a:t>语句解析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56BCC1-BC52-4E1C-A7CD-F52921BA133C}"/>
              </a:ext>
            </a:extLst>
          </p:cNvPr>
          <p:cNvSpPr txBox="1"/>
          <p:nvPr/>
        </p:nvSpPr>
        <p:spPr>
          <a:xfrm>
            <a:off x="7267014" y="964081"/>
            <a:ext cx="3187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临界例：</a:t>
            </a:r>
            <a:r>
              <a:rPr lang="en-US" altLang="zh-CN" sz="2400" b="1" dirty="0" err="1"/>
              <a:t>i+i+i</a:t>
            </a:r>
            <a:r>
              <a:rPr lang="zh-CN" altLang="en-US" sz="2400" b="1" dirty="0"/>
              <a:t>语句解析</a:t>
            </a:r>
          </a:p>
        </p:txBody>
      </p:sp>
    </p:spTree>
    <p:extLst>
      <p:ext uri="{BB962C8B-B14F-4D97-AF65-F5344CB8AC3E}">
        <p14:creationId xmlns:p14="http://schemas.microsoft.com/office/powerpoint/2010/main" val="173422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259789F-3E27-41AC-AD46-E54606E87010}"/>
              </a:ext>
            </a:extLst>
          </p:cNvPr>
          <p:cNvSpPr txBox="1"/>
          <p:nvPr/>
        </p:nvSpPr>
        <p:spPr>
          <a:xfrm>
            <a:off x="433633" y="338978"/>
            <a:ext cx="3802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SLR(1) </a:t>
            </a:r>
            <a:r>
              <a:rPr lang="zh-CN" altLang="en-US" sz="3200" b="1" dirty="0"/>
              <a:t>语法分析测试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53B9A9-13A7-4E6F-AAF3-1FDD3C8204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614" y="0"/>
            <a:ext cx="4285822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5C39DD-DCB2-4B1C-9636-EC1D7FA0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52" y="1035969"/>
            <a:ext cx="3590925" cy="1609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59E1350-655B-4B13-8323-64CB9EE25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38038" y="2315928"/>
            <a:ext cx="3638550" cy="52292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52B8596-9807-43C1-A996-9054A5502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0814" y="3365934"/>
            <a:ext cx="10534650" cy="477202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34134DB-6621-4188-A1D6-6E355ED27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148" y="-745206"/>
            <a:ext cx="7429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2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C76D7C-DF79-47F1-8349-554891BB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43" y="4010031"/>
            <a:ext cx="4855647" cy="26877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23D940F-DCC5-44F0-8B11-82CF6D005191}"/>
              </a:ext>
            </a:extLst>
          </p:cNvPr>
          <p:cNvSpPr txBox="1"/>
          <p:nvPr/>
        </p:nvSpPr>
        <p:spPr>
          <a:xfrm>
            <a:off x="433633" y="338978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LR(1) </a:t>
            </a:r>
            <a:r>
              <a:rPr lang="zh-CN" altLang="en-US" sz="3200" b="1" dirty="0"/>
              <a:t>语法分析测试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3ABB92E-C802-468C-950E-8001E4579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42" y="1253418"/>
            <a:ext cx="4855647" cy="21755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F58F72-5E8B-4044-A6A1-8B2510FC5F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99" y="1017234"/>
            <a:ext cx="4768692" cy="51853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260AB76-88E8-47B6-94D4-C004AFCF2DD8}"/>
              </a:ext>
            </a:extLst>
          </p:cNvPr>
          <p:cNvSpPr txBox="1"/>
          <p:nvPr/>
        </p:nvSpPr>
        <p:spPr>
          <a:xfrm>
            <a:off x="1413052" y="360992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语法分析表构造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A196D5-2370-4FA3-835D-9FC7191FF1B0}"/>
              </a:ext>
            </a:extLst>
          </p:cNvPr>
          <p:cNvSpPr txBox="1"/>
          <p:nvPr/>
        </p:nvSpPr>
        <p:spPr>
          <a:xfrm>
            <a:off x="7879625" y="6297632"/>
            <a:ext cx="11174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DFA</a:t>
            </a:r>
            <a:r>
              <a:rPr lang="zh-CN" altLang="en-US" sz="2000" b="1" dirty="0">
                <a:solidFill>
                  <a:srgbClr val="FF0000"/>
                </a:solidFill>
              </a:rPr>
              <a:t>构造</a:t>
            </a:r>
          </a:p>
        </p:txBody>
      </p:sp>
    </p:spTree>
    <p:extLst>
      <p:ext uri="{BB962C8B-B14F-4D97-AF65-F5344CB8AC3E}">
        <p14:creationId xmlns:p14="http://schemas.microsoft.com/office/powerpoint/2010/main" val="257750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30E3D5-47E1-47CA-948C-CA1B40EA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63" y="1073336"/>
            <a:ext cx="6092295" cy="16405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AE73D4-7834-42AD-8020-5088F5A8B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63" y="2863458"/>
            <a:ext cx="6092294" cy="16405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19B493-FDCA-49C5-9034-2342B95FA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62" y="4653580"/>
            <a:ext cx="6092295" cy="18654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0025D8-D00B-43DD-8DE5-5A02C07A4E30}"/>
              </a:ext>
            </a:extLst>
          </p:cNvPr>
          <p:cNvSpPr txBox="1"/>
          <p:nvPr/>
        </p:nvSpPr>
        <p:spPr>
          <a:xfrm>
            <a:off x="433633" y="338978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LR(1) </a:t>
            </a:r>
            <a:r>
              <a:rPr lang="zh-CN" altLang="en-US" sz="3200" b="1" dirty="0"/>
              <a:t>语法分析测试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41E590-23B4-4C3E-A5E1-3089C8767E1B}"/>
              </a:ext>
            </a:extLst>
          </p:cNvPr>
          <p:cNvSpPr txBox="1"/>
          <p:nvPr/>
        </p:nvSpPr>
        <p:spPr>
          <a:xfrm>
            <a:off x="7630972" y="526202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临界例：成功归约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DFF730-E567-496E-A3E1-F9E8F99B8C48}"/>
              </a:ext>
            </a:extLst>
          </p:cNvPr>
          <p:cNvSpPr txBox="1"/>
          <p:nvPr/>
        </p:nvSpPr>
        <p:spPr>
          <a:xfrm>
            <a:off x="7630972" y="342178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负例：直接报错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D96305-86C9-44FF-BBBC-A100FD825437}"/>
              </a:ext>
            </a:extLst>
          </p:cNvPr>
          <p:cNvSpPr txBox="1"/>
          <p:nvPr/>
        </p:nvSpPr>
        <p:spPr>
          <a:xfrm>
            <a:off x="7630973" y="158154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正例：成功归约</a:t>
            </a:r>
          </a:p>
        </p:txBody>
      </p:sp>
    </p:spTree>
    <p:extLst>
      <p:ext uri="{BB962C8B-B14F-4D97-AF65-F5344CB8AC3E}">
        <p14:creationId xmlns:p14="http://schemas.microsoft.com/office/powerpoint/2010/main" val="1797423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2B6E6B-C97A-4B58-BDB5-94719AD4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514" y="2269585"/>
            <a:ext cx="4009083" cy="44709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DCBAAE9-79BA-45BB-AF30-AE5BD812024A}"/>
              </a:ext>
            </a:extLst>
          </p:cNvPr>
          <p:cNvSpPr txBox="1"/>
          <p:nvPr/>
        </p:nvSpPr>
        <p:spPr>
          <a:xfrm>
            <a:off x="433633" y="33897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中间代码生成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AFAEAF-CBD7-4324-BAA6-F2E9FC7F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821" y="1128101"/>
            <a:ext cx="1885950" cy="9810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1DB978-DA2F-42C9-808C-D452C6B37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204" y="1109051"/>
            <a:ext cx="2428875" cy="10001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B88F8B2-3874-4FBB-AC51-36D86F2A553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5228"/>
          <a:stretch/>
        </p:blipFill>
        <p:spPr>
          <a:xfrm>
            <a:off x="281210" y="5142779"/>
            <a:ext cx="5080569" cy="155201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333DAAA-D9DC-4E48-81D6-9E42A7F10B9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3096"/>
          <a:stretch/>
        </p:blipFill>
        <p:spPr>
          <a:xfrm>
            <a:off x="541860" y="2202032"/>
            <a:ext cx="4771766" cy="163902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CFBEE05-83C0-418A-8FFA-9891A97D26AA}"/>
              </a:ext>
            </a:extLst>
          </p:cNvPr>
          <p:cNvSpPr txBox="1"/>
          <p:nvPr/>
        </p:nvSpPr>
        <p:spPr>
          <a:xfrm>
            <a:off x="1356189" y="11834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正例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8AB8C8-90AD-48D9-84D9-C7BE28E3123B}"/>
              </a:ext>
            </a:extLst>
          </p:cNvPr>
          <p:cNvSpPr txBox="1"/>
          <p:nvPr/>
        </p:nvSpPr>
        <p:spPr>
          <a:xfrm>
            <a:off x="382036" y="429472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临界例：带括号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3C569F3-793C-4E7D-9506-774D4727D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801" y="3991853"/>
            <a:ext cx="2409825" cy="100012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BDB2A3C4-2ABB-4942-B460-28820E44AA48}"/>
              </a:ext>
            </a:extLst>
          </p:cNvPr>
          <p:cNvSpPr txBox="1"/>
          <p:nvPr/>
        </p:nvSpPr>
        <p:spPr>
          <a:xfrm>
            <a:off x="7355314" y="13782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负例</a:t>
            </a:r>
          </a:p>
        </p:txBody>
      </p:sp>
    </p:spTree>
    <p:extLst>
      <p:ext uri="{BB962C8B-B14F-4D97-AF65-F5344CB8AC3E}">
        <p14:creationId xmlns:p14="http://schemas.microsoft.com/office/powerpoint/2010/main" val="2697686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E46EF0-832A-4284-A9B8-36AB5285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68" y="1736360"/>
            <a:ext cx="3497807" cy="41455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89C22F0-353A-4E3D-BD03-FBDA2B3C71F1}"/>
              </a:ext>
            </a:extLst>
          </p:cNvPr>
          <p:cNvSpPr txBox="1"/>
          <p:nvPr/>
        </p:nvSpPr>
        <p:spPr>
          <a:xfrm>
            <a:off x="433633" y="338978"/>
            <a:ext cx="1800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/>
              <a:t>MCP</a:t>
            </a:r>
            <a:r>
              <a:rPr lang="zh-CN" altLang="en-US" sz="3200" b="1" dirty="0"/>
              <a:t>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4A742D-340B-4BAE-8892-2C49BA31AEC2}"/>
              </a:ext>
            </a:extLst>
          </p:cNvPr>
          <p:cNvSpPr txBox="1"/>
          <p:nvPr/>
        </p:nvSpPr>
        <p:spPr>
          <a:xfrm>
            <a:off x="632409" y="1078698"/>
            <a:ext cx="4823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直接调用</a:t>
            </a:r>
            <a:r>
              <a:rPr lang="en-US" altLang="zh-CN" sz="2000" b="1" dirty="0">
                <a:solidFill>
                  <a:srgbClr val="FF0000"/>
                </a:solidFill>
              </a:rPr>
              <a:t>Agent</a:t>
            </a:r>
            <a:r>
              <a:rPr lang="zh-CN" altLang="en-US" sz="2000" b="1" dirty="0">
                <a:solidFill>
                  <a:srgbClr val="FF0000"/>
                </a:solidFill>
              </a:rPr>
              <a:t>，对</a:t>
            </a:r>
            <a:r>
              <a:rPr lang="en-US" altLang="zh-CN" sz="2000" b="1" dirty="0">
                <a:solidFill>
                  <a:srgbClr val="FF0000"/>
                </a:solidFill>
              </a:rPr>
              <a:t>DFA</a:t>
            </a:r>
            <a:r>
              <a:rPr lang="zh-CN" altLang="en-US" sz="2000" b="1" dirty="0">
                <a:solidFill>
                  <a:srgbClr val="FF0000"/>
                </a:solidFill>
              </a:rPr>
              <a:t>状态图进行可视化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734A36-FB67-494D-BF27-841C4A611E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496" y="2023211"/>
            <a:ext cx="4655436" cy="34246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D756A1-73E2-4543-B9BD-E847242F5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518" y="1927911"/>
            <a:ext cx="3050398" cy="361528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9DE225-5DE4-49BC-8E44-46B410733837}"/>
              </a:ext>
            </a:extLst>
          </p:cNvPr>
          <p:cNvSpPr txBox="1"/>
          <p:nvPr/>
        </p:nvSpPr>
        <p:spPr>
          <a:xfrm>
            <a:off x="1204093" y="593940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对话示例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2E08BA-84D8-4B08-8D51-537D4EB6D1A9}"/>
              </a:ext>
            </a:extLst>
          </p:cNvPr>
          <p:cNvSpPr txBox="1"/>
          <p:nvPr/>
        </p:nvSpPr>
        <p:spPr>
          <a:xfrm>
            <a:off x="4648333" y="5947829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Mermaid</a:t>
            </a:r>
            <a:r>
              <a:rPr lang="zh-CN" altLang="en-US" sz="2000" b="1" dirty="0"/>
              <a:t>文件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3869BC6-6A52-456B-9CBE-77D3FAF4AF15}"/>
              </a:ext>
            </a:extLst>
          </p:cNvPr>
          <p:cNvSpPr txBox="1"/>
          <p:nvPr/>
        </p:nvSpPr>
        <p:spPr>
          <a:xfrm>
            <a:off x="8897231" y="5939406"/>
            <a:ext cx="1373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DFA</a:t>
            </a:r>
            <a:r>
              <a:rPr lang="zh-CN" altLang="en-US" sz="2000" b="1" dirty="0"/>
              <a:t>可视化</a:t>
            </a:r>
          </a:p>
        </p:txBody>
      </p:sp>
    </p:spTree>
    <p:extLst>
      <p:ext uri="{BB962C8B-B14F-4D97-AF65-F5344CB8AC3E}">
        <p14:creationId xmlns:p14="http://schemas.microsoft.com/office/powerpoint/2010/main" val="2963021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00C3187-F175-4443-AD6A-64AE58CB3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071" y="420393"/>
            <a:ext cx="6822607" cy="20860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EB1303-0564-4A8B-89AB-34BC90C1B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5792" y="4114800"/>
            <a:ext cx="6351305" cy="23228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976F8A1-2206-4C6B-8E02-950D75563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430" y="3483734"/>
            <a:ext cx="5997569" cy="33350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8757ED-EB67-427A-BE2F-A9E4EA302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784" y="-396655"/>
            <a:ext cx="5466429" cy="37201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C05046-2A3A-4FBB-B813-84DBBD77C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540842" y="1636732"/>
            <a:ext cx="6399032" cy="23228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D335BB0-7C56-481C-B215-1E8D8D699A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17716" y="6116220"/>
            <a:ext cx="5951812" cy="225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6728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3623</Words>
  <Application>Microsoft Office PowerPoint</Application>
  <PresentationFormat>宽屏</PresentationFormat>
  <Paragraphs>295</Paragraphs>
  <Slides>35</Slides>
  <Notes>4</Notes>
  <HiddenSlides>5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3" baseType="lpstr">
      <vt:lpstr>等线</vt:lpstr>
      <vt:lpstr>宋体</vt:lpstr>
      <vt:lpstr>Arial</vt:lpstr>
      <vt:lpstr>Calibri</vt:lpstr>
      <vt:lpstr>Consolas</vt:lpstr>
      <vt:lpstr>Segoe UI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Iron_Nuoya</dc:creator>
  <cp:lastModifiedBy>王锦鸿</cp:lastModifiedBy>
  <cp:revision>102</cp:revision>
  <dcterms:created xsi:type="dcterms:W3CDTF">2023-08-09T12:44:55Z</dcterms:created>
  <dcterms:modified xsi:type="dcterms:W3CDTF">2025-06-17T08:55:33Z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