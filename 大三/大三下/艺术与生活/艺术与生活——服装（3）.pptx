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1" r:id="rId3"/>
    <p:sldId id="342" r:id="rId5"/>
    <p:sldId id="265" r:id="rId6"/>
    <p:sldId id="326" r:id="rId7"/>
    <p:sldId id="271" r:id="rId8"/>
    <p:sldId id="325" r:id="rId9"/>
    <p:sldId id="327" r:id="rId10"/>
    <p:sldId id="274" r:id="rId11"/>
    <p:sldId id="275" r:id="rId12"/>
    <p:sldId id="276" r:id="rId13"/>
    <p:sldId id="277" r:id="rId14"/>
    <p:sldId id="278" r:id="rId15"/>
    <p:sldId id="279" r:id="rId16"/>
    <p:sldId id="280" r:id="rId17"/>
    <p:sldId id="297" r:id="rId18"/>
    <p:sldId id="296" r:id="rId19"/>
    <p:sldId id="298" r:id="rId20"/>
    <p:sldId id="301" r:id="rId21"/>
    <p:sldId id="343" r:id="rId22"/>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27"/>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237.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63.xml"/><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image" Target="../media/image4.jpeg"/><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1" Type="http://schemas.openxmlformats.org/officeDocument/2006/relationships/slideLayout" Target="../slideLayouts/slideLayout2.xml"/><Relationship Id="rId10" Type="http://schemas.openxmlformats.org/officeDocument/2006/relationships/tags" Target="../tags/tag76.xml"/><Relationship Id="rId1" Type="http://schemas.openxmlformats.org/officeDocument/2006/relationships/tags" Target="../tags/tag68.xml"/></Relationships>
</file>

<file path=ppt/slides/_rels/slide4.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image" Target="../media/image5.jpeg"/><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2" Type="http://schemas.openxmlformats.org/officeDocument/2006/relationships/slideLayout" Target="../slideLayouts/slideLayout2.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tags" Target="../tags/tag77.xml"/></Relationships>
</file>

<file path=ppt/slides/_rels/slide5.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1" Type="http://schemas.openxmlformats.org/officeDocument/2006/relationships/slideLayout" Target="../slideLayouts/slideLayout7.xml"/><Relationship Id="rId10" Type="http://schemas.openxmlformats.org/officeDocument/2006/relationships/tags" Target="../tags/tag95.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96.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image" Target="../media/image8.jpeg"/><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2" Type="http://schemas.openxmlformats.org/officeDocument/2006/relationships/slideLayout" Target="../slideLayouts/slideLayout2.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tags" Target="../tags/tag97.xml"/></Relationships>
</file>

<file path=ppt/slides/_rels/slide8.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5" Type="http://schemas.openxmlformats.org/officeDocument/2006/relationships/slideLayout" Target="../slideLayouts/slideLayout7.xml"/><Relationship Id="rId14" Type="http://schemas.openxmlformats.org/officeDocument/2006/relationships/tags" Target="../tags/tag11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image" Target="../media/image9.jpeg"/><Relationship Id="rId10" Type="http://schemas.openxmlformats.org/officeDocument/2006/relationships/tags" Target="../tags/tag116.xml"/><Relationship Id="rId1" Type="http://schemas.openxmlformats.org/officeDocument/2006/relationships/tags" Target="../tags/tag107.xml"/></Relationships>
</file>

<file path=ppt/slides/_rels/slide9.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5" Type="http://schemas.openxmlformats.org/officeDocument/2006/relationships/slideLayout" Target="../slideLayouts/slideLayout7.xml"/><Relationship Id="rId14" Type="http://schemas.openxmlformats.org/officeDocument/2006/relationships/tags" Target="../tags/tag132.xml"/><Relationship Id="rId13" Type="http://schemas.openxmlformats.org/officeDocument/2006/relationships/tags" Target="../tags/tag131.xml"/><Relationship Id="rId12" Type="http://schemas.openxmlformats.org/officeDocument/2006/relationships/tags" Target="../tags/tag130.xml"/><Relationship Id="rId11" Type="http://schemas.openxmlformats.org/officeDocument/2006/relationships/image" Target="../media/image10.jpeg"/><Relationship Id="rId10" Type="http://schemas.openxmlformats.org/officeDocument/2006/relationships/tags" Target="../tags/tag129.xml"/><Relationship Id="rId1" Type="http://schemas.openxmlformats.org/officeDocument/2006/relationships/tags" Target="../tags/tag120.xml"/></Relationships>
</file>

<file path=ppt/slides/_rels/slide10.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5" Type="http://schemas.openxmlformats.org/officeDocument/2006/relationships/slideLayout" Target="../slideLayouts/slideLayout7.xml"/><Relationship Id="rId14" Type="http://schemas.openxmlformats.org/officeDocument/2006/relationships/tags" Target="../tags/tag145.xml"/><Relationship Id="rId13" Type="http://schemas.openxmlformats.org/officeDocument/2006/relationships/image" Target="../media/image11.jpeg"/><Relationship Id="rId12" Type="http://schemas.openxmlformats.org/officeDocument/2006/relationships/tags" Target="../tags/tag14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tags" Target="../tags/tag133.xml"/></Relationships>
</file>

<file path=ppt/slides/_rels/slide11.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 Type="http://schemas.openxmlformats.org/officeDocument/2006/relationships/tags" Target="../tags/tag151.xml"/><Relationship Id="rId6" Type="http://schemas.openxmlformats.org/officeDocument/2006/relationships/tags" Target="../tags/tag150.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3" Type="http://schemas.openxmlformats.org/officeDocument/2006/relationships/slideLayout" Target="../slideLayouts/slideLayout7.xml"/><Relationship Id="rId12" Type="http://schemas.openxmlformats.org/officeDocument/2006/relationships/tags" Target="../tags/tag156.xml"/><Relationship Id="rId11" Type="http://schemas.openxmlformats.org/officeDocument/2006/relationships/tags" Target="../tags/tag155.xml"/><Relationship Id="rId10" Type="http://schemas.openxmlformats.org/officeDocument/2006/relationships/tags" Target="../tags/tag154.xml"/><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3" Type="http://schemas.openxmlformats.org/officeDocument/2006/relationships/slideLayout" Target="../slideLayouts/slideLayout7.xml"/><Relationship Id="rId12" Type="http://schemas.openxmlformats.org/officeDocument/2006/relationships/tags" Target="../tags/tag167.xml"/><Relationship Id="rId11" Type="http://schemas.openxmlformats.org/officeDocument/2006/relationships/image" Target="../media/image13.jpeg"/><Relationship Id="rId10" Type="http://schemas.openxmlformats.org/officeDocument/2006/relationships/tags" Target="../tags/tag166.xml"/><Relationship Id="rId1" Type="http://schemas.openxmlformats.org/officeDocument/2006/relationships/tags" Target="../tags/tag157.xml"/></Relationships>
</file>

<file path=ppt/slides/_rels/slide13.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image" Target="../media/image15.jpeg"/><Relationship Id="rId14" Type="http://schemas.openxmlformats.org/officeDocument/2006/relationships/slideLayout" Target="../slideLayouts/slideLayout7.xml"/><Relationship Id="rId13" Type="http://schemas.openxmlformats.org/officeDocument/2006/relationships/tags" Target="../tags/tag178.xml"/><Relationship Id="rId12" Type="http://schemas.openxmlformats.org/officeDocument/2006/relationships/tags" Target="../tags/tag177.xml"/><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2" Type="http://schemas.openxmlformats.org/officeDocument/2006/relationships/slideLayout" Target="../slideLayouts/slideLayout7.xml"/><Relationship Id="rId11" Type="http://schemas.openxmlformats.org/officeDocument/2006/relationships/tags" Target="../tags/tag188.xml"/><Relationship Id="rId10" Type="http://schemas.openxmlformats.org/officeDocument/2006/relationships/tags" Target="../tags/tag187.xml"/><Relationship Id="rId1" Type="http://schemas.openxmlformats.org/officeDocument/2006/relationships/image" Target="../media/image16.jpeg"/></Relationships>
</file>

<file path=ppt/slides/_rels/slide15.xml.rels><?xml version="1.0" encoding="UTF-8" standalone="yes"?>
<Relationships xmlns="http://schemas.openxmlformats.org/package/2006/relationships"><Relationship Id="rId9" Type="http://schemas.openxmlformats.org/officeDocument/2006/relationships/tags" Target="../tags/tag196.xml"/><Relationship Id="rId8" Type="http://schemas.openxmlformats.org/officeDocument/2006/relationships/tags" Target="../tags/tag195.xml"/><Relationship Id="rId7" Type="http://schemas.openxmlformats.org/officeDocument/2006/relationships/tags" Target="../tags/tag194.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tags" Target="../tags/tag191.xml"/><Relationship Id="rId3" Type="http://schemas.openxmlformats.org/officeDocument/2006/relationships/tags" Target="../tags/tag190.xml"/><Relationship Id="rId2" Type="http://schemas.openxmlformats.org/officeDocument/2006/relationships/tags" Target="../tags/tag189.xml"/><Relationship Id="rId12" Type="http://schemas.openxmlformats.org/officeDocument/2006/relationships/slideLayout" Target="../slideLayouts/slideLayout7.xml"/><Relationship Id="rId11" Type="http://schemas.openxmlformats.org/officeDocument/2006/relationships/tags" Target="../tags/tag198.xml"/><Relationship Id="rId10" Type="http://schemas.openxmlformats.org/officeDocument/2006/relationships/tags" Target="../tags/tag197.xml"/><Relationship Id="rId1" Type="http://schemas.openxmlformats.org/officeDocument/2006/relationships/image" Target="../media/image17.jpeg"/></Relationships>
</file>

<file path=ppt/slides/_rels/slide16.xml.rels><?xml version="1.0" encoding="UTF-8" standalone="yes"?>
<Relationships xmlns="http://schemas.openxmlformats.org/package/2006/relationships"><Relationship Id="rId9" Type="http://schemas.openxmlformats.org/officeDocument/2006/relationships/tags" Target="../tags/tag206.xml"/><Relationship Id="rId8" Type="http://schemas.openxmlformats.org/officeDocument/2006/relationships/tags" Target="../tags/tag205.xml"/><Relationship Id="rId7" Type="http://schemas.openxmlformats.org/officeDocument/2006/relationships/tags" Target="../tags/tag204.xml"/><Relationship Id="rId6" Type="http://schemas.openxmlformats.org/officeDocument/2006/relationships/tags" Target="../tags/tag203.xml"/><Relationship Id="rId5" Type="http://schemas.openxmlformats.org/officeDocument/2006/relationships/tags" Target="../tags/tag202.xml"/><Relationship Id="rId4" Type="http://schemas.openxmlformats.org/officeDocument/2006/relationships/tags" Target="../tags/tag201.xml"/><Relationship Id="rId3" Type="http://schemas.openxmlformats.org/officeDocument/2006/relationships/tags" Target="../tags/tag200.xml"/><Relationship Id="rId2" Type="http://schemas.openxmlformats.org/officeDocument/2006/relationships/tags" Target="../tags/tag199.xml"/><Relationship Id="rId12" Type="http://schemas.openxmlformats.org/officeDocument/2006/relationships/slideLayout" Target="../slideLayouts/slideLayout7.xml"/><Relationship Id="rId11" Type="http://schemas.openxmlformats.org/officeDocument/2006/relationships/tags" Target="../tags/tag208.xml"/><Relationship Id="rId10" Type="http://schemas.openxmlformats.org/officeDocument/2006/relationships/tags" Target="../tags/tag207.xml"/><Relationship Id="rId1" Type="http://schemas.openxmlformats.org/officeDocument/2006/relationships/image" Target="../media/image18.jpeg"/></Relationships>
</file>

<file path=ppt/slides/_rels/slide17.xml.rels><?xml version="1.0" encoding="UTF-8" standalone="yes"?>
<Relationships xmlns="http://schemas.openxmlformats.org/package/2006/relationships"><Relationship Id="rId9" Type="http://schemas.openxmlformats.org/officeDocument/2006/relationships/tags" Target="../tags/tag216.xml"/><Relationship Id="rId8" Type="http://schemas.openxmlformats.org/officeDocument/2006/relationships/tags" Target="../tags/tag215.xml"/><Relationship Id="rId7" Type="http://schemas.openxmlformats.org/officeDocument/2006/relationships/tags" Target="../tags/tag214.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0" Type="http://schemas.openxmlformats.org/officeDocument/2006/relationships/slideLayout" Target="../slideLayouts/slideLayout7.xml"/><Relationship Id="rId1" Type="http://schemas.openxmlformats.org/officeDocument/2006/relationships/image" Target="../media/image19.jpeg"/></Relationships>
</file>

<file path=ppt/slides/_rels/slide18.xml.rels><?xml version="1.0" encoding="UTF-8" standalone="yes"?>
<Relationships xmlns="http://schemas.openxmlformats.org/package/2006/relationships"><Relationship Id="rId9" Type="http://schemas.openxmlformats.org/officeDocument/2006/relationships/tags" Target="../tags/tag224.xml"/><Relationship Id="rId8" Type="http://schemas.openxmlformats.org/officeDocument/2006/relationships/tags" Target="../tags/tag223.xml"/><Relationship Id="rId7" Type="http://schemas.openxmlformats.org/officeDocument/2006/relationships/tags" Target="../tags/tag222.xml"/><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2" Type="http://schemas.openxmlformats.org/officeDocument/2006/relationships/slideLayout" Target="../slideLayouts/slideLayout7.xml"/><Relationship Id="rId11" Type="http://schemas.openxmlformats.org/officeDocument/2006/relationships/tags" Target="../tags/tag226.xml"/><Relationship Id="rId10" Type="http://schemas.openxmlformats.org/officeDocument/2006/relationships/tags" Target="../tags/tag225.xml"/><Relationship Id="rId1" Type="http://schemas.openxmlformats.org/officeDocument/2006/relationships/image" Target="../media/image20.jpeg"/></Relationships>
</file>

<file path=ppt/slides/_rels/slide19.xml.rels><?xml version="1.0" encoding="UTF-8" standalone="yes"?>
<Relationships xmlns="http://schemas.openxmlformats.org/package/2006/relationships"><Relationship Id="rId9" Type="http://schemas.openxmlformats.org/officeDocument/2006/relationships/tags" Target="../tags/tag235.xml"/><Relationship Id="rId8" Type="http://schemas.openxmlformats.org/officeDocument/2006/relationships/tags" Target="../tags/tag234.xml"/><Relationship Id="rId7" Type="http://schemas.openxmlformats.org/officeDocument/2006/relationships/tags" Target="../tags/tag233.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1" Type="http://schemas.openxmlformats.org/officeDocument/2006/relationships/slideLayout" Target="../slideLayouts/slideLayout7.xml"/><Relationship Id="rId10" Type="http://schemas.openxmlformats.org/officeDocument/2006/relationships/tags" Target="../tags/tag236.xml"/><Relationship Id="rId1" Type="http://schemas.openxmlformats.org/officeDocument/2006/relationships/tags" Target="../tags/tag2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descr="D:\图片\面料肌理\IMG_3898.JPGIMG_3898"/>
          <p:cNvPicPr>
            <a:picLocks noChangeAspect="1"/>
          </p:cNvPicPr>
          <p:nvPr/>
        </p:nvPicPr>
        <p:blipFill>
          <a:blip r:embed="rId1"/>
          <a:srcRect/>
          <a:stretch>
            <a:fillRect/>
          </a:stretch>
        </p:blipFill>
        <p:spPr>
          <a:xfrm>
            <a:off x="-317" y="-635"/>
            <a:ext cx="5068570" cy="6880225"/>
          </a:xfrm>
          <a:prstGeom prst="rect">
            <a:avLst/>
          </a:prstGeom>
        </p:spPr>
      </p:pic>
      <p:grpSp>
        <p:nvGrpSpPr>
          <p:cNvPr id="56" name="组合 55"/>
          <p:cNvGrpSpPr/>
          <p:nvPr/>
        </p:nvGrpSpPr>
        <p:grpSpPr>
          <a:xfrm>
            <a:off x="3346450" y="-635"/>
            <a:ext cx="2824480" cy="6879590"/>
            <a:chOff x="5270" y="-1"/>
            <a:chExt cx="4448" cy="10834"/>
          </a:xfrm>
        </p:grpSpPr>
        <p:sp>
          <p:nvSpPr>
            <p:cNvPr id="38" name="任意多边形 37"/>
            <p:cNvSpPr/>
            <p:nvPr/>
          </p:nvSpPr>
          <p:spPr>
            <a:xfrm>
              <a:off x="6324" y="5939"/>
              <a:ext cx="3394" cy="4895"/>
            </a:xfrm>
            <a:custGeom>
              <a:avLst/>
              <a:gdLst>
                <a:gd name="connsiteX0" fmla="*/ 3394 w 3394"/>
                <a:gd name="connsiteY0" fmla="*/ 4870 h 4895"/>
                <a:gd name="connsiteX1" fmla="*/ 1492 w 3394"/>
                <a:gd name="connsiteY1" fmla="*/ 4895 h 4895"/>
                <a:gd name="connsiteX2" fmla="*/ 823 w 3394"/>
                <a:gd name="connsiteY2" fmla="*/ 2994 h 4895"/>
                <a:gd name="connsiteX3" fmla="*/ 450 w 3394"/>
                <a:gd name="connsiteY3" fmla="*/ 1916 h 4895"/>
                <a:gd name="connsiteX4" fmla="*/ 0 w 3394"/>
                <a:gd name="connsiteY4" fmla="*/ 509 h 4895"/>
                <a:gd name="connsiteX5" fmla="*/ 1723 w 3394"/>
                <a:gd name="connsiteY5" fmla="*/ 0 h 4895"/>
                <a:gd name="connsiteX6" fmla="*/ 2960 w 3394"/>
                <a:gd name="connsiteY6" fmla="*/ 3587 h 4895"/>
                <a:gd name="connsiteX7" fmla="*/ 3394 w 3394"/>
                <a:gd name="connsiteY7" fmla="*/ 4870 h 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 h="4895">
                  <a:moveTo>
                    <a:pt x="3394" y="4870"/>
                  </a:moveTo>
                  <a:lnTo>
                    <a:pt x="1492" y="4895"/>
                  </a:lnTo>
                  <a:lnTo>
                    <a:pt x="823" y="2994"/>
                  </a:lnTo>
                  <a:lnTo>
                    <a:pt x="450" y="1916"/>
                  </a:lnTo>
                  <a:lnTo>
                    <a:pt x="0" y="509"/>
                  </a:lnTo>
                  <a:lnTo>
                    <a:pt x="1723" y="0"/>
                  </a:lnTo>
                  <a:lnTo>
                    <a:pt x="2960" y="3587"/>
                  </a:lnTo>
                  <a:lnTo>
                    <a:pt x="3394" y="4870"/>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任意多边形 33"/>
            <p:cNvSpPr/>
            <p:nvPr/>
          </p:nvSpPr>
          <p:spPr>
            <a:xfrm flipV="1">
              <a:off x="6310" y="2319"/>
              <a:ext cx="3096" cy="6697"/>
            </a:xfrm>
            <a:custGeom>
              <a:avLst/>
              <a:gdLst>
                <a:gd name="connsiteX0" fmla="*/ 1419 w 3096"/>
                <a:gd name="connsiteY0" fmla="*/ 6697 h 6697"/>
                <a:gd name="connsiteX1" fmla="*/ 0 w 3096"/>
                <a:gd name="connsiteY1" fmla="*/ 2570 h 6697"/>
                <a:gd name="connsiteX2" fmla="*/ 848 w 3096"/>
                <a:gd name="connsiteY2" fmla="*/ 0 h 6697"/>
                <a:gd name="connsiteX3" fmla="*/ 2046 w 3096"/>
                <a:gd name="connsiteY3" fmla="*/ 2726 h 6697"/>
                <a:gd name="connsiteX4" fmla="*/ 3096 w 3096"/>
                <a:gd name="connsiteY4" fmla="*/ 5102 h 6697"/>
                <a:gd name="connsiteX5" fmla="*/ 1419 w 3096"/>
                <a:gd name="connsiteY5" fmla="*/ 6697 h 6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6" h="6697">
                  <a:moveTo>
                    <a:pt x="1419" y="6697"/>
                  </a:moveTo>
                  <a:lnTo>
                    <a:pt x="0" y="2570"/>
                  </a:lnTo>
                  <a:lnTo>
                    <a:pt x="848" y="0"/>
                  </a:lnTo>
                  <a:lnTo>
                    <a:pt x="2046" y="2726"/>
                  </a:lnTo>
                  <a:lnTo>
                    <a:pt x="3096" y="5102"/>
                  </a:lnTo>
                  <a:lnTo>
                    <a:pt x="1419" y="6697"/>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33" name="任意多边形 32"/>
            <p:cNvSpPr/>
            <p:nvPr/>
          </p:nvSpPr>
          <p:spPr>
            <a:xfrm flipV="1">
              <a:off x="5270" y="-1"/>
              <a:ext cx="4136" cy="3915"/>
            </a:xfrm>
            <a:custGeom>
              <a:avLst/>
              <a:gdLst>
                <a:gd name="connsiteX0" fmla="*/ 0 w 4311"/>
                <a:gd name="connsiteY0" fmla="*/ 4079 h 4079"/>
                <a:gd name="connsiteX1" fmla="*/ 4311 w 4311"/>
                <a:gd name="connsiteY1" fmla="*/ 0 h 4079"/>
                <a:gd name="connsiteX2" fmla="*/ 2921 w 4311"/>
                <a:gd name="connsiteY2" fmla="*/ 4079 h 4079"/>
                <a:gd name="connsiteX3" fmla="*/ 0 w 4311"/>
                <a:gd name="connsiteY3" fmla="*/ 4079 h 4079"/>
              </a:gdLst>
              <a:ahLst/>
              <a:cxnLst>
                <a:cxn ang="0">
                  <a:pos x="connsiteX0" y="connsiteY0"/>
                </a:cxn>
                <a:cxn ang="0">
                  <a:pos x="connsiteX1" y="connsiteY1"/>
                </a:cxn>
                <a:cxn ang="0">
                  <a:pos x="connsiteX2" y="connsiteY2"/>
                </a:cxn>
                <a:cxn ang="0">
                  <a:pos x="connsiteX3" y="connsiteY3"/>
                </a:cxn>
              </a:cxnLst>
              <a:rect l="l" t="t" r="r" b="b"/>
              <a:pathLst>
                <a:path w="4311" h="4079">
                  <a:moveTo>
                    <a:pt x="0" y="4079"/>
                  </a:moveTo>
                  <a:lnTo>
                    <a:pt x="4311" y="0"/>
                  </a:lnTo>
                  <a:lnTo>
                    <a:pt x="2921" y="4079"/>
                  </a:lnTo>
                  <a:lnTo>
                    <a:pt x="0" y="4079"/>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2" name="文本框 41"/>
          <p:cNvSpPr txBox="1"/>
          <p:nvPr/>
        </p:nvSpPr>
        <p:spPr>
          <a:xfrm>
            <a:off x="6600190" y="2485390"/>
            <a:ext cx="5041900" cy="706755"/>
          </a:xfrm>
          <a:prstGeom prst="rect">
            <a:avLst/>
          </a:prstGeom>
          <a:noFill/>
        </p:spPr>
        <p:txBody>
          <a:bodyPr wrap="square" rtlCol="0">
            <a:spAutoFit/>
          </a:bodyPr>
          <a:p>
            <a:r>
              <a:rPr lang="zh-CN" altLang="en-US" sz="4000">
                <a:latin typeface="思源黑体 CN Bold" panose="020B0800000000000000" charset="-122"/>
                <a:ea typeface="思源黑体 CN Bold" panose="020B0800000000000000" charset="-122"/>
              </a:rPr>
              <a:t>艺术与</a:t>
            </a:r>
            <a:r>
              <a:rPr lang="zh-CN" altLang="en-US" sz="4000">
                <a:latin typeface="思源黑体 CN Bold" panose="020B0800000000000000" charset="-122"/>
                <a:ea typeface="思源黑体 CN Bold" panose="020B0800000000000000" charset="-122"/>
              </a:rPr>
              <a:t>生活</a:t>
            </a:r>
            <a:endParaRPr lang="zh-CN" altLang="en-US" sz="4000">
              <a:latin typeface="思源黑体 CN Bold" panose="020B0800000000000000" charset="-122"/>
              <a:ea typeface="思源黑体 CN Bold" panose="020B0800000000000000" charset="-122"/>
            </a:endParaRPr>
          </a:p>
        </p:txBody>
      </p:sp>
      <p:sp>
        <p:nvSpPr>
          <p:cNvPr id="43" name="文本框 42"/>
          <p:cNvSpPr txBox="1"/>
          <p:nvPr/>
        </p:nvSpPr>
        <p:spPr>
          <a:xfrm>
            <a:off x="8123555" y="3705225"/>
            <a:ext cx="3319145" cy="368300"/>
          </a:xfrm>
          <a:prstGeom prst="rect">
            <a:avLst/>
          </a:prstGeom>
          <a:noFill/>
        </p:spPr>
        <p:txBody>
          <a:bodyPr wrap="square" rtlCol="0" anchor="t">
            <a:spAutoFit/>
          </a:bodyPr>
          <a:p>
            <a:pPr indent="0" algn="dist">
              <a:buNone/>
            </a:pPr>
            <a:r>
              <a:rPr lang="zh-CN" altLang="en-US">
                <a:latin typeface="思源黑体 CN Medium" panose="020B0600000000000000" charset="-122"/>
                <a:ea typeface="思源黑体 CN Medium" panose="020B0600000000000000" charset="-122"/>
                <a:sym typeface="+mn-ea"/>
              </a:rPr>
              <a:t>服装</a:t>
            </a:r>
            <a:r>
              <a:rPr lang="en-US" altLang="zh-CN">
                <a:latin typeface="思源黑体 CN Medium" panose="020B0600000000000000" charset="-122"/>
                <a:ea typeface="思源黑体 CN Medium" panose="020B0600000000000000" charset="-122"/>
                <a:sym typeface="+mn-ea"/>
              </a:rPr>
              <a:t>-</a:t>
            </a:r>
            <a:r>
              <a:rPr lang="zh-CN" altLang="en-US">
                <a:latin typeface="思源黑体 CN Medium" panose="020B0600000000000000" charset="-122"/>
                <a:ea typeface="思源黑体 CN Medium" panose="020B0600000000000000" charset="-122"/>
                <a:sym typeface="+mn-ea"/>
              </a:rPr>
              <a:t>服装色彩</a:t>
            </a:r>
            <a:endParaRPr lang="en-US" altLang="zh-CN">
              <a:latin typeface="思源黑体 CN Medium" panose="020B0600000000000000" charset="-122"/>
              <a:ea typeface="思源黑体 CN Medium" panose="020B0600000000000000" charset="-122"/>
              <a:sym typeface="+mn-ea"/>
            </a:endParaRPr>
          </a:p>
        </p:txBody>
      </p:sp>
      <p:sp>
        <p:nvSpPr>
          <p:cNvPr id="46" name="圆角矩形 45"/>
          <p:cNvSpPr/>
          <p:nvPr/>
        </p:nvSpPr>
        <p:spPr>
          <a:xfrm>
            <a:off x="8979535" y="4848225"/>
            <a:ext cx="2186940" cy="370840"/>
          </a:xfrm>
          <a:prstGeom prst="roundRect">
            <a:avLst>
              <a:gd name="adj" fmla="val 50000"/>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50" name="图片 49" descr="32313539373837383b32313539373836383bb5b3d4b1c8d5d6b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75775" y="4909820"/>
            <a:ext cx="247650" cy="247650"/>
          </a:xfrm>
          <a:prstGeom prst="rect">
            <a:avLst/>
          </a:prstGeom>
        </p:spPr>
      </p:pic>
      <p:sp>
        <p:nvSpPr>
          <p:cNvPr id="51" name="文本框 50"/>
          <p:cNvSpPr txBox="1"/>
          <p:nvPr/>
        </p:nvSpPr>
        <p:spPr>
          <a:xfrm>
            <a:off x="9785350" y="4850765"/>
            <a:ext cx="896620" cy="368300"/>
          </a:xfrm>
          <a:prstGeom prst="rect">
            <a:avLst/>
          </a:prstGeom>
          <a:noFill/>
        </p:spPr>
        <p:txBody>
          <a:bodyPr wrap="square" rtlCol="0">
            <a:spAutoFit/>
          </a:bodyPr>
          <a:p>
            <a:r>
              <a:rPr lang="zh-CN" altLang="en-US">
                <a:solidFill>
                  <a:schemeClr val="bg1"/>
                </a:solidFill>
                <a:latin typeface="思源黑体 CN Medium" panose="020B0600000000000000" charset="-122"/>
                <a:ea typeface="思源黑体 CN Medium" panose="020B0600000000000000" charset="-122"/>
              </a:rPr>
              <a:t>齐</a:t>
            </a:r>
            <a:r>
              <a:rPr lang="en-US" altLang="zh-CN">
                <a:solidFill>
                  <a:schemeClr val="bg1"/>
                </a:solidFill>
                <a:latin typeface="思源黑体 CN Medium" panose="020B0600000000000000" charset="-122"/>
                <a:ea typeface="思源黑体 CN Medium" panose="020B0600000000000000" charset="-122"/>
              </a:rPr>
              <a:t> </a:t>
            </a:r>
            <a:r>
              <a:rPr lang="zh-CN" altLang="en-US">
                <a:solidFill>
                  <a:schemeClr val="bg1"/>
                </a:solidFill>
                <a:latin typeface="思源黑体 CN Medium" panose="020B0600000000000000" charset="-122"/>
                <a:ea typeface="思源黑体 CN Medium" panose="020B0600000000000000" charset="-122"/>
              </a:rPr>
              <a:t>冀</a:t>
            </a:r>
            <a:endParaRPr lang="zh-CN" altLang="en-US">
              <a:solidFill>
                <a:schemeClr val="bg1"/>
              </a:solidFill>
              <a:latin typeface="思源黑体 CN Medium" panose="020B0600000000000000" charset="-122"/>
              <a:ea typeface="思源黑体 CN Medium" panose="020B0600000000000000" charset="-122"/>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9"/>
          <p:cNvSpPr/>
          <p:nvPr/>
        </p:nvSpPr>
        <p:spPr>
          <a:xfrm flipH="1">
            <a:off x="7170420" y="1748155"/>
            <a:ext cx="4165600" cy="5119370"/>
          </a:xfrm>
          <a:custGeom>
            <a:avLst/>
            <a:gdLst>
              <a:gd name="connsiteX0" fmla="*/ 0 w 6560"/>
              <a:gd name="connsiteY0" fmla="*/ 8047 h 8062"/>
              <a:gd name="connsiteX1" fmla="*/ 3328 w 6560"/>
              <a:gd name="connsiteY1" fmla="*/ 35 h 8062"/>
              <a:gd name="connsiteX2" fmla="*/ 6290 w 6560"/>
              <a:gd name="connsiteY2" fmla="*/ 0 h 8062"/>
              <a:gd name="connsiteX3" fmla="*/ 6560 w 6560"/>
              <a:gd name="connsiteY3" fmla="*/ 464 h 8062"/>
              <a:gd name="connsiteX4" fmla="*/ 704 w 6560"/>
              <a:gd name="connsiteY4" fmla="*/ 8062 h 8062"/>
              <a:gd name="connsiteX5" fmla="*/ 0 w 6560"/>
              <a:gd name="connsiteY5" fmla="*/ 8047 h 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0" h="8062">
                <a:moveTo>
                  <a:pt x="0" y="8047"/>
                </a:moveTo>
                <a:lnTo>
                  <a:pt x="3328" y="35"/>
                </a:lnTo>
                <a:lnTo>
                  <a:pt x="6290" y="0"/>
                </a:lnTo>
                <a:lnTo>
                  <a:pt x="6560" y="464"/>
                </a:lnTo>
                <a:lnTo>
                  <a:pt x="704" y="8062"/>
                </a:lnTo>
                <a:lnTo>
                  <a:pt x="0" y="8047"/>
                </a:lnTo>
                <a:close/>
              </a:path>
            </a:pathLst>
          </a:custGeom>
          <a:gradFill flip="none">
            <a:gsLst>
              <a:gs pos="0">
                <a:srgbClr val="DE172B"/>
              </a:gs>
              <a:gs pos="100000">
                <a:srgbClr val="8C001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9" name="图片 8" descr="D:\慕课\新建文件夹\IMG_3105.JPGIMG_3105"/>
          <p:cNvPicPr>
            <a:picLocks noChangeAspect="1"/>
          </p:cNvPicPr>
          <p:nvPr/>
        </p:nvPicPr>
        <p:blipFill>
          <a:blip r:embed="rId1"/>
          <a:srcRect/>
          <a:stretch>
            <a:fillRect/>
          </a:stretch>
        </p:blipFill>
        <p:spPr>
          <a:xfrm>
            <a:off x="7333615" y="0"/>
            <a:ext cx="4859020" cy="6867525"/>
          </a:xfrm>
          <a:custGeom>
            <a:avLst/>
            <a:gdLst/>
            <a:ahLst/>
            <a:cxnLst>
              <a:cxn ang="3">
                <a:pos x="hc" y="t"/>
              </a:cxn>
              <a:cxn ang="cd2">
                <a:pos x="l" y="vc"/>
              </a:cxn>
              <a:cxn ang="cd4">
                <a:pos x="hc" y="b"/>
              </a:cxn>
              <a:cxn ang="0">
                <a:pos x="r" y="vc"/>
              </a:cxn>
            </a:cxnLst>
            <a:rect l="l" t="t" r="r" b="b"/>
            <a:pathLst>
              <a:path w="7653" h="10800">
                <a:moveTo>
                  <a:pt x="1602" y="0"/>
                </a:moveTo>
                <a:lnTo>
                  <a:pt x="7653" y="0"/>
                </a:lnTo>
                <a:lnTo>
                  <a:pt x="7653" y="10800"/>
                </a:lnTo>
                <a:lnTo>
                  <a:pt x="6907" y="10800"/>
                </a:lnTo>
                <a:lnTo>
                  <a:pt x="6125" y="10778"/>
                </a:lnTo>
                <a:lnTo>
                  <a:pt x="0" y="2766"/>
                </a:lnTo>
                <a:lnTo>
                  <a:pt x="1602" y="0"/>
                </a:lnTo>
                <a:close/>
              </a:path>
            </a:pathLst>
          </a:custGeom>
        </p:spPr>
      </p:pic>
      <p:sp>
        <p:nvSpPr>
          <p:cNvPr id="4" name="矩形 3"/>
          <p:cNvSpPr/>
          <p:nvPr/>
        </p:nvSpPr>
        <p:spPr>
          <a:xfrm>
            <a:off x="0" y="1313815"/>
            <a:ext cx="674370" cy="1064895"/>
          </a:xfrm>
          <a:prstGeom prst="rect">
            <a:avLst/>
          </a:pr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1444625" y="1569085"/>
            <a:ext cx="4064000" cy="922020"/>
          </a:xfrm>
          <a:prstGeom prst="rect">
            <a:avLst/>
          </a:prstGeom>
          <a:noFill/>
        </p:spPr>
        <p:txBody>
          <a:bodyPr wrap="square" rtlCol="0">
            <a:spAutoFit/>
          </a:bodyPr>
          <a:p>
            <a:r>
              <a:rPr lang="zh-CN" altLang="en-US" sz="5400">
                <a:latin typeface="思源黑体 CN Bold" panose="020B0800000000000000" charset="-122"/>
                <a:ea typeface="思源黑体 CN Bold" panose="020B0800000000000000" charset="-122"/>
                <a:cs typeface="思源黑体 CN Medium" panose="020B0600000000000000" charset="-122"/>
              </a:rPr>
              <a:t>目录</a:t>
            </a:r>
            <a:r>
              <a:rPr lang="en-US" altLang="zh-CN" sz="2800">
                <a:latin typeface="思源黑体 CN Medium" panose="020B0600000000000000" charset="-122"/>
                <a:ea typeface="思源黑体 CN Medium" panose="020B0600000000000000" charset="-122"/>
                <a:cs typeface="思源黑体 CN Medium" panose="020B0600000000000000" charset="-122"/>
              </a:rPr>
              <a:t>/CONTENTS</a:t>
            </a:r>
            <a:endParaRPr lang="en-US" altLang="zh-CN" sz="2800">
              <a:latin typeface="思源黑体 CN Medium" panose="020B0600000000000000" charset="-122"/>
              <a:ea typeface="思源黑体 CN Medium" panose="020B0600000000000000" charset="-122"/>
              <a:cs typeface="思源黑体 CN Medium" panose="020B0600000000000000" charset="-122"/>
            </a:endParaRPr>
          </a:p>
        </p:txBody>
      </p:sp>
      <p:sp>
        <p:nvSpPr>
          <p:cNvPr id="8" name="矩形 7"/>
          <p:cNvSpPr/>
          <p:nvPr/>
        </p:nvSpPr>
        <p:spPr>
          <a:xfrm>
            <a:off x="789305" y="1313815"/>
            <a:ext cx="76200" cy="1064895"/>
          </a:xfrm>
          <a:prstGeom prst="rect">
            <a:avLst/>
          </a:pr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文本框 10"/>
          <p:cNvSpPr txBox="1"/>
          <p:nvPr/>
        </p:nvSpPr>
        <p:spPr>
          <a:xfrm>
            <a:off x="3009900" y="3000375"/>
            <a:ext cx="5026025" cy="521970"/>
          </a:xfrm>
          <a:prstGeom prst="rect">
            <a:avLst/>
          </a:prstGeom>
          <a:noFill/>
        </p:spPr>
        <p:txBody>
          <a:bodyPr wrap="square" rtlCol="0" anchor="t">
            <a:spAutoFit/>
          </a:bodyPr>
          <a:p>
            <a:r>
              <a:rPr lang="zh-CN" altLang="en-US" sz="2800">
                <a:latin typeface="思源黑体 CN Medium" panose="020B0600000000000000" charset="-122"/>
                <a:ea typeface="思源黑体 CN Medium" panose="020B0600000000000000" charset="-122"/>
                <a:sym typeface="+mn-ea"/>
              </a:rPr>
              <a:t>服装色彩</a:t>
            </a:r>
            <a:endParaRPr lang="zh-CN" altLang="en-US" sz="2800">
              <a:latin typeface="思源黑体 CN Medium" panose="020B0600000000000000" charset="-122"/>
              <a:ea typeface="思源黑体 CN Medium" panose="020B0600000000000000" charset="-122"/>
            </a:endParaRPr>
          </a:p>
        </p:txBody>
      </p:sp>
      <p:sp>
        <p:nvSpPr>
          <p:cNvPr id="12" name="燕尾形 11"/>
          <p:cNvSpPr/>
          <p:nvPr/>
        </p:nvSpPr>
        <p:spPr>
          <a:xfrm>
            <a:off x="2444115" y="3119120"/>
            <a:ext cx="361315" cy="285115"/>
          </a:xfrm>
          <a:prstGeom prst="chevron">
            <a:avLst/>
          </a:prstGeom>
          <a:gradFill>
            <a:gsLst>
              <a:gs pos="0">
                <a:srgbClr val="DE172B"/>
              </a:gs>
              <a:gs pos="100000">
                <a:srgbClr val="8C001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燕尾形 14"/>
          <p:cNvSpPr/>
          <p:nvPr/>
        </p:nvSpPr>
        <p:spPr>
          <a:xfrm>
            <a:off x="2159000" y="3118485"/>
            <a:ext cx="361315" cy="285115"/>
          </a:xfrm>
          <a:prstGeom prst="chevron">
            <a:avLst/>
          </a:prstGeom>
          <a:gradFill>
            <a:gsLst>
              <a:gs pos="0">
                <a:srgbClr val="DE172B"/>
              </a:gs>
              <a:gs pos="100000">
                <a:srgbClr val="8C001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文本框 15"/>
          <p:cNvSpPr txBox="1"/>
          <p:nvPr/>
        </p:nvSpPr>
        <p:spPr>
          <a:xfrm>
            <a:off x="3009900" y="3808730"/>
            <a:ext cx="3110230" cy="521970"/>
          </a:xfrm>
          <a:prstGeom prst="rect">
            <a:avLst/>
          </a:prstGeom>
          <a:noFill/>
        </p:spPr>
        <p:txBody>
          <a:bodyPr wrap="square" rtlCol="0" anchor="t">
            <a:spAutoFit/>
          </a:bodyPr>
          <a:p>
            <a:r>
              <a:rPr lang="zh-CN" altLang="en-US" sz="2800">
                <a:latin typeface="思源黑体 CN Medium" panose="020B0600000000000000" charset="-122"/>
                <a:ea typeface="思源黑体 CN Medium" panose="020B0600000000000000" charset="-122"/>
                <a:sym typeface="+mn-ea"/>
              </a:rPr>
              <a:t>服装色彩的分类</a:t>
            </a:r>
            <a:endParaRPr lang="zh-CN" altLang="en-US" sz="2800">
              <a:solidFill>
                <a:schemeClr val="tx1"/>
              </a:solidFill>
              <a:latin typeface="思源黑体 CN Medium" panose="020B0600000000000000" charset="-122"/>
              <a:ea typeface="思源黑体 CN Medium" panose="020B0600000000000000" charset="-122"/>
            </a:endParaRPr>
          </a:p>
        </p:txBody>
      </p:sp>
      <p:sp>
        <p:nvSpPr>
          <p:cNvPr id="17" name="燕尾形 16"/>
          <p:cNvSpPr/>
          <p:nvPr/>
        </p:nvSpPr>
        <p:spPr>
          <a:xfrm>
            <a:off x="2444115" y="3928110"/>
            <a:ext cx="361315" cy="285115"/>
          </a:xfrm>
          <a:prstGeom prst="chevron">
            <a:avLst/>
          </a:prstGeom>
          <a:gradFill>
            <a:gsLst>
              <a:gs pos="0">
                <a:srgbClr val="DE172B"/>
              </a:gs>
              <a:gs pos="100000">
                <a:srgbClr val="8C001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燕尾形 17"/>
          <p:cNvSpPr/>
          <p:nvPr/>
        </p:nvSpPr>
        <p:spPr>
          <a:xfrm>
            <a:off x="2159000" y="3927475"/>
            <a:ext cx="361315" cy="285115"/>
          </a:xfrm>
          <a:prstGeom prst="chevron">
            <a:avLst/>
          </a:prstGeom>
          <a:gradFill>
            <a:gsLst>
              <a:gs pos="0">
                <a:srgbClr val="DE172B"/>
              </a:gs>
              <a:gs pos="100000">
                <a:srgbClr val="8C001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文本框 18"/>
          <p:cNvSpPr txBox="1"/>
          <p:nvPr/>
        </p:nvSpPr>
        <p:spPr>
          <a:xfrm>
            <a:off x="3009900" y="4617085"/>
            <a:ext cx="5662295" cy="521970"/>
          </a:xfrm>
          <a:prstGeom prst="rect">
            <a:avLst/>
          </a:prstGeom>
          <a:noFill/>
        </p:spPr>
        <p:txBody>
          <a:bodyPr wrap="square" rtlCol="0" anchor="t">
            <a:spAutoFit/>
          </a:bodyPr>
          <a:p>
            <a:r>
              <a:rPr lang="zh-CN" altLang="en-US" sz="2800">
                <a:latin typeface="思源黑体 CN Medium" panose="020B0600000000000000" charset="-122"/>
                <a:ea typeface="思源黑体 CN Medium" panose="020B0600000000000000" charset="-122"/>
                <a:sym typeface="+mn-ea"/>
              </a:rPr>
              <a:t>色彩</a:t>
            </a:r>
            <a:r>
              <a:rPr lang="zh-CN" sz="2800">
                <a:latin typeface="思源黑体 CN Medium" panose="020B0600000000000000" charset="-122"/>
                <a:ea typeface="思源黑体 CN Medium" panose="020B0600000000000000" charset="-122"/>
                <a:sym typeface="+mn-ea"/>
              </a:rPr>
              <a:t>的</a:t>
            </a:r>
            <a:r>
              <a:rPr lang="zh-CN" altLang="en-US" sz="2800">
                <a:latin typeface="思源黑体 CN Medium" panose="020B0600000000000000" charset="-122"/>
                <a:ea typeface="思源黑体 CN Medium" panose="020B0600000000000000" charset="-122"/>
                <a:sym typeface="+mn-ea"/>
              </a:rPr>
              <a:t>属性</a:t>
            </a:r>
            <a:endParaRPr lang="zh-CN" altLang="en-US" sz="2800">
              <a:latin typeface="思源黑体 CN Medium" panose="020B0600000000000000" charset="-122"/>
              <a:ea typeface="思源黑体 CN Medium" panose="020B0600000000000000" charset="-122"/>
            </a:endParaRPr>
          </a:p>
        </p:txBody>
      </p:sp>
      <p:sp>
        <p:nvSpPr>
          <p:cNvPr id="20" name="燕尾形 19"/>
          <p:cNvSpPr/>
          <p:nvPr/>
        </p:nvSpPr>
        <p:spPr>
          <a:xfrm>
            <a:off x="2444115" y="4736465"/>
            <a:ext cx="361315" cy="285115"/>
          </a:xfrm>
          <a:prstGeom prst="chevron">
            <a:avLst/>
          </a:prstGeom>
          <a:gradFill>
            <a:gsLst>
              <a:gs pos="0">
                <a:srgbClr val="DE172B"/>
              </a:gs>
              <a:gs pos="100000">
                <a:srgbClr val="8C001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燕尾形 20"/>
          <p:cNvSpPr/>
          <p:nvPr/>
        </p:nvSpPr>
        <p:spPr>
          <a:xfrm>
            <a:off x="2159000" y="4735830"/>
            <a:ext cx="361315" cy="285115"/>
          </a:xfrm>
          <a:prstGeom prst="chevron">
            <a:avLst/>
          </a:prstGeom>
          <a:gradFill>
            <a:gsLst>
              <a:gs pos="0">
                <a:srgbClr val="DE172B"/>
              </a:gs>
              <a:gs pos="100000">
                <a:srgbClr val="8C001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燕尾形 1"/>
          <p:cNvSpPr/>
          <p:nvPr>
            <p:custDataLst>
              <p:tags r:id="rId2"/>
            </p:custDataLst>
          </p:nvPr>
        </p:nvSpPr>
        <p:spPr>
          <a:xfrm>
            <a:off x="2159000" y="5544185"/>
            <a:ext cx="361315" cy="285115"/>
          </a:xfrm>
          <a:prstGeom prst="chevron">
            <a:avLst/>
          </a:prstGeom>
          <a:gradFill>
            <a:gsLst>
              <a:gs pos="0">
                <a:srgbClr val="DE172B"/>
              </a:gs>
              <a:gs pos="100000">
                <a:srgbClr val="8C001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燕尾形 2"/>
          <p:cNvSpPr/>
          <p:nvPr>
            <p:custDataLst>
              <p:tags r:id="rId3"/>
            </p:custDataLst>
          </p:nvPr>
        </p:nvSpPr>
        <p:spPr>
          <a:xfrm>
            <a:off x="2444115" y="5544820"/>
            <a:ext cx="361315" cy="285115"/>
          </a:xfrm>
          <a:prstGeom prst="chevron">
            <a:avLst/>
          </a:prstGeom>
          <a:gradFill>
            <a:gsLst>
              <a:gs pos="0">
                <a:srgbClr val="DE172B"/>
              </a:gs>
              <a:gs pos="100000">
                <a:srgbClr val="8C001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custDataLst>
              <p:tags r:id="rId4"/>
            </p:custDataLst>
          </p:nvPr>
        </p:nvSpPr>
        <p:spPr>
          <a:xfrm>
            <a:off x="3009900" y="5426710"/>
            <a:ext cx="3110230" cy="521970"/>
          </a:xfrm>
          <a:prstGeom prst="rect">
            <a:avLst/>
          </a:prstGeom>
          <a:noFill/>
        </p:spPr>
        <p:txBody>
          <a:bodyPr wrap="square" rtlCol="0" anchor="t">
            <a:spAutoFit/>
          </a:bodyPr>
          <a:p>
            <a:r>
              <a:rPr lang="zh-CN" altLang="en-US" sz="2800">
                <a:latin typeface="思源黑体 CN Medium" panose="020B0600000000000000" charset="-122"/>
                <a:ea typeface="思源黑体 CN Medium" panose="020B0600000000000000" charset="-122"/>
                <a:sym typeface="+mn-ea"/>
              </a:rPr>
              <a:t>服装色彩的</a:t>
            </a:r>
            <a:endParaRPr lang="zh-CN" altLang="en-US" sz="2800">
              <a:latin typeface="思源黑体 CN Medium" panose="020B0600000000000000" charset="-122"/>
              <a:ea typeface="思源黑体 CN Medium" panose="020B0600000000000000" charset="-122"/>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53190" y="1714488"/>
            <a:ext cx="5500726" cy="4525963"/>
          </a:xfrm>
        </p:spPr>
        <p:txBody>
          <a:bodyPr>
            <a:normAutofit/>
          </a:bodyPr>
          <a:lstStyle/>
          <a:p>
            <a:pPr>
              <a:buNone/>
            </a:pPr>
            <a:endParaRPr lang="en-US" altLang="zh-CN" sz="2000" b="1" dirty="0">
              <a:solidFill>
                <a:schemeClr val="tx1">
                  <a:lumMod val="75000"/>
                  <a:lumOff val="25000"/>
                </a:schemeClr>
              </a:solidFill>
              <a:latin typeface="+mn-ea"/>
            </a:endParaRPr>
          </a:p>
          <a:p>
            <a:pPr>
              <a:buNone/>
            </a:pPr>
            <a:endParaRPr lang="zh-CN" altLang="en-US" sz="2000" dirty="0">
              <a:solidFill>
                <a:schemeClr val="tx1">
                  <a:lumMod val="75000"/>
                  <a:lumOff val="25000"/>
                </a:schemeClr>
              </a:solidFill>
              <a:latin typeface="+mn-ea"/>
            </a:endParaRPr>
          </a:p>
        </p:txBody>
      </p:sp>
      <p:sp>
        <p:nvSpPr>
          <p:cNvPr id="10" name="TextBox 9"/>
          <p:cNvSpPr txBox="1"/>
          <p:nvPr/>
        </p:nvSpPr>
        <p:spPr>
          <a:xfrm>
            <a:off x="1466850" y="2517775"/>
            <a:ext cx="4319905" cy="3369310"/>
          </a:xfrm>
          <a:prstGeom prst="rect">
            <a:avLst/>
          </a:prstGeom>
          <a:noFill/>
        </p:spPr>
        <p:txBody>
          <a:bodyPr wrap="square" rtlCol="0">
            <a:spAutoFit/>
          </a:bodyPr>
          <a:lstStyle/>
          <a:p>
            <a:pPr>
              <a:lnSpc>
                <a:spcPct val="150000"/>
              </a:lnSpc>
            </a:pPr>
            <a:endParaRPr lang="en-US" altLang="zh-CN" b="1" dirty="0">
              <a:solidFill>
                <a:schemeClr val="tx1">
                  <a:lumMod val="85000"/>
                  <a:lumOff val="15000"/>
                </a:schemeClr>
              </a:solidFill>
              <a:latin typeface="+mn-ea"/>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服装色彩</a:t>
            </a:r>
            <a:endPar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endPar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endPar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服装色彩是服装设计中的一个重要方面</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rPr>
              <a:t>，在</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服装美感因素中占有很大的比重</a:t>
            </a: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en-US" altLang="zh-CN" b="1" dirty="0" smtClean="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cs typeface="宋体" panose="02010600030101010101" pitchFamily="2" charset="-122"/>
              </a:rPr>
              <a:t>服装</a:t>
            </a: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给人的第一印象往往是色彩。</a:t>
            </a:r>
            <a:endPar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endParaRPr lang="en-US" altLang="zh-CN" sz="1600" b="1"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grpSp>
        <p:nvGrpSpPr>
          <p:cNvPr id="7" name="组合 6"/>
          <p:cNvGrpSpPr/>
          <p:nvPr/>
        </p:nvGrpSpPr>
        <p:grpSpPr>
          <a:xfrm>
            <a:off x="0" y="-9525"/>
            <a:ext cx="1313180" cy="1544955"/>
            <a:chOff x="0" y="-15"/>
            <a:chExt cx="2068" cy="2433"/>
          </a:xfrm>
        </p:grpSpPr>
        <p:sp>
          <p:nvSpPr>
            <p:cNvPr id="5" name="任意多边形 4"/>
            <p:cNvSpPr/>
            <p:nvPr>
              <p:custDataLst>
                <p:tags r:id="rId1"/>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3"/>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2" name="任意多边形 1"/>
            <p:cNvSpPr/>
            <p:nvPr>
              <p:custDataLst>
                <p:tags r:id="rId4"/>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任意多边形 10"/>
            <p:cNvSpPr/>
            <p:nvPr>
              <p:custDataLst>
                <p:tags r:id="rId5"/>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直角三角形 11"/>
            <p:cNvSpPr/>
            <p:nvPr>
              <p:custDataLst>
                <p:tags r:id="rId6"/>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55015" y="5912485"/>
            <a:ext cx="615315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文本框 26"/>
          <p:cNvSpPr txBox="1"/>
          <p:nvPr/>
        </p:nvSpPr>
        <p:spPr>
          <a:xfrm>
            <a:off x="693420" y="3074035"/>
            <a:ext cx="633730" cy="398780"/>
          </a:xfrm>
          <a:prstGeom prst="rect">
            <a:avLst/>
          </a:prstGeom>
          <a:noFill/>
        </p:spPr>
        <p:txBody>
          <a:bodyPr wrap="square" rtlCol="0">
            <a:spAutoFit/>
          </a:bodyPr>
          <a:p>
            <a:r>
              <a:rPr lang="en-US" altLang="zh-CN" sz="2000">
                <a:solidFill>
                  <a:schemeClr val="bg1"/>
                </a:solidFill>
                <a:latin typeface="思源黑体 CN Medium" panose="020B0600000000000000" charset="-122"/>
                <a:ea typeface="思源黑体 CN Medium" panose="020B0600000000000000" charset="-122"/>
              </a:rPr>
              <a:t>01</a:t>
            </a:r>
            <a:endParaRPr lang="en-US" altLang="zh-CN" sz="2000">
              <a:solidFill>
                <a:schemeClr val="bg1"/>
              </a:solidFill>
              <a:latin typeface="思源黑体 CN Medium" panose="020B0600000000000000" charset="-122"/>
              <a:ea typeface="思源黑体 CN Medium" panose="020B0600000000000000" charset="-122"/>
            </a:endParaRPr>
          </a:p>
        </p:txBody>
      </p:sp>
      <p:sp>
        <p:nvSpPr>
          <p:cNvPr id="29" name="文本框 28"/>
          <p:cNvSpPr txBox="1"/>
          <p:nvPr/>
        </p:nvSpPr>
        <p:spPr>
          <a:xfrm>
            <a:off x="692785" y="5433695"/>
            <a:ext cx="634365" cy="382905"/>
          </a:xfrm>
          <a:prstGeom prst="rect">
            <a:avLst/>
          </a:prstGeom>
          <a:noFill/>
        </p:spPr>
        <p:txBody>
          <a:bodyPr wrap="square" rtlCol="0">
            <a:noAutofit/>
          </a:bodyPr>
          <a:p>
            <a:r>
              <a:rPr lang="en-US" altLang="zh-CN" sz="2000">
                <a:solidFill>
                  <a:schemeClr val="bg1"/>
                </a:solidFill>
                <a:latin typeface="思源黑体 CN Medium" panose="020B0600000000000000" charset="-122"/>
                <a:ea typeface="思源黑体 CN Medium" panose="020B0600000000000000" charset="-122"/>
              </a:rPr>
              <a:t>03</a:t>
            </a:r>
            <a:endParaRPr lang="en-US" altLang="zh-CN" sz="2000">
              <a:solidFill>
                <a:schemeClr val="bg1"/>
              </a:solidFill>
              <a:latin typeface="思源黑体 CN Medium" panose="020B0600000000000000" charset="-122"/>
              <a:ea typeface="思源黑体 CN Medium" panose="020B0600000000000000" charset="-122"/>
            </a:endParaRPr>
          </a:p>
        </p:txBody>
      </p:sp>
      <p:pic>
        <p:nvPicPr>
          <p:cNvPr id="9" name="图片 8" descr="d89f8948fd0b9d88cc6865522115bf3895f777e3_m.jpg"/>
          <p:cNvPicPr>
            <a:picLocks noChangeAspect="1"/>
          </p:cNvPicPr>
          <p:nvPr/>
        </p:nvPicPr>
        <p:blipFill>
          <a:blip r:embed="rId7" cstate="print"/>
          <a:stretch>
            <a:fillRect/>
          </a:stretch>
        </p:blipFill>
        <p:spPr>
          <a:xfrm>
            <a:off x="6932930" y="1487805"/>
            <a:ext cx="3113405" cy="4626610"/>
          </a:xfrm>
          <a:prstGeom prst="rect">
            <a:avLst/>
          </a:prstGeom>
        </p:spPr>
      </p:pic>
      <p:cxnSp>
        <p:nvCxnSpPr>
          <p:cNvPr id="13" name="直接连接符 12"/>
          <p:cNvCxnSpPr/>
          <p:nvPr>
            <p:custDataLst>
              <p:tags r:id="rId8"/>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custDataLst>
              <p:tags r:id="rId9"/>
            </p:custDataLst>
          </p:nvPr>
        </p:nvSpPr>
        <p:spPr>
          <a:xfrm>
            <a:off x="5326380" y="500380"/>
            <a:ext cx="2424430" cy="460375"/>
          </a:xfrm>
          <a:prstGeom prst="rect">
            <a:avLst/>
          </a:prstGeom>
          <a:noFill/>
        </p:spPr>
        <p:txBody>
          <a:bodyPr wrap="square" rtlCol="0" anchor="t">
            <a:spAutoFit/>
          </a:bodyPr>
          <a:p>
            <a:r>
              <a:rPr lang="zh-CN" altLang="en-US" sz="2400">
                <a:latin typeface="思源黑体 CN Medium" panose="020B0600000000000000" charset="-122"/>
                <a:ea typeface="思源黑体 CN Medium" panose="020B0600000000000000" charset="-122"/>
                <a:sym typeface="+mn-ea"/>
              </a:rPr>
              <a:t>服装色彩</a:t>
            </a:r>
            <a:endParaRPr lang="zh-CN" altLang="en-US" sz="2400">
              <a:latin typeface="思源黑体 CN Medium" panose="020B0600000000000000" charset="-122"/>
              <a:ea typeface="思源黑体 CN Medium" panose="020B0600000000000000" charset="-122"/>
            </a:endParaRPr>
          </a:p>
        </p:txBody>
      </p:sp>
    </p:spTree>
    <p:custDataLst>
      <p:tags r:id="rId10"/>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53190" y="1714488"/>
            <a:ext cx="5500726" cy="4525963"/>
          </a:xfrm>
        </p:spPr>
        <p:txBody>
          <a:bodyPr>
            <a:normAutofit/>
          </a:bodyPr>
          <a:lstStyle/>
          <a:p>
            <a:pPr>
              <a:buNone/>
            </a:pPr>
            <a:endParaRPr lang="en-US" altLang="zh-CN" sz="2000" b="1" dirty="0">
              <a:solidFill>
                <a:schemeClr val="tx1">
                  <a:lumMod val="75000"/>
                  <a:lumOff val="25000"/>
                </a:schemeClr>
              </a:solidFill>
              <a:latin typeface="+mn-ea"/>
            </a:endParaRPr>
          </a:p>
          <a:p>
            <a:pPr>
              <a:buNone/>
            </a:pPr>
            <a:endParaRPr lang="zh-CN" altLang="en-US" sz="2000" dirty="0">
              <a:solidFill>
                <a:schemeClr val="tx1">
                  <a:lumMod val="75000"/>
                  <a:lumOff val="25000"/>
                </a:schemeClr>
              </a:solidFill>
              <a:latin typeface="+mn-ea"/>
            </a:endParaRPr>
          </a:p>
        </p:txBody>
      </p:sp>
      <p:sp>
        <p:nvSpPr>
          <p:cNvPr id="10" name="TextBox 9"/>
          <p:cNvSpPr txBox="1"/>
          <p:nvPr/>
        </p:nvSpPr>
        <p:spPr>
          <a:xfrm>
            <a:off x="1466850" y="2898140"/>
            <a:ext cx="4319905" cy="2722880"/>
          </a:xfrm>
          <a:prstGeom prst="rect">
            <a:avLst/>
          </a:prstGeom>
          <a:noFill/>
        </p:spPr>
        <p:txBody>
          <a:bodyPr wrap="square" rtlCol="0">
            <a:spAutoFit/>
          </a:bodyPr>
          <a:lstStyle/>
          <a:p>
            <a:pPr>
              <a:lnSpc>
                <a:spcPct val="150000"/>
              </a:lnSpc>
            </a:pPr>
            <a:r>
              <a:rPr lang="zh-CN" altLang="en-US" sz="2400" b="1" dirty="0" smtClean="0">
                <a:latin typeface="宋体" panose="02010600030101010101" pitchFamily="2" charset="-122"/>
                <a:ea typeface="宋体" panose="02010600030101010101" pitchFamily="2" charset="-122"/>
                <a:sym typeface="+mn-ea"/>
              </a:rPr>
              <a:t>色彩学中对色彩的分类</a:t>
            </a:r>
            <a:endParaRPr lang="en-US" altLang="zh-CN" sz="2400" b="1" dirty="0" smtClean="0">
              <a:solidFill>
                <a:schemeClr val="tx1"/>
              </a:solidFill>
              <a:latin typeface="宋体" panose="02010600030101010101" pitchFamily="2" charset="-122"/>
              <a:ea typeface="宋体" panose="02010600030101010101" pitchFamily="2" charset="-122"/>
            </a:endParaRPr>
          </a:p>
          <a:p>
            <a:pPr>
              <a:lnSpc>
                <a:spcPct val="150000"/>
              </a:lnSpc>
            </a:pPr>
            <a:endParaRPr lang="en-US" altLang="zh-CN"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sz="2400" b="1" dirty="0" smtClean="0">
                <a:latin typeface="宋体" panose="02010600030101010101" pitchFamily="2" charset="-122"/>
                <a:ea typeface="宋体" panose="02010600030101010101" pitchFamily="2" charset="-122"/>
                <a:sym typeface="+mn-ea"/>
              </a:rPr>
              <a:t>无彩色</a:t>
            </a:r>
            <a:endParaRPr lang="en-US" altLang="zh-CN" sz="2400"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sz="2400" b="1" dirty="0" smtClean="0">
                <a:latin typeface="宋体" panose="02010600030101010101" pitchFamily="2" charset="-122"/>
                <a:ea typeface="宋体" panose="02010600030101010101" pitchFamily="2" charset="-122"/>
                <a:sym typeface="+mn-ea"/>
              </a:rPr>
              <a:t>有彩色</a:t>
            </a:r>
            <a:endParaRPr lang="en-US" altLang="zh-CN" sz="2400" b="1" dirty="0" smtClean="0">
              <a:solidFill>
                <a:schemeClr val="tx1"/>
              </a:solidFill>
              <a:latin typeface="宋体" panose="02010600030101010101" pitchFamily="2" charset="-122"/>
              <a:ea typeface="宋体" panose="02010600030101010101" pitchFamily="2" charset="-122"/>
            </a:endParaRPr>
          </a:p>
          <a:p>
            <a:pPr>
              <a:lnSpc>
                <a:spcPct val="150000"/>
              </a:lnSpc>
            </a:pPr>
            <a:endParaRPr lang="en-US" altLang="zh-CN" sz="2400" b="1"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grpSp>
        <p:nvGrpSpPr>
          <p:cNvPr id="7" name="组合 6"/>
          <p:cNvGrpSpPr/>
          <p:nvPr/>
        </p:nvGrpSpPr>
        <p:grpSpPr>
          <a:xfrm>
            <a:off x="0" y="-9525"/>
            <a:ext cx="1313180" cy="1544955"/>
            <a:chOff x="0" y="-15"/>
            <a:chExt cx="2068" cy="2433"/>
          </a:xfrm>
        </p:grpSpPr>
        <p:sp>
          <p:nvSpPr>
            <p:cNvPr id="5" name="任意多边形 4"/>
            <p:cNvSpPr/>
            <p:nvPr>
              <p:custDataLst>
                <p:tags r:id="rId1"/>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3"/>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2" name="任意多边形 1"/>
            <p:cNvSpPr/>
            <p:nvPr>
              <p:custDataLst>
                <p:tags r:id="rId4"/>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任意多边形 10"/>
            <p:cNvSpPr/>
            <p:nvPr>
              <p:custDataLst>
                <p:tags r:id="rId5"/>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直角三角形 11"/>
            <p:cNvSpPr/>
            <p:nvPr>
              <p:custDataLst>
                <p:tags r:id="rId6"/>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55015" y="5912485"/>
            <a:ext cx="615315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文本框 26"/>
          <p:cNvSpPr txBox="1"/>
          <p:nvPr/>
        </p:nvSpPr>
        <p:spPr>
          <a:xfrm>
            <a:off x="693420" y="3074035"/>
            <a:ext cx="633730" cy="398780"/>
          </a:xfrm>
          <a:prstGeom prst="rect">
            <a:avLst/>
          </a:prstGeom>
          <a:noFill/>
        </p:spPr>
        <p:txBody>
          <a:bodyPr wrap="square" rtlCol="0">
            <a:spAutoFit/>
          </a:bodyPr>
          <a:p>
            <a:r>
              <a:rPr lang="en-US" altLang="zh-CN" sz="2000">
                <a:solidFill>
                  <a:schemeClr val="bg1"/>
                </a:solidFill>
                <a:latin typeface="思源黑体 CN Medium" panose="020B0600000000000000" charset="-122"/>
                <a:ea typeface="思源黑体 CN Medium" panose="020B0600000000000000" charset="-122"/>
              </a:rPr>
              <a:t>02</a:t>
            </a:r>
            <a:endParaRPr lang="en-US" altLang="zh-CN" sz="2000">
              <a:solidFill>
                <a:schemeClr val="bg1"/>
              </a:solidFill>
              <a:latin typeface="思源黑体 CN Medium" panose="020B0600000000000000" charset="-122"/>
              <a:ea typeface="思源黑体 CN Medium" panose="020B0600000000000000" charset="-122"/>
            </a:endParaRPr>
          </a:p>
        </p:txBody>
      </p:sp>
      <p:sp>
        <p:nvSpPr>
          <p:cNvPr id="29" name="文本框 28"/>
          <p:cNvSpPr txBox="1"/>
          <p:nvPr/>
        </p:nvSpPr>
        <p:spPr>
          <a:xfrm>
            <a:off x="692785" y="5433695"/>
            <a:ext cx="634365" cy="382905"/>
          </a:xfrm>
          <a:prstGeom prst="rect">
            <a:avLst/>
          </a:prstGeom>
          <a:noFill/>
        </p:spPr>
        <p:txBody>
          <a:bodyPr wrap="square" rtlCol="0">
            <a:noAutofit/>
          </a:bodyPr>
          <a:p>
            <a:r>
              <a:rPr lang="en-US" altLang="zh-CN" sz="2000">
                <a:solidFill>
                  <a:schemeClr val="bg1"/>
                </a:solidFill>
                <a:latin typeface="思源黑体 CN Medium" panose="020B0600000000000000" charset="-122"/>
                <a:ea typeface="思源黑体 CN Medium" panose="020B0600000000000000" charset="-122"/>
              </a:rPr>
              <a:t>03</a:t>
            </a:r>
            <a:endParaRPr lang="en-US" altLang="zh-CN" sz="2000">
              <a:solidFill>
                <a:schemeClr val="bg1"/>
              </a:solidFill>
              <a:latin typeface="思源黑体 CN Medium" panose="020B0600000000000000" charset="-122"/>
              <a:ea typeface="思源黑体 CN Medium" panose="020B0600000000000000" charset="-122"/>
            </a:endParaRPr>
          </a:p>
        </p:txBody>
      </p:sp>
      <p:pic>
        <p:nvPicPr>
          <p:cNvPr id="13" name="图片 12" descr="IMG_3984.JPG"/>
          <p:cNvPicPr>
            <a:picLocks noChangeAspect="1"/>
          </p:cNvPicPr>
          <p:nvPr>
            <p:custDataLst>
              <p:tags r:id="rId7"/>
            </p:custDataLst>
          </p:nvPr>
        </p:nvPicPr>
        <p:blipFill>
          <a:blip r:embed="rId8"/>
          <a:stretch>
            <a:fillRect/>
          </a:stretch>
        </p:blipFill>
        <p:spPr>
          <a:xfrm>
            <a:off x="6915150" y="1483995"/>
            <a:ext cx="3471545" cy="4631055"/>
          </a:xfrm>
          <a:prstGeom prst="rect">
            <a:avLst/>
          </a:prstGeom>
        </p:spPr>
      </p:pic>
      <p:cxnSp>
        <p:nvCxnSpPr>
          <p:cNvPr id="9" name="直接连接符 8"/>
          <p:cNvCxnSpPr/>
          <p:nvPr>
            <p:custDataLst>
              <p:tags r:id="rId9"/>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custDataLst>
              <p:tags r:id="rId10"/>
            </p:custDataLst>
          </p:nvPr>
        </p:nvSpPr>
        <p:spPr>
          <a:xfrm>
            <a:off x="4879975" y="500380"/>
            <a:ext cx="2424430" cy="460375"/>
          </a:xfrm>
          <a:prstGeom prst="rect">
            <a:avLst/>
          </a:prstGeom>
          <a:noFill/>
        </p:spPr>
        <p:txBody>
          <a:bodyPr wrap="square" rtlCol="0" anchor="t">
            <a:spAutoFit/>
          </a:bodyPr>
          <a:p>
            <a:r>
              <a:rPr lang="zh-CN" altLang="en-US" sz="2400">
                <a:latin typeface="思源黑体 CN Medium" panose="020B0600000000000000" charset="-122"/>
                <a:ea typeface="思源黑体 CN Medium" panose="020B0600000000000000" charset="-122"/>
                <a:sym typeface="+mn-ea"/>
              </a:rPr>
              <a:t>服装色彩的分类</a:t>
            </a:r>
            <a:endParaRPr lang="zh-CN" altLang="en-US" sz="2400">
              <a:latin typeface="思源黑体 CN Medium" panose="020B0600000000000000" charset="-122"/>
              <a:ea typeface="思源黑体 CN Medium" panose="020B0600000000000000" charset="-122"/>
            </a:endParaRPr>
          </a:p>
        </p:txBody>
      </p:sp>
    </p:spTree>
    <p:custDataLst>
      <p:tags r:id="rId1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IMG_3976.JPG"/>
          <p:cNvPicPr>
            <a:picLocks noChangeAspect="1"/>
          </p:cNvPicPr>
          <p:nvPr/>
        </p:nvPicPr>
        <p:blipFill>
          <a:blip r:embed="rId1"/>
          <a:stretch>
            <a:fillRect/>
          </a:stretch>
        </p:blipFill>
        <p:spPr>
          <a:xfrm>
            <a:off x="6893560" y="1547495"/>
            <a:ext cx="3051175" cy="4566920"/>
          </a:xfrm>
          <a:prstGeom prst="rect">
            <a:avLst/>
          </a:prstGeom>
        </p:spPr>
      </p:pic>
      <p:grpSp>
        <p:nvGrpSpPr>
          <p:cNvPr id="7" name="组合 6"/>
          <p:cNvGrpSpPr/>
          <p:nvPr/>
        </p:nvGrpSpPr>
        <p:grpSpPr>
          <a:xfrm>
            <a:off x="0" y="-9525"/>
            <a:ext cx="1313180" cy="1544955"/>
            <a:chOff x="0" y="-15"/>
            <a:chExt cx="2068" cy="2433"/>
          </a:xfrm>
        </p:grpSpPr>
        <p:sp>
          <p:nvSpPr>
            <p:cNvPr id="5" name="任意多边形 4"/>
            <p:cNvSpPr/>
            <p:nvPr>
              <p:custDataLst>
                <p:tags r:id="rId2"/>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任意多边形 2"/>
            <p:cNvSpPr/>
            <p:nvPr>
              <p:custDataLst>
                <p:tags r:id="rId3"/>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4"/>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custDataLst>
                <p:tags r:id="rId5"/>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6"/>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7"/>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5" name="直接连接符 14"/>
          <p:cNvCxnSpPr/>
          <p:nvPr/>
        </p:nvCxnSpPr>
        <p:spPr>
          <a:xfrm>
            <a:off x="755015" y="4724400"/>
            <a:ext cx="61341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648970" y="4148455"/>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1327150" y="4668520"/>
            <a:ext cx="5017770" cy="506730"/>
          </a:xfrm>
          <a:prstGeom prst="rect">
            <a:avLst/>
          </a:prstGeom>
          <a:noFill/>
        </p:spPr>
        <p:txBody>
          <a:bodyPr wrap="square" rtlCol="0">
            <a:spAutoFit/>
          </a:bodyPr>
          <a:p>
            <a:pPr>
              <a:lnSpc>
                <a:spcPct val="150000"/>
              </a:lnSpc>
            </a:pPr>
            <a:r>
              <a:rPr lang="zh-CN" altLang="en-US" b="1" dirty="0" smtClean="0">
                <a:latin typeface="宋体" panose="02010600030101010101" pitchFamily="2" charset="-122"/>
                <a:ea typeface="宋体" panose="02010600030101010101" pitchFamily="2" charset="-122"/>
                <a:sym typeface="+mn-ea"/>
              </a:rPr>
              <a:t>即黑、白、灰，也称之为</a:t>
            </a:r>
            <a:r>
              <a:rPr lang="en-US" altLang="zh-CN" b="1" dirty="0" smtClean="0">
                <a:latin typeface="宋体" panose="02010600030101010101" pitchFamily="2" charset="-122"/>
                <a:ea typeface="宋体" panose="02010600030101010101" pitchFamily="2" charset="-122"/>
                <a:sym typeface="+mn-ea"/>
              </a:rPr>
              <a:t>“</a:t>
            </a:r>
            <a:r>
              <a:rPr lang="zh-CN" altLang="en-US" b="1" dirty="0" smtClean="0">
                <a:latin typeface="宋体" panose="02010600030101010101" pitchFamily="2" charset="-122"/>
                <a:ea typeface="宋体" panose="02010600030101010101" pitchFamily="2" charset="-122"/>
                <a:sym typeface="+mn-ea"/>
              </a:rPr>
              <a:t>没有色彩的颜色</a:t>
            </a:r>
            <a:r>
              <a:rPr lang="en-US" altLang="zh-CN" b="1" dirty="0" smtClean="0">
                <a:latin typeface="宋体" panose="02010600030101010101" pitchFamily="2" charset="-122"/>
                <a:ea typeface="宋体" panose="02010600030101010101" pitchFamily="2" charset="-122"/>
                <a:sym typeface="+mn-ea"/>
              </a:rPr>
              <a:t>”</a:t>
            </a:r>
            <a:r>
              <a:rPr lang="zh-CN" altLang="en-US" b="1" dirty="0" smtClean="0">
                <a:latin typeface="宋体" panose="02010600030101010101" pitchFamily="2" charset="-122"/>
                <a:ea typeface="宋体" panose="02010600030101010101" pitchFamily="2" charset="-122"/>
                <a:sym typeface="+mn-ea"/>
              </a:rPr>
              <a:t>。</a:t>
            </a:r>
            <a:endParaRPr lang="zh-CN" altLang="en-US" b="1" dirty="0" smtClean="0">
              <a:latin typeface="宋体" panose="02010600030101010101" pitchFamily="2" charset="-122"/>
              <a:ea typeface="宋体" panose="02010600030101010101" pitchFamily="2" charset="-122"/>
              <a:cs typeface="思源黑体 CN Medium" panose="020B0600000000000000" charset="-122"/>
              <a:sym typeface="+mn-ea"/>
            </a:endParaRPr>
          </a:p>
        </p:txBody>
      </p:sp>
      <p:sp>
        <p:nvSpPr>
          <p:cNvPr id="24" name="文本框 23"/>
          <p:cNvSpPr txBox="1"/>
          <p:nvPr/>
        </p:nvSpPr>
        <p:spPr>
          <a:xfrm>
            <a:off x="1326833" y="4136390"/>
            <a:ext cx="2093595" cy="521970"/>
          </a:xfrm>
          <a:prstGeom prst="rect">
            <a:avLst/>
          </a:prstGeom>
          <a:noFill/>
        </p:spPr>
        <p:txBody>
          <a:bodyPr wrap="square" rtlCol="0" anchor="t">
            <a:spAutoFit/>
          </a:bodyPr>
          <a:p>
            <a:r>
              <a:rPr lang="zh-CN" altLang="en-US" sz="2800">
                <a:latin typeface="思源黑体 CN Medium" panose="020B0600000000000000" charset="-122"/>
                <a:ea typeface="思源黑体 CN Medium" panose="020B0600000000000000" charset="-122"/>
                <a:sym typeface="+mn-ea"/>
              </a:rPr>
              <a:t>无彩色</a:t>
            </a:r>
            <a:endParaRPr lang="zh-CN" altLang="en-US" sz="2800">
              <a:latin typeface="思源黑体 CN Medium" panose="020B0600000000000000" charset="-122"/>
              <a:ea typeface="思源黑体 CN Medium" panose="020B0600000000000000" charset="-122"/>
              <a:sym typeface="+mn-ea"/>
            </a:endParaRPr>
          </a:p>
        </p:txBody>
      </p:sp>
      <p:sp>
        <p:nvSpPr>
          <p:cNvPr id="28" name="文本框 27"/>
          <p:cNvSpPr txBox="1"/>
          <p:nvPr/>
        </p:nvSpPr>
        <p:spPr>
          <a:xfrm>
            <a:off x="692785" y="4244975"/>
            <a:ext cx="634365" cy="382905"/>
          </a:xfrm>
          <a:prstGeom prst="rect">
            <a:avLst/>
          </a:prstGeom>
          <a:noFill/>
        </p:spPr>
        <p:txBody>
          <a:bodyPr wrap="square" rtlCol="0">
            <a:noAutofit/>
          </a:bodyPr>
          <a:p>
            <a:r>
              <a:rPr lang="en-US" altLang="zh-CN" sz="2000">
                <a:solidFill>
                  <a:schemeClr val="bg1"/>
                </a:solidFill>
                <a:latin typeface="思源黑体 CN Medium" panose="020B0600000000000000" charset="-122"/>
                <a:ea typeface="思源黑体 CN Medium" panose="020B0600000000000000" charset="-122"/>
              </a:rPr>
              <a:t>02</a:t>
            </a:r>
            <a:endParaRPr lang="en-US" altLang="zh-CN" sz="2000">
              <a:solidFill>
                <a:schemeClr val="bg1"/>
              </a:solidFill>
              <a:latin typeface="思源黑体 CN Medium" panose="020B0600000000000000" charset="-122"/>
              <a:ea typeface="思源黑体 CN Medium" panose="020B0600000000000000" charset="-122"/>
            </a:endParaRPr>
          </a:p>
        </p:txBody>
      </p:sp>
      <p:sp>
        <p:nvSpPr>
          <p:cNvPr id="29" name="文本框 28"/>
          <p:cNvSpPr txBox="1"/>
          <p:nvPr/>
        </p:nvSpPr>
        <p:spPr>
          <a:xfrm>
            <a:off x="692785" y="5433695"/>
            <a:ext cx="634365" cy="382905"/>
          </a:xfrm>
          <a:prstGeom prst="rect">
            <a:avLst/>
          </a:prstGeom>
          <a:noFill/>
        </p:spPr>
        <p:txBody>
          <a:bodyPr wrap="square" rtlCol="0">
            <a:noAutofit/>
          </a:bodyPr>
          <a:p>
            <a:r>
              <a:rPr lang="en-US" altLang="zh-CN" sz="2000">
                <a:solidFill>
                  <a:schemeClr val="bg1"/>
                </a:solidFill>
                <a:latin typeface="思源黑体 CN Medium" panose="020B0600000000000000" charset="-122"/>
                <a:ea typeface="思源黑体 CN Medium" panose="020B0600000000000000" charset="-122"/>
              </a:rPr>
              <a:t>3</a:t>
            </a:r>
            <a:endParaRPr lang="en-US" altLang="zh-CN" sz="2000">
              <a:solidFill>
                <a:schemeClr val="bg1"/>
              </a:solidFill>
              <a:latin typeface="思源黑体 CN Medium" panose="020B0600000000000000" charset="-122"/>
              <a:ea typeface="思源黑体 CN Medium" panose="020B0600000000000000" charset="-122"/>
            </a:endParaRPr>
          </a:p>
        </p:txBody>
      </p:sp>
      <p:sp>
        <p:nvSpPr>
          <p:cNvPr id="2" name="文本框 1"/>
          <p:cNvSpPr txBox="1"/>
          <p:nvPr>
            <p:custDataLst>
              <p:tags r:id="rId8"/>
            </p:custDataLst>
          </p:nvPr>
        </p:nvSpPr>
        <p:spPr>
          <a:xfrm>
            <a:off x="4879975" y="500380"/>
            <a:ext cx="2424430" cy="460375"/>
          </a:xfrm>
          <a:prstGeom prst="rect">
            <a:avLst/>
          </a:prstGeom>
          <a:noFill/>
        </p:spPr>
        <p:txBody>
          <a:bodyPr wrap="square" rtlCol="0" anchor="t">
            <a:spAutoFit/>
          </a:bodyPr>
          <a:p>
            <a:r>
              <a:rPr lang="zh-CN" altLang="en-US" sz="2400">
                <a:latin typeface="思源黑体 CN Medium" panose="020B0600000000000000" charset="-122"/>
                <a:ea typeface="思源黑体 CN Medium" panose="020B0600000000000000" charset="-122"/>
                <a:sym typeface="+mn-ea"/>
              </a:rPr>
              <a:t>服装色彩的分类</a:t>
            </a:r>
            <a:endParaRPr lang="zh-CN" altLang="en-US" sz="2400">
              <a:latin typeface="思源黑体 CN Medium" panose="020B0600000000000000" charset="-122"/>
              <a:ea typeface="思源黑体 CN Medium" panose="020B0600000000000000" charset="-122"/>
            </a:endParaRPr>
          </a:p>
        </p:txBody>
      </p:sp>
      <p:cxnSp>
        <p:nvCxnSpPr>
          <p:cNvPr id="12" name="直接连接符 11"/>
          <p:cNvCxnSpPr/>
          <p:nvPr>
            <p:custDataLst>
              <p:tags r:id="rId9"/>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custDataLst>
      <p:tags r:id="rId10"/>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4" grpId="0"/>
      <p:bldP spid="2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C:\Users\17853\Desktop\22.png22"/>
          <p:cNvPicPr>
            <a:picLocks noChangeAspect="1"/>
          </p:cNvPicPr>
          <p:nvPr/>
        </p:nvPicPr>
        <p:blipFill>
          <a:blip r:embed="rId1"/>
          <a:srcRect t="49146"/>
          <a:stretch>
            <a:fillRect/>
          </a:stretch>
        </p:blipFill>
        <p:spPr>
          <a:xfrm>
            <a:off x="823595" y="1920875"/>
            <a:ext cx="10542270" cy="2136140"/>
          </a:xfrm>
          <a:custGeom>
            <a:avLst/>
            <a:gdLst/>
            <a:ahLst/>
            <a:cxnLst>
              <a:cxn ang="3">
                <a:pos x="hc" y="t"/>
              </a:cxn>
              <a:cxn ang="cd2">
                <a:pos x="l" y="vc"/>
              </a:cxn>
              <a:cxn ang="cd4">
                <a:pos x="hc" y="b"/>
              </a:cxn>
              <a:cxn ang="0">
                <a:pos x="r" y="vc"/>
              </a:cxn>
            </a:cxnLst>
            <a:rect l="l" t="t" r="r" b="b"/>
            <a:pathLst>
              <a:path w="16600" h="2927">
                <a:moveTo>
                  <a:pt x="0" y="0"/>
                </a:moveTo>
                <a:lnTo>
                  <a:pt x="16600" y="0"/>
                </a:lnTo>
                <a:lnTo>
                  <a:pt x="16600" y="2927"/>
                </a:lnTo>
                <a:lnTo>
                  <a:pt x="0" y="2927"/>
                </a:lnTo>
                <a:lnTo>
                  <a:pt x="0" y="0"/>
                </a:lnTo>
                <a:close/>
              </a:path>
            </a:pathLst>
          </a:custGeom>
        </p:spPr>
      </p:pic>
      <p:grpSp>
        <p:nvGrpSpPr>
          <p:cNvPr id="7" name="组合 6"/>
          <p:cNvGrpSpPr/>
          <p:nvPr/>
        </p:nvGrpSpPr>
        <p:grpSpPr>
          <a:xfrm>
            <a:off x="0" y="-9525"/>
            <a:ext cx="1313180" cy="1544955"/>
            <a:chOff x="0" y="-15"/>
            <a:chExt cx="2068" cy="2433"/>
          </a:xfrm>
        </p:grpSpPr>
        <p:sp>
          <p:nvSpPr>
            <p:cNvPr id="5" name="任意多边形 4"/>
            <p:cNvSpPr/>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2" name="文本框 11"/>
          <p:cNvSpPr txBox="1"/>
          <p:nvPr/>
        </p:nvSpPr>
        <p:spPr>
          <a:xfrm>
            <a:off x="4918075" y="500380"/>
            <a:ext cx="3429000" cy="460375"/>
          </a:xfrm>
          <a:prstGeom prst="rect">
            <a:avLst/>
          </a:prstGeom>
          <a:noFill/>
        </p:spPr>
        <p:txBody>
          <a:bodyPr wrap="square" rtlCol="0" anchor="t">
            <a:spAutoFit/>
          </a:bodyPr>
          <a:p>
            <a:r>
              <a:rPr lang="zh-CN" altLang="en-US" sz="2400">
                <a:latin typeface="思源黑体 CN Medium" panose="020B0600000000000000" charset="-122"/>
                <a:ea typeface="思源黑体 CN Medium" panose="020B0600000000000000" charset="-122"/>
                <a:sym typeface="+mn-ea"/>
              </a:rPr>
              <a:t>服装色彩的分类</a:t>
            </a:r>
            <a:endParaRPr lang="zh-CN" altLang="en-US" sz="2400">
              <a:latin typeface="思源黑体 CN Medium" panose="020B0600000000000000" charset="-122"/>
              <a:ea typeface="思源黑体 CN Medium" panose="020B0600000000000000" charset="-122"/>
            </a:endParaRPr>
          </a:p>
        </p:txBody>
      </p:sp>
      <p:cxnSp>
        <p:nvCxnSpPr>
          <p:cNvPr id="14" name="直接连接符 13"/>
          <p:cNvCxnSpPr/>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2272030" y="4284345"/>
            <a:ext cx="0" cy="175387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426575" y="4284345"/>
            <a:ext cx="0" cy="175387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823595" y="3632200"/>
            <a:ext cx="10542905" cy="4248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nvSpPr>
        <p:spPr>
          <a:xfrm>
            <a:off x="5049203" y="3614420"/>
            <a:ext cx="2093595" cy="460375"/>
          </a:xfrm>
          <a:prstGeom prst="rect">
            <a:avLst/>
          </a:prstGeom>
          <a:noFill/>
        </p:spPr>
        <p:txBody>
          <a:bodyPr wrap="square" rtlCol="0" anchor="t">
            <a:spAutoFit/>
          </a:bodyPr>
          <a:p>
            <a:r>
              <a:rPr lang="zh-CN" altLang="en-US" sz="2400">
                <a:solidFill>
                  <a:schemeClr val="bg1"/>
                </a:solidFill>
                <a:latin typeface="思源黑体 CN Medium" panose="020B0600000000000000" charset="-122"/>
                <a:ea typeface="思源黑体 CN Medium" panose="020B0600000000000000" charset="-122"/>
                <a:sym typeface="+mn-ea"/>
              </a:rPr>
              <a:t>有彩色</a:t>
            </a:r>
            <a:endParaRPr lang="zh-CN" altLang="en-US" sz="2400">
              <a:solidFill>
                <a:schemeClr val="bg1"/>
              </a:solidFill>
              <a:latin typeface="思源黑体 CN Medium" panose="020B0600000000000000" charset="-122"/>
              <a:ea typeface="思源黑体 CN Medium" panose="020B0600000000000000" charset="-122"/>
              <a:sym typeface="+mn-ea"/>
            </a:endParaRPr>
          </a:p>
        </p:txBody>
      </p:sp>
      <p:sp>
        <p:nvSpPr>
          <p:cNvPr id="26" name="文本框 25"/>
          <p:cNvSpPr txBox="1"/>
          <p:nvPr/>
        </p:nvSpPr>
        <p:spPr>
          <a:xfrm>
            <a:off x="2463165" y="4822190"/>
            <a:ext cx="7013575" cy="506730"/>
          </a:xfrm>
          <a:prstGeom prst="rect">
            <a:avLst/>
          </a:prstGeom>
          <a:noFill/>
        </p:spPr>
        <p:txBody>
          <a:bodyPr wrap="square" rtlCol="0">
            <a:spAutoFit/>
          </a:bodyPr>
          <a:p>
            <a:pPr>
              <a:lnSpc>
                <a:spcPct val="150000"/>
              </a:lnSpc>
            </a:pPr>
            <a:r>
              <a:rPr lang="zh-CN" altLang="en-US" b="1" dirty="0" smtClean="0">
                <a:latin typeface="宋体" panose="02010600030101010101" pitchFamily="2" charset="-122"/>
                <a:ea typeface="宋体" panose="02010600030101010101" pitchFamily="2" charset="-122"/>
                <a:sym typeface="+mn-ea"/>
              </a:rPr>
              <a:t>如红、橙、黄、绿、青、蓝、紫等，称之为有色彩的颜色。</a:t>
            </a:r>
            <a:endParaRPr lang="zh-CN" altLang="en-US">
              <a:latin typeface="思源黑体 CN Medium" panose="020B0600000000000000" charset="-122"/>
              <a:ea typeface="思源黑体 CN Medium" panose="020B0600000000000000" charset="-122"/>
              <a:cs typeface="思源黑体 CN Medium" panose="020B0600000000000000"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down)">
                                      <p:cBhvr>
                                        <p:cTn id="1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8" grpId="0"/>
      <p:bldP spid="18" grpId="1"/>
      <p:bldP spid="26" grpId="0"/>
      <p:bldP spid="26"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53190" y="1714488"/>
            <a:ext cx="5500726" cy="4525963"/>
          </a:xfrm>
        </p:spPr>
        <p:txBody>
          <a:bodyPr>
            <a:normAutofit/>
          </a:bodyPr>
          <a:lstStyle/>
          <a:p>
            <a:pPr>
              <a:buNone/>
            </a:pPr>
            <a:endParaRPr lang="en-US" altLang="zh-CN" sz="2000" b="1" dirty="0">
              <a:solidFill>
                <a:schemeClr val="tx1">
                  <a:lumMod val="75000"/>
                  <a:lumOff val="25000"/>
                </a:schemeClr>
              </a:solidFill>
              <a:latin typeface="+mn-ea"/>
            </a:endParaRPr>
          </a:p>
          <a:p>
            <a:pPr>
              <a:buNone/>
            </a:pPr>
            <a:endParaRPr lang="zh-CN" altLang="en-US" sz="2000" dirty="0">
              <a:solidFill>
                <a:schemeClr val="tx1">
                  <a:lumMod val="75000"/>
                  <a:lumOff val="25000"/>
                </a:schemeClr>
              </a:solidFill>
              <a:latin typeface="+mn-ea"/>
            </a:endParaRPr>
          </a:p>
        </p:txBody>
      </p:sp>
      <p:sp>
        <p:nvSpPr>
          <p:cNvPr id="10" name="TextBox 9"/>
          <p:cNvSpPr txBox="1"/>
          <p:nvPr/>
        </p:nvSpPr>
        <p:spPr>
          <a:xfrm>
            <a:off x="1466850" y="2517775"/>
            <a:ext cx="4319905" cy="3507740"/>
          </a:xfrm>
          <a:prstGeom prst="rect">
            <a:avLst/>
          </a:prstGeom>
          <a:noFill/>
        </p:spPr>
        <p:txBody>
          <a:bodyPr wrap="square" rtlCol="0">
            <a:spAutoFit/>
          </a:bodyPr>
          <a:lstStyle/>
          <a:p>
            <a:pPr>
              <a:lnSpc>
                <a:spcPct val="150000"/>
              </a:lnSpc>
            </a:pPr>
            <a:endParaRPr lang="en-US" altLang="zh-CN" b="1" dirty="0">
              <a:solidFill>
                <a:schemeClr val="tx1">
                  <a:lumMod val="85000"/>
                  <a:lumOff val="15000"/>
                </a:schemeClr>
              </a:solidFill>
              <a:latin typeface="+mn-ea"/>
            </a:endParaRPr>
          </a:p>
          <a:p>
            <a:pPr>
              <a:lnSpc>
                <a:spcPct val="150000"/>
              </a:lnSpc>
            </a:pPr>
            <a:r>
              <a:rPr lang="zh-CN" altLang="en-US" sz="2400" b="1" dirty="0" smtClean="0">
                <a:latin typeface="宋体" panose="02010600030101010101" pitchFamily="2" charset="-122"/>
                <a:ea typeface="宋体" panose="02010600030101010101" pitchFamily="2" charset="-122"/>
                <a:sym typeface="+mn-ea"/>
              </a:rPr>
              <a:t>色彩三属性</a:t>
            </a:r>
            <a:endParaRPr lang="zh-CN" altLang="en-US" sz="2400" b="1" dirty="0" smtClean="0">
              <a:solidFill>
                <a:schemeClr val="tx1"/>
              </a:solidFill>
              <a:latin typeface="宋体" panose="02010600030101010101" pitchFamily="2" charset="-122"/>
              <a:ea typeface="宋体" panose="02010600030101010101" pitchFamily="2" charset="-122"/>
              <a:sym typeface="+mn-ea"/>
            </a:endParaRPr>
          </a:p>
          <a:p>
            <a:pPr>
              <a:lnSpc>
                <a:spcPct val="150000"/>
              </a:lnSpc>
            </a:pPr>
            <a:endParaRPr lang="zh-CN" altLang="en-US" b="1" dirty="0" smtClean="0">
              <a:solidFill>
                <a:srgbClr val="C00000"/>
              </a:solidFill>
              <a:latin typeface="宋体" panose="02010600030101010101" pitchFamily="2" charset="-122"/>
              <a:ea typeface="宋体" panose="02010600030101010101" pitchFamily="2" charset="-122"/>
              <a:sym typeface="+mn-ea"/>
            </a:endParaRPr>
          </a:p>
          <a:p>
            <a:pPr>
              <a:lnSpc>
                <a:spcPct val="150000"/>
              </a:lnSpc>
            </a:pPr>
            <a:r>
              <a:rPr lang="zh-CN" altLang="en-US" b="1" dirty="0" smtClean="0">
                <a:latin typeface="宋体" panose="02010600030101010101" pitchFamily="2" charset="-122"/>
                <a:ea typeface="宋体" panose="02010600030101010101" pitchFamily="2" charset="-122"/>
                <a:sym typeface="+mn-ea"/>
              </a:rPr>
              <a:t>认识色彩，学习色彩，</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latin typeface="宋体" panose="02010600030101010101" pitchFamily="2" charset="-122"/>
                <a:ea typeface="宋体" panose="02010600030101010101" pitchFamily="2" charset="-122"/>
                <a:sym typeface="+mn-ea"/>
              </a:rPr>
              <a:t>都要从了解色彩的性质开始，</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latin typeface="宋体" panose="02010600030101010101" pitchFamily="2" charset="-122"/>
                <a:ea typeface="宋体" panose="02010600030101010101" pitchFamily="2" charset="-122"/>
                <a:sym typeface="+mn-ea"/>
              </a:rPr>
              <a:t>即色相、明度和纯度（也称彩度），</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latin typeface="宋体" panose="02010600030101010101" pitchFamily="2" charset="-122"/>
                <a:ea typeface="宋体" panose="02010600030101010101" pitchFamily="2" charset="-122"/>
                <a:sym typeface="+mn-ea"/>
              </a:rPr>
              <a:t>这就是通常所称的</a:t>
            </a:r>
            <a:r>
              <a:rPr lang="zh-CN" altLang="en-US" b="1" dirty="0" smtClean="0">
                <a:solidFill>
                  <a:srgbClr val="C00000"/>
                </a:solidFill>
                <a:latin typeface="宋体" panose="02010600030101010101" pitchFamily="2" charset="-122"/>
                <a:ea typeface="宋体" panose="02010600030101010101" pitchFamily="2" charset="-122"/>
                <a:sym typeface="+mn-ea"/>
              </a:rPr>
              <a:t>色彩三属性</a:t>
            </a:r>
            <a:r>
              <a:rPr lang="zh-CN" altLang="en-US" b="1" dirty="0" smtClean="0">
                <a:latin typeface="宋体" panose="02010600030101010101" pitchFamily="2" charset="-122"/>
                <a:ea typeface="宋体" panose="02010600030101010101" pitchFamily="2" charset="-122"/>
                <a:sym typeface="+mn-ea"/>
              </a:rPr>
              <a:t>。</a:t>
            </a:r>
            <a:endParaRPr lang="en-US" altLang="zh-CN" b="1" dirty="0" smtClean="0">
              <a:solidFill>
                <a:schemeClr val="tx1"/>
              </a:solidFill>
              <a:latin typeface="宋体" panose="02010600030101010101" pitchFamily="2" charset="-122"/>
              <a:ea typeface="宋体" panose="02010600030101010101" pitchFamily="2" charset="-122"/>
            </a:endParaRPr>
          </a:p>
          <a:p>
            <a:pPr>
              <a:lnSpc>
                <a:spcPct val="150000"/>
              </a:lnSpc>
            </a:pPr>
            <a:endParaRPr lang="en-US" altLang="zh-CN" sz="1600" b="1"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grpSp>
        <p:nvGrpSpPr>
          <p:cNvPr id="7" name="组合 6"/>
          <p:cNvGrpSpPr/>
          <p:nvPr/>
        </p:nvGrpSpPr>
        <p:grpSpPr>
          <a:xfrm>
            <a:off x="0" y="-9525"/>
            <a:ext cx="1313180" cy="1544955"/>
            <a:chOff x="0" y="-15"/>
            <a:chExt cx="2068" cy="2433"/>
          </a:xfrm>
        </p:grpSpPr>
        <p:sp>
          <p:nvSpPr>
            <p:cNvPr id="5" name="任意多边形 4"/>
            <p:cNvSpPr/>
            <p:nvPr>
              <p:custDataLst>
                <p:tags r:id="rId1"/>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3"/>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2" name="任意多边形 1"/>
            <p:cNvSpPr/>
            <p:nvPr>
              <p:custDataLst>
                <p:tags r:id="rId4"/>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任意多边形 10"/>
            <p:cNvSpPr/>
            <p:nvPr>
              <p:custDataLst>
                <p:tags r:id="rId5"/>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直角三角形 11"/>
            <p:cNvSpPr/>
            <p:nvPr>
              <p:custDataLst>
                <p:tags r:id="rId6"/>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55015" y="5912485"/>
            <a:ext cx="615315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文本框 26"/>
          <p:cNvSpPr txBox="1"/>
          <p:nvPr/>
        </p:nvSpPr>
        <p:spPr>
          <a:xfrm>
            <a:off x="693420" y="3074035"/>
            <a:ext cx="633730" cy="398780"/>
          </a:xfrm>
          <a:prstGeom prst="rect">
            <a:avLst/>
          </a:prstGeom>
          <a:noFill/>
        </p:spPr>
        <p:txBody>
          <a:bodyPr wrap="square" rtlCol="0">
            <a:spAutoFit/>
          </a:bodyPr>
          <a:p>
            <a:r>
              <a:rPr lang="en-US" altLang="zh-CN" sz="2000">
                <a:solidFill>
                  <a:schemeClr val="bg1"/>
                </a:solidFill>
                <a:latin typeface="思源黑体 CN Medium" panose="020B0600000000000000" charset="-122"/>
                <a:ea typeface="思源黑体 CN Medium" panose="020B0600000000000000" charset="-122"/>
              </a:rPr>
              <a:t>03</a:t>
            </a:r>
            <a:endParaRPr lang="en-US" altLang="zh-CN" sz="2000">
              <a:solidFill>
                <a:schemeClr val="bg1"/>
              </a:solidFill>
              <a:latin typeface="思源黑体 CN Medium" panose="020B0600000000000000" charset="-122"/>
              <a:ea typeface="思源黑体 CN Medium" panose="020B0600000000000000" charset="-122"/>
            </a:endParaRPr>
          </a:p>
        </p:txBody>
      </p:sp>
      <p:sp>
        <p:nvSpPr>
          <p:cNvPr id="29" name="文本框 28"/>
          <p:cNvSpPr txBox="1"/>
          <p:nvPr/>
        </p:nvSpPr>
        <p:spPr>
          <a:xfrm>
            <a:off x="692785" y="5433695"/>
            <a:ext cx="634365" cy="382905"/>
          </a:xfrm>
          <a:prstGeom prst="rect">
            <a:avLst/>
          </a:prstGeom>
          <a:noFill/>
        </p:spPr>
        <p:txBody>
          <a:bodyPr wrap="square" rtlCol="0">
            <a:noAutofit/>
          </a:bodyPr>
          <a:p>
            <a:r>
              <a:rPr lang="en-US" altLang="zh-CN" sz="2000">
                <a:solidFill>
                  <a:schemeClr val="bg1"/>
                </a:solidFill>
                <a:latin typeface="思源黑体 CN Medium" panose="020B0600000000000000" charset="-122"/>
                <a:ea typeface="思源黑体 CN Medium" panose="020B0600000000000000" charset="-122"/>
              </a:rPr>
              <a:t>03</a:t>
            </a:r>
            <a:endParaRPr lang="en-US" altLang="zh-CN" sz="2000">
              <a:solidFill>
                <a:schemeClr val="bg1"/>
              </a:solidFill>
              <a:latin typeface="思源黑体 CN Medium" panose="020B0600000000000000" charset="-122"/>
              <a:ea typeface="思源黑体 CN Medium" panose="020B0600000000000000" charset="-122"/>
            </a:endParaRPr>
          </a:p>
        </p:txBody>
      </p:sp>
      <p:pic>
        <p:nvPicPr>
          <p:cNvPr id="13" name="图片 12" descr="IMG_3938.JPG"/>
          <p:cNvPicPr>
            <a:picLocks noChangeAspect="1"/>
          </p:cNvPicPr>
          <p:nvPr>
            <p:custDataLst>
              <p:tags r:id="rId7"/>
            </p:custDataLst>
          </p:nvPr>
        </p:nvPicPr>
        <p:blipFill>
          <a:blip r:embed="rId8"/>
          <a:stretch>
            <a:fillRect/>
          </a:stretch>
        </p:blipFill>
        <p:spPr>
          <a:xfrm>
            <a:off x="6944360" y="1490980"/>
            <a:ext cx="3082925" cy="4624070"/>
          </a:xfrm>
          <a:prstGeom prst="rect">
            <a:avLst/>
          </a:prstGeom>
        </p:spPr>
      </p:pic>
      <p:sp>
        <p:nvSpPr>
          <p:cNvPr id="9" name="文本框 8"/>
          <p:cNvSpPr txBox="1"/>
          <p:nvPr>
            <p:custDataLst>
              <p:tags r:id="rId9"/>
            </p:custDataLst>
          </p:nvPr>
        </p:nvSpPr>
        <p:spPr>
          <a:xfrm>
            <a:off x="5231765" y="500380"/>
            <a:ext cx="3429000" cy="460375"/>
          </a:xfrm>
          <a:prstGeom prst="rect">
            <a:avLst/>
          </a:prstGeom>
          <a:noFill/>
        </p:spPr>
        <p:txBody>
          <a:bodyPr wrap="square" rtlCol="0" anchor="t">
            <a:spAutoFit/>
          </a:bodyPr>
          <a:p>
            <a:r>
              <a:rPr lang="zh-CN" altLang="en-US" sz="2400">
                <a:latin typeface="思源黑体 CN Medium" panose="020B0600000000000000" charset="-122"/>
                <a:ea typeface="思源黑体 CN Medium" panose="020B0600000000000000" charset="-122"/>
                <a:sym typeface="+mn-ea"/>
              </a:rPr>
              <a:t>色彩的属性</a:t>
            </a:r>
            <a:endParaRPr lang="zh-CN" altLang="en-US" sz="2400">
              <a:latin typeface="思源黑体 CN Medium" panose="020B0600000000000000" charset="-122"/>
              <a:ea typeface="思源黑体 CN Medium" panose="020B0600000000000000" charset="-122"/>
            </a:endParaRPr>
          </a:p>
        </p:txBody>
      </p:sp>
      <p:cxnSp>
        <p:nvCxnSpPr>
          <p:cNvPr id="15" name="直接连接符 14"/>
          <p:cNvCxnSpPr/>
          <p:nvPr>
            <p:custDataLst>
              <p:tags r:id="rId10"/>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80185" y="2960370"/>
            <a:ext cx="4323080" cy="3553460"/>
          </a:xfrm>
          <a:prstGeom prst="rect">
            <a:avLst/>
          </a:prstGeom>
          <a:noFill/>
        </p:spPr>
        <p:txBody>
          <a:bodyPr wrap="square" rtlCol="0">
            <a:spAutoFit/>
          </a:bodyPr>
          <a:lstStyle/>
          <a:p>
            <a:pPr>
              <a:lnSpc>
                <a:spcPct val="150000"/>
              </a:lnSpc>
            </a:pPr>
            <a:r>
              <a:rPr lang="zh-CN" altLang="en-US" sz="2400" b="1" dirty="0" smtClean="0">
                <a:solidFill>
                  <a:schemeClr val="tx1">
                    <a:lumMod val="85000"/>
                    <a:lumOff val="15000"/>
                  </a:schemeClr>
                </a:solidFill>
                <a:latin typeface="宋体" panose="02010600030101010101" pitchFamily="2" charset="-122"/>
                <a:ea typeface="宋体" panose="02010600030101010101" pitchFamily="2" charset="-122"/>
              </a:rPr>
              <a:t>色相</a:t>
            </a:r>
            <a:endParaRPr lang="en-US" altLang="zh-CN" sz="2400" b="1" dirty="0" smtClean="0">
              <a:solidFill>
                <a:schemeClr val="tx1">
                  <a:lumMod val="85000"/>
                  <a:lumOff val="15000"/>
                </a:schemeClr>
              </a:solidFill>
              <a:latin typeface="宋体" panose="02010600030101010101" pitchFamily="2" charset="-122"/>
              <a:ea typeface="宋体" panose="02010600030101010101" pitchFamily="2" charset="-122"/>
            </a:endParaRPr>
          </a:p>
          <a:p>
            <a:pPr>
              <a:lnSpc>
                <a:spcPct val="150000"/>
              </a:lnSpc>
            </a:pPr>
            <a:endParaRPr lang="zh-CN" altLang="en-US" b="1" dirty="0" smtClean="0">
              <a:solidFill>
                <a:schemeClr val="tx1">
                  <a:lumMod val="85000"/>
                  <a:lumOff val="15000"/>
                </a:schemeClr>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lumMod val="85000"/>
                    <a:lumOff val="15000"/>
                  </a:schemeClr>
                </a:solidFill>
                <a:latin typeface="宋体" panose="02010600030101010101" pitchFamily="2" charset="-122"/>
                <a:ea typeface="宋体" panose="02010600030101010101" pitchFamily="2" charset="-122"/>
              </a:rPr>
              <a:t>色相就是色彩的相貌，</a:t>
            </a:r>
            <a:endParaRPr lang="zh-CN" altLang="en-US" b="1" dirty="0" smtClean="0">
              <a:solidFill>
                <a:schemeClr val="tx1">
                  <a:lumMod val="85000"/>
                  <a:lumOff val="15000"/>
                </a:schemeClr>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lumMod val="85000"/>
                    <a:lumOff val="15000"/>
                  </a:schemeClr>
                </a:solidFill>
                <a:latin typeface="宋体" panose="02010600030101010101" pitchFamily="2" charset="-122"/>
                <a:ea typeface="宋体" panose="02010600030101010101" pitchFamily="2" charset="-122"/>
              </a:rPr>
              <a:t>它是色彩最大的特征，</a:t>
            </a:r>
            <a:endParaRPr lang="zh-CN" altLang="en-US" b="1" dirty="0" smtClean="0">
              <a:solidFill>
                <a:schemeClr val="tx1">
                  <a:lumMod val="85000"/>
                  <a:lumOff val="15000"/>
                </a:schemeClr>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lumMod val="85000"/>
                    <a:lumOff val="15000"/>
                  </a:schemeClr>
                </a:solidFill>
                <a:latin typeface="宋体" panose="02010600030101010101" pitchFamily="2" charset="-122"/>
                <a:ea typeface="宋体" panose="02010600030101010101" pitchFamily="2" charset="-122"/>
              </a:rPr>
              <a:t>也是色彩的一种最基本的感觉属性。</a:t>
            </a:r>
            <a:endParaRPr lang="en-US" altLang="zh-CN" b="1" dirty="0" smtClean="0">
              <a:solidFill>
                <a:schemeClr val="tx1">
                  <a:lumMod val="85000"/>
                  <a:lumOff val="15000"/>
                </a:schemeClr>
              </a:solidFill>
              <a:latin typeface="宋体" panose="02010600030101010101" pitchFamily="2" charset="-122"/>
              <a:ea typeface="宋体" panose="02010600030101010101" pitchFamily="2" charset="-122"/>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p:txBody>
      </p:sp>
      <p:grpSp>
        <p:nvGrpSpPr>
          <p:cNvPr id="7" name="组合 6"/>
          <p:cNvGrpSpPr/>
          <p:nvPr/>
        </p:nvGrpSpPr>
        <p:grpSpPr>
          <a:xfrm>
            <a:off x="0" y="-9525"/>
            <a:ext cx="1313180" cy="1544955"/>
            <a:chOff x="0" y="-15"/>
            <a:chExt cx="2068" cy="2433"/>
          </a:xfrm>
        </p:grpSpPr>
        <p:sp>
          <p:nvSpPr>
            <p:cNvPr id="5" name="任意多边形 4"/>
            <p:cNvSpPr/>
            <p:nvPr>
              <p:custDataLst>
                <p:tags r:id="rId1"/>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3"/>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custDataLst>
                <p:tags r:id="rId4"/>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5"/>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6"/>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custDataLst>
              <p:tags r:id="rId7"/>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8"/>
            </p:custDataLst>
          </p:nvPr>
        </p:nvCxnSpPr>
        <p:spPr>
          <a:xfrm>
            <a:off x="755015" y="5912485"/>
            <a:ext cx="615315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10"/>
            </p:custDataLst>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 name="图片 2" descr="IMG_3983.JPG"/>
          <p:cNvPicPr>
            <a:picLocks noChangeAspect="1"/>
          </p:cNvPicPr>
          <p:nvPr/>
        </p:nvPicPr>
        <p:blipFill>
          <a:blip r:embed="rId11"/>
          <a:stretch>
            <a:fillRect/>
          </a:stretch>
        </p:blipFill>
        <p:spPr>
          <a:xfrm>
            <a:off x="6917690" y="1579880"/>
            <a:ext cx="3302000" cy="4534535"/>
          </a:xfrm>
          <a:prstGeom prst="rect">
            <a:avLst/>
          </a:prstGeom>
        </p:spPr>
      </p:pic>
      <p:sp>
        <p:nvSpPr>
          <p:cNvPr id="15" name="文本框 14"/>
          <p:cNvSpPr txBox="1"/>
          <p:nvPr>
            <p:custDataLst>
              <p:tags r:id="rId12"/>
            </p:custDataLst>
          </p:nvPr>
        </p:nvSpPr>
        <p:spPr>
          <a:xfrm>
            <a:off x="5231765" y="500380"/>
            <a:ext cx="3429000" cy="460375"/>
          </a:xfrm>
          <a:prstGeom prst="rect">
            <a:avLst/>
          </a:prstGeom>
          <a:noFill/>
        </p:spPr>
        <p:txBody>
          <a:bodyPr wrap="square" rtlCol="0" anchor="t">
            <a:spAutoFit/>
          </a:bodyPr>
          <a:p>
            <a:r>
              <a:rPr lang="zh-CN" altLang="en-US" sz="2400">
                <a:latin typeface="思源黑体 CN Medium" panose="020B0600000000000000" charset="-122"/>
                <a:ea typeface="思源黑体 CN Medium" panose="020B0600000000000000" charset="-122"/>
                <a:sym typeface="+mn-ea"/>
              </a:rPr>
              <a:t>色彩的属性</a:t>
            </a:r>
            <a:endParaRPr lang="zh-CN" altLang="en-US" sz="2400">
              <a:latin typeface="思源黑体 CN Medium" panose="020B0600000000000000" charset="-122"/>
              <a:ea typeface="思源黑体 CN Medium" panose="020B0600000000000000" charset="-122"/>
            </a:endParaRPr>
          </a:p>
        </p:txBody>
      </p:sp>
      <p:sp>
        <p:nvSpPr>
          <p:cNvPr id="27" name="文本框 26"/>
          <p:cNvSpPr txBox="1"/>
          <p:nvPr>
            <p:custDataLst>
              <p:tags r:id="rId13"/>
            </p:custDataLst>
          </p:nvPr>
        </p:nvSpPr>
        <p:spPr>
          <a:xfrm>
            <a:off x="693420" y="3074035"/>
            <a:ext cx="633730" cy="398780"/>
          </a:xfrm>
          <a:prstGeom prst="rect">
            <a:avLst/>
          </a:prstGeom>
          <a:noFill/>
        </p:spPr>
        <p:txBody>
          <a:bodyPr wrap="square" rtlCol="0">
            <a:spAutoFit/>
          </a:bodyPr>
          <a:p>
            <a:r>
              <a:rPr lang="en-US" altLang="zh-CN" sz="2000">
                <a:solidFill>
                  <a:schemeClr val="bg1"/>
                </a:solidFill>
                <a:latin typeface="思源黑体 CN Medium" panose="020B0600000000000000" charset="-122"/>
                <a:ea typeface="思源黑体 CN Medium" panose="020B0600000000000000" charset="-122"/>
              </a:rPr>
              <a:t>03</a:t>
            </a:r>
            <a:endParaRPr lang="en-US" altLang="zh-CN" sz="2000">
              <a:solidFill>
                <a:schemeClr val="bg1"/>
              </a:solidFill>
              <a:latin typeface="思源黑体 CN Medium" panose="020B0600000000000000" charset="-122"/>
              <a:ea typeface="思源黑体 CN Medium" panose="020B0600000000000000" charset="-122"/>
            </a:endParaRPr>
          </a:p>
        </p:txBody>
      </p:sp>
    </p:spTree>
    <p:custDataLst>
      <p:tags r:id="rId1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78890" y="2789555"/>
            <a:ext cx="5637530" cy="4384675"/>
          </a:xfrm>
          <a:prstGeom prst="rect">
            <a:avLst/>
          </a:prstGeom>
          <a:noFill/>
        </p:spPr>
        <p:txBody>
          <a:bodyPr wrap="square" rtlCol="0">
            <a:spAutoFit/>
          </a:bodyPr>
          <a:lstStyle/>
          <a:p>
            <a:pPr>
              <a:lnSpc>
                <a:spcPct val="150000"/>
              </a:lnSpc>
            </a:pPr>
            <a:r>
              <a:rPr lang="zh-CN" altLang="en-US" sz="2400" b="1" dirty="0" smtClean="0">
                <a:solidFill>
                  <a:schemeClr val="tx1"/>
                </a:solidFill>
                <a:latin typeface="宋体" panose="02010600030101010101" pitchFamily="2" charset="-122"/>
                <a:ea typeface="宋体" panose="02010600030101010101" pitchFamily="2" charset="-122"/>
              </a:rPr>
              <a:t>明度</a:t>
            </a:r>
            <a:endParaRPr lang="en-US" altLang="zh-CN" sz="2400" b="1" dirty="0" smtClean="0">
              <a:solidFill>
                <a:schemeClr val="tx1"/>
              </a:solidFill>
              <a:latin typeface="宋体" panose="02010600030101010101" pitchFamily="2" charset="-122"/>
              <a:ea typeface="宋体" panose="02010600030101010101" pitchFamily="2" charset="-122"/>
            </a:endParaRPr>
          </a:p>
          <a:p>
            <a:pPr>
              <a:lnSpc>
                <a:spcPct val="150000"/>
              </a:lnSpc>
            </a:pP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明度即色彩明暗深浅的差异程度，</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它是使我们可以区分明暗层次的非彩色觉的视觉属性。同一色相</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含白越多，则明度越高；</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含黑越多，则明度越低。</a:t>
            </a:r>
            <a:endParaRPr lang="en-US" altLang="zh-CN" b="1" dirty="0" smtClean="0">
              <a:solidFill>
                <a:schemeClr val="tx1"/>
              </a:solidFill>
              <a:latin typeface="宋体" panose="02010600030101010101" pitchFamily="2" charset="-122"/>
              <a:ea typeface="宋体" panose="02010600030101010101" pitchFamily="2" charset="-122"/>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p:txBody>
      </p:sp>
      <p:grpSp>
        <p:nvGrpSpPr>
          <p:cNvPr id="7" name="组合 6"/>
          <p:cNvGrpSpPr/>
          <p:nvPr/>
        </p:nvGrpSpPr>
        <p:grpSpPr>
          <a:xfrm>
            <a:off x="0" y="-9525"/>
            <a:ext cx="1313180" cy="1544955"/>
            <a:chOff x="0" y="-15"/>
            <a:chExt cx="2068" cy="2433"/>
          </a:xfrm>
        </p:grpSpPr>
        <p:sp>
          <p:nvSpPr>
            <p:cNvPr id="5" name="任意多边形 4"/>
            <p:cNvSpPr/>
            <p:nvPr>
              <p:custDataLst>
                <p:tags r:id="rId1"/>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3"/>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custDataLst>
                <p:tags r:id="rId4"/>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5"/>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6"/>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3" name="文本框 12"/>
          <p:cNvSpPr txBox="1"/>
          <p:nvPr>
            <p:custDataLst>
              <p:tags r:id="rId7"/>
            </p:custDataLst>
          </p:nvPr>
        </p:nvSpPr>
        <p:spPr>
          <a:xfrm>
            <a:off x="5231765" y="500380"/>
            <a:ext cx="3429000" cy="460375"/>
          </a:xfrm>
          <a:prstGeom prst="rect">
            <a:avLst/>
          </a:prstGeom>
          <a:noFill/>
        </p:spPr>
        <p:txBody>
          <a:bodyPr wrap="square" rtlCol="0" anchor="t">
            <a:spAutoFit/>
          </a:bodyPr>
          <a:p>
            <a:r>
              <a:rPr lang="zh-CN" altLang="en-US" sz="2400">
                <a:latin typeface="思源黑体 CN Medium" panose="020B0600000000000000" charset="-122"/>
                <a:ea typeface="思源黑体 CN Medium" panose="020B0600000000000000" charset="-122"/>
                <a:sym typeface="+mn-ea"/>
              </a:rPr>
              <a:t>色彩的属性</a:t>
            </a:r>
            <a:endParaRPr lang="zh-CN" altLang="en-US" sz="2400">
              <a:latin typeface="思源黑体 CN Medium" panose="020B0600000000000000" charset="-122"/>
              <a:ea typeface="思源黑体 CN Medium" panose="020B0600000000000000" charset="-122"/>
            </a:endParaRPr>
          </a:p>
        </p:txBody>
      </p:sp>
      <p:cxnSp>
        <p:nvCxnSpPr>
          <p:cNvPr id="14" name="直接连接符 13"/>
          <p:cNvCxnSpPr/>
          <p:nvPr>
            <p:custDataLst>
              <p:tags r:id="rId8"/>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9"/>
            </p:custDataLst>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0"/>
            </p:custDataLst>
          </p:nvPr>
        </p:nvCxnSpPr>
        <p:spPr>
          <a:xfrm>
            <a:off x="755015" y="5912485"/>
            <a:ext cx="615315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descr="IMG_3980.JPG"/>
          <p:cNvPicPr>
            <a:picLocks noChangeAspect="1"/>
          </p:cNvPicPr>
          <p:nvPr/>
        </p:nvPicPr>
        <p:blipFill>
          <a:blip r:embed="rId11"/>
          <a:stretch>
            <a:fillRect/>
          </a:stretch>
        </p:blipFill>
        <p:spPr>
          <a:xfrm>
            <a:off x="6953885" y="1517650"/>
            <a:ext cx="3677285" cy="4596765"/>
          </a:xfrm>
          <a:prstGeom prst="rect">
            <a:avLst/>
          </a:prstGeom>
        </p:spPr>
      </p:pic>
      <p:sp>
        <p:nvSpPr>
          <p:cNvPr id="17" name="矩形 16"/>
          <p:cNvSpPr/>
          <p:nvPr>
            <p:custDataLst>
              <p:tags r:id="rId12"/>
            </p:custDataLst>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文本框 26"/>
          <p:cNvSpPr txBox="1"/>
          <p:nvPr>
            <p:custDataLst>
              <p:tags r:id="rId13"/>
            </p:custDataLst>
          </p:nvPr>
        </p:nvSpPr>
        <p:spPr>
          <a:xfrm>
            <a:off x="693420" y="3074035"/>
            <a:ext cx="633730" cy="398780"/>
          </a:xfrm>
          <a:prstGeom prst="rect">
            <a:avLst/>
          </a:prstGeom>
          <a:noFill/>
        </p:spPr>
        <p:txBody>
          <a:bodyPr wrap="square" rtlCol="0">
            <a:spAutoFit/>
          </a:bodyPr>
          <a:p>
            <a:r>
              <a:rPr lang="en-US" altLang="zh-CN" sz="2000">
                <a:solidFill>
                  <a:schemeClr val="bg1"/>
                </a:solidFill>
                <a:latin typeface="思源黑体 CN Medium" panose="020B0600000000000000" charset="-122"/>
                <a:ea typeface="思源黑体 CN Medium" panose="020B0600000000000000" charset="-122"/>
              </a:rPr>
              <a:t>03</a:t>
            </a:r>
            <a:endParaRPr lang="en-US" altLang="zh-CN" sz="2000">
              <a:solidFill>
                <a:schemeClr val="bg1"/>
              </a:solidFill>
              <a:latin typeface="思源黑体 CN Medium" panose="020B0600000000000000" charset="-122"/>
              <a:ea typeface="思源黑体 CN Medium" panose="020B0600000000000000" charset="-122"/>
            </a:endParaRPr>
          </a:p>
        </p:txBody>
      </p:sp>
    </p:spTree>
    <p:custDataLst>
      <p:tags r:id="rId1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29360" y="2878455"/>
            <a:ext cx="5514340" cy="3553460"/>
          </a:xfrm>
          <a:prstGeom prst="rect">
            <a:avLst/>
          </a:prstGeom>
          <a:noFill/>
        </p:spPr>
        <p:txBody>
          <a:bodyPr wrap="square" rtlCol="0">
            <a:spAutoFit/>
          </a:bodyPr>
          <a:lstStyle/>
          <a:p>
            <a:pPr>
              <a:lnSpc>
                <a:spcPct val="150000"/>
              </a:lnSpc>
            </a:pPr>
            <a:r>
              <a:rPr lang="zh-CN" altLang="en-US" sz="2400" b="1" dirty="0" smtClean="0">
                <a:solidFill>
                  <a:schemeClr val="tx1"/>
                </a:solidFill>
                <a:latin typeface="宋体" panose="02010600030101010101" pitchFamily="2" charset="-122"/>
                <a:ea typeface="宋体" panose="02010600030101010101" pitchFamily="2" charset="-122"/>
              </a:rPr>
              <a:t>纯度</a:t>
            </a:r>
            <a:endParaRPr lang="en-US" altLang="zh-CN" sz="2400"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纯度是色彩的饱和程度或色彩的纯净程度，</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它是使我们对色彩鲜艳程度上作出判断的色彩属性，又称彩度、饱和度等。</a:t>
            </a:r>
            <a:endParaRPr lang="en-US" altLang="zh-CN"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它是色彩含灰多少的反映，</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纯度越高，含灰越少，色彩越鲜艳；反之，</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纯度越低，含灰越多，色彩就越浑浊。</a:t>
            </a:r>
            <a:endParaRPr lang="en-US" altLang="zh-CN" b="1" dirty="0" smtClean="0">
              <a:solidFill>
                <a:schemeClr val="tx1"/>
              </a:solidFill>
              <a:latin typeface="宋体" panose="02010600030101010101" pitchFamily="2" charset="-122"/>
              <a:ea typeface="宋体" panose="02010600030101010101" pitchFamily="2" charset="-122"/>
            </a:endParaRPr>
          </a:p>
          <a:p>
            <a:pPr>
              <a:lnSpc>
                <a:spcPct val="150000"/>
              </a:lnSpc>
            </a:pPr>
            <a:endParaRPr lang="en-US" altLang="zh-CN" b="1" dirty="0" smtClean="0">
              <a:solidFill>
                <a:schemeClr val="tx1"/>
              </a:solidFill>
              <a:latin typeface="宋体" panose="02010600030101010101" pitchFamily="2" charset="-122"/>
              <a:ea typeface="宋体" panose="02010600030101010101" pitchFamily="2" charset="-122"/>
            </a:endParaRPr>
          </a:p>
        </p:txBody>
      </p:sp>
      <p:grpSp>
        <p:nvGrpSpPr>
          <p:cNvPr id="7" name="组合 6"/>
          <p:cNvGrpSpPr/>
          <p:nvPr/>
        </p:nvGrpSpPr>
        <p:grpSpPr>
          <a:xfrm>
            <a:off x="0" y="-9525"/>
            <a:ext cx="1313180" cy="1544955"/>
            <a:chOff x="0" y="-15"/>
            <a:chExt cx="2068" cy="2433"/>
          </a:xfrm>
        </p:grpSpPr>
        <p:sp>
          <p:nvSpPr>
            <p:cNvPr id="5" name="任意多边形 4"/>
            <p:cNvSpPr/>
            <p:nvPr>
              <p:custDataLst>
                <p:tags r:id="rId1"/>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3"/>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custDataLst>
                <p:tags r:id="rId4"/>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5"/>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6"/>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2" name="文本框 11"/>
          <p:cNvSpPr txBox="1"/>
          <p:nvPr>
            <p:custDataLst>
              <p:tags r:id="rId7"/>
            </p:custDataLst>
          </p:nvPr>
        </p:nvSpPr>
        <p:spPr>
          <a:xfrm>
            <a:off x="5231765" y="500380"/>
            <a:ext cx="3429000" cy="460375"/>
          </a:xfrm>
          <a:prstGeom prst="rect">
            <a:avLst/>
          </a:prstGeom>
          <a:noFill/>
        </p:spPr>
        <p:txBody>
          <a:bodyPr wrap="square" rtlCol="0" anchor="t">
            <a:spAutoFit/>
          </a:bodyPr>
          <a:p>
            <a:r>
              <a:rPr lang="zh-CN" altLang="en-US" sz="2400">
                <a:latin typeface="思源黑体 CN Medium" panose="020B0600000000000000" charset="-122"/>
                <a:ea typeface="思源黑体 CN Medium" panose="020B0600000000000000" charset="-122"/>
                <a:sym typeface="+mn-ea"/>
              </a:rPr>
              <a:t>色彩的属性</a:t>
            </a:r>
            <a:endParaRPr lang="zh-CN" altLang="en-US" sz="2400">
              <a:latin typeface="思源黑体 CN Medium" panose="020B0600000000000000" charset="-122"/>
              <a:ea typeface="思源黑体 CN Medium" panose="020B0600000000000000" charset="-122"/>
            </a:endParaRPr>
          </a:p>
        </p:txBody>
      </p:sp>
      <p:cxnSp>
        <p:nvCxnSpPr>
          <p:cNvPr id="14" name="直接连接符 13"/>
          <p:cNvCxnSpPr/>
          <p:nvPr>
            <p:custDataLst>
              <p:tags r:id="rId8"/>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9"/>
            </p:custDataLst>
          </p:nvPr>
        </p:nvCxnSpPr>
        <p:spPr>
          <a:xfrm>
            <a:off x="755015" y="5912485"/>
            <a:ext cx="615315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10"/>
            </p:custDataLst>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11"/>
            </p:custDataLst>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文本框 26"/>
          <p:cNvSpPr txBox="1"/>
          <p:nvPr>
            <p:custDataLst>
              <p:tags r:id="rId12"/>
            </p:custDataLst>
          </p:nvPr>
        </p:nvSpPr>
        <p:spPr>
          <a:xfrm>
            <a:off x="693420" y="3074035"/>
            <a:ext cx="633730" cy="398780"/>
          </a:xfrm>
          <a:prstGeom prst="rect">
            <a:avLst/>
          </a:prstGeom>
          <a:noFill/>
        </p:spPr>
        <p:txBody>
          <a:bodyPr wrap="square" rtlCol="0">
            <a:spAutoFit/>
          </a:bodyPr>
          <a:p>
            <a:r>
              <a:rPr lang="en-US" altLang="zh-CN" sz="2000">
                <a:solidFill>
                  <a:schemeClr val="bg1"/>
                </a:solidFill>
                <a:latin typeface="思源黑体 CN Medium" panose="020B0600000000000000" charset="-122"/>
                <a:ea typeface="思源黑体 CN Medium" panose="020B0600000000000000" charset="-122"/>
              </a:rPr>
              <a:t>03</a:t>
            </a:r>
            <a:endParaRPr lang="en-US" altLang="zh-CN" sz="2000">
              <a:solidFill>
                <a:schemeClr val="bg1"/>
              </a:solidFill>
              <a:latin typeface="思源黑体 CN Medium" panose="020B0600000000000000" charset="-122"/>
              <a:ea typeface="思源黑体 CN Medium" panose="020B0600000000000000" charset="-122"/>
            </a:endParaRPr>
          </a:p>
        </p:txBody>
      </p:sp>
      <p:pic>
        <p:nvPicPr>
          <p:cNvPr id="3" name="图片 2" descr="jpg6.jpg"/>
          <p:cNvPicPr>
            <a:picLocks noChangeAspect="1"/>
          </p:cNvPicPr>
          <p:nvPr/>
        </p:nvPicPr>
        <p:blipFill>
          <a:blip r:embed="rId13"/>
          <a:stretch>
            <a:fillRect/>
          </a:stretch>
        </p:blipFill>
        <p:spPr>
          <a:xfrm>
            <a:off x="6784975" y="1525905"/>
            <a:ext cx="3058795" cy="4588510"/>
          </a:xfrm>
          <a:prstGeom prst="rect">
            <a:avLst/>
          </a:prstGeom>
        </p:spPr>
      </p:pic>
    </p:spTree>
    <p:custDataLst>
      <p:tags r:id="rId1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20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2000"/>
                                        <p:tgtEl>
                                          <p:spTgt spid="2">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2000"/>
                                        <p:tgtEl>
                                          <p:spTgt spid="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20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2000"/>
                                        <p:tgtEl>
                                          <p:spTgt spid="2">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down)">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02385" y="2901315"/>
            <a:ext cx="5229860" cy="5631180"/>
          </a:xfrm>
          <a:prstGeom prst="rect">
            <a:avLst/>
          </a:prstGeom>
          <a:noFill/>
        </p:spPr>
        <p:txBody>
          <a:bodyPr wrap="square" rtlCol="0">
            <a:spAutoFit/>
          </a:bodyPr>
          <a:lstStyle/>
          <a:p>
            <a:pPr>
              <a:lnSpc>
                <a:spcPct val="150000"/>
              </a:lnSpc>
            </a:pPr>
            <a:r>
              <a:rPr lang="zh-CN" altLang="en-US" sz="2400" b="1" dirty="0" smtClean="0">
                <a:solidFill>
                  <a:schemeClr val="tx1"/>
                </a:solidFill>
                <a:latin typeface="宋体" panose="02010600030101010101" pitchFamily="2" charset="-122"/>
                <a:ea typeface="宋体" panose="02010600030101010101" pitchFamily="2" charset="-122"/>
              </a:rPr>
              <a:t>色调</a:t>
            </a:r>
            <a:endParaRPr lang="en-US" altLang="zh-CN" sz="2400" b="1" dirty="0" smtClean="0">
              <a:solidFill>
                <a:schemeClr val="tx1"/>
              </a:solidFill>
              <a:latin typeface="宋体" panose="02010600030101010101" pitchFamily="2" charset="-122"/>
              <a:ea typeface="宋体" panose="02010600030101010101" pitchFamily="2" charset="-122"/>
            </a:endParaRPr>
          </a:p>
          <a:p>
            <a:pPr>
              <a:lnSpc>
                <a:spcPct val="150000"/>
              </a:lnSpc>
            </a:pPr>
            <a:endParaRPr lang="en-US" altLang="zh-CN"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色调是指色彩的基本倾向，</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是色彩的整体外观的一个重要特征，</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是色相、明度、纯度三要素综合产生的结果。</a:t>
            </a:r>
            <a:endParaRPr lang="en-US" altLang="zh-CN" b="1" dirty="0" smtClean="0">
              <a:solidFill>
                <a:schemeClr val="tx1"/>
              </a:solidFill>
              <a:latin typeface="宋体" panose="02010600030101010101" pitchFamily="2" charset="-122"/>
              <a:ea typeface="宋体" panose="02010600030101010101" pitchFamily="2" charset="-122"/>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a:p>
            <a:pPr>
              <a:lnSpc>
                <a:spcPct val="150000"/>
              </a:lnSpc>
            </a:pPr>
            <a:endParaRPr lang="en-US" altLang="zh-CN" b="1" dirty="0" smtClean="0">
              <a:solidFill>
                <a:schemeClr val="tx1">
                  <a:lumMod val="85000"/>
                  <a:lumOff val="15000"/>
                </a:schemeClr>
              </a:solidFill>
              <a:latin typeface="+mn-ea"/>
            </a:endParaRPr>
          </a:p>
        </p:txBody>
      </p:sp>
      <p:pic>
        <p:nvPicPr>
          <p:cNvPr id="9" name="图片 8" descr="68b45319gw1dw5q8ula7pj.jpg"/>
          <p:cNvPicPr>
            <a:picLocks noChangeAspect="1"/>
          </p:cNvPicPr>
          <p:nvPr/>
        </p:nvPicPr>
        <p:blipFill>
          <a:blip r:embed="rId1"/>
          <a:srcRect b="2325"/>
          <a:stretch>
            <a:fillRect/>
          </a:stretch>
        </p:blipFill>
        <p:spPr>
          <a:xfrm>
            <a:off x="7059937" y="256837"/>
            <a:ext cx="2903028" cy="5857916"/>
          </a:xfrm>
          <a:prstGeom prst="rect">
            <a:avLst/>
          </a:prstGeom>
        </p:spPr>
      </p:pic>
      <p:grpSp>
        <p:nvGrpSpPr>
          <p:cNvPr id="7" name="组合 6"/>
          <p:cNvGrpSpPr/>
          <p:nvPr/>
        </p:nvGrpSpPr>
        <p:grpSpPr>
          <a:xfrm>
            <a:off x="0" y="-9525"/>
            <a:ext cx="1313180" cy="1544955"/>
            <a:chOff x="0" y="-15"/>
            <a:chExt cx="2068" cy="2433"/>
          </a:xfrm>
        </p:grpSpPr>
        <p:sp>
          <p:nvSpPr>
            <p:cNvPr id="5" name="任意多边形 4"/>
            <p:cNvSpPr/>
            <p:nvPr>
              <p:custDataLst>
                <p:tags r:id="rId2"/>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任意多边形 1"/>
            <p:cNvSpPr/>
            <p:nvPr>
              <p:custDataLst>
                <p:tags r:id="rId3"/>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4"/>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3" name="任意多边形 2"/>
            <p:cNvSpPr/>
            <p:nvPr>
              <p:custDataLst>
                <p:tags r:id="rId5"/>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6"/>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7"/>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custDataLst>
              <p:tags r:id="rId8"/>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9"/>
            </p:custDataLst>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10"/>
            </p:custDataLst>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6" name="直接连接符 15"/>
          <p:cNvCxnSpPr/>
          <p:nvPr>
            <p:custDataLst>
              <p:tags r:id="rId11"/>
            </p:custDataLst>
          </p:nvPr>
        </p:nvCxnSpPr>
        <p:spPr>
          <a:xfrm>
            <a:off x="887730" y="5912485"/>
            <a:ext cx="615315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ustDataLst>
      <p:tags r:id="rId1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20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20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25204" y="3779516"/>
            <a:ext cx="6286544" cy="506730"/>
          </a:xfrm>
          <a:prstGeom prst="rect">
            <a:avLst/>
          </a:prstGeom>
          <a:noFill/>
        </p:spPr>
        <p:txBody>
          <a:bodyPr wrap="square" rtlCol="0">
            <a:spAutoFit/>
          </a:bodyPr>
          <a:lstStyle/>
          <a:p>
            <a:pPr>
              <a:lnSpc>
                <a:spcPct val="150000"/>
              </a:lnSpc>
            </a:pPr>
            <a:r>
              <a:rPr lang="zh-CN" altLang="en-US" b="1" dirty="0" smtClean="0">
                <a:solidFill>
                  <a:schemeClr val="tx1">
                    <a:lumMod val="85000"/>
                    <a:lumOff val="15000"/>
                  </a:schemeClr>
                </a:solidFill>
                <a:latin typeface="+mn-ea"/>
              </a:rPr>
              <a:t>某季秋冬关键趋势之</a:t>
            </a:r>
            <a:r>
              <a:rPr lang="en-US" altLang="zh-CN" b="1" dirty="0" smtClean="0">
                <a:solidFill>
                  <a:schemeClr val="tx1">
                    <a:lumMod val="85000"/>
                    <a:lumOff val="15000"/>
                  </a:schemeClr>
                </a:solidFill>
                <a:latin typeface="+mn-ea"/>
              </a:rPr>
              <a:t>——</a:t>
            </a:r>
            <a:r>
              <a:rPr lang="zh-CN" altLang="en-US" b="1" dirty="0" smtClean="0">
                <a:solidFill>
                  <a:schemeClr val="tx1">
                    <a:lumMod val="85000"/>
                    <a:lumOff val="15000"/>
                  </a:schemeClr>
                </a:solidFill>
                <a:latin typeface="+mn-ea"/>
              </a:rPr>
              <a:t>通身一色</a:t>
            </a:r>
            <a:endParaRPr lang="zh-CN" altLang="en-US" b="1" dirty="0">
              <a:solidFill>
                <a:schemeClr val="tx1">
                  <a:lumMod val="85000"/>
                  <a:lumOff val="15000"/>
                </a:schemeClr>
              </a:solidFill>
              <a:latin typeface="+mn-ea"/>
            </a:endParaRPr>
          </a:p>
        </p:txBody>
      </p:sp>
      <p:grpSp>
        <p:nvGrpSpPr>
          <p:cNvPr id="7" name="组合 6"/>
          <p:cNvGrpSpPr/>
          <p:nvPr/>
        </p:nvGrpSpPr>
        <p:grpSpPr>
          <a:xfrm>
            <a:off x="0" y="-9525"/>
            <a:ext cx="1313180" cy="1544955"/>
            <a:chOff x="0" y="-15"/>
            <a:chExt cx="2068" cy="2433"/>
          </a:xfrm>
        </p:grpSpPr>
        <p:sp>
          <p:nvSpPr>
            <p:cNvPr id="5" name="任意多边形 4"/>
            <p:cNvSpPr/>
            <p:nvPr>
              <p:custDataLst>
                <p:tags r:id="rId1"/>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3"/>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custDataLst>
                <p:tags r:id="rId4"/>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5"/>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6"/>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custDataLst>
              <p:tags r:id="rId7"/>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8"/>
            </p:custDataLst>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9"/>
            </p:custDataLst>
          </p:nvPr>
        </p:nvCxnSpPr>
        <p:spPr>
          <a:xfrm>
            <a:off x="887730" y="5912485"/>
            <a:ext cx="615315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10"/>
            </p:custDataLst>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 name="图片 2" descr="26bdb97e1d901473fa0deddebdc7e182.jpg"/>
          <p:cNvPicPr>
            <a:picLocks noChangeAspect="1"/>
          </p:cNvPicPr>
          <p:nvPr/>
        </p:nvPicPr>
        <p:blipFill>
          <a:blip r:embed="rId11"/>
          <a:stretch>
            <a:fillRect/>
          </a:stretch>
        </p:blipFill>
        <p:spPr>
          <a:xfrm>
            <a:off x="7041515" y="1492250"/>
            <a:ext cx="3100705" cy="4651375"/>
          </a:xfrm>
          <a:prstGeom prst="rect">
            <a:avLst/>
          </a:prstGeom>
        </p:spPr>
      </p:pic>
    </p:spTree>
    <p:custDataLst>
      <p:tags r:id="rId12"/>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24915" y="2960370"/>
            <a:ext cx="3553460" cy="1891665"/>
          </a:xfrm>
          <a:prstGeom prst="rect">
            <a:avLst/>
          </a:prstGeom>
        </p:spPr>
        <p:txBody>
          <a:bodyPr wrap="square">
            <a:spAutoFit/>
          </a:bodyPr>
          <a:lstStyle/>
          <a:p>
            <a:pPr>
              <a:lnSpc>
                <a:spcPct val="150000"/>
              </a:lnSpc>
            </a:pPr>
            <a:r>
              <a:rPr lang="zh-CN" altLang="en-US" sz="2400" b="1" dirty="0" smtClean="0">
                <a:solidFill>
                  <a:schemeClr val="tx1"/>
                </a:solidFill>
                <a:latin typeface="宋体" panose="02010600030101010101" pitchFamily="2" charset="-122"/>
                <a:ea typeface="宋体" panose="02010600030101010101" pitchFamily="2" charset="-122"/>
              </a:rPr>
              <a:t>补色</a:t>
            </a:r>
            <a:endParaRPr lang="zh-CN" altLang="en-US" sz="2400"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某品牌某年秋冬</a:t>
            </a:r>
            <a:endParaRPr lang="zh-CN" altLang="en-US"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紫色的蔓藤加以黄色的花</a:t>
            </a:r>
            <a:endParaRPr lang="en-US" altLang="zh-CN" b="1" dirty="0" smtClean="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smtClean="0">
                <a:solidFill>
                  <a:schemeClr val="tx1"/>
                </a:solidFill>
                <a:latin typeface="宋体" panose="02010600030101010101" pitchFamily="2" charset="-122"/>
                <a:ea typeface="宋体" panose="02010600030101010101" pitchFamily="2" charset="-122"/>
              </a:rPr>
              <a:t>神秘生动质感</a:t>
            </a:r>
            <a:endParaRPr lang="zh-CN" altLang="en-US" b="1" dirty="0" smtClean="0">
              <a:solidFill>
                <a:schemeClr val="tx1"/>
              </a:solidFill>
              <a:latin typeface="宋体" panose="02010600030101010101" pitchFamily="2" charset="-122"/>
              <a:ea typeface="宋体" panose="02010600030101010101" pitchFamily="2" charset="-122"/>
            </a:endParaRPr>
          </a:p>
        </p:txBody>
      </p:sp>
      <p:pic>
        <p:nvPicPr>
          <p:cNvPr id="5" name="图片 4" descr="00030m.jpg"/>
          <p:cNvPicPr>
            <a:picLocks noChangeAspect="1"/>
          </p:cNvPicPr>
          <p:nvPr/>
        </p:nvPicPr>
        <p:blipFill>
          <a:blip r:embed="rId1"/>
          <a:stretch>
            <a:fillRect/>
          </a:stretch>
        </p:blipFill>
        <p:spPr>
          <a:xfrm>
            <a:off x="7016435" y="756584"/>
            <a:ext cx="3571900" cy="5357850"/>
          </a:xfrm>
          <a:prstGeom prst="rect">
            <a:avLst/>
          </a:prstGeom>
        </p:spPr>
      </p:pic>
      <p:pic>
        <p:nvPicPr>
          <p:cNvPr id="7" name="图片 6" descr="IMG_2974.JPG"/>
          <p:cNvPicPr>
            <a:picLocks noChangeAspect="1"/>
          </p:cNvPicPr>
          <p:nvPr/>
        </p:nvPicPr>
        <p:blipFill>
          <a:blip r:embed="rId2"/>
          <a:stretch>
            <a:fillRect/>
          </a:stretch>
        </p:blipFill>
        <p:spPr>
          <a:xfrm>
            <a:off x="2200910" y="440055"/>
            <a:ext cx="2714625" cy="2714625"/>
          </a:xfrm>
          <a:prstGeom prst="rect">
            <a:avLst/>
          </a:prstGeom>
        </p:spPr>
      </p:pic>
      <p:grpSp>
        <p:nvGrpSpPr>
          <p:cNvPr id="3" name="组合 2"/>
          <p:cNvGrpSpPr/>
          <p:nvPr/>
        </p:nvGrpSpPr>
        <p:grpSpPr>
          <a:xfrm>
            <a:off x="0" y="-9525"/>
            <a:ext cx="1313180" cy="1544955"/>
            <a:chOff x="0" y="-15"/>
            <a:chExt cx="2068" cy="2433"/>
          </a:xfrm>
        </p:grpSpPr>
        <p:sp>
          <p:nvSpPr>
            <p:cNvPr id="4" name="任意多边形 3"/>
            <p:cNvSpPr/>
            <p:nvPr>
              <p:custDataLst>
                <p:tags r:id="rId3"/>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任意多边形 5"/>
            <p:cNvSpPr/>
            <p:nvPr>
              <p:custDataLst>
                <p:tags r:id="rId4"/>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直角三角形 7"/>
            <p:cNvSpPr/>
            <p:nvPr>
              <p:custDataLst>
                <p:tags r:id="rId5"/>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 name="组合 8"/>
          <p:cNvGrpSpPr/>
          <p:nvPr/>
        </p:nvGrpSpPr>
        <p:grpSpPr>
          <a:xfrm rot="10800000">
            <a:off x="10878820" y="5329555"/>
            <a:ext cx="1313180" cy="1544955"/>
            <a:chOff x="0" y="-15"/>
            <a:chExt cx="2068" cy="2433"/>
          </a:xfrm>
        </p:grpSpPr>
        <p:sp>
          <p:nvSpPr>
            <p:cNvPr id="10" name="任意多边形 9"/>
            <p:cNvSpPr/>
            <p:nvPr>
              <p:custDataLst>
                <p:tags r:id="rId6"/>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任意多边形 10"/>
            <p:cNvSpPr/>
            <p:nvPr>
              <p:custDataLst>
                <p:tags r:id="rId7"/>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直角三角形 11"/>
            <p:cNvSpPr/>
            <p:nvPr>
              <p:custDataLst>
                <p:tags r:id="rId8"/>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custDataLst>
              <p:tags r:id="rId9"/>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10"/>
            </p:custDataLst>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11"/>
            </p:custDataLst>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6" name="直接连接符 15"/>
          <p:cNvCxnSpPr/>
          <p:nvPr>
            <p:custDataLst>
              <p:tags r:id="rId12"/>
            </p:custDataLst>
          </p:nvPr>
        </p:nvCxnSpPr>
        <p:spPr>
          <a:xfrm>
            <a:off x="887730" y="5912485"/>
            <a:ext cx="615315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ustDataLst>
      <p:tags r:id="rId13"/>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13153" y="2890833"/>
            <a:ext cx="2937510" cy="645160"/>
          </a:xfrm>
          <a:prstGeom prst="rect">
            <a:avLst/>
          </a:prstGeom>
        </p:spPr>
        <p:txBody>
          <a:bodyPr wrap="none">
            <a:spAutoFit/>
          </a:bodyPr>
          <a:lstStyle/>
          <a:p>
            <a:pPr>
              <a:lnSpc>
                <a:spcPct val="150000"/>
              </a:lnSpc>
            </a:pPr>
            <a:r>
              <a:rPr lang="zh-CN" altLang="en-US" sz="2400" b="1" dirty="0" smtClean="0">
                <a:solidFill>
                  <a:schemeClr val="tx1"/>
                </a:solidFill>
                <a:latin typeface="宋体" panose="02010600030101010101" pitchFamily="2" charset="-122"/>
                <a:ea typeface="宋体" panose="02010600030101010101" pitchFamily="2" charset="-122"/>
              </a:rPr>
              <a:t>服装色彩与视觉心理</a:t>
            </a:r>
            <a:endParaRPr lang="zh-CN" altLang="en-US" sz="2400" b="1" dirty="0" smtClean="0">
              <a:solidFill>
                <a:schemeClr val="tx1"/>
              </a:solidFill>
              <a:latin typeface="宋体" panose="02010600030101010101" pitchFamily="2" charset="-122"/>
              <a:ea typeface="宋体" panose="02010600030101010101" pitchFamily="2" charset="-122"/>
            </a:endParaRPr>
          </a:p>
        </p:txBody>
      </p:sp>
      <p:pic>
        <p:nvPicPr>
          <p:cNvPr id="3" name="图片 2" descr="OIU556_in_l.jpg"/>
          <p:cNvPicPr>
            <a:picLocks noChangeAspect="1"/>
          </p:cNvPicPr>
          <p:nvPr/>
        </p:nvPicPr>
        <p:blipFill>
          <a:blip r:embed="rId1"/>
          <a:stretch>
            <a:fillRect/>
          </a:stretch>
        </p:blipFill>
        <p:spPr>
          <a:xfrm>
            <a:off x="6169979" y="-9525"/>
            <a:ext cx="4984750" cy="6858000"/>
          </a:xfrm>
          <a:prstGeom prst="rect">
            <a:avLst/>
          </a:prstGeom>
        </p:spPr>
      </p:pic>
      <p:grpSp>
        <p:nvGrpSpPr>
          <p:cNvPr id="7" name="组合 6"/>
          <p:cNvGrpSpPr/>
          <p:nvPr/>
        </p:nvGrpSpPr>
        <p:grpSpPr>
          <a:xfrm>
            <a:off x="0" y="-9525"/>
            <a:ext cx="1313180" cy="1544955"/>
            <a:chOff x="0" y="-15"/>
            <a:chExt cx="2068" cy="2433"/>
          </a:xfrm>
        </p:grpSpPr>
        <p:sp>
          <p:nvSpPr>
            <p:cNvPr id="5" name="任意多边形 4"/>
            <p:cNvSpPr/>
            <p:nvPr>
              <p:custDataLst>
                <p:tags r:id="rId2"/>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3"/>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4"/>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custDataLst>
                <p:tags r:id="rId5"/>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6"/>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7"/>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custDataLst>
              <p:tags r:id="rId8"/>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9"/>
            </p:custDataLst>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10"/>
            </p:custDataLst>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9850" y="2731135"/>
            <a:ext cx="5772150" cy="3969385"/>
          </a:xfrm>
          <a:prstGeom prst="rect">
            <a:avLst/>
          </a:prstGeom>
        </p:spPr>
        <p:txBody>
          <a:bodyPr wrap="square">
            <a:spAutoFit/>
          </a:bodyPr>
          <a:lstStyle/>
          <a:p>
            <a:pPr>
              <a:lnSpc>
                <a:spcPct val="150000"/>
              </a:lnSpc>
            </a:pPr>
            <a:r>
              <a:rPr lang="zh-CN" altLang="en-US" sz="2400" b="1" dirty="0">
                <a:solidFill>
                  <a:schemeClr val="tx1"/>
                </a:solidFill>
                <a:latin typeface="宋体" panose="02010600030101010101" pitchFamily="2" charset="-122"/>
                <a:ea typeface="宋体" panose="02010600030101010101" pitchFamily="2" charset="-122"/>
                <a:cs typeface="宋体" panose="02010600030101010101" pitchFamily="2" charset="-122"/>
              </a:rPr>
              <a:t>流行色</a:t>
            </a:r>
            <a:endParaRPr lang="en-US" altLang="zh-CN" sz="2400"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endPar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“流行色”是在一定时期和地区内，</a:t>
            </a:r>
            <a:endPar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产品受到消费者普遍欢迎的几种或几组色彩和色调。</a:t>
            </a:r>
            <a:endPar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它以若干组群的形式出现。</a:t>
            </a:r>
            <a:endPar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流行色是一个过程性很强的色彩概念，</a:t>
            </a:r>
            <a:endPar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它是与常用色相对而言的。</a:t>
            </a:r>
            <a:endParaRPr lang="en-US" altLang="zh-CN"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rPr>
              <a:t>流行色的产生于与发布主要根据市场色彩的动向与流行色专家的灵感预测，以大量科学的调查研究工作为基础。</a:t>
            </a:r>
            <a:endParaRPr lang="zh-CN" altLang="en-US" b="1"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pic>
        <p:nvPicPr>
          <p:cNvPr id="3" name="图片 2" descr="IMG_3561.JPG"/>
          <p:cNvPicPr>
            <a:picLocks noChangeAspect="1"/>
          </p:cNvPicPr>
          <p:nvPr/>
        </p:nvPicPr>
        <p:blipFill>
          <a:blip r:embed="rId1"/>
          <a:stretch>
            <a:fillRect/>
          </a:stretch>
        </p:blipFill>
        <p:spPr>
          <a:xfrm>
            <a:off x="7693670" y="0"/>
            <a:ext cx="2717483" cy="6858000"/>
          </a:xfrm>
          <a:prstGeom prst="rect">
            <a:avLst/>
          </a:prstGeom>
        </p:spPr>
      </p:pic>
      <p:grpSp>
        <p:nvGrpSpPr>
          <p:cNvPr id="7" name="组合 6"/>
          <p:cNvGrpSpPr/>
          <p:nvPr/>
        </p:nvGrpSpPr>
        <p:grpSpPr>
          <a:xfrm>
            <a:off x="0" y="-9525"/>
            <a:ext cx="1313180" cy="1544955"/>
            <a:chOff x="0" y="-15"/>
            <a:chExt cx="2068" cy="2433"/>
          </a:xfrm>
        </p:grpSpPr>
        <p:sp>
          <p:nvSpPr>
            <p:cNvPr id="5" name="任意多边形 4"/>
            <p:cNvSpPr/>
            <p:nvPr>
              <p:custDataLst>
                <p:tags r:id="rId2"/>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3"/>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4"/>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custDataLst>
                <p:tags r:id="rId5"/>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6"/>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7"/>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custDataLst>
              <p:tags r:id="rId8"/>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9"/>
            </p:custDataLst>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10"/>
            </p:custDataLst>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13180" y="2960370"/>
            <a:ext cx="4927600" cy="1891665"/>
          </a:xfrm>
          <a:prstGeom prst="rect">
            <a:avLst/>
          </a:prstGeom>
          <a:noFill/>
        </p:spPr>
        <p:txBody>
          <a:bodyPr wrap="square" rtlCol="0">
            <a:spAutoFit/>
          </a:bodyPr>
          <a:lstStyle/>
          <a:p>
            <a:pPr>
              <a:lnSpc>
                <a:spcPct val="150000"/>
              </a:lnSpc>
            </a:pPr>
            <a:r>
              <a:rPr lang="zh-CN" altLang="en-US" sz="2400" b="1" dirty="0">
                <a:latin typeface="宋体" panose="02010600030101010101" pitchFamily="2" charset="-122"/>
                <a:ea typeface="宋体" panose="02010600030101010101" pitchFamily="2" charset="-122"/>
              </a:rPr>
              <a:t>服装色彩的流行倾向</a:t>
            </a:r>
            <a:endParaRPr lang="en-US" altLang="zh-CN" sz="2400" b="1" dirty="0">
              <a:latin typeface="宋体" panose="02010600030101010101" pitchFamily="2" charset="-122"/>
              <a:ea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rPr>
              <a:t>是指在报纸、杂志上公布的权威预测，</a:t>
            </a:r>
            <a:endParaRPr lang="zh-CN" altLang="en-US" b="1" dirty="0">
              <a:latin typeface="宋体" panose="02010600030101010101" pitchFamily="2" charset="-122"/>
              <a:ea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rPr>
              <a:t>并在一定的时间和空间范围内，</a:t>
            </a:r>
            <a:endParaRPr lang="zh-CN" altLang="en-US" b="1" dirty="0">
              <a:latin typeface="宋体" panose="02010600030101010101" pitchFamily="2" charset="-122"/>
              <a:ea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rPr>
              <a:t>受人们欢迎的色彩。</a:t>
            </a:r>
            <a:endParaRPr lang="en-US" altLang="zh-CN" b="1" dirty="0">
              <a:latin typeface="宋体" panose="02010600030101010101" pitchFamily="2" charset="-122"/>
              <a:ea typeface="宋体" panose="02010600030101010101" pitchFamily="2" charset="-122"/>
            </a:endParaRPr>
          </a:p>
        </p:txBody>
      </p:sp>
      <p:pic>
        <p:nvPicPr>
          <p:cNvPr id="4" name="图片 3" descr="IMG_3635.JPG"/>
          <p:cNvPicPr>
            <a:picLocks noChangeAspect="1"/>
          </p:cNvPicPr>
          <p:nvPr/>
        </p:nvPicPr>
        <p:blipFill>
          <a:blip r:embed="rId1"/>
          <a:stretch>
            <a:fillRect/>
          </a:stretch>
        </p:blipFill>
        <p:spPr>
          <a:xfrm>
            <a:off x="7050405" y="1460500"/>
            <a:ext cx="3210560" cy="4653915"/>
          </a:xfrm>
          <a:prstGeom prst="rect">
            <a:avLst/>
          </a:prstGeom>
        </p:spPr>
      </p:pic>
      <p:grpSp>
        <p:nvGrpSpPr>
          <p:cNvPr id="7" name="组合 6"/>
          <p:cNvGrpSpPr/>
          <p:nvPr/>
        </p:nvGrpSpPr>
        <p:grpSpPr>
          <a:xfrm>
            <a:off x="0" y="-9525"/>
            <a:ext cx="1313180" cy="1544955"/>
            <a:chOff x="0" y="-15"/>
            <a:chExt cx="2068" cy="2433"/>
          </a:xfrm>
        </p:grpSpPr>
        <p:sp>
          <p:nvSpPr>
            <p:cNvPr id="5" name="任意多边形 4"/>
            <p:cNvSpPr/>
            <p:nvPr>
              <p:custDataLst>
                <p:tags r:id="rId2"/>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任意多边形 2"/>
            <p:cNvSpPr/>
            <p:nvPr>
              <p:custDataLst>
                <p:tags r:id="rId3"/>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4"/>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custDataLst>
                <p:tags r:id="rId5"/>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6"/>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7"/>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custDataLst>
              <p:tags r:id="rId8"/>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9"/>
            </p:custDataLst>
          </p:nvPr>
        </p:nvCxnSpPr>
        <p:spPr>
          <a:xfrm>
            <a:off x="755015" y="3535680"/>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10"/>
            </p:custDataLst>
          </p:nvPr>
        </p:nvSpPr>
        <p:spPr>
          <a:xfrm>
            <a:off x="648970" y="296037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IMG_3563.JPG"/>
          <p:cNvPicPr>
            <a:picLocks noChangeAspect="1"/>
          </p:cNvPicPr>
          <p:nvPr/>
        </p:nvPicPr>
        <p:blipFill>
          <a:blip r:embed="rId1"/>
          <a:stretch>
            <a:fillRect/>
          </a:stretch>
        </p:blipFill>
        <p:spPr>
          <a:xfrm>
            <a:off x="3248660" y="1270000"/>
            <a:ext cx="5694680" cy="5332730"/>
          </a:xfrm>
          <a:prstGeom prst="rect">
            <a:avLst/>
          </a:prstGeom>
        </p:spPr>
      </p:pic>
      <p:grpSp>
        <p:nvGrpSpPr>
          <p:cNvPr id="7" name="组合 6"/>
          <p:cNvGrpSpPr/>
          <p:nvPr/>
        </p:nvGrpSpPr>
        <p:grpSpPr>
          <a:xfrm>
            <a:off x="0" y="-9525"/>
            <a:ext cx="1313180" cy="1544955"/>
            <a:chOff x="0" y="-15"/>
            <a:chExt cx="2068" cy="2433"/>
          </a:xfrm>
        </p:grpSpPr>
        <p:sp>
          <p:nvSpPr>
            <p:cNvPr id="5" name="任意多边形 4"/>
            <p:cNvSpPr/>
            <p:nvPr>
              <p:custDataLst>
                <p:tags r:id="rId2"/>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任意多边形 3"/>
            <p:cNvSpPr/>
            <p:nvPr>
              <p:custDataLst>
                <p:tags r:id="rId3"/>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4"/>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 name="组合 1"/>
          <p:cNvGrpSpPr/>
          <p:nvPr/>
        </p:nvGrpSpPr>
        <p:grpSpPr>
          <a:xfrm rot="10800000">
            <a:off x="10878820" y="5329555"/>
            <a:ext cx="1313180" cy="1544955"/>
            <a:chOff x="0" y="-15"/>
            <a:chExt cx="2068" cy="2433"/>
          </a:xfrm>
        </p:grpSpPr>
        <p:sp>
          <p:nvSpPr>
            <p:cNvPr id="9" name="任意多边形 8"/>
            <p:cNvSpPr/>
            <p:nvPr>
              <p:custDataLst>
                <p:tags r:id="rId5"/>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6"/>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7"/>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custDataLst>
              <p:tags r:id="rId8"/>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custDataLst>
      <p:tags r:id="rId9"/>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IMG_3602.JPG"/>
          <p:cNvPicPr>
            <a:picLocks noChangeAspect="1"/>
          </p:cNvPicPr>
          <p:nvPr/>
        </p:nvPicPr>
        <p:blipFill>
          <a:blip r:embed="rId1"/>
          <a:stretch>
            <a:fillRect/>
          </a:stretch>
        </p:blipFill>
        <p:spPr>
          <a:xfrm>
            <a:off x="6986270" y="102235"/>
            <a:ext cx="3119120" cy="6653530"/>
          </a:xfrm>
          <a:prstGeom prst="rect">
            <a:avLst/>
          </a:prstGeom>
        </p:spPr>
      </p:pic>
      <p:sp>
        <p:nvSpPr>
          <p:cNvPr id="4" name="矩形 3"/>
          <p:cNvSpPr/>
          <p:nvPr/>
        </p:nvSpPr>
        <p:spPr>
          <a:xfrm>
            <a:off x="1363667" y="2030460"/>
            <a:ext cx="4572000" cy="4799965"/>
          </a:xfrm>
          <a:prstGeom prst="rect">
            <a:avLst/>
          </a:prstGeom>
        </p:spPr>
        <p:txBody>
          <a:bodyPr>
            <a:spAutoFit/>
          </a:bodyPr>
          <a:lstStyle/>
          <a:p>
            <a:pPr>
              <a:lnSpc>
                <a:spcPct val="150000"/>
              </a:lnSpc>
            </a:pPr>
            <a:r>
              <a:rPr lang="zh-CN" altLang="en-US" sz="2400" b="1" dirty="0">
                <a:latin typeface="宋体" panose="02010600030101010101" pitchFamily="2" charset="-122"/>
                <a:ea typeface="宋体" panose="02010600030101010101" pitchFamily="2" charset="-122"/>
                <a:cs typeface="宋体" panose="02010600030101010101" pitchFamily="2" charset="-122"/>
              </a:rPr>
              <a:t>某年春夏流行色</a:t>
            </a:r>
            <a:endParaRPr lang="en-US" altLang="zh-CN"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尼加拉蓝（</a:t>
            </a:r>
            <a:r>
              <a:rPr lang="en-US" altLang="zh-CN" b="1" dirty="0">
                <a:latin typeface="宋体" panose="02010600030101010101" pitchFamily="2" charset="-122"/>
                <a:ea typeface="宋体" panose="02010600030101010101" pitchFamily="2" charset="-122"/>
                <a:cs typeface="宋体" panose="02010600030101010101" pitchFamily="2" charset="-122"/>
              </a:rPr>
              <a:t>17-4123 </a:t>
            </a:r>
            <a:r>
              <a:rPr lang="en-US" b="1" dirty="0">
                <a:latin typeface="宋体" panose="02010600030101010101" pitchFamily="2" charset="-122"/>
                <a:ea typeface="宋体" panose="02010600030101010101" pitchFamily="2" charset="-122"/>
                <a:cs typeface="宋体" panose="02010600030101010101" pitchFamily="2" charset="-122"/>
              </a:rPr>
              <a:t>Niagara）</a:t>
            </a:r>
            <a:endParaRPr lang="en-US"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淡黄色（</a:t>
            </a:r>
            <a:r>
              <a:rPr lang="en-US" altLang="zh-CN" b="1" dirty="0">
                <a:latin typeface="宋体" panose="02010600030101010101" pitchFamily="2" charset="-122"/>
                <a:ea typeface="宋体" panose="02010600030101010101" pitchFamily="2" charset="-122"/>
                <a:cs typeface="宋体" panose="02010600030101010101" pitchFamily="2" charset="-122"/>
              </a:rPr>
              <a:t>13-0755 </a:t>
            </a:r>
            <a:r>
              <a:rPr lang="en-US" b="1" dirty="0">
                <a:latin typeface="宋体" panose="02010600030101010101" pitchFamily="2" charset="-122"/>
                <a:ea typeface="宋体" panose="02010600030101010101" pitchFamily="2" charset="-122"/>
                <a:cs typeface="宋体" panose="02010600030101010101" pitchFamily="2" charset="-122"/>
              </a:rPr>
              <a:t>Primrose Yellow）</a:t>
            </a:r>
            <a:endParaRPr lang="en-US"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青金石蓝（</a:t>
            </a:r>
            <a:r>
              <a:rPr lang="en-US" altLang="zh-CN" b="1" dirty="0">
                <a:latin typeface="宋体" panose="02010600030101010101" pitchFamily="2" charset="-122"/>
                <a:ea typeface="宋体" panose="02010600030101010101" pitchFamily="2" charset="-122"/>
                <a:cs typeface="宋体" panose="02010600030101010101" pitchFamily="2" charset="-122"/>
              </a:rPr>
              <a:t>19-4045 </a:t>
            </a:r>
            <a:r>
              <a:rPr lang="en-US" b="1" dirty="0">
                <a:latin typeface="宋体" panose="02010600030101010101" pitchFamily="2" charset="-122"/>
                <a:ea typeface="宋体" panose="02010600030101010101" pitchFamily="2" charset="-122"/>
                <a:cs typeface="宋体" panose="02010600030101010101" pitchFamily="2" charset="-122"/>
              </a:rPr>
              <a:t>Lapis Blue）</a:t>
            </a:r>
            <a:endParaRPr lang="en-US"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火焰红（</a:t>
            </a:r>
            <a:r>
              <a:rPr lang="en-US" altLang="zh-CN" b="1" dirty="0">
                <a:latin typeface="宋体" panose="02010600030101010101" pitchFamily="2" charset="-122"/>
                <a:ea typeface="宋体" panose="02010600030101010101" pitchFamily="2" charset="-122"/>
                <a:cs typeface="宋体" panose="02010600030101010101" pitchFamily="2" charset="-122"/>
              </a:rPr>
              <a:t>17-1462 </a:t>
            </a:r>
            <a:r>
              <a:rPr lang="en-US" b="1" dirty="0">
                <a:latin typeface="宋体" panose="02010600030101010101" pitchFamily="2" charset="-122"/>
                <a:ea typeface="宋体" panose="02010600030101010101" pitchFamily="2" charset="-122"/>
                <a:cs typeface="宋体" panose="02010600030101010101" pitchFamily="2" charset="-122"/>
              </a:rPr>
              <a:t>Flame）</a:t>
            </a:r>
            <a:endParaRPr lang="en-US"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岛屿蓝（</a:t>
            </a:r>
            <a:r>
              <a:rPr lang="en-US" altLang="zh-CN" b="1" dirty="0">
                <a:latin typeface="宋体" panose="02010600030101010101" pitchFamily="2" charset="-122"/>
                <a:ea typeface="宋体" panose="02010600030101010101" pitchFamily="2" charset="-122"/>
                <a:cs typeface="宋体" panose="02010600030101010101" pitchFamily="2" charset="-122"/>
              </a:rPr>
              <a:t>14-4620 </a:t>
            </a:r>
            <a:r>
              <a:rPr lang="en-US" b="1" dirty="0">
                <a:latin typeface="宋体" panose="02010600030101010101" pitchFamily="2" charset="-122"/>
                <a:ea typeface="宋体" panose="02010600030101010101" pitchFamily="2" charset="-122"/>
                <a:cs typeface="宋体" panose="02010600030101010101" pitchFamily="2" charset="-122"/>
              </a:rPr>
              <a:t>Island Paradise） </a:t>
            </a:r>
            <a:endParaRPr lang="en-US"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淡山茱萸粉（</a:t>
            </a:r>
            <a:r>
              <a:rPr lang="en-US" altLang="zh-CN" b="1" dirty="0">
                <a:latin typeface="宋体" panose="02010600030101010101" pitchFamily="2" charset="-122"/>
                <a:ea typeface="宋体" panose="02010600030101010101" pitchFamily="2" charset="-122"/>
                <a:cs typeface="宋体" panose="02010600030101010101" pitchFamily="2" charset="-122"/>
              </a:rPr>
              <a:t>13-1404 </a:t>
            </a:r>
            <a:r>
              <a:rPr lang="en-US" b="1" dirty="0">
                <a:latin typeface="宋体" panose="02010600030101010101" pitchFamily="2" charset="-122"/>
                <a:ea typeface="宋体" panose="02010600030101010101" pitchFamily="2" charset="-122"/>
                <a:cs typeface="宋体" panose="02010600030101010101" pitchFamily="2" charset="-122"/>
              </a:rPr>
              <a:t>Pale Dogwood）</a:t>
            </a:r>
            <a:endParaRPr lang="en-US"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草木绿（</a:t>
            </a:r>
            <a:r>
              <a:rPr lang="en-US" altLang="zh-CN" b="1" dirty="0">
                <a:latin typeface="宋体" panose="02010600030101010101" pitchFamily="2" charset="-122"/>
                <a:ea typeface="宋体" panose="02010600030101010101" pitchFamily="2" charset="-122"/>
                <a:cs typeface="宋体" panose="02010600030101010101" pitchFamily="2" charset="-122"/>
              </a:rPr>
              <a:t>15-0343 </a:t>
            </a:r>
            <a:r>
              <a:rPr lang="en-US" b="1" dirty="0">
                <a:latin typeface="宋体" panose="02010600030101010101" pitchFamily="2" charset="-122"/>
                <a:ea typeface="宋体" panose="02010600030101010101" pitchFamily="2" charset="-122"/>
                <a:cs typeface="宋体" panose="02010600030101010101" pitchFamily="2" charset="-122"/>
              </a:rPr>
              <a:t>Greenery）</a:t>
            </a:r>
            <a:endParaRPr lang="en-US"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欧蓍草粉（ </a:t>
            </a:r>
            <a:r>
              <a:rPr lang="en-US" altLang="zh-CN" b="1" dirty="0">
                <a:latin typeface="宋体" panose="02010600030101010101" pitchFamily="2" charset="-122"/>
                <a:ea typeface="宋体" panose="02010600030101010101" pitchFamily="2" charset="-122"/>
                <a:cs typeface="宋体" panose="02010600030101010101" pitchFamily="2" charset="-122"/>
              </a:rPr>
              <a:t>17-2034 </a:t>
            </a:r>
            <a:r>
              <a:rPr lang="en-US" b="1" dirty="0">
                <a:latin typeface="宋体" panose="02010600030101010101" pitchFamily="2" charset="-122"/>
                <a:ea typeface="宋体" panose="02010600030101010101" pitchFamily="2" charset="-122"/>
                <a:cs typeface="宋体" panose="02010600030101010101" pitchFamily="2" charset="-122"/>
              </a:rPr>
              <a:t>Pink Yarrow）</a:t>
            </a:r>
            <a:endParaRPr lang="en-US"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羽衣甘蓝绿（</a:t>
            </a:r>
            <a:r>
              <a:rPr lang="en-US" altLang="zh-CN" b="1" dirty="0">
                <a:latin typeface="宋体" panose="02010600030101010101" pitchFamily="2" charset="-122"/>
                <a:ea typeface="宋体" panose="02010600030101010101" pitchFamily="2" charset="-122"/>
                <a:cs typeface="宋体" panose="02010600030101010101" pitchFamily="2" charset="-122"/>
              </a:rPr>
              <a:t>18-0107 </a:t>
            </a:r>
            <a:r>
              <a:rPr lang="en-US" b="1" dirty="0">
                <a:latin typeface="宋体" panose="02010600030101010101" pitchFamily="2" charset="-122"/>
                <a:ea typeface="宋体" panose="02010600030101010101" pitchFamily="2" charset="-122"/>
                <a:cs typeface="宋体" panose="02010600030101010101" pitchFamily="2" charset="-122"/>
              </a:rPr>
              <a:t>Kale）</a:t>
            </a:r>
            <a:endParaRPr lang="en-US" b="1"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b="1" dirty="0">
                <a:latin typeface="宋体" panose="02010600030101010101" pitchFamily="2" charset="-122"/>
                <a:ea typeface="宋体" panose="02010600030101010101" pitchFamily="2" charset="-122"/>
                <a:cs typeface="宋体" panose="02010600030101010101" pitchFamily="2" charset="-122"/>
              </a:rPr>
              <a:t>榛果棕（</a:t>
            </a:r>
            <a:r>
              <a:rPr lang="en-US" altLang="zh-CN" b="1" dirty="0">
                <a:latin typeface="宋体" panose="02010600030101010101" pitchFamily="2" charset="-122"/>
                <a:ea typeface="宋体" panose="02010600030101010101" pitchFamily="2" charset="-122"/>
                <a:cs typeface="宋体" panose="02010600030101010101" pitchFamily="2" charset="-122"/>
              </a:rPr>
              <a:t>14-1315 </a:t>
            </a:r>
            <a:r>
              <a:rPr lang="en-US" b="1" dirty="0">
                <a:latin typeface="宋体" panose="02010600030101010101" pitchFamily="2" charset="-122"/>
                <a:ea typeface="宋体" panose="02010600030101010101" pitchFamily="2" charset="-122"/>
                <a:cs typeface="宋体" panose="02010600030101010101" pitchFamily="2" charset="-122"/>
              </a:rPr>
              <a:t>Hazelnut）</a:t>
            </a:r>
            <a:endParaRPr lang="en-US" b="1" dirty="0">
              <a:latin typeface="宋体" panose="02010600030101010101" pitchFamily="2" charset="-122"/>
              <a:ea typeface="宋体" panose="02010600030101010101" pitchFamily="2" charset="-122"/>
              <a:cs typeface="宋体" panose="02010600030101010101" pitchFamily="2" charset="-122"/>
            </a:endParaRPr>
          </a:p>
        </p:txBody>
      </p:sp>
      <p:grpSp>
        <p:nvGrpSpPr>
          <p:cNvPr id="7" name="组合 6"/>
          <p:cNvGrpSpPr/>
          <p:nvPr/>
        </p:nvGrpSpPr>
        <p:grpSpPr>
          <a:xfrm>
            <a:off x="0" y="-9525"/>
            <a:ext cx="1313180" cy="1544955"/>
            <a:chOff x="0" y="-15"/>
            <a:chExt cx="2068" cy="2433"/>
          </a:xfrm>
        </p:grpSpPr>
        <p:sp>
          <p:nvSpPr>
            <p:cNvPr id="5" name="任意多边形 4"/>
            <p:cNvSpPr/>
            <p:nvPr>
              <p:custDataLst>
                <p:tags r:id="rId2"/>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任意多边形 2"/>
            <p:cNvSpPr/>
            <p:nvPr>
              <p:custDataLst>
                <p:tags r:id="rId3"/>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直角三角形 5"/>
            <p:cNvSpPr/>
            <p:nvPr>
              <p:custDataLst>
                <p:tags r:id="rId4"/>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 name="组合 7"/>
          <p:cNvGrpSpPr/>
          <p:nvPr/>
        </p:nvGrpSpPr>
        <p:grpSpPr>
          <a:xfrm rot="10800000">
            <a:off x="10878820" y="5329555"/>
            <a:ext cx="1313180" cy="1544955"/>
            <a:chOff x="0" y="-15"/>
            <a:chExt cx="2068" cy="2433"/>
          </a:xfrm>
        </p:grpSpPr>
        <p:sp>
          <p:nvSpPr>
            <p:cNvPr id="9" name="任意多边形 8"/>
            <p:cNvSpPr/>
            <p:nvPr>
              <p:custDataLst>
                <p:tags r:id="rId5"/>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custDataLst>
                <p:tags r:id="rId6"/>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直角三角形 10"/>
            <p:cNvSpPr/>
            <p:nvPr>
              <p:custDataLst>
                <p:tags r:id="rId7"/>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4" name="直接连接符 13"/>
          <p:cNvCxnSpPr/>
          <p:nvPr>
            <p:custDataLst>
              <p:tags r:id="rId8"/>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9"/>
            </p:custDataLst>
          </p:nvPr>
        </p:nvCxnSpPr>
        <p:spPr>
          <a:xfrm>
            <a:off x="755015" y="2679065"/>
            <a:ext cx="627761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10"/>
            </p:custDataLst>
          </p:nvPr>
        </p:nvSpPr>
        <p:spPr>
          <a:xfrm>
            <a:off x="648970" y="2115820"/>
            <a:ext cx="575945" cy="575945"/>
          </a:xfrm>
          <a:prstGeom prst="rect">
            <a:avLst/>
          </a:prstGeom>
          <a:solidFill>
            <a:srgbClr val="C00000"/>
          </a:solidFill>
          <a:ln w="222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53956" y="500042"/>
            <a:ext cx="7572428" cy="5786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605825" y="468295"/>
            <a:ext cx="7215238" cy="5908040"/>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                          </a:t>
            </a:r>
            <a:endParaRPr lang="en-US" sz="2800" b="1" dirty="0">
              <a:latin typeface="Times New Roman" panose="02020603050405020304" pitchFamily="18" charset="0"/>
              <a:cs typeface="Times New Roman" panose="02020603050405020304" pitchFamily="18" charset="0"/>
            </a:endParaRPr>
          </a:p>
          <a:p>
            <a:pPr>
              <a:lnSpc>
                <a:spcPct val="150000"/>
              </a:lnSpc>
            </a:pPr>
            <a:endParaRPr lang="en-US" altLang="zh-CN" sz="1600" b="1" dirty="0">
              <a:solidFill>
                <a:schemeClr val="tx1">
                  <a:lumMod val="85000"/>
                  <a:lumOff val="15000"/>
                </a:schemeClr>
              </a:solidFill>
              <a:latin typeface="+mn-ea"/>
            </a:endParaRPr>
          </a:p>
          <a:p>
            <a:pPr>
              <a:lnSpc>
                <a:spcPct val="150000"/>
              </a:lnSpc>
            </a:pPr>
            <a:endParaRPr lang="en-US" altLang="zh-CN" sz="1600" b="1" dirty="0">
              <a:solidFill>
                <a:schemeClr val="tx1">
                  <a:lumMod val="85000"/>
                  <a:lumOff val="15000"/>
                </a:schemeClr>
              </a:solidFill>
              <a:cs typeface="+mn-lt"/>
            </a:endParaRPr>
          </a:p>
          <a:p>
            <a:pPr>
              <a:lnSpc>
                <a:spcPct val="150000"/>
              </a:lnSpc>
            </a:pPr>
            <a:endParaRPr lang="en-US" altLang="zh-CN" sz="1600" b="1" dirty="0">
              <a:solidFill>
                <a:schemeClr val="tx1">
                  <a:lumMod val="85000"/>
                  <a:lumOff val="15000"/>
                </a:schemeClr>
              </a:solidFill>
              <a:cs typeface="+mn-lt"/>
            </a:endParaRPr>
          </a:p>
          <a:p>
            <a:pPr>
              <a:lnSpc>
                <a:spcPct val="150000"/>
              </a:lnSpc>
            </a:pPr>
            <a:endParaRPr lang="en-US" altLang="zh-CN" sz="1600" b="1" dirty="0">
              <a:solidFill>
                <a:schemeClr val="tx1">
                  <a:lumMod val="85000"/>
                  <a:lumOff val="15000"/>
                </a:schemeClr>
              </a:solidFill>
              <a:cs typeface="+mn-lt"/>
            </a:endParaRPr>
          </a:p>
          <a:p>
            <a:pPr>
              <a:lnSpc>
                <a:spcPct val="150000"/>
              </a:lnSpc>
            </a:pPr>
            <a:endParaRPr lang="en-US" altLang="zh-CN" sz="1600" b="1" dirty="0">
              <a:solidFill>
                <a:schemeClr val="tx1">
                  <a:lumMod val="85000"/>
                  <a:lumOff val="15000"/>
                </a:schemeClr>
              </a:solidFill>
              <a:cs typeface="+mn-lt"/>
            </a:endParaRPr>
          </a:p>
          <a:p>
            <a:pPr indent="0" fontAlgn="auto">
              <a:lnSpc>
                <a:spcPct val="150000"/>
              </a:lnSpc>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1. </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陈彬</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服装设计基础</a:t>
            </a:r>
            <a:r>
              <a:rPr 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上海：东华大学出版社</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2. </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张星</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服装流行学</a:t>
            </a:r>
            <a:r>
              <a:rPr 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北京：中国纺织出版社</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3. </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郑彤</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罗锦婷</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服装设计创意方法与实践</a:t>
            </a:r>
            <a:r>
              <a:rPr 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上海：</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东华大学出版社</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4. </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王受之</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世界时装史</a:t>
            </a:r>
            <a:r>
              <a:rPr 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北京：</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中国青年出版社</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5. </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王晓威</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顶级品牌服装设计解读</a:t>
            </a:r>
            <a:r>
              <a:rPr 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上海：</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东华大学出版社</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6.  Fashion A History from the 18</a:t>
            </a:r>
            <a:r>
              <a:rPr lang="en-US" altLang="zh-CN" sz="1600" baseline="30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th</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to the 20</a:t>
            </a:r>
            <a:r>
              <a:rPr lang="en-US" altLang="zh-CN" sz="1600" baseline="30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th</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Century</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7.  Vogue collections(app)</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a:lnSpc>
                <a:spcPct val="150000"/>
              </a:lnSpc>
            </a:pPr>
            <a:endParaRPr lang="en-US" altLang="zh-CN" sz="1600" dirty="0">
              <a:solidFill>
                <a:schemeClr val="tx1">
                  <a:lumMod val="85000"/>
                  <a:lumOff val="15000"/>
                </a:schemeClr>
              </a:solidFill>
              <a:latin typeface="+mn-ea"/>
            </a:endParaRPr>
          </a:p>
          <a:p>
            <a:pPr>
              <a:lnSpc>
                <a:spcPct val="150000"/>
              </a:lnSpc>
            </a:pPr>
            <a:endParaRPr lang="zh-CN" altLang="en-US" sz="1600" dirty="0">
              <a:solidFill>
                <a:schemeClr val="tx1">
                  <a:lumMod val="85000"/>
                  <a:lumOff val="15000"/>
                </a:schemeClr>
              </a:solidFill>
            </a:endParaRPr>
          </a:p>
        </p:txBody>
      </p:sp>
      <p:grpSp>
        <p:nvGrpSpPr>
          <p:cNvPr id="3" name="组合 2"/>
          <p:cNvGrpSpPr/>
          <p:nvPr/>
        </p:nvGrpSpPr>
        <p:grpSpPr>
          <a:xfrm>
            <a:off x="0" y="-9525"/>
            <a:ext cx="1313180" cy="1544955"/>
            <a:chOff x="0" y="-15"/>
            <a:chExt cx="2068" cy="2433"/>
          </a:xfrm>
        </p:grpSpPr>
        <p:sp>
          <p:nvSpPr>
            <p:cNvPr id="4" name="任意多边形 3"/>
            <p:cNvSpPr/>
            <p:nvPr>
              <p:custDataLst>
                <p:tags r:id="rId1"/>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任意多边形 8"/>
            <p:cNvSpPr/>
            <p:nvPr>
              <p:custDataLst>
                <p:tags r:id="rId2"/>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直角三角形 9"/>
            <p:cNvSpPr/>
            <p:nvPr>
              <p:custDataLst>
                <p:tags r:id="rId3"/>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 name="组合 10"/>
          <p:cNvGrpSpPr/>
          <p:nvPr/>
        </p:nvGrpSpPr>
        <p:grpSpPr>
          <a:xfrm rot="10800000">
            <a:off x="10878820" y="5329555"/>
            <a:ext cx="1313180" cy="1544955"/>
            <a:chOff x="0" y="-15"/>
            <a:chExt cx="2068" cy="2433"/>
          </a:xfrm>
        </p:grpSpPr>
        <p:sp>
          <p:nvSpPr>
            <p:cNvPr id="12" name="任意多边形 11"/>
            <p:cNvSpPr/>
            <p:nvPr>
              <p:custDataLst>
                <p:tags r:id="rId4"/>
              </p:custDataLst>
            </p:nvPr>
          </p:nvSpPr>
          <p:spPr>
            <a:xfrm>
              <a:off x="14" y="413"/>
              <a:ext cx="2054" cy="1100"/>
            </a:xfrm>
            <a:custGeom>
              <a:avLst/>
              <a:gdLst>
                <a:gd name="connsiteX0" fmla="*/ 0 w 2084"/>
                <a:gd name="connsiteY0" fmla="*/ 1072 h 1086"/>
                <a:gd name="connsiteX1" fmla="*/ 1365 w 2084"/>
                <a:gd name="connsiteY1" fmla="*/ 0 h 1086"/>
                <a:gd name="connsiteX2" fmla="*/ 2084 w 2084"/>
                <a:gd name="connsiteY2" fmla="*/ 663 h 1086"/>
                <a:gd name="connsiteX3" fmla="*/ 1944 w 2084"/>
                <a:gd name="connsiteY3" fmla="*/ 1086 h 1086"/>
                <a:gd name="connsiteX4" fmla="*/ 0 w 2084"/>
                <a:gd name="connsiteY4" fmla="*/ 1072 h 1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4" h="1086">
                  <a:moveTo>
                    <a:pt x="0" y="1072"/>
                  </a:moveTo>
                  <a:lnTo>
                    <a:pt x="1365" y="0"/>
                  </a:lnTo>
                  <a:lnTo>
                    <a:pt x="2084" y="663"/>
                  </a:lnTo>
                  <a:lnTo>
                    <a:pt x="1944" y="1086"/>
                  </a:lnTo>
                  <a:lnTo>
                    <a:pt x="0" y="1072"/>
                  </a:lnTo>
                  <a:close/>
                </a:path>
              </a:pathLst>
            </a:custGeom>
            <a:solidFill>
              <a:srgbClr val="8C00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任意多边形 12"/>
            <p:cNvSpPr/>
            <p:nvPr>
              <p:custDataLst>
                <p:tags r:id="rId5"/>
              </p:custDataLst>
            </p:nvPr>
          </p:nvSpPr>
          <p:spPr>
            <a:xfrm flipV="1">
              <a:off x="873" y="-15"/>
              <a:ext cx="1195" cy="1107"/>
            </a:xfrm>
            <a:custGeom>
              <a:avLst/>
              <a:gdLst>
                <a:gd name="connsiteX0" fmla="*/ 0 w 1343"/>
                <a:gd name="connsiteY0" fmla="*/ 1228 h 1228"/>
                <a:gd name="connsiteX1" fmla="*/ 1343 w 1343"/>
                <a:gd name="connsiteY1" fmla="*/ 0 h 1228"/>
                <a:gd name="connsiteX2" fmla="*/ 1011 w 1343"/>
                <a:gd name="connsiteY2" fmla="*/ 1228 h 1228"/>
                <a:gd name="connsiteX3" fmla="*/ 0 w 1343"/>
                <a:gd name="connsiteY3" fmla="*/ 1228 h 1228"/>
              </a:gdLst>
              <a:ahLst/>
              <a:cxnLst>
                <a:cxn ang="0">
                  <a:pos x="connsiteX0" y="connsiteY0"/>
                </a:cxn>
                <a:cxn ang="0">
                  <a:pos x="connsiteX1" y="connsiteY1"/>
                </a:cxn>
                <a:cxn ang="0">
                  <a:pos x="connsiteX2" y="connsiteY2"/>
                </a:cxn>
                <a:cxn ang="0">
                  <a:pos x="connsiteX3" y="connsiteY3"/>
                </a:cxn>
              </a:cxnLst>
              <a:rect l="l" t="t" r="r" b="b"/>
              <a:pathLst>
                <a:path w="1343" h="1228">
                  <a:moveTo>
                    <a:pt x="0" y="1228"/>
                  </a:moveTo>
                  <a:lnTo>
                    <a:pt x="1343" y="0"/>
                  </a:lnTo>
                  <a:lnTo>
                    <a:pt x="1011" y="1228"/>
                  </a:lnTo>
                  <a:lnTo>
                    <a:pt x="0" y="1228"/>
                  </a:lnTo>
                  <a:close/>
                </a:path>
              </a:pathLst>
            </a:cu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直角三角形 13"/>
            <p:cNvSpPr/>
            <p:nvPr>
              <p:custDataLst>
                <p:tags r:id="rId6"/>
              </p:custDataLst>
            </p:nvPr>
          </p:nvSpPr>
          <p:spPr>
            <a:xfrm flipV="1">
              <a:off x="0" y="1498"/>
              <a:ext cx="558" cy="921"/>
            </a:xfrm>
            <a:prstGeom prst="rtTriangle">
              <a:avLst/>
            </a:prstGeom>
            <a:solidFill>
              <a:srgbClr val="DE1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5" name="直接连接符 14"/>
          <p:cNvCxnSpPr/>
          <p:nvPr>
            <p:custDataLst>
              <p:tags r:id="rId7"/>
            </p:custDataLst>
          </p:nvPr>
        </p:nvCxnSpPr>
        <p:spPr>
          <a:xfrm>
            <a:off x="5803265" y="1545590"/>
            <a:ext cx="584200" cy="0"/>
          </a:xfrm>
          <a:prstGeom prst="line">
            <a:avLst/>
          </a:prstGeom>
          <a:ln w="349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任意多边形 15"/>
          <p:cNvSpPr/>
          <p:nvPr>
            <p:custDataLst>
              <p:tags r:id="rId8"/>
            </p:custDataLst>
          </p:nvPr>
        </p:nvSpPr>
        <p:spPr>
          <a:xfrm>
            <a:off x="724535" y="2441575"/>
            <a:ext cx="10743565" cy="3815715"/>
          </a:xfrm>
          <a:custGeom>
            <a:avLst/>
            <a:gdLst>
              <a:gd name="connsiteX0" fmla="*/ 11206 w 16919"/>
              <a:gd name="connsiteY0" fmla="*/ 4 h 6084"/>
              <a:gd name="connsiteX1" fmla="*/ 16919 w 16919"/>
              <a:gd name="connsiteY1" fmla="*/ 0 h 6084"/>
              <a:gd name="connsiteX2" fmla="*/ 16919 w 16919"/>
              <a:gd name="connsiteY2" fmla="*/ 6084 h 6084"/>
              <a:gd name="connsiteX3" fmla="*/ 0 w 16919"/>
              <a:gd name="connsiteY3" fmla="*/ 6084 h 6084"/>
              <a:gd name="connsiteX4" fmla="*/ 0 w 16919"/>
              <a:gd name="connsiteY4" fmla="*/ 0 h 6084"/>
              <a:gd name="connsiteX5" fmla="*/ 5711 w 16919"/>
              <a:gd name="connsiteY5" fmla="*/ 4 h 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19" h="6084">
                <a:moveTo>
                  <a:pt x="11206" y="4"/>
                </a:moveTo>
                <a:lnTo>
                  <a:pt x="16919" y="0"/>
                </a:lnTo>
                <a:lnTo>
                  <a:pt x="16919" y="6084"/>
                </a:lnTo>
                <a:lnTo>
                  <a:pt x="0" y="6084"/>
                </a:lnTo>
                <a:lnTo>
                  <a:pt x="0" y="0"/>
                </a:lnTo>
                <a:lnTo>
                  <a:pt x="5711" y="4"/>
                </a:lnTo>
              </a:path>
            </a:pathLst>
          </a:custGeom>
          <a:noFill/>
          <a:ln w="9525">
            <a:solidFill>
              <a:schemeClr val="tx1">
                <a:lumMod val="50000"/>
                <a:lumOff val="50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custDataLst>
              <p:tags r:id="rId9"/>
            </p:custDataLst>
          </p:nvPr>
        </p:nvSpPr>
        <p:spPr>
          <a:xfrm>
            <a:off x="5322253" y="500380"/>
            <a:ext cx="2093595" cy="460375"/>
          </a:xfrm>
          <a:prstGeom prst="rect">
            <a:avLst/>
          </a:prstGeom>
          <a:noFill/>
        </p:spPr>
        <p:txBody>
          <a:bodyPr wrap="square" rtlCol="0" anchor="t">
            <a:spAutoFit/>
          </a:bodyPr>
          <a:p>
            <a:r>
              <a:rPr lang="zh-CN" altLang="en-US" sz="2400">
                <a:latin typeface="思源黑体 CN Medium" panose="020B0600000000000000" charset="-122"/>
                <a:ea typeface="思源黑体 CN Medium" panose="020B0600000000000000" charset="-122"/>
                <a:sym typeface="+mn-ea"/>
              </a:rPr>
              <a:t>参考文献</a:t>
            </a:r>
            <a:endParaRPr lang="zh-CN" altLang="en-US" sz="2400">
              <a:latin typeface="思源黑体 CN Medium" panose="020B0600000000000000" charset="-122"/>
              <a:ea typeface="思源黑体 CN Medium" panose="020B0600000000000000" charset="-122"/>
            </a:endParaRPr>
          </a:p>
        </p:txBody>
      </p:sp>
    </p:spTree>
    <p:custDataLst>
      <p:tags r:id="rId10"/>
    </p:custDataLst>
  </p:cSld>
  <p:clrMapOvr>
    <a:masterClrMapping/>
  </p:clrMapOvr>
  <p:timing>
    <p:tnLst>
      <p:par>
        <p:cTn id="1" dur="indefinite" restart="never" nodeType="tmRoot"/>
      </p:par>
    </p:tnLst>
    <p:bldLst>
      <p:bldP spid="18" grpId="0"/>
      <p:bldP spid="18" grpId="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PECIAL_SOURCE" val="bdnul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SPECIAL_SOURCE" val="bdnul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SPECIAL_SOURCE" val="bdnul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SPECIAL_SOURCE" val="bdnull"/>
</p:tagLst>
</file>

<file path=ppt/tags/tag9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SPECIAL_SOURCE" val="bdnul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SPECIAL_SOURCE" val="bdnul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SPECIAL_SOURCE" val="bdnul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SPECIAL_SOURCE" val="bdnul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SPECIAL_SOURCE" val="bdnul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SPECIAL_SOURCE" val="bdnul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SPECIAL_SOURCE" val="bdnul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SPECIAL_SOURCE" val="bdnul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SPECIAL_SOURCE" val="bdnul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SPECIAL_SOURCE" val="bdnul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SPECIAL_SOURCE" val="bdnul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SPECIAL_SOURCE" val="bdnul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SPECIAL_SOURCE" val="bdnull"/>
</p:tagLst>
</file>

<file path=ppt/tags/tag237.xml><?xml version="1.0" encoding="utf-8"?>
<p:tagLst xmlns:p="http://schemas.openxmlformats.org/presentationml/2006/main">
  <p:tag name="KSO_WPP_MARK_KEY" val="5ba3af92-c907-4576-a3cb-e80851849453"/>
  <p:tag name="COMMONDATA" val="eyJoZGlkIjoiN2FlYWQ0NDk0NzY3ZWUyM2U3Y2FjYjg4ZmQxZTUwNWEifQ=="/>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1266</Words>
  <Application>WPS 演示</Application>
  <PresentationFormat>宽屏</PresentationFormat>
  <Paragraphs>183</Paragraphs>
  <Slides>19</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宋体</vt:lpstr>
      <vt:lpstr>Wingdings</vt:lpstr>
      <vt:lpstr>Wingdings</vt:lpstr>
      <vt:lpstr>思源黑体 CN Bold</vt:lpstr>
      <vt:lpstr>黑体</vt:lpstr>
      <vt:lpstr>思源黑体 CN Medium</vt:lpstr>
      <vt:lpstr>Times New Roman</vt:lpstr>
      <vt:lpstr>微软雅黑</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米洛可</cp:lastModifiedBy>
  <cp:revision>204</cp:revision>
  <dcterms:created xsi:type="dcterms:W3CDTF">2019-06-19T02:08:00Z</dcterms:created>
  <dcterms:modified xsi:type="dcterms:W3CDTF">2024-12-25T02:59:17Z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2052-11.1.0.10943</vt:lpwstr>
  </property>
  <property fmtid="{D5CDD505-2E9C-101B-9397-08002B2CF9AE}" pid="3" name="ICV">
    <vt:lpwstr>4BD0F0DA581B4CB1A7DDD42B87368000_11</vt:lpwstr>
  </property>
</Properties>
</file>