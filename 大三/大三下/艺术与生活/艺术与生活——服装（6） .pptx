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0" r:id="rId3"/>
    <p:sldId id="321" r:id="rId5"/>
    <p:sldId id="284" r:id="rId6"/>
    <p:sldId id="344" r:id="rId7"/>
    <p:sldId id="286" r:id="rId8"/>
    <p:sldId id="285" r:id="rId9"/>
    <p:sldId id="288" r:id="rId10"/>
    <p:sldId id="356" r:id="rId11"/>
    <p:sldId id="349" r:id="rId12"/>
    <p:sldId id="304" r:id="rId13"/>
    <p:sldId id="345" r:id="rId14"/>
    <p:sldId id="305" r:id="rId15"/>
    <p:sldId id="348" r:id="rId16"/>
    <p:sldId id="346" r:id="rId17"/>
    <p:sldId id="351" r:id="rId18"/>
    <p:sldId id="291" r:id="rId19"/>
    <p:sldId id="292" r:id="rId20"/>
    <p:sldId id="355" r:id="rId21"/>
    <p:sldId id="347" r:id="rId22"/>
    <p:sldId id="352" r:id="rId23"/>
    <p:sldId id="353" r:id="rId24"/>
    <p:sldId id="354" r:id="rId25"/>
    <p:sldId id="343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258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4.jpeg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.jpeg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2.jpeg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15.jpe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6.jpeg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image" Target="../media/image17.jpeg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9.xml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7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image" Target="../media/image22.jpe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8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3.xml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07.xml"/><Relationship Id="rId14" Type="http://schemas.openxmlformats.org/officeDocument/2006/relationships/image" Target="../media/image24.jpeg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5.jpeg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0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6.jpeg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tags" Target="../tags/tag22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7.jpeg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57.xml"/><Relationship Id="rId1" Type="http://schemas.openxmlformats.org/officeDocument/2006/relationships/tags" Target="../tags/tag2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D:\图片\面料肌理\IMG_3898.JPGIMG_389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17" y="-635"/>
            <a:ext cx="5068570" cy="68802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3346450" y="-635"/>
            <a:ext cx="2824480" cy="6879590"/>
            <a:chOff x="5270" y="-1"/>
            <a:chExt cx="4448" cy="10834"/>
          </a:xfrm>
        </p:grpSpPr>
        <p:sp>
          <p:nvSpPr>
            <p:cNvPr id="38" name="任意多边形 37"/>
            <p:cNvSpPr/>
            <p:nvPr/>
          </p:nvSpPr>
          <p:spPr>
            <a:xfrm>
              <a:off x="6324" y="5939"/>
              <a:ext cx="3394" cy="4895"/>
            </a:xfrm>
            <a:custGeom>
              <a:avLst/>
              <a:gdLst>
                <a:gd name="connsiteX0" fmla="*/ 3394 w 3394"/>
                <a:gd name="connsiteY0" fmla="*/ 4870 h 4895"/>
                <a:gd name="connsiteX1" fmla="*/ 1492 w 3394"/>
                <a:gd name="connsiteY1" fmla="*/ 4895 h 4895"/>
                <a:gd name="connsiteX2" fmla="*/ 823 w 3394"/>
                <a:gd name="connsiteY2" fmla="*/ 2994 h 4895"/>
                <a:gd name="connsiteX3" fmla="*/ 450 w 3394"/>
                <a:gd name="connsiteY3" fmla="*/ 1916 h 4895"/>
                <a:gd name="connsiteX4" fmla="*/ 0 w 3394"/>
                <a:gd name="connsiteY4" fmla="*/ 509 h 4895"/>
                <a:gd name="connsiteX5" fmla="*/ 1723 w 3394"/>
                <a:gd name="connsiteY5" fmla="*/ 0 h 4895"/>
                <a:gd name="connsiteX6" fmla="*/ 2960 w 3394"/>
                <a:gd name="connsiteY6" fmla="*/ 3587 h 4895"/>
                <a:gd name="connsiteX7" fmla="*/ 3394 w 3394"/>
                <a:gd name="connsiteY7" fmla="*/ 4870 h 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" h="4895">
                  <a:moveTo>
                    <a:pt x="3394" y="4870"/>
                  </a:moveTo>
                  <a:lnTo>
                    <a:pt x="1492" y="4895"/>
                  </a:lnTo>
                  <a:lnTo>
                    <a:pt x="823" y="2994"/>
                  </a:lnTo>
                  <a:lnTo>
                    <a:pt x="450" y="1916"/>
                  </a:lnTo>
                  <a:lnTo>
                    <a:pt x="0" y="509"/>
                  </a:lnTo>
                  <a:lnTo>
                    <a:pt x="1723" y="0"/>
                  </a:lnTo>
                  <a:lnTo>
                    <a:pt x="2960" y="3587"/>
                  </a:lnTo>
                  <a:lnTo>
                    <a:pt x="3394" y="4870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V="1">
              <a:off x="6310" y="2319"/>
              <a:ext cx="3096" cy="6697"/>
            </a:xfrm>
            <a:custGeom>
              <a:avLst/>
              <a:gdLst>
                <a:gd name="connsiteX0" fmla="*/ 1419 w 3096"/>
                <a:gd name="connsiteY0" fmla="*/ 6697 h 6697"/>
                <a:gd name="connsiteX1" fmla="*/ 0 w 3096"/>
                <a:gd name="connsiteY1" fmla="*/ 2570 h 6697"/>
                <a:gd name="connsiteX2" fmla="*/ 848 w 3096"/>
                <a:gd name="connsiteY2" fmla="*/ 0 h 6697"/>
                <a:gd name="connsiteX3" fmla="*/ 2046 w 3096"/>
                <a:gd name="connsiteY3" fmla="*/ 2726 h 6697"/>
                <a:gd name="connsiteX4" fmla="*/ 3096 w 3096"/>
                <a:gd name="connsiteY4" fmla="*/ 5102 h 6697"/>
                <a:gd name="connsiteX5" fmla="*/ 1419 w 3096"/>
                <a:gd name="connsiteY5" fmla="*/ 6697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6" h="6697">
                  <a:moveTo>
                    <a:pt x="1419" y="6697"/>
                  </a:moveTo>
                  <a:lnTo>
                    <a:pt x="0" y="2570"/>
                  </a:lnTo>
                  <a:lnTo>
                    <a:pt x="848" y="0"/>
                  </a:lnTo>
                  <a:lnTo>
                    <a:pt x="2046" y="2726"/>
                  </a:lnTo>
                  <a:lnTo>
                    <a:pt x="3096" y="5102"/>
                  </a:lnTo>
                  <a:lnTo>
                    <a:pt x="1419" y="6697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flipV="1">
              <a:off x="5270" y="-1"/>
              <a:ext cx="4136" cy="3915"/>
            </a:xfrm>
            <a:custGeom>
              <a:avLst/>
              <a:gdLst>
                <a:gd name="connsiteX0" fmla="*/ 0 w 4311"/>
                <a:gd name="connsiteY0" fmla="*/ 4079 h 4079"/>
                <a:gd name="connsiteX1" fmla="*/ 4311 w 4311"/>
                <a:gd name="connsiteY1" fmla="*/ 0 h 4079"/>
                <a:gd name="connsiteX2" fmla="*/ 2921 w 4311"/>
                <a:gd name="connsiteY2" fmla="*/ 4079 h 4079"/>
                <a:gd name="connsiteX3" fmla="*/ 0 w 4311"/>
                <a:gd name="connsiteY3" fmla="*/ 4079 h 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1" h="4079">
                  <a:moveTo>
                    <a:pt x="0" y="4079"/>
                  </a:moveTo>
                  <a:lnTo>
                    <a:pt x="4311" y="0"/>
                  </a:lnTo>
                  <a:lnTo>
                    <a:pt x="2921" y="4079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600190" y="2485390"/>
            <a:ext cx="5041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艺术与</a:t>
            </a:r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生活</a:t>
            </a:r>
            <a:endParaRPr lang="zh-CN" altLang="en-US" sz="40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23555" y="3705225"/>
            <a:ext cx="3319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>
              <a:buNone/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-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979535" y="4848225"/>
            <a:ext cx="2186940" cy="370840"/>
          </a:xfrm>
          <a:prstGeom prst="roundRect">
            <a:avLst>
              <a:gd name="adj" fmla="val 50000"/>
            </a:avLst>
          </a:prstGeom>
          <a:solidFill>
            <a:srgbClr val="DE1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32313539373837383b32313539373836383bb5b3d4b1c8d5d6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775" y="4909820"/>
            <a:ext cx="247650" cy="2476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785350" y="485076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齐</a:t>
            </a:r>
            <a:r>
              <a:rPr lang="en-US" altLang="zh-CN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冀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时尚流行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7023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服装流行样式的具体表现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09900" y="5426710"/>
            <a:ext cx="39789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服装流行的传播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燕尾形 23"/>
          <p:cNvSpPr/>
          <p:nvPr/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617220" y="2306955"/>
            <a:ext cx="8570595" cy="20364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3188" y="1714500"/>
            <a:ext cx="5500687" cy="45259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9296" y="2866409"/>
            <a:ext cx="6929486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黑体" panose="02010609060101010101" charset="-122"/>
              </a:rPr>
              <a:t>             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请思考时尚流行是否等于时装？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536670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268730" y="30892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思考：</a:t>
            </a:r>
            <a:endParaRPr lang="zh-CN" altLang="en-US" sz="24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26" name="图片 25" descr="D:\图片\IMG_6110.JPGIMG_61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9118600" y="2306955"/>
            <a:ext cx="1999615" cy="20364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38" h="3206">
                <a:moveTo>
                  <a:pt x="0" y="0"/>
                </a:moveTo>
                <a:lnTo>
                  <a:pt x="3838" y="0"/>
                </a:lnTo>
                <a:lnTo>
                  <a:pt x="3838" y="3206"/>
                </a:lnTo>
                <a:lnTo>
                  <a:pt x="0" y="320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5" name="组合 4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3" name="任意多边形 12"/>
            <p:cNvSpPr/>
            <p:nvPr>
              <p:custDataLst>
                <p:tags r:id="rId9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0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>
              <p:custDataLst>
                <p:tags r:id="rId11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IMG_3440.JPGIMG_344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8656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36448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时尚并不只是一件衣服那么简单，时尚存在于空气中，诞生于风里。一个人可以凭直觉感知它，它就在你头顶的天空中，它就在你每天行进道路上。”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                ——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夏奈尔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3188" y="1714500"/>
            <a:ext cx="5500687" cy="45259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524101" y="2000240"/>
            <a:ext cx="4000528" cy="3929067"/>
          </a:xfrm>
          <a:prstGeom prst="roundRect">
            <a:avLst/>
          </a:prstGeom>
          <a:solidFill>
            <a:srgbClr val="8EB4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时尚流行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881554" y="2428868"/>
            <a:ext cx="1214437" cy="785812"/>
          </a:xfrm>
          <a:prstGeom prst="roundRect">
            <a:avLst/>
          </a:prstGeom>
          <a:solidFill>
            <a:srgbClr val="8EB4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时装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81554" y="3357562"/>
            <a:ext cx="1214437" cy="714375"/>
          </a:xfrm>
          <a:prstGeom prst="roundRect">
            <a:avLst/>
          </a:prstGeom>
          <a:solidFill>
            <a:srgbClr val="8EB4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日常用品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881554" y="4214818"/>
            <a:ext cx="1428760" cy="714375"/>
          </a:xfrm>
          <a:prstGeom prst="roundRect">
            <a:avLst/>
          </a:prstGeom>
          <a:solidFill>
            <a:srgbClr val="8EB4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小电子产品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881818" y="3500438"/>
            <a:ext cx="1214437" cy="857250"/>
          </a:xfrm>
          <a:prstGeom prst="roundRect">
            <a:avLst/>
          </a:prstGeom>
          <a:solidFill>
            <a:srgbClr val="8EB4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生活方式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730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时尚流行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7" name="任意多边形 16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直角三角形 18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9" grpId="0" bldLvl="0" animBg="1"/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3188" y="1714500"/>
            <a:ext cx="5500687" cy="45259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8875" y="3000375"/>
            <a:ext cx="5156835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时尚流行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就是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一段时间内群体的喜爱偏好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具体说，就是在一定的历史时期，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一定数量范围的人，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受某种意识的驱使，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以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模仿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为媒介而普遍采取某种生活行动、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生活方式或观念意识时所形成的社会现象。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" name="图片 6" descr="IMG_2542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963844" y="0"/>
            <a:ext cx="2381251" cy="3571876"/>
          </a:xfrm>
          <a:prstGeom prst="parallelogram">
            <a:avLst/>
          </a:prstGeom>
        </p:spPr>
      </p:pic>
      <p:cxnSp>
        <p:nvCxnSpPr>
          <p:cNvPr id="9" name="直接连接符 8"/>
          <p:cNvCxnSpPr/>
          <p:nvPr/>
        </p:nvCxnSpPr>
        <p:spPr>
          <a:xfrm rot="5400000">
            <a:off x="2740811" y="4536277"/>
            <a:ext cx="4000504" cy="642942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IMG_1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39" y="1285860"/>
            <a:ext cx="2857520" cy="4286280"/>
          </a:xfrm>
          <a:prstGeom prst="parallelogram">
            <a:avLst/>
          </a:prstGeom>
        </p:spPr>
      </p:pic>
      <p:pic>
        <p:nvPicPr>
          <p:cNvPr id="16" name="图片 15" descr="IMG_126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14553" y="3695319"/>
            <a:ext cx="2428892" cy="3662771"/>
          </a:xfrm>
          <a:prstGeom prst="parallelogram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3730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时尚流行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53322" y="2928934"/>
            <a:ext cx="3000364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时装流行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的概念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指的是服装的文化倾向，通过具体服装款式的普及、风行一时而形成潮流。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这种流行倾向一旦确定，就会在一定的范围内被较多的人所接受。</a:t>
            </a:r>
            <a:endParaRPr lang="zh-CN" altLang="en-US" b="1" dirty="0">
              <a:latin typeface="+mn-ea"/>
            </a:endParaRPr>
          </a:p>
        </p:txBody>
      </p:sp>
      <p:pic>
        <p:nvPicPr>
          <p:cNvPr id="17" name="图片 16" descr="IMG_13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28" y="0"/>
            <a:ext cx="4850071" cy="6858000"/>
          </a:xfrm>
          <a:prstGeom prst="parallelogram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IMG_3578.JPGIMG_357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86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8660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364480" cy="2076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经典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一时流行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周期循环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299847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经典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一种时装风貌，流行的时间比预期要长，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零售商们一季接一季地销售，从没有真正消失过。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经典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5" name="图片 4" descr="IMG_396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3260" y="1550670"/>
            <a:ext cx="3411855" cy="4563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2642870"/>
            <a:ext cx="506857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夏奈尔设计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于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1926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年的小黑裙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The Little black dress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（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LBD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）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Calibri" panose="020F0502020204030204" charset="0"/>
              </a:rPr>
              <a:t>被誉为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Calibri" panose="020F0502020204030204" charset="0"/>
              </a:rPr>
              <a:t>20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世纪时装设计最成功之一，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并被美国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VOGUE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Calibri" panose="020F0502020204030204" charset="0"/>
              </a:rPr>
              <a:t>《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时尚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Calibri" panose="020F0502020204030204" charset="0"/>
              </a:rPr>
              <a:t>》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杂志评价为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“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Ford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裙”。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18" name="图片 17" descr="IMG_3502.JP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032625" y="1564005"/>
            <a:ext cx="3271520" cy="4550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" descr="20090708031218136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020560" y="1560195"/>
            <a:ext cx="3416300" cy="455422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1327150" y="264287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Breakfast at Tiffany's (1961)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  <a:sym typeface="Calibri" panose="020F0502020204030204" charset="0"/>
              </a:rPr>
              <a:t>蒂凡尼的早餐 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  <a:sym typeface="Calibri" panose="020F0502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由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纪梵希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设计的小黑裙，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被称为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继夏奈尔之后小黑裙又一丰碑。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经典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2945.JPG"/>
          <p:cNvPicPr>
            <a:picLocks noChangeAspect="1"/>
          </p:cNvPicPr>
          <p:nvPr/>
        </p:nvPicPr>
        <p:blipFill>
          <a:blip r:embed="rId1" cstate="print"/>
          <a:srcRect r="4039" b="51042"/>
          <a:stretch>
            <a:fillRect/>
          </a:stretch>
        </p:blipFill>
        <p:spPr>
          <a:xfrm>
            <a:off x="7463155" y="537210"/>
            <a:ext cx="1733550" cy="5577205"/>
          </a:xfrm>
          <a:prstGeom prst="rect">
            <a:avLst/>
          </a:prstGeom>
        </p:spPr>
      </p:pic>
      <p:pic>
        <p:nvPicPr>
          <p:cNvPr id="3" name="图片 2" descr="IMG_2945.JPG"/>
          <p:cNvPicPr>
            <a:picLocks noChangeAspect="1"/>
          </p:cNvPicPr>
          <p:nvPr/>
        </p:nvPicPr>
        <p:blipFill>
          <a:blip r:embed="rId2" cstate="print"/>
          <a:srcRect t="48958" r="1513" b="532"/>
          <a:stretch>
            <a:fillRect/>
          </a:stretch>
        </p:blipFill>
        <p:spPr>
          <a:xfrm>
            <a:off x="9329420" y="494665"/>
            <a:ext cx="1737995" cy="561975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经典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1327150" y="3017520"/>
            <a:ext cx="37230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小黑裙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The Little black dress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（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charset="0"/>
              </a:rPr>
              <a:t>LBD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宋体" panose="02010600030101010101" pitchFamily="2" charset="-122"/>
              </a:rPr>
              <a:t>）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14" grpId="0"/>
      <p:bldP spid="14" grpId="1"/>
      <p:bldP spid="22" grpId="0"/>
      <p:bldP spid="2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17520"/>
            <a:ext cx="5068570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一时流行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一时之间非常能够引人注目，但是很快被遗忘。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生命周期短。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一时流行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6" name="图片 5" descr="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1990" y="2241550"/>
            <a:ext cx="3872865" cy="3872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19" grpId="0"/>
      <p:bldP spid="1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时尚流行的种类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1752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周期循环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利用时装的设计元素（如颜色、面料或款式）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,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提供新的流行产品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,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保持活力和最大化生命周期。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5" name="图片 4" descr="94c52886a7af57acba2a85a3192d6e2a.jp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033260" y="1560195"/>
            <a:ext cx="2921635" cy="455422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周期循环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19" grpId="0"/>
      <p:bldP spid="1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113.JPGIMG_31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86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694305"/>
            <a:ext cx="44030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样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式的具体表现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3644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sym typeface="+mn-ea"/>
              </a:rPr>
              <a:t>1.</a:t>
            </a:r>
            <a:r>
              <a:rPr lang="zh-CN" altLang="en-US" b="1" dirty="0">
                <a:latin typeface="+mn-ea"/>
                <a:sym typeface="+mn-ea"/>
              </a:rPr>
              <a:t>服装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+mn-ea"/>
              </a:rPr>
              <a:t>款式</a:t>
            </a:r>
            <a:r>
              <a:rPr lang="zh-CN" altLang="en-US" b="1" dirty="0">
                <a:latin typeface="+mn-ea"/>
                <a:sym typeface="+mn-ea"/>
              </a:rPr>
              <a:t>的流行倾向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sym typeface="+mn-ea"/>
              </a:rPr>
              <a:t>2.</a:t>
            </a:r>
            <a:r>
              <a:rPr lang="zh-CN" altLang="en-US" b="1" dirty="0">
                <a:latin typeface="+mn-ea"/>
                <a:sym typeface="+mn-ea"/>
              </a:rPr>
              <a:t>服装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+mn-ea"/>
              </a:rPr>
              <a:t>面料</a:t>
            </a:r>
            <a:r>
              <a:rPr lang="zh-CN" altLang="en-US" b="1" dirty="0">
                <a:latin typeface="+mn-ea"/>
                <a:sym typeface="+mn-ea"/>
              </a:rPr>
              <a:t>的流行倾向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sym typeface="+mn-ea"/>
              </a:rPr>
              <a:t>3.</a:t>
            </a:r>
            <a:r>
              <a:rPr lang="zh-CN" altLang="en-US" b="1" dirty="0">
                <a:latin typeface="+mn-ea"/>
                <a:sym typeface="+mn-ea"/>
              </a:rPr>
              <a:t>服装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+mn-ea"/>
              </a:rPr>
              <a:t>色彩</a:t>
            </a:r>
            <a:r>
              <a:rPr lang="zh-CN" altLang="en-US" b="1" dirty="0">
                <a:latin typeface="+mn-ea"/>
                <a:sym typeface="+mn-ea"/>
              </a:rPr>
              <a:t>的流行倾向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sym typeface="+mn-ea"/>
              </a:rPr>
              <a:t>4.</a:t>
            </a:r>
            <a:r>
              <a:rPr lang="zh-CN" altLang="en-US" b="1" dirty="0">
                <a:latin typeface="+mn-ea"/>
                <a:sym typeface="+mn-ea"/>
              </a:rPr>
              <a:t>服装纹样的流行倾向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sym typeface="+mn-ea"/>
              </a:rPr>
              <a:t>5.</a:t>
            </a:r>
            <a:r>
              <a:rPr lang="zh-CN" altLang="en-US" b="1" dirty="0">
                <a:latin typeface="+mn-ea"/>
                <a:sym typeface="+mn-ea"/>
              </a:rPr>
              <a:t>服装的工艺流行倾向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sym typeface="+mn-ea"/>
              </a:rPr>
              <a:t>*</a:t>
            </a:r>
            <a:r>
              <a:rPr lang="en-US" altLang="zh-CN" b="1" dirty="0">
                <a:latin typeface="+mn-ea"/>
                <a:sym typeface="+mn-ea"/>
              </a:rPr>
              <a:t>6.</a:t>
            </a:r>
            <a:r>
              <a:rPr lang="zh-CN" altLang="en-US" b="1" dirty="0">
                <a:latin typeface="+mn-ea"/>
                <a:sym typeface="+mn-ea"/>
              </a:rPr>
              <a:t>服装穿搭方式的流行倾向</a:t>
            </a:r>
            <a:endParaRPr lang="en-US" altLang="zh-CN" b="1" dirty="0">
              <a:latin typeface="+mn-ea"/>
            </a:endParaRPr>
          </a:p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>
            <p:custDataLst>
              <p:tags r:id="rId1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00270m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1517" y="1639094"/>
            <a:ext cx="2832315" cy="4248472"/>
          </a:xfrm>
          <a:prstGeom prst="rect">
            <a:avLst/>
          </a:prstGeom>
        </p:spPr>
      </p:pic>
      <p:pic>
        <p:nvPicPr>
          <p:cNvPr id="3" name="图片 2" descr="00010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55840" y="1639094"/>
            <a:ext cx="2832315" cy="4248472"/>
          </a:xfrm>
          <a:prstGeom prst="rect">
            <a:avLst/>
          </a:prstGeom>
        </p:spPr>
      </p:pic>
      <p:pic>
        <p:nvPicPr>
          <p:cNvPr id="4" name="图片 3" descr="00360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08803" y="1639094"/>
            <a:ext cx="2832315" cy="424847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738282" y="642918"/>
            <a:ext cx="309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321175" y="487045"/>
            <a:ext cx="38849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服装流行样式的具体表现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6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4476750" y="1068705"/>
            <a:ext cx="323977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fall 2011 ready-to-wear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8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10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1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1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2" grpId="0"/>
      <p:bldP spid="12" grpId="1"/>
      <p:bldP spid="19" grpId="0"/>
      <p:bldP spid="1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IMG_3561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28305" y="551815"/>
            <a:ext cx="2423160" cy="611505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321175" y="487045"/>
            <a:ext cx="38849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服装流行样式的具体表现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4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327150" y="3017520"/>
            <a:ext cx="36734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sym typeface="+mn-ea"/>
              </a:rPr>
              <a:t>服装色彩的流行倾向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sym typeface="+mn-ea"/>
              </a:rPr>
              <a:t>是指在报纸、杂志上公布的权威预测，并在一定的时间和空间范围内，受人们欢迎的色彩。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服装色彩的流行倾向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8" name="任意多边形 7"/>
            <p:cNvSpPr/>
            <p:nvPr>
              <p:custDataLst>
                <p:tags r:id="rId9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10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11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3" name="任意多边形 12"/>
            <p:cNvSpPr/>
            <p:nvPr>
              <p:custDataLst>
                <p:tags r:id="rId1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直角三角形 17"/>
            <p:cNvSpPr/>
            <p:nvPr>
              <p:custDataLst>
                <p:tags r:id="rId1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100.JPGIMG_310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890"/>
            <a:ext cx="4288790" cy="686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694305"/>
            <a:ext cx="44030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服装流行的传播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3644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传播是服装流行的重要手段和方式，如果没有传播，就没有流行。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1.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出版物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2.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时装发布会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3.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影视艺术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4.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社交网络等新媒体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服装流行的传播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2387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出版物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出版物是流行传播中覆盖面广和相对有效的传统途径之一。这些出版物主要包括期刊杂志、报纸、书籍及影像资料等。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出版物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5" name="图片 4" descr="IMG_3579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039610" y="1544320"/>
            <a:ext cx="3652520" cy="45700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服装流行的传播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2387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时装表演、时装发布会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时装表演是在特定的环境下通过对着装模特的姿态和表演，来体现服装整体效果的一种展示形式。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1852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年起源于西欧。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时装表演、时装发布会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3" name="图片 2" descr="IMG_357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531610" y="2552700"/>
            <a:ext cx="4909185" cy="3275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服装流行的传播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23870"/>
            <a:ext cx="50685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影视艺术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影视是一种娱乐载体，作为最贴近生活的大众艺术形式之一，具有极大的号召和影响力，是传播服装流行的有力工具。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影视艺术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" name="图片 5" descr="IMG_359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1610" y="2241550"/>
            <a:ext cx="3873500" cy="387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5031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服装流行的传播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327150" y="3023870"/>
            <a:ext cx="506857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社交网络等新媒体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微博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微信公众号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短视频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直播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……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4476750" y="1068705"/>
            <a:ext cx="323977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社交网络等新媒体</a:t>
            </a:r>
            <a:endParaRPr lang="zh-CN" altLang="en-US" sz="12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69342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3" name="图片 2" descr="IMG_12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33260" y="1629410"/>
            <a:ext cx="3180715" cy="4485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" grpId="0"/>
      <p:bldP spid="12" grpId="1"/>
      <p:bldP spid="22" grpId="0"/>
      <p:bldP spid="22" grpId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3956" y="500042"/>
            <a:ext cx="7572428" cy="578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05825" y="468295"/>
            <a:ext cx="7215238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陈彬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服装设计基础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上海：东华大学出版社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服装流行学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北京：中国纺织出版社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罗锦婷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服装设计创意方法与实践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王受之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世界时装史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中国青年出版社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王晓威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顶级品牌服装设计解读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Fashion A History from the 18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the 20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Century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 Vogue collections(app)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3222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参考文献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SPECIAL_SOURCE" val="bdnull"/>
</p:tagLst>
</file>

<file path=ppt/tags/tag258.xml><?xml version="1.0" encoding="utf-8"?>
<p:tagLst xmlns:p="http://schemas.openxmlformats.org/presentationml/2006/main">
  <p:tag name="KSO_WPP_MARK_KEY" val="5ba3af92-c907-4576-a3cb-e80851849453"/>
  <p:tag name="COMMONDATA" val="eyJoZGlkIjoiN2FlYWQ0NDk0NzY3ZWUyM2U3Y2FjYjg4ZmQxZTUwN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</Words>
  <Application>WPS 演示</Application>
  <PresentationFormat>宽屏</PresentationFormat>
  <Paragraphs>228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思源黑体 CN Bold</vt:lpstr>
      <vt:lpstr>黑体</vt:lpstr>
      <vt:lpstr>思源黑体 CN Medium</vt:lpstr>
      <vt:lpstr>Times New Roman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米洛可</cp:lastModifiedBy>
  <cp:revision>214</cp:revision>
  <dcterms:created xsi:type="dcterms:W3CDTF">2019-06-19T02:08:00Z</dcterms:created>
  <dcterms:modified xsi:type="dcterms:W3CDTF">2024-12-25T03:00:00Z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4BD0F0DA581B4CB1A7DDD42B87368000_11</vt:lpwstr>
  </property>
</Properties>
</file>