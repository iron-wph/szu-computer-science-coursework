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3" r:id="rId3"/>
    <p:sldId id="414" r:id="rId5"/>
    <p:sldId id="369" r:id="rId6"/>
    <p:sldId id="294" r:id="rId7"/>
    <p:sldId id="447" r:id="rId8"/>
    <p:sldId id="437" r:id="rId9"/>
    <p:sldId id="328" r:id="rId10"/>
    <p:sldId id="329" r:id="rId11"/>
    <p:sldId id="330" r:id="rId12"/>
    <p:sldId id="438" r:id="rId13"/>
    <p:sldId id="439" r:id="rId14"/>
    <p:sldId id="324" r:id="rId15"/>
    <p:sldId id="440" r:id="rId16"/>
    <p:sldId id="441" r:id="rId17"/>
    <p:sldId id="442" r:id="rId18"/>
    <p:sldId id="443" r:id="rId19"/>
    <p:sldId id="444" r:id="rId20"/>
    <p:sldId id="304" r:id="rId21"/>
    <p:sldId id="334" r:id="rId22"/>
    <p:sldId id="445" r:id="rId23"/>
    <p:sldId id="446" r:id="rId24"/>
    <p:sldId id="415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82"/>
        <p:guide pos="38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22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E0B85-FA79-45FF-9C2E-9C9EDD903D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E0B85-FA79-45FF-9C2E-9C9EDD903D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E0B85-FA79-45FF-9C2E-9C9EDD903D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E0B85-FA79-45FF-9C2E-9C9EDD903DC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image" Target="../media/image6.jpe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image" Target="../media/image8.png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image" Target="../media/image9.jpeg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13.xml"/><Relationship Id="rId15" Type="http://schemas.openxmlformats.org/officeDocument/2006/relationships/image" Target="../media/image10.jpeg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image" Target="../media/image2.sv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56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image" Target="../media/image17.jpeg"/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image" Target="../media/image3.sv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83.xml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96.xml"/><Relationship Id="rId13" Type="http://schemas.openxmlformats.org/officeDocument/2006/relationships/image" Target="../media/image6.jpeg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10.xml"/><Relationship Id="rId14" Type="http://schemas.openxmlformats.org/officeDocument/2006/relationships/image" Target="../media/image19.jpeg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1.xml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21.xml"/><Relationship Id="rId1" Type="http://schemas.openxmlformats.org/officeDocument/2006/relationships/tags" Target="../tags/tag2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D:\图片\面料肌理\IMG_3898.JPGIMG_389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17" y="-635"/>
            <a:ext cx="5068570" cy="688022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3346450" y="-635"/>
            <a:ext cx="2824480" cy="6879590"/>
            <a:chOff x="5270" y="-1"/>
            <a:chExt cx="4448" cy="10834"/>
          </a:xfrm>
        </p:grpSpPr>
        <p:sp>
          <p:nvSpPr>
            <p:cNvPr id="38" name="任意多边形 37"/>
            <p:cNvSpPr/>
            <p:nvPr/>
          </p:nvSpPr>
          <p:spPr>
            <a:xfrm>
              <a:off x="6324" y="5939"/>
              <a:ext cx="3394" cy="4895"/>
            </a:xfrm>
            <a:custGeom>
              <a:avLst/>
              <a:gdLst>
                <a:gd name="connsiteX0" fmla="*/ 3394 w 3394"/>
                <a:gd name="connsiteY0" fmla="*/ 4870 h 4895"/>
                <a:gd name="connsiteX1" fmla="*/ 1492 w 3394"/>
                <a:gd name="connsiteY1" fmla="*/ 4895 h 4895"/>
                <a:gd name="connsiteX2" fmla="*/ 823 w 3394"/>
                <a:gd name="connsiteY2" fmla="*/ 2994 h 4895"/>
                <a:gd name="connsiteX3" fmla="*/ 450 w 3394"/>
                <a:gd name="connsiteY3" fmla="*/ 1916 h 4895"/>
                <a:gd name="connsiteX4" fmla="*/ 0 w 3394"/>
                <a:gd name="connsiteY4" fmla="*/ 509 h 4895"/>
                <a:gd name="connsiteX5" fmla="*/ 1723 w 3394"/>
                <a:gd name="connsiteY5" fmla="*/ 0 h 4895"/>
                <a:gd name="connsiteX6" fmla="*/ 2960 w 3394"/>
                <a:gd name="connsiteY6" fmla="*/ 3587 h 4895"/>
                <a:gd name="connsiteX7" fmla="*/ 3394 w 3394"/>
                <a:gd name="connsiteY7" fmla="*/ 4870 h 4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" h="4895">
                  <a:moveTo>
                    <a:pt x="3394" y="4870"/>
                  </a:moveTo>
                  <a:lnTo>
                    <a:pt x="1492" y="4895"/>
                  </a:lnTo>
                  <a:lnTo>
                    <a:pt x="823" y="2994"/>
                  </a:lnTo>
                  <a:lnTo>
                    <a:pt x="450" y="1916"/>
                  </a:lnTo>
                  <a:lnTo>
                    <a:pt x="0" y="509"/>
                  </a:lnTo>
                  <a:lnTo>
                    <a:pt x="1723" y="0"/>
                  </a:lnTo>
                  <a:lnTo>
                    <a:pt x="2960" y="3587"/>
                  </a:lnTo>
                  <a:lnTo>
                    <a:pt x="3394" y="4870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flipV="1">
              <a:off x="6310" y="2319"/>
              <a:ext cx="3096" cy="6697"/>
            </a:xfrm>
            <a:custGeom>
              <a:avLst/>
              <a:gdLst>
                <a:gd name="connsiteX0" fmla="*/ 1419 w 3096"/>
                <a:gd name="connsiteY0" fmla="*/ 6697 h 6697"/>
                <a:gd name="connsiteX1" fmla="*/ 0 w 3096"/>
                <a:gd name="connsiteY1" fmla="*/ 2570 h 6697"/>
                <a:gd name="connsiteX2" fmla="*/ 848 w 3096"/>
                <a:gd name="connsiteY2" fmla="*/ 0 h 6697"/>
                <a:gd name="connsiteX3" fmla="*/ 2046 w 3096"/>
                <a:gd name="connsiteY3" fmla="*/ 2726 h 6697"/>
                <a:gd name="connsiteX4" fmla="*/ 3096 w 3096"/>
                <a:gd name="connsiteY4" fmla="*/ 5102 h 6697"/>
                <a:gd name="connsiteX5" fmla="*/ 1419 w 3096"/>
                <a:gd name="connsiteY5" fmla="*/ 6697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6" h="6697">
                  <a:moveTo>
                    <a:pt x="1419" y="6697"/>
                  </a:moveTo>
                  <a:lnTo>
                    <a:pt x="0" y="2570"/>
                  </a:lnTo>
                  <a:lnTo>
                    <a:pt x="848" y="0"/>
                  </a:lnTo>
                  <a:lnTo>
                    <a:pt x="2046" y="2726"/>
                  </a:lnTo>
                  <a:lnTo>
                    <a:pt x="3096" y="5102"/>
                  </a:lnTo>
                  <a:lnTo>
                    <a:pt x="1419" y="6697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 flipV="1">
              <a:off x="5270" y="-1"/>
              <a:ext cx="4136" cy="3915"/>
            </a:xfrm>
            <a:custGeom>
              <a:avLst/>
              <a:gdLst>
                <a:gd name="connsiteX0" fmla="*/ 0 w 4311"/>
                <a:gd name="connsiteY0" fmla="*/ 4079 h 4079"/>
                <a:gd name="connsiteX1" fmla="*/ 4311 w 4311"/>
                <a:gd name="connsiteY1" fmla="*/ 0 h 4079"/>
                <a:gd name="connsiteX2" fmla="*/ 2921 w 4311"/>
                <a:gd name="connsiteY2" fmla="*/ 4079 h 4079"/>
                <a:gd name="connsiteX3" fmla="*/ 0 w 4311"/>
                <a:gd name="connsiteY3" fmla="*/ 4079 h 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1" h="4079">
                  <a:moveTo>
                    <a:pt x="0" y="4079"/>
                  </a:moveTo>
                  <a:lnTo>
                    <a:pt x="4311" y="0"/>
                  </a:lnTo>
                  <a:lnTo>
                    <a:pt x="2921" y="4079"/>
                  </a:lnTo>
                  <a:lnTo>
                    <a:pt x="0" y="4079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6600190" y="2485390"/>
            <a:ext cx="5041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艺术与</a:t>
            </a:r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生活</a:t>
            </a:r>
            <a:endParaRPr lang="zh-CN" altLang="en-US" sz="40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23555" y="3705225"/>
            <a:ext cx="3319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>
              <a:buNone/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-</a:t>
            </a: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服装面料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979535" y="4848225"/>
            <a:ext cx="2186940" cy="370840"/>
          </a:xfrm>
          <a:prstGeom prst="roundRect">
            <a:avLst>
              <a:gd name="adj" fmla="val 50000"/>
            </a:avLst>
          </a:prstGeom>
          <a:solidFill>
            <a:srgbClr val="DE17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 descr="32313539373837383b32313539373836383bb5b3d4b1c8d5d6b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775" y="4909820"/>
            <a:ext cx="247650" cy="2476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9785350" y="4850765"/>
            <a:ext cx="89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齐</a:t>
            </a:r>
            <a:r>
              <a:rPr lang="en-US" altLang="zh-CN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冀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566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了解面料</a:t>
            </a:r>
            <a:r>
              <a:rPr lang="zh-CN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的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意义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C:\Users\17853\Desktop\3.png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9056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面料</a:t>
            </a:r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fabric</a:t>
            </a:r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4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8756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面料是服装最基本的物质基础，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无论是款式还是色彩都不能脱离服装面料而单独存在。服装实用性和艺术性的发挥，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都需要通过服装材料体现出来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IMG_3970.JPG"/>
          <p:cNvPicPr>
            <a:picLocks noChangeAspect="1"/>
          </p:cNvPicPr>
          <p:nvPr/>
        </p:nvPicPr>
        <p:blipFill>
          <a:blip r:embed="rId1"/>
          <a:srcRect t="78028" r="-1" b="507"/>
          <a:stretch>
            <a:fillRect/>
          </a:stretch>
        </p:blipFill>
        <p:spPr>
          <a:xfrm>
            <a:off x="1524000" y="1671320"/>
            <a:ext cx="9144000" cy="196278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524000" y="3216275"/>
            <a:ext cx="9144000" cy="424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24000" y="3041650"/>
            <a:ext cx="9144000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</a:rPr>
              <a:t>服用性能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织物作为服装面料的性能，织物的服用性能包括“基本性能” 和“舒适性能” 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基本性能主要有织物的断裂强度（包括织物的拉伸断裂强度、撕裂强度和顶裂强度等）和耐磨性能等。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舒适性能包括织物的热传递和热绝缘性能、透水汽性、织物风格、刚柔性、悬垂性、起毛起球性能和阻燃性等。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5625148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</a:t>
            </a:r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料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800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566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了解面料</a:t>
            </a:r>
            <a:r>
              <a:rPr lang="zh-CN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的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意义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C:\Users\17853\Desktop\3.png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9056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面料</a:t>
            </a:r>
            <a:r>
              <a:rPr lang="zh-CN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的分类</a:t>
            </a:r>
            <a:endParaRPr lang="zh-CN" sz="4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8756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>
                <a:sym typeface="+mn-ea"/>
              </a:rPr>
              <a:t>面料的两种分类方式：</a:t>
            </a:r>
            <a:endParaRPr lang="en-US" altLang="zh-CN"/>
          </a:p>
          <a:p>
            <a:pPr indent="0" fontAlgn="auto">
              <a:lnSpc>
                <a:spcPct val="20000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按面料的组织结构进行分类</a:t>
            </a:r>
            <a:endParaRPr lang="zh-CN" altLang="en-US"/>
          </a:p>
          <a:p>
            <a:pPr indent="0" fontAlgn="auto">
              <a:lnSpc>
                <a:spcPct val="200000"/>
              </a:lnSpc>
            </a:pPr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按面料的纤维类别</a:t>
            </a:r>
            <a:r>
              <a:rPr lang="zh-CN" altLang="en-US">
                <a:sym typeface="+mn-ea"/>
              </a:rPr>
              <a:t>进行分类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635" y="4141470"/>
            <a:ext cx="761047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>
                <a:sym typeface="+mn-ea"/>
              </a:rPr>
              <a:t>(1).</a:t>
            </a:r>
            <a:r>
              <a:rPr lang="zh-CN" altLang="en-US" b="1">
                <a:sym typeface="+mn-ea"/>
              </a:rPr>
              <a:t>按面料的组织结构进行分类</a:t>
            </a:r>
            <a:endParaRPr lang="zh-CN" altLang="en-US" b="1"/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面料按照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织造的方法及组织结构可以分为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梭织面料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针织面料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 descr="IMG_3957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60032" b="21865"/>
          <a:stretch>
            <a:fillRect/>
          </a:stretch>
        </p:blipFill>
        <p:spPr>
          <a:xfrm>
            <a:off x="1524000" y="1981835"/>
            <a:ext cx="9144000" cy="165036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1524635" y="3632200"/>
            <a:ext cx="9143365" cy="424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1720" y="36423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sym typeface="+mn-ea"/>
              </a:rPr>
              <a:t>面料的两种分类方式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307221831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10" y="1548130"/>
            <a:ext cx="3408680" cy="4563745"/>
          </a:xfrm>
          <a:prstGeom prst="rect">
            <a:avLst/>
          </a:prstGeom>
        </p:spPr>
      </p:pic>
      <p:pic>
        <p:nvPicPr>
          <p:cNvPr id="4" name="图片 3" descr="微信图片_20230722192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365" y="4283710"/>
            <a:ext cx="4318000" cy="227965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21938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21740" y="292671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梭织面料</a:t>
            </a:r>
            <a:endParaRPr lang="zh-CN" altLang="en-US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是把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经纱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纬纱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相互垂直交织在一起形成的织物。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也称为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机织物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，或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机织面料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19200" y="2960370"/>
            <a:ext cx="5163185" cy="189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针织面料</a:t>
            </a:r>
            <a:endParaRPr lang="zh-CN" altLang="en-US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是用织针将纱线或长丝构成线圈，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再把线圈相互串套而成。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8" name="图片 7" descr="图片IMG_4938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11845" y="1546860"/>
            <a:ext cx="3425825" cy="456819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>
            <p:custDataLst>
              <p:tags r:id="rId13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7" descr="u=3335585533,2157587899&amp;fm=21&amp;gp=0.jp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2640" t="9210" r="76925"/>
          <a:stretch>
            <a:fillRect/>
          </a:stretch>
        </p:blipFill>
        <p:spPr bwMode="auto">
          <a:xfrm>
            <a:off x="6531610" y="1546225"/>
            <a:ext cx="1757045" cy="456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C:\Users\17853\Desktop\3.png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9056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面料</a:t>
            </a:r>
            <a:r>
              <a:rPr lang="zh-CN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的分类</a:t>
            </a:r>
            <a:endParaRPr lang="zh-CN" sz="4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8756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>
                <a:sym typeface="+mn-ea"/>
              </a:rPr>
              <a:t>面料的两种分类方式：</a:t>
            </a:r>
            <a:endParaRPr lang="en-US" altLang="zh-CN"/>
          </a:p>
          <a:p>
            <a:pPr indent="0" fontAlgn="auto">
              <a:lnSpc>
                <a:spcPct val="20000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按面料的组织结构进行分类</a:t>
            </a:r>
            <a:endParaRPr lang="zh-CN" altLang="en-US"/>
          </a:p>
          <a:p>
            <a:pPr indent="0" fontAlgn="auto">
              <a:lnSpc>
                <a:spcPct val="200000"/>
              </a:lnSpc>
            </a:pPr>
            <a:r>
              <a:rPr lang="en-US" altLang="zh-CN">
                <a:solidFill>
                  <a:srgbClr val="C00000"/>
                </a:solidFill>
                <a:sym typeface="+mn-ea"/>
              </a:rPr>
              <a:t>2.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按面料的纤维类别进行分类</a:t>
            </a:r>
            <a:endParaRPr lang="zh-CN" altLang="en-US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椭圆 27"/>
          <p:cNvSpPr/>
          <p:nvPr/>
        </p:nvSpPr>
        <p:spPr>
          <a:xfrm>
            <a:off x="4552633" y="2568575"/>
            <a:ext cx="3086735" cy="308673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4695508" y="2722563"/>
            <a:ext cx="2799080" cy="28562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4647248" y="2722563"/>
            <a:ext cx="2961640" cy="28943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998913" y="4111625"/>
            <a:ext cx="41941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439920" y="24955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3911600" y="38544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504690" y="519303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7102475" y="2468245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7671435" y="38544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7123430" y="513461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9920" y="254952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964305" y="3920490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25010" y="527113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164070" y="518604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709535" y="3920490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05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143115" y="254952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06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921510" y="2388235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棉织物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911985" y="3605530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毛织物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921510" y="4900295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丝织物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50580" y="2350770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非纺织织物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1055" y="3568065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化纤织物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450580" y="4862830"/>
            <a:ext cx="172021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麻织物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5007610" y="3023235"/>
            <a:ext cx="2176145" cy="217614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28" h="3428">
                <a:moveTo>
                  <a:pt x="0" y="1714"/>
                </a:moveTo>
                <a:cubicBezTo>
                  <a:pt x="-30" y="752"/>
                  <a:pt x="851" y="-24"/>
                  <a:pt x="1714" y="0"/>
                </a:cubicBezTo>
                <a:cubicBezTo>
                  <a:pt x="2675" y="-30"/>
                  <a:pt x="3451" y="851"/>
                  <a:pt x="3427" y="1714"/>
                </a:cubicBezTo>
                <a:cubicBezTo>
                  <a:pt x="3457" y="2675"/>
                  <a:pt x="2576" y="3451"/>
                  <a:pt x="1714" y="3427"/>
                </a:cubicBezTo>
                <a:cubicBezTo>
                  <a:pt x="752" y="3457"/>
                  <a:pt x="-24" y="2576"/>
                  <a:pt x="0" y="171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5266055" y="4193540"/>
            <a:ext cx="16440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面料的分类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68" name="图片 67" descr="32313539373837383b32313539373837373bcdb6cbdfd6d0d0c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305" y="3422650"/>
            <a:ext cx="650240" cy="65024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面料的种类繁多，按其成分不同，分为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大类：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4" grpId="0"/>
      <p:bldP spid="54" grpId="1"/>
      <p:bldP spid="56" grpId="0"/>
      <p:bldP spid="56" grpId="1"/>
      <p:bldP spid="61" grpId="0"/>
      <p:bldP spid="61" grpId="1"/>
      <p:bldP spid="63" grpId="0"/>
      <p:bldP spid="63" grpId="1"/>
      <p:bldP spid="65" grpId="0"/>
      <p:bldP spid="65" grpId="1"/>
      <p:bldP spid="67" grpId="0"/>
      <p:bldP spid="67" grpId="1"/>
      <p:bldP spid="2" grpId="0"/>
      <p:bldP spid="2" grpId="1"/>
      <p:bldP spid="15" grpId="0"/>
      <p:bldP spid="1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IMG_39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0460" y="1558290"/>
            <a:ext cx="3268345" cy="45561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61415" y="2960370"/>
            <a:ext cx="6386830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棉织物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以棉纤维为主要成分的</a:t>
            </a:r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机织物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称为棉织物，通称棉布。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棉织物具有许多其他面料无法比拟的优良性能：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吸湿性能强，染色性能良好，穿着舒适性好，织物牢度好等。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但弹性及保型性较差，易起皱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棉织物品种繁多，常见的如平布、卡其、灯芯绒、泡泡纱等。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面料的种类繁多，按其成分不同，分为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大类：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\图片\IMG_3971.JPGIMG_397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90460" y="1659890"/>
            <a:ext cx="3268345" cy="43529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61415" y="2960370"/>
            <a:ext cx="6386830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毛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织物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毛织物是采用以羊毛或特种动物毛为原料，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以及羊毛与其他纤维混纺，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经精梳或粗梳毛纺系统加工而成的织物，具有良好性能。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纯毛织物光泽柔和自然，手感柔软富有弹性；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较之棉麻丝等具有较好的弹性及抗皱性，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导热性较差但吸湿性较好，具有较好的保暖性能。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常见的毛织物品种如派力司、华达呢、法兰绒、粗花呢等。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面料的种类繁多，按其成分不同，分为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大类：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\慕课\新建文件夹\微信图片_20230722183222.jpg微信图片_202307221832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79055" y="1659890"/>
            <a:ext cx="2891155" cy="43529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61415" y="2960370"/>
            <a:ext cx="6386830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丝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织物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天然丝绸织物外观华丽，穿着舒适。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其主要服用性能特性为：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纯丝织物强度较纯毛织物高，但抗皱性能较差；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丝织物耐热性较好，但耐旋光性在各类织物中最差，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故需避免长期日照。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常见的品种有：电力纺（女式衬衫）、塔夫绸（礼服）、织锦缎和古香缎（中国传统丝织物）、乔其纱（女式衣裙、衬衫）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面料的种类繁多，按其成分不同，分为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大类：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17853\Desktop\图片2.png图片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21830" y="2651760"/>
            <a:ext cx="3847465" cy="346265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61415" y="2960370"/>
            <a:ext cx="5486400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麻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织物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主要是用苎麻、亚麻和其他种类的麻纤维为原料纺织加工而成的织物。常见有纯麻、棉麻混纺及麻与化纤混纺等织物。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由于麻纤维整齐度差，造成非精纺麻织物表面有粗节纱和大肚纱，因此构成麻织物独特的粗犷风格。麻织物具有吸湿散湿速度快、抗菌利汗等特点。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22573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面料的种类繁多，按其成分不同，分为</a:t>
            </a:r>
            <a:r>
              <a: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大类：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 descr="D:\慕课\新建文件夹\微信图片_20230722183222.jpg微信图片_202307221832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16200000">
            <a:off x="6466840" y="3934460"/>
            <a:ext cx="1732915" cy="25253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94" h="2747">
                <a:moveTo>
                  <a:pt x="0" y="0"/>
                </a:moveTo>
                <a:lnTo>
                  <a:pt x="3894" y="0"/>
                </a:lnTo>
                <a:lnTo>
                  <a:pt x="3894" y="2747"/>
                </a:lnTo>
                <a:lnTo>
                  <a:pt x="0" y="2747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chemeClr val="bg1">
                <a:lumMod val="85000"/>
              </a:schemeClr>
            </a:solidFill>
          </a:ln>
        </p:spPr>
      </p:pic>
      <p:pic>
        <p:nvPicPr>
          <p:cNvPr id="41" name="图片 40" descr="D:\图片\IMG_3958.JPGIMG_395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6200000">
            <a:off x="1103630" y="3963035"/>
            <a:ext cx="1731645" cy="24682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94" h="2747">
                <a:moveTo>
                  <a:pt x="0" y="0"/>
                </a:moveTo>
                <a:lnTo>
                  <a:pt x="3894" y="0"/>
                </a:lnTo>
                <a:lnTo>
                  <a:pt x="3894" y="2747"/>
                </a:lnTo>
                <a:lnTo>
                  <a:pt x="0" y="2747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chemeClr val="bg1">
                <a:lumMod val="85000"/>
              </a:schemeClr>
            </a:solidFill>
          </a:ln>
        </p:spPr>
      </p:pic>
      <p:pic>
        <p:nvPicPr>
          <p:cNvPr id="40" name="图片 39" descr="C:\Users\17853\Desktop\图片2.png图片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56015" y="4331335"/>
            <a:ext cx="2433320" cy="17443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94" h="2747">
                <a:moveTo>
                  <a:pt x="0" y="0"/>
                </a:moveTo>
                <a:lnTo>
                  <a:pt x="3894" y="0"/>
                </a:lnTo>
                <a:lnTo>
                  <a:pt x="3894" y="2747"/>
                </a:lnTo>
                <a:lnTo>
                  <a:pt x="0" y="2747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chemeClr val="bg1">
                <a:lumMod val="85000"/>
              </a:schemeClr>
            </a:solidFill>
          </a:ln>
        </p:spPr>
      </p:pic>
      <p:pic>
        <p:nvPicPr>
          <p:cNvPr id="39" name="图片 38" descr="D:\图片\IMG_2850.JPGIMG_285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85820" y="4331335"/>
            <a:ext cx="2499360" cy="17443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94" h="2747">
                <a:moveTo>
                  <a:pt x="0" y="0"/>
                </a:moveTo>
                <a:lnTo>
                  <a:pt x="3894" y="0"/>
                </a:lnTo>
                <a:lnTo>
                  <a:pt x="3894" y="2747"/>
                </a:lnTo>
                <a:lnTo>
                  <a:pt x="0" y="2747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chemeClr val="bg1">
                <a:lumMod val="85000"/>
              </a:schemeClr>
            </a:solidFill>
          </a:ln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天然纤维织物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760730" y="2905760"/>
            <a:ext cx="2472690" cy="5556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415030" y="2905760"/>
            <a:ext cx="2472690" cy="5556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068695" y="2905760"/>
            <a:ext cx="2472690" cy="5556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722360" y="2905760"/>
            <a:ext cx="2472690" cy="5556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299845" y="2999740"/>
            <a:ext cx="1395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棉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54145" y="2998470"/>
            <a:ext cx="1395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毛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07810" y="2998470"/>
            <a:ext cx="1395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丝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260840" y="2998470"/>
            <a:ext cx="1395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麻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15645" y="5721350"/>
            <a:ext cx="910590" cy="35433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3380740" y="5721350"/>
            <a:ext cx="910590" cy="35433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6045835" y="5721350"/>
            <a:ext cx="910590" cy="35433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757285" y="5721350"/>
            <a:ext cx="910590" cy="35433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86460" y="5721350"/>
            <a:ext cx="720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570605" y="5699125"/>
            <a:ext cx="720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254750" y="5699125"/>
            <a:ext cx="720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938895" y="5721350"/>
            <a:ext cx="720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5352733" y="627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5366385" y="2252345"/>
            <a:ext cx="0" cy="378587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5880100" y="2835275"/>
            <a:ext cx="995680" cy="995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7202170" y="2129155"/>
            <a:ext cx="4159885" cy="1887855"/>
          </a:xfrm>
          <a:prstGeom prst="wedgeRoundRectCallout">
            <a:avLst>
              <a:gd name="adj1" fmla="val -54243"/>
              <a:gd name="adj2" fmla="val 184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88670" y="2663825"/>
            <a:ext cx="2866390" cy="64262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标注 20"/>
          <p:cNvSpPr/>
          <p:nvPr/>
        </p:nvSpPr>
        <p:spPr>
          <a:xfrm>
            <a:off x="7202170" y="4150360"/>
            <a:ext cx="4159885" cy="1887855"/>
          </a:xfrm>
          <a:prstGeom prst="wedgeRoundRectCallout">
            <a:avLst>
              <a:gd name="adj1" fmla="val -54243"/>
              <a:gd name="adj2" fmla="val 184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880100" y="4793615"/>
            <a:ext cx="995680" cy="995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89495" y="2717800"/>
            <a:ext cx="3317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人造纤维织物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89495" y="4813300"/>
            <a:ext cx="31972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合成纤维织物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48055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666240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2384425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96340" y="2609215"/>
            <a:ext cx="27806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05.</a:t>
            </a:r>
            <a:r>
              <a:rPr lang="zh-CN" altLang="en-US" sz="2400" dirty="0" smtClean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化纤织物</a:t>
            </a:r>
            <a:endParaRPr lang="zh-CN" altLang="en-US" sz="2400" dirty="0" smtClean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7" name="图片 36" descr="32303038313138353b32303039303633303bd0c7d0c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10" y="5343525"/>
            <a:ext cx="278765" cy="278765"/>
          </a:xfrm>
          <a:prstGeom prst="rect">
            <a:avLst/>
          </a:prstGeom>
        </p:spPr>
      </p:pic>
      <p:pic>
        <p:nvPicPr>
          <p:cNvPr id="38" name="图片 37" descr="32303038313138353b32303039303633303bd0c7d0c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52600" y="5327015"/>
            <a:ext cx="278765" cy="278765"/>
          </a:xfrm>
          <a:prstGeom prst="rect">
            <a:avLst/>
          </a:prstGeom>
        </p:spPr>
      </p:pic>
      <p:pic>
        <p:nvPicPr>
          <p:cNvPr id="39" name="图片 38" descr="32303038313138353b32303039303633303bd0c7d0c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1420" y="5327015"/>
            <a:ext cx="278765" cy="27876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352733" y="627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化纤织物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80100" y="30746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（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1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）</a:t>
            </a:r>
            <a:endParaRPr lang="zh-CN" altLang="en-US" sz="2400" b="1" dirty="0" smtClean="0">
              <a:solidFill>
                <a:schemeClr val="bg1"/>
              </a:solidFill>
              <a:latin typeface="+mn-ea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92165" y="50425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（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）</a:t>
            </a:r>
            <a:endParaRPr lang="zh-CN" altLang="en-US" sz="2400" b="1" dirty="0" smtClean="0">
              <a:solidFill>
                <a:schemeClr val="bg1"/>
              </a:solidFill>
              <a:latin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  <p:bldP spid="24" grpId="1"/>
      <p:bldP spid="35" grpId="0"/>
      <p:bldP spid="35" grpId="1"/>
      <p:bldP spid="3" grpId="0"/>
      <p:bldP spid="3" grpId="1"/>
      <p:bldP spid="16" grpId="0"/>
      <p:bldP spid="1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IMG_3957.JPG"/>
          <p:cNvPicPr>
            <a:picLocks noChangeAspect="1"/>
          </p:cNvPicPr>
          <p:nvPr/>
        </p:nvPicPr>
        <p:blipFill>
          <a:blip r:embed="rId1"/>
          <a:srcRect l="-1556" t="16850" b="56659"/>
          <a:stretch>
            <a:fillRect/>
          </a:stretch>
        </p:blipFill>
        <p:spPr>
          <a:xfrm rot="10800000" flipV="1">
            <a:off x="823595" y="1536065"/>
            <a:ext cx="10701020" cy="24149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798745" y="4328485"/>
            <a:ext cx="6572296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人造纤维具有吸湿、透气、柔软、悬垂，价格便宜等优良性能。常见的品种有人造棉平布、美丽绸等。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23595" y="3632200"/>
            <a:ext cx="10542905" cy="424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5049203" y="361442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人造纤维织物</a:t>
            </a:r>
            <a:endParaRPr lang="zh-CN" altLang="en-US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9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8" grpId="0"/>
      <p:bldP spid="1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360930" y="2413635"/>
            <a:ext cx="80479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52733" y="627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化纤织物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1327150" y="2934970"/>
            <a:ext cx="511238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400" b="1">
                <a:ea typeface="宋体" panose="02010600030101010101" pitchFamily="2" charset="-122"/>
                <a:sym typeface="+mn-ea"/>
              </a:rPr>
              <a:t>涤纶织物</a:t>
            </a:r>
            <a:endParaRPr lang="zh-CN" sz="2400" b="1"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b="1">
                <a:ea typeface="宋体" panose="02010600030101010101" pitchFamily="2" charset="-122"/>
                <a:sym typeface="+mn-ea"/>
              </a:rPr>
              <a:t>常见的化学纤维织物。涤纶织物具有较高的强度和弹性，坚固耐用挺括，抗皱，其吸湿性较小，易洗快干等等优良的性能。但是它的缺点是通透性比较差差，穿着有闷热感。通常都做法是将涤纶纤维与天然纤维混纺后可以得到改善</a:t>
            </a:r>
            <a:r>
              <a:rPr lang="zh-CN" altLang="en-US" b="1">
                <a:ea typeface="宋体" panose="02010600030101010101" pitchFamily="2" charset="-122"/>
                <a:sym typeface="+mn-ea"/>
              </a:rPr>
              <a:t>。</a:t>
            </a:r>
            <a:endParaRPr lang="zh-CN" altLang="en-US" b="1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7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8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9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1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12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5" name="图片 14" descr="IMG_395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4170" y="2063115"/>
            <a:ext cx="4064000" cy="40513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6" grpId="0"/>
      <p:bldP spid="16" grpId="1"/>
      <p:bldP spid="22" grpId="0"/>
      <p:bldP spid="2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2360930" y="2413635"/>
            <a:ext cx="80479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52733" y="627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面料的分类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化纤织物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1327150" y="2934970"/>
            <a:ext cx="511238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腈纶织物（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Acrylic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腈纶有“合成羊毛”之称，具有较好的弹性和蓬松度，并且保暖性能好，耐热性和耐旋光性都比较好，腈纶织物的色泽艳丽，手感柔软丰厚，但吸湿性和耐磨性均较差。</a:t>
            </a:r>
            <a:endParaRPr lang="zh-CN" altLang="en-US" b="1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7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8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9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1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12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2" name="图片 11" descr="10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26530" y="2240915"/>
            <a:ext cx="4023360" cy="38735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6" grpId="0"/>
      <p:bldP spid="16" grpId="1"/>
      <p:bldP spid="22" grpId="0"/>
      <p:bldP spid="2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微信图片_20230722183216.jpg微信图片_202307221832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8668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了解面料</a:t>
            </a:r>
            <a:r>
              <a:rPr lang="zh-CN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的意义</a:t>
            </a:r>
            <a:endParaRPr lang="zh-CN" sz="4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21935" y="3655060"/>
            <a:ext cx="562419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面料的疏密、厚薄、软硬、光泽度、挺廓程度、手感、弹性等的不同，制作成型的服装在风格、造型上也都有所不同。服装材料具有各自的外观美及特有的肌理效果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.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因此，对于服装面料的认识和了解，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对于我们从实用性与审美性相结合，选择和欣赏服装起到不可或缺的作用。</a:t>
            </a:r>
            <a:endParaRPr lang="zh-CN" altLang="en-US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53956" y="500042"/>
            <a:ext cx="7572428" cy="578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605825" y="468295"/>
            <a:ext cx="7215238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陈彬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服装设计基础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上海：东华大学出版社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张星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服装流行学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北京：中国纺织出版社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郑彤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罗锦婷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服装设计创意方法与实践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王受之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世界时装史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中国青年出版社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王晓威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顶级品牌服装设计解读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Fashion A History from the 18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 the 20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Century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 Vogue collections(app)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3222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参考文献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SPECIAL_SOURCE" val="bdnull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SPECIAL_SOURCE" val="bdnull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SPECIAL_SOURCE" val="bdnull"/>
</p:tagLst>
</file>

<file path=ppt/tags/tag100.xml><?xml version="1.0" encoding="utf-8"?>
<p:tagLst xmlns:p="http://schemas.openxmlformats.org/presentationml/2006/main">
  <p:tag name="KSO_WM_UNIT_PLACING_PICTURE_USER_VIEWPORT" val="{&quot;height&quot;:8775.059842519684,&quot;width&quot;:6581.294488188976}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SPECIAL_SOURCE" val="bdnull"/>
</p:tagLst>
</file>

<file path=ppt/tags/tag1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SPECIAL_SOURCE" val="bdnull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SPECIAL_SOURCE" val="bdnull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SPECIAL_SOURCE" val="bdnull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SPECIAL_SOURCE" val="bdnull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SPECIAL_SOURCE" val="bdnull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SPECIAL_SOURCE" val="bdnull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SPECIAL_SOURCE" val="bdnull"/>
</p:tagLst>
</file>

<file path=ppt/tags/tag2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SPECIAL_SOURCE" val="bdnull"/>
</p:tagLst>
</file>

<file path=ppt/tags/tag222.xml><?xml version="1.0" encoding="utf-8"?>
<p:tagLst xmlns:p="http://schemas.openxmlformats.org/presentationml/2006/main">
  <p:tag name="KSO_WPP_MARK_KEY" val="5ba3af92-c907-4576-a3cb-e80851849453"/>
  <p:tag name="COMMONDATA" val="eyJoZGlkIjoiN2FlYWQ0NDk0NzY3ZWUyM2U3Y2FjYjg4ZmQxZTUwNW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1894</Words>
  <Application>WPS 演示</Application>
  <PresentationFormat>宽屏</PresentationFormat>
  <Paragraphs>255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思源黑体 CN Bold</vt:lpstr>
      <vt:lpstr>黑体</vt:lpstr>
      <vt:lpstr>思源黑体 CN Medium</vt:lpstr>
      <vt:lpstr>Times New Roman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米洛可</cp:lastModifiedBy>
  <cp:revision>221</cp:revision>
  <dcterms:created xsi:type="dcterms:W3CDTF">2019-06-19T02:08:00Z</dcterms:created>
  <dcterms:modified xsi:type="dcterms:W3CDTF">2024-12-25T02:59:36Z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2052-11.1.0.10943</vt:lpwstr>
  </property>
  <property fmtid="{D5CDD505-2E9C-101B-9397-08002B2CF9AE}" pid="3" name="ICV">
    <vt:lpwstr>4BD0F0DA581B4CB1A7DDD42B87368000_11</vt:lpwstr>
  </property>
</Properties>
</file>