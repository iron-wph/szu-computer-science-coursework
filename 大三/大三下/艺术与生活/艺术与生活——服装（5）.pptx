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6" r:id="rId3"/>
    <p:sldId id="317" r:id="rId5"/>
    <p:sldId id="330" r:id="rId6"/>
    <p:sldId id="268" r:id="rId7"/>
    <p:sldId id="307" r:id="rId8"/>
    <p:sldId id="308" r:id="rId9"/>
    <p:sldId id="269" r:id="rId10"/>
    <p:sldId id="277" r:id="rId11"/>
    <p:sldId id="331" r:id="rId12"/>
    <p:sldId id="332" r:id="rId13"/>
    <p:sldId id="333" r:id="rId14"/>
    <p:sldId id="334" r:id="rId15"/>
    <p:sldId id="335" r:id="rId16"/>
    <p:sldId id="318" r:id="rId17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05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177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77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image" Target="../media/image7.png"/><Relationship Id="rId2" Type="http://schemas.openxmlformats.org/officeDocument/2006/relationships/tags" Target="../tags/tag78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image" Target="../media/image6.png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image" Target="../media/image11.jpeg"/><Relationship Id="rId7" Type="http://schemas.openxmlformats.org/officeDocument/2006/relationships/image" Target="../media/image10.jpeg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tags" Target="../tags/tag10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23.xml"/><Relationship Id="rId12" Type="http://schemas.openxmlformats.org/officeDocument/2006/relationships/image" Target="../media/image13.jpeg"/><Relationship Id="rId11" Type="http://schemas.openxmlformats.org/officeDocument/2006/relationships/tags" Target="../tags/tag122.xml"/><Relationship Id="rId10" Type="http://schemas.openxmlformats.org/officeDocument/2006/relationships/image" Target="../media/image12.jpeg"/><Relationship Id="rId1" Type="http://schemas.openxmlformats.org/officeDocument/2006/relationships/tags" Target="../tags/tag11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34.xml"/><Relationship Id="rId12" Type="http://schemas.openxmlformats.org/officeDocument/2006/relationships/image" Target="../media/image15.jpeg"/><Relationship Id="rId11" Type="http://schemas.openxmlformats.org/officeDocument/2006/relationships/tags" Target="../tags/tag133.xml"/><Relationship Id="rId10" Type="http://schemas.openxmlformats.org/officeDocument/2006/relationships/image" Target="../media/image14.jpeg"/><Relationship Id="rId1" Type="http://schemas.openxmlformats.org/officeDocument/2006/relationships/tags" Target="../tags/tag12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44.xml"/><Relationship Id="rId10" Type="http://schemas.openxmlformats.org/officeDocument/2006/relationships/image" Target="../media/image16.jpeg"/><Relationship Id="rId1" Type="http://schemas.openxmlformats.org/officeDocument/2006/relationships/tags" Target="../tags/tag13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image" Target="../media/image17.jpe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55.xml"/><Relationship Id="rId12" Type="http://schemas.openxmlformats.org/officeDocument/2006/relationships/image" Target="../media/image18.jpeg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image" Target="../media/image19.jpeg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66.xml"/><Relationship Id="rId12" Type="http://schemas.openxmlformats.org/officeDocument/2006/relationships/image" Target="../media/image20.jpeg"/><Relationship Id="rId11" Type="http://schemas.openxmlformats.org/officeDocument/2006/relationships/tags" Target="../tags/tag165.xml"/><Relationship Id="rId10" Type="http://schemas.openxmlformats.org/officeDocument/2006/relationships/tags" Target="../tags/tag164.xml"/><Relationship Id="rId1" Type="http://schemas.openxmlformats.org/officeDocument/2006/relationships/tags" Target="../tags/tag15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76.xml"/><Relationship Id="rId1" Type="http://schemas.openxmlformats.org/officeDocument/2006/relationships/tags" Target="../tags/tag1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D:\图片\面料肌理\IMG_3898.JPGIMG_389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317" y="-635"/>
            <a:ext cx="5068570" cy="6880225"/>
          </a:xfrm>
          <a:prstGeom prst="rect">
            <a:avLst/>
          </a:prstGeom>
        </p:spPr>
      </p:pic>
      <p:grpSp>
        <p:nvGrpSpPr>
          <p:cNvPr id="56" name="组合 55"/>
          <p:cNvGrpSpPr/>
          <p:nvPr/>
        </p:nvGrpSpPr>
        <p:grpSpPr>
          <a:xfrm>
            <a:off x="3346450" y="-635"/>
            <a:ext cx="2824480" cy="6879590"/>
            <a:chOff x="5270" y="-1"/>
            <a:chExt cx="4448" cy="10834"/>
          </a:xfrm>
        </p:grpSpPr>
        <p:sp>
          <p:nvSpPr>
            <p:cNvPr id="38" name="任意多边形 37"/>
            <p:cNvSpPr/>
            <p:nvPr/>
          </p:nvSpPr>
          <p:spPr>
            <a:xfrm>
              <a:off x="6324" y="5939"/>
              <a:ext cx="3394" cy="4895"/>
            </a:xfrm>
            <a:custGeom>
              <a:avLst/>
              <a:gdLst>
                <a:gd name="connsiteX0" fmla="*/ 3394 w 3394"/>
                <a:gd name="connsiteY0" fmla="*/ 4870 h 4895"/>
                <a:gd name="connsiteX1" fmla="*/ 1492 w 3394"/>
                <a:gd name="connsiteY1" fmla="*/ 4895 h 4895"/>
                <a:gd name="connsiteX2" fmla="*/ 823 w 3394"/>
                <a:gd name="connsiteY2" fmla="*/ 2994 h 4895"/>
                <a:gd name="connsiteX3" fmla="*/ 450 w 3394"/>
                <a:gd name="connsiteY3" fmla="*/ 1916 h 4895"/>
                <a:gd name="connsiteX4" fmla="*/ 0 w 3394"/>
                <a:gd name="connsiteY4" fmla="*/ 509 h 4895"/>
                <a:gd name="connsiteX5" fmla="*/ 1723 w 3394"/>
                <a:gd name="connsiteY5" fmla="*/ 0 h 4895"/>
                <a:gd name="connsiteX6" fmla="*/ 2960 w 3394"/>
                <a:gd name="connsiteY6" fmla="*/ 3587 h 4895"/>
                <a:gd name="connsiteX7" fmla="*/ 3394 w 3394"/>
                <a:gd name="connsiteY7" fmla="*/ 4870 h 4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4" h="4895">
                  <a:moveTo>
                    <a:pt x="3394" y="4870"/>
                  </a:moveTo>
                  <a:lnTo>
                    <a:pt x="1492" y="4895"/>
                  </a:lnTo>
                  <a:lnTo>
                    <a:pt x="823" y="2994"/>
                  </a:lnTo>
                  <a:lnTo>
                    <a:pt x="450" y="1916"/>
                  </a:lnTo>
                  <a:lnTo>
                    <a:pt x="0" y="509"/>
                  </a:lnTo>
                  <a:lnTo>
                    <a:pt x="1723" y="0"/>
                  </a:lnTo>
                  <a:lnTo>
                    <a:pt x="2960" y="3587"/>
                  </a:lnTo>
                  <a:lnTo>
                    <a:pt x="3394" y="4870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/>
          </p:nvSpPr>
          <p:spPr>
            <a:xfrm flipV="1">
              <a:off x="6310" y="2319"/>
              <a:ext cx="3096" cy="6697"/>
            </a:xfrm>
            <a:custGeom>
              <a:avLst/>
              <a:gdLst>
                <a:gd name="connsiteX0" fmla="*/ 1419 w 3096"/>
                <a:gd name="connsiteY0" fmla="*/ 6697 h 6697"/>
                <a:gd name="connsiteX1" fmla="*/ 0 w 3096"/>
                <a:gd name="connsiteY1" fmla="*/ 2570 h 6697"/>
                <a:gd name="connsiteX2" fmla="*/ 848 w 3096"/>
                <a:gd name="connsiteY2" fmla="*/ 0 h 6697"/>
                <a:gd name="connsiteX3" fmla="*/ 2046 w 3096"/>
                <a:gd name="connsiteY3" fmla="*/ 2726 h 6697"/>
                <a:gd name="connsiteX4" fmla="*/ 3096 w 3096"/>
                <a:gd name="connsiteY4" fmla="*/ 5102 h 6697"/>
                <a:gd name="connsiteX5" fmla="*/ 1419 w 3096"/>
                <a:gd name="connsiteY5" fmla="*/ 6697 h 6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6" h="6697">
                  <a:moveTo>
                    <a:pt x="1419" y="6697"/>
                  </a:moveTo>
                  <a:lnTo>
                    <a:pt x="0" y="2570"/>
                  </a:lnTo>
                  <a:lnTo>
                    <a:pt x="848" y="0"/>
                  </a:lnTo>
                  <a:lnTo>
                    <a:pt x="2046" y="2726"/>
                  </a:lnTo>
                  <a:lnTo>
                    <a:pt x="3096" y="5102"/>
                  </a:lnTo>
                  <a:lnTo>
                    <a:pt x="1419" y="6697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 flipV="1">
              <a:off x="5270" y="-1"/>
              <a:ext cx="4136" cy="3915"/>
            </a:xfrm>
            <a:custGeom>
              <a:avLst/>
              <a:gdLst>
                <a:gd name="connsiteX0" fmla="*/ 0 w 4311"/>
                <a:gd name="connsiteY0" fmla="*/ 4079 h 4079"/>
                <a:gd name="connsiteX1" fmla="*/ 4311 w 4311"/>
                <a:gd name="connsiteY1" fmla="*/ 0 h 4079"/>
                <a:gd name="connsiteX2" fmla="*/ 2921 w 4311"/>
                <a:gd name="connsiteY2" fmla="*/ 4079 h 4079"/>
                <a:gd name="connsiteX3" fmla="*/ 0 w 4311"/>
                <a:gd name="connsiteY3" fmla="*/ 4079 h 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11" h="4079">
                  <a:moveTo>
                    <a:pt x="0" y="4079"/>
                  </a:moveTo>
                  <a:lnTo>
                    <a:pt x="4311" y="0"/>
                  </a:lnTo>
                  <a:lnTo>
                    <a:pt x="2921" y="4079"/>
                  </a:lnTo>
                  <a:lnTo>
                    <a:pt x="0" y="4079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6600190" y="2485390"/>
            <a:ext cx="50419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思源黑体 CN Bold" panose="020B0800000000000000" charset="-122"/>
                <a:ea typeface="思源黑体 CN Bold" panose="020B0800000000000000" charset="-122"/>
              </a:rPr>
              <a:t>艺术与</a:t>
            </a:r>
            <a:r>
              <a:rPr lang="zh-CN" altLang="en-US" sz="4000">
                <a:latin typeface="思源黑体 CN Bold" panose="020B0800000000000000" charset="-122"/>
                <a:ea typeface="思源黑体 CN Bold" panose="020B0800000000000000" charset="-122"/>
              </a:rPr>
              <a:t>生活</a:t>
            </a:r>
            <a:endParaRPr lang="zh-CN" altLang="en-US" sz="40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123555" y="3705225"/>
            <a:ext cx="33191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>
              <a:buNone/>
            </a:pP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</a:t>
            </a: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-</a:t>
            </a: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服装搭配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8979535" y="4848225"/>
            <a:ext cx="2186940" cy="370840"/>
          </a:xfrm>
          <a:prstGeom prst="roundRect">
            <a:avLst>
              <a:gd name="adj" fmla="val 50000"/>
            </a:avLst>
          </a:prstGeom>
          <a:solidFill>
            <a:srgbClr val="DE17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 descr="32313539373837383b32313539373836383bb5b3d4b1c8d5d6b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775" y="4909820"/>
            <a:ext cx="247650" cy="247650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9785350" y="4850765"/>
            <a:ext cx="896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齐</a:t>
            </a:r>
            <a:r>
              <a:rPr lang="en-US" altLang="zh-CN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冀</a:t>
            </a:r>
            <a:endParaRPr lang="zh-CN" altLang="en-US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flipH="1">
            <a:off x="7170420" y="1748155"/>
            <a:ext cx="4165600" cy="5119370"/>
          </a:xfrm>
          <a:custGeom>
            <a:avLst/>
            <a:gdLst>
              <a:gd name="connsiteX0" fmla="*/ 0 w 6560"/>
              <a:gd name="connsiteY0" fmla="*/ 8047 h 8062"/>
              <a:gd name="connsiteX1" fmla="*/ 3328 w 6560"/>
              <a:gd name="connsiteY1" fmla="*/ 35 h 8062"/>
              <a:gd name="connsiteX2" fmla="*/ 6290 w 6560"/>
              <a:gd name="connsiteY2" fmla="*/ 0 h 8062"/>
              <a:gd name="connsiteX3" fmla="*/ 6560 w 6560"/>
              <a:gd name="connsiteY3" fmla="*/ 464 h 8062"/>
              <a:gd name="connsiteX4" fmla="*/ 704 w 6560"/>
              <a:gd name="connsiteY4" fmla="*/ 8062 h 8062"/>
              <a:gd name="connsiteX5" fmla="*/ 0 w 6560"/>
              <a:gd name="connsiteY5" fmla="*/ 8047 h 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0" h="8062">
                <a:moveTo>
                  <a:pt x="0" y="8047"/>
                </a:moveTo>
                <a:lnTo>
                  <a:pt x="3328" y="35"/>
                </a:lnTo>
                <a:lnTo>
                  <a:pt x="6290" y="0"/>
                </a:lnTo>
                <a:lnTo>
                  <a:pt x="6560" y="464"/>
                </a:lnTo>
                <a:lnTo>
                  <a:pt x="704" y="8062"/>
                </a:lnTo>
                <a:lnTo>
                  <a:pt x="0" y="8047"/>
                </a:lnTo>
                <a:close/>
              </a:path>
            </a:pathLst>
          </a:custGeom>
          <a:gradFill flip="none"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D:\慕课\新建文件夹\IMG_3105.JPGIMG_310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33615" y="0"/>
            <a:ext cx="4859020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53" h="10800">
                <a:moveTo>
                  <a:pt x="1602" y="0"/>
                </a:moveTo>
                <a:lnTo>
                  <a:pt x="7653" y="0"/>
                </a:lnTo>
                <a:lnTo>
                  <a:pt x="7653" y="10800"/>
                </a:lnTo>
                <a:lnTo>
                  <a:pt x="6907" y="10800"/>
                </a:lnTo>
                <a:lnTo>
                  <a:pt x="6125" y="10778"/>
                </a:lnTo>
                <a:lnTo>
                  <a:pt x="0" y="2766"/>
                </a:lnTo>
                <a:lnTo>
                  <a:pt x="1602" y="0"/>
                </a:lnTo>
                <a:close/>
              </a:path>
            </a:pathLst>
          </a:custGeom>
        </p:spPr>
      </p:pic>
      <p:sp>
        <p:nvSpPr>
          <p:cNvPr id="4" name="矩形 3"/>
          <p:cNvSpPr/>
          <p:nvPr/>
        </p:nvSpPr>
        <p:spPr>
          <a:xfrm>
            <a:off x="0" y="1313815"/>
            <a:ext cx="67437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4625" y="15690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思源黑体 CN Bold" panose="020B0800000000000000" charset="-122"/>
                <a:ea typeface="思源黑体 CN Bold" panose="020B0800000000000000" charset="-122"/>
                <a:cs typeface="思源黑体 CN Medium" panose="020B0600000000000000" charset="-122"/>
              </a:rPr>
              <a:t>目录</a:t>
            </a:r>
            <a:r>
              <a:rPr lang="en-US" altLang="zh-CN" sz="28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/CONTENTS</a:t>
            </a:r>
            <a:endParaRPr lang="en-US" altLang="zh-CN" sz="28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9305" y="1313815"/>
            <a:ext cx="7620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09900" y="3000375"/>
            <a:ext cx="50260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服装搭配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2444115" y="31191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燕尾形 14"/>
          <p:cNvSpPr/>
          <p:nvPr/>
        </p:nvSpPr>
        <p:spPr>
          <a:xfrm>
            <a:off x="2159000" y="31184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009900" y="3808730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</a:t>
            </a:r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搭配</a:t>
            </a:r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的内容</a:t>
            </a:r>
            <a:endParaRPr lang="zh-CN" altLang="en-US" sz="28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2444115" y="392811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燕尾形 17"/>
          <p:cNvSpPr/>
          <p:nvPr/>
        </p:nvSpPr>
        <p:spPr>
          <a:xfrm>
            <a:off x="2159000" y="392747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09900" y="4617085"/>
            <a:ext cx="5662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搭配参考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2444115" y="473646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燕尾形 20"/>
          <p:cNvSpPr/>
          <p:nvPr/>
        </p:nvSpPr>
        <p:spPr>
          <a:xfrm>
            <a:off x="2159000" y="473583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燕尾形 1"/>
          <p:cNvSpPr/>
          <p:nvPr>
            <p:custDataLst>
              <p:tags r:id="rId2"/>
            </p:custDataLst>
          </p:nvPr>
        </p:nvSpPr>
        <p:spPr>
          <a:xfrm>
            <a:off x="2159000" y="55441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燕尾形 2"/>
          <p:cNvSpPr/>
          <p:nvPr>
            <p:custDataLst>
              <p:tags r:id="rId3"/>
            </p:custDataLst>
          </p:nvPr>
        </p:nvSpPr>
        <p:spPr>
          <a:xfrm>
            <a:off x="2444115" y="55448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009900" y="5426710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</a:t>
            </a:r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搭配</a:t>
            </a:r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的方法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D:\图片\IMG_2569.JPGIMG_256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8890"/>
            <a:ext cx="4288790" cy="68656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319655"/>
            <a:ext cx="440309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服装搭配</a:t>
            </a:r>
            <a:endParaRPr lang="zh-CN" altLang="en-US" sz="4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309235" y="3661410"/>
            <a:ext cx="587565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服装搭配主要指在款式，颜色上相协调，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整体上达到得体，大方的效果。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搭配能力的提升不是短时间内一蹴而就的，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需要长时间阅历和经验，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因此对于提升搭配能力，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在日常不断的观察和尝试并提升审美能力十分重要。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01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38" grpId="0"/>
      <p:bldP spid="40" grpId="0"/>
      <p:bldP spid="38" grpId="1"/>
      <p:bldP spid="4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626870" y="2806700"/>
            <a:ext cx="51498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服装搭配的内容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1.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服装之间（包括上下装、里外装）的搭配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2.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服装与配饰之间的搭配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4" name="图片 3" descr="7f60d634913224a136274182877bcb5e.jpg"/>
          <p:cNvPicPr>
            <a:picLocks noChangeAspect="1"/>
          </p:cNvPicPr>
          <p:nvPr/>
        </p:nvPicPr>
        <p:blipFill>
          <a:blip r:embed="rId1"/>
          <a:srcRect t="7951" b="8569"/>
          <a:stretch>
            <a:fillRect/>
          </a:stretch>
        </p:blipFill>
        <p:spPr>
          <a:xfrm>
            <a:off x="7261205" y="1647494"/>
            <a:ext cx="3774168" cy="3786214"/>
          </a:xfrm>
          <a:prstGeom prst="diamond">
            <a:avLst/>
          </a:prstGeom>
        </p:spPr>
      </p:pic>
      <p:sp>
        <p:nvSpPr>
          <p:cNvPr id="5" name="菱形 4"/>
          <p:cNvSpPr/>
          <p:nvPr/>
        </p:nvSpPr>
        <p:spPr>
          <a:xfrm>
            <a:off x="7041195" y="1428100"/>
            <a:ext cx="4214842" cy="4214842"/>
          </a:xfrm>
          <a:prstGeom prst="diamond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3" name="任意多边形 2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4935220" y="500380"/>
            <a:ext cx="2318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</a:rPr>
              <a:t>服装搭配的内容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IMG_4111.PNG"/>
          <p:cNvPicPr>
            <a:picLocks noChangeAspect="1"/>
          </p:cNvPicPr>
          <p:nvPr/>
        </p:nvPicPr>
        <p:blipFill>
          <a:blip r:embed="rId1"/>
          <a:srcRect t="11944" r="-478" b="3972"/>
          <a:stretch>
            <a:fillRect/>
          </a:stretch>
        </p:blipFill>
        <p:spPr>
          <a:xfrm>
            <a:off x="6531610" y="1127125"/>
            <a:ext cx="3350260" cy="4987290"/>
          </a:xfrm>
          <a:prstGeom prst="rect">
            <a:avLst/>
          </a:prstGeom>
        </p:spPr>
      </p:pic>
      <p:pic>
        <p:nvPicPr>
          <p:cNvPr id="3" name="图片 2" descr="IMG_4109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2935" r="99" b="7704"/>
          <a:stretch>
            <a:fillRect/>
          </a:stretch>
        </p:blipFill>
        <p:spPr>
          <a:xfrm>
            <a:off x="1466850" y="915035"/>
            <a:ext cx="4210050" cy="519938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7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8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9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>
            <p:custDataLst>
              <p:tags r:id="rId10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4935220" y="500380"/>
            <a:ext cx="2318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</a:rPr>
              <a:t>服装搭配的内容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12"/>
    </p:custData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IMG_4110.PNG"/>
          <p:cNvPicPr>
            <a:picLocks noChangeAspect="1"/>
          </p:cNvPicPr>
          <p:nvPr/>
        </p:nvPicPr>
        <p:blipFill>
          <a:blip r:embed="rId1"/>
          <a:srcRect t="11843" r="-280" b="3861"/>
          <a:stretch>
            <a:fillRect/>
          </a:stretch>
        </p:blipFill>
        <p:spPr>
          <a:xfrm>
            <a:off x="6531610" y="1071880"/>
            <a:ext cx="3371850" cy="5042535"/>
          </a:xfrm>
          <a:prstGeom prst="rect">
            <a:avLst/>
          </a:prstGeom>
        </p:spPr>
      </p:pic>
      <p:pic>
        <p:nvPicPr>
          <p:cNvPr id="3" name="图片 2" descr="IMG_4111.PNG"/>
          <p:cNvPicPr>
            <a:picLocks noChangeAspect="1"/>
          </p:cNvPicPr>
          <p:nvPr/>
        </p:nvPicPr>
        <p:blipFill>
          <a:blip r:embed="rId2"/>
          <a:srcRect t="11944" r="-478" b="3972"/>
          <a:stretch>
            <a:fillRect/>
          </a:stretch>
        </p:blipFill>
        <p:spPr>
          <a:xfrm>
            <a:off x="2298700" y="1071880"/>
            <a:ext cx="3387725" cy="504253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4935220" y="500380"/>
            <a:ext cx="2318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</a:rPr>
              <a:t>服装搭配的内容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10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1"/>
    </p:custData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IMG_357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7042" y="0"/>
            <a:ext cx="5481813" cy="6858000"/>
          </a:xfrm>
          <a:prstGeom prst="parallelogram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381224" y="642918"/>
            <a:ext cx="792480" cy="20300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搭配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参考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881966" y="3786190"/>
            <a:ext cx="2571752" cy="216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从流行中获取搭配灵感，具体来源如：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秀场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街拍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网络媒体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3" name="任意多边形 2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96092" y="741993"/>
            <a:ext cx="500066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5" name="图片 4" descr="2bf5560e287def3113b02d6212ee4d5a.jpg"/>
          <p:cNvPicPr>
            <a:picLocks noChangeAspect="1"/>
          </p:cNvPicPr>
          <p:nvPr/>
        </p:nvPicPr>
        <p:blipFill>
          <a:blip r:embed="rId7"/>
          <a:srcRect l="10861" r="20470"/>
          <a:stretch>
            <a:fillRect/>
          </a:stretch>
        </p:blipFill>
        <p:spPr>
          <a:xfrm>
            <a:off x="8755380" y="1536065"/>
            <a:ext cx="2098040" cy="4578350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327150" y="3639820"/>
            <a:ext cx="50177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从色彩的角度搭配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顺色（通身一色）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27150" y="3093720"/>
            <a:ext cx="26289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服装搭配的方法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6" name="图片 5" descr="5ee84402ab7e4a6f622d828f16cea9e6.jpg"/>
          <p:cNvPicPr>
            <a:picLocks noChangeAspect="1"/>
          </p:cNvPicPr>
          <p:nvPr/>
        </p:nvPicPr>
        <p:blipFill>
          <a:blip r:embed="rId8"/>
          <a:srcRect l="6621"/>
          <a:stretch>
            <a:fillRect/>
          </a:stretch>
        </p:blipFill>
        <p:spPr>
          <a:xfrm>
            <a:off x="6531610" y="1545590"/>
            <a:ext cx="2012950" cy="456946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4935220" y="500380"/>
            <a:ext cx="2318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</a:rPr>
              <a:t>服装搭配的方法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22" grpId="0"/>
      <p:bldP spid="22" grpId="1"/>
      <p:bldP spid="20" grpId="0"/>
      <p:bldP spid="2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96092" y="741993"/>
            <a:ext cx="500066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327150" y="3639820"/>
            <a:ext cx="50177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从色彩的角度搭配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撞色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27150" y="3093720"/>
            <a:ext cx="26289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服装搭配的方法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4935220" y="500380"/>
            <a:ext cx="2318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</a:rPr>
              <a:t>服装搭配的方法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IMG_2061 (2).JP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5986" r="13845"/>
          <a:stretch>
            <a:fillRect/>
          </a:stretch>
        </p:blipFill>
        <p:spPr>
          <a:xfrm>
            <a:off x="6572885" y="1545590"/>
            <a:ext cx="2425700" cy="4568825"/>
          </a:xfrm>
          <a:prstGeom prst="rect">
            <a:avLst/>
          </a:prstGeom>
        </p:spPr>
      </p:pic>
      <p:pic>
        <p:nvPicPr>
          <p:cNvPr id="18" name="图片 17" descr="IMG_2068.JP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29688" r="15624"/>
          <a:stretch>
            <a:fillRect/>
          </a:stretch>
        </p:blipFill>
        <p:spPr>
          <a:xfrm>
            <a:off x="9130665" y="1546225"/>
            <a:ext cx="1664970" cy="456819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22" grpId="0"/>
      <p:bldP spid="22" grpId="1"/>
      <p:bldP spid="20" grpId="0"/>
      <p:bldP spid="20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96092" y="741993"/>
            <a:ext cx="500066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327150" y="3639820"/>
            <a:ext cx="50177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从图案的角度搭配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相似图案的碰撞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27150" y="3093720"/>
            <a:ext cx="26289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服装搭配的方法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4935220" y="500380"/>
            <a:ext cx="2318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</a:rPr>
              <a:t>服装搭配的方法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71d7533ca79b691ee4a89a21a83b5f26.jp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29239" r="21392"/>
          <a:stretch>
            <a:fillRect/>
          </a:stretch>
        </p:blipFill>
        <p:spPr>
          <a:xfrm>
            <a:off x="6982460" y="1546860"/>
            <a:ext cx="1427480" cy="4570095"/>
          </a:xfrm>
          <a:prstGeom prst="rect">
            <a:avLst/>
          </a:prstGeom>
        </p:spPr>
      </p:pic>
      <p:pic>
        <p:nvPicPr>
          <p:cNvPr id="6" name="图片 5" descr="IMG_3236.JP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10938" r="12499"/>
          <a:stretch>
            <a:fillRect/>
          </a:stretch>
        </p:blipFill>
        <p:spPr>
          <a:xfrm>
            <a:off x="8507095" y="1547495"/>
            <a:ext cx="2330450" cy="456692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22" grpId="0"/>
      <p:bldP spid="22" grpId="1"/>
      <p:bldP spid="20" grpId="0"/>
      <p:bldP spid="2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96092" y="741993"/>
            <a:ext cx="500066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327150" y="3639820"/>
            <a:ext cx="50177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从图案的角度搭配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相似图案的碰撞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27150" y="3093720"/>
            <a:ext cx="26289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服装搭配的方法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4935220" y="500380"/>
            <a:ext cx="2318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</a:rPr>
              <a:t>服装搭配的方法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IMG_2069.JP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236460" y="1547495"/>
            <a:ext cx="3043555" cy="456692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22" grpId="0"/>
      <p:bldP spid="22" grpId="1"/>
      <p:bldP spid="20" grpId="0"/>
      <p:bldP spid="2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IMG_0424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18749"/>
          <a:stretch>
            <a:fillRect/>
          </a:stretch>
        </p:blipFill>
        <p:spPr>
          <a:xfrm>
            <a:off x="8893810" y="1548765"/>
            <a:ext cx="2472690" cy="45656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6092" y="741993"/>
            <a:ext cx="500066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327150" y="3639820"/>
            <a:ext cx="50177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从层次的角度搭配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多层次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27150" y="3093720"/>
            <a:ext cx="26289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服装搭配的方法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4935220" y="500380"/>
            <a:ext cx="2318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</a:rPr>
              <a:t>服装搭配的方法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IMG_0337.JP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28125" r="4687"/>
          <a:stretch>
            <a:fillRect/>
          </a:stretch>
        </p:blipFill>
        <p:spPr>
          <a:xfrm>
            <a:off x="6767195" y="1548130"/>
            <a:ext cx="2044700" cy="456628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22" grpId="0"/>
      <p:bldP spid="22" grpId="1"/>
      <p:bldP spid="20" grpId="0"/>
      <p:bldP spid="2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bc0ed6b9aee5c2c19d88a45b9ed12610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713470" y="1541780"/>
            <a:ext cx="2255520" cy="45726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6092" y="741993"/>
            <a:ext cx="500066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327150" y="3639820"/>
            <a:ext cx="50177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服装与配饰之间的搭配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色彩呼应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27150" y="3093720"/>
            <a:ext cx="26289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服装搭配的方法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4935220" y="500380"/>
            <a:ext cx="2318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</a:rPr>
              <a:t>服装搭配的方法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IMG_3584.JP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23438" r="26562"/>
          <a:stretch>
            <a:fillRect/>
          </a:stretch>
        </p:blipFill>
        <p:spPr>
          <a:xfrm>
            <a:off x="7020560" y="1548130"/>
            <a:ext cx="1520825" cy="456628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22" grpId="0"/>
      <p:bldP spid="22" grpId="1"/>
      <p:bldP spid="20" grpId="0"/>
      <p:bldP spid="2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53956" y="500042"/>
            <a:ext cx="7572428" cy="578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605825" y="468295"/>
            <a:ext cx="7215238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陈彬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服装设计基础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上海：东华大学出版社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张星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服装流行学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北京：中国纺织出版社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郑彤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罗锦婷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服装设计创意方法与实践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上海：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王受之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世界时装史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北京：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中国青年出版社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王晓威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顶级品牌服装设计解读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上海：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 Fashion A History from the 18</a:t>
            </a:r>
            <a:r>
              <a:rPr lang="en-US" altLang="zh-CN" sz="1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 the 20</a:t>
            </a:r>
            <a:r>
              <a:rPr lang="en-US" altLang="zh-CN" sz="1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Century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 Vogue collections(app)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4" name="任意多边形 3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2" name="任意多边形 11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直角三角形 13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 15"/>
          <p:cNvSpPr/>
          <p:nvPr>
            <p:custDataLst>
              <p:tags r:id="rId8"/>
            </p:custDataLst>
          </p:nvPr>
        </p:nvSpPr>
        <p:spPr>
          <a:xfrm>
            <a:off x="724535" y="2441575"/>
            <a:ext cx="10743565" cy="3815715"/>
          </a:xfrm>
          <a:custGeom>
            <a:avLst/>
            <a:gdLst>
              <a:gd name="connsiteX0" fmla="*/ 11206 w 16919"/>
              <a:gd name="connsiteY0" fmla="*/ 4 h 6084"/>
              <a:gd name="connsiteX1" fmla="*/ 16919 w 16919"/>
              <a:gd name="connsiteY1" fmla="*/ 0 h 6084"/>
              <a:gd name="connsiteX2" fmla="*/ 16919 w 16919"/>
              <a:gd name="connsiteY2" fmla="*/ 6084 h 6084"/>
              <a:gd name="connsiteX3" fmla="*/ 0 w 16919"/>
              <a:gd name="connsiteY3" fmla="*/ 6084 h 6084"/>
              <a:gd name="connsiteX4" fmla="*/ 0 w 16919"/>
              <a:gd name="connsiteY4" fmla="*/ 0 h 6084"/>
              <a:gd name="connsiteX5" fmla="*/ 5711 w 16919"/>
              <a:gd name="connsiteY5" fmla="*/ 4 h 6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19" h="6084">
                <a:moveTo>
                  <a:pt x="11206" y="4"/>
                </a:moveTo>
                <a:lnTo>
                  <a:pt x="16919" y="0"/>
                </a:lnTo>
                <a:lnTo>
                  <a:pt x="16919" y="6084"/>
                </a:lnTo>
                <a:lnTo>
                  <a:pt x="0" y="6084"/>
                </a:lnTo>
                <a:lnTo>
                  <a:pt x="0" y="0"/>
                </a:lnTo>
                <a:lnTo>
                  <a:pt x="5711" y="4"/>
                </a:lnTo>
              </a:path>
            </a:pathLst>
          </a:custGeom>
          <a:noFill/>
          <a:ln w="9525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532225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参考文献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18" grpId="0"/>
      <p:bldP spid="18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SPECIAL_SOURCE" val="bdnull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SPECIAL_SOURCE" val="bdnull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SPECIAL_SOURCE" val="bdnull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SPECIAL_SOURCE" val="bdnull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SPECIAL_SOURCE" val="bdnull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SPECIAL_SOURCE" val="bdnull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SPECIAL_SOURCE" val="bdnull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SPECIAL_SOURCE" val="bdnull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SPECIAL_SOURCE" val="bdnull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SPECIAL_SOURCE" val="bdnull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SPECIAL_SOURCE" val="bdnull"/>
</p:tagLst>
</file>

<file path=ppt/tags/tag177.xml><?xml version="1.0" encoding="utf-8"?>
<p:tagLst xmlns:p="http://schemas.openxmlformats.org/presentationml/2006/main">
  <p:tag name="KSO_WPP_MARK_KEY" val="5ba3af92-c907-4576-a3cb-e80851849453"/>
  <p:tag name="COMMONDATA" val="eyJoZGlkIjoiN2FlYWQ0NDk0NzY3ZWUyM2U3Y2FjYjg4ZmQxZTUwNW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</Words>
  <Application>WPS 演示</Application>
  <PresentationFormat>宽屏</PresentationFormat>
  <Paragraphs>124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思源黑体 CN Bold</vt:lpstr>
      <vt:lpstr>黑体</vt:lpstr>
      <vt:lpstr>思源黑体 CN Medium</vt:lpstr>
      <vt:lpstr>Times New Roman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米洛可</cp:lastModifiedBy>
  <cp:revision>196</cp:revision>
  <dcterms:created xsi:type="dcterms:W3CDTF">2019-06-19T02:08:00Z</dcterms:created>
  <dcterms:modified xsi:type="dcterms:W3CDTF">2024-12-25T02:59:50Z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2052-11.1.0.10943</vt:lpwstr>
  </property>
  <property fmtid="{D5CDD505-2E9C-101B-9397-08002B2CF9AE}" pid="3" name="ICV">
    <vt:lpwstr>4BD0F0DA581B4CB1A7DDD42B87368000_11</vt:lpwstr>
  </property>
</Properties>
</file>