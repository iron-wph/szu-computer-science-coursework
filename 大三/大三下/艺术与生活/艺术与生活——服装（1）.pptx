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3" r:id="rId5"/>
    <p:sldId id="342" r:id="rId6"/>
    <p:sldId id="261" r:id="rId7"/>
    <p:sldId id="343" r:id="rId8"/>
    <p:sldId id="264" r:id="rId9"/>
    <p:sldId id="265" r:id="rId10"/>
    <p:sldId id="267" r:id="rId11"/>
    <p:sldId id="269" r:id="rId12"/>
    <p:sldId id="345" r:id="rId13"/>
    <p:sldId id="344" r:id="rId14"/>
    <p:sldId id="346" r:id="rId15"/>
    <p:sldId id="347" r:id="rId16"/>
    <p:sldId id="348" r:id="rId17"/>
    <p:sldId id="311" r:id="rId18"/>
    <p:sldId id="349" r:id="rId19"/>
    <p:sldId id="350" r:id="rId20"/>
    <p:sldId id="351" r:id="rId21"/>
    <p:sldId id="352" r:id="rId22"/>
    <p:sldId id="277" r:id="rId23"/>
    <p:sldId id="353" r:id="rId24"/>
    <p:sldId id="376" r:id="rId25"/>
    <p:sldId id="393" r:id="rId26"/>
    <p:sldId id="281" r:id="rId27"/>
    <p:sldId id="394" r:id="rId28"/>
    <p:sldId id="395" r:id="rId29"/>
    <p:sldId id="396" r:id="rId30"/>
    <p:sldId id="402" r:id="rId31"/>
    <p:sldId id="403" r:id="rId32"/>
    <p:sldId id="400" r:id="rId33"/>
    <p:sldId id="401" r:id="rId34"/>
    <p:sldId id="404" r:id="rId35"/>
    <p:sldId id="398" r:id="rId36"/>
    <p:sldId id="399" r:id="rId37"/>
    <p:sldId id="297" r:id="rId38"/>
    <p:sldId id="298" r:id="rId39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7"/>
        <p:guide pos="391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24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image" Target="../media/image7.jpeg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image" Target="../media/image8.jpeg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5.xml"/><Relationship Id="rId2" Type="http://schemas.openxmlformats.org/officeDocument/2006/relationships/image" Target="../media/image2.sv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86.xml"/><Relationship Id="rId6" Type="http://schemas.openxmlformats.org/officeDocument/2006/relationships/image" Target="../media/image5.svg"/><Relationship Id="rId5" Type="http://schemas.openxmlformats.org/officeDocument/2006/relationships/image" Target="../media/image13.png"/><Relationship Id="rId4" Type="http://schemas.openxmlformats.org/officeDocument/2006/relationships/image" Target="../media/image4.svg"/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tags" Target="../tags/tag88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97.xml"/><Relationship Id="rId6" Type="http://schemas.openxmlformats.org/officeDocument/2006/relationships/image" Target="../media/image5.svg"/><Relationship Id="rId5" Type="http://schemas.openxmlformats.org/officeDocument/2006/relationships/image" Target="../media/image13.png"/><Relationship Id="rId4" Type="http://schemas.openxmlformats.org/officeDocument/2006/relationships/image" Target="../media/image4.svg"/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image" Target="../media/image18.jpeg"/><Relationship Id="rId1" Type="http://schemas.openxmlformats.org/officeDocument/2006/relationships/tags" Target="../tags/tag98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5.xml"/><Relationship Id="rId4" Type="http://schemas.openxmlformats.org/officeDocument/2006/relationships/image" Target="../media/image19.jpeg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2" Type="http://schemas.openxmlformats.org/officeDocument/2006/relationships/image" Target="../media/image2.sv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image" Target="../media/image20.jpeg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25.jpeg"/><Relationship Id="rId2" Type="http://schemas.openxmlformats.org/officeDocument/2006/relationships/tags" Target="../tags/tag124.xml"/><Relationship Id="rId10" Type="http://schemas.openxmlformats.org/officeDocument/2006/relationships/notesSlide" Target="../notesSlides/notesSlide21.xml"/><Relationship Id="rId1" Type="http://schemas.openxmlformats.org/officeDocument/2006/relationships/tags" Target="../tags/tag12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6.jpeg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6.jpeg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68.xml"/><Relationship Id="rId14" Type="http://schemas.openxmlformats.org/officeDocument/2006/relationships/image" Target="../media/image27.jpeg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8.jpeg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9.jpeg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tags" Target="../tags/tag18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0.jpeg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tags" Target="../tags/tag195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image" Target="../media/image31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32.jpeg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3.xml"/><Relationship Id="rId1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4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33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D:\图片\面料肌理\IMG_3898.JPGIMG_389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17" y="-635"/>
            <a:ext cx="5068570" cy="6880225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3346450" y="-635"/>
            <a:ext cx="2824480" cy="6879590"/>
            <a:chOff x="5270" y="-1"/>
            <a:chExt cx="4448" cy="10834"/>
          </a:xfrm>
        </p:grpSpPr>
        <p:sp>
          <p:nvSpPr>
            <p:cNvPr id="38" name="任意多边形 37"/>
            <p:cNvSpPr/>
            <p:nvPr/>
          </p:nvSpPr>
          <p:spPr>
            <a:xfrm>
              <a:off x="6324" y="5939"/>
              <a:ext cx="3394" cy="4895"/>
            </a:xfrm>
            <a:custGeom>
              <a:avLst/>
              <a:gdLst>
                <a:gd name="connsiteX0" fmla="*/ 3394 w 3394"/>
                <a:gd name="connsiteY0" fmla="*/ 4870 h 4895"/>
                <a:gd name="connsiteX1" fmla="*/ 1492 w 3394"/>
                <a:gd name="connsiteY1" fmla="*/ 4895 h 4895"/>
                <a:gd name="connsiteX2" fmla="*/ 823 w 3394"/>
                <a:gd name="connsiteY2" fmla="*/ 2994 h 4895"/>
                <a:gd name="connsiteX3" fmla="*/ 450 w 3394"/>
                <a:gd name="connsiteY3" fmla="*/ 1916 h 4895"/>
                <a:gd name="connsiteX4" fmla="*/ 0 w 3394"/>
                <a:gd name="connsiteY4" fmla="*/ 509 h 4895"/>
                <a:gd name="connsiteX5" fmla="*/ 1723 w 3394"/>
                <a:gd name="connsiteY5" fmla="*/ 0 h 4895"/>
                <a:gd name="connsiteX6" fmla="*/ 2960 w 3394"/>
                <a:gd name="connsiteY6" fmla="*/ 3587 h 4895"/>
                <a:gd name="connsiteX7" fmla="*/ 3394 w 3394"/>
                <a:gd name="connsiteY7" fmla="*/ 4870 h 4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4" h="4895">
                  <a:moveTo>
                    <a:pt x="3394" y="4870"/>
                  </a:moveTo>
                  <a:lnTo>
                    <a:pt x="1492" y="4895"/>
                  </a:lnTo>
                  <a:lnTo>
                    <a:pt x="823" y="2994"/>
                  </a:lnTo>
                  <a:lnTo>
                    <a:pt x="450" y="1916"/>
                  </a:lnTo>
                  <a:lnTo>
                    <a:pt x="0" y="509"/>
                  </a:lnTo>
                  <a:lnTo>
                    <a:pt x="1723" y="0"/>
                  </a:lnTo>
                  <a:lnTo>
                    <a:pt x="2960" y="3587"/>
                  </a:lnTo>
                  <a:lnTo>
                    <a:pt x="3394" y="4870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 flipV="1">
              <a:off x="6310" y="2319"/>
              <a:ext cx="3096" cy="6697"/>
            </a:xfrm>
            <a:custGeom>
              <a:avLst/>
              <a:gdLst>
                <a:gd name="connsiteX0" fmla="*/ 1419 w 3096"/>
                <a:gd name="connsiteY0" fmla="*/ 6697 h 6697"/>
                <a:gd name="connsiteX1" fmla="*/ 0 w 3096"/>
                <a:gd name="connsiteY1" fmla="*/ 2570 h 6697"/>
                <a:gd name="connsiteX2" fmla="*/ 848 w 3096"/>
                <a:gd name="connsiteY2" fmla="*/ 0 h 6697"/>
                <a:gd name="connsiteX3" fmla="*/ 2046 w 3096"/>
                <a:gd name="connsiteY3" fmla="*/ 2726 h 6697"/>
                <a:gd name="connsiteX4" fmla="*/ 3096 w 3096"/>
                <a:gd name="connsiteY4" fmla="*/ 5102 h 6697"/>
                <a:gd name="connsiteX5" fmla="*/ 1419 w 3096"/>
                <a:gd name="connsiteY5" fmla="*/ 6697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6" h="6697">
                  <a:moveTo>
                    <a:pt x="1419" y="6697"/>
                  </a:moveTo>
                  <a:lnTo>
                    <a:pt x="0" y="2570"/>
                  </a:lnTo>
                  <a:lnTo>
                    <a:pt x="848" y="0"/>
                  </a:lnTo>
                  <a:lnTo>
                    <a:pt x="2046" y="2726"/>
                  </a:lnTo>
                  <a:lnTo>
                    <a:pt x="3096" y="5102"/>
                  </a:lnTo>
                  <a:lnTo>
                    <a:pt x="1419" y="6697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 flipV="1">
              <a:off x="5270" y="-1"/>
              <a:ext cx="4136" cy="3915"/>
            </a:xfrm>
            <a:custGeom>
              <a:avLst/>
              <a:gdLst>
                <a:gd name="connsiteX0" fmla="*/ 0 w 4311"/>
                <a:gd name="connsiteY0" fmla="*/ 4079 h 4079"/>
                <a:gd name="connsiteX1" fmla="*/ 4311 w 4311"/>
                <a:gd name="connsiteY1" fmla="*/ 0 h 4079"/>
                <a:gd name="connsiteX2" fmla="*/ 2921 w 4311"/>
                <a:gd name="connsiteY2" fmla="*/ 4079 h 4079"/>
                <a:gd name="connsiteX3" fmla="*/ 0 w 4311"/>
                <a:gd name="connsiteY3" fmla="*/ 4079 h 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1" h="4079">
                  <a:moveTo>
                    <a:pt x="0" y="4079"/>
                  </a:moveTo>
                  <a:lnTo>
                    <a:pt x="4311" y="0"/>
                  </a:lnTo>
                  <a:lnTo>
                    <a:pt x="2921" y="4079"/>
                  </a:lnTo>
                  <a:lnTo>
                    <a:pt x="0" y="4079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6600190" y="2485390"/>
            <a:ext cx="50419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艺术与</a:t>
            </a:r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生活</a:t>
            </a:r>
            <a:endParaRPr lang="zh-CN" altLang="en-US" sz="40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123555" y="3705225"/>
            <a:ext cx="3319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>
              <a:buNone/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-</a:t>
            </a: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服装概述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979535" y="4848225"/>
            <a:ext cx="2186940" cy="370840"/>
          </a:xfrm>
          <a:prstGeom prst="roundRect">
            <a:avLst>
              <a:gd name="adj" fmla="val 50000"/>
            </a:avLst>
          </a:prstGeom>
          <a:solidFill>
            <a:srgbClr val="DE17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 descr="32313539373837383b32313539373836383bb5b3d4b1c8d5d6b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775" y="4909820"/>
            <a:ext cx="247650" cy="24765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9785350" y="4850765"/>
            <a:ext cx="89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齐</a:t>
            </a:r>
            <a:r>
              <a:rPr lang="en-US" altLang="zh-CN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冀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艺术陶冶与审美体验之与服装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认识服装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服装的分类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009900" y="5426710"/>
            <a:ext cx="39789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提升服装审美的方法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3" name="燕尾形 22"/>
          <p:cNvSpPr/>
          <p:nvPr/>
        </p:nvSpPr>
        <p:spPr>
          <a:xfrm>
            <a:off x="2444115" y="55448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燕尾形 23"/>
          <p:cNvSpPr/>
          <p:nvPr/>
        </p:nvSpPr>
        <p:spPr>
          <a:xfrm>
            <a:off x="2159000" y="55441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图片\面料肌理\IMG_3893.JPGIMG_389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7620"/>
            <a:ext cx="4288790" cy="68656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艺术陶冶与审美体验与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688080"/>
            <a:ext cx="58756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+mn-ea"/>
                <a:cs typeface="宋体" panose="02010600030101010101" pitchFamily="2" charset="-122"/>
                <a:sym typeface="+mn-ea"/>
              </a:rPr>
              <a:t>请思考并阐述艺术、审美与服装之间的关系？</a:t>
            </a:r>
            <a:endParaRPr lang="zh-CN" altLang="en-US" sz="2000" b="1" dirty="0" smtClean="0"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图片\面料肌理\IMG_3893.JPGIMG_389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7620"/>
            <a:ext cx="4288790" cy="68656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艺术陶冶与审美体验之与服装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688080"/>
            <a:ext cx="587565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400" b="1" dirty="0" smtClean="0">
                <a:latin typeface="+mn-ea"/>
                <a:cs typeface="宋体" panose="02010600030101010101" pitchFamily="2" charset="-122"/>
                <a:sym typeface="+mn-ea"/>
              </a:rPr>
              <a:t>艺术来源于生活，</a:t>
            </a:r>
            <a:endParaRPr lang="zh-CN" altLang="en-US" sz="1400" b="1" dirty="0" smtClean="0">
              <a:latin typeface="+mn-ea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 smtClean="0">
                <a:latin typeface="+mn-ea"/>
                <a:cs typeface="宋体" panose="02010600030101010101" pitchFamily="2" charset="-122"/>
                <a:sym typeface="+mn-ea"/>
              </a:rPr>
              <a:t>衣食住行是</a:t>
            </a:r>
            <a:r>
              <a:rPr lang="zh-CN" altLang="en-US" sz="1400" b="1" dirty="0" smtClean="0">
                <a:latin typeface="+mn-ea"/>
                <a:cs typeface="宋体" panose="02010600030101010101" pitchFamily="2" charset="-122"/>
                <a:sym typeface="+mn-ea"/>
              </a:rPr>
              <a:t>生活当中</a:t>
            </a:r>
            <a:r>
              <a:rPr lang="zh-CN" altLang="en-US" sz="1400" b="1" dirty="0" smtClean="0">
                <a:latin typeface="+mn-ea"/>
                <a:cs typeface="宋体" panose="02010600030101010101" pitchFamily="2" charset="-122"/>
                <a:sym typeface="+mn-ea"/>
              </a:rPr>
              <a:t>不可或缺的基本内容。</a:t>
            </a:r>
            <a:endParaRPr lang="zh-CN" altLang="en-US" sz="1400" b="1" dirty="0" smtClean="0">
              <a:latin typeface="+mn-ea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 smtClean="0">
                <a:latin typeface="+mn-ea"/>
                <a:cs typeface="宋体" panose="02010600030101010101" pitchFamily="2" charset="-122"/>
                <a:sym typeface="+mn-ea"/>
              </a:rPr>
              <a:t>“衣食住行”中的“衣”，指的就是“服装”。</a:t>
            </a:r>
            <a:endParaRPr lang="zh-CN" altLang="en-US" sz="1400" b="1" dirty="0" smtClean="0">
              <a:latin typeface="+mn-ea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 smtClean="0">
                <a:latin typeface="+mn-ea"/>
                <a:cs typeface="宋体" panose="02010600030101010101" pitchFamily="2" charset="-122"/>
                <a:sym typeface="+mn-ea"/>
              </a:rPr>
              <a:t>服装既是生活，</a:t>
            </a:r>
            <a:endParaRPr lang="zh-CN" altLang="en-US" sz="1400" b="1" dirty="0" smtClean="0">
              <a:latin typeface="+mn-ea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 smtClean="0">
                <a:latin typeface="+mn-ea"/>
                <a:cs typeface="宋体" panose="02010600030101010101" pitchFamily="2" charset="-122"/>
                <a:sym typeface="+mn-ea"/>
              </a:rPr>
              <a:t>亦是艺术的一个组成部分。</a:t>
            </a:r>
            <a:endParaRPr lang="zh-CN" altLang="en-US" sz="1400" b="1" dirty="0" smtClean="0"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艺术陶冶与审美体验之与服装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C00000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认识服装</a:t>
            </a:r>
            <a:endParaRPr lang="zh-CN" altLang="en-US" sz="2800">
              <a:solidFill>
                <a:srgbClr val="C00000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服装的分类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009900" y="5426710"/>
            <a:ext cx="39789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提升服装审美的方法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3" name="燕尾形 22"/>
          <p:cNvSpPr/>
          <p:nvPr/>
        </p:nvSpPr>
        <p:spPr>
          <a:xfrm>
            <a:off x="2444115" y="55448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燕尾形 23"/>
          <p:cNvSpPr/>
          <p:nvPr/>
        </p:nvSpPr>
        <p:spPr>
          <a:xfrm>
            <a:off x="2159000" y="55441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慕课\新建文件夹\IMG_3101.JPGIMG_31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635"/>
            <a:ext cx="4288790" cy="68567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认识服装</a:t>
            </a:r>
            <a:endParaRPr lang="zh-CN" altLang="en-US" sz="4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09235" y="3743960"/>
            <a:ext cx="58756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什么是服装？</a:t>
            </a:r>
            <a:endParaRPr 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755015" y="4724400"/>
            <a:ext cx="61341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48970" y="4148455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D:\图片\IMG_2546.JPGIMG_254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04455" y="1511935"/>
            <a:ext cx="2921635" cy="44018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43" h="6099">
                <a:moveTo>
                  <a:pt x="0" y="0"/>
                </a:moveTo>
                <a:lnTo>
                  <a:pt x="7743" y="0"/>
                </a:lnTo>
                <a:lnTo>
                  <a:pt x="7743" y="6099"/>
                </a:lnTo>
                <a:lnTo>
                  <a:pt x="0" y="6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chemeClr val="bg1">
                <a:lumMod val="95000"/>
              </a:schemeClr>
            </a:solidFill>
          </a:ln>
        </p:spPr>
      </p:pic>
      <p:sp>
        <p:nvSpPr>
          <p:cNvPr id="23" name="文本框 22"/>
          <p:cNvSpPr txBox="1"/>
          <p:nvPr/>
        </p:nvSpPr>
        <p:spPr>
          <a:xfrm>
            <a:off x="1327150" y="4892040"/>
            <a:ext cx="5017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服装的概念可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从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广义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狭义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两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个范畴来理解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16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狭义的服装主要指衣服。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思源黑体 CN Medium" panose="020B06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26833" y="4187190"/>
            <a:ext cx="20935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92785" y="424497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2785" y="543369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4920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02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认识服装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882015" y="348932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92785" y="424497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2785" y="543369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24915" y="2930525"/>
            <a:ext cx="6096000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广义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范畴的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服装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指任何附着于人体上，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且肉眼可见的物体，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也就是指穿着于人体之上的物品的总和，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这个定义包括了衣帽鞋袜和其他装束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服饰</a:t>
            </a: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2"/>
            </p:custDataLst>
          </p:nvPr>
        </p:nvCxnSpPr>
        <p:spPr>
          <a:xfrm>
            <a:off x="882015" y="6039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Inspiration - Hussein Chalayan Spring 2007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lum bright="10000" contrast="-20000"/>
          </a:blip>
          <a:srcRect l="4916" b="4339"/>
          <a:stretch>
            <a:fillRect/>
          </a:stretch>
        </p:blipFill>
        <p:spPr>
          <a:xfrm>
            <a:off x="7422515" y="1783080"/>
            <a:ext cx="3265170" cy="42564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04920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02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认识服装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882015" y="348932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92785" y="424497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2785" y="543369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24915" y="2889250"/>
            <a:ext cx="6096000" cy="2768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时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装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时装是服装的一个组成部分，但它在概念上不同于服装，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差别在“时”。时装体现出时尚性、时代性，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它饱含了设计成份，能体现当时时尚流行潮流，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同时也反映出设计师的创造性的构思。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时装一旦过时，即失去它的时尚性，价值也相应降低。</a:t>
            </a:r>
            <a:endParaRPr lang="zh-CN" altLang="en-US" sz="1600" b="1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2"/>
            </p:custDataLst>
          </p:nvPr>
        </p:nvCxnSpPr>
        <p:spPr>
          <a:xfrm>
            <a:off x="882015" y="6039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IMG_3440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36426" y="0"/>
            <a:ext cx="4600135" cy="6858000"/>
          </a:xfrm>
          <a:prstGeom prst="parallelogram">
            <a:avLst/>
          </a:prstGeom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504920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02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认识服装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艺术陶冶与审美体验之与服装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认识服装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C00000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服装的分类</a:t>
            </a:r>
            <a:endParaRPr lang="zh-CN" altLang="en-US" sz="2800">
              <a:solidFill>
                <a:srgbClr val="C00000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009900" y="5426710"/>
            <a:ext cx="39789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提升服装审美的方法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3" name="燕尾形 22"/>
          <p:cNvSpPr/>
          <p:nvPr/>
        </p:nvSpPr>
        <p:spPr>
          <a:xfrm>
            <a:off x="2444115" y="55448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燕尾形 23"/>
          <p:cNvSpPr/>
          <p:nvPr/>
        </p:nvSpPr>
        <p:spPr>
          <a:xfrm>
            <a:off x="2159000" y="55441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慕课\新建文件夹\IMG_3103.JPGIMG_310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4288790" cy="68586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4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09235" y="3743960"/>
            <a:ext cx="58756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思考：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请根据个人的生活经验，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谈谈服装可以怎样分类？</a:t>
            </a:r>
            <a:endParaRPr lang="zh-CN" sz="20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椭圆 27"/>
          <p:cNvSpPr/>
          <p:nvPr/>
        </p:nvSpPr>
        <p:spPr>
          <a:xfrm>
            <a:off x="4552633" y="2568575"/>
            <a:ext cx="3086735" cy="308673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4695508" y="2722563"/>
            <a:ext cx="2799080" cy="28562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4647248" y="2722563"/>
            <a:ext cx="2961640" cy="28943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998913" y="4111625"/>
            <a:ext cx="41941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049520" y="500380"/>
            <a:ext cx="25590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4439920" y="24955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3911600" y="38544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504690" y="519303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7102475" y="2468245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7671435" y="38544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7123430" y="513461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39920" y="254952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964305" y="3920490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25010" y="527113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164070" y="518604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06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709535" y="3920490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05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143115" y="254952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58190" y="2388235"/>
            <a:ext cx="28835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</a:rPr>
              <a:t>以服装穿着者性别分类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646555" y="3605530"/>
            <a:ext cx="1985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</a:rPr>
              <a:t>以季节差异分类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99540" y="4900295"/>
            <a:ext cx="22421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</a:rPr>
              <a:t>以品牌类型分类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450580" y="2350770"/>
            <a:ext cx="19716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</a:rPr>
              <a:t>以功能风格分类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1055" y="3568065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000">
                <a:latin typeface="思源黑体 CN Medium" panose="020B0600000000000000" charset="-122"/>
                <a:ea typeface="思源黑体 CN Medium" panose="020B0600000000000000" charset="-122"/>
              </a:rPr>
              <a:t>……</a:t>
            </a:r>
            <a:endParaRPr lang="en-US" altLang="zh-CN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450580" y="4862830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000">
                <a:latin typeface="思源黑体 CN Medium" panose="020B0600000000000000" charset="-122"/>
                <a:ea typeface="思源黑体 CN Medium" panose="020B0600000000000000" charset="-122"/>
              </a:rPr>
              <a:t>……</a:t>
            </a:r>
            <a:endParaRPr lang="en-US" altLang="zh-CN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6" name="任意多边形 65"/>
          <p:cNvSpPr/>
          <p:nvPr/>
        </p:nvSpPr>
        <p:spPr>
          <a:xfrm>
            <a:off x="5007610" y="3023235"/>
            <a:ext cx="2176145" cy="217614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28" h="3428">
                <a:moveTo>
                  <a:pt x="0" y="1714"/>
                </a:moveTo>
                <a:cubicBezTo>
                  <a:pt x="-30" y="752"/>
                  <a:pt x="851" y="-24"/>
                  <a:pt x="1714" y="0"/>
                </a:cubicBezTo>
                <a:cubicBezTo>
                  <a:pt x="2675" y="-30"/>
                  <a:pt x="3451" y="851"/>
                  <a:pt x="3427" y="1714"/>
                </a:cubicBezTo>
                <a:cubicBezTo>
                  <a:pt x="3457" y="2675"/>
                  <a:pt x="2576" y="3451"/>
                  <a:pt x="1714" y="3427"/>
                </a:cubicBezTo>
                <a:cubicBezTo>
                  <a:pt x="752" y="3457"/>
                  <a:pt x="-24" y="2576"/>
                  <a:pt x="0" y="171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5266055" y="4193540"/>
            <a:ext cx="16440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服装的分类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68" name="图片 67" descr="32313539373837383b32313539373837373bcdb6cbdfd6d0d0c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2305" y="3422650"/>
            <a:ext cx="650240" cy="6502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50" grpId="0"/>
      <p:bldP spid="50" grpId="1"/>
      <p:bldP spid="54" grpId="0"/>
      <p:bldP spid="54" grpId="1"/>
      <p:bldP spid="56" grpId="0"/>
      <p:bldP spid="56" grpId="1"/>
      <p:bldP spid="61" grpId="0"/>
      <p:bldP spid="61" grpId="1"/>
      <p:bldP spid="63" grpId="0"/>
      <p:bldP spid="63" grpId="1"/>
      <p:bldP spid="65" grpId="0"/>
      <p:bldP spid="65" grpId="1"/>
      <p:bldP spid="67" grpId="0"/>
      <p:bldP spid="6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5366385" y="2252345"/>
            <a:ext cx="0" cy="378587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5880100" y="2835275"/>
            <a:ext cx="995680" cy="9956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标注 16"/>
          <p:cNvSpPr/>
          <p:nvPr/>
        </p:nvSpPr>
        <p:spPr>
          <a:xfrm>
            <a:off x="7202170" y="2129155"/>
            <a:ext cx="4159885" cy="1887855"/>
          </a:xfrm>
          <a:prstGeom prst="wedgeRoundRectCallout">
            <a:avLst>
              <a:gd name="adj1" fmla="val -54243"/>
              <a:gd name="adj2" fmla="val 1844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48055" y="3507740"/>
            <a:ext cx="2866390" cy="64262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标注 20"/>
          <p:cNvSpPr/>
          <p:nvPr/>
        </p:nvSpPr>
        <p:spPr>
          <a:xfrm>
            <a:off x="7202170" y="4150360"/>
            <a:ext cx="4159885" cy="1887855"/>
          </a:xfrm>
          <a:prstGeom prst="wedgeRoundRectCallout">
            <a:avLst>
              <a:gd name="adj1" fmla="val -54243"/>
              <a:gd name="adj2" fmla="val 1844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880100" y="4793615"/>
            <a:ext cx="995680" cy="9956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389178" y="2835275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男装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429183" y="486664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女装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27" name="图片 26" descr="32313539383935363b32313539383934393bbcc6bbaeb1ed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8700" y="3043555"/>
            <a:ext cx="521970" cy="521970"/>
          </a:xfrm>
          <a:prstGeom prst="rect">
            <a:avLst/>
          </a:prstGeom>
        </p:spPr>
      </p:pic>
      <p:pic>
        <p:nvPicPr>
          <p:cNvPr id="28" name="图片 27" descr="32313539383935363b32313539383935303bb5e7bbb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8700" y="5063490"/>
            <a:ext cx="521970" cy="521970"/>
          </a:xfrm>
          <a:prstGeom prst="rect">
            <a:avLst/>
          </a:prstGeom>
        </p:spPr>
      </p:pic>
      <p:sp>
        <p:nvSpPr>
          <p:cNvPr id="32" name="椭圆 31"/>
          <p:cNvSpPr/>
          <p:nvPr/>
        </p:nvSpPr>
        <p:spPr>
          <a:xfrm>
            <a:off x="948055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666240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2384425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61695" y="3633470"/>
            <a:ext cx="29527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）以服装穿着者性别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pic>
        <p:nvPicPr>
          <p:cNvPr id="37" name="图片 36" descr="32303038313138353b32303039303633303bd0c7d0c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510" y="5343525"/>
            <a:ext cx="278765" cy="278765"/>
          </a:xfrm>
          <a:prstGeom prst="rect">
            <a:avLst/>
          </a:prstGeom>
        </p:spPr>
      </p:pic>
      <p:pic>
        <p:nvPicPr>
          <p:cNvPr id="38" name="图片 37" descr="32303038313138353b32303039303633303bd0c7d0c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2600" y="5327015"/>
            <a:ext cx="278765" cy="278765"/>
          </a:xfrm>
          <a:prstGeom prst="rect">
            <a:avLst/>
          </a:prstGeom>
        </p:spPr>
      </p:pic>
      <p:pic>
        <p:nvPicPr>
          <p:cNvPr id="39" name="图片 38" descr="32303038313138353b32303039303633303bd0c7d0c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71420" y="5327015"/>
            <a:ext cx="278765" cy="27876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23" grpId="0"/>
      <p:bldP spid="23" grpId="1"/>
      <p:bldP spid="24" grpId="0"/>
      <p:bldP spid="24" grpId="1"/>
      <p:bldP spid="35" grpId="0"/>
      <p:bldP spid="3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 flipH="1">
            <a:off x="7498715" y="-7620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图片\IMG_3726.JPGIMG_372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flipH="1">
            <a:off x="7903210" y="0"/>
            <a:ext cx="4288790" cy="68656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1530985" y="2599055"/>
            <a:ext cx="4403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男装</a:t>
            </a:r>
            <a:endParaRPr lang="zh-CN" altLang="en-US" sz="4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75005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675005" y="3571240"/>
            <a:ext cx="58756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）以服装穿着者性别分类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与女装相比，男装在服装发展历史长河中所占比例小许多</a:t>
            </a:r>
            <a:r>
              <a:rPr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。</a:t>
            </a:r>
            <a:endParaRPr lang="en-US" altLang="zh-CN" sz="16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但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男装也有其独特性，经历历史的不断变革</a:t>
            </a:r>
            <a:r>
              <a:rPr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，</a:t>
            </a:r>
            <a:endParaRPr lang="en-US" altLang="zh-CN" sz="16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男装已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具备相当完善的着装理念。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675005" y="27406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75335" y="2757805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38" grpId="1"/>
      <p:bldP spid="4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IMG_12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8508" y="3357562"/>
            <a:ext cx="2624016" cy="3500438"/>
          </a:xfrm>
          <a:prstGeom prst="flowChartInputOutput">
            <a:avLst/>
          </a:prstGeom>
        </p:spPr>
      </p:pic>
      <p:sp>
        <p:nvSpPr>
          <p:cNvPr id="42" name="圆角矩形 41"/>
          <p:cNvSpPr/>
          <p:nvPr>
            <p:custDataLst>
              <p:tags r:id="rId2"/>
            </p:custDataLst>
          </p:nvPr>
        </p:nvSpPr>
        <p:spPr>
          <a:xfrm>
            <a:off x="675005" y="27406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407795" y="2278380"/>
            <a:ext cx="4718685" cy="4338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女装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女性永远是时尚的追逐者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，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是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时尚的最大参与群体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，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而且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永远是时装设计师密切关注的对象，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女装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设计在服装设计中占据非常重要的地位。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女装样式的多元化推动了服装的发展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图片 3" descr="IMG_149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712" y="-642966"/>
            <a:ext cx="2571752" cy="3857628"/>
          </a:xfrm>
          <a:prstGeom prst="flowChartInputOutput">
            <a:avLst/>
          </a:prstGeom>
        </p:spPr>
      </p:pic>
      <p:pic>
        <p:nvPicPr>
          <p:cNvPr id="14" name="图片 13" descr="IMG_25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188" y="1714488"/>
            <a:ext cx="2669375" cy="4000504"/>
          </a:xfrm>
          <a:prstGeom prst="flowChartInputOutpu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8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9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10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39" name="直接连接符 38"/>
          <p:cNvCxnSpPr/>
          <p:nvPr>
            <p:custDataLst>
              <p:tags r:id="rId11"/>
            </p:custDataLst>
          </p:nvPr>
        </p:nvCxnSpPr>
        <p:spPr>
          <a:xfrm>
            <a:off x="675005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775335" y="2757805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13180" y="348488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）以服装穿着者性别分类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5366385" y="2252345"/>
            <a:ext cx="0" cy="378587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5880100" y="2835275"/>
            <a:ext cx="995680" cy="9956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标注 16"/>
          <p:cNvSpPr/>
          <p:nvPr/>
        </p:nvSpPr>
        <p:spPr>
          <a:xfrm>
            <a:off x="7202170" y="2129155"/>
            <a:ext cx="4159885" cy="1887855"/>
          </a:xfrm>
          <a:prstGeom prst="wedgeRoundRectCallout">
            <a:avLst>
              <a:gd name="adj1" fmla="val -54243"/>
              <a:gd name="adj2" fmla="val 1844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48055" y="3507740"/>
            <a:ext cx="2866390" cy="64262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标注 20"/>
          <p:cNvSpPr/>
          <p:nvPr/>
        </p:nvSpPr>
        <p:spPr>
          <a:xfrm>
            <a:off x="7202170" y="4150360"/>
            <a:ext cx="4159885" cy="1887855"/>
          </a:xfrm>
          <a:prstGeom prst="wedgeRoundRectCallout">
            <a:avLst>
              <a:gd name="adj1" fmla="val -54243"/>
              <a:gd name="adj2" fmla="val 1844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880100" y="4793615"/>
            <a:ext cx="995680" cy="9956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389178" y="2835275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春夏装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429183" y="486664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秋冬装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27" name="图片 26" descr="32313539383935363b32313539383934393bbcc6bbaeb1ed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8700" y="3043555"/>
            <a:ext cx="521970" cy="521970"/>
          </a:xfrm>
          <a:prstGeom prst="rect">
            <a:avLst/>
          </a:prstGeom>
        </p:spPr>
      </p:pic>
      <p:pic>
        <p:nvPicPr>
          <p:cNvPr id="28" name="图片 27" descr="32313539383935363b32313539383935303bb5e7bbb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8700" y="5063490"/>
            <a:ext cx="521970" cy="521970"/>
          </a:xfrm>
          <a:prstGeom prst="rect">
            <a:avLst/>
          </a:prstGeom>
        </p:spPr>
      </p:pic>
      <p:sp>
        <p:nvSpPr>
          <p:cNvPr id="32" name="椭圆 31"/>
          <p:cNvSpPr/>
          <p:nvPr/>
        </p:nvSpPr>
        <p:spPr>
          <a:xfrm>
            <a:off x="948055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666240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2384425" y="5252720"/>
            <a:ext cx="450215" cy="450215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61695" y="3633470"/>
            <a:ext cx="29527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）以季节差异分类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pic>
        <p:nvPicPr>
          <p:cNvPr id="37" name="图片 36" descr="32303038313138353b32303039303633303bd0c7d0c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510" y="5343525"/>
            <a:ext cx="278765" cy="278765"/>
          </a:xfrm>
          <a:prstGeom prst="rect">
            <a:avLst/>
          </a:prstGeom>
        </p:spPr>
      </p:pic>
      <p:pic>
        <p:nvPicPr>
          <p:cNvPr id="38" name="图片 37" descr="32303038313138353b32303039303633303bd0c7d0c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2600" y="5327015"/>
            <a:ext cx="278765" cy="278765"/>
          </a:xfrm>
          <a:prstGeom prst="rect">
            <a:avLst/>
          </a:prstGeom>
        </p:spPr>
      </p:pic>
      <p:pic>
        <p:nvPicPr>
          <p:cNvPr id="39" name="图片 38" descr="32303038313138353b32303039303633303bd0c7d0c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71420" y="5327015"/>
            <a:ext cx="278765" cy="27876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23" grpId="0"/>
      <p:bldP spid="23" grpId="1"/>
      <p:bldP spid="24" grpId="0"/>
      <p:bldP spid="24" grpId="1"/>
      <p:bldP spid="35" grpId="0"/>
      <p:bldP spid="3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312863" y="3040380"/>
            <a:ext cx="20935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以季节差异分类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25880" y="3655695"/>
            <a:ext cx="504634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春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夏装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指在春夏季节穿着的服装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由于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春夏季相连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，季节性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气温差异不大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，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因此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春夏两季服装有许多共性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197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）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92785" y="424497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2" name="图片 1" descr="IMG_2549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38147" y="828021"/>
            <a:ext cx="3521302" cy="5286388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4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6" grpId="0"/>
      <p:bldP spid="26" grpId="1"/>
      <p:bldP spid="21" grpId="0"/>
      <p:bldP spid="21" grpId="1"/>
      <p:bldP spid="30" grpId="0"/>
      <p:bldP spid="3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312863" y="3040380"/>
            <a:ext cx="20935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以季节差异分类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25880" y="3655695"/>
            <a:ext cx="50463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秋冬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装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指在秋冬季节穿着的服装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。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1970" y="3074035"/>
            <a:ext cx="633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）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92785" y="424497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2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12" name="图片 11" descr="IMG_2545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94930" y="828040"/>
            <a:ext cx="3156585" cy="52863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6" grpId="0"/>
      <p:bldP spid="26" grpId="1"/>
      <p:bldP spid="21" grpId="0"/>
      <p:bldP spid="21" grpId="1"/>
      <p:bldP spid="30" grpId="0"/>
      <p:bldP spid="3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椭圆 27"/>
          <p:cNvSpPr/>
          <p:nvPr/>
        </p:nvSpPr>
        <p:spPr>
          <a:xfrm>
            <a:off x="4552633" y="2568575"/>
            <a:ext cx="3086735" cy="308673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4695508" y="2722563"/>
            <a:ext cx="2799080" cy="28562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4647248" y="2722563"/>
            <a:ext cx="2961640" cy="289433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998913" y="4111625"/>
            <a:ext cx="41941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049520" y="500380"/>
            <a:ext cx="25590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4439920" y="24955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3911600" y="38544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504690" y="519303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7102475" y="2468245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7671435" y="385445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7123430" y="5134610"/>
            <a:ext cx="593090" cy="5930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39920" y="254952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964305" y="3920490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02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25010" y="527113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164070" y="518604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06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709535" y="3920490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05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143115" y="2549525"/>
            <a:ext cx="626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58190" y="2388235"/>
            <a:ext cx="28835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</a:rPr>
              <a:t>以服装穿着者性别分类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646555" y="3605530"/>
            <a:ext cx="1985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</a:rPr>
              <a:t>以季节差异分类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399540" y="4900295"/>
            <a:ext cx="22421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rgbClr val="C00000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以品牌类型分类</a:t>
            </a:r>
            <a:endParaRPr lang="zh-CN" altLang="en-US" sz="2000">
              <a:solidFill>
                <a:srgbClr val="C00000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450580" y="2350770"/>
            <a:ext cx="19716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</a:rPr>
              <a:t>以功能风格分类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1055" y="3568065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000">
                <a:latin typeface="思源黑体 CN Medium" panose="020B0600000000000000" charset="-122"/>
                <a:ea typeface="思源黑体 CN Medium" panose="020B0600000000000000" charset="-122"/>
              </a:rPr>
              <a:t>……</a:t>
            </a:r>
            <a:endParaRPr lang="en-US" altLang="zh-CN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450580" y="4862830"/>
            <a:ext cx="1720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000">
                <a:latin typeface="思源黑体 CN Medium" panose="020B0600000000000000" charset="-122"/>
                <a:ea typeface="思源黑体 CN Medium" panose="020B0600000000000000" charset="-122"/>
              </a:rPr>
              <a:t>……</a:t>
            </a:r>
            <a:endParaRPr lang="en-US" altLang="zh-CN" sz="20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6" name="任意多边形 65"/>
          <p:cNvSpPr/>
          <p:nvPr/>
        </p:nvSpPr>
        <p:spPr>
          <a:xfrm>
            <a:off x="5007610" y="3023235"/>
            <a:ext cx="2176145" cy="217614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28" h="3428">
                <a:moveTo>
                  <a:pt x="0" y="1714"/>
                </a:moveTo>
                <a:cubicBezTo>
                  <a:pt x="-30" y="752"/>
                  <a:pt x="851" y="-24"/>
                  <a:pt x="1714" y="0"/>
                </a:cubicBezTo>
                <a:cubicBezTo>
                  <a:pt x="2675" y="-30"/>
                  <a:pt x="3451" y="851"/>
                  <a:pt x="3427" y="1714"/>
                </a:cubicBezTo>
                <a:cubicBezTo>
                  <a:pt x="3457" y="2675"/>
                  <a:pt x="2576" y="3451"/>
                  <a:pt x="1714" y="3427"/>
                </a:cubicBezTo>
                <a:cubicBezTo>
                  <a:pt x="752" y="3457"/>
                  <a:pt x="-24" y="2576"/>
                  <a:pt x="0" y="1714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5266055" y="4193540"/>
            <a:ext cx="16440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服装的分类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68" name="图片 67" descr="32313539373837383b32313539373837373bcdb6cbdfd6d0d0c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2305" y="3422650"/>
            <a:ext cx="650240" cy="6502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50" grpId="0"/>
      <p:bldP spid="50" grpId="1"/>
      <p:bldP spid="54" grpId="0"/>
      <p:bldP spid="54" grpId="1"/>
      <p:bldP spid="56" grpId="0"/>
      <p:bldP spid="56" grpId="1"/>
      <p:bldP spid="61" grpId="0"/>
      <p:bldP spid="61" grpId="1"/>
      <p:bldP spid="63" grpId="0"/>
      <p:bldP spid="63" grpId="1"/>
      <p:bldP spid="65" grpId="0"/>
      <p:bldP spid="65" grpId="1"/>
      <p:bldP spid="67" grpId="0"/>
      <p:bldP spid="6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59506" y="2561258"/>
            <a:ext cx="3230880" cy="41998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服装品牌的概念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00000"/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00000"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服装品牌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Clr>
                <a:schemeClr val="accent5">
                  <a:lumMod val="75000"/>
                </a:schemeClr>
              </a:buClr>
              <a:buSzPct val="100000"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是指用以识别服装的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某一名称、术语、符号、形象设计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或它们的组合。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>
            <p:custDataLst>
              <p:tags r:id="rId4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049520" y="500380"/>
            <a:ext cx="24898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服装品牌的概念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IMG_35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1610" y="2833370"/>
            <a:ext cx="4917440" cy="328104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8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9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10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>
            <p:custDataLst>
              <p:tags r:id="rId11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2132330" y="3830955"/>
            <a:ext cx="0" cy="73088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>
            <a:stCxn id="15" idx="6"/>
            <a:endCxn id="22" idx="2"/>
          </p:cNvCxnSpPr>
          <p:nvPr/>
        </p:nvCxnSpPr>
        <p:spPr>
          <a:xfrm>
            <a:off x="2204085" y="4196715"/>
            <a:ext cx="6411595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2060575" y="4124960"/>
            <a:ext cx="143510" cy="143510"/>
          </a:xfrm>
          <a:prstGeom prst="ellipse">
            <a:avLst/>
          </a:prstGeom>
          <a:solidFill>
            <a:srgbClr val="C00000"/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5410200" y="3830955"/>
            <a:ext cx="0" cy="73088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5338445" y="4124325"/>
            <a:ext cx="143510" cy="143510"/>
          </a:xfrm>
          <a:prstGeom prst="ellipse">
            <a:avLst/>
          </a:prstGeom>
          <a:solidFill>
            <a:srgbClr val="C00000"/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8687435" y="3832225"/>
            <a:ext cx="0" cy="73088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标注 25"/>
          <p:cNvSpPr/>
          <p:nvPr/>
        </p:nvSpPr>
        <p:spPr>
          <a:xfrm flipV="1">
            <a:off x="1314450" y="4599305"/>
            <a:ext cx="2800350" cy="1475105"/>
          </a:xfrm>
          <a:prstGeom prst="wedgeRoundRectCallo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标注 27"/>
          <p:cNvSpPr/>
          <p:nvPr/>
        </p:nvSpPr>
        <p:spPr>
          <a:xfrm>
            <a:off x="4601845" y="2208530"/>
            <a:ext cx="2807970" cy="1550670"/>
          </a:xfrm>
          <a:prstGeom prst="wedgeRoundRectCallo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615680" y="4124960"/>
            <a:ext cx="143510" cy="143510"/>
          </a:xfrm>
          <a:prstGeom prst="ellipse">
            <a:avLst/>
          </a:prstGeom>
          <a:solidFill>
            <a:srgbClr val="C00000"/>
          </a:solidFill>
          <a:ln w="158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 descr="D:\图片\IMG_3480.JPGIMG_348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69853" y="4416425"/>
            <a:ext cx="1644650" cy="16446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18" h="2613">
                <a:moveTo>
                  <a:pt x="0" y="2226"/>
                </a:moveTo>
                <a:cubicBezTo>
                  <a:pt x="0" y="2440"/>
                  <a:pt x="173" y="2613"/>
                  <a:pt x="387" y="2613"/>
                </a:cubicBezTo>
                <a:lnTo>
                  <a:pt x="636" y="2613"/>
                </a:lnTo>
                <a:lnTo>
                  <a:pt x="1591" y="2613"/>
                </a:lnTo>
                <a:lnTo>
                  <a:pt x="3431" y="2613"/>
                </a:lnTo>
                <a:cubicBezTo>
                  <a:pt x="3645" y="2613"/>
                  <a:pt x="3818" y="2440"/>
                  <a:pt x="3818" y="2226"/>
                </a:cubicBezTo>
                <a:lnTo>
                  <a:pt x="3818" y="1258"/>
                </a:lnTo>
                <a:lnTo>
                  <a:pt x="3818" y="678"/>
                </a:lnTo>
                <a:lnTo>
                  <a:pt x="3818" y="678"/>
                </a:lnTo>
                <a:cubicBezTo>
                  <a:pt x="3818" y="464"/>
                  <a:pt x="3645" y="290"/>
                  <a:pt x="3431" y="290"/>
                </a:cubicBezTo>
                <a:lnTo>
                  <a:pt x="1591" y="290"/>
                </a:lnTo>
                <a:lnTo>
                  <a:pt x="1114" y="0"/>
                </a:lnTo>
                <a:lnTo>
                  <a:pt x="636" y="290"/>
                </a:lnTo>
                <a:lnTo>
                  <a:pt x="387" y="290"/>
                </a:lnTo>
                <a:cubicBezTo>
                  <a:pt x="173" y="290"/>
                  <a:pt x="0" y="464"/>
                  <a:pt x="0" y="678"/>
                </a:cubicBezTo>
                <a:lnTo>
                  <a:pt x="0" y="678"/>
                </a:lnTo>
                <a:lnTo>
                  <a:pt x="0" y="1258"/>
                </a:lnTo>
                <a:lnTo>
                  <a:pt x="0" y="2226"/>
                </a:lnTo>
                <a:close/>
              </a:path>
            </a:pathLst>
          </a:custGeom>
        </p:spPr>
      </p:pic>
      <p:pic>
        <p:nvPicPr>
          <p:cNvPr id="31" name="图片 30" descr="D:\图片\IMG_6005.JPGIMG_600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67078" y="2147570"/>
            <a:ext cx="1772920" cy="17735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18" h="2646">
                <a:moveTo>
                  <a:pt x="0" y="392"/>
                </a:moveTo>
                <a:cubicBezTo>
                  <a:pt x="0" y="175"/>
                  <a:pt x="175" y="0"/>
                  <a:pt x="392" y="0"/>
                </a:cubicBezTo>
                <a:lnTo>
                  <a:pt x="636" y="0"/>
                </a:lnTo>
                <a:lnTo>
                  <a:pt x="1591" y="0"/>
                </a:lnTo>
                <a:lnTo>
                  <a:pt x="3426" y="0"/>
                </a:lnTo>
                <a:cubicBezTo>
                  <a:pt x="3643" y="0"/>
                  <a:pt x="3818" y="175"/>
                  <a:pt x="3818" y="392"/>
                </a:cubicBezTo>
                <a:lnTo>
                  <a:pt x="3818" y="1372"/>
                </a:lnTo>
                <a:lnTo>
                  <a:pt x="3818" y="1960"/>
                </a:lnTo>
                <a:lnTo>
                  <a:pt x="3818" y="1960"/>
                </a:lnTo>
                <a:cubicBezTo>
                  <a:pt x="3818" y="2177"/>
                  <a:pt x="3643" y="2352"/>
                  <a:pt x="3426" y="2352"/>
                </a:cubicBezTo>
                <a:lnTo>
                  <a:pt x="1591" y="2352"/>
                </a:lnTo>
                <a:lnTo>
                  <a:pt x="1114" y="2646"/>
                </a:lnTo>
                <a:lnTo>
                  <a:pt x="636" y="2352"/>
                </a:lnTo>
                <a:lnTo>
                  <a:pt x="392" y="2352"/>
                </a:lnTo>
                <a:cubicBezTo>
                  <a:pt x="175" y="2352"/>
                  <a:pt x="0" y="2177"/>
                  <a:pt x="0" y="1960"/>
                </a:cubicBezTo>
                <a:lnTo>
                  <a:pt x="0" y="1960"/>
                </a:lnTo>
                <a:lnTo>
                  <a:pt x="0" y="1372"/>
                </a:lnTo>
                <a:lnTo>
                  <a:pt x="0" y="392"/>
                </a:lnTo>
                <a:close/>
              </a:path>
            </a:pathLst>
          </a:custGeom>
        </p:spPr>
      </p:pic>
      <p:pic>
        <p:nvPicPr>
          <p:cNvPr id="29" name="图片 28" descr="D:\图片\IMG_3968.JPGIMG_396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65973" y="2243455"/>
            <a:ext cx="1296035" cy="1733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18" h="2646">
                <a:moveTo>
                  <a:pt x="0" y="392"/>
                </a:moveTo>
                <a:cubicBezTo>
                  <a:pt x="0" y="175"/>
                  <a:pt x="175" y="0"/>
                  <a:pt x="392" y="0"/>
                </a:cubicBezTo>
                <a:lnTo>
                  <a:pt x="636" y="0"/>
                </a:lnTo>
                <a:lnTo>
                  <a:pt x="1591" y="0"/>
                </a:lnTo>
                <a:lnTo>
                  <a:pt x="3426" y="0"/>
                </a:lnTo>
                <a:cubicBezTo>
                  <a:pt x="3643" y="0"/>
                  <a:pt x="3818" y="175"/>
                  <a:pt x="3818" y="392"/>
                </a:cubicBezTo>
                <a:lnTo>
                  <a:pt x="3818" y="1372"/>
                </a:lnTo>
                <a:lnTo>
                  <a:pt x="3818" y="1960"/>
                </a:lnTo>
                <a:lnTo>
                  <a:pt x="3818" y="1960"/>
                </a:lnTo>
                <a:cubicBezTo>
                  <a:pt x="3818" y="2177"/>
                  <a:pt x="3643" y="2352"/>
                  <a:pt x="3426" y="2352"/>
                </a:cubicBezTo>
                <a:lnTo>
                  <a:pt x="1591" y="2352"/>
                </a:lnTo>
                <a:lnTo>
                  <a:pt x="1114" y="2646"/>
                </a:lnTo>
                <a:lnTo>
                  <a:pt x="636" y="2352"/>
                </a:lnTo>
                <a:lnTo>
                  <a:pt x="392" y="2352"/>
                </a:lnTo>
                <a:cubicBezTo>
                  <a:pt x="175" y="2352"/>
                  <a:pt x="0" y="2177"/>
                  <a:pt x="0" y="1960"/>
                </a:cubicBezTo>
                <a:lnTo>
                  <a:pt x="0" y="1960"/>
                </a:lnTo>
                <a:lnTo>
                  <a:pt x="0" y="1372"/>
                </a:lnTo>
                <a:lnTo>
                  <a:pt x="0" y="392"/>
                </a:lnTo>
                <a:close/>
              </a:path>
            </a:pathLst>
          </a:custGeom>
        </p:spPr>
      </p:pic>
      <p:sp>
        <p:nvSpPr>
          <p:cNvPr id="32" name="圆角矩形标注 31"/>
          <p:cNvSpPr/>
          <p:nvPr/>
        </p:nvSpPr>
        <p:spPr>
          <a:xfrm flipV="1">
            <a:off x="7869555" y="4599305"/>
            <a:ext cx="2800350" cy="1475105"/>
          </a:xfrm>
          <a:prstGeom prst="wedgeRoundRectCallo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364615" y="5182870"/>
            <a:ext cx="258381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高级时装品牌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374775" y="4784090"/>
            <a:ext cx="26758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（</a:t>
            </a:r>
            <a:r>
              <a:rPr lang="en-US" altLang="zh-CN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3)</a:t>
            </a:r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以品牌类型分类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690110" y="2787015"/>
            <a:ext cx="258381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高级成衣品牌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601845" y="2388235"/>
            <a:ext cx="25888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（</a:t>
            </a:r>
            <a:r>
              <a:rPr lang="en-US" altLang="zh-CN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3)</a:t>
            </a:r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以品牌类型分类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035925" y="5106670"/>
            <a:ext cx="258381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大众化成衣品牌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870190" y="4679315"/>
            <a:ext cx="28263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（</a:t>
            </a:r>
            <a:r>
              <a:rPr lang="en-US" altLang="zh-CN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3)</a:t>
            </a:r>
            <a:r>
              <a:rPr lang="zh-CN" altLang="en-US" sz="20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以品牌类型分类</a:t>
            </a:r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3" grpId="0"/>
      <p:bldP spid="3" grpId="1"/>
      <p:bldP spid="17" grpId="0"/>
      <p:bldP spid="1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17220" y="2307590"/>
            <a:ext cx="8570595" cy="20358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 descr="D:\图片\服装品牌概论图片\1a33fee63c43d7cf5cf0a1712970c4f2.jpg1a33fee63c43d7cf5cf0a1712970c4f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033193" y="2308225"/>
            <a:ext cx="1983105" cy="2035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38" h="3206">
                <a:moveTo>
                  <a:pt x="0" y="0"/>
                </a:moveTo>
                <a:lnTo>
                  <a:pt x="3838" y="0"/>
                </a:lnTo>
                <a:lnTo>
                  <a:pt x="3838" y="3206"/>
                </a:lnTo>
                <a:lnTo>
                  <a:pt x="0" y="320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文本框 26"/>
          <p:cNvSpPr txBox="1"/>
          <p:nvPr/>
        </p:nvSpPr>
        <p:spPr>
          <a:xfrm>
            <a:off x="918528" y="255143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18845" y="2551430"/>
            <a:ext cx="782066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0">
                <a:solidFill>
                  <a:schemeClr val="bg2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高级时（女）装品牌</a:t>
            </a:r>
            <a:endParaRPr lang="zh-CN" sz="2400" b="0">
              <a:solidFill>
                <a:schemeClr val="bg2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高级时装属于法国独创的时装艺术，</a:t>
            </a:r>
            <a:endParaRPr lang="zh-CN" altLang="en-US" sz="16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它是展现设计师独特风格、设计思想及高超工艺的一种服装形式。</a:t>
            </a:r>
            <a:endParaRPr lang="en-US" altLang="zh-CN" sz="16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600" b="1" dirty="0">
              <a:solidFill>
                <a:schemeClr val="bg2"/>
              </a:solidFill>
              <a:latin typeface="Times New Roman" panose="02020603050405020304" pitchFamily="18" charset="0"/>
              <a:ea typeface="思源黑体 CN Medium" panose="020B0600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/>
      <p:bldP spid="28" grpId="1"/>
      <p:bldP spid="3" grpId="0"/>
      <p:bldP spid="3" grpId="1"/>
      <p:bldP spid="17" grpId="0"/>
      <p:bldP spid="1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918528" y="255143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12" name="图片 11" descr="IMG_28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460" y="1614805"/>
            <a:ext cx="2999740" cy="4499610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202336" y="2910452"/>
            <a:ext cx="6308090" cy="4892675"/>
          </a:xfrm>
          <a:prstGeom prst="rect">
            <a:avLst/>
          </a:prstGeom>
        </p:spPr>
        <p:txBody>
          <a:bodyPr wrap="none">
            <a:spAutoFit/>
          </a:bodyPr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根据法国高级时装协会规定，对于高级时装品牌的要求：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                         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在巴黎设有工作室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2.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完全由手工制作而成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3.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量身定做，其间需多次试样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4.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每年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月和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7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月召开两次发布会，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每次发布不少于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75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件日装和晚装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5.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常年雇佣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人以上的专职模特儿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6.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常年雇员不少于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人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5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>
            <p:custDataLst>
              <p:tags r:id="rId7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3" grpId="0"/>
      <p:bldP spid="3" grpId="1"/>
      <p:bldP spid="17" grpId="0"/>
      <p:bldP spid="17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04285" y="2841290"/>
            <a:ext cx="3643338" cy="3830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高级成衣品牌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Ready-to-wear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中产阶层为消费对象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前一年发表的高级时装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便于成衣化的设计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一定程度上运用高级时装的制作技术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小批量生产的高档成衣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IMG_25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0160" y="1611630"/>
            <a:ext cx="2988945" cy="45027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/>
      <p:bldP spid="1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04285" y="2841290"/>
            <a:ext cx="3643338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大众化成衣品牌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型号规格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工业化批量生产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生产量大、适合面广、价格较低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平时人们穿的即时此类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651" name="图片 6" descr="1290068344_42766700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27345" t="3270" r="7120" b="4437"/>
          <a:stretch>
            <a:fillRect/>
          </a:stretch>
        </p:blipFill>
        <p:spPr bwMode="auto">
          <a:xfrm>
            <a:off x="6517427" y="2113902"/>
            <a:ext cx="4101677" cy="400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/>
      <p:bldP spid="17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02685" y="2561890"/>
            <a:ext cx="3643338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以功能风格分类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职业装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休闲装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晚装礼服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755015" y="54298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 descr="IMG_1232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lum bright="10000" contrast="-20000"/>
          </a:blip>
          <a:stretch>
            <a:fillRect/>
          </a:stretch>
        </p:blipFill>
        <p:spPr>
          <a:xfrm>
            <a:off x="6891654" y="2149778"/>
            <a:ext cx="3929090" cy="3929090"/>
          </a:xfrm>
          <a:prstGeom prst="diamond">
            <a:avLst/>
          </a:prstGeom>
        </p:spPr>
      </p:pic>
      <p:sp>
        <p:nvSpPr>
          <p:cNvPr id="13" name="菱形 12"/>
          <p:cNvSpPr/>
          <p:nvPr>
            <p:custDataLst>
              <p:tags r:id="rId15"/>
            </p:custDataLst>
          </p:nvPr>
        </p:nvSpPr>
        <p:spPr>
          <a:xfrm>
            <a:off x="6463026" y="1721150"/>
            <a:ext cx="4786346" cy="4786346"/>
          </a:xfrm>
          <a:prstGeom prst="diamond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/>
      <p:bldP spid="17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04285" y="2841290"/>
            <a:ext cx="3643338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职业装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体现严谨专业的形象。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款式相对简单，重点在于细节的设计和变化。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色彩相对素净单纯，面料考究。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 descr="IMG_3481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419975" y="1612265"/>
            <a:ext cx="3001010" cy="45021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/>
      <p:bldP spid="17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04285" y="2961940"/>
            <a:ext cx="3643338" cy="2907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休闲装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休闲装款式一般以轻松、随意为主，色彩选择比较丰富。面料追求舒适、易打理。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IMG_3482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lum bright="10000" contrast="-20000"/>
          </a:blip>
          <a:stretch>
            <a:fillRect/>
          </a:stretch>
        </p:blipFill>
        <p:spPr>
          <a:xfrm>
            <a:off x="7393305" y="1612265"/>
            <a:ext cx="3000375" cy="45021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/>
      <p:bldP spid="1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04285" y="2841290"/>
            <a:ext cx="3643338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晚装礼服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晚装、礼服在日常生活中使用频率比较低。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款式以优雅大方为主，色彩高雅，面料相对奢华。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1684c165e050156e6e6dd6b60ea80ee7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419975" y="1656080"/>
            <a:ext cx="2954655" cy="44583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/>
      <p:bldP spid="17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17220" y="2307590"/>
            <a:ext cx="8570595" cy="20358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 descr="D:\图片\大师黑白照片\IMG_3608.JPGIMG_3608"/>
          <p:cNvPicPr>
            <a:picLocks noChangeAspect="1"/>
          </p:cNvPicPr>
          <p:nvPr/>
        </p:nvPicPr>
        <p:blipFill>
          <a:blip r:embed="rId1"/>
          <a:srcRect l="2274"/>
          <a:stretch>
            <a:fillRect/>
          </a:stretch>
        </p:blipFill>
        <p:spPr>
          <a:xfrm>
            <a:off x="9182100" y="2308225"/>
            <a:ext cx="1855470" cy="2035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38" h="3206">
                <a:moveTo>
                  <a:pt x="0" y="0"/>
                </a:moveTo>
                <a:lnTo>
                  <a:pt x="3838" y="0"/>
                </a:lnTo>
                <a:lnTo>
                  <a:pt x="3838" y="3206"/>
                </a:lnTo>
                <a:lnTo>
                  <a:pt x="0" y="320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文本框 26"/>
          <p:cNvSpPr txBox="1"/>
          <p:nvPr/>
        </p:nvSpPr>
        <p:spPr>
          <a:xfrm>
            <a:off x="918528" y="255143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18845" y="2551430"/>
            <a:ext cx="782066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+mn-ea"/>
                <a:cs typeface="+mn-ea"/>
                <a:sym typeface="+mn-ea"/>
              </a:rPr>
              <a:t>着装的原则</a:t>
            </a:r>
            <a:endParaRPr lang="zh-CN" altLang="en-US" b="1">
              <a:solidFill>
                <a:schemeClr val="bg1"/>
              </a:solidFill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“时尚同时是毛毛虫和蝴蝶，白天是毛毛虫，而黑夜则是蝴蝶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……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所以要有爬行的服装和飞翔的服装。”</a:t>
            </a:r>
            <a:endParaRPr lang="en-US" altLang="zh-CN" b="1" dirty="0" smtClean="0">
              <a:solidFill>
                <a:schemeClr val="bg1"/>
              </a:solidFill>
              <a:latin typeface="+mn-ea"/>
              <a:cs typeface="+mn-ea"/>
            </a:endParaRPr>
          </a:p>
          <a:p>
            <a:pPr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                                          ——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夏奈尔</a:t>
            </a:r>
            <a:endParaRPr lang="zh-CN" altLang="en-US" b="1" dirty="0" smtClean="0">
              <a:solidFill>
                <a:schemeClr val="bg1"/>
              </a:solidFill>
              <a:latin typeface="+mn-ea"/>
              <a:cs typeface="+mn-ea"/>
            </a:endParaRPr>
          </a:p>
          <a:p>
            <a:endParaRPr lang="zh-CN" altLang="en-US" b="1" dirty="0" smtClean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/>
      <p:bldP spid="28" grpId="1"/>
      <p:bldP spid="3" grpId="0"/>
      <p:bldP spid="3" grpId="1"/>
      <p:bldP spid="17" grpId="0"/>
      <p:bldP spid="17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13815" y="2885440"/>
            <a:ext cx="5758180" cy="3738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b="1">
                <a:latin typeface="+mn-ea"/>
                <a:cs typeface="+mn-ea"/>
                <a:sym typeface="+mn-ea"/>
              </a:rPr>
              <a:t>着装的原则</a:t>
            </a:r>
            <a:endParaRPr lang="zh-CN" altLang="en-US" b="1">
              <a:solidFill>
                <a:schemeClr val="tx1"/>
              </a:solidFill>
              <a:latin typeface="+mn-ea"/>
              <a:cs typeface="+mn-ea"/>
            </a:endParaRPr>
          </a:p>
          <a:p>
            <a:pPr indent="0" algn="l" fontAlgn="auto">
              <a:lnSpc>
                <a:spcPct val="150000"/>
              </a:lnSpc>
            </a:pPr>
            <a:endParaRPr lang="zh-CN" altLang="en-US" b="1" dirty="0">
              <a:latin typeface="+mn-ea"/>
              <a:cs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b="1" dirty="0">
                <a:latin typeface="+mn-ea"/>
                <a:cs typeface="+mn-ea"/>
                <a:sym typeface="+mn-ea"/>
              </a:rPr>
              <a:t>着装的</a:t>
            </a:r>
            <a:r>
              <a:rPr lang="en-US" altLang="zh-CN" b="1" dirty="0">
                <a:latin typeface="+mn-ea"/>
                <a:cs typeface="+mn-ea"/>
                <a:sym typeface="+mn-ea"/>
              </a:rPr>
              <a:t>TOP</a:t>
            </a:r>
            <a:r>
              <a:rPr lang="zh-CN" altLang="en-US" b="1" dirty="0">
                <a:latin typeface="+mn-ea"/>
                <a:cs typeface="+mn-ea"/>
                <a:sym typeface="+mn-ea"/>
              </a:rPr>
              <a:t>原则</a:t>
            </a:r>
            <a:br>
              <a:rPr lang="zh-CN" altLang="en-US" b="1" dirty="0">
                <a:latin typeface="+mn-ea"/>
                <a:cs typeface="+mn-ea"/>
                <a:sym typeface="+mn-ea"/>
              </a:rPr>
            </a:br>
            <a:r>
              <a:rPr lang="en-US" altLang="zh-CN" b="1" dirty="0">
                <a:latin typeface="+mn-ea"/>
                <a:cs typeface="+mn-ea"/>
                <a:sym typeface="+mn-ea"/>
              </a:rPr>
              <a:t>TOP</a:t>
            </a:r>
            <a:r>
              <a:rPr lang="zh-CN" altLang="en-US" b="1" dirty="0">
                <a:latin typeface="+mn-ea"/>
                <a:cs typeface="+mn-ea"/>
                <a:sym typeface="+mn-ea"/>
              </a:rPr>
              <a:t>是三个英语单词的缩写，</a:t>
            </a:r>
            <a:endParaRPr lang="en-US" altLang="zh-CN" b="1" dirty="0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  <a:cs typeface="+mn-ea"/>
                <a:sym typeface="+mn-ea"/>
              </a:rPr>
              <a:t>它们分别代表</a:t>
            </a:r>
            <a:endParaRPr lang="zh-CN" altLang="en-US" b="1" dirty="0"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时间（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Time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）、场合（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Occasion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）和地点（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Place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），</a:t>
            </a:r>
            <a:endParaRPr lang="en-US" altLang="zh-CN" b="1" dirty="0">
              <a:solidFill>
                <a:srgbClr val="C00000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  <a:cs typeface="+mn-ea"/>
                <a:sym typeface="+mn-ea"/>
              </a:rPr>
              <a:t>即着装应该与当时的时间、所处的场合和地点相协调。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03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476750" y="1068705"/>
            <a:ext cx="3239770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服装按不同角度有多种分类方式</a:t>
            </a:r>
            <a:endParaRPr lang="zh-CN" altLang="en-US" sz="16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0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IMG_347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0770" y="2560955"/>
            <a:ext cx="3175000" cy="33528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/>
      <p:bldP spid="17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</a:rPr>
              <a:t>艺术陶冶与审美体验之与服装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认识服装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服装的分类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009900" y="5426710"/>
            <a:ext cx="39789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C00000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提升服装审美的方法</a:t>
            </a:r>
            <a:endParaRPr lang="zh-CN" altLang="en-US" sz="2800">
              <a:solidFill>
                <a:srgbClr val="C00000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3" name="燕尾形 22"/>
          <p:cNvSpPr/>
          <p:nvPr/>
        </p:nvSpPr>
        <p:spPr>
          <a:xfrm>
            <a:off x="2444115" y="55448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燕尾形 23"/>
          <p:cNvSpPr/>
          <p:nvPr/>
        </p:nvSpPr>
        <p:spPr>
          <a:xfrm>
            <a:off x="2159000" y="55441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慕课\新建文件夹\IMG_3099.JPGIMG_309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890"/>
            <a:ext cx="4288790" cy="68662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624455"/>
            <a:ext cx="54743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提升服装审美的方法</a:t>
            </a:r>
            <a:endParaRPr lang="zh-CN" altLang="en-US" sz="36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15585" y="3629660"/>
            <a:ext cx="58756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特别是对于服装的审美能力</a:t>
            </a:r>
            <a:endParaRPr lang="zh-CN" altLang="en-US" sz="2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在我们的生活中，</a:t>
            </a:r>
            <a:endParaRPr lang="zh-CN" sz="20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服装即使生活的必需品</a:t>
            </a:r>
            <a:endParaRPr lang="zh-CN" sz="20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又是我们个性、品味的表现之一</a:t>
            </a:r>
            <a:endParaRPr lang="zh-CN" sz="20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想要提升服装审美，我们可以通过一定的方法，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提升自身的审美能力，特别是对于服装的审美能力</a:t>
            </a:r>
            <a:endParaRPr lang="zh-CN" sz="20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5803265" y="1536065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17220" y="2307590"/>
            <a:ext cx="8570595" cy="20358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 descr="D:\图片\IMG_2841.JPGIMG_284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88768" y="2308225"/>
            <a:ext cx="2034540" cy="20351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38" h="3206">
                <a:moveTo>
                  <a:pt x="0" y="0"/>
                </a:moveTo>
                <a:lnTo>
                  <a:pt x="3838" y="0"/>
                </a:lnTo>
                <a:lnTo>
                  <a:pt x="3838" y="3206"/>
                </a:lnTo>
                <a:lnTo>
                  <a:pt x="0" y="320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7" name="文本框 26"/>
          <p:cNvSpPr txBox="1"/>
          <p:nvPr/>
        </p:nvSpPr>
        <p:spPr>
          <a:xfrm>
            <a:off x="918528" y="255143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26795" y="2405380"/>
            <a:ext cx="782066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endParaRPr lang="zh-CN" altLang="en-US" sz="2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从服装三要素的角度欣赏和分析</a:t>
            </a:r>
            <a:r>
              <a:rPr lang="zh-CN" altLang="en-US" sz="1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16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600" b="1" dirty="0">
              <a:solidFill>
                <a:schemeClr val="bg2"/>
              </a:solidFill>
              <a:latin typeface="Times New Roman" panose="02020603050405020304" pitchFamily="18" charset="0"/>
              <a:ea typeface="思源黑体 CN Medium" panose="020B0600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161790" y="500380"/>
            <a:ext cx="38671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04 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提升服装审美的方法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8" grpId="0"/>
      <p:bldP spid="28" grpId="1"/>
      <p:bldP spid="3" grpId="0"/>
      <p:bldP spid="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G_3459.JPG"/>
          <p:cNvPicPr>
            <a:picLocks noChangeAspect="1"/>
          </p:cNvPicPr>
          <p:nvPr/>
        </p:nvPicPr>
        <p:blipFill>
          <a:blip r:embed="rId1">
            <a:lum bright="10000"/>
          </a:blip>
          <a:srcRect l="2844" t="500" r="6212" b="38750"/>
          <a:stretch>
            <a:fillRect/>
          </a:stretch>
        </p:blipFill>
        <p:spPr>
          <a:xfrm>
            <a:off x="6667504" y="0"/>
            <a:ext cx="3071834" cy="3071834"/>
          </a:xfrm>
          <a:prstGeom prst="diamond">
            <a:avLst/>
          </a:prstGeom>
        </p:spPr>
      </p:pic>
      <p:pic>
        <p:nvPicPr>
          <p:cNvPr id="3" name="图片 2" descr="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60" y="-2357478"/>
            <a:ext cx="4214842" cy="4214842"/>
          </a:xfrm>
          <a:prstGeom prst="diamond">
            <a:avLst/>
          </a:prstGeom>
        </p:spPr>
      </p:pic>
      <p:pic>
        <p:nvPicPr>
          <p:cNvPr id="4" name="图片 3" descr="IMG_2970.JPG"/>
          <p:cNvPicPr>
            <a:picLocks noChangeAspect="1"/>
          </p:cNvPicPr>
          <p:nvPr/>
        </p:nvPicPr>
        <p:blipFill>
          <a:blip r:embed="rId3">
            <a:lum contrast="-10000"/>
          </a:blip>
          <a:srcRect t="33146" r="1087" b="2598"/>
          <a:stretch>
            <a:fillRect/>
          </a:stretch>
        </p:blipFill>
        <p:spPr>
          <a:xfrm>
            <a:off x="2452662" y="0"/>
            <a:ext cx="3055428" cy="3072227"/>
          </a:xfrm>
          <a:prstGeom prst="diamond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381224" y="3808412"/>
            <a:ext cx="7500990" cy="25003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24364" y="3530598"/>
            <a:ext cx="5143536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构成一件服装作品的整体形象有多种因素。从设计的角度看，设计服装时要考虑的最基本要素为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款式、色彩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面料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，这三个要素决定了服装的基本造型，被称为服装设计的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三大构成要素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67008" y="4308478"/>
            <a:ext cx="4572000" cy="13379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服装设计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的三大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构成要素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rot="5400000" flipH="1" flipV="1">
            <a:off x="3489307" y="5091121"/>
            <a:ext cx="1356528" cy="794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823595" y="3632200"/>
            <a:ext cx="10542905" cy="4248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4" name="任意多边形 13"/>
            <p:cNvSpPr/>
            <p:nvPr>
              <p:custDataLst>
                <p:tags r:id="rId8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9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直角三角形 15"/>
            <p:cNvSpPr/>
            <p:nvPr>
              <p:custDataLst>
                <p:tags r:id="rId10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53956" y="500042"/>
            <a:ext cx="7572428" cy="578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605825" y="468295"/>
            <a:ext cx="7215238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陈彬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服装设计基础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上海：东华大学出版社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张星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服装流行学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北京：中国纺织出版社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郑彤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罗锦婷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服装设计创意方法与实践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王受之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世界时装史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北京：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中国青年出版社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王晓威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顶级品牌服装设计解读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 Fashion A History from the 18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 the 20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Century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 Vogue collections(app)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724535" y="2441575"/>
            <a:ext cx="10743565" cy="3815715"/>
          </a:xfrm>
          <a:custGeom>
            <a:avLst/>
            <a:gdLst>
              <a:gd name="connsiteX0" fmla="*/ 11206 w 16919"/>
              <a:gd name="connsiteY0" fmla="*/ 4 h 6084"/>
              <a:gd name="connsiteX1" fmla="*/ 16919 w 16919"/>
              <a:gd name="connsiteY1" fmla="*/ 0 h 6084"/>
              <a:gd name="connsiteX2" fmla="*/ 16919 w 16919"/>
              <a:gd name="connsiteY2" fmla="*/ 6084 h 6084"/>
              <a:gd name="connsiteX3" fmla="*/ 0 w 16919"/>
              <a:gd name="connsiteY3" fmla="*/ 6084 h 6084"/>
              <a:gd name="connsiteX4" fmla="*/ 0 w 16919"/>
              <a:gd name="connsiteY4" fmla="*/ 0 h 6084"/>
              <a:gd name="connsiteX5" fmla="*/ 5711 w 16919"/>
              <a:gd name="connsiteY5" fmla="*/ 4 h 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19" h="6084">
                <a:moveTo>
                  <a:pt x="11206" y="4"/>
                </a:moveTo>
                <a:lnTo>
                  <a:pt x="16919" y="0"/>
                </a:lnTo>
                <a:lnTo>
                  <a:pt x="16919" y="6084"/>
                </a:lnTo>
                <a:lnTo>
                  <a:pt x="0" y="6084"/>
                </a:lnTo>
                <a:lnTo>
                  <a:pt x="0" y="0"/>
                </a:lnTo>
                <a:lnTo>
                  <a:pt x="5711" y="4"/>
                </a:lnTo>
              </a:path>
            </a:pathLst>
          </a:custGeom>
          <a:noFill/>
          <a:ln w="952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32225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参考文献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COMMONDATA" val="eyJoZGlkIjoiN2FlYWQ0NDk0NzY3ZWUyM2U3Y2FjYjg4ZmQxZTUwNWEifQ=="/>
  <p:tag name="KSO_WPP_MARK_KEY" val="887d6dea-9947-4889-a042-98faa235636d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2568</Words>
  <Application>WPS 演示</Application>
  <PresentationFormat>宽屏</PresentationFormat>
  <Paragraphs>442</Paragraphs>
  <Slides>36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Arial</vt:lpstr>
      <vt:lpstr>宋体</vt:lpstr>
      <vt:lpstr>Wingdings</vt:lpstr>
      <vt:lpstr>Wingdings</vt:lpstr>
      <vt:lpstr>思源黑体 CN Bold</vt:lpstr>
      <vt:lpstr>黑体</vt:lpstr>
      <vt:lpstr>思源黑体 CN Medium</vt:lpstr>
      <vt:lpstr>微软雅黑</vt:lpstr>
      <vt:lpstr>Arial Unicode MS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米洛可</cp:lastModifiedBy>
  <cp:revision>219</cp:revision>
  <dcterms:created xsi:type="dcterms:W3CDTF">2019-06-19T02:08:00Z</dcterms:created>
  <dcterms:modified xsi:type="dcterms:W3CDTF">2024-12-25T02:58:44Z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2052-11.1.0.10943</vt:lpwstr>
  </property>
  <property fmtid="{D5CDD505-2E9C-101B-9397-08002B2CF9AE}" pid="3" name="ICV">
    <vt:lpwstr>0180E2252D884F79951AD4F70A7DD045_11</vt:lpwstr>
  </property>
</Properties>
</file>