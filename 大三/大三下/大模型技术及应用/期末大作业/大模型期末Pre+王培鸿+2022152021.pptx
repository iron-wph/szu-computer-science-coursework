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61" r:id="rId2"/>
    <p:sldId id="262" r:id="rId3"/>
    <p:sldId id="287" r:id="rId4"/>
    <p:sldId id="269" r:id="rId5"/>
    <p:sldId id="272" r:id="rId6"/>
    <p:sldId id="273" r:id="rId7"/>
    <p:sldId id="274" r:id="rId8"/>
    <p:sldId id="278" r:id="rId9"/>
    <p:sldId id="276" r:id="rId10"/>
    <p:sldId id="275" r:id="rId11"/>
    <p:sldId id="280" r:id="rId12"/>
    <p:sldId id="282" r:id="rId13"/>
    <p:sldId id="281" r:id="rId14"/>
    <p:sldId id="284" r:id="rId15"/>
    <p:sldId id="283" r:id="rId16"/>
    <p:sldId id="285" r:id="rId17"/>
    <p:sldId id="286" r:id="rId18"/>
    <p:sldId id="267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F6F"/>
    <a:srgbClr val="FFFFFF"/>
    <a:srgbClr val="958AD6"/>
    <a:srgbClr val="72C8EE"/>
    <a:srgbClr val="DC9784"/>
    <a:srgbClr val="E8F16F"/>
    <a:srgbClr val="57CB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700" autoAdjust="0"/>
  </p:normalViewPr>
  <p:slideViewPr>
    <p:cSldViewPr snapToGrid="0">
      <p:cViewPr>
        <p:scale>
          <a:sx n="75" d="100"/>
          <a:sy n="75" d="100"/>
        </p:scale>
        <p:origin x="1168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13AD1C-8EBF-4AAD-B751-30CF6256D950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241877-9C9F-4906-97E7-A1A064921B3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241877-9C9F-4906-97E7-A1A064921B3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47165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241877-9C9F-4906-97E7-A1A064921B33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25FF6-7AC4-49C7-9C4D-F7CD10F7C8E3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8417F-7526-485E-AE3C-3E2AE40A04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25FF6-7AC4-49C7-9C4D-F7CD10F7C8E3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8417F-7526-485E-AE3C-3E2AE40A04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25FF6-7AC4-49C7-9C4D-F7CD10F7C8E3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8417F-7526-485E-AE3C-3E2AE40A04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25FF6-7AC4-49C7-9C4D-F7CD10F7C8E3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8417F-7526-485E-AE3C-3E2AE40A04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25FF6-7AC4-49C7-9C4D-F7CD10F7C8E3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8417F-7526-485E-AE3C-3E2AE40A04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25FF6-7AC4-49C7-9C4D-F7CD10F7C8E3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8417F-7526-485E-AE3C-3E2AE40A04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25FF6-7AC4-49C7-9C4D-F7CD10F7C8E3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8417F-7526-485E-AE3C-3E2AE40A04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25FF6-7AC4-49C7-9C4D-F7CD10F7C8E3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8417F-7526-485E-AE3C-3E2AE40A04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25FF6-7AC4-49C7-9C4D-F7CD10F7C8E3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8417F-7526-485E-AE3C-3E2AE40A04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25FF6-7AC4-49C7-9C4D-F7CD10F7C8E3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8417F-7526-485E-AE3C-3E2AE40A04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D25FF6-7AC4-49C7-9C4D-F7CD10F7C8E3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48417F-7526-485E-AE3C-3E2AE40A04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8.png"/><Relationship Id="rId7" Type="http://schemas.openxmlformats.org/officeDocument/2006/relationships/image" Target="../media/image16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8.png"/><Relationship Id="rId7" Type="http://schemas.openxmlformats.org/officeDocument/2006/relationships/image" Target="../media/image23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9.pn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8.png"/><Relationship Id="rId7" Type="http://schemas.openxmlformats.org/officeDocument/2006/relationships/image" Target="../media/image29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GIF"/><Relationship Id="rId3" Type="http://schemas.openxmlformats.org/officeDocument/2006/relationships/image" Target="../media/image7.jpe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9.png"/><Relationship Id="rId10" Type="http://schemas.openxmlformats.org/officeDocument/2006/relationships/image" Target="../media/image35.png"/><Relationship Id="rId4" Type="http://schemas.openxmlformats.org/officeDocument/2006/relationships/image" Target="../media/image8.png"/><Relationship Id="rId9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8.png"/><Relationship Id="rId7" Type="http://schemas.openxmlformats.org/officeDocument/2006/relationships/image" Target="../media/image46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8.png"/><Relationship Id="rId7" Type="http://schemas.openxmlformats.org/officeDocument/2006/relationships/image" Target="../media/image50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9.png"/><Relationship Id="rId9" Type="http://schemas.openxmlformats.org/officeDocument/2006/relationships/image" Target="../media/image5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8.png"/><Relationship Id="rId7" Type="http://schemas.openxmlformats.org/officeDocument/2006/relationships/image" Target="../media/image55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8.png"/><Relationship Id="rId7" Type="http://schemas.openxmlformats.org/officeDocument/2006/relationships/image" Target="../media/image59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9.png"/><Relationship Id="rId9" Type="http://schemas.openxmlformats.org/officeDocument/2006/relationships/image" Target="../media/image61.gi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428" b="21884"/>
          <a:stretch>
            <a:fillRect/>
          </a:stretch>
        </p:blipFill>
        <p:spPr>
          <a:xfrm>
            <a:off x="0" y="-31843"/>
            <a:ext cx="12192000" cy="1913252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-1" y="-31844"/>
            <a:ext cx="12251267" cy="1913252"/>
          </a:xfrm>
          <a:prstGeom prst="rect">
            <a:avLst/>
          </a:prstGeom>
          <a:solidFill>
            <a:schemeClr val="accent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81251" y="3789448"/>
            <a:ext cx="110294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6F6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重生之我是当代华佗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891" y="783503"/>
            <a:ext cx="2162218" cy="2054575"/>
          </a:xfrm>
          <a:prstGeom prst="rect">
            <a:avLst/>
          </a:prstGeom>
          <a:effectLst>
            <a:outerShdw blurRad="292100" dist="25400" dir="5400000" algn="t" rotWithShape="0">
              <a:prstClr val="black">
                <a:alpha val="59000"/>
              </a:prstClr>
            </a:outerShdw>
          </a:effectLst>
        </p:spPr>
      </p:pic>
      <p:sp>
        <p:nvSpPr>
          <p:cNvPr id="18" name="文本框 17"/>
          <p:cNvSpPr txBox="1"/>
          <p:nvPr/>
        </p:nvSpPr>
        <p:spPr>
          <a:xfrm>
            <a:off x="6987018" y="5003243"/>
            <a:ext cx="46237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张泽鹏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2022152011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231871" y="6006068"/>
            <a:ext cx="2557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2025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年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6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月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27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日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62626" y="5003243"/>
            <a:ext cx="47482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王培鸿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2022152021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69" t="21333" r="33139" b="58431"/>
          <a:stretch>
            <a:fillRect/>
          </a:stretch>
        </p:blipFill>
        <p:spPr>
          <a:xfrm>
            <a:off x="-61822" y="2141550"/>
            <a:ext cx="1706880" cy="1387759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69" t="21333" r="33139" b="58431"/>
          <a:stretch>
            <a:fillRect/>
          </a:stretch>
        </p:blipFill>
        <p:spPr>
          <a:xfrm flipH="1">
            <a:off x="10767074" y="2141549"/>
            <a:ext cx="1706880" cy="1387759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14EBFD15-AB37-4EA8-A968-44C5FD005F51}"/>
              </a:ext>
            </a:extLst>
          </p:cNvPr>
          <p:cNvSpPr txBox="1"/>
          <p:nvPr/>
        </p:nvSpPr>
        <p:spPr>
          <a:xfrm>
            <a:off x="4076690" y="2683468"/>
            <a:ext cx="71247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7200" b="1" dirty="0">
                <a:solidFill>
                  <a:schemeClr val="accent4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本草智汇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527FD35-3ED3-4980-A0B2-5D4EE456FF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4" y="3174"/>
            <a:ext cx="4763559" cy="685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组合 10"/>
          <p:cNvGrpSpPr/>
          <p:nvPr/>
        </p:nvGrpSpPr>
        <p:grpSpPr>
          <a:xfrm>
            <a:off x="2879629" y="1552623"/>
            <a:ext cx="2171663" cy="3504021"/>
            <a:chOff x="881396" y="1394952"/>
            <a:chExt cx="2171663" cy="3504021"/>
          </a:xfrm>
        </p:grpSpPr>
        <p:sp>
          <p:nvSpPr>
            <p:cNvPr id="7" name="文本框 6"/>
            <p:cNvSpPr txBox="1"/>
            <p:nvPr/>
          </p:nvSpPr>
          <p:spPr>
            <a:xfrm>
              <a:off x="1236478" y="1722639"/>
              <a:ext cx="1415772" cy="2715659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rPr>
                <a:t>目录</a:t>
              </a:r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4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369" t="21333" r="33139" b="58431"/>
            <a:stretch>
              <a:fillRect/>
            </a:stretch>
          </p:blipFill>
          <p:spPr>
            <a:xfrm>
              <a:off x="881396" y="1394952"/>
              <a:ext cx="1002008" cy="814671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4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369" t="21333" r="33139" b="58431"/>
            <a:stretch>
              <a:fillRect/>
            </a:stretch>
          </p:blipFill>
          <p:spPr>
            <a:xfrm flipH="1" flipV="1">
              <a:off x="2051051" y="4084302"/>
              <a:ext cx="1002008" cy="814671"/>
            </a:xfrm>
            <a:prstGeom prst="rect">
              <a:avLst/>
            </a:prstGeom>
          </p:spPr>
        </p:pic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1293" y="301599"/>
            <a:ext cx="6341878" cy="1027996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1293" y="1269458"/>
            <a:ext cx="6341878" cy="1027996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5566" y="2337442"/>
            <a:ext cx="6341878" cy="1027996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6322744" y="584764"/>
            <a:ext cx="3798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500022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01/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00022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系统架构设计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500022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340343" y="1552623"/>
            <a:ext cx="3798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500022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02/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00022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数据处理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500022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329814" y="2620607"/>
            <a:ext cx="3798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500022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03/RAG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00022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核心实现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500022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5565" y="3448994"/>
            <a:ext cx="6341878" cy="1027996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6329814" y="3732159"/>
            <a:ext cx="3798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500022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04/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00022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模型微调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500022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5565" y="4560546"/>
            <a:ext cx="6341878" cy="1027996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6329814" y="4843711"/>
            <a:ext cx="3798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500022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05/UI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00022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实现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500022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5EE2C5FB-60F4-49BC-9FDF-8A05D2174534}"/>
              </a:ext>
            </a:extLst>
          </p:cNvPr>
          <p:cNvGrpSpPr/>
          <p:nvPr/>
        </p:nvGrpSpPr>
        <p:grpSpPr>
          <a:xfrm>
            <a:off x="5005565" y="5710168"/>
            <a:ext cx="6341878" cy="1027996"/>
            <a:chOff x="5051293" y="2538916"/>
            <a:chExt cx="6341878" cy="1027996"/>
          </a:xfrm>
        </p:grpSpPr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798277CF-60C1-4695-AAE0-4D00E26341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51293" y="2538916"/>
              <a:ext cx="6341878" cy="1027996"/>
            </a:xfrm>
            <a:prstGeom prst="rect">
              <a:avLst/>
            </a:prstGeom>
          </p:spPr>
        </p:pic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47EDDCF2-B12D-4D5E-A1B7-92594A8A35E9}"/>
                </a:ext>
              </a:extLst>
            </p:cNvPr>
            <p:cNvSpPr txBox="1"/>
            <p:nvPr/>
          </p:nvSpPr>
          <p:spPr>
            <a:xfrm>
              <a:off x="6357942" y="2822081"/>
              <a:ext cx="37989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500022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06/</a:t>
              </a:r>
              <a:r>
                <a:rPr lang="zh-CN" altLang="en-US" sz="2400" b="1" dirty="0">
                  <a:solidFill>
                    <a:srgbClr val="500022"/>
                  </a:solidFill>
                  <a:latin typeface="+mj-ea"/>
                  <a:ea typeface="+mj-ea"/>
                </a:rPr>
                <a:t>对话示例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500022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98" b="67780"/>
          <a:stretch>
            <a:fillRect/>
          </a:stretch>
        </p:blipFill>
        <p:spPr>
          <a:xfrm>
            <a:off x="0" y="7620"/>
            <a:ext cx="12192000" cy="814672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0" y="0"/>
            <a:ext cx="12192000" cy="818573"/>
          </a:xfrm>
          <a:prstGeom prst="rect">
            <a:avLst/>
          </a:prstGeom>
          <a:solidFill>
            <a:schemeClr val="accent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38529" y="112811"/>
            <a:ext cx="3104203" cy="593132"/>
            <a:chOff x="1019925" y="1507763"/>
            <a:chExt cx="3104203" cy="593132"/>
          </a:xfrm>
        </p:grpSpPr>
        <p:sp>
          <p:nvSpPr>
            <p:cNvPr id="4" name="文本框 3"/>
            <p:cNvSpPr txBox="1"/>
            <p:nvPr/>
          </p:nvSpPr>
          <p:spPr>
            <a:xfrm>
              <a:off x="1700009" y="1507763"/>
              <a:ext cx="2424119" cy="5847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rPr>
                <a:t>团队分工</a:t>
              </a: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369" t="21333" r="33139" b="58431"/>
            <a:stretch>
              <a:fillRect/>
            </a:stretch>
          </p:blipFill>
          <p:spPr>
            <a:xfrm>
              <a:off x="1019925" y="1511482"/>
              <a:ext cx="724951" cy="589413"/>
            </a:xfrm>
            <a:prstGeom prst="rect">
              <a:avLst/>
            </a:prstGeom>
          </p:spPr>
        </p:pic>
      </p:grpSp>
      <p:sp>
        <p:nvSpPr>
          <p:cNvPr id="42" name="矩形 41"/>
          <p:cNvSpPr/>
          <p:nvPr/>
        </p:nvSpPr>
        <p:spPr>
          <a:xfrm>
            <a:off x="0" y="6553271"/>
            <a:ext cx="12192000" cy="3112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0" r="2331"/>
          <a:stretch>
            <a:fillRect/>
          </a:stretch>
        </p:blipFill>
        <p:spPr>
          <a:xfrm>
            <a:off x="10041127" y="112811"/>
            <a:ext cx="1789487" cy="524257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6AE20834-797E-4628-8B89-5786CC27AC96}"/>
              </a:ext>
            </a:extLst>
          </p:cNvPr>
          <p:cNvSpPr txBox="1"/>
          <p:nvPr/>
        </p:nvSpPr>
        <p:spPr>
          <a:xfrm>
            <a:off x="1363133" y="4371290"/>
            <a:ext cx="64008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l"/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张泽鹏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前端页面设计与实现：模型对话展示、知识库文件管理图形化，后端交互设计与实现；团队贡献占比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0.3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C80D164-F071-4FC4-9228-3C2A0D37BA36}"/>
              </a:ext>
            </a:extLst>
          </p:cNvPr>
          <p:cNvSpPr txBox="1"/>
          <p:nvPr/>
        </p:nvSpPr>
        <p:spPr>
          <a:xfrm>
            <a:off x="3505200" y="1737245"/>
            <a:ext cx="6096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l"/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王培鸿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负责数据清洗、文档处理、文本嵌入、知识库构建、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RAG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检索框架设计与实现、提示词优化、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LLM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微调与部署；团队贡献占比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0.7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AF4E0A0-DF3B-44B0-9D4D-6C9AC10BE20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4867" y="3750821"/>
            <a:ext cx="2497666" cy="2497666"/>
          </a:xfrm>
          <a:prstGeom prst="rect">
            <a:avLst/>
          </a:prstGeom>
        </p:spPr>
      </p:pic>
      <p:pic>
        <p:nvPicPr>
          <p:cNvPr id="6146" name="Picture 2" descr="猪猪侠 - 高清图片，堆糖，美图壁纸兴趣社区">
            <a:extLst>
              <a:ext uri="{FF2B5EF4-FFF2-40B4-BE49-F238E27FC236}">
                <a16:creationId xmlns:a16="http://schemas.microsoft.com/office/drawing/2014/main" id="{C1D36AF0-3BD5-47DA-A161-F1292B0775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076" y="1103559"/>
            <a:ext cx="1993880" cy="2352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3072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98" b="67780"/>
          <a:stretch>
            <a:fillRect/>
          </a:stretch>
        </p:blipFill>
        <p:spPr>
          <a:xfrm>
            <a:off x="0" y="7620"/>
            <a:ext cx="12192000" cy="814672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-10808"/>
            <a:ext cx="12192000" cy="829381"/>
          </a:xfrm>
          <a:prstGeom prst="rect">
            <a:avLst/>
          </a:prstGeom>
          <a:solidFill>
            <a:schemeClr val="accent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38529" y="112811"/>
            <a:ext cx="3509593" cy="593132"/>
            <a:chOff x="1019925" y="1507763"/>
            <a:chExt cx="3509593" cy="593132"/>
          </a:xfrm>
        </p:grpSpPr>
        <p:sp>
          <p:nvSpPr>
            <p:cNvPr id="4" name="文本框 3"/>
            <p:cNvSpPr txBox="1"/>
            <p:nvPr/>
          </p:nvSpPr>
          <p:spPr>
            <a:xfrm>
              <a:off x="1700306" y="1507763"/>
              <a:ext cx="2829212" cy="5847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系统架构设计</a:t>
              </a: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369" t="21333" r="33139" b="58431"/>
            <a:stretch>
              <a:fillRect/>
            </a:stretch>
          </p:blipFill>
          <p:spPr>
            <a:xfrm>
              <a:off x="1019925" y="1511482"/>
              <a:ext cx="724951" cy="589413"/>
            </a:xfrm>
            <a:prstGeom prst="rect">
              <a:avLst/>
            </a:prstGeom>
          </p:spPr>
        </p:pic>
      </p:grpSp>
      <p:pic>
        <p:nvPicPr>
          <p:cNvPr id="36" name="图片 35"/>
          <p:cNvPicPr>
            <a:picLocks noChangeAspect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0" r="2331"/>
          <a:stretch>
            <a:fillRect/>
          </a:stretch>
        </p:blipFill>
        <p:spPr>
          <a:xfrm>
            <a:off x="10041127" y="112811"/>
            <a:ext cx="1789487" cy="524257"/>
          </a:xfrm>
          <a:prstGeom prst="rect">
            <a:avLst/>
          </a:prstGeom>
        </p:spPr>
      </p:pic>
      <p:sp>
        <p:nvSpPr>
          <p:cNvPr id="160" name="箭头: 上 159"/>
          <p:cNvSpPr/>
          <p:nvPr/>
        </p:nvSpPr>
        <p:spPr>
          <a:xfrm rot="18510824">
            <a:off x="2227393" y="1873061"/>
            <a:ext cx="161107" cy="59309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文本框 161"/>
          <p:cNvSpPr txBox="1"/>
          <p:nvPr/>
        </p:nvSpPr>
        <p:spPr>
          <a:xfrm>
            <a:off x="189412" y="1348442"/>
            <a:ext cx="1782908" cy="76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《</a:t>
            </a:r>
            <a:r>
              <a:rPr lang="zh-CN" altLang="en-US" sz="1400" b="1" dirty="0"/>
              <a:t>中国药典</a:t>
            </a:r>
            <a:r>
              <a:rPr lang="en-US" altLang="zh-CN" sz="1400" b="1" dirty="0"/>
              <a:t>》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《</a:t>
            </a:r>
            <a:r>
              <a:rPr lang="zh-CN" altLang="en-US" sz="1400" b="1" dirty="0"/>
              <a:t>全国中草药汇编</a:t>
            </a:r>
            <a:r>
              <a:rPr lang="en-US" altLang="zh-CN" sz="1400" b="1" dirty="0"/>
              <a:t>》</a:t>
            </a:r>
          </a:p>
          <a:p>
            <a:r>
              <a:rPr lang="zh-CN" altLang="en-US" sz="1400" b="1" dirty="0"/>
              <a:t>知源中医网站</a:t>
            </a:r>
          </a:p>
        </p:txBody>
      </p:sp>
      <p:sp>
        <p:nvSpPr>
          <p:cNvPr id="163" name="文本框 162"/>
          <p:cNvSpPr txBox="1"/>
          <p:nvPr/>
        </p:nvSpPr>
        <p:spPr>
          <a:xfrm>
            <a:off x="411178" y="4910038"/>
            <a:ext cx="2511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多路检索框架</a:t>
            </a:r>
          </a:p>
        </p:txBody>
      </p:sp>
      <p:sp>
        <p:nvSpPr>
          <p:cNvPr id="164" name="文本框 163"/>
          <p:cNvSpPr txBox="1"/>
          <p:nvPr/>
        </p:nvSpPr>
        <p:spPr>
          <a:xfrm>
            <a:off x="2674456" y="5852932"/>
            <a:ext cx="2962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微调</a:t>
            </a:r>
            <a:r>
              <a:rPr lang="en-US" altLang="zh-CN" b="1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LLM</a:t>
            </a:r>
            <a:r>
              <a:rPr lang="zh-CN" altLang="en-US" b="1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，专业领域回答</a:t>
            </a:r>
          </a:p>
        </p:txBody>
      </p:sp>
      <p:sp>
        <p:nvSpPr>
          <p:cNvPr id="165" name="文本框 164"/>
          <p:cNvSpPr txBox="1"/>
          <p:nvPr/>
        </p:nvSpPr>
        <p:spPr>
          <a:xfrm>
            <a:off x="5096497" y="967514"/>
            <a:ext cx="2644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数据清洗</a:t>
            </a:r>
          </a:p>
        </p:txBody>
      </p:sp>
      <p:sp>
        <p:nvSpPr>
          <p:cNvPr id="167" name="文本框 166"/>
          <p:cNvSpPr txBox="1"/>
          <p:nvPr/>
        </p:nvSpPr>
        <p:spPr>
          <a:xfrm>
            <a:off x="5764931" y="4833775"/>
            <a:ext cx="2511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MMR + </a:t>
            </a:r>
            <a:r>
              <a:rPr lang="zh-CN" altLang="en-US" b="1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重排序</a:t>
            </a:r>
          </a:p>
        </p:txBody>
      </p:sp>
      <p:sp>
        <p:nvSpPr>
          <p:cNvPr id="168" name="箭头: 上 167"/>
          <p:cNvSpPr/>
          <p:nvPr/>
        </p:nvSpPr>
        <p:spPr>
          <a:xfrm rot="2556467">
            <a:off x="4627907" y="1839591"/>
            <a:ext cx="161107" cy="59309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9" name="箭头: 上 168"/>
          <p:cNvSpPr/>
          <p:nvPr/>
        </p:nvSpPr>
        <p:spPr>
          <a:xfrm rot="14473264">
            <a:off x="1073263" y="4130664"/>
            <a:ext cx="161107" cy="59309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0" name="箭头: 上 169"/>
          <p:cNvSpPr/>
          <p:nvPr/>
        </p:nvSpPr>
        <p:spPr>
          <a:xfrm rot="10800000">
            <a:off x="3895693" y="5187575"/>
            <a:ext cx="161107" cy="59309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1" name="箭头: 上 170"/>
          <p:cNvSpPr/>
          <p:nvPr/>
        </p:nvSpPr>
        <p:spPr>
          <a:xfrm rot="7904780">
            <a:off x="6214831" y="4312316"/>
            <a:ext cx="161107" cy="59309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9" name="文本框 178"/>
          <p:cNvSpPr txBox="1"/>
          <p:nvPr/>
        </p:nvSpPr>
        <p:spPr>
          <a:xfrm>
            <a:off x="220004" y="1006736"/>
            <a:ext cx="1986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知识库数据准备</a:t>
            </a:r>
            <a:endParaRPr lang="en-US" altLang="zh-CN" b="1" dirty="0">
              <a:solidFill>
                <a:schemeClr val="accent4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0" name="文本框 179"/>
          <p:cNvSpPr txBox="1"/>
          <p:nvPr/>
        </p:nvSpPr>
        <p:spPr>
          <a:xfrm>
            <a:off x="5096498" y="1335204"/>
            <a:ext cx="18854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清除空格、特殊符号、网页标签等</a:t>
            </a:r>
          </a:p>
        </p:txBody>
      </p:sp>
      <p:sp>
        <p:nvSpPr>
          <p:cNvPr id="181" name="文本框 180"/>
          <p:cNvSpPr txBox="1"/>
          <p:nvPr/>
        </p:nvSpPr>
        <p:spPr>
          <a:xfrm>
            <a:off x="5623664" y="5196818"/>
            <a:ext cx="24027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多种排序算法，增强请求和检索文档的语义相关性，返回</a:t>
            </a:r>
            <a:r>
              <a:rPr lang="en-US" altLang="zh-CN" sz="1400" b="1" dirty="0" err="1"/>
              <a:t>TopK</a:t>
            </a:r>
            <a:r>
              <a:rPr lang="zh-CN" altLang="en-US" sz="1400" b="1" dirty="0"/>
              <a:t>相关文档</a:t>
            </a:r>
          </a:p>
        </p:txBody>
      </p:sp>
      <p:sp>
        <p:nvSpPr>
          <p:cNvPr id="182" name="文本框 181"/>
          <p:cNvSpPr txBox="1"/>
          <p:nvPr/>
        </p:nvSpPr>
        <p:spPr>
          <a:xfrm>
            <a:off x="2583256" y="6222264"/>
            <a:ext cx="29628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使用中药知识文本制作</a:t>
            </a:r>
            <a:r>
              <a:rPr lang="en-US" altLang="zh-CN" sz="1400" b="1" dirty="0"/>
              <a:t>QA</a:t>
            </a:r>
            <a:r>
              <a:rPr lang="zh-CN" altLang="en-US" sz="1400" b="1" dirty="0"/>
              <a:t>数据集，通过</a:t>
            </a:r>
            <a:r>
              <a:rPr lang="en-US" altLang="zh-CN" sz="1400" b="1" dirty="0"/>
              <a:t>Lora</a:t>
            </a:r>
            <a:r>
              <a:rPr lang="zh-CN" altLang="en-US" sz="1400" b="1" dirty="0"/>
              <a:t>进行</a:t>
            </a:r>
            <a:r>
              <a:rPr lang="en-US" altLang="zh-CN" sz="1400" b="1" dirty="0"/>
              <a:t>SFT</a:t>
            </a:r>
            <a:r>
              <a:rPr lang="zh-CN" altLang="en-US" sz="1400" b="1" dirty="0"/>
              <a:t>指令微调</a:t>
            </a:r>
          </a:p>
        </p:txBody>
      </p:sp>
      <p:sp>
        <p:nvSpPr>
          <p:cNvPr id="183" name="文本框 182"/>
          <p:cNvSpPr txBox="1"/>
          <p:nvPr/>
        </p:nvSpPr>
        <p:spPr>
          <a:xfrm>
            <a:off x="71718" y="5317754"/>
            <a:ext cx="2511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结合重写请求查询、假象回答查询、关键词查询，增强检索</a:t>
            </a:r>
          </a:p>
        </p:txBody>
      </p:sp>
      <p:pic>
        <p:nvPicPr>
          <p:cNvPr id="184" name="图片 18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4918" y="2421019"/>
            <a:ext cx="5734497" cy="2597422"/>
          </a:xfrm>
          <a:prstGeom prst="rect">
            <a:avLst/>
          </a:prstGeom>
        </p:spPr>
      </p:pic>
      <p:grpSp>
        <p:nvGrpSpPr>
          <p:cNvPr id="26" name="组合 25">
            <a:extLst>
              <a:ext uri="{FF2B5EF4-FFF2-40B4-BE49-F238E27FC236}">
                <a16:creationId xmlns:a16="http://schemas.microsoft.com/office/drawing/2014/main" id="{BE3DB1FF-3997-4538-9199-F32C102148BC}"/>
              </a:ext>
            </a:extLst>
          </p:cNvPr>
          <p:cNvGrpSpPr/>
          <p:nvPr/>
        </p:nvGrpSpPr>
        <p:grpSpPr>
          <a:xfrm>
            <a:off x="8066942" y="851374"/>
            <a:ext cx="3643336" cy="4094677"/>
            <a:chOff x="4313555" y="1732280"/>
            <a:chExt cx="3898900" cy="4298315"/>
          </a:xfrm>
        </p:grpSpPr>
        <p:pic>
          <p:nvPicPr>
            <p:cNvPr id="27" name="图片 -2147482539" descr="29fcac21d9d412abb3bdcc8684f40f3c">
              <a:extLst>
                <a:ext uri="{FF2B5EF4-FFF2-40B4-BE49-F238E27FC236}">
                  <a16:creationId xmlns:a16="http://schemas.microsoft.com/office/drawing/2014/main" id="{7D9EE0B5-727B-4228-803D-7433DBA4F4E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313555" y="1732280"/>
              <a:ext cx="3898900" cy="429831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687FF82D-24BC-4FCD-BE72-99AABE7C6CC4}"/>
                </a:ext>
              </a:extLst>
            </p:cNvPr>
            <p:cNvSpPr txBox="1"/>
            <p:nvPr/>
          </p:nvSpPr>
          <p:spPr>
            <a:xfrm>
              <a:off x="4930774" y="2811780"/>
              <a:ext cx="541020" cy="31559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1200" b="1" dirty="0">
                  <a:solidFill>
                    <a:srgbClr val="FF0000"/>
                  </a:solidFill>
                </a:rPr>
                <a:t>上传</a:t>
              </a: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DD0ED291-3F53-445B-A2AE-CF270BA51547}"/>
                </a:ext>
              </a:extLst>
            </p:cNvPr>
            <p:cNvSpPr txBox="1"/>
            <p:nvPr/>
          </p:nvSpPr>
          <p:spPr>
            <a:xfrm>
              <a:off x="5704840" y="2811780"/>
              <a:ext cx="541020" cy="31559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1200" b="1">
                  <a:solidFill>
                    <a:srgbClr val="FF0000"/>
                  </a:solidFill>
                </a:rPr>
                <a:t>查询</a:t>
              </a: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2D214DAE-F152-4EF0-870A-5A6832256BE1}"/>
                </a:ext>
              </a:extLst>
            </p:cNvPr>
            <p:cNvSpPr txBox="1"/>
            <p:nvPr/>
          </p:nvSpPr>
          <p:spPr>
            <a:xfrm>
              <a:off x="6372860" y="2811780"/>
              <a:ext cx="541020" cy="31559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1200" b="1">
                  <a:solidFill>
                    <a:srgbClr val="FF0000"/>
                  </a:solidFill>
                </a:rPr>
                <a:t>输入</a:t>
              </a: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FE37565E-6C48-454E-8C09-09678D3178EE}"/>
                </a:ext>
              </a:extLst>
            </p:cNvPr>
            <p:cNvSpPr txBox="1"/>
            <p:nvPr/>
          </p:nvSpPr>
          <p:spPr>
            <a:xfrm>
              <a:off x="7127240" y="2811780"/>
              <a:ext cx="541020" cy="31559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1200" b="1">
                  <a:solidFill>
                    <a:srgbClr val="FF0000"/>
                  </a:solidFill>
                </a:rPr>
                <a:t>回答</a:t>
              </a: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81E86A5E-1806-44EC-B331-A654F1265249}"/>
                </a:ext>
              </a:extLst>
            </p:cNvPr>
            <p:cNvSpPr txBox="1"/>
            <p:nvPr/>
          </p:nvSpPr>
          <p:spPr>
            <a:xfrm>
              <a:off x="4907280" y="3807460"/>
              <a:ext cx="541020" cy="31559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1200" b="1">
                  <a:solidFill>
                    <a:srgbClr val="FF0000"/>
                  </a:solidFill>
                </a:rPr>
                <a:t>处理</a:t>
              </a: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A8758AED-56C1-422A-8204-B740ACEBCB47}"/>
                </a:ext>
              </a:extLst>
            </p:cNvPr>
            <p:cNvSpPr txBox="1"/>
            <p:nvPr/>
          </p:nvSpPr>
          <p:spPr>
            <a:xfrm>
              <a:off x="4907280" y="4881880"/>
              <a:ext cx="541020" cy="31559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1200" b="1">
                  <a:solidFill>
                    <a:srgbClr val="FF0000"/>
                  </a:solidFill>
                </a:rPr>
                <a:t>存储</a:t>
              </a: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9A6B59D9-0E31-4F56-AFF6-523B78D07CBC}"/>
                </a:ext>
              </a:extLst>
            </p:cNvPr>
            <p:cNvSpPr txBox="1"/>
            <p:nvPr/>
          </p:nvSpPr>
          <p:spPr>
            <a:xfrm>
              <a:off x="5704840" y="4881880"/>
              <a:ext cx="541020" cy="31559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1200" b="1">
                  <a:solidFill>
                    <a:srgbClr val="FF0000"/>
                  </a:solidFill>
                </a:rPr>
                <a:t>查询</a:t>
              </a: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DB0EB995-5865-4AA7-9E20-9FCE2E61C669}"/>
                </a:ext>
              </a:extLst>
            </p:cNvPr>
            <p:cNvSpPr txBox="1"/>
            <p:nvPr/>
          </p:nvSpPr>
          <p:spPr>
            <a:xfrm>
              <a:off x="6372860" y="3807460"/>
              <a:ext cx="541020" cy="31559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1200" b="1">
                  <a:solidFill>
                    <a:srgbClr val="FF0000"/>
                  </a:solidFill>
                </a:rPr>
                <a:t>检索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6EE6F6AD-B40E-4E47-A52F-5E1AE42F7C2F}"/>
                </a:ext>
              </a:extLst>
            </p:cNvPr>
            <p:cNvSpPr txBox="1"/>
            <p:nvPr/>
          </p:nvSpPr>
          <p:spPr>
            <a:xfrm>
              <a:off x="6372860" y="4881880"/>
              <a:ext cx="541020" cy="31559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1200" b="1">
                  <a:solidFill>
                    <a:srgbClr val="FF0000"/>
                  </a:solidFill>
                </a:rPr>
                <a:t>生成</a:t>
              </a: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8F89BA26-6BE1-4D09-AA8A-24B311CE18C6}"/>
                </a:ext>
              </a:extLst>
            </p:cNvPr>
            <p:cNvSpPr txBox="1"/>
            <p:nvPr/>
          </p:nvSpPr>
          <p:spPr>
            <a:xfrm>
              <a:off x="7127240" y="4881880"/>
              <a:ext cx="541020" cy="31559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1200" b="1">
                  <a:solidFill>
                    <a:srgbClr val="FF0000"/>
                  </a:solidFill>
                </a:rPr>
                <a:t>回答</a:t>
              </a:r>
            </a:p>
          </p:txBody>
        </p:sp>
      </p:grpSp>
      <p:sp>
        <p:nvSpPr>
          <p:cNvPr id="39" name="文本框 38">
            <a:extLst>
              <a:ext uri="{FF2B5EF4-FFF2-40B4-BE49-F238E27FC236}">
                <a16:creationId xmlns:a16="http://schemas.microsoft.com/office/drawing/2014/main" id="{E25B2986-BD12-47DD-9852-68F26724F8EC}"/>
              </a:ext>
            </a:extLst>
          </p:cNvPr>
          <p:cNvSpPr txBox="1"/>
          <p:nvPr/>
        </p:nvSpPr>
        <p:spPr>
          <a:xfrm>
            <a:off x="9172815" y="5394698"/>
            <a:ext cx="2511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前后端交互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F881252B-0D56-4397-99BF-C6602F1C85A8}"/>
              </a:ext>
            </a:extLst>
          </p:cNvPr>
          <p:cNvSpPr txBox="1"/>
          <p:nvPr/>
        </p:nvSpPr>
        <p:spPr>
          <a:xfrm>
            <a:off x="8966882" y="5775964"/>
            <a:ext cx="2402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前端采用</a:t>
            </a:r>
            <a:r>
              <a:rPr lang="en-US" altLang="zh-CN" sz="1400" b="1" dirty="0"/>
              <a:t>HTML</a:t>
            </a:r>
            <a:r>
              <a:rPr lang="zh-CN" altLang="en-US" sz="1400" b="1" dirty="0"/>
              <a:t>搭建，后端采用</a:t>
            </a:r>
            <a:r>
              <a:rPr lang="en-US" altLang="zh-CN" sz="1400" b="1" dirty="0"/>
              <a:t>Flask</a:t>
            </a:r>
            <a:r>
              <a:rPr lang="zh-CN" altLang="en-US" sz="1400" b="1" dirty="0"/>
              <a:t>框架实现</a:t>
            </a:r>
          </a:p>
        </p:txBody>
      </p:sp>
      <p:sp>
        <p:nvSpPr>
          <p:cNvPr id="41" name="箭头: 上 40">
            <a:extLst>
              <a:ext uri="{FF2B5EF4-FFF2-40B4-BE49-F238E27FC236}">
                <a16:creationId xmlns:a16="http://schemas.microsoft.com/office/drawing/2014/main" id="{E427BC82-95A8-4341-BF09-690A71F4FFA5}"/>
              </a:ext>
            </a:extLst>
          </p:cNvPr>
          <p:cNvSpPr/>
          <p:nvPr/>
        </p:nvSpPr>
        <p:spPr>
          <a:xfrm rot="10800000">
            <a:off x="9912820" y="4994936"/>
            <a:ext cx="128307" cy="33238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98" b="67780"/>
          <a:stretch>
            <a:fillRect/>
          </a:stretch>
        </p:blipFill>
        <p:spPr>
          <a:xfrm>
            <a:off x="0" y="7620"/>
            <a:ext cx="12192000" cy="814672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-10808"/>
            <a:ext cx="12192000" cy="829381"/>
          </a:xfrm>
          <a:prstGeom prst="rect">
            <a:avLst/>
          </a:prstGeom>
          <a:solidFill>
            <a:schemeClr val="accent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38529" y="112811"/>
            <a:ext cx="3509593" cy="593132"/>
            <a:chOff x="1019925" y="1507763"/>
            <a:chExt cx="3509593" cy="593132"/>
          </a:xfrm>
        </p:grpSpPr>
        <p:sp>
          <p:nvSpPr>
            <p:cNvPr id="4" name="文本框 3"/>
            <p:cNvSpPr txBox="1"/>
            <p:nvPr/>
          </p:nvSpPr>
          <p:spPr>
            <a:xfrm>
              <a:off x="1700306" y="1507763"/>
              <a:ext cx="2829212" cy="5847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数据处理</a:t>
              </a: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369" t="21333" r="33139" b="58431"/>
            <a:stretch>
              <a:fillRect/>
            </a:stretch>
          </p:blipFill>
          <p:spPr>
            <a:xfrm>
              <a:off x="1019925" y="1511482"/>
              <a:ext cx="724951" cy="589413"/>
            </a:xfrm>
            <a:prstGeom prst="rect">
              <a:avLst/>
            </a:prstGeom>
          </p:spPr>
        </p:pic>
      </p:grpSp>
      <p:pic>
        <p:nvPicPr>
          <p:cNvPr id="36" name="图片 35"/>
          <p:cNvPicPr>
            <a:picLocks noChangeAspect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0" r="2331"/>
          <a:stretch>
            <a:fillRect/>
          </a:stretch>
        </p:blipFill>
        <p:spPr>
          <a:xfrm>
            <a:off x="10041127" y="112811"/>
            <a:ext cx="1789487" cy="524257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614026" y="931202"/>
            <a:ext cx="161949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latin typeface="Arial" panose="020B0604020202020204" pitchFamily="34" charset="0"/>
                <a:ea typeface="微软雅黑" panose="020B0503020204020204" pitchFamily="34" charset="-122"/>
              </a:rPr>
              <a:t>网页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处理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460482" y="1673005"/>
            <a:ext cx="3546063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使用</a:t>
            </a:r>
            <a:r>
              <a:rPr lang="zh-CN" altLang="en-US" sz="16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正则表达式</a:t>
            </a: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，检测输入的</a:t>
            </a: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URL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43030" y="2481588"/>
            <a:ext cx="3546063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爬取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URL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网页的文本内容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460481" y="3290171"/>
            <a:ext cx="3546063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筛选并爬取一级子网页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URL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及内容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5"/>
          <a:srcRect r="10063"/>
          <a:stretch>
            <a:fillRect/>
          </a:stretch>
        </p:blipFill>
        <p:spPr>
          <a:xfrm>
            <a:off x="4651822" y="2558796"/>
            <a:ext cx="5497675" cy="1325993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460480" y="4969541"/>
            <a:ext cx="3546063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保存网页内容到文档，并</a:t>
            </a:r>
            <a:r>
              <a:rPr lang="zh-CN" altLang="en-US" sz="16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嵌入知识库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01003" y="5837319"/>
            <a:ext cx="3546063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将网页内容作为上下文直接回答</a:t>
            </a:r>
          </a:p>
        </p:txBody>
      </p:sp>
      <p:sp>
        <p:nvSpPr>
          <p:cNvPr id="13" name="箭头: 下 12"/>
          <p:cNvSpPr/>
          <p:nvPr/>
        </p:nvSpPr>
        <p:spPr>
          <a:xfrm>
            <a:off x="2128002" y="2023816"/>
            <a:ext cx="183398" cy="443649"/>
          </a:xfrm>
          <a:prstGeom prst="downArrow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箭头: 下 36"/>
          <p:cNvSpPr/>
          <p:nvPr/>
        </p:nvSpPr>
        <p:spPr>
          <a:xfrm>
            <a:off x="2124361" y="2869890"/>
            <a:ext cx="183398" cy="443649"/>
          </a:xfrm>
          <a:prstGeom prst="downArrow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箭头: 下 37"/>
          <p:cNvSpPr/>
          <p:nvPr/>
        </p:nvSpPr>
        <p:spPr>
          <a:xfrm>
            <a:off x="2141813" y="3678693"/>
            <a:ext cx="183398" cy="443649"/>
          </a:xfrm>
          <a:prstGeom prst="downArrow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箭头: 下 38"/>
          <p:cNvSpPr/>
          <p:nvPr/>
        </p:nvSpPr>
        <p:spPr>
          <a:xfrm>
            <a:off x="2149272" y="5342559"/>
            <a:ext cx="183398" cy="443649"/>
          </a:xfrm>
          <a:prstGeom prst="downArrow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8230" y="997546"/>
            <a:ext cx="5864860" cy="987638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01418" y="4382903"/>
            <a:ext cx="6181880" cy="2322777"/>
          </a:xfrm>
          <a:prstGeom prst="rect">
            <a:avLst/>
          </a:prstGeom>
        </p:spPr>
      </p:pic>
      <p:sp>
        <p:nvSpPr>
          <p:cNvPr id="64" name="箭头: 下 63"/>
          <p:cNvSpPr/>
          <p:nvPr/>
        </p:nvSpPr>
        <p:spPr>
          <a:xfrm>
            <a:off x="7400660" y="2061161"/>
            <a:ext cx="183398" cy="443649"/>
          </a:xfrm>
          <a:prstGeom prst="downArrow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箭头: 下 64"/>
          <p:cNvSpPr/>
          <p:nvPr/>
        </p:nvSpPr>
        <p:spPr>
          <a:xfrm>
            <a:off x="7400659" y="3939254"/>
            <a:ext cx="183398" cy="443649"/>
          </a:xfrm>
          <a:prstGeom prst="downArrow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75964" y="1653253"/>
            <a:ext cx="6151397" cy="3273836"/>
          </a:xfrm>
          <a:prstGeom prst="rect">
            <a:avLst/>
          </a:prstGeom>
        </p:spPr>
      </p:pic>
      <p:sp>
        <p:nvSpPr>
          <p:cNvPr id="66" name="文本框 65"/>
          <p:cNvSpPr txBox="1"/>
          <p:nvPr/>
        </p:nvSpPr>
        <p:spPr>
          <a:xfrm>
            <a:off x="501004" y="4118828"/>
            <a:ext cx="3546063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去除</a:t>
            </a:r>
            <a:r>
              <a:rPr lang="en-US" altLang="zh-CN" sz="16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HTML</a:t>
            </a:r>
            <a:r>
              <a:rPr lang="zh-CN" altLang="en-US" sz="16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标签及特殊字符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7" name="箭头: 下 66"/>
          <p:cNvSpPr/>
          <p:nvPr/>
        </p:nvSpPr>
        <p:spPr>
          <a:xfrm>
            <a:off x="2149272" y="4508746"/>
            <a:ext cx="183398" cy="443649"/>
          </a:xfrm>
          <a:prstGeom prst="downArrow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: 圆角 50"/>
          <p:cNvSpPr/>
          <p:nvPr/>
        </p:nvSpPr>
        <p:spPr>
          <a:xfrm>
            <a:off x="1452938" y="5296424"/>
            <a:ext cx="3003145" cy="75457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: 圆角 49"/>
          <p:cNvSpPr/>
          <p:nvPr/>
        </p:nvSpPr>
        <p:spPr>
          <a:xfrm>
            <a:off x="1244746" y="3593319"/>
            <a:ext cx="3785896" cy="104160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/>
          <p:cNvSpPr/>
          <p:nvPr/>
        </p:nvSpPr>
        <p:spPr>
          <a:xfrm>
            <a:off x="1288213" y="1910975"/>
            <a:ext cx="3390296" cy="96513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98" b="67780"/>
          <a:stretch>
            <a:fillRect/>
          </a:stretch>
        </p:blipFill>
        <p:spPr>
          <a:xfrm>
            <a:off x="0" y="7620"/>
            <a:ext cx="12192000" cy="814672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-10808"/>
            <a:ext cx="12192000" cy="829381"/>
          </a:xfrm>
          <a:prstGeom prst="rect">
            <a:avLst/>
          </a:prstGeom>
          <a:solidFill>
            <a:schemeClr val="accent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38529" y="112811"/>
            <a:ext cx="3509593" cy="593132"/>
            <a:chOff x="1019925" y="1507763"/>
            <a:chExt cx="3509593" cy="593132"/>
          </a:xfrm>
        </p:grpSpPr>
        <p:sp>
          <p:nvSpPr>
            <p:cNvPr id="4" name="文本框 3"/>
            <p:cNvSpPr txBox="1"/>
            <p:nvPr/>
          </p:nvSpPr>
          <p:spPr>
            <a:xfrm>
              <a:off x="1700306" y="1507763"/>
              <a:ext cx="2829212" cy="5847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2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数据处理</a:t>
              </a: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369" t="21333" r="33139" b="58431"/>
            <a:stretch>
              <a:fillRect/>
            </a:stretch>
          </p:blipFill>
          <p:spPr>
            <a:xfrm>
              <a:off x="1019925" y="1511482"/>
              <a:ext cx="724951" cy="589413"/>
            </a:xfrm>
            <a:prstGeom prst="rect">
              <a:avLst/>
            </a:prstGeom>
          </p:spPr>
        </p:pic>
      </p:grpSp>
      <p:pic>
        <p:nvPicPr>
          <p:cNvPr id="36" name="图片 35"/>
          <p:cNvPicPr>
            <a:picLocks noChangeAspect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0" r="2331"/>
          <a:stretch>
            <a:fillRect/>
          </a:stretch>
        </p:blipFill>
        <p:spPr>
          <a:xfrm>
            <a:off x="10041127" y="112811"/>
            <a:ext cx="1789487" cy="524257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596783" y="1041449"/>
            <a:ext cx="1708583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数据清洗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1072232" y="1911163"/>
            <a:ext cx="3546063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文档类型为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PDF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MD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TXT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387983" y="1074685"/>
            <a:ext cx="1708583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文本嵌入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1238994" y="2537559"/>
            <a:ext cx="3546063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加载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PyPDFLoader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和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TextLoader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357163" y="3719180"/>
            <a:ext cx="360657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去除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HTML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格式标签、</a:t>
            </a: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空格、特殊字符，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统一全角字符，</a:t>
            </a: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修正</a:t>
            </a: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Markdown</a:t>
            </a: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格式错误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619516" y="5343899"/>
            <a:ext cx="2700987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Text_splitter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将文档拆分为固定大小的文档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6241471" y="1758655"/>
            <a:ext cx="4695715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接入阿里云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text-embedding-v4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文本嵌入模型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6735448" y="3536174"/>
            <a:ext cx="3546063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将文档转换为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嵌入向量（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1024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维）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6307409" y="5542536"/>
            <a:ext cx="4881983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将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文档来源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等元数据和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文档内容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加入向量数据库中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6751209" y="4392450"/>
            <a:ext cx="3546063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选取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Chroma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向量数据库，提供文档的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增删改查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接口</a:t>
            </a:r>
          </a:p>
        </p:txBody>
      </p:sp>
      <p:sp>
        <p:nvSpPr>
          <p:cNvPr id="44" name="箭头: 下 43"/>
          <p:cNvSpPr/>
          <p:nvPr/>
        </p:nvSpPr>
        <p:spPr>
          <a:xfrm>
            <a:off x="2863458" y="2247802"/>
            <a:ext cx="182752" cy="318185"/>
          </a:xfrm>
          <a:prstGeom prst="downArrow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箭头: 下 44"/>
          <p:cNvSpPr/>
          <p:nvPr/>
        </p:nvSpPr>
        <p:spPr>
          <a:xfrm>
            <a:off x="2878310" y="2936051"/>
            <a:ext cx="183398" cy="443649"/>
          </a:xfrm>
          <a:prstGeom prst="downArrow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箭头: 下 45"/>
          <p:cNvSpPr/>
          <p:nvPr/>
        </p:nvSpPr>
        <p:spPr>
          <a:xfrm>
            <a:off x="2862812" y="4761369"/>
            <a:ext cx="183398" cy="443649"/>
          </a:xfrm>
          <a:prstGeom prst="downArrow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4533" y="2107572"/>
            <a:ext cx="3050117" cy="917795"/>
          </a:xfrm>
          <a:prstGeom prst="rect">
            <a:avLst/>
          </a:prstGeom>
        </p:spPr>
      </p:pic>
      <p:sp>
        <p:nvSpPr>
          <p:cNvPr id="47" name="文本框 46"/>
          <p:cNvSpPr txBox="1"/>
          <p:nvPr/>
        </p:nvSpPr>
        <p:spPr>
          <a:xfrm>
            <a:off x="524933" y="2232685"/>
            <a:ext cx="65529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文档加载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524933" y="3873074"/>
            <a:ext cx="65529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文档清洗</a:t>
            </a:r>
          </a:p>
        </p:txBody>
      </p:sp>
      <p:sp>
        <p:nvSpPr>
          <p:cNvPr id="49" name="文本框 48"/>
          <p:cNvSpPr txBox="1"/>
          <p:nvPr/>
        </p:nvSpPr>
        <p:spPr>
          <a:xfrm>
            <a:off x="524933" y="5250149"/>
            <a:ext cx="65529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文档拆分</a:t>
            </a:r>
          </a:p>
        </p:txBody>
      </p:sp>
      <p:sp>
        <p:nvSpPr>
          <p:cNvPr id="11" name="箭头: 右 10"/>
          <p:cNvSpPr/>
          <p:nvPr/>
        </p:nvSpPr>
        <p:spPr>
          <a:xfrm>
            <a:off x="5299946" y="3072545"/>
            <a:ext cx="970296" cy="9671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箭头: 下 51"/>
          <p:cNvSpPr/>
          <p:nvPr/>
        </p:nvSpPr>
        <p:spPr>
          <a:xfrm>
            <a:off x="8435604" y="3058946"/>
            <a:ext cx="183398" cy="443649"/>
          </a:xfrm>
          <a:prstGeom prst="downArrow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箭头: 下 52"/>
          <p:cNvSpPr/>
          <p:nvPr/>
        </p:nvSpPr>
        <p:spPr>
          <a:xfrm>
            <a:off x="8432542" y="3879094"/>
            <a:ext cx="183398" cy="443649"/>
          </a:xfrm>
          <a:prstGeom prst="downArrow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箭头: 下 53"/>
          <p:cNvSpPr/>
          <p:nvPr/>
        </p:nvSpPr>
        <p:spPr>
          <a:xfrm>
            <a:off x="8469483" y="5047579"/>
            <a:ext cx="183398" cy="443649"/>
          </a:xfrm>
          <a:prstGeom prst="downArrow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98" b="67780"/>
          <a:stretch>
            <a:fillRect/>
          </a:stretch>
        </p:blipFill>
        <p:spPr>
          <a:xfrm>
            <a:off x="0" y="7620"/>
            <a:ext cx="12192000" cy="814672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-10808"/>
            <a:ext cx="12192000" cy="829381"/>
          </a:xfrm>
          <a:prstGeom prst="rect">
            <a:avLst/>
          </a:prstGeom>
          <a:solidFill>
            <a:schemeClr val="accent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38529" y="112811"/>
            <a:ext cx="3509593" cy="593132"/>
            <a:chOff x="1019925" y="1507763"/>
            <a:chExt cx="3509593" cy="593132"/>
          </a:xfrm>
        </p:grpSpPr>
        <p:sp>
          <p:nvSpPr>
            <p:cNvPr id="4" name="文本框 3"/>
            <p:cNvSpPr txBox="1"/>
            <p:nvPr/>
          </p:nvSpPr>
          <p:spPr>
            <a:xfrm>
              <a:off x="1700306" y="1507763"/>
              <a:ext cx="2829212" cy="5847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dist">
                <a:defRPr/>
              </a:pPr>
              <a:r>
                <a:rPr lang="en-US" altLang="zh-CN" sz="32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RAG</a:t>
              </a:r>
              <a:r>
                <a:rPr lang="zh-CN" altLang="en-US" sz="32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核心实现</a:t>
              </a: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369" t="21333" r="33139" b="58431"/>
            <a:stretch>
              <a:fillRect/>
            </a:stretch>
          </p:blipFill>
          <p:spPr>
            <a:xfrm>
              <a:off x="1019925" y="1511482"/>
              <a:ext cx="724951" cy="589413"/>
            </a:xfrm>
            <a:prstGeom prst="rect">
              <a:avLst/>
            </a:prstGeom>
          </p:spPr>
        </p:pic>
      </p:grpSp>
      <p:pic>
        <p:nvPicPr>
          <p:cNvPr id="36" name="图片 35"/>
          <p:cNvPicPr>
            <a:picLocks noChangeAspect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0" r="2331"/>
          <a:stretch>
            <a:fillRect/>
          </a:stretch>
        </p:blipFill>
        <p:spPr>
          <a:xfrm>
            <a:off x="10041127" y="112811"/>
            <a:ext cx="1789487" cy="524257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241493" y="1086120"/>
            <a:ext cx="161949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latin typeface="Arial" panose="020B0604020202020204" pitchFamily="34" charset="0"/>
                <a:ea typeface="微软雅黑" panose="020B0503020204020204" pitchFamily="34" charset="-122"/>
              </a:rPr>
              <a:t>检索优化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17559" y="1080796"/>
            <a:ext cx="161949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多路检索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91065" y="1921915"/>
            <a:ext cx="3945127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使用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MMR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排序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检索到的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TopK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个文档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5"/>
          <a:srcRect l="20878" t="23398" r="10137" b="65340"/>
          <a:stretch>
            <a:fillRect/>
          </a:stretch>
        </p:blipFill>
        <p:spPr>
          <a:xfrm>
            <a:off x="389127" y="2393178"/>
            <a:ext cx="4724400" cy="474133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501004" y="3390870"/>
            <a:ext cx="3945127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调用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gte-rerank-v2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模型进行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重排序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127" y="3862133"/>
            <a:ext cx="4242296" cy="1693908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491064" y="5592510"/>
            <a:ext cx="3945127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将</a:t>
            </a: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query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和</a:t>
            </a: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doc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映射到同一语义空间，再计算相似度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箭头: 下 20"/>
          <p:cNvSpPr/>
          <p:nvPr/>
        </p:nvSpPr>
        <p:spPr>
          <a:xfrm>
            <a:off x="2463627" y="2947221"/>
            <a:ext cx="183398" cy="443649"/>
          </a:xfrm>
          <a:prstGeom prst="downArrow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6449289" y="2144482"/>
            <a:ext cx="905847" cy="516467"/>
          </a:xfrm>
          <a:prstGeom prst="rect">
            <a:avLst/>
          </a:prstGeom>
          <a:solidFill>
            <a:srgbClr val="958AD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Query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6206413" y="3081295"/>
            <a:ext cx="1391601" cy="6191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Query Rewriting</a:t>
            </a:r>
            <a:endParaRPr lang="zh-CN" altLang="en-US" dirty="0"/>
          </a:p>
        </p:txBody>
      </p:sp>
      <p:sp>
        <p:nvSpPr>
          <p:cNvPr id="27" name="矩形: 圆角 26"/>
          <p:cNvSpPr/>
          <p:nvPr/>
        </p:nvSpPr>
        <p:spPr>
          <a:xfrm>
            <a:off x="8398436" y="2730419"/>
            <a:ext cx="2317647" cy="4336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Hyde Generating</a:t>
            </a:r>
            <a:endParaRPr lang="zh-CN" altLang="en-US" dirty="0"/>
          </a:p>
        </p:txBody>
      </p:sp>
      <p:sp>
        <p:nvSpPr>
          <p:cNvPr id="28" name="箭头: 下 27"/>
          <p:cNvSpPr/>
          <p:nvPr/>
        </p:nvSpPr>
        <p:spPr>
          <a:xfrm>
            <a:off x="6782110" y="2756331"/>
            <a:ext cx="183398" cy="305690"/>
          </a:xfrm>
          <a:prstGeom prst="downArrow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7545094" y="2378663"/>
            <a:ext cx="3945127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检索结果作为上下文传递</a:t>
            </a:r>
          </a:p>
        </p:txBody>
      </p:sp>
      <p:sp>
        <p:nvSpPr>
          <p:cNvPr id="30" name="矩形: 圆角 29"/>
          <p:cNvSpPr/>
          <p:nvPr/>
        </p:nvSpPr>
        <p:spPr>
          <a:xfrm>
            <a:off x="8398436" y="3862133"/>
            <a:ext cx="2353126" cy="3478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Keywords Extracting</a:t>
            </a:r>
            <a:endParaRPr lang="zh-CN" altLang="en-US" dirty="0"/>
          </a:p>
        </p:txBody>
      </p:sp>
      <p:sp>
        <p:nvSpPr>
          <p:cNvPr id="31" name="文本框 30"/>
          <p:cNvSpPr txBox="1"/>
          <p:nvPr/>
        </p:nvSpPr>
        <p:spPr>
          <a:xfrm>
            <a:off x="7561688" y="3497831"/>
            <a:ext cx="3945127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重写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query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中提取关键词</a:t>
            </a:r>
          </a:p>
        </p:txBody>
      </p:sp>
      <p:sp>
        <p:nvSpPr>
          <p:cNvPr id="18" name="左大括号 17"/>
          <p:cNvSpPr/>
          <p:nvPr/>
        </p:nvSpPr>
        <p:spPr>
          <a:xfrm>
            <a:off x="7902851" y="2867311"/>
            <a:ext cx="132016" cy="1154356"/>
          </a:xfrm>
          <a:prstGeom prst="leftBrac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6782110" y="4574307"/>
            <a:ext cx="736600" cy="50638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检索优化</a:t>
            </a:r>
          </a:p>
        </p:txBody>
      </p:sp>
      <p:sp>
        <p:nvSpPr>
          <p:cNvPr id="37" name="矩形 36"/>
          <p:cNvSpPr/>
          <p:nvPr/>
        </p:nvSpPr>
        <p:spPr>
          <a:xfrm>
            <a:off x="8820659" y="4574307"/>
            <a:ext cx="736600" cy="50638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检索优化</a:t>
            </a:r>
          </a:p>
        </p:txBody>
      </p:sp>
      <p:sp>
        <p:nvSpPr>
          <p:cNvPr id="38" name="矩形 37"/>
          <p:cNvSpPr/>
          <p:nvPr/>
        </p:nvSpPr>
        <p:spPr>
          <a:xfrm>
            <a:off x="10770215" y="4574307"/>
            <a:ext cx="736600" cy="50638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检索优化</a:t>
            </a:r>
          </a:p>
        </p:txBody>
      </p:sp>
      <p:cxnSp>
        <p:nvCxnSpPr>
          <p:cNvPr id="45" name="直接箭头连接符 44"/>
          <p:cNvCxnSpPr/>
          <p:nvPr/>
        </p:nvCxnSpPr>
        <p:spPr>
          <a:xfrm>
            <a:off x="7150410" y="3760202"/>
            <a:ext cx="0" cy="69326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>
            <a:off x="9188959" y="4260806"/>
            <a:ext cx="0" cy="2434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连接符: 肘形 51"/>
          <p:cNvCxnSpPr/>
          <p:nvPr/>
        </p:nvCxnSpPr>
        <p:spPr>
          <a:xfrm rot="16200000" flipH="1">
            <a:off x="10255477" y="3499498"/>
            <a:ext cx="1473361" cy="292715"/>
          </a:xfrm>
          <a:prstGeom prst="bentConnector3">
            <a:avLst>
              <a:gd name="adj1" fmla="val 5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左大括号 53"/>
          <p:cNvSpPr/>
          <p:nvPr/>
        </p:nvSpPr>
        <p:spPr>
          <a:xfrm rot="16200000">
            <a:off x="9046400" y="3374785"/>
            <a:ext cx="264108" cy="4059455"/>
          </a:xfrm>
          <a:prstGeom prst="leftBrace">
            <a:avLst>
              <a:gd name="adj1" fmla="val 0"/>
              <a:gd name="adj2" fmla="val 49792"/>
            </a:avLst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B0F0"/>
              </a:solidFill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8034867" y="5755059"/>
            <a:ext cx="2410531" cy="576419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Score-Sorted </a:t>
            </a:r>
          </a:p>
          <a:p>
            <a:pPr algn="ctr"/>
            <a:r>
              <a:rPr lang="en-US" altLang="zh-CN" b="1" dirty="0" err="1"/>
              <a:t>TopK</a:t>
            </a:r>
            <a:r>
              <a:rPr lang="en-US" altLang="zh-CN" b="1" dirty="0"/>
              <a:t> Doc.</a:t>
            </a:r>
            <a:endParaRPr lang="zh-CN" altLang="en-US" b="1" dirty="0"/>
          </a:p>
        </p:txBody>
      </p:sp>
      <p:sp>
        <p:nvSpPr>
          <p:cNvPr id="57" name="文本框 56"/>
          <p:cNvSpPr txBox="1"/>
          <p:nvPr/>
        </p:nvSpPr>
        <p:spPr>
          <a:xfrm>
            <a:off x="7148726" y="5101447"/>
            <a:ext cx="8861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 err="1"/>
              <a:t>TopK</a:t>
            </a:r>
            <a:endParaRPr lang="zh-CN" altLang="en-US" sz="1400" dirty="0"/>
          </a:p>
        </p:txBody>
      </p:sp>
      <p:sp>
        <p:nvSpPr>
          <p:cNvPr id="58" name="文本框 57"/>
          <p:cNvSpPr txBox="1"/>
          <p:nvPr/>
        </p:nvSpPr>
        <p:spPr>
          <a:xfrm>
            <a:off x="8840694" y="5101447"/>
            <a:ext cx="8861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 err="1"/>
              <a:t>TopK</a:t>
            </a:r>
            <a:endParaRPr lang="zh-CN" altLang="en-US" sz="1400" dirty="0"/>
          </a:p>
        </p:txBody>
      </p:sp>
      <p:sp>
        <p:nvSpPr>
          <p:cNvPr id="59" name="文本框 58"/>
          <p:cNvSpPr txBox="1"/>
          <p:nvPr/>
        </p:nvSpPr>
        <p:spPr>
          <a:xfrm>
            <a:off x="10586392" y="5115757"/>
            <a:ext cx="8861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 err="1"/>
              <a:t>TopK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98" b="67780"/>
          <a:stretch>
            <a:fillRect/>
          </a:stretch>
        </p:blipFill>
        <p:spPr>
          <a:xfrm>
            <a:off x="0" y="7620"/>
            <a:ext cx="12192000" cy="814672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-10808"/>
            <a:ext cx="12192000" cy="829381"/>
          </a:xfrm>
          <a:prstGeom prst="rect">
            <a:avLst/>
          </a:prstGeom>
          <a:solidFill>
            <a:schemeClr val="accent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38529" y="112811"/>
            <a:ext cx="3509593" cy="593132"/>
            <a:chOff x="1019925" y="1507763"/>
            <a:chExt cx="3509593" cy="593132"/>
          </a:xfrm>
        </p:grpSpPr>
        <p:sp>
          <p:nvSpPr>
            <p:cNvPr id="4" name="文本框 3"/>
            <p:cNvSpPr txBox="1"/>
            <p:nvPr/>
          </p:nvSpPr>
          <p:spPr>
            <a:xfrm>
              <a:off x="1700306" y="1507763"/>
              <a:ext cx="2829212" cy="5847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dist">
                <a:defRPr/>
              </a:pPr>
              <a:r>
                <a:rPr lang="en-US" altLang="zh-CN" sz="32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RAG</a:t>
              </a:r>
              <a:r>
                <a:rPr lang="zh-CN" altLang="en-US" sz="32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核心实现</a:t>
              </a: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369" t="21333" r="33139" b="58431"/>
            <a:stretch>
              <a:fillRect/>
            </a:stretch>
          </p:blipFill>
          <p:spPr>
            <a:xfrm>
              <a:off x="1019925" y="1511482"/>
              <a:ext cx="724951" cy="589413"/>
            </a:xfrm>
            <a:prstGeom prst="rect">
              <a:avLst/>
            </a:prstGeom>
          </p:spPr>
        </p:pic>
      </p:grpSp>
      <p:pic>
        <p:nvPicPr>
          <p:cNvPr id="36" name="图片 35"/>
          <p:cNvPicPr>
            <a:picLocks noChangeAspect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0" r="2331"/>
          <a:stretch>
            <a:fillRect/>
          </a:stretch>
        </p:blipFill>
        <p:spPr>
          <a:xfrm>
            <a:off x="10041127" y="112811"/>
            <a:ext cx="1789487" cy="524257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0" y="984038"/>
            <a:ext cx="2155778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提示词优化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7167" y="1102525"/>
            <a:ext cx="3302323" cy="160049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7168" y="2889279"/>
            <a:ext cx="3302323" cy="1802266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7167" y="4815386"/>
            <a:ext cx="3302324" cy="1834959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5100" y="984038"/>
            <a:ext cx="5555517" cy="1714715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5100" y="2889279"/>
            <a:ext cx="5555517" cy="1850390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95100" y="4865455"/>
            <a:ext cx="5555517" cy="1784890"/>
          </a:xfrm>
          <a:prstGeom prst="rect">
            <a:avLst/>
          </a:prstGeom>
        </p:spPr>
      </p:pic>
      <p:sp>
        <p:nvSpPr>
          <p:cNvPr id="37" name="文本框 36"/>
          <p:cNvSpPr txBox="1"/>
          <p:nvPr/>
        </p:nvSpPr>
        <p:spPr>
          <a:xfrm>
            <a:off x="6538907" y="980319"/>
            <a:ext cx="2896346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出现大量无关内容标签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6538907" y="2889279"/>
            <a:ext cx="2418246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无关内容减少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6332320" y="4903554"/>
            <a:ext cx="3441599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回答简洁准确，不过度生成</a:t>
            </a:r>
          </a:p>
        </p:txBody>
      </p:sp>
      <p:sp>
        <p:nvSpPr>
          <p:cNvPr id="35" name="椭圆 34"/>
          <p:cNvSpPr/>
          <p:nvPr/>
        </p:nvSpPr>
        <p:spPr>
          <a:xfrm>
            <a:off x="826943" y="1683299"/>
            <a:ext cx="501890" cy="5232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1</a:t>
            </a:r>
            <a:endParaRPr lang="zh-CN" altLang="en-US" b="1" dirty="0"/>
          </a:p>
        </p:txBody>
      </p:sp>
      <p:sp>
        <p:nvSpPr>
          <p:cNvPr id="41" name="椭圆 40"/>
          <p:cNvSpPr/>
          <p:nvPr/>
        </p:nvSpPr>
        <p:spPr>
          <a:xfrm>
            <a:off x="826943" y="3288693"/>
            <a:ext cx="501890" cy="5232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2</a:t>
            </a:r>
            <a:endParaRPr lang="zh-CN" altLang="en-US" b="1" dirty="0"/>
          </a:p>
        </p:txBody>
      </p:sp>
      <p:sp>
        <p:nvSpPr>
          <p:cNvPr id="42" name="椭圆 41"/>
          <p:cNvSpPr/>
          <p:nvPr/>
        </p:nvSpPr>
        <p:spPr>
          <a:xfrm>
            <a:off x="818910" y="5255861"/>
            <a:ext cx="501890" cy="5232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3</a:t>
            </a:r>
            <a:endParaRPr lang="zh-CN" altLang="en-US" b="1" dirty="0"/>
          </a:p>
        </p:txBody>
      </p:sp>
      <p:sp>
        <p:nvSpPr>
          <p:cNvPr id="43" name="箭头: 右 42"/>
          <p:cNvSpPr/>
          <p:nvPr/>
        </p:nvSpPr>
        <p:spPr>
          <a:xfrm rot="5400000">
            <a:off x="783332" y="2608438"/>
            <a:ext cx="580815" cy="372865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箭头: 右 43"/>
          <p:cNvSpPr/>
          <p:nvPr/>
        </p:nvSpPr>
        <p:spPr>
          <a:xfrm rot="5400000">
            <a:off x="787481" y="4587775"/>
            <a:ext cx="580815" cy="372865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-370285" y="2180306"/>
            <a:ext cx="2896346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直接表达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-318562" y="3903293"/>
            <a:ext cx="2896346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使用</a:t>
            </a:r>
            <a:r>
              <a:rPr lang="zh-CN" altLang="en-US" sz="16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双标签</a:t>
            </a: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划分部分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-406615" y="5783590"/>
            <a:ext cx="2896346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参照</a:t>
            </a:r>
            <a:r>
              <a:rPr lang="zh-CN" altLang="en-US" sz="16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官方提示词</a:t>
            </a: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模板</a:t>
            </a:r>
            <a:endParaRPr lang="en-US" altLang="zh-CN" sz="16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ctr">
              <a:defRPr/>
            </a:pP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使用</a:t>
            </a:r>
            <a:r>
              <a:rPr lang="zh-CN" altLang="en-US" sz="16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双</a:t>
            </a:r>
            <a:r>
              <a:rPr lang="en-US" altLang="zh-CN" sz="16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##</a:t>
            </a: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划分部分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98" b="67780"/>
          <a:stretch>
            <a:fillRect/>
          </a:stretch>
        </p:blipFill>
        <p:spPr>
          <a:xfrm>
            <a:off x="0" y="7620"/>
            <a:ext cx="12192000" cy="814672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-10808"/>
            <a:ext cx="12192000" cy="829381"/>
          </a:xfrm>
          <a:prstGeom prst="rect">
            <a:avLst/>
          </a:prstGeom>
          <a:solidFill>
            <a:schemeClr val="accent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38529" y="112811"/>
            <a:ext cx="3509593" cy="593132"/>
            <a:chOff x="1019925" y="1507763"/>
            <a:chExt cx="3509593" cy="593132"/>
          </a:xfrm>
        </p:grpSpPr>
        <p:sp>
          <p:nvSpPr>
            <p:cNvPr id="4" name="文本框 3"/>
            <p:cNvSpPr txBox="1"/>
            <p:nvPr/>
          </p:nvSpPr>
          <p:spPr>
            <a:xfrm>
              <a:off x="1700306" y="1507763"/>
              <a:ext cx="2829212" cy="5847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dist">
                <a:defRPr/>
              </a:pPr>
              <a:r>
                <a:rPr lang="zh-CN" altLang="en-US" sz="32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模型微调</a:t>
              </a: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369" t="21333" r="33139" b="58431"/>
            <a:stretch>
              <a:fillRect/>
            </a:stretch>
          </p:blipFill>
          <p:spPr>
            <a:xfrm>
              <a:off x="1019925" y="1511482"/>
              <a:ext cx="724951" cy="589413"/>
            </a:xfrm>
            <a:prstGeom prst="rect">
              <a:avLst/>
            </a:prstGeom>
          </p:spPr>
        </p:pic>
      </p:grpSp>
      <p:pic>
        <p:nvPicPr>
          <p:cNvPr id="36" name="图片 35"/>
          <p:cNvPicPr>
            <a:picLocks noChangeAspect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0" r="2331"/>
          <a:stretch>
            <a:fillRect/>
          </a:stretch>
        </p:blipFill>
        <p:spPr>
          <a:xfrm>
            <a:off x="10041127" y="112811"/>
            <a:ext cx="1789487" cy="52425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500" y="2017835"/>
            <a:ext cx="3532627" cy="173374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-345643" y="1279171"/>
            <a:ext cx="2418246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数据集制作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5892800" y="1288565"/>
            <a:ext cx="2418246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微调部署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468867" y="3790111"/>
            <a:ext cx="2418246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提取文本的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实体关系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1029879" y="5048215"/>
            <a:ext cx="3464144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LLM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在线生成高质量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问答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数据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1468867" y="4397265"/>
            <a:ext cx="2418246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构建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知识图谱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718" y="5417547"/>
            <a:ext cx="4958119" cy="502032"/>
          </a:xfrm>
          <a:prstGeom prst="rect">
            <a:avLst/>
          </a:prstGeom>
        </p:spPr>
      </p:pic>
      <p:sp>
        <p:nvSpPr>
          <p:cNvPr id="20" name="箭头: 下 19"/>
          <p:cNvSpPr/>
          <p:nvPr/>
        </p:nvSpPr>
        <p:spPr>
          <a:xfrm>
            <a:off x="2586291" y="4135378"/>
            <a:ext cx="183398" cy="305690"/>
          </a:xfrm>
          <a:prstGeom prst="downArrow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箭头: 下 20"/>
          <p:cNvSpPr/>
          <p:nvPr/>
        </p:nvSpPr>
        <p:spPr>
          <a:xfrm>
            <a:off x="2578553" y="4760427"/>
            <a:ext cx="183398" cy="305690"/>
          </a:xfrm>
          <a:prstGeom prst="downArrow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3682" y="1769055"/>
            <a:ext cx="4007566" cy="1851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文本框 23"/>
          <p:cNvSpPr txBox="1"/>
          <p:nvPr/>
        </p:nvSpPr>
        <p:spPr>
          <a:xfrm>
            <a:off x="6346972" y="3670947"/>
            <a:ext cx="5699345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 err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LLaMA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Factory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使用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Lora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进行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SFT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微调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QWen2.5-7B-instruct-1M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模型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6131269" y="6284978"/>
            <a:ext cx="5699345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 err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FastApi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部署微调模型，暴露端口</a:t>
            </a: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8"/>
          <a:srcRect l="8218" r="10303"/>
          <a:stretch>
            <a:fillRect/>
          </a:stretch>
        </p:blipFill>
        <p:spPr>
          <a:xfrm>
            <a:off x="7593191" y="4353128"/>
            <a:ext cx="3104202" cy="1869796"/>
          </a:xfrm>
          <a:prstGeom prst="rect">
            <a:avLst/>
          </a:prstGeom>
        </p:spPr>
      </p:pic>
      <p:cxnSp>
        <p:nvCxnSpPr>
          <p:cNvPr id="27" name="直接连接符 26"/>
          <p:cNvCxnSpPr/>
          <p:nvPr/>
        </p:nvCxnSpPr>
        <p:spPr>
          <a:xfrm>
            <a:off x="5816973" y="1288565"/>
            <a:ext cx="0" cy="5561815"/>
          </a:xfrm>
          <a:prstGeom prst="line">
            <a:avLst/>
          </a:prstGeom>
          <a:ln w="28575"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98" b="67780"/>
          <a:stretch>
            <a:fillRect/>
          </a:stretch>
        </p:blipFill>
        <p:spPr>
          <a:xfrm>
            <a:off x="0" y="7620"/>
            <a:ext cx="12192000" cy="814672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-10808"/>
            <a:ext cx="12192000" cy="829381"/>
          </a:xfrm>
          <a:prstGeom prst="rect">
            <a:avLst/>
          </a:prstGeom>
          <a:solidFill>
            <a:schemeClr val="accent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38529" y="112811"/>
            <a:ext cx="3509593" cy="593132"/>
            <a:chOff x="1019925" y="1507763"/>
            <a:chExt cx="3509593" cy="593132"/>
          </a:xfrm>
        </p:grpSpPr>
        <p:sp>
          <p:nvSpPr>
            <p:cNvPr id="4" name="文本框 3"/>
            <p:cNvSpPr txBox="1"/>
            <p:nvPr/>
          </p:nvSpPr>
          <p:spPr>
            <a:xfrm>
              <a:off x="1700306" y="1507763"/>
              <a:ext cx="2829212" cy="5847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dist">
                <a:defRPr/>
              </a:pPr>
              <a:r>
                <a:rPr lang="zh-CN" altLang="en-US" sz="32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模型微调</a:t>
              </a: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4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369" t="21333" r="33139" b="58431"/>
            <a:stretch>
              <a:fillRect/>
            </a:stretch>
          </p:blipFill>
          <p:spPr>
            <a:xfrm>
              <a:off x="1019925" y="1511482"/>
              <a:ext cx="724951" cy="589413"/>
            </a:xfrm>
            <a:prstGeom prst="rect">
              <a:avLst/>
            </a:prstGeom>
          </p:spPr>
        </p:pic>
      </p:grpSp>
      <p:pic>
        <p:nvPicPr>
          <p:cNvPr id="36" name="图片 35"/>
          <p:cNvPicPr>
            <a:picLocks noChangeAspect="1"/>
          </p:cNvPicPr>
          <p:nvPr/>
        </p:nvPicPr>
        <p:blipFill rotWithShape="1">
          <a:blip r:embed="rId5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0" r="2331"/>
          <a:stretch>
            <a:fillRect/>
          </a:stretch>
        </p:blipFill>
        <p:spPr>
          <a:xfrm>
            <a:off x="10041127" y="112811"/>
            <a:ext cx="1789487" cy="52425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7" t="2840" r="7065" b="6920"/>
          <a:stretch>
            <a:fillRect/>
          </a:stretch>
        </p:blipFill>
        <p:spPr>
          <a:xfrm>
            <a:off x="4174842" y="1205328"/>
            <a:ext cx="2981960" cy="219163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9799" y="1052412"/>
            <a:ext cx="3698105" cy="234181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3648122" y="3466956"/>
            <a:ext cx="4276322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b="1" dirty="0">
                <a:latin typeface="Arial" panose="020B0604020202020204" pitchFamily="34" charset="0"/>
                <a:ea typeface="微软雅黑" panose="020B0503020204020204" pitchFamily="34" charset="-122"/>
              </a:rPr>
              <a:t>Lora</a:t>
            </a:r>
            <a:r>
              <a:rPr lang="zh-CN" altLang="en-US" sz="1400" b="1" dirty="0">
                <a:latin typeface="Arial" panose="020B0604020202020204" pitchFamily="34" charset="0"/>
                <a:ea typeface="微软雅黑" panose="020B0503020204020204" pitchFamily="34" charset="-122"/>
              </a:rPr>
              <a:t>矩阵秩为</a:t>
            </a:r>
            <a:r>
              <a:rPr lang="en-US" altLang="zh-CN" sz="1400" b="1" dirty="0">
                <a:latin typeface="Arial" panose="020B0604020202020204" pitchFamily="34" charset="0"/>
                <a:ea typeface="微软雅黑" panose="020B0503020204020204" pitchFamily="34" charset="-122"/>
              </a:rPr>
              <a:t>2</a:t>
            </a:r>
            <a:r>
              <a:rPr lang="zh-CN" altLang="en-US" sz="1400" b="1" dirty="0">
                <a:latin typeface="Arial" panose="020B0604020202020204" pitchFamily="34" charset="0"/>
                <a:ea typeface="微软雅黑" panose="020B0503020204020204" pitchFamily="34" charset="-122"/>
              </a:rPr>
              <a:t>，学习率</a:t>
            </a:r>
            <a:r>
              <a:rPr lang="en-US" altLang="zh-CN" sz="1400" b="1" dirty="0">
                <a:latin typeface="Arial" panose="020B0604020202020204" pitchFamily="34" charset="0"/>
                <a:ea typeface="微软雅黑" panose="020B0503020204020204" pitchFamily="34" charset="-122"/>
              </a:rPr>
              <a:t>5e-4</a:t>
            </a:r>
            <a:r>
              <a:rPr lang="zh-CN" altLang="en-US" sz="1400" b="1" dirty="0">
                <a:latin typeface="Arial" panose="020B0604020202020204" pitchFamily="34" charset="0"/>
                <a:ea typeface="微软雅黑" panose="020B0503020204020204" pitchFamily="34" charset="-122"/>
              </a:rPr>
              <a:t>，训练</a:t>
            </a:r>
            <a:r>
              <a:rPr lang="en-US" altLang="zh-CN" sz="1400" b="1" dirty="0">
                <a:latin typeface="Arial" panose="020B0604020202020204" pitchFamily="34" charset="0"/>
                <a:ea typeface="微软雅黑" panose="020B0503020204020204" pitchFamily="34" charset="-122"/>
              </a:rPr>
              <a:t>30epoch</a:t>
            </a:r>
            <a:r>
              <a:rPr lang="zh-CN" altLang="en-US" sz="1400" b="1" dirty="0">
                <a:latin typeface="Arial" panose="020B0604020202020204" pitchFamily="34" charset="0"/>
                <a:ea typeface="微软雅黑" panose="020B0503020204020204" pitchFamily="34" charset="-122"/>
              </a:rPr>
              <a:t>早停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箭头: 右 12"/>
          <p:cNvSpPr/>
          <p:nvPr/>
        </p:nvSpPr>
        <p:spPr>
          <a:xfrm>
            <a:off x="7404118" y="2068026"/>
            <a:ext cx="717973" cy="6231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616002" y="3446722"/>
            <a:ext cx="4893205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latin typeface="Arial" panose="020B0604020202020204" pitchFamily="34" charset="0"/>
                <a:ea typeface="微软雅黑" panose="020B0503020204020204" pitchFamily="34" charset="-122"/>
              </a:rPr>
              <a:t>出现模型幻觉，过度学习答案生成方式，鉴定为过拟合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09"/>
          <a:stretch>
            <a:fillRect/>
          </a:stretch>
        </p:blipFill>
        <p:spPr>
          <a:xfrm>
            <a:off x="8189350" y="3918221"/>
            <a:ext cx="3830632" cy="236688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83524" y="3918221"/>
            <a:ext cx="3159147" cy="2366885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3648122" y="6327129"/>
            <a:ext cx="4276322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latin typeface="Arial" panose="020B0604020202020204" pitchFamily="34" charset="0"/>
                <a:ea typeface="微软雅黑" panose="020B0503020204020204" pitchFamily="34" charset="-122"/>
              </a:rPr>
              <a:t>保持秩为</a:t>
            </a:r>
            <a:r>
              <a:rPr lang="en-US" altLang="zh-CN" sz="1400" b="1" dirty="0">
                <a:latin typeface="Arial" panose="020B0604020202020204" pitchFamily="34" charset="0"/>
                <a:ea typeface="微软雅黑" panose="020B0503020204020204" pitchFamily="34" charset="-122"/>
              </a:rPr>
              <a:t>2</a:t>
            </a:r>
            <a:r>
              <a:rPr lang="zh-CN" altLang="en-US" sz="1400" b="1" dirty="0">
                <a:latin typeface="Arial" panose="020B0604020202020204" pitchFamily="34" charset="0"/>
                <a:ea typeface="微软雅黑" panose="020B0503020204020204" pitchFamily="34" charset="-122"/>
              </a:rPr>
              <a:t>，学习率</a:t>
            </a:r>
            <a:r>
              <a:rPr lang="en-US" altLang="zh-CN" sz="16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5e-5</a:t>
            </a:r>
            <a:r>
              <a:rPr lang="zh-CN" altLang="en-US" sz="1400" b="1" dirty="0">
                <a:latin typeface="Arial" panose="020B0604020202020204" pitchFamily="34" charset="0"/>
                <a:ea typeface="微软雅黑" panose="020B0503020204020204" pitchFamily="34" charset="-122"/>
              </a:rPr>
              <a:t>，训练</a:t>
            </a:r>
            <a:r>
              <a:rPr lang="en-US" altLang="zh-CN" sz="1400" b="1" dirty="0">
                <a:latin typeface="Arial" panose="020B0604020202020204" pitchFamily="34" charset="0"/>
                <a:ea typeface="微软雅黑" panose="020B0503020204020204" pitchFamily="34" charset="-122"/>
              </a:rPr>
              <a:t>1epoch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3" name="箭头: 右 22"/>
          <p:cNvSpPr/>
          <p:nvPr/>
        </p:nvSpPr>
        <p:spPr>
          <a:xfrm>
            <a:off x="7404117" y="4832089"/>
            <a:ext cx="717973" cy="6231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7747178" y="6357770"/>
            <a:ext cx="4893205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正常回答问题，回答内容准确真实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-423447" y="1039204"/>
            <a:ext cx="2418246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数据集制作</a:t>
            </a: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756" y="3952967"/>
            <a:ext cx="2934965" cy="1434932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9600" y="1597130"/>
            <a:ext cx="1293828" cy="198755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93681" y="1597130"/>
            <a:ext cx="1338158" cy="1987558"/>
          </a:xfrm>
          <a:prstGeom prst="rect">
            <a:avLst/>
          </a:prstGeom>
        </p:spPr>
      </p:pic>
      <p:sp>
        <p:nvSpPr>
          <p:cNvPr id="32" name="箭头: 右 31"/>
          <p:cNvSpPr/>
          <p:nvPr/>
        </p:nvSpPr>
        <p:spPr>
          <a:xfrm>
            <a:off x="1509106" y="2349239"/>
            <a:ext cx="484575" cy="4975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536116" y="5448401"/>
            <a:ext cx="2418246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Graphgen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生成示例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345395" y="3592375"/>
            <a:ext cx="915784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latin typeface="Arial" panose="020B0604020202020204" pitchFamily="34" charset="0"/>
                <a:ea typeface="微软雅黑" panose="020B0503020204020204" pitchFamily="34" charset="-122"/>
              </a:rPr>
              <a:t>数据</a:t>
            </a:r>
            <a:r>
              <a:rPr lang="en-US" altLang="zh-CN" sz="1400" b="1" dirty="0">
                <a:latin typeface="Arial" panose="020B0604020202020204" pitchFamily="34" charset="0"/>
                <a:ea typeface="微软雅黑" panose="020B0503020204020204" pitchFamily="34" charset="-122"/>
              </a:rPr>
              <a:t>txt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047976" y="3611979"/>
            <a:ext cx="1234814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latin typeface="Arial" panose="020B0604020202020204" pitchFamily="34" charset="0"/>
                <a:ea typeface="微软雅黑" panose="020B0503020204020204" pitchFamily="34" charset="-122"/>
              </a:rPr>
              <a:t>数据集</a:t>
            </a:r>
            <a:r>
              <a:rPr lang="en-US" altLang="zh-CN" sz="1400" b="1" dirty="0" err="1">
                <a:latin typeface="Arial" panose="020B0604020202020204" pitchFamily="34" charset="0"/>
                <a:ea typeface="微软雅黑" panose="020B0503020204020204" pitchFamily="34" charset="-122"/>
              </a:rPr>
              <a:t>jsonl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38" name="组合 37"/>
          <p:cNvGrpSpPr/>
          <p:nvPr/>
        </p:nvGrpSpPr>
        <p:grpSpPr>
          <a:xfrm rot="19169877">
            <a:off x="370147" y="3340952"/>
            <a:ext cx="2702096" cy="423165"/>
            <a:chOff x="301313" y="6234170"/>
            <a:chExt cx="2702096" cy="423165"/>
          </a:xfrm>
        </p:grpSpPr>
        <p:sp>
          <p:nvSpPr>
            <p:cNvPr id="31" name="矩形: 圆角 30"/>
            <p:cNvSpPr/>
            <p:nvPr/>
          </p:nvSpPr>
          <p:spPr>
            <a:xfrm>
              <a:off x="326319" y="6234170"/>
              <a:ext cx="2652084" cy="423165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301313" y="6261087"/>
              <a:ext cx="2702096" cy="369332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生成</a:t>
              </a: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760+</a:t>
              </a:r>
              <a:r>
                <a:rPr lang="zh-CN" altLang="en-US" b="1" dirty="0">
                  <a:solidFill>
                    <a:srgbClr val="FF0000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高质量</a:t>
              </a:r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QA</a:t>
              </a:r>
              <a:r>
                <a:rPr lang="zh-CN" altLang="en-US" b="1" dirty="0">
                  <a:solidFill>
                    <a:srgbClr val="FF0000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数据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cxnSp>
        <p:nvCxnSpPr>
          <p:cNvPr id="40" name="直接连接符 39"/>
          <p:cNvCxnSpPr/>
          <p:nvPr/>
        </p:nvCxnSpPr>
        <p:spPr>
          <a:xfrm>
            <a:off x="3648122" y="1168250"/>
            <a:ext cx="0" cy="5569435"/>
          </a:xfrm>
          <a:prstGeom prst="line">
            <a:avLst/>
          </a:prstGeom>
          <a:ln w="28575"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3109702" y="1026313"/>
            <a:ext cx="2418246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训练过程</a:t>
            </a:r>
          </a:p>
        </p:txBody>
      </p:sp>
      <p:grpSp>
        <p:nvGrpSpPr>
          <p:cNvPr id="46" name="组合 45"/>
          <p:cNvGrpSpPr/>
          <p:nvPr/>
        </p:nvGrpSpPr>
        <p:grpSpPr>
          <a:xfrm>
            <a:off x="6549522" y="3154787"/>
            <a:ext cx="3683908" cy="1485173"/>
            <a:chOff x="6546356" y="3154788"/>
            <a:chExt cx="2770808" cy="933450"/>
          </a:xfrm>
        </p:grpSpPr>
        <p:grpSp>
          <p:nvGrpSpPr>
            <p:cNvPr id="43" name="组合 42"/>
            <p:cNvGrpSpPr/>
            <p:nvPr/>
          </p:nvGrpSpPr>
          <p:grpSpPr>
            <a:xfrm>
              <a:off x="6546356" y="3298609"/>
              <a:ext cx="1889981" cy="657583"/>
              <a:chOff x="308000" y="6253511"/>
              <a:chExt cx="1315215" cy="336294"/>
            </a:xfrm>
          </p:grpSpPr>
          <p:sp>
            <p:nvSpPr>
              <p:cNvPr id="44" name="矩形: 圆角 43"/>
              <p:cNvSpPr/>
              <p:nvPr/>
            </p:nvSpPr>
            <p:spPr>
              <a:xfrm>
                <a:off x="329662" y="6253511"/>
                <a:ext cx="1235269" cy="336294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308000" y="6294933"/>
                <a:ext cx="1315215" cy="247319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4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</a:rPr>
                  <a:t>炼丹成功</a:t>
                </a:r>
              </a:p>
            </p:txBody>
          </p:sp>
        </p:grpSp>
        <p:pic>
          <p:nvPicPr>
            <p:cNvPr id="3074" name="Picture 2" descr="小黄脸加油加油打call表情包 可爱表情包，小黄脸手持彩棒表情夸张超有趣表情包图片gif动图 - 求表情网,斗图从此不求人!"/>
            <p:cNvPicPr>
              <a:picLocks noChangeAspect="1" noChangeArrowheads="1" noCrop="1"/>
            </p:cNvPicPr>
            <p:nvPr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8383714" y="3154788"/>
              <a:ext cx="933450" cy="933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3" grpId="0" animBg="1"/>
      <p:bldP spid="17" grpId="0"/>
      <p:bldP spid="22" grpId="0"/>
      <p:bldP spid="23" grpId="0" animBg="1"/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图片 43"/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780" y="1100472"/>
            <a:ext cx="3895794" cy="63149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98" b="67780"/>
          <a:stretch>
            <a:fillRect/>
          </a:stretch>
        </p:blipFill>
        <p:spPr>
          <a:xfrm>
            <a:off x="0" y="7620"/>
            <a:ext cx="12192000" cy="814672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0" y="0"/>
            <a:ext cx="12192000" cy="818573"/>
          </a:xfrm>
          <a:prstGeom prst="rect">
            <a:avLst/>
          </a:prstGeom>
          <a:solidFill>
            <a:schemeClr val="accent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38529" y="112811"/>
            <a:ext cx="2379345" cy="593132"/>
            <a:chOff x="1019925" y="1507763"/>
            <a:chExt cx="2379345" cy="593132"/>
          </a:xfrm>
        </p:grpSpPr>
        <p:sp>
          <p:nvSpPr>
            <p:cNvPr id="4" name="文本框 3"/>
            <p:cNvSpPr txBox="1"/>
            <p:nvPr/>
          </p:nvSpPr>
          <p:spPr>
            <a:xfrm>
              <a:off x="1700010" y="1507763"/>
              <a:ext cx="1699260" cy="5847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dist">
                <a:defRPr/>
              </a:pPr>
              <a:r>
                <a:rPr lang="en-US" altLang="zh-CN" sz="32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UI</a:t>
              </a:r>
              <a:r>
                <a:rPr lang="zh-CN" altLang="en-US" sz="32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实现</a:t>
              </a: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4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369" t="21333" r="33139" b="58431"/>
            <a:stretch>
              <a:fillRect/>
            </a:stretch>
          </p:blipFill>
          <p:spPr>
            <a:xfrm>
              <a:off x="1019925" y="1511482"/>
              <a:ext cx="724951" cy="589413"/>
            </a:xfrm>
            <a:prstGeom prst="rect">
              <a:avLst/>
            </a:prstGeom>
          </p:spPr>
        </p:pic>
      </p:grpSp>
      <p:sp>
        <p:nvSpPr>
          <p:cNvPr id="42" name="矩形 41"/>
          <p:cNvSpPr/>
          <p:nvPr/>
        </p:nvSpPr>
        <p:spPr>
          <a:xfrm>
            <a:off x="0" y="6553271"/>
            <a:ext cx="12192000" cy="3112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5365115" y="1225550"/>
            <a:ext cx="1586230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5004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ai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5004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对话界面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5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0" r="2331"/>
          <a:stretch>
            <a:fillRect/>
          </a:stretch>
        </p:blipFill>
        <p:spPr>
          <a:xfrm>
            <a:off x="10041127" y="112811"/>
            <a:ext cx="1789487" cy="524257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1875" y="2001520"/>
            <a:ext cx="7739380" cy="3723005"/>
          </a:xfrm>
          <a:prstGeom prst="rect">
            <a:avLst/>
          </a:prstGeom>
        </p:spPr>
      </p:pic>
      <p:cxnSp>
        <p:nvCxnSpPr>
          <p:cNvPr id="7" name="直接箭头连接符 6"/>
          <p:cNvCxnSpPr/>
          <p:nvPr/>
        </p:nvCxnSpPr>
        <p:spPr>
          <a:xfrm flipH="1">
            <a:off x="3515360" y="1542415"/>
            <a:ext cx="101600" cy="7010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V="1">
            <a:off x="2301875" y="4241165"/>
            <a:ext cx="792480" cy="14833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H="1">
            <a:off x="8026400" y="2812415"/>
            <a:ext cx="2298700" cy="2508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H="1" flipV="1">
            <a:off x="6583680" y="5423535"/>
            <a:ext cx="622300" cy="4775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3201670" y="1226185"/>
            <a:ext cx="1009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菜单栏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623695" y="5819775"/>
            <a:ext cx="1697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历史会话列表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0325100" y="2602865"/>
            <a:ext cx="1009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介绍页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7205980" y="5901055"/>
            <a:ext cx="1009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输入栏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270" y="2129155"/>
            <a:ext cx="8408670" cy="3155950"/>
          </a:xfrm>
          <a:prstGeom prst="rect">
            <a:avLst/>
          </a:prstGeom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780" y="1100472"/>
            <a:ext cx="3895794" cy="63149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98" b="67780"/>
          <a:stretch>
            <a:fillRect/>
          </a:stretch>
        </p:blipFill>
        <p:spPr>
          <a:xfrm>
            <a:off x="0" y="7620"/>
            <a:ext cx="12192000" cy="814672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0" y="0"/>
            <a:ext cx="12192000" cy="818573"/>
          </a:xfrm>
          <a:prstGeom prst="rect">
            <a:avLst/>
          </a:prstGeom>
          <a:solidFill>
            <a:schemeClr val="accent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38529" y="112811"/>
            <a:ext cx="2379345" cy="593132"/>
            <a:chOff x="1019925" y="1507763"/>
            <a:chExt cx="2379345" cy="593132"/>
          </a:xfrm>
        </p:grpSpPr>
        <p:sp>
          <p:nvSpPr>
            <p:cNvPr id="4" name="文本框 3"/>
            <p:cNvSpPr txBox="1"/>
            <p:nvPr/>
          </p:nvSpPr>
          <p:spPr>
            <a:xfrm>
              <a:off x="1700010" y="1507763"/>
              <a:ext cx="1699260" cy="5847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dist">
                <a:defRPr/>
              </a:pPr>
              <a:r>
                <a:rPr lang="en-US" altLang="zh-CN" sz="32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UI</a:t>
              </a:r>
              <a:r>
                <a:rPr lang="zh-CN" altLang="en-US" sz="32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实现</a:t>
              </a: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5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369" t="21333" r="33139" b="58431"/>
            <a:stretch>
              <a:fillRect/>
            </a:stretch>
          </p:blipFill>
          <p:spPr>
            <a:xfrm>
              <a:off x="1019925" y="1511482"/>
              <a:ext cx="724951" cy="589413"/>
            </a:xfrm>
            <a:prstGeom prst="rect">
              <a:avLst/>
            </a:prstGeom>
          </p:spPr>
        </p:pic>
      </p:grpSp>
      <p:sp>
        <p:nvSpPr>
          <p:cNvPr id="42" name="矩形 41"/>
          <p:cNvSpPr/>
          <p:nvPr/>
        </p:nvSpPr>
        <p:spPr>
          <a:xfrm>
            <a:off x="0" y="6553271"/>
            <a:ext cx="12192000" cy="3112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5365115" y="1225550"/>
            <a:ext cx="1586230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5004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ai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5004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对话界面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6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0" r="2331"/>
          <a:stretch>
            <a:fillRect/>
          </a:stretch>
        </p:blipFill>
        <p:spPr>
          <a:xfrm>
            <a:off x="10041127" y="112811"/>
            <a:ext cx="1789487" cy="524257"/>
          </a:xfrm>
          <a:prstGeom prst="rect">
            <a:avLst/>
          </a:prstGeom>
        </p:spPr>
      </p:pic>
      <p:cxnSp>
        <p:nvCxnSpPr>
          <p:cNvPr id="7" name="直接箭头连接符 6"/>
          <p:cNvCxnSpPr/>
          <p:nvPr/>
        </p:nvCxnSpPr>
        <p:spPr>
          <a:xfrm>
            <a:off x="3254375" y="1513205"/>
            <a:ext cx="568960" cy="8534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V="1">
            <a:off x="2301875" y="4519295"/>
            <a:ext cx="687705" cy="12052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H="1">
            <a:off x="9531985" y="3086735"/>
            <a:ext cx="1199515" cy="2946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H="1" flipV="1">
            <a:off x="6189980" y="3381375"/>
            <a:ext cx="393700" cy="23812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2654300" y="1144905"/>
            <a:ext cx="11677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消息界面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0731500" y="2931795"/>
            <a:ext cx="1170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用户消息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6189980" y="5819775"/>
            <a:ext cx="1009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</a:rPr>
              <a:t>ai</a:t>
            </a:r>
            <a:r>
              <a:rPr lang="zh-CN" altLang="en-US" b="1">
                <a:solidFill>
                  <a:srgbClr val="FF0000"/>
                </a:solidFill>
              </a:rPr>
              <a:t>回答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186180" y="5774055"/>
            <a:ext cx="2792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通过动画表示等待过程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765" y="1838325"/>
            <a:ext cx="8374380" cy="4048760"/>
          </a:xfrm>
          <a:prstGeom prst="rect">
            <a:avLst/>
          </a:prstGeom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780" y="1100472"/>
            <a:ext cx="3895794" cy="63149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98" b="67780"/>
          <a:stretch>
            <a:fillRect/>
          </a:stretch>
        </p:blipFill>
        <p:spPr>
          <a:xfrm>
            <a:off x="0" y="7620"/>
            <a:ext cx="12192000" cy="814672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0" y="0"/>
            <a:ext cx="12192000" cy="818573"/>
          </a:xfrm>
          <a:prstGeom prst="rect">
            <a:avLst/>
          </a:prstGeom>
          <a:solidFill>
            <a:schemeClr val="accent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38529" y="112811"/>
            <a:ext cx="2379345" cy="593132"/>
            <a:chOff x="1019925" y="1507763"/>
            <a:chExt cx="2379345" cy="593132"/>
          </a:xfrm>
        </p:grpSpPr>
        <p:sp>
          <p:nvSpPr>
            <p:cNvPr id="4" name="文本框 3"/>
            <p:cNvSpPr txBox="1"/>
            <p:nvPr/>
          </p:nvSpPr>
          <p:spPr>
            <a:xfrm>
              <a:off x="1700010" y="1507763"/>
              <a:ext cx="1699260" cy="5847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dist">
                <a:defRPr/>
              </a:pPr>
              <a:r>
                <a:rPr lang="en-US" altLang="zh-CN" sz="32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UI</a:t>
              </a:r>
              <a:r>
                <a:rPr lang="zh-CN" altLang="en-US" sz="32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实现</a:t>
              </a: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5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369" t="21333" r="33139" b="58431"/>
            <a:stretch>
              <a:fillRect/>
            </a:stretch>
          </p:blipFill>
          <p:spPr>
            <a:xfrm>
              <a:off x="1019925" y="1511482"/>
              <a:ext cx="724951" cy="589413"/>
            </a:xfrm>
            <a:prstGeom prst="rect">
              <a:avLst/>
            </a:prstGeom>
          </p:spPr>
        </p:pic>
      </p:grpSp>
      <p:sp>
        <p:nvSpPr>
          <p:cNvPr id="42" name="矩形 41"/>
          <p:cNvSpPr/>
          <p:nvPr/>
        </p:nvSpPr>
        <p:spPr>
          <a:xfrm>
            <a:off x="0" y="6553271"/>
            <a:ext cx="12192000" cy="3112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4980118" y="1225426"/>
            <a:ext cx="2439222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5004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知识库管理系统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6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0" r="2331"/>
          <a:stretch>
            <a:fillRect/>
          </a:stretch>
        </p:blipFill>
        <p:spPr>
          <a:xfrm>
            <a:off x="10041127" y="112811"/>
            <a:ext cx="1789487" cy="524257"/>
          </a:xfrm>
          <a:prstGeom prst="rect">
            <a:avLst/>
          </a:prstGeom>
        </p:spPr>
      </p:pic>
      <p:cxnSp>
        <p:nvCxnSpPr>
          <p:cNvPr id="7" name="直接箭头连接符 6"/>
          <p:cNvCxnSpPr/>
          <p:nvPr/>
        </p:nvCxnSpPr>
        <p:spPr>
          <a:xfrm flipH="1">
            <a:off x="10041255" y="1420495"/>
            <a:ext cx="558165" cy="6584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 flipH="1" flipV="1">
            <a:off x="9838055" y="3429000"/>
            <a:ext cx="903605" cy="10248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>
            <a:off x="1394460" y="3462655"/>
            <a:ext cx="802640" cy="4470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385445" y="3244850"/>
            <a:ext cx="1202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文件列表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0342880" y="1144270"/>
            <a:ext cx="1191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返回聊天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0431145" y="4528185"/>
            <a:ext cx="1202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上传文件</a:t>
            </a:r>
          </a:p>
        </p:txBody>
      </p:sp>
      <p:cxnSp>
        <p:nvCxnSpPr>
          <p:cNvPr id="12" name="直接箭头连接符 11"/>
          <p:cNvCxnSpPr/>
          <p:nvPr/>
        </p:nvCxnSpPr>
        <p:spPr>
          <a:xfrm flipV="1">
            <a:off x="7364730" y="4733290"/>
            <a:ext cx="741680" cy="4470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6720205" y="5180330"/>
            <a:ext cx="1202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删除功能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0305" y="2001520"/>
            <a:ext cx="2197735" cy="857885"/>
          </a:xfrm>
          <a:prstGeom prst="rect">
            <a:avLst/>
          </a:prstGeom>
        </p:spPr>
      </p:pic>
      <p:cxnSp>
        <p:nvCxnSpPr>
          <p:cNvPr id="15" name="直接箭头连接符 14"/>
          <p:cNvCxnSpPr/>
          <p:nvPr/>
        </p:nvCxnSpPr>
        <p:spPr>
          <a:xfrm>
            <a:off x="6824980" y="2675255"/>
            <a:ext cx="802640" cy="4470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6049645" y="2306955"/>
            <a:ext cx="1202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下载文件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98" b="67780"/>
          <a:stretch>
            <a:fillRect/>
          </a:stretch>
        </p:blipFill>
        <p:spPr>
          <a:xfrm>
            <a:off x="0" y="7620"/>
            <a:ext cx="12192000" cy="814672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0" y="0"/>
            <a:ext cx="12192000" cy="818573"/>
          </a:xfrm>
          <a:prstGeom prst="rect">
            <a:avLst/>
          </a:prstGeom>
          <a:solidFill>
            <a:schemeClr val="accent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38529" y="112811"/>
            <a:ext cx="2621603" cy="593132"/>
            <a:chOff x="1019925" y="1507763"/>
            <a:chExt cx="2621603" cy="593132"/>
          </a:xfrm>
        </p:grpSpPr>
        <p:sp>
          <p:nvSpPr>
            <p:cNvPr id="4" name="文本框 3"/>
            <p:cNvSpPr txBox="1"/>
            <p:nvPr/>
          </p:nvSpPr>
          <p:spPr>
            <a:xfrm>
              <a:off x="1700009" y="1507763"/>
              <a:ext cx="1941519" cy="5847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dist">
                <a:defRPr/>
              </a:pPr>
              <a:r>
                <a:rPr lang="zh-CN" altLang="en-US" sz="32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对话示例</a:t>
              </a: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369" t="21333" r="33139" b="58431"/>
            <a:stretch>
              <a:fillRect/>
            </a:stretch>
          </p:blipFill>
          <p:spPr>
            <a:xfrm>
              <a:off x="1019925" y="1511482"/>
              <a:ext cx="724951" cy="589413"/>
            </a:xfrm>
            <a:prstGeom prst="rect">
              <a:avLst/>
            </a:prstGeom>
          </p:spPr>
        </p:pic>
      </p:grpSp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0" r="2331"/>
          <a:stretch>
            <a:fillRect/>
          </a:stretch>
        </p:blipFill>
        <p:spPr>
          <a:xfrm>
            <a:off x="10041127" y="112811"/>
            <a:ext cx="1789487" cy="524257"/>
          </a:xfrm>
          <a:prstGeom prst="rect">
            <a:avLst/>
          </a:prstGeom>
        </p:spPr>
      </p:pic>
      <p:pic>
        <p:nvPicPr>
          <p:cNvPr id="2090" name="图片 1">
            <a:extLst>
              <a:ext uri="{FF2B5EF4-FFF2-40B4-BE49-F238E27FC236}">
                <a16:creationId xmlns:a16="http://schemas.microsoft.com/office/drawing/2014/main" id="{483CA956-DD68-428A-A045-E8E109E5F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300" y="1538641"/>
            <a:ext cx="5103378" cy="2503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91" name="图片 1">
            <a:extLst>
              <a:ext uri="{FF2B5EF4-FFF2-40B4-BE49-F238E27FC236}">
                <a16:creationId xmlns:a16="http://schemas.microsoft.com/office/drawing/2014/main" id="{31A56FBE-EDEB-43AE-8D99-C6E0577C49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854" y="4686897"/>
            <a:ext cx="4935548" cy="1977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" name="图片 1">
            <a:extLst>
              <a:ext uri="{FF2B5EF4-FFF2-40B4-BE49-F238E27FC236}">
                <a16:creationId xmlns:a16="http://schemas.microsoft.com/office/drawing/2014/main" id="{0340ABA7-1221-4E39-BE67-64D9BE3973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8404" y="1517721"/>
            <a:ext cx="5228530" cy="2561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图片 1">
            <a:extLst>
              <a:ext uri="{FF2B5EF4-FFF2-40B4-BE49-F238E27FC236}">
                <a16:creationId xmlns:a16="http://schemas.microsoft.com/office/drawing/2014/main" id="{CCC95584-114A-4D4A-932B-D3BAEE6525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9958" y="4796235"/>
            <a:ext cx="5879837" cy="1421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0ABDECD-B117-4549-BE30-7B6B0C2C07CB}"/>
              </a:ext>
            </a:extLst>
          </p:cNvPr>
          <p:cNvCxnSpPr>
            <a:cxnSpLocks/>
          </p:cNvCxnSpPr>
          <p:nvPr/>
        </p:nvCxnSpPr>
        <p:spPr>
          <a:xfrm>
            <a:off x="5757706" y="991456"/>
            <a:ext cx="0" cy="5798811"/>
          </a:xfrm>
          <a:prstGeom prst="line">
            <a:avLst/>
          </a:prstGeom>
          <a:ln w="28575"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CB61B784-BD41-414F-9BA6-A77DC3AD57D9}"/>
              </a:ext>
            </a:extLst>
          </p:cNvPr>
          <p:cNvSpPr txBox="1"/>
          <p:nvPr/>
        </p:nvSpPr>
        <p:spPr>
          <a:xfrm>
            <a:off x="2585607" y="168966"/>
            <a:ext cx="2418246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知识库管理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0533639-A81E-4981-9A69-BB858F4D6DDE}"/>
              </a:ext>
            </a:extLst>
          </p:cNvPr>
          <p:cNvSpPr txBox="1"/>
          <p:nvPr/>
        </p:nvSpPr>
        <p:spPr>
          <a:xfrm>
            <a:off x="-278136" y="859299"/>
            <a:ext cx="2418246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删除文件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4B27308-C83B-409F-87BC-F002694A4FAA}"/>
              </a:ext>
            </a:extLst>
          </p:cNvPr>
          <p:cNvSpPr txBox="1"/>
          <p:nvPr/>
        </p:nvSpPr>
        <p:spPr>
          <a:xfrm>
            <a:off x="5601977" y="887725"/>
            <a:ext cx="2418246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上传文件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8C6A320-1118-4952-B397-48DB1A89E726}"/>
              </a:ext>
            </a:extLst>
          </p:cNvPr>
          <p:cNvSpPr txBox="1"/>
          <p:nvPr/>
        </p:nvSpPr>
        <p:spPr>
          <a:xfrm>
            <a:off x="193632" y="4151138"/>
            <a:ext cx="5103377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成功从知识库中删除嵌入嵌入的文档块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0EB8764-5395-4A90-9A2A-625F68017897}"/>
              </a:ext>
            </a:extLst>
          </p:cNvPr>
          <p:cNvSpPr txBox="1"/>
          <p:nvPr/>
        </p:nvSpPr>
        <p:spPr>
          <a:xfrm>
            <a:off x="5757706" y="4151138"/>
            <a:ext cx="6700089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上传文档成功嵌入知识库，支持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txt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md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pdf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格式文件</a:t>
            </a:r>
          </a:p>
        </p:txBody>
      </p:sp>
    </p:spTree>
    <p:extLst>
      <p:ext uri="{BB962C8B-B14F-4D97-AF65-F5344CB8AC3E}">
        <p14:creationId xmlns:p14="http://schemas.microsoft.com/office/powerpoint/2010/main" val="3038636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98" b="67780"/>
          <a:stretch>
            <a:fillRect/>
          </a:stretch>
        </p:blipFill>
        <p:spPr>
          <a:xfrm>
            <a:off x="0" y="7620"/>
            <a:ext cx="12192000" cy="814672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0" y="0"/>
            <a:ext cx="12192000" cy="818573"/>
          </a:xfrm>
          <a:prstGeom prst="rect">
            <a:avLst/>
          </a:prstGeom>
          <a:solidFill>
            <a:schemeClr val="accent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38529" y="112811"/>
            <a:ext cx="2587737" cy="593132"/>
            <a:chOff x="1019925" y="1507763"/>
            <a:chExt cx="2587737" cy="593132"/>
          </a:xfrm>
        </p:grpSpPr>
        <p:sp>
          <p:nvSpPr>
            <p:cNvPr id="4" name="文本框 3"/>
            <p:cNvSpPr txBox="1"/>
            <p:nvPr/>
          </p:nvSpPr>
          <p:spPr>
            <a:xfrm>
              <a:off x="1700009" y="1507763"/>
              <a:ext cx="1907653" cy="5847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dist">
                <a:defRPr/>
              </a:pPr>
              <a:r>
                <a:rPr lang="zh-CN" altLang="en-US" sz="32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对话示例</a:t>
              </a: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369" t="21333" r="33139" b="58431"/>
            <a:stretch>
              <a:fillRect/>
            </a:stretch>
          </p:blipFill>
          <p:spPr>
            <a:xfrm>
              <a:off x="1019925" y="1511482"/>
              <a:ext cx="724951" cy="589413"/>
            </a:xfrm>
            <a:prstGeom prst="rect">
              <a:avLst/>
            </a:prstGeom>
          </p:spPr>
        </p:pic>
      </p:grpSp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0" r="2331"/>
          <a:stretch>
            <a:fillRect/>
          </a:stretch>
        </p:blipFill>
        <p:spPr>
          <a:xfrm>
            <a:off x="10041127" y="112811"/>
            <a:ext cx="1789487" cy="524257"/>
          </a:xfrm>
          <a:prstGeom prst="rect">
            <a:avLst/>
          </a:prstGeom>
        </p:spPr>
      </p:pic>
      <p:pic>
        <p:nvPicPr>
          <p:cNvPr id="2093" name="图片 1">
            <a:extLst>
              <a:ext uri="{FF2B5EF4-FFF2-40B4-BE49-F238E27FC236}">
                <a16:creationId xmlns:a16="http://schemas.microsoft.com/office/drawing/2014/main" id="{0923FEBA-A569-4CEA-B1B7-BC477F6AA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91" y="1835089"/>
            <a:ext cx="4120958" cy="201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94" name="图片 1">
            <a:extLst>
              <a:ext uri="{FF2B5EF4-FFF2-40B4-BE49-F238E27FC236}">
                <a16:creationId xmlns:a16="http://schemas.microsoft.com/office/drawing/2014/main" id="{E68D2465-8B67-466C-993B-BC77EAAC15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924"/>
          <a:stretch/>
        </p:blipFill>
        <p:spPr bwMode="auto">
          <a:xfrm>
            <a:off x="4476235" y="1964370"/>
            <a:ext cx="3563712" cy="100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95" name="图片 1">
            <a:extLst>
              <a:ext uri="{FF2B5EF4-FFF2-40B4-BE49-F238E27FC236}">
                <a16:creationId xmlns:a16="http://schemas.microsoft.com/office/drawing/2014/main" id="{6E6654B1-3697-431C-BDF3-D37B05DDF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965" y="4398877"/>
            <a:ext cx="3362142" cy="2120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96" name="图片 1">
            <a:extLst>
              <a:ext uri="{FF2B5EF4-FFF2-40B4-BE49-F238E27FC236}">
                <a16:creationId xmlns:a16="http://schemas.microsoft.com/office/drawing/2014/main" id="{2F4B229C-2139-48E1-9B59-2C5D7EEB0A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2564" y="1513435"/>
            <a:ext cx="3477125" cy="2590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97" name="图片 1">
            <a:extLst>
              <a:ext uri="{FF2B5EF4-FFF2-40B4-BE49-F238E27FC236}">
                <a16:creationId xmlns:a16="http://schemas.microsoft.com/office/drawing/2014/main" id="{383598A9-7449-444C-9A8E-D72727EABE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5223" y="4711622"/>
            <a:ext cx="3807463" cy="1754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" name="文本框 71">
            <a:extLst>
              <a:ext uri="{FF2B5EF4-FFF2-40B4-BE49-F238E27FC236}">
                <a16:creationId xmlns:a16="http://schemas.microsoft.com/office/drawing/2014/main" id="{300101AB-43F8-4AFC-91DD-1686AA477BB1}"/>
              </a:ext>
            </a:extLst>
          </p:cNvPr>
          <p:cNvSpPr txBox="1"/>
          <p:nvPr/>
        </p:nvSpPr>
        <p:spPr>
          <a:xfrm>
            <a:off x="2517874" y="147676"/>
            <a:ext cx="2418246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多路检索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0FF9F416-8828-45CF-B2F1-8BB182752B31}"/>
              </a:ext>
            </a:extLst>
          </p:cNvPr>
          <p:cNvSpPr txBox="1"/>
          <p:nvPr/>
        </p:nvSpPr>
        <p:spPr>
          <a:xfrm>
            <a:off x="68164" y="1318630"/>
            <a:ext cx="398229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输入提示词“请介绍一下阿胶”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4337ADA4-E8C5-4E15-BBD5-0FFFB22EB4D0}"/>
              </a:ext>
            </a:extLst>
          </p:cNvPr>
          <p:cNvSpPr txBox="1"/>
          <p:nvPr/>
        </p:nvSpPr>
        <p:spPr>
          <a:xfrm>
            <a:off x="-322901" y="4290535"/>
            <a:ext cx="398229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程序执行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50000"/>
                    <a:lumOff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多路检索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框架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886ECADE-3544-40E8-81F4-731AFC6A7FCE}"/>
              </a:ext>
            </a:extLst>
          </p:cNvPr>
          <p:cNvSpPr txBox="1"/>
          <p:nvPr/>
        </p:nvSpPr>
        <p:spPr>
          <a:xfrm>
            <a:off x="4166882" y="1375876"/>
            <a:ext cx="4394418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dirty="0">
                <a:solidFill>
                  <a:schemeClr val="accent4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优化原始</a:t>
            </a:r>
            <a:r>
              <a:rPr lang="en-US" altLang="zh-CN" sz="1600" b="1" dirty="0">
                <a:solidFill>
                  <a:schemeClr val="accent4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query</a:t>
            </a: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，扩展问答</a:t>
            </a:r>
            <a:endParaRPr lang="en-US" altLang="zh-CN" sz="16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检索</a:t>
            </a:r>
            <a:r>
              <a:rPr lang="en-US" altLang="zh-CN" sz="1600" b="1" dirty="0" err="1">
                <a:latin typeface="Arial" panose="020B0604020202020204" pitchFamily="34" charset="0"/>
                <a:ea typeface="微软雅黑" panose="020B0503020204020204" pitchFamily="34" charset="-122"/>
              </a:rPr>
              <a:t>Topk</a:t>
            </a: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文档块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636494F4-301A-4D57-8ECA-A0253F672681}"/>
              </a:ext>
            </a:extLst>
          </p:cNvPr>
          <p:cNvSpPr txBox="1"/>
          <p:nvPr/>
        </p:nvSpPr>
        <p:spPr>
          <a:xfrm>
            <a:off x="4476235" y="3971283"/>
            <a:ext cx="398229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根据前述文档，生成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50000"/>
                    <a:lumOff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假设性回答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段落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AFC6CBD1-ECB8-45AF-BF60-0C377F63B21A}"/>
              </a:ext>
            </a:extLst>
          </p:cNvPr>
          <p:cNvSpPr txBox="1"/>
          <p:nvPr/>
        </p:nvSpPr>
        <p:spPr>
          <a:xfrm>
            <a:off x="8209710" y="1125354"/>
            <a:ext cx="398229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提取优化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query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的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50000"/>
                    <a:lumOff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关键词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，分批检索</a:t>
            </a: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B2C28DA6-724D-4BF2-9F42-CC278583C1A5}"/>
              </a:ext>
            </a:extLst>
          </p:cNvPr>
          <p:cNvSpPr txBox="1"/>
          <p:nvPr/>
        </p:nvSpPr>
        <p:spPr>
          <a:xfrm>
            <a:off x="8235868" y="4382606"/>
            <a:ext cx="398229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汇总排序得出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TopK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文档，生成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50000"/>
                    <a:lumOff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最终回答</a:t>
            </a:r>
          </a:p>
        </p:txBody>
      </p:sp>
      <p:sp>
        <p:nvSpPr>
          <p:cNvPr id="41" name="箭头: 右 40">
            <a:extLst>
              <a:ext uri="{FF2B5EF4-FFF2-40B4-BE49-F238E27FC236}">
                <a16:creationId xmlns:a16="http://schemas.microsoft.com/office/drawing/2014/main" id="{A7EDA390-260A-48AA-AD91-A89398D0DD8F}"/>
              </a:ext>
            </a:extLst>
          </p:cNvPr>
          <p:cNvSpPr/>
          <p:nvPr/>
        </p:nvSpPr>
        <p:spPr>
          <a:xfrm>
            <a:off x="3244444" y="4259405"/>
            <a:ext cx="873760" cy="4312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AA7BBEDD-CE8E-4720-893B-4ECE6BBD5DE7}"/>
              </a:ext>
            </a:extLst>
          </p:cNvPr>
          <p:cNvGrpSpPr/>
          <p:nvPr/>
        </p:nvGrpSpPr>
        <p:grpSpPr>
          <a:xfrm>
            <a:off x="4313071" y="1232326"/>
            <a:ext cx="380849" cy="461665"/>
            <a:chOff x="4313071" y="1232326"/>
            <a:chExt cx="380849" cy="461665"/>
          </a:xfrm>
        </p:grpSpPr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8D256E1D-030B-4AC4-B0F0-051310D8B957}"/>
                </a:ext>
              </a:extLst>
            </p:cNvPr>
            <p:cNvSpPr/>
            <p:nvPr/>
          </p:nvSpPr>
          <p:spPr>
            <a:xfrm>
              <a:off x="4313071" y="1330325"/>
              <a:ext cx="380849" cy="313743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7C0275B9-6247-4DDC-AC1B-BA0CB18A4F33}"/>
                </a:ext>
              </a:extLst>
            </p:cNvPr>
            <p:cNvSpPr txBox="1"/>
            <p:nvPr/>
          </p:nvSpPr>
          <p:spPr>
            <a:xfrm>
              <a:off x="4313071" y="1232326"/>
              <a:ext cx="38084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chemeClr val="accent4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1</a:t>
              </a:r>
              <a:r>
                <a:rPr lang="en-US" altLang="zh-CN" sz="1600" b="1" dirty="0">
                  <a:latin typeface="Arial" panose="020B0604020202020204" pitchFamily="34" charset="0"/>
                  <a:ea typeface="微软雅黑" panose="020B0503020204020204" pitchFamily="34" charset="-122"/>
                </a:rPr>
                <a:t> </a:t>
              </a:r>
              <a:endParaRPr lang="zh-CN" altLang="en-US" sz="2400" dirty="0"/>
            </a:p>
          </p:txBody>
        </p:sp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CCA7A5BD-AD5B-4B45-93B4-15FA1D652124}"/>
              </a:ext>
            </a:extLst>
          </p:cNvPr>
          <p:cNvGrpSpPr/>
          <p:nvPr/>
        </p:nvGrpSpPr>
        <p:grpSpPr>
          <a:xfrm>
            <a:off x="4376068" y="3797740"/>
            <a:ext cx="380849" cy="461665"/>
            <a:chOff x="4313071" y="1232326"/>
            <a:chExt cx="380849" cy="461665"/>
          </a:xfrm>
        </p:grpSpPr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AA88E611-B713-450C-87CC-E15814F856F8}"/>
                </a:ext>
              </a:extLst>
            </p:cNvPr>
            <p:cNvSpPr/>
            <p:nvPr/>
          </p:nvSpPr>
          <p:spPr>
            <a:xfrm>
              <a:off x="4313071" y="1330325"/>
              <a:ext cx="380849" cy="313743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89A7CF61-0DBB-433B-BA7E-1353A88EB781}"/>
                </a:ext>
              </a:extLst>
            </p:cNvPr>
            <p:cNvSpPr txBox="1"/>
            <p:nvPr/>
          </p:nvSpPr>
          <p:spPr>
            <a:xfrm>
              <a:off x="4313071" y="1232326"/>
              <a:ext cx="38084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chemeClr val="accent4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2</a:t>
              </a:r>
              <a:r>
                <a:rPr lang="en-US" altLang="zh-CN" sz="1600" b="1" dirty="0">
                  <a:latin typeface="Arial" panose="020B0604020202020204" pitchFamily="34" charset="0"/>
                  <a:ea typeface="微软雅黑" panose="020B0503020204020204" pitchFamily="34" charset="-122"/>
                </a:rPr>
                <a:t> </a:t>
              </a:r>
              <a:endParaRPr lang="zh-CN" altLang="en-US" sz="2400" dirty="0"/>
            </a:p>
          </p:txBody>
        </p:sp>
      </p:grp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12B973A4-1483-4FBE-823D-3C525F96E501}"/>
              </a:ext>
            </a:extLst>
          </p:cNvPr>
          <p:cNvGrpSpPr/>
          <p:nvPr/>
        </p:nvGrpSpPr>
        <p:grpSpPr>
          <a:xfrm>
            <a:off x="8138268" y="1011147"/>
            <a:ext cx="380849" cy="461665"/>
            <a:chOff x="4313071" y="1232326"/>
            <a:chExt cx="380849" cy="461665"/>
          </a:xfrm>
        </p:grpSpPr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FD463B90-9B2D-4325-85E2-054C689045DE}"/>
                </a:ext>
              </a:extLst>
            </p:cNvPr>
            <p:cNvSpPr/>
            <p:nvPr/>
          </p:nvSpPr>
          <p:spPr>
            <a:xfrm>
              <a:off x="4313071" y="1330325"/>
              <a:ext cx="380849" cy="313743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11F032AE-0E73-4A9F-B93E-C7D6E1211D2E}"/>
                </a:ext>
              </a:extLst>
            </p:cNvPr>
            <p:cNvSpPr txBox="1"/>
            <p:nvPr/>
          </p:nvSpPr>
          <p:spPr>
            <a:xfrm>
              <a:off x="4313071" y="1232326"/>
              <a:ext cx="38084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chemeClr val="accent4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3</a:t>
              </a:r>
              <a:r>
                <a:rPr lang="en-US" altLang="zh-CN" sz="1600" b="1" dirty="0">
                  <a:latin typeface="Arial" panose="020B0604020202020204" pitchFamily="34" charset="0"/>
                  <a:ea typeface="微软雅黑" panose="020B0503020204020204" pitchFamily="34" charset="-122"/>
                </a:rPr>
                <a:t> </a:t>
              </a:r>
              <a:endParaRPr lang="zh-CN" altLang="en-US" sz="2400" dirty="0"/>
            </a:p>
          </p:txBody>
        </p: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0F17C9E7-B553-4FC4-88C7-14EC3C084CF2}"/>
              </a:ext>
            </a:extLst>
          </p:cNvPr>
          <p:cNvGrpSpPr/>
          <p:nvPr/>
        </p:nvGrpSpPr>
        <p:grpSpPr>
          <a:xfrm>
            <a:off x="8073798" y="4234192"/>
            <a:ext cx="380849" cy="461665"/>
            <a:chOff x="4313071" y="1232326"/>
            <a:chExt cx="380849" cy="461665"/>
          </a:xfrm>
        </p:grpSpPr>
        <p:sp>
          <p:nvSpPr>
            <p:cNvPr id="92" name="椭圆 91">
              <a:extLst>
                <a:ext uri="{FF2B5EF4-FFF2-40B4-BE49-F238E27FC236}">
                  <a16:creationId xmlns:a16="http://schemas.microsoft.com/office/drawing/2014/main" id="{D34AB14A-FAF9-4893-8B08-E49ACF0DF571}"/>
                </a:ext>
              </a:extLst>
            </p:cNvPr>
            <p:cNvSpPr/>
            <p:nvPr/>
          </p:nvSpPr>
          <p:spPr>
            <a:xfrm>
              <a:off x="4313071" y="1330325"/>
              <a:ext cx="380849" cy="313743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文本框 92">
              <a:extLst>
                <a:ext uri="{FF2B5EF4-FFF2-40B4-BE49-F238E27FC236}">
                  <a16:creationId xmlns:a16="http://schemas.microsoft.com/office/drawing/2014/main" id="{83C600EA-66F0-4BF3-A3F5-AAA108B3CC48}"/>
                </a:ext>
              </a:extLst>
            </p:cNvPr>
            <p:cNvSpPr txBox="1"/>
            <p:nvPr/>
          </p:nvSpPr>
          <p:spPr>
            <a:xfrm>
              <a:off x="4313071" y="1232326"/>
              <a:ext cx="38084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chemeClr val="accent4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4</a:t>
              </a:r>
              <a:r>
                <a:rPr lang="en-US" altLang="zh-CN" sz="1600" b="1" dirty="0">
                  <a:latin typeface="Arial" panose="020B0604020202020204" pitchFamily="34" charset="0"/>
                  <a:ea typeface="微软雅黑" panose="020B0503020204020204" pitchFamily="34" charset="-122"/>
                </a:rPr>
                <a:t> </a:t>
              </a:r>
              <a:endParaRPr lang="zh-CN" altLang="en-US" sz="2400" dirty="0"/>
            </a:p>
          </p:txBody>
        </p:sp>
      </p:grpSp>
      <p:sp>
        <p:nvSpPr>
          <p:cNvPr id="95" name="文本框 94">
            <a:extLst>
              <a:ext uri="{FF2B5EF4-FFF2-40B4-BE49-F238E27FC236}">
                <a16:creationId xmlns:a16="http://schemas.microsoft.com/office/drawing/2014/main" id="{57EF736E-EA92-4FD3-84F1-1C153A01A98D}"/>
              </a:ext>
            </a:extLst>
          </p:cNvPr>
          <p:cNvSpPr txBox="1"/>
          <p:nvPr/>
        </p:nvSpPr>
        <p:spPr>
          <a:xfrm>
            <a:off x="9436138" y="1792924"/>
            <a:ext cx="62721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50000"/>
                    <a:lumOff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阿胶</a:t>
            </a:r>
            <a:endParaRPr lang="zh-CN" altLang="en-US" dirty="0"/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4C155EED-2B2B-4C9D-9257-810764F8F682}"/>
              </a:ext>
            </a:extLst>
          </p:cNvPr>
          <p:cNvSpPr txBox="1"/>
          <p:nvPr/>
        </p:nvSpPr>
        <p:spPr>
          <a:xfrm>
            <a:off x="9424543" y="2718433"/>
            <a:ext cx="62721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50000"/>
                    <a:lumOff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功效</a:t>
            </a:r>
            <a:endParaRPr lang="zh-CN" altLang="en-US" dirty="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16732A86-0C3E-48EA-A804-5D420E15899B}"/>
              </a:ext>
            </a:extLst>
          </p:cNvPr>
          <p:cNvSpPr txBox="1"/>
          <p:nvPr/>
        </p:nvSpPr>
        <p:spPr>
          <a:xfrm>
            <a:off x="9424543" y="3459276"/>
            <a:ext cx="62721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50000"/>
                    <a:lumOff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性味归经</a:t>
            </a:r>
            <a:endParaRPr lang="zh-CN" altLang="en-US" dirty="0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599CE01F-D913-4CCA-9D68-03EA48C4FBEB}"/>
              </a:ext>
            </a:extLst>
          </p:cNvPr>
          <p:cNvSpPr txBox="1"/>
          <p:nvPr/>
        </p:nvSpPr>
        <p:spPr>
          <a:xfrm>
            <a:off x="3244444" y="3204978"/>
            <a:ext cx="80137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多路检索增强检索效果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76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98" b="67780"/>
          <a:stretch>
            <a:fillRect/>
          </a:stretch>
        </p:blipFill>
        <p:spPr>
          <a:xfrm>
            <a:off x="0" y="7620"/>
            <a:ext cx="12192000" cy="814672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0" y="0"/>
            <a:ext cx="12192000" cy="818573"/>
          </a:xfrm>
          <a:prstGeom prst="rect">
            <a:avLst/>
          </a:prstGeom>
          <a:solidFill>
            <a:schemeClr val="accent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38529" y="112811"/>
            <a:ext cx="2570803" cy="593132"/>
            <a:chOff x="1019925" y="1507763"/>
            <a:chExt cx="2570803" cy="593132"/>
          </a:xfrm>
        </p:grpSpPr>
        <p:sp>
          <p:nvSpPr>
            <p:cNvPr id="4" name="文本框 3"/>
            <p:cNvSpPr txBox="1"/>
            <p:nvPr/>
          </p:nvSpPr>
          <p:spPr>
            <a:xfrm>
              <a:off x="1700009" y="1507763"/>
              <a:ext cx="1890719" cy="5847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dist">
                <a:defRPr/>
              </a:pPr>
              <a:r>
                <a:rPr lang="zh-CN" altLang="en-US" sz="32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对话示例</a:t>
              </a: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369" t="21333" r="33139" b="58431"/>
            <a:stretch>
              <a:fillRect/>
            </a:stretch>
          </p:blipFill>
          <p:spPr>
            <a:xfrm>
              <a:off x="1019925" y="1511482"/>
              <a:ext cx="724951" cy="589413"/>
            </a:xfrm>
            <a:prstGeom prst="rect">
              <a:avLst/>
            </a:prstGeom>
          </p:spPr>
        </p:pic>
      </p:grpSp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0" r="2331"/>
          <a:stretch>
            <a:fillRect/>
          </a:stretch>
        </p:blipFill>
        <p:spPr>
          <a:xfrm>
            <a:off x="10041127" y="112811"/>
            <a:ext cx="1789487" cy="524257"/>
          </a:xfrm>
          <a:prstGeom prst="rect">
            <a:avLst/>
          </a:prstGeom>
        </p:spPr>
      </p:pic>
      <p:pic>
        <p:nvPicPr>
          <p:cNvPr id="4099" name="图片 1">
            <a:extLst>
              <a:ext uri="{FF2B5EF4-FFF2-40B4-BE49-F238E27FC236}">
                <a16:creationId xmlns:a16="http://schemas.microsoft.com/office/drawing/2014/main" id="{CB02E694-A7BC-4F32-805D-3359E3FD5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614" y="1449395"/>
            <a:ext cx="3857489" cy="197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图片 1">
            <a:extLst>
              <a:ext uri="{FF2B5EF4-FFF2-40B4-BE49-F238E27FC236}">
                <a16:creationId xmlns:a16="http://schemas.microsoft.com/office/drawing/2014/main" id="{074E5FB4-059A-4671-B6DA-17D1D4209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058" y="4215136"/>
            <a:ext cx="4038600" cy="197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图片 1">
            <a:extLst>
              <a:ext uri="{FF2B5EF4-FFF2-40B4-BE49-F238E27FC236}">
                <a16:creationId xmlns:a16="http://schemas.microsoft.com/office/drawing/2014/main" id="{5631F2C9-8986-42AE-BBED-A15F74C7F1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9448" y="1449395"/>
            <a:ext cx="4235450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2" name="图片 1">
            <a:extLst>
              <a:ext uri="{FF2B5EF4-FFF2-40B4-BE49-F238E27FC236}">
                <a16:creationId xmlns:a16="http://schemas.microsoft.com/office/drawing/2014/main" id="{714392E0-48BD-4C09-AA0A-790BF4DCF8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8960" y="3365552"/>
            <a:ext cx="3256426" cy="3444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D0EA37F3-C4C5-427D-9225-3349D46432D7}"/>
              </a:ext>
            </a:extLst>
          </p:cNvPr>
          <p:cNvSpPr txBox="1"/>
          <p:nvPr/>
        </p:nvSpPr>
        <p:spPr>
          <a:xfrm>
            <a:off x="2622065" y="157250"/>
            <a:ext cx="2418246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网页内容回答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28A6D36-D36E-4285-BAA9-B42F32D10EAF}"/>
              </a:ext>
            </a:extLst>
          </p:cNvPr>
          <p:cNvSpPr txBox="1"/>
          <p:nvPr/>
        </p:nvSpPr>
        <p:spPr>
          <a:xfrm>
            <a:off x="693813" y="1050614"/>
            <a:ext cx="398229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待询问的网页内容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D990A0E-F697-4054-9FDF-2AFD70DB759A}"/>
              </a:ext>
            </a:extLst>
          </p:cNvPr>
          <p:cNvSpPr txBox="1"/>
          <p:nvPr/>
        </p:nvSpPr>
        <p:spPr>
          <a:xfrm>
            <a:off x="630920" y="3655064"/>
            <a:ext cx="398229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提示词中嵌入 网页</a:t>
            </a:r>
            <a:r>
              <a:rPr lang="zh-CN" altLang="en-US" sz="2000" b="1" dirty="0">
                <a:latin typeface="Arial" panose="020B0604020202020204" pitchFamily="34" charset="0"/>
                <a:ea typeface="微软雅黑" panose="020B0503020204020204" pitchFamily="34" charset="-122"/>
              </a:rPr>
              <a:t>链接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18E45BCD-8A92-4E09-8B2C-B114DDA33F4D}"/>
              </a:ext>
            </a:extLst>
          </p:cNvPr>
          <p:cNvCxnSpPr>
            <a:cxnSpLocks/>
          </p:cNvCxnSpPr>
          <p:nvPr/>
        </p:nvCxnSpPr>
        <p:spPr>
          <a:xfrm>
            <a:off x="5757706" y="991456"/>
            <a:ext cx="0" cy="5798811"/>
          </a:xfrm>
          <a:prstGeom prst="line">
            <a:avLst/>
          </a:prstGeom>
          <a:ln w="28575"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4718A9EB-9AB8-46CD-82C5-85A4B16CF579}"/>
              </a:ext>
            </a:extLst>
          </p:cNvPr>
          <p:cNvSpPr txBox="1"/>
          <p:nvPr/>
        </p:nvSpPr>
        <p:spPr>
          <a:xfrm>
            <a:off x="6649448" y="1037623"/>
            <a:ext cx="398229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爬取网页内容，嵌入知识库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C41730A-8C84-4A24-99B4-C3FE21A92959}"/>
              </a:ext>
            </a:extLst>
          </p:cNvPr>
          <p:cNvSpPr txBox="1"/>
          <p:nvPr/>
        </p:nvSpPr>
        <p:spPr>
          <a:xfrm>
            <a:off x="6578328" y="2965442"/>
            <a:ext cx="398229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根据网页内容进行回答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43AD6CD-A009-4A60-B1BF-4C06ED28D552}"/>
              </a:ext>
            </a:extLst>
          </p:cNvPr>
          <p:cNvSpPr txBox="1"/>
          <p:nvPr/>
        </p:nvSpPr>
        <p:spPr>
          <a:xfrm>
            <a:off x="3659310" y="3202936"/>
            <a:ext cx="80137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准确网页中提到的中药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8083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98" b="67780"/>
          <a:stretch>
            <a:fillRect/>
          </a:stretch>
        </p:blipFill>
        <p:spPr>
          <a:xfrm>
            <a:off x="0" y="7620"/>
            <a:ext cx="12192000" cy="814672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0" y="0"/>
            <a:ext cx="12192000" cy="818573"/>
          </a:xfrm>
          <a:prstGeom prst="rect">
            <a:avLst/>
          </a:prstGeom>
          <a:solidFill>
            <a:schemeClr val="accent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38529" y="112811"/>
            <a:ext cx="2536937" cy="593132"/>
            <a:chOff x="1019925" y="1507763"/>
            <a:chExt cx="2536937" cy="593132"/>
          </a:xfrm>
        </p:grpSpPr>
        <p:sp>
          <p:nvSpPr>
            <p:cNvPr id="4" name="文本框 3"/>
            <p:cNvSpPr txBox="1"/>
            <p:nvPr/>
          </p:nvSpPr>
          <p:spPr>
            <a:xfrm>
              <a:off x="1700009" y="1507763"/>
              <a:ext cx="1856853" cy="5847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rPr>
                <a:t>对话</a:t>
              </a:r>
              <a:r>
                <a:rPr lang="zh-CN" altLang="en-US" sz="32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示例</a:t>
              </a: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369" t="21333" r="33139" b="58431"/>
            <a:stretch>
              <a:fillRect/>
            </a:stretch>
          </p:blipFill>
          <p:spPr>
            <a:xfrm>
              <a:off x="1019925" y="1511482"/>
              <a:ext cx="724951" cy="589413"/>
            </a:xfrm>
            <a:prstGeom prst="rect">
              <a:avLst/>
            </a:prstGeom>
          </p:spPr>
        </p:pic>
      </p:grpSp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0" r="2331"/>
          <a:stretch>
            <a:fillRect/>
          </a:stretch>
        </p:blipFill>
        <p:spPr>
          <a:xfrm>
            <a:off x="10041127" y="112811"/>
            <a:ext cx="1789487" cy="524257"/>
          </a:xfrm>
          <a:prstGeom prst="rect">
            <a:avLst/>
          </a:prstGeom>
        </p:spPr>
      </p:pic>
      <p:pic>
        <p:nvPicPr>
          <p:cNvPr id="5122" name="图片 1">
            <a:extLst>
              <a:ext uri="{FF2B5EF4-FFF2-40B4-BE49-F238E27FC236}">
                <a16:creationId xmlns:a16="http://schemas.microsoft.com/office/drawing/2014/main" id="{0D4170D8-DC67-41F4-A28A-1DD0664112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724" y="1413363"/>
            <a:ext cx="5225541" cy="256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图片 1">
            <a:extLst>
              <a:ext uri="{FF2B5EF4-FFF2-40B4-BE49-F238E27FC236}">
                <a16:creationId xmlns:a16="http://schemas.microsoft.com/office/drawing/2014/main" id="{A24CCA73-38F7-4635-9A71-502A036FF8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8398" y="1413363"/>
            <a:ext cx="5155402" cy="25271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1A738D79-8B54-4275-9858-769D796B1686}"/>
              </a:ext>
            </a:extLst>
          </p:cNvPr>
          <p:cNvSpPr txBox="1"/>
          <p:nvPr/>
        </p:nvSpPr>
        <p:spPr>
          <a:xfrm>
            <a:off x="2517874" y="147676"/>
            <a:ext cx="3324126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知识库内容回答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2A17CEE-8DF3-46D2-BDFD-7FC2D60679FC}"/>
              </a:ext>
            </a:extLst>
          </p:cNvPr>
          <p:cNvSpPr txBox="1"/>
          <p:nvPr/>
        </p:nvSpPr>
        <p:spPr>
          <a:xfrm>
            <a:off x="586987" y="1013253"/>
            <a:ext cx="398229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询问知识库中的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50000"/>
                    <a:lumOff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苍耳子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中药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7C4E866-166C-4700-AB2F-B17A2EEF1853}"/>
              </a:ext>
            </a:extLst>
          </p:cNvPr>
          <p:cNvSpPr txBox="1"/>
          <p:nvPr/>
        </p:nvSpPr>
        <p:spPr>
          <a:xfrm>
            <a:off x="6360142" y="1013253"/>
            <a:ext cx="398229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询问知识库中的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50000"/>
                    <a:lumOff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当归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中药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F00B23D-60F7-4C2B-BF85-3E92AFF36E5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14863" b="40893"/>
          <a:stretch/>
        </p:blipFill>
        <p:spPr>
          <a:xfrm>
            <a:off x="1062677" y="4298205"/>
            <a:ext cx="3943637" cy="218419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212661C-F0BA-4792-9327-100E8075049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62498" y="3914988"/>
            <a:ext cx="2824502" cy="2586496"/>
          </a:xfrm>
          <a:prstGeom prst="rect">
            <a:avLst/>
          </a:prstGeom>
        </p:spPr>
      </p:pic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CC3F5374-6638-4FD8-A585-3930DEBD88E0}"/>
              </a:ext>
            </a:extLst>
          </p:cNvPr>
          <p:cNvCxnSpPr>
            <a:cxnSpLocks/>
          </p:cNvCxnSpPr>
          <p:nvPr/>
        </p:nvCxnSpPr>
        <p:spPr>
          <a:xfrm>
            <a:off x="5757706" y="991456"/>
            <a:ext cx="0" cy="5265411"/>
          </a:xfrm>
          <a:prstGeom prst="line">
            <a:avLst/>
          </a:prstGeom>
          <a:ln w="28575"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286D2092-DF2C-4D4D-9712-55A302D6AADA}"/>
              </a:ext>
            </a:extLst>
          </p:cNvPr>
          <p:cNvSpPr txBox="1"/>
          <p:nvPr/>
        </p:nvSpPr>
        <p:spPr>
          <a:xfrm>
            <a:off x="838200" y="3352470"/>
            <a:ext cx="6950725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50000"/>
                    <a:lumOff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回答内容准确无误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7A997FDC-9AEF-4D8F-9985-2C6F0C108DA6}"/>
              </a:ext>
            </a:extLst>
          </p:cNvPr>
          <p:cNvGrpSpPr/>
          <p:nvPr/>
        </p:nvGrpSpPr>
        <p:grpSpPr>
          <a:xfrm>
            <a:off x="7021807" y="2737750"/>
            <a:ext cx="2880320" cy="2060436"/>
            <a:chOff x="8178379" y="3035348"/>
            <a:chExt cx="2880320" cy="2060436"/>
          </a:xfrm>
        </p:grpSpPr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7884EBF4-B479-4A47-960C-FA988AD5E79C}"/>
                </a:ext>
              </a:extLst>
            </p:cNvPr>
            <p:cNvSpPr/>
            <p:nvPr/>
          </p:nvSpPr>
          <p:spPr>
            <a:xfrm>
              <a:off x="8178379" y="4519720"/>
              <a:ext cx="2880320" cy="576064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 大功告成！</a:t>
              </a:r>
            </a:p>
          </p:txBody>
        </p:sp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54666262-ED4B-4C09-B9FC-580102DB485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78379" y="3035348"/>
              <a:ext cx="2880320" cy="14571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65691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3" t="35665" r="427" b="26588"/>
          <a:stretch>
            <a:fillRect/>
          </a:stretch>
        </p:blipFill>
        <p:spPr>
          <a:xfrm>
            <a:off x="0" y="0"/>
            <a:ext cx="12192000" cy="2277533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-21221"/>
            <a:ext cx="12192000" cy="2298754"/>
          </a:xfrm>
          <a:prstGeom prst="rect">
            <a:avLst/>
          </a:prstGeom>
          <a:solidFill>
            <a:schemeClr val="accent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-1886018" y="-4009350"/>
            <a:ext cx="9321276" cy="3397261"/>
          </a:xfrm>
          <a:prstGeom prst="rect">
            <a:avLst/>
          </a:prstGeom>
          <a:blipFill dpi="0" rotWithShape="1">
            <a:blip r:embed="rId3">
              <a:alphaModFix amt="18000"/>
              <a:lum bright="70000" contrast="-7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623424" y="3043282"/>
            <a:ext cx="65107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200" b="1" i="0" u="none" strike="noStrike" kern="1200" cap="none" spc="0" normalizeH="0" baseline="0" noProof="0" dirty="0">
                <a:ln>
                  <a:noFill/>
                </a:ln>
                <a:solidFill>
                  <a:srgbClr val="950041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谢谢观看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2975" y="906736"/>
            <a:ext cx="2162218" cy="2054575"/>
          </a:xfrm>
          <a:prstGeom prst="rect">
            <a:avLst/>
          </a:prstGeom>
          <a:effectLst>
            <a:outerShdw blurRad="292100" dist="25400" dir="5400000" algn="t" rotWithShape="0">
              <a:prstClr val="black">
                <a:alpha val="59000"/>
              </a:prstClr>
            </a:outerShdw>
          </a:effectLst>
        </p:spPr>
      </p:pic>
      <p:pic>
        <p:nvPicPr>
          <p:cNvPr id="29" name="图片 28"/>
          <p:cNvPicPr>
            <a:picLocks noChangeAspect="1"/>
          </p:cNvPicPr>
          <p:nvPr/>
        </p:nvPicPr>
        <p:blipFill rotWithShape="1"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69" t="21333" r="33139" b="58431"/>
          <a:stretch>
            <a:fillRect/>
          </a:stretch>
        </p:blipFill>
        <p:spPr>
          <a:xfrm>
            <a:off x="-249044" y="2267431"/>
            <a:ext cx="1706880" cy="1387759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69" t="21333" r="33139" b="58431"/>
          <a:stretch>
            <a:fillRect/>
          </a:stretch>
        </p:blipFill>
        <p:spPr>
          <a:xfrm flipH="1">
            <a:off x="10579852" y="2267431"/>
            <a:ext cx="1706880" cy="138775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1CE6702-4BAD-4600-8FDA-AD3DA669310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948" y="4430264"/>
            <a:ext cx="2275245" cy="20636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自定义 1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950041"/>
      </a:accent1>
      <a:accent2>
        <a:srgbClr val="4A2739"/>
      </a:accent2>
      <a:accent3>
        <a:srgbClr val="81156C"/>
      </a:accent3>
      <a:accent4>
        <a:srgbClr val="500022"/>
      </a:accent4>
      <a:accent5>
        <a:srgbClr val="C490AA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799</Words>
  <Application>Microsoft Office PowerPoint</Application>
  <PresentationFormat>宽屏</PresentationFormat>
  <Paragraphs>172</Paragraphs>
  <Slides>18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等线</vt:lpstr>
      <vt:lpstr>微软雅黑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Iron_Nuoya</dc:creator>
  <cp:lastModifiedBy>王锦鸿</cp:lastModifiedBy>
  <cp:revision>158</cp:revision>
  <dcterms:created xsi:type="dcterms:W3CDTF">2023-08-09T12:44:00Z</dcterms:created>
  <dcterms:modified xsi:type="dcterms:W3CDTF">2025-06-26T11:51:54Z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2C7C6469A89941D5BA30A1B399EE03DD_12</vt:lpwstr>
  </property>
  <property fmtid="{D5CDD505-2E9C-101B-9397-08002B2CF9AE}" pid="3" name="KSOProductBuildVer">
    <vt:lpwstr>2052-12.1.0.21541</vt:lpwstr>
  </property>
</Properties>
</file>