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6858000" cx="12192000"/>
  <p:notesSz cx="6858000" cy="9144000"/>
  <p:embeddedFontLst>
    <p:embeddedFont>
      <p:font typeface="Playfair Display"/>
      <p:regular r:id="rId31"/>
      <p:bold r:id="rId32"/>
      <p:italic r:id="rId33"/>
      <p:boldItalic r:id="rId34"/>
    </p:embeddedFont>
    <p:embeddedFont>
      <p:font typeface="Lato"/>
      <p:regular r:id="rId35"/>
      <p:bold r:id="rId36"/>
      <p:italic r:id="rId37"/>
      <p:boldItalic r:id="rId38"/>
    </p:embeddedFont>
    <p:embeddedFont>
      <p:font typeface="Lato Light"/>
      <p:regular r:id="rId39"/>
      <p:bold r:id="rId40"/>
      <p:italic r:id="rId41"/>
      <p:boldItalic r:id="rId42"/>
    </p:embeddedFont>
    <p:embeddedFont>
      <p:font typeface="Playfair Display Black"/>
      <p:bold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C7C95D0-16CA-4F00-A8BC-A61A3B66D659}">
  <a:tblStyle styleId="{4C7C95D0-16CA-4F00-A8BC-A61A3B66D65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Light-bold.fntdata"/><Relationship Id="rId20" Type="http://schemas.openxmlformats.org/officeDocument/2006/relationships/slide" Target="slides/slide14.xml"/><Relationship Id="rId42" Type="http://schemas.openxmlformats.org/officeDocument/2006/relationships/font" Target="fonts/LatoLight-boldItalic.fntdata"/><Relationship Id="rId41" Type="http://schemas.openxmlformats.org/officeDocument/2006/relationships/font" Target="fonts/LatoLight-italic.fntdata"/><Relationship Id="rId22" Type="http://schemas.openxmlformats.org/officeDocument/2006/relationships/slide" Target="slides/slide16.xml"/><Relationship Id="rId44" Type="http://schemas.openxmlformats.org/officeDocument/2006/relationships/font" Target="fonts/PlayfairDisplayBlack-boldItalic.fntdata"/><Relationship Id="rId21" Type="http://schemas.openxmlformats.org/officeDocument/2006/relationships/slide" Target="slides/slide15.xml"/><Relationship Id="rId43" Type="http://schemas.openxmlformats.org/officeDocument/2006/relationships/font" Target="fonts/PlayfairDisplayBlack-bold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layfairDisplay-regular.fntdata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PlayfairDisplay-italic.fntdata"/><Relationship Id="rId10" Type="http://schemas.openxmlformats.org/officeDocument/2006/relationships/slide" Target="slides/slide4.xml"/><Relationship Id="rId32" Type="http://schemas.openxmlformats.org/officeDocument/2006/relationships/font" Target="fonts/PlayfairDisplay-bold.fntdata"/><Relationship Id="rId13" Type="http://schemas.openxmlformats.org/officeDocument/2006/relationships/slide" Target="slides/slide7.xml"/><Relationship Id="rId35" Type="http://schemas.openxmlformats.org/officeDocument/2006/relationships/font" Target="fonts/Lato-regular.fntdata"/><Relationship Id="rId12" Type="http://schemas.openxmlformats.org/officeDocument/2006/relationships/slide" Target="slides/slide6.xml"/><Relationship Id="rId34" Type="http://schemas.openxmlformats.org/officeDocument/2006/relationships/font" Target="fonts/PlayfairDisplay-boldItalic.fntdata"/><Relationship Id="rId15" Type="http://schemas.openxmlformats.org/officeDocument/2006/relationships/slide" Target="slides/slide9.xml"/><Relationship Id="rId37" Type="http://schemas.openxmlformats.org/officeDocument/2006/relationships/font" Target="fonts/Lato-italic.fntdata"/><Relationship Id="rId14" Type="http://schemas.openxmlformats.org/officeDocument/2006/relationships/slide" Target="slides/slide8.xml"/><Relationship Id="rId36" Type="http://schemas.openxmlformats.org/officeDocument/2006/relationships/font" Target="fonts/Lato-bold.fntdata"/><Relationship Id="rId17" Type="http://schemas.openxmlformats.org/officeDocument/2006/relationships/slide" Target="slides/slide11.xml"/><Relationship Id="rId39" Type="http://schemas.openxmlformats.org/officeDocument/2006/relationships/font" Target="fonts/LatoLight-regular.fntdata"/><Relationship Id="rId16" Type="http://schemas.openxmlformats.org/officeDocument/2006/relationships/slide" Target="slides/slide10.xml"/><Relationship Id="rId38" Type="http://schemas.openxmlformats.org/officeDocument/2006/relationships/font" Target="fonts/Lato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25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22.png"/><Relationship Id="rId8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Relationship Id="rId4" Type="http://schemas.openxmlformats.org/officeDocument/2006/relationships/image" Target="../media/image29.png"/><Relationship Id="rId5" Type="http://schemas.openxmlformats.org/officeDocument/2006/relationships/image" Target="../media/image2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2.png"/><Relationship Id="rId4" Type="http://schemas.openxmlformats.org/officeDocument/2006/relationships/image" Target="../media/image2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png"/><Relationship Id="rId4" Type="http://schemas.openxmlformats.org/officeDocument/2006/relationships/image" Target="../media/image36.png"/><Relationship Id="rId5" Type="http://schemas.openxmlformats.org/officeDocument/2006/relationships/image" Target="../media/image23.png"/><Relationship Id="rId6" Type="http://schemas.openxmlformats.org/officeDocument/2006/relationships/image" Target="../media/image33.png"/><Relationship Id="rId7" Type="http://schemas.openxmlformats.org/officeDocument/2006/relationships/image" Target="../media/image37.png"/><Relationship Id="rId8" Type="http://schemas.openxmlformats.org/officeDocument/2006/relationships/image" Target="../media/image2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762000"/>
            <a:ext cx="10668000" cy="15202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62225" y="2282279"/>
            <a:ext cx="7067550" cy="381372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995612" y="2863304"/>
            <a:ext cx="62007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000000"/>
                </a:solidFill>
                <a:latin typeface="Playfair Display Black"/>
                <a:ea typeface="Playfair Display Black"/>
                <a:cs typeface="Playfair Display Black"/>
                <a:sym typeface="Playfair Display Black"/>
              </a:rPr>
              <a:t>生成对抗网络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995612" y="3892004"/>
            <a:ext cx="62007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Generative Adversarial Networks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143250" y="4920704"/>
            <a:ext cx="59055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 Light"/>
                <a:ea typeface="Lato Light"/>
                <a:cs typeface="Lato Light"/>
                <a:sym typeface="Lato Light"/>
              </a:rPr>
              <a:t>图像生成技术综述：架构演进与核心原理 (2014-2025)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1875" y="1727894"/>
            <a:ext cx="5048250" cy="3402062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4055744" y="2308919"/>
            <a:ext cx="4080510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01. 范式转移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4152900" y="2788890"/>
            <a:ext cx="38862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 Light"/>
                <a:ea typeface="Lato Light"/>
                <a:cs typeface="Lato Light"/>
                <a:sym typeface="Lato Light"/>
              </a:rPr>
              <a:t>The Paradigm Shift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5619750" y="3535560"/>
            <a:ext cx="952500" cy="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152900" y="3954660"/>
            <a:ext cx="38862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 Light"/>
                <a:ea typeface="Lato Light"/>
                <a:cs typeface="Lato Light"/>
                <a:sym typeface="Lato Light"/>
              </a:rPr>
              <a:t>从判别式任务到生成式任务的重大跨越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2" name="Google Shape;10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971948"/>
            <a:ext cx="5048250" cy="21560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971948"/>
            <a:ext cx="5048250" cy="2156073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762000" y="3010048"/>
            <a:ext cx="5300662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判别式模型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762000" y="3573809"/>
            <a:ext cx="50482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88888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Discriminative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762000" y="4168080"/>
            <a:ext cx="50482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 Light"/>
                <a:ea typeface="Lato Light"/>
                <a:cs typeface="Lato Light"/>
                <a:sym typeface="Lato Light"/>
              </a:rPr>
              <a:t>学习决策边界 $P(y|x)$。主要用于分类和回归任务，关注“是什么”。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6381750" y="3010048"/>
            <a:ext cx="5300662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生成式模型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381750" y="3573809"/>
            <a:ext cx="50482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88888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Generative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6381750" y="4168080"/>
            <a:ext cx="50482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 Light"/>
                <a:ea typeface="Lato Light"/>
                <a:cs typeface="Lato Light"/>
                <a:sym typeface="Lato Light"/>
              </a:rPr>
              <a:t>学习数据分布 $P(x)$。主要用于图像合成、风格迁移，关注“怎么创造”。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1047750" y="762000"/>
            <a:ext cx="10901362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生成 vs 判别</a:t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762000" y="762000"/>
            <a:ext cx="47625" cy="67047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 txBox="1"/>
          <p:nvPr/>
        </p:nvSpPr>
        <p:spPr>
          <a:xfrm>
            <a:off x="762000" y="2297608"/>
            <a:ext cx="5300662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Nash Equilibrium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762000" y="2861369"/>
            <a:ext cx="504825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 Light"/>
                <a:ea typeface="Lato Light"/>
                <a:cs typeface="Lato Light"/>
                <a:sym typeface="Lato Light"/>
              </a:rPr>
              <a:t>GAN的核心理念植根于博弈论。通过构建两个相互竞争的神经网络——生成器 ($G$) 和判别器 ($D$)，在对抗中不断进化。</a:t>
            </a:r>
            <a:endParaRPr/>
          </a:p>
        </p:txBody>
      </p:sp>
      <p:pic>
        <p:nvPicPr>
          <p:cNvPr descr="image.png" id="118" name="Google Shape;11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933700"/>
            <a:ext cx="5048250" cy="2232273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1009650" y="4188886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 Light"/>
                <a:ea typeface="Lato Light"/>
                <a:cs typeface="Lato Light"/>
                <a:sym typeface="Lato Light"/>
              </a:rPr>
              <a:t>•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1143000" y="4186981"/>
            <a:ext cx="46672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生成器 $G$:</a:t>
            </a:r>
            <a:r>
              <a:rPr b="0" i="0" lang="en-US" sz="1800" u="none" cap="none" strike="noStrike">
                <a:solidFill>
                  <a:srgbClr val="333333"/>
                </a:solidFill>
                <a:latin typeface="Lato Light"/>
                <a:ea typeface="Lato Light"/>
                <a:cs typeface="Lato Light"/>
                <a:sym typeface="Lato Light"/>
              </a:rPr>
              <a:t> 试图合成难以分辨的假样本。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1009650" y="4554557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 Light"/>
                <a:ea typeface="Lato Light"/>
                <a:cs typeface="Lato Light"/>
                <a:sym typeface="Lato Light"/>
              </a:rPr>
              <a:t>•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1143000" y="4552652"/>
            <a:ext cx="46672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判别器 $D$:</a:t>
            </a:r>
            <a:r>
              <a:rPr b="0" i="0" lang="en-US" sz="1800" u="none" cap="none" strike="noStrike">
                <a:solidFill>
                  <a:srgbClr val="333333"/>
                </a:solidFill>
                <a:latin typeface="Lato Light"/>
                <a:ea typeface="Lato Light"/>
                <a:cs typeface="Lato Light"/>
                <a:sym typeface="Lato Light"/>
              </a:rPr>
              <a:t> 致力于区分真实样本与合成样本。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1009650" y="5285898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 Light"/>
                <a:ea typeface="Lato Light"/>
                <a:cs typeface="Lato Light"/>
                <a:sym typeface="Lato Light"/>
              </a:rPr>
              <a:t>•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1143000" y="5283993"/>
            <a:ext cx="46672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终局:</a:t>
            </a:r>
            <a:r>
              <a:rPr b="0" i="0" lang="en-US" sz="1800" u="none" cap="none" strike="noStrike">
                <a:solidFill>
                  <a:srgbClr val="333333"/>
                </a:solidFill>
                <a:latin typeface="Lato Light"/>
                <a:ea typeface="Lato Light"/>
                <a:cs typeface="Lato Light"/>
                <a:sym typeface="Lato Light"/>
              </a:rPr>
              <a:t> $D$ 的准确率收敛至 50%。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1047750" y="762000"/>
            <a:ext cx="10901362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零和博弈</a:t>
            </a:r>
            <a:endParaRPr/>
          </a:p>
        </p:txBody>
      </p:sp>
      <p:sp>
        <p:nvSpPr>
          <p:cNvPr id="126" name="Google Shape;126;p16"/>
          <p:cNvSpPr/>
          <p:nvPr/>
        </p:nvSpPr>
        <p:spPr>
          <a:xfrm>
            <a:off x="762000" y="762000"/>
            <a:ext cx="47625" cy="67047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217539"/>
            <a:ext cx="3365450" cy="36647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13200" y="2217539"/>
            <a:ext cx="3365450" cy="36647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64400" y="2217539"/>
            <a:ext cx="3365450" cy="3664743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1171575" y="3246239"/>
            <a:ext cx="2703619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模式崩塌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1171575" y="3810000"/>
            <a:ext cx="2574875" cy="1462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 Light"/>
                <a:ea typeface="Lato Light"/>
                <a:cs typeface="Lato Light"/>
                <a:sym typeface="Lato Light"/>
              </a:rPr>
              <a:t>Mode Collapse: 生成器只能生成极其有限的样本变体，无法覆盖真实数据的多样性。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4822775" y="3246239"/>
            <a:ext cx="2703619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梯度消失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4822775" y="3810000"/>
            <a:ext cx="2574875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 Light"/>
                <a:ea typeface="Lato Light"/>
                <a:cs typeface="Lato Light"/>
                <a:sym typeface="Lato Light"/>
              </a:rPr>
              <a:t>训练过程极不稳定，判别器过强导致生成器无法获得有效梯度。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8473975" y="3246239"/>
            <a:ext cx="2703619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超参敏感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8473975" y="3810000"/>
            <a:ext cx="2574875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 Light"/>
                <a:ea typeface="Lato Light"/>
                <a:cs typeface="Lato Light"/>
                <a:sym typeface="Lato Light"/>
              </a:rPr>
              <a:t>难以达到稳定的纳什均衡状态，对初始化参数和学习率高度敏感。</a:t>
            </a:r>
            <a:endParaRPr/>
          </a:p>
        </p:txBody>
      </p:sp>
      <p:pic>
        <p:nvPicPr>
          <p:cNvPr descr="image.png" id="140" name="Google Shape;14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71575" y="2636639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22775" y="2636639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73975" y="263663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1047750" y="762000"/>
            <a:ext cx="10901362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早期工程挑战</a:t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762000" y="762000"/>
            <a:ext cx="47625" cy="67047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9" name="Google Shape;14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10012" y="1727894"/>
            <a:ext cx="4371975" cy="3402062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4410789" y="2308919"/>
            <a:ext cx="3370421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02. DCGAN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4491037" y="2788890"/>
            <a:ext cx="32099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 Light"/>
                <a:ea typeface="Lato Light"/>
                <a:cs typeface="Lato Light"/>
                <a:sym typeface="Lato Light"/>
              </a:rPr>
              <a:t>卷积生成网络的工程化基石</a:t>
            </a:r>
            <a:endParaRPr/>
          </a:p>
        </p:txBody>
      </p:sp>
      <p:sp>
        <p:nvSpPr>
          <p:cNvPr id="152" name="Google Shape;152;p18"/>
          <p:cNvSpPr/>
          <p:nvPr/>
        </p:nvSpPr>
        <p:spPr>
          <a:xfrm>
            <a:off x="5619750" y="3535560"/>
            <a:ext cx="952500" cy="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 txBox="1"/>
          <p:nvPr/>
        </p:nvSpPr>
        <p:spPr>
          <a:xfrm>
            <a:off x="4491037" y="3954660"/>
            <a:ext cx="32099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 Light"/>
                <a:ea typeface="Lato Light"/>
                <a:cs typeface="Lato Light"/>
                <a:sym typeface="Lato Light"/>
              </a:rPr>
              <a:t>Deep Convolutional GAN (2015)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9"/>
          <p:cNvSpPr txBox="1"/>
          <p:nvPr/>
        </p:nvSpPr>
        <p:spPr>
          <a:xfrm>
            <a:off x="762000" y="2625179"/>
            <a:ext cx="5300662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转置卷积 (Transposed Conv)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762000" y="3188940"/>
            <a:ext cx="50482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 Light"/>
                <a:ea typeface="Lato Light"/>
                <a:cs typeface="Lato Light"/>
                <a:sym typeface="Lato Light"/>
              </a:rPr>
              <a:t>DCGAN 摒弃了传统的确定性上采样（如双线性插值），全面采用转置卷积。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762000" y="4148881"/>
            <a:ext cx="504825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 Light"/>
                <a:ea typeface="Lato Light"/>
                <a:cs typeface="Lato Light"/>
                <a:sym typeface="Lato Light"/>
              </a:rPr>
              <a:t>这使得生成器能够通过学习，将低维潜在向量 $z$ 逐步“生长”为高分辨率图像，建立从抽象语义到具体像素的映射。</a:t>
            </a:r>
            <a:endParaRPr/>
          </a:p>
        </p:txBody>
      </p:sp>
      <p:pic>
        <p:nvPicPr>
          <p:cNvPr descr="image.png" id="161" name="Google Shape;16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965400"/>
            <a:ext cx="5048250" cy="216887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>
            <a:off x="1047750" y="762000"/>
            <a:ext cx="10901362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空间上采样</a:t>
            </a:r>
            <a:endParaRPr/>
          </a:p>
        </p:txBody>
      </p:sp>
      <p:sp>
        <p:nvSpPr>
          <p:cNvPr id="163" name="Google Shape;163;p19"/>
          <p:cNvSpPr/>
          <p:nvPr/>
        </p:nvSpPr>
        <p:spPr>
          <a:xfrm>
            <a:off x="762000" y="762000"/>
            <a:ext cx="47625" cy="67047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0"/>
          <p:cNvSpPr txBox="1"/>
          <p:nvPr/>
        </p:nvSpPr>
        <p:spPr>
          <a:xfrm>
            <a:off x="1143000" y="3318569"/>
            <a:ext cx="10287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No Pooling:</a:t>
            </a:r>
            <a:r>
              <a:rPr b="0" i="0" lang="en-US" sz="1800" u="none" cap="none" strike="noStrike">
                <a:solidFill>
                  <a:srgbClr val="333333"/>
                </a:solidFill>
                <a:latin typeface="Lato Light"/>
                <a:ea typeface="Lato Light"/>
                <a:cs typeface="Lato Light"/>
                <a:sym typeface="Lato Light"/>
              </a:rPr>
              <a:t> 判别器使用步长卷积 (Strided Conv) 替代池化层，保留空间信息。</a:t>
            </a:r>
            <a:endParaRPr/>
          </a:p>
        </p:txBody>
      </p:sp>
      <p:sp>
        <p:nvSpPr>
          <p:cNvPr id="169" name="Google Shape;169;p20"/>
          <p:cNvSpPr txBox="1"/>
          <p:nvPr/>
        </p:nvSpPr>
        <p:spPr>
          <a:xfrm>
            <a:off x="1143000" y="3684240"/>
            <a:ext cx="10287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Batch Normalization:</a:t>
            </a:r>
            <a:r>
              <a:rPr b="0" i="0" lang="en-US" sz="1800" u="none" cap="none" strike="noStrike">
                <a:solidFill>
                  <a:srgbClr val="333333"/>
                </a:solidFill>
                <a:latin typeface="Lato Light"/>
                <a:ea typeface="Lato Light"/>
                <a:cs typeface="Lato Light"/>
                <a:sym typeface="Lato Light"/>
              </a:rPr>
              <a:t> 在几乎所有层使用 BN，这是防止深层生成器模式崩塌的关键。</a:t>
            </a:r>
            <a:endParaRPr/>
          </a:p>
        </p:txBody>
      </p:sp>
      <p:sp>
        <p:nvSpPr>
          <p:cNvPr id="170" name="Google Shape;170;p20"/>
          <p:cNvSpPr txBox="1"/>
          <p:nvPr/>
        </p:nvSpPr>
        <p:spPr>
          <a:xfrm>
            <a:off x="1143000" y="4049910"/>
            <a:ext cx="10287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0025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Activation Functions:</a:t>
            </a:r>
            <a:r>
              <a:rPr b="0" i="0" lang="en-US" sz="1800" u="none" cap="none" strike="noStrike">
                <a:solidFill>
                  <a:srgbClr val="333333"/>
                </a:solidFill>
                <a:latin typeface="Lato Light"/>
                <a:ea typeface="Lato Light"/>
                <a:cs typeface="Lato Light"/>
                <a:sym typeface="Lato Light"/>
              </a:rPr>
              <a:t> 生成器内部使用 ReLU，输出层使用 Tanh；判别器使用 LeakyReLU 防止梯度稀疏。</a:t>
            </a:r>
            <a:endParaRPr/>
          </a:p>
        </p:txBody>
      </p:sp>
      <p:pic>
        <p:nvPicPr>
          <p:cNvPr descr="image.png" id="171" name="Google Shape;17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3375719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3741390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3000" y="4107060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0"/>
          <p:cNvSpPr txBox="1"/>
          <p:nvPr/>
        </p:nvSpPr>
        <p:spPr>
          <a:xfrm>
            <a:off x="1047750" y="762000"/>
            <a:ext cx="10901362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DCGAN 架构准则</a:t>
            </a:r>
            <a:endParaRPr/>
          </a:p>
        </p:txBody>
      </p:sp>
      <p:sp>
        <p:nvSpPr>
          <p:cNvPr id="175" name="Google Shape;175;p20"/>
          <p:cNvSpPr/>
          <p:nvPr/>
        </p:nvSpPr>
        <p:spPr>
          <a:xfrm>
            <a:off x="762000" y="762000"/>
            <a:ext cx="47625" cy="67047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"/>
          <p:cNvSpPr txBox="1"/>
          <p:nvPr/>
        </p:nvSpPr>
        <p:spPr>
          <a:xfrm>
            <a:off x="762000" y="2693789"/>
            <a:ext cx="5300662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语义向量计算</a:t>
            </a:r>
            <a:endParaRPr/>
          </a:p>
        </p:txBody>
      </p:sp>
      <p:sp>
        <p:nvSpPr>
          <p:cNvPr id="181" name="Google Shape;181;p21"/>
          <p:cNvSpPr txBox="1"/>
          <p:nvPr/>
        </p:nvSpPr>
        <p:spPr>
          <a:xfrm>
            <a:off x="762000" y="3257550"/>
            <a:ext cx="50482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 Light"/>
                <a:ea typeface="Lato Light"/>
                <a:cs typeface="Lato Light"/>
                <a:sym typeface="Lato Light"/>
              </a:rPr>
              <a:t>DCGAN 展示了潜在空间 $Z$ 具有线性代数性质。</a:t>
            </a:r>
            <a:endParaRPr/>
          </a:p>
        </p:txBody>
      </p:sp>
      <p:sp>
        <p:nvSpPr>
          <p:cNvPr id="182" name="Google Shape;182;p21"/>
          <p:cNvSpPr txBox="1"/>
          <p:nvPr/>
        </p:nvSpPr>
        <p:spPr>
          <a:xfrm>
            <a:off x="762000" y="3851820"/>
            <a:ext cx="50482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 Light"/>
                <a:ea typeface="Lato Light"/>
                <a:cs typeface="Lato Light"/>
                <a:sym typeface="Lato Light"/>
              </a:rPr>
              <a:t>类似于 Word2Vec 的 $King - Man + Woman = Queen$，GAN 能够进行图像语义的加减法：</a:t>
            </a:r>
            <a:endParaRPr/>
          </a:p>
        </p:txBody>
      </p:sp>
      <p:sp>
        <p:nvSpPr>
          <p:cNvPr id="183" name="Google Shape;183;p21"/>
          <p:cNvSpPr txBox="1"/>
          <p:nvPr/>
        </p:nvSpPr>
        <p:spPr>
          <a:xfrm>
            <a:off x="762000" y="4811762"/>
            <a:ext cx="50482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333333"/>
                </a:solidFill>
                <a:latin typeface="Lato Light"/>
                <a:ea typeface="Lato Light"/>
                <a:cs typeface="Lato Light"/>
                <a:sym typeface="Lato Light"/>
              </a:rPr>
              <a:t>戴眼镜男 - 男 + 女 = 戴眼镜女</a:t>
            </a:r>
            <a:endParaRPr/>
          </a:p>
        </p:txBody>
      </p:sp>
      <p:pic>
        <p:nvPicPr>
          <p:cNvPr descr="image.png" id="184" name="Google Shape;18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424707"/>
            <a:ext cx="5048250" cy="3250257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1"/>
          <p:cNvSpPr txBox="1"/>
          <p:nvPr/>
        </p:nvSpPr>
        <p:spPr>
          <a:xfrm>
            <a:off x="1047750" y="762000"/>
            <a:ext cx="10901362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潜在空间算术</a:t>
            </a:r>
            <a:endParaRPr/>
          </a:p>
        </p:txBody>
      </p:sp>
      <p:sp>
        <p:nvSpPr>
          <p:cNvPr id="186" name="Google Shape;186;p21"/>
          <p:cNvSpPr/>
          <p:nvPr/>
        </p:nvSpPr>
        <p:spPr>
          <a:xfrm>
            <a:off x="762000" y="762000"/>
            <a:ext cx="47625" cy="67047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4762" y="1727894"/>
            <a:ext cx="4562475" cy="3402062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2"/>
          <p:cNvSpPr txBox="1"/>
          <p:nvPr/>
        </p:nvSpPr>
        <p:spPr>
          <a:xfrm>
            <a:off x="4310776" y="2308919"/>
            <a:ext cx="3570446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03. Pix2Pix</a:t>
            </a:r>
            <a:endParaRPr/>
          </a:p>
        </p:txBody>
      </p:sp>
      <p:sp>
        <p:nvSpPr>
          <p:cNvPr id="193" name="Google Shape;193;p22"/>
          <p:cNvSpPr txBox="1"/>
          <p:nvPr/>
        </p:nvSpPr>
        <p:spPr>
          <a:xfrm>
            <a:off x="4395787" y="2788890"/>
            <a:ext cx="34004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 Light"/>
                <a:ea typeface="Lato Light"/>
                <a:cs typeface="Lato Light"/>
                <a:sym typeface="Lato Light"/>
              </a:rPr>
              <a:t>条件对抗网络与图像翻译</a:t>
            </a:r>
            <a:endParaRPr/>
          </a:p>
        </p:txBody>
      </p:sp>
      <p:sp>
        <p:nvSpPr>
          <p:cNvPr id="194" name="Google Shape;194;p22"/>
          <p:cNvSpPr/>
          <p:nvPr/>
        </p:nvSpPr>
        <p:spPr>
          <a:xfrm>
            <a:off x="5619750" y="3535560"/>
            <a:ext cx="952500" cy="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2"/>
          <p:cNvSpPr txBox="1"/>
          <p:nvPr/>
        </p:nvSpPr>
        <p:spPr>
          <a:xfrm>
            <a:off x="4395787" y="3954660"/>
            <a:ext cx="34004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 Light"/>
                <a:ea typeface="Lato Light"/>
                <a:cs typeface="Lato Light"/>
                <a:sym typeface="Lato Light"/>
              </a:rPr>
              <a:t>Image-to-Image Translation (2016)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"/>
          <p:cNvSpPr txBox="1"/>
          <p:nvPr/>
        </p:nvSpPr>
        <p:spPr>
          <a:xfrm>
            <a:off x="1047750" y="762000"/>
            <a:ext cx="4500562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从草图到成品</a:t>
            </a:r>
            <a:endParaRPr/>
          </a:p>
        </p:txBody>
      </p:sp>
      <p:sp>
        <p:nvSpPr>
          <p:cNvPr id="201" name="Google Shape;201;p23"/>
          <p:cNvSpPr/>
          <p:nvPr/>
        </p:nvSpPr>
        <p:spPr>
          <a:xfrm>
            <a:off x="762000" y="762000"/>
            <a:ext cx="47625" cy="67047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2" name="Google Shape;20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0"/>
            <a:ext cx="6096000" cy="247783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3"/>
          <p:cNvSpPr txBox="1"/>
          <p:nvPr/>
        </p:nvSpPr>
        <p:spPr>
          <a:xfrm>
            <a:off x="762000" y="2439590"/>
            <a:ext cx="48006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Edges2Shoes</a:t>
            </a:r>
            <a:endParaRPr/>
          </a:p>
        </p:txBody>
      </p:sp>
      <p:sp>
        <p:nvSpPr>
          <p:cNvPr id="204" name="Google Shape;204;p23"/>
          <p:cNvSpPr txBox="1"/>
          <p:nvPr/>
        </p:nvSpPr>
        <p:spPr>
          <a:xfrm>
            <a:off x="762000" y="3146226"/>
            <a:ext cx="4572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 Light"/>
                <a:ea typeface="Lato Light"/>
                <a:cs typeface="Lato Light"/>
                <a:sym typeface="Lato Light"/>
              </a:rPr>
              <a:t>Pix2Pix 是基于条件 GAN (cGAN) 的通用图像翻译框架。它解决了“将 A 变成 B”的问题。</a:t>
            </a:r>
            <a:endParaRPr/>
          </a:p>
        </p:txBody>
      </p:sp>
      <p:sp>
        <p:nvSpPr>
          <p:cNvPr id="205" name="Google Shape;205;p23"/>
          <p:cNvSpPr txBox="1"/>
          <p:nvPr/>
        </p:nvSpPr>
        <p:spPr>
          <a:xfrm>
            <a:off x="762000" y="4334767"/>
            <a:ext cx="45720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 Light"/>
                <a:ea typeface="Lato Light"/>
                <a:cs typeface="Lato Light"/>
                <a:sym typeface="Lato Light"/>
              </a:rPr>
              <a:t>通过结合 </a:t>
            </a: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L1 损失</a:t>
            </a:r>
            <a:r>
              <a:rPr b="0" i="0" lang="en-US" sz="1800" u="none" cap="none" strike="noStrike">
                <a:solidFill>
                  <a:srgbClr val="333333"/>
                </a:solidFill>
                <a:latin typeface="Lato Light"/>
                <a:ea typeface="Lato Light"/>
                <a:cs typeface="Lato Light"/>
                <a:sym typeface="Lato Light"/>
              </a:rPr>
              <a:t>（保证低频结构一致）与 </a:t>
            </a: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对抗损失</a:t>
            </a:r>
            <a:r>
              <a:rPr b="0" i="0" lang="en-US" sz="1800" u="none" cap="none" strike="noStrike">
                <a:solidFill>
                  <a:srgbClr val="333333"/>
                </a:solidFill>
                <a:latin typeface="Lato Light"/>
                <a:ea typeface="Lato Light"/>
                <a:cs typeface="Lato Light"/>
                <a:sym typeface="Lato Light"/>
              </a:rPr>
              <a:t>（保证高频纹理真实），实现了从简笔画到真实照片的高保真转换。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912864"/>
            <a:ext cx="5048250" cy="22740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3095625"/>
            <a:ext cx="5048250" cy="1908423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4"/>
          <p:cNvSpPr txBox="1"/>
          <p:nvPr/>
        </p:nvSpPr>
        <p:spPr>
          <a:xfrm>
            <a:off x="771525" y="2922389"/>
            <a:ext cx="528066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U-Net 生成器</a:t>
            </a:r>
            <a:endParaRPr/>
          </a:p>
        </p:txBody>
      </p:sp>
      <p:sp>
        <p:nvSpPr>
          <p:cNvPr id="213" name="Google Shape;213;p24"/>
          <p:cNvSpPr txBox="1"/>
          <p:nvPr/>
        </p:nvSpPr>
        <p:spPr>
          <a:xfrm>
            <a:off x="771525" y="3486150"/>
            <a:ext cx="5029200" cy="1462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 Light"/>
                <a:ea typeface="Lato Light"/>
                <a:cs typeface="Lato Light"/>
                <a:sym typeface="Lato Light"/>
              </a:rPr>
              <a:t>图像翻译任务中，输入输出共享底层结构（如轮廓）。U-Net 通过</a:t>
            </a: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跳跃连接 (Skip Connections)</a:t>
            </a:r>
            <a:r>
              <a:rPr b="0" i="0" lang="en-US" sz="1800" u="none" cap="none" strike="noStrike">
                <a:solidFill>
                  <a:srgbClr val="333333"/>
                </a:solidFill>
                <a:latin typeface="Lato Light"/>
                <a:ea typeface="Lato Light"/>
                <a:cs typeface="Lato Light"/>
                <a:sym typeface="Lato Light"/>
              </a:rPr>
              <a:t> 将编码器的特征直接传递给解码器，突破瓶颈层限制。</a:t>
            </a:r>
            <a:endParaRPr/>
          </a:p>
        </p:txBody>
      </p:sp>
      <p:sp>
        <p:nvSpPr>
          <p:cNvPr id="214" name="Google Shape;214;p24"/>
          <p:cNvSpPr txBox="1"/>
          <p:nvPr/>
        </p:nvSpPr>
        <p:spPr>
          <a:xfrm>
            <a:off x="6391275" y="3105150"/>
            <a:ext cx="528066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PatchGAN 判别器</a:t>
            </a:r>
            <a:endParaRPr/>
          </a:p>
        </p:txBody>
      </p:sp>
      <p:sp>
        <p:nvSpPr>
          <p:cNvPr id="215" name="Google Shape;215;p24"/>
          <p:cNvSpPr txBox="1"/>
          <p:nvPr/>
        </p:nvSpPr>
        <p:spPr>
          <a:xfrm>
            <a:off x="6391275" y="3668910"/>
            <a:ext cx="50292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 Light"/>
                <a:ea typeface="Lato Light"/>
                <a:cs typeface="Lato Light"/>
                <a:sym typeface="Lato Light"/>
              </a:rPr>
              <a:t>判别器不再评价整张图片，而是将图像划分为 $N \times N$ 的局部补丁。它专注于判断高频纹理的真伪，计算量更小，细节更丰富。</a:t>
            </a:r>
            <a:endParaRPr/>
          </a:p>
        </p:txBody>
      </p:sp>
      <p:sp>
        <p:nvSpPr>
          <p:cNvPr id="216" name="Google Shape;216;p24"/>
          <p:cNvSpPr txBox="1"/>
          <p:nvPr/>
        </p:nvSpPr>
        <p:spPr>
          <a:xfrm>
            <a:off x="1047750" y="762000"/>
            <a:ext cx="10901362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架构创新</a:t>
            </a:r>
            <a:endParaRPr/>
          </a:p>
        </p:txBody>
      </p:sp>
      <p:sp>
        <p:nvSpPr>
          <p:cNvPr id="217" name="Google Shape;217;p24"/>
          <p:cNvSpPr/>
          <p:nvPr/>
        </p:nvSpPr>
        <p:spPr>
          <a:xfrm>
            <a:off x="762000" y="762000"/>
            <a:ext cx="47625" cy="67047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5"/>
          <p:cNvSpPr txBox="1"/>
          <p:nvPr/>
        </p:nvSpPr>
        <p:spPr>
          <a:xfrm>
            <a:off x="762000" y="2808089"/>
            <a:ext cx="5300662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穿透瓶颈</a:t>
            </a:r>
            <a:endParaRPr/>
          </a:p>
        </p:txBody>
      </p:sp>
      <p:sp>
        <p:nvSpPr>
          <p:cNvPr id="223" name="Google Shape;223;p25"/>
          <p:cNvSpPr txBox="1"/>
          <p:nvPr/>
        </p:nvSpPr>
        <p:spPr>
          <a:xfrm>
            <a:off x="762000" y="3371850"/>
            <a:ext cx="50482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 Light"/>
                <a:ea typeface="Lato Light"/>
                <a:cs typeface="Lato Light"/>
                <a:sym typeface="Lato Light"/>
              </a:rPr>
              <a:t>传统的 Encoder-Decoder 会丢失大量底层空间信息。U-Net 的跳跃连接如同搭建了“高速公路”。</a:t>
            </a:r>
            <a:endParaRPr/>
          </a:p>
        </p:txBody>
      </p:sp>
      <p:sp>
        <p:nvSpPr>
          <p:cNvPr id="224" name="Google Shape;224;p25"/>
          <p:cNvSpPr txBox="1"/>
          <p:nvPr/>
        </p:nvSpPr>
        <p:spPr>
          <a:xfrm>
            <a:off x="762000" y="4331791"/>
            <a:ext cx="50482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 Light"/>
                <a:ea typeface="Lato Light"/>
                <a:cs typeface="Lato Light"/>
                <a:sym typeface="Lato Light"/>
              </a:rPr>
              <a:t>这确保了生成的鞋子轮廓与设计师画的线条完美重合。</a:t>
            </a:r>
            <a:endParaRPr/>
          </a:p>
        </p:txBody>
      </p:sp>
      <p:pic>
        <p:nvPicPr>
          <p:cNvPr descr="image.png" id="225" name="Google Shape;22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647950"/>
            <a:ext cx="5048250" cy="2803773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5"/>
          <p:cNvSpPr txBox="1"/>
          <p:nvPr/>
        </p:nvSpPr>
        <p:spPr>
          <a:xfrm>
            <a:off x="1047750" y="762000"/>
            <a:ext cx="10901362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U-Net 结构细节</a:t>
            </a:r>
            <a:endParaRPr/>
          </a:p>
        </p:txBody>
      </p:sp>
      <p:sp>
        <p:nvSpPr>
          <p:cNvPr id="227" name="Google Shape;227;p25"/>
          <p:cNvSpPr/>
          <p:nvPr/>
        </p:nvSpPr>
        <p:spPr>
          <a:xfrm>
            <a:off x="762000" y="762000"/>
            <a:ext cx="47625" cy="67047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2" name="Google Shape;23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28987" y="1727894"/>
            <a:ext cx="5534025" cy="3402062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6"/>
          <p:cNvSpPr txBox="1"/>
          <p:nvPr/>
        </p:nvSpPr>
        <p:spPr>
          <a:xfrm>
            <a:off x="3800713" y="2308919"/>
            <a:ext cx="4590573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04. CycleGAN</a:t>
            </a:r>
            <a:endParaRPr/>
          </a:p>
        </p:txBody>
      </p:sp>
      <p:sp>
        <p:nvSpPr>
          <p:cNvPr id="234" name="Google Shape;234;p26"/>
          <p:cNvSpPr txBox="1"/>
          <p:nvPr/>
        </p:nvSpPr>
        <p:spPr>
          <a:xfrm>
            <a:off x="3910012" y="2788890"/>
            <a:ext cx="43719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 Light"/>
                <a:ea typeface="Lato Light"/>
                <a:cs typeface="Lato Light"/>
                <a:sym typeface="Lato Light"/>
              </a:rPr>
              <a:t>打破数据配对的壁垒</a:t>
            </a:r>
            <a:endParaRPr/>
          </a:p>
        </p:txBody>
      </p:sp>
      <p:sp>
        <p:nvSpPr>
          <p:cNvPr id="235" name="Google Shape;235;p26"/>
          <p:cNvSpPr/>
          <p:nvPr/>
        </p:nvSpPr>
        <p:spPr>
          <a:xfrm>
            <a:off x="5619750" y="3535560"/>
            <a:ext cx="952500" cy="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6"/>
          <p:cNvSpPr txBox="1"/>
          <p:nvPr/>
        </p:nvSpPr>
        <p:spPr>
          <a:xfrm>
            <a:off x="3910012" y="3954660"/>
            <a:ext cx="43719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 Light"/>
                <a:ea typeface="Lato Light"/>
                <a:cs typeface="Lato Light"/>
                <a:sym typeface="Lato Light"/>
              </a:rPr>
              <a:t>Unpaired Image-to-Image Translation (2017)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7"/>
          <p:cNvSpPr txBox="1"/>
          <p:nvPr/>
        </p:nvSpPr>
        <p:spPr>
          <a:xfrm>
            <a:off x="762000" y="3949898"/>
            <a:ext cx="5048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Unpaired</a:t>
            </a:r>
            <a:endParaRPr/>
          </a:p>
        </p:txBody>
      </p:sp>
      <p:sp>
        <p:nvSpPr>
          <p:cNvPr id="242" name="Google Shape;242;p27"/>
          <p:cNvSpPr txBox="1"/>
          <p:nvPr/>
        </p:nvSpPr>
        <p:spPr>
          <a:xfrm>
            <a:off x="6381750" y="2625328"/>
            <a:ext cx="5300662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现实数据的挑战</a:t>
            </a:r>
            <a:endParaRPr/>
          </a:p>
        </p:txBody>
      </p:sp>
      <p:sp>
        <p:nvSpPr>
          <p:cNvPr id="243" name="Google Shape;243;p27"/>
          <p:cNvSpPr txBox="1"/>
          <p:nvPr/>
        </p:nvSpPr>
        <p:spPr>
          <a:xfrm>
            <a:off x="6381750" y="3189089"/>
            <a:ext cx="504825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 Light"/>
                <a:ea typeface="Lato Light"/>
                <a:cs typeface="Lato Light"/>
                <a:sym typeface="Lato Light"/>
              </a:rPr>
              <a:t>Pix2Pix 极其依赖配对数据。然而，在现实世界中，获取完美配对的数据（例如同一时刻的莫奈风格风景与现实照片）几乎是不可能的。</a:t>
            </a:r>
            <a:endParaRPr/>
          </a:p>
        </p:txBody>
      </p:sp>
      <p:sp>
        <p:nvSpPr>
          <p:cNvPr id="244" name="Google Shape;244;p27"/>
          <p:cNvSpPr txBox="1"/>
          <p:nvPr/>
        </p:nvSpPr>
        <p:spPr>
          <a:xfrm>
            <a:off x="6381750" y="4514701"/>
            <a:ext cx="50482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 Light"/>
                <a:ea typeface="Lato Light"/>
                <a:cs typeface="Lato Light"/>
                <a:sym typeface="Lato Light"/>
              </a:rPr>
              <a:t>CycleGAN 通过引入循环一致性损失，突破了这一限制。</a:t>
            </a:r>
            <a:endParaRPr/>
          </a:p>
        </p:txBody>
      </p:sp>
      <p:sp>
        <p:nvSpPr>
          <p:cNvPr id="245" name="Google Shape;245;p27"/>
          <p:cNvSpPr txBox="1"/>
          <p:nvPr/>
        </p:nvSpPr>
        <p:spPr>
          <a:xfrm>
            <a:off x="1047750" y="762000"/>
            <a:ext cx="10901362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无监督翻译</a:t>
            </a:r>
            <a:endParaRPr/>
          </a:p>
        </p:txBody>
      </p:sp>
      <p:sp>
        <p:nvSpPr>
          <p:cNvPr id="246" name="Google Shape;246;p27"/>
          <p:cNvSpPr/>
          <p:nvPr/>
        </p:nvSpPr>
        <p:spPr>
          <a:xfrm>
            <a:off x="762000" y="762000"/>
            <a:ext cx="47625" cy="67047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8"/>
          <p:cNvSpPr txBox="1"/>
          <p:nvPr/>
        </p:nvSpPr>
        <p:spPr>
          <a:xfrm>
            <a:off x="762000" y="2603301"/>
            <a:ext cx="5300662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Cycle Consistency Loss</a:t>
            </a:r>
            <a:endParaRPr/>
          </a:p>
        </p:txBody>
      </p:sp>
      <p:sp>
        <p:nvSpPr>
          <p:cNvPr id="252" name="Google Shape;252;p28"/>
          <p:cNvSpPr txBox="1"/>
          <p:nvPr/>
        </p:nvSpPr>
        <p:spPr>
          <a:xfrm>
            <a:off x="762000" y="3167062"/>
            <a:ext cx="50482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 Light"/>
                <a:ea typeface="Lato Light"/>
                <a:cs typeface="Lato Light"/>
                <a:sym typeface="Lato Light"/>
              </a:rPr>
              <a:t>核心假设：如果将图像从域 $X$ 转换到域 $Y$，再将其转换回域 $X$，应该能还原为原始图像。</a:t>
            </a:r>
            <a:endParaRPr/>
          </a:p>
        </p:txBody>
      </p:sp>
      <p:sp>
        <p:nvSpPr>
          <p:cNvPr id="253" name="Google Shape;253;p28"/>
          <p:cNvSpPr txBox="1"/>
          <p:nvPr/>
        </p:nvSpPr>
        <p:spPr>
          <a:xfrm>
            <a:off x="762000" y="4536578"/>
            <a:ext cx="50482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 Light"/>
                <a:ea typeface="Lato Light"/>
                <a:cs typeface="Lato Light"/>
                <a:sym typeface="Lato Light"/>
              </a:rPr>
              <a:t>这一约束强迫生成器在转换风格的同时，严格保留图像的几何结构和姿态。</a:t>
            </a:r>
            <a:endParaRPr/>
          </a:p>
        </p:txBody>
      </p:sp>
      <p:pic>
        <p:nvPicPr>
          <p:cNvPr descr="image.png" id="254" name="Google Shape;25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279898"/>
            <a:ext cx="5048250" cy="354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127003"/>
            <a:ext cx="50482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8"/>
          <p:cNvSpPr txBox="1"/>
          <p:nvPr/>
        </p:nvSpPr>
        <p:spPr>
          <a:xfrm>
            <a:off x="1047750" y="762000"/>
            <a:ext cx="10901362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循环一致性</a:t>
            </a:r>
            <a:endParaRPr/>
          </a:p>
        </p:txBody>
      </p:sp>
      <p:sp>
        <p:nvSpPr>
          <p:cNvPr id="257" name="Google Shape;257;p28"/>
          <p:cNvSpPr/>
          <p:nvPr/>
        </p:nvSpPr>
        <p:spPr>
          <a:xfrm>
            <a:off x="762000" y="762000"/>
            <a:ext cx="47625" cy="67047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9"/>
          <p:cNvSpPr txBox="1"/>
          <p:nvPr/>
        </p:nvSpPr>
        <p:spPr>
          <a:xfrm>
            <a:off x="1047750" y="762000"/>
            <a:ext cx="4500562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Horse to Zebra</a:t>
            </a:r>
            <a:endParaRPr/>
          </a:p>
        </p:txBody>
      </p:sp>
      <p:sp>
        <p:nvSpPr>
          <p:cNvPr id="263" name="Google Shape;263;p29"/>
          <p:cNvSpPr/>
          <p:nvPr/>
        </p:nvSpPr>
        <p:spPr>
          <a:xfrm>
            <a:off x="762000" y="762000"/>
            <a:ext cx="47625" cy="67047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4" name="Google Shape;26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0"/>
            <a:ext cx="6096000" cy="2988915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9"/>
          <p:cNvSpPr txBox="1"/>
          <p:nvPr/>
        </p:nvSpPr>
        <p:spPr>
          <a:xfrm>
            <a:off x="762000" y="2439590"/>
            <a:ext cx="48006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风格与身份的分离</a:t>
            </a:r>
            <a:endParaRPr/>
          </a:p>
        </p:txBody>
      </p:sp>
      <p:sp>
        <p:nvSpPr>
          <p:cNvPr id="266" name="Google Shape;266;p29"/>
          <p:cNvSpPr txBox="1"/>
          <p:nvPr/>
        </p:nvSpPr>
        <p:spPr>
          <a:xfrm>
            <a:off x="762000" y="3146226"/>
            <a:ext cx="4572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 Light"/>
                <a:ea typeface="Lato Light"/>
                <a:cs typeface="Lato Light"/>
                <a:sym typeface="Lato Light"/>
              </a:rPr>
              <a:t>CycleGAN 最经典的案例。模型学会了自动识别马的身体，将其纹理替换为斑马条纹。</a:t>
            </a:r>
            <a:endParaRPr/>
          </a:p>
        </p:txBody>
      </p:sp>
      <p:sp>
        <p:nvSpPr>
          <p:cNvPr id="267" name="Google Shape;267;p29"/>
          <p:cNvSpPr txBox="1"/>
          <p:nvPr/>
        </p:nvSpPr>
        <p:spPr>
          <a:xfrm>
            <a:off x="762000" y="4334767"/>
            <a:ext cx="45720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 Light"/>
                <a:ea typeface="Lato Light"/>
                <a:cs typeface="Lato Light"/>
                <a:sym typeface="Lato Light"/>
              </a:rPr>
              <a:t>最重要的是，背景的草地、天空保持完全不动。这是循环一致性损失的功劳——为了能还原回原图，生成器必须保留无关区域的信息。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2" name="Google Shape;27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09937" y="1727894"/>
            <a:ext cx="5572125" cy="3402062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0"/>
          <p:cNvSpPr txBox="1"/>
          <p:nvPr/>
        </p:nvSpPr>
        <p:spPr>
          <a:xfrm>
            <a:off x="3780710" y="2308919"/>
            <a:ext cx="4630578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05. StyleGAN</a:t>
            </a:r>
            <a:endParaRPr/>
          </a:p>
        </p:txBody>
      </p:sp>
      <p:sp>
        <p:nvSpPr>
          <p:cNvPr id="274" name="Google Shape;274;p30"/>
          <p:cNvSpPr txBox="1"/>
          <p:nvPr/>
        </p:nvSpPr>
        <p:spPr>
          <a:xfrm>
            <a:off x="3890962" y="2788890"/>
            <a:ext cx="44100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 Light"/>
                <a:ea typeface="Lato Light"/>
                <a:cs typeface="Lato Light"/>
                <a:sym typeface="Lato Light"/>
              </a:rPr>
              <a:t>生成控制的巅峰</a:t>
            </a:r>
            <a:endParaRPr/>
          </a:p>
        </p:txBody>
      </p:sp>
      <p:sp>
        <p:nvSpPr>
          <p:cNvPr id="275" name="Google Shape;275;p30"/>
          <p:cNvSpPr/>
          <p:nvPr/>
        </p:nvSpPr>
        <p:spPr>
          <a:xfrm>
            <a:off x="5619750" y="3535560"/>
            <a:ext cx="952500" cy="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30"/>
          <p:cNvSpPr txBox="1"/>
          <p:nvPr/>
        </p:nvSpPr>
        <p:spPr>
          <a:xfrm>
            <a:off x="3890962" y="3954660"/>
            <a:ext cx="44100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 Light"/>
                <a:ea typeface="Lato Light"/>
                <a:cs typeface="Lato Light"/>
                <a:sym typeface="Lato Light"/>
              </a:rPr>
              <a:t>High-Fidelity Image Generation (2018-2021)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1"/>
          <p:cNvSpPr txBox="1"/>
          <p:nvPr/>
        </p:nvSpPr>
        <p:spPr>
          <a:xfrm>
            <a:off x="1047750" y="762000"/>
            <a:ext cx="4500562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极致真实</a:t>
            </a:r>
            <a:endParaRPr/>
          </a:p>
        </p:txBody>
      </p:sp>
      <p:sp>
        <p:nvSpPr>
          <p:cNvPr id="282" name="Google Shape;282;p31"/>
          <p:cNvSpPr/>
          <p:nvPr/>
        </p:nvSpPr>
        <p:spPr>
          <a:xfrm>
            <a:off x="762000" y="762000"/>
            <a:ext cx="47625" cy="67047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83" name="Google Shape;28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0"/>
            <a:ext cx="6096000" cy="3106042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1"/>
          <p:cNvSpPr txBox="1"/>
          <p:nvPr/>
        </p:nvSpPr>
        <p:spPr>
          <a:xfrm>
            <a:off x="762000" y="2256680"/>
            <a:ext cx="48006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从“能用”到“完美”</a:t>
            </a:r>
            <a:endParaRPr/>
          </a:p>
        </p:txBody>
      </p:sp>
      <p:sp>
        <p:nvSpPr>
          <p:cNvPr id="285" name="Google Shape;285;p31"/>
          <p:cNvSpPr txBox="1"/>
          <p:nvPr/>
        </p:nvSpPr>
        <p:spPr>
          <a:xfrm>
            <a:off x="762000" y="2963316"/>
            <a:ext cx="4572000" cy="1462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 Light"/>
                <a:ea typeface="Lato Light"/>
                <a:cs typeface="Lato Light"/>
                <a:sym typeface="Lato Light"/>
              </a:rPr>
              <a:t>StyleGAN 代表了非条件图像生成的最高水平。它解决了传统 GAN 的特征纠缠问题，实现了对生成图像属性（如年龄、姿态、光照）的精细解耦控制。</a:t>
            </a:r>
            <a:endParaRPr/>
          </a:p>
        </p:txBody>
      </p:sp>
      <p:sp>
        <p:nvSpPr>
          <p:cNvPr id="286" name="Google Shape;286;p31"/>
          <p:cNvSpPr txBox="1"/>
          <p:nvPr/>
        </p:nvSpPr>
        <p:spPr>
          <a:xfrm>
            <a:off x="762000" y="4883199"/>
            <a:ext cx="4572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 Light"/>
                <a:ea typeface="Lato Light"/>
                <a:cs typeface="Lato Light"/>
                <a:sym typeface="Lato Light"/>
              </a:rPr>
              <a:t>生成的面部细节（毛孔、发丝）达到了肉眼难辨真假的程度。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1" name="Google Shape;29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3095773"/>
            <a:ext cx="5048250" cy="19084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3095773"/>
            <a:ext cx="5048250" cy="1908423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2"/>
          <p:cNvSpPr txBox="1"/>
          <p:nvPr/>
        </p:nvSpPr>
        <p:spPr>
          <a:xfrm>
            <a:off x="771525" y="3105298"/>
            <a:ext cx="528066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Mapping Network</a:t>
            </a:r>
            <a:endParaRPr/>
          </a:p>
        </p:txBody>
      </p:sp>
      <p:sp>
        <p:nvSpPr>
          <p:cNvPr id="294" name="Google Shape;294;p32"/>
          <p:cNvSpPr txBox="1"/>
          <p:nvPr/>
        </p:nvSpPr>
        <p:spPr>
          <a:xfrm>
            <a:off x="771525" y="3669059"/>
            <a:ext cx="50292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 Light"/>
                <a:ea typeface="Lato Light"/>
                <a:cs typeface="Lato Light"/>
                <a:sym typeface="Lato Light"/>
              </a:rPr>
              <a:t>将潜在向量 $z$ 映射为中间向量 $w$。$W$ 空间不服从固定分布，可以自由变形以匹配真实特征，实现特征的线性解耦。</a:t>
            </a:r>
            <a:endParaRPr/>
          </a:p>
        </p:txBody>
      </p:sp>
      <p:sp>
        <p:nvSpPr>
          <p:cNvPr id="295" name="Google Shape;295;p32"/>
          <p:cNvSpPr txBox="1"/>
          <p:nvPr/>
        </p:nvSpPr>
        <p:spPr>
          <a:xfrm>
            <a:off x="6391275" y="3105298"/>
            <a:ext cx="528066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Style Injection (AdaIN)</a:t>
            </a:r>
            <a:endParaRPr/>
          </a:p>
        </p:txBody>
      </p:sp>
      <p:sp>
        <p:nvSpPr>
          <p:cNvPr id="296" name="Google Shape;296;p32"/>
          <p:cNvSpPr txBox="1"/>
          <p:nvPr/>
        </p:nvSpPr>
        <p:spPr>
          <a:xfrm>
            <a:off x="6391275" y="3669059"/>
            <a:ext cx="50292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 Light"/>
                <a:ea typeface="Lato Light"/>
                <a:cs typeface="Lato Light"/>
                <a:sym typeface="Lato Light"/>
              </a:rPr>
              <a:t>不再将 $z$ 作为输入，而是作为“风格”参数。通过自适应实例归一化 (AdaIN)，将风格注入到生成器的每一层卷积之后，控制生成的统计特性。</a:t>
            </a:r>
            <a:endParaRPr/>
          </a:p>
        </p:txBody>
      </p:sp>
      <p:sp>
        <p:nvSpPr>
          <p:cNvPr id="297" name="Google Shape;297;p32"/>
          <p:cNvSpPr txBox="1"/>
          <p:nvPr/>
        </p:nvSpPr>
        <p:spPr>
          <a:xfrm>
            <a:off x="1047750" y="762000"/>
            <a:ext cx="10901362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解耦与注入</a:t>
            </a:r>
            <a:endParaRPr/>
          </a:p>
        </p:txBody>
      </p:sp>
      <p:sp>
        <p:nvSpPr>
          <p:cNvPr id="298" name="Google Shape;298;p32"/>
          <p:cNvSpPr/>
          <p:nvPr/>
        </p:nvSpPr>
        <p:spPr>
          <a:xfrm>
            <a:off x="762000" y="762000"/>
            <a:ext cx="47625" cy="67047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3" name="Google Shape;303;p33"/>
          <p:cNvGraphicFramePr/>
          <p:nvPr/>
        </p:nvGraphicFramePr>
        <p:xfrm>
          <a:off x="762000" y="224998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{4C7C95D0-16CA-4F00-A8BC-A61A3B66D659}</a:tableStyleId>
              </a:tblPr>
              <a:tblGrid>
                <a:gridCol w="1722375"/>
                <a:gridCol w="2388400"/>
                <a:gridCol w="3111850"/>
                <a:gridCol w="3445375"/>
              </a:tblGrid>
              <a:tr h="758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333333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架构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333333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核心任务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333333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关键机制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333333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典型应用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8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DCGAN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333333"/>
                          </a:solidFill>
                          <a:latin typeface="Lato Light"/>
                          <a:ea typeface="Lato Light"/>
                          <a:cs typeface="Lato Light"/>
                          <a:sym typeface="Lato Light"/>
                        </a:rPr>
                        <a:t>无条件生成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333333"/>
                          </a:solidFill>
                          <a:latin typeface="Lato Light"/>
                          <a:ea typeface="Lato Light"/>
                          <a:cs typeface="Lato Light"/>
                          <a:sym typeface="Lato Light"/>
                        </a:rPr>
                        <a:t>转置卷积, Batch Norm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333333"/>
                          </a:solidFill>
                          <a:latin typeface="Lato Light"/>
                          <a:ea typeface="Lato Light"/>
                          <a:cs typeface="Lato Light"/>
                          <a:sym typeface="Lato Light"/>
                        </a:rPr>
                        <a:t>早期探索, 特征提取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8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Pix2Pix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333333"/>
                          </a:solidFill>
                          <a:latin typeface="Lato Light"/>
                          <a:ea typeface="Lato Light"/>
                          <a:cs typeface="Lato Light"/>
                          <a:sym typeface="Lato Light"/>
                        </a:rPr>
                        <a:t>配对图像翻译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333333"/>
                          </a:solidFill>
                          <a:latin typeface="Lato Light"/>
                          <a:ea typeface="Lato Light"/>
                          <a:cs typeface="Lato Light"/>
                          <a:sym typeface="Lato Light"/>
                        </a:rPr>
                        <a:t>U-Net, PatchGAN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333333"/>
                          </a:solidFill>
                          <a:latin typeface="Lato Light"/>
                          <a:ea typeface="Lato Light"/>
                          <a:cs typeface="Lato Light"/>
                          <a:sym typeface="Lato Light"/>
                        </a:rPr>
                        <a:t>线稿上色, 边缘转图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8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CycleGAN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333333"/>
                          </a:solidFill>
                          <a:latin typeface="Lato Light"/>
                          <a:ea typeface="Lato Light"/>
                          <a:cs typeface="Lato Light"/>
                          <a:sym typeface="Lato Light"/>
                        </a:rPr>
                        <a:t>无配对图像翻译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333333"/>
                          </a:solidFill>
                          <a:latin typeface="Lato Light"/>
                          <a:ea typeface="Lato Light"/>
                          <a:cs typeface="Lato Light"/>
                          <a:sym typeface="Lato Light"/>
                        </a:rPr>
                        <a:t>循环一致性, ResNet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333333"/>
                          </a:solidFill>
                          <a:latin typeface="Lato Light"/>
                          <a:ea typeface="Lato Light"/>
                          <a:cs typeface="Lato Light"/>
                          <a:sym typeface="Lato Light"/>
                        </a:rPr>
                        <a:t>风格迁移, 换脸, 医学合成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8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StyleGAN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333333"/>
                          </a:solidFill>
                          <a:latin typeface="Lato Light"/>
                          <a:ea typeface="Lato Light"/>
                          <a:cs typeface="Lato Light"/>
                          <a:sym typeface="Lato Light"/>
                        </a:rPr>
                        <a:t>高保真生成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333333"/>
                          </a:solidFill>
                          <a:latin typeface="Lato Light"/>
                          <a:ea typeface="Lato Light"/>
                          <a:cs typeface="Lato Light"/>
                          <a:sym typeface="Lato Light"/>
                        </a:rPr>
                        <a:t>映射网络, AdaIN/Mod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333333"/>
                          </a:solidFill>
                          <a:latin typeface="Lato Light"/>
                          <a:ea typeface="Lato Light"/>
                          <a:cs typeface="Lato Light"/>
                          <a:sym typeface="Lato Light"/>
                        </a:rPr>
                        <a:t>虚拟数字人, 属性编辑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4" name="Google Shape;304;p33"/>
          <p:cNvSpPr/>
          <p:nvPr/>
        </p:nvSpPr>
        <p:spPr>
          <a:xfrm>
            <a:off x="762000" y="2987129"/>
            <a:ext cx="1722387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33"/>
          <p:cNvSpPr/>
          <p:nvPr/>
        </p:nvSpPr>
        <p:spPr>
          <a:xfrm>
            <a:off x="2484387" y="2987129"/>
            <a:ext cx="2388393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33"/>
          <p:cNvSpPr/>
          <p:nvPr/>
        </p:nvSpPr>
        <p:spPr>
          <a:xfrm>
            <a:off x="4872781" y="2987129"/>
            <a:ext cx="3111847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33"/>
          <p:cNvSpPr/>
          <p:nvPr/>
        </p:nvSpPr>
        <p:spPr>
          <a:xfrm>
            <a:off x="7984628" y="2987129"/>
            <a:ext cx="3445371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33"/>
          <p:cNvSpPr/>
          <p:nvPr/>
        </p:nvSpPr>
        <p:spPr>
          <a:xfrm>
            <a:off x="762000" y="3757612"/>
            <a:ext cx="1722387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33"/>
          <p:cNvSpPr/>
          <p:nvPr/>
        </p:nvSpPr>
        <p:spPr>
          <a:xfrm>
            <a:off x="2484387" y="3757612"/>
            <a:ext cx="2388393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33"/>
          <p:cNvSpPr/>
          <p:nvPr/>
        </p:nvSpPr>
        <p:spPr>
          <a:xfrm>
            <a:off x="4872781" y="3757612"/>
            <a:ext cx="3111847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33"/>
          <p:cNvSpPr/>
          <p:nvPr/>
        </p:nvSpPr>
        <p:spPr>
          <a:xfrm>
            <a:off x="7984628" y="3757612"/>
            <a:ext cx="3445371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33"/>
          <p:cNvSpPr/>
          <p:nvPr/>
        </p:nvSpPr>
        <p:spPr>
          <a:xfrm>
            <a:off x="762000" y="4513808"/>
            <a:ext cx="1722387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33"/>
          <p:cNvSpPr/>
          <p:nvPr/>
        </p:nvSpPr>
        <p:spPr>
          <a:xfrm>
            <a:off x="2484387" y="4513808"/>
            <a:ext cx="2388393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33"/>
          <p:cNvSpPr/>
          <p:nvPr/>
        </p:nvSpPr>
        <p:spPr>
          <a:xfrm>
            <a:off x="4872781" y="4513808"/>
            <a:ext cx="3111847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33"/>
          <p:cNvSpPr/>
          <p:nvPr/>
        </p:nvSpPr>
        <p:spPr>
          <a:xfrm>
            <a:off x="7984628" y="4513808"/>
            <a:ext cx="3445371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33"/>
          <p:cNvSpPr/>
          <p:nvPr/>
        </p:nvSpPr>
        <p:spPr>
          <a:xfrm>
            <a:off x="762000" y="5270003"/>
            <a:ext cx="1722387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33"/>
          <p:cNvSpPr/>
          <p:nvPr/>
        </p:nvSpPr>
        <p:spPr>
          <a:xfrm>
            <a:off x="2484387" y="5270003"/>
            <a:ext cx="2388393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33"/>
          <p:cNvSpPr/>
          <p:nvPr/>
        </p:nvSpPr>
        <p:spPr>
          <a:xfrm>
            <a:off x="4872781" y="5270003"/>
            <a:ext cx="3111847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3"/>
          <p:cNvSpPr/>
          <p:nvPr/>
        </p:nvSpPr>
        <p:spPr>
          <a:xfrm>
            <a:off x="7984628" y="5270003"/>
            <a:ext cx="3445371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3"/>
          <p:cNvSpPr/>
          <p:nvPr/>
        </p:nvSpPr>
        <p:spPr>
          <a:xfrm>
            <a:off x="762000" y="6026199"/>
            <a:ext cx="1722387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33"/>
          <p:cNvSpPr/>
          <p:nvPr/>
        </p:nvSpPr>
        <p:spPr>
          <a:xfrm>
            <a:off x="2484387" y="6026199"/>
            <a:ext cx="2388393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3"/>
          <p:cNvSpPr/>
          <p:nvPr/>
        </p:nvSpPr>
        <p:spPr>
          <a:xfrm>
            <a:off x="4872781" y="6026199"/>
            <a:ext cx="3111847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33"/>
          <p:cNvSpPr/>
          <p:nvPr/>
        </p:nvSpPr>
        <p:spPr>
          <a:xfrm>
            <a:off x="7984628" y="6026199"/>
            <a:ext cx="3445371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33"/>
          <p:cNvSpPr txBox="1"/>
          <p:nvPr/>
        </p:nvSpPr>
        <p:spPr>
          <a:xfrm>
            <a:off x="1047750" y="762000"/>
            <a:ext cx="10901362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架构全景对比</a:t>
            </a:r>
            <a:endParaRPr/>
          </a:p>
        </p:txBody>
      </p:sp>
      <p:sp>
        <p:nvSpPr>
          <p:cNvPr id="325" name="Google Shape;325;p33"/>
          <p:cNvSpPr/>
          <p:nvPr/>
        </p:nvSpPr>
        <p:spPr>
          <a:xfrm>
            <a:off x="762000" y="762000"/>
            <a:ext cx="47625" cy="67047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4"/>
          <p:cNvSpPr txBox="1"/>
          <p:nvPr/>
        </p:nvSpPr>
        <p:spPr>
          <a:xfrm>
            <a:off x="3238500" y="2339429"/>
            <a:ext cx="6000750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未来展望</a:t>
            </a:r>
            <a:endParaRPr/>
          </a:p>
        </p:txBody>
      </p:sp>
      <p:sp>
        <p:nvSpPr>
          <p:cNvPr id="331" name="Google Shape;331;p34"/>
          <p:cNvSpPr txBox="1"/>
          <p:nvPr/>
        </p:nvSpPr>
        <p:spPr>
          <a:xfrm>
            <a:off x="3238500" y="2819400"/>
            <a:ext cx="5715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 Light"/>
                <a:ea typeface="Lato Light"/>
                <a:cs typeface="Lato Light"/>
                <a:sym typeface="Lato Light"/>
              </a:rPr>
              <a:t>GAN vs. Diffusion Models</a:t>
            </a:r>
            <a:endParaRPr/>
          </a:p>
        </p:txBody>
      </p:sp>
      <p:sp>
        <p:nvSpPr>
          <p:cNvPr id="332" name="Google Shape;332;p34"/>
          <p:cNvSpPr txBox="1"/>
          <p:nvPr/>
        </p:nvSpPr>
        <p:spPr>
          <a:xfrm>
            <a:off x="3238500" y="3413670"/>
            <a:ext cx="5715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 Light"/>
                <a:ea typeface="Lato Light"/>
                <a:cs typeface="Lato Light"/>
                <a:sym typeface="Lato Light"/>
              </a:rPr>
              <a:t>虽然扩散模型在多样性上占据优势，但 GAN 凭借毫秒级的推理速度和精确的隐空间编辑能力，在实时渲染与边缘计算领域依然不可替代。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5"/>
          <p:cNvSpPr/>
          <p:nvPr/>
        </p:nvSpPr>
        <p:spPr>
          <a:xfrm>
            <a:off x="762000" y="1700510"/>
            <a:ext cx="10668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35"/>
          <p:cNvSpPr/>
          <p:nvPr/>
        </p:nvSpPr>
        <p:spPr>
          <a:xfrm>
            <a:off x="762000" y="2485280"/>
            <a:ext cx="10668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35"/>
          <p:cNvSpPr/>
          <p:nvPr/>
        </p:nvSpPr>
        <p:spPr>
          <a:xfrm>
            <a:off x="762000" y="3270051"/>
            <a:ext cx="10668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5"/>
          <p:cNvSpPr/>
          <p:nvPr/>
        </p:nvSpPr>
        <p:spPr>
          <a:xfrm>
            <a:off x="762000" y="4054822"/>
            <a:ext cx="10668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35"/>
          <p:cNvSpPr/>
          <p:nvPr/>
        </p:nvSpPr>
        <p:spPr>
          <a:xfrm>
            <a:off x="762000" y="4839592"/>
            <a:ext cx="10668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35"/>
          <p:cNvSpPr/>
          <p:nvPr/>
        </p:nvSpPr>
        <p:spPr>
          <a:xfrm>
            <a:off x="762000" y="2475755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5"/>
          <p:cNvSpPr/>
          <p:nvPr/>
        </p:nvSpPr>
        <p:spPr>
          <a:xfrm>
            <a:off x="762000" y="2475755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35"/>
          <p:cNvSpPr/>
          <p:nvPr/>
        </p:nvSpPr>
        <p:spPr>
          <a:xfrm>
            <a:off x="762000" y="3260526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5"/>
          <p:cNvSpPr/>
          <p:nvPr/>
        </p:nvSpPr>
        <p:spPr>
          <a:xfrm>
            <a:off x="762000" y="3260526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35"/>
          <p:cNvSpPr/>
          <p:nvPr/>
        </p:nvSpPr>
        <p:spPr>
          <a:xfrm>
            <a:off x="762000" y="4045297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35"/>
          <p:cNvSpPr/>
          <p:nvPr/>
        </p:nvSpPr>
        <p:spPr>
          <a:xfrm>
            <a:off x="762000" y="4045297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5"/>
          <p:cNvSpPr/>
          <p:nvPr/>
        </p:nvSpPr>
        <p:spPr>
          <a:xfrm>
            <a:off x="762000" y="4830067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5"/>
          <p:cNvSpPr/>
          <p:nvPr/>
        </p:nvSpPr>
        <p:spPr>
          <a:xfrm>
            <a:off x="762000" y="4830067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35"/>
          <p:cNvSpPr/>
          <p:nvPr/>
        </p:nvSpPr>
        <p:spPr>
          <a:xfrm>
            <a:off x="762000" y="5614838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35"/>
          <p:cNvSpPr/>
          <p:nvPr/>
        </p:nvSpPr>
        <p:spPr>
          <a:xfrm>
            <a:off x="762000" y="5614838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52" name="Google Shape;35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84993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35"/>
          <p:cNvSpPr txBox="1"/>
          <p:nvPr/>
        </p:nvSpPr>
        <p:spPr>
          <a:xfrm>
            <a:off x="1857375" y="1843385"/>
            <a:ext cx="9572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Lato Light"/>
                <a:ea typeface="Lato Light"/>
                <a:cs typeface="Lato Light"/>
                <a:sym typeface="Lato Light"/>
              </a:rPr>
              <a:t>https://developers.google.com/static/machine-learning/gan/images/gan_diagram_discriminator.svg</a:t>
            </a:r>
            <a:endParaRPr/>
          </a:p>
        </p:txBody>
      </p:sp>
      <p:sp>
        <p:nvSpPr>
          <p:cNvPr id="354" name="Google Shape;354;p35"/>
          <p:cNvSpPr txBox="1"/>
          <p:nvPr/>
        </p:nvSpPr>
        <p:spPr>
          <a:xfrm>
            <a:off x="1857375" y="2089100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Lato Light"/>
                <a:ea typeface="Lato Light"/>
                <a:cs typeface="Lato Light"/>
                <a:sym typeface="Lato Ligh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 Light"/>
                <a:ea typeface="Lato Light"/>
                <a:cs typeface="Lato Light"/>
                <a:sym typeface="Lato Light"/>
              </a:rPr>
              <a:t>developers.google.com</a:t>
            </a:r>
            <a:endParaRPr/>
          </a:p>
        </p:txBody>
      </p:sp>
      <p:pic>
        <p:nvPicPr>
          <p:cNvPr descr="image.png" id="355" name="Google Shape;355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63470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5"/>
          <p:cNvSpPr txBox="1"/>
          <p:nvPr/>
        </p:nvSpPr>
        <p:spPr>
          <a:xfrm>
            <a:off x="1857375" y="2628155"/>
            <a:ext cx="9572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Lato Light"/>
                <a:ea typeface="Lato Light"/>
                <a:cs typeface="Lato Light"/>
                <a:sym typeface="Lato Light"/>
              </a:rPr>
              <a:t>https://docs.pytorch.org/tutorials/_images/dcgan_generator.png</a:t>
            </a:r>
            <a:endParaRPr/>
          </a:p>
        </p:txBody>
      </p:sp>
      <p:sp>
        <p:nvSpPr>
          <p:cNvPr id="357" name="Google Shape;357;p35"/>
          <p:cNvSpPr txBox="1"/>
          <p:nvPr/>
        </p:nvSpPr>
        <p:spPr>
          <a:xfrm>
            <a:off x="1857375" y="2873871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Lato Light"/>
                <a:ea typeface="Lato Light"/>
                <a:cs typeface="Lato Light"/>
                <a:sym typeface="Lato Ligh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 Light"/>
                <a:ea typeface="Lato Light"/>
                <a:cs typeface="Lato Light"/>
                <a:sym typeface="Lato Light"/>
              </a:rPr>
              <a:t>docs.pytorch.org</a:t>
            </a:r>
            <a:endParaRPr/>
          </a:p>
        </p:txBody>
      </p:sp>
      <p:pic>
        <p:nvPicPr>
          <p:cNvPr descr="image.png" id="358" name="Google Shape;358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4194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5"/>
          <p:cNvSpPr txBox="1"/>
          <p:nvPr/>
        </p:nvSpPr>
        <p:spPr>
          <a:xfrm>
            <a:off x="1857375" y="3412926"/>
            <a:ext cx="9572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Lato Light"/>
                <a:ea typeface="Lato Light"/>
                <a:cs typeface="Lato Light"/>
                <a:sym typeface="Lato Light"/>
              </a:rPr>
              <a:t>https://figures.semanticscholar.org/499aa76aa64e598a60932a6a61b4f22c38e3432a/71-Figure4.8-1.png</a:t>
            </a:r>
            <a:endParaRPr/>
          </a:p>
        </p:txBody>
      </p:sp>
      <p:sp>
        <p:nvSpPr>
          <p:cNvPr id="360" name="Google Shape;360;p35"/>
          <p:cNvSpPr txBox="1"/>
          <p:nvPr/>
        </p:nvSpPr>
        <p:spPr>
          <a:xfrm>
            <a:off x="1857375" y="3658641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Lato Light"/>
                <a:ea typeface="Lato Light"/>
                <a:cs typeface="Lato Light"/>
                <a:sym typeface="Lato Ligh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 Light"/>
                <a:ea typeface="Lato Light"/>
                <a:cs typeface="Lato Light"/>
                <a:sym typeface="Lato Light"/>
              </a:rPr>
              <a:t>www.semanticscholar.org</a:t>
            </a:r>
            <a:endParaRPr/>
          </a:p>
        </p:txBody>
      </p:sp>
      <p:pic>
        <p:nvPicPr>
          <p:cNvPr descr="image.png" id="361" name="Google Shape;361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20424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5"/>
          <p:cNvSpPr txBox="1"/>
          <p:nvPr/>
        </p:nvSpPr>
        <p:spPr>
          <a:xfrm>
            <a:off x="1857375" y="4197697"/>
            <a:ext cx="9572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Lato Light"/>
                <a:ea typeface="Lato Light"/>
                <a:cs typeface="Lato Light"/>
                <a:sym typeface="Lato Light"/>
              </a:rPr>
              <a:t>https://neurohive.io/wp-content/uploads/2018/11/Capture-14-770x313.jpg</a:t>
            </a:r>
            <a:endParaRPr/>
          </a:p>
        </p:txBody>
      </p:sp>
      <p:sp>
        <p:nvSpPr>
          <p:cNvPr id="363" name="Google Shape;363;p35"/>
          <p:cNvSpPr txBox="1"/>
          <p:nvPr/>
        </p:nvSpPr>
        <p:spPr>
          <a:xfrm>
            <a:off x="1857375" y="4443412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Lato Light"/>
                <a:ea typeface="Lato Light"/>
                <a:cs typeface="Lato Light"/>
                <a:sym typeface="Lato Ligh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 Light"/>
                <a:ea typeface="Lato Light"/>
                <a:cs typeface="Lato Light"/>
                <a:sym typeface="Lato Light"/>
              </a:rPr>
              <a:t>neurohive.io</a:t>
            </a:r>
            <a:endParaRPr/>
          </a:p>
        </p:txBody>
      </p:sp>
      <p:pic>
        <p:nvPicPr>
          <p:cNvPr descr="image.png" id="364" name="Google Shape;364;p3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498901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35"/>
          <p:cNvSpPr txBox="1"/>
          <p:nvPr/>
        </p:nvSpPr>
        <p:spPr>
          <a:xfrm>
            <a:off x="1857375" y="4982467"/>
            <a:ext cx="9572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Lato Light"/>
                <a:ea typeface="Lato Light"/>
                <a:cs typeface="Lato Light"/>
                <a:sym typeface="Lato Light"/>
              </a:rPr>
              <a:t>https://theaisummer.com/static/2c373d3667071700748bf451c4e62b78/3accd/long-skip-connection.jpg</a:t>
            </a:r>
            <a:endParaRPr/>
          </a:p>
        </p:txBody>
      </p:sp>
      <p:sp>
        <p:nvSpPr>
          <p:cNvPr id="366" name="Google Shape;366;p35"/>
          <p:cNvSpPr txBox="1"/>
          <p:nvPr/>
        </p:nvSpPr>
        <p:spPr>
          <a:xfrm>
            <a:off x="1857375" y="5228183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Lato Light"/>
                <a:ea typeface="Lato Light"/>
                <a:cs typeface="Lato Light"/>
                <a:sym typeface="Lato Ligh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 Light"/>
                <a:ea typeface="Lato Light"/>
                <a:cs typeface="Lato Light"/>
                <a:sym typeface="Lato Light"/>
              </a:rPr>
              <a:t>theaisummer.com</a:t>
            </a:r>
            <a:endParaRPr/>
          </a:p>
        </p:txBody>
      </p:sp>
      <p:pic>
        <p:nvPicPr>
          <p:cNvPr descr="image.png" id="367" name="Google Shape;367;p3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57737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35"/>
          <p:cNvSpPr txBox="1"/>
          <p:nvPr/>
        </p:nvSpPr>
        <p:spPr>
          <a:xfrm>
            <a:off x="1857375" y="5767238"/>
            <a:ext cx="9572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Lato Light"/>
                <a:ea typeface="Lato Light"/>
                <a:cs typeface="Lato Light"/>
                <a:sym typeface="Lato Light"/>
              </a:rPr>
              <a:t>https://viso.ai/wp-content/uploads/2024/07/cycle-loss.jpg</a:t>
            </a:r>
            <a:endParaRPr/>
          </a:p>
        </p:txBody>
      </p:sp>
      <p:sp>
        <p:nvSpPr>
          <p:cNvPr id="369" name="Google Shape;369;p35"/>
          <p:cNvSpPr txBox="1"/>
          <p:nvPr/>
        </p:nvSpPr>
        <p:spPr>
          <a:xfrm>
            <a:off x="1857375" y="6012953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Lato Light"/>
                <a:ea typeface="Lato Light"/>
                <a:cs typeface="Lato Light"/>
                <a:sym typeface="Lato Ligh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 Light"/>
                <a:ea typeface="Lato Light"/>
                <a:cs typeface="Lato Light"/>
                <a:sym typeface="Lato Light"/>
              </a:rPr>
              <a:t>viso.ai</a:t>
            </a:r>
            <a:endParaRPr/>
          </a:p>
        </p:txBody>
      </p:sp>
      <p:sp>
        <p:nvSpPr>
          <p:cNvPr id="370" name="Google Shape;370;p35"/>
          <p:cNvSpPr txBox="1"/>
          <p:nvPr/>
        </p:nvSpPr>
        <p:spPr>
          <a:xfrm>
            <a:off x="1047750" y="458539"/>
            <a:ext cx="10901362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Image Sources</a:t>
            </a:r>
            <a:endParaRPr/>
          </a:p>
        </p:txBody>
      </p:sp>
      <p:sp>
        <p:nvSpPr>
          <p:cNvPr id="371" name="Google Shape;371;p35"/>
          <p:cNvSpPr/>
          <p:nvPr/>
        </p:nvSpPr>
        <p:spPr>
          <a:xfrm>
            <a:off x="762000" y="458539"/>
            <a:ext cx="47625" cy="67047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6"/>
          <p:cNvSpPr/>
          <p:nvPr/>
        </p:nvSpPr>
        <p:spPr>
          <a:xfrm>
            <a:off x="762000" y="3269902"/>
            <a:ext cx="10668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6"/>
          <p:cNvSpPr/>
          <p:nvPr/>
        </p:nvSpPr>
        <p:spPr>
          <a:xfrm>
            <a:off x="762000" y="4045148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6"/>
          <p:cNvSpPr/>
          <p:nvPr/>
        </p:nvSpPr>
        <p:spPr>
          <a:xfrm>
            <a:off x="762000" y="4045148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79" name="Google Shape;37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341932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36"/>
          <p:cNvSpPr txBox="1"/>
          <p:nvPr/>
        </p:nvSpPr>
        <p:spPr>
          <a:xfrm>
            <a:off x="1857375" y="3412777"/>
            <a:ext cx="9572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Lato Light"/>
                <a:ea typeface="Lato Light"/>
                <a:cs typeface="Lato Light"/>
                <a:sym typeface="Lato Light"/>
              </a:rPr>
              <a:t>https://www.tensorflow.org/static/tutorials/generative/images/horse2zebra_2.png</a:t>
            </a:r>
            <a:endParaRPr/>
          </a:p>
        </p:txBody>
      </p:sp>
      <p:sp>
        <p:nvSpPr>
          <p:cNvPr id="381" name="Google Shape;381;p36"/>
          <p:cNvSpPr txBox="1"/>
          <p:nvPr/>
        </p:nvSpPr>
        <p:spPr>
          <a:xfrm>
            <a:off x="1857375" y="3658492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Lato Light"/>
                <a:ea typeface="Lato Light"/>
                <a:cs typeface="Lato Light"/>
                <a:sym typeface="Lato Ligh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 Light"/>
                <a:ea typeface="Lato Light"/>
                <a:cs typeface="Lato Light"/>
                <a:sym typeface="Lato Light"/>
              </a:rPr>
              <a:t>www.tensorflow.org</a:t>
            </a:r>
            <a:endParaRPr/>
          </a:p>
        </p:txBody>
      </p:sp>
      <p:pic>
        <p:nvPicPr>
          <p:cNvPr descr="image.png" id="382" name="Google Shape;382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20409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36"/>
          <p:cNvSpPr txBox="1"/>
          <p:nvPr/>
        </p:nvSpPr>
        <p:spPr>
          <a:xfrm>
            <a:off x="1857375" y="4197548"/>
            <a:ext cx="9572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Lato Light"/>
                <a:ea typeface="Lato Light"/>
                <a:cs typeface="Lato Light"/>
                <a:sym typeface="Lato Light"/>
              </a:rPr>
              <a:t>https://miro.medium.com/1*dhXsTa5zOVk79AowpMHKbg.png</a:t>
            </a:r>
            <a:endParaRPr/>
          </a:p>
        </p:txBody>
      </p:sp>
      <p:sp>
        <p:nvSpPr>
          <p:cNvPr id="384" name="Google Shape;384;p36"/>
          <p:cNvSpPr txBox="1"/>
          <p:nvPr/>
        </p:nvSpPr>
        <p:spPr>
          <a:xfrm>
            <a:off x="1857375" y="4443263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Lato Light"/>
                <a:ea typeface="Lato Light"/>
                <a:cs typeface="Lato Light"/>
                <a:sym typeface="Lato Ligh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 Light"/>
                <a:ea typeface="Lato Light"/>
                <a:cs typeface="Lato Light"/>
                <a:sym typeface="Lato Light"/>
              </a:rPr>
              <a:t>medium.com</a:t>
            </a:r>
            <a:endParaRPr/>
          </a:p>
        </p:txBody>
      </p:sp>
      <p:sp>
        <p:nvSpPr>
          <p:cNvPr id="385" name="Google Shape;385;p36"/>
          <p:cNvSpPr txBox="1"/>
          <p:nvPr/>
        </p:nvSpPr>
        <p:spPr>
          <a:xfrm>
            <a:off x="1047750" y="762000"/>
            <a:ext cx="10901362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Image Sources</a:t>
            </a:r>
            <a:endParaRPr/>
          </a:p>
        </p:txBody>
      </p:sp>
      <p:sp>
        <p:nvSpPr>
          <p:cNvPr id="386" name="Google Shape;386;p36"/>
          <p:cNvSpPr/>
          <p:nvPr/>
        </p:nvSpPr>
        <p:spPr>
          <a:xfrm>
            <a:off x="762000" y="762000"/>
            <a:ext cx="47625" cy="67047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