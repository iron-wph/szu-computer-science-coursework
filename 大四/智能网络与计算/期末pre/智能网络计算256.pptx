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3" r:id="rId2"/>
    <p:sldId id="294" r:id="rId3"/>
    <p:sldId id="268" r:id="rId4"/>
    <p:sldId id="261" r:id="rId5"/>
    <p:sldId id="271" r:id="rId6"/>
    <p:sldId id="262" r:id="rId7"/>
    <p:sldId id="272" r:id="rId8"/>
    <p:sldId id="273" r:id="rId9"/>
    <p:sldId id="275" r:id="rId10"/>
    <p:sldId id="276" r:id="rId11"/>
    <p:sldId id="277" r:id="rId12"/>
    <p:sldId id="280" r:id="rId13"/>
    <p:sldId id="281" r:id="rId14"/>
    <p:sldId id="282" r:id="rId15"/>
    <p:sldId id="283" r:id="rId16"/>
    <p:sldId id="278" r:id="rId17"/>
    <p:sldId id="286" r:id="rId18"/>
    <p:sldId id="285" r:id="rId19"/>
    <p:sldId id="287" r:id="rId20"/>
    <p:sldId id="288" r:id="rId21"/>
    <p:sldId id="289" r:id="rId22"/>
    <p:sldId id="291" r:id="rId23"/>
    <p:sldId id="290" r:id="rId24"/>
    <p:sldId id="292"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0041"/>
    <a:srgbClr val="940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4612"/>
  </p:normalViewPr>
  <p:slideViewPr>
    <p:cSldViewPr snapToGrid="0" showGuides="1">
      <p:cViewPr varScale="1">
        <p:scale>
          <a:sx n="114" d="100"/>
          <a:sy n="114" d="100"/>
        </p:scale>
        <p:origin x="1776" y="1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2025/12/7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2025/12/7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2025/12/7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10D25FF6-7AC4-49C7-9C4D-F7CD10F7C8E3}" type="datetimeFigureOut">
              <a:rPr lang="zh-CN" altLang="en-US" smtClean="0"/>
              <a:t>2025/12/7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10D25FF6-7AC4-49C7-9C4D-F7CD10F7C8E3}" type="datetimeFigureOut">
              <a:rPr lang="zh-CN" altLang="en-US" smtClean="0"/>
              <a:t>2025/12/7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0D25FF6-7AC4-49C7-9C4D-F7CD10F7C8E3}" type="datetimeFigureOut">
              <a:rPr lang="zh-CN" altLang="en-US" smtClean="0"/>
              <a:t>2025/12/7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0D25FF6-7AC4-49C7-9C4D-F7CD10F7C8E3}" type="datetimeFigureOut">
              <a:rPr lang="zh-CN" altLang="en-US" smtClean="0"/>
              <a:t>2025/12/7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2025/12/7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10D25FF6-7AC4-49C7-9C4D-F7CD10F7C8E3}" type="datetimeFigureOut">
              <a:rPr lang="zh-CN" altLang="en-US" smtClean="0"/>
              <a:t>2025/12/7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0D25FF6-7AC4-49C7-9C4D-F7CD10F7C8E3}" type="datetimeFigureOut">
              <a:rPr lang="zh-CN" altLang="en-US" smtClean="0"/>
              <a:t>2025/12/7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D25FF6-7AC4-49C7-9C4D-F7CD10F7C8E3}" type="datetimeFigureOut">
              <a:rPr lang="zh-CN" altLang="en-US" smtClean="0"/>
              <a:t>2025/12/7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8417F-7526-485E-AE3C-3E2AE40A04C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F047-FF2D-0D0D-037B-29B3BE074B42}"/>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5A34512A-AF96-18F7-0BB1-72E920541562}"/>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60921B6E-F6F4-D057-66AB-D149A84DDEF1}"/>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1EDE889D-2BAF-4C5B-20D6-5F2E7494808B}"/>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A5EBC7C7-724E-0A1E-65F8-560A7F331DCF}"/>
              </a:ext>
            </a:extLst>
          </p:cNvPr>
          <p:cNvSpPr txBox="1"/>
          <p:nvPr/>
        </p:nvSpPr>
        <p:spPr>
          <a:xfrm>
            <a:off x="5038288" y="2819385"/>
            <a:ext cx="5716774" cy="1200329"/>
          </a:xfrm>
          <a:prstGeom prst="rect">
            <a:avLst/>
          </a:prstGeom>
          <a:noFill/>
        </p:spPr>
        <p:txBody>
          <a:bodyPr wrap="square" rtlCol="0">
            <a:spAutoFit/>
          </a:bodyPr>
          <a:lstStyle/>
          <a:p>
            <a:pPr algn="dist"/>
            <a:r>
              <a:rPr lang="zh-CN" altLang="en-US" sz="7200" b="1" dirty="0">
                <a:solidFill>
                  <a:schemeClr val="accent1"/>
                </a:solidFill>
                <a:latin typeface="宋体" panose="02010600030101010101" pitchFamily="2" charset="-122"/>
                <a:ea typeface="宋体" panose="02010600030101010101" pitchFamily="2" charset="-122"/>
              </a:rPr>
              <a:t>相关研究综述</a:t>
            </a:r>
          </a:p>
        </p:txBody>
      </p:sp>
      <p:grpSp>
        <p:nvGrpSpPr>
          <p:cNvPr id="3" name="组合 2">
            <a:extLst>
              <a:ext uri="{FF2B5EF4-FFF2-40B4-BE49-F238E27FC236}">
                <a16:creationId xmlns:a16="http://schemas.microsoft.com/office/drawing/2014/main" id="{760B5E5A-6AA8-15BD-9D5A-BFBE9DF01AF1}"/>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724BCC4E-EA85-3F0A-02D6-AC4F08DE46B5}"/>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宋体" panose="02010600030101010101" pitchFamily="2" charset="-122"/>
                  <a:ea typeface="宋体" panose="02010600030101010101" pitchFamily="2" charset="-122"/>
                </a:rPr>
                <a:t>壹</a:t>
              </a:r>
            </a:p>
          </p:txBody>
        </p:sp>
        <p:pic>
          <p:nvPicPr>
            <p:cNvPr id="7" name="图片 6">
              <a:extLst>
                <a:ext uri="{FF2B5EF4-FFF2-40B4-BE49-F238E27FC236}">
                  <a16:creationId xmlns:a16="http://schemas.microsoft.com/office/drawing/2014/main" id="{1B525DDA-71AC-8EB7-89D4-1DB53BB58B66}"/>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344105D6-9318-ECC5-6DE2-CAB33D8B1815}"/>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17F97E2C-3196-30BD-3139-435EB19968E3}"/>
              </a:ext>
            </a:extLst>
          </p:cNvPr>
          <p:cNvPicPr>
            <a:picLocks noChangeAspect="1"/>
          </p:cNvPicPr>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Tree>
    <p:extLst>
      <p:ext uri="{BB962C8B-B14F-4D97-AF65-F5344CB8AC3E}">
        <p14:creationId xmlns:p14="http://schemas.microsoft.com/office/powerpoint/2010/main" val="2257856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1"/>
            <a:ext cx="3039569" cy="593132"/>
            <a:chOff x="1019925" y="1507763"/>
            <a:chExt cx="3039569" cy="593132"/>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6" y="1507763"/>
              <a:ext cx="2359188"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相关研究综述</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aphicFrame>
        <p:nvGraphicFramePr>
          <p:cNvPr id="6" name="表格 5">
            <a:extLst>
              <a:ext uri="{FF2B5EF4-FFF2-40B4-BE49-F238E27FC236}">
                <a16:creationId xmlns:a16="http://schemas.microsoft.com/office/drawing/2014/main" id="{47D33A6D-9360-FC38-5F5D-93BDB03EA0AC}"/>
              </a:ext>
            </a:extLst>
          </p:cNvPr>
          <p:cNvGraphicFramePr>
            <a:graphicFrameLocks noGrp="1"/>
          </p:cNvGraphicFramePr>
          <p:nvPr>
            <p:extLst>
              <p:ext uri="{D42A27DB-BD31-4B8C-83A1-F6EECF244321}">
                <p14:modId xmlns:p14="http://schemas.microsoft.com/office/powerpoint/2010/main" val="386084681"/>
              </p:ext>
            </p:extLst>
          </p:nvPr>
        </p:nvGraphicFramePr>
        <p:xfrm>
          <a:off x="976233" y="1131463"/>
          <a:ext cx="10239534" cy="4856744"/>
        </p:xfrm>
        <a:graphic>
          <a:graphicData uri="http://schemas.openxmlformats.org/drawingml/2006/table">
            <a:tbl>
              <a:tblPr>
                <a:tableStyleId>{5C22544A-7EE6-4342-B048-85BDC9FD1C3A}</a:tableStyleId>
              </a:tblPr>
              <a:tblGrid>
                <a:gridCol w="1706589">
                  <a:extLst>
                    <a:ext uri="{9D8B030D-6E8A-4147-A177-3AD203B41FA5}">
                      <a16:colId xmlns:a16="http://schemas.microsoft.com/office/drawing/2014/main" val="65588036"/>
                    </a:ext>
                  </a:extLst>
                </a:gridCol>
                <a:gridCol w="1706589">
                  <a:extLst>
                    <a:ext uri="{9D8B030D-6E8A-4147-A177-3AD203B41FA5}">
                      <a16:colId xmlns:a16="http://schemas.microsoft.com/office/drawing/2014/main" val="1059661074"/>
                    </a:ext>
                  </a:extLst>
                </a:gridCol>
                <a:gridCol w="1706589">
                  <a:extLst>
                    <a:ext uri="{9D8B030D-6E8A-4147-A177-3AD203B41FA5}">
                      <a16:colId xmlns:a16="http://schemas.microsoft.com/office/drawing/2014/main" val="2382616122"/>
                    </a:ext>
                  </a:extLst>
                </a:gridCol>
                <a:gridCol w="1706589">
                  <a:extLst>
                    <a:ext uri="{9D8B030D-6E8A-4147-A177-3AD203B41FA5}">
                      <a16:colId xmlns:a16="http://schemas.microsoft.com/office/drawing/2014/main" val="1009163437"/>
                    </a:ext>
                  </a:extLst>
                </a:gridCol>
                <a:gridCol w="1706589">
                  <a:extLst>
                    <a:ext uri="{9D8B030D-6E8A-4147-A177-3AD203B41FA5}">
                      <a16:colId xmlns:a16="http://schemas.microsoft.com/office/drawing/2014/main" val="2734687360"/>
                    </a:ext>
                  </a:extLst>
                </a:gridCol>
                <a:gridCol w="1706589">
                  <a:extLst>
                    <a:ext uri="{9D8B030D-6E8A-4147-A177-3AD203B41FA5}">
                      <a16:colId xmlns:a16="http://schemas.microsoft.com/office/drawing/2014/main" val="3685300741"/>
                    </a:ext>
                  </a:extLst>
                </a:gridCol>
              </a:tblGrid>
              <a:tr h="486388">
                <a:tc>
                  <a:txBody>
                    <a:bodyPr/>
                    <a:lstStyle/>
                    <a:p>
                      <a:pPr algn="l" fontAlgn="ctr">
                        <a:buNone/>
                      </a:pPr>
                      <a:r>
                        <a:rPr lang="zh-CN" altLang="en-US" sz="1400" u="none" strike="noStrike" dirty="0">
                          <a:effectLst/>
                        </a:rPr>
                        <a:t>主题</a:t>
                      </a:r>
                      <a:endParaRPr lang="zh-CN" altLang="en-US" sz="1400" b="1"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关键子类</a:t>
                      </a:r>
                      <a:endParaRPr lang="zh-CN" altLang="en-US" sz="1400" b="1"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主要文献</a:t>
                      </a:r>
                      <a:r>
                        <a:rPr lang="en-US" altLang="zh-CN" sz="1400" u="none" strike="noStrike">
                          <a:effectLst/>
                        </a:rPr>
                        <a:t>/</a:t>
                      </a:r>
                      <a:r>
                        <a:rPr lang="zh-CN" altLang="en-US" sz="1400" u="none" strike="noStrike">
                          <a:effectLst/>
                        </a:rPr>
                        <a:t>技术</a:t>
                      </a:r>
                      <a:endParaRPr lang="zh-CN" altLang="en-US" sz="1400" b="1"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优点</a:t>
                      </a:r>
                      <a:endParaRPr lang="zh-CN" altLang="en-US" sz="1400" b="1"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关键局限</a:t>
                      </a:r>
                      <a:endParaRPr lang="zh-CN" altLang="en-US" sz="1400" b="1"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 sz="1400" u="none" strike="noStrike">
                          <a:effectLst/>
                        </a:rPr>
                        <a:t>Ring-a-Pose </a:t>
                      </a:r>
                      <a:r>
                        <a:rPr lang="zh-CN" altLang="en-US" sz="1400" u="none" strike="noStrike">
                          <a:effectLst/>
                        </a:rPr>
                        <a:t>对应突破</a:t>
                      </a:r>
                      <a:endParaRPr lang="zh-CN" altLang="en-US" sz="1400" b="1"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9810510"/>
                  </a:ext>
                </a:extLst>
              </a:tr>
              <a:tr h="486388">
                <a:tc rowSpan="3">
                  <a:txBody>
                    <a:bodyPr/>
                    <a:lstStyle/>
                    <a:p>
                      <a:pPr algn="ctr" fontAlgn="ctr">
                        <a:buNone/>
                      </a:pPr>
                      <a:r>
                        <a:rPr lang="en" sz="1400" u="none" strike="noStrike" dirty="0">
                          <a:effectLst/>
                        </a:rPr>
                        <a:t>Hand Pose Sensing on Wearables</a:t>
                      </a:r>
                      <a:endParaRPr lang="en"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头戴</a:t>
                      </a:r>
                      <a:r>
                        <a:rPr lang="en-US" altLang="zh-CN" sz="1400" u="none" strike="noStrike">
                          <a:effectLst/>
                        </a:rPr>
                        <a:t>/</a:t>
                      </a:r>
                      <a:r>
                        <a:rPr lang="zh-CN" altLang="en-US" sz="1400" u="none" strike="noStrike">
                          <a:effectLst/>
                        </a:rPr>
                        <a:t>腕戴相机</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视角固定、无需手持</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衣袖遮挡、视角窄、不便日常</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戒指内位，免遮挡，随身穿</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2954866"/>
                  </a:ext>
                </a:extLst>
              </a:tr>
              <a:tr h="646139">
                <a:tc vMerge="1">
                  <a:txBody>
                    <a:bodyPr/>
                    <a:lstStyle/>
                    <a:p>
                      <a:endParaRPr lang="zh-CN" altLang="en-US"/>
                    </a:p>
                  </a:txBody>
                  <a:tcPr/>
                </a:tc>
                <a:tc>
                  <a:txBody>
                    <a:bodyPr/>
                    <a:lstStyle/>
                    <a:p>
                      <a:pPr algn="l" fontAlgn="ctr">
                        <a:buNone/>
                      </a:pPr>
                      <a:r>
                        <a:rPr lang="zh-CN" altLang="en-US" sz="1400" u="none" strike="noStrike" dirty="0">
                          <a:effectLst/>
                        </a:rPr>
                        <a:t>非视觉传感</a:t>
                      </a: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 sz="1400" u="none" strike="noStrike">
                          <a:effectLst/>
                        </a:rPr>
                        <a:t>IMU/EMG/</a:t>
                      </a:r>
                      <a:r>
                        <a:rPr lang="zh-CN" altLang="en-US" sz="1400" u="none" strike="noStrike">
                          <a:effectLst/>
                        </a:rPr>
                        <a:t>阻抗</a:t>
                      </a:r>
                      <a:r>
                        <a:rPr lang="en-US" altLang="zh-CN" sz="1400" u="none" strike="noStrike">
                          <a:effectLst/>
                        </a:rPr>
                        <a:t>/</a:t>
                      </a:r>
                      <a:r>
                        <a:rPr lang="zh-CN" altLang="en-US" sz="1400" u="none" strike="noStrike">
                          <a:effectLst/>
                        </a:rPr>
                        <a:t>相机腕带</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无光干扰</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跨用户差、需多设备、体积大</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单戒指 </a:t>
                      </a:r>
                      <a:r>
                        <a:rPr lang="en-US" altLang="zh-CN" sz="1400" u="none" strike="noStrike">
                          <a:effectLst/>
                        </a:rPr>
                        <a:t>148 </a:t>
                      </a:r>
                      <a:r>
                        <a:rPr lang="en" sz="1400" u="none" strike="noStrike">
                          <a:effectLst/>
                        </a:rPr>
                        <a:t>mW，</a:t>
                      </a:r>
                      <a:r>
                        <a:rPr lang="zh-CN" altLang="en-US" sz="1400" u="none" strike="noStrike">
                          <a:effectLst/>
                        </a:rPr>
                        <a:t>跨用户通用</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3222102"/>
                  </a:ext>
                </a:extLst>
              </a:tr>
              <a:tr h="646139">
                <a:tc vMerge="1">
                  <a:txBody>
                    <a:bodyPr/>
                    <a:lstStyle/>
                    <a:p>
                      <a:endParaRPr lang="zh-CN" altLang="en-US"/>
                    </a:p>
                  </a:txBody>
                  <a:tcPr/>
                </a:tc>
                <a:tc>
                  <a:txBody>
                    <a:bodyPr/>
                    <a:lstStyle/>
                    <a:p>
                      <a:pPr algn="l" fontAlgn="ctr">
                        <a:buNone/>
                      </a:pPr>
                      <a:r>
                        <a:rPr lang="zh-CN" altLang="en-US" sz="1400" u="none" strike="noStrike" dirty="0">
                          <a:effectLst/>
                        </a:rPr>
                        <a:t>连续 </a:t>
                      </a:r>
                      <a:r>
                        <a:rPr lang="en-US" altLang="zh-CN" sz="1400" u="none" strike="noStrike" dirty="0">
                          <a:effectLst/>
                        </a:rPr>
                        <a:t>3</a:t>
                      </a:r>
                      <a:r>
                        <a:rPr lang="en" sz="1400" u="none" strike="noStrike" dirty="0">
                          <a:effectLst/>
                        </a:rPr>
                        <a:t>D </a:t>
                      </a:r>
                      <a:r>
                        <a:rPr lang="zh-CN" altLang="en-US" sz="1400" u="none" strike="noStrike" dirty="0">
                          <a:effectLst/>
                        </a:rPr>
                        <a:t>姿态</a:t>
                      </a: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 sz="1400" u="none" strike="noStrike">
                          <a:effectLst/>
                        </a:rPr>
                        <a:t>ssLOTR 5 </a:t>
                      </a:r>
                      <a:r>
                        <a:rPr lang="zh-CN" altLang="en-US" sz="1400" u="none" strike="noStrike">
                          <a:effectLst/>
                        </a:rPr>
                        <a:t>戒指</a:t>
                      </a:r>
                      <a:r>
                        <a:rPr lang="en-US" altLang="zh-CN" sz="1400" u="none" strike="noStrike">
                          <a:effectLst/>
                        </a:rPr>
                        <a:t>+</a:t>
                      </a:r>
                      <a:r>
                        <a:rPr lang="zh-CN" altLang="en-US" sz="1400" u="none" strike="noStrike">
                          <a:effectLst/>
                        </a:rPr>
                        <a:t>腕带</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 sz="1400" u="none" strike="noStrike">
                          <a:effectLst/>
                        </a:rPr>
                        <a:t>6.55 mm </a:t>
                      </a:r>
                      <a:r>
                        <a:rPr lang="zh-CN" altLang="en-US" sz="1400" u="none" strike="noStrike">
                          <a:effectLst/>
                        </a:rPr>
                        <a:t>精度</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多设备负担</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首只单戒指 </a:t>
                      </a:r>
                      <a:r>
                        <a:rPr lang="en-US" altLang="zh-CN" sz="1400" u="none" strike="noStrike">
                          <a:effectLst/>
                        </a:rPr>
                        <a:t>14.1→10.3 </a:t>
                      </a:r>
                      <a:r>
                        <a:rPr lang="en" sz="1400" u="none" strike="noStrike">
                          <a:effectLst/>
                        </a:rPr>
                        <a:t>mm</a:t>
                      </a:r>
                      <a:endParaRPr lang="en" sz="1400" b="1"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6537862"/>
                  </a:ext>
                </a:extLst>
              </a:tr>
              <a:tr h="646139">
                <a:tc rowSpan="2">
                  <a:txBody>
                    <a:bodyPr/>
                    <a:lstStyle/>
                    <a:p>
                      <a:pPr algn="ctr" fontAlgn="ctr">
                        <a:buNone/>
                      </a:pPr>
                      <a:r>
                        <a:rPr lang="en" sz="1400" u="none" strike="noStrike">
                          <a:effectLst/>
                        </a:rPr>
                        <a:t>Acoustic Sensing on Wearables</a:t>
                      </a:r>
                      <a:endParaRPr lang="en"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dirty="0">
                          <a:effectLst/>
                        </a:rPr>
                        <a:t>腕带超声</a:t>
                      </a: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 sz="1400" u="none" strike="noStrike" dirty="0" err="1">
                          <a:effectLst/>
                        </a:rPr>
                        <a:t>EchoWrist</a:t>
                      </a:r>
                      <a:r>
                        <a:rPr lang="en" sz="1400" u="none" strike="noStrike" dirty="0">
                          <a:effectLst/>
                        </a:rPr>
                        <a:t> </a:t>
                      </a:r>
                      <a:r>
                        <a:rPr lang="zh-CN" altLang="en-US" sz="1400" u="none" strike="noStrike" dirty="0">
                          <a:effectLst/>
                        </a:rPr>
                        <a:t>双扬双麦</a:t>
                      </a: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 sz="1400" u="none" strike="noStrike">
                          <a:effectLst/>
                        </a:rPr>
                        <a:t>12.2 mm </a:t>
                      </a:r>
                      <a:r>
                        <a:rPr lang="zh-CN" altLang="en-US" sz="1400" u="none" strike="noStrike">
                          <a:effectLst/>
                        </a:rPr>
                        <a:t>误差</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双扬双麦，腕位视角差</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单扬单麦戒指，手势</a:t>
                      </a:r>
                      <a:r>
                        <a:rPr lang="en-US" altLang="zh-CN" sz="1400" u="none" strike="noStrike">
                          <a:effectLst/>
                        </a:rPr>
                        <a:t>-</a:t>
                      </a:r>
                      <a:r>
                        <a:rPr lang="zh-CN" altLang="en-US" sz="1400" u="none" strike="noStrike">
                          <a:effectLst/>
                        </a:rPr>
                        <a:t>回声直接</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8058055"/>
                  </a:ext>
                </a:extLst>
              </a:tr>
              <a:tr h="646139">
                <a:tc vMerge="1">
                  <a:txBody>
                    <a:bodyPr/>
                    <a:lstStyle/>
                    <a:p>
                      <a:endParaRPr lang="zh-CN" altLang="en-US"/>
                    </a:p>
                  </a:txBody>
                  <a:tcPr/>
                </a:tc>
                <a:tc>
                  <a:txBody>
                    <a:bodyPr/>
                    <a:lstStyle/>
                    <a:p>
                      <a:pPr algn="l" fontAlgn="ctr">
                        <a:buNone/>
                      </a:pPr>
                      <a:r>
                        <a:rPr lang="zh-CN" altLang="en-US" sz="1400" u="none" strike="noStrike">
                          <a:effectLst/>
                        </a:rPr>
                        <a:t>耳戴</a:t>
                      </a:r>
                      <a:r>
                        <a:rPr lang="en-US" altLang="zh-CN" sz="1400" u="none" strike="noStrike">
                          <a:effectLst/>
                        </a:rPr>
                        <a:t>/</a:t>
                      </a:r>
                      <a:r>
                        <a:rPr lang="zh-CN" altLang="en-US" sz="1400" u="none" strike="noStrike">
                          <a:effectLst/>
                        </a:rPr>
                        <a:t>头戴</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 sz="1400" u="none" strike="noStrike" dirty="0">
                          <a:effectLst/>
                        </a:rPr>
                        <a:t>EarIO </a:t>
                      </a:r>
                      <a:r>
                        <a:rPr lang="zh-CN" altLang="en-US" sz="1400" u="none" strike="noStrike" dirty="0">
                          <a:effectLst/>
                        </a:rPr>
                        <a:t>等</a:t>
                      </a: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dirty="0">
                          <a:effectLst/>
                        </a:rPr>
                        <a:t>面部追踪</a:t>
                      </a: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非手域</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首次把 </a:t>
                      </a:r>
                      <a:r>
                        <a:rPr lang="en" sz="1400" u="none" strike="noStrike">
                          <a:effectLst/>
                        </a:rPr>
                        <a:t>C-FMCW </a:t>
                      </a:r>
                      <a:r>
                        <a:rPr lang="zh-CN" altLang="en-US" sz="1400" u="none" strike="noStrike">
                          <a:effectLst/>
                        </a:rPr>
                        <a:t>用于戒指手姿</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5461187"/>
                  </a:ext>
                </a:extLst>
              </a:tr>
              <a:tr h="486388">
                <a:tc rowSpan="3">
                  <a:txBody>
                    <a:bodyPr/>
                    <a:lstStyle/>
                    <a:p>
                      <a:pPr algn="ctr" fontAlgn="ctr">
                        <a:buNone/>
                      </a:pPr>
                      <a:r>
                        <a:rPr lang="en" sz="1400" u="none" strike="noStrike">
                          <a:effectLst/>
                        </a:rPr>
                        <a:t>Sensing Rings</a:t>
                      </a:r>
                      <a:endParaRPr lang="en"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离散手势</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 sz="1400" u="none" strike="noStrike">
                          <a:effectLst/>
                        </a:rPr>
                        <a:t>ElectroRing/FingerPing</a:t>
                      </a:r>
                      <a:endParaRPr lang="en"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dirty="0">
                          <a:effectLst/>
                        </a:rPr>
                        <a:t>低功耗</a:t>
                      </a: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dirty="0">
                          <a:effectLst/>
                        </a:rPr>
                        <a:t>仅点击</a:t>
                      </a:r>
                      <a:r>
                        <a:rPr lang="en-US" altLang="zh-CN" sz="1400" u="none" strike="noStrike" dirty="0">
                          <a:effectLst/>
                        </a:rPr>
                        <a:t>/</a:t>
                      </a:r>
                      <a:r>
                        <a:rPr lang="zh-CN" altLang="en-US" sz="1400" u="none" strike="noStrike" dirty="0">
                          <a:effectLst/>
                        </a:rPr>
                        <a:t>单指</a:t>
                      </a: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连续 </a:t>
                      </a:r>
                      <a:r>
                        <a:rPr lang="en-US" altLang="zh-CN" sz="1400" u="none" strike="noStrike">
                          <a:effectLst/>
                        </a:rPr>
                        <a:t>20-</a:t>
                      </a:r>
                      <a:r>
                        <a:rPr lang="en" sz="1400" u="none" strike="noStrike">
                          <a:effectLst/>
                        </a:rPr>
                        <a:t>DoF </a:t>
                      </a:r>
                      <a:r>
                        <a:rPr lang="zh-CN" altLang="en-US" sz="1400" u="none" strike="noStrike">
                          <a:effectLst/>
                        </a:rPr>
                        <a:t>全手姿态</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4807295"/>
                  </a:ext>
                </a:extLst>
              </a:tr>
              <a:tr h="486388">
                <a:tc vMerge="1">
                  <a:txBody>
                    <a:bodyPr/>
                    <a:lstStyle/>
                    <a:p>
                      <a:endParaRPr lang="zh-CN" altLang="en-US"/>
                    </a:p>
                  </a:txBody>
                  <a:tcPr/>
                </a:tc>
                <a:tc>
                  <a:txBody>
                    <a:bodyPr/>
                    <a:lstStyle/>
                    <a:p>
                      <a:pPr algn="l" fontAlgn="ctr">
                        <a:buNone/>
                      </a:pPr>
                      <a:r>
                        <a:rPr lang="en" sz="1400" u="none" strike="noStrike">
                          <a:effectLst/>
                        </a:rPr>
                        <a:t>1D/2D </a:t>
                      </a:r>
                      <a:r>
                        <a:rPr lang="zh-CN" altLang="en-US" sz="1400" u="none" strike="noStrike">
                          <a:effectLst/>
                        </a:rPr>
                        <a:t>连续</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 sz="1400" u="none" strike="noStrike">
                          <a:effectLst/>
                        </a:rPr>
                        <a:t>EFRing/Z-Ring</a:t>
                      </a:r>
                      <a:endParaRPr lang="en"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单戒指</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dirty="0">
                          <a:effectLst/>
                        </a:rPr>
                        <a:t>仅一维滑动或 </a:t>
                      </a:r>
                      <a:r>
                        <a:rPr lang="en-US" altLang="zh-CN" sz="1400" u="none" strike="noStrike" dirty="0">
                          <a:effectLst/>
                        </a:rPr>
                        <a:t>9 </a:t>
                      </a:r>
                      <a:r>
                        <a:rPr lang="zh-CN" altLang="en-US" sz="1400" u="none" strike="noStrike" dirty="0">
                          <a:effectLst/>
                        </a:rPr>
                        <a:t>手势</a:t>
                      </a: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dirty="0">
                          <a:effectLst/>
                        </a:rPr>
                        <a:t>三维 </a:t>
                      </a:r>
                      <a:r>
                        <a:rPr lang="en-US" altLang="zh-CN" sz="1400" u="none" strike="noStrike" dirty="0">
                          <a:effectLst/>
                        </a:rPr>
                        <a:t>21 </a:t>
                      </a:r>
                      <a:r>
                        <a:rPr lang="zh-CN" altLang="en-US" sz="1400" u="none" strike="noStrike" dirty="0">
                          <a:effectLst/>
                        </a:rPr>
                        <a:t>关节坐标</a:t>
                      </a:r>
                      <a:endParaRPr lang="zh-CN" altLang="en-US" sz="1400" b="0"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9274577"/>
                  </a:ext>
                </a:extLst>
              </a:tr>
              <a:tr h="326636">
                <a:tc vMerge="1">
                  <a:txBody>
                    <a:bodyPr/>
                    <a:lstStyle/>
                    <a:p>
                      <a:endParaRPr lang="zh-CN" altLang="en-US"/>
                    </a:p>
                  </a:txBody>
                  <a:tcPr/>
                </a:tc>
                <a:tc>
                  <a:txBody>
                    <a:bodyPr/>
                    <a:lstStyle/>
                    <a:p>
                      <a:pPr algn="l" fontAlgn="ctr">
                        <a:buNone/>
                      </a:pPr>
                      <a:r>
                        <a:rPr lang="zh-CN" altLang="en-US" sz="1400" u="none" strike="noStrike">
                          <a:effectLst/>
                        </a:rPr>
                        <a:t>连续 </a:t>
                      </a:r>
                      <a:r>
                        <a:rPr lang="en-US" altLang="zh-CN" sz="1400" u="none" strike="noStrike">
                          <a:effectLst/>
                        </a:rPr>
                        <a:t>3</a:t>
                      </a:r>
                      <a:r>
                        <a:rPr lang="en" sz="1400" u="none" strike="noStrike">
                          <a:effectLst/>
                        </a:rPr>
                        <a:t>D </a:t>
                      </a:r>
                      <a:r>
                        <a:rPr lang="zh-CN" altLang="en-US" sz="1400" u="none" strike="noStrike">
                          <a:effectLst/>
                        </a:rPr>
                        <a:t>姿态</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altLang="zh-CN" sz="1400" u="none" strike="noStrike">
                          <a:effectLst/>
                        </a:rPr>
                        <a:t>—</a:t>
                      </a:r>
                      <a:endParaRPr lang="en-US" altLang="zh-CN"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无</a:t>
                      </a:r>
                      <a:endParaRPr lang="zh-CN" altLang="en-US" sz="1400" b="0"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a:effectLst/>
                        </a:rPr>
                        <a:t>尚属空白</a:t>
                      </a:r>
                      <a:endParaRPr lang="zh-CN" altLang="en-US" sz="1400" b="1" i="0" u="none" strike="noStrike">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CN" altLang="en-US" sz="1400" u="none" strike="noStrike" dirty="0">
                          <a:effectLst/>
                        </a:rPr>
                        <a:t>首次实现</a:t>
                      </a:r>
                      <a:endParaRPr lang="zh-CN" altLang="en-US" sz="1400" b="1" i="0" u="none" strike="noStrike" dirty="0">
                        <a:solidFill>
                          <a:srgbClr val="000000"/>
                        </a:solidFill>
                        <a:effectLst/>
                        <a:latin typeface="Inherit"/>
                        <a:ea typeface="等线" panose="02010600030101010101" pitchFamily="2" charset="-122"/>
                      </a:endParaRPr>
                    </a:p>
                  </a:txBody>
                  <a:tcPr marL="6390" marR="6390" marT="639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1205470"/>
                  </a:ext>
                </a:extLst>
              </a:tr>
            </a:tbl>
          </a:graphicData>
        </a:graphic>
      </p:graphicFrame>
    </p:spTree>
    <p:extLst>
      <p:ext uri="{BB962C8B-B14F-4D97-AF65-F5344CB8AC3E}">
        <p14:creationId xmlns:p14="http://schemas.microsoft.com/office/powerpoint/2010/main" val="4161308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5038288" y="2819385"/>
            <a:ext cx="5716774" cy="1200329"/>
          </a:xfrm>
          <a:prstGeom prst="rect">
            <a:avLst/>
          </a:prstGeom>
          <a:noFill/>
        </p:spPr>
        <p:txBody>
          <a:bodyPr wrap="square" rtlCol="0">
            <a:spAutoFit/>
          </a:bodyPr>
          <a:lstStyle/>
          <a:p>
            <a:pPr algn="dist"/>
            <a:r>
              <a:rPr lang="zh-CN" altLang="en-US" sz="7200" b="1" dirty="0">
                <a:solidFill>
                  <a:schemeClr val="accent1"/>
                </a:solidFill>
                <a:latin typeface="宋体" panose="02010600030101010101" pitchFamily="2" charset="-122"/>
                <a:ea typeface="宋体" panose="02010600030101010101" pitchFamily="2" charset="-122"/>
              </a:rPr>
              <a:t>佩戴手指对比</a:t>
            </a:r>
          </a:p>
        </p:txBody>
      </p:sp>
      <p:grpSp>
        <p:nvGrpSpPr>
          <p:cNvPr id="3" name="组合 2"/>
          <p:cNvGrpSpPr/>
          <p:nvPr/>
        </p:nvGrpSpPr>
        <p:grpSpPr>
          <a:xfrm>
            <a:off x="1104549" y="2523714"/>
            <a:ext cx="3816495" cy="1443647"/>
            <a:chOff x="1576991" y="2614329"/>
            <a:chExt cx="3816495" cy="1443647"/>
          </a:xfrm>
        </p:grpSpPr>
        <p:sp>
          <p:nvSpPr>
            <p:cNvPr id="9" name="文本框 8"/>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宋体" panose="02010600030101010101" pitchFamily="2" charset="-122"/>
                  <a:ea typeface="宋体" panose="02010600030101010101" pitchFamily="2" charset="-122"/>
                </a:rPr>
                <a:t>壹</a:t>
              </a:r>
            </a:p>
          </p:txBody>
        </p:sp>
        <p:pic>
          <p:nvPicPr>
            <p:cNvPr id="7" name="图片 6"/>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38529" y="112811"/>
            <a:ext cx="1957900" cy="593132"/>
            <a:chOff x="1019925" y="1507763"/>
            <a:chExt cx="1957900" cy="593132"/>
          </a:xfrm>
        </p:grpSpPr>
        <p:sp>
          <p:nvSpPr>
            <p:cNvPr id="4" name="文本框 3"/>
            <p:cNvSpPr txBox="1"/>
            <p:nvPr/>
          </p:nvSpPr>
          <p:spPr>
            <a:xfrm>
              <a:off x="1700306" y="1507763"/>
              <a:ext cx="1277519"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姿势集</a:t>
              </a:r>
            </a:p>
          </p:txBody>
        </p:sp>
        <p:pic>
          <p:nvPicPr>
            <p:cNvPr id="5" name="图片 4"/>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0" name="文本框 9"/>
          <p:cNvSpPr txBox="1"/>
          <p:nvPr/>
        </p:nvSpPr>
        <p:spPr>
          <a:xfrm>
            <a:off x="8415390" y="3176230"/>
            <a:ext cx="2902477" cy="276999"/>
          </a:xfrm>
          <a:prstGeom prst="rect">
            <a:avLst/>
          </a:prstGeom>
          <a:noFill/>
        </p:spPr>
        <p:txBody>
          <a:bodyPr wrap="square" lIns="0" tIns="0" rIns="0" bIns="0" rtlCol="0">
            <a:spAutoFit/>
          </a:bodyPr>
          <a:lstStyle/>
          <a:p>
            <a:r>
              <a:rPr kumimoji="1" lang="zh-CN" altLang="en-US" dirty="0">
                <a:solidFill>
                  <a:srgbClr val="B49400"/>
                </a:solidFill>
              </a:rPr>
              <a:t>四个单指动作</a:t>
            </a:r>
          </a:p>
        </p:txBody>
      </p:sp>
      <p:sp>
        <p:nvSpPr>
          <p:cNvPr id="11" name="文本框 10"/>
          <p:cNvSpPr txBox="1"/>
          <p:nvPr/>
        </p:nvSpPr>
        <p:spPr>
          <a:xfrm>
            <a:off x="8420859" y="2698051"/>
            <a:ext cx="2974340" cy="369332"/>
          </a:xfrm>
          <a:prstGeom prst="rect">
            <a:avLst/>
          </a:prstGeom>
          <a:noFill/>
        </p:spPr>
        <p:txBody>
          <a:bodyPr wrap="square" lIns="0" tIns="0" rIns="0" bIns="0" rtlCol="0">
            <a:spAutoFit/>
          </a:bodyPr>
          <a:lstStyle/>
          <a:p>
            <a:r>
              <a:rPr lang="zh-CN" altLang="en-US" sz="2400" b="1" dirty="0">
                <a:solidFill>
                  <a:schemeClr val="accent1"/>
                </a:solidFill>
                <a:latin typeface="+mj-ea"/>
                <a:ea typeface="+mj-ea"/>
              </a:rPr>
              <a:t>总共确定九个姿势</a:t>
            </a: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46" name="组合 45">
            <a:extLst>
              <a:ext uri="{FF2B5EF4-FFF2-40B4-BE49-F238E27FC236}">
                <a16:creationId xmlns:a16="http://schemas.microsoft.com/office/drawing/2014/main" id="{507335CE-EF70-FEB6-715D-A6A5CFFEC500}"/>
              </a:ext>
            </a:extLst>
          </p:cNvPr>
          <p:cNvGrpSpPr/>
          <p:nvPr/>
        </p:nvGrpSpPr>
        <p:grpSpPr>
          <a:xfrm>
            <a:off x="452352" y="931202"/>
            <a:ext cx="6688810" cy="5542156"/>
            <a:chOff x="138529" y="1007396"/>
            <a:chExt cx="6688810" cy="5542156"/>
          </a:xfrm>
        </p:grpSpPr>
        <p:pic>
          <p:nvPicPr>
            <p:cNvPr id="8" name="图片 7">
              <a:extLst>
                <a:ext uri="{FF2B5EF4-FFF2-40B4-BE49-F238E27FC236}">
                  <a16:creationId xmlns:a16="http://schemas.microsoft.com/office/drawing/2014/main" id="{4FB0DDC4-FB94-2E3D-EAF7-3C268B619FF9}"/>
                </a:ext>
              </a:extLst>
            </p:cNvPr>
            <p:cNvPicPr>
              <a:picLocks noChangeAspect="1"/>
            </p:cNvPicPr>
            <p:nvPr/>
          </p:nvPicPr>
          <p:blipFill>
            <a:blip r:embed="rId5"/>
            <a:stretch>
              <a:fillRect/>
            </a:stretch>
          </p:blipFill>
          <p:spPr>
            <a:xfrm>
              <a:off x="138529" y="1007396"/>
              <a:ext cx="6688810" cy="5542156"/>
            </a:xfrm>
            <a:prstGeom prst="rect">
              <a:avLst/>
            </a:prstGeom>
          </p:spPr>
        </p:pic>
        <p:sp>
          <p:nvSpPr>
            <p:cNvPr id="37" name="矩形 36">
              <a:extLst>
                <a:ext uri="{FF2B5EF4-FFF2-40B4-BE49-F238E27FC236}">
                  <a16:creationId xmlns:a16="http://schemas.microsoft.com/office/drawing/2014/main" id="{32C6300B-890D-6C83-7380-47AD73EEE1A3}"/>
                </a:ext>
              </a:extLst>
            </p:cNvPr>
            <p:cNvSpPr/>
            <p:nvPr/>
          </p:nvSpPr>
          <p:spPr>
            <a:xfrm>
              <a:off x="3232032" y="1007396"/>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C29B9361-4346-CA2D-A119-EF0B757277C4}"/>
                </a:ext>
              </a:extLst>
            </p:cNvPr>
            <p:cNvSpPr/>
            <p:nvPr/>
          </p:nvSpPr>
          <p:spPr>
            <a:xfrm>
              <a:off x="3830481" y="3778474"/>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F47C3AD4-AD15-9A63-8A73-28104DBF12C6}"/>
                </a:ext>
              </a:extLst>
            </p:cNvPr>
            <p:cNvSpPr/>
            <p:nvPr/>
          </p:nvSpPr>
          <p:spPr>
            <a:xfrm>
              <a:off x="4437261" y="3778474"/>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AAB90B23-52FA-B0F3-30D9-EA751CBD859E}"/>
                </a:ext>
              </a:extLst>
            </p:cNvPr>
            <p:cNvSpPr/>
            <p:nvPr/>
          </p:nvSpPr>
          <p:spPr>
            <a:xfrm>
              <a:off x="4983222" y="3778474"/>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FBD61F16-2972-8EF0-E5B5-FE1B5914F79F}"/>
                </a:ext>
              </a:extLst>
            </p:cNvPr>
            <p:cNvSpPr/>
            <p:nvPr/>
          </p:nvSpPr>
          <p:spPr>
            <a:xfrm>
              <a:off x="1480842"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291729E9-E7B9-A1AA-B421-6C32E366E8AE}"/>
                </a:ext>
              </a:extLst>
            </p:cNvPr>
            <p:cNvSpPr/>
            <p:nvPr/>
          </p:nvSpPr>
          <p:spPr>
            <a:xfrm>
              <a:off x="2677739"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87DC63D6-AD32-6EF3-BD08-64D0B151DDA5}"/>
                </a:ext>
              </a:extLst>
            </p:cNvPr>
            <p:cNvSpPr/>
            <p:nvPr/>
          </p:nvSpPr>
          <p:spPr>
            <a:xfrm>
              <a:off x="3830481"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矩形 43">
              <a:extLst>
                <a:ext uri="{FF2B5EF4-FFF2-40B4-BE49-F238E27FC236}">
                  <a16:creationId xmlns:a16="http://schemas.microsoft.com/office/drawing/2014/main" id="{3815F5F7-00D0-6362-6A5F-49D5E5935AE5}"/>
                </a:ext>
              </a:extLst>
            </p:cNvPr>
            <p:cNvSpPr/>
            <p:nvPr/>
          </p:nvSpPr>
          <p:spPr>
            <a:xfrm>
              <a:off x="4936374"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a:extLst>
                <a:ext uri="{FF2B5EF4-FFF2-40B4-BE49-F238E27FC236}">
                  <a16:creationId xmlns:a16="http://schemas.microsoft.com/office/drawing/2014/main" id="{11155859-4FDD-FB3D-8D29-71137C0A7FC0}"/>
                </a:ext>
              </a:extLst>
            </p:cNvPr>
            <p:cNvSpPr/>
            <p:nvPr/>
          </p:nvSpPr>
          <p:spPr>
            <a:xfrm>
              <a:off x="6149934"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48" name="文本框 47">
            <a:extLst>
              <a:ext uri="{FF2B5EF4-FFF2-40B4-BE49-F238E27FC236}">
                <a16:creationId xmlns:a16="http://schemas.microsoft.com/office/drawing/2014/main" id="{BC30424D-B054-7D1F-AF2C-1C0A4790888D}"/>
              </a:ext>
            </a:extLst>
          </p:cNvPr>
          <p:cNvSpPr txBox="1"/>
          <p:nvPr/>
        </p:nvSpPr>
        <p:spPr>
          <a:xfrm>
            <a:off x="8338060" y="3562077"/>
            <a:ext cx="3057139" cy="369332"/>
          </a:xfrm>
          <a:prstGeom prst="rect">
            <a:avLst/>
          </a:prstGeom>
          <a:noFill/>
        </p:spPr>
        <p:txBody>
          <a:bodyPr wrap="square">
            <a:spAutoFit/>
          </a:bodyPr>
          <a:lstStyle/>
          <a:p>
            <a:r>
              <a:rPr kumimoji="1" lang="zh-CN" altLang="en-US" dirty="0">
                <a:solidFill>
                  <a:srgbClr val="002060"/>
                </a:solidFill>
              </a:rPr>
              <a:t>五个复合指动作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28351-7390-DE3C-B222-115004F73AFC}"/>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12EF46BB-6A40-630A-1081-2DD47D86218F}"/>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CAE312F2-E7B5-683D-B14E-1B1707DDD4C1}"/>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2EC4FDDB-0E0F-347E-0C35-4252F1837F99}"/>
              </a:ext>
            </a:extLst>
          </p:cNvPr>
          <p:cNvGrpSpPr/>
          <p:nvPr/>
        </p:nvGrpSpPr>
        <p:grpSpPr>
          <a:xfrm>
            <a:off x="138529" y="112811"/>
            <a:ext cx="2325891" cy="593132"/>
            <a:chOff x="1019925" y="1507763"/>
            <a:chExt cx="2325891" cy="593132"/>
          </a:xfrm>
        </p:grpSpPr>
        <p:sp>
          <p:nvSpPr>
            <p:cNvPr id="4" name="文本框 3">
              <a:extLst>
                <a:ext uri="{FF2B5EF4-FFF2-40B4-BE49-F238E27FC236}">
                  <a16:creationId xmlns:a16="http://schemas.microsoft.com/office/drawing/2014/main" id="{91F3886D-B87B-79F9-064D-4E5B5D0A6A2A}"/>
                </a:ext>
              </a:extLst>
            </p:cNvPr>
            <p:cNvSpPr txBox="1"/>
            <p:nvPr/>
          </p:nvSpPr>
          <p:spPr>
            <a:xfrm>
              <a:off x="1700306" y="1507763"/>
              <a:ext cx="1645510"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建立过程</a:t>
              </a:r>
            </a:p>
          </p:txBody>
        </p:sp>
        <p:pic>
          <p:nvPicPr>
            <p:cNvPr id="5" name="图片 4">
              <a:extLst>
                <a:ext uri="{FF2B5EF4-FFF2-40B4-BE49-F238E27FC236}">
                  <a16:creationId xmlns:a16="http://schemas.microsoft.com/office/drawing/2014/main" id="{04EE3142-A4AF-73AB-F0E7-9A9886A09DF2}"/>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359EA048-E58C-1137-1919-2BC5F7F3D8FB}"/>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9C3F70A5-02C2-742C-2210-EA8DB6FAF18F}"/>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6" name="组合 5">
            <a:extLst>
              <a:ext uri="{FF2B5EF4-FFF2-40B4-BE49-F238E27FC236}">
                <a16:creationId xmlns:a16="http://schemas.microsoft.com/office/drawing/2014/main" id="{AF851E0F-EE37-D09F-5AD2-228F4B30CD61}"/>
              </a:ext>
            </a:extLst>
          </p:cNvPr>
          <p:cNvGrpSpPr/>
          <p:nvPr/>
        </p:nvGrpSpPr>
        <p:grpSpPr>
          <a:xfrm>
            <a:off x="356839" y="952033"/>
            <a:ext cx="5876693" cy="5644735"/>
            <a:chOff x="-632620" y="666273"/>
            <a:chExt cx="7170903" cy="6746042"/>
          </a:xfrm>
        </p:grpSpPr>
        <p:sp>
          <p:nvSpPr>
            <p:cNvPr id="7" name="矩形 6">
              <a:extLst>
                <a:ext uri="{FF2B5EF4-FFF2-40B4-BE49-F238E27FC236}">
                  <a16:creationId xmlns:a16="http://schemas.microsoft.com/office/drawing/2014/main" id="{BBA09704-6678-E791-2A67-9123BC7396A4}"/>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F7579EA0-5FF5-CCE2-3AD1-0B5EAAA64C10}"/>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C2026AB0-D39B-6E37-20C2-14C43EB52FDB}"/>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19242EC9-B3B9-FDFC-CF9C-6CB4593CAA69}"/>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15" name="组合 14">
              <a:extLst>
                <a:ext uri="{FF2B5EF4-FFF2-40B4-BE49-F238E27FC236}">
                  <a16:creationId xmlns:a16="http://schemas.microsoft.com/office/drawing/2014/main" id="{9D4B1C20-5E1C-EA0B-5A2F-B2F7C75B080A}"/>
                </a:ext>
              </a:extLst>
            </p:cNvPr>
            <p:cNvGrpSpPr/>
            <p:nvPr/>
          </p:nvGrpSpPr>
          <p:grpSpPr>
            <a:xfrm>
              <a:off x="-632620" y="1431998"/>
              <a:ext cx="6584185" cy="5980317"/>
              <a:chOff x="-820445" y="692302"/>
              <a:chExt cx="8391038" cy="6866710"/>
            </a:xfrm>
          </p:grpSpPr>
          <p:sp>
            <p:nvSpPr>
              <p:cNvPr id="16" name="左大括号 15">
                <a:extLst>
                  <a:ext uri="{FF2B5EF4-FFF2-40B4-BE49-F238E27FC236}">
                    <a16:creationId xmlns:a16="http://schemas.microsoft.com/office/drawing/2014/main" id="{75E77D0E-DCC4-3C93-E458-B66F8DBCCA26}"/>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7" name="文本框 16">
                <a:extLst>
                  <a:ext uri="{FF2B5EF4-FFF2-40B4-BE49-F238E27FC236}">
                    <a16:creationId xmlns:a16="http://schemas.microsoft.com/office/drawing/2014/main" id="{49F0490F-AF15-3930-65ED-BF6618CB31D9}"/>
                  </a:ext>
                </a:extLst>
              </p:cNvPr>
              <p:cNvSpPr txBox="1"/>
              <p:nvPr/>
            </p:nvSpPr>
            <p:spPr>
              <a:xfrm>
                <a:off x="3221884" y="7052200"/>
                <a:ext cx="1464038" cy="506812"/>
              </a:xfrm>
              <a:prstGeom prst="rect">
                <a:avLst/>
              </a:prstGeom>
              <a:noFill/>
            </p:spPr>
            <p:txBody>
              <a:bodyPr wrap="square" rtlCol="0">
                <a:spAutoFit/>
              </a:bodyPr>
              <a:lstStyle/>
              <a:p>
                <a:r>
                  <a:rPr kumimoji="1" lang="en-US" altLang="zh-CN" dirty="0"/>
                  <a:t>9</a:t>
                </a:r>
                <a:r>
                  <a:rPr kumimoji="1" lang="zh-CN" altLang="en-US" dirty="0"/>
                  <a:t> </a:t>
                </a:r>
                <a:r>
                  <a:rPr kumimoji="1" lang="en-US" altLang="zh-CN" dirty="0"/>
                  <a:t>×</a:t>
                </a:r>
                <a:r>
                  <a:rPr kumimoji="1" lang="zh-CN" altLang="en-US" dirty="0"/>
                  <a:t> </a:t>
                </a:r>
                <a:r>
                  <a:rPr kumimoji="1" lang="en-US" altLang="zh-CN" dirty="0"/>
                  <a:t>9</a:t>
                </a:r>
                <a:endParaRPr kumimoji="1" lang="zh-CN" altLang="en-US" dirty="0"/>
              </a:p>
            </p:txBody>
          </p:sp>
          <p:grpSp>
            <p:nvGrpSpPr>
              <p:cNvPr id="18" name="组合 17">
                <a:extLst>
                  <a:ext uri="{FF2B5EF4-FFF2-40B4-BE49-F238E27FC236}">
                    <a16:creationId xmlns:a16="http://schemas.microsoft.com/office/drawing/2014/main" id="{A1559057-35D9-2B12-1884-F19CA4ABCE1E}"/>
                  </a:ext>
                </a:extLst>
              </p:cNvPr>
              <p:cNvGrpSpPr/>
              <p:nvPr/>
            </p:nvGrpSpPr>
            <p:grpSpPr>
              <a:xfrm>
                <a:off x="591668" y="902393"/>
                <a:ext cx="6527801" cy="1156328"/>
                <a:chOff x="591668" y="902393"/>
                <a:chExt cx="6527801" cy="1156328"/>
              </a:xfrm>
            </p:grpSpPr>
            <p:pic>
              <p:nvPicPr>
                <p:cNvPr id="57" name="图片 56">
                  <a:extLst>
                    <a:ext uri="{FF2B5EF4-FFF2-40B4-BE49-F238E27FC236}">
                      <a16:creationId xmlns:a16="http://schemas.microsoft.com/office/drawing/2014/main" id="{44CB775B-FD85-EDED-5683-2CCDACE848B2}"/>
                    </a:ext>
                  </a:extLst>
                </p:cNvPr>
                <p:cNvPicPr>
                  <a:picLocks noChangeAspect="1"/>
                </p:cNvPicPr>
                <p:nvPr/>
              </p:nvPicPr>
              <p:blipFill>
                <a:blip r:embed="rId5"/>
                <a:srcRect t="6098"/>
                <a:stretch>
                  <a:fillRect/>
                </a:stretch>
              </p:blipFill>
              <p:spPr>
                <a:xfrm>
                  <a:off x="591668" y="902393"/>
                  <a:ext cx="812800" cy="1132934"/>
                </a:xfrm>
                <a:prstGeom prst="rect">
                  <a:avLst/>
                </a:prstGeom>
              </p:spPr>
            </p:pic>
            <p:pic>
              <p:nvPicPr>
                <p:cNvPr id="58" name="图片 57">
                  <a:extLst>
                    <a:ext uri="{FF2B5EF4-FFF2-40B4-BE49-F238E27FC236}">
                      <a16:creationId xmlns:a16="http://schemas.microsoft.com/office/drawing/2014/main" id="{033565DF-35E2-12E7-C043-612A1459B85F}"/>
                    </a:ext>
                  </a:extLst>
                </p:cNvPr>
                <p:cNvPicPr>
                  <a:picLocks noChangeAspect="1"/>
                </p:cNvPicPr>
                <p:nvPr/>
              </p:nvPicPr>
              <p:blipFill>
                <a:blip r:embed="rId6"/>
                <a:srcRect t="4545" r="65196"/>
                <a:stretch>
                  <a:fillRect/>
                </a:stretch>
              </p:blipFill>
              <p:spPr>
                <a:xfrm>
                  <a:off x="2610969" y="902393"/>
                  <a:ext cx="901700" cy="1081443"/>
                </a:xfrm>
                <a:prstGeom prst="rect">
                  <a:avLst/>
                </a:prstGeom>
              </p:spPr>
            </p:pic>
            <p:pic>
              <p:nvPicPr>
                <p:cNvPr id="59" name="图片 58">
                  <a:extLst>
                    <a:ext uri="{FF2B5EF4-FFF2-40B4-BE49-F238E27FC236}">
                      <a16:creationId xmlns:a16="http://schemas.microsoft.com/office/drawing/2014/main" id="{39C6524C-4299-4E6D-991F-28CF52300386}"/>
                    </a:ext>
                  </a:extLst>
                </p:cNvPr>
                <p:cNvPicPr>
                  <a:picLocks noChangeAspect="1"/>
                </p:cNvPicPr>
                <p:nvPr/>
              </p:nvPicPr>
              <p:blipFill>
                <a:blip r:embed="rId7"/>
                <a:srcRect t="6425"/>
                <a:stretch>
                  <a:fillRect/>
                </a:stretch>
              </p:blipFill>
              <p:spPr>
                <a:xfrm>
                  <a:off x="1556870" y="953885"/>
                  <a:ext cx="901700" cy="1081443"/>
                </a:xfrm>
                <a:prstGeom prst="rect">
                  <a:avLst/>
                </a:prstGeom>
              </p:spPr>
            </p:pic>
            <p:pic>
              <p:nvPicPr>
                <p:cNvPr id="60" name="图片 59">
                  <a:extLst>
                    <a:ext uri="{FF2B5EF4-FFF2-40B4-BE49-F238E27FC236}">
                      <a16:creationId xmlns:a16="http://schemas.microsoft.com/office/drawing/2014/main" id="{517CC8BD-3D58-6F97-6A66-2E1A9B4E5FC0}"/>
                    </a:ext>
                  </a:extLst>
                </p:cNvPr>
                <p:cNvPicPr>
                  <a:picLocks noChangeAspect="1"/>
                </p:cNvPicPr>
                <p:nvPr/>
              </p:nvPicPr>
              <p:blipFill>
                <a:blip r:embed="rId6"/>
                <a:srcRect l="34313" t="4545" r="31373"/>
                <a:stretch>
                  <a:fillRect/>
                </a:stretch>
              </p:blipFill>
              <p:spPr>
                <a:xfrm>
                  <a:off x="4528670" y="902393"/>
                  <a:ext cx="889001" cy="1081443"/>
                </a:xfrm>
                <a:prstGeom prst="rect">
                  <a:avLst/>
                </a:prstGeom>
              </p:spPr>
            </p:pic>
            <p:pic>
              <p:nvPicPr>
                <p:cNvPr id="61" name="图片 60">
                  <a:extLst>
                    <a:ext uri="{FF2B5EF4-FFF2-40B4-BE49-F238E27FC236}">
                      <a16:creationId xmlns:a16="http://schemas.microsoft.com/office/drawing/2014/main" id="{3FF7AE17-6C56-FFE1-213D-307CADC889DB}"/>
                    </a:ext>
                  </a:extLst>
                </p:cNvPr>
                <p:cNvPicPr>
                  <a:picLocks noChangeAspect="1"/>
                </p:cNvPicPr>
                <p:nvPr/>
              </p:nvPicPr>
              <p:blipFill>
                <a:blip r:embed="rId7"/>
                <a:srcRect t="4456"/>
                <a:stretch>
                  <a:fillRect/>
                </a:stretch>
              </p:blipFill>
              <p:spPr>
                <a:xfrm>
                  <a:off x="3544419" y="953885"/>
                  <a:ext cx="901700" cy="1104208"/>
                </a:xfrm>
                <a:prstGeom prst="rect">
                  <a:avLst/>
                </a:prstGeom>
              </p:spPr>
            </p:pic>
            <p:pic>
              <p:nvPicPr>
                <p:cNvPr id="63" name="图片 62">
                  <a:extLst>
                    <a:ext uri="{FF2B5EF4-FFF2-40B4-BE49-F238E27FC236}">
                      <a16:creationId xmlns:a16="http://schemas.microsoft.com/office/drawing/2014/main" id="{A57E2A4A-7BBA-16C8-FCBA-B48441930558}"/>
                    </a:ext>
                  </a:extLst>
                </p:cNvPr>
                <p:cNvPicPr>
                  <a:picLocks noChangeAspect="1"/>
                </p:cNvPicPr>
                <p:nvPr/>
              </p:nvPicPr>
              <p:blipFill>
                <a:blip r:embed="rId8"/>
                <a:stretch>
                  <a:fillRect/>
                </a:stretch>
              </p:blipFill>
              <p:spPr>
                <a:xfrm>
                  <a:off x="6319370" y="902393"/>
                  <a:ext cx="800099" cy="1117600"/>
                </a:xfrm>
                <a:prstGeom prst="rect">
                  <a:avLst/>
                </a:prstGeom>
              </p:spPr>
            </p:pic>
            <p:pic>
              <p:nvPicPr>
                <p:cNvPr id="64" name="图片 63">
                  <a:extLst>
                    <a:ext uri="{FF2B5EF4-FFF2-40B4-BE49-F238E27FC236}">
                      <a16:creationId xmlns:a16="http://schemas.microsoft.com/office/drawing/2014/main" id="{715CA17B-27DD-6DBC-02C2-9C2CE73FB079}"/>
                    </a:ext>
                  </a:extLst>
                </p:cNvPr>
                <p:cNvPicPr>
                  <a:picLocks noChangeAspect="1"/>
                </p:cNvPicPr>
                <p:nvPr/>
              </p:nvPicPr>
              <p:blipFill>
                <a:blip r:embed="rId7"/>
                <a:srcRect t="4456"/>
                <a:stretch>
                  <a:fillRect/>
                </a:stretch>
              </p:blipFill>
              <p:spPr>
                <a:xfrm>
                  <a:off x="5417671" y="954513"/>
                  <a:ext cx="901700" cy="1104208"/>
                </a:xfrm>
                <a:prstGeom prst="rect">
                  <a:avLst/>
                </a:prstGeom>
              </p:spPr>
            </p:pic>
          </p:grpSp>
          <p:grpSp>
            <p:nvGrpSpPr>
              <p:cNvPr id="19" name="组合 18">
                <a:extLst>
                  <a:ext uri="{FF2B5EF4-FFF2-40B4-BE49-F238E27FC236}">
                    <a16:creationId xmlns:a16="http://schemas.microsoft.com/office/drawing/2014/main" id="{4864F229-3B66-B8B2-5F40-F54184360576}"/>
                  </a:ext>
                </a:extLst>
              </p:cNvPr>
              <p:cNvGrpSpPr/>
              <p:nvPr/>
            </p:nvGrpSpPr>
            <p:grpSpPr>
              <a:xfrm>
                <a:off x="550305" y="3691766"/>
                <a:ext cx="6527800" cy="1156328"/>
                <a:chOff x="622877" y="1038308"/>
                <a:chExt cx="6527800" cy="1156328"/>
              </a:xfrm>
            </p:grpSpPr>
            <p:pic>
              <p:nvPicPr>
                <p:cNvPr id="50" name="图片 49">
                  <a:extLst>
                    <a:ext uri="{FF2B5EF4-FFF2-40B4-BE49-F238E27FC236}">
                      <a16:creationId xmlns:a16="http://schemas.microsoft.com/office/drawing/2014/main" id="{818551F4-0CB8-C191-7C49-13A244A97959}"/>
                    </a:ext>
                  </a:extLst>
                </p:cNvPr>
                <p:cNvPicPr>
                  <a:picLocks noChangeAspect="1"/>
                </p:cNvPicPr>
                <p:nvPr/>
              </p:nvPicPr>
              <p:blipFill>
                <a:blip r:embed="rId5"/>
                <a:srcRect t="6098"/>
                <a:stretch>
                  <a:fillRect/>
                </a:stretch>
              </p:blipFill>
              <p:spPr>
                <a:xfrm>
                  <a:off x="622877" y="1038308"/>
                  <a:ext cx="812800" cy="1132934"/>
                </a:xfrm>
                <a:prstGeom prst="rect">
                  <a:avLst/>
                </a:prstGeom>
              </p:spPr>
            </p:pic>
            <p:pic>
              <p:nvPicPr>
                <p:cNvPr id="51" name="图片 50">
                  <a:extLst>
                    <a:ext uri="{FF2B5EF4-FFF2-40B4-BE49-F238E27FC236}">
                      <a16:creationId xmlns:a16="http://schemas.microsoft.com/office/drawing/2014/main" id="{D0FA7CB7-CB6F-AE26-5915-167417461D06}"/>
                    </a:ext>
                  </a:extLst>
                </p:cNvPr>
                <p:cNvPicPr>
                  <a:picLocks noChangeAspect="1"/>
                </p:cNvPicPr>
                <p:nvPr/>
              </p:nvPicPr>
              <p:blipFill>
                <a:blip r:embed="rId6"/>
                <a:srcRect t="4545" r="65196"/>
                <a:stretch>
                  <a:fillRect/>
                </a:stretch>
              </p:blipFill>
              <p:spPr>
                <a:xfrm>
                  <a:off x="2642176" y="1038308"/>
                  <a:ext cx="901700" cy="1081442"/>
                </a:xfrm>
                <a:prstGeom prst="rect">
                  <a:avLst/>
                </a:prstGeom>
              </p:spPr>
            </p:pic>
            <p:pic>
              <p:nvPicPr>
                <p:cNvPr id="52" name="图片 51">
                  <a:extLst>
                    <a:ext uri="{FF2B5EF4-FFF2-40B4-BE49-F238E27FC236}">
                      <a16:creationId xmlns:a16="http://schemas.microsoft.com/office/drawing/2014/main" id="{3E542EE6-95C2-8639-6EDF-4B7B0E37C682}"/>
                    </a:ext>
                  </a:extLst>
                </p:cNvPr>
                <p:cNvPicPr>
                  <a:picLocks noChangeAspect="1"/>
                </p:cNvPicPr>
                <p:nvPr/>
              </p:nvPicPr>
              <p:blipFill>
                <a:blip r:embed="rId7"/>
                <a:srcRect t="6425"/>
                <a:stretch>
                  <a:fillRect/>
                </a:stretch>
              </p:blipFill>
              <p:spPr>
                <a:xfrm>
                  <a:off x="1588078" y="1089800"/>
                  <a:ext cx="901700" cy="1081442"/>
                </a:xfrm>
                <a:prstGeom prst="rect">
                  <a:avLst/>
                </a:prstGeom>
              </p:spPr>
            </p:pic>
            <p:pic>
              <p:nvPicPr>
                <p:cNvPr id="53" name="图片 52">
                  <a:extLst>
                    <a:ext uri="{FF2B5EF4-FFF2-40B4-BE49-F238E27FC236}">
                      <a16:creationId xmlns:a16="http://schemas.microsoft.com/office/drawing/2014/main" id="{FAAEED7E-3A42-3707-BADF-95EA1B5429C4}"/>
                    </a:ext>
                  </a:extLst>
                </p:cNvPr>
                <p:cNvPicPr>
                  <a:picLocks noChangeAspect="1"/>
                </p:cNvPicPr>
                <p:nvPr/>
              </p:nvPicPr>
              <p:blipFill>
                <a:blip r:embed="rId6"/>
                <a:srcRect l="34313" t="4545" r="31373"/>
                <a:stretch>
                  <a:fillRect/>
                </a:stretch>
              </p:blipFill>
              <p:spPr>
                <a:xfrm>
                  <a:off x="4559877" y="1038308"/>
                  <a:ext cx="889001" cy="1081442"/>
                </a:xfrm>
                <a:prstGeom prst="rect">
                  <a:avLst/>
                </a:prstGeom>
              </p:spPr>
            </p:pic>
            <p:pic>
              <p:nvPicPr>
                <p:cNvPr id="54" name="图片 53">
                  <a:extLst>
                    <a:ext uri="{FF2B5EF4-FFF2-40B4-BE49-F238E27FC236}">
                      <a16:creationId xmlns:a16="http://schemas.microsoft.com/office/drawing/2014/main" id="{1AC0770F-35FB-9592-60EC-E6EDBD7526E6}"/>
                    </a:ext>
                  </a:extLst>
                </p:cNvPr>
                <p:cNvPicPr>
                  <a:picLocks noChangeAspect="1"/>
                </p:cNvPicPr>
                <p:nvPr/>
              </p:nvPicPr>
              <p:blipFill>
                <a:blip r:embed="rId7"/>
                <a:srcRect t="4456"/>
                <a:stretch>
                  <a:fillRect/>
                </a:stretch>
              </p:blipFill>
              <p:spPr>
                <a:xfrm>
                  <a:off x="3575626" y="1089800"/>
                  <a:ext cx="901700" cy="1104208"/>
                </a:xfrm>
                <a:prstGeom prst="rect">
                  <a:avLst/>
                </a:prstGeom>
              </p:spPr>
            </p:pic>
            <p:pic>
              <p:nvPicPr>
                <p:cNvPr id="55" name="图片 54">
                  <a:extLst>
                    <a:ext uri="{FF2B5EF4-FFF2-40B4-BE49-F238E27FC236}">
                      <a16:creationId xmlns:a16="http://schemas.microsoft.com/office/drawing/2014/main" id="{203FFE24-5970-D8AF-DF01-1723E5F1608E}"/>
                    </a:ext>
                  </a:extLst>
                </p:cNvPr>
                <p:cNvPicPr>
                  <a:picLocks noChangeAspect="1"/>
                </p:cNvPicPr>
                <p:nvPr/>
              </p:nvPicPr>
              <p:blipFill>
                <a:blip r:embed="rId8"/>
                <a:stretch>
                  <a:fillRect/>
                </a:stretch>
              </p:blipFill>
              <p:spPr>
                <a:xfrm>
                  <a:off x="6350578" y="1038308"/>
                  <a:ext cx="800099" cy="1117600"/>
                </a:xfrm>
                <a:prstGeom prst="rect">
                  <a:avLst/>
                </a:prstGeom>
              </p:spPr>
            </p:pic>
            <p:pic>
              <p:nvPicPr>
                <p:cNvPr id="56" name="图片 55">
                  <a:extLst>
                    <a:ext uri="{FF2B5EF4-FFF2-40B4-BE49-F238E27FC236}">
                      <a16:creationId xmlns:a16="http://schemas.microsoft.com/office/drawing/2014/main" id="{7C0AD08B-DDF3-B305-AE9E-C22A40F71800}"/>
                    </a:ext>
                  </a:extLst>
                </p:cNvPr>
                <p:cNvPicPr>
                  <a:picLocks noChangeAspect="1"/>
                </p:cNvPicPr>
                <p:nvPr/>
              </p:nvPicPr>
              <p:blipFill>
                <a:blip r:embed="rId7"/>
                <a:srcRect t="4456"/>
                <a:stretch>
                  <a:fillRect/>
                </a:stretch>
              </p:blipFill>
              <p:spPr>
                <a:xfrm>
                  <a:off x="5448879" y="1090428"/>
                  <a:ext cx="901700" cy="1104208"/>
                </a:xfrm>
                <a:prstGeom prst="rect">
                  <a:avLst/>
                </a:prstGeom>
              </p:spPr>
            </p:pic>
          </p:grpSp>
          <p:sp>
            <p:nvSpPr>
              <p:cNvPr id="20" name="左大括号 19">
                <a:extLst>
                  <a:ext uri="{FF2B5EF4-FFF2-40B4-BE49-F238E27FC236}">
                    <a16:creationId xmlns:a16="http://schemas.microsoft.com/office/drawing/2014/main" id="{EA01AF0A-9680-8683-FCA7-C83E7DF9F184}"/>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grpSp>
            <p:nvGrpSpPr>
              <p:cNvPr id="21" name="组合 20">
                <a:extLst>
                  <a:ext uri="{FF2B5EF4-FFF2-40B4-BE49-F238E27FC236}">
                    <a16:creationId xmlns:a16="http://schemas.microsoft.com/office/drawing/2014/main" id="{41FE2500-5837-C159-2DC9-E851EC0A0031}"/>
                  </a:ext>
                </a:extLst>
              </p:cNvPr>
              <p:cNvGrpSpPr/>
              <p:nvPr/>
            </p:nvGrpSpPr>
            <p:grpSpPr>
              <a:xfrm>
                <a:off x="591670" y="2272067"/>
                <a:ext cx="6527800" cy="1156328"/>
                <a:chOff x="664242" y="971084"/>
                <a:chExt cx="6527800" cy="1156328"/>
              </a:xfrm>
            </p:grpSpPr>
            <p:pic>
              <p:nvPicPr>
                <p:cNvPr id="31" name="图片 30">
                  <a:extLst>
                    <a:ext uri="{FF2B5EF4-FFF2-40B4-BE49-F238E27FC236}">
                      <a16:creationId xmlns:a16="http://schemas.microsoft.com/office/drawing/2014/main" id="{220CD72B-1C01-B1C0-2CA7-5F174B924708}"/>
                    </a:ext>
                  </a:extLst>
                </p:cNvPr>
                <p:cNvPicPr>
                  <a:picLocks noChangeAspect="1"/>
                </p:cNvPicPr>
                <p:nvPr/>
              </p:nvPicPr>
              <p:blipFill>
                <a:blip r:embed="rId5"/>
                <a:srcRect t="6098"/>
                <a:stretch>
                  <a:fillRect/>
                </a:stretch>
              </p:blipFill>
              <p:spPr>
                <a:xfrm>
                  <a:off x="664242" y="971084"/>
                  <a:ext cx="812800" cy="1132934"/>
                </a:xfrm>
                <a:prstGeom prst="rect">
                  <a:avLst/>
                </a:prstGeom>
              </p:spPr>
            </p:pic>
            <p:pic>
              <p:nvPicPr>
                <p:cNvPr id="32" name="图片 31">
                  <a:extLst>
                    <a:ext uri="{FF2B5EF4-FFF2-40B4-BE49-F238E27FC236}">
                      <a16:creationId xmlns:a16="http://schemas.microsoft.com/office/drawing/2014/main" id="{8AFD213F-A772-795C-9532-594B69DEF69E}"/>
                    </a:ext>
                  </a:extLst>
                </p:cNvPr>
                <p:cNvPicPr>
                  <a:picLocks noChangeAspect="1"/>
                </p:cNvPicPr>
                <p:nvPr/>
              </p:nvPicPr>
              <p:blipFill>
                <a:blip r:embed="rId6"/>
                <a:srcRect t="4545" r="65196"/>
                <a:stretch>
                  <a:fillRect/>
                </a:stretch>
              </p:blipFill>
              <p:spPr>
                <a:xfrm>
                  <a:off x="2683541" y="971084"/>
                  <a:ext cx="901700" cy="1081443"/>
                </a:xfrm>
                <a:prstGeom prst="rect">
                  <a:avLst/>
                </a:prstGeom>
              </p:spPr>
            </p:pic>
            <p:pic>
              <p:nvPicPr>
                <p:cNvPr id="33" name="图片 32">
                  <a:extLst>
                    <a:ext uri="{FF2B5EF4-FFF2-40B4-BE49-F238E27FC236}">
                      <a16:creationId xmlns:a16="http://schemas.microsoft.com/office/drawing/2014/main" id="{4CCFF0A4-442A-FA3B-0677-242654691BFF}"/>
                    </a:ext>
                  </a:extLst>
                </p:cNvPr>
                <p:cNvPicPr>
                  <a:picLocks noChangeAspect="1"/>
                </p:cNvPicPr>
                <p:nvPr/>
              </p:nvPicPr>
              <p:blipFill>
                <a:blip r:embed="rId7"/>
                <a:srcRect t="6425"/>
                <a:stretch>
                  <a:fillRect/>
                </a:stretch>
              </p:blipFill>
              <p:spPr>
                <a:xfrm>
                  <a:off x="1629442" y="1022576"/>
                  <a:ext cx="901700" cy="1081443"/>
                </a:xfrm>
                <a:prstGeom prst="rect">
                  <a:avLst/>
                </a:prstGeom>
              </p:spPr>
            </p:pic>
            <p:pic>
              <p:nvPicPr>
                <p:cNvPr id="34" name="图片 33">
                  <a:extLst>
                    <a:ext uri="{FF2B5EF4-FFF2-40B4-BE49-F238E27FC236}">
                      <a16:creationId xmlns:a16="http://schemas.microsoft.com/office/drawing/2014/main" id="{0784022E-FB19-4BC7-6170-A4DC92BE7C30}"/>
                    </a:ext>
                  </a:extLst>
                </p:cNvPr>
                <p:cNvPicPr>
                  <a:picLocks noChangeAspect="1"/>
                </p:cNvPicPr>
                <p:nvPr/>
              </p:nvPicPr>
              <p:blipFill>
                <a:blip r:embed="rId6"/>
                <a:srcRect l="34313" t="4545" r="31373"/>
                <a:stretch>
                  <a:fillRect/>
                </a:stretch>
              </p:blipFill>
              <p:spPr>
                <a:xfrm>
                  <a:off x="4601242" y="971084"/>
                  <a:ext cx="889001" cy="1081442"/>
                </a:xfrm>
                <a:prstGeom prst="rect">
                  <a:avLst/>
                </a:prstGeom>
              </p:spPr>
            </p:pic>
            <p:pic>
              <p:nvPicPr>
                <p:cNvPr id="35" name="图片 34">
                  <a:extLst>
                    <a:ext uri="{FF2B5EF4-FFF2-40B4-BE49-F238E27FC236}">
                      <a16:creationId xmlns:a16="http://schemas.microsoft.com/office/drawing/2014/main" id="{E8B8D3E3-419F-6438-0EB2-6468929D36C6}"/>
                    </a:ext>
                  </a:extLst>
                </p:cNvPr>
                <p:cNvPicPr>
                  <a:picLocks noChangeAspect="1"/>
                </p:cNvPicPr>
                <p:nvPr/>
              </p:nvPicPr>
              <p:blipFill>
                <a:blip r:embed="rId7"/>
                <a:srcRect t="4456"/>
                <a:stretch>
                  <a:fillRect/>
                </a:stretch>
              </p:blipFill>
              <p:spPr>
                <a:xfrm>
                  <a:off x="3616991" y="1022576"/>
                  <a:ext cx="901700" cy="1104208"/>
                </a:xfrm>
                <a:prstGeom prst="rect">
                  <a:avLst/>
                </a:prstGeom>
              </p:spPr>
            </p:pic>
            <p:pic>
              <p:nvPicPr>
                <p:cNvPr id="47" name="图片 46">
                  <a:extLst>
                    <a:ext uri="{FF2B5EF4-FFF2-40B4-BE49-F238E27FC236}">
                      <a16:creationId xmlns:a16="http://schemas.microsoft.com/office/drawing/2014/main" id="{21C9B61E-A36D-6E32-8B60-0302C35289B2}"/>
                    </a:ext>
                  </a:extLst>
                </p:cNvPr>
                <p:cNvPicPr>
                  <a:picLocks noChangeAspect="1"/>
                </p:cNvPicPr>
                <p:nvPr/>
              </p:nvPicPr>
              <p:blipFill>
                <a:blip r:embed="rId8"/>
                <a:stretch>
                  <a:fillRect/>
                </a:stretch>
              </p:blipFill>
              <p:spPr>
                <a:xfrm>
                  <a:off x="6391943" y="971084"/>
                  <a:ext cx="800099" cy="1117600"/>
                </a:xfrm>
                <a:prstGeom prst="rect">
                  <a:avLst/>
                </a:prstGeom>
              </p:spPr>
            </p:pic>
            <p:pic>
              <p:nvPicPr>
                <p:cNvPr id="49" name="图片 48">
                  <a:extLst>
                    <a:ext uri="{FF2B5EF4-FFF2-40B4-BE49-F238E27FC236}">
                      <a16:creationId xmlns:a16="http://schemas.microsoft.com/office/drawing/2014/main" id="{64A82FF3-F4CE-2414-C597-5EC8FD0DE60E}"/>
                    </a:ext>
                  </a:extLst>
                </p:cNvPr>
                <p:cNvPicPr>
                  <a:picLocks noChangeAspect="1"/>
                </p:cNvPicPr>
                <p:nvPr/>
              </p:nvPicPr>
              <p:blipFill>
                <a:blip r:embed="rId7"/>
                <a:srcRect t="4456"/>
                <a:stretch>
                  <a:fillRect/>
                </a:stretch>
              </p:blipFill>
              <p:spPr>
                <a:xfrm>
                  <a:off x="5490242" y="1023204"/>
                  <a:ext cx="901700" cy="1104208"/>
                </a:xfrm>
                <a:prstGeom prst="rect">
                  <a:avLst/>
                </a:prstGeom>
              </p:spPr>
            </p:pic>
          </p:grpSp>
          <p:grpSp>
            <p:nvGrpSpPr>
              <p:cNvPr id="22" name="组合 21">
                <a:extLst>
                  <a:ext uri="{FF2B5EF4-FFF2-40B4-BE49-F238E27FC236}">
                    <a16:creationId xmlns:a16="http://schemas.microsoft.com/office/drawing/2014/main" id="{3F516099-1D29-A930-D5DC-542A5EB761A4}"/>
                  </a:ext>
                </a:extLst>
              </p:cNvPr>
              <p:cNvGrpSpPr/>
              <p:nvPr/>
            </p:nvGrpSpPr>
            <p:grpSpPr>
              <a:xfrm>
                <a:off x="591670" y="5072735"/>
                <a:ext cx="6527800" cy="1156330"/>
                <a:chOff x="664242" y="1049615"/>
                <a:chExt cx="6527800" cy="1156330"/>
              </a:xfrm>
            </p:grpSpPr>
            <p:pic>
              <p:nvPicPr>
                <p:cNvPr id="24" name="图片 23">
                  <a:extLst>
                    <a:ext uri="{FF2B5EF4-FFF2-40B4-BE49-F238E27FC236}">
                      <a16:creationId xmlns:a16="http://schemas.microsoft.com/office/drawing/2014/main" id="{75902FEB-64C7-7A23-4545-28CA0D994FBA}"/>
                    </a:ext>
                  </a:extLst>
                </p:cNvPr>
                <p:cNvPicPr>
                  <a:picLocks noChangeAspect="1"/>
                </p:cNvPicPr>
                <p:nvPr/>
              </p:nvPicPr>
              <p:blipFill>
                <a:blip r:embed="rId5"/>
                <a:srcRect t="6098"/>
                <a:stretch>
                  <a:fillRect/>
                </a:stretch>
              </p:blipFill>
              <p:spPr>
                <a:xfrm>
                  <a:off x="664242" y="1049615"/>
                  <a:ext cx="812800" cy="1132934"/>
                </a:xfrm>
                <a:prstGeom prst="rect">
                  <a:avLst/>
                </a:prstGeom>
              </p:spPr>
            </p:pic>
            <p:pic>
              <p:nvPicPr>
                <p:cNvPr id="25" name="图片 24">
                  <a:extLst>
                    <a:ext uri="{FF2B5EF4-FFF2-40B4-BE49-F238E27FC236}">
                      <a16:creationId xmlns:a16="http://schemas.microsoft.com/office/drawing/2014/main" id="{B29FF142-C97E-B9EB-484B-CE531CC83760}"/>
                    </a:ext>
                  </a:extLst>
                </p:cNvPr>
                <p:cNvPicPr>
                  <a:picLocks noChangeAspect="1"/>
                </p:cNvPicPr>
                <p:nvPr/>
              </p:nvPicPr>
              <p:blipFill>
                <a:blip r:embed="rId6"/>
                <a:srcRect t="4545" r="65196"/>
                <a:stretch>
                  <a:fillRect/>
                </a:stretch>
              </p:blipFill>
              <p:spPr>
                <a:xfrm>
                  <a:off x="2683541" y="1049616"/>
                  <a:ext cx="901700" cy="1081442"/>
                </a:xfrm>
                <a:prstGeom prst="rect">
                  <a:avLst/>
                </a:prstGeom>
              </p:spPr>
            </p:pic>
            <p:pic>
              <p:nvPicPr>
                <p:cNvPr id="26" name="图片 25">
                  <a:extLst>
                    <a:ext uri="{FF2B5EF4-FFF2-40B4-BE49-F238E27FC236}">
                      <a16:creationId xmlns:a16="http://schemas.microsoft.com/office/drawing/2014/main" id="{DD13DCE2-4857-BFCB-A864-EBA7876D9F49}"/>
                    </a:ext>
                  </a:extLst>
                </p:cNvPr>
                <p:cNvPicPr>
                  <a:picLocks noChangeAspect="1"/>
                </p:cNvPicPr>
                <p:nvPr/>
              </p:nvPicPr>
              <p:blipFill>
                <a:blip r:embed="rId7"/>
                <a:srcRect t="6425"/>
                <a:stretch>
                  <a:fillRect/>
                </a:stretch>
              </p:blipFill>
              <p:spPr>
                <a:xfrm>
                  <a:off x="1629442" y="1101108"/>
                  <a:ext cx="901700" cy="1081442"/>
                </a:xfrm>
                <a:prstGeom prst="rect">
                  <a:avLst/>
                </a:prstGeom>
              </p:spPr>
            </p:pic>
            <p:pic>
              <p:nvPicPr>
                <p:cNvPr id="27" name="图片 26">
                  <a:extLst>
                    <a:ext uri="{FF2B5EF4-FFF2-40B4-BE49-F238E27FC236}">
                      <a16:creationId xmlns:a16="http://schemas.microsoft.com/office/drawing/2014/main" id="{395E763F-A469-BCB5-5800-AE63C0116AA5}"/>
                    </a:ext>
                  </a:extLst>
                </p:cNvPr>
                <p:cNvPicPr>
                  <a:picLocks noChangeAspect="1"/>
                </p:cNvPicPr>
                <p:nvPr/>
              </p:nvPicPr>
              <p:blipFill>
                <a:blip r:embed="rId6"/>
                <a:srcRect l="34313" t="4545" r="31373"/>
                <a:stretch>
                  <a:fillRect/>
                </a:stretch>
              </p:blipFill>
              <p:spPr>
                <a:xfrm>
                  <a:off x="4601242" y="1049616"/>
                  <a:ext cx="889001" cy="1081442"/>
                </a:xfrm>
                <a:prstGeom prst="rect">
                  <a:avLst/>
                </a:prstGeom>
              </p:spPr>
            </p:pic>
            <p:pic>
              <p:nvPicPr>
                <p:cNvPr id="28" name="图片 27">
                  <a:extLst>
                    <a:ext uri="{FF2B5EF4-FFF2-40B4-BE49-F238E27FC236}">
                      <a16:creationId xmlns:a16="http://schemas.microsoft.com/office/drawing/2014/main" id="{06F9BA2B-EBEC-6E46-19C8-DE51D34B413B}"/>
                    </a:ext>
                  </a:extLst>
                </p:cNvPr>
                <p:cNvPicPr>
                  <a:picLocks noChangeAspect="1"/>
                </p:cNvPicPr>
                <p:nvPr/>
              </p:nvPicPr>
              <p:blipFill>
                <a:blip r:embed="rId7"/>
                <a:srcRect t="4456"/>
                <a:stretch>
                  <a:fillRect/>
                </a:stretch>
              </p:blipFill>
              <p:spPr>
                <a:xfrm>
                  <a:off x="3616991" y="1101108"/>
                  <a:ext cx="901700" cy="1104209"/>
                </a:xfrm>
                <a:prstGeom prst="rect">
                  <a:avLst/>
                </a:prstGeom>
              </p:spPr>
            </p:pic>
            <p:pic>
              <p:nvPicPr>
                <p:cNvPr id="29" name="图片 28">
                  <a:extLst>
                    <a:ext uri="{FF2B5EF4-FFF2-40B4-BE49-F238E27FC236}">
                      <a16:creationId xmlns:a16="http://schemas.microsoft.com/office/drawing/2014/main" id="{A7426EC8-6A6F-6559-FA2B-011EF352F834}"/>
                    </a:ext>
                  </a:extLst>
                </p:cNvPr>
                <p:cNvPicPr>
                  <a:picLocks noChangeAspect="1"/>
                </p:cNvPicPr>
                <p:nvPr/>
              </p:nvPicPr>
              <p:blipFill>
                <a:blip r:embed="rId8"/>
                <a:stretch>
                  <a:fillRect/>
                </a:stretch>
              </p:blipFill>
              <p:spPr>
                <a:xfrm>
                  <a:off x="6391943" y="1049616"/>
                  <a:ext cx="800099" cy="1117601"/>
                </a:xfrm>
                <a:prstGeom prst="rect">
                  <a:avLst/>
                </a:prstGeom>
              </p:spPr>
            </p:pic>
            <p:pic>
              <p:nvPicPr>
                <p:cNvPr id="30" name="图片 29">
                  <a:extLst>
                    <a:ext uri="{FF2B5EF4-FFF2-40B4-BE49-F238E27FC236}">
                      <a16:creationId xmlns:a16="http://schemas.microsoft.com/office/drawing/2014/main" id="{0A05C533-6907-9FBD-5C69-FEE0CE5842EA}"/>
                    </a:ext>
                  </a:extLst>
                </p:cNvPr>
                <p:cNvPicPr>
                  <a:picLocks noChangeAspect="1"/>
                </p:cNvPicPr>
                <p:nvPr/>
              </p:nvPicPr>
              <p:blipFill>
                <a:blip r:embed="rId7"/>
                <a:srcRect t="4456"/>
                <a:stretch>
                  <a:fillRect/>
                </a:stretch>
              </p:blipFill>
              <p:spPr>
                <a:xfrm>
                  <a:off x="5490242" y="1101736"/>
                  <a:ext cx="901700" cy="1104209"/>
                </a:xfrm>
                <a:prstGeom prst="rect">
                  <a:avLst/>
                </a:prstGeom>
              </p:spPr>
            </p:pic>
          </p:grpSp>
          <p:sp>
            <p:nvSpPr>
              <p:cNvPr id="23" name="文本框 22">
                <a:extLst>
                  <a:ext uri="{FF2B5EF4-FFF2-40B4-BE49-F238E27FC236}">
                    <a16:creationId xmlns:a16="http://schemas.microsoft.com/office/drawing/2014/main" id="{260FAB63-5620-27EF-86A3-91E2A544EAD5}"/>
                  </a:ext>
                </a:extLst>
              </p:cNvPr>
              <p:cNvSpPr txBox="1"/>
              <p:nvPr/>
            </p:nvSpPr>
            <p:spPr>
              <a:xfrm>
                <a:off x="-820445" y="3267222"/>
                <a:ext cx="461665" cy="849086"/>
              </a:xfrm>
              <a:prstGeom prst="rect">
                <a:avLst/>
              </a:prstGeom>
              <a:noFill/>
            </p:spPr>
            <p:txBody>
              <a:bodyPr vert="eaVert" wrap="square" rtlCol="0">
                <a:spAutoFit/>
              </a:bodyPr>
              <a:lstStyle/>
              <a:p>
                <a:r>
                  <a:rPr kumimoji="1" lang="en-US" altLang="zh-CN" dirty="0"/>
                  <a:t>4</a:t>
                </a:r>
                <a:r>
                  <a:rPr kumimoji="1" lang="zh-CN" altLang="en-US" dirty="0"/>
                  <a:t>组</a:t>
                </a:r>
              </a:p>
            </p:txBody>
          </p:sp>
        </p:grpSp>
      </p:grpSp>
      <p:sp>
        <p:nvSpPr>
          <p:cNvPr id="65" name="文本框 64">
            <a:extLst>
              <a:ext uri="{FF2B5EF4-FFF2-40B4-BE49-F238E27FC236}">
                <a16:creationId xmlns:a16="http://schemas.microsoft.com/office/drawing/2014/main" id="{93CA3AB0-EA94-9D5E-2009-A1A4F4CE33FD}"/>
              </a:ext>
            </a:extLst>
          </p:cNvPr>
          <p:cNvSpPr txBox="1"/>
          <p:nvPr/>
        </p:nvSpPr>
        <p:spPr>
          <a:xfrm>
            <a:off x="7609629" y="1720840"/>
            <a:ext cx="3788864" cy="3970318"/>
          </a:xfrm>
          <a:prstGeom prst="rect">
            <a:avLst/>
          </a:prstGeom>
          <a:noFill/>
        </p:spPr>
        <p:txBody>
          <a:bodyPr wrap="square" rtlCol="0">
            <a:spAutoFit/>
          </a:bodyPr>
          <a:lstStyle/>
          <a:p>
            <a:r>
              <a:rPr kumimoji="1" lang="zh-CN" altLang="en-US" dirty="0">
                <a:latin typeface="+mn-ea"/>
              </a:rPr>
              <a:t>总共</a:t>
            </a:r>
            <a:r>
              <a:rPr kumimoji="1" lang="en-US" altLang="zh-CN" dirty="0">
                <a:latin typeface="+mn-ea"/>
              </a:rPr>
              <a:t>10</a:t>
            </a:r>
            <a:r>
              <a:rPr kumimoji="1" lang="zh-CN" altLang="en-US" dirty="0">
                <a:latin typeface="+mn-ea"/>
              </a:rPr>
              <a:t>位参与者</a:t>
            </a:r>
            <a:endParaRPr kumimoji="1" lang="en-US" altLang="zh-CN" dirty="0">
              <a:latin typeface="+mn-ea"/>
            </a:endParaRPr>
          </a:p>
          <a:p>
            <a:endParaRPr kumimoji="1" lang="en-US" altLang="zh-CN" dirty="0">
              <a:latin typeface="+mn-ea"/>
            </a:endParaRPr>
          </a:p>
          <a:p>
            <a:r>
              <a:rPr kumimoji="1" lang="zh-CN" altLang="en-US" dirty="0">
                <a:latin typeface="+mn-ea"/>
              </a:rPr>
              <a:t>分别给五个手指带上戒指进行测试</a:t>
            </a:r>
            <a:endParaRPr kumimoji="1" lang="en-US" altLang="zh-CN" dirty="0">
              <a:latin typeface="+mn-ea"/>
            </a:endParaRPr>
          </a:p>
          <a:p>
            <a:endParaRPr kumimoji="1" lang="en-US" altLang="zh-CN" dirty="0">
              <a:latin typeface="+mn-ea"/>
            </a:endParaRPr>
          </a:p>
          <a:p>
            <a:r>
              <a:rPr kumimoji="1" lang="zh-CN" altLang="en-US" dirty="0">
                <a:latin typeface="+mn-ea"/>
              </a:rPr>
              <a:t>每组四个环节</a:t>
            </a:r>
            <a:endParaRPr kumimoji="1" lang="en-US" altLang="zh-CN" dirty="0">
              <a:latin typeface="+mn-ea"/>
            </a:endParaRPr>
          </a:p>
          <a:p>
            <a:endParaRPr kumimoji="1" lang="en-US" altLang="zh-CN" dirty="0">
              <a:latin typeface="+mn-ea"/>
            </a:endParaRPr>
          </a:p>
          <a:p>
            <a:r>
              <a:rPr kumimoji="1" lang="zh-CN" altLang="en-US" dirty="0">
                <a:latin typeface="+mn-ea"/>
              </a:rPr>
              <a:t>每个环节</a:t>
            </a:r>
            <a:r>
              <a:rPr kumimoji="1" lang="en-US" altLang="zh-CN" dirty="0">
                <a:latin typeface="+mn-ea"/>
              </a:rPr>
              <a:t>9</a:t>
            </a:r>
            <a:r>
              <a:rPr kumimoji="1" lang="zh-CN" altLang="en-US" dirty="0">
                <a:latin typeface="+mn-ea"/>
              </a:rPr>
              <a:t>个手势随机都要做</a:t>
            </a:r>
            <a:r>
              <a:rPr kumimoji="1" lang="en-US" altLang="zh-CN" dirty="0">
                <a:latin typeface="+mn-ea"/>
              </a:rPr>
              <a:t>9</a:t>
            </a:r>
            <a:r>
              <a:rPr kumimoji="1" lang="zh-CN" altLang="en-US" dirty="0">
                <a:latin typeface="+mn-ea"/>
              </a:rPr>
              <a:t>遍</a:t>
            </a:r>
            <a:endParaRPr kumimoji="1" lang="en-US" altLang="zh-CN" dirty="0">
              <a:latin typeface="+mn-ea"/>
            </a:endParaRPr>
          </a:p>
          <a:p>
            <a:endParaRPr kumimoji="1" lang="en-US" altLang="zh-CN" dirty="0">
              <a:latin typeface="+mn-ea"/>
            </a:endParaRPr>
          </a:p>
          <a:p>
            <a:r>
              <a:rPr kumimoji="1" lang="zh-CN" altLang="en-US" dirty="0">
                <a:latin typeface="+mn-ea"/>
              </a:rPr>
              <a:t>每个手势时间为</a:t>
            </a:r>
            <a:r>
              <a:rPr kumimoji="1" lang="en-US" altLang="zh-CN" dirty="0">
                <a:latin typeface="+mn-ea"/>
              </a:rPr>
              <a:t>2s</a:t>
            </a:r>
          </a:p>
          <a:p>
            <a:endParaRPr kumimoji="1" lang="en-US" altLang="zh-CN" dirty="0">
              <a:latin typeface="+mn-ea"/>
            </a:endParaRPr>
          </a:p>
          <a:p>
            <a:r>
              <a:rPr kumimoji="1" lang="en-US" altLang="zh-CN" dirty="0">
                <a:latin typeface="+mn-ea"/>
              </a:rPr>
              <a:t>2s</a:t>
            </a:r>
            <a:r>
              <a:rPr kumimoji="1" lang="zh-CN" altLang="en-US" dirty="0">
                <a:latin typeface="+mn-ea"/>
              </a:rPr>
              <a:t> </a:t>
            </a:r>
            <a:r>
              <a:rPr kumimoji="1" lang="en-US" altLang="zh-CN" dirty="0">
                <a:latin typeface="+mn-ea"/>
              </a:rPr>
              <a:t>×</a:t>
            </a:r>
            <a:r>
              <a:rPr kumimoji="1" lang="zh-CN" altLang="en-US" dirty="0">
                <a:latin typeface="+mn-ea"/>
              </a:rPr>
              <a:t> </a:t>
            </a:r>
            <a:r>
              <a:rPr kumimoji="1" lang="en-US" altLang="zh-CN" dirty="0">
                <a:latin typeface="+mn-ea"/>
              </a:rPr>
              <a:t>9</a:t>
            </a:r>
            <a:r>
              <a:rPr kumimoji="1" lang="zh-CN" altLang="en-US" dirty="0">
                <a:latin typeface="+mn-ea"/>
              </a:rPr>
              <a:t> </a:t>
            </a:r>
            <a:r>
              <a:rPr kumimoji="1" lang="en-US" altLang="zh-CN" dirty="0">
                <a:latin typeface="+mn-ea"/>
              </a:rPr>
              <a:t>×</a:t>
            </a:r>
            <a:r>
              <a:rPr kumimoji="1" lang="zh-CN" altLang="en-US" dirty="0">
                <a:latin typeface="+mn-ea"/>
              </a:rPr>
              <a:t> </a:t>
            </a:r>
            <a:r>
              <a:rPr kumimoji="1" lang="en-US" altLang="zh-CN" dirty="0">
                <a:latin typeface="+mn-ea"/>
              </a:rPr>
              <a:t>9</a:t>
            </a:r>
            <a:r>
              <a:rPr kumimoji="1" lang="zh-CN" altLang="en-US" dirty="0">
                <a:latin typeface="+mn-ea"/>
              </a:rPr>
              <a:t> </a:t>
            </a:r>
            <a:r>
              <a:rPr kumimoji="1" lang="en-US" altLang="zh-CN" dirty="0">
                <a:latin typeface="+mn-ea"/>
              </a:rPr>
              <a:t>×</a:t>
            </a:r>
            <a:r>
              <a:rPr kumimoji="1" lang="zh-CN" altLang="en-US" dirty="0">
                <a:latin typeface="+mn-ea"/>
              </a:rPr>
              <a:t> </a:t>
            </a:r>
            <a:r>
              <a:rPr kumimoji="1" lang="en-US" altLang="zh-CN" dirty="0">
                <a:latin typeface="+mn-ea"/>
              </a:rPr>
              <a:t>4</a:t>
            </a:r>
            <a:r>
              <a:rPr kumimoji="1" lang="zh-CN" altLang="en-US" dirty="0">
                <a:latin typeface="+mn-ea"/>
              </a:rPr>
              <a:t> </a:t>
            </a:r>
            <a:r>
              <a:rPr kumimoji="1" lang="en-US" altLang="zh-CN" dirty="0">
                <a:latin typeface="+mn-ea"/>
              </a:rPr>
              <a:t>=</a:t>
            </a:r>
            <a:r>
              <a:rPr kumimoji="1" lang="zh-CN" altLang="en-US" dirty="0">
                <a:latin typeface="+mn-ea"/>
              </a:rPr>
              <a:t> </a:t>
            </a:r>
            <a:r>
              <a:rPr kumimoji="1" lang="en-US" altLang="zh-CN" dirty="0">
                <a:latin typeface="+mn-ea"/>
              </a:rPr>
              <a:t>10.8min</a:t>
            </a:r>
          </a:p>
          <a:p>
            <a:endParaRPr kumimoji="1" lang="en-US" altLang="zh-CN" dirty="0">
              <a:latin typeface="+mn-ea"/>
            </a:endParaRPr>
          </a:p>
          <a:p>
            <a:r>
              <a:rPr kumimoji="1" lang="en-US" altLang="zh-CN" dirty="0">
                <a:latin typeface="+mn-ea"/>
              </a:rPr>
              <a:t>4 </a:t>
            </a:r>
            <a:r>
              <a:rPr kumimoji="1" lang="zh-CN" altLang="en-US" dirty="0">
                <a:latin typeface="+mn-ea"/>
              </a:rPr>
              <a:t>个环节 </a:t>
            </a:r>
            <a:r>
              <a:rPr kumimoji="1" lang="en-US" altLang="zh-CN" dirty="0">
                <a:latin typeface="+mn-ea"/>
              </a:rPr>
              <a:t>× 81 </a:t>
            </a:r>
            <a:r>
              <a:rPr kumimoji="1" lang="zh-CN" altLang="en-US" dirty="0">
                <a:latin typeface="+mn-ea"/>
              </a:rPr>
              <a:t>个最终姿势 </a:t>
            </a:r>
            <a:r>
              <a:rPr kumimoji="1" lang="en-US" altLang="zh-CN" dirty="0">
                <a:latin typeface="+mn-ea"/>
              </a:rPr>
              <a:t>= 324 </a:t>
            </a:r>
            <a:r>
              <a:rPr kumimoji="1" lang="zh-CN" altLang="en-US" dirty="0">
                <a:latin typeface="+mn-ea"/>
              </a:rPr>
              <a:t>个最终姿势实例</a:t>
            </a:r>
          </a:p>
        </p:txBody>
      </p:sp>
      <p:sp>
        <p:nvSpPr>
          <p:cNvPr id="66" name="左大括号 65">
            <a:extLst>
              <a:ext uri="{FF2B5EF4-FFF2-40B4-BE49-F238E27FC236}">
                <a16:creationId xmlns:a16="http://schemas.microsoft.com/office/drawing/2014/main" id="{F48940F9-5D4A-12FF-C4BF-A05600E3420D}"/>
              </a:ext>
            </a:extLst>
          </p:cNvPr>
          <p:cNvSpPr/>
          <p:nvPr/>
        </p:nvSpPr>
        <p:spPr>
          <a:xfrm rot="13736008">
            <a:off x="6100278" y="5609109"/>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68" name="文本框 67">
            <a:extLst>
              <a:ext uri="{FF2B5EF4-FFF2-40B4-BE49-F238E27FC236}">
                <a16:creationId xmlns:a16="http://schemas.microsoft.com/office/drawing/2014/main" id="{8076BF79-AF80-A9B1-F0F3-FA2E4E3F2A25}"/>
              </a:ext>
            </a:extLst>
          </p:cNvPr>
          <p:cNvSpPr txBox="1"/>
          <p:nvPr/>
        </p:nvSpPr>
        <p:spPr>
          <a:xfrm>
            <a:off x="6122417" y="6132846"/>
            <a:ext cx="1179711" cy="369332"/>
          </a:xfrm>
          <a:prstGeom prst="rect">
            <a:avLst/>
          </a:prstGeom>
          <a:noFill/>
        </p:spPr>
        <p:txBody>
          <a:bodyPr wrap="square">
            <a:spAutoFit/>
          </a:bodyPr>
          <a:lstStyle/>
          <a:p>
            <a:r>
              <a:rPr kumimoji="1" lang="en-US" altLang="zh-CN" dirty="0"/>
              <a:t>5</a:t>
            </a:r>
            <a:r>
              <a:rPr kumimoji="1" lang="zh-CN" altLang="en-US" dirty="0"/>
              <a:t>根手指</a:t>
            </a:r>
            <a:endParaRPr lang="zh-CN" altLang="en-US" dirty="0"/>
          </a:p>
        </p:txBody>
      </p:sp>
    </p:spTree>
    <p:extLst>
      <p:ext uri="{BB962C8B-B14F-4D97-AF65-F5344CB8AC3E}">
        <p14:creationId xmlns:p14="http://schemas.microsoft.com/office/powerpoint/2010/main" val="1794134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p:cNvSpPr/>
          <p:nvPr/>
        </p:nvSpPr>
        <p:spPr>
          <a:xfrm>
            <a:off x="0" y="0"/>
            <a:ext cx="12192000" cy="818573"/>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38529" y="112811"/>
            <a:ext cx="1667969" cy="593132"/>
            <a:chOff x="1019925" y="1507763"/>
            <a:chExt cx="1667969" cy="593132"/>
          </a:xfrm>
        </p:grpSpPr>
        <p:sp>
          <p:nvSpPr>
            <p:cNvPr id="4" name="文本框 3"/>
            <p:cNvSpPr txBox="1"/>
            <p:nvPr/>
          </p:nvSpPr>
          <p:spPr>
            <a:xfrm>
              <a:off x="1700306" y="1507763"/>
              <a:ext cx="987588"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结果</a:t>
              </a:r>
            </a:p>
          </p:txBody>
        </p:sp>
        <p:pic>
          <p:nvPicPr>
            <p:cNvPr id="5" name="图片 4"/>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42" name="矩形 4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6" name="文本框 5">
            <a:extLst>
              <a:ext uri="{FF2B5EF4-FFF2-40B4-BE49-F238E27FC236}">
                <a16:creationId xmlns:a16="http://schemas.microsoft.com/office/drawing/2014/main" id="{B7B49BFC-F0C2-76CD-A76F-78FC7BDED03A}"/>
              </a:ext>
            </a:extLst>
          </p:cNvPr>
          <p:cNvSpPr txBox="1"/>
          <p:nvPr/>
        </p:nvSpPr>
        <p:spPr>
          <a:xfrm>
            <a:off x="501004" y="1382207"/>
            <a:ext cx="2974340" cy="369332"/>
          </a:xfrm>
          <a:prstGeom prst="rect">
            <a:avLst/>
          </a:prstGeom>
          <a:noFill/>
        </p:spPr>
        <p:txBody>
          <a:bodyPr wrap="square" lIns="0" tIns="0" rIns="0" bIns="0" rtlCol="0">
            <a:spAutoFit/>
          </a:bodyPr>
          <a:lstStyle/>
          <a:p>
            <a:r>
              <a:rPr lang="zh-CN" altLang="en-US" sz="2400" b="1" dirty="0">
                <a:solidFill>
                  <a:schemeClr val="accent1"/>
                </a:solidFill>
                <a:latin typeface="+mj-ea"/>
                <a:ea typeface="+mj-ea"/>
              </a:rPr>
              <a:t>测量指标：</a:t>
            </a:r>
            <a:r>
              <a:rPr lang="en" altLang="zh-CN" sz="2400" b="1" dirty="0">
                <a:solidFill>
                  <a:schemeClr val="accent1"/>
                </a:solidFill>
                <a:latin typeface="+mj-ea"/>
                <a:ea typeface="+mj-ea"/>
              </a:rPr>
              <a:t>MPJPE</a:t>
            </a:r>
            <a:endParaRPr lang="zh-CN" altLang="en-US" sz="2400" b="1" dirty="0">
              <a:solidFill>
                <a:schemeClr val="accent1"/>
              </a:solidFill>
              <a:latin typeface="+mj-ea"/>
              <a:ea typeface="+mj-ea"/>
            </a:endParaRPr>
          </a:p>
        </p:txBody>
      </p:sp>
      <p:pic>
        <p:nvPicPr>
          <p:cNvPr id="8" name="图片 7">
            <a:extLst>
              <a:ext uri="{FF2B5EF4-FFF2-40B4-BE49-F238E27FC236}">
                <a16:creationId xmlns:a16="http://schemas.microsoft.com/office/drawing/2014/main" id="{1041068C-6C56-AB0F-14B3-CEC0C9A2B6B6}"/>
              </a:ext>
            </a:extLst>
          </p:cNvPr>
          <p:cNvPicPr>
            <a:picLocks noChangeAspect="1"/>
          </p:cNvPicPr>
          <p:nvPr/>
        </p:nvPicPr>
        <p:blipFill>
          <a:blip r:embed="rId5"/>
          <a:stretch>
            <a:fillRect/>
          </a:stretch>
        </p:blipFill>
        <p:spPr>
          <a:xfrm>
            <a:off x="2013570" y="2361644"/>
            <a:ext cx="1143000" cy="1600200"/>
          </a:xfrm>
          <a:prstGeom prst="rect">
            <a:avLst/>
          </a:prstGeom>
        </p:spPr>
      </p:pic>
      <p:pic>
        <p:nvPicPr>
          <p:cNvPr id="10" name="图片 9">
            <a:extLst>
              <a:ext uri="{FF2B5EF4-FFF2-40B4-BE49-F238E27FC236}">
                <a16:creationId xmlns:a16="http://schemas.microsoft.com/office/drawing/2014/main" id="{C404CEFB-9A0B-B20F-C50D-C801DBB7E115}"/>
              </a:ext>
            </a:extLst>
          </p:cNvPr>
          <p:cNvPicPr>
            <a:picLocks noChangeAspect="1"/>
          </p:cNvPicPr>
          <p:nvPr/>
        </p:nvPicPr>
        <p:blipFill>
          <a:blip r:embed="rId6"/>
          <a:stretch>
            <a:fillRect/>
          </a:stretch>
        </p:blipFill>
        <p:spPr>
          <a:xfrm>
            <a:off x="3776547" y="2361644"/>
            <a:ext cx="1155700" cy="1587500"/>
          </a:xfrm>
          <a:prstGeom prst="rect">
            <a:avLst/>
          </a:prstGeom>
        </p:spPr>
      </p:pic>
      <p:sp>
        <p:nvSpPr>
          <p:cNvPr id="12" name="文本框 11">
            <a:extLst>
              <a:ext uri="{FF2B5EF4-FFF2-40B4-BE49-F238E27FC236}">
                <a16:creationId xmlns:a16="http://schemas.microsoft.com/office/drawing/2014/main" id="{2AD2C8BF-7095-8E61-51BC-06C8A861AD0E}"/>
              </a:ext>
            </a:extLst>
          </p:cNvPr>
          <p:cNvSpPr txBox="1"/>
          <p:nvPr/>
        </p:nvSpPr>
        <p:spPr>
          <a:xfrm>
            <a:off x="1899812" y="4083150"/>
            <a:ext cx="1370515" cy="923330"/>
          </a:xfrm>
          <a:prstGeom prst="rect">
            <a:avLst/>
          </a:prstGeom>
          <a:noFill/>
        </p:spPr>
        <p:txBody>
          <a:bodyPr wrap="square">
            <a:spAutoFit/>
          </a:bodyPr>
          <a:lstStyle/>
          <a:p>
            <a:pPr algn="ctr"/>
            <a:r>
              <a:rPr lang="en-US" altLang="zh-CN" dirty="0" err="1"/>
              <a:t>Mediapipe</a:t>
            </a:r>
            <a:endParaRPr lang="en-US" altLang="zh-CN" dirty="0"/>
          </a:p>
          <a:p>
            <a:pPr algn="ctr"/>
            <a:r>
              <a:rPr lang="en-US" altLang="zh-CN" dirty="0"/>
              <a:t>Ground</a:t>
            </a:r>
          </a:p>
          <a:p>
            <a:pPr algn="ctr"/>
            <a:r>
              <a:rPr lang="en-US" altLang="zh-CN" dirty="0"/>
              <a:t>Truth</a:t>
            </a:r>
          </a:p>
        </p:txBody>
      </p:sp>
      <p:sp>
        <p:nvSpPr>
          <p:cNvPr id="13" name="文本框 12">
            <a:extLst>
              <a:ext uri="{FF2B5EF4-FFF2-40B4-BE49-F238E27FC236}">
                <a16:creationId xmlns:a16="http://schemas.microsoft.com/office/drawing/2014/main" id="{D3D8B8C1-5C1C-6664-4C6A-3B8EEAFA4CF9}"/>
              </a:ext>
            </a:extLst>
          </p:cNvPr>
          <p:cNvSpPr txBox="1"/>
          <p:nvPr/>
        </p:nvSpPr>
        <p:spPr>
          <a:xfrm>
            <a:off x="3669139" y="4274270"/>
            <a:ext cx="1370515" cy="369332"/>
          </a:xfrm>
          <a:prstGeom prst="rect">
            <a:avLst/>
          </a:prstGeom>
          <a:noFill/>
        </p:spPr>
        <p:txBody>
          <a:bodyPr wrap="square">
            <a:spAutoFit/>
          </a:bodyPr>
          <a:lstStyle/>
          <a:p>
            <a:pPr algn="ctr"/>
            <a:r>
              <a:rPr lang="en-US" altLang="zh-CN" dirty="0"/>
              <a:t>Prediction</a:t>
            </a:r>
          </a:p>
        </p:txBody>
      </p:sp>
      <p:sp>
        <p:nvSpPr>
          <p:cNvPr id="15" name="文本框 14">
            <a:extLst>
              <a:ext uri="{FF2B5EF4-FFF2-40B4-BE49-F238E27FC236}">
                <a16:creationId xmlns:a16="http://schemas.microsoft.com/office/drawing/2014/main" id="{E55BD422-547D-4E5A-F731-2E57238B79FF}"/>
              </a:ext>
            </a:extLst>
          </p:cNvPr>
          <p:cNvSpPr txBox="1"/>
          <p:nvPr/>
        </p:nvSpPr>
        <p:spPr>
          <a:xfrm>
            <a:off x="5943601" y="2556450"/>
            <a:ext cx="4816628" cy="605294"/>
          </a:xfrm>
          <a:prstGeom prst="rect">
            <a:avLst/>
          </a:prstGeom>
          <a:noFill/>
        </p:spPr>
        <p:txBody>
          <a:bodyPr wrap="square">
            <a:spAutoFit/>
          </a:bodyPr>
          <a:lstStyle/>
          <a:p>
            <a:pPr algn="l" fontAlgn="base">
              <a:lnSpc>
                <a:spcPts val="1950"/>
              </a:lnSpc>
              <a:spcAft>
                <a:spcPts val="900"/>
              </a:spcAft>
            </a:pPr>
            <a:r>
              <a:rPr lang="zh-CN" altLang="en-US" i="0" dirty="0">
                <a:effectLst/>
                <a:latin typeface="inherit"/>
              </a:rPr>
              <a:t>对每个 手部关节点（共 </a:t>
            </a:r>
            <a:r>
              <a:rPr lang="en-US" altLang="zh-CN" i="0" dirty="0">
                <a:effectLst/>
                <a:latin typeface="inherit"/>
              </a:rPr>
              <a:t>20 </a:t>
            </a:r>
            <a:r>
              <a:rPr lang="zh-CN" altLang="en-US" i="0" dirty="0">
                <a:effectLst/>
                <a:latin typeface="inherit"/>
              </a:rPr>
              <a:t>个） 计算预测位置与真实位置之间的 欧氏距离。</a:t>
            </a:r>
            <a:endParaRPr lang="en-US" altLang="zh-CN" i="0" dirty="0">
              <a:effectLst/>
              <a:latin typeface="inherit"/>
            </a:endParaRPr>
          </a:p>
        </p:txBody>
      </p:sp>
      <p:sp>
        <p:nvSpPr>
          <p:cNvPr id="19" name="文本框 18">
            <a:extLst>
              <a:ext uri="{FF2B5EF4-FFF2-40B4-BE49-F238E27FC236}">
                <a16:creationId xmlns:a16="http://schemas.microsoft.com/office/drawing/2014/main" id="{9043AD6E-C547-4699-0FDB-E32855EA49B5}"/>
              </a:ext>
            </a:extLst>
          </p:cNvPr>
          <p:cNvSpPr txBox="1"/>
          <p:nvPr/>
        </p:nvSpPr>
        <p:spPr>
          <a:xfrm>
            <a:off x="5943601" y="3590280"/>
            <a:ext cx="4816628" cy="861774"/>
          </a:xfrm>
          <a:prstGeom prst="rect">
            <a:avLst/>
          </a:prstGeom>
          <a:noFill/>
        </p:spPr>
        <p:txBody>
          <a:bodyPr wrap="square">
            <a:spAutoFit/>
          </a:bodyPr>
          <a:lstStyle/>
          <a:p>
            <a:pPr algn="l" fontAlgn="base">
              <a:lnSpc>
                <a:spcPts val="1950"/>
              </a:lnSpc>
              <a:spcAft>
                <a:spcPts val="900"/>
              </a:spcAft>
            </a:pPr>
            <a:r>
              <a:rPr lang="zh-CN" altLang="en-US" i="0" dirty="0">
                <a:effectLst/>
                <a:latin typeface="+mn-ea"/>
              </a:rPr>
              <a:t>在 </a:t>
            </a:r>
            <a:r>
              <a:rPr lang="en" altLang="zh-CN" i="0" dirty="0">
                <a:effectLst/>
                <a:latin typeface="+mn-ea"/>
              </a:rPr>
              <a:t>user-independent </a:t>
            </a:r>
            <a:r>
              <a:rPr lang="zh-CN" altLang="en-US" i="0" dirty="0">
                <a:effectLst/>
                <a:latin typeface="+mn-ea"/>
              </a:rPr>
              <a:t>：把预测结果按被试的实测手长缩放一次，抵消掉“手大则误差绝对值大”的系统性偏差，使 </a:t>
            </a:r>
            <a:r>
              <a:rPr lang="en" altLang="zh-CN" i="0" dirty="0">
                <a:effectLst/>
                <a:latin typeface="+mn-ea"/>
              </a:rPr>
              <a:t>MPJPE </a:t>
            </a:r>
            <a:r>
              <a:rPr lang="zh-CN" altLang="en-US" i="0" dirty="0">
                <a:effectLst/>
                <a:latin typeface="+mn-ea"/>
              </a:rPr>
              <a:t>仍可横向比较。</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42CD3-54C5-B82C-F81E-1D3C884E39B5}"/>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B929756E-B26F-3E8E-81DE-E601A3DAA1AE}"/>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a:extLst>
              <a:ext uri="{FF2B5EF4-FFF2-40B4-BE49-F238E27FC236}">
                <a16:creationId xmlns:a16="http://schemas.microsoft.com/office/drawing/2014/main" id="{BAB7BED1-974F-007B-D399-6A8ADEBFE15A}"/>
              </a:ext>
            </a:extLst>
          </p:cNvPr>
          <p:cNvSpPr/>
          <p:nvPr/>
        </p:nvSpPr>
        <p:spPr>
          <a:xfrm>
            <a:off x="0" y="0"/>
            <a:ext cx="12192000" cy="818573"/>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988E94AD-01AE-C253-1074-7688EDA346B1}"/>
              </a:ext>
            </a:extLst>
          </p:cNvPr>
          <p:cNvGrpSpPr/>
          <p:nvPr/>
        </p:nvGrpSpPr>
        <p:grpSpPr>
          <a:xfrm>
            <a:off x="138529" y="112811"/>
            <a:ext cx="1667969" cy="593132"/>
            <a:chOff x="1019925" y="1507763"/>
            <a:chExt cx="1667969" cy="593132"/>
          </a:xfrm>
        </p:grpSpPr>
        <p:sp>
          <p:nvSpPr>
            <p:cNvPr id="4" name="文本框 3">
              <a:extLst>
                <a:ext uri="{FF2B5EF4-FFF2-40B4-BE49-F238E27FC236}">
                  <a16:creationId xmlns:a16="http://schemas.microsoft.com/office/drawing/2014/main" id="{E9867144-5CB1-A2AA-A7DE-008D0C622CFD}"/>
                </a:ext>
              </a:extLst>
            </p:cNvPr>
            <p:cNvSpPr txBox="1"/>
            <p:nvPr/>
          </p:nvSpPr>
          <p:spPr>
            <a:xfrm>
              <a:off x="1700306" y="1507763"/>
              <a:ext cx="987588"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结果</a:t>
              </a:r>
            </a:p>
          </p:txBody>
        </p:sp>
        <p:pic>
          <p:nvPicPr>
            <p:cNvPr id="5" name="图片 4">
              <a:extLst>
                <a:ext uri="{FF2B5EF4-FFF2-40B4-BE49-F238E27FC236}">
                  <a16:creationId xmlns:a16="http://schemas.microsoft.com/office/drawing/2014/main" id="{A1074A50-FE0F-88EB-7FDB-E23F5D3237D5}"/>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42" name="矩形 41">
            <a:extLst>
              <a:ext uri="{FF2B5EF4-FFF2-40B4-BE49-F238E27FC236}">
                <a16:creationId xmlns:a16="http://schemas.microsoft.com/office/drawing/2014/main" id="{50192DFE-1573-8748-FD50-E5E618E41CD9}"/>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a:extLst>
              <a:ext uri="{FF2B5EF4-FFF2-40B4-BE49-F238E27FC236}">
                <a16:creationId xmlns:a16="http://schemas.microsoft.com/office/drawing/2014/main" id="{5EA2A402-143F-35FF-AEEF-408E68A9D4C2}"/>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2" name="图片 1">
            <a:extLst>
              <a:ext uri="{FF2B5EF4-FFF2-40B4-BE49-F238E27FC236}">
                <a16:creationId xmlns:a16="http://schemas.microsoft.com/office/drawing/2014/main" id="{DC925F0E-5584-175A-4366-7BFDEF0AFEB5}"/>
              </a:ext>
            </a:extLst>
          </p:cNvPr>
          <p:cNvPicPr>
            <a:picLocks noChangeAspect="1"/>
          </p:cNvPicPr>
          <p:nvPr/>
        </p:nvPicPr>
        <p:blipFill>
          <a:blip r:embed="rId5"/>
          <a:stretch>
            <a:fillRect/>
          </a:stretch>
        </p:blipFill>
        <p:spPr>
          <a:xfrm>
            <a:off x="-191257" y="1078528"/>
            <a:ext cx="12383257" cy="3069725"/>
          </a:xfrm>
          <a:prstGeom prst="rect">
            <a:avLst/>
          </a:prstGeom>
        </p:spPr>
      </p:pic>
      <p:sp>
        <p:nvSpPr>
          <p:cNvPr id="7" name="文本框 6">
            <a:extLst>
              <a:ext uri="{FF2B5EF4-FFF2-40B4-BE49-F238E27FC236}">
                <a16:creationId xmlns:a16="http://schemas.microsoft.com/office/drawing/2014/main" id="{49652912-26B5-7ADF-4FE2-B626025E1686}"/>
              </a:ext>
            </a:extLst>
          </p:cNvPr>
          <p:cNvSpPr txBox="1"/>
          <p:nvPr/>
        </p:nvSpPr>
        <p:spPr>
          <a:xfrm>
            <a:off x="2700053" y="4404489"/>
            <a:ext cx="6791894" cy="1200329"/>
          </a:xfrm>
          <a:prstGeom prst="rect">
            <a:avLst/>
          </a:prstGeom>
          <a:noFill/>
        </p:spPr>
        <p:txBody>
          <a:bodyPr wrap="square">
            <a:spAutoFit/>
          </a:bodyPr>
          <a:lstStyle/>
          <a:p>
            <a:r>
              <a:rPr lang="zh-CN" altLang="en-US" dirty="0"/>
              <a:t>为了评估</a:t>
            </a:r>
            <a:r>
              <a:rPr lang="zh-CN" altLang="en-US" b="1" dirty="0">
                <a:solidFill>
                  <a:schemeClr val="accent1"/>
                </a:solidFill>
              </a:rPr>
              <a:t>用户无关模型</a:t>
            </a:r>
            <a:r>
              <a:rPr lang="zh-CN" altLang="en-US" dirty="0"/>
              <a:t>，使用留一参与者交叉验证（LOPO）</a:t>
            </a:r>
            <a:endParaRPr lang="en-US" altLang="zh-CN" dirty="0"/>
          </a:p>
          <a:p>
            <a:endParaRPr lang="en-US" altLang="zh-CN" dirty="0"/>
          </a:p>
          <a:p>
            <a:r>
              <a:rPr lang="zh-CN" altLang="en-US" dirty="0"/>
              <a:t>为了评估</a:t>
            </a:r>
            <a:r>
              <a:rPr lang="zh-CN" altLang="en-US" b="1" dirty="0">
                <a:solidFill>
                  <a:schemeClr val="accent6"/>
                </a:solidFill>
              </a:rPr>
              <a:t>微调后的用户相关模型</a:t>
            </a:r>
            <a:r>
              <a:rPr lang="zh-CN" altLang="en-US" dirty="0"/>
              <a:t>的性能，我们使用前三次实验的数据微调用户无关模型</a:t>
            </a:r>
          </a:p>
        </p:txBody>
      </p:sp>
      <p:cxnSp>
        <p:nvCxnSpPr>
          <p:cNvPr id="10" name="直线连接符 9">
            <a:extLst>
              <a:ext uri="{FF2B5EF4-FFF2-40B4-BE49-F238E27FC236}">
                <a16:creationId xmlns:a16="http://schemas.microsoft.com/office/drawing/2014/main" id="{5E60DCB3-8369-BE32-C00A-507013699B2E}"/>
              </a:ext>
            </a:extLst>
          </p:cNvPr>
          <p:cNvCxnSpPr/>
          <p:nvPr/>
        </p:nvCxnSpPr>
        <p:spPr>
          <a:xfrm>
            <a:off x="947854" y="1996068"/>
            <a:ext cx="23417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直线连接符 10">
            <a:extLst>
              <a:ext uri="{FF2B5EF4-FFF2-40B4-BE49-F238E27FC236}">
                <a16:creationId xmlns:a16="http://schemas.microsoft.com/office/drawing/2014/main" id="{F29599FF-8615-F03F-65DA-680203CAE6D7}"/>
              </a:ext>
            </a:extLst>
          </p:cNvPr>
          <p:cNvCxnSpPr/>
          <p:nvPr/>
        </p:nvCxnSpPr>
        <p:spPr>
          <a:xfrm>
            <a:off x="1806498" y="1825083"/>
            <a:ext cx="23417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直线连接符 11">
            <a:extLst>
              <a:ext uri="{FF2B5EF4-FFF2-40B4-BE49-F238E27FC236}">
                <a16:creationId xmlns:a16="http://schemas.microsoft.com/office/drawing/2014/main" id="{D864114D-4400-4582-5407-59D35DDAFB51}"/>
              </a:ext>
            </a:extLst>
          </p:cNvPr>
          <p:cNvCxnSpPr/>
          <p:nvPr/>
        </p:nvCxnSpPr>
        <p:spPr>
          <a:xfrm>
            <a:off x="1197475" y="2494156"/>
            <a:ext cx="234175" cy="0"/>
          </a:xfrm>
          <a:prstGeom prst="line">
            <a:avLst/>
          </a:prstGeom>
          <a:ln>
            <a:solidFill>
              <a:schemeClr val="accent6"/>
            </a:solidFill>
          </a:ln>
        </p:spPr>
        <p:style>
          <a:lnRef idx="3">
            <a:schemeClr val="accent1"/>
          </a:lnRef>
          <a:fillRef idx="0">
            <a:schemeClr val="accent1"/>
          </a:fillRef>
          <a:effectRef idx="2">
            <a:schemeClr val="accent1"/>
          </a:effectRef>
          <a:fontRef idx="minor">
            <a:schemeClr val="tx1"/>
          </a:fontRef>
        </p:style>
      </p:cxnSp>
      <p:cxnSp>
        <p:nvCxnSpPr>
          <p:cNvPr id="13" name="直线连接符 12">
            <a:extLst>
              <a:ext uri="{FF2B5EF4-FFF2-40B4-BE49-F238E27FC236}">
                <a16:creationId xmlns:a16="http://schemas.microsoft.com/office/drawing/2014/main" id="{FF484977-C981-5821-8ACE-8B4236D03CED}"/>
              </a:ext>
            </a:extLst>
          </p:cNvPr>
          <p:cNvCxnSpPr/>
          <p:nvPr/>
        </p:nvCxnSpPr>
        <p:spPr>
          <a:xfrm>
            <a:off x="2955650" y="2401229"/>
            <a:ext cx="234175" cy="0"/>
          </a:xfrm>
          <a:prstGeom prst="line">
            <a:avLst/>
          </a:prstGeom>
          <a:ln>
            <a:solidFill>
              <a:schemeClr val="accent6"/>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50136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2E190-EE05-6EED-B7D1-3BCB78C5CA7F}"/>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F421F890-CFFF-0E9F-7F8F-A74DAD87DDD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a:extLst>
              <a:ext uri="{FF2B5EF4-FFF2-40B4-BE49-F238E27FC236}">
                <a16:creationId xmlns:a16="http://schemas.microsoft.com/office/drawing/2014/main" id="{98D27AB8-F163-F7E6-BBE0-AAE01B71E9E9}"/>
              </a:ext>
            </a:extLst>
          </p:cNvPr>
          <p:cNvSpPr/>
          <p:nvPr/>
        </p:nvSpPr>
        <p:spPr>
          <a:xfrm>
            <a:off x="0" y="0"/>
            <a:ext cx="12192000" cy="818573"/>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591D249-6759-65E2-E1B0-5836C385E091}"/>
              </a:ext>
            </a:extLst>
          </p:cNvPr>
          <p:cNvGrpSpPr/>
          <p:nvPr/>
        </p:nvGrpSpPr>
        <p:grpSpPr>
          <a:xfrm>
            <a:off x="138529" y="112811"/>
            <a:ext cx="1667969" cy="593132"/>
            <a:chOff x="1019925" y="1507763"/>
            <a:chExt cx="1667969" cy="593132"/>
          </a:xfrm>
        </p:grpSpPr>
        <p:sp>
          <p:nvSpPr>
            <p:cNvPr id="4" name="文本框 3">
              <a:extLst>
                <a:ext uri="{FF2B5EF4-FFF2-40B4-BE49-F238E27FC236}">
                  <a16:creationId xmlns:a16="http://schemas.microsoft.com/office/drawing/2014/main" id="{3AD178AF-5405-64AF-7F22-4E85AB797C74}"/>
                </a:ext>
              </a:extLst>
            </p:cNvPr>
            <p:cNvSpPr txBox="1"/>
            <p:nvPr/>
          </p:nvSpPr>
          <p:spPr>
            <a:xfrm>
              <a:off x="1700306" y="1507763"/>
              <a:ext cx="987588"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结果</a:t>
              </a:r>
            </a:p>
          </p:txBody>
        </p:sp>
        <p:pic>
          <p:nvPicPr>
            <p:cNvPr id="5" name="图片 4">
              <a:extLst>
                <a:ext uri="{FF2B5EF4-FFF2-40B4-BE49-F238E27FC236}">
                  <a16:creationId xmlns:a16="http://schemas.microsoft.com/office/drawing/2014/main" id="{790F639D-ABA6-4748-ECC3-2919069C9AAE}"/>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42" name="矩形 41">
            <a:extLst>
              <a:ext uri="{FF2B5EF4-FFF2-40B4-BE49-F238E27FC236}">
                <a16:creationId xmlns:a16="http://schemas.microsoft.com/office/drawing/2014/main" id="{42D1DA01-B959-75AA-EF44-0DA692968642}"/>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a:extLst>
              <a:ext uri="{FF2B5EF4-FFF2-40B4-BE49-F238E27FC236}">
                <a16:creationId xmlns:a16="http://schemas.microsoft.com/office/drawing/2014/main" id="{454E9882-9F89-78C6-C2EB-1D811DFE5A47}"/>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7" name="文本框 6">
            <a:extLst>
              <a:ext uri="{FF2B5EF4-FFF2-40B4-BE49-F238E27FC236}">
                <a16:creationId xmlns:a16="http://schemas.microsoft.com/office/drawing/2014/main" id="{D97B8BE8-F9C8-55CF-739D-5716EB9FE28C}"/>
              </a:ext>
            </a:extLst>
          </p:cNvPr>
          <p:cNvSpPr txBox="1"/>
          <p:nvPr/>
        </p:nvSpPr>
        <p:spPr>
          <a:xfrm>
            <a:off x="501004" y="2859743"/>
            <a:ext cx="3723049" cy="1477328"/>
          </a:xfrm>
          <a:prstGeom prst="rect">
            <a:avLst/>
          </a:prstGeom>
          <a:noFill/>
        </p:spPr>
        <p:txBody>
          <a:bodyPr wrap="square">
            <a:spAutoFit/>
          </a:bodyPr>
          <a:lstStyle/>
          <a:p>
            <a:r>
              <a:rPr lang="zh-CN" altLang="en-US" dirty="0"/>
              <a:t>为了发现佩戴手指对误差的影响，采用多元方差的方法，把模型类型和佩戴手指为自变量，以各个被追踪手指的误差为因变量。</a:t>
            </a:r>
            <a:br>
              <a:rPr lang="zh-CN" altLang="en-US" dirty="0"/>
            </a:br>
            <a:endParaRPr lang="zh-CN" altLang="en-US" dirty="0"/>
          </a:p>
        </p:txBody>
      </p:sp>
      <p:sp>
        <p:nvSpPr>
          <p:cNvPr id="6" name="文本框 5">
            <a:extLst>
              <a:ext uri="{FF2B5EF4-FFF2-40B4-BE49-F238E27FC236}">
                <a16:creationId xmlns:a16="http://schemas.microsoft.com/office/drawing/2014/main" id="{1F52812F-6ED7-D97E-6BC5-F04F54B049D2}"/>
              </a:ext>
            </a:extLst>
          </p:cNvPr>
          <p:cNvSpPr txBox="1"/>
          <p:nvPr/>
        </p:nvSpPr>
        <p:spPr>
          <a:xfrm>
            <a:off x="501004" y="1382207"/>
            <a:ext cx="3591494" cy="738664"/>
          </a:xfrm>
          <a:prstGeom prst="rect">
            <a:avLst/>
          </a:prstGeom>
          <a:noFill/>
        </p:spPr>
        <p:txBody>
          <a:bodyPr wrap="square" lIns="0" tIns="0" rIns="0" bIns="0" rtlCol="0">
            <a:spAutoFit/>
          </a:bodyPr>
          <a:lstStyle/>
          <a:p>
            <a:r>
              <a:rPr lang="zh-CN" altLang="en-US" sz="2400" b="1" dirty="0">
                <a:solidFill>
                  <a:schemeClr val="accent1"/>
                </a:solidFill>
                <a:latin typeface="+mj-ea"/>
                <a:ea typeface="+mj-ea"/>
              </a:rPr>
              <a:t>多元方差分析</a:t>
            </a:r>
            <a:r>
              <a:rPr lang="en" altLang="zh-CN" sz="2400" b="1" dirty="0">
                <a:solidFill>
                  <a:schemeClr val="accent1"/>
                </a:solidFill>
                <a:latin typeface="+mj-ea"/>
                <a:ea typeface="+mj-ea"/>
              </a:rPr>
              <a:t>(MANOVA)</a:t>
            </a:r>
            <a:r>
              <a:rPr lang="zh-CN" altLang="en" sz="2400" b="1" dirty="0">
                <a:solidFill>
                  <a:schemeClr val="accent1"/>
                </a:solidFill>
                <a:latin typeface="+mj-ea"/>
                <a:ea typeface="+mj-ea"/>
              </a:rPr>
              <a:t>和</a:t>
            </a:r>
            <a:r>
              <a:rPr lang="zh-CN" altLang="en-US" sz="2400" b="1" dirty="0">
                <a:solidFill>
                  <a:schemeClr val="accent1"/>
                </a:solidFill>
                <a:latin typeface="+mj-ea"/>
                <a:ea typeface="+mj-ea"/>
              </a:rPr>
              <a:t>方差分析（</a:t>
            </a:r>
            <a:r>
              <a:rPr lang="en" altLang="zh-CN" sz="2400" b="1" dirty="0">
                <a:solidFill>
                  <a:schemeClr val="accent1"/>
                </a:solidFill>
                <a:latin typeface="+mj-ea"/>
              </a:rPr>
              <a:t>ANOVA</a:t>
            </a:r>
            <a:r>
              <a:rPr lang="zh-CN" altLang="en-US" sz="2400" b="1" dirty="0">
                <a:solidFill>
                  <a:schemeClr val="accent1"/>
                </a:solidFill>
                <a:latin typeface="+mj-ea"/>
                <a:ea typeface="+mj-ea"/>
              </a:rPr>
              <a:t>）</a:t>
            </a:r>
          </a:p>
        </p:txBody>
      </p:sp>
      <p:graphicFrame>
        <p:nvGraphicFramePr>
          <p:cNvPr id="15" name="表格 14">
            <a:extLst>
              <a:ext uri="{FF2B5EF4-FFF2-40B4-BE49-F238E27FC236}">
                <a16:creationId xmlns:a16="http://schemas.microsoft.com/office/drawing/2014/main" id="{BC025969-BF93-4350-97E5-E325349FF55D}"/>
              </a:ext>
            </a:extLst>
          </p:cNvPr>
          <p:cNvGraphicFramePr>
            <a:graphicFrameLocks noGrp="1"/>
          </p:cNvGraphicFramePr>
          <p:nvPr>
            <p:extLst>
              <p:ext uri="{D42A27DB-BD31-4B8C-83A1-F6EECF244321}">
                <p14:modId xmlns:p14="http://schemas.microsoft.com/office/powerpoint/2010/main" val="3711217629"/>
              </p:ext>
            </p:extLst>
          </p:nvPr>
        </p:nvGraphicFramePr>
        <p:xfrm>
          <a:off x="5303488" y="2879225"/>
          <a:ext cx="6182265" cy="2836545"/>
        </p:xfrm>
        <a:graphic>
          <a:graphicData uri="http://schemas.openxmlformats.org/drawingml/2006/table">
            <a:tbl>
              <a:tblPr>
                <a:tableStyleId>{5C22544A-7EE6-4342-B048-85BDC9FD1C3A}</a:tableStyleId>
              </a:tblPr>
              <a:tblGrid>
                <a:gridCol w="1236453">
                  <a:extLst>
                    <a:ext uri="{9D8B030D-6E8A-4147-A177-3AD203B41FA5}">
                      <a16:colId xmlns:a16="http://schemas.microsoft.com/office/drawing/2014/main" val="3497697213"/>
                    </a:ext>
                  </a:extLst>
                </a:gridCol>
                <a:gridCol w="1236453">
                  <a:extLst>
                    <a:ext uri="{9D8B030D-6E8A-4147-A177-3AD203B41FA5}">
                      <a16:colId xmlns:a16="http://schemas.microsoft.com/office/drawing/2014/main" val="3207027028"/>
                    </a:ext>
                  </a:extLst>
                </a:gridCol>
                <a:gridCol w="1236453">
                  <a:extLst>
                    <a:ext uri="{9D8B030D-6E8A-4147-A177-3AD203B41FA5}">
                      <a16:colId xmlns:a16="http://schemas.microsoft.com/office/drawing/2014/main" val="1270249375"/>
                    </a:ext>
                  </a:extLst>
                </a:gridCol>
                <a:gridCol w="1236453">
                  <a:extLst>
                    <a:ext uri="{9D8B030D-6E8A-4147-A177-3AD203B41FA5}">
                      <a16:colId xmlns:a16="http://schemas.microsoft.com/office/drawing/2014/main" val="3304792662"/>
                    </a:ext>
                  </a:extLst>
                </a:gridCol>
                <a:gridCol w="1236453">
                  <a:extLst>
                    <a:ext uri="{9D8B030D-6E8A-4147-A177-3AD203B41FA5}">
                      <a16:colId xmlns:a16="http://schemas.microsoft.com/office/drawing/2014/main" val="3176916605"/>
                    </a:ext>
                  </a:extLst>
                </a:gridCol>
              </a:tblGrid>
              <a:tr h="228600">
                <a:tc>
                  <a:txBody>
                    <a:bodyPr/>
                    <a:lstStyle/>
                    <a:p>
                      <a:pPr algn="l" fontAlgn="ctr">
                        <a:buNone/>
                      </a:pPr>
                      <a:r>
                        <a:rPr lang="zh-CN" altLang="en-US" sz="1400" u="none" strike="noStrike">
                          <a:effectLst/>
                        </a:rPr>
                        <a:t>被追踪手指</a:t>
                      </a:r>
                      <a:endParaRPr lang="zh-CN" altLang="en-US" sz="1400" b="1"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en" sz="1400" u="none" strike="noStrike">
                          <a:effectLst/>
                        </a:rPr>
                        <a:t>F </a:t>
                      </a:r>
                      <a:r>
                        <a:rPr lang="zh-CN" altLang="en-US" sz="1400" u="none" strike="noStrike">
                          <a:effectLst/>
                        </a:rPr>
                        <a:t>值</a:t>
                      </a:r>
                      <a:endParaRPr lang="zh-CN" altLang="en-US" sz="1400" b="1"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en" sz="1400" u="none" strike="noStrike">
                          <a:effectLst/>
                        </a:rPr>
                        <a:t>p </a:t>
                      </a:r>
                      <a:r>
                        <a:rPr lang="zh-CN" altLang="en-US" sz="1400" u="none" strike="noStrike">
                          <a:effectLst/>
                        </a:rPr>
                        <a:t>值</a:t>
                      </a:r>
                      <a:endParaRPr lang="zh-CN" altLang="en-US" sz="1400" b="1"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是否显著</a:t>
                      </a:r>
                      <a:endParaRPr lang="zh-CN" altLang="en-US" sz="1400" b="1"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解读</a:t>
                      </a:r>
                      <a:endParaRPr lang="zh-CN" altLang="en-US" sz="1400" b="1" i="0" u="none" strike="noStrike">
                        <a:solidFill>
                          <a:srgbClr val="000000"/>
                        </a:solidFill>
                        <a:effectLst/>
                        <a:latin typeface="Inherit"/>
                        <a:ea typeface="等线" panose="02010600030101010101" pitchFamily="2" charset="-122"/>
                      </a:endParaRPr>
                    </a:p>
                  </a:txBody>
                  <a:tcPr marL="9525" marR="9525" marT="9525" marB="0" anchor="ctr"/>
                </a:tc>
                <a:extLst>
                  <a:ext uri="{0D108BD9-81ED-4DB2-BD59-A6C34878D82A}">
                    <a16:rowId xmlns:a16="http://schemas.microsoft.com/office/drawing/2014/main" val="936157461"/>
                  </a:ext>
                </a:extLst>
              </a:tr>
              <a:tr h="228600">
                <a:tc>
                  <a:txBody>
                    <a:bodyPr/>
                    <a:lstStyle/>
                    <a:p>
                      <a:pPr algn="l" fontAlgn="ctr">
                        <a:buNone/>
                      </a:pPr>
                      <a:r>
                        <a:rPr lang="zh-CN" altLang="en-US" sz="1400" u="none" strike="noStrike" dirty="0">
                          <a:effectLst/>
                        </a:rPr>
                        <a:t>拇指</a:t>
                      </a:r>
                      <a:endParaRPr lang="zh-CN" altLang="en-US" sz="1400" b="0" i="0" u="none" strike="noStrike" dirty="0">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en" sz="1400" u="none" strike="noStrike">
                          <a:effectLst/>
                        </a:rPr>
                        <a:t>F₄,₃₆ = 5.76</a:t>
                      </a:r>
                      <a:endParaRPr lang="en"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r" fontAlgn="ctr">
                        <a:buNone/>
                      </a:pPr>
                      <a:r>
                        <a:rPr lang="en-US" altLang="zh-CN" sz="1400" u="none" strike="noStrike">
                          <a:effectLst/>
                        </a:rPr>
                        <a:t>0.001</a:t>
                      </a:r>
                      <a:endParaRPr lang="en-US" altLang="zh-CN"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显著</a:t>
                      </a:r>
                      <a:endParaRPr lang="zh-CN" altLang="en-US" sz="1400" b="1"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dirty="0">
                          <a:effectLst/>
                        </a:rPr>
                        <a:t>拇指误差确实随「戒指戴在哪根手指」而变化</a:t>
                      </a:r>
                      <a:endParaRPr lang="zh-CN" altLang="en-US" sz="1400" b="0" i="0" u="none" strike="noStrike" dirty="0">
                        <a:solidFill>
                          <a:srgbClr val="000000"/>
                        </a:solidFill>
                        <a:effectLst/>
                        <a:latin typeface="Inherit"/>
                        <a:ea typeface="等线" panose="02010600030101010101" pitchFamily="2" charset="-122"/>
                      </a:endParaRPr>
                    </a:p>
                  </a:txBody>
                  <a:tcPr marL="9525" marR="9525" marT="9525" marB="0" anchor="ctr"/>
                </a:tc>
                <a:extLst>
                  <a:ext uri="{0D108BD9-81ED-4DB2-BD59-A6C34878D82A}">
                    <a16:rowId xmlns:a16="http://schemas.microsoft.com/office/drawing/2014/main" val="1920235209"/>
                  </a:ext>
                </a:extLst>
              </a:tr>
              <a:tr h="228600">
                <a:tc>
                  <a:txBody>
                    <a:bodyPr/>
                    <a:lstStyle/>
                    <a:p>
                      <a:pPr algn="l" fontAlgn="ctr">
                        <a:buNone/>
                      </a:pPr>
                      <a:r>
                        <a:rPr lang="zh-CN" altLang="en-US" sz="1400" u="none" strike="noStrike">
                          <a:effectLst/>
                        </a:rPr>
                        <a:t>食指</a:t>
                      </a:r>
                      <a:endParaRPr lang="zh-CN" altLang="en-US"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en" sz="1400" u="none" strike="noStrike">
                          <a:effectLst/>
                        </a:rPr>
                        <a:t>F₄,₃₆ ≈ 1.x</a:t>
                      </a:r>
                      <a:endParaRPr lang="en"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en-US" altLang="zh-CN" sz="1400" u="none" strike="noStrike" dirty="0">
                          <a:effectLst/>
                        </a:rPr>
                        <a:t>&gt; 0.05</a:t>
                      </a:r>
                      <a:endParaRPr lang="en-US" altLang="zh-CN" sz="1400" b="0" i="0" u="none" strike="noStrike" dirty="0">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不显著</a:t>
                      </a:r>
                      <a:endParaRPr lang="zh-CN" altLang="en-US"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食指误差与佩戴位置无关</a:t>
                      </a:r>
                      <a:endParaRPr lang="zh-CN" altLang="en-US" sz="1400" b="0" i="0" u="none" strike="noStrike">
                        <a:solidFill>
                          <a:srgbClr val="000000"/>
                        </a:solidFill>
                        <a:effectLst/>
                        <a:latin typeface="Inherit"/>
                        <a:ea typeface="等线" panose="02010600030101010101" pitchFamily="2" charset="-122"/>
                      </a:endParaRPr>
                    </a:p>
                  </a:txBody>
                  <a:tcPr marL="9525" marR="9525" marT="9525" marB="0" anchor="ctr"/>
                </a:tc>
                <a:extLst>
                  <a:ext uri="{0D108BD9-81ED-4DB2-BD59-A6C34878D82A}">
                    <a16:rowId xmlns:a16="http://schemas.microsoft.com/office/drawing/2014/main" val="520902178"/>
                  </a:ext>
                </a:extLst>
              </a:tr>
              <a:tr h="228600">
                <a:tc>
                  <a:txBody>
                    <a:bodyPr/>
                    <a:lstStyle/>
                    <a:p>
                      <a:pPr algn="l" fontAlgn="ctr">
                        <a:buNone/>
                      </a:pPr>
                      <a:r>
                        <a:rPr lang="zh-CN" altLang="en-US" sz="1400" u="none" strike="noStrike">
                          <a:effectLst/>
                        </a:rPr>
                        <a:t>中指</a:t>
                      </a:r>
                      <a:endParaRPr lang="zh-CN" altLang="en-US"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en" sz="1400" u="none" strike="noStrike">
                          <a:effectLst/>
                        </a:rPr>
                        <a:t>F₄,₃₆ ≈ 1.x</a:t>
                      </a:r>
                      <a:endParaRPr lang="en"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en-US" altLang="zh-CN" sz="1400" u="none" strike="noStrike">
                          <a:effectLst/>
                        </a:rPr>
                        <a:t>&gt; 0.05</a:t>
                      </a:r>
                      <a:endParaRPr lang="en-US" altLang="zh-CN"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不显著</a:t>
                      </a:r>
                      <a:endParaRPr lang="zh-CN" altLang="en-US"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中指误差与佩戴位置无关</a:t>
                      </a:r>
                      <a:endParaRPr lang="zh-CN" altLang="en-US" sz="1400" b="0" i="0" u="none" strike="noStrike">
                        <a:solidFill>
                          <a:srgbClr val="000000"/>
                        </a:solidFill>
                        <a:effectLst/>
                        <a:latin typeface="Inherit"/>
                        <a:ea typeface="等线" panose="02010600030101010101" pitchFamily="2" charset="-122"/>
                      </a:endParaRPr>
                    </a:p>
                  </a:txBody>
                  <a:tcPr marL="9525" marR="9525" marT="9525" marB="0" anchor="ctr"/>
                </a:tc>
                <a:extLst>
                  <a:ext uri="{0D108BD9-81ED-4DB2-BD59-A6C34878D82A}">
                    <a16:rowId xmlns:a16="http://schemas.microsoft.com/office/drawing/2014/main" val="989048871"/>
                  </a:ext>
                </a:extLst>
              </a:tr>
              <a:tr h="228600">
                <a:tc>
                  <a:txBody>
                    <a:bodyPr/>
                    <a:lstStyle/>
                    <a:p>
                      <a:pPr algn="l" fontAlgn="ctr">
                        <a:buNone/>
                      </a:pPr>
                      <a:r>
                        <a:rPr lang="zh-CN" altLang="en-US" sz="1400" u="none" strike="noStrike">
                          <a:effectLst/>
                        </a:rPr>
                        <a:t>无名指</a:t>
                      </a:r>
                      <a:endParaRPr lang="zh-CN" altLang="en-US"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en" sz="1400" u="none" strike="noStrike">
                          <a:effectLst/>
                        </a:rPr>
                        <a:t>F₄,₃₆ = 3.35</a:t>
                      </a:r>
                      <a:endParaRPr lang="en"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r" fontAlgn="ctr">
                        <a:buNone/>
                      </a:pPr>
                      <a:r>
                        <a:rPr lang="en-US" altLang="zh-CN" sz="1400" u="none" strike="noStrike">
                          <a:effectLst/>
                        </a:rPr>
                        <a:t>0.02</a:t>
                      </a:r>
                      <a:endParaRPr lang="en-US" altLang="zh-CN"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显著</a:t>
                      </a:r>
                      <a:endParaRPr lang="zh-CN" altLang="en-US" sz="1400" b="1"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无名指误差受佩戴位置影响</a:t>
                      </a:r>
                      <a:endParaRPr lang="zh-CN" altLang="en-US" sz="1400" b="0" i="0" u="none" strike="noStrike">
                        <a:solidFill>
                          <a:srgbClr val="000000"/>
                        </a:solidFill>
                        <a:effectLst/>
                        <a:latin typeface="Inherit"/>
                        <a:ea typeface="等线" panose="02010600030101010101" pitchFamily="2" charset="-122"/>
                      </a:endParaRPr>
                    </a:p>
                  </a:txBody>
                  <a:tcPr marL="9525" marR="9525" marT="9525" marB="0" anchor="ctr"/>
                </a:tc>
                <a:extLst>
                  <a:ext uri="{0D108BD9-81ED-4DB2-BD59-A6C34878D82A}">
                    <a16:rowId xmlns:a16="http://schemas.microsoft.com/office/drawing/2014/main" val="3668976479"/>
                  </a:ext>
                </a:extLst>
              </a:tr>
              <a:tr h="228600">
                <a:tc>
                  <a:txBody>
                    <a:bodyPr/>
                    <a:lstStyle/>
                    <a:p>
                      <a:pPr algn="l" fontAlgn="ctr">
                        <a:buNone/>
                      </a:pPr>
                      <a:r>
                        <a:rPr lang="zh-CN" altLang="en-US" sz="1400" u="none" strike="noStrike">
                          <a:effectLst/>
                        </a:rPr>
                        <a:t>小指</a:t>
                      </a:r>
                      <a:endParaRPr lang="zh-CN" altLang="en-US"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en" sz="1400" u="none" strike="noStrike" dirty="0">
                          <a:effectLst/>
                        </a:rPr>
                        <a:t>F₄,₃₆ = 3.58</a:t>
                      </a:r>
                      <a:endParaRPr lang="en" sz="1400" b="0" i="0" u="none" strike="noStrike" dirty="0">
                        <a:solidFill>
                          <a:srgbClr val="000000"/>
                        </a:solidFill>
                        <a:effectLst/>
                        <a:latin typeface="Inherit"/>
                        <a:ea typeface="等线" panose="02010600030101010101" pitchFamily="2" charset="-122"/>
                      </a:endParaRPr>
                    </a:p>
                  </a:txBody>
                  <a:tcPr marL="9525" marR="9525" marT="9525" marB="0" anchor="ctr"/>
                </a:tc>
                <a:tc>
                  <a:txBody>
                    <a:bodyPr/>
                    <a:lstStyle/>
                    <a:p>
                      <a:pPr algn="r" fontAlgn="ctr">
                        <a:buNone/>
                      </a:pPr>
                      <a:r>
                        <a:rPr lang="en-US" altLang="zh-CN" sz="1400" u="none" strike="noStrike">
                          <a:effectLst/>
                        </a:rPr>
                        <a:t>0.015</a:t>
                      </a:r>
                      <a:endParaRPr lang="en-US" altLang="zh-CN" sz="1400" b="0"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显著</a:t>
                      </a:r>
                      <a:endParaRPr lang="zh-CN" altLang="en-US" sz="1400" b="1" i="0" u="none" strike="noStrike">
                        <a:solidFill>
                          <a:srgbClr val="000000"/>
                        </a:solidFill>
                        <a:effectLst/>
                        <a:latin typeface="Inherit"/>
                        <a:ea typeface="等线" panose="02010600030101010101" pitchFamily="2" charset="-122"/>
                      </a:endParaRPr>
                    </a:p>
                  </a:txBody>
                  <a:tcPr marL="9525" marR="9525" marT="9525" marB="0" anchor="ctr"/>
                </a:tc>
                <a:tc>
                  <a:txBody>
                    <a:bodyPr/>
                    <a:lstStyle/>
                    <a:p>
                      <a:pPr algn="l" fontAlgn="ctr">
                        <a:buNone/>
                      </a:pPr>
                      <a:r>
                        <a:rPr lang="zh-CN" altLang="en-US" sz="1400" u="none" strike="noStrike" dirty="0">
                          <a:effectLst/>
                        </a:rPr>
                        <a:t>小指误差也受佩戴位置影响</a:t>
                      </a:r>
                      <a:endParaRPr lang="zh-CN" altLang="en-US" sz="1400" b="0" i="0" u="none" strike="noStrike" dirty="0">
                        <a:solidFill>
                          <a:srgbClr val="000000"/>
                        </a:solidFill>
                        <a:effectLst/>
                        <a:latin typeface="Inherit"/>
                        <a:ea typeface="等线" panose="02010600030101010101" pitchFamily="2" charset="-122"/>
                      </a:endParaRPr>
                    </a:p>
                  </a:txBody>
                  <a:tcPr marL="9525" marR="9525" marT="9525" marB="0" anchor="ctr"/>
                </a:tc>
                <a:extLst>
                  <a:ext uri="{0D108BD9-81ED-4DB2-BD59-A6C34878D82A}">
                    <a16:rowId xmlns:a16="http://schemas.microsoft.com/office/drawing/2014/main" val="4294274129"/>
                  </a:ext>
                </a:extLst>
              </a:tr>
            </a:tbl>
          </a:graphicData>
        </a:graphic>
      </p:graphicFrame>
      <p:graphicFrame>
        <p:nvGraphicFramePr>
          <p:cNvPr id="16" name="表格 15">
            <a:extLst>
              <a:ext uri="{FF2B5EF4-FFF2-40B4-BE49-F238E27FC236}">
                <a16:creationId xmlns:a16="http://schemas.microsoft.com/office/drawing/2014/main" id="{615C122A-3207-D1B4-7ED7-1D0F1BEEE57E}"/>
              </a:ext>
            </a:extLst>
          </p:cNvPr>
          <p:cNvGraphicFramePr>
            <a:graphicFrameLocks noGrp="1"/>
          </p:cNvGraphicFramePr>
          <p:nvPr>
            <p:extLst>
              <p:ext uri="{D42A27DB-BD31-4B8C-83A1-F6EECF244321}">
                <p14:modId xmlns:p14="http://schemas.microsoft.com/office/powerpoint/2010/main" val="917472830"/>
              </p:ext>
            </p:extLst>
          </p:nvPr>
        </p:nvGraphicFramePr>
        <p:xfrm>
          <a:off x="5303488" y="2209028"/>
          <a:ext cx="6182264" cy="457200"/>
        </p:xfrm>
        <a:graphic>
          <a:graphicData uri="http://schemas.openxmlformats.org/drawingml/2006/table">
            <a:tbl>
              <a:tblPr>
                <a:tableStyleId>{5C22544A-7EE6-4342-B048-85BDC9FD1C3A}</a:tableStyleId>
              </a:tblPr>
              <a:tblGrid>
                <a:gridCol w="1253429">
                  <a:extLst>
                    <a:ext uri="{9D8B030D-6E8A-4147-A177-3AD203B41FA5}">
                      <a16:colId xmlns:a16="http://schemas.microsoft.com/office/drawing/2014/main" val="1895383907"/>
                    </a:ext>
                  </a:extLst>
                </a:gridCol>
                <a:gridCol w="1237785">
                  <a:extLst>
                    <a:ext uri="{9D8B030D-6E8A-4147-A177-3AD203B41FA5}">
                      <a16:colId xmlns:a16="http://schemas.microsoft.com/office/drawing/2014/main" val="2539353139"/>
                    </a:ext>
                  </a:extLst>
                </a:gridCol>
                <a:gridCol w="1271239">
                  <a:extLst>
                    <a:ext uri="{9D8B030D-6E8A-4147-A177-3AD203B41FA5}">
                      <a16:colId xmlns:a16="http://schemas.microsoft.com/office/drawing/2014/main" val="500642534"/>
                    </a:ext>
                  </a:extLst>
                </a:gridCol>
                <a:gridCol w="2419811">
                  <a:extLst>
                    <a:ext uri="{9D8B030D-6E8A-4147-A177-3AD203B41FA5}">
                      <a16:colId xmlns:a16="http://schemas.microsoft.com/office/drawing/2014/main" val="1132041278"/>
                    </a:ext>
                  </a:extLst>
                </a:gridCol>
              </a:tblGrid>
              <a:tr h="228600">
                <a:tc>
                  <a:txBody>
                    <a:bodyPr/>
                    <a:lstStyle/>
                    <a:p>
                      <a:pPr algn="l" fontAlgn="ctr">
                        <a:buNone/>
                      </a:pPr>
                      <a:r>
                        <a:rPr lang="zh-CN" altLang="en-US" sz="1200" u="none" strike="noStrike" dirty="0">
                          <a:effectLst/>
                        </a:rPr>
                        <a:t>被追踪手指</a:t>
                      </a: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 sz="1200" u="none" strike="noStrike" dirty="0">
                          <a:effectLst/>
                        </a:rPr>
                        <a:t>F </a:t>
                      </a:r>
                      <a:r>
                        <a:rPr lang="zh-CN" altLang="en-US" sz="1200" u="none" strike="noStrike" dirty="0">
                          <a:effectLst/>
                        </a:rPr>
                        <a:t>值</a:t>
                      </a:r>
                      <a:endParaRPr lang="zh-CN" altLang="en-US" sz="12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 sz="1200" u="none" strike="noStrike" dirty="0">
                          <a:effectLst/>
                        </a:rPr>
                        <a:t>p</a:t>
                      </a:r>
                      <a:endParaRPr lang="en" sz="12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400" u="none" strike="noStrike">
                          <a:effectLst/>
                        </a:rPr>
                        <a:t>是否显著</a:t>
                      </a:r>
                      <a:endParaRPr lang="zh-CN" altLang="en-US" sz="1400" b="1" i="0" u="none" strike="noStrike">
                        <a:solidFill>
                          <a:srgbClr val="000000"/>
                        </a:solidFill>
                        <a:effectLst/>
                        <a:latin typeface="Inherit"/>
                        <a:ea typeface="等线" panose="02010600030101010101" pitchFamily="2" charset="-122"/>
                      </a:endParaRPr>
                    </a:p>
                  </a:txBody>
                  <a:tcPr marL="9525" marR="9525" marT="9525" marB="0" anchor="ctr"/>
                </a:tc>
                <a:extLst>
                  <a:ext uri="{0D108BD9-81ED-4DB2-BD59-A6C34878D82A}">
                    <a16:rowId xmlns:a16="http://schemas.microsoft.com/office/drawing/2014/main" val="274388431"/>
                  </a:ext>
                </a:extLst>
              </a:tr>
              <a:tr h="228600">
                <a:tc>
                  <a:txBody>
                    <a:bodyPr/>
                    <a:lstStyle/>
                    <a:p>
                      <a:pPr algn="l" fontAlgn="ctr">
                        <a:buNone/>
                      </a:pPr>
                      <a:r>
                        <a:rPr lang="zh-CN" altLang="en-US" sz="1200" u="none" strike="noStrike">
                          <a:effectLst/>
                        </a:rPr>
                        <a:t>整个手</a:t>
                      </a:r>
                      <a:endParaRPr lang="zh-CN" altLang="en-US" sz="12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r" fontAlgn="ctr">
                        <a:buNone/>
                      </a:pPr>
                      <a:r>
                        <a:rPr lang="en-US" altLang="zh-CN" sz="1200" u="none" strike="noStrike">
                          <a:effectLst/>
                        </a:rPr>
                        <a:t>3.35</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en-US" altLang="zh-CN" sz="1200" u="none" strike="noStrike">
                          <a:effectLst/>
                        </a:rPr>
                        <a:t>0.008&lt;0.05</a:t>
                      </a:r>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buNone/>
                      </a:pPr>
                      <a:r>
                        <a:rPr lang="zh-CN" altLang="en-US" sz="1400" u="none" strike="noStrike" dirty="0">
                          <a:effectLst/>
                        </a:rPr>
                        <a:t>显著</a:t>
                      </a:r>
                      <a:endParaRPr lang="zh-CN" altLang="en-US" sz="1400" b="1" i="0" u="none" strike="noStrike" dirty="0">
                        <a:solidFill>
                          <a:srgbClr val="000000"/>
                        </a:solidFill>
                        <a:effectLst/>
                        <a:latin typeface="Inherit"/>
                        <a:ea typeface="等线" panose="02010600030101010101" pitchFamily="2" charset="-122"/>
                      </a:endParaRPr>
                    </a:p>
                  </a:txBody>
                  <a:tcPr marL="9525" marR="9525" marT="9525" marB="0" anchor="ctr"/>
                </a:tc>
                <a:extLst>
                  <a:ext uri="{0D108BD9-81ED-4DB2-BD59-A6C34878D82A}">
                    <a16:rowId xmlns:a16="http://schemas.microsoft.com/office/drawing/2014/main" val="382282330"/>
                  </a:ext>
                </a:extLst>
              </a:tr>
            </a:tbl>
          </a:graphicData>
        </a:graphic>
      </p:graphicFrame>
    </p:spTree>
    <p:extLst>
      <p:ext uri="{BB962C8B-B14F-4D97-AF65-F5344CB8AC3E}">
        <p14:creationId xmlns:p14="http://schemas.microsoft.com/office/powerpoint/2010/main" val="310311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6B0E0-A974-C3DB-E8FC-927F19573F29}"/>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1BCDDCBB-68E7-10CF-2B7C-14525EA33519}"/>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ED6C4726-FDCD-62DC-FFD7-8BA8E24A2A84}"/>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412835A6-5E5A-AE1A-1257-3A7D66251A88}"/>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6079817F-D132-1722-715C-5BF6E678F063}"/>
              </a:ext>
            </a:extLst>
          </p:cNvPr>
          <p:cNvSpPr txBox="1"/>
          <p:nvPr/>
        </p:nvSpPr>
        <p:spPr>
          <a:xfrm>
            <a:off x="4965152" y="2905531"/>
            <a:ext cx="5716774" cy="923330"/>
          </a:xfrm>
          <a:prstGeom prst="rect">
            <a:avLst/>
          </a:prstGeom>
          <a:noFill/>
        </p:spPr>
        <p:txBody>
          <a:bodyPr wrap="square" rtlCol="0">
            <a:spAutoFit/>
          </a:bodyPr>
          <a:lstStyle/>
          <a:p>
            <a:pPr algn="dist"/>
            <a:r>
              <a:rPr lang="zh-CN" altLang="en-US" sz="5400" b="1" dirty="0">
                <a:solidFill>
                  <a:schemeClr val="accent1"/>
                </a:solidFill>
                <a:latin typeface="宋体" panose="02010600030101010101" pitchFamily="2" charset="-122"/>
                <a:ea typeface="宋体" panose="02010600030101010101" pitchFamily="2" charset="-122"/>
              </a:rPr>
              <a:t>连续手部姿态追踪</a:t>
            </a:r>
          </a:p>
        </p:txBody>
      </p:sp>
      <p:grpSp>
        <p:nvGrpSpPr>
          <p:cNvPr id="3" name="组合 2">
            <a:extLst>
              <a:ext uri="{FF2B5EF4-FFF2-40B4-BE49-F238E27FC236}">
                <a16:creationId xmlns:a16="http://schemas.microsoft.com/office/drawing/2014/main" id="{3D156AC7-18DD-9F1D-6A78-6FD9A8CC7054}"/>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2A5FDEC9-13F2-A0A5-75B9-A3F4065CA440}"/>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宋体" panose="02010600030101010101" pitchFamily="2" charset="-122"/>
                  <a:ea typeface="宋体" panose="02010600030101010101" pitchFamily="2" charset="-122"/>
                </a:rPr>
                <a:t>壹</a:t>
              </a:r>
            </a:p>
          </p:txBody>
        </p:sp>
        <p:pic>
          <p:nvPicPr>
            <p:cNvPr id="7" name="图片 6">
              <a:extLst>
                <a:ext uri="{FF2B5EF4-FFF2-40B4-BE49-F238E27FC236}">
                  <a16:creationId xmlns:a16="http://schemas.microsoft.com/office/drawing/2014/main" id="{A5413A09-6188-7635-B082-72A80FA0CA6E}"/>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2A2340A8-5D74-5EC8-17BD-31F8827C9B9E}"/>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7CC33B30-B005-DC49-0DB4-4C101DBC78F8}"/>
              </a:ext>
            </a:extLst>
          </p:cNvPr>
          <p:cNvPicPr>
            <a:picLocks noChangeAspect="1"/>
          </p:cNvPicPr>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434954" y="3421525"/>
            <a:ext cx="1002008" cy="814671"/>
          </a:xfrm>
          <a:prstGeom prst="rect">
            <a:avLst/>
          </a:prstGeom>
        </p:spPr>
      </p:pic>
    </p:spTree>
    <p:extLst>
      <p:ext uri="{BB962C8B-B14F-4D97-AF65-F5344CB8AC3E}">
        <p14:creationId xmlns:p14="http://schemas.microsoft.com/office/powerpoint/2010/main" val="1716873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5405B-E493-0B66-3948-654A16921EAD}"/>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1BD16B3-AB48-B769-6A9F-DF3F0FBFBDED}"/>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338580C9-ACBD-1A94-0DED-3ED1F22E8FF9}"/>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AB69161F-F4F5-D818-4712-05E7276C8C5A}"/>
              </a:ext>
            </a:extLst>
          </p:cNvPr>
          <p:cNvGrpSpPr/>
          <p:nvPr/>
        </p:nvGrpSpPr>
        <p:grpSpPr>
          <a:xfrm>
            <a:off x="138529" y="112811"/>
            <a:ext cx="1957900" cy="593132"/>
            <a:chOff x="1019925" y="1507763"/>
            <a:chExt cx="1957900" cy="593132"/>
          </a:xfrm>
        </p:grpSpPr>
        <p:sp>
          <p:nvSpPr>
            <p:cNvPr id="4" name="文本框 3">
              <a:extLst>
                <a:ext uri="{FF2B5EF4-FFF2-40B4-BE49-F238E27FC236}">
                  <a16:creationId xmlns:a16="http://schemas.microsoft.com/office/drawing/2014/main" id="{5E3ECA59-6DE2-FD33-F551-7489C0725715}"/>
                </a:ext>
              </a:extLst>
            </p:cNvPr>
            <p:cNvSpPr txBox="1"/>
            <p:nvPr/>
          </p:nvSpPr>
          <p:spPr>
            <a:xfrm>
              <a:off x="1700306" y="1507763"/>
              <a:ext cx="1277519"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姿势集</a:t>
              </a:r>
            </a:p>
          </p:txBody>
        </p:sp>
        <p:pic>
          <p:nvPicPr>
            <p:cNvPr id="5" name="图片 4">
              <a:extLst>
                <a:ext uri="{FF2B5EF4-FFF2-40B4-BE49-F238E27FC236}">
                  <a16:creationId xmlns:a16="http://schemas.microsoft.com/office/drawing/2014/main" id="{BB73AB94-34FA-19A3-5F60-AB2346C6DC83}"/>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0" name="文本框 9">
            <a:extLst>
              <a:ext uri="{FF2B5EF4-FFF2-40B4-BE49-F238E27FC236}">
                <a16:creationId xmlns:a16="http://schemas.microsoft.com/office/drawing/2014/main" id="{BBEEBE12-ED7E-3912-5ABA-B2133B9982D2}"/>
              </a:ext>
            </a:extLst>
          </p:cNvPr>
          <p:cNvSpPr txBox="1"/>
          <p:nvPr/>
        </p:nvSpPr>
        <p:spPr>
          <a:xfrm>
            <a:off x="7785211" y="3265440"/>
            <a:ext cx="2902477" cy="276999"/>
          </a:xfrm>
          <a:prstGeom prst="rect">
            <a:avLst/>
          </a:prstGeom>
          <a:noFill/>
        </p:spPr>
        <p:txBody>
          <a:bodyPr wrap="square" lIns="0" tIns="0" rIns="0" bIns="0" rtlCol="0">
            <a:spAutoFit/>
          </a:bodyPr>
          <a:lstStyle/>
          <a:p>
            <a:r>
              <a:rPr kumimoji="1" lang="zh-CN" altLang="en-US" dirty="0">
                <a:solidFill>
                  <a:schemeClr val="accent6"/>
                </a:solidFill>
              </a:rPr>
              <a:t>绿色为</a:t>
            </a:r>
            <a:r>
              <a:rPr kumimoji="1" lang="en-US" altLang="zh-CN" dirty="0">
                <a:solidFill>
                  <a:schemeClr val="accent6"/>
                </a:solidFill>
              </a:rPr>
              <a:t>11</a:t>
            </a:r>
            <a:r>
              <a:rPr kumimoji="1" lang="zh-CN" altLang="en-US" dirty="0">
                <a:solidFill>
                  <a:schemeClr val="accent6"/>
                </a:solidFill>
              </a:rPr>
              <a:t>个无遮挡动作（</a:t>
            </a:r>
            <a:r>
              <a:rPr kumimoji="1" lang="en-US" altLang="zh-CN" dirty="0">
                <a:solidFill>
                  <a:schemeClr val="accent6"/>
                </a:solidFill>
              </a:rPr>
              <a:t>NO</a:t>
            </a:r>
            <a:r>
              <a:rPr kumimoji="1" lang="zh-CN" altLang="en-US" dirty="0">
                <a:solidFill>
                  <a:schemeClr val="accent6"/>
                </a:solidFill>
              </a:rPr>
              <a:t>）</a:t>
            </a:r>
          </a:p>
        </p:txBody>
      </p:sp>
      <p:sp>
        <p:nvSpPr>
          <p:cNvPr id="11" name="文本框 10">
            <a:extLst>
              <a:ext uri="{FF2B5EF4-FFF2-40B4-BE49-F238E27FC236}">
                <a16:creationId xmlns:a16="http://schemas.microsoft.com/office/drawing/2014/main" id="{006ABAC2-19C4-47AB-50E2-695C2D633D93}"/>
              </a:ext>
            </a:extLst>
          </p:cNvPr>
          <p:cNvSpPr txBox="1"/>
          <p:nvPr/>
        </p:nvSpPr>
        <p:spPr>
          <a:xfrm>
            <a:off x="7790680" y="2787261"/>
            <a:ext cx="2974340" cy="369332"/>
          </a:xfrm>
          <a:prstGeom prst="rect">
            <a:avLst/>
          </a:prstGeom>
          <a:noFill/>
        </p:spPr>
        <p:txBody>
          <a:bodyPr wrap="square" lIns="0" tIns="0" rIns="0" bIns="0" rtlCol="0">
            <a:spAutoFit/>
          </a:bodyPr>
          <a:lstStyle/>
          <a:p>
            <a:r>
              <a:rPr lang="zh-CN" altLang="en-US" sz="2400" b="1" dirty="0">
                <a:solidFill>
                  <a:schemeClr val="accent1"/>
                </a:solidFill>
                <a:latin typeface="+mj-ea"/>
                <a:ea typeface="+mj-ea"/>
              </a:rPr>
              <a:t>总共确定二十个姿势</a:t>
            </a:r>
          </a:p>
        </p:txBody>
      </p:sp>
      <p:sp>
        <p:nvSpPr>
          <p:cNvPr id="62" name="矩形 61">
            <a:extLst>
              <a:ext uri="{FF2B5EF4-FFF2-40B4-BE49-F238E27FC236}">
                <a16:creationId xmlns:a16="http://schemas.microsoft.com/office/drawing/2014/main" id="{79DB3570-874C-EAE8-5598-C27011048F7B}"/>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D6EC7148-4560-763C-9820-AA2944A0F440}"/>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48" name="文本框 47">
            <a:extLst>
              <a:ext uri="{FF2B5EF4-FFF2-40B4-BE49-F238E27FC236}">
                <a16:creationId xmlns:a16="http://schemas.microsoft.com/office/drawing/2014/main" id="{6868291F-1678-1014-47AA-0F6910DBB073}"/>
              </a:ext>
            </a:extLst>
          </p:cNvPr>
          <p:cNvSpPr txBox="1"/>
          <p:nvPr/>
        </p:nvSpPr>
        <p:spPr>
          <a:xfrm>
            <a:off x="7707881" y="3651287"/>
            <a:ext cx="3057139" cy="369332"/>
          </a:xfrm>
          <a:prstGeom prst="rect">
            <a:avLst/>
          </a:prstGeom>
          <a:noFill/>
        </p:spPr>
        <p:txBody>
          <a:bodyPr wrap="square">
            <a:spAutoFit/>
          </a:bodyPr>
          <a:lstStyle/>
          <a:p>
            <a:r>
              <a:rPr kumimoji="1" lang="zh-CN" altLang="en-US" dirty="0">
                <a:solidFill>
                  <a:srgbClr val="002060"/>
                </a:solidFill>
              </a:rPr>
              <a:t>蓝色为</a:t>
            </a:r>
            <a:r>
              <a:rPr kumimoji="1" lang="en-US" altLang="zh-CN" dirty="0">
                <a:solidFill>
                  <a:srgbClr val="002060"/>
                </a:solidFill>
              </a:rPr>
              <a:t>9</a:t>
            </a:r>
            <a:r>
              <a:rPr kumimoji="1" lang="zh-CN" altLang="en-US" dirty="0">
                <a:solidFill>
                  <a:srgbClr val="002060"/>
                </a:solidFill>
              </a:rPr>
              <a:t>个有遮挡动作（</a:t>
            </a:r>
            <a:r>
              <a:rPr kumimoji="1" lang="en-US" altLang="zh-CN" dirty="0">
                <a:solidFill>
                  <a:srgbClr val="002060"/>
                </a:solidFill>
              </a:rPr>
              <a:t>WO</a:t>
            </a:r>
            <a:r>
              <a:rPr kumimoji="1" lang="zh-CN" altLang="en-US" dirty="0">
                <a:solidFill>
                  <a:srgbClr val="002060"/>
                </a:solidFill>
              </a:rPr>
              <a:t>）</a:t>
            </a:r>
          </a:p>
        </p:txBody>
      </p:sp>
      <p:pic>
        <p:nvPicPr>
          <p:cNvPr id="6" name="图片 5">
            <a:extLst>
              <a:ext uri="{FF2B5EF4-FFF2-40B4-BE49-F238E27FC236}">
                <a16:creationId xmlns:a16="http://schemas.microsoft.com/office/drawing/2014/main" id="{E29E0D11-4DBB-3E00-CB55-A8A8C3D09E09}"/>
              </a:ext>
            </a:extLst>
          </p:cNvPr>
          <p:cNvPicPr>
            <a:picLocks noChangeAspect="1"/>
          </p:cNvPicPr>
          <p:nvPr/>
        </p:nvPicPr>
        <p:blipFill>
          <a:blip r:embed="rId5"/>
          <a:stretch>
            <a:fillRect/>
          </a:stretch>
        </p:blipFill>
        <p:spPr>
          <a:xfrm>
            <a:off x="385606" y="837001"/>
            <a:ext cx="6936669" cy="5712551"/>
          </a:xfrm>
          <a:prstGeom prst="rect">
            <a:avLst/>
          </a:prstGeom>
        </p:spPr>
      </p:pic>
      <p:cxnSp>
        <p:nvCxnSpPr>
          <p:cNvPr id="12" name="直线连接符 11">
            <a:extLst>
              <a:ext uri="{FF2B5EF4-FFF2-40B4-BE49-F238E27FC236}">
                <a16:creationId xmlns:a16="http://schemas.microsoft.com/office/drawing/2014/main" id="{8EA0E9DF-9BCE-5DCF-561F-71F0B71F697F}"/>
              </a:ext>
            </a:extLst>
          </p:cNvPr>
          <p:cNvCxnSpPr/>
          <p:nvPr/>
        </p:nvCxnSpPr>
        <p:spPr>
          <a:xfrm>
            <a:off x="1973766" y="4661210"/>
            <a:ext cx="212988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8043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C36A3-700C-5841-D6D5-B5F82C93ED15}"/>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BA2F7220-CC67-CCDF-E407-E2259B32A4DD}"/>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4FED8D8B-7392-B93F-E1FA-B41C7830747B}"/>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174B961E-5F54-18B6-C32D-5388E836467B}"/>
              </a:ext>
            </a:extLst>
          </p:cNvPr>
          <p:cNvGrpSpPr/>
          <p:nvPr/>
        </p:nvGrpSpPr>
        <p:grpSpPr>
          <a:xfrm>
            <a:off x="138529" y="112811"/>
            <a:ext cx="2325891" cy="593132"/>
            <a:chOff x="1019925" y="1507763"/>
            <a:chExt cx="2325891" cy="593132"/>
          </a:xfrm>
        </p:grpSpPr>
        <p:sp>
          <p:nvSpPr>
            <p:cNvPr id="4" name="文本框 3">
              <a:extLst>
                <a:ext uri="{FF2B5EF4-FFF2-40B4-BE49-F238E27FC236}">
                  <a16:creationId xmlns:a16="http://schemas.microsoft.com/office/drawing/2014/main" id="{A2CC90F2-25B2-0532-4CD6-90E9F5C5AE74}"/>
                </a:ext>
              </a:extLst>
            </p:cNvPr>
            <p:cNvSpPr txBox="1"/>
            <p:nvPr/>
          </p:nvSpPr>
          <p:spPr>
            <a:xfrm>
              <a:off x="1700306" y="1507763"/>
              <a:ext cx="1645510"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建立过程</a:t>
              </a:r>
            </a:p>
          </p:txBody>
        </p:sp>
        <p:pic>
          <p:nvPicPr>
            <p:cNvPr id="5" name="图片 4">
              <a:extLst>
                <a:ext uri="{FF2B5EF4-FFF2-40B4-BE49-F238E27FC236}">
                  <a16:creationId xmlns:a16="http://schemas.microsoft.com/office/drawing/2014/main" id="{3D39223E-5646-547B-EEAE-75DA6024EAC4}"/>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73F97E26-820E-81AF-1C22-179C3FBF85E9}"/>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F1F75511-00C8-823C-D9D9-57E690D1A1BE}"/>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6" name="组合 5">
            <a:extLst>
              <a:ext uri="{FF2B5EF4-FFF2-40B4-BE49-F238E27FC236}">
                <a16:creationId xmlns:a16="http://schemas.microsoft.com/office/drawing/2014/main" id="{3FA2BD7D-6634-A9B5-EC02-8F1E83644ACB}"/>
              </a:ext>
            </a:extLst>
          </p:cNvPr>
          <p:cNvGrpSpPr/>
          <p:nvPr/>
        </p:nvGrpSpPr>
        <p:grpSpPr>
          <a:xfrm>
            <a:off x="192048" y="952033"/>
            <a:ext cx="6041484" cy="5655885"/>
            <a:chOff x="-833702" y="666273"/>
            <a:chExt cx="7371985" cy="6759367"/>
          </a:xfrm>
        </p:grpSpPr>
        <p:sp>
          <p:nvSpPr>
            <p:cNvPr id="7" name="矩形 6">
              <a:extLst>
                <a:ext uri="{FF2B5EF4-FFF2-40B4-BE49-F238E27FC236}">
                  <a16:creationId xmlns:a16="http://schemas.microsoft.com/office/drawing/2014/main" id="{9FCD3E74-49CE-2EFB-5519-B2A98F5540E7}"/>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EB1A84B7-EA89-B006-75A1-28A4EAE852C9}"/>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9FE7A076-635E-2383-7C2E-644B0BD25313}"/>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DAEC58C8-F06E-6CE5-6696-D2748B6E2164}"/>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15" name="组合 14">
              <a:extLst>
                <a:ext uri="{FF2B5EF4-FFF2-40B4-BE49-F238E27FC236}">
                  <a16:creationId xmlns:a16="http://schemas.microsoft.com/office/drawing/2014/main" id="{00CF5535-52BF-57B8-50DE-92AC5065BEF8}"/>
                </a:ext>
              </a:extLst>
            </p:cNvPr>
            <p:cNvGrpSpPr/>
            <p:nvPr/>
          </p:nvGrpSpPr>
          <p:grpSpPr>
            <a:xfrm>
              <a:off x="-833702" y="1431998"/>
              <a:ext cx="6785267" cy="5993642"/>
              <a:chOff x="-1076709" y="692302"/>
              <a:chExt cx="8647302" cy="6882010"/>
            </a:xfrm>
          </p:grpSpPr>
          <p:sp>
            <p:nvSpPr>
              <p:cNvPr id="16" name="左大括号 15">
                <a:extLst>
                  <a:ext uri="{FF2B5EF4-FFF2-40B4-BE49-F238E27FC236}">
                    <a16:creationId xmlns:a16="http://schemas.microsoft.com/office/drawing/2014/main" id="{95F3C977-A4DA-A740-32CB-C9C2C67C7E86}"/>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7" name="文本框 16">
                <a:extLst>
                  <a:ext uri="{FF2B5EF4-FFF2-40B4-BE49-F238E27FC236}">
                    <a16:creationId xmlns:a16="http://schemas.microsoft.com/office/drawing/2014/main" id="{2E134712-78C5-CD9D-7E50-B8C255509134}"/>
                  </a:ext>
                </a:extLst>
              </p:cNvPr>
              <p:cNvSpPr txBox="1"/>
              <p:nvPr/>
            </p:nvSpPr>
            <p:spPr>
              <a:xfrm>
                <a:off x="2824206" y="7067500"/>
                <a:ext cx="2460587" cy="506812"/>
              </a:xfrm>
              <a:prstGeom prst="rect">
                <a:avLst/>
              </a:prstGeom>
              <a:noFill/>
            </p:spPr>
            <p:txBody>
              <a:bodyPr wrap="square" rtlCol="0">
                <a:spAutoFit/>
              </a:bodyPr>
              <a:lstStyle/>
              <a:p>
                <a:r>
                  <a:rPr kumimoji="1" lang="en-US" altLang="zh-CN" dirty="0">
                    <a:latin typeface="+mn-ea"/>
                  </a:rPr>
                  <a:t>20+11+9</a:t>
                </a:r>
                <a:endParaRPr kumimoji="1" lang="zh-CN" altLang="en-US" dirty="0"/>
              </a:p>
            </p:txBody>
          </p:sp>
          <p:grpSp>
            <p:nvGrpSpPr>
              <p:cNvPr id="18" name="组合 17">
                <a:extLst>
                  <a:ext uri="{FF2B5EF4-FFF2-40B4-BE49-F238E27FC236}">
                    <a16:creationId xmlns:a16="http://schemas.microsoft.com/office/drawing/2014/main" id="{A28518FD-D013-E074-225C-2C0041415B97}"/>
                  </a:ext>
                </a:extLst>
              </p:cNvPr>
              <p:cNvGrpSpPr/>
              <p:nvPr/>
            </p:nvGrpSpPr>
            <p:grpSpPr>
              <a:xfrm>
                <a:off x="591668" y="902393"/>
                <a:ext cx="6527801" cy="1132934"/>
                <a:chOff x="591668" y="902393"/>
                <a:chExt cx="6527801" cy="1132934"/>
              </a:xfrm>
            </p:grpSpPr>
            <p:pic>
              <p:nvPicPr>
                <p:cNvPr id="57" name="图片 56">
                  <a:extLst>
                    <a:ext uri="{FF2B5EF4-FFF2-40B4-BE49-F238E27FC236}">
                      <a16:creationId xmlns:a16="http://schemas.microsoft.com/office/drawing/2014/main" id="{87369EDF-A29F-46CB-B18D-7444F880535A}"/>
                    </a:ext>
                  </a:extLst>
                </p:cNvPr>
                <p:cNvPicPr>
                  <a:picLocks noChangeAspect="1"/>
                </p:cNvPicPr>
                <p:nvPr/>
              </p:nvPicPr>
              <p:blipFill>
                <a:blip r:embed="rId5"/>
                <a:srcRect t="6098"/>
                <a:stretch>
                  <a:fillRect/>
                </a:stretch>
              </p:blipFill>
              <p:spPr>
                <a:xfrm>
                  <a:off x="591668" y="902393"/>
                  <a:ext cx="812800" cy="1132934"/>
                </a:xfrm>
                <a:prstGeom prst="rect">
                  <a:avLst/>
                </a:prstGeom>
              </p:spPr>
            </p:pic>
            <p:pic>
              <p:nvPicPr>
                <p:cNvPr id="58" name="图片 57">
                  <a:extLst>
                    <a:ext uri="{FF2B5EF4-FFF2-40B4-BE49-F238E27FC236}">
                      <a16:creationId xmlns:a16="http://schemas.microsoft.com/office/drawing/2014/main" id="{9804AF9A-E6C3-AB6A-17E6-B98508B2B294}"/>
                    </a:ext>
                  </a:extLst>
                </p:cNvPr>
                <p:cNvPicPr>
                  <a:picLocks noChangeAspect="1"/>
                </p:cNvPicPr>
                <p:nvPr/>
              </p:nvPicPr>
              <p:blipFill>
                <a:blip r:embed="rId6"/>
                <a:srcRect t="4545" r="65196"/>
                <a:stretch>
                  <a:fillRect/>
                </a:stretch>
              </p:blipFill>
              <p:spPr>
                <a:xfrm>
                  <a:off x="2610969" y="902393"/>
                  <a:ext cx="901700" cy="1081443"/>
                </a:xfrm>
                <a:prstGeom prst="rect">
                  <a:avLst/>
                </a:prstGeom>
              </p:spPr>
            </p:pic>
            <p:pic>
              <p:nvPicPr>
                <p:cNvPr id="60" name="图片 59">
                  <a:extLst>
                    <a:ext uri="{FF2B5EF4-FFF2-40B4-BE49-F238E27FC236}">
                      <a16:creationId xmlns:a16="http://schemas.microsoft.com/office/drawing/2014/main" id="{C3035765-BD3C-BECD-8087-BF31672C24E3}"/>
                    </a:ext>
                  </a:extLst>
                </p:cNvPr>
                <p:cNvPicPr>
                  <a:picLocks noChangeAspect="1"/>
                </p:cNvPicPr>
                <p:nvPr/>
              </p:nvPicPr>
              <p:blipFill>
                <a:blip r:embed="rId6"/>
                <a:srcRect l="34313" t="4545" r="31373"/>
                <a:stretch>
                  <a:fillRect/>
                </a:stretch>
              </p:blipFill>
              <p:spPr>
                <a:xfrm>
                  <a:off x="4528670" y="902393"/>
                  <a:ext cx="889001" cy="1081443"/>
                </a:xfrm>
                <a:prstGeom prst="rect">
                  <a:avLst/>
                </a:prstGeom>
              </p:spPr>
            </p:pic>
            <p:pic>
              <p:nvPicPr>
                <p:cNvPr id="63" name="图片 62">
                  <a:extLst>
                    <a:ext uri="{FF2B5EF4-FFF2-40B4-BE49-F238E27FC236}">
                      <a16:creationId xmlns:a16="http://schemas.microsoft.com/office/drawing/2014/main" id="{C89A2CBA-F36F-4D8F-0FE5-9E2B008B96CA}"/>
                    </a:ext>
                  </a:extLst>
                </p:cNvPr>
                <p:cNvPicPr>
                  <a:picLocks noChangeAspect="1"/>
                </p:cNvPicPr>
                <p:nvPr/>
              </p:nvPicPr>
              <p:blipFill>
                <a:blip r:embed="rId7"/>
                <a:stretch>
                  <a:fillRect/>
                </a:stretch>
              </p:blipFill>
              <p:spPr>
                <a:xfrm>
                  <a:off x="6319370" y="902393"/>
                  <a:ext cx="800099" cy="1117600"/>
                </a:xfrm>
                <a:prstGeom prst="rect">
                  <a:avLst/>
                </a:prstGeom>
              </p:spPr>
            </p:pic>
          </p:grpSp>
          <p:grpSp>
            <p:nvGrpSpPr>
              <p:cNvPr id="19" name="组合 18">
                <a:extLst>
                  <a:ext uri="{FF2B5EF4-FFF2-40B4-BE49-F238E27FC236}">
                    <a16:creationId xmlns:a16="http://schemas.microsoft.com/office/drawing/2014/main" id="{DE9B90AC-0782-FC7E-D16C-3C721912A833}"/>
                  </a:ext>
                </a:extLst>
              </p:cNvPr>
              <p:cNvGrpSpPr/>
              <p:nvPr/>
            </p:nvGrpSpPr>
            <p:grpSpPr>
              <a:xfrm>
                <a:off x="550305" y="3691766"/>
                <a:ext cx="6527800" cy="1132934"/>
                <a:chOff x="622877" y="1038308"/>
                <a:chExt cx="6527800" cy="1132934"/>
              </a:xfrm>
            </p:grpSpPr>
            <p:pic>
              <p:nvPicPr>
                <p:cNvPr id="50" name="图片 49">
                  <a:extLst>
                    <a:ext uri="{FF2B5EF4-FFF2-40B4-BE49-F238E27FC236}">
                      <a16:creationId xmlns:a16="http://schemas.microsoft.com/office/drawing/2014/main" id="{BF927272-9125-36ED-191B-FEE371A12EC5}"/>
                    </a:ext>
                  </a:extLst>
                </p:cNvPr>
                <p:cNvPicPr>
                  <a:picLocks noChangeAspect="1"/>
                </p:cNvPicPr>
                <p:nvPr/>
              </p:nvPicPr>
              <p:blipFill>
                <a:blip r:embed="rId5"/>
                <a:srcRect t="6098"/>
                <a:stretch>
                  <a:fillRect/>
                </a:stretch>
              </p:blipFill>
              <p:spPr>
                <a:xfrm>
                  <a:off x="622877" y="1038308"/>
                  <a:ext cx="812800" cy="1132934"/>
                </a:xfrm>
                <a:prstGeom prst="rect">
                  <a:avLst/>
                </a:prstGeom>
              </p:spPr>
            </p:pic>
            <p:pic>
              <p:nvPicPr>
                <p:cNvPr id="51" name="图片 50">
                  <a:extLst>
                    <a:ext uri="{FF2B5EF4-FFF2-40B4-BE49-F238E27FC236}">
                      <a16:creationId xmlns:a16="http://schemas.microsoft.com/office/drawing/2014/main" id="{C4140479-D581-B01C-6A81-390D669EEA23}"/>
                    </a:ext>
                  </a:extLst>
                </p:cNvPr>
                <p:cNvPicPr>
                  <a:picLocks noChangeAspect="1"/>
                </p:cNvPicPr>
                <p:nvPr/>
              </p:nvPicPr>
              <p:blipFill>
                <a:blip r:embed="rId6"/>
                <a:srcRect t="4545" r="65196"/>
                <a:stretch>
                  <a:fillRect/>
                </a:stretch>
              </p:blipFill>
              <p:spPr>
                <a:xfrm>
                  <a:off x="2642176" y="1038308"/>
                  <a:ext cx="901700" cy="1081442"/>
                </a:xfrm>
                <a:prstGeom prst="rect">
                  <a:avLst/>
                </a:prstGeom>
              </p:spPr>
            </p:pic>
            <p:pic>
              <p:nvPicPr>
                <p:cNvPr id="53" name="图片 52">
                  <a:extLst>
                    <a:ext uri="{FF2B5EF4-FFF2-40B4-BE49-F238E27FC236}">
                      <a16:creationId xmlns:a16="http://schemas.microsoft.com/office/drawing/2014/main" id="{13C78654-49AE-CE19-5EBC-3BB45A60A95F}"/>
                    </a:ext>
                  </a:extLst>
                </p:cNvPr>
                <p:cNvPicPr>
                  <a:picLocks noChangeAspect="1"/>
                </p:cNvPicPr>
                <p:nvPr/>
              </p:nvPicPr>
              <p:blipFill>
                <a:blip r:embed="rId6"/>
                <a:srcRect l="34313" t="4545" r="31373"/>
                <a:stretch>
                  <a:fillRect/>
                </a:stretch>
              </p:blipFill>
              <p:spPr>
                <a:xfrm>
                  <a:off x="4559877" y="1038308"/>
                  <a:ext cx="889001" cy="1081442"/>
                </a:xfrm>
                <a:prstGeom prst="rect">
                  <a:avLst/>
                </a:prstGeom>
              </p:spPr>
            </p:pic>
            <p:pic>
              <p:nvPicPr>
                <p:cNvPr id="55" name="图片 54">
                  <a:extLst>
                    <a:ext uri="{FF2B5EF4-FFF2-40B4-BE49-F238E27FC236}">
                      <a16:creationId xmlns:a16="http://schemas.microsoft.com/office/drawing/2014/main" id="{BDB9621C-963D-5BFB-826B-1DAA94AA9FAC}"/>
                    </a:ext>
                  </a:extLst>
                </p:cNvPr>
                <p:cNvPicPr>
                  <a:picLocks noChangeAspect="1"/>
                </p:cNvPicPr>
                <p:nvPr/>
              </p:nvPicPr>
              <p:blipFill>
                <a:blip r:embed="rId7"/>
                <a:stretch>
                  <a:fillRect/>
                </a:stretch>
              </p:blipFill>
              <p:spPr>
                <a:xfrm>
                  <a:off x="6350578" y="1038308"/>
                  <a:ext cx="800099" cy="1117600"/>
                </a:xfrm>
                <a:prstGeom prst="rect">
                  <a:avLst/>
                </a:prstGeom>
              </p:spPr>
            </p:pic>
          </p:grpSp>
          <p:sp>
            <p:nvSpPr>
              <p:cNvPr id="20" name="左大括号 19">
                <a:extLst>
                  <a:ext uri="{FF2B5EF4-FFF2-40B4-BE49-F238E27FC236}">
                    <a16:creationId xmlns:a16="http://schemas.microsoft.com/office/drawing/2014/main" id="{A27D080F-1504-7408-A210-B05480D30A90}"/>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FCA94E11-AA12-1BF2-10CB-C71941207034}"/>
                  </a:ext>
                </a:extLst>
              </p:cNvPr>
              <p:cNvSpPr txBox="1"/>
              <p:nvPr/>
            </p:nvSpPr>
            <p:spPr>
              <a:xfrm>
                <a:off x="-1076709" y="3267222"/>
                <a:ext cx="717929" cy="849086"/>
              </a:xfrm>
              <a:prstGeom prst="rect">
                <a:avLst/>
              </a:prstGeom>
              <a:noFill/>
            </p:spPr>
            <p:txBody>
              <a:bodyPr vert="eaVert" wrap="square" rtlCol="0">
                <a:spAutoFit/>
              </a:bodyPr>
              <a:lstStyle/>
              <a:p>
                <a:r>
                  <a:rPr kumimoji="1" lang="en-US" altLang="zh-CN" dirty="0"/>
                  <a:t>2</a:t>
                </a:r>
                <a:r>
                  <a:rPr kumimoji="1" lang="zh-CN" altLang="en-US" dirty="0"/>
                  <a:t>组</a:t>
                </a:r>
              </a:p>
            </p:txBody>
          </p:sp>
        </p:grpSp>
      </p:grpSp>
      <p:sp>
        <p:nvSpPr>
          <p:cNvPr id="65" name="文本框 64">
            <a:extLst>
              <a:ext uri="{FF2B5EF4-FFF2-40B4-BE49-F238E27FC236}">
                <a16:creationId xmlns:a16="http://schemas.microsoft.com/office/drawing/2014/main" id="{1772DA35-EE5E-D6E0-125B-AF2891C587C2}"/>
              </a:ext>
            </a:extLst>
          </p:cNvPr>
          <p:cNvSpPr txBox="1"/>
          <p:nvPr/>
        </p:nvSpPr>
        <p:spPr>
          <a:xfrm>
            <a:off x="7609629" y="2214279"/>
            <a:ext cx="3788864" cy="2031325"/>
          </a:xfrm>
          <a:prstGeom prst="rect">
            <a:avLst/>
          </a:prstGeom>
          <a:noFill/>
        </p:spPr>
        <p:txBody>
          <a:bodyPr wrap="square" rtlCol="0">
            <a:spAutoFit/>
          </a:bodyPr>
          <a:lstStyle/>
          <a:p>
            <a:r>
              <a:rPr kumimoji="1" lang="zh-CN" altLang="en-US" dirty="0">
                <a:latin typeface="+mn-ea"/>
              </a:rPr>
              <a:t>总共</a:t>
            </a:r>
            <a:r>
              <a:rPr kumimoji="1" lang="en-US" altLang="zh-CN" dirty="0">
                <a:latin typeface="+mn-ea"/>
              </a:rPr>
              <a:t>12</a:t>
            </a:r>
            <a:r>
              <a:rPr kumimoji="1" lang="zh-CN" altLang="en-US" dirty="0">
                <a:latin typeface="+mn-ea"/>
              </a:rPr>
              <a:t>位参与者</a:t>
            </a:r>
            <a:endParaRPr kumimoji="1" lang="en-US" altLang="zh-CN" dirty="0">
              <a:latin typeface="+mn-ea"/>
            </a:endParaRPr>
          </a:p>
          <a:p>
            <a:endParaRPr kumimoji="1" lang="en-US" altLang="zh-CN" dirty="0">
              <a:latin typeface="+mn-ea"/>
            </a:endParaRPr>
          </a:p>
          <a:p>
            <a:r>
              <a:rPr kumimoji="1" lang="zh-CN" altLang="en-US" dirty="0">
                <a:latin typeface="+mn-ea"/>
              </a:rPr>
              <a:t>每个参与者进行</a:t>
            </a:r>
            <a:r>
              <a:rPr kumimoji="1" lang="en-US" altLang="zh-CN" dirty="0">
                <a:latin typeface="+mn-ea"/>
              </a:rPr>
              <a:t>12</a:t>
            </a:r>
            <a:r>
              <a:rPr kumimoji="1" lang="zh-CN" altLang="en-US" dirty="0">
                <a:latin typeface="+mn-ea"/>
              </a:rPr>
              <a:t>个环节</a:t>
            </a:r>
            <a:endParaRPr kumimoji="1" lang="en-US" altLang="zh-CN" dirty="0">
              <a:latin typeface="+mn-ea"/>
            </a:endParaRPr>
          </a:p>
          <a:p>
            <a:endParaRPr kumimoji="1" lang="en-US" altLang="zh-CN" dirty="0">
              <a:latin typeface="+mn-ea"/>
            </a:endParaRPr>
          </a:p>
          <a:p>
            <a:r>
              <a:rPr kumimoji="1" lang="zh-CN" altLang="en-US" dirty="0">
                <a:latin typeface="+mn-ea"/>
              </a:rPr>
              <a:t>每个环节做两边全部手势，</a:t>
            </a:r>
            <a:r>
              <a:rPr kumimoji="1" lang="en-US" altLang="zh-CN" dirty="0">
                <a:latin typeface="+mn-ea"/>
              </a:rPr>
              <a:t>WO</a:t>
            </a:r>
            <a:r>
              <a:rPr kumimoji="1" lang="zh-CN" altLang="en-US" dirty="0">
                <a:latin typeface="+mn-ea"/>
              </a:rPr>
              <a:t>手势和</a:t>
            </a:r>
            <a:r>
              <a:rPr kumimoji="1" lang="en-US" altLang="zh-CN" dirty="0">
                <a:latin typeface="+mn-ea"/>
              </a:rPr>
              <a:t>NO</a:t>
            </a:r>
            <a:r>
              <a:rPr kumimoji="1" lang="zh-CN" altLang="en-US" dirty="0">
                <a:latin typeface="+mn-ea"/>
              </a:rPr>
              <a:t>手势 </a:t>
            </a:r>
            <a:r>
              <a:rPr kumimoji="1" lang="en-US" altLang="zh-CN" dirty="0">
                <a:latin typeface="+mn-ea"/>
              </a:rPr>
              <a:t>2×(20+11+9) = 80</a:t>
            </a:r>
          </a:p>
          <a:p>
            <a:endParaRPr kumimoji="1" lang="en-US" altLang="zh-CN" dirty="0">
              <a:latin typeface="+mn-ea"/>
            </a:endParaRPr>
          </a:p>
        </p:txBody>
      </p:sp>
      <p:sp>
        <p:nvSpPr>
          <p:cNvPr id="8" name="左大括号 7">
            <a:extLst>
              <a:ext uri="{FF2B5EF4-FFF2-40B4-BE49-F238E27FC236}">
                <a16:creationId xmlns:a16="http://schemas.microsoft.com/office/drawing/2014/main" id="{1FD83605-D1D1-A5AB-63AE-A02AA79F7020}"/>
              </a:ext>
            </a:extLst>
          </p:cNvPr>
          <p:cNvSpPr/>
          <p:nvPr/>
        </p:nvSpPr>
        <p:spPr>
          <a:xfrm rot="13736008">
            <a:off x="6099736" y="5544122"/>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7AFE014D-3D96-A8C6-5D5F-832C76A4197D}"/>
              </a:ext>
            </a:extLst>
          </p:cNvPr>
          <p:cNvSpPr txBox="1"/>
          <p:nvPr/>
        </p:nvSpPr>
        <p:spPr>
          <a:xfrm>
            <a:off x="6219841" y="5903328"/>
            <a:ext cx="438912" cy="369332"/>
          </a:xfrm>
          <a:prstGeom prst="rect">
            <a:avLst/>
          </a:prstGeom>
          <a:noFill/>
        </p:spPr>
        <p:txBody>
          <a:bodyPr wrap="square">
            <a:spAutoFit/>
          </a:bodyPr>
          <a:lstStyle/>
          <a:p>
            <a:r>
              <a:rPr kumimoji="1" lang="en-US" altLang="zh-CN" dirty="0">
                <a:latin typeface="+mn-ea"/>
              </a:rPr>
              <a:t>12</a:t>
            </a:r>
            <a:endParaRPr lang="zh-CN" altLang="en-US" dirty="0"/>
          </a:p>
        </p:txBody>
      </p:sp>
    </p:spTree>
    <p:extLst>
      <p:ext uri="{BB962C8B-B14F-4D97-AF65-F5344CB8AC3E}">
        <p14:creationId xmlns:p14="http://schemas.microsoft.com/office/powerpoint/2010/main" val="1861650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8E5A7-D93D-6C40-EF84-EB062CA1DF2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6248391A-7BE1-A232-012C-C4FFBE1DE01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1A9F1A20-F0DA-E972-00A8-D1749E99F37F}"/>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87B6792C-24E0-14D7-4AF6-21047EFF1CAD}"/>
              </a:ext>
            </a:extLst>
          </p:cNvPr>
          <p:cNvGrpSpPr/>
          <p:nvPr/>
        </p:nvGrpSpPr>
        <p:grpSpPr>
          <a:xfrm>
            <a:off x="138529" y="112811"/>
            <a:ext cx="4110086" cy="593132"/>
            <a:chOff x="1019925" y="1507763"/>
            <a:chExt cx="4110086" cy="593132"/>
          </a:xfrm>
        </p:grpSpPr>
        <p:sp>
          <p:nvSpPr>
            <p:cNvPr id="4" name="文本框 3">
              <a:extLst>
                <a:ext uri="{FF2B5EF4-FFF2-40B4-BE49-F238E27FC236}">
                  <a16:creationId xmlns:a16="http://schemas.microsoft.com/office/drawing/2014/main" id="{38159A11-3B8E-E874-F55A-74FBDA787CC3}"/>
                </a:ext>
              </a:extLst>
            </p:cNvPr>
            <p:cNvSpPr txBox="1"/>
            <p:nvPr/>
          </p:nvSpPr>
          <p:spPr>
            <a:xfrm>
              <a:off x="1700306" y="1507763"/>
              <a:ext cx="3429705"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用户无关和用户相关</a:t>
              </a:r>
            </a:p>
          </p:txBody>
        </p:sp>
        <p:pic>
          <p:nvPicPr>
            <p:cNvPr id="5" name="图片 4">
              <a:extLst>
                <a:ext uri="{FF2B5EF4-FFF2-40B4-BE49-F238E27FC236}">
                  <a16:creationId xmlns:a16="http://schemas.microsoft.com/office/drawing/2014/main" id="{C4C969A2-7E43-CF89-A4BA-6BE8909D0EF8}"/>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26922BC2-4D8C-BAA3-40DE-FB53B013CD68}"/>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5B6E872C-6AC7-1533-D8DC-38F716866155}"/>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0" name="图片 9">
            <a:extLst>
              <a:ext uri="{FF2B5EF4-FFF2-40B4-BE49-F238E27FC236}">
                <a16:creationId xmlns:a16="http://schemas.microsoft.com/office/drawing/2014/main" id="{51CCEF2C-1877-1FEE-D5DE-1541BD7F0407}"/>
              </a:ext>
            </a:extLst>
          </p:cNvPr>
          <p:cNvPicPr>
            <a:picLocks noChangeAspect="1"/>
          </p:cNvPicPr>
          <p:nvPr/>
        </p:nvPicPr>
        <p:blipFill>
          <a:blip r:embed="rId5"/>
          <a:stretch>
            <a:fillRect/>
          </a:stretch>
        </p:blipFill>
        <p:spPr>
          <a:xfrm>
            <a:off x="409653" y="1349763"/>
            <a:ext cx="5373030" cy="3969369"/>
          </a:xfrm>
          <a:prstGeom prst="rect">
            <a:avLst/>
          </a:prstGeom>
        </p:spPr>
      </p:pic>
      <p:sp>
        <p:nvSpPr>
          <p:cNvPr id="22" name="文本框 21">
            <a:extLst>
              <a:ext uri="{FF2B5EF4-FFF2-40B4-BE49-F238E27FC236}">
                <a16:creationId xmlns:a16="http://schemas.microsoft.com/office/drawing/2014/main" id="{D971C021-67D6-BD91-883B-EBE530DB6CF5}"/>
              </a:ext>
            </a:extLst>
          </p:cNvPr>
          <p:cNvSpPr txBox="1"/>
          <p:nvPr/>
        </p:nvSpPr>
        <p:spPr>
          <a:xfrm>
            <a:off x="6409319" y="1952351"/>
            <a:ext cx="4933330" cy="2308324"/>
          </a:xfrm>
          <a:prstGeom prst="rect">
            <a:avLst/>
          </a:prstGeom>
          <a:noFill/>
        </p:spPr>
        <p:txBody>
          <a:bodyPr wrap="square">
            <a:spAutoFit/>
          </a:bodyPr>
          <a:lstStyle/>
          <a:p>
            <a:r>
              <a:rPr lang="zh-CN" altLang="en-US" dirty="0"/>
              <a:t>对于用户无关性能我们也使用留一法交叉验证（LOPO）。平均 </a:t>
            </a:r>
            <a:r>
              <a:rPr lang="en" altLang="zh-CN" dirty="0"/>
              <a:t>MPJPE </a:t>
            </a:r>
            <a:r>
              <a:rPr lang="zh-CN" altLang="en-US" dirty="0"/>
              <a:t>为 </a:t>
            </a:r>
            <a:r>
              <a:rPr lang="en-US" altLang="zh-CN" dirty="0"/>
              <a:t>14.1 </a:t>
            </a:r>
            <a:r>
              <a:rPr lang="en" altLang="zh-CN" dirty="0"/>
              <a:t>mm</a:t>
            </a:r>
            <a:r>
              <a:rPr lang="zh-CN" altLang="en" dirty="0"/>
              <a:t>（</a:t>
            </a:r>
            <a:r>
              <a:rPr lang="zh-CN" altLang="en-US" dirty="0"/>
              <a:t>标准差</a:t>
            </a:r>
            <a:r>
              <a:rPr lang="en-US" altLang="zh-CN" dirty="0"/>
              <a:t>=5 </a:t>
            </a:r>
            <a:r>
              <a:rPr lang="en" altLang="zh-CN" dirty="0"/>
              <a:t>mm</a:t>
            </a:r>
            <a:r>
              <a:rPr lang="zh-CN" altLang="en" dirty="0"/>
              <a:t>）</a:t>
            </a:r>
            <a:endParaRPr lang="en-US" altLang="zh-CN" dirty="0"/>
          </a:p>
          <a:p>
            <a:endParaRPr lang="en-US" altLang="zh-CN" dirty="0"/>
          </a:p>
          <a:p>
            <a:endParaRPr lang="en-US" altLang="zh-CN" dirty="0"/>
          </a:p>
          <a:p>
            <a:endParaRPr lang="en-US" altLang="zh-CN" dirty="0"/>
          </a:p>
          <a:p>
            <a:r>
              <a:rPr lang="zh-CN" altLang="en-US" dirty="0"/>
              <a:t>用户相关性能，用新数据进行微调，整体 </a:t>
            </a:r>
            <a:r>
              <a:rPr lang="en" altLang="zh-CN" dirty="0"/>
              <a:t>MPJPE </a:t>
            </a:r>
            <a:r>
              <a:rPr lang="zh-CN" altLang="en-US" dirty="0"/>
              <a:t>降低至 </a:t>
            </a:r>
            <a:r>
              <a:rPr lang="en-US" altLang="zh-CN" dirty="0"/>
              <a:t>10.3 </a:t>
            </a:r>
            <a:r>
              <a:rPr lang="en" altLang="zh-CN" dirty="0"/>
              <a:t>mm</a:t>
            </a:r>
            <a:endParaRPr lang="zh-CN" altLang="en-US" dirty="0"/>
          </a:p>
        </p:txBody>
      </p:sp>
    </p:spTree>
    <p:extLst>
      <p:ext uri="{BB962C8B-B14F-4D97-AF65-F5344CB8AC3E}">
        <p14:creationId xmlns:p14="http://schemas.microsoft.com/office/powerpoint/2010/main" val="1208186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BB224-6978-54E1-BDD6-EDE57A1575B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916130F-DE8E-3C63-E0B7-802150FBFB59}"/>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FB47148C-10A9-5427-2646-827754C9C2C1}"/>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3E0B4699-3340-CFA9-76EC-F6271CABDE6A}"/>
              </a:ext>
            </a:extLst>
          </p:cNvPr>
          <p:cNvGrpSpPr/>
          <p:nvPr/>
        </p:nvGrpSpPr>
        <p:grpSpPr>
          <a:xfrm>
            <a:off x="138529" y="112811"/>
            <a:ext cx="4098934" cy="593132"/>
            <a:chOff x="1019925" y="1507763"/>
            <a:chExt cx="4098934" cy="593132"/>
          </a:xfrm>
        </p:grpSpPr>
        <p:sp>
          <p:nvSpPr>
            <p:cNvPr id="4" name="文本框 3">
              <a:extLst>
                <a:ext uri="{FF2B5EF4-FFF2-40B4-BE49-F238E27FC236}">
                  <a16:creationId xmlns:a16="http://schemas.microsoft.com/office/drawing/2014/main" id="{FBB8DA9A-5E43-D93E-99CF-B5611BCBACDC}"/>
                </a:ext>
              </a:extLst>
            </p:cNvPr>
            <p:cNvSpPr txBox="1"/>
            <p:nvPr/>
          </p:nvSpPr>
          <p:spPr>
            <a:xfrm>
              <a:off x="1700306" y="1507763"/>
              <a:ext cx="3418553"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用户无关和用户相关</a:t>
              </a:r>
            </a:p>
          </p:txBody>
        </p:sp>
        <p:pic>
          <p:nvPicPr>
            <p:cNvPr id="5" name="图片 4">
              <a:extLst>
                <a:ext uri="{FF2B5EF4-FFF2-40B4-BE49-F238E27FC236}">
                  <a16:creationId xmlns:a16="http://schemas.microsoft.com/office/drawing/2014/main" id="{58D2EE24-7327-C3E1-6F72-C6FA7C8766CD}"/>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861D70FC-AF05-84AF-7897-C976038E23AB}"/>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734E441E-5C17-98C5-7796-9D3552961080}"/>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6" name="图片 5">
            <a:extLst>
              <a:ext uri="{FF2B5EF4-FFF2-40B4-BE49-F238E27FC236}">
                <a16:creationId xmlns:a16="http://schemas.microsoft.com/office/drawing/2014/main" id="{E5896A4D-168B-8BA2-B30E-62618347288A}"/>
              </a:ext>
            </a:extLst>
          </p:cNvPr>
          <p:cNvPicPr>
            <a:picLocks noChangeAspect="1"/>
          </p:cNvPicPr>
          <p:nvPr/>
        </p:nvPicPr>
        <p:blipFill>
          <a:blip r:embed="rId5"/>
          <a:stretch>
            <a:fillRect/>
          </a:stretch>
        </p:blipFill>
        <p:spPr>
          <a:xfrm>
            <a:off x="138529" y="923764"/>
            <a:ext cx="5465482" cy="3384320"/>
          </a:xfrm>
          <a:prstGeom prst="rect">
            <a:avLst/>
          </a:prstGeom>
        </p:spPr>
      </p:pic>
      <p:pic>
        <p:nvPicPr>
          <p:cNvPr id="7" name="图片 6">
            <a:extLst>
              <a:ext uri="{FF2B5EF4-FFF2-40B4-BE49-F238E27FC236}">
                <a16:creationId xmlns:a16="http://schemas.microsoft.com/office/drawing/2014/main" id="{26BC449C-38FD-BD85-7E06-6A08B7298C38}"/>
              </a:ext>
            </a:extLst>
          </p:cNvPr>
          <p:cNvPicPr>
            <a:picLocks noChangeAspect="1"/>
          </p:cNvPicPr>
          <p:nvPr/>
        </p:nvPicPr>
        <p:blipFill>
          <a:blip r:embed="rId6"/>
          <a:stretch>
            <a:fillRect/>
          </a:stretch>
        </p:blipFill>
        <p:spPr>
          <a:xfrm>
            <a:off x="6587991" y="877433"/>
            <a:ext cx="4814948" cy="3430651"/>
          </a:xfrm>
          <a:prstGeom prst="rect">
            <a:avLst/>
          </a:prstGeom>
        </p:spPr>
      </p:pic>
      <p:sp>
        <p:nvSpPr>
          <p:cNvPr id="11" name="文本框 10">
            <a:extLst>
              <a:ext uri="{FF2B5EF4-FFF2-40B4-BE49-F238E27FC236}">
                <a16:creationId xmlns:a16="http://schemas.microsoft.com/office/drawing/2014/main" id="{86780617-A42B-2A7D-C289-C22651778D3A}"/>
              </a:ext>
            </a:extLst>
          </p:cNvPr>
          <p:cNvSpPr txBox="1"/>
          <p:nvPr/>
        </p:nvSpPr>
        <p:spPr>
          <a:xfrm>
            <a:off x="8664497" y="4425532"/>
            <a:ext cx="1569660" cy="369332"/>
          </a:xfrm>
          <a:prstGeom prst="rect">
            <a:avLst/>
          </a:prstGeom>
          <a:noFill/>
        </p:spPr>
        <p:txBody>
          <a:bodyPr wrap="none" rtlCol="0">
            <a:spAutoFit/>
          </a:bodyPr>
          <a:lstStyle/>
          <a:p>
            <a:r>
              <a:rPr kumimoji="1" lang="zh-CN" altLang="en-US" dirty="0"/>
              <a:t>仍有改进空间</a:t>
            </a:r>
          </a:p>
        </p:txBody>
      </p:sp>
      <p:sp>
        <p:nvSpPr>
          <p:cNvPr id="12" name="文本框 11">
            <a:extLst>
              <a:ext uri="{FF2B5EF4-FFF2-40B4-BE49-F238E27FC236}">
                <a16:creationId xmlns:a16="http://schemas.microsoft.com/office/drawing/2014/main" id="{F1D2F0A4-6239-0C41-C4F7-C515DA674686}"/>
              </a:ext>
            </a:extLst>
          </p:cNvPr>
          <p:cNvSpPr txBox="1"/>
          <p:nvPr/>
        </p:nvSpPr>
        <p:spPr>
          <a:xfrm>
            <a:off x="2086440" y="4409556"/>
            <a:ext cx="1569660" cy="369332"/>
          </a:xfrm>
          <a:prstGeom prst="rect">
            <a:avLst/>
          </a:prstGeom>
          <a:noFill/>
        </p:spPr>
        <p:txBody>
          <a:bodyPr wrap="none" rtlCol="0">
            <a:spAutoFit/>
          </a:bodyPr>
          <a:lstStyle/>
          <a:p>
            <a:r>
              <a:rPr kumimoji="1" lang="zh-CN" altLang="en-US" dirty="0"/>
              <a:t>误差分布情况</a:t>
            </a:r>
          </a:p>
        </p:txBody>
      </p:sp>
    </p:spTree>
    <p:extLst>
      <p:ext uri="{BB962C8B-B14F-4D97-AF65-F5344CB8AC3E}">
        <p14:creationId xmlns:p14="http://schemas.microsoft.com/office/powerpoint/2010/main" val="3572658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957AB-4126-58FB-0ABB-16BDE9EE047B}"/>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75C8482B-B1BA-C117-4352-FB229005B784}"/>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55694626-2AD6-3A84-CE66-B50269B22DE5}"/>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957E1AEB-4CF9-1FBB-5F35-D1BE8C96817F}"/>
              </a:ext>
            </a:extLst>
          </p:cNvPr>
          <p:cNvGrpSpPr/>
          <p:nvPr/>
        </p:nvGrpSpPr>
        <p:grpSpPr>
          <a:xfrm>
            <a:off x="138529" y="112811"/>
            <a:ext cx="4199295" cy="954107"/>
            <a:chOff x="1019925" y="1507763"/>
            <a:chExt cx="4199295" cy="954107"/>
          </a:xfrm>
        </p:grpSpPr>
        <p:sp>
          <p:nvSpPr>
            <p:cNvPr id="4" name="文本框 3">
              <a:extLst>
                <a:ext uri="{FF2B5EF4-FFF2-40B4-BE49-F238E27FC236}">
                  <a16:creationId xmlns:a16="http://schemas.microsoft.com/office/drawing/2014/main" id="{F8E9DF86-D4D1-23A0-E191-75FB5BE0691B}"/>
                </a:ext>
              </a:extLst>
            </p:cNvPr>
            <p:cNvSpPr txBox="1"/>
            <p:nvPr/>
          </p:nvSpPr>
          <p:spPr>
            <a:xfrm>
              <a:off x="1700306" y="1507763"/>
              <a:ext cx="3518914" cy="954107"/>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用户无关和用户相关</a:t>
              </a:r>
            </a:p>
            <a:p>
              <a:pPr algn="dist"/>
              <a:endParaRPr lang="zh-CN" altLang="en-US" sz="2800" b="1" dirty="0">
                <a:solidFill>
                  <a:schemeClr val="bg1"/>
                </a:solidFill>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D18825B7-6DE9-F19F-C08A-F09DCB627741}"/>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A642F6ED-CC91-F998-26B4-432D269C6FBF}"/>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240A532C-0879-85CC-E3B8-B6FC5AA85789}"/>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8" name="图片 7">
            <a:extLst>
              <a:ext uri="{FF2B5EF4-FFF2-40B4-BE49-F238E27FC236}">
                <a16:creationId xmlns:a16="http://schemas.microsoft.com/office/drawing/2014/main" id="{019A1C8F-B8CE-653E-74B6-D069CE44C3DB}"/>
              </a:ext>
            </a:extLst>
          </p:cNvPr>
          <p:cNvPicPr>
            <a:picLocks noChangeAspect="1"/>
          </p:cNvPicPr>
          <p:nvPr/>
        </p:nvPicPr>
        <p:blipFill>
          <a:blip r:embed="rId5"/>
          <a:stretch>
            <a:fillRect/>
          </a:stretch>
        </p:blipFill>
        <p:spPr>
          <a:xfrm>
            <a:off x="0" y="1742140"/>
            <a:ext cx="12096980" cy="3064036"/>
          </a:xfrm>
          <a:prstGeom prst="rect">
            <a:avLst/>
          </a:prstGeom>
        </p:spPr>
      </p:pic>
    </p:spTree>
    <p:extLst>
      <p:ext uri="{BB962C8B-B14F-4D97-AF65-F5344CB8AC3E}">
        <p14:creationId xmlns:p14="http://schemas.microsoft.com/office/powerpoint/2010/main" val="4197526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215C2-E0F5-D1F7-0A42-794F2DDFA386}"/>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68F9CAEE-9ABD-33F9-7C73-2D1E8A4931EE}"/>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02A70D07-5079-2ABF-C304-EC6290DAA746}"/>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BC302C82-93BD-540B-338F-F7D83A1979AD}"/>
              </a:ext>
            </a:extLst>
          </p:cNvPr>
          <p:cNvGrpSpPr/>
          <p:nvPr/>
        </p:nvGrpSpPr>
        <p:grpSpPr>
          <a:xfrm>
            <a:off x="205713" y="112811"/>
            <a:ext cx="3039292" cy="593132"/>
            <a:chOff x="1019925" y="1507763"/>
            <a:chExt cx="3039292" cy="593132"/>
          </a:xfrm>
        </p:grpSpPr>
        <p:sp>
          <p:nvSpPr>
            <p:cNvPr id="4" name="文本框 3">
              <a:extLst>
                <a:ext uri="{FF2B5EF4-FFF2-40B4-BE49-F238E27FC236}">
                  <a16:creationId xmlns:a16="http://schemas.microsoft.com/office/drawing/2014/main" id="{0A069913-82C4-1DB1-D293-C51BF7BEA2F9}"/>
                </a:ext>
              </a:extLst>
            </p:cNvPr>
            <p:cNvSpPr txBox="1"/>
            <p:nvPr/>
          </p:nvSpPr>
          <p:spPr>
            <a:xfrm>
              <a:off x="1700306" y="1507763"/>
              <a:ext cx="2358911"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遮挡的鲁棒性</a:t>
              </a:r>
            </a:p>
          </p:txBody>
        </p:sp>
        <p:pic>
          <p:nvPicPr>
            <p:cNvPr id="5" name="图片 4">
              <a:extLst>
                <a:ext uri="{FF2B5EF4-FFF2-40B4-BE49-F238E27FC236}">
                  <a16:creationId xmlns:a16="http://schemas.microsoft.com/office/drawing/2014/main" id="{64E9AC7F-520F-1DB3-B86C-7EEFC789C8B4}"/>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822D44E9-6EFB-5B39-70B0-A240C170D327}"/>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03E0E5FE-B1F6-93BC-D263-5660C8408E6F}"/>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6" name="图片 5">
            <a:extLst>
              <a:ext uri="{FF2B5EF4-FFF2-40B4-BE49-F238E27FC236}">
                <a16:creationId xmlns:a16="http://schemas.microsoft.com/office/drawing/2014/main" id="{713155FB-9A97-6841-B1E4-E0876285D484}"/>
              </a:ext>
            </a:extLst>
          </p:cNvPr>
          <p:cNvPicPr>
            <a:picLocks noChangeAspect="1"/>
          </p:cNvPicPr>
          <p:nvPr/>
        </p:nvPicPr>
        <p:blipFill>
          <a:blip r:embed="rId5"/>
          <a:stretch>
            <a:fillRect/>
          </a:stretch>
        </p:blipFill>
        <p:spPr>
          <a:xfrm>
            <a:off x="1011819" y="1450123"/>
            <a:ext cx="5930900" cy="4381500"/>
          </a:xfrm>
          <a:prstGeom prst="rect">
            <a:avLst/>
          </a:prstGeom>
        </p:spPr>
      </p:pic>
      <p:sp>
        <p:nvSpPr>
          <p:cNvPr id="7" name="文本框 6">
            <a:extLst>
              <a:ext uri="{FF2B5EF4-FFF2-40B4-BE49-F238E27FC236}">
                <a16:creationId xmlns:a16="http://schemas.microsoft.com/office/drawing/2014/main" id="{C7D30E81-B925-12BE-8ACF-693996C6C05B}"/>
              </a:ext>
            </a:extLst>
          </p:cNvPr>
          <p:cNvSpPr txBox="1"/>
          <p:nvPr/>
        </p:nvSpPr>
        <p:spPr>
          <a:xfrm>
            <a:off x="7182469" y="2551837"/>
            <a:ext cx="3997712" cy="1754326"/>
          </a:xfrm>
          <a:prstGeom prst="rect">
            <a:avLst/>
          </a:prstGeom>
          <a:noFill/>
        </p:spPr>
        <p:txBody>
          <a:bodyPr wrap="square">
            <a:spAutoFit/>
          </a:bodyPr>
          <a:lstStyle/>
          <a:p>
            <a:r>
              <a:rPr lang="zh-CN" altLang="en-US" dirty="0"/>
              <a:t>以模型类型和遮挡条件作为自变量，结果表明姿态类型对跟踪性能没有显著影响（F=1.03，p=0.33），且用户独立/依赖模型与 NO 姿态/WO 姿态之间也不存在交互作用（F=1.36，p=0.27）。</a:t>
            </a:r>
          </a:p>
        </p:txBody>
      </p:sp>
    </p:spTree>
    <p:extLst>
      <p:ext uri="{BB962C8B-B14F-4D97-AF65-F5344CB8AC3E}">
        <p14:creationId xmlns:p14="http://schemas.microsoft.com/office/powerpoint/2010/main" val="1225211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981F1-DC75-4BBE-01E2-52E6105716F1}"/>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36F23FBE-302C-0E7B-2C7A-AF5B5CCDB4B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F41A3F3-8B53-8EBA-AA17-9FAE64CBC640}"/>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5B3F853-FFD1-C579-9966-FFFFC484E148}"/>
              </a:ext>
            </a:extLst>
          </p:cNvPr>
          <p:cNvGrpSpPr/>
          <p:nvPr/>
        </p:nvGrpSpPr>
        <p:grpSpPr>
          <a:xfrm>
            <a:off x="138529" y="112811"/>
            <a:ext cx="2325891" cy="593132"/>
            <a:chOff x="1019925" y="1507763"/>
            <a:chExt cx="2325891" cy="593132"/>
          </a:xfrm>
        </p:grpSpPr>
        <p:sp>
          <p:nvSpPr>
            <p:cNvPr id="4" name="文本框 3">
              <a:extLst>
                <a:ext uri="{FF2B5EF4-FFF2-40B4-BE49-F238E27FC236}">
                  <a16:creationId xmlns:a16="http://schemas.microsoft.com/office/drawing/2014/main" id="{2E81ED8C-276A-7658-239D-C6522B9ED4D2}"/>
                </a:ext>
              </a:extLst>
            </p:cNvPr>
            <p:cNvSpPr txBox="1"/>
            <p:nvPr/>
          </p:nvSpPr>
          <p:spPr>
            <a:xfrm>
              <a:off x="1700306" y="1507763"/>
              <a:ext cx="1645510"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建立过程</a:t>
              </a:r>
            </a:p>
          </p:txBody>
        </p:sp>
        <p:pic>
          <p:nvPicPr>
            <p:cNvPr id="5" name="图片 4">
              <a:extLst>
                <a:ext uri="{FF2B5EF4-FFF2-40B4-BE49-F238E27FC236}">
                  <a16:creationId xmlns:a16="http://schemas.microsoft.com/office/drawing/2014/main" id="{9BA81A05-0925-A1F9-9E23-DDDFA5D6114D}"/>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C1A19904-E5AE-440D-7A04-6AE1E173D4B5}"/>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4C2C841B-7608-1E0D-8A5D-049C7464A92D}"/>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65" name="文本框 64">
            <a:extLst>
              <a:ext uri="{FF2B5EF4-FFF2-40B4-BE49-F238E27FC236}">
                <a16:creationId xmlns:a16="http://schemas.microsoft.com/office/drawing/2014/main" id="{C4F668D8-B9D4-7C6A-4FC1-B828AF6B4BF7}"/>
              </a:ext>
            </a:extLst>
          </p:cNvPr>
          <p:cNvSpPr txBox="1"/>
          <p:nvPr/>
        </p:nvSpPr>
        <p:spPr>
          <a:xfrm>
            <a:off x="6546722" y="992246"/>
            <a:ext cx="5060086" cy="1200329"/>
          </a:xfrm>
          <a:prstGeom prst="rect">
            <a:avLst/>
          </a:prstGeom>
          <a:noFill/>
        </p:spPr>
        <p:txBody>
          <a:bodyPr wrap="square" rtlCol="0">
            <a:spAutoFit/>
          </a:bodyPr>
          <a:lstStyle/>
          <a:p>
            <a:r>
              <a:rPr kumimoji="1" lang="zh-CN" altLang="en-US" dirty="0">
                <a:latin typeface="+mn-ea"/>
              </a:rPr>
              <a:t>接着进行</a:t>
            </a:r>
            <a:r>
              <a:rPr kumimoji="1" lang="en-US" altLang="zh-CN" dirty="0">
                <a:latin typeface="+mn-ea"/>
              </a:rPr>
              <a:t>11</a:t>
            </a:r>
            <a:r>
              <a:rPr kumimoji="1" lang="zh-CN" altLang="en-US" dirty="0">
                <a:latin typeface="+mn-ea"/>
              </a:rPr>
              <a:t>次鲁棒性环节</a:t>
            </a:r>
            <a:endParaRPr kumimoji="1" lang="en-US" altLang="zh-CN" dirty="0">
              <a:latin typeface="+mn-ea"/>
            </a:endParaRPr>
          </a:p>
          <a:p>
            <a:r>
              <a:rPr kumimoji="1" lang="zh-CN" altLang="en-US" dirty="0">
                <a:latin typeface="+mn-ea"/>
              </a:rPr>
              <a:t>每个环节在对应特殊环境下做一遍全部手势，</a:t>
            </a:r>
            <a:r>
              <a:rPr kumimoji="1" lang="en-US" altLang="zh-CN" dirty="0">
                <a:latin typeface="+mn-ea"/>
              </a:rPr>
              <a:t>WO</a:t>
            </a:r>
            <a:r>
              <a:rPr kumimoji="1" lang="zh-CN" altLang="en-US" dirty="0">
                <a:latin typeface="+mn-ea"/>
              </a:rPr>
              <a:t>手势和</a:t>
            </a:r>
            <a:r>
              <a:rPr kumimoji="1" lang="en-US" altLang="zh-CN" dirty="0">
                <a:latin typeface="+mn-ea"/>
              </a:rPr>
              <a:t>NO</a:t>
            </a:r>
            <a:r>
              <a:rPr kumimoji="1" lang="zh-CN" altLang="en-US" dirty="0">
                <a:latin typeface="+mn-ea"/>
              </a:rPr>
              <a:t>手势  </a:t>
            </a:r>
            <a:r>
              <a:rPr kumimoji="1" lang="en-US" altLang="zh-CN" dirty="0">
                <a:latin typeface="+mn-ea"/>
              </a:rPr>
              <a:t>20+11+9 </a:t>
            </a:r>
          </a:p>
          <a:p>
            <a:endParaRPr kumimoji="1" lang="en-US" altLang="zh-CN" dirty="0">
              <a:latin typeface="+mn-ea"/>
            </a:endParaRPr>
          </a:p>
        </p:txBody>
      </p:sp>
      <p:grpSp>
        <p:nvGrpSpPr>
          <p:cNvPr id="19" name="组合 18">
            <a:extLst>
              <a:ext uri="{FF2B5EF4-FFF2-40B4-BE49-F238E27FC236}">
                <a16:creationId xmlns:a16="http://schemas.microsoft.com/office/drawing/2014/main" id="{CFC39754-C0F2-9E69-7F63-04F19563834F}"/>
              </a:ext>
            </a:extLst>
          </p:cNvPr>
          <p:cNvGrpSpPr/>
          <p:nvPr/>
        </p:nvGrpSpPr>
        <p:grpSpPr>
          <a:xfrm>
            <a:off x="192048" y="952033"/>
            <a:ext cx="6466705" cy="5655885"/>
            <a:chOff x="192048" y="952033"/>
            <a:chExt cx="6466705" cy="5655885"/>
          </a:xfrm>
        </p:grpSpPr>
        <p:grpSp>
          <p:nvGrpSpPr>
            <p:cNvPr id="6" name="组合 5">
              <a:extLst>
                <a:ext uri="{FF2B5EF4-FFF2-40B4-BE49-F238E27FC236}">
                  <a16:creationId xmlns:a16="http://schemas.microsoft.com/office/drawing/2014/main" id="{B7E8B9DD-CCAC-21E1-6DFC-96373B7D6DD3}"/>
                </a:ext>
              </a:extLst>
            </p:cNvPr>
            <p:cNvGrpSpPr/>
            <p:nvPr/>
          </p:nvGrpSpPr>
          <p:grpSpPr>
            <a:xfrm>
              <a:off x="192048" y="952033"/>
              <a:ext cx="6041484" cy="5655885"/>
              <a:chOff x="-833702" y="666273"/>
              <a:chExt cx="7371985" cy="6759367"/>
            </a:xfrm>
          </p:grpSpPr>
          <p:sp>
            <p:nvSpPr>
              <p:cNvPr id="7" name="矩形 6">
                <a:extLst>
                  <a:ext uri="{FF2B5EF4-FFF2-40B4-BE49-F238E27FC236}">
                    <a16:creationId xmlns:a16="http://schemas.microsoft.com/office/drawing/2014/main" id="{1A6C1406-7229-BBB7-7683-F6BF94942A19}"/>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C2D296E9-D47D-D13D-EC25-4F8166A947AA}"/>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9620C03C-CBFA-2F78-FA0A-51A2920D20DC}"/>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A4BD438D-A719-5D7A-8D5D-B2B338B7B99F}"/>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15" name="组合 14">
                <a:extLst>
                  <a:ext uri="{FF2B5EF4-FFF2-40B4-BE49-F238E27FC236}">
                    <a16:creationId xmlns:a16="http://schemas.microsoft.com/office/drawing/2014/main" id="{109152AE-F4F3-6209-81F0-A7D9A63EB65D}"/>
                  </a:ext>
                </a:extLst>
              </p:cNvPr>
              <p:cNvGrpSpPr/>
              <p:nvPr/>
            </p:nvGrpSpPr>
            <p:grpSpPr>
              <a:xfrm>
                <a:off x="-833702" y="1431998"/>
                <a:ext cx="6785267" cy="5993642"/>
                <a:chOff x="-1076709" y="692302"/>
                <a:chExt cx="8647302" cy="6882010"/>
              </a:xfrm>
            </p:grpSpPr>
            <p:sp>
              <p:nvSpPr>
                <p:cNvPr id="16" name="左大括号 15">
                  <a:extLst>
                    <a:ext uri="{FF2B5EF4-FFF2-40B4-BE49-F238E27FC236}">
                      <a16:creationId xmlns:a16="http://schemas.microsoft.com/office/drawing/2014/main" id="{711767A4-25DB-6123-BFB5-EB2455DC337E}"/>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7" name="文本框 16">
                  <a:extLst>
                    <a:ext uri="{FF2B5EF4-FFF2-40B4-BE49-F238E27FC236}">
                      <a16:creationId xmlns:a16="http://schemas.microsoft.com/office/drawing/2014/main" id="{8437F96B-B26C-204F-327E-8B58A17F0915}"/>
                    </a:ext>
                  </a:extLst>
                </p:cNvPr>
                <p:cNvSpPr txBox="1"/>
                <p:nvPr/>
              </p:nvSpPr>
              <p:spPr>
                <a:xfrm>
                  <a:off x="2824206" y="7067500"/>
                  <a:ext cx="2460587" cy="506812"/>
                </a:xfrm>
                <a:prstGeom prst="rect">
                  <a:avLst/>
                </a:prstGeom>
                <a:noFill/>
              </p:spPr>
              <p:txBody>
                <a:bodyPr wrap="square" rtlCol="0">
                  <a:spAutoFit/>
                </a:bodyPr>
                <a:lstStyle/>
                <a:p>
                  <a:r>
                    <a:rPr kumimoji="1" lang="en-US" altLang="zh-CN" dirty="0">
                      <a:latin typeface="+mn-ea"/>
                    </a:rPr>
                    <a:t>20+11+9</a:t>
                  </a:r>
                  <a:endParaRPr kumimoji="1" lang="zh-CN" altLang="en-US" dirty="0"/>
                </a:p>
              </p:txBody>
            </p:sp>
            <p:grpSp>
              <p:nvGrpSpPr>
                <p:cNvPr id="18" name="组合 17">
                  <a:extLst>
                    <a:ext uri="{FF2B5EF4-FFF2-40B4-BE49-F238E27FC236}">
                      <a16:creationId xmlns:a16="http://schemas.microsoft.com/office/drawing/2014/main" id="{B7FCACFC-7E7E-A2EF-3688-864AD03C2E9C}"/>
                    </a:ext>
                  </a:extLst>
                </p:cNvPr>
                <p:cNvGrpSpPr/>
                <p:nvPr/>
              </p:nvGrpSpPr>
              <p:grpSpPr>
                <a:xfrm>
                  <a:off x="550303" y="2983374"/>
                  <a:ext cx="6527801" cy="1132934"/>
                  <a:chOff x="550303" y="2983374"/>
                  <a:chExt cx="6527801" cy="1132934"/>
                </a:xfrm>
              </p:grpSpPr>
              <p:pic>
                <p:nvPicPr>
                  <p:cNvPr id="57" name="图片 56">
                    <a:extLst>
                      <a:ext uri="{FF2B5EF4-FFF2-40B4-BE49-F238E27FC236}">
                        <a16:creationId xmlns:a16="http://schemas.microsoft.com/office/drawing/2014/main" id="{45AD45E0-6698-8A5E-6127-C8148CA47B99}"/>
                      </a:ext>
                    </a:extLst>
                  </p:cNvPr>
                  <p:cNvPicPr>
                    <a:picLocks noChangeAspect="1"/>
                  </p:cNvPicPr>
                  <p:nvPr/>
                </p:nvPicPr>
                <p:blipFill>
                  <a:blip r:embed="rId5"/>
                  <a:srcRect t="6098"/>
                  <a:stretch>
                    <a:fillRect/>
                  </a:stretch>
                </p:blipFill>
                <p:spPr>
                  <a:xfrm>
                    <a:off x="550303" y="2983374"/>
                    <a:ext cx="812800" cy="1132934"/>
                  </a:xfrm>
                  <a:prstGeom prst="rect">
                    <a:avLst/>
                  </a:prstGeom>
                </p:spPr>
              </p:pic>
              <p:pic>
                <p:nvPicPr>
                  <p:cNvPr id="58" name="图片 57">
                    <a:extLst>
                      <a:ext uri="{FF2B5EF4-FFF2-40B4-BE49-F238E27FC236}">
                        <a16:creationId xmlns:a16="http://schemas.microsoft.com/office/drawing/2014/main" id="{D8A62082-5944-C1D2-09FE-AC92E030E2D3}"/>
                      </a:ext>
                    </a:extLst>
                  </p:cNvPr>
                  <p:cNvPicPr>
                    <a:picLocks noChangeAspect="1"/>
                  </p:cNvPicPr>
                  <p:nvPr/>
                </p:nvPicPr>
                <p:blipFill>
                  <a:blip r:embed="rId6"/>
                  <a:srcRect t="4545" r="65196"/>
                  <a:stretch>
                    <a:fillRect/>
                  </a:stretch>
                </p:blipFill>
                <p:spPr>
                  <a:xfrm>
                    <a:off x="2569604" y="2983374"/>
                    <a:ext cx="901700" cy="1081443"/>
                  </a:xfrm>
                  <a:prstGeom prst="rect">
                    <a:avLst/>
                  </a:prstGeom>
                </p:spPr>
              </p:pic>
              <p:pic>
                <p:nvPicPr>
                  <p:cNvPr id="60" name="图片 59">
                    <a:extLst>
                      <a:ext uri="{FF2B5EF4-FFF2-40B4-BE49-F238E27FC236}">
                        <a16:creationId xmlns:a16="http://schemas.microsoft.com/office/drawing/2014/main" id="{CF26A078-C3D1-08A3-7AB7-99AAF128CCF2}"/>
                      </a:ext>
                    </a:extLst>
                  </p:cNvPr>
                  <p:cNvPicPr>
                    <a:picLocks noChangeAspect="1"/>
                  </p:cNvPicPr>
                  <p:nvPr/>
                </p:nvPicPr>
                <p:blipFill>
                  <a:blip r:embed="rId6"/>
                  <a:srcRect l="34313" t="4545" r="31373"/>
                  <a:stretch>
                    <a:fillRect/>
                  </a:stretch>
                </p:blipFill>
                <p:spPr>
                  <a:xfrm>
                    <a:off x="4487305" y="2983374"/>
                    <a:ext cx="889001" cy="1081443"/>
                  </a:xfrm>
                  <a:prstGeom prst="rect">
                    <a:avLst/>
                  </a:prstGeom>
                </p:spPr>
              </p:pic>
              <p:pic>
                <p:nvPicPr>
                  <p:cNvPr id="63" name="图片 62">
                    <a:extLst>
                      <a:ext uri="{FF2B5EF4-FFF2-40B4-BE49-F238E27FC236}">
                        <a16:creationId xmlns:a16="http://schemas.microsoft.com/office/drawing/2014/main" id="{2F9106ED-90D2-749A-3E41-D70F74163B48}"/>
                      </a:ext>
                    </a:extLst>
                  </p:cNvPr>
                  <p:cNvPicPr>
                    <a:picLocks noChangeAspect="1"/>
                  </p:cNvPicPr>
                  <p:nvPr/>
                </p:nvPicPr>
                <p:blipFill>
                  <a:blip r:embed="rId7"/>
                  <a:stretch>
                    <a:fillRect/>
                  </a:stretch>
                </p:blipFill>
                <p:spPr>
                  <a:xfrm>
                    <a:off x="6278004" y="2983375"/>
                    <a:ext cx="800100" cy="1117601"/>
                  </a:xfrm>
                  <a:prstGeom prst="rect">
                    <a:avLst/>
                  </a:prstGeom>
                </p:spPr>
              </p:pic>
            </p:grpSp>
            <p:sp>
              <p:nvSpPr>
                <p:cNvPr id="20" name="左大括号 19">
                  <a:extLst>
                    <a:ext uri="{FF2B5EF4-FFF2-40B4-BE49-F238E27FC236}">
                      <a16:creationId xmlns:a16="http://schemas.microsoft.com/office/drawing/2014/main" id="{9277444B-309E-3DE7-D943-478DEB9B8724}"/>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39430D7A-F2DC-36BD-1439-3A27855AEB10}"/>
                    </a:ext>
                  </a:extLst>
                </p:cNvPr>
                <p:cNvSpPr txBox="1"/>
                <p:nvPr/>
              </p:nvSpPr>
              <p:spPr>
                <a:xfrm>
                  <a:off x="-1076709" y="3267222"/>
                  <a:ext cx="717929" cy="849086"/>
                </a:xfrm>
                <a:prstGeom prst="rect">
                  <a:avLst/>
                </a:prstGeom>
                <a:noFill/>
              </p:spPr>
              <p:txBody>
                <a:bodyPr vert="eaVert" wrap="square" rtlCol="0">
                  <a:spAutoFit/>
                </a:bodyPr>
                <a:lstStyle/>
                <a:p>
                  <a:r>
                    <a:rPr kumimoji="1" lang="en-US" altLang="zh-CN" dirty="0"/>
                    <a:t>1</a:t>
                  </a:r>
                  <a:r>
                    <a:rPr kumimoji="1" lang="zh-CN" altLang="en-US" dirty="0"/>
                    <a:t>组</a:t>
                  </a:r>
                </a:p>
              </p:txBody>
            </p:sp>
          </p:grpSp>
        </p:grpSp>
        <p:sp>
          <p:nvSpPr>
            <p:cNvPr id="8" name="左大括号 7">
              <a:extLst>
                <a:ext uri="{FF2B5EF4-FFF2-40B4-BE49-F238E27FC236}">
                  <a16:creationId xmlns:a16="http://schemas.microsoft.com/office/drawing/2014/main" id="{5E79809A-D146-8C48-1ED1-DA8192D7B7B1}"/>
                </a:ext>
              </a:extLst>
            </p:cNvPr>
            <p:cNvSpPr/>
            <p:nvPr/>
          </p:nvSpPr>
          <p:spPr>
            <a:xfrm rot="13736008">
              <a:off x="6099736" y="5544122"/>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94B60A73-5FC8-73AB-A922-B596A311E187}"/>
                </a:ext>
              </a:extLst>
            </p:cNvPr>
            <p:cNvSpPr txBox="1"/>
            <p:nvPr/>
          </p:nvSpPr>
          <p:spPr>
            <a:xfrm>
              <a:off x="6219841" y="5903328"/>
              <a:ext cx="438912" cy="369332"/>
            </a:xfrm>
            <a:prstGeom prst="rect">
              <a:avLst/>
            </a:prstGeom>
            <a:noFill/>
          </p:spPr>
          <p:txBody>
            <a:bodyPr wrap="square">
              <a:spAutoFit/>
            </a:bodyPr>
            <a:lstStyle/>
            <a:p>
              <a:r>
                <a:rPr kumimoji="1" lang="en-US" altLang="zh-CN" dirty="0">
                  <a:latin typeface="+mn-ea"/>
                </a:rPr>
                <a:t>11</a:t>
              </a:r>
              <a:endParaRPr lang="zh-CN" altLang="en-US" dirty="0"/>
            </a:p>
          </p:txBody>
        </p:sp>
      </p:grpSp>
      <p:graphicFrame>
        <p:nvGraphicFramePr>
          <p:cNvPr id="10" name="表格 9">
            <a:extLst>
              <a:ext uri="{FF2B5EF4-FFF2-40B4-BE49-F238E27FC236}">
                <a16:creationId xmlns:a16="http://schemas.microsoft.com/office/drawing/2014/main" id="{9B60AEAA-7C79-9648-DC8B-DE00A4971680}"/>
              </a:ext>
            </a:extLst>
          </p:cNvPr>
          <p:cNvGraphicFramePr>
            <a:graphicFrameLocks noGrp="1"/>
          </p:cNvGraphicFramePr>
          <p:nvPr>
            <p:extLst>
              <p:ext uri="{D42A27DB-BD31-4B8C-83A1-F6EECF244321}">
                <p14:modId xmlns:p14="http://schemas.microsoft.com/office/powerpoint/2010/main" val="1431783137"/>
              </p:ext>
            </p:extLst>
          </p:nvPr>
        </p:nvGraphicFramePr>
        <p:xfrm>
          <a:off x="6594570" y="2061628"/>
          <a:ext cx="4850992" cy="4362217"/>
        </p:xfrm>
        <a:graphic>
          <a:graphicData uri="http://schemas.openxmlformats.org/drawingml/2006/table">
            <a:tbl>
              <a:tblPr>
                <a:tableStyleId>{5C22544A-7EE6-4342-B048-85BDC9FD1C3A}</a:tableStyleId>
              </a:tblPr>
              <a:tblGrid>
                <a:gridCol w="1212748">
                  <a:extLst>
                    <a:ext uri="{9D8B030D-6E8A-4147-A177-3AD203B41FA5}">
                      <a16:colId xmlns:a16="http://schemas.microsoft.com/office/drawing/2014/main" val="4114055586"/>
                    </a:ext>
                  </a:extLst>
                </a:gridCol>
                <a:gridCol w="1212748">
                  <a:extLst>
                    <a:ext uri="{9D8B030D-6E8A-4147-A177-3AD203B41FA5}">
                      <a16:colId xmlns:a16="http://schemas.microsoft.com/office/drawing/2014/main" val="665815788"/>
                    </a:ext>
                  </a:extLst>
                </a:gridCol>
                <a:gridCol w="1212748">
                  <a:extLst>
                    <a:ext uri="{9D8B030D-6E8A-4147-A177-3AD203B41FA5}">
                      <a16:colId xmlns:a16="http://schemas.microsoft.com/office/drawing/2014/main" val="2928676936"/>
                    </a:ext>
                  </a:extLst>
                </a:gridCol>
                <a:gridCol w="1212748">
                  <a:extLst>
                    <a:ext uri="{9D8B030D-6E8A-4147-A177-3AD203B41FA5}">
                      <a16:colId xmlns:a16="http://schemas.microsoft.com/office/drawing/2014/main" val="1823194529"/>
                    </a:ext>
                  </a:extLst>
                </a:gridCol>
              </a:tblGrid>
              <a:tr h="179264">
                <a:tc>
                  <a:txBody>
                    <a:bodyPr/>
                    <a:lstStyle/>
                    <a:p>
                      <a:pPr algn="l" fontAlgn="ctr">
                        <a:buNone/>
                      </a:pPr>
                      <a:r>
                        <a:rPr lang="zh-CN" altLang="en-US" sz="1200" u="none" strike="noStrike">
                          <a:effectLst/>
                        </a:rPr>
                        <a:t>序号</a:t>
                      </a:r>
                      <a:endParaRPr lang="zh-CN" altLang="en-US" sz="1200" b="1"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测试场景</a:t>
                      </a:r>
                      <a:endParaRPr lang="zh-CN" altLang="en-US" sz="1200" b="1"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具体做法</a:t>
                      </a:r>
                      <a:endParaRPr lang="zh-CN" altLang="en-US" sz="1200" b="1"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目的</a:t>
                      </a:r>
                      <a:endParaRPr lang="zh-CN" altLang="en-US" sz="1200" b="1" i="0" u="none" strike="noStrike">
                        <a:solidFill>
                          <a:srgbClr val="000000"/>
                        </a:solidFill>
                        <a:effectLst/>
                        <a:latin typeface="Inherit"/>
                        <a:ea typeface="等线" panose="02010600030101010101" pitchFamily="2" charset="-122"/>
                      </a:endParaRPr>
                    </a:p>
                  </a:txBody>
                  <a:tcPr marL="5779" marR="5779" marT="5779" marB="0" anchor="ctr"/>
                </a:tc>
                <a:extLst>
                  <a:ext uri="{0D108BD9-81ED-4DB2-BD59-A6C34878D82A}">
                    <a16:rowId xmlns:a16="http://schemas.microsoft.com/office/drawing/2014/main" val="1856107535"/>
                  </a:ext>
                </a:extLst>
              </a:tr>
              <a:tr h="620471">
                <a:tc>
                  <a:txBody>
                    <a:bodyPr/>
                    <a:lstStyle/>
                    <a:p>
                      <a:pPr algn="r" fontAlgn="ctr">
                        <a:buNone/>
                      </a:pPr>
                      <a:r>
                        <a:rPr lang="en-US" altLang="zh-CN" sz="1200" u="none" strike="noStrike">
                          <a:effectLst/>
                        </a:rPr>
                        <a:t>1</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dirty="0">
                          <a:effectLst/>
                        </a:rPr>
                        <a:t>Pose-Neutral-Pose</a:t>
                      </a:r>
                      <a:endParaRPr lang="en" sz="1200" b="0" i="0" u="none" strike="noStrike" dirty="0">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每做完一个姿势都回到中立位（</a:t>
                      </a:r>
                      <a:r>
                        <a:rPr lang="en" sz="1200" u="none" strike="noStrike">
                          <a:effectLst/>
                        </a:rPr>
                        <a:t>ASL5）</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dirty="0">
                          <a:effectLst/>
                        </a:rPr>
                        <a:t>对比“连续转换”与“复位”难度</a:t>
                      </a:r>
                      <a:endParaRPr lang="zh-CN" altLang="en-US" sz="1200" b="0" i="0" u="none" strike="noStrike" dirty="0">
                        <a:solidFill>
                          <a:srgbClr val="000000"/>
                        </a:solidFill>
                        <a:effectLst/>
                        <a:latin typeface="Inherit"/>
                        <a:ea typeface="等线" panose="02010600030101010101" pitchFamily="2" charset="-122"/>
                      </a:endParaRPr>
                    </a:p>
                  </a:txBody>
                  <a:tcPr marL="5779" marR="5779" marT="5779" marB="0" anchor="ctr"/>
                </a:tc>
                <a:extLst>
                  <a:ext uri="{0D108BD9-81ED-4DB2-BD59-A6C34878D82A}">
                    <a16:rowId xmlns:a16="http://schemas.microsoft.com/office/drawing/2014/main" val="2331373821"/>
                  </a:ext>
                </a:extLst>
              </a:tr>
              <a:tr h="620471">
                <a:tc>
                  <a:txBody>
                    <a:bodyPr/>
                    <a:lstStyle/>
                    <a:p>
                      <a:pPr algn="r" fontAlgn="ctr">
                        <a:buNone/>
                      </a:pPr>
                      <a:r>
                        <a:rPr lang="en-US" altLang="zh-CN" sz="1200" u="none" strike="noStrike">
                          <a:effectLst/>
                        </a:rPr>
                        <a:t>2</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a:effectLst/>
                        </a:rPr>
                        <a:t>Uncontrolled Hand Movement</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手在屏幕前自由移动，保持平行与可见</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评估自由运动下的追踪稳定性</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extLst>
                  <a:ext uri="{0D108BD9-81ED-4DB2-BD59-A6C34878D82A}">
                    <a16:rowId xmlns:a16="http://schemas.microsoft.com/office/drawing/2014/main" val="1363985824"/>
                  </a:ext>
                </a:extLst>
              </a:tr>
              <a:tr h="526809">
                <a:tc>
                  <a:txBody>
                    <a:bodyPr/>
                    <a:lstStyle/>
                    <a:p>
                      <a:pPr algn="r" fontAlgn="ctr">
                        <a:buNone/>
                      </a:pPr>
                      <a:r>
                        <a:rPr lang="en-US" altLang="zh-CN" sz="1200" u="none" strike="noStrike">
                          <a:effectLst/>
                        </a:rPr>
                        <a:t>3</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a:effectLst/>
                        </a:rPr>
                        <a:t>Music Playing</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手机外放音乐（日常音量）</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dirty="0">
                          <a:effectLst/>
                        </a:rPr>
                        <a:t>检验环境声对主动声学传感的干扰</a:t>
                      </a:r>
                      <a:endParaRPr lang="zh-CN" altLang="en-US" sz="1200" b="0" i="0" u="none" strike="noStrike" dirty="0">
                        <a:solidFill>
                          <a:srgbClr val="000000"/>
                        </a:solidFill>
                        <a:effectLst/>
                        <a:latin typeface="Inherit"/>
                        <a:ea typeface="等线" panose="02010600030101010101" pitchFamily="2" charset="-122"/>
                      </a:endParaRPr>
                    </a:p>
                  </a:txBody>
                  <a:tcPr marL="5779" marR="5779" marT="5779" marB="0" anchor="ctr"/>
                </a:tc>
                <a:extLst>
                  <a:ext uri="{0D108BD9-81ED-4DB2-BD59-A6C34878D82A}">
                    <a16:rowId xmlns:a16="http://schemas.microsoft.com/office/drawing/2014/main" val="2813225680"/>
                  </a:ext>
                </a:extLst>
              </a:tr>
              <a:tr h="497474">
                <a:tc>
                  <a:txBody>
                    <a:bodyPr/>
                    <a:lstStyle/>
                    <a:p>
                      <a:pPr algn="r" fontAlgn="ctr">
                        <a:buNone/>
                      </a:pPr>
                      <a:r>
                        <a:rPr lang="en-US" altLang="zh-CN" sz="1200" u="none" strike="noStrike">
                          <a:effectLst/>
                        </a:rPr>
                        <a:t>4</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a:effectLst/>
                        </a:rPr>
                        <a:t>Talking</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持续与实验者对话或自言自语</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考察人声是否影响超声信号</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extLst>
                  <a:ext uri="{0D108BD9-81ED-4DB2-BD59-A6C34878D82A}">
                    <a16:rowId xmlns:a16="http://schemas.microsoft.com/office/drawing/2014/main" val="710791698"/>
                  </a:ext>
                </a:extLst>
              </a:tr>
              <a:tr h="251483">
                <a:tc>
                  <a:txBody>
                    <a:bodyPr/>
                    <a:lstStyle/>
                    <a:p>
                      <a:pPr algn="r" fontAlgn="ctr">
                        <a:buNone/>
                      </a:pPr>
                      <a:r>
                        <a:rPr lang="en-US" altLang="zh-CN" sz="1200" u="none" strike="noStrike">
                          <a:effectLst/>
                        </a:rPr>
                        <a:t>5</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a:effectLst/>
                        </a:rPr>
                        <a:t>Radial Deviation</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gridSpan="2">
                  <a:txBody>
                    <a:bodyPr/>
                    <a:lstStyle/>
                    <a:p>
                      <a:pPr algn="l" fontAlgn="ctr">
                        <a:buNone/>
                      </a:pPr>
                      <a:r>
                        <a:rPr lang="zh-CN" altLang="en-US" sz="1200" u="none" strike="noStrike">
                          <a:effectLst/>
                        </a:rPr>
                        <a:t>手腕保持桡偏姿态</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tc hMerge="1">
                  <a:txBody>
                    <a:bodyPr/>
                    <a:lstStyle/>
                    <a:p>
                      <a:endParaRPr lang="zh-CN" altLang="en-US"/>
                    </a:p>
                  </a:txBody>
                  <a:tcPr/>
                </a:tc>
                <a:extLst>
                  <a:ext uri="{0D108BD9-81ED-4DB2-BD59-A6C34878D82A}">
                    <a16:rowId xmlns:a16="http://schemas.microsoft.com/office/drawing/2014/main" val="603627387"/>
                  </a:ext>
                </a:extLst>
              </a:tr>
              <a:tr h="251483">
                <a:tc>
                  <a:txBody>
                    <a:bodyPr/>
                    <a:lstStyle/>
                    <a:p>
                      <a:pPr algn="r" fontAlgn="ctr">
                        <a:buNone/>
                      </a:pPr>
                      <a:r>
                        <a:rPr lang="en-US" altLang="zh-CN" sz="1200" u="none" strike="noStrike">
                          <a:effectLst/>
                        </a:rPr>
                        <a:t>6</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a:effectLst/>
                        </a:rPr>
                        <a:t>Ulnar Deviation</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gridSpan="2">
                  <a:txBody>
                    <a:bodyPr/>
                    <a:lstStyle/>
                    <a:p>
                      <a:pPr algn="l" fontAlgn="ctr">
                        <a:buNone/>
                      </a:pPr>
                      <a:r>
                        <a:rPr lang="zh-CN" altLang="en-US" sz="1200" u="none" strike="noStrike">
                          <a:effectLst/>
                        </a:rPr>
                        <a:t>手腕保持尺偏姿态</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tc hMerge="1">
                  <a:txBody>
                    <a:bodyPr/>
                    <a:lstStyle/>
                    <a:p>
                      <a:endParaRPr lang="zh-CN" altLang="en-US"/>
                    </a:p>
                  </a:txBody>
                  <a:tcPr/>
                </a:tc>
                <a:extLst>
                  <a:ext uri="{0D108BD9-81ED-4DB2-BD59-A6C34878D82A}">
                    <a16:rowId xmlns:a16="http://schemas.microsoft.com/office/drawing/2014/main" val="3281909608"/>
                  </a:ext>
                </a:extLst>
              </a:tr>
              <a:tr h="374478">
                <a:tc>
                  <a:txBody>
                    <a:bodyPr/>
                    <a:lstStyle/>
                    <a:p>
                      <a:pPr algn="r" fontAlgn="ctr">
                        <a:buNone/>
                      </a:pPr>
                      <a:r>
                        <a:rPr lang="en-US" altLang="zh-CN" sz="1200" u="none" strike="noStrike">
                          <a:effectLst/>
                        </a:rPr>
                        <a:t>7</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a:effectLst/>
                        </a:rPr>
                        <a:t>Flexion</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手腕保持掌屈姿态</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测试极端腕部角度下的精度</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extLst>
                  <a:ext uri="{0D108BD9-81ED-4DB2-BD59-A6C34878D82A}">
                    <a16:rowId xmlns:a16="http://schemas.microsoft.com/office/drawing/2014/main" val="2679333800"/>
                  </a:ext>
                </a:extLst>
              </a:tr>
              <a:tr h="179264">
                <a:tc>
                  <a:txBody>
                    <a:bodyPr/>
                    <a:lstStyle/>
                    <a:p>
                      <a:pPr algn="r" fontAlgn="ctr">
                        <a:buNone/>
                      </a:pPr>
                      <a:r>
                        <a:rPr lang="en-US" altLang="zh-CN" sz="1200" u="none" strike="noStrike">
                          <a:effectLst/>
                        </a:rPr>
                        <a:t>8</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a:effectLst/>
                        </a:rPr>
                        <a:t>Extension</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gridSpan="2">
                  <a:txBody>
                    <a:bodyPr/>
                    <a:lstStyle/>
                    <a:p>
                      <a:pPr algn="l" fontAlgn="ctr">
                        <a:buNone/>
                      </a:pPr>
                      <a:r>
                        <a:rPr lang="zh-CN" altLang="en-US" sz="1200" u="none" strike="noStrike">
                          <a:effectLst/>
                        </a:rPr>
                        <a:t>手腕保持背伸姿态</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tc hMerge="1">
                  <a:txBody>
                    <a:bodyPr/>
                    <a:lstStyle/>
                    <a:p>
                      <a:endParaRPr lang="zh-CN" altLang="en-US"/>
                    </a:p>
                  </a:txBody>
                  <a:tcPr/>
                </a:tc>
                <a:extLst>
                  <a:ext uri="{0D108BD9-81ED-4DB2-BD59-A6C34878D82A}">
                    <a16:rowId xmlns:a16="http://schemas.microsoft.com/office/drawing/2014/main" val="3471955616"/>
                  </a:ext>
                </a:extLst>
              </a:tr>
              <a:tr h="251483">
                <a:tc>
                  <a:txBody>
                    <a:bodyPr/>
                    <a:lstStyle/>
                    <a:p>
                      <a:pPr algn="r" fontAlgn="ctr">
                        <a:buNone/>
                      </a:pPr>
                      <a:r>
                        <a:rPr lang="en-US" altLang="zh-CN" sz="1200" u="none" strike="noStrike">
                          <a:effectLst/>
                        </a:rPr>
                        <a:t>9</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a:effectLst/>
                        </a:rPr>
                        <a:t>Neutral</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前臂保持中立位</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基准对照</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extLst>
                  <a:ext uri="{0D108BD9-81ED-4DB2-BD59-A6C34878D82A}">
                    <a16:rowId xmlns:a16="http://schemas.microsoft.com/office/drawing/2014/main" val="998043990"/>
                  </a:ext>
                </a:extLst>
              </a:tr>
              <a:tr h="179264">
                <a:tc>
                  <a:txBody>
                    <a:bodyPr/>
                    <a:lstStyle/>
                    <a:p>
                      <a:pPr algn="r" fontAlgn="ctr">
                        <a:buNone/>
                      </a:pPr>
                      <a:r>
                        <a:rPr lang="en-US" altLang="zh-CN" sz="1200" u="none" strike="noStrike">
                          <a:effectLst/>
                        </a:rPr>
                        <a:t>10</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a:effectLst/>
                        </a:rPr>
                        <a:t>Supination</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gridSpan="2">
                  <a:txBody>
                    <a:bodyPr/>
                    <a:lstStyle/>
                    <a:p>
                      <a:pPr algn="l" fontAlgn="ctr">
                        <a:buNone/>
                      </a:pPr>
                      <a:r>
                        <a:rPr lang="zh-CN" altLang="en-US" sz="1200" u="none" strike="noStrike">
                          <a:effectLst/>
                        </a:rPr>
                        <a:t>前臂保持旋后位</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tc hMerge="1">
                  <a:txBody>
                    <a:bodyPr/>
                    <a:lstStyle/>
                    <a:p>
                      <a:endParaRPr lang="zh-CN" altLang="en-US"/>
                    </a:p>
                  </a:txBody>
                  <a:tcPr/>
                </a:tc>
                <a:extLst>
                  <a:ext uri="{0D108BD9-81ED-4DB2-BD59-A6C34878D82A}">
                    <a16:rowId xmlns:a16="http://schemas.microsoft.com/office/drawing/2014/main" val="3029093229"/>
                  </a:ext>
                </a:extLst>
              </a:tr>
              <a:tr h="374478">
                <a:tc>
                  <a:txBody>
                    <a:bodyPr/>
                    <a:lstStyle/>
                    <a:p>
                      <a:pPr algn="r" fontAlgn="ctr">
                        <a:buNone/>
                      </a:pPr>
                      <a:r>
                        <a:rPr lang="en-US" altLang="zh-CN" sz="1200" u="none" strike="noStrike">
                          <a:effectLst/>
                        </a:rPr>
                        <a:t>11</a:t>
                      </a:r>
                      <a:endParaRPr lang="en-US" altLang="zh-C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en" sz="1200" u="none" strike="noStrike">
                          <a:effectLst/>
                        </a:rPr>
                        <a:t>Hand-Down</a:t>
                      </a:r>
                      <a:endParaRPr lang="en"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a:effectLst/>
                        </a:rPr>
                        <a:t>手臂垂于体侧，手朝下</a:t>
                      </a:r>
                      <a:endParaRPr lang="zh-CN" altLang="en-US" sz="1200" b="0" i="0" u="none" strike="noStrike">
                        <a:solidFill>
                          <a:srgbClr val="000000"/>
                        </a:solidFill>
                        <a:effectLst/>
                        <a:latin typeface="Inherit"/>
                        <a:ea typeface="等线" panose="02010600030101010101" pitchFamily="2" charset="-122"/>
                      </a:endParaRPr>
                    </a:p>
                  </a:txBody>
                  <a:tcPr marL="5779" marR="5779" marT="5779" marB="0" anchor="ctr"/>
                </a:tc>
                <a:tc>
                  <a:txBody>
                    <a:bodyPr/>
                    <a:lstStyle/>
                    <a:p>
                      <a:pPr algn="l" fontAlgn="ctr">
                        <a:buNone/>
                      </a:pPr>
                      <a:r>
                        <a:rPr lang="zh-CN" altLang="en-US" sz="1200" u="none" strike="noStrike" dirty="0">
                          <a:effectLst/>
                        </a:rPr>
                        <a:t>模拟日常自然下垂交互场景</a:t>
                      </a:r>
                      <a:endParaRPr lang="zh-CN" altLang="en-US" sz="1200" b="0" i="0" u="none" strike="noStrike" dirty="0">
                        <a:solidFill>
                          <a:srgbClr val="000000"/>
                        </a:solidFill>
                        <a:effectLst/>
                        <a:latin typeface="Inherit"/>
                        <a:ea typeface="等线" panose="02010600030101010101" pitchFamily="2" charset="-122"/>
                      </a:endParaRPr>
                    </a:p>
                  </a:txBody>
                  <a:tcPr marL="5779" marR="5779" marT="5779" marB="0" anchor="ctr"/>
                </a:tc>
                <a:extLst>
                  <a:ext uri="{0D108BD9-81ED-4DB2-BD59-A6C34878D82A}">
                    <a16:rowId xmlns:a16="http://schemas.microsoft.com/office/drawing/2014/main" val="3006346727"/>
                  </a:ext>
                </a:extLst>
              </a:tr>
            </a:tbl>
          </a:graphicData>
        </a:graphic>
      </p:graphicFrame>
    </p:spTree>
    <p:extLst>
      <p:ext uri="{BB962C8B-B14F-4D97-AF65-F5344CB8AC3E}">
        <p14:creationId xmlns:p14="http://schemas.microsoft.com/office/powerpoint/2010/main" val="3003885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FB810-CA83-4D11-DADB-436C0E7348C2}"/>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1D9DAA96-7DEE-ADB2-82E4-AE1E7FF709EE}"/>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F1FDA53F-44BB-3697-22DC-08015E8460E8}"/>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1C0D27FB-4015-A0B0-3E8C-FD10CC49FBDF}"/>
              </a:ext>
            </a:extLst>
          </p:cNvPr>
          <p:cNvGrpSpPr/>
          <p:nvPr/>
        </p:nvGrpSpPr>
        <p:grpSpPr>
          <a:xfrm>
            <a:off x="138529" y="112811"/>
            <a:ext cx="4466925" cy="593132"/>
            <a:chOff x="1019925" y="1507763"/>
            <a:chExt cx="4466925" cy="593132"/>
          </a:xfrm>
        </p:grpSpPr>
        <p:sp>
          <p:nvSpPr>
            <p:cNvPr id="4" name="文本框 3">
              <a:extLst>
                <a:ext uri="{FF2B5EF4-FFF2-40B4-BE49-F238E27FC236}">
                  <a16:creationId xmlns:a16="http://schemas.microsoft.com/office/drawing/2014/main" id="{15BA8FE7-4934-D75B-F044-1088F6142DFF}"/>
                </a:ext>
              </a:extLst>
            </p:cNvPr>
            <p:cNvSpPr txBox="1"/>
            <p:nvPr/>
          </p:nvSpPr>
          <p:spPr>
            <a:xfrm>
              <a:off x="1700306" y="1507763"/>
              <a:ext cx="3786544"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手腕和前臂方向鲁棒性</a:t>
              </a:r>
            </a:p>
          </p:txBody>
        </p:sp>
        <p:pic>
          <p:nvPicPr>
            <p:cNvPr id="5" name="图片 4">
              <a:extLst>
                <a:ext uri="{FF2B5EF4-FFF2-40B4-BE49-F238E27FC236}">
                  <a16:creationId xmlns:a16="http://schemas.microsoft.com/office/drawing/2014/main" id="{BB6ADFB0-A383-8217-5B7D-4FEEABCDD816}"/>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8C42B750-4F8A-1ED1-9820-083CA74334AF}"/>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F59989E-7BED-EDAB-42BC-A82E6474B2ED}"/>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0" name="文本框 9">
            <a:extLst>
              <a:ext uri="{FF2B5EF4-FFF2-40B4-BE49-F238E27FC236}">
                <a16:creationId xmlns:a16="http://schemas.microsoft.com/office/drawing/2014/main" id="{4F10D946-145E-A55D-E1BF-909E3CF860A6}"/>
              </a:ext>
            </a:extLst>
          </p:cNvPr>
          <p:cNvSpPr txBox="1"/>
          <p:nvPr/>
        </p:nvSpPr>
        <p:spPr>
          <a:xfrm>
            <a:off x="6428130" y="2658523"/>
            <a:ext cx="4946114" cy="2031325"/>
          </a:xfrm>
          <a:prstGeom prst="rect">
            <a:avLst/>
          </a:prstGeom>
          <a:noFill/>
        </p:spPr>
        <p:txBody>
          <a:bodyPr wrap="square">
            <a:spAutoFit/>
          </a:bodyPr>
          <a:lstStyle/>
          <a:p>
            <a:r>
              <a:rPr lang="zh-CN" altLang="en-US" dirty="0"/>
              <a:t>用户无关模型使用中立腕部位置数据以及来自其他用户的所有其他腕部方向数据进行训练。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 10(b) 所示的 6 个极端方向的会话中收集的数据来测试模型。</a:t>
            </a:r>
          </a:p>
        </p:txBody>
      </p:sp>
      <p:pic>
        <p:nvPicPr>
          <p:cNvPr id="11" name="图片 10">
            <a:extLst>
              <a:ext uri="{FF2B5EF4-FFF2-40B4-BE49-F238E27FC236}">
                <a16:creationId xmlns:a16="http://schemas.microsoft.com/office/drawing/2014/main" id="{60FBB585-C260-AB13-50D6-0FDBEA09BF08}"/>
              </a:ext>
            </a:extLst>
          </p:cNvPr>
          <p:cNvPicPr>
            <a:picLocks noChangeAspect="1"/>
          </p:cNvPicPr>
          <p:nvPr/>
        </p:nvPicPr>
        <p:blipFill>
          <a:blip r:embed="rId5"/>
          <a:stretch>
            <a:fillRect/>
          </a:stretch>
        </p:blipFill>
        <p:spPr>
          <a:xfrm>
            <a:off x="501004" y="1987873"/>
            <a:ext cx="5625233" cy="3245326"/>
          </a:xfrm>
          <a:prstGeom prst="rect">
            <a:avLst/>
          </a:prstGeom>
        </p:spPr>
      </p:pic>
    </p:spTree>
    <p:extLst>
      <p:ext uri="{BB962C8B-B14F-4D97-AF65-F5344CB8AC3E}">
        <p14:creationId xmlns:p14="http://schemas.microsoft.com/office/powerpoint/2010/main" val="4141414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A25C8-E95C-807A-B7FA-1063E673555D}"/>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BEF70A7F-0C02-AEF3-1084-395532867DD5}"/>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82C3C02-EDD0-DBF8-497E-90667DDE66C9}"/>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FF604DC9-843F-7795-916F-242C4052ECE7}"/>
              </a:ext>
            </a:extLst>
          </p:cNvPr>
          <p:cNvGrpSpPr/>
          <p:nvPr/>
        </p:nvGrpSpPr>
        <p:grpSpPr>
          <a:xfrm>
            <a:off x="138529" y="112811"/>
            <a:ext cx="4446542" cy="954107"/>
            <a:chOff x="1019925" y="1507763"/>
            <a:chExt cx="4446542" cy="954107"/>
          </a:xfrm>
        </p:grpSpPr>
        <p:sp>
          <p:nvSpPr>
            <p:cNvPr id="4" name="文本框 3">
              <a:extLst>
                <a:ext uri="{FF2B5EF4-FFF2-40B4-BE49-F238E27FC236}">
                  <a16:creationId xmlns:a16="http://schemas.microsoft.com/office/drawing/2014/main" id="{B12261D1-1A81-7062-1B3C-45BB367F6083}"/>
                </a:ext>
              </a:extLst>
            </p:cNvPr>
            <p:cNvSpPr txBox="1"/>
            <p:nvPr/>
          </p:nvSpPr>
          <p:spPr>
            <a:xfrm>
              <a:off x="1700306" y="1507763"/>
              <a:ext cx="3766161" cy="954107"/>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手腕和前臂方向鲁棒性</a:t>
              </a:r>
            </a:p>
            <a:p>
              <a:pPr algn="dist"/>
              <a:endParaRPr lang="zh-CN" altLang="en-US" sz="2800" b="1" dirty="0">
                <a:solidFill>
                  <a:schemeClr val="bg1"/>
                </a:solidFill>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B7646C04-6DF4-5539-4947-1E604E598D6C}"/>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9017332D-4AFF-AFF3-4C81-DFDFBAC926E9}"/>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FB9011B7-546C-5A98-2DC0-201CA625F648}"/>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0" name="文本框 9">
            <a:extLst>
              <a:ext uri="{FF2B5EF4-FFF2-40B4-BE49-F238E27FC236}">
                <a16:creationId xmlns:a16="http://schemas.microsoft.com/office/drawing/2014/main" id="{734782FB-F290-AF75-DB51-02FF0D7BAA1C}"/>
              </a:ext>
            </a:extLst>
          </p:cNvPr>
          <p:cNvSpPr txBox="1"/>
          <p:nvPr/>
        </p:nvSpPr>
        <p:spPr>
          <a:xfrm>
            <a:off x="4222595" y="818572"/>
            <a:ext cx="3746812" cy="2585323"/>
          </a:xfrm>
          <a:prstGeom prst="rect">
            <a:avLst/>
          </a:prstGeom>
          <a:noFill/>
        </p:spPr>
        <p:txBody>
          <a:bodyPr wrap="square">
            <a:spAutoFit/>
          </a:bodyPr>
          <a:lstStyle/>
          <a:p>
            <a:r>
              <a:rPr lang="zh-CN" altLang="en-US" dirty="0"/>
              <a:t>用户无关模型使用中立腕部位置数据以及来自其他用户的所有其他腕部方向数据进行训练。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 10(b) 所示的 6 个极端方向的会话中收集的数据来测试模型。</a:t>
            </a:r>
          </a:p>
        </p:txBody>
      </p:sp>
      <p:pic>
        <p:nvPicPr>
          <p:cNvPr id="11" name="图片 10">
            <a:extLst>
              <a:ext uri="{FF2B5EF4-FFF2-40B4-BE49-F238E27FC236}">
                <a16:creationId xmlns:a16="http://schemas.microsoft.com/office/drawing/2014/main" id="{942E5B32-EB9A-65DF-6C19-71B8090E755E}"/>
              </a:ext>
            </a:extLst>
          </p:cNvPr>
          <p:cNvPicPr>
            <a:picLocks noChangeAspect="1"/>
          </p:cNvPicPr>
          <p:nvPr/>
        </p:nvPicPr>
        <p:blipFill>
          <a:blip r:embed="rId5"/>
          <a:stretch>
            <a:fillRect/>
          </a:stretch>
        </p:blipFill>
        <p:spPr>
          <a:xfrm>
            <a:off x="336395" y="931202"/>
            <a:ext cx="3886200" cy="2242038"/>
          </a:xfrm>
          <a:prstGeom prst="rect">
            <a:avLst/>
          </a:prstGeom>
        </p:spPr>
      </p:pic>
      <p:pic>
        <p:nvPicPr>
          <p:cNvPr id="12" name="图片 11">
            <a:extLst>
              <a:ext uri="{FF2B5EF4-FFF2-40B4-BE49-F238E27FC236}">
                <a16:creationId xmlns:a16="http://schemas.microsoft.com/office/drawing/2014/main" id="{9BB3E700-0343-DEA0-F634-7D0BFD02D60E}"/>
              </a:ext>
            </a:extLst>
          </p:cNvPr>
          <p:cNvPicPr>
            <a:picLocks noChangeAspect="1"/>
          </p:cNvPicPr>
          <p:nvPr/>
        </p:nvPicPr>
        <p:blipFill>
          <a:blip r:embed="rId6"/>
          <a:stretch>
            <a:fillRect/>
          </a:stretch>
        </p:blipFill>
        <p:spPr>
          <a:xfrm>
            <a:off x="501004" y="862531"/>
            <a:ext cx="10968086" cy="5504479"/>
          </a:xfrm>
          <a:prstGeom prst="rect">
            <a:avLst/>
          </a:prstGeom>
        </p:spPr>
      </p:pic>
      <p:sp>
        <p:nvSpPr>
          <p:cNvPr id="13" name="矩形 12">
            <a:extLst>
              <a:ext uri="{FF2B5EF4-FFF2-40B4-BE49-F238E27FC236}">
                <a16:creationId xmlns:a16="http://schemas.microsoft.com/office/drawing/2014/main" id="{3019012A-FE3A-4F16-B527-24BDD5CA3BE7}"/>
              </a:ext>
            </a:extLst>
          </p:cNvPr>
          <p:cNvSpPr/>
          <p:nvPr/>
        </p:nvSpPr>
        <p:spPr>
          <a:xfrm>
            <a:off x="9422779" y="1561171"/>
            <a:ext cx="721581" cy="3278458"/>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2775FBAE-C666-60C4-67D2-8A2750909491}"/>
              </a:ext>
            </a:extLst>
          </p:cNvPr>
          <p:cNvSpPr txBox="1"/>
          <p:nvPr/>
        </p:nvSpPr>
        <p:spPr>
          <a:xfrm>
            <a:off x="1284825" y="5995469"/>
            <a:ext cx="9941312" cy="646331"/>
          </a:xfrm>
          <a:prstGeom prst="rect">
            <a:avLst/>
          </a:prstGeom>
          <a:noFill/>
        </p:spPr>
        <p:txBody>
          <a:bodyPr wrap="square">
            <a:spAutoFit/>
          </a:bodyPr>
          <a:lstStyle/>
          <a:p>
            <a:r>
              <a:rPr lang="zh-CN" altLang="en-US" dirty="0"/>
              <a:t>在用户研究中，保持手掌与屏幕平行这一姿势很难做到。在检测到的真实值中，我们也注意到许多帧的手部姿势在视觉上不正确。因此，误差的增加可能无法准确反映我们系统的性能。</a:t>
            </a:r>
          </a:p>
        </p:txBody>
      </p:sp>
      <p:sp>
        <p:nvSpPr>
          <p:cNvPr id="16" name="矩形 15">
            <a:extLst>
              <a:ext uri="{FF2B5EF4-FFF2-40B4-BE49-F238E27FC236}">
                <a16:creationId xmlns:a16="http://schemas.microsoft.com/office/drawing/2014/main" id="{B81B826E-0219-CE84-B3FC-92E606FF4F6F}"/>
              </a:ext>
            </a:extLst>
          </p:cNvPr>
          <p:cNvSpPr/>
          <p:nvPr/>
        </p:nvSpPr>
        <p:spPr>
          <a:xfrm>
            <a:off x="10214289" y="1561171"/>
            <a:ext cx="721581" cy="32784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B9E4FD06-A0DD-CC12-5F82-4772D58EF62D}"/>
              </a:ext>
            </a:extLst>
          </p:cNvPr>
          <p:cNvSpPr/>
          <p:nvPr/>
        </p:nvSpPr>
        <p:spPr>
          <a:xfrm>
            <a:off x="5735210" y="1561171"/>
            <a:ext cx="3617640" cy="327845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3766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80974-DA6D-4307-0AEC-03017B17C6F8}"/>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7756FE86-AC10-042C-5987-0DF6A5839339}"/>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BB95AF1-D76B-9AE1-B90D-D7D5BF00BDE5}"/>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C1AC083F-F30E-A924-7186-18E25BFD9DB9}"/>
              </a:ext>
            </a:extLst>
          </p:cNvPr>
          <p:cNvGrpSpPr/>
          <p:nvPr/>
        </p:nvGrpSpPr>
        <p:grpSpPr>
          <a:xfrm>
            <a:off x="138529" y="112811"/>
            <a:ext cx="3441012" cy="954107"/>
            <a:chOff x="1019925" y="1507763"/>
            <a:chExt cx="3441012" cy="954107"/>
          </a:xfrm>
        </p:grpSpPr>
        <p:sp>
          <p:nvSpPr>
            <p:cNvPr id="4" name="文本框 3">
              <a:extLst>
                <a:ext uri="{FF2B5EF4-FFF2-40B4-BE49-F238E27FC236}">
                  <a16:creationId xmlns:a16="http://schemas.microsoft.com/office/drawing/2014/main" id="{145E8D7D-7296-B54F-F426-AF152ABC8CE1}"/>
                </a:ext>
              </a:extLst>
            </p:cNvPr>
            <p:cNvSpPr txBox="1"/>
            <p:nvPr/>
          </p:nvSpPr>
          <p:spPr>
            <a:xfrm>
              <a:off x="1700307" y="1507763"/>
              <a:ext cx="2760630" cy="954107"/>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对声音的鲁棒性</a:t>
              </a:r>
            </a:p>
            <a:p>
              <a:pPr algn="dist"/>
              <a:endParaRPr lang="zh-CN" altLang="en-US" sz="2800" b="1" dirty="0">
                <a:solidFill>
                  <a:schemeClr val="bg1"/>
                </a:solidFill>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32CC6D1A-49A1-3982-0272-3F23E3667ECA}"/>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CFCEE7C-1FDA-A1D6-A6EF-82A260E91654}"/>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197C045E-D5DD-1D32-AAF9-D3EC89A253CC}"/>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0" name="文本框 9">
            <a:extLst>
              <a:ext uri="{FF2B5EF4-FFF2-40B4-BE49-F238E27FC236}">
                <a16:creationId xmlns:a16="http://schemas.microsoft.com/office/drawing/2014/main" id="{0E94B91A-D6F6-C566-1207-683DE0D704D9}"/>
              </a:ext>
            </a:extLst>
          </p:cNvPr>
          <p:cNvSpPr txBox="1"/>
          <p:nvPr/>
        </p:nvSpPr>
        <p:spPr>
          <a:xfrm>
            <a:off x="4222595" y="818572"/>
            <a:ext cx="3746812" cy="2585323"/>
          </a:xfrm>
          <a:prstGeom prst="rect">
            <a:avLst/>
          </a:prstGeom>
          <a:noFill/>
        </p:spPr>
        <p:txBody>
          <a:bodyPr wrap="square">
            <a:spAutoFit/>
          </a:bodyPr>
          <a:lstStyle/>
          <a:p>
            <a:r>
              <a:rPr lang="zh-CN" altLang="en-US" dirty="0"/>
              <a:t>用户无关模型使用中立腕部位置数据以及来自其他用户的所有其他腕部方向数据进行训练。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 10(b) 所示的 6 个极端方向的会话中收集的数据来测试模型。</a:t>
            </a:r>
          </a:p>
        </p:txBody>
      </p:sp>
      <p:pic>
        <p:nvPicPr>
          <p:cNvPr id="11" name="图片 10">
            <a:extLst>
              <a:ext uri="{FF2B5EF4-FFF2-40B4-BE49-F238E27FC236}">
                <a16:creationId xmlns:a16="http://schemas.microsoft.com/office/drawing/2014/main" id="{8DC021B2-6E71-F638-655D-2ADE847A3A29}"/>
              </a:ext>
            </a:extLst>
          </p:cNvPr>
          <p:cNvPicPr>
            <a:picLocks noChangeAspect="1"/>
          </p:cNvPicPr>
          <p:nvPr/>
        </p:nvPicPr>
        <p:blipFill>
          <a:blip r:embed="rId5"/>
          <a:stretch>
            <a:fillRect/>
          </a:stretch>
        </p:blipFill>
        <p:spPr>
          <a:xfrm>
            <a:off x="336395" y="931202"/>
            <a:ext cx="3886200" cy="2242038"/>
          </a:xfrm>
          <a:prstGeom prst="rect">
            <a:avLst/>
          </a:prstGeom>
        </p:spPr>
      </p:pic>
      <p:pic>
        <p:nvPicPr>
          <p:cNvPr id="12" name="图片 11">
            <a:extLst>
              <a:ext uri="{FF2B5EF4-FFF2-40B4-BE49-F238E27FC236}">
                <a16:creationId xmlns:a16="http://schemas.microsoft.com/office/drawing/2014/main" id="{5F346EC9-DC8F-13B9-84CA-7CF333D4213F}"/>
              </a:ext>
            </a:extLst>
          </p:cNvPr>
          <p:cNvPicPr>
            <a:picLocks noChangeAspect="1"/>
          </p:cNvPicPr>
          <p:nvPr/>
        </p:nvPicPr>
        <p:blipFill>
          <a:blip r:embed="rId6"/>
          <a:stretch>
            <a:fillRect/>
          </a:stretch>
        </p:blipFill>
        <p:spPr>
          <a:xfrm>
            <a:off x="501004" y="862531"/>
            <a:ext cx="10968086" cy="5504479"/>
          </a:xfrm>
          <a:prstGeom prst="rect">
            <a:avLst/>
          </a:prstGeom>
        </p:spPr>
      </p:pic>
      <p:sp>
        <p:nvSpPr>
          <p:cNvPr id="17" name="矩形 16">
            <a:extLst>
              <a:ext uri="{FF2B5EF4-FFF2-40B4-BE49-F238E27FC236}">
                <a16:creationId xmlns:a16="http://schemas.microsoft.com/office/drawing/2014/main" id="{BC10EFD2-3296-459A-2571-D0233FF345B9}"/>
              </a:ext>
            </a:extLst>
          </p:cNvPr>
          <p:cNvSpPr/>
          <p:nvPr/>
        </p:nvSpPr>
        <p:spPr>
          <a:xfrm>
            <a:off x="4152666" y="1550020"/>
            <a:ext cx="1523301" cy="327845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58179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4D38E-8F44-6F38-F805-AA014348B5E1}"/>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F858F688-5EA8-C5FF-2D46-CB904306C022}"/>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9861190-1435-9010-7FB5-2B4E033EA0D9}"/>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0A9230B5-0E49-61E7-FD08-D5E8968A5F0C}"/>
              </a:ext>
            </a:extLst>
          </p:cNvPr>
          <p:cNvGrpSpPr/>
          <p:nvPr/>
        </p:nvGrpSpPr>
        <p:grpSpPr>
          <a:xfrm>
            <a:off x="138529" y="112811"/>
            <a:ext cx="3418710" cy="593132"/>
            <a:chOff x="1019925" y="1507763"/>
            <a:chExt cx="3418710" cy="593132"/>
          </a:xfrm>
        </p:grpSpPr>
        <p:sp>
          <p:nvSpPr>
            <p:cNvPr id="4" name="文本框 3">
              <a:extLst>
                <a:ext uri="{FF2B5EF4-FFF2-40B4-BE49-F238E27FC236}">
                  <a16:creationId xmlns:a16="http://schemas.microsoft.com/office/drawing/2014/main" id="{64FD6720-D235-8D81-B6FD-E59CBF26DEEF}"/>
                </a:ext>
              </a:extLst>
            </p:cNvPr>
            <p:cNvSpPr txBox="1"/>
            <p:nvPr/>
          </p:nvSpPr>
          <p:spPr>
            <a:xfrm>
              <a:off x="1700307" y="1507763"/>
              <a:ext cx="2738328"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对运动的鲁棒性</a:t>
              </a:r>
            </a:p>
          </p:txBody>
        </p:sp>
        <p:pic>
          <p:nvPicPr>
            <p:cNvPr id="5" name="图片 4">
              <a:extLst>
                <a:ext uri="{FF2B5EF4-FFF2-40B4-BE49-F238E27FC236}">
                  <a16:creationId xmlns:a16="http://schemas.microsoft.com/office/drawing/2014/main" id="{3B74D2A4-C88A-6FCB-83E9-2AEF1F25D457}"/>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3C6606A5-6309-7602-C0F3-5BD1F49CAC62}"/>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71EC4F5-8502-C1EB-23BB-320F6D7E004E}"/>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0" name="文本框 9">
            <a:extLst>
              <a:ext uri="{FF2B5EF4-FFF2-40B4-BE49-F238E27FC236}">
                <a16:creationId xmlns:a16="http://schemas.microsoft.com/office/drawing/2014/main" id="{30708D23-2469-AD36-876D-A5AB992ADC62}"/>
              </a:ext>
            </a:extLst>
          </p:cNvPr>
          <p:cNvSpPr txBox="1"/>
          <p:nvPr/>
        </p:nvSpPr>
        <p:spPr>
          <a:xfrm>
            <a:off x="4222595" y="818572"/>
            <a:ext cx="3746812" cy="2585323"/>
          </a:xfrm>
          <a:prstGeom prst="rect">
            <a:avLst/>
          </a:prstGeom>
          <a:noFill/>
        </p:spPr>
        <p:txBody>
          <a:bodyPr wrap="square">
            <a:spAutoFit/>
          </a:bodyPr>
          <a:lstStyle/>
          <a:p>
            <a:r>
              <a:rPr lang="zh-CN" altLang="en-US" dirty="0"/>
              <a:t>用户无关模型使用中立腕部位置数据以及来自其他用户的所有其他腕部方向数据进行训练。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 10(b) 所示的 6 个极端方向的会话中收集的数据来测试模型。</a:t>
            </a:r>
          </a:p>
        </p:txBody>
      </p:sp>
      <p:pic>
        <p:nvPicPr>
          <p:cNvPr id="11" name="图片 10">
            <a:extLst>
              <a:ext uri="{FF2B5EF4-FFF2-40B4-BE49-F238E27FC236}">
                <a16:creationId xmlns:a16="http://schemas.microsoft.com/office/drawing/2014/main" id="{DEBD96BA-74C3-A857-B068-CCB9C7A6E6D8}"/>
              </a:ext>
            </a:extLst>
          </p:cNvPr>
          <p:cNvPicPr>
            <a:picLocks noChangeAspect="1"/>
          </p:cNvPicPr>
          <p:nvPr/>
        </p:nvPicPr>
        <p:blipFill>
          <a:blip r:embed="rId5"/>
          <a:stretch>
            <a:fillRect/>
          </a:stretch>
        </p:blipFill>
        <p:spPr>
          <a:xfrm>
            <a:off x="336395" y="931202"/>
            <a:ext cx="3886200" cy="2242038"/>
          </a:xfrm>
          <a:prstGeom prst="rect">
            <a:avLst/>
          </a:prstGeom>
        </p:spPr>
      </p:pic>
      <p:pic>
        <p:nvPicPr>
          <p:cNvPr id="12" name="图片 11">
            <a:extLst>
              <a:ext uri="{FF2B5EF4-FFF2-40B4-BE49-F238E27FC236}">
                <a16:creationId xmlns:a16="http://schemas.microsoft.com/office/drawing/2014/main" id="{C196E9CD-4207-2300-29AC-3898F37D0805}"/>
              </a:ext>
            </a:extLst>
          </p:cNvPr>
          <p:cNvPicPr>
            <a:picLocks noChangeAspect="1"/>
          </p:cNvPicPr>
          <p:nvPr/>
        </p:nvPicPr>
        <p:blipFill>
          <a:blip r:embed="rId6"/>
          <a:stretch>
            <a:fillRect/>
          </a:stretch>
        </p:blipFill>
        <p:spPr>
          <a:xfrm>
            <a:off x="501004" y="862531"/>
            <a:ext cx="10968086" cy="5504479"/>
          </a:xfrm>
          <a:prstGeom prst="rect">
            <a:avLst/>
          </a:prstGeom>
        </p:spPr>
      </p:pic>
      <p:sp>
        <p:nvSpPr>
          <p:cNvPr id="17" name="矩形 16">
            <a:extLst>
              <a:ext uri="{FF2B5EF4-FFF2-40B4-BE49-F238E27FC236}">
                <a16:creationId xmlns:a16="http://schemas.microsoft.com/office/drawing/2014/main" id="{7E311C6C-F3C2-24B1-A92A-1610DB32FDA5}"/>
              </a:ext>
            </a:extLst>
          </p:cNvPr>
          <p:cNvSpPr/>
          <p:nvPr/>
        </p:nvSpPr>
        <p:spPr>
          <a:xfrm>
            <a:off x="3456878" y="1542454"/>
            <a:ext cx="765717" cy="327845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830021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8A3AB-44EB-52DF-9CE4-E56A6AC74844}"/>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EC5CBA16-EC6B-137A-9986-6F955D531EB9}"/>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2BB06C90-7686-664E-4D4C-48D58C8DDBA1}"/>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C7CF9593-7329-1C06-48AF-2244C1EA7D57}"/>
              </a:ext>
            </a:extLst>
          </p:cNvPr>
          <p:cNvGrpSpPr/>
          <p:nvPr/>
        </p:nvGrpSpPr>
        <p:grpSpPr>
          <a:xfrm>
            <a:off x="138529" y="112811"/>
            <a:ext cx="4084066" cy="593132"/>
            <a:chOff x="1019925" y="1507763"/>
            <a:chExt cx="4084066" cy="593132"/>
          </a:xfrm>
        </p:grpSpPr>
        <p:sp>
          <p:nvSpPr>
            <p:cNvPr id="4" name="文本框 3">
              <a:extLst>
                <a:ext uri="{FF2B5EF4-FFF2-40B4-BE49-F238E27FC236}">
                  <a16:creationId xmlns:a16="http://schemas.microsoft.com/office/drawing/2014/main" id="{B5304A17-6564-4343-7CE9-4F350280F039}"/>
                </a:ext>
              </a:extLst>
            </p:cNvPr>
            <p:cNvSpPr txBox="1"/>
            <p:nvPr/>
          </p:nvSpPr>
          <p:spPr>
            <a:xfrm>
              <a:off x="1700307" y="1507763"/>
              <a:ext cx="3403684"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对邻近物体的鲁棒性</a:t>
              </a:r>
            </a:p>
          </p:txBody>
        </p:sp>
        <p:pic>
          <p:nvPicPr>
            <p:cNvPr id="5" name="图片 4">
              <a:extLst>
                <a:ext uri="{FF2B5EF4-FFF2-40B4-BE49-F238E27FC236}">
                  <a16:creationId xmlns:a16="http://schemas.microsoft.com/office/drawing/2014/main" id="{FD7EFA16-44BE-D5F4-05DB-08297B3D04C4}"/>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2775BE92-1196-4AB0-7AA0-D076E35DFAF2}"/>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7549537B-ED61-2C2F-0A1A-BD1547E1F718}"/>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7" name="图片 6">
            <a:extLst>
              <a:ext uri="{FF2B5EF4-FFF2-40B4-BE49-F238E27FC236}">
                <a16:creationId xmlns:a16="http://schemas.microsoft.com/office/drawing/2014/main" id="{8D0C52FC-5A0E-5C5F-76E3-7F6BBECA2BAA}"/>
              </a:ext>
            </a:extLst>
          </p:cNvPr>
          <p:cNvPicPr>
            <a:picLocks noChangeAspect="1"/>
          </p:cNvPicPr>
          <p:nvPr/>
        </p:nvPicPr>
        <p:blipFill>
          <a:blip r:embed="rId5"/>
          <a:stretch>
            <a:fillRect/>
          </a:stretch>
        </p:blipFill>
        <p:spPr>
          <a:xfrm>
            <a:off x="336395" y="1141041"/>
            <a:ext cx="7772400" cy="4575917"/>
          </a:xfrm>
          <a:prstGeom prst="rect">
            <a:avLst/>
          </a:prstGeom>
        </p:spPr>
      </p:pic>
      <p:sp>
        <p:nvSpPr>
          <p:cNvPr id="13" name="文本框 12">
            <a:extLst>
              <a:ext uri="{FF2B5EF4-FFF2-40B4-BE49-F238E27FC236}">
                <a16:creationId xmlns:a16="http://schemas.microsoft.com/office/drawing/2014/main" id="{5C814C73-11C6-FA2A-48C3-83F3E0157E03}"/>
              </a:ext>
            </a:extLst>
          </p:cNvPr>
          <p:cNvSpPr txBox="1"/>
          <p:nvPr/>
        </p:nvSpPr>
        <p:spPr>
          <a:xfrm>
            <a:off x="8431361" y="2967334"/>
            <a:ext cx="3219531" cy="923330"/>
          </a:xfrm>
          <a:prstGeom prst="rect">
            <a:avLst/>
          </a:prstGeom>
          <a:noFill/>
        </p:spPr>
        <p:txBody>
          <a:bodyPr wrap="square">
            <a:spAutoFit/>
          </a:bodyPr>
          <a:lstStyle/>
          <a:p>
            <a:r>
              <a:rPr lang="zh-CN" altLang="en-US" dirty="0"/>
              <a:t>除了手指遮挡外，传感器还可能被附近的表面和物体（例如裤子和桌子）遮挡。</a:t>
            </a:r>
          </a:p>
        </p:txBody>
      </p:sp>
    </p:spTree>
    <p:extLst>
      <p:ext uri="{BB962C8B-B14F-4D97-AF65-F5344CB8AC3E}">
        <p14:creationId xmlns:p14="http://schemas.microsoft.com/office/powerpoint/2010/main" val="646452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052A4-0D84-4457-960F-7137B483A215}"/>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0975F4C-6653-E349-DDEC-7803C5960652}"/>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F6284773-E9F8-B081-3985-CC4799F61A84}"/>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CEC69660-A76B-4DDF-D9CF-A80E0B4A6210}"/>
              </a:ext>
            </a:extLst>
          </p:cNvPr>
          <p:cNvGrpSpPr/>
          <p:nvPr/>
        </p:nvGrpSpPr>
        <p:grpSpPr>
          <a:xfrm>
            <a:off x="138529" y="112811"/>
            <a:ext cx="4084066" cy="593132"/>
            <a:chOff x="1019925" y="1507763"/>
            <a:chExt cx="4084066" cy="593132"/>
          </a:xfrm>
        </p:grpSpPr>
        <p:sp>
          <p:nvSpPr>
            <p:cNvPr id="4" name="文本框 3">
              <a:extLst>
                <a:ext uri="{FF2B5EF4-FFF2-40B4-BE49-F238E27FC236}">
                  <a16:creationId xmlns:a16="http://schemas.microsoft.com/office/drawing/2014/main" id="{954C463D-5DD6-B335-F0F4-E8110E538EDA}"/>
                </a:ext>
              </a:extLst>
            </p:cNvPr>
            <p:cNvSpPr txBox="1"/>
            <p:nvPr/>
          </p:nvSpPr>
          <p:spPr>
            <a:xfrm>
              <a:off x="1700307" y="1507763"/>
              <a:ext cx="3403684"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对邻近物体的鲁棒性</a:t>
              </a:r>
            </a:p>
          </p:txBody>
        </p:sp>
        <p:pic>
          <p:nvPicPr>
            <p:cNvPr id="5" name="图片 4">
              <a:extLst>
                <a:ext uri="{FF2B5EF4-FFF2-40B4-BE49-F238E27FC236}">
                  <a16:creationId xmlns:a16="http://schemas.microsoft.com/office/drawing/2014/main" id="{66837526-677C-BA20-7D77-0A0A29947241}"/>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FA68C77C-3891-D4BE-C392-DF3C69566120}"/>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F05589F-EFBD-5FA3-F496-E612024E6348}"/>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aphicFrame>
        <p:nvGraphicFramePr>
          <p:cNvPr id="6" name="表格 5">
            <a:extLst>
              <a:ext uri="{FF2B5EF4-FFF2-40B4-BE49-F238E27FC236}">
                <a16:creationId xmlns:a16="http://schemas.microsoft.com/office/drawing/2014/main" id="{4435FCCD-1DE0-34E6-E972-1EA70477D482}"/>
              </a:ext>
            </a:extLst>
          </p:cNvPr>
          <p:cNvGraphicFramePr>
            <a:graphicFrameLocks noGrp="1"/>
          </p:cNvGraphicFramePr>
          <p:nvPr>
            <p:extLst>
              <p:ext uri="{D42A27DB-BD31-4B8C-83A1-F6EECF244321}">
                <p14:modId xmlns:p14="http://schemas.microsoft.com/office/powerpoint/2010/main" val="1717120314"/>
              </p:ext>
            </p:extLst>
          </p:nvPr>
        </p:nvGraphicFramePr>
        <p:xfrm>
          <a:off x="6294846" y="1253332"/>
          <a:ext cx="5535768" cy="4351335"/>
        </p:xfrm>
        <a:graphic>
          <a:graphicData uri="http://schemas.openxmlformats.org/drawingml/2006/table">
            <a:tbl>
              <a:tblPr>
                <a:tableStyleId>{5C22544A-7EE6-4342-B048-85BDC9FD1C3A}</a:tableStyleId>
              </a:tblPr>
              <a:tblGrid>
                <a:gridCol w="1383942">
                  <a:extLst>
                    <a:ext uri="{9D8B030D-6E8A-4147-A177-3AD203B41FA5}">
                      <a16:colId xmlns:a16="http://schemas.microsoft.com/office/drawing/2014/main" val="191729732"/>
                    </a:ext>
                  </a:extLst>
                </a:gridCol>
                <a:gridCol w="1383942">
                  <a:extLst>
                    <a:ext uri="{9D8B030D-6E8A-4147-A177-3AD203B41FA5}">
                      <a16:colId xmlns:a16="http://schemas.microsoft.com/office/drawing/2014/main" val="2327809328"/>
                    </a:ext>
                  </a:extLst>
                </a:gridCol>
                <a:gridCol w="1383942">
                  <a:extLst>
                    <a:ext uri="{9D8B030D-6E8A-4147-A177-3AD203B41FA5}">
                      <a16:colId xmlns:a16="http://schemas.microsoft.com/office/drawing/2014/main" val="1436435256"/>
                    </a:ext>
                  </a:extLst>
                </a:gridCol>
                <a:gridCol w="1383942">
                  <a:extLst>
                    <a:ext uri="{9D8B030D-6E8A-4147-A177-3AD203B41FA5}">
                      <a16:colId xmlns:a16="http://schemas.microsoft.com/office/drawing/2014/main" val="476361625"/>
                    </a:ext>
                  </a:extLst>
                </a:gridCol>
              </a:tblGrid>
              <a:tr h="421895">
                <a:tc>
                  <a:txBody>
                    <a:bodyPr/>
                    <a:lstStyle/>
                    <a:p>
                      <a:pPr algn="l" fontAlgn="ctr">
                        <a:buNone/>
                      </a:pPr>
                      <a:r>
                        <a:rPr lang="zh-CN" altLang="en-US" sz="1200" u="none" strike="noStrike" dirty="0">
                          <a:effectLst/>
                        </a:rPr>
                        <a:t>序号</a:t>
                      </a:r>
                      <a:endParaRPr lang="zh-CN" altLang="en-US" sz="1200" b="1" i="0" u="none" strike="noStrike" dirty="0">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物体类型与摆放方式</a:t>
                      </a:r>
                      <a:endParaRPr lang="zh-CN" altLang="en-US" sz="1200" b="1"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距手距离 </a:t>
                      </a:r>
                      <a:r>
                        <a:rPr lang="en-US" altLang="zh-CN" sz="1200" u="none" strike="noStrike">
                          <a:effectLst/>
                        </a:rPr>
                        <a:t>/ </a:t>
                      </a:r>
                      <a:r>
                        <a:rPr lang="zh-CN" altLang="en-US" sz="1200" u="none" strike="noStrike">
                          <a:effectLst/>
                        </a:rPr>
                        <a:t>运动限制</a:t>
                      </a:r>
                      <a:endParaRPr lang="zh-CN" altLang="en-US" sz="1200" b="1"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考察要点</a:t>
                      </a:r>
                      <a:endParaRPr lang="zh-CN" altLang="en-US" sz="1200" b="1" i="0" u="none" strike="noStrike">
                        <a:solidFill>
                          <a:srgbClr val="000000"/>
                        </a:solidFill>
                        <a:effectLst/>
                        <a:latin typeface="Inherit"/>
                        <a:ea typeface="等线" panose="02010600030101010101" pitchFamily="2" charset="-122"/>
                      </a:endParaRPr>
                    </a:p>
                  </a:txBody>
                  <a:tcPr marL="6186" marR="6186" marT="6186" marB="0" anchor="ctr"/>
                </a:tc>
                <a:extLst>
                  <a:ext uri="{0D108BD9-81ED-4DB2-BD59-A6C34878D82A}">
                    <a16:rowId xmlns:a16="http://schemas.microsoft.com/office/drawing/2014/main" val="3295335933"/>
                  </a:ext>
                </a:extLst>
              </a:tr>
              <a:tr h="560465">
                <a:tc>
                  <a:txBody>
                    <a:bodyPr/>
                    <a:lstStyle/>
                    <a:p>
                      <a:pPr algn="r" fontAlgn="ctr">
                        <a:buNone/>
                      </a:pPr>
                      <a:r>
                        <a:rPr lang="en-US" altLang="zh-CN" sz="1200" u="none" strike="noStrike" dirty="0">
                          <a:effectLst/>
                        </a:rPr>
                        <a:t>1</a:t>
                      </a:r>
                      <a:endParaRPr lang="en-US" altLang="zh-CN" sz="1200" b="0" i="0" u="none" strike="noStrike" dirty="0">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亚克力板置于正前方</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en" sz="1200" u="none" strike="noStrike">
                          <a:effectLst/>
                        </a:rPr>
                        <a:t>36 cm，</a:t>
                      </a:r>
                      <a:r>
                        <a:rPr lang="zh-CN" altLang="en-US" sz="1200" u="none" strike="noStrike">
                          <a:effectLst/>
                        </a:rPr>
                        <a:t>静态</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硬反射面在远距时对超声回波的影响</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extLst>
                  <a:ext uri="{0D108BD9-81ED-4DB2-BD59-A6C34878D82A}">
                    <a16:rowId xmlns:a16="http://schemas.microsoft.com/office/drawing/2014/main" val="2018926574"/>
                  </a:ext>
                </a:extLst>
              </a:tr>
              <a:tr h="421895">
                <a:tc>
                  <a:txBody>
                    <a:bodyPr/>
                    <a:lstStyle/>
                    <a:p>
                      <a:pPr algn="r" fontAlgn="ctr">
                        <a:buNone/>
                      </a:pPr>
                      <a:r>
                        <a:rPr lang="en-US" altLang="zh-CN" sz="1200" u="none" strike="noStrike" dirty="0">
                          <a:effectLst/>
                        </a:rPr>
                        <a:t>2</a:t>
                      </a:r>
                      <a:endParaRPr lang="en-US" altLang="zh-CN" sz="1200" b="0" i="0" u="none" strike="noStrike" dirty="0">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dirty="0">
                          <a:effectLst/>
                        </a:rPr>
                        <a:t>同 </a:t>
                      </a:r>
                      <a:r>
                        <a:rPr lang="en-US" altLang="zh-CN" sz="1200" u="none" strike="noStrike" dirty="0">
                          <a:effectLst/>
                        </a:rPr>
                        <a:t>1 + </a:t>
                      </a:r>
                      <a:r>
                        <a:rPr lang="zh-CN" altLang="en-US" sz="1200" u="none" strike="noStrike" dirty="0">
                          <a:effectLst/>
                        </a:rPr>
                        <a:t>自由运动</a:t>
                      </a:r>
                      <a:endParaRPr lang="zh-CN" altLang="en-US" sz="1200" b="0" i="0" u="none" strike="noStrike" dirty="0">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en" sz="1200" u="none" strike="noStrike">
                          <a:effectLst/>
                        </a:rPr>
                        <a:t>36 cm，</a:t>
                      </a:r>
                      <a:r>
                        <a:rPr lang="zh-CN" altLang="en-US" sz="1200" u="none" strike="noStrike">
                          <a:effectLst/>
                        </a:rPr>
                        <a:t>连续靠近</a:t>
                      </a:r>
                      <a:r>
                        <a:rPr lang="en-US" altLang="zh-CN" sz="1200" u="none" strike="noStrike">
                          <a:effectLst/>
                        </a:rPr>
                        <a:t>-</a:t>
                      </a:r>
                      <a:r>
                        <a:rPr lang="zh-CN" altLang="en-US" sz="1200" u="none" strike="noStrike">
                          <a:effectLst/>
                        </a:rPr>
                        <a:t>远离</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距离实时变化下系统鲁棒性</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extLst>
                  <a:ext uri="{0D108BD9-81ED-4DB2-BD59-A6C34878D82A}">
                    <a16:rowId xmlns:a16="http://schemas.microsoft.com/office/drawing/2014/main" val="3955254049"/>
                  </a:ext>
                </a:extLst>
              </a:tr>
              <a:tr h="421895">
                <a:tc>
                  <a:txBody>
                    <a:bodyPr/>
                    <a:lstStyle/>
                    <a:p>
                      <a:pPr algn="r" fontAlgn="ctr">
                        <a:buNone/>
                      </a:pPr>
                      <a:r>
                        <a:rPr lang="en-US" altLang="zh-CN" sz="1200" u="none" strike="noStrike">
                          <a:effectLst/>
                        </a:rPr>
                        <a:t>3</a:t>
                      </a:r>
                      <a:endParaRPr lang="en-US" altLang="zh-CN"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dirty="0">
                          <a:effectLst/>
                        </a:rPr>
                        <a:t>亚克力板置于正前方</a:t>
                      </a:r>
                      <a:endParaRPr lang="zh-CN" altLang="en-US" sz="1200" b="0" i="0" u="none" strike="noStrike" dirty="0">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en" sz="1200" u="none" strike="noStrike">
                          <a:effectLst/>
                        </a:rPr>
                        <a:t>24 cm，</a:t>
                      </a:r>
                      <a:r>
                        <a:rPr lang="zh-CN" altLang="en-US" sz="1200" u="none" strike="noStrike">
                          <a:effectLst/>
                        </a:rPr>
                        <a:t>静态</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中距硬反射干扰</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extLst>
                  <a:ext uri="{0D108BD9-81ED-4DB2-BD59-A6C34878D82A}">
                    <a16:rowId xmlns:a16="http://schemas.microsoft.com/office/drawing/2014/main" val="52102944"/>
                  </a:ext>
                </a:extLst>
              </a:tr>
              <a:tr h="560465">
                <a:tc>
                  <a:txBody>
                    <a:bodyPr/>
                    <a:lstStyle/>
                    <a:p>
                      <a:pPr algn="r" fontAlgn="ctr">
                        <a:buNone/>
                      </a:pPr>
                      <a:r>
                        <a:rPr lang="en-US" altLang="zh-CN" sz="1200" u="none" strike="noStrike">
                          <a:effectLst/>
                        </a:rPr>
                        <a:t>4</a:t>
                      </a:r>
                      <a:endParaRPr lang="en-US" altLang="zh-CN"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dirty="0">
                          <a:effectLst/>
                        </a:rPr>
                        <a:t>亚克力板置于正前方</a:t>
                      </a:r>
                      <a:endParaRPr lang="zh-CN" altLang="en-US" sz="1200" b="0" i="0" u="none" strike="noStrike" dirty="0">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en" sz="1200" u="none" strike="noStrike">
                          <a:effectLst/>
                        </a:rPr>
                        <a:t>12 cm，</a:t>
                      </a:r>
                      <a:r>
                        <a:rPr lang="zh-CN" altLang="en-US" sz="1200" u="none" strike="noStrike">
                          <a:effectLst/>
                        </a:rPr>
                        <a:t>静态</a:t>
                      </a:r>
                      <a:endParaRPr lang="zh-CN" altLang="en-US" sz="1200" b="1"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最近距强反射干扰（极限场景）</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extLst>
                  <a:ext uri="{0D108BD9-81ED-4DB2-BD59-A6C34878D82A}">
                    <a16:rowId xmlns:a16="http://schemas.microsoft.com/office/drawing/2014/main" val="25835722"/>
                  </a:ext>
                </a:extLst>
              </a:tr>
              <a:tr h="421895">
                <a:tc>
                  <a:txBody>
                    <a:bodyPr/>
                    <a:lstStyle/>
                    <a:p>
                      <a:pPr algn="r" fontAlgn="ctr">
                        <a:buNone/>
                      </a:pPr>
                      <a:r>
                        <a:rPr lang="en-US" altLang="zh-CN" sz="1200" u="none" strike="noStrike">
                          <a:effectLst/>
                        </a:rPr>
                        <a:t>5</a:t>
                      </a:r>
                      <a:endParaRPr lang="en-US" altLang="zh-CN"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塑料盒置于侧面</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dirty="0">
                          <a:effectLst/>
                        </a:rPr>
                        <a:t>侧方，静态</a:t>
                      </a:r>
                      <a:endParaRPr lang="zh-CN" altLang="en-US" sz="1200" b="0" i="0" u="none" strike="noStrike" dirty="0">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日常硬外壳物体的散射影响</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extLst>
                  <a:ext uri="{0D108BD9-81ED-4DB2-BD59-A6C34878D82A}">
                    <a16:rowId xmlns:a16="http://schemas.microsoft.com/office/drawing/2014/main" val="2956241149"/>
                  </a:ext>
                </a:extLst>
              </a:tr>
              <a:tr h="421895">
                <a:tc>
                  <a:txBody>
                    <a:bodyPr/>
                    <a:lstStyle/>
                    <a:p>
                      <a:pPr algn="r" fontAlgn="ctr">
                        <a:buNone/>
                      </a:pPr>
                      <a:r>
                        <a:rPr lang="en-US" altLang="zh-CN" sz="1200" u="none" strike="noStrike">
                          <a:effectLst/>
                        </a:rPr>
                        <a:t>6</a:t>
                      </a:r>
                      <a:endParaRPr lang="en-US" altLang="zh-CN"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棉布覆盖盒置于侧面</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dirty="0">
                          <a:effectLst/>
                        </a:rPr>
                        <a:t>侧方，静态</a:t>
                      </a:r>
                      <a:endParaRPr lang="zh-CN" altLang="en-US" sz="1200" b="0" i="0" u="none" strike="noStrike" dirty="0">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软吸音材料对声波的衰减</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extLst>
                  <a:ext uri="{0D108BD9-81ED-4DB2-BD59-A6C34878D82A}">
                    <a16:rowId xmlns:a16="http://schemas.microsoft.com/office/drawing/2014/main" val="628934359"/>
                  </a:ext>
                </a:extLst>
              </a:tr>
              <a:tr h="560465">
                <a:tc>
                  <a:txBody>
                    <a:bodyPr/>
                    <a:lstStyle/>
                    <a:p>
                      <a:pPr algn="r" fontAlgn="ctr">
                        <a:buNone/>
                      </a:pPr>
                      <a:r>
                        <a:rPr lang="en-US" altLang="zh-CN" sz="1200" u="none" strike="noStrike">
                          <a:effectLst/>
                        </a:rPr>
                        <a:t>7</a:t>
                      </a:r>
                      <a:endParaRPr lang="en-US" altLang="zh-CN"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铜箔覆盖盒置于侧面</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dirty="0">
                          <a:effectLst/>
                        </a:rPr>
                        <a:t>侧方，静态</a:t>
                      </a:r>
                      <a:endParaRPr lang="zh-CN" altLang="en-US" sz="1200" b="0" i="0" u="none" strike="noStrike" dirty="0">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dirty="0">
                          <a:effectLst/>
                        </a:rPr>
                        <a:t>高导电</a:t>
                      </a:r>
                      <a:r>
                        <a:rPr lang="en-US" altLang="zh-CN" sz="1200" u="none" strike="noStrike" dirty="0">
                          <a:effectLst/>
                        </a:rPr>
                        <a:t>/</a:t>
                      </a:r>
                      <a:r>
                        <a:rPr lang="zh-CN" altLang="en-US" sz="1200" u="none" strike="noStrike" dirty="0">
                          <a:effectLst/>
                        </a:rPr>
                        <a:t>高反射材质的特殊影响</a:t>
                      </a:r>
                      <a:endParaRPr lang="zh-CN" altLang="en-US" sz="1200" b="0" i="0" u="none" strike="noStrike" dirty="0">
                        <a:solidFill>
                          <a:srgbClr val="000000"/>
                        </a:solidFill>
                        <a:effectLst/>
                        <a:latin typeface="Inherit"/>
                        <a:ea typeface="等线" panose="02010600030101010101" pitchFamily="2" charset="-122"/>
                      </a:endParaRPr>
                    </a:p>
                  </a:txBody>
                  <a:tcPr marL="6186" marR="6186" marT="6186" marB="0" anchor="ctr"/>
                </a:tc>
                <a:extLst>
                  <a:ext uri="{0D108BD9-81ED-4DB2-BD59-A6C34878D82A}">
                    <a16:rowId xmlns:a16="http://schemas.microsoft.com/office/drawing/2014/main" val="4076757411"/>
                  </a:ext>
                </a:extLst>
              </a:tr>
              <a:tr h="560465">
                <a:tc>
                  <a:txBody>
                    <a:bodyPr/>
                    <a:lstStyle/>
                    <a:p>
                      <a:pPr algn="r" fontAlgn="ctr">
                        <a:buNone/>
                      </a:pPr>
                      <a:r>
                        <a:rPr lang="en-US" altLang="zh-CN" sz="1200" u="none" strike="noStrike">
                          <a:effectLst/>
                        </a:rPr>
                        <a:t>8</a:t>
                      </a:r>
                      <a:endParaRPr lang="en-US" altLang="zh-CN"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a:effectLst/>
                        </a:rPr>
                        <a:t>毛绒玩具置于侧面</a:t>
                      </a:r>
                      <a:endParaRPr lang="zh-CN" altLang="en-US" sz="1200" b="0" i="0" u="none" strike="noStrike">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dirty="0">
                          <a:effectLst/>
                        </a:rPr>
                        <a:t>侧方，静态</a:t>
                      </a:r>
                      <a:endParaRPr lang="zh-CN" altLang="en-US" sz="1200" b="0" i="0" u="none" strike="noStrike" dirty="0">
                        <a:solidFill>
                          <a:srgbClr val="000000"/>
                        </a:solidFill>
                        <a:effectLst/>
                        <a:latin typeface="Inherit"/>
                        <a:ea typeface="等线" panose="02010600030101010101" pitchFamily="2" charset="-122"/>
                      </a:endParaRPr>
                    </a:p>
                  </a:txBody>
                  <a:tcPr marL="6186" marR="6186" marT="6186" marB="0" anchor="ctr"/>
                </a:tc>
                <a:tc>
                  <a:txBody>
                    <a:bodyPr/>
                    <a:lstStyle/>
                    <a:p>
                      <a:pPr algn="l" fontAlgn="ctr">
                        <a:buNone/>
                      </a:pPr>
                      <a:r>
                        <a:rPr lang="zh-CN" altLang="en-US" sz="1200" u="none" strike="noStrike" dirty="0">
                          <a:effectLst/>
                        </a:rPr>
                        <a:t>不规则、软表面物体的散射</a:t>
                      </a:r>
                      <a:r>
                        <a:rPr lang="en-US" altLang="zh-CN" sz="1200" u="none" strike="noStrike" dirty="0">
                          <a:effectLst/>
                        </a:rPr>
                        <a:t>-</a:t>
                      </a:r>
                      <a:r>
                        <a:rPr lang="zh-CN" altLang="en-US" sz="1200" u="none" strike="noStrike" dirty="0">
                          <a:effectLst/>
                        </a:rPr>
                        <a:t>吸收</a:t>
                      </a:r>
                      <a:endParaRPr lang="zh-CN" altLang="en-US" sz="1200" b="0" i="0" u="none" strike="noStrike" dirty="0">
                        <a:solidFill>
                          <a:srgbClr val="000000"/>
                        </a:solidFill>
                        <a:effectLst/>
                        <a:latin typeface="Inherit"/>
                        <a:ea typeface="等线" panose="02010600030101010101" pitchFamily="2" charset="-122"/>
                      </a:endParaRPr>
                    </a:p>
                  </a:txBody>
                  <a:tcPr marL="6186" marR="6186" marT="6186" marB="0" anchor="ctr"/>
                </a:tc>
                <a:extLst>
                  <a:ext uri="{0D108BD9-81ED-4DB2-BD59-A6C34878D82A}">
                    <a16:rowId xmlns:a16="http://schemas.microsoft.com/office/drawing/2014/main" val="3914678498"/>
                  </a:ext>
                </a:extLst>
              </a:tr>
            </a:tbl>
          </a:graphicData>
        </a:graphic>
      </p:graphicFrame>
      <p:grpSp>
        <p:nvGrpSpPr>
          <p:cNvPr id="8" name="组合 7">
            <a:extLst>
              <a:ext uri="{FF2B5EF4-FFF2-40B4-BE49-F238E27FC236}">
                <a16:creationId xmlns:a16="http://schemas.microsoft.com/office/drawing/2014/main" id="{E391BF9D-4C55-3228-B51B-A2636E725B54}"/>
              </a:ext>
            </a:extLst>
          </p:cNvPr>
          <p:cNvGrpSpPr/>
          <p:nvPr/>
        </p:nvGrpSpPr>
        <p:grpSpPr>
          <a:xfrm>
            <a:off x="0" y="931202"/>
            <a:ext cx="6466705" cy="5655885"/>
            <a:chOff x="192048" y="952033"/>
            <a:chExt cx="6466705" cy="5655885"/>
          </a:xfrm>
        </p:grpSpPr>
        <p:grpSp>
          <p:nvGrpSpPr>
            <p:cNvPr id="10" name="组合 9">
              <a:extLst>
                <a:ext uri="{FF2B5EF4-FFF2-40B4-BE49-F238E27FC236}">
                  <a16:creationId xmlns:a16="http://schemas.microsoft.com/office/drawing/2014/main" id="{73EDDFE8-9949-F0C8-5C5E-93B13F61C998}"/>
                </a:ext>
              </a:extLst>
            </p:cNvPr>
            <p:cNvGrpSpPr/>
            <p:nvPr/>
          </p:nvGrpSpPr>
          <p:grpSpPr>
            <a:xfrm>
              <a:off x="192048" y="952033"/>
              <a:ext cx="6041484" cy="5655885"/>
              <a:chOff x="-833702" y="666273"/>
              <a:chExt cx="7371985" cy="6759367"/>
            </a:xfrm>
          </p:grpSpPr>
          <p:sp>
            <p:nvSpPr>
              <p:cNvPr id="14" name="矩形 13">
                <a:extLst>
                  <a:ext uri="{FF2B5EF4-FFF2-40B4-BE49-F238E27FC236}">
                    <a16:creationId xmlns:a16="http://schemas.microsoft.com/office/drawing/2014/main" id="{F04BE064-E8C3-06E5-C232-3A972CC678B9}"/>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DB7B1C95-5C44-1C6A-F6A3-702A6A4DE4FF}"/>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3467BBE4-A89F-E9D2-6929-ED313717ED1A}"/>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7" name="矩形 16">
                <a:extLst>
                  <a:ext uri="{FF2B5EF4-FFF2-40B4-BE49-F238E27FC236}">
                    <a16:creationId xmlns:a16="http://schemas.microsoft.com/office/drawing/2014/main" id="{212979C1-316F-13B7-BD5D-52979541D767}"/>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18" name="组合 17">
                <a:extLst>
                  <a:ext uri="{FF2B5EF4-FFF2-40B4-BE49-F238E27FC236}">
                    <a16:creationId xmlns:a16="http://schemas.microsoft.com/office/drawing/2014/main" id="{35105EB8-ABDA-F6AC-22AE-F1580E27614B}"/>
                  </a:ext>
                </a:extLst>
              </p:cNvPr>
              <p:cNvGrpSpPr/>
              <p:nvPr/>
            </p:nvGrpSpPr>
            <p:grpSpPr>
              <a:xfrm>
                <a:off x="-833702" y="1431998"/>
                <a:ext cx="6785267" cy="5993642"/>
                <a:chOff x="-1076709" y="692302"/>
                <a:chExt cx="8647302" cy="6882010"/>
              </a:xfrm>
            </p:grpSpPr>
            <p:sp>
              <p:nvSpPr>
                <p:cNvPr id="19" name="左大括号 18">
                  <a:extLst>
                    <a:ext uri="{FF2B5EF4-FFF2-40B4-BE49-F238E27FC236}">
                      <a16:creationId xmlns:a16="http://schemas.microsoft.com/office/drawing/2014/main" id="{2C46EF4A-62B8-088F-DB1E-DF148CD0FC32}"/>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70139459-BB8F-48AB-22BA-73BBC2E1EE4C}"/>
                    </a:ext>
                  </a:extLst>
                </p:cNvPr>
                <p:cNvSpPr txBox="1"/>
                <p:nvPr/>
              </p:nvSpPr>
              <p:spPr>
                <a:xfrm>
                  <a:off x="2824206" y="7067500"/>
                  <a:ext cx="2460587" cy="506812"/>
                </a:xfrm>
                <a:prstGeom prst="rect">
                  <a:avLst/>
                </a:prstGeom>
                <a:noFill/>
              </p:spPr>
              <p:txBody>
                <a:bodyPr wrap="square" rtlCol="0">
                  <a:spAutoFit/>
                </a:bodyPr>
                <a:lstStyle/>
                <a:p>
                  <a:r>
                    <a:rPr kumimoji="1" lang="en-US" altLang="zh-CN" dirty="0">
                      <a:latin typeface="+mn-ea"/>
                    </a:rPr>
                    <a:t>20+11+9</a:t>
                  </a:r>
                  <a:endParaRPr kumimoji="1" lang="zh-CN" altLang="en-US" dirty="0"/>
                </a:p>
              </p:txBody>
            </p:sp>
            <p:grpSp>
              <p:nvGrpSpPr>
                <p:cNvPr id="21" name="组合 20">
                  <a:extLst>
                    <a:ext uri="{FF2B5EF4-FFF2-40B4-BE49-F238E27FC236}">
                      <a16:creationId xmlns:a16="http://schemas.microsoft.com/office/drawing/2014/main" id="{1C644B36-3B10-A506-DBEE-1C180E21E938}"/>
                    </a:ext>
                  </a:extLst>
                </p:cNvPr>
                <p:cNvGrpSpPr/>
                <p:nvPr/>
              </p:nvGrpSpPr>
              <p:grpSpPr>
                <a:xfrm>
                  <a:off x="550303" y="2983374"/>
                  <a:ext cx="6527801" cy="1132934"/>
                  <a:chOff x="550303" y="2983374"/>
                  <a:chExt cx="6527801" cy="1132934"/>
                </a:xfrm>
              </p:grpSpPr>
              <p:pic>
                <p:nvPicPr>
                  <p:cNvPr id="24" name="图片 23">
                    <a:extLst>
                      <a:ext uri="{FF2B5EF4-FFF2-40B4-BE49-F238E27FC236}">
                        <a16:creationId xmlns:a16="http://schemas.microsoft.com/office/drawing/2014/main" id="{6019BE01-16F1-B589-4645-9459C30DAD92}"/>
                      </a:ext>
                    </a:extLst>
                  </p:cNvPr>
                  <p:cNvPicPr>
                    <a:picLocks noChangeAspect="1"/>
                  </p:cNvPicPr>
                  <p:nvPr/>
                </p:nvPicPr>
                <p:blipFill>
                  <a:blip r:embed="rId5"/>
                  <a:srcRect t="6098"/>
                  <a:stretch>
                    <a:fillRect/>
                  </a:stretch>
                </p:blipFill>
                <p:spPr>
                  <a:xfrm>
                    <a:off x="550303" y="2983374"/>
                    <a:ext cx="812800" cy="1132934"/>
                  </a:xfrm>
                  <a:prstGeom prst="rect">
                    <a:avLst/>
                  </a:prstGeom>
                </p:spPr>
              </p:pic>
              <p:pic>
                <p:nvPicPr>
                  <p:cNvPr id="25" name="图片 24">
                    <a:extLst>
                      <a:ext uri="{FF2B5EF4-FFF2-40B4-BE49-F238E27FC236}">
                        <a16:creationId xmlns:a16="http://schemas.microsoft.com/office/drawing/2014/main" id="{DDDE03E9-2F07-35F0-2963-486A3EEEBB69}"/>
                      </a:ext>
                    </a:extLst>
                  </p:cNvPr>
                  <p:cNvPicPr>
                    <a:picLocks noChangeAspect="1"/>
                  </p:cNvPicPr>
                  <p:nvPr/>
                </p:nvPicPr>
                <p:blipFill>
                  <a:blip r:embed="rId6"/>
                  <a:srcRect t="4545" r="65196"/>
                  <a:stretch>
                    <a:fillRect/>
                  </a:stretch>
                </p:blipFill>
                <p:spPr>
                  <a:xfrm>
                    <a:off x="2569604" y="2983374"/>
                    <a:ext cx="901700" cy="1081443"/>
                  </a:xfrm>
                  <a:prstGeom prst="rect">
                    <a:avLst/>
                  </a:prstGeom>
                </p:spPr>
              </p:pic>
              <p:pic>
                <p:nvPicPr>
                  <p:cNvPr id="26" name="图片 25">
                    <a:extLst>
                      <a:ext uri="{FF2B5EF4-FFF2-40B4-BE49-F238E27FC236}">
                        <a16:creationId xmlns:a16="http://schemas.microsoft.com/office/drawing/2014/main" id="{0276B500-8CCB-0615-790E-E897150ADA5F}"/>
                      </a:ext>
                    </a:extLst>
                  </p:cNvPr>
                  <p:cNvPicPr>
                    <a:picLocks noChangeAspect="1"/>
                  </p:cNvPicPr>
                  <p:nvPr/>
                </p:nvPicPr>
                <p:blipFill>
                  <a:blip r:embed="rId6"/>
                  <a:srcRect l="34313" t="4545" r="31373"/>
                  <a:stretch>
                    <a:fillRect/>
                  </a:stretch>
                </p:blipFill>
                <p:spPr>
                  <a:xfrm>
                    <a:off x="4487305" y="2983374"/>
                    <a:ext cx="889001" cy="1081443"/>
                  </a:xfrm>
                  <a:prstGeom prst="rect">
                    <a:avLst/>
                  </a:prstGeom>
                </p:spPr>
              </p:pic>
              <p:pic>
                <p:nvPicPr>
                  <p:cNvPr id="27" name="图片 26">
                    <a:extLst>
                      <a:ext uri="{FF2B5EF4-FFF2-40B4-BE49-F238E27FC236}">
                        <a16:creationId xmlns:a16="http://schemas.microsoft.com/office/drawing/2014/main" id="{FC712D8D-9BDE-5310-C636-7D40179D8AD5}"/>
                      </a:ext>
                    </a:extLst>
                  </p:cNvPr>
                  <p:cNvPicPr>
                    <a:picLocks noChangeAspect="1"/>
                  </p:cNvPicPr>
                  <p:nvPr/>
                </p:nvPicPr>
                <p:blipFill>
                  <a:blip r:embed="rId7"/>
                  <a:stretch>
                    <a:fillRect/>
                  </a:stretch>
                </p:blipFill>
                <p:spPr>
                  <a:xfrm>
                    <a:off x="6278004" y="2983375"/>
                    <a:ext cx="800100" cy="1117601"/>
                  </a:xfrm>
                  <a:prstGeom prst="rect">
                    <a:avLst/>
                  </a:prstGeom>
                </p:spPr>
              </p:pic>
            </p:grpSp>
            <p:sp>
              <p:nvSpPr>
                <p:cNvPr id="22" name="左大括号 21">
                  <a:extLst>
                    <a:ext uri="{FF2B5EF4-FFF2-40B4-BE49-F238E27FC236}">
                      <a16:creationId xmlns:a16="http://schemas.microsoft.com/office/drawing/2014/main" id="{D44FBE51-30B6-5306-A354-E6101CC660E4}"/>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070872A1-8D7F-C1CB-C49F-53A8F5DF703E}"/>
                    </a:ext>
                  </a:extLst>
                </p:cNvPr>
                <p:cNvSpPr txBox="1"/>
                <p:nvPr/>
              </p:nvSpPr>
              <p:spPr>
                <a:xfrm>
                  <a:off x="-1076709" y="3267222"/>
                  <a:ext cx="717929" cy="849086"/>
                </a:xfrm>
                <a:prstGeom prst="rect">
                  <a:avLst/>
                </a:prstGeom>
                <a:noFill/>
              </p:spPr>
              <p:txBody>
                <a:bodyPr vert="eaVert" wrap="square" rtlCol="0">
                  <a:spAutoFit/>
                </a:bodyPr>
                <a:lstStyle/>
                <a:p>
                  <a:r>
                    <a:rPr kumimoji="1" lang="en-US" altLang="zh-CN" dirty="0"/>
                    <a:t>1</a:t>
                  </a:r>
                  <a:r>
                    <a:rPr kumimoji="1" lang="zh-CN" altLang="en-US" dirty="0"/>
                    <a:t>组</a:t>
                  </a:r>
                </a:p>
              </p:txBody>
            </p:sp>
          </p:grpSp>
        </p:grpSp>
        <p:sp>
          <p:nvSpPr>
            <p:cNvPr id="11" name="左大括号 10">
              <a:extLst>
                <a:ext uri="{FF2B5EF4-FFF2-40B4-BE49-F238E27FC236}">
                  <a16:creationId xmlns:a16="http://schemas.microsoft.com/office/drawing/2014/main" id="{9E451AA5-D3ED-901C-F96B-C6E9AAE75F32}"/>
                </a:ext>
              </a:extLst>
            </p:cNvPr>
            <p:cNvSpPr/>
            <p:nvPr/>
          </p:nvSpPr>
          <p:spPr>
            <a:xfrm rot="13736008">
              <a:off x="6099736" y="5544122"/>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2" name="文本框 11">
              <a:extLst>
                <a:ext uri="{FF2B5EF4-FFF2-40B4-BE49-F238E27FC236}">
                  <a16:creationId xmlns:a16="http://schemas.microsoft.com/office/drawing/2014/main" id="{26207263-49D2-DEF5-D470-12B317412658}"/>
                </a:ext>
              </a:extLst>
            </p:cNvPr>
            <p:cNvSpPr txBox="1"/>
            <p:nvPr/>
          </p:nvSpPr>
          <p:spPr>
            <a:xfrm>
              <a:off x="6219841" y="5903328"/>
              <a:ext cx="438912" cy="369332"/>
            </a:xfrm>
            <a:prstGeom prst="rect">
              <a:avLst/>
            </a:prstGeom>
            <a:noFill/>
          </p:spPr>
          <p:txBody>
            <a:bodyPr wrap="square">
              <a:spAutoFit/>
            </a:bodyPr>
            <a:lstStyle/>
            <a:p>
              <a:r>
                <a:rPr kumimoji="1" lang="en-US" altLang="zh-CN" dirty="0">
                  <a:latin typeface="+mn-ea"/>
                </a:rPr>
                <a:t>8</a:t>
              </a:r>
              <a:endParaRPr lang="zh-CN" altLang="en-US" dirty="0"/>
            </a:p>
          </p:txBody>
        </p:sp>
      </p:grpSp>
    </p:spTree>
    <p:extLst>
      <p:ext uri="{BB962C8B-B14F-4D97-AF65-F5344CB8AC3E}">
        <p14:creationId xmlns:p14="http://schemas.microsoft.com/office/powerpoint/2010/main" val="3079316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E6D7E-3B69-D26C-D447-2B41FCD24FE6}"/>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677D22AA-316F-6287-2F40-EACBA0093867}"/>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8B791C63-0572-1101-088F-459CB4491B38}"/>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540FF7EE-8D0B-628A-38E5-1F1B6D00F606}"/>
              </a:ext>
            </a:extLst>
          </p:cNvPr>
          <p:cNvGrpSpPr/>
          <p:nvPr/>
        </p:nvGrpSpPr>
        <p:grpSpPr>
          <a:xfrm>
            <a:off x="138529" y="112811"/>
            <a:ext cx="4084066" cy="593132"/>
            <a:chOff x="1019925" y="1507763"/>
            <a:chExt cx="4084066" cy="593132"/>
          </a:xfrm>
        </p:grpSpPr>
        <p:sp>
          <p:nvSpPr>
            <p:cNvPr id="4" name="文本框 3">
              <a:extLst>
                <a:ext uri="{FF2B5EF4-FFF2-40B4-BE49-F238E27FC236}">
                  <a16:creationId xmlns:a16="http://schemas.microsoft.com/office/drawing/2014/main" id="{71FEB136-C679-B698-066B-D5F927FD09AD}"/>
                </a:ext>
              </a:extLst>
            </p:cNvPr>
            <p:cNvSpPr txBox="1"/>
            <p:nvPr/>
          </p:nvSpPr>
          <p:spPr>
            <a:xfrm>
              <a:off x="1700307" y="1507763"/>
              <a:ext cx="3403684"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对邻近物体的鲁棒性</a:t>
              </a:r>
            </a:p>
          </p:txBody>
        </p:sp>
        <p:pic>
          <p:nvPicPr>
            <p:cNvPr id="5" name="图片 4">
              <a:extLst>
                <a:ext uri="{FF2B5EF4-FFF2-40B4-BE49-F238E27FC236}">
                  <a16:creationId xmlns:a16="http://schemas.microsoft.com/office/drawing/2014/main" id="{B98655BA-03BA-534D-179F-C1C448172DD7}"/>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EE182F63-45F2-1D76-96EA-C9C64317C3BD}"/>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B7912AD-FA1C-CF6D-15BC-5707BC6D8351}"/>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14" name="组合 13">
            <a:extLst>
              <a:ext uri="{FF2B5EF4-FFF2-40B4-BE49-F238E27FC236}">
                <a16:creationId xmlns:a16="http://schemas.microsoft.com/office/drawing/2014/main" id="{5D99DBDD-F77C-CF55-90B9-2DE3050E6FD7}"/>
              </a:ext>
            </a:extLst>
          </p:cNvPr>
          <p:cNvGrpSpPr/>
          <p:nvPr/>
        </p:nvGrpSpPr>
        <p:grpSpPr>
          <a:xfrm>
            <a:off x="336395" y="931202"/>
            <a:ext cx="7772400" cy="4795024"/>
            <a:chOff x="2209800" y="1031488"/>
            <a:chExt cx="7772400" cy="4795024"/>
          </a:xfrm>
        </p:grpSpPr>
        <p:pic>
          <p:nvPicPr>
            <p:cNvPr id="6" name="图片 5">
              <a:extLst>
                <a:ext uri="{FF2B5EF4-FFF2-40B4-BE49-F238E27FC236}">
                  <a16:creationId xmlns:a16="http://schemas.microsoft.com/office/drawing/2014/main" id="{26A02C10-CBC1-8518-AC32-46395D99F4A1}"/>
                </a:ext>
              </a:extLst>
            </p:cNvPr>
            <p:cNvPicPr>
              <a:picLocks noChangeAspect="1"/>
            </p:cNvPicPr>
            <p:nvPr/>
          </p:nvPicPr>
          <p:blipFill>
            <a:blip r:embed="rId5"/>
            <a:stretch>
              <a:fillRect/>
            </a:stretch>
          </p:blipFill>
          <p:spPr>
            <a:xfrm>
              <a:off x="2209800" y="1031488"/>
              <a:ext cx="7772400" cy="4795024"/>
            </a:xfrm>
            <a:prstGeom prst="rect">
              <a:avLst/>
            </a:prstGeom>
          </p:spPr>
        </p:pic>
        <p:sp>
          <p:nvSpPr>
            <p:cNvPr id="8" name="矩形 7">
              <a:extLst>
                <a:ext uri="{FF2B5EF4-FFF2-40B4-BE49-F238E27FC236}">
                  <a16:creationId xmlns:a16="http://schemas.microsoft.com/office/drawing/2014/main" id="{0D2EEF46-FC45-E0F0-4DC2-93A7E288EA25}"/>
                </a:ext>
              </a:extLst>
            </p:cNvPr>
            <p:cNvSpPr/>
            <p:nvPr/>
          </p:nvSpPr>
          <p:spPr>
            <a:xfrm>
              <a:off x="5754029" y="2230243"/>
              <a:ext cx="341971" cy="23975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4860ACC1-A4E5-8FCF-38CD-1F2318D38312}"/>
                </a:ext>
              </a:extLst>
            </p:cNvPr>
            <p:cNvSpPr/>
            <p:nvPr/>
          </p:nvSpPr>
          <p:spPr>
            <a:xfrm>
              <a:off x="6452839" y="2230243"/>
              <a:ext cx="341971" cy="23975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2" name="文本框 11">
            <a:extLst>
              <a:ext uri="{FF2B5EF4-FFF2-40B4-BE49-F238E27FC236}">
                <a16:creationId xmlns:a16="http://schemas.microsoft.com/office/drawing/2014/main" id="{E487F454-B731-F0D4-8CDE-A26581FC6351}"/>
              </a:ext>
            </a:extLst>
          </p:cNvPr>
          <p:cNvSpPr txBox="1"/>
          <p:nvPr/>
        </p:nvSpPr>
        <p:spPr>
          <a:xfrm>
            <a:off x="8285356" y="1757205"/>
            <a:ext cx="3802565" cy="2862322"/>
          </a:xfrm>
          <a:prstGeom prst="rect">
            <a:avLst/>
          </a:prstGeom>
          <a:noFill/>
        </p:spPr>
        <p:txBody>
          <a:bodyPr wrap="square">
            <a:spAutoFit/>
          </a:bodyPr>
          <a:lstStyle/>
          <a:p>
            <a:r>
              <a:rPr lang="zh-CN" altLang="en-US" dirty="0"/>
              <a:t>位于手部正前方且在回波轮廓感知范围内的物体会影响用户相关的性能。</a:t>
            </a:r>
            <a:endParaRPr lang="en-US" altLang="zh-CN" dirty="0"/>
          </a:p>
          <a:p>
            <a:endParaRPr lang="en-US" altLang="zh-CN" dirty="0"/>
          </a:p>
          <a:p>
            <a:r>
              <a:rPr lang="zh-CN" altLang="en-US" dirty="0"/>
              <a:t>对于其他附近的物体，它们对跟踪性能的影响很小。</a:t>
            </a:r>
            <a:endParaRPr lang="en-US" altLang="zh-CN" dirty="0"/>
          </a:p>
          <a:p>
            <a:endParaRPr lang="en-US" altLang="zh-CN" dirty="0"/>
          </a:p>
          <a:p>
            <a:r>
              <a:rPr lang="zh-CN" altLang="en-US" dirty="0"/>
              <a:t>由于我们的感知范围较小，物体遮挡造成的限制远小于基于视觉的解决方案。</a:t>
            </a:r>
          </a:p>
        </p:txBody>
      </p:sp>
    </p:spTree>
    <p:extLst>
      <p:ext uri="{BB962C8B-B14F-4D97-AF65-F5344CB8AC3E}">
        <p14:creationId xmlns:p14="http://schemas.microsoft.com/office/powerpoint/2010/main" val="104739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DA089-C04A-598D-6EB2-AFF0046C8F53}"/>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0BFCE2CC-493F-1F78-CBBA-2AF47D006C9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EADFD357-AA17-893C-0931-E3ABD338C034}"/>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0779C384-42CB-1B5F-6D7E-E36C797D7A90}"/>
              </a:ext>
            </a:extLst>
          </p:cNvPr>
          <p:cNvGrpSpPr/>
          <p:nvPr/>
        </p:nvGrpSpPr>
        <p:grpSpPr>
          <a:xfrm>
            <a:off x="138529" y="112811"/>
            <a:ext cx="3396408" cy="593132"/>
            <a:chOff x="1019925" y="1507763"/>
            <a:chExt cx="3396408" cy="593132"/>
          </a:xfrm>
        </p:grpSpPr>
        <p:sp>
          <p:nvSpPr>
            <p:cNvPr id="4" name="文本框 3">
              <a:extLst>
                <a:ext uri="{FF2B5EF4-FFF2-40B4-BE49-F238E27FC236}">
                  <a16:creationId xmlns:a16="http://schemas.microsoft.com/office/drawing/2014/main" id="{39258EA9-E6D5-606D-9245-A374BFA886A1}"/>
                </a:ext>
              </a:extLst>
            </p:cNvPr>
            <p:cNvSpPr txBox="1"/>
            <p:nvPr/>
          </p:nvSpPr>
          <p:spPr>
            <a:xfrm>
              <a:off x="1700307" y="1507763"/>
              <a:ext cx="2716026" cy="523220"/>
            </a:xfrm>
            <a:prstGeom prst="rect">
              <a:avLst/>
            </a:prstGeom>
            <a:noFill/>
          </p:spPr>
          <p:txBody>
            <a:bodyPr vert="horz" wrap="square" rtlCol="0">
              <a:spAutoFit/>
            </a:bodyPr>
            <a:lstStyle/>
            <a:p>
              <a:pPr algn="dist"/>
              <a:r>
                <a:rPr lang="zh-CN" altLang="en-US" sz="2800" b="1" dirty="0">
                  <a:solidFill>
                    <a:schemeClr val="bg1"/>
                  </a:solidFill>
                  <a:latin typeface="宋体" panose="02010600030101010101" pitchFamily="2" charset="-122"/>
                  <a:ea typeface="宋体" panose="02010600030101010101" pitchFamily="2" charset="-122"/>
                </a:rPr>
                <a:t>和其他方案对比</a:t>
              </a:r>
            </a:p>
          </p:txBody>
        </p:sp>
        <p:pic>
          <p:nvPicPr>
            <p:cNvPr id="5" name="图片 4">
              <a:extLst>
                <a:ext uri="{FF2B5EF4-FFF2-40B4-BE49-F238E27FC236}">
                  <a16:creationId xmlns:a16="http://schemas.microsoft.com/office/drawing/2014/main" id="{4A2CCE8F-5862-590E-E2EA-69990F5E0416}"/>
                </a:ext>
              </a:extLst>
            </p:cNvPr>
            <p:cNvPicPr>
              <a:picLocks noChangeAspect="1"/>
            </p:cNvPicPr>
            <p:nvPr/>
          </p:nvPicPr>
          <p:blipFill rotWithShape="1">
            <a:blip r:embed="rId3">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1D59E5B3-1278-2B41-C3E1-9302EF24E2ED}"/>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E6C96D7A-CA07-3C4B-A558-7264702C65C0}"/>
              </a:ext>
            </a:extLst>
          </p:cNvPr>
          <p:cNvPicPr>
            <a:picLocks noChangeAspect="1"/>
          </p:cNvPicPr>
          <p:nvPr/>
        </p:nvPicPr>
        <p:blipFill rotWithShape="1">
          <a:blip r:embed="rId4">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7" name="图片 6">
            <a:extLst>
              <a:ext uri="{FF2B5EF4-FFF2-40B4-BE49-F238E27FC236}">
                <a16:creationId xmlns:a16="http://schemas.microsoft.com/office/drawing/2014/main" id="{83BDD8F2-B15F-69C7-5C92-A15A33815698}"/>
              </a:ext>
            </a:extLst>
          </p:cNvPr>
          <p:cNvPicPr>
            <a:picLocks noChangeAspect="1"/>
          </p:cNvPicPr>
          <p:nvPr/>
        </p:nvPicPr>
        <p:blipFill>
          <a:blip r:embed="rId5"/>
          <a:stretch>
            <a:fillRect/>
          </a:stretch>
        </p:blipFill>
        <p:spPr>
          <a:xfrm>
            <a:off x="1270438" y="1023899"/>
            <a:ext cx="9279778" cy="3826882"/>
          </a:xfrm>
          <a:prstGeom prst="rect">
            <a:avLst/>
          </a:prstGeom>
        </p:spPr>
      </p:pic>
      <p:sp>
        <p:nvSpPr>
          <p:cNvPr id="13" name="文本框 12">
            <a:extLst>
              <a:ext uri="{FF2B5EF4-FFF2-40B4-BE49-F238E27FC236}">
                <a16:creationId xmlns:a16="http://schemas.microsoft.com/office/drawing/2014/main" id="{CB1D36AB-3BD7-D573-CA33-55B70BE2E6ED}"/>
              </a:ext>
            </a:extLst>
          </p:cNvPr>
          <p:cNvSpPr txBox="1"/>
          <p:nvPr/>
        </p:nvSpPr>
        <p:spPr>
          <a:xfrm>
            <a:off x="1270438" y="4850781"/>
            <a:ext cx="9279778" cy="923330"/>
          </a:xfrm>
          <a:prstGeom prst="rect">
            <a:avLst/>
          </a:prstGeom>
          <a:noFill/>
        </p:spPr>
        <p:txBody>
          <a:bodyPr wrap="square">
            <a:spAutoFit/>
          </a:bodyPr>
          <a:lstStyle/>
          <a:p>
            <a:r>
              <a:rPr lang="zh-CN" altLang="en-US" dirty="0"/>
              <a:t>与其他单设备系统相比，Ring-a-Pose 展现出了令人瞩目的会话无关性和用户无关性性能。Ring-a-Pose 虽然不及包含 5 个戒指和一个腕带的多设备系统，但它大大减轻了在每个手指上佩戴感应戒指的负担。</a:t>
            </a:r>
          </a:p>
        </p:txBody>
      </p:sp>
    </p:spTree>
    <p:extLst>
      <p:ext uri="{BB962C8B-B14F-4D97-AF65-F5344CB8AC3E}">
        <p14:creationId xmlns:p14="http://schemas.microsoft.com/office/powerpoint/2010/main" val="2413624134"/>
      </p:ext>
    </p:extLst>
  </p:cSld>
  <p:clrMapOvr>
    <a:masterClrMapping/>
  </p:clrMapOvr>
</p:sld>
</file>

<file path=ppt/theme/theme1.xml><?xml version="1.0" encoding="utf-8"?>
<a:theme xmlns:a="http://schemas.openxmlformats.org/drawingml/2006/main" name="Office 主题​​">
  <a:themeElements>
    <a:clrScheme name="自定义 10">
      <a:dk1>
        <a:sysClr val="windowText" lastClr="000000"/>
      </a:dk1>
      <a:lt1>
        <a:sysClr val="window" lastClr="FFFFFF"/>
      </a:lt1>
      <a:dk2>
        <a:srgbClr val="44546A"/>
      </a:dk2>
      <a:lt2>
        <a:srgbClr val="E7E6E6"/>
      </a:lt2>
      <a:accent1>
        <a:srgbClr val="950041"/>
      </a:accent1>
      <a:accent2>
        <a:srgbClr val="4A2739"/>
      </a:accent2>
      <a:accent3>
        <a:srgbClr val="81156C"/>
      </a:accent3>
      <a:accent4>
        <a:srgbClr val="500022"/>
      </a:accent4>
      <a:accent5>
        <a:srgbClr val="C490AA"/>
      </a:accent5>
      <a:accent6>
        <a:srgbClr val="70AD47"/>
      </a:accent6>
      <a:hlink>
        <a:srgbClr val="0563C1"/>
      </a:hlink>
      <a:folHlink>
        <a:srgbClr val="954F72"/>
      </a:folHlink>
    </a:clrScheme>
    <a:fontScheme name="常用模板">
      <a:majorFont>
        <a:latin typeface="Arial Black"/>
        <a:ea typeface="微软雅黑"/>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719</TotalTime>
  <Words>1613</Words>
  <Application>Microsoft Macintosh PowerPoint</Application>
  <PresentationFormat>宽屏</PresentationFormat>
  <Paragraphs>271</Paragraphs>
  <Slides>24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24</vt:i4>
      </vt:variant>
    </vt:vector>
  </HeadingPairs>
  <TitlesOfParts>
    <vt:vector size="31" baseType="lpstr">
      <vt:lpstr>等线</vt:lpstr>
      <vt:lpstr>宋体</vt:lpstr>
      <vt:lpstr>Inherit</vt:lpstr>
      <vt:lpstr>Inherit</vt:lpstr>
      <vt:lpstr>Arial</vt:lpstr>
      <vt:lpstr>Arial Black</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suxia</dc:creator>
  <cp:lastModifiedBy>悦成 廖</cp:lastModifiedBy>
  <cp:revision>37</cp:revision>
  <dcterms:created xsi:type="dcterms:W3CDTF">2020-06-03T03:11:00Z</dcterms:created>
  <dcterms:modified xsi:type="dcterms:W3CDTF">2025-12-07T03:37:41Z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